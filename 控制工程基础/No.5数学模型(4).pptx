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7"/>
  </p:notesMasterIdLst>
  <p:handoutMasterIdLst>
    <p:handoutMasterId r:id="rId58"/>
  </p:handoutMasterIdLst>
  <p:sldIdLst>
    <p:sldId id="986" r:id="rId2"/>
    <p:sldId id="638" r:id="rId3"/>
    <p:sldId id="1039" r:id="rId4"/>
    <p:sldId id="1040" r:id="rId5"/>
    <p:sldId id="1041" r:id="rId6"/>
    <p:sldId id="1042" r:id="rId7"/>
    <p:sldId id="1043" r:id="rId8"/>
    <p:sldId id="1044" r:id="rId9"/>
    <p:sldId id="1045" r:id="rId10"/>
    <p:sldId id="1037" r:id="rId11"/>
    <p:sldId id="540" r:id="rId12"/>
    <p:sldId id="541" r:id="rId13"/>
    <p:sldId id="542" r:id="rId14"/>
    <p:sldId id="543" r:id="rId15"/>
    <p:sldId id="544" r:id="rId16"/>
    <p:sldId id="545" r:id="rId17"/>
    <p:sldId id="546" r:id="rId18"/>
    <p:sldId id="547" r:id="rId19"/>
    <p:sldId id="548" r:id="rId20"/>
    <p:sldId id="709" r:id="rId21"/>
    <p:sldId id="639" r:id="rId22"/>
    <p:sldId id="642" r:id="rId23"/>
    <p:sldId id="643" r:id="rId24"/>
    <p:sldId id="644" r:id="rId25"/>
    <p:sldId id="645" r:id="rId26"/>
    <p:sldId id="1011" r:id="rId27"/>
    <p:sldId id="1012" r:id="rId28"/>
    <p:sldId id="1013" r:id="rId29"/>
    <p:sldId id="1014" r:id="rId30"/>
    <p:sldId id="1015" r:id="rId31"/>
    <p:sldId id="1016" r:id="rId32"/>
    <p:sldId id="647" r:id="rId33"/>
    <p:sldId id="654" r:id="rId34"/>
    <p:sldId id="689" r:id="rId35"/>
    <p:sldId id="1026" r:id="rId36"/>
    <p:sldId id="1027" r:id="rId37"/>
    <p:sldId id="1028" r:id="rId38"/>
    <p:sldId id="1029" r:id="rId39"/>
    <p:sldId id="656" r:id="rId40"/>
    <p:sldId id="657" r:id="rId41"/>
    <p:sldId id="658" r:id="rId42"/>
    <p:sldId id="659" r:id="rId43"/>
    <p:sldId id="660" r:id="rId44"/>
    <p:sldId id="661" r:id="rId45"/>
    <p:sldId id="662" r:id="rId46"/>
    <p:sldId id="663" r:id="rId47"/>
    <p:sldId id="664" r:id="rId48"/>
    <p:sldId id="665" r:id="rId49"/>
    <p:sldId id="666" r:id="rId50"/>
    <p:sldId id="667" r:id="rId51"/>
    <p:sldId id="668" r:id="rId52"/>
    <p:sldId id="669" r:id="rId53"/>
    <p:sldId id="670" r:id="rId54"/>
    <p:sldId id="671" r:id="rId55"/>
    <p:sldId id="1030" r:id="rId56"/>
  </p:sldIdLst>
  <p:sldSz cx="9144000" cy="6858000" type="screen4x3"/>
  <p:notesSz cx="6669088" cy="9926638"/>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41" d="100"/>
          <a:sy n="41" d="100"/>
        </p:scale>
        <p:origin x="987" y="3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1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89091" name="Rectangle 3"/>
          <p:cNvSpPr>
            <a:spLocks noGrp="1" noChangeArrowheads="1"/>
          </p:cNvSpPr>
          <p:nvPr>
            <p:ph type="dt" sz="quarter"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89092" name="Rectangle 4"/>
          <p:cNvSpPr>
            <a:spLocks noGrp="1" noChangeArrowheads="1"/>
          </p:cNvSpPr>
          <p:nvPr>
            <p:ph type="ftr" sz="quarter" idx="2"/>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89093" name="Rectangle 5"/>
          <p:cNvSpPr>
            <a:spLocks noGrp="1" noChangeArrowheads="1"/>
          </p:cNvSpPr>
          <p:nvPr>
            <p:ph type="sldNum" sz="quarter" idx="3"/>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7D0D514F-6E7B-496C-8E5C-1840C5C2CAA0}" type="slidenum">
              <a:rPr lang="en-US" altLang="zh-CN"/>
              <a:pPr>
                <a:defRPr/>
              </a:pPr>
              <a:t>‹#›</a:t>
            </a:fld>
            <a:endParaRPr lang="en-US" altLang="zh-CN"/>
          </a:p>
        </p:txBody>
      </p:sp>
    </p:spTree>
    <p:extLst>
      <p:ext uri="{BB962C8B-B14F-4D97-AF65-F5344CB8AC3E}">
        <p14:creationId xmlns:p14="http://schemas.microsoft.com/office/powerpoint/2010/main" val="1370597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88067" name="Rectangle 3"/>
          <p:cNvSpPr>
            <a:spLocks noGrp="1" noChangeArrowheads="1"/>
          </p:cNvSpPr>
          <p:nvPr>
            <p:ph type="dt"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4294967295"/>
          </p:nvPr>
        </p:nvSpPr>
        <p:spPr bwMode="auto">
          <a:xfrm>
            <a:off x="852488" y="744538"/>
            <a:ext cx="4964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9" name="Rectangle 5"/>
          <p:cNvSpPr>
            <a:spLocks noGrp="1" noChangeArrowheads="1"/>
          </p:cNvSpPr>
          <p:nvPr>
            <p:ph type="body" sz="quarter" idx="3"/>
          </p:nvPr>
        </p:nvSpPr>
        <p:spPr bwMode="auto">
          <a:xfrm>
            <a:off x="666750" y="4714875"/>
            <a:ext cx="5335588"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8070" name="Rectangle 6"/>
          <p:cNvSpPr>
            <a:spLocks noGrp="1" noChangeArrowheads="1"/>
          </p:cNvSpPr>
          <p:nvPr>
            <p:ph type="ftr" sz="quarter" idx="4"/>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88071" name="Rectangle 7"/>
          <p:cNvSpPr>
            <a:spLocks noGrp="1" noChangeArrowheads="1"/>
          </p:cNvSpPr>
          <p:nvPr>
            <p:ph type="sldNum" sz="quarter" idx="5"/>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498972B9-C9DF-4980-AC67-EBEE2AED8E89}" type="slidenum">
              <a:rPr lang="en-US" altLang="zh-CN"/>
              <a:pPr>
                <a:defRPr/>
              </a:pPr>
              <a:t>‹#›</a:t>
            </a:fld>
            <a:endParaRPr lang="en-US" altLang="zh-CN"/>
          </a:p>
        </p:txBody>
      </p:sp>
    </p:spTree>
    <p:extLst>
      <p:ext uri="{BB962C8B-B14F-4D97-AF65-F5344CB8AC3E}">
        <p14:creationId xmlns:p14="http://schemas.microsoft.com/office/powerpoint/2010/main" val="22892379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850A4D2-7F1A-40E7-B35C-DDD6456DDEB1}" type="slidenum">
              <a:rPr lang="en-US" altLang="zh-CN" smtClean="0"/>
              <a:pPr>
                <a:spcBef>
                  <a:spcPct val="0"/>
                </a:spcBef>
              </a:pPr>
              <a:t>2</a:t>
            </a:fld>
            <a:endParaRPr lang="en-US" altLang="zh-CN"/>
          </a:p>
        </p:txBody>
      </p:sp>
      <p:sp>
        <p:nvSpPr>
          <p:cNvPr id="37891" name="Rectangle 2"/>
          <p:cNvSpPr>
            <a:spLocks noGrp="1" noRot="1" noChangeAspect="1" noChangeArrowheads="1" noTextEdit="1"/>
          </p:cNvSpPr>
          <p:nvPr>
            <p:ph type="sldImg" idx="4294967295"/>
          </p:nvPr>
        </p:nvSpPr>
        <p:spPr>
          <a:ln/>
        </p:spPr>
      </p:sp>
      <p:sp>
        <p:nvSpPr>
          <p:cNvPr id="3789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6AE36B3-871F-4A65-B9DD-47FA6AE5BF3A}" type="slidenum">
              <a:rPr lang="en-US" altLang="zh-CN" smtClean="0"/>
              <a:pPr>
                <a:spcBef>
                  <a:spcPct val="0"/>
                </a:spcBef>
              </a:pPr>
              <a:t>11</a:t>
            </a:fld>
            <a:endParaRPr lang="en-US" altLang="zh-CN"/>
          </a:p>
        </p:txBody>
      </p:sp>
      <p:sp>
        <p:nvSpPr>
          <p:cNvPr id="47107" name="Rectangle 2"/>
          <p:cNvSpPr>
            <a:spLocks noGrp="1" noRot="1" noChangeAspect="1" noChangeArrowheads="1" noTextEdit="1"/>
          </p:cNvSpPr>
          <p:nvPr>
            <p:ph type="sldImg" idx="4294967295"/>
          </p:nvPr>
        </p:nvSpPr>
        <p:spPr>
          <a:ln/>
        </p:spPr>
      </p:sp>
      <p:sp>
        <p:nvSpPr>
          <p:cNvPr id="4710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A308712-0D5D-4D3C-AF3B-3E444785EA77}" type="slidenum">
              <a:rPr lang="en-US" altLang="zh-CN" smtClean="0"/>
              <a:pPr>
                <a:spcBef>
                  <a:spcPct val="0"/>
                </a:spcBef>
              </a:pPr>
              <a:t>12</a:t>
            </a:fld>
            <a:endParaRPr lang="en-US" altLang="zh-CN"/>
          </a:p>
        </p:txBody>
      </p:sp>
      <p:sp>
        <p:nvSpPr>
          <p:cNvPr id="49155" name="Rectangle 2"/>
          <p:cNvSpPr>
            <a:spLocks noGrp="1" noRot="1" noChangeAspect="1" noChangeArrowheads="1" noTextEdit="1"/>
          </p:cNvSpPr>
          <p:nvPr>
            <p:ph type="sldImg" idx="4294967295"/>
          </p:nvPr>
        </p:nvSpPr>
        <p:spPr>
          <a:ln/>
        </p:spPr>
      </p:sp>
      <p:sp>
        <p:nvSpPr>
          <p:cNvPr id="4915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F7BCDA-45EC-4365-9E82-3113746E0229}" type="slidenum">
              <a:rPr lang="en-US" altLang="zh-CN" smtClean="0"/>
              <a:pPr>
                <a:spcBef>
                  <a:spcPct val="0"/>
                </a:spcBef>
              </a:pPr>
              <a:t>13</a:t>
            </a:fld>
            <a:endParaRPr lang="en-US" altLang="zh-CN"/>
          </a:p>
        </p:txBody>
      </p:sp>
      <p:sp>
        <p:nvSpPr>
          <p:cNvPr id="51203" name="Rectangle 2"/>
          <p:cNvSpPr>
            <a:spLocks noGrp="1" noRot="1" noChangeAspect="1" noChangeArrowheads="1" noTextEdit="1"/>
          </p:cNvSpPr>
          <p:nvPr>
            <p:ph type="sldImg" idx="4294967295"/>
          </p:nvPr>
        </p:nvSpPr>
        <p:spPr>
          <a:ln/>
        </p:spPr>
      </p:sp>
      <p:sp>
        <p:nvSpPr>
          <p:cNvPr id="5120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7284FAE-9DF4-4355-AC1E-53A6FE1A25FD}" type="slidenum">
              <a:rPr lang="en-US" altLang="zh-CN" smtClean="0"/>
              <a:pPr>
                <a:spcBef>
                  <a:spcPct val="0"/>
                </a:spcBef>
              </a:pPr>
              <a:t>14</a:t>
            </a:fld>
            <a:endParaRPr lang="en-US" altLang="zh-CN"/>
          </a:p>
        </p:txBody>
      </p:sp>
      <p:sp>
        <p:nvSpPr>
          <p:cNvPr id="53251" name="Rectangle 2"/>
          <p:cNvSpPr>
            <a:spLocks noGrp="1" noRot="1" noChangeAspect="1" noChangeArrowheads="1" noTextEdit="1"/>
          </p:cNvSpPr>
          <p:nvPr>
            <p:ph type="sldImg" idx="4294967295"/>
          </p:nvPr>
        </p:nvSpPr>
        <p:spPr>
          <a:ln/>
        </p:spPr>
      </p:sp>
      <p:sp>
        <p:nvSpPr>
          <p:cNvPr id="5325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DAFA653-0EE1-4C50-AAF5-6503A0B936D6}" type="slidenum">
              <a:rPr lang="en-US" altLang="zh-CN" smtClean="0"/>
              <a:pPr>
                <a:spcBef>
                  <a:spcPct val="0"/>
                </a:spcBef>
              </a:pPr>
              <a:t>15</a:t>
            </a:fld>
            <a:endParaRPr lang="en-US" altLang="zh-CN"/>
          </a:p>
        </p:txBody>
      </p:sp>
      <p:sp>
        <p:nvSpPr>
          <p:cNvPr id="55299" name="Rectangle 2"/>
          <p:cNvSpPr>
            <a:spLocks noGrp="1" noRot="1" noChangeAspect="1" noChangeArrowheads="1" noTextEdit="1"/>
          </p:cNvSpPr>
          <p:nvPr>
            <p:ph type="sldImg" idx="4294967295"/>
          </p:nvPr>
        </p:nvSpPr>
        <p:spPr>
          <a:ln/>
        </p:spPr>
      </p:sp>
      <p:sp>
        <p:nvSpPr>
          <p:cNvPr id="55300"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C3FBF60-F2DD-4345-A062-C233569ED02E}" type="slidenum">
              <a:rPr lang="en-US" altLang="zh-CN" smtClean="0"/>
              <a:pPr>
                <a:spcBef>
                  <a:spcPct val="0"/>
                </a:spcBef>
              </a:pPr>
              <a:t>16</a:t>
            </a:fld>
            <a:endParaRPr lang="en-US" altLang="zh-CN"/>
          </a:p>
        </p:txBody>
      </p:sp>
      <p:sp>
        <p:nvSpPr>
          <p:cNvPr id="57347" name="Rectangle 2"/>
          <p:cNvSpPr>
            <a:spLocks noGrp="1" noRot="1" noChangeAspect="1" noChangeArrowheads="1" noTextEdit="1"/>
          </p:cNvSpPr>
          <p:nvPr>
            <p:ph type="sldImg" idx="4294967295"/>
          </p:nvPr>
        </p:nvSpPr>
        <p:spPr>
          <a:ln/>
        </p:spPr>
      </p:sp>
      <p:sp>
        <p:nvSpPr>
          <p:cNvPr id="57348"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A8F74C9-0BB7-4037-82BB-4B920C7E5D17}" type="slidenum">
              <a:rPr lang="en-US" altLang="zh-CN" smtClean="0"/>
              <a:pPr>
                <a:spcBef>
                  <a:spcPct val="0"/>
                </a:spcBef>
              </a:pPr>
              <a:t>17</a:t>
            </a:fld>
            <a:endParaRPr lang="en-US" altLang="zh-CN"/>
          </a:p>
        </p:txBody>
      </p:sp>
      <p:sp>
        <p:nvSpPr>
          <p:cNvPr id="59395" name="Rectangle 2"/>
          <p:cNvSpPr>
            <a:spLocks noGrp="1" noRot="1" noChangeAspect="1" noChangeArrowheads="1" noTextEdit="1"/>
          </p:cNvSpPr>
          <p:nvPr>
            <p:ph type="sldImg" idx="4294967295"/>
          </p:nvPr>
        </p:nvSpPr>
        <p:spPr>
          <a:ln/>
        </p:spPr>
      </p:sp>
      <p:sp>
        <p:nvSpPr>
          <p:cNvPr id="59396"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12F2066-5501-4578-B698-91EE20C673C9}" type="slidenum">
              <a:rPr lang="en-US" altLang="zh-CN" smtClean="0"/>
              <a:pPr>
                <a:spcBef>
                  <a:spcPct val="0"/>
                </a:spcBef>
              </a:pPr>
              <a:t>18</a:t>
            </a:fld>
            <a:endParaRPr lang="en-US" altLang="zh-CN"/>
          </a:p>
        </p:txBody>
      </p:sp>
      <p:sp>
        <p:nvSpPr>
          <p:cNvPr id="61443" name="Rectangle 2"/>
          <p:cNvSpPr>
            <a:spLocks noGrp="1" noRot="1" noChangeAspect="1" noChangeArrowheads="1" noTextEdit="1"/>
          </p:cNvSpPr>
          <p:nvPr>
            <p:ph type="sldImg" idx="4294967295"/>
          </p:nvPr>
        </p:nvSpPr>
        <p:spPr>
          <a:ln/>
        </p:spPr>
      </p:sp>
      <p:sp>
        <p:nvSpPr>
          <p:cNvPr id="6144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8EC359-90C0-4CFB-99B8-7CF488C40C6B}" type="slidenum">
              <a:rPr lang="en-US" altLang="zh-CN" smtClean="0"/>
              <a:pPr>
                <a:spcBef>
                  <a:spcPct val="0"/>
                </a:spcBef>
              </a:pPr>
              <a:t>19</a:t>
            </a:fld>
            <a:endParaRPr lang="en-US" altLang="zh-CN"/>
          </a:p>
        </p:txBody>
      </p:sp>
      <p:sp>
        <p:nvSpPr>
          <p:cNvPr id="63491" name="Rectangle 2"/>
          <p:cNvSpPr>
            <a:spLocks noGrp="1" noRot="1" noChangeAspect="1" noChangeArrowheads="1" noTextEdit="1"/>
          </p:cNvSpPr>
          <p:nvPr>
            <p:ph type="sldImg" idx="4294967295"/>
          </p:nvPr>
        </p:nvSpPr>
        <p:spPr>
          <a:ln/>
        </p:spPr>
      </p:sp>
      <p:sp>
        <p:nvSpPr>
          <p:cNvPr id="6349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A7CB42-2F3A-472B-AF84-7B275E46BC07}" type="slidenum">
              <a:rPr lang="en-US" altLang="zh-CN" smtClean="0"/>
              <a:pPr>
                <a:spcBef>
                  <a:spcPct val="0"/>
                </a:spcBef>
              </a:pPr>
              <a:t>21</a:t>
            </a:fld>
            <a:endParaRPr lang="en-US" altLang="zh-CN"/>
          </a:p>
        </p:txBody>
      </p:sp>
      <p:sp>
        <p:nvSpPr>
          <p:cNvPr id="66563" name="Rectangle 2"/>
          <p:cNvSpPr>
            <a:spLocks noGrp="1" noRot="1" noChangeAspect="1" noChangeArrowheads="1" noTextEdit="1"/>
          </p:cNvSpPr>
          <p:nvPr>
            <p:ph type="sldImg" idx="4294967295"/>
          </p:nvPr>
        </p:nvSpPr>
        <p:spPr>
          <a:ln/>
        </p:spPr>
      </p:sp>
      <p:sp>
        <p:nvSpPr>
          <p:cNvPr id="6656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E984D1E-B1ED-4E0A-895B-E910E9483D24}" type="slidenum">
              <a:rPr lang="en-US" altLang="zh-CN" smtClean="0"/>
              <a:pPr>
                <a:spcBef>
                  <a:spcPct val="0"/>
                </a:spcBef>
              </a:pPr>
              <a:t>22</a:t>
            </a:fld>
            <a:endParaRPr lang="en-US" altLang="zh-CN"/>
          </a:p>
        </p:txBody>
      </p:sp>
      <p:sp>
        <p:nvSpPr>
          <p:cNvPr id="68611" name="Rectangle 2"/>
          <p:cNvSpPr>
            <a:spLocks noGrp="1" noRot="1" noChangeAspect="1" noChangeArrowheads="1" noTextEdit="1"/>
          </p:cNvSpPr>
          <p:nvPr>
            <p:ph type="sldImg" idx="4294967295"/>
          </p:nvPr>
        </p:nvSpPr>
        <p:spPr>
          <a:ln/>
        </p:spPr>
      </p:sp>
      <p:sp>
        <p:nvSpPr>
          <p:cNvPr id="68612"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9747D5A-3055-42F9-A059-277F65D75EB1}" type="slidenum">
              <a:rPr lang="en-US" altLang="zh-CN" smtClean="0"/>
              <a:pPr>
                <a:spcBef>
                  <a:spcPct val="0"/>
                </a:spcBef>
              </a:pPr>
              <a:t>33</a:t>
            </a:fld>
            <a:endParaRPr lang="en-US" altLang="zh-CN"/>
          </a:p>
        </p:txBody>
      </p:sp>
      <p:sp>
        <p:nvSpPr>
          <p:cNvPr id="76803" name="Rectangle 2"/>
          <p:cNvSpPr>
            <a:spLocks noGrp="1" noRot="1" noChangeAspect="1" noChangeArrowheads="1" noTextEdit="1"/>
          </p:cNvSpPr>
          <p:nvPr>
            <p:ph type="sldImg" idx="4294967295"/>
          </p:nvPr>
        </p:nvSpPr>
        <p:spPr>
          <a:ln/>
        </p:spPr>
      </p:sp>
      <p:sp>
        <p:nvSpPr>
          <p:cNvPr id="76804" name="Rectangle 3"/>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FCF2C65-E9E5-43B8-846F-2ACAC6BC2FC5}" type="slidenum">
              <a:rPr lang="en-US" altLang="zh-CN" smtClean="0"/>
              <a:pPr>
                <a:spcBef>
                  <a:spcPct val="0"/>
                </a:spcBef>
              </a:pPr>
              <a:t>55</a:t>
            </a:fld>
            <a:endParaRPr lang="en-US" altLang="zh-CN"/>
          </a:p>
        </p:txBody>
      </p:sp>
      <p:sp>
        <p:nvSpPr>
          <p:cNvPr id="100355" name="Rectangle 2"/>
          <p:cNvSpPr>
            <a:spLocks noGrp="1" noRot="1" noChangeAspect="1" noChangeArrowheads="1" noTextEdit="1"/>
          </p:cNvSpPr>
          <p:nvPr>
            <p:ph type="sldImg" idx="4294967295"/>
          </p:nvPr>
        </p:nvSpPr>
        <p:spPr>
          <a:ln/>
        </p:spPr>
      </p:sp>
      <p:sp>
        <p:nvSpPr>
          <p:cNvPr id="100356"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fld id="{B80CF00B-8440-40C2-987F-C66B902B02E3}" type="datetime1">
              <a:rPr lang="zh-CN" altLang="en-US"/>
              <a:pPr>
                <a:defRPr/>
              </a:pPr>
              <a:t>2025/9/14</a:t>
            </a:fld>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pPr>
              <a:defRPr/>
            </a:pPr>
            <a:fld id="{020EB9F2-6167-4AE8-B2AF-123D53BE793F}" type="slidenum">
              <a:rPr lang="en-US" altLang="zh-CN"/>
              <a:pPr>
                <a:defRPr/>
              </a:pPr>
              <a:t>‹#›</a:t>
            </a:fld>
            <a:endParaRPr lang="en-US" altLang="zh-CN"/>
          </a:p>
        </p:txBody>
      </p:sp>
    </p:spTree>
    <p:extLst>
      <p:ext uri="{BB962C8B-B14F-4D97-AF65-F5344CB8AC3E}">
        <p14:creationId xmlns:p14="http://schemas.microsoft.com/office/powerpoint/2010/main" val="177701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dt" sz="half" idx="10"/>
          </p:nvPr>
        </p:nvSpPr>
        <p:spPr>
          <a:ln/>
        </p:spPr>
        <p:txBody>
          <a:bodyPr/>
          <a:lstStyle>
            <a:lvl1pPr>
              <a:defRPr/>
            </a:lvl1pPr>
          </a:lstStyle>
          <a:p>
            <a:pPr>
              <a:defRPr/>
            </a:pPr>
            <a:fld id="{A98E26F7-AC00-420C-B219-BF6A99E29760}" type="datetime1">
              <a:rPr lang="zh-CN" altLang="en-US"/>
              <a:pPr>
                <a:defRPr/>
              </a:pPr>
              <a:t>2025/9/14</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39236FA7-D84C-4E7D-AC0F-D3F648B5ADF0}" type="slidenum">
              <a:rPr lang="en-US" altLang="zh-CN"/>
              <a:pPr>
                <a:defRPr/>
              </a:pPr>
              <a:t>‹#›</a:t>
            </a:fld>
            <a:endParaRPr lang="en-US" altLang="zh-CN"/>
          </a:p>
        </p:txBody>
      </p:sp>
    </p:spTree>
    <p:extLst>
      <p:ext uri="{BB962C8B-B14F-4D97-AF65-F5344CB8AC3E}">
        <p14:creationId xmlns:p14="http://schemas.microsoft.com/office/powerpoint/2010/main" val="389194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fld id="{911896A9-217D-44D4-9907-4C06F1641C9B}" type="datetime1">
              <a:rPr lang="zh-CN" altLang="en-US"/>
              <a:pPr>
                <a:defRPr/>
              </a:pPr>
              <a:t>2025/9/14</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1F91D98B-CDD8-492C-BCF7-7FDA077CD1E3}" type="slidenum">
              <a:rPr lang="en-US" altLang="zh-CN"/>
              <a:pPr>
                <a:defRPr/>
              </a:pPr>
              <a:t>‹#›</a:t>
            </a:fld>
            <a:endParaRPr lang="en-US" altLang="zh-CN"/>
          </a:p>
        </p:txBody>
      </p:sp>
    </p:spTree>
    <p:extLst>
      <p:ext uri="{BB962C8B-B14F-4D97-AF65-F5344CB8AC3E}">
        <p14:creationId xmlns:p14="http://schemas.microsoft.com/office/powerpoint/2010/main" val="903968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dt" sz="half" idx="10"/>
          </p:nvPr>
        </p:nvSpPr>
        <p:spPr>
          <a:ln/>
        </p:spPr>
        <p:txBody>
          <a:bodyPr/>
          <a:lstStyle>
            <a:lvl1pPr>
              <a:defRPr/>
            </a:lvl1pPr>
          </a:lstStyle>
          <a:p>
            <a:pPr>
              <a:defRPr/>
            </a:pPr>
            <a:fld id="{F8D3DED3-2294-4172-B54E-58EBD543FAB4}" type="datetime1">
              <a:rPr lang="zh-CN" altLang="en-US"/>
              <a:pPr>
                <a:defRPr/>
              </a:pPr>
              <a:t>2025/9/14</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F721F4BB-E9F5-4CD7-8555-D4D60E3720D8}" type="slidenum">
              <a:rPr lang="en-US" altLang="zh-CN"/>
              <a:pPr>
                <a:defRPr/>
              </a:pPr>
              <a:t>‹#›</a:t>
            </a:fld>
            <a:endParaRPr lang="en-US" altLang="zh-CN"/>
          </a:p>
        </p:txBody>
      </p:sp>
    </p:spTree>
    <p:extLst>
      <p:ext uri="{BB962C8B-B14F-4D97-AF65-F5344CB8AC3E}">
        <p14:creationId xmlns:p14="http://schemas.microsoft.com/office/powerpoint/2010/main" val="3943125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dt" sz="half" idx="10"/>
          </p:nvPr>
        </p:nvSpPr>
        <p:spPr>
          <a:ln/>
        </p:spPr>
        <p:txBody>
          <a:bodyPr/>
          <a:lstStyle>
            <a:lvl1pPr>
              <a:defRPr/>
            </a:lvl1pPr>
          </a:lstStyle>
          <a:p>
            <a:pPr>
              <a:defRPr/>
            </a:pPr>
            <a:fld id="{00267E7F-EA05-48A6-B042-BB5611EEF9E0}" type="datetime1">
              <a:rPr lang="zh-CN" altLang="en-US"/>
              <a:pPr>
                <a:defRPr/>
              </a:pPr>
              <a:t>2025/9/14</a:t>
            </a:fld>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0098099D-FCE3-48C9-A8FE-3B515BE2724C}" type="slidenum">
              <a:rPr lang="en-US" altLang="zh-CN"/>
              <a:pPr>
                <a:defRPr/>
              </a:pPr>
              <a:t>‹#›</a:t>
            </a:fld>
            <a:endParaRPr lang="en-US" altLang="zh-CN"/>
          </a:p>
        </p:txBody>
      </p:sp>
    </p:spTree>
    <p:extLst>
      <p:ext uri="{BB962C8B-B14F-4D97-AF65-F5344CB8AC3E}">
        <p14:creationId xmlns:p14="http://schemas.microsoft.com/office/powerpoint/2010/main" val="4200850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dt" sz="half" idx="10"/>
          </p:nvPr>
        </p:nvSpPr>
        <p:spPr>
          <a:ln/>
        </p:spPr>
        <p:txBody>
          <a:bodyPr/>
          <a:lstStyle>
            <a:lvl1pPr>
              <a:defRPr/>
            </a:lvl1pPr>
          </a:lstStyle>
          <a:p>
            <a:pPr>
              <a:defRPr/>
            </a:pPr>
            <a:fld id="{C5F9C40D-0CF6-4C65-A358-DE904A03325F}" type="datetime1">
              <a:rPr lang="zh-CN" altLang="en-US"/>
              <a:pPr>
                <a:defRPr/>
              </a:pPr>
              <a:t>2025/9/14</a:t>
            </a:fld>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A29B9E3A-ABB6-400B-9002-D06CDCD25776}" type="slidenum">
              <a:rPr lang="en-US" altLang="zh-CN"/>
              <a:pPr>
                <a:defRPr/>
              </a:pPr>
              <a:t>‹#›</a:t>
            </a:fld>
            <a:endParaRPr lang="en-US" altLang="zh-CN"/>
          </a:p>
        </p:txBody>
      </p:sp>
    </p:spTree>
    <p:extLst>
      <p:ext uri="{BB962C8B-B14F-4D97-AF65-F5344CB8AC3E}">
        <p14:creationId xmlns:p14="http://schemas.microsoft.com/office/powerpoint/2010/main" val="1749828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5E12AABA-4A62-4FAD-978B-E603618EA771}" type="datetime1">
              <a:rPr lang="zh-CN" altLang="en-US"/>
              <a:pPr>
                <a:defRPr/>
              </a:pPr>
              <a:t>2025/9/14</a:t>
            </a:fld>
            <a:endParaRPr lang="en-US" altLang="zh-CN"/>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ln/>
        </p:spPr>
        <p:txBody>
          <a:bodyPr/>
          <a:lstStyle>
            <a:lvl1pPr>
              <a:defRPr/>
            </a:lvl1pPr>
          </a:lstStyle>
          <a:p>
            <a:pPr>
              <a:defRPr/>
            </a:pPr>
            <a:fld id="{145B996E-43AA-42F1-B37D-32596CF2694A}" type="slidenum">
              <a:rPr lang="en-US" altLang="zh-CN"/>
              <a:pPr>
                <a:defRPr/>
              </a:pPr>
              <a:t>‹#›</a:t>
            </a:fld>
            <a:endParaRPr lang="en-US" altLang="zh-CN"/>
          </a:p>
        </p:txBody>
      </p:sp>
    </p:spTree>
    <p:extLst>
      <p:ext uri="{BB962C8B-B14F-4D97-AF65-F5344CB8AC3E}">
        <p14:creationId xmlns:p14="http://schemas.microsoft.com/office/powerpoint/2010/main" val="1202565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98111E91-B955-4386-8AE3-24C4900C4D93}" type="datetime1">
              <a:rPr lang="zh-CN" altLang="en-US"/>
              <a:pPr>
                <a:defRPr/>
              </a:pPr>
              <a:t>2025/9/14</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E4E5B583-3E75-4EAF-9114-572921C4DC89}" type="slidenum">
              <a:rPr lang="en-US" altLang="zh-CN"/>
              <a:pPr>
                <a:defRPr/>
              </a:pPr>
              <a:t>‹#›</a:t>
            </a:fld>
            <a:endParaRPr lang="en-US" altLang="zh-CN"/>
          </a:p>
        </p:txBody>
      </p:sp>
    </p:spTree>
    <p:extLst>
      <p:ext uri="{BB962C8B-B14F-4D97-AF65-F5344CB8AC3E}">
        <p14:creationId xmlns:p14="http://schemas.microsoft.com/office/powerpoint/2010/main" val="182369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78E6AA61-4113-4F33-B81D-51C9D1334017}" type="datetime1">
              <a:rPr lang="zh-CN" altLang="en-US"/>
              <a:pPr>
                <a:defRPr/>
              </a:pPr>
              <a:t>2025/9/14</a:t>
            </a:fld>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93AD9589-8649-4544-B5CB-36E4EE476DE7}" type="slidenum">
              <a:rPr lang="en-US" altLang="zh-CN"/>
              <a:pPr>
                <a:defRPr/>
              </a:pPr>
              <a:t>‹#›</a:t>
            </a:fld>
            <a:endParaRPr lang="en-US" altLang="zh-CN"/>
          </a:p>
        </p:txBody>
      </p:sp>
    </p:spTree>
    <p:extLst>
      <p:ext uri="{BB962C8B-B14F-4D97-AF65-F5344CB8AC3E}">
        <p14:creationId xmlns:p14="http://schemas.microsoft.com/office/powerpoint/2010/main" val="2058233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dt" sz="half" idx="10"/>
          </p:nvPr>
        </p:nvSpPr>
        <p:spPr>
          <a:ln/>
        </p:spPr>
        <p:txBody>
          <a:bodyPr/>
          <a:lstStyle>
            <a:lvl1pPr>
              <a:defRPr/>
            </a:lvl1pPr>
          </a:lstStyle>
          <a:p>
            <a:pPr>
              <a:defRPr/>
            </a:pPr>
            <a:fld id="{4BFC8AE7-63DF-42BE-A0A2-BB8210721F9E}" type="datetime1">
              <a:rPr lang="zh-CN" altLang="en-US"/>
              <a:pPr>
                <a:defRPr/>
              </a:pPr>
              <a:t>2025/9/14</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500147DB-8B05-4A71-9A65-61BDFEA684AE}" type="slidenum">
              <a:rPr lang="en-US" altLang="zh-CN"/>
              <a:pPr>
                <a:defRPr/>
              </a:pPr>
              <a:t>‹#›</a:t>
            </a:fld>
            <a:endParaRPr lang="en-US" altLang="zh-CN"/>
          </a:p>
        </p:txBody>
      </p:sp>
    </p:spTree>
    <p:extLst>
      <p:ext uri="{BB962C8B-B14F-4D97-AF65-F5344CB8AC3E}">
        <p14:creationId xmlns:p14="http://schemas.microsoft.com/office/powerpoint/2010/main" val="3898248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dt" sz="half" idx="10"/>
          </p:nvPr>
        </p:nvSpPr>
        <p:spPr>
          <a:ln/>
        </p:spPr>
        <p:txBody>
          <a:bodyPr/>
          <a:lstStyle>
            <a:lvl1pPr>
              <a:defRPr/>
            </a:lvl1pPr>
          </a:lstStyle>
          <a:p>
            <a:pPr>
              <a:defRPr/>
            </a:pPr>
            <a:fld id="{4A8D646B-AD99-4738-B28D-D9FE4E494AC0}" type="datetime1">
              <a:rPr lang="zh-CN" altLang="en-US"/>
              <a:pPr>
                <a:defRPr/>
              </a:pPr>
              <a:t>2025/9/14</a:t>
            </a:fld>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BD0C7432-B4CC-4695-82C7-A9F2E2DE7CA4}" type="slidenum">
              <a:rPr lang="en-US" altLang="zh-CN"/>
              <a:pPr>
                <a:defRPr/>
              </a:pPr>
              <a:t>‹#›</a:t>
            </a:fld>
            <a:endParaRPr lang="en-US" altLang="zh-CN"/>
          </a:p>
        </p:txBody>
      </p:sp>
    </p:spTree>
    <p:extLst>
      <p:ext uri="{BB962C8B-B14F-4D97-AF65-F5344CB8AC3E}">
        <p14:creationId xmlns:p14="http://schemas.microsoft.com/office/powerpoint/2010/main" val="2203580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5715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6"/>
          <p:cNvSpPr>
            <a:spLocks noGrp="1" noChangeArrowheads="1"/>
          </p:cNvSpPr>
          <p:nvPr>
            <p:ph type="dt" sz="half" idx="10"/>
          </p:nvPr>
        </p:nvSpPr>
        <p:spPr>
          <a:ln/>
        </p:spPr>
        <p:txBody>
          <a:bodyPr/>
          <a:lstStyle>
            <a:lvl1pPr>
              <a:defRPr/>
            </a:lvl1pPr>
          </a:lstStyle>
          <a:p>
            <a:pPr>
              <a:defRPr/>
            </a:pPr>
            <a:fld id="{110EDA55-99B8-4323-862A-192C55681F5C}" type="datetime1">
              <a:rPr lang="zh-CN" altLang="en-US"/>
              <a:pPr>
                <a:defRPr/>
              </a:pPr>
              <a:t>2025/9/14</a:t>
            </a:fld>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B6A73851-7011-4574-8EF1-FD786807C677}" type="slidenum">
              <a:rPr lang="en-US" altLang="zh-CN"/>
              <a:pPr>
                <a:defRPr/>
              </a:pPr>
              <a:t>‹#›</a:t>
            </a:fld>
            <a:endParaRPr lang="en-US" altLang="zh-CN"/>
          </a:p>
        </p:txBody>
      </p:sp>
    </p:spTree>
    <p:extLst>
      <p:ext uri="{BB962C8B-B14F-4D97-AF65-F5344CB8AC3E}">
        <p14:creationId xmlns:p14="http://schemas.microsoft.com/office/powerpoint/2010/main" val="1930763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4294967295"/>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Line 5"/>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a:defRPr/>
            </a:pPr>
            <a:fld id="{A5678EAA-7D67-46EC-8192-CF980364EE70}" type="datetime1">
              <a:rPr lang="zh-CN" altLang="en-US"/>
              <a:pPr>
                <a:defRPr/>
              </a:pPr>
              <a:t>2025/9/14</a:t>
            </a:fld>
            <a:endParaRPr lang="en-US" altLang="zh-CN"/>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a:defRPr/>
            </a:pPr>
            <a:endParaRPr lang="en-US" altLang="zh-CN"/>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BD3EE2D3-6E96-4A65-93B2-8A87013DE8E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40"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wmf"/><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oleObject" Target="../embeddings/oleObject1.bin"/><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3.wmf"/><Relationship Id="rId18" Type="http://schemas.openxmlformats.org/officeDocument/2006/relationships/image" Target="../media/image16.png"/><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oleObject" Target="../embeddings/oleObject12.bin"/><Relationship Id="rId17" Type="http://schemas.openxmlformats.org/officeDocument/2006/relationships/image" Target="../media/image15.wmf"/><Relationship Id="rId2" Type="http://schemas.openxmlformats.org/officeDocument/2006/relationships/oleObject" Target="../embeddings/oleObject7.bin"/><Relationship Id="rId16"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12.wmf"/><Relationship Id="rId5" Type="http://schemas.openxmlformats.org/officeDocument/2006/relationships/image" Target="../media/image9.wmf"/><Relationship Id="rId15" Type="http://schemas.openxmlformats.org/officeDocument/2006/relationships/image" Target="../media/image14.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1.wmf"/><Relationship Id="rId14" Type="http://schemas.openxmlformats.org/officeDocument/2006/relationships/oleObject" Target="../embeddings/oleObject13.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19.wmf"/><Relationship Id="rId12" Type="http://schemas.openxmlformats.org/officeDocument/2006/relationships/oleObject" Target="../embeddings/oleObject20.bin"/><Relationship Id="rId17" Type="http://schemas.openxmlformats.org/officeDocument/2006/relationships/image" Target="../media/image10.wmf"/><Relationship Id="rId2" Type="http://schemas.openxmlformats.org/officeDocument/2006/relationships/oleObject" Target="../embeddings/oleObject15.bin"/><Relationship Id="rId16"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21.wmf"/><Relationship Id="rId5" Type="http://schemas.openxmlformats.org/officeDocument/2006/relationships/image" Target="../media/image18.wmf"/><Relationship Id="rId15" Type="http://schemas.openxmlformats.org/officeDocument/2006/relationships/image" Target="../media/image8.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0.wmf"/><Relationship Id="rId1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25.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27.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8.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26.bin"/><Relationship Id="rId4" Type="http://schemas.openxmlformats.org/officeDocument/2006/relationships/image" Target="../media/image29.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31.wmf"/></Relationships>
</file>

<file path=ppt/slides/_rels/slide19.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29.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32.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33.bin"/><Relationship Id="rId1" Type="http://schemas.openxmlformats.org/officeDocument/2006/relationships/slideLayout" Target="../slideLayouts/slideLayout7.xml"/><Relationship Id="rId5" Type="http://schemas.openxmlformats.org/officeDocument/2006/relationships/image" Target="../media/image38.wmf"/><Relationship Id="rId4" Type="http://schemas.openxmlformats.org/officeDocument/2006/relationships/oleObject" Target="../embeddings/oleObject3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5" Type="http://schemas.openxmlformats.org/officeDocument/2006/relationships/image" Target="../media/image40.wmf"/><Relationship Id="rId10" Type="http://schemas.openxmlformats.org/officeDocument/2006/relationships/image" Target="../media/image43.wmf"/><Relationship Id="rId4" Type="http://schemas.openxmlformats.org/officeDocument/2006/relationships/oleObject" Target="../embeddings/oleObject36.bin"/><Relationship Id="rId9" Type="http://schemas.openxmlformats.org/officeDocument/2006/relationships/oleObject" Target="../embeddings/oleObject38.bin"/></Relationships>
</file>

<file path=ppt/slides/_rels/slide28.xml.rels><?xml version="1.0" encoding="UTF-8" standalone="yes"?>
<Relationships xmlns="http://schemas.openxmlformats.org/package/2006/relationships"><Relationship Id="rId3" Type="http://schemas.openxmlformats.org/officeDocument/2006/relationships/image" Target="../media/image44.wmf"/><Relationship Id="rId7" Type="http://schemas.openxmlformats.org/officeDocument/2006/relationships/image" Target="../media/image46.wmf"/><Relationship Id="rId2" Type="http://schemas.openxmlformats.org/officeDocument/2006/relationships/oleObject" Target="../embeddings/oleObject39.bin"/><Relationship Id="rId1" Type="http://schemas.openxmlformats.org/officeDocument/2006/relationships/slideLayout" Target="../slideLayouts/slideLayout7.xml"/><Relationship Id="rId6" Type="http://schemas.openxmlformats.org/officeDocument/2006/relationships/oleObject" Target="../embeddings/oleObject41.bin"/><Relationship Id="rId5" Type="http://schemas.openxmlformats.org/officeDocument/2006/relationships/image" Target="../media/image45.wmf"/><Relationship Id="rId4" Type="http://schemas.openxmlformats.org/officeDocument/2006/relationships/oleObject" Target="../embeddings/oleObject40.bin"/></Relationships>
</file>

<file path=ppt/slides/_rels/slide29.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42.bin"/><Relationship Id="rId1" Type="http://schemas.openxmlformats.org/officeDocument/2006/relationships/slideLayout" Target="../slideLayouts/slideLayout7.xml"/><Relationship Id="rId5" Type="http://schemas.openxmlformats.org/officeDocument/2006/relationships/image" Target="../media/image48.wmf"/><Relationship Id="rId4" Type="http://schemas.openxmlformats.org/officeDocument/2006/relationships/oleObject" Target="../embeddings/oleObject43.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image" Target="../media/image51.e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57.wmf"/><Relationship Id="rId3" Type="http://schemas.openxmlformats.org/officeDocument/2006/relationships/image" Target="../media/image52.emf"/><Relationship Id="rId7" Type="http://schemas.openxmlformats.org/officeDocument/2006/relationships/image" Target="../media/image54.emf"/><Relationship Id="rId12" Type="http://schemas.openxmlformats.org/officeDocument/2006/relationships/oleObject" Target="../embeddings/oleObject50.bin"/><Relationship Id="rId17" Type="http://schemas.openxmlformats.org/officeDocument/2006/relationships/image" Target="../media/image59.emf"/><Relationship Id="rId2" Type="http://schemas.openxmlformats.org/officeDocument/2006/relationships/oleObject" Target="../embeddings/oleObject45.bin"/><Relationship Id="rId16" Type="http://schemas.openxmlformats.org/officeDocument/2006/relationships/oleObject" Target="../embeddings/oleObject52.bin"/><Relationship Id="rId1" Type="http://schemas.openxmlformats.org/officeDocument/2006/relationships/slideLayout" Target="../slideLayouts/slideLayout7.xml"/><Relationship Id="rId6" Type="http://schemas.openxmlformats.org/officeDocument/2006/relationships/oleObject" Target="../embeddings/oleObject47.bin"/><Relationship Id="rId11" Type="http://schemas.openxmlformats.org/officeDocument/2006/relationships/image" Target="../media/image56.emf"/><Relationship Id="rId5" Type="http://schemas.openxmlformats.org/officeDocument/2006/relationships/image" Target="../media/image53.emf"/><Relationship Id="rId15" Type="http://schemas.openxmlformats.org/officeDocument/2006/relationships/image" Target="../media/image58.e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55.emf"/><Relationship Id="rId14" Type="http://schemas.openxmlformats.org/officeDocument/2006/relationships/oleObject" Target="../embeddings/oleObject51.bin"/></Relationships>
</file>

<file path=ppt/slides/_rels/slide37.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image" Target="../media/image60.emf"/><Relationship Id="rId7" Type="http://schemas.openxmlformats.org/officeDocument/2006/relationships/image" Target="../media/image62.emf"/><Relationship Id="rId2" Type="http://schemas.openxmlformats.org/officeDocument/2006/relationships/oleObject" Target="../embeddings/oleObject53.bin"/><Relationship Id="rId1" Type="http://schemas.openxmlformats.org/officeDocument/2006/relationships/slideLayout" Target="../slideLayouts/slideLayout7.xml"/><Relationship Id="rId6" Type="http://schemas.openxmlformats.org/officeDocument/2006/relationships/oleObject" Target="../embeddings/oleObject55.bin"/><Relationship Id="rId5" Type="http://schemas.openxmlformats.org/officeDocument/2006/relationships/image" Target="../media/image61.emf"/><Relationship Id="rId4" Type="http://schemas.openxmlformats.org/officeDocument/2006/relationships/oleObject" Target="../embeddings/oleObject54.bin"/></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56.bin"/><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57.bin"/><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68.wmf"/><Relationship Id="rId7" Type="http://schemas.openxmlformats.org/officeDocument/2006/relationships/image" Target="../media/image70.wmf"/><Relationship Id="rId2" Type="http://schemas.openxmlformats.org/officeDocument/2006/relationships/oleObject" Target="../embeddings/oleObject58.bin"/><Relationship Id="rId1" Type="http://schemas.openxmlformats.org/officeDocument/2006/relationships/slideLayout" Target="../slideLayouts/slideLayout7.xml"/><Relationship Id="rId6" Type="http://schemas.openxmlformats.org/officeDocument/2006/relationships/oleObject" Target="../embeddings/oleObject60.bin"/><Relationship Id="rId5" Type="http://schemas.openxmlformats.org/officeDocument/2006/relationships/image" Target="../media/image69.wmf"/><Relationship Id="rId4" Type="http://schemas.openxmlformats.org/officeDocument/2006/relationships/oleObject" Target="../embeddings/oleObject59.bin"/><Relationship Id="rId9" Type="http://schemas.openxmlformats.org/officeDocument/2006/relationships/image" Target="../media/image71.wmf"/></Relationships>
</file>

<file path=ppt/slides/_rels/slide44.xml.rels><?xml version="1.0" encoding="UTF-8" standalone="yes"?>
<Relationships xmlns="http://schemas.openxmlformats.org/package/2006/relationships"><Relationship Id="rId3" Type="http://schemas.openxmlformats.org/officeDocument/2006/relationships/image" Target="../media/image72.wmf"/><Relationship Id="rId7" Type="http://schemas.openxmlformats.org/officeDocument/2006/relationships/image" Target="../media/image74.wmf"/><Relationship Id="rId2" Type="http://schemas.openxmlformats.org/officeDocument/2006/relationships/oleObject" Target="../embeddings/oleObject62.bin"/><Relationship Id="rId1" Type="http://schemas.openxmlformats.org/officeDocument/2006/relationships/slideLayout" Target="../slideLayouts/slideLayout7.xml"/><Relationship Id="rId6" Type="http://schemas.openxmlformats.org/officeDocument/2006/relationships/oleObject" Target="../embeddings/oleObject64.bin"/><Relationship Id="rId5" Type="http://schemas.openxmlformats.org/officeDocument/2006/relationships/image" Target="../media/image73.wmf"/><Relationship Id="rId4" Type="http://schemas.openxmlformats.org/officeDocument/2006/relationships/oleObject" Target="../embeddings/oleObject63.bin"/></Relationships>
</file>

<file path=ppt/slides/_rels/slide45.xml.rels><?xml version="1.0" encoding="UTF-8" standalone="yes"?>
<Relationships xmlns="http://schemas.openxmlformats.org/package/2006/relationships"><Relationship Id="rId3" Type="http://schemas.openxmlformats.org/officeDocument/2006/relationships/image" Target="../media/image75.wmf"/><Relationship Id="rId7" Type="http://schemas.openxmlformats.org/officeDocument/2006/relationships/image" Target="../media/image77.wmf"/><Relationship Id="rId2" Type="http://schemas.openxmlformats.org/officeDocument/2006/relationships/oleObject" Target="../embeddings/oleObject65.bin"/><Relationship Id="rId1" Type="http://schemas.openxmlformats.org/officeDocument/2006/relationships/slideLayout" Target="../slideLayouts/slideLayout7.xml"/><Relationship Id="rId6" Type="http://schemas.openxmlformats.org/officeDocument/2006/relationships/oleObject" Target="../embeddings/oleObject67.bin"/><Relationship Id="rId5" Type="http://schemas.openxmlformats.org/officeDocument/2006/relationships/image" Target="../media/image76.wmf"/><Relationship Id="rId4" Type="http://schemas.openxmlformats.org/officeDocument/2006/relationships/oleObject" Target="../embeddings/oleObject66.bin"/></Relationships>
</file>

<file path=ppt/slides/_rels/slide46.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oleObject" Target="../embeddings/oleObject68.bin"/><Relationship Id="rId1" Type="http://schemas.openxmlformats.org/officeDocument/2006/relationships/slideLayout" Target="../slideLayouts/slideLayout7.xml"/><Relationship Id="rId5" Type="http://schemas.openxmlformats.org/officeDocument/2006/relationships/image" Target="../media/image79.wmf"/><Relationship Id="rId4" Type="http://schemas.openxmlformats.org/officeDocument/2006/relationships/oleObject" Target="../embeddings/oleObject69.bin"/></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80.wmf"/><Relationship Id="rId7" Type="http://schemas.openxmlformats.org/officeDocument/2006/relationships/image" Target="../media/image82.wmf"/><Relationship Id="rId2" Type="http://schemas.openxmlformats.org/officeDocument/2006/relationships/oleObject" Target="../embeddings/oleObject70.bin"/><Relationship Id="rId1" Type="http://schemas.openxmlformats.org/officeDocument/2006/relationships/slideLayout" Target="../slideLayouts/slideLayout7.xml"/><Relationship Id="rId6" Type="http://schemas.openxmlformats.org/officeDocument/2006/relationships/oleObject" Target="../embeddings/oleObject72.bin"/><Relationship Id="rId5" Type="http://schemas.openxmlformats.org/officeDocument/2006/relationships/image" Target="../media/image81.wmf"/><Relationship Id="rId4" Type="http://schemas.openxmlformats.org/officeDocument/2006/relationships/oleObject" Target="../embeddings/oleObject71.bin"/></Relationships>
</file>

<file path=ppt/slides/_rels/slide49.xml.rels><?xml version="1.0" encoding="UTF-8" standalone="yes"?>
<Relationships xmlns="http://schemas.openxmlformats.org/package/2006/relationships"><Relationship Id="rId3" Type="http://schemas.openxmlformats.org/officeDocument/2006/relationships/image" Target="../media/image83.wmf"/><Relationship Id="rId7" Type="http://schemas.openxmlformats.org/officeDocument/2006/relationships/image" Target="../media/image85.wmf"/><Relationship Id="rId2" Type="http://schemas.openxmlformats.org/officeDocument/2006/relationships/oleObject" Target="../embeddings/oleObject73.bin"/><Relationship Id="rId1" Type="http://schemas.openxmlformats.org/officeDocument/2006/relationships/slideLayout" Target="../slideLayouts/slideLayout7.xml"/><Relationship Id="rId6" Type="http://schemas.openxmlformats.org/officeDocument/2006/relationships/oleObject" Target="../embeddings/oleObject75.bin"/><Relationship Id="rId5" Type="http://schemas.openxmlformats.org/officeDocument/2006/relationships/image" Target="../media/image84.wmf"/><Relationship Id="rId4" Type="http://schemas.openxmlformats.org/officeDocument/2006/relationships/oleObject" Target="../embeddings/oleObject74.bin"/></Relationships>
</file>

<file path=ppt/slides/_rels/slide50.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oleObject" Target="../embeddings/oleObject76.bin"/><Relationship Id="rId1" Type="http://schemas.openxmlformats.org/officeDocument/2006/relationships/slideLayout" Target="../slideLayouts/slideLayout7.xml"/><Relationship Id="rId5" Type="http://schemas.openxmlformats.org/officeDocument/2006/relationships/image" Target="../media/image87.wmf"/><Relationship Id="rId4" Type="http://schemas.openxmlformats.org/officeDocument/2006/relationships/oleObject" Target="../embeddings/oleObject77.bin"/></Relationships>
</file>

<file path=ppt/slides/_rels/slide51.xml.rels><?xml version="1.0" encoding="UTF-8" standalone="yes"?>
<Relationships xmlns="http://schemas.openxmlformats.org/package/2006/relationships"><Relationship Id="rId2" Type="http://schemas.openxmlformats.org/officeDocument/2006/relationships/image" Target="../media/image88.gi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oleObject" Target="../embeddings/oleObject78.bin"/><Relationship Id="rId1" Type="http://schemas.openxmlformats.org/officeDocument/2006/relationships/slideLayout" Target="../slideLayouts/slideLayout7.xml"/><Relationship Id="rId5" Type="http://schemas.openxmlformats.org/officeDocument/2006/relationships/image" Target="../media/image90.wmf"/><Relationship Id="rId4" Type="http://schemas.openxmlformats.org/officeDocument/2006/relationships/oleObject" Target="../embeddings/oleObject79.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96.wmf"/><Relationship Id="rId3" Type="http://schemas.openxmlformats.org/officeDocument/2006/relationships/image" Target="../media/image91.wmf"/><Relationship Id="rId7" Type="http://schemas.openxmlformats.org/officeDocument/2006/relationships/image" Target="../media/image93.wmf"/><Relationship Id="rId12" Type="http://schemas.openxmlformats.org/officeDocument/2006/relationships/oleObject" Target="../embeddings/oleObject85.bin"/><Relationship Id="rId2" Type="http://schemas.openxmlformats.org/officeDocument/2006/relationships/oleObject" Target="../embeddings/oleObject80.bin"/><Relationship Id="rId1" Type="http://schemas.openxmlformats.org/officeDocument/2006/relationships/slideLayout" Target="../slideLayouts/slideLayout7.xml"/><Relationship Id="rId6" Type="http://schemas.openxmlformats.org/officeDocument/2006/relationships/oleObject" Target="../embeddings/oleObject82.bin"/><Relationship Id="rId11" Type="http://schemas.openxmlformats.org/officeDocument/2006/relationships/image" Target="../media/image95.wmf"/><Relationship Id="rId5" Type="http://schemas.openxmlformats.org/officeDocument/2006/relationships/image" Target="../media/image92.w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94.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noChangeArrowheads="1"/>
          </p:cNvSpPr>
          <p:nvPr>
            <p:ph idx="1"/>
          </p:nvPr>
        </p:nvSpPr>
        <p:spPr>
          <a:xfrm>
            <a:off x="609600" y="2060575"/>
            <a:ext cx="8001000" cy="2281238"/>
          </a:xfrm>
        </p:spPr>
        <p:txBody>
          <a:bodyPr/>
          <a:lstStyle/>
          <a:p>
            <a:r>
              <a:rPr lang="zh-CN" altLang="en-US"/>
              <a:t>典型环节及其传递函数</a:t>
            </a:r>
          </a:p>
          <a:p>
            <a:r>
              <a:rPr lang="zh-CN" altLang="en-US"/>
              <a:t>相似系统</a:t>
            </a:r>
            <a:endParaRPr lang="en-US" altLang="zh-CN"/>
          </a:p>
          <a:p>
            <a:r>
              <a:rPr lang="zh-CN" altLang="en-US"/>
              <a:t>方框图的组成元素、建立方法</a:t>
            </a:r>
          </a:p>
        </p:txBody>
      </p:sp>
      <p:sp>
        <p:nvSpPr>
          <p:cNvPr id="5123"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9EA5203-2831-4F84-AD65-BDC255104A25}" type="datetime1">
              <a:rPr lang="zh-CN" altLang="en-US" smtClean="0"/>
              <a:pPr/>
              <a:t>2025/9/14</a:t>
            </a:fld>
            <a:endParaRPr lang="en-US" altLang="zh-CN"/>
          </a:p>
        </p:txBody>
      </p:sp>
      <p:sp>
        <p:nvSpPr>
          <p:cNvPr id="5124" name="文本框 1"/>
          <p:cNvSpPr txBox="1">
            <a:spLocks noChangeArrowheads="1"/>
          </p:cNvSpPr>
          <p:nvPr/>
        </p:nvSpPr>
        <p:spPr bwMode="auto">
          <a:xfrm>
            <a:off x="609600" y="915988"/>
            <a:ext cx="2038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b="1"/>
              <a:t>上节回顾</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EB6C219-B6F5-43F4-B36E-409692B4D873}" type="datetime1">
              <a:rPr lang="zh-CN" altLang="en-US" sz="1200" smtClean="0"/>
              <a:pPr>
                <a:spcBef>
                  <a:spcPct val="0"/>
                </a:spcBef>
                <a:buClrTx/>
                <a:buFontTx/>
                <a:buNone/>
              </a:pPr>
              <a:t>2025/9/14</a:t>
            </a:fld>
            <a:endParaRPr lang="zh-CN" altLang="en-US" sz="1200"/>
          </a:p>
        </p:txBody>
      </p:sp>
      <p:sp>
        <p:nvSpPr>
          <p:cNvPr id="36867"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9210C515-4EC4-406E-B9CA-C1DA30746B20}" type="slidenum">
              <a:rPr lang="en-US" altLang="zh-CN" sz="1200" smtClean="0"/>
              <a:pPr>
                <a:spcBef>
                  <a:spcPct val="0"/>
                </a:spcBef>
                <a:buClrTx/>
                <a:buFontTx/>
                <a:buNone/>
              </a:pPr>
              <a:t>2</a:t>
            </a:fld>
            <a:endParaRPr lang="en-US" altLang="zh-CN" sz="1200"/>
          </a:p>
        </p:txBody>
      </p:sp>
      <p:sp>
        <p:nvSpPr>
          <p:cNvPr id="36868" name="Text Box 3"/>
          <p:cNvSpPr txBox="1">
            <a:spLocks noChangeArrowheads="1"/>
          </p:cNvSpPr>
          <p:nvPr/>
        </p:nvSpPr>
        <p:spPr bwMode="auto">
          <a:xfrm>
            <a:off x="19081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2</a:t>
            </a:r>
            <a:r>
              <a:rPr lang="zh-CN" altLang="en-US" sz="3600">
                <a:latin typeface="Times New Roman" panose="02020603050405020304" pitchFamily="18" charset="0"/>
                <a:ea typeface="华文新魏" panose="02010800040101010101" pitchFamily="2" charset="-122"/>
              </a:rPr>
              <a:t>章  数学模型</a:t>
            </a:r>
          </a:p>
        </p:txBody>
      </p:sp>
      <p:sp>
        <p:nvSpPr>
          <p:cNvPr id="36869" name="Rectangle 4"/>
          <p:cNvSpPr>
            <a:spLocks noChangeArrowheads="1"/>
          </p:cNvSpPr>
          <p:nvPr/>
        </p:nvSpPr>
        <p:spPr bwMode="auto">
          <a:xfrm>
            <a:off x="1981200" y="2209800"/>
            <a:ext cx="377507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2.2   </a:t>
            </a:r>
            <a:r>
              <a:rPr lang="zh-CN" altLang="en-US" sz="2800">
                <a:latin typeface="Times New Roman" panose="02020603050405020304" pitchFamily="18" charset="0"/>
                <a:ea typeface="黑体" panose="02010609060101010101" pitchFamily="49" charset="-122"/>
              </a:rPr>
              <a:t>拉氏变换和反变换</a:t>
            </a:r>
          </a:p>
        </p:txBody>
      </p:sp>
      <p:sp>
        <p:nvSpPr>
          <p:cNvPr id="36870" name="Rectangle 5"/>
          <p:cNvSpPr>
            <a:spLocks noChangeArrowheads="1"/>
          </p:cNvSpPr>
          <p:nvPr/>
        </p:nvSpPr>
        <p:spPr bwMode="auto">
          <a:xfrm>
            <a:off x="1981200" y="2757488"/>
            <a:ext cx="23383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2.3   </a:t>
            </a:r>
            <a:r>
              <a:rPr lang="zh-CN" altLang="en-US" sz="2800">
                <a:latin typeface="Times New Roman" panose="02020603050405020304" pitchFamily="18" charset="0"/>
                <a:ea typeface="黑体" panose="02010609060101010101" pitchFamily="49" charset="-122"/>
              </a:rPr>
              <a:t>传递函数</a:t>
            </a:r>
          </a:p>
        </p:txBody>
      </p:sp>
      <p:sp>
        <p:nvSpPr>
          <p:cNvPr id="36871" name="Rectangle 6"/>
          <p:cNvSpPr>
            <a:spLocks noChangeArrowheads="1"/>
          </p:cNvSpPr>
          <p:nvPr/>
        </p:nvSpPr>
        <p:spPr bwMode="auto">
          <a:xfrm>
            <a:off x="1981200" y="3967163"/>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latin typeface="Times New Roman" panose="02020603050405020304" pitchFamily="18" charset="0"/>
                <a:ea typeface="黑体" panose="02010609060101010101" pitchFamily="49" charset="-122"/>
              </a:rPr>
              <a:t>2.5   </a:t>
            </a:r>
            <a:r>
              <a:rPr lang="zh-CN" altLang="en-US" sz="2800">
                <a:latin typeface="Times New Roman" panose="02020603050405020304" pitchFamily="18" charset="0"/>
                <a:ea typeface="黑体" panose="02010609060101010101" pitchFamily="49" charset="-122"/>
              </a:rPr>
              <a:t>非线性数学模型的线性化</a:t>
            </a:r>
          </a:p>
        </p:txBody>
      </p:sp>
      <p:sp>
        <p:nvSpPr>
          <p:cNvPr id="5128" name="Rectangle 7"/>
          <p:cNvSpPr>
            <a:spLocks noChangeArrowheads="1"/>
          </p:cNvSpPr>
          <p:nvPr/>
        </p:nvSpPr>
        <p:spPr bwMode="auto">
          <a:xfrm>
            <a:off x="1979613" y="3330575"/>
            <a:ext cx="4494212"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defRPr/>
            </a:pPr>
            <a:r>
              <a:rPr lang="en-US" altLang="zh-CN" sz="2800" dirty="0">
                <a:solidFill>
                  <a:srgbClr val="FF0000"/>
                </a:solidFill>
                <a:latin typeface="Times New Roman" panose="02020603050405020304" pitchFamily="18" charset="0"/>
                <a:ea typeface="黑体" panose="02010609060101010101" pitchFamily="49" charset="-122"/>
              </a:rPr>
              <a:t>2.4   </a:t>
            </a:r>
            <a:r>
              <a:rPr lang="zh-CN" altLang="en-US" sz="2800" dirty="0">
                <a:solidFill>
                  <a:srgbClr val="FF0000"/>
                </a:solidFill>
                <a:latin typeface="Times New Roman" panose="02020603050405020304" pitchFamily="18" charset="0"/>
                <a:ea typeface="黑体" panose="02010609060101010101" pitchFamily="49" charset="-122"/>
              </a:rPr>
              <a:t>系统方框图</a:t>
            </a:r>
            <a:r>
              <a:rPr lang="zh-CN" altLang="en-US" sz="2800" dirty="0">
                <a:solidFill>
                  <a:schemeClr val="tx1">
                    <a:lumMod val="50000"/>
                    <a:lumOff val="50000"/>
                  </a:schemeClr>
                </a:solidFill>
                <a:latin typeface="Times New Roman" panose="02020603050405020304" pitchFamily="18" charset="0"/>
                <a:ea typeface="黑体" panose="02010609060101010101" pitchFamily="49" charset="-122"/>
              </a:rPr>
              <a:t>和</a:t>
            </a:r>
            <a:r>
              <a:rPr lang="zh-CN" altLang="en-US" sz="2800" dirty="0">
                <a:solidFill>
                  <a:srgbClr val="FF0000"/>
                </a:solidFill>
                <a:latin typeface="Times New Roman" panose="02020603050405020304" pitchFamily="18" charset="0"/>
                <a:ea typeface="黑体" panose="02010609060101010101" pitchFamily="49" charset="-122"/>
              </a:rPr>
              <a:t>信号流图</a:t>
            </a:r>
          </a:p>
        </p:txBody>
      </p:sp>
      <p:sp>
        <p:nvSpPr>
          <p:cNvPr id="36873" name="Rectangle 8"/>
          <p:cNvSpPr>
            <a:spLocks noChangeArrowheads="1"/>
          </p:cNvSpPr>
          <p:nvPr/>
        </p:nvSpPr>
        <p:spPr bwMode="auto">
          <a:xfrm>
            <a:off x="1981200" y="4405313"/>
            <a:ext cx="5211763"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2.6   </a:t>
            </a:r>
            <a:r>
              <a:rPr lang="zh-CN" altLang="en-US" sz="2800">
                <a:latin typeface="Times New Roman" panose="02020603050405020304" pitchFamily="18" charset="0"/>
                <a:ea typeface="黑体" panose="02010609060101010101" pitchFamily="49" charset="-122"/>
              </a:rPr>
              <a:t>控制系统传递函数推导举例</a:t>
            </a:r>
          </a:p>
        </p:txBody>
      </p:sp>
      <p:sp>
        <p:nvSpPr>
          <p:cNvPr id="36874" name="Rectangle 11"/>
          <p:cNvSpPr>
            <a:spLocks noChangeArrowheads="1"/>
          </p:cNvSpPr>
          <p:nvPr/>
        </p:nvSpPr>
        <p:spPr bwMode="auto">
          <a:xfrm>
            <a:off x="1981200" y="1676400"/>
            <a:ext cx="485298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2.1   </a:t>
            </a:r>
            <a:r>
              <a:rPr lang="zh-CN" altLang="en-US" sz="2800">
                <a:latin typeface="Times New Roman" panose="02020603050405020304" pitchFamily="18" charset="0"/>
                <a:ea typeface="黑体" panose="02010609060101010101" pitchFamily="49" charset="-122"/>
              </a:rPr>
              <a:t>控制系统的运动微分方程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3"/>
          <p:cNvSpPr>
            <a:spLocks noGrp="1" noChangeArrowheads="1"/>
          </p:cNvSpPr>
          <p:nvPr>
            <p:ph idx="1"/>
          </p:nvPr>
        </p:nvSpPr>
        <p:spPr>
          <a:xfrm>
            <a:off x="685800" y="2590800"/>
            <a:ext cx="7772400" cy="2743200"/>
          </a:xfrm>
        </p:spPr>
        <p:txBody>
          <a:bodyPr/>
          <a:lstStyle/>
          <a:p>
            <a:pPr>
              <a:buFontTx/>
              <a:buNone/>
            </a:pPr>
            <a:r>
              <a:rPr lang="en-US" altLang="zh-CN"/>
              <a:t>        </a:t>
            </a:r>
            <a:r>
              <a:rPr lang="zh-CN" altLang="en-US"/>
              <a:t>对于复杂系统，利用方框图变换来求解系统的传递函数很繁琐，而用信号流图法则，可以直接求取传递函数，不用简化。</a:t>
            </a:r>
          </a:p>
        </p:txBody>
      </p:sp>
      <p:sp>
        <p:nvSpPr>
          <p:cNvPr id="132099" name="Rectangle 3"/>
          <p:cNvSpPr>
            <a:spLocks noChangeArrowheads="1"/>
          </p:cNvSpPr>
          <p:nvPr/>
        </p:nvSpPr>
        <p:spPr bwMode="auto">
          <a:xfrm>
            <a:off x="755650" y="836613"/>
            <a:ext cx="66246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dirty="0">
                <a:latin typeface="宋体" panose="02010600030101010101" pitchFamily="2" charset="-122"/>
              </a:rPr>
              <a:t>系统信号流图和梅森公式</a:t>
            </a: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3431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p:cNvSpPr txBox="1">
            <a:spLocks noChangeArrowheads="1"/>
          </p:cNvSpPr>
          <p:nvPr/>
        </p:nvSpPr>
        <p:spPr bwMode="auto">
          <a:xfrm>
            <a:off x="684213" y="333375"/>
            <a:ext cx="32226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2800" b="1"/>
              <a:t>  信号流图及术语</a:t>
            </a:r>
            <a:endParaRPr lang="en-US" altLang="zh-CN" sz="2800" b="1"/>
          </a:p>
        </p:txBody>
      </p:sp>
      <p:sp>
        <p:nvSpPr>
          <p:cNvPr id="49155" name="Text Box 3"/>
          <p:cNvSpPr txBox="1">
            <a:spLocks noChangeArrowheads="1"/>
          </p:cNvSpPr>
          <p:nvPr/>
        </p:nvSpPr>
        <p:spPr bwMode="auto">
          <a:xfrm>
            <a:off x="1116013" y="1700213"/>
            <a:ext cx="48942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Tx/>
              <a:buAutoNum type="arabicPeriod"/>
            </a:pPr>
            <a:r>
              <a:rPr lang="zh-CN" altLang="en-US" sz="2400"/>
              <a:t>节点</a:t>
            </a:r>
            <a:r>
              <a:rPr lang="en-US" altLang="zh-CN" sz="2400"/>
              <a:t>(junction points)</a:t>
            </a:r>
            <a:r>
              <a:rPr lang="zh-CN" altLang="en-US" sz="2400"/>
              <a:t>：每一个变量就是一个节点。</a:t>
            </a:r>
          </a:p>
        </p:txBody>
      </p:sp>
      <p:sp>
        <p:nvSpPr>
          <p:cNvPr id="49156" name="Text Box 4"/>
          <p:cNvSpPr txBox="1">
            <a:spLocks noChangeArrowheads="1"/>
          </p:cNvSpPr>
          <p:nvPr/>
        </p:nvSpPr>
        <p:spPr bwMode="auto">
          <a:xfrm>
            <a:off x="1116013" y="2565400"/>
            <a:ext cx="45354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Tx/>
              <a:buAutoNum type="arabicPeriod" startAt="2"/>
            </a:pPr>
            <a:r>
              <a:rPr lang="zh-CN" altLang="en-US" sz="2400"/>
              <a:t>支路</a:t>
            </a:r>
            <a:r>
              <a:rPr lang="en-US" altLang="zh-CN" sz="2400"/>
              <a:t>(branches)</a:t>
            </a:r>
            <a:r>
              <a:rPr lang="zh-CN" altLang="en-US" sz="2400"/>
              <a:t>：两变量之间的定向线段</a:t>
            </a:r>
            <a:r>
              <a:rPr lang="en-US" altLang="zh-CN" sz="2400"/>
              <a:t>.</a:t>
            </a:r>
          </a:p>
        </p:txBody>
      </p:sp>
      <p:sp>
        <p:nvSpPr>
          <p:cNvPr id="49157" name="Oval 5"/>
          <p:cNvSpPr>
            <a:spLocks noChangeArrowheads="1"/>
          </p:cNvSpPr>
          <p:nvPr/>
        </p:nvSpPr>
        <p:spPr bwMode="auto">
          <a:xfrm>
            <a:off x="6600825" y="2794000"/>
            <a:ext cx="76200" cy="762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9158" name="Text Box 6"/>
          <p:cNvSpPr txBox="1">
            <a:spLocks noChangeArrowheads="1"/>
          </p:cNvSpPr>
          <p:nvPr/>
        </p:nvSpPr>
        <p:spPr bwMode="auto">
          <a:xfrm>
            <a:off x="6448425" y="233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x</a:t>
            </a:r>
          </a:p>
        </p:txBody>
      </p:sp>
      <p:sp>
        <p:nvSpPr>
          <p:cNvPr id="49159" name="Oval 7"/>
          <p:cNvSpPr>
            <a:spLocks noChangeArrowheads="1"/>
          </p:cNvSpPr>
          <p:nvPr/>
        </p:nvSpPr>
        <p:spPr bwMode="auto">
          <a:xfrm>
            <a:off x="7286625" y="2794000"/>
            <a:ext cx="76200" cy="762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9160" name="Text Box 8"/>
          <p:cNvSpPr txBox="1">
            <a:spLocks noChangeArrowheads="1"/>
          </p:cNvSpPr>
          <p:nvPr/>
        </p:nvSpPr>
        <p:spPr bwMode="auto">
          <a:xfrm>
            <a:off x="7210425" y="233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y</a:t>
            </a:r>
          </a:p>
        </p:txBody>
      </p:sp>
      <p:sp>
        <p:nvSpPr>
          <p:cNvPr id="49161" name="Freeform 9"/>
          <p:cNvSpPr>
            <a:spLocks noChangeArrowheads="1"/>
          </p:cNvSpPr>
          <p:nvPr/>
        </p:nvSpPr>
        <p:spPr bwMode="auto">
          <a:xfrm>
            <a:off x="6694488" y="2836863"/>
            <a:ext cx="582612" cy="11112"/>
          </a:xfrm>
          <a:custGeom>
            <a:avLst/>
            <a:gdLst>
              <a:gd name="T0" fmla="*/ 0 w 367"/>
              <a:gd name="T1" fmla="*/ 2147483646 h 7"/>
              <a:gd name="T2" fmla="*/ 2147483646 w 367"/>
              <a:gd name="T3" fmla="*/ 0 h 7"/>
              <a:gd name="T4" fmla="*/ 0 60000 65536"/>
              <a:gd name="T5" fmla="*/ 0 60000 65536"/>
            </a:gdLst>
            <a:ahLst/>
            <a:cxnLst>
              <a:cxn ang="T4">
                <a:pos x="T0" y="T1"/>
              </a:cxn>
              <a:cxn ang="T5">
                <a:pos x="T2" y="T3"/>
              </a:cxn>
            </a:cxnLst>
            <a:rect l="0" t="0" r="r" b="b"/>
            <a:pathLst>
              <a:path w="367" h="7">
                <a:moveTo>
                  <a:pt x="0" y="7"/>
                </a:moveTo>
                <a:lnTo>
                  <a:pt x="367" y="0"/>
                </a:ln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62" name="Text Box 10"/>
          <p:cNvSpPr txBox="1">
            <a:spLocks noChangeArrowheads="1"/>
          </p:cNvSpPr>
          <p:nvPr/>
        </p:nvSpPr>
        <p:spPr bwMode="auto">
          <a:xfrm>
            <a:off x="6829425" y="24892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a</a:t>
            </a:r>
          </a:p>
        </p:txBody>
      </p:sp>
      <p:sp>
        <p:nvSpPr>
          <p:cNvPr id="49163" name="Text Box 11"/>
          <p:cNvSpPr txBox="1">
            <a:spLocks noChangeArrowheads="1"/>
          </p:cNvSpPr>
          <p:nvPr/>
        </p:nvSpPr>
        <p:spPr bwMode="auto">
          <a:xfrm>
            <a:off x="7667625" y="2565400"/>
            <a:ext cx="69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y=ax</a:t>
            </a:r>
          </a:p>
        </p:txBody>
      </p:sp>
      <p:sp>
        <p:nvSpPr>
          <p:cNvPr id="49164" name="Line 12"/>
          <p:cNvSpPr>
            <a:spLocks noChangeShapeType="1"/>
          </p:cNvSpPr>
          <p:nvPr/>
        </p:nvSpPr>
        <p:spPr bwMode="auto">
          <a:xfrm flipV="1">
            <a:off x="6981825" y="2184400"/>
            <a:ext cx="2286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5" name="Text Box 13"/>
          <p:cNvSpPr txBox="1">
            <a:spLocks noChangeArrowheads="1"/>
          </p:cNvSpPr>
          <p:nvPr/>
        </p:nvSpPr>
        <p:spPr bwMode="auto">
          <a:xfrm>
            <a:off x="7194550" y="1952625"/>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t>支路增益</a:t>
            </a:r>
          </a:p>
        </p:txBody>
      </p:sp>
      <p:sp>
        <p:nvSpPr>
          <p:cNvPr id="49166" name="Text Box 14"/>
          <p:cNvSpPr txBox="1">
            <a:spLocks noChangeArrowheads="1"/>
          </p:cNvSpPr>
          <p:nvPr/>
        </p:nvSpPr>
        <p:spPr bwMode="auto">
          <a:xfrm>
            <a:off x="746125" y="3425825"/>
            <a:ext cx="2693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zh-CN" altLang="en-US" sz="2400"/>
              <a:t> 信号流图的绘制</a:t>
            </a:r>
          </a:p>
        </p:txBody>
      </p:sp>
      <p:sp>
        <p:nvSpPr>
          <p:cNvPr id="49167" name="Text Box 15"/>
          <p:cNvSpPr txBox="1">
            <a:spLocks noChangeArrowheads="1"/>
          </p:cNvSpPr>
          <p:nvPr/>
        </p:nvSpPr>
        <p:spPr bwMode="auto">
          <a:xfrm>
            <a:off x="1127125" y="4052888"/>
            <a:ext cx="4797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例</a:t>
            </a:r>
            <a:r>
              <a:rPr lang="en-US" altLang="zh-CN" sz="2400"/>
              <a:t>1 </a:t>
            </a:r>
            <a:r>
              <a:rPr lang="zh-CN" altLang="en-US" sz="2400"/>
              <a:t>通过线性方程组建立信号流图</a:t>
            </a:r>
          </a:p>
        </p:txBody>
      </p:sp>
      <p:graphicFrame>
        <p:nvGraphicFramePr>
          <p:cNvPr id="49168" name="Object 2"/>
          <p:cNvGraphicFramePr>
            <a:graphicFrameLocks noChangeAspect="1"/>
          </p:cNvGraphicFramePr>
          <p:nvPr/>
        </p:nvGraphicFramePr>
        <p:xfrm>
          <a:off x="2438400" y="4606925"/>
          <a:ext cx="1905000" cy="1474788"/>
        </p:xfrm>
        <a:graphic>
          <a:graphicData uri="http://schemas.openxmlformats.org/presentationml/2006/ole">
            <mc:AlternateContent xmlns:mc="http://schemas.openxmlformats.org/markup-compatibility/2006">
              <mc:Choice xmlns:v="urn:schemas-microsoft-com:vml" Requires="v">
                <p:oleObj r:id="rId2" imgW="1181100" imgH="914400" progId="Equation.3">
                  <p:embed/>
                </p:oleObj>
              </mc:Choice>
              <mc:Fallback>
                <p:oleObj r:id="rId2" imgW="1181100" imgH="914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4606925"/>
                        <a:ext cx="1905000"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69" name="AutoShape 17"/>
          <p:cNvSpPr>
            <a:spLocks/>
          </p:cNvSpPr>
          <p:nvPr/>
        </p:nvSpPr>
        <p:spPr bwMode="auto">
          <a:xfrm>
            <a:off x="2057400" y="4724400"/>
            <a:ext cx="76200" cy="1295400"/>
          </a:xfrm>
          <a:prstGeom prst="leftBrace">
            <a:avLst>
              <a:gd name="adj1" fmla="val 141194"/>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3138" name="Text Box 2"/>
          <p:cNvSpPr txBox="1">
            <a:spLocks noChangeArrowheads="1"/>
          </p:cNvSpPr>
          <p:nvPr/>
        </p:nvSpPr>
        <p:spPr bwMode="auto">
          <a:xfrm>
            <a:off x="827088" y="1125538"/>
            <a:ext cx="582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zh-CN" altLang="en-US" sz="2400"/>
              <a:t> 组成元素 </a:t>
            </a:r>
            <a:r>
              <a:rPr lang="en-US" altLang="zh-CN" sz="2400"/>
              <a:t>Basic elements of an SFG</a:t>
            </a:r>
          </a:p>
        </p:txBody>
      </p:sp>
    </p:spTree>
    <p:extLst>
      <p:ext uri="{BB962C8B-B14F-4D97-AF65-F5344CB8AC3E}">
        <p14:creationId xmlns:p14="http://schemas.microsoft.com/office/powerpoint/2010/main" val="3543668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Effect transition="in" filter="slide(fromBottom)">
                                      <p:cBhvr>
                                        <p:cTn id="7" dur="500"/>
                                        <p:tgtEl>
                                          <p:spTgt spid="491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915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915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915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9160"/>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49156"/>
                                        </p:tgtEl>
                                        <p:attrNameLst>
                                          <p:attrName>style.visibility</p:attrName>
                                        </p:attrNameLst>
                                      </p:cBhvr>
                                      <p:to>
                                        <p:strVal val="visible"/>
                                      </p:to>
                                    </p:set>
                                    <p:animEffect transition="in" filter="slide(fromBottom)">
                                      <p:cBhvr>
                                        <p:cTn id="24" dur="500"/>
                                        <p:tgtEl>
                                          <p:spTgt spid="4915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6" fill="hold" nodeType="clickEffect">
                                  <p:stCondLst>
                                    <p:cond delay="0"/>
                                  </p:stCondLst>
                                  <p:childTnLst>
                                    <p:set>
                                      <p:cBhvr>
                                        <p:cTn id="28" dur="1" fill="hold">
                                          <p:stCondLst>
                                            <p:cond delay="0"/>
                                          </p:stCondLst>
                                        </p:cTn>
                                        <p:tgtEl>
                                          <p:spTgt spid="49161"/>
                                        </p:tgtEl>
                                        <p:attrNameLst>
                                          <p:attrName>style.visibility</p:attrName>
                                        </p:attrNameLst>
                                      </p:cBhvr>
                                      <p:to>
                                        <p:strVal val="visible"/>
                                      </p:to>
                                    </p:set>
                                    <p:animEffect transition="in" filter="strips(downRight)">
                                      <p:cBhvr>
                                        <p:cTn id="29" dur="500"/>
                                        <p:tgtEl>
                                          <p:spTgt spid="4916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4916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916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916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916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9163"/>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9166"/>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49167"/>
                                        </p:tgtEl>
                                        <p:attrNameLst>
                                          <p:attrName>style.visibility</p:attrName>
                                        </p:attrNameLst>
                                      </p:cBhvr>
                                      <p:to>
                                        <p:strVal val="visible"/>
                                      </p:to>
                                    </p:set>
                                    <p:animEffect transition="in" filter="slide(fromBottom)">
                                      <p:cBhvr>
                                        <p:cTn id="52" dur="500"/>
                                        <p:tgtEl>
                                          <p:spTgt spid="4916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916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9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P spid="49156" grpId="0"/>
      <p:bldP spid="49157" grpId="0" bldLvl="0" animBg="1"/>
      <p:bldP spid="49158" grpId="0"/>
      <p:bldP spid="49159" grpId="0" bldLvl="0" animBg="1"/>
      <p:bldP spid="49160" grpId="0"/>
      <p:bldP spid="49162" grpId="0"/>
      <p:bldP spid="49163" grpId="0"/>
      <p:bldP spid="49165" grpId="0"/>
      <p:bldP spid="49166" grpId="0"/>
      <p:bldP spid="49167" grpId="0"/>
      <p:bldP spid="49169"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1066800" y="2971800"/>
            <a:ext cx="65071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Tx/>
              <a:buAutoNum type="arabicParenBoth"/>
            </a:pPr>
            <a:r>
              <a:rPr lang="zh-CN" altLang="en-US" sz="2400"/>
              <a:t>先将各变量作为节点，从左至右画在图上；</a:t>
            </a:r>
          </a:p>
          <a:p>
            <a:pPr eaLnBrk="1" hangingPunct="1">
              <a:buFontTx/>
              <a:buAutoNum type="arabicParenBoth"/>
            </a:pPr>
            <a:r>
              <a:rPr lang="zh-CN" altLang="en-US" sz="2400"/>
              <a:t>依据方程式画出各节点和其它节点的关系。</a:t>
            </a:r>
          </a:p>
        </p:txBody>
      </p:sp>
      <p:sp>
        <p:nvSpPr>
          <p:cNvPr id="50179" name="Oval 3"/>
          <p:cNvSpPr>
            <a:spLocks noChangeArrowheads="1"/>
          </p:cNvSpPr>
          <p:nvPr/>
        </p:nvSpPr>
        <p:spPr bwMode="auto">
          <a:xfrm>
            <a:off x="1219200" y="5257800"/>
            <a:ext cx="76200" cy="762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50180" name="Object 2"/>
          <p:cNvGraphicFramePr>
            <a:graphicFrameLocks noChangeAspect="1"/>
          </p:cNvGraphicFramePr>
          <p:nvPr/>
        </p:nvGraphicFramePr>
        <p:xfrm>
          <a:off x="1143000" y="4800600"/>
          <a:ext cx="238125" cy="336550"/>
        </p:xfrm>
        <a:graphic>
          <a:graphicData uri="http://schemas.openxmlformats.org/presentationml/2006/ole">
            <mc:AlternateContent xmlns:mc="http://schemas.openxmlformats.org/markup-compatibility/2006">
              <mc:Choice xmlns:v="urn:schemas-microsoft-com:vml" Requires="v">
                <p:oleObj r:id="rId2" imgW="152268" imgH="215713" progId="Equation.3">
                  <p:embed/>
                </p:oleObj>
              </mc:Choice>
              <mc:Fallback>
                <p:oleObj r:id="rId2" imgW="152268" imgH="2157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800600"/>
                        <a:ext cx="238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1" name="Oval 5"/>
          <p:cNvSpPr>
            <a:spLocks noChangeArrowheads="1"/>
          </p:cNvSpPr>
          <p:nvPr/>
        </p:nvSpPr>
        <p:spPr bwMode="auto">
          <a:xfrm>
            <a:off x="2362200" y="5257800"/>
            <a:ext cx="76200" cy="762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50182" name="Object 3"/>
          <p:cNvGraphicFramePr>
            <a:graphicFrameLocks noChangeAspect="1"/>
          </p:cNvGraphicFramePr>
          <p:nvPr/>
        </p:nvGraphicFramePr>
        <p:xfrm>
          <a:off x="2286000" y="4876800"/>
          <a:ext cx="257175" cy="336550"/>
        </p:xfrm>
        <a:graphic>
          <a:graphicData uri="http://schemas.openxmlformats.org/presentationml/2006/ole">
            <mc:AlternateContent xmlns:mc="http://schemas.openxmlformats.org/markup-compatibility/2006">
              <mc:Choice xmlns:v="urn:schemas-microsoft-com:vml" Requires="v">
                <p:oleObj r:id="rId4" imgW="164885" imgH="215619" progId="Equation.3">
                  <p:embed/>
                </p:oleObj>
              </mc:Choice>
              <mc:Fallback>
                <p:oleObj r:id="rId4" imgW="164885" imgH="21561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4876800"/>
                        <a:ext cx="257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3" name="Oval 7"/>
          <p:cNvSpPr>
            <a:spLocks noChangeArrowheads="1"/>
          </p:cNvSpPr>
          <p:nvPr/>
        </p:nvSpPr>
        <p:spPr bwMode="auto">
          <a:xfrm>
            <a:off x="3657600" y="5257800"/>
            <a:ext cx="76200" cy="762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50184" name="Object 4"/>
          <p:cNvGraphicFramePr>
            <a:graphicFrameLocks noChangeAspect="1"/>
          </p:cNvGraphicFramePr>
          <p:nvPr/>
        </p:nvGraphicFramePr>
        <p:xfrm>
          <a:off x="3581400" y="4876800"/>
          <a:ext cx="247650" cy="342900"/>
        </p:xfrm>
        <a:graphic>
          <a:graphicData uri="http://schemas.openxmlformats.org/presentationml/2006/ole">
            <mc:AlternateContent xmlns:mc="http://schemas.openxmlformats.org/markup-compatibility/2006">
              <mc:Choice xmlns:v="urn:schemas-microsoft-com:vml" Requires="v">
                <p:oleObj r:id="rId6" imgW="165028" imgH="228501" progId="Equation.3">
                  <p:embed/>
                </p:oleObj>
              </mc:Choice>
              <mc:Fallback>
                <p:oleObj r:id="rId6" imgW="165028" imgH="22850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4876800"/>
                        <a:ext cx="247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5" name="Oval 9"/>
          <p:cNvSpPr>
            <a:spLocks noChangeArrowheads="1"/>
          </p:cNvSpPr>
          <p:nvPr/>
        </p:nvSpPr>
        <p:spPr bwMode="auto">
          <a:xfrm>
            <a:off x="4953000" y="5257800"/>
            <a:ext cx="76200" cy="762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50187" name="Object 5"/>
          <p:cNvGraphicFramePr>
            <a:graphicFrameLocks noChangeAspect="1"/>
          </p:cNvGraphicFramePr>
          <p:nvPr/>
        </p:nvGraphicFramePr>
        <p:xfrm>
          <a:off x="4800600" y="4800600"/>
          <a:ext cx="257175" cy="336550"/>
        </p:xfrm>
        <a:graphic>
          <a:graphicData uri="http://schemas.openxmlformats.org/presentationml/2006/ole">
            <mc:AlternateContent xmlns:mc="http://schemas.openxmlformats.org/markup-compatibility/2006">
              <mc:Choice xmlns:v="urn:schemas-microsoft-com:vml" Requires="v">
                <p:oleObj r:id="rId8" imgW="164885" imgH="215619" progId="Equation.3">
                  <p:embed/>
                </p:oleObj>
              </mc:Choice>
              <mc:Fallback>
                <p:oleObj r:id="rId8" imgW="164885" imgH="215619"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4800600"/>
                        <a:ext cx="257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8" name="Oval 12"/>
          <p:cNvSpPr>
            <a:spLocks noChangeArrowheads="1"/>
          </p:cNvSpPr>
          <p:nvPr/>
        </p:nvSpPr>
        <p:spPr bwMode="auto">
          <a:xfrm>
            <a:off x="6019800" y="5257800"/>
            <a:ext cx="76200" cy="762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aphicFrame>
        <p:nvGraphicFramePr>
          <p:cNvPr id="50189" name="Object 6"/>
          <p:cNvGraphicFramePr>
            <a:graphicFrameLocks noChangeAspect="1"/>
          </p:cNvGraphicFramePr>
          <p:nvPr/>
        </p:nvGraphicFramePr>
        <p:xfrm>
          <a:off x="5943600" y="4876800"/>
          <a:ext cx="247650" cy="342900"/>
        </p:xfrm>
        <a:graphic>
          <a:graphicData uri="http://schemas.openxmlformats.org/presentationml/2006/ole">
            <mc:AlternateContent xmlns:mc="http://schemas.openxmlformats.org/markup-compatibility/2006">
              <mc:Choice xmlns:v="urn:schemas-microsoft-com:vml" Requires="v">
                <p:oleObj r:id="rId10" imgW="165028" imgH="228501" progId="Equation.3">
                  <p:embed/>
                </p:oleObj>
              </mc:Choice>
              <mc:Fallback>
                <p:oleObj r:id="rId10" imgW="165028" imgH="22850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4876800"/>
                        <a:ext cx="247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4157" name="Object 7"/>
          <p:cNvGraphicFramePr>
            <a:graphicFrameLocks noChangeAspect="1"/>
          </p:cNvGraphicFramePr>
          <p:nvPr/>
        </p:nvGraphicFramePr>
        <p:xfrm>
          <a:off x="2209800" y="601663"/>
          <a:ext cx="2506663" cy="1939925"/>
        </p:xfrm>
        <a:graphic>
          <a:graphicData uri="http://schemas.openxmlformats.org/presentationml/2006/ole">
            <mc:AlternateContent xmlns:mc="http://schemas.openxmlformats.org/markup-compatibility/2006">
              <mc:Choice xmlns:v="urn:schemas-microsoft-com:vml" Requires="v">
                <p:oleObj r:id="rId12" imgW="1181100" imgH="914400" progId="Equation.3">
                  <p:embed/>
                </p:oleObj>
              </mc:Choice>
              <mc:Fallback>
                <p:oleObj r:id="rId12" imgW="1181100" imgH="9144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9800" y="601663"/>
                        <a:ext cx="250666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4158" name="AutoShape 15"/>
          <p:cNvSpPr>
            <a:spLocks/>
          </p:cNvSpPr>
          <p:nvPr/>
        </p:nvSpPr>
        <p:spPr bwMode="auto">
          <a:xfrm>
            <a:off x="1692275" y="765175"/>
            <a:ext cx="212725" cy="1714500"/>
          </a:xfrm>
          <a:prstGeom prst="leftBrace">
            <a:avLst>
              <a:gd name="adj1" fmla="val 141791"/>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0192" name="Freeform 16"/>
          <p:cNvSpPr>
            <a:spLocks noChangeArrowheads="1"/>
          </p:cNvSpPr>
          <p:nvPr/>
        </p:nvSpPr>
        <p:spPr bwMode="auto">
          <a:xfrm>
            <a:off x="1330325" y="5295900"/>
            <a:ext cx="1009650" cy="1588"/>
          </a:xfrm>
          <a:custGeom>
            <a:avLst/>
            <a:gdLst>
              <a:gd name="T0" fmla="*/ 0 w 636"/>
              <a:gd name="T1" fmla="*/ 0 h 1"/>
              <a:gd name="T2" fmla="*/ 2147483646 w 636"/>
              <a:gd name="T3" fmla="*/ 0 h 1"/>
              <a:gd name="T4" fmla="*/ 0 60000 65536"/>
              <a:gd name="T5" fmla="*/ 0 60000 65536"/>
            </a:gdLst>
            <a:ahLst/>
            <a:cxnLst>
              <a:cxn ang="T4">
                <a:pos x="T0" y="T1"/>
              </a:cxn>
              <a:cxn ang="T5">
                <a:pos x="T2" y="T3"/>
              </a:cxn>
            </a:cxnLst>
            <a:rect l="0" t="0" r="r" b="b"/>
            <a:pathLst>
              <a:path w="636" h="1">
                <a:moveTo>
                  <a:pt x="0" y="0"/>
                </a:moveTo>
                <a:lnTo>
                  <a:pt x="636" y="0"/>
                </a:ln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93" name="Freeform 17"/>
          <p:cNvSpPr>
            <a:spLocks noChangeArrowheads="1"/>
          </p:cNvSpPr>
          <p:nvPr/>
        </p:nvSpPr>
        <p:spPr bwMode="auto">
          <a:xfrm>
            <a:off x="2203450" y="5334000"/>
            <a:ext cx="363538" cy="684213"/>
          </a:xfrm>
          <a:custGeom>
            <a:avLst/>
            <a:gdLst>
              <a:gd name="T0" fmla="*/ 2147483646 w 229"/>
              <a:gd name="T1" fmla="*/ 0 h 431"/>
              <a:gd name="T2" fmla="*/ 2147483646 w 229"/>
              <a:gd name="T3" fmla="*/ 2147483646 h 431"/>
              <a:gd name="T4" fmla="*/ 2147483646 w 229"/>
              <a:gd name="T5" fmla="*/ 2147483646 h 431"/>
              <a:gd name="T6" fmla="*/ 2147483646 w 229"/>
              <a:gd name="T7" fmla="*/ 2147483646 h 431"/>
              <a:gd name="T8" fmla="*/ 2147483646 w 229"/>
              <a:gd name="T9" fmla="*/ 2147483646 h 431"/>
              <a:gd name="T10" fmla="*/ 2147483646 w 229"/>
              <a:gd name="T11" fmla="*/ 0 h 4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9" h="431">
                <a:moveTo>
                  <a:pt x="148" y="0"/>
                </a:moveTo>
                <a:cubicBezTo>
                  <a:pt x="160" y="25"/>
                  <a:pt x="212" y="82"/>
                  <a:pt x="220" y="148"/>
                </a:cubicBezTo>
                <a:cubicBezTo>
                  <a:pt x="228" y="214"/>
                  <a:pt x="229" y="359"/>
                  <a:pt x="198" y="395"/>
                </a:cubicBezTo>
                <a:cubicBezTo>
                  <a:pt x="167" y="431"/>
                  <a:pt x="64" y="410"/>
                  <a:pt x="33" y="365"/>
                </a:cubicBezTo>
                <a:cubicBezTo>
                  <a:pt x="2" y="320"/>
                  <a:pt x="0" y="187"/>
                  <a:pt x="11" y="126"/>
                </a:cubicBezTo>
                <a:cubicBezTo>
                  <a:pt x="22" y="65"/>
                  <a:pt x="82" y="26"/>
                  <a:pt x="100" y="0"/>
                </a:cubicBez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94" name="Text Box 18"/>
          <p:cNvSpPr txBox="1">
            <a:spLocks noChangeArrowheads="1"/>
          </p:cNvSpPr>
          <p:nvPr/>
        </p:nvSpPr>
        <p:spPr bwMode="auto">
          <a:xfrm>
            <a:off x="1676400" y="49530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a</a:t>
            </a:r>
          </a:p>
        </p:txBody>
      </p:sp>
      <p:sp>
        <p:nvSpPr>
          <p:cNvPr id="50195" name="Text Box 19"/>
          <p:cNvSpPr txBox="1">
            <a:spLocks noChangeArrowheads="1"/>
          </p:cNvSpPr>
          <p:nvPr/>
        </p:nvSpPr>
        <p:spPr bwMode="auto">
          <a:xfrm>
            <a:off x="2209800" y="5638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b</a:t>
            </a:r>
          </a:p>
        </p:txBody>
      </p:sp>
      <p:sp>
        <p:nvSpPr>
          <p:cNvPr id="50196" name="Freeform 20"/>
          <p:cNvSpPr>
            <a:spLocks noChangeArrowheads="1"/>
          </p:cNvSpPr>
          <p:nvPr/>
        </p:nvSpPr>
        <p:spPr bwMode="auto">
          <a:xfrm>
            <a:off x="2422525" y="5295900"/>
            <a:ext cx="2606675" cy="647700"/>
          </a:xfrm>
          <a:custGeom>
            <a:avLst/>
            <a:gdLst>
              <a:gd name="T0" fmla="*/ 2147483646 w 1642"/>
              <a:gd name="T1" fmla="*/ 2147483646 h 408"/>
              <a:gd name="T2" fmla="*/ 2147483646 w 1642"/>
              <a:gd name="T3" fmla="*/ 2147483646 h 408"/>
              <a:gd name="T4" fmla="*/ 2147483646 w 1642"/>
              <a:gd name="T5" fmla="*/ 2147483646 h 408"/>
              <a:gd name="T6" fmla="*/ 0 w 1642"/>
              <a:gd name="T7" fmla="*/ 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2" h="408">
                <a:moveTo>
                  <a:pt x="1642" y="24"/>
                </a:moveTo>
                <a:cubicBezTo>
                  <a:pt x="1470" y="168"/>
                  <a:pt x="1298" y="312"/>
                  <a:pt x="1114" y="360"/>
                </a:cubicBezTo>
                <a:cubicBezTo>
                  <a:pt x="930" y="408"/>
                  <a:pt x="724" y="372"/>
                  <a:pt x="538" y="312"/>
                </a:cubicBezTo>
                <a:cubicBezTo>
                  <a:pt x="352" y="252"/>
                  <a:pt x="112" y="65"/>
                  <a:pt x="0" y="0"/>
                </a:cubicBez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97" name="Text Box 21"/>
          <p:cNvSpPr txBox="1">
            <a:spLocks noChangeArrowheads="1"/>
          </p:cNvSpPr>
          <p:nvPr/>
        </p:nvSpPr>
        <p:spPr bwMode="auto">
          <a:xfrm>
            <a:off x="3657600" y="55626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c</a:t>
            </a:r>
          </a:p>
        </p:txBody>
      </p:sp>
      <p:sp>
        <p:nvSpPr>
          <p:cNvPr id="50198" name="Freeform 22"/>
          <p:cNvSpPr>
            <a:spLocks noChangeArrowheads="1"/>
          </p:cNvSpPr>
          <p:nvPr/>
        </p:nvSpPr>
        <p:spPr bwMode="auto">
          <a:xfrm>
            <a:off x="2457450" y="5272088"/>
            <a:ext cx="1176338" cy="12700"/>
          </a:xfrm>
          <a:custGeom>
            <a:avLst/>
            <a:gdLst>
              <a:gd name="T0" fmla="*/ 0 w 741"/>
              <a:gd name="T1" fmla="*/ 0 h 8"/>
              <a:gd name="T2" fmla="*/ 2147483646 w 741"/>
              <a:gd name="T3" fmla="*/ 2147483646 h 8"/>
              <a:gd name="T4" fmla="*/ 0 60000 65536"/>
              <a:gd name="T5" fmla="*/ 0 60000 65536"/>
            </a:gdLst>
            <a:ahLst/>
            <a:cxnLst>
              <a:cxn ang="T4">
                <a:pos x="T0" y="T1"/>
              </a:cxn>
              <a:cxn ang="T5">
                <a:pos x="T2" y="T3"/>
              </a:cxn>
            </a:cxnLst>
            <a:rect l="0" t="0" r="r" b="b"/>
            <a:pathLst>
              <a:path w="741" h="8">
                <a:moveTo>
                  <a:pt x="0" y="0"/>
                </a:moveTo>
                <a:lnTo>
                  <a:pt x="741" y="8"/>
                </a:ln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99" name="Text Box 23"/>
          <p:cNvSpPr txBox="1">
            <a:spLocks noChangeArrowheads="1"/>
          </p:cNvSpPr>
          <p:nvPr/>
        </p:nvSpPr>
        <p:spPr bwMode="auto">
          <a:xfrm>
            <a:off x="2895600" y="487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d</a:t>
            </a:r>
          </a:p>
        </p:txBody>
      </p:sp>
      <p:sp>
        <p:nvSpPr>
          <p:cNvPr id="50200" name="Freeform 24"/>
          <p:cNvSpPr>
            <a:spLocks noChangeArrowheads="1"/>
          </p:cNvSpPr>
          <p:nvPr/>
        </p:nvSpPr>
        <p:spPr bwMode="auto">
          <a:xfrm>
            <a:off x="1295400" y="4483100"/>
            <a:ext cx="3657600" cy="774700"/>
          </a:xfrm>
          <a:custGeom>
            <a:avLst/>
            <a:gdLst>
              <a:gd name="T0" fmla="*/ 0 w 2304"/>
              <a:gd name="T1" fmla="*/ 2147483646 h 488"/>
              <a:gd name="T2" fmla="*/ 2147483646 w 2304"/>
              <a:gd name="T3" fmla="*/ 2147483646 h 488"/>
              <a:gd name="T4" fmla="*/ 2147483646 w 2304"/>
              <a:gd name="T5" fmla="*/ 2147483646 h 488"/>
              <a:gd name="T6" fmla="*/ 2147483646 w 2304"/>
              <a:gd name="T7" fmla="*/ 2147483646 h 4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04" h="488">
                <a:moveTo>
                  <a:pt x="0" y="488"/>
                </a:moveTo>
                <a:cubicBezTo>
                  <a:pt x="240" y="356"/>
                  <a:pt x="480" y="224"/>
                  <a:pt x="720" y="152"/>
                </a:cubicBezTo>
                <a:cubicBezTo>
                  <a:pt x="960" y="80"/>
                  <a:pt x="1176" y="0"/>
                  <a:pt x="1440" y="56"/>
                </a:cubicBezTo>
                <a:cubicBezTo>
                  <a:pt x="1704" y="112"/>
                  <a:pt x="2160" y="416"/>
                  <a:pt x="2304" y="488"/>
                </a:cubicBez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201" name="Text Box 25"/>
          <p:cNvSpPr txBox="1">
            <a:spLocks noChangeArrowheads="1"/>
          </p:cNvSpPr>
          <p:nvPr/>
        </p:nvSpPr>
        <p:spPr bwMode="auto">
          <a:xfrm>
            <a:off x="3124200" y="42672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e</a:t>
            </a:r>
          </a:p>
        </p:txBody>
      </p:sp>
      <p:sp>
        <p:nvSpPr>
          <p:cNvPr id="50202" name="Freeform 26"/>
          <p:cNvSpPr>
            <a:spLocks noChangeArrowheads="1"/>
          </p:cNvSpPr>
          <p:nvPr/>
        </p:nvSpPr>
        <p:spPr bwMode="auto">
          <a:xfrm>
            <a:off x="3752850" y="5284788"/>
            <a:ext cx="1187450" cy="11112"/>
          </a:xfrm>
          <a:custGeom>
            <a:avLst/>
            <a:gdLst>
              <a:gd name="T0" fmla="*/ 0 w 748"/>
              <a:gd name="T1" fmla="*/ 0 h 7"/>
              <a:gd name="T2" fmla="*/ 2147483646 w 748"/>
              <a:gd name="T3" fmla="*/ 2147483646 h 7"/>
              <a:gd name="T4" fmla="*/ 0 60000 65536"/>
              <a:gd name="T5" fmla="*/ 0 60000 65536"/>
            </a:gdLst>
            <a:ahLst/>
            <a:cxnLst>
              <a:cxn ang="T4">
                <a:pos x="T0" y="T1"/>
              </a:cxn>
              <a:cxn ang="T5">
                <a:pos x="T2" y="T3"/>
              </a:cxn>
            </a:cxnLst>
            <a:rect l="0" t="0" r="r" b="b"/>
            <a:pathLst>
              <a:path w="748" h="7">
                <a:moveTo>
                  <a:pt x="0" y="0"/>
                </a:moveTo>
                <a:lnTo>
                  <a:pt x="748" y="7"/>
                </a:ln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203" name="Text Box 27"/>
          <p:cNvSpPr txBox="1">
            <a:spLocks noChangeArrowheads="1"/>
          </p:cNvSpPr>
          <p:nvPr/>
        </p:nvSpPr>
        <p:spPr bwMode="auto">
          <a:xfrm>
            <a:off x="4038600" y="5029200"/>
            <a:ext cx="268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f</a:t>
            </a:r>
          </a:p>
        </p:txBody>
      </p:sp>
      <p:sp>
        <p:nvSpPr>
          <p:cNvPr id="50204" name="Freeform 28"/>
          <p:cNvSpPr>
            <a:spLocks noChangeArrowheads="1"/>
          </p:cNvSpPr>
          <p:nvPr/>
        </p:nvSpPr>
        <p:spPr bwMode="auto">
          <a:xfrm>
            <a:off x="3733800" y="4572000"/>
            <a:ext cx="2286000" cy="685800"/>
          </a:xfrm>
          <a:custGeom>
            <a:avLst/>
            <a:gdLst>
              <a:gd name="T0" fmla="*/ 0 w 1440"/>
              <a:gd name="T1" fmla="*/ 2147483646 h 432"/>
              <a:gd name="T2" fmla="*/ 2147483646 w 1440"/>
              <a:gd name="T3" fmla="*/ 0 h 432"/>
              <a:gd name="T4" fmla="*/ 2147483646 w 1440"/>
              <a:gd name="T5" fmla="*/ 2147483646 h 432"/>
              <a:gd name="T6" fmla="*/ 0 60000 65536"/>
              <a:gd name="T7" fmla="*/ 0 60000 65536"/>
              <a:gd name="T8" fmla="*/ 0 60000 65536"/>
            </a:gdLst>
            <a:ahLst/>
            <a:cxnLst>
              <a:cxn ang="T6">
                <a:pos x="T0" y="T1"/>
              </a:cxn>
              <a:cxn ang="T7">
                <a:pos x="T2" y="T3"/>
              </a:cxn>
              <a:cxn ang="T8">
                <a:pos x="T4" y="T5"/>
              </a:cxn>
            </a:cxnLst>
            <a:rect l="0" t="0" r="r" b="b"/>
            <a:pathLst>
              <a:path w="1440" h="432">
                <a:moveTo>
                  <a:pt x="0" y="432"/>
                </a:moveTo>
                <a:cubicBezTo>
                  <a:pt x="192" y="216"/>
                  <a:pt x="384" y="0"/>
                  <a:pt x="624" y="0"/>
                </a:cubicBezTo>
                <a:cubicBezTo>
                  <a:pt x="864" y="0"/>
                  <a:pt x="1304" y="360"/>
                  <a:pt x="1440" y="432"/>
                </a:cubicBez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205" name="Text Box 29"/>
          <p:cNvSpPr txBox="1">
            <a:spLocks noChangeArrowheads="1"/>
          </p:cNvSpPr>
          <p:nvPr/>
        </p:nvSpPr>
        <p:spPr bwMode="auto">
          <a:xfrm>
            <a:off x="5105400" y="4419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g</a:t>
            </a:r>
          </a:p>
        </p:txBody>
      </p:sp>
      <p:sp>
        <p:nvSpPr>
          <p:cNvPr id="50206" name="Freeform 30"/>
          <p:cNvSpPr>
            <a:spLocks noChangeArrowheads="1"/>
          </p:cNvSpPr>
          <p:nvPr/>
        </p:nvSpPr>
        <p:spPr bwMode="auto">
          <a:xfrm>
            <a:off x="5070475" y="5308600"/>
            <a:ext cx="938213" cy="1588"/>
          </a:xfrm>
          <a:custGeom>
            <a:avLst/>
            <a:gdLst>
              <a:gd name="T0" fmla="*/ 0 w 591"/>
              <a:gd name="T1" fmla="*/ 0 h 1"/>
              <a:gd name="T2" fmla="*/ 2147483646 w 591"/>
              <a:gd name="T3" fmla="*/ 0 h 1"/>
              <a:gd name="T4" fmla="*/ 0 60000 65536"/>
              <a:gd name="T5" fmla="*/ 0 60000 65536"/>
            </a:gdLst>
            <a:ahLst/>
            <a:cxnLst>
              <a:cxn ang="T4">
                <a:pos x="T0" y="T1"/>
              </a:cxn>
              <a:cxn ang="T5">
                <a:pos x="T2" y="T3"/>
              </a:cxn>
            </a:cxnLst>
            <a:rect l="0" t="0" r="r" b="b"/>
            <a:pathLst>
              <a:path w="591" h="1">
                <a:moveTo>
                  <a:pt x="0" y="0"/>
                </a:moveTo>
                <a:lnTo>
                  <a:pt x="591" y="0"/>
                </a:ln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207" name="Text Box 31"/>
          <p:cNvSpPr txBox="1">
            <a:spLocks noChangeArrowheads="1"/>
          </p:cNvSpPr>
          <p:nvPr/>
        </p:nvSpPr>
        <p:spPr bwMode="auto">
          <a:xfrm>
            <a:off x="5334000" y="49530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h</a:t>
            </a:r>
          </a:p>
        </p:txBody>
      </p:sp>
    </p:spTree>
    <p:extLst>
      <p:ext uri="{BB962C8B-B14F-4D97-AF65-F5344CB8AC3E}">
        <p14:creationId xmlns:p14="http://schemas.microsoft.com/office/powerpoint/2010/main" val="35646143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slide(fromBottom)">
                                      <p:cBhvr>
                                        <p:cTn id="7" dur="500"/>
                                        <p:tgtEl>
                                          <p:spTgt spid="501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017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018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018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50182"/>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0183"/>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018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0185"/>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0187"/>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018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0189"/>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5019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0194"/>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019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019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0197"/>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50196"/>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50199"/>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50198"/>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50201"/>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50200"/>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50203"/>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50202"/>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0205"/>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50204"/>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50207"/>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50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p:bldP spid="50179" grpId="0" bldLvl="0" animBg="1"/>
      <p:bldP spid="50181" grpId="0" bldLvl="0" animBg="1"/>
      <p:bldP spid="50183" grpId="0" bldLvl="0" animBg="1"/>
      <p:bldP spid="50185" grpId="0" bldLvl="0" animBg="1"/>
      <p:bldP spid="50188" grpId="0" bldLvl="0" animBg="1"/>
      <p:bldP spid="50194" grpId="0"/>
      <p:bldP spid="50195" grpId="0"/>
      <p:bldP spid="50197" grpId="0"/>
      <p:bldP spid="50199" grpId="0"/>
      <p:bldP spid="50201" grpId="0"/>
      <p:bldP spid="50203" grpId="0"/>
      <p:bldP spid="50205" grpId="0"/>
      <p:bldP spid="5020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a:spLocks noChangeArrowheads="1"/>
          </p:cNvSpPr>
          <p:nvPr/>
        </p:nvSpPr>
        <p:spPr bwMode="auto">
          <a:xfrm>
            <a:off x="323850" y="188913"/>
            <a:ext cx="4291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例</a:t>
            </a:r>
            <a:r>
              <a:rPr lang="en-US" altLang="zh-CN" sz="2400"/>
              <a:t>2  </a:t>
            </a:r>
            <a:r>
              <a:rPr lang="zh-CN" altLang="en-US" sz="2400"/>
              <a:t>通过方框图得到信号流图</a:t>
            </a:r>
          </a:p>
        </p:txBody>
      </p:sp>
      <p:sp>
        <p:nvSpPr>
          <p:cNvPr id="51203" name="Text Box 3"/>
          <p:cNvSpPr txBox="1">
            <a:spLocks noChangeArrowheads="1"/>
          </p:cNvSpPr>
          <p:nvPr/>
        </p:nvSpPr>
        <p:spPr bwMode="auto">
          <a:xfrm>
            <a:off x="971550" y="765175"/>
            <a:ext cx="74850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Tx/>
              <a:buAutoNum type="arabicParenBoth"/>
            </a:pPr>
            <a:r>
              <a:rPr lang="zh-CN" altLang="en-US" sz="2400"/>
              <a:t>用节点代替其中任何一个新的信号（变量），有引出信号处应设一节点；</a:t>
            </a:r>
          </a:p>
        </p:txBody>
      </p:sp>
      <p:sp>
        <p:nvSpPr>
          <p:cNvPr id="51204" name="Text Box 4"/>
          <p:cNvSpPr txBox="1">
            <a:spLocks noChangeArrowheads="1"/>
          </p:cNvSpPr>
          <p:nvPr/>
        </p:nvSpPr>
        <p:spPr bwMode="auto">
          <a:xfrm>
            <a:off x="1042988" y="1700213"/>
            <a:ext cx="6726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(2)</a:t>
            </a:r>
            <a:r>
              <a:rPr lang="zh-CN" altLang="en-US" sz="2400"/>
              <a:t>用支路及增益代替方框图中的每一个方框。</a:t>
            </a:r>
          </a:p>
        </p:txBody>
      </p:sp>
      <p:sp>
        <p:nvSpPr>
          <p:cNvPr id="135173" name="Line 5"/>
          <p:cNvSpPr>
            <a:spLocks noChangeShapeType="1"/>
          </p:cNvSpPr>
          <p:nvPr/>
        </p:nvSpPr>
        <p:spPr bwMode="auto">
          <a:xfrm>
            <a:off x="1295400" y="3200400"/>
            <a:ext cx="381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74" name="AutoShape 6"/>
          <p:cNvSpPr>
            <a:spLocks noChangeArrowheads="1"/>
          </p:cNvSpPr>
          <p:nvPr/>
        </p:nvSpPr>
        <p:spPr bwMode="auto">
          <a:xfrm>
            <a:off x="1676400" y="3048000"/>
            <a:ext cx="304800" cy="304800"/>
          </a:xfrm>
          <a:prstGeom prst="flowChartSummingJunction">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5175" name="Line 7"/>
          <p:cNvSpPr>
            <a:spLocks noChangeShapeType="1"/>
          </p:cNvSpPr>
          <p:nvPr/>
        </p:nvSpPr>
        <p:spPr bwMode="auto">
          <a:xfrm>
            <a:off x="1981200" y="3200400"/>
            <a:ext cx="533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76" name="AutoShape 8"/>
          <p:cNvSpPr>
            <a:spLocks noChangeArrowheads="1"/>
          </p:cNvSpPr>
          <p:nvPr/>
        </p:nvSpPr>
        <p:spPr bwMode="auto">
          <a:xfrm>
            <a:off x="2514600" y="3048000"/>
            <a:ext cx="304800" cy="304800"/>
          </a:xfrm>
          <a:prstGeom prst="flowChartSummingJunction">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5177" name="Line 9"/>
          <p:cNvSpPr>
            <a:spLocks noChangeShapeType="1"/>
          </p:cNvSpPr>
          <p:nvPr/>
        </p:nvSpPr>
        <p:spPr bwMode="auto">
          <a:xfrm>
            <a:off x="2819400" y="3200400"/>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78" name="Text Box 10"/>
          <p:cNvSpPr txBox="1">
            <a:spLocks noChangeArrowheads="1"/>
          </p:cNvSpPr>
          <p:nvPr/>
        </p:nvSpPr>
        <p:spPr bwMode="auto">
          <a:xfrm>
            <a:off x="3276600" y="3048000"/>
            <a:ext cx="5334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G</a:t>
            </a:r>
            <a:r>
              <a:rPr lang="en-US" altLang="zh-CN" baseline="-25000"/>
              <a:t>1</a:t>
            </a:r>
          </a:p>
        </p:txBody>
      </p:sp>
      <p:sp>
        <p:nvSpPr>
          <p:cNvPr id="135179" name="Line 11"/>
          <p:cNvSpPr>
            <a:spLocks noChangeShapeType="1"/>
          </p:cNvSpPr>
          <p:nvPr/>
        </p:nvSpPr>
        <p:spPr bwMode="auto">
          <a:xfrm>
            <a:off x="3810000" y="3200400"/>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0" name="AutoShape 12"/>
          <p:cNvSpPr>
            <a:spLocks noChangeArrowheads="1"/>
          </p:cNvSpPr>
          <p:nvPr/>
        </p:nvSpPr>
        <p:spPr bwMode="auto">
          <a:xfrm>
            <a:off x="4267200" y="3048000"/>
            <a:ext cx="304800" cy="304800"/>
          </a:xfrm>
          <a:prstGeom prst="flowChartSummingJunction">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5181" name="Line 13"/>
          <p:cNvSpPr>
            <a:spLocks noChangeShapeType="1"/>
          </p:cNvSpPr>
          <p:nvPr/>
        </p:nvSpPr>
        <p:spPr bwMode="auto">
          <a:xfrm>
            <a:off x="4572000" y="3200400"/>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2" name="Text Box 14"/>
          <p:cNvSpPr txBox="1">
            <a:spLocks noChangeArrowheads="1"/>
          </p:cNvSpPr>
          <p:nvPr/>
        </p:nvSpPr>
        <p:spPr bwMode="auto">
          <a:xfrm>
            <a:off x="5029200" y="3048000"/>
            <a:ext cx="5334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G</a:t>
            </a:r>
            <a:r>
              <a:rPr lang="en-US" altLang="zh-CN" baseline="-25000"/>
              <a:t>2</a:t>
            </a:r>
          </a:p>
        </p:txBody>
      </p:sp>
      <p:sp>
        <p:nvSpPr>
          <p:cNvPr id="135183" name="Line 15"/>
          <p:cNvSpPr>
            <a:spLocks noChangeShapeType="1"/>
          </p:cNvSpPr>
          <p:nvPr/>
        </p:nvSpPr>
        <p:spPr bwMode="auto">
          <a:xfrm>
            <a:off x="5562600" y="3200400"/>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4" name="Text Box 16"/>
          <p:cNvSpPr txBox="1">
            <a:spLocks noChangeArrowheads="1"/>
          </p:cNvSpPr>
          <p:nvPr/>
        </p:nvSpPr>
        <p:spPr bwMode="auto">
          <a:xfrm>
            <a:off x="6019800" y="3048000"/>
            <a:ext cx="5334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G</a:t>
            </a:r>
            <a:r>
              <a:rPr lang="en-US" altLang="zh-CN" baseline="-25000"/>
              <a:t>3</a:t>
            </a:r>
          </a:p>
        </p:txBody>
      </p:sp>
      <p:sp>
        <p:nvSpPr>
          <p:cNvPr id="135185" name="Line 17"/>
          <p:cNvSpPr>
            <a:spLocks noChangeShapeType="1"/>
          </p:cNvSpPr>
          <p:nvPr/>
        </p:nvSpPr>
        <p:spPr bwMode="auto">
          <a:xfrm>
            <a:off x="6553200" y="3200400"/>
            <a:ext cx="914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86" name="Line 18"/>
          <p:cNvSpPr>
            <a:spLocks noChangeShapeType="1"/>
          </p:cNvSpPr>
          <p:nvPr/>
        </p:nvSpPr>
        <p:spPr bwMode="auto">
          <a:xfrm flipV="1">
            <a:off x="7010400" y="26670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7" name="Line 19"/>
          <p:cNvSpPr>
            <a:spLocks noChangeShapeType="1"/>
          </p:cNvSpPr>
          <p:nvPr/>
        </p:nvSpPr>
        <p:spPr bwMode="auto">
          <a:xfrm flipH="1">
            <a:off x="6324600" y="2667000"/>
            <a:ext cx="685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8" name="Text Box 20"/>
          <p:cNvSpPr txBox="1">
            <a:spLocks noChangeArrowheads="1"/>
          </p:cNvSpPr>
          <p:nvPr/>
        </p:nvSpPr>
        <p:spPr bwMode="auto">
          <a:xfrm>
            <a:off x="5791200" y="2438400"/>
            <a:ext cx="5334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H</a:t>
            </a:r>
            <a:r>
              <a:rPr lang="en-US" altLang="zh-CN" baseline="-25000"/>
              <a:t>2</a:t>
            </a:r>
          </a:p>
        </p:txBody>
      </p:sp>
      <p:sp>
        <p:nvSpPr>
          <p:cNvPr id="135189" name="Line 21"/>
          <p:cNvSpPr>
            <a:spLocks noChangeShapeType="1"/>
          </p:cNvSpPr>
          <p:nvPr/>
        </p:nvSpPr>
        <p:spPr bwMode="auto">
          <a:xfrm flipH="1">
            <a:off x="4419600" y="26670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90" name="Line 22"/>
          <p:cNvSpPr>
            <a:spLocks noChangeShapeType="1"/>
          </p:cNvSpPr>
          <p:nvPr/>
        </p:nvSpPr>
        <p:spPr bwMode="auto">
          <a:xfrm>
            <a:off x="4419600" y="2667000"/>
            <a:ext cx="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91" name="Line 23"/>
          <p:cNvSpPr>
            <a:spLocks noChangeShapeType="1"/>
          </p:cNvSpPr>
          <p:nvPr/>
        </p:nvSpPr>
        <p:spPr bwMode="auto">
          <a:xfrm flipV="1">
            <a:off x="4419600" y="3352800"/>
            <a:ext cx="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92" name="Line 24"/>
          <p:cNvSpPr>
            <a:spLocks noChangeShapeType="1"/>
          </p:cNvSpPr>
          <p:nvPr/>
        </p:nvSpPr>
        <p:spPr bwMode="auto">
          <a:xfrm flipV="1">
            <a:off x="2667000" y="3352800"/>
            <a:ext cx="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93" name="Line 25"/>
          <p:cNvSpPr>
            <a:spLocks noChangeShapeType="1"/>
          </p:cNvSpPr>
          <p:nvPr/>
        </p:nvSpPr>
        <p:spPr bwMode="auto">
          <a:xfrm>
            <a:off x="2667000" y="4038600"/>
            <a:ext cx="2133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94" name="Text Box 26"/>
          <p:cNvSpPr txBox="1">
            <a:spLocks noChangeArrowheads="1"/>
          </p:cNvSpPr>
          <p:nvPr/>
        </p:nvSpPr>
        <p:spPr bwMode="auto">
          <a:xfrm>
            <a:off x="4800600" y="3886200"/>
            <a:ext cx="5334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H</a:t>
            </a:r>
            <a:r>
              <a:rPr lang="en-US" altLang="zh-CN" baseline="-25000"/>
              <a:t>1</a:t>
            </a:r>
          </a:p>
        </p:txBody>
      </p:sp>
      <p:sp>
        <p:nvSpPr>
          <p:cNvPr id="135195" name="Line 27"/>
          <p:cNvSpPr>
            <a:spLocks noChangeShapeType="1"/>
          </p:cNvSpPr>
          <p:nvPr/>
        </p:nvSpPr>
        <p:spPr bwMode="auto">
          <a:xfrm>
            <a:off x="5791200" y="3200400"/>
            <a:ext cx="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96" name="Line 28"/>
          <p:cNvSpPr>
            <a:spLocks noChangeShapeType="1"/>
          </p:cNvSpPr>
          <p:nvPr/>
        </p:nvSpPr>
        <p:spPr bwMode="auto">
          <a:xfrm>
            <a:off x="5334000" y="4038600"/>
            <a:ext cx="457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97" name="Line 29"/>
          <p:cNvSpPr>
            <a:spLocks noChangeShapeType="1"/>
          </p:cNvSpPr>
          <p:nvPr/>
        </p:nvSpPr>
        <p:spPr bwMode="auto">
          <a:xfrm flipV="1">
            <a:off x="1828800" y="3352800"/>
            <a:ext cx="0" cy="1371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198" name="Line 30"/>
          <p:cNvSpPr>
            <a:spLocks noChangeShapeType="1"/>
          </p:cNvSpPr>
          <p:nvPr/>
        </p:nvSpPr>
        <p:spPr bwMode="auto">
          <a:xfrm>
            <a:off x="7162800" y="3200400"/>
            <a:ext cx="0" cy="1447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99" name="Line 31"/>
          <p:cNvSpPr>
            <a:spLocks noChangeShapeType="1"/>
          </p:cNvSpPr>
          <p:nvPr/>
        </p:nvSpPr>
        <p:spPr bwMode="auto">
          <a:xfrm flipH="1">
            <a:off x="4114800" y="4648200"/>
            <a:ext cx="3048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5200" name="Text Box 32"/>
          <p:cNvSpPr txBox="1">
            <a:spLocks noChangeArrowheads="1"/>
          </p:cNvSpPr>
          <p:nvPr/>
        </p:nvSpPr>
        <p:spPr bwMode="auto">
          <a:xfrm>
            <a:off x="3581400" y="4495800"/>
            <a:ext cx="533400" cy="415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H</a:t>
            </a:r>
            <a:r>
              <a:rPr lang="en-US" altLang="zh-CN" baseline="-25000"/>
              <a:t>3</a:t>
            </a:r>
          </a:p>
        </p:txBody>
      </p:sp>
      <p:sp>
        <p:nvSpPr>
          <p:cNvPr id="135201" name="Line 33"/>
          <p:cNvSpPr>
            <a:spLocks noChangeShapeType="1"/>
          </p:cNvSpPr>
          <p:nvPr/>
        </p:nvSpPr>
        <p:spPr bwMode="auto">
          <a:xfrm flipH="1">
            <a:off x="1828800" y="4724400"/>
            <a:ext cx="1752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02" name="Text Box 34"/>
          <p:cNvSpPr txBox="1">
            <a:spLocks noChangeArrowheads="1"/>
          </p:cNvSpPr>
          <p:nvPr/>
        </p:nvSpPr>
        <p:spPr bwMode="auto">
          <a:xfrm>
            <a:off x="1447800" y="2819400"/>
            <a:ext cx="327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a:t>
            </a:r>
          </a:p>
        </p:txBody>
      </p:sp>
      <p:sp>
        <p:nvSpPr>
          <p:cNvPr id="135203" name="Text Box 35"/>
          <p:cNvSpPr txBox="1">
            <a:spLocks noChangeArrowheads="1"/>
          </p:cNvSpPr>
          <p:nvPr/>
        </p:nvSpPr>
        <p:spPr bwMode="auto">
          <a:xfrm>
            <a:off x="2286000" y="2819400"/>
            <a:ext cx="327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a:t>
            </a:r>
          </a:p>
        </p:txBody>
      </p:sp>
      <p:sp>
        <p:nvSpPr>
          <p:cNvPr id="135204" name="Text Box 36"/>
          <p:cNvSpPr txBox="1">
            <a:spLocks noChangeArrowheads="1"/>
          </p:cNvSpPr>
          <p:nvPr/>
        </p:nvSpPr>
        <p:spPr bwMode="auto">
          <a:xfrm>
            <a:off x="2362200" y="3276600"/>
            <a:ext cx="327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a:t>
            </a:r>
          </a:p>
        </p:txBody>
      </p:sp>
      <p:sp>
        <p:nvSpPr>
          <p:cNvPr id="135205" name="Text Box 37"/>
          <p:cNvSpPr txBox="1">
            <a:spLocks noChangeArrowheads="1"/>
          </p:cNvSpPr>
          <p:nvPr/>
        </p:nvSpPr>
        <p:spPr bwMode="auto">
          <a:xfrm>
            <a:off x="3962400" y="2895600"/>
            <a:ext cx="327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a:t>
            </a:r>
          </a:p>
        </p:txBody>
      </p:sp>
      <p:sp>
        <p:nvSpPr>
          <p:cNvPr id="135206" name="Text Box 38"/>
          <p:cNvSpPr txBox="1">
            <a:spLocks noChangeArrowheads="1"/>
          </p:cNvSpPr>
          <p:nvPr/>
        </p:nvSpPr>
        <p:spPr bwMode="auto">
          <a:xfrm>
            <a:off x="1600200" y="3352800"/>
            <a:ext cx="268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a:t>
            </a:r>
          </a:p>
        </p:txBody>
      </p:sp>
      <p:sp>
        <p:nvSpPr>
          <p:cNvPr id="135207" name="Text Box 39"/>
          <p:cNvSpPr txBox="1">
            <a:spLocks noChangeArrowheads="1"/>
          </p:cNvSpPr>
          <p:nvPr/>
        </p:nvSpPr>
        <p:spPr bwMode="auto">
          <a:xfrm>
            <a:off x="4191000" y="3276600"/>
            <a:ext cx="268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a:t>
            </a:r>
          </a:p>
        </p:txBody>
      </p:sp>
      <p:sp>
        <p:nvSpPr>
          <p:cNvPr id="135208" name="Text Box 40"/>
          <p:cNvSpPr txBox="1">
            <a:spLocks noChangeArrowheads="1"/>
          </p:cNvSpPr>
          <p:nvPr/>
        </p:nvSpPr>
        <p:spPr bwMode="auto">
          <a:xfrm>
            <a:off x="4419600" y="2667000"/>
            <a:ext cx="268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a:t>
            </a:r>
          </a:p>
        </p:txBody>
      </p:sp>
      <p:sp>
        <p:nvSpPr>
          <p:cNvPr id="135209" name="Text Box 41"/>
          <p:cNvSpPr txBox="1">
            <a:spLocks noChangeArrowheads="1"/>
          </p:cNvSpPr>
          <p:nvPr/>
        </p:nvSpPr>
        <p:spPr bwMode="auto">
          <a:xfrm>
            <a:off x="1219200" y="28194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R</a:t>
            </a:r>
          </a:p>
        </p:txBody>
      </p:sp>
      <p:sp>
        <p:nvSpPr>
          <p:cNvPr id="135210" name="Text Box 42"/>
          <p:cNvSpPr txBox="1">
            <a:spLocks noChangeArrowheads="1"/>
          </p:cNvSpPr>
          <p:nvPr/>
        </p:nvSpPr>
        <p:spPr bwMode="auto">
          <a:xfrm>
            <a:off x="1676400" y="2667000"/>
            <a:ext cx="365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s</a:t>
            </a:r>
            <a:r>
              <a:rPr lang="en-US" altLang="zh-CN" baseline="-25000"/>
              <a:t>1</a:t>
            </a:r>
          </a:p>
        </p:txBody>
      </p:sp>
      <p:sp>
        <p:nvSpPr>
          <p:cNvPr id="135211" name="Text Box 43"/>
          <p:cNvSpPr txBox="1">
            <a:spLocks noChangeArrowheads="1"/>
          </p:cNvSpPr>
          <p:nvPr/>
        </p:nvSpPr>
        <p:spPr bwMode="auto">
          <a:xfrm>
            <a:off x="2514600" y="2667000"/>
            <a:ext cx="365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s</a:t>
            </a:r>
            <a:r>
              <a:rPr lang="en-US" altLang="zh-CN" baseline="-25000"/>
              <a:t>2</a:t>
            </a:r>
          </a:p>
        </p:txBody>
      </p:sp>
      <p:sp>
        <p:nvSpPr>
          <p:cNvPr id="135212" name="Text Box 44"/>
          <p:cNvSpPr txBox="1">
            <a:spLocks noChangeArrowheads="1"/>
          </p:cNvSpPr>
          <p:nvPr/>
        </p:nvSpPr>
        <p:spPr bwMode="auto">
          <a:xfrm>
            <a:off x="4038600" y="2667000"/>
            <a:ext cx="365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s</a:t>
            </a:r>
            <a:r>
              <a:rPr lang="en-US" altLang="zh-CN" baseline="-25000"/>
              <a:t>3</a:t>
            </a:r>
          </a:p>
        </p:txBody>
      </p:sp>
      <p:sp>
        <p:nvSpPr>
          <p:cNvPr id="135213" name="Text Box 45"/>
          <p:cNvSpPr txBox="1">
            <a:spLocks noChangeArrowheads="1"/>
          </p:cNvSpPr>
          <p:nvPr/>
        </p:nvSpPr>
        <p:spPr bwMode="auto">
          <a:xfrm>
            <a:off x="7239000" y="28194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a:t>C</a:t>
            </a:r>
          </a:p>
        </p:txBody>
      </p:sp>
      <p:sp>
        <p:nvSpPr>
          <p:cNvPr id="51246" name="Oval 46"/>
          <p:cNvSpPr>
            <a:spLocks noChangeArrowheads="1"/>
          </p:cNvSpPr>
          <p:nvPr/>
        </p:nvSpPr>
        <p:spPr bwMode="auto">
          <a:xfrm>
            <a:off x="1371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1247" name="Text Box 47"/>
          <p:cNvSpPr txBox="1">
            <a:spLocks noChangeArrowheads="1"/>
          </p:cNvSpPr>
          <p:nvPr/>
        </p:nvSpPr>
        <p:spPr bwMode="auto">
          <a:xfrm>
            <a:off x="1066800" y="541020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R</a:t>
            </a:r>
          </a:p>
        </p:txBody>
      </p:sp>
      <p:sp>
        <p:nvSpPr>
          <p:cNvPr id="51248" name="Oval 48"/>
          <p:cNvSpPr>
            <a:spLocks noChangeArrowheads="1"/>
          </p:cNvSpPr>
          <p:nvPr/>
        </p:nvSpPr>
        <p:spPr bwMode="auto">
          <a:xfrm>
            <a:off x="2133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1249" name="Text Box 49"/>
          <p:cNvSpPr txBox="1">
            <a:spLocks noChangeArrowheads="1"/>
          </p:cNvSpPr>
          <p:nvPr/>
        </p:nvSpPr>
        <p:spPr bwMode="auto">
          <a:xfrm>
            <a:off x="2057400" y="5257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x</a:t>
            </a:r>
          </a:p>
        </p:txBody>
      </p:sp>
      <p:sp>
        <p:nvSpPr>
          <p:cNvPr id="135218" name="Text Box 50"/>
          <p:cNvSpPr txBox="1">
            <a:spLocks noChangeArrowheads="1"/>
          </p:cNvSpPr>
          <p:nvPr/>
        </p:nvSpPr>
        <p:spPr bwMode="auto">
          <a:xfrm>
            <a:off x="1965325" y="313848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x</a:t>
            </a:r>
          </a:p>
        </p:txBody>
      </p:sp>
      <p:sp>
        <p:nvSpPr>
          <p:cNvPr id="51251" name="Oval 51"/>
          <p:cNvSpPr>
            <a:spLocks noChangeArrowheads="1"/>
          </p:cNvSpPr>
          <p:nvPr/>
        </p:nvSpPr>
        <p:spPr bwMode="auto">
          <a:xfrm>
            <a:off x="2895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1252" name="Text Box 52"/>
          <p:cNvSpPr txBox="1">
            <a:spLocks noChangeArrowheads="1"/>
          </p:cNvSpPr>
          <p:nvPr/>
        </p:nvSpPr>
        <p:spPr bwMode="auto">
          <a:xfrm>
            <a:off x="2819400" y="5257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y</a:t>
            </a:r>
          </a:p>
        </p:txBody>
      </p:sp>
      <p:sp>
        <p:nvSpPr>
          <p:cNvPr id="135221" name="Text Box 53"/>
          <p:cNvSpPr txBox="1">
            <a:spLocks noChangeArrowheads="1"/>
          </p:cNvSpPr>
          <p:nvPr/>
        </p:nvSpPr>
        <p:spPr bwMode="auto">
          <a:xfrm>
            <a:off x="2819400" y="31242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y</a:t>
            </a:r>
          </a:p>
        </p:txBody>
      </p:sp>
      <p:sp>
        <p:nvSpPr>
          <p:cNvPr id="51254" name="Oval 54"/>
          <p:cNvSpPr>
            <a:spLocks noChangeArrowheads="1"/>
          </p:cNvSpPr>
          <p:nvPr/>
        </p:nvSpPr>
        <p:spPr bwMode="auto">
          <a:xfrm>
            <a:off x="4419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1255" name="Text Box 55"/>
          <p:cNvSpPr txBox="1">
            <a:spLocks noChangeArrowheads="1"/>
          </p:cNvSpPr>
          <p:nvPr/>
        </p:nvSpPr>
        <p:spPr bwMode="auto">
          <a:xfrm>
            <a:off x="4343400" y="5257800"/>
            <a:ext cx="274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z</a:t>
            </a:r>
          </a:p>
        </p:txBody>
      </p:sp>
      <p:sp>
        <p:nvSpPr>
          <p:cNvPr id="135224" name="Text Box 56"/>
          <p:cNvSpPr txBox="1">
            <a:spLocks noChangeArrowheads="1"/>
          </p:cNvSpPr>
          <p:nvPr/>
        </p:nvSpPr>
        <p:spPr bwMode="auto">
          <a:xfrm>
            <a:off x="4648200" y="28956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z</a:t>
            </a:r>
          </a:p>
        </p:txBody>
      </p:sp>
      <p:sp>
        <p:nvSpPr>
          <p:cNvPr id="51257" name="Oval 57"/>
          <p:cNvSpPr>
            <a:spLocks noChangeArrowheads="1"/>
          </p:cNvSpPr>
          <p:nvPr/>
        </p:nvSpPr>
        <p:spPr bwMode="auto">
          <a:xfrm>
            <a:off x="57150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1258" name="Text Box 58"/>
          <p:cNvSpPr txBox="1">
            <a:spLocks noChangeArrowheads="1"/>
          </p:cNvSpPr>
          <p:nvPr/>
        </p:nvSpPr>
        <p:spPr bwMode="auto">
          <a:xfrm>
            <a:off x="5651500" y="5229225"/>
            <a:ext cx="342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m</a:t>
            </a:r>
          </a:p>
        </p:txBody>
      </p:sp>
      <p:sp>
        <p:nvSpPr>
          <p:cNvPr id="135227" name="Text Box 59"/>
          <p:cNvSpPr txBox="1">
            <a:spLocks noChangeArrowheads="1"/>
          </p:cNvSpPr>
          <p:nvPr/>
        </p:nvSpPr>
        <p:spPr bwMode="auto">
          <a:xfrm>
            <a:off x="5562600" y="28956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m</a:t>
            </a:r>
          </a:p>
        </p:txBody>
      </p:sp>
      <p:sp>
        <p:nvSpPr>
          <p:cNvPr id="51260" name="Oval 60"/>
          <p:cNvSpPr>
            <a:spLocks noChangeArrowheads="1"/>
          </p:cNvSpPr>
          <p:nvPr/>
        </p:nvSpPr>
        <p:spPr bwMode="auto">
          <a:xfrm>
            <a:off x="68580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1261" name="Text Box 61"/>
          <p:cNvSpPr txBox="1">
            <a:spLocks noChangeArrowheads="1"/>
          </p:cNvSpPr>
          <p:nvPr/>
        </p:nvSpPr>
        <p:spPr bwMode="auto">
          <a:xfrm>
            <a:off x="6934200" y="54102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c</a:t>
            </a:r>
          </a:p>
        </p:txBody>
      </p:sp>
      <p:sp>
        <p:nvSpPr>
          <p:cNvPr id="51262" name="Line 62"/>
          <p:cNvSpPr>
            <a:spLocks noChangeShapeType="1"/>
          </p:cNvSpPr>
          <p:nvPr/>
        </p:nvSpPr>
        <p:spPr bwMode="auto">
          <a:xfrm>
            <a:off x="1524000" y="5638800"/>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63" name="Text Box 63"/>
          <p:cNvSpPr txBox="1">
            <a:spLocks noChangeArrowheads="1"/>
          </p:cNvSpPr>
          <p:nvPr/>
        </p:nvSpPr>
        <p:spPr bwMode="auto">
          <a:xfrm>
            <a:off x="1676400" y="5257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1</a:t>
            </a:r>
          </a:p>
        </p:txBody>
      </p:sp>
      <p:sp>
        <p:nvSpPr>
          <p:cNvPr id="51264" name="Freeform 64"/>
          <p:cNvSpPr>
            <a:spLocks noChangeArrowheads="1"/>
          </p:cNvSpPr>
          <p:nvPr/>
        </p:nvSpPr>
        <p:spPr bwMode="auto">
          <a:xfrm>
            <a:off x="2209800" y="5715000"/>
            <a:ext cx="4724400" cy="785813"/>
          </a:xfrm>
          <a:custGeom>
            <a:avLst/>
            <a:gdLst>
              <a:gd name="T0" fmla="*/ 2147483646 w 2976"/>
              <a:gd name="T1" fmla="*/ 0 h 495"/>
              <a:gd name="T2" fmla="*/ 2147483646 w 2976"/>
              <a:gd name="T3" fmla="*/ 2147483646 h 495"/>
              <a:gd name="T4" fmla="*/ 2147483646 w 2976"/>
              <a:gd name="T5" fmla="*/ 2147483646 h 495"/>
              <a:gd name="T6" fmla="*/ 0 w 2976"/>
              <a:gd name="T7" fmla="*/ 0 h 4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76" h="495">
                <a:moveTo>
                  <a:pt x="2976" y="0"/>
                </a:moveTo>
                <a:cubicBezTo>
                  <a:pt x="2805" y="72"/>
                  <a:pt x="2314" y="369"/>
                  <a:pt x="1952" y="432"/>
                </a:cubicBezTo>
                <a:cubicBezTo>
                  <a:pt x="1590" y="495"/>
                  <a:pt x="1125" y="452"/>
                  <a:pt x="800" y="380"/>
                </a:cubicBezTo>
                <a:cubicBezTo>
                  <a:pt x="475" y="308"/>
                  <a:pt x="167" y="79"/>
                  <a:pt x="0" y="0"/>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65" name="Text Box 65"/>
          <p:cNvSpPr txBox="1">
            <a:spLocks noChangeArrowheads="1"/>
          </p:cNvSpPr>
          <p:nvPr/>
        </p:nvSpPr>
        <p:spPr bwMode="auto">
          <a:xfrm>
            <a:off x="3124200" y="6272213"/>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3</a:t>
            </a:r>
          </a:p>
        </p:txBody>
      </p:sp>
      <p:sp>
        <p:nvSpPr>
          <p:cNvPr id="51266" name="Line 66"/>
          <p:cNvSpPr>
            <a:spLocks noChangeShapeType="1"/>
          </p:cNvSpPr>
          <p:nvPr/>
        </p:nvSpPr>
        <p:spPr bwMode="auto">
          <a:xfrm>
            <a:off x="2286000" y="5638800"/>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67" name="Text Box 67"/>
          <p:cNvSpPr txBox="1">
            <a:spLocks noChangeArrowheads="1"/>
          </p:cNvSpPr>
          <p:nvPr/>
        </p:nvSpPr>
        <p:spPr bwMode="auto">
          <a:xfrm>
            <a:off x="2438400" y="53340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1</a:t>
            </a:r>
          </a:p>
        </p:txBody>
      </p:sp>
      <p:sp>
        <p:nvSpPr>
          <p:cNvPr id="51268" name="Freeform 68"/>
          <p:cNvSpPr>
            <a:spLocks noChangeArrowheads="1"/>
          </p:cNvSpPr>
          <p:nvPr/>
        </p:nvSpPr>
        <p:spPr bwMode="auto">
          <a:xfrm>
            <a:off x="3048000" y="5638800"/>
            <a:ext cx="2667000" cy="635000"/>
          </a:xfrm>
          <a:custGeom>
            <a:avLst/>
            <a:gdLst>
              <a:gd name="T0" fmla="*/ 2147483646 w 1680"/>
              <a:gd name="T1" fmla="*/ 0 h 400"/>
              <a:gd name="T2" fmla="*/ 2147483646 w 1680"/>
              <a:gd name="T3" fmla="*/ 2147483646 h 400"/>
              <a:gd name="T4" fmla="*/ 2147483646 w 1680"/>
              <a:gd name="T5" fmla="*/ 2147483646 h 400"/>
              <a:gd name="T6" fmla="*/ 0 w 1680"/>
              <a:gd name="T7" fmla="*/ 2147483646 h 4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 h="400">
                <a:moveTo>
                  <a:pt x="1680" y="0"/>
                </a:moveTo>
                <a:cubicBezTo>
                  <a:pt x="1622" y="57"/>
                  <a:pt x="1534" y="290"/>
                  <a:pt x="1334" y="345"/>
                </a:cubicBezTo>
                <a:cubicBezTo>
                  <a:pt x="1134" y="400"/>
                  <a:pt x="703" y="379"/>
                  <a:pt x="481" y="330"/>
                </a:cubicBezTo>
                <a:cubicBezTo>
                  <a:pt x="259" y="281"/>
                  <a:pt x="100" y="107"/>
                  <a:pt x="0" y="48"/>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69" name="Text Box 69"/>
          <p:cNvSpPr txBox="1">
            <a:spLocks noChangeArrowheads="1"/>
          </p:cNvSpPr>
          <p:nvPr/>
        </p:nvSpPr>
        <p:spPr bwMode="auto">
          <a:xfrm>
            <a:off x="4419600" y="59436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1</a:t>
            </a:r>
          </a:p>
        </p:txBody>
      </p:sp>
      <p:sp>
        <p:nvSpPr>
          <p:cNvPr id="51270" name="Line 70"/>
          <p:cNvSpPr>
            <a:spLocks noChangeShapeType="1"/>
          </p:cNvSpPr>
          <p:nvPr/>
        </p:nvSpPr>
        <p:spPr bwMode="auto">
          <a:xfrm>
            <a:off x="3048000" y="5638800"/>
            <a:ext cx="1371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1" name="Text Box 71"/>
          <p:cNvSpPr txBox="1">
            <a:spLocks noChangeArrowheads="1"/>
          </p:cNvSpPr>
          <p:nvPr/>
        </p:nvSpPr>
        <p:spPr bwMode="auto">
          <a:xfrm>
            <a:off x="3581400" y="53340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1</a:t>
            </a:r>
          </a:p>
        </p:txBody>
      </p:sp>
      <p:sp>
        <p:nvSpPr>
          <p:cNvPr id="51272" name="Freeform 72"/>
          <p:cNvSpPr>
            <a:spLocks noChangeArrowheads="1"/>
          </p:cNvSpPr>
          <p:nvPr/>
        </p:nvSpPr>
        <p:spPr bwMode="auto">
          <a:xfrm>
            <a:off x="4572000" y="5629275"/>
            <a:ext cx="1128713" cy="346075"/>
          </a:xfrm>
          <a:custGeom>
            <a:avLst/>
            <a:gdLst>
              <a:gd name="T0" fmla="*/ 2147483646 w 711"/>
              <a:gd name="T1" fmla="*/ 0 h 218"/>
              <a:gd name="T2" fmla="*/ 2147483646 w 711"/>
              <a:gd name="T3" fmla="*/ 2147483646 h 218"/>
              <a:gd name="T4" fmla="*/ 0 w 711"/>
              <a:gd name="T5" fmla="*/ 2147483646 h 218"/>
              <a:gd name="T6" fmla="*/ 0 60000 65536"/>
              <a:gd name="T7" fmla="*/ 0 60000 65536"/>
              <a:gd name="T8" fmla="*/ 0 60000 65536"/>
            </a:gdLst>
            <a:ahLst/>
            <a:cxnLst>
              <a:cxn ang="T6">
                <a:pos x="T0" y="T1"/>
              </a:cxn>
              <a:cxn ang="T7">
                <a:pos x="T2" y="T3"/>
              </a:cxn>
              <a:cxn ang="T8">
                <a:pos x="T4" y="T5"/>
              </a:cxn>
            </a:cxnLst>
            <a:rect l="0" t="0" r="r" b="b"/>
            <a:pathLst>
              <a:path w="711" h="218">
                <a:moveTo>
                  <a:pt x="711" y="0"/>
                </a:moveTo>
                <a:cubicBezTo>
                  <a:pt x="646" y="35"/>
                  <a:pt x="440" y="200"/>
                  <a:pt x="322" y="209"/>
                </a:cubicBezTo>
                <a:cubicBezTo>
                  <a:pt x="204" y="218"/>
                  <a:pt x="67" y="86"/>
                  <a:pt x="0" y="54"/>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73" name="Text Box 73"/>
          <p:cNvSpPr txBox="1">
            <a:spLocks noChangeArrowheads="1"/>
          </p:cNvSpPr>
          <p:nvPr/>
        </p:nvSpPr>
        <p:spPr bwMode="auto">
          <a:xfrm>
            <a:off x="4876800" y="5638800"/>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1</a:t>
            </a:r>
          </a:p>
        </p:txBody>
      </p:sp>
      <p:sp>
        <p:nvSpPr>
          <p:cNvPr id="51274" name="Freeform 74"/>
          <p:cNvSpPr>
            <a:spLocks noChangeArrowheads="1"/>
          </p:cNvSpPr>
          <p:nvPr/>
        </p:nvSpPr>
        <p:spPr bwMode="auto">
          <a:xfrm>
            <a:off x="4572000" y="4953000"/>
            <a:ext cx="2362200" cy="609600"/>
          </a:xfrm>
          <a:custGeom>
            <a:avLst/>
            <a:gdLst>
              <a:gd name="T0" fmla="*/ 2147483646 w 1488"/>
              <a:gd name="T1" fmla="*/ 2147483646 h 384"/>
              <a:gd name="T2" fmla="*/ 2147483646 w 1488"/>
              <a:gd name="T3" fmla="*/ 2147483646 h 384"/>
              <a:gd name="T4" fmla="*/ 2147483646 w 1488"/>
              <a:gd name="T5" fmla="*/ 2147483646 h 384"/>
              <a:gd name="T6" fmla="*/ 0 w 1488"/>
              <a:gd name="T7" fmla="*/ 2147483646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8" h="384">
                <a:moveTo>
                  <a:pt x="1488" y="384"/>
                </a:moveTo>
                <a:cubicBezTo>
                  <a:pt x="1404" y="240"/>
                  <a:pt x="1320" y="96"/>
                  <a:pt x="1152" y="48"/>
                </a:cubicBezTo>
                <a:cubicBezTo>
                  <a:pt x="984" y="0"/>
                  <a:pt x="672" y="40"/>
                  <a:pt x="480" y="96"/>
                </a:cubicBezTo>
                <a:cubicBezTo>
                  <a:pt x="288" y="152"/>
                  <a:pt x="80" y="336"/>
                  <a:pt x="0" y="384"/>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75" name="Text Box 75"/>
          <p:cNvSpPr txBox="1">
            <a:spLocks noChangeArrowheads="1"/>
          </p:cNvSpPr>
          <p:nvPr/>
        </p:nvSpPr>
        <p:spPr bwMode="auto">
          <a:xfrm>
            <a:off x="5943600" y="4953000"/>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2</a:t>
            </a:r>
          </a:p>
        </p:txBody>
      </p:sp>
      <p:sp>
        <p:nvSpPr>
          <p:cNvPr id="51276" name="Line 76"/>
          <p:cNvSpPr>
            <a:spLocks noChangeShapeType="1"/>
          </p:cNvSpPr>
          <p:nvPr/>
        </p:nvSpPr>
        <p:spPr bwMode="auto">
          <a:xfrm>
            <a:off x="4572000" y="5638800"/>
            <a:ext cx="1143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7" name="Text Box 77"/>
          <p:cNvSpPr txBox="1">
            <a:spLocks noChangeArrowheads="1"/>
          </p:cNvSpPr>
          <p:nvPr/>
        </p:nvSpPr>
        <p:spPr bwMode="auto">
          <a:xfrm>
            <a:off x="4953000" y="53340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2</a:t>
            </a:r>
          </a:p>
        </p:txBody>
      </p:sp>
      <p:sp>
        <p:nvSpPr>
          <p:cNvPr id="51278" name="Line 78"/>
          <p:cNvSpPr>
            <a:spLocks noChangeShapeType="1"/>
          </p:cNvSpPr>
          <p:nvPr/>
        </p:nvSpPr>
        <p:spPr bwMode="auto">
          <a:xfrm>
            <a:off x="5867400" y="5638800"/>
            <a:ext cx="990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9" name="Text Box 79"/>
          <p:cNvSpPr txBox="1">
            <a:spLocks noChangeArrowheads="1"/>
          </p:cNvSpPr>
          <p:nvPr/>
        </p:nvSpPr>
        <p:spPr bwMode="auto">
          <a:xfrm>
            <a:off x="6172200" y="53340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3</a:t>
            </a:r>
          </a:p>
        </p:txBody>
      </p:sp>
    </p:spTree>
    <p:extLst>
      <p:ext uri="{BB962C8B-B14F-4D97-AF65-F5344CB8AC3E}">
        <p14:creationId xmlns:p14="http://schemas.microsoft.com/office/powerpoint/2010/main" val="11779003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4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24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2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25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2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125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12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25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2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126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126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126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126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1264"/>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126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1266"/>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51266"/>
                                        </p:tgtEl>
                                        <p:attrNameLst>
                                          <p:attrName>style.visibility</p:attrName>
                                        </p:attrNameLst>
                                      </p:cBhvr>
                                      <p:to>
                                        <p:strVal val="visible"/>
                                      </p:to>
                                    </p:set>
                                  </p:childTnLst>
                                </p:cTn>
                              </p:par>
                              <p:par>
                                <p:cTn id="71" presetID="1" presetClass="entr" presetSubtype="0" fill="hold" grpId="1" nodeType="withEffect">
                                  <p:stCondLst>
                                    <p:cond delay="0"/>
                                  </p:stCondLst>
                                  <p:childTnLst>
                                    <p:set>
                                      <p:cBhvr>
                                        <p:cTn id="72" dur="1" fill="hold">
                                          <p:stCondLst>
                                            <p:cond delay="0"/>
                                          </p:stCondLst>
                                        </p:cTn>
                                        <p:tgtEl>
                                          <p:spTgt spid="51267"/>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126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1268"/>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127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1270"/>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127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1272"/>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127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1274"/>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127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1276"/>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127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1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P spid="51204" grpId="0"/>
      <p:bldP spid="51246" grpId="0" bldLvl="0" animBg="1"/>
      <p:bldP spid="51247" grpId="0"/>
      <p:bldP spid="51248" grpId="0" bldLvl="0" animBg="1"/>
      <p:bldP spid="51249" grpId="0"/>
      <p:bldP spid="51251" grpId="0" bldLvl="0" animBg="1"/>
      <p:bldP spid="51252" grpId="0"/>
      <p:bldP spid="51254" grpId="0" bldLvl="0" animBg="1"/>
      <p:bldP spid="51255" grpId="0"/>
      <p:bldP spid="51257" grpId="0" bldLvl="0" animBg="1"/>
      <p:bldP spid="51258" grpId="0"/>
      <p:bldP spid="51260" grpId="0" bldLvl="0" animBg="1"/>
      <p:bldP spid="51261" grpId="0"/>
      <p:bldP spid="51263" grpId="0"/>
      <p:bldP spid="51265" grpId="0"/>
      <p:bldP spid="51267" grpId="0"/>
      <p:bldP spid="51267" grpId="1"/>
      <p:bldP spid="51269" grpId="0"/>
      <p:bldP spid="51271" grpId="0"/>
      <p:bldP spid="51273" grpId="0"/>
      <p:bldP spid="51275" grpId="0"/>
      <p:bldP spid="51277" grpId="0"/>
      <p:bldP spid="5127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1026"/>
          <p:cNvSpPr txBox="1">
            <a:spLocks noChangeArrowheads="1"/>
          </p:cNvSpPr>
          <p:nvPr/>
        </p:nvSpPr>
        <p:spPr bwMode="auto">
          <a:xfrm>
            <a:off x="539750" y="333375"/>
            <a:ext cx="21859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zh-CN" altLang="en-US" sz="2400"/>
              <a:t>  常用术语：</a:t>
            </a:r>
          </a:p>
        </p:txBody>
      </p:sp>
      <p:sp>
        <p:nvSpPr>
          <p:cNvPr id="136195" name="Text Box 1027"/>
          <p:cNvSpPr txBox="1">
            <a:spLocks noChangeArrowheads="1"/>
          </p:cNvSpPr>
          <p:nvPr/>
        </p:nvSpPr>
        <p:spPr bwMode="auto">
          <a:xfrm>
            <a:off x="539750" y="1125538"/>
            <a:ext cx="2727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1. </a:t>
            </a:r>
            <a:r>
              <a:rPr lang="zh-CN" altLang="en-US" sz="2400"/>
              <a:t>输入</a:t>
            </a:r>
            <a:r>
              <a:rPr lang="en-US" altLang="zh-CN" sz="2400"/>
              <a:t>(</a:t>
            </a:r>
            <a:r>
              <a:rPr lang="zh-CN" altLang="en-US" sz="2400"/>
              <a:t>源</a:t>
            </a:r>
            <a:r>
              <a:rPr lang="en-US" altLang="zh-CN" sz="2400"/>
              <a:t>)</a:t>
            </a:r>
            <a:r>
              <a:rPr lang="zh-CN" altLang="en-US" sz="2400"/>
              <a:t>节点：</a:t>
            </a:r>
          </a:p>
        </p:txBody>
      </p:sp>
      <p:sp>
        <p:nvSpPr>
          <p:cNvPr id="136196" name="Text Box 1028"/>
          <p:cNvSpPr txBox="1">
            <a:spLocks noChangeArrowheads="1"/>
          </p:cNvSpPr>
          <p:nvPr/>
        </p:nvSpPr>
        <p:spPr bwMode="auto">
          <a:xfrm>
            <a:off x="2987675" y="1125538"/>
            <a:ext cx="54165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只有输出支路，没有输入支路的节点。</a:t>
            </a:r>
          </a:p>
        </p:txBody>
      </p:sp>
      <p:sp>
        <p:nvSpPr>
          <p:cNvPr id="52229" name="Oval 1029"/>
          <p:cNvSpPr>
            <a:spLocks noChangeArrowheads="1"/>
          </p:cNvSpPr>
          <p:nvPr/>
        </p:nvSpPr>
        <p:spPr bwMode="auto">
          <a:xfrm>
            <a:off x="1371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2230" name="Text Box 1030"/>
          <p:cNvSpPr txBox="1">
            <a:spLocks noChangeArrowheads="1"/>
          </p:cNvSpPr>
          <p:nvPr/>
        </p:nvSpPr>
        <p:spPr bwMode="auto">
          <a:xfrm>
            <a:off x="1066800" y="541020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R</a:t>
            </a:r>
          </a:p>
        </p:txBody>
      </p:sp>
      <p:sp>
        <p:nvSpPr>
          <p:cNvPr id="52231" name="Oval 1031"/>
          <p:cNvSpPr>
            <a:spLocks noChangeArrowheads="1"/>
          </p:cNvSpPr>
          <p:nvPr/>
        </p:nvSpPr>
        <p:spPr bwMode="auto">
          <a:xfrm>
            <a:off x="2133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2232" name="Text Box 1032"/>
          <p:cNvSpPr txBox="1">
            <a:spLocks noChangeArrowheads="1"/>
          </p:cNvSpPr>
          <p:nvPr/>
        </p:nvSpPr>
        <p:spPr bwMode="auto">
          <a:xfrm>
            <a:off x="2057400" y="5257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x</a:t>
            </a:r>
          </a:p>
        </p:txBody>
      </p:sp>
      <p:sp>
        <p:nvSpPr>
          <p:cNvPr id="52233" name="Oval 1033"/>
          <p:cNvSpPr>
            <a:spLocks noChangeArrowheads="1"/>
          </p:cNvSpPr>
          <p:nvPr/>
        </p:nvSpPr>
        <p:spPr bwMode="auto">
          <a:xfrm>
            <a:off x="2895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2234" name="Text Box 1034"/>
          <p:cNvSpPr txBox="1">
            <a:spLocks noChangeArrowheads="1"/>
          </p:cNvSpPr>
          <p:nvPr/>
        </p:nvSpPr>
        <p:spPr bwMode="auto">
          <a:xfrm>
            <a:off x="2819400" y="5257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y</a:t>
            </a:r>
          </a:p>
        </p:txBody>
      </p:sp>
      <p:sp>
        <p:nvSpPr>
          <p:cNvPr id="52235" name="Oval 1035"/>
          <p:cNvSpPr>
            <a:spLocks noChangeArrowheads="1"/>
          </p:cNvSpPr>
          <p:nvPr/>
        </p:nvSpPr>
        <p:spPr bwMode="auto">
          <a:xfrm>
            <a:off x="44196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2236" name="Text Box 1036"/>
          <p:cNvSpPr txBox="1">
            <a:spLocks noChangeArrowheads="1"/>
          </p:cNvSpPr>
          <p:nvPr/>
        </p:nvSpPr>
        <p:spPr bwMode="auto">
          <a:xfrm>
            <a:off x="4343400" y="5257800"/>
            <a:ext cx="274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z</a:t>
            </a:r>
          </a:p>
        </p:txBody>
      </p:sp>
      <p:sp>
        <p:nvSpPr>
          <p:cNvPr id="52237" name="Oval 1037"/>
          <p:cNvSpPr>
            <a:spLocks noChangeArrowheads="1"/>
          </p:cNvSpPr>
          <p:nvPr/>
        </p:nvSpPr>
        <p:spPr bwMode="auto">
          <a:xfrm>
            <a:off x="57150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2238" name="Text Box 1038"/>
          <p:cNvSpPr txBox="1">
            <a:spLocks noChangeArrowheads="1"/>
          </p:cNvSpPr>
          <p:nvPr/>
        </p:nvSpPr>
        <p:spPr bwMode="auto">
          <a:xfrm>
            <a:off x="5638800" y="5334000"/>
            <a:ext cx="342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m</a:t>
            </a:r>
          </a:p>
        </p:txBody>
      </p:sp>
      <p:sp>
        <p:nvSpPr>
          <p:cNvPr id="52239" name="Oval 1039"/>
          <p:cNvSpPr>
            <a:spLocks noChangeArrowheads="1"/>
          </p:cNvSpPr>
          <p:nvPr/>
        </p:nvSpPr>
        <p:spPr bwMode="auto">
          <a:xfrm>
            <a:off x="6858000" y="55626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2240" name="Text Box 1040"/>
          <p:cNvSpPr txBox="1">
            <a:spLocks noChangeArrowheads="1"/>
          </p:cNvSpPr>
          <p:nvPr/>
        </p:nvSpPr>
        <p:spPr bwMode="auto">
          <a:xfrm>
            <a:off x="6934200" y="53340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c</a:t>
            </a:r>
          </a:p>
        </p:txBody>
      </p:sp>
      <p:sp>
        <p:nvSpPr>
          <p:cNvPr id="52241" name="Line 1041"/>
          <p:cNvSpPr>
            <a:spLocks noChangeShapeType="1"/>
          </p:cNvSpPr>
          <p:nvPr/>
        </p:nvSpPr>
        <p:spPr bwMode="auto">
          <a:xfrm>
            <a:off x="1524000" y="5638800"/>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2" name="Text Box 1042"/>
          <p:cNvSpPr txBox="1">
            <a:spLocks noChangeArrowheads="1"/>
          </p:cNvSpPr>
          <p:nvPr/>
        </p:nvSpPr>
        <p:spPr bwMode="auto">
          <a:xfrm>
            <a:off x="1676400" y="5257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1</a:t>
            </a:r>
          </a:p>
        </p:txBody>
      </p:sp>
      <p:sp>
        <p:nvSpPr>
          <p:cNvPr id="52243" name="Freeform 1043"/>
          <p:cNvSpPr>
            <a:spLocks noChangeArrowheads="1"/>
          </p:cNvSpPr>
          <p:nvPr/>
        </p:nvSpPr>
        <p:spPr bwMode="auto">
          <a:xfrm>
            <a:off x="2209800" y="5715000"/>
            <a:ext cx="4724400" cy="785813"/>
          </a:xfrm>
          <a:custGeom>
            <a:avLst/>
            <a:gdLst>
              <a:gd name="T0" fmla="*/ 2147483646 w 2976"/>
              <a:gd name="T1" fmla="*/ 0 h 495"/>
              <a:gd name="T2" fmla="*/ 2147483646 w 2976"/>
              <a:gd name="T3" fmla="*/ 2147483646 h 495"/>
              <a:gd name="T4" fmla="*/ 2147483646 w 2976"/>
              <a:gd name="T5" fmla="*/ 2147483646 h 495"/>
              <a:gd name="T6" fmla="*/ 0 w 2976"/>
              <a:gd name="T7" fmla="*/ 0 h 4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76" h="495">
                <a:moveTo>
                  <a:pt x="2976" y="0"/>
                </a:moveTo>
                <a:cubicBezTo>
                  <a:pt x="2805" y="72"/>
                  <a:pt x="2314" y="369"/>
                  <a:pt x="1952" y="432"/>
                </a:cubicBezTo>
                <a:cubicBezTo>
                  <a:pt x="1590" y="495"/>
                  <a:pt x="1125" y="452"/>
                  <a:pt x="800" y="380"/>
                </a:cubicBezTo>
                <a:cubicBezTo>
                  <a:pt x="475" y="308"/>
                  <a:pt x="167" y="79"/>
                  <a:pt x="0" y="0"/>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44" name="Text Box 1044"/>
          <p:cNvSpPr txBox="1">
            <a:spLocks noChangeArrowheads="1"/>
          </p:cNvSpPr>
          <p:nvPr/>
        </p:nvSpPr>
        <p:spPr bwMode="auto">
          <a:xfrm>
            <a:off x="3124200" y="6272213"/>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3</a:t>
            </a:r>
          </a:p>
        </p:txBody>
      </p:sp>
      <p:sp>
        <p:nvSpPr>
          <p:cNvPr id="52245" name="Line 1045"/>
          <p:cNvSpPr>
            <a:spLocks noChangeShapeType="1"/>
          </p:cNvSpPr>
          <p:nvPr/>
        </p:nvSpPr>
        <p:spPr bwMode="auto">
          <a:xfrm>
            <a:off x="2286000" y="5638800"/>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6" name="Text Box 1046"/>
          <p:cNvSpPr txBox="1">
            <a:spLocks noChangeArrowheads="1"/>
          </p:cNvSpPr>
          <p:nvPr/>
        </p:nvSpPr>
        <p:spPr bwMode="auto">
          <a:xfrm>
            <a:off x="2438400" y="53340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1</a:t>
            </a:r>
          </a:p>
        </p:txBody>
      </p:sp>
      <p:sp>
        <p:nvSpPr>
          <p:cNvPr id="52247" name="Freeform 1047"/>
          <p:cNvSpPr>
            <a:spLocks noChangeArrowheads="1"/>
          </p:cNvSpPr>
          <p:nvPr/>
        </p:nvSpPr>
        <p:spPr bwMode="auto">
          <a:xfrm>
            <a:off x="3048000" y="5638800"/>
            <a:ext cx="2667000" cy="635000"/>
          </a:xfrm>
          <a:custGeom>
            <a:avLst/>
            <a:gdLst>
              <a:gd name="T0" fmla="*/ 2147483646 w 1680"/>
              <a:gd name="T1" fmla="*/ 0 h 400"/>
              <a:gd name="T2" fmla="*/ 2147483646 w 1680"/>
              <a:gd name="T3" fmla="*/ 2147483646 h 400"/>
              <a:gd name="T4" fmla="*/ 2147483646 w 1680"/>
              <a:gd name="T5" fmla="*/ 2147483646 h 400"/>
              <a:gd name="T6" fmla="*/ 0 w 1680"/>
              <a:gd name="T7" fmla="*/ 2147483646 h 4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 h="400">
                <a:moveTo>
                  <a:pt x="1680" y="0"/>
                </a:moveTo>
                <a:cubicBezTo>
                  <a:pt x="1622" y="57"/>
                  <a:pt x="1534" y="290"/>
                  <a:pt x="1334" y="345"/>
                </a:cubicBezTo>
                <a:cubicBezTo>
                  <a:pt x="1134" y="400"/>
                  <a:pt x="703" y="379"/>
                  <a:pt x="481" y="330"/>
                </a:cubicBezTo>
                <a:cubicBezTo>
                  <a:pt x="259" y="281"/>
                  <a:pt x="100" y="107"/>
                  <a:pt x="0" y="48"/>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48" name="Text Box 1048"/>
          <p:cNvSpPr txBox="1">
            <a:spLocks noChangeArrowheads="1"/>
          </p:cNvSpPr>
          <p:nvPr/>
        </p:nvSpPr>
        <p:spPr bwMode="auto">
          <a:xfrm>
            <a:off x="4419600" y="59436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1</a:t>
            </a:r>
          </a:p>
        </p:txBody>
      </p:sp>
      <p:sp>
        <p:nvSpPr>
          <p:cNvPr id="52249" name="Line 1049"/>
          <p:cNvSpPr>
            <a:spLocks noChangeShapeType="1"/>
          </p:cNvSpPr>
          <p:nvPr/>
        </p:nvSpPr>
        <p:spPr bwMode="auto">
          <a:xfrm>
            <a:off x="3048000" y="5638800"/>
            <a:ext cx="1371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0" name="Text Box 1050"/>
          <p:cNvSpPr txBox="1">
            <a:spLocks noChangeArrowheads="1"/>
          </p:cNvSpPr>
          <p:nvPr/>
        </p:nvSpPr>
        <p:spPr bwMode="auto">
          <a:xfrm>
            <a:off x="3581400" y="53340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1</a:t>
            </a:r>
          </a:p>
        </p:txBody>
      </p:sp>
      <p:sp>
        <p:nvSpPr>
          <p:cNvPr id="52251" name="Freeform 1051"/>
          <p:cNvSpPr>
            <a:spLocks noChangeArrowheads="1"/>
          </p:cNvSpPr>
          <p:nvPr/>
        </p:nvSpPr>
        <p:spPr bwMode="auto">
          <a:xfrm>
            <a:off x="4572000" y="5629275"/>
            <a:ext cx="1128713" cy="346075"/>
          </a:xfrm>
          <a:custGeom>
            <a:avLst/>
            <a:gdLst>
              <a:gd name="T0" fmla="*/ 2147483646 w 711"/>
              <a:gd name="T1" fmla="*/ 0 h 218"/>
              <a:gd name="T2" fmla="*/ 2147483646 w 711"/>
              <a:gd name="T3" fmla="*/ 2147483646 h 218"/>
              <a:gd name="T4" fmla="*/ 0 w 711"/>
              <a:gd name="T5" fmla="*/ 2147483646 h 218"/>
              <a:gd name="T6" fmla="*/ 0 60000 65536"/>
              <a:gd name="T7" fmla="*/ 0 60000 65536"/>
              <a:gd name="T8" fmla="*/ 0 60000 65536"/>
            </a:gdLst>
            <a:ahLst/>
            <a:cxnLst>
              <a:cxn ang="T6">
                <a:pos x="T0" y="T1"/>
              </a:cxn>
              <a:cxn ang="T7">
                <a:pos x="T2" y="T3"/>
              </a:cxn>
              <a:cxn ang="T8">
                <a:pos x="T4" y="T5"/>
              </a:cxn>
            </a:cxnLst>
            <a:rect l="0" t="0" r="r" b="b"/>
            <a:pathLst>
              <a:path w="711" h="218">
                <a:moveTo>
                  <a:pt x="711" y="0"/>
                </a:moveTo>
                <a:cubicBezTo>
                  <a:pt x="646" y="35"/>
                  <a:pt x="440" y="200"/>
                  <a:pt x="322" y="209"/>
                </a:cubicBezTo>
                <a:cubicBezTo>
                  <a:pt x="204" y="218"/>
                  <a:pt x="67" y="86"/>
                  <a:pt x="0" y="54"/>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52" name="Text Box 1052"/>
          <p:cNvSpPr txBox="1">
            <a:spLocks noChangeArrowheads="1"/>
          </p:cNvSpPr>
          <p:nvPr/>
        </p:nvSpPr>
        <p:spPr bwMode="auto">
          <a:xfrm>
            <a:off x="4876800" y="5638800"/>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1</a:t>
            </a:r>
          </a:p>
        </p:txBody>
      </p:sp>
      <p:sp>
        <p:nvSpPr>
          <p:cNvPr id="52253" name="Freeform 1053"/>
          <p:cNvSpPr>
            <a:spLocks noChangeArrowheads="1"/>
          </p:cNvSpPr>
          <p:nvPr/>
        </p:nvSpPr>
        <p:spPr bwMode="auto">
          <a:xfrm>
            <a:off x="4572000" y="4953000"/>
            <a:ext cx="2362200" cy="609600"/>
          </a:xfrm>
          <a:custGeom>
            <a:avLst/>
            <a:gdLst>
              <a:gd name="T0" fmla="*/ 2147483646 w 1488"/>
              <a:gd name="T1" fmla="*/ 2147483646 h 384"/>
              <a:gd name="T2" fmla="*/ 2147483646 w 1488"/>
              <a:gd name="T3" fmla="*/ 2147483646 h 384"/>
              <a:gd name="T4" fmla="*/ 2147483646 w 1488"/>
              <a:gd name="T5" fmla="*/ 2147483646 h 384"/>
              <a:gd name="T6" fmla="*/ 0 w 1488"/>
              <a:gd name="T7" fmla="*/ 2147483646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8" h="384">
                <a:moveTo>
                  <a:pt x="1488" y="384"/>
                </a:moveTo>
                <a:cubicBezTo>
                  <a:pt x="1404" y="240"/>
                  <a:pt x="1320" y="96"/>
                  <a:pt x="1152" y="48"/>
                </a:cubicBezTo>
                <a:cubicBezTo>
                  <a:pt x="984" y="0"/>
                  <a:pt x="672" y="40"/>
                  <a:pt x="480" y="96"/>
                </a:cubicBezTo>
                <a:cubicBezTo>
                  <a:pt x="288" y="152"/>
                  <a:pt x="80" y="336"/>
                  <a:pt x="0" y="384"/>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254" name="Text Box 1054"/>
          <p:cNvSpPr txBox="1">
            <a:spLocks noChangeArrowheads="1"/>
          </p:cNvSpPr>
          <p:nvPr/>
        </p:nvSpPr>
        <p:spPr bwMode="auto">
          <a:xfrm>
            <a:off x="5943600" y="4953000"/>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2</a:t>
            </a:r>
          </a:p>
        </p:txBody>
      </p:sp>
      <p:sp>
        <p:nvSpPr>
          <p:cNvPr id="52255" name="Line 1055"/>
          <p:cNvSpPr>
            <a:spLocks noChangeShapeType="1"/>
          </p:cNvSpPr>
          <p:nvPr/>
        </p:nvSpPr>
        <p:spPr bwMode="auto">
          <a:xfrm>
            <a:off x="4572000" y="5638800"/>
            <a:ext cx="1143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6" name="Text Box 1056"/>
          <p:cNvSpPr txBox="1">
            <a:spLocks noChangeArrowheads="1"/>
          </p:cNvSpPr>
          <p:nvPr/>
        </p:nvSpPr>
        <p:spPr bwMode="auto">
          <a:xfrm>
            <a:off x="4953000" y="53340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2</a:t>
            </a:r>
          </a:p>
        </p:txBody>
      </p:sp>
      <p:sp>
        <p:nvSpPr>
          <p:cNvPr id="52257" name="Line 1057"/>
          <p:cNvSpPr>
            <a:spLocks noChangeShapeType="1"/>
          </p:cNvSpPr>
          <p:nvPr/>
        </p:nvSpPr>
        <p:spPr bwMode="auto">
          <a:xfrm>
            <a:off x="5867400" y="5638800"/>
            <a:ext cx="990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58" name="Text Box 1058"/>
          <p:cNvSpPr txBox="1">
            <a:spLocks noChangeArrowheads="1"/>
          </p:cNvSpPr>
          <p:nvPr/>
        </p:nvSpPr>
        <p:spPr bwMode="auto">
          <a:xfrm>
            <a:off x="6172200" y="53340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3</a:t>
            </a:r>
          </a:p>
        </p:txBody>
      </p:sp>
      <p:sp>
        <p:nvSpPr>
          <p:cNvPr id="136227" name="Text Box 1059"/>
          <p:cNvSpPr txBox="1">
            <a:spLocks noChangeArrowheads="1"/>
          </p:cNvSpPr>
          <p:nvPr/>
        </p:nvSpPr>
        <p:spPr bwMode="auto">
          <a:xfrm>
            <a:off x="468313" y="1773238"/>
            <a:ext cx="2727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2. </a:t>
            </a:r>
            <a:r>
              <a:rPr lang="zh-CN" altLang="en-US" sz="2400"/>
              <a:t>输出</a:t>
            </a:r>
            <a:r>
              <a:rPr lang="en-US" altLang="zh-CN" sz="2400"/>
              <a:t>(</a:t>
            </a:r>
            <a:r>
              <a:rPr lang="zh-CN" altLang="en-US" sz="2400"/>
              <a:t>阱</a:t>
            </a:r>
            <a:r>
              <a:rPr lang="en-US" altLang="zh-CN" sz="2400"/>
              <a:t>)</a:t>
            </a:r>
            <a:r>
              <a:rPr lang="zh-CN" altLang="en-US" sz="2400"/>
              <a:t>节点：</a:t>
            </a:r>
            <a:endParaRPr lang="en-US" altLang="zh-CN" sz="2400"/>
          </a:p>
        </p:txBody>
      </p:sp>
      <p:sp>
        <p:nvSpPr>
          <p:cNvPr id="136228" name="Text Box 1060"/>
          <p:cNvSpPr txBox="1">
            <a:spLocks noChangeArrowheads="1"/>
          </p:cNvSpPr>
          <p:nvPr/>
        </p:nvSpPr>
        <p:spPr bwMode="auto">
          <a:xfrm>
            <a:off x="3059113" y="1773238"/>
            <a:ext cx="4494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只有输入没有输出支路的节点。</a:t>
            </a:r>
          </a:p>
        </p:txBody>
      </p:sp>
      <p:sp>
        <p:nvSpPr>
          <p:cNvPr id="52261" name="Line 1061"/>
          <p:cNvSpPr>
            <a:spLocks noChangeShapeType="1"/>
          </p:cNvSpPr>
          <p:nvPr/>
        </p:nvSpPr>
        <p:spPr bwMode="auto">
          <a:xfrm>
            <a:off x="7010400" y="56388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62" name="Text Box 1062"/>
          <p:cNvSpPr txBox="1">
            <a:spLocks noChangeArrowheads="1"/>
          </p:cNvSpPr>
          <p:nvPr/>
        </p:nvSpPr>
        <p:spPr bwMode="auto">
          <a:xfrm>
            <a:off x="7756525" y="5272088"/>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c</a:t>
            </a:r>
          </a:p>
        </p:txBody>
      </p:sp>
      <p:sp>
        <p:nvSpPr>
          <p:cNvPr id="136231" name="Text Box 1063"/>
          <p:cNvSpPr txBox="1">
            <a:spLocks noChangeArrowheads="1"/>
          </p:cNvSpPr>
          <p:nvPr/>
        </p:nvSpPr>
        <p:spPr bwMode="auto">
          <a:xfrm>
            <a:off x="468313" y="2205038"/>
            <a:ext cx="3371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3. </a:t>
            </a:r>
            <a:r>
              <a:rPr lang="zh-CN" altLang="en-US" sz="2400"/>
              <a:t>中间节点：混合节点</a:t>
            </a:r>
          </a:p>
        </p:txBody>
      </p:sp>
      <p:sp>
        <p:nvSpPr>
          <p:cNvPr id="136232" name="Text Box 1064"/>
          <p:cNvSpPr txBox="1">
            <a:spLocks noChangeArrowheads="1"/>
          </p:cNvSpPr>
          <p:nvPr/>
        </p:nvSpPr>
        <p:spPr bwMode="auto">
          <a:xfrm>
            <a:off x="468313" y="3068638"/>
            <a:ext cx="2139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5. </a:t>
            </a:r>
            <a:r>
              <a:rPr lang="zh-CN" altLang="en-US" sz="2400"/>
              <a:t>前向通路：</a:t>
            </a:r>
          </a:p>
        </p:txBody>
      </p:sp>
      <p:sp>
        <p:nvSpPr>
          <p:cNvPr id="136233" name="Text Box 1065"/>
          <p:cNvSpPr txBox="1">
            <a:spLocks noChangeArrowheads="1"/>
          </p:cNvSpPr>
          <p:nvPr/>
        </p:nvSpPr>
        <p:spPr bwMode="auto">
          <a:xfrm>
            <a:off x="2339975" y="2997200"/>
            <a:ext cx="63404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从源节点出发，经过混合节点（一次）到达阱</a:t>
            </a:r>
          </a:p>
          <a:p>
            <a:pPr eaLnBrk="1" hangingPunct="1"/>
            <a:r>
              <a:rPr lang="zh-CN" altLang="en-US" sz="2400"/>
              <a:t>节点的通路。如</a:t>
            </a:r>
            <a:r>
              <a:rPr lang="en-US" altLang="zh-CN" sz="2400"/>
              <a:t>R-x-y-z-m-c.</a:t>
            </a:r>
          </a:p>
        </p:txBody>
      </p:sp>
      <p:sp>
        <p:nvSpPr>
          <p:cNvPr id="136234" name="Text Box 1066"/>
          <p:cNvSpPr txBox="1">
            <a:spLocks noChangeArrowheads="1"/>
          </p:cNvSpPr>
          <p:nvPr/>
        </p:nvSpPr>
        <p:spPr bwMode="auto">
          <a:xfrm>
            <a:off x="539750" y="3716338"/>
            <a:ext cx="1524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6. </a:t>
            </a:r>
            <a:r>
              <a:rPr lang="zh-CN" altLang="en-US" sz="2400"/>
              <a:t>回路：</a:t>
            </a:r>
          </a:p>
        </p:txBody>
      </p:sp>
      <p:sp>
        <p:nvSpPr>
          <p:cNvPr id="136235" name="Text Box 1067"/>
          <p:cNvSpPr txBox="1">
            <a:spLocks noChangeArrowheads="1"/>
          </p:cNvSpPr>
          <p:nvPr/>
        </p:nvSpPr>
        <p:spPr bwMode="auto">
          <a:xfrm>
            <a:off x="468313" y="2636838"/>
            <a:ext cx="16335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4.  </a:t>
            </a:r>
            <a:r>
              <a:rPr lang="zh-CN" altLang="en-US" sz="2400"/>
              <a:t>通路：</a:t>
            </a:r>
          </a:p>
        </p:txBody>
      </p:sp>
      <p:sp>
        <p:nvSpPr>
          <p:cNvPr id="136236" name="Text Box 1068"/>
          <p:cNvSpPr txBox="1">
            <a:spLocks noChangeArrowheads="1"/>
          </p:cNvSpPr>
          <p:nvPr/>
        </p:nvSpPr>
        <p:spPr bwMode="auto">
          <a:xfrm>
            <a:off x="1979613" y="2636838"/>
            <a:ext cx="5724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沿支路箭头方向穿过各相连支路的途径。</a:t>
            </a:r>
          </a:p>
        </p:txBody>
      </p:sp>
      <p:sp>
        <p:nvSpPr>
          <p:cNvPr id="136237" name="Text Box 1069"/>
          <p:cNvSpPr txBox="1">
            <a:spLocks noChangeArrowheads="1"/>
          </p:cNvSpPr>
          <p:nvPr/>
        </p:nvSpPr>
        <p:spPr bwMode="auto">
          <a:xfrm>
            <a:off x="1908175" y="3716338"/>
            <a:ext cx="6646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如果通路的起点就是终点，经过其它节点一次。</a:t>
            </a:r>
          </a:p>
        </p:txBody>
      </p:sp>
      <p:sp>
        <p:nvSpPr>
          <p:cNvPr id="136238" name="Text Box 1070"/>
          <p:cNvSpPr txBox="1">
            <a:spLocks noChangeArrowheads="1"/>
          </p:cNvSpPr>
          <p:nvPr/>
        </p:nvSpPr>
        <p:spPr bwMode="auto">
          <a:xfrm>
            <a:off x="468313" y="4221163"/>
            <a:ext cx="2447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7. </a:t>
            </a:r>
            <a:r>
              <a:rPr lang="zh-CN" altLang="en-US" sz="2400"/>
              <a:t>不接触回路：</a:t>
            </a:r>
          </a:p>
        </p:txBody>
      </p:sp>
      <p:sp>
        <p:nvSpPr>
          <p:cNvPr id="136239" name="Text Box 1071"/>
          <p:cNvSpPr txBox="1">
            <a:spLocks noChangeArrowheads="1"/>
          </p:cNvSpPr>
          <p:nvPr/>
        </p:nvSpPr>
        <p:spPr bwMode="auto">
          <a:xfrm>
            <a:off x="2843213" y="4221163"/>
            <a:ext cx="2955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两回路无公共节点。</a:t>
            </a:r>
          </a:p>
        </p:txBody>
      </p:sp>
    </p:spTree>
    <p:extLst>
      <p:ext uri="{BB962C8B-B14F-4D97-AF65-F5344CB8AC3E}">
        <p14:creationId xmlns:p14="http://schemas.microsoft.com/office/powerpoint/2010/main" val="27919184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2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2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2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2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2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2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2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2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2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2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24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2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24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2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2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22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25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22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25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22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225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22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225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225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2258"/>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52261"/>
                                        </p:tgtEl>
                                        <p:attrNameLst>
                                          <p:attrName>style.visibility</p:attrName>
                                        </p:attrNameLst>
                                      </p:cBhvr>
                                      <p:to>
                                        <p:strVal val="visible"/>
                                      </p:to>
                                    </p:set>
                                    <p:animEffect transition="in" filter="blinds(horizontal)">
                                      <p:cBhvr>
                                        <p:cTn id="69" dur="500"/>
                                        <p:tgtEl>
                                          <p:spTgt spid="52261"/>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52262"/>
                                        </p:tgtEl>
                                        <p:attrNameLst>
                                          <p:attrName>style.visibility</p:attrName>
                                        </p:attrNameLst>
                                      </p:cBhvr>
                                      <p:to>
                                        <p:strVal val="visible"/>
                                      </p:to>
                                    </p:set>
                                    <p:animEffect transition="in" filter="blinds(horizontal)">
                                      <p:cBhvr>
                                        <p:cTn id="72" dur="500"/>
                                        <p:tgtEl>
                                          <p:spTgt spid="52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ldLvl="0" animBg="1"/>
      <p:bldP spid="52230" grpId="0"/>
      <p:bldP spid="52231" grpId="0" bldLvl="0" animBg="1"/>
      <p:bldP spid="52232" grpId="0"/>
      <p:bldP spid="52233" grpId="0" bldLvl="0" animBg="1"/>
      <p:bldP spid="52234" grpId="0"/>
      <p:bldP spid="52235" grpId="0" bldLvl="0" animBg="1"/>
      <p:bldP spid="52236" grpId="0"/>
      <p:bldP spid="52237" grpId="0" bldLvl="0" animBg="1"/>
      <p:bldP spid="52238" grpId="0"/>
      <p:bldP spid="52239" grpId="0" bldLvl="0" animBg="1"/>
      <p:bldP spid="52240" grpId="0"/>
      <p:bldP spid="52242" grpId="0"/>
      <p:bldP spid="52244" grpId="0"/>
      <p:bldP spid="52246" grpId="0"/>
      <p:bldP spid="52248" grpId="0"/>
      <p:bldP spid="52250" grpId="0"/>
      <p:bldP spid="52252" grpId="0"/>
      <p:bldP spid="52254" grpId="0"/>
      <p:bldP spid="52256" grpId="0"/>
      <p:bldP spid="52258" grpId="0"/>
      <p:bldP spid="522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2"/>
          <p:cNvSpPr txBox="1">
            <a:spLocks noChangeArrowheads="1"/>
          </p:cNvSpPr>
          <p:nvPr/>
        </p:nvSpPr>
        <p:spPr bwMode="auto">
          <a:xfrm>
            <a:off x="250825" y="188913"/>
            <a:ext cx="26289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2800" b="1"/>
              <a:t>   梅逊公式：</a:t>
            </a:r>
          </a:p>
        </p:txBody>
      </p:sp>
      <p:sp>
        <p:nvSpPr>
          <p:cNvPr id="53251" name="Text Box 3"/>
          <p:cNvSpPr txBox="1">
            <a:spLocks noChangeArrowheads="1"/>
          </p:cNvSpPr>
          <p:nvPr/>
        </p:nvSpPr>
        <p:spPr bwMode="auto">
          <a:xfrm>
            <a:off x="468313" y="765175"/>
            <a:ext cx="38766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输入、输出节点间的总增益</a:t>
            </a:r>
          </a:p>
          <a:p>
            <a:pPr eaLnBrk="1" hangingPunct="1"/>
            <a:r>
              <a:rPr lang="zh-CN" altLang="en-US" sz="2400"/>
              <a:t>（传递函数）为：</a:t>
            </a:r>
          </a:p>
        </p:txBody>
      </p:sp>
      <p:graphicFrame>
        <p:nvGraphicFramePr>
          <p:cNvPr id="53252" name="Object 2"/>
          <p:cNvGraphicFramePr>
            <a:graphicFrameLocks noChangeAspect="1"/>
          </p:cNvGraphicFramePr>
          <p:nvPr/>
        </p:nvGraphicFramePr>
        <p:xfrm>
          <a:off x="1476375" y="1557338"/>
          <a:ext cx="1828800" cy="714375"/>
        </p:xfrm>
        <a:graphic>
          <a:graphicData uri="http://schemas.openxmlformats.org/presentationml/2006/ole">
            <mc:AlternateContent xmlns:mc="http://schemas.openxmlformats.org/markup-compatibility/2006">
              <mc:Choice xmlns:v="urn:schemas-microsoft-com:vml" Requires="v">
                <p:oleObj r:id="rId2" imgW="1104900" imgH="431800" progId="Equation.3">
                  <p:embed/>
                </p:oleObj>
              </mc:Choice>
              <mc:Fallback>
                <p:oleObj r:id="rId2" imgW="1104900" imgH="431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557338"/>
                        <a:ext cx="18288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3" name="Text Box 5"/>
          <p:cNvSpPr txBox="1">
            <a:spLocks noChangeArrowheads="1"/>
          </p:cNvSpPr>
          <p:nvPr/>
        </p:nvSpPr>
        <p:spPr bwMode="auto">
          <a:xfrm>
            <a:off x="914400" y="2286000"/>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式中：</a:t>
            </a:r>
          </a:p>
        </p:txBody>
      </p:sp>
      <p:graphicFrame>
        <p:nvGraphicFramePr>
          <p:cNvPr id="53254" name="Object 3"/>
          <p:cNvGraphicFramePr>
            <a:graphicFrameLocks noChangeAspect="1"/>
          </p:cNvGraphicFramePr>
          <p:nvPr/>
        </p:nvGraphicFramePr>
        <p:xfrm>
          <a:off x="903288" y="3076575"/>
          <a:ext cx="261937" cy="311150"/>
        </p:xfrm>
        <a:graphic>
          <a:graphicData uri="http://schemas.openxmlformats.org/presentationml/2006/ole">
            <mc:AlternateContent xmlns:mc="http://schemas.openxmlformats.org/markup-compatibility/2006">
              <mc:Choice xmlns:v="urn:schemas-microsoft-com:vml" Requires="v">
                <p:oleObj r:id="rId4" imgW="139579" imgH="164957" progId="Equation.3">
                  <p:embed/>
                </p:oleObj>
              </mc:Choice>
              <mc:Fallback>
                <p:oleObj r:id="rId4" imgW="139579" imgH="16495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288" y="3076575"/>
                        <a:ext cx="261937"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5" name="Text Box 7"/>
          <p:cNvSpPr txBox="1">
            <a:spLocks noChangeArrowheads="1"/>
          </p:cNvSpPr>
          <p:nvPr/>
        </p:nvSpPr>
        <p:spPr bwMode="auto">
          <a:xfrm>
            <a:off x="1116013" y="2997200"/>
            <a:ext cx="3262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－－信号流图的特征式</a:t>
            </a:r>
          </a:p>
        </p:txBody>
      </p:sp>
      <p:graphicFrame>
        <p:nvGraphicFramePr>
          <p:cNvPr id="53256" name="Object 4"/>
          <p:cNvGraphicFramePr>
            <a:graphicFrameLocks noChangeAspect="1"/>
          </p:cNvGraphicFramePr>
          <p:nvPr/>
        </p:nvGraphicFramePr>
        <p:xfrm>
          <a:off x="4500563" y="2997200"/>
          <a:ext cx="4191000" cy="611188"/>
        </p:xfrm>
        <a:graphic>
          <a:graphicData uri="http://schemas.openxmlformats.org/presentationml/2006/ole">
            <mc:AlternateContent xmlns:mc="http://schemas.openxmlformats.org/markup-compatibility/2006">
              <mc:Choice xmlns:v="urn:schemas-microsoft-com:vml" Requires="v">
                <p:oleObj r:id="rId6" imgW="2438400" imgH="355600" progId="Equation.3">
                  <p:embed/>
                </p:oleObj>
              </mc:Choice>
              <mc:Fallback>
                <p:oleObj r:id="rId6" imgW="2438400" imgH="355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2997200"/>
                        <a:ext cx="41910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3257" name="Object 5"/>
          <p:cNvGraphicFramePr>
            <a:graphicFrameLocks noChangeAspect="1"/>
          </p:cNvGraphicFramePr>
          <p:nvPr/>
        </p:nvGraphicFramePr>
        <p:xfrm>
          <a:off x="1006475" y="3668713"/>
          <a:ext cx="609600" cy="547687"/>
        </p:xfrm>
        <a:graphic>
          <a:graphicData uri="http://schemas.openxmlformats.org/presentationml/2006/ole">
            <mc:AlternateContent xmlns:mc="http://schemas.openxmlformats.org/markup-compatibility/2006">
              <mc:Choice xmlns:v="urn:schemas-microsoft-com:vml" Requires="v">
                <p:oleObj r:id="rId8" imgW="380835" imgH="342751" progId="Equation.3">
                  <p:embed/>
                </p:oleObj>
              </mc:Choice>
              <mc:Fallback>
                <p:oleObj r:id="rId8" imgW="380835" imgH="342751"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6475" y="3668713"/>
                        <a:ext cx="609600"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8" name="Text Box 10"/>
          <p:cNvSpPr txBox="1">
            <a:spLocks noChangeArrowheads="1"/>
          </p:cNvSpPr>
          <p:nvPr/>
        </p:nvSpPr>
        <p:spPr bwMode="auto">
          <a:xfrm>
            <a:off x="1692275" y="3644900"/>
            <a:ext cx="3876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－－所有单独回路增益之和</a:t>
            </a:r>
          </a:p>
        </p:txBody>
      </p:sp>
      <p:graphicFrame>
        <p:nvGraphicFramePr>
          <p:cNvPr id="53259" name="Object 6"/>
          <p:cNvGraphicFramePr>
            <a:graphicFrameLocks noChangeAspect="1"/>
          </p:cNvGraphicFramePr>
          <p:nvPr/>
        </p:nvGraphicFramePr>
        <p:xfrm>
          <a:off x="930275" y="4270375"/>
          <a:ext cx="838200" cy="565150"/>
        </p:xfrm>
        <a:graphic>
          <a:graphicData uri="http://schemas.openxmlformats.org/presentationml/2006/ole">
            <mc:AlternateContent xmlns:mc="http://schemas.openxmlformats.org/markup-compatibility/2006">
              <mc:Choice xmlns:v="urn:schemas-microsoft-com:vml" Requires="v">
                <p:oleObj r:id="rId10" imgW="507780" imgH="342751" progId="Equation.3">
                  <p:embed/>
                </p:oleObj>
              </mc:Choice>
              <mc:Fallback>
                <p:oleObj r:id="rId10" imgW="507780" imgH="34275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0275" y="4270375"/>
                        <a:ext cx="8382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60" name="Text Box 12"/>
          <p:cNvSpPr txBox="1">
            <a:spLocks noChangeArrowheads="1"/>
          </p:cNvSpPr>
          <p:nvPr/>
        </p:nvSpPr>
        <p:spPr bwMode="auto">
          <a:xfrm>
            <a:off x="1752600" y="4267200"/>
            <a:ext cx="541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－－所有</a:t>
            </a:r>
            <a:r>
              <a:rPr lang="zh-CN" altLang="en-US" sz="2400">
                <a:solidFill>
                  <a:srgbClr val="F90309"/>
                </a:solidFill>
              </a:rPr>
              <a:t>两两不接触</a:t>
            </a:r>
            <a:r>
              <a:rPr lang="zh-CN" altLang="en-US" sz="2400"/>
              <a:t>回路增益</a:t>
            </a:r>
            <a:r>
              <a:rPr lang="zh-CN" altLang="en-US" sz="2400">
                <a:solidFill>
                  <a:srgbClr val="F90309"/>
                </a:solidFill>
              </a:rPr>
              <a:t>乘积</a:t>
            </a:r>
            <a:r>
              <a:rPr lang="zh-CN" altLang="en-US" sz="2400"/>
              <a:t>之和</a:t>
            </a:r>
          </a:p>
        </p:txBody>
      </p:sp>
      <p:graphicFrame>
        <p:nvGraphicFramePr>
          <p:cNvPr id="53261" name="Object 7"/>
          <p:cNvGraphicFramePr>
            <a:graphicFrameLocks noChangeAspect="1"/>
          </p:cNvGraphicFramePr>
          <p:nvPr/>
        </p:nvGraphicFramePr>
        <p:xfrm>
          <a:off x="854075" y="4956175"/>
          <a:ext cx="1098550" cy="581025"/>
        </p:xfrm>
        <a:graphic>
          <a:graphicData uri="http://schemas.openxmlformats.org/presentationml/2006/ole">
            <mc:AlternateContent xmlns:mc="http://schemas.openxmlformats.org/markup-compatibility/2006">
              <mc:Choice xmlns:v="urn:schemas-microsoft-com:vml" Requires="v">
                <p:oleObj r:id="rId12" imgW="672808" imgH="355446" progId="Equation.3">
                  <p:embed/>
                </p:oleObj>
              </mc:Choice>
              <mc:Fallback>
                <p:oleObj r:id="rId12" imgW="672808" imgH="355446"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4075" y="4956175"/>
                        <a:ext cx="10985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62" name="Text Box 14"/>
          <p:cNvSpPr txBox="1">
            <a:spLocks noChangeArrowheads="1"/>
          </p:cNvSpPr>
          <p:nvPr/>
        </p:nvSpPr>
        <p:spPr bwMode="auto">
          <a:xfrm>
            <a:off x="1905000" y="4953000"/>
            <a:ext cx="541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－－所有</a:t>
            </a:r>
            <a:r>
              <a:rPr lang="zh-CN" altLang="en-US" sz="2400">
                <a:solidFill>
                  <a:srgbClr val="F90309"/>
                </a:solidFill>
              </a:rPr>
              <a:t>三个不接触</a:t>
            </a:r>
            <a:r>
              <a:rPr lang="zh-CN" altLang="en-US" sz="2400"/>
              <a:t>回路增益</a:t>
            </a:r>
            <a:r>
              <a:rPr lang="zh-CN" altLang="en-US" sz="2400">
                <a:solidFill>
                  <a:srgbClr val="F90309"/>
                </a:solidFill>
              </a:rPr>
              <a:t>乘积</a:t>
            </a:r>
            <a:r>
              <a:rPr lang="zh-CN" altLang="en-US" sz="2400"/>
              <a:t>之和</a:t>
            </a:r>
          </a:p>
        </p:txBody>
      </p:sp>
      <p:sp>
        <p:nvSpPr>
          <p:cNvPr id="53263" name="Text Box 15"/>
          <p:cNvSpPr txBox="1">
            <a:spLocks noChangeArrowheads="1"/>
          </p:cNvSpPr>
          <p:nvPr/>
        </p:nvSpPr>
        <p:spPr bwMode="auto">
          <a:xfrm>
            <a:off x="1763713" y="2349500"/>
            <a:ext cx="2535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t>n</a:t>
            </a:r>
            <a:r>
              <a:rPr lang="zh-CN" altLang="en-US" sz="2400"/>
              <a:t>－－前向通路数</a:t>
            </a:r>
          </a:p>
        </p:txBody>
      </p:sp>
      <p:graphicFrame>
        <p:nvGraphicFramePr>
          <p:cNvPr id="53264" name="Object 8"/>
          <p:cNvGraphicFramePr>
            <a:graphicFrameLocks noChangeAspect="1"/>
          </p:cNvGraphicFramePr>
          <p:nvPr/>
        </p:nvGraphicFramePr>
        <p:xfrm>
          <a:off x="677863" y="5549900"/>
          <a:ext cx="296862" cy="381000"/>
        </p:xfrm>
        <a:graphic>
          <a:graphicData uri="http://schemas.openxmlformats.org/presentationml/2006/ole">
            <mc:AlternateContent xmlns:mc="http://schemas.openxmlformats.org/markup-compatibility/2006">
              <mc:Choice xmlns:v="urn:schemas-microsoft-com:vml" Requires="v">
                <p:oleObj r:id="rId14" imgW="177646" imgH="228402" progId="Equation.3">
                  <p:embed/>
                </p:oleObj>
              </mc:Choice>
              <mc:Fallback>
                <p:oleObj r:id="rId14" imgW="177646" imgH="22840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7863" y="5549900"/>
                        <a:ext cx="2968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65" name="Text Box 17"/>
          <p:cNvSpPr txBox="1">
            <a:spLocks noChangeArrowheads="1"/>
          </p:cNvSpPr>
          <p:nvPr/>
        </p:nvSpPr>
        <p:spPr bwMode="auto">
          <a:xfrm>
            <a:off x="1042988" y="5564188"/>
            <a:ext cx="3752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－－第</a:t>
            </a:r>
            <a:r>
              <a:rPr lang="en-US" altLang="zh-CN" sz="2400"/>
              <a:t>k</a:t>
            </a:r>
            <a:r>
              <a:rPr lang="zh-CN" altLang="en-US" sz="2400"/>
              <a:t>条前向通路的增益</a:t>
            </a:r>
          </a:p>
        </p:txBody>
      </p:sp>
      <p:graphicFrame>
        <p:nvGraphicFramePr>
          <p:cNvPr id="53266" name="Object 9"/>
          <p:cNvGraphicFramePr>
            <a:graphicFrameLocks noChangeAspect="1"/>
          </p:cNvGraphicFramePr>
          <p:nvPr/>
        </p:nvGraphicFramePr>
        <p:xfrm>
          <a:off x="677863" y="6083300"/>
          <a:ext cx="338137" cy="381000"/>
        </p:xfrm>
        <a:graphic>
          <a:graphicData uri="http://schemas.openxmlformats.org/presentationml/2006/ole">
            <mc:AlternateContent xmlns:mc="http://schemas.openxmlformats.org/markup-compatibility/2006">
              <mc:Choice xmlns:v="urn:schemas-microsoft-com:vml" Requires="v">
                <p:oleObj r:id="rId16" imgW="203112" imgH="228501" progId="Equation.3">
                  <p:embed/>
                </p:oleObj>
              </mc:Choice>
              <mc:Fallback>
                <p:oleObj r:id="rId16" imgW="203112" imgH="228501"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7863" y="6083300"/>
                        <a:ext cx="3381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67" name="Text Box 19"/>
          <p:cNvSpPr txBox="1">
            <a:spLocks noChangeArrowheads="1"/>
          </p:cNvSpPr>
          <p:nvPr/>
        </p:nvSpPr>
        <p:spPr bwMode="auto">
          <a:xfrm>
            <a:off x="1042988" y="6021388"/>
            <a:ext cx="82788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－－在</a:t>
            </a:r>
            <a:r>
              <a:rPr lang="en-US" altLang="zh-CN" sz="2400"/>
              <a:t>Δ</a:t>
            </a:r>
            <a:r>
              <a:rPr lang="zh-CN" altLang="en-US" sz="2400"/>
              <a:t>中除去与第</a:t>
            </a:r>
            <a:r>
              <a:rPr lang="en-US" altLang="zh-CN" sz="2400"/>
              <a:t>k</a:t>
            </a:r>
            <a:r>
              <a:rPr lang="zh-CN" altLang="en-US" sz="2400"/>
              <a:t>条前向通路相接触的回路后的特征式。</a:t>
            </a:r>
          </a:p>
        </p:txBody>
      </p:sp>
      <p:pic>
        <p:nvPicPr>
          <p:cNvPr id="137236" name="图片 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43400" y="692150"/>
            <a:ext cx="4470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5347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blinds(horizontal)">
                                      <p:cBhvr>
                                        <p:cTn id="7" dur="500"/>
                                        <p:tgtEl>
                                          <p:spTgt spid="532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325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325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3263"/>
                                        </p:tgtEl>
                                        <p:attrNameLst>
                                          <p:attrName>style.visibility</p:attrName>
                                        </p:attrNameLst>
                                      </p:cBhvr>
                                      <p:to>
                                        <p:strVal val="visible"/>
                                      </p:to>
                                    </p:set>
                                    <p:animEffect transition="in" filter="blinds(horizontal)">
                                      <p:cBhvr>
                                        <p:cTn id="20" dur="500"/>
                                        <p:tgtEl>
                                          <p:spTgt spid="5326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53264"/>
                                        </p:tgtEl>
                                        <p:attrNameLst>
                                          <p:attrName>style.visibility</p:attrName>
                                        </p:attrNameLst>
                                      </p:cBhvr>
                                      <p:to>
                                        <p:strVal val="visible"/>
                                      </p:to>
                                    </p:set>
                                    <p:animEffect transition="in" filter="blinds(horizontal)">
                                      <p:cBhvr>
                                        <p:cTn id="25" dur="500"/>
                                        <p:tgtEl>
                                          <p:spTgt spid="5326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3265"/>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5325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53255"/>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nodeType="clickEffect">
                                  <p:stCondLst>
                                    <p:cond delay="0"/>
                                  </p:stCondLst>
                                  <p:childTnLst>
                                    <p:set>
                                      <p:cBhvr>
                                        <p:cTn id="39" dur="1" fill="hold">
                                          <p:stCondLst>
                                            <p:cond delay="0"/>
                                          </p:stCondLst>
                                        </p:cTn>
                                        <p:tgtEl>
                                          <p:spTgt spid="53256"/>
                                        </p:tgtEl>
                                        <p:attrNameLst>
                                          <p:attrName>style.visibility</p:attrName>
                                        </p:attrNameLst>
                                      </p:cBhvr>
                                      <p:to>
                                        <p:strVal val="visible"/>
                                      </p:to>
                                    </p:set>
                                    <p:anim calcmode="lin" valueType="num">
                                      <p:cBhvr>
                                        <p:cTn id="40" dur="500" fill="hold"/>
                                        <p:tgtEl>
                                          <p:spTgt spid="53256"/>
                                        </p:tgtEl>
                                        <p:attrNameLst>
                                          <p:attrName>ppt_w</p:attrName>
                                        </p:attrNameLst>
                                      </p:cBhvr>
                                      <p:tavLst>
                                        <p:tav tm="0">
                                          <p:val>
                                            <p:fltVal val="0"/>
                                          </p:val>
                                        </p:tav>
                                        <p:tav tm="100000">
                                          <p:val>
                                            <p:strVal val="#ppt_w"/>
                                          </p:val>
                                        </p:tav>
                                      </p:tavLst>
                                    </p:anim>
                                    <p:anim calcmode="lin" valueType="num">
                                      <p:cBhvr>
                                        <p:cTn id="41" dur="500" fill="hold"/>
                                        <p:tgtEl>
                                          <p:spTgt spid="53256"/>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53257"/>
                                        </p:tgtEl>
                                        <p:attrNameLst>
                                          <p:attrName>style.visibility</p:attrName>
                                        </p:attrNameLst>
                                      </p:cBhvr>
                                      <p:to>
                                        <p:strVal val="visible"/>
                                      </p:to>
                                    </p:set>
                                    <p:animEffect transition="in" filter="blinds(horizontal)">
                                      <p:cBhvr>
                                        <p:cTn id="46" dur="500"/>
                                        <p:tgtEl>
                                          <p:spTgt spid="5325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325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53259"/>
                                        </p:tgtEl>
                                        <p:attrNameLst>
                                          <p:attrName>style.visibility</p:attrName>
                                        </p:attrNameLst>
                                      </p:cBhvr>
                                      <p:to>
                                        <p:strVal val="visible"/>
                                      </p:to>
                                    </p:set>
                                    <p:animEffect transition="in" filter="blinds(horizontal)">
                                      <p:cBhvr>
                                        <p:cTn id="55" dur="500"/>
                                        <p:tgtEl>
                                          <p:spTgt spid="5325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53260"/>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53261"/>
                                        </p:tgtEl>
                                        <p:attrNameLst>
                                          <p:attrName>style.visibility</p:attrName>
                                        </p:attrNameLst>
                                      </p:cBhvr>
                                      <p:to>
                                        <p:strVal val="visible"/>
                                      </p:to>
                                    </p:set>
                                    <p:animEffect transition="in" filter="blinds(horizontal)">
                                      <p:cBhvr>
                                        <p:cTn id="64" dur="500"/>
                                        <p:tgtEl>
                                          <p:spTgt spid="5326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3262"/>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53266"/>
                                        </p:tgtEl>
                                        <p:attrNameLst>
                                          <p:attrName>style.visibility</p:attrName>
                                        </p:attrNameLst>
                                      </p:cBhvr>
                                      <p:to>
                                        <p:strVal val="visible"/>
                                      </p:to>
                                    </p:set>
                                    <p:animEffect transition="in" filter="blinds(horizontal)">
                                      <p:cBhvr>
                                        <p:cTn id="73" dur="500"/>
                                        <p:tgtEl>
                                          <p:spTgt spid="5326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3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p:bldP spid="53253" grpId="0"/>
      <p:bldP spid="53255" grpId="0"/>
      <p:bldP spid="53258" grpId="0"/>
      <p:bldP spid="53260" grpId="0"/>
      <p:bldP spid="53262" grpId="0"/>
      <p:bldP spid="53263" grpId="0"/>
      <p:bldP spid="53265" grpId="0"/>
      <p:bldP spid="5326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a:spLocks noChangeArrowheads="1"/>
          </p:cNvSpPr>
          <p:nvPr/>
        </p:nvSpPr>
        <p:spPr bwMode="auto">
          <a:xfrm>
            <a:off x="365125" y="776288"/>
            <a:ext cx="442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000" b="1"/>
              <a:t>例</a:t>
            </a:r>
            <a:endParaRPr lang="en-US" altLang="zh-CN" sz="2000" b="1"/>
          </a:p>
        </p:txBody>
      </p:sp>
      <p:sp>
        <p:nvSpPr>
          <p:cNvPr id="138243" name="Oval 3"/>
          <p:cNvSpPr>
            <a:spLocks noChangeArrowheads="1"/>
          </p:cNvSpPr>
          <p:nvPr/>
        </p:nvSpPr>
        <p:spPr bwMode="auto">
          <a:xfrm>
            <a:off x="1447800" y="9144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8244" name="Text Box 4"/>
          <p:cNvSpPr txBox="1">
            <a:spLocks noChangeArrowheads="1"/>
          </p:cNvSpPr>
          <p:nvPr/>
        </p:nvSpPr>
        <p:spPr bwMode="auto">
          <a:xfrm>
            <a:off x="1143000" y="76200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R</a:t>
            </a:r>
          </a:p>
        </p:txBody>
      </p:sp>
      <p:sp>
        <p:nvSpPr>
          <p:cNvPr id="138245" name="Oval 5"/>
          <p:cNvSpPr>
            <a:spLocks noChangeArrowheads="1"/>
          </p:cNvSpPr>
          <p:nvPr/>
        </p:nvSpPr>
        <p:spPr bwMode="auto">
          <a:xfrm>
            <a:off x="2209800" y="9144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8246" name="Text Box 6"/>
          <p:cNvSpPr txBox="1">
            <a:spLocks noChangeArrowheads="1"/>
          </p:cNvSpPr>
          <p:nvPr/>
        </p:nvSpPr>
        <p:spPr bwMode="auto">
          <a:xfrm>
            <a:off x="2133600" y="6096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x</a:t>
            </a:r>
          </a:p>
        </p:txBody>
      </p:sp>
      <p:sp>
        <p:nvSpPr>
          <p:cNvPr id="138247" name="Oval 7"/>
          <p:cNvSpPr>
            <a:spLocks noChangeArrowheads="1"/>
          </p:cNvSpPr>
          <p:nvPr/>
        </p:nvSpPr>
        <p:spPr bwMode="auto">
          <a:xfrm>
            <a:off x="2971800" y="9144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8248" name="Text Box 8"/>
          <p:cNvSpPr txBox="1">
            <a:spLocks noChangeArrowheads="1"/>
          </p:cNvSpPr>
          <p:nvPr/>
        </p:nvSpPr>
        <p:spPr bwMode="auto">
          <a:xfrm>
            <a:off x="2895600" y="6096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y</a:t>
            </a:r>
          </a:p>
        </p:txBody>
      </p:sp>
      <p:sp>
        <p:nvSpPr>
          <p:cNvPr id="138249" name="Oval 9"/>
          <p:cNvSpPr>
            <a:spLocks noChangeArrowheads="1"/>
          </p:cNvSpPr>
          <p:nvPr/>
        </p:nvSpPr>
        <p:spPr bwMode="auto">
          <a:xfrm>
            <a:off x="4495800" y="9144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8250" name="Text Box 10"/>
          <p:cNvSpPr txBox="1">
            <a:spLocks noChangeArrowheads="1"/>
          </p:cNvSpPr>
          <p:nvPr/>
        </p:nvSpPr>
        <p:spPr bwMode="auto">
          <a:xfrm>
            <a:off x="4419600" y="609600"/>
            <a:ext cx="274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z</a:t>
            </a:r>
          </a:p>
        </p:txBody>
      </p:sp>
      <p:sp>
        <p:nvSpPr>
          <p:cNvPr id="138251" name="Oval 11"/>
          <p:cNvSpPr>
            <a:spLocks noChangeArrowheads="1"/>
          </p:cNvSpPr>
          <p:nvPr/>
        </p:nvSpPr>
        <p:spPr bwMode="auto">
          <a:xfrm>
            <a:off x="5791200" y="9144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8252" name="Text Box 12"/>
          <p:cNvSpPr txBox="1">
            <a:spLocks noChangeArrowheads="1"/>
          </p:cNvSpPr>
          <p:nvPr/>
        </p:nvSpPr>
        <p:spPr bwMode="auto">
          <a:xfrm>
            <a:off x="5715000" y="685800"/>
            <a:ext cx="342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m</a:t>
            </a:r>
          </a:p>
        </p:txBody>
      </p:sp>
      <p:sp>
        <p:nvSpPr>
          <p:cNvPr id="138253" name="Oval 13"/>
          <p:cNvSpPr>
            <a:spLocks noChangeArrowheads="1"/>
          </p:cNvSpPr>
          <p:nvPr/>
        </p:nvSpPr>
        <p:spPr bwMode="auto">
          <a:xfrm>
            <a:off x="6934200" y="914400"/>
            <a:ext cx="152400" cy="152400"/>
          </a:xfrm>
          <a:prstGeom prst="ellipse">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8254" name="Text Box 14"/>
          <p:cNvSpPr txBox="1">
            <a:spLocks noChangeArrowheads="1"/>
          </p:cNvSpPr>
          <p:nvPr/>
        </p:nvSpPr>
        <p:spPr bwMode="auto">
          <a:xfrm>
            <a:off x="7010400" y="685800"/>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c</a:t>
            </a:r>
          </a:p>
        </p:txBody>
      </p:sp>
      <p:sp>
        <p:nvSpPr>
          <p:cNvPr id="138255" name="Line 15"/>
          <p:cNvSpPr>
            <a:spLocks noChangeShapeType="1"/>
          </p:cNvSpPr>
          <p:nvPr/>
        </p:nvSpPr>
        <p:spPr bwMode="auto">
          <a:xfrm>
            <a:off x="1600200" y="990600"/>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56" name="Text Box 16"/>
          <p:cNvSpPr txBox="1">
            <a:spLocks noChangeArrowheads="1"/>
          </p:cNvSpPr>
          <p:nvPr/>
        </p:nvSpPr>
        <p:spPr bwMode="auto">
          <a:xfrm>
            <a:off x="1752600" y="609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1</a:t>
            </a:r>
          </a:p>
        </p:txBody>
      </p:sp>
      <p:sp>
        <p:nvSpPr>
          <p:cNvPr id="138257" name="Freeform 17"/>
          <p:cNvSpPr>
            <a:spLocks noChangeArrowheads="1"/>
          </p:cNvSpPr>
          <p:nvPr/>
        </p:nvSpPr>
        <p:spPr bwMode="auto">
          <a:xfrm>
            <a:off x="2286000" y="1066800"/>
            <a:ext cx="4724400" cy="785813"/>
          </a:xfrm>
          <a:custGeom>
            <a:avLst/>
            <a:gdLst>
              <a:gd name="T0" fmla="*/ 2147483646 w 2976"/>
              <a:gd name="T1" fmla="*/ 0 h 495"/>
              <a:gd name="T2" fmla="*/ 2147483646 w 2976"/>
              <a:gd name="T3" fmla="*/ 2147483646 h 495"/>
              <a:gd name="T4" fmla="*/ 2147483646 w 2976"/>
              <a:gd name="T5" fmla="*/ 2147483646 h 495"/>
              <a:gd name="T6" fmla="*/ 0 w 2976"/>
              <a:gd name="T7" fmla="*/ 0 h 4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76" h="495">
                <a:moveTo>
                  <a:pt x="2976" y="0"/>
                </a:moveTo>
                <a:cubicBezTo>
                  <a:pt x="2805" y="72"/>
                  <a:pt x="2314" y="369"/>
                  <a:pt x="1952" y="432"/>
                </a:cubicBezTo>
                <a:cubicBezTo>
                  <a:pt x="1590" y="495"/>
                  <a:pt x="1125" y="452"/>
                  <a:pt x="800" y="380"/>
                </a:cubicBezTo>
                <a:cubicBezTo>
                  <a:pt x="475" y="308"/>
                  <a:pt x="167" y="79"/>
                  <a:pt x="0" y="0"/>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58" name="Text Box 18"/>
          <p:cNvSpPr txBox="1">
            <a:spLocks noChangeArrowheads="1"/>
          </p:cNvSpPr>
          <p:nvPr/>
        </p:nvSpPr>
        <p:spPr bwMode="auto">
          <a:xfrm>
            <a:off x="3200400" y="1624013"/>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3</a:t>
            </a:r>
          </a:p>
        </p:txBody>
      </p:sp>
      <p:sp>
        <p:nvSpPr>
          <p:cNvPr id="138259" name="Line 19"/>
          <p:cNvSpPr>
            <a:spLocks noChangeShapeType="1"/>
          </p:cNvSpPr>
          <p:nvPr/>
        </p:nvSpPr>
        <p:spPr bwMode="auto">
          <a:xfrm>
            <a:off x="2362200" y="990600"/>
            <a:ext cx="609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60" name="Text Box 20"/>
          <p:cNvSpPr txBox="1">
            <a:spLocks noChangeArrowheads="1"/>
          </p:cNvSpPr>
          <p:nvPr/>
        </p:nvSpPr>
        <p:spPr bwMode="auto">
          <a:xfrm>
            <a:off x="2514600" y="685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1</a:t>
            </a:r>
          </a:p>
        </p:txBody>
      </p:sp>
      <p:sp>
        <p:nvSpPr>
          <p:cNvPr id="138261" name="Freeform 21"/>
          <p:cNvSpPr>
            <a:spLocks noChangeArrowheads="1"/>
          </p:cNvSpPr>
          <p:nvPr/>
        </p:nvSpPr>
        <p:spPr bwMode="auto">
          <a:xfrm>
            <a:off x="3124200" y="990600"/>
            <a:ext cx="2667000" cy="635000"/>
          </a:xfrm>
          <a:custGeom>
            <a:avLst/>
            <a:gdLst>
              <a:gd name="T0" fmla="*/ 2147483646 w 1680"/>
              <a:gd name="T1" fmla="*/ 0 h 400"/>
              <a:gd name="T2" fmla="*/ 2147483646 w 1680"/>
              <a:gd name="T3" fmla="*/ 2147483646 h 400"/>
              <a:gd name="T4" fmla="*/ 2147483646 w 1680"/>
              <a:gd name="T5" fmla="*/ 2147483646 h 400"/>
              <a:gd name="T6" fmla="*/ 0 w 1680"/>
              <a:gd name="T7" fmla="*/ 2147483646 h 4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 h="400">
                <a:moveTo>
                  <a:pt x="1680" y="0"/>
                </a:moveTo>
                <a:cubicBezTo>
                  <a:pt x="1622" y="57"/>
                  <a:pt x="1534" y="290"/>
                  <a:pt x="1334" y="345"/>
                </a:cubicBezTo>
                <a:cubicBezTo>
                  <a:pt x="1134" y="400"/>
                  <a:pt x="703" y="379"/>
                  <a:pt x="481" y="330"/>
                </a:cubicBezTo>
                <a:cubicBezTo>
                  <a:pt x="259" y="281"/>
                  <a:pt x="100" y="107"/>
                  <a:pt x="0" y="48"/>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2" name="Text Box 22"/>
          <p:cNvSpPr txBox="1">
            <a:spLocks noChangeArrowheads="1"/>
          </p:cNvSpPr>
          <p:nvPr/>
        </p:nvSpPr>
        <p:spPr bwMode="auto">
          <a:xfrm>
            <a:off x="4495800" y="12954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1</a:t>
            </a:r>
          </a:p>
        </p:txBody>
      </p:sp>
      <p:sp>
        <p:nvSpPr>
          <p:cNvPr id="138263" name="Line 23"/>
          <p:cNvSpPr>
            <a:spLocks noChangeShapeType="1"/>
          </p:cNvSpPr>
          <p:nvPr/>
        </p:nvSpPr>
        <p:spPr bwMode="auto">
          <a:xfrm>
            <a:off x="3124200" y="990600"/>
            <a:ext cx="1371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64" name="Text Box 24"/>
          <p:cNvSpPr txBox="1">
            <a:spLocks noChangeArrowheads="1"/>
          </p:cNvSpPr>
          <p:nvPr/>
        </p:nvSpPr>
        <p:spPr bwMode="auto">
          <a:xfrm>
            <a:off x="3657600" y="6858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1</a:t>
            </a:r>
          </a:p>
        </p:txBody>
      </p:sp>
      <p:sp>
        <p:nvSpPr>
          <p:cNvPr id="138265" name="Freeform 25"/>
          <p:cNvSpPr>
            <a:spLocks noChangeArrowheads="1"/>
          </p:cNvSpPr>
          <p:nvPr/>
        </p:nvSpPr>
        <p:spPr bwMode="auto">
          <a:xfrm>
            <a:off x="4648200" y="981075"/>
            <a:ext cx="1128713" cy="346075"/>
          </a:xfrm>
          <a:custGeom>
            <a:avLst/>
            <a:gdLst>
              <a:gd name="T0" fmla="*/ 2147483646 w 711"/>
              <a:gd name="T1" fmla="*/ 0 h 218"/>
              <a:gd name="T2" fmla="*/ 2147483646 w 711"/>
              <a:gd name="T3" fmla="*/ 2147483646 h 218"/>
              <a:gd name="T4" fmla="*/ 0 w 711"/>
              <a:gd name="T5" fmla="*/ 2147483646 h 218"/>
              <a:gd name="T6" fmla="*/ 0 60000 65536"/>
              <a:gd name="T7" fmla="*/ 0 60000 65536"/>
              <a:gd name="T8" fmla="*/ 0 60000 65536"/>
            </a:gdLst>
            <a:ahLst/>
            <a:cxnLst>
              <a:cxn ang="T6">
                <a:pos x="T0" y="T1"/>
              </a:cxn>
              <a:cxn ang="T7">
                <a:pos x="T2" y="T3"/>
              </a:cxn>
              <a:cxn ang="T8">
                <a:pos x="T4" y="T5"/>
              </a:cxn>
            </a:cxnLst>
            <a:rect l="0" t="0" r="r" b="b"/>
            <a:pathLst>
              <a:path w="711" h="218">
                <a:moveTo>
                  <a:pt x="711" y="0"/>
                </a:moveTo>
                <a:cubicBezTo>
                  <a:pt x="646" y="35"/>
                  <a:pt x="440" y="200"/>
                  <a:pt x="322" y="209"/>
                </a:cubicBezTo>
                <a:cubicBezTo>
                  <a:pt x="204" y="218"/>
                  <a:pt x="67" y="86"/>
                  <a:pt x="0" y="54"/>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6" name="Text Box 26"/>
          <p:cNvSpPr txBox="1">
            <a:spLocks noChangeArrowheads="1"/>
          </p:cNvSpPr>
          <p:nvPr/>
        </p:nvSpPr>
        <p:spPr bwMode="auto">
          <a:xfrm>
            <a:off x="4953000" y="990600"/>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1</a:t>
            </a:r>
          </a:p>
        </p:txBody>
      </p:sp>
      <p:sp>
        <p:nvSpPr>
          <p:cNvPr id="138267" name="Freeform 27"/>
          <p:cNvSpPr>
            <a:spLocks noChangeArrowheads="1"/>
          </p:cNvSpPr>
          <p:nvPr/>
        </p:nvSpPr>
        <p:spPr bwMode="auto">
          <a:xfrm>
            <a:off x="4648200" y="304800"/>
            <a:ext cx="2362200" cy="609600"/>
          </a:xfrm>
          <a:custGeom>
            <a:avLst/>
            <a:gdLst>
              <a:gd name="T0" fmla="*/ 2147483646 w 1488"/>
              <a:gd name="T1" fmla="*/ 2147483646 h 384"/>
              <a:gd name="T2" fmla="*/ 2147483646 w 1488"/>
              <a:gd name="T3" fmla="*/ 2147483646 h 384"/>
              <a:gd name="T4" fmla="*/ 2147483646 w 1488"/>
              <a:gd name="T5" fmla="*/ 2147483646 h 384"/>
              <a:gd name="T6" fmla="*/ 0 w 1488"/>
              <a:gd name="T7" fmla="*/ 2147483646 h 3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88" h="384">
                <a:moveTo>
                  <a:pt x="1488" y="384"/>
                </a:moveTo>
                <a:cubicBezTo>
                  <a:pt x="1404" y="240"/>
                  <a:pt x="1320" y="96"/>
                  <a:pt x="1152" y="48"/>
                </a:cubicBezTo>
                <a:cubicBezTo>
                  <a:pt x="984" y="0"/>
                  <a:pt x="672" y="40"/>
                  <a:pt x="480" y="96"/>
                </a:cubicBezTo>
                <a:cubicBezTo>
                  <a:pt x="288" y="152"/>
                  <a:pt x="80" y="336"/>
                  <a:pt x="0" y="384"/>
                </a:cubicBez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68" name="Text Box 28"/>
          <p:cNvSpPr txBox="1">
            <a:spLocks noChangeArrowheads="1"/>
          </p:cNvSpPr>
          <p:nvPr/>
        </p:nvSpPr>
        <p:spPr bwMode="auto">
          <a:xfrm>
            <a:off x="6019800" y="304800"/>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-H</a:t>
            </a:r>
            <a:r>
              <a:rPr lang="en-US" altLang="zh-CN" baseline="-25000">
                <a:solidFill>
                  <a:srgbClr val="F90309"/>
                </a:solidFill>
              </a:rPr>
              <a:t>2</a:t>
            </a:r>
          </a:p>
        </p:txBody>
      </p:sp>
      <p:sp>
        <p:nvSpPr>
          <p:cNvPr id="138269" name="Line 29"/>
          <p:cNvSpPr>
            <a:spLocks noChangeShapeType="1"/>
          </p:cNvSpPr>
          <p:nvPr/>
        </p:nvSpPr>
        <p:spPr bwMode="auto">
          <a:xfrm>
            <a:off x="4648200" y="990600"/>
            <a:ext cx="1143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70" name="Text Box 30"/>
          <p:cNvSpPr txBox="1">
            <a:spLocks noChangeArrowheads="1"/>
          </p:cNvSpPr>
          <p:nvPr/>
        </p:nvSpPr>
        <p:spPr bwMode="auto">
          <a:xfrm>
            <a:off x="5029200" y="6858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2</a:t>
            </a:r>
          </a:p>
        </p:txBody>
      </p:sp>
      <p:sp>
        <p:nvSpPr>
          <p:cNvPr id="138271" name="Line 31"/>
          <p:cNvSpPr>
            <a:spLocks noChangeShapeType="1"/>
          </p:cNvSpPr>
          <p:nvPr/>
        </p:nvSpPr>
        <p:spPr bwMode="auto">
          <a:xfrm>
            <a:off x="5943600" y="990600"/>
            <a:ext cx="990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72" name="Text Box 32"/>
          <p:cNvSpPr txBox="1">
            <a:spLocks noChangeArrowheads="1"/>
          </p:cNvSpPr>
          <p:nvPr/>
        </p:nvSpPr>
        <p:spPr bwMode="auto">
          <a:xfrm>
            <a:off x="6248400" y="685800"/>
            <a:ext cx="42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F90309"/>
                </a:solidFill>
              </a:rPr>
              <a:t>G</a:t>
            </a:r>
            <a:r>
              <a:rPr lang="en-US" altLang="zh-CN" baseline="-25000">
                <a:solidFill>
                  <a:srgbClr val="F90309"/>
                </a:solidFill>
              </a:rPr>
              <a:t>3</a:t>
            </a:r>
          </a:p>
        </p:txBody>
      </p:sp>
      <p:sp>
        <p:nvSpPr>
          <p:cNvPr id="138273" name="Line 33"/>
          <p:cNvSpPr>
            <a:spLocks noChangeShapeType="1"/>
          </p:cNvSpPr>
          <p:nvPr/>
        </p:nvSpPr>
        <p:spPr bwMode="auto">
          <a:xfrm>
            <a:off x="7086600" y="9906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74" name="Text Box 34"/>
          <p:cNvSpPr txBox="1">
            <a:spLocks noChangeArrowheads="1"/>
          </p:cNvSpPr>
          <p:nvPr/>
        </p:nvSpPr>
        <p:spPr bwMode="auto">
          <a:xfrm>
            <a:off x="7832725" y="623888"/>
            <a:ext cx="296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c</a:t>
            </a:r>
          </a:p>
        </p:txBody>
      </p:sp>
      <p:sp>
        <p:nvSpPr>
          <p:cNvPr id="138275" name="Text Box 35"/>
          <p:cNvSpPr txBox="1">
            <a:spLocks noChangeArrowheads="1"/>
          </p:cNvSpPr>
          <p:nvPr/>
        </p:nvSpPr>
        <p:spPr bwMode="auto">
          <a:xfrm>
            <a:off x="441325" y="1690688"/>
            <a:ext cx="211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t>求传递函数</a:t>
            </a:r>
            <a:r>
              <a:rPr lang="en-US" altLang="zh-CN"/>
              <a:t>C/R</a:t>
            </a:r>
            <a:r>
              <a:rPr lang="zh-CN" altLang="en-US"/>
              <a:t>。</a:t>
            </a:r>
          </a:p>
        </p:txBody>
      </p:sp>
      <p:sp>
        <p:nvSpPr>
          <p:cNvPr id="54308" name="Text Box 36"/>
          <p:cNvSpPr txBox="1">
            <a:spLocks noChangeArrowheads="1"/>
          </p:cNvSpPr>
          <p:nvPr/>
        </p:nvSpPr>
        <p:spPr bwMode="auto">
          <a:xfrm>
            <a:off x="441325" y="2359025"/>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t>解：</a:t>
            </a:r>
          </a:p>
        </p:txBody>
      </p:sp>
      <p:sp>
        <p:nvSpPr>
          <p:cNvPr id="54309" name="Text Box 37"/>
          <p:cNvSpPr txBox="1">
            <a:spLocks noChangeArrowheads="1"/>
          </p:cNvSpPr>
          <p:nvPr/>
        </p:nvSpPr>
        <p:spPr bwMode="auto">
          <a:xfrm>
            <a:off x="1203325" y="2376488"/>
            <a:ext cx="581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a:t>n=1</a:t>
            </a:r>
          </a:p>
        </p:txBody>
      </p:sp>
      <p:graphicFrame>
        <p:nvGraphicFramePr>
          <p:cNvPr id="54310" name="Object 2"/>
          <p:cNvGraphicFramePr>
            <a:graphicFrameLocks noChangeAspect="1"/>
          </p:cNvGraphicFramePr>
          <p:nvPr/>
        </p:nvGraphicFramePr>
        <p:xfrm>
          <a:off x="2514600" y="2438400"/>
          <a:ext cx="1219200" cy="366713"/>
        </p:xfrm>
        <a:graphic>
          <a:graphicData uri="http://schemas.openxmlformats.org/presentationml/2006/ole">
            <mc:AlternateContent xmlns:mc="http://schemas.openxmlformats.org/markup-compatibility/2006">
              <mc:Choice xmlns:v="urn:schemas-microsoft-com:vml" Requires="v">
                <p:oleObj r:id="rId2" imgW="761669" imgH="228501" progId="Equation.3">
                  <p:embed/>
                </p:oleObj>
              </mc:Choice>
              <mc:Fallback>
                <p:oleObj r:id="rId2" imgW="761669" imgH="228501"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4384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311" name="Object 3"/>
          <p:cNvGraphicFramePr>
            <a:graphicFrameLocks noChangeAspect="1"/>
          </p:cNvGraphicFramePr>
          <p:nvPr/>
        </p:nvGraphicFramePr>
        <p:xfrm>
          <a:off x="1066800" y="2895600"/>
          <a:ext cx="4819650" cy="563563"/>
        </p:xfrm>
        <a:graphic>
          <a:graphicData uri="http://schemas.openxmlformats.org/presentationml/2006/ole">
            <mc:AlternateContent xmlns:mc="http://schemas.openxmlformats.org/markup-compatibility/2006">
              <mc:Choice xmlns:v="urn:schemas-microsoft-com:vml" Requires="v">
                <p:oleObj r:id="rId4" imgW="2933700" imgH="342900" progId="Equation.3">
                  <p:embed/>
                </p:oleObj>
              </mc:Choice>
              <mc:Fallback>
                <p:oleObj r:id="rId4" imgW="2933700" imgH="342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895600"/>
                        <a:ext cx="48196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312" name="Text Box 40"/>
          <p:cNvSpPr txBox="1">
            <a:spLocks noChangeArrowheads="1"/>
          </p:cNvSpPr>
          <p:nvPr/>
        </p:nvSpPr>
        <p:spPr bwMode="auto">
          <a:xfrm>
            <a:off x="900113" y="3429000"/>
            <a:ext cx="73771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a:t>无两两不接触回路和三个不接触回路</a:t>
            </a:r>
            <a:r>
              <a:rPr lang="en-US" altLang="zh-CN"/>
              <a:t>(No 2-non-touching loops and </a:t>
            </a:r>
          </a:p>
          <a:p>
            <a:pPr eaLnBrk="1" hangingPunct="1"/>
            <a:r>
              <a:rPr lang="en-US" altLang="zh-CN"/>
              <a:t>3-non-touching loops)</a:t>
            </a:r>
          </a:p>
        </p:txBody>
      </p:sp>
      <p:graphicFrame>
        <p:nvGraphicFramePr>
          <p:cNvPr id="54313" name="Object 4"/>
          <p:cNvGraphicFramePr>
            <a:graphicFrameLocks noChangeAspect="1"/>
          </p:cNvGraphicFramePr>
          <p:nvPr/>
        </p:nvGraphicFramePr>
        <p:xfrm>
          <a:off x="1187450" y="4292600"/>
          <a:ext cx="6248400" cy="619125"/>
        </p:xfrm>
        <a:graphic>
          <a:graphicData uri="http://schemas.openxmlformats.org/presentationml/2006/ole">
            <mc:AlternateContent xmlns:mc="http://schemas.openxmlformats.org/markup-compatibility/2006">
              <mc:Choice xmlns:v="urn:schemas-microsoft-com:vml" Requires="v">
                <p:oleObj r:id="rId6" imgW="3467100" imgH="342900" progId="Equation.3">
                  <p:embed/>
                </p:oleObj>
              </mc:Choice>
              <mc:Fallback>
                <p:oleObj r:id="rId6" imgW="3467100" imgH="3429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4292600"/>
                        <a:ext cx="62484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314" name="Object 5"/>
          <p:cNvGraphicFramePr>
            <a:graphicFrameLocks noChangeAspect="1"/>
          </p:cNvGraphicFramePr>
          <p:nvPr/>
        </p:nvGraphicFramePr>
        <p:xfrm>
          <a:off x="1187450" y="5013325"/>
          <a:ext cx="762000" cy="419100"/>
        </p:xfrm>
        <a:graphic>
          <a:graphicData uri="http://schemas.openxmlformats.org/presentationml/2006/ole">
            <mc:AlternateContent xmlns:mc="http://schemas.openxmlformats.org/markup-compatibility/2006">
              <mc:Choice xmlns:v="urn:schemas-microsoft-com:vml" Requires="v">
                <p:oleObj r:id="rId8" imgW="393359" imgH="215713" progId="Equation.3">
                  <p:embed/>
                </p:oleObj>
              </mc:Choice>
              <mc:Fallback>
                <p:oleObj r:id="rId8" imgW="393359" imgH="21571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450" y="5013325"/>
                        <a:ext cx="762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315" name="Object 6"/>
          <p:cNvGraphicFramePr>
            <a:graphicFrameLocks noChangeAspect="1"/>
          </p:cNvGraphicFramePr>
          <p:nvPr/>
        </p:nvGraphicFramePr>
        <p:xfrm>
          <a:off x="1295400" y="5597525"/>
          <a:ext cx="1295400" cy="692150"/>
        </p:xfrm>
        <a:graphic>
          <a:graphicData uri="http://schemas.openxmlformats.org/presentationml/2006/ole">
            <mc:AlternateContent xmlns:mc="http://schemas.openxmlformats.org/markup-compatibility/2006">
              <mc:Choice xmlns:v="urn:schemas-microsoft-com:vml" Requires="v">
                <p:oleObj r:id="rId10" imgW="736280" imgH="393529" progId="Equation.3">
                  <p:embed/>
                </p:oleObj>
              </mc:Choice>
              <mc:Fallback>
                <p:oleObj r:id="rId10" imgW="736280" imgH="393529"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95400" y="5597525"/>
                        <a:ext cx="12954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316" name="Object 7"/>
          <p:cNvGraphicFramePr>
            <a:graphicFrameLocks noChangeAspect="1"/>
          </p:cNvGraphicFramePr>
          <p:nvPr/>
        </p:nvGraphicFramePr>
        <p:xfrm>
          <a:off x="2590800" y="5626100"/>
          <a:ext cx="4572000" cy="730250"/>
        </p:xfrm>
        <a:graphic>
          <a:graphicData uri="http://schemas.openxmlformats.org/presentationml/2006/ole">
            <mc:AlternateContent xmlns:mc="http://schemas.openxmlformats.org/markup-compatibility/2006">
              <mc:Choice xmlns:v="urn:schemas-microsoft-com:vml" Requires="v">
                <p:oleObj r:id="rId12" imgW="2705100" imgH="431800" progId="Equation.3">
                  <p:embed/>
                </p:oleObj>
              </mc:Choice>
              <mc:Fallback>
                <p:oleObj r:id="rId12" imgW="2705100" imgH="4318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90800" y="5626100"/>
                        <a:ext cx="457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8285" name="Object 8"/>
          <p:cNvGraphicFramePr>
            <a:graphicFrameLocks noChangeAspect="1"/>
          </p:cNvGraphicFramePr>
          <p:nvPr/>
        </p:nvGraphicFramePr>
        <p:xfrm>
          <a:off x="6732588" y="1412875"/>
          <a:ext cx="1828800" cy="714375"/>
        </p:xfrm>
        <a:graphic>
          <a:graphicData uri="http://schemas.openxmlformats.org/presentationml/2006/ole">
            <mc:AlternateContent xmlns:mc="http://schemas.openxmlformats.org/markup-compatibility/2006">
              <mc:Choice xmlns:v="urn:schemas-microsoft-com:vml" Requires="v">
                <p:oleObj r:id="rId14" imgW="1104900" imgH="431800" progId="Equation.3">
                  <p:embed/>
                </p:oleObj>
              </mc:Choice>
              <mc:Fallback>
                <p:oleObj r:id="rId14" imgW="1104900" imgH="4318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32588" y="1412875"/>
                        <a:ext cx="18288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8286" name="Object 9"/>
          <p:cNvGraphicFramePr>
            <a:graphicFrameLocks noChangeAspect="1"/>
          </p:cNvGraphicFramePr>
          <p:nvPr/>
        </p:nvGraphicFramePr>
        <p:xfrm>
          <a:off x="5651500" y="2276475"/>
          <a:ext cx="3111500" cy="454025"/>
        </p:xfrm>
        <a:graphic>
          <a:graphicData uri="http://schemas.openxmlformats.org/presentationml/2006/ole">
            <mc:AlternateContent xmlns:mc="http://schemas.openxmlformats.org/markup-compatibility/2006">
              <mc:Choice xmlns:v="urn:schemas-microsoft-com:vml" Requires="v">
                <p:oleObj r:id="rId16" imgW="2438400" imgH="355600" progId="Equation.3">
                  <p:embed/>
                </p:oleObj>
              </mc:Choice>
              <mc:Fallback>
                <p:oleObj r:id="rId16" imgW="2438400" imgH="3556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51500" y="2276475"/>
                        <a:ext cx="31115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54805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308"/>
                                        </p:tgtEl>
                                        <p:attrNameLst>
                                          <p:attrName>style.visibility</p:attrName>
                                        </p:attrNameLst>
                                      </p:cBhvr>
                                      <p:to>
                                        <p:strVal val="visible"/>
                                      </p:to>
                                    </p:set>
                                    <p:animEffect transition="in" filter="blinds(horizontal)">
                                      <p:cBhvr>
                                        <p:cTn id="7" dur="500"/>
                                        <p:tgtEl>
                                          <p:spTgt spid="543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430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5431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54311"/>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431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54313"/>
                                        </p:tgtEl>
                                        <p:attrNameLst>
                                          <p:attrName>style.visibility</p:attrName>
                                        </p:attrNameLst>
                                      </p:cBhvr>
                                      <p:to>
                                        <p:strVal val="visible"/>
                                      </p:to>
                                    </p:set>
                                    <p:animEffect transition="in" filter="blinds(horizontal)">
                                      <p:cBhvr>
                                        <p:cTn id="28" dur="500"/>
                                        <p:tgtEl>
                                          <p:spTgt spid="5431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431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4315"/>
                                        </p:tgtEl>
                                        <p:attrNameLst>
                                          <p:attrName>style.visibility</p:attrName>
                                        </p:attrNameLst>
                                      </p:cBhvr>
                                      <p:to>
                                        <p:strVal val="visible"/>
                                      </p:to>
                                    </p:set>
                                    <p:animEffect transition="in" filter="blinds(horizontal)">
                                      <p:cBhvr>
                                        <p:cTn id="37" dur="500"/>
                                        <p:tgtEl>
                                          <p:spTgt spid="543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4316"/>
                                        </p:tgtEl>
                                        <p:attrNameLst>
                                          <p:attrName>style.visibility</p:attrName>
                                        </p:attrNameLst>
                                      </p:cBhvr>
                                      <p:to>
                                        <p:strVal val="visible"/>
                                      </p:to>
                                    </p:set>
                                    <p:animEffect transition="in" filter="blinds(horizontal)">
                                      <p:cBhvr>
                                        <p:cTn id="42" dur="500"/>
                                        <p:tgtEl>
                                          <p:spTgt spid="54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08" grpId="0"/>
      <p:bldP spid="54309" grpId="0"/>
      <p:bldP spid="543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53F1AED-9B15-4C13-B2F4-0A0D1AF52FAF}" type="datetime1">
              <a:rPr lang="zh-CN" altLang="en-US" smtClean="0"/>
              <a:pPr/>
              <a:t>2025/9/14</a:t>
            </a:fld>
            <a:endParaRPr lang="en-US" altLang="zh-CN"/>
          </a:p>
        </p:txBody>
      </p:sp>
      <p:sp>
        <p:nvSpPr>
          <p:cNvPr id="45059" name="文本框 3"/>
          <p:cNvSpPr txBox="1">
            <a:spLocks noChangeArrowheads="1"/>
          </p:cNvSpPr>
          <p:nvPr/>
        </p:nvSpPr>
        <p:spPr bwMode="auto">
          <a:xfrm>
            <a:off x="1547813" y="2852738"/>
            <a:ext cx="34607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作业：</a:t>
            </a:r>
            <a:r>
              <a:rPr lang="en-US" altLang="zh-CN" sz="2800"/>
              <a:t>P78:2-11(b)</a:t>
            </a:r>
            <a:endParaRPr lang="zh-CN" altLang="en-US" sz="2800"/>
          </a:p>
        </p:txBody>
      </p:sp>
      <p:sp>
        <p:nvSpPr>
          <p:cNvPr id="45060" name="文本框 1"/>
          <p:cNvSpPr txBox="1">
            <a:spLocks noChangeArrowheads="1"/>
          </p:cNvSpPr>
          <p:nvPr/>
        </p:nvSpPr>
        <p:spPr bwMode="auto">
          <a:xfrm>
            <a:off x="1116013" y="3716338"/>
            <a:ext cx="7007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分别用方框图变换及梅逊公式求传递函数。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ChangeArrowheads="1"/>
          </p:cNvSpPr>
          <p:nvPr/>
        </p:nvSpPr>
        <p:spPr bwMode="auto">
          <a:xfrm>
            <a:off x="755650" y="692150"/>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l"/>
            </a:pPr>
            <a:r>
              <a:rPr lang="en-US" altLang="zh-CN" sz="2800" b="1">
                <a:latin typeface="Times New Roman" panose="02020603050405020304" pitchFamily="18" charset="0"/>
              </a:rPr>
              <a:t> </a:t>
            </a:r>
            <a:r>
              <a:rPr lang="zh-CN" altLang="en-US" sz="2800" b="1">
                <a:latin typeface="Times New Roman" panose="02020603050405020304" pitchFamily="18" charset="0"/>
              </a:rPr>
              <a:t>控制系统的传递函数</a:t>
            </a:r>
            <a:endParaRPr lang="zh-CN" altLang="en-US" sz="2800">
              <a:latin typeface="Times New Roman" panose="02020603050405020304" pitchFamily="18" charset="0"/>
            </a:endParaRPr>
          </a:p>
        </p:txBody>
      </p:sp>
      <p:sp>
        <p:nvSpPr>
          <p:cNvPr id="60420" name="Rectangle 4"/>
          <p:cNvSpPr>
            <a:spLocks noChangeArrowheads="1"/>
          </p:cNvSpPr>
          <p:nvPr/>
        </p:nvSpPr>
        <p:spPr bwMode="auto">
          <a:xfrm>
            <a:off x="1066800" y="1627188"/>
            <a:ext cx="6934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Ø"/>
            </a:pPr>
            <a:r>
              <a:rPr lang="zh-CN" altLang="en-US" sz="2800">
                <a:latin typeface="宋体" panose="02010600030101010101" pitchFamily="2" charset="-122"/>
              </a:rPr>
              <a:t>闭环控制系统的开环传递函数 </a:t>
            </a:r>
          </a:p>
        </p:txBody>
      </p:sp>
      <p:grpSp>
        <p:nvGrpSpPr>
          <p:cNvPr id="2" name="Group 5"/>
          <p:cNvGrpSpPr>
            <a:grpSpLocks/>
          </p:cNvGrpSpPr>
          <p:nvPr/>
        </p:nvGrpSpPr>
        <p:grpSpPr bwMode="auto">
          <a:xfrm>
            <a:off x="1116013" y="2492375"/>
            <a:ext cx="7391400" cy="1952625"/>
            <a:chOff x="768" y="1824"/>
            <a:chExt cx="4656" cy="1230"/>
          </a:xfrm>
        </p:grpSpPr>
        <p:sp>
          <p:nvSpPr>
            <p:cNvPr id="46086" name="Rectangle 6"/>
            <p:cNvSpPr>
              <a:spLocks noChangeArrowheads="1"/>
            </p:cNvSpPr>
            <p:nvPr/>
          </p:nvSpPr>
          <p:spPr bwMode="auto">
            <a:xfrm>
              <a:off x="1968" y="1968"/>
              <a:ext cx="665"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46087" name="Rectangle 7"/>
            <p:cNvSpPr>
              <a:spLocks noChangeArrowheads="1"/>
            </p:cNvSpPr>
            <p:nvPr/>
          </p:nvSpPr>
          <p:spPr bwMode="auto">
            <a:xfrm>
              <a:off x="2766" y="2669"/>
              <a:ext cx="664" cy="38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H(s)</a:t>
              </a:r>
            </a:p>
          </p:txBody>
        </p:sp>
        <p:sp>
          <p:nvSpPr>
            <p:cNvPr id="46088" name="Line 8"/>
            <p:cNvSpPr>
              <a:spLocks noChangeShapeType="1"/>
            </p:cNvSpPr>
            <p:nvPr/>
          </p:nvSpPr>
          <p:spPr bwMode="auto">
            <a:xfrm>
              <a:off x="1441" y="2149"/>
              <a:ext cx="53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89" name="Line 9"/>
            <p:cNvSpPr>
              <a:spLocks noChangeShapeType="1"/>
            </p:cNvSpPr>
            <p:nvPr/>
          </p:nvSpPr>
          <p:spPr bwMode="auto">
            <a:xfrm>
              <a:off x="4495" y="2149"/>
              <a:ext cx="92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0" name="Line 10"/>
            <p:cNvSpPr>
              <a:spLocks noChangeShapeType="1"/>
            </p:cNvSpPr>
            <p:nvPr/>
          </p:nvSpPr>
          <p:spPr bwMode="auto">
            <a:xfrm>
              <a:off x="5070" y="2149"/>
              <a:ext cx="0" cy="70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1" name="Line 11"/>
            <p:cNvSpPr>
              <a:spLocks noChangeShapeType="1"/>
            </p:cNvSpPr>
            <p:nvPr/>
          </p:nvSpPr>
          <p:spPr bwMode="auto">
            <a:xfrm flipH="1">
              <a:off x="3433" y="2850"/>
              <a:ext cx="16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2" name="Line 12"/>
            <p:cNvSpPr>
              <a:spLocks noChangeShapeType="1"/>
            </p:cNvSpPr>
            <p:nvPr/>
          </p:nvSpPr>
          <p:spPr bwMode="auto">
            <a:xfrm flipH="1">
              <a:off x="1353" y="2850"/>
              <a:ext cx="14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3" name="Line 13"/>
            <p:cNvSpPr>
              <a:spLocks noChangeShapeType="1"/>
            </p:cNvSpPr>
            <p:nvPr/>
          </p:nvSpPr>
          <p:spPr bwMode="auto">
            <a:xfrm flipV="1">
              <a:off x="1353" y="2223"/>
              <a:ext cx="0" cy="62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4" name="Text Box 14"/>
            <p:cNvSpPr txBox="1">
              <a:spLocks noChangeArrowheads="1"/>
            </p:cNvSpPr>
            <p:nvPr/>
          </p:nvSpPr>
          <p:spPr bwMode="auto">
            <a:xfrm>
              <a:off x="1204" y="1962"/>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46095" name="Line 15"/>
            <p:cNvSpPr>
              <a:spLocks noChangeShapeType="1"/>
            </p:cNvSpPr>
            <p:nvPr/>
          </p:nvSpPr>
          <p:spPr bwMode="auto">
            <a:xfrm>
              <a:off x="777" y="2149"/>
              <a:ext cx="4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6" name="Text Box 16"/>
            <p:cNvSpPr txBox="1">
              <a:spLocks noChangeArrowheads="1"/>
            </p:cNvSpPr>
            <p:nvPr/>
          </p:nvSpPr>
          <p:spPr bwMode="auto">
            <a:xfrm>
              <a:off x="768" y="1824"/>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46097" name="Text Box 17"/>
            <p:cNvSpPr txBox="1">
              <a:spLocks noChangeArrowheads="1"/>
            </p:cNvSpPr>
            <p:nvPr/>
          </p:nvSpPr>
          <p:spPr bwMode="auto">
            <a:xfrm>
              <a:off x="4850" y="1843"/>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C(</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46098" name="Text Box 18"/>
            <p:cNvSpPr txBox="1">
              <a:spLocks noChangeArrowheads="1"/>
            </p:cNvSpPr>
            <p:nvPr/>
          </p:nvSpPr>
          <p:spPr bwMode="auto">
            <a:xfrm>
              <a:off x="954" y="2297"/>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46099" name="Text Box 19"/>
            <p:cNvSpPr txBox="1">
              <a:spLocks noChangeArrowheads="1"/>
            </p:cNvSpPr>
            <p:nvPr/>
          </p:nvSpPr>
          <p:spPr bwMode="auto">
            <a:xfrm>
              <a:off x="1437" y="1839"/>
              <a:ext cx="4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46100" name="Line 20"/>
            <p:cNvSpPr>
              <a:spLocks noChangeShapeType="1"/>
            </p:cNvSpPr>
            <p:nvPr/>
          </p:nvSpPr>
          <p:spPr bwMode="auto">
            <a:xfrm>
              <a:off x="1397" y="2400"/>
              <a:ext cx="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1" name="Rectangle 21"/>
            <p:cNvSpPr>
              <a:spLocks noChangeArrowheads="1"/>
            </p:cNvSpPr>
            <p:nvPr/>
          </p:nvSpPr>
          <p:spPr bwMode="auto">
            <a:xfrm>
              <a:off x="3827" y="1968"/>
              <a:ext cx="665"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46102" name="Line 22"/>
            <p:cNvSpPr>
              <a:spLocks noChangeShapeType="1"/>
            </p:cNvSpPr>
            <p:nvPr/>
          </p:nvSpPr>
          <p:spPr bwMode="auto">
            <a:xfrm>
              <a:off x="2608" y="2139"/>
              <a:ext cx="1223" cy="1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0445" name="Rectangle 29"/>
          <p:cNvSpPr>
            <a:spLocks noChangeArrowheads="1"/>
          </p:cNvSpPr>
          <p:nvPr/>
        </p:nvSpPr>
        <p:spPr bwMode="auto">
          <a:xfrm>
            <a:off x="1476375" y="5013325"/>
            <a:ext cx="7010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en-US" altLang="zh-CN" sz="2800">
                <a:latin typeface="Times New Roman" panose="02020603050405020304" pitchFamily="18" charset="0"/>
              </a:rPr>
              <a:t>R(</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到</a:t>
            </a:r>
            <a:r>
              <a:rPr lang="en-US" altLang="zh-CN" sz="2800">
                <a:latin typeface="宋体" panose="02010600030101010101" pitchFamily="2" charset="-122"/>
              </a:rPr>
              <a:t>C</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的信号传递通路称为</a:t>
            </a:r>
            <a:r>
              <a:rPr lang="zh-CN" altLang="en-US" sz="2800">
                <a:solidFill>
                  <a:srgbClr val="CC0000"/>
                </a:solidFill>
                <a:latin typeface="宋体" panose="02010600030101010101" pitchFamily="2" charset="-122"/>
              </a:rPr>
              <a:t>前向通道</a:t>
            </a:r>
            <a:r>
              <a:rPr lang="zh-CN" altLang="en-US" sz="2800">
                <a:latin typeface="宋体" panose="02010600030101010101" pitchFamily="2" charset="-122"/>
              </a:rPr>
              <a:t>；</a:t>
            </a:r>
          </a:p>
          <a:p>
            <a:pPr eaLnBrk="1" hangingPunct="1">
              <a:lnSpc>
                <a:spcPct val="115000"/>
              </a:lnSpc>
              <a:spcBef>
                <a:spcPct val="0"/>
              </a:spcBef>
              <a:buClrTx/>
              <a:buFontTx/>
              <a:buNone/>
            </a:pPr>
            <a:r>
              <a:rPr lang="en-US" altLang="zh-CN" sz="2800">
                <a:latin typeface="Times New Roman" panose="02020603050405020304" pitchFamily="18" charset="0"/>
              </a:rPr>
              <a:t>C(</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到</a:t>
            </a:r>
            <a:r>
              <a:rPr lang="en-US" altLang="zh-CN" sz="2800" i="1">
                <a:latin typeface="Times New Roman" panose="02020603050405020304" pitchFamily="18" charset="0"/>
              </a:rPr>
              <a:t>B</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的信号传递通路称为</a:t>
            </a:r>
            <a:r>
              <a:rPr lang="zh-CN" altLang="en-US" sz="2800">
                <a:solidFill>
                  <a:srgbClr val="CC0000"/>
                </a:solidFill>
                <a:latin typeface="宋体" panose="02010600030101010101" pitchFamily="2" charset="-122"/>
              </a:rPr>
              <a:t>反馈通道</a:t>
            </a:r>
            <a:r>
              <a:rPr lang="zh-CN" altLang="en-US" sz="2800">
                <a:latin typeface="宋体" panose="02010600030101010101" pitchFamily="2" charset="-122"/>
              </a:rPr>
              <a:t>；</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 calcmode="lin" valueType="num">
                                      <p:cBhvr additive="base">
                                        <p:cTn id="7" dur="500" fill="hold"/>
                                        <p:tgtEl>
                                          <p:spTgt spid="60420"/>
                                        </p:tgtEl>
                                        <p:attrNameLst>
                                          <p:attrName>ppt_x</p:attrName>
                                        </p:attrNameLst>
                                      </p:cBhvr>
                                      <p:tavLst>
                                        <p:tav tm="0">
                                          <p:val>
                                            <p:strVal val="#ppt_x"/>
                                          </p:val>
                                        </p:tav>
                                        <p:tav tm="100000">
                                          <p:val>
                                            <p:strVal val="#ppt_x"/>
                                          </p:val>
                                        </p:tav>
                                      </p:tavLst>
                                    </p:anim>
                                    <p:anim calcmode="lin" valueType="num">
                                      <p:cBhvr additive="base">
                                        <p:cTn id="8" dur="500" fill="hold"/>
                                        <p:tgtEl>
                                          <p:spTgt spid="604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0445"/>
                                        </p:tgtEl>
                                        <p:attrNameLst>
                                          <p:attrName>style.visibility</p:attrName>
                                        </p:attrNameLst>
                                      </p:cBhvr>
                                      <p:to>
                                        <p:strVal val="visible"/>
                                      </p:to>
                                    </p:set>
                                    <p:anim calcmode="lin" valueType="num">
                                      <p:cBhvr additive="base">
                                        <p:cTn id="19" dur="500" fill="hold"/>
                                        <p:tgtEl>
                                          <p:spTgt spid="60445"/>
                                        </p:tgtEl>
                                        <p:attrNameLst>
                                          <p:attrName>ppt_x</p:attrName>
                                        </p:attrNameLst>
                                      </p:cBhvr>
                                      <p:tavLst>
                                        <p:tav tm="0">
                                          <p:val>
                                            <p:strVal val="#ppt_x"/>
                                          </p:val>
                                        </p:tav>
                                        <p:tav tm="100000">
                                          <p:val>
                                            <p:strVal val="#ppt_x"/>
                                          </p:val>
                                        </p:tav>
                                      </p:tavLst>
                                    </p:anim>
                                    <p:anim calcmode="lin" valueType="num">
                                      <p:cBhvr additive="base">
                                        <p:cTn id="20" dur="500" fill="hold"/>
                                        <p:tgtEl>
                                          <p:spTgt spid="604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P spid="604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ChangeArrowheads="1"/>
          </p:cNvSpPr>
          <p:nvPr/>
        </p:nvSpPr>
        <p:spPr bwMode="auto">
          <a:xfrm>
            <a:off x="984250" y="3890963"/>
            <a:ext cx="7620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Tx/>
              <a:buFontTx/>
              <a:buNone/>
            </a:pPr>
            <a:r>
              <a:rPr lang="zh-CN" altLang="en-US" sz="2800">
                <a:latin typeface="Times New Roman" panose="02020603050405020304" pitchFamily="18" charset="0"/>
              </a:rPr>
              <a:t>闭环系统的开环传递函数也可定义为反馈信号</a:t>
            </a:r>
          </a:p>
          <a:p>
            <a:pPr eaLnBrk="1" hangingPunct="1">
              <a:lnSpc>
                <a:spcPct val="120000"/>
              </a:lnSpc>
              <a:spcBef>
                <a:spcPct val="0"/>
              </a:spcBef>
              <a:buClrTx/>
              <a:buFontTx/>
              <a:buNone/>
            </a:pPr>
            <a:r>
              <a:rPr lang="en-US" altLang="zh-CN" sz="2800" i="1">
                <a:latin typeface="Times New Roman" panose="02020603050405020304" pitchFamily="18" charset="0"/>
              </a:rPr>
              <a:t>B</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和偏差信号</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之间的传递函数，即：</a:t>
            </a:r>
          </a:p>
        </p:txBody>
      </p:sp>
      <p:graphicFrame>
        <p:nvGraphicFramePr>
          <p:cNvPr id="59397" name="Object 5"/>
          <p:cNvGraphicFramePr>
            <a:graphicFrameLocks noChangeAspect="1"/>
          </p:cNvGraphicFramePr>
          <p:nvPr/>
        </p:nvGraphicFramePr>
        <p:xfrm>
          <a:off x="2444750" y="5148263"/>
          <a:ext cx="3937000" cy="863600"/>
        </p:xfrm>
        <a:graphic>
          <a:graphicData uri="http://schemas.openxmlformats.org/presentationml/2006/ole">
            <mc:AlternateContent xmlns:mc="http://schemas.openxmlformats.org/markup-compatibility/2006">
              <mc:Choice xmlns:v="urn:schemas-microsoft-com:vml" Requires="v">
                <p:oleObj r:id="rId3" imgW="1968500" imgH="431800" progId="Equation.3">
                  <p:embed/>
                </p:oleObj>
              </mc:Choice>
              <mc:Fallback>
                <p:oleObj r:id="rId3" imgW="1968500" imgH="431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4750" y="5148263"/>
                        <a:ext cx="3937000" cy="8636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398" name="Rectangle 6"/>
          <p:cNvSpPr>
            <a:spLocks noChangeArrowheads="1"/>
          </p:cNvSpPr>
          <p:nvPr/>
        </p:nvSpPr>
        <p:spPr bwMode="auto">
          <a:xfrm>
            <a:off x="984250" y="1760538"/>
            <a:ext cx="76200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Tx/>
              <a:buFontTx/>
              <a:buNone/>
            </a:pPr>
            <a:r>
              <a:rPr lang="zh-CN" altLang="en-US" sz="2800">
                <a:latin typeface="Times New Roman" panose="02020603050405020304" pitchFamily="18" charset="0"/>
              </a:rPr>
              <a:t>将闭环控制系统主反馈通道的输出断开，即</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的输出通道断开，此时，前向通道传递函数与反馈通道传递函数的乘积</a:t>
            </a:r>
            <a:r>
              <a:rPr lang="en-US" altLang="zh-CN" sz="2800" i="1">
                <a:solidFill>
                  <a:srgbClr val="CC0000"/>
                </a:solidFill>
                <a:latin typeface="Times New Roman" panose="02020603050405020304" pitchFamily="18" charset="0"/>
              </a:rPr>
              <a:t>G</a:t>
            </a:r>
            <a:r>
              <a:rPr lang="en-US" altLang="zh-CN" sz="2900" baseline="-30000">
                <a:solidFill>
                  <a:srgbClr val="CC0000"/>
                </a:solidFill>
                <a:latin typeface="Times New Roman" panose="02020603050405020304" pitchFamily="18" charset="0"/>
              </a:rPr>
              <a:t>1</a:t>
            </a:r>
            <a:r>
              <a:rPr lang="en-US" altLang="zh-CN" sz="2800">
                <a:solidFill>
                  <a:srgbClr val="CC0000"/>
                </a:solidFill>
                <a:latin typeface="Times New Roman" panose="02020603050405020304" pitchFamily="18" charset="0"/>
              </a:rPr>
              <a:t>(</a:t>
            </a:r>
            <a:r>
              <a:rPr lang="en-US" altLang="zh-CN" sz="2800" i="1">
                <a:solidFill>
                  <a:srgbClr val="CC0000"/>
                </a:solidFill>
                <a:latin typeface="Times New Roman" panose="02020603050405020304" pitchFamily="18" charset="0"/>
              </a:rPr>
              <a:t>s</a:t>
            </a:r>
            <a:r>
              <a:rPr lang="en-US" altLang="zh-CN" sz="2800">
                <a:solidFill>
                  <a:srgbClr val="CC0000"/>
                </a:solidFill>
                <a:latin typeface="Times New Roman" panose="02020603050405020304" pitchFamily="18" charset="0"/>
              </a:rPr>
              <a:t>)</a:t>
            </a:r>
            <a:r>
              <a:rPr lang="en-US" altLang="zh-CN" sz="2800" i="1">
                <a:solidFill>
                  <a:srgbClr val="CC0000"/>
                </a:solidFill>
                <a:latin typeface="Times New Roman" panose="02020603050405020304" pitchFamily="18" charset="0"/>
              </a:rPr>
              <a:t>G</a:t>
            </a:r>
            <a:r>
              <a:rPr lang="en-US" altLang="zh-CN" sz="2900" baseline="-30000">
                <a:solidFill>
                  <a:srgbClr val="CC0000"/>
                </a:solidFill>
                <a:latin typeface="Times New Roman" panose="02020603050405020304" pitchFamily="18" charset="0"/>
              </a:rPr>
              <a:t>2</a:t>
            </a:r>
            <a:r>
              <a:rPr lang="en-US" altLang="zh-CN" sz="2800">
                <a:solidFill>
                  <a:srgbClr val="CC0000"/>
                </a:solidFill>
                <a:latin typeface="Times New Roman" panose="02020603050405020304" pitchFamily="18" charset="0"/>
              </a:rPr>
              <a:t>(</a:t>
            </a:r>
            <a:r>
              <a:rPr lang="en-US" altLang="zh-CN" sz="2800" i="1">
                <a:solidFill>
                  <a:srgbClr val="CC0000"/>
                </a:solidFill>
                <a:latin typeface="Times New Roman" panose="02020603050405020304" pitchFamily="18" charset="0"/>
              </a:rPr>
              <a:t>s</a:t>
            </a:r>
            <a:r>
              <a:rPr lang="en-US" altLang="zh-CN" sz="2800">
                <a:solidFill>
                  <a:srgbClr val="CC0000"/>
                </a:solidFill>
                <a:latin typeface="Times New Roman" panose="02020603050405020304" pitchFamily="18" charset="0"/>
              </a:rPr>
              <a:t>)</a:t>
            </a:r>
            <a:r>
              <a:rPr lang="en-US" altLang="zh-CN" sz="2800" i="1">
                <a:solidFill>
                  <a:srgbClr val="CC0000"/>
                </a:solidFill>
                <a:latin typeface="Times New Roman" panose="02020603050405020304" pitchFamily="18" charset="0"/>
              </a:rPr>
              <a:t>H</a:t>
            </a:r>
            <a:r>
              <a:rPr lang="en-US" altLang="zh-CN" sz="2800">
                <a:solidFill>
                  <a:srgbClr val="CC0000"/>
                </a:solidFill>
                <a:latin typeface="Times New Roman" panose="02020603050405020304" pitchFamily="18" charset="0"/>
              </a:rPr>
              <a:t>(</a:t>
            </a:r>
            <a:r>
              <a:rPr lang="en-US" altLang="zh-CN" sz="2800" i="1">
                <a:solidFill>
                  <a:srgbClr val="CC0000"/>
                </a:solidFill>
                <a:latin typeface="Times New Roman" panose="02020603050405020304" pitchFamily="18" charset="0"/>
              </a:rPr>
              <a:t>s</a:t>
            </a:r>
            <a:r>
              <a:rPr lang="en-US" altLang="zh-CN" sz="2800">
                <a:solidFill>
                  <a:srgbClr val="CC0000"/>
                </a:solidFill>
                <a:latin typeface="Times New Roman" panose="02020603050405020304" pitchFamily="18" charset="0"/>
              </a:rPr>
              <a:t>)</a:t>
            </a:r>
            <a:r>
              <a:rPr lang="zh-CN" altLang="en-US" sz="2800">
                <a:latin typeface="Times New Roman" panose="02020603050405020304" pitchFamily="18" charset="0"/>
              </a:rPr>
              <a:t>称为该</a:t>
            </a:r>
          </a:p>
          <a:p>
            <a:pPr eaLnBrk="1" hangingPunct="1">
              <a:lnSpc>
                <a:spcPct val="120000"/>
              </a:lnSpc>
              <a:spcBef>
                <a:spcPct val="0"/>
              </a:spcBef>
              <a:buClrTx/>
              <a:buFontTx/>
              <a:buNone/>
            </a:pPr>
            <a:r>
              <a:rPr lang="zh-CN" altLang="en-US" sz="2800">
                <a:solidFill>
                  <a:srgbClr val="CC0000"/>
                </a:solidFill>
                <a:latin typeface="Times New Roman" panose="02020603050405020304" pitchFamily="18" charset="0"/>
              </a:rPr>
              <a:t>闭环控制系统的开环传递函数</a:t>
            </a:r>
            <a:r>
              <a:rPr lang="zh-CN" altLang="en-US" sz="2800">
                <a:latin typeface="Times New Roman" panose="02020603050405020304" pitchFamily="18" charset="0"/>
              </a:rPr>
              <a:t>。记为</a:t>
            </a:r>
            <a:r>
              <a:rPr lang="en-US" altLang="zh-CN" sz="2800" i="1">
                <a:solidFill>
                  <a:srgbClr val="CC0000"/>
                </a:solidFill>
                <a:latin typeface="Times New Roman" panose="02020603050405020304" pitchFamily="18" charset="0"/>
              </a:rPr>
              <a:t>G</a:t>
            </a:r>
            <a:r>
              <a:rPr lang="en-US" altLang="zh-CN" sz="2800">
                <a:solidFill>
                  <a:srgbClr val="CC0000"/>
                </a:solidFill>
                <a:latin typeface="Times New Roman" panose="02020603050405020304" pitchFamily="18" charset="0"/>
              </a:rPr>
              <a:t>(</a:t>
            </a:r>
            <a:r>
              <a:rPr lang="en-US" altLang="zh-CN" sz="2800" i="1">
                <a:solidFill>
                  <a:srgbClr val="CC0000"/>
                </a:solidFill>
                <a:latin typeface="Times New Roman" panose="02020603050405020304" pitchFamily="18" charset="0"/>
              </a:rPr>
              <a:t>s</a:t>
            </a:r>
            <a:r>
              <a:rPr lang="en-US" altLang="zh-CN" sz="2800">
                <a:solidFill>
                  <a:srgbClr val="CC0000"/>
                </a:solidFill>
                <a:latin typeface="Times New Roman" panose="02020603050405020304" pitchFamily="18" charset="0"/>
              </a:rPr>
              <a:t>)</a:t>
            </a:r>
            <a:r>
              <a:rPr lang="zh-CN" altLang="en-US" sz="2800">
                <a:latin typeface="Times New Roman" panose="02020603050405020304" pitchFamily="18" charset="0"/>
              </a:rPr>
              <a:t>。</a:t>
            </a:r>
          </a:p>
        </p:txBody>
      </p:sp>
      <p:pic>
        <p:nvPicPr>
          <p:cNvPr id="4813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188913"/>
            <a:ext cx="56832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anim calcmode="lin" valueType="num">
                                      <p:cBhvr additive="base">
                                        <p:cTn id="7" dur="500" fill="hold"/>
                                        <p:tgtEl>
                                          <p:spTgt spid="59398"/>
                                        </p:tgtEl>
                                        <p:attrNameLst>
                                          <p:attrName>ppt_x</p:attrName>
                                        </p:attrNameLst>
                                      </p:cBhvr>
                                      <p:tavLst>
                                        <p:tav tm="0">
                                          <p:val>
                                            <p:strVal val="#ppt_x"/>
                                          </p:val>
                                        </p:tav>
                                        <p:tav tm="100000">
                                          <p:val>
                                            <p:strVal val="#ppt_x"/>
                                          </p:val>
                                        </p:tav>
                                      </p:tavLst>
                                    </p:anim>
                                    <p:anim calcmode="lin" valueType="num">
                                      <p:cBhvr additive="base">
                                        <p:cTn id="8" dur="500" fill="hold"/>
                                        <p:tgtEl>
                                          <p:spTgt spid="593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396"/>
                                        </p:tgtEl>
                                        <p:attrNameLst>
                                          <p:attrName>style.visibility</p:attrName>
                                        </p:attrNameLst>
                                      </p:cBhvr>
                                      <p:to>
                                        <p:strVal val="visible"/>
                                      </p:to>
                                    </p:set>
                                    <p:anim calcmode="lin" valueType="num">
                                      <p:cBhvr additive="base">
                                        <p:cTn id="13" dur="500" fill="hold"/>
                                        <p:tgtEl>
                                          <p:spTgt spid="59396"/>
                                        </p:tgtEl>
                                        <p:attrNameLst>
                                          <p:attrName>ppt_x</p:attrName>
                                        </p:attrNameLst>
                                      </p:cBhvr>
                                      <p:tavLst>
                                        <p:tav tm="0">
                                          <p:val>
                                            <p:strVal val="#ppt_x"/>
                                          </p:val>
                                        </p:tav>
                                        <p:tav tm="100000">
                                          <p:val>
                                            <p:strVal val="#ppt_x"/>
                                          </p:val>
                                        </p:tav>
                                      </p:tavLst>
                                    </p:anim>
                                    <p:anim calcmode="lin" valueType="num">
                                      <p:cBhvr additive="base">
                                        <p:cTn id="14" dur="500" fill="hold"/>
                                        <p:tgtEl>
                                          <p:spTgt spid="5939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9397"/>
                                        </p:tgtEl>
                                        <p:attrNameLst>
                                          <p:attrName>style.visibility</p:attrName>
                                        </p:attrNameLst>
                                      </p:cBhvr>
                                      <p:to>
                                        <p:strVal val="visible"/>
                                      </p:to>
                                    </p:set>
                                    <p:anim calcmode="lin" valueType="num">
                                      <p:cBhvr additive="base">
                                        <p:cTn id="19" dur="500" fill="hold"/>
                                        <p:tgtEl>
                                          <p:spTgt spid="59397"/>
                                        </p:tgtEl>
                                        <p:attrNameLst>
                                          <p:attrName>ppt_x</p:attrName>
                                        </p:attrNameLst>
                                      </p:cBhvr>
                                      <p:tavLst>
                                        <p:tav tm="0">
                                          <p:val>
                                            <p:strVal val="#ppt_x"/>
                                          </p:val>
                                        </p:tav>
                                        <p:tav tm="100000">
                                          <p:val>
                                            <p:strVal val="#ppt_x"/>
                                          </p:val>
                                        </p:tav>
                                      </p:tavLst>
                                    </p:anim>
                                    <p:anim calcmode="lin" valueType="num">
                                      <p:cBhvr additive="base">
                                        <p:cTn id="20" dur="500" fill="hold"/>
                                        <p:tgtEl>
                                          <p:spTgt spid="593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p:bldP spid="593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4"/>
          <p:cNvSpPr>
            <a:spLocks noChangeArrowheads="1"/>
          </p:cNvSpPr>
          <p:nvPr/>
        </p:nvSpPr>
        <p:spPr bwMode="auto">
          <a:xfrm>
            <a:off x="900113" y="908050"/>
            <a:ext cx="693420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系统的</a:t>
            </a:r>
            <a:r>
              <a:rPr lang="zh-CN" altLang="en-US" sz="2800">
                <a:latin typeface="宋体" panose="02010600030101010101" pitchFamily="2" charset="-122"/>
              </a:rPr>
              <a:t>闭环传递函数 </a:t>
            </a:r>
          </a:p>
        </p:txBody>
      </p:sp>
      <p:sp>
        <p:nvSpPr>
          <p:cNvPr id="60445" name="Rectangle 29"/>
          <p:cNvSpPr>
            <a:spLocks noChangeArrowheads="1"/>
          </p:cNvSpPr>
          <p:nvPr/>
        </p:nvSpPr>
        <p:spPr bwMode="auto">
          <a:xfrm>
            <a:off x="1116013" y="1844675"/>
            <a:ext cx="7010400"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Times New Roman" panose="02020603050405020304" pitchFamily="18" charset="0"/>
              </a:rPr>
              <a:t>    反馈回路接通后，系统的输出量与输入量之间的传递函数。其中输入量包括控制量和扰动量。具有扰动作用的控制系统方块图为：</a:t>
            </a:r>
          </a:p>
        </p:txBody>
      </p:sp>
      <p:grpSp>
        <p:nvGrpSpPr>
          <p:cNvPr id="2" name="Group 5"/>
          <p:cNvGrpSpPr>
            <a:grpSpLocks/>
          </p:cNvGrpSpPr>
          <p:nvPr/>
        </p:nvGrpSpPr>
        <p:grpSpPr bwMode="auto">
          <a:xfrm>
            <a:off x="1042988" y="3573463"/>
            <a:ext cx="7391400" cy="2486025"/>
            <a:chOff x="768" y="1488"/>
            <a:chExt cx="4656" cy="1566"/>
          </a:xfrm>
        </p:grpSpPr>
        <p:sp>
          <p:nvSpPr>
            <p:cNvPr id="50181" name="Rectangle 6"/>
            <p:cNvSpPr>
              <a:spLocks noChangeArrowheads="1"/>
            </p:cNvSpPr>
            <p:nvPr/>
          </p:nvSpPr>
          <p:spPr bwMode="auto">
            <a:xfrm>
              <a:off x="1968" y="1968"/>
              <a:ext cx="665"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50182" name="Rectangle 7"/>
            <p:cNvSpPr>
              <a:spLocks noChangeArrowheads="1"/>
            </p:cNvSpPr>
            <p:nvPr/>
          </p:nvSpPr>
          <p:spPr bwMode="auto">
            <a:xfrm>
              <a:off x="2766" y="2669"/>
              <a:ext cx="664" cy="38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H(s)</a:t>
              </a:r>
            </a:p>
          </p:txBody>
        </p:sp>
        <p:sp>
          <p:nvSpPr>
            <p:cNvPr id="50183" name="Line 8"/>
            <p:cNvSpPr>
              <a:spLocks noChangeShapeType="1"/>
            </p:cNvSpPr>
            <p:nvPr/>
          </p:nvSpPr>
          <p:spPr bwMode="auto">
            <a:xfrm>
              <a:off x="1441" y="2149"/>
              <a:ext cx="53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4" name="Line 9"/>
            <p:cNvSpPr>
              <a:spLocks noChangeShapeType="1"/>
            </p:cNvSpPr>
            <p:nvPr/>
          </p:nvSpPr>
          <p:spPr bwMode="auto">
            <a:xfrm>
              <a:off x="4495" y="2149"/>
              <a:ext cx="92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5" name="Line 10"/>
            <p:cNvSpPr>
              <a:spLocks noChangeShapeType="1"/>
            </p:cNvSpPr>
            <p:nvPr/>
          </p:nvSpPr>
          <p:spPr bwMode="auto">
            <a:xfrm>
              <a:off x="5070" y="2149"/>
              <a:ext cx="0" cy="70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6" name="Line 11"/>
            <p:cNvSpPr>
              <a:spLocks noChangeShapeType="1"/>
            </p:cNvSpPr>
            <p:nvPr/>
          </p:nvSpPr>
          <p:spPr bwMode="auto">
            <a:xfrm flipH="1">
              <a:off x="3433" y="2850"/>
              <a:ext cx="16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7" name="Line 12"/>
            <p:cNvSpPr>
              <a:spLocks noChangeShapeType="1"/>
            </p:cNvSpPr>
            <p:nvPr/>
          </p:nvSpPr>
          <p:spPr bwMode="auto">
            <a:xfrm flipH="1">
              <a:off x="1353" y="2850"/>
              <a:ext cx="14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8" name="Line 13"/>
            <p:cNvSpPr>
              <a:spLocks noChangeShapeType="1"/>
            </p:cNvSpPr>
            <p:nvPr/>
          </p:nvSpPr>
          <p:spPr bwMode="auto">
            <a:xfrm flipV="1">
              <a:off x="1353" y="2223"/>
              <a:ext cx="0" cy="62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9" name="Text Box 14"/>
            <p:cNvSpPr txBox="1">
              <a:spLocks noChangeArrowheads="1"/>
            </p:cNvSpPr>
            <p:nvPr/>
          </p:nvSpPr>
          <p:spPr bwMode="auto">
            <a:xfrm>
              <a:off x="1204" y="1962"/>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50190" name="Line 15"/>
            <p:cNvSpPr>
              <a:spLocks noChangeShapeType="1"/>
            </p:cNvSpPr>
            <p:nvPr/>
          </p:nvSpPr>
          <p:spPr bwMode="auto">
            <a:xfrm>
              <a:off x="777" y="2149"/>
              <a:ext cx="4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1" name="Text Box 16"/>
            <p:cNvSpPr txBox="1">
              <a:spLocks noChangeArrowheads="1"/>
            </p:cNvSpPr>
            <p:nvPr/>
          </p:nvSpPr>
          <p:spPr bwMode="auto">
            <a:xfrm>
              <a:off x="768" y="1824"/>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50192" name="Text Box 17"/>
            <p:cNvSpPr txBox="1">
              <a:spLocks noChangeArrowheads="1"/>
            </p:cNvSpPr>
            <p:nvPr/>
          </p:nvSpPr>
          <p:spPr bwMode="auto">
            <a:xfrm>
              <a:off x="4850" y="1843"/>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C(</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50193" name="Text Box 18"/>
            <p:cNvSpPr txBox="1">
              <a:spLocks noChangeArrowheads="1"/>
            </p:cNvSpPr>
            <p:nvPr/>
          </p:nvSpPr>
          <p:spPr bwMode="auto">
            <a:xfrm>
              <a:off x="954" y="2297"/>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50194" name="Text Box 19"/>
            <p:cNvSpPr txBox="1">
              <a:spLocks noChangeArrowheads="1"/>
            </p:cNvSpPr>
            <p:nvPr/>
          </p:nvSpPr>
          <p:spPr bwMode="auto">
            <a:xfrm>
              <a:off x="1437" y="1839"/>
              <a:ext cx="45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50195" name="Line 20"/>
            <p:cNvSpPr>
              <a:spLocks noChangeShapeType="1"/>
            </p:cNvSpPr>
            <p:nvPr/>
          </p:nvSpPr>
          <p:spPr bwMode="auto">
            <a:xfrm>
              <a:off x="1397" y="2400"/>
              <a:ext cx="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6" name="Rectangle 21"/>
            <p:cNvSpPr>
              <a:spLocks noChangeArrowheads="1"/>
            </p:cNvSpPr>
            <p:nvPr/>
          </p:nvSpPr>
          <p:spPr bwMode="auto">
            <a:xfrm>
              <a:off x="3827" y="1968"/>
              <a:ext cx="665" cy="38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50197" name="Line 22"/>
            <p:cNvSpPr>
              <a:spLocks noChangeShapeType="1"/>
            </p:cNvSpPr>
            <p:nvPr/>
          </p:nvSpPr>
          <p:spPr bwMode="auto">
            <a:xfrm>
              <a:off x="3300" y="2149"/>
              <a:ext cx="53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8" name="Text Box 23"/>
            <p:cNvSpPr txBox="1">
              <a:spLocks noChangeArrowheads="1"/>
            </p:cNvSpPr>
            <p:nvPr/>
          </p:nvSpPr>
          <p:spPr bwMode="auto">
            <a:xfrm>
              <a:off x="3062" y="1970"/>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50199" name="Line 24"/>
            <p:cNvSpPr>
              <a:spLocks noChangeShapeType="1"/>
            </p:cNvSpPr>
            <p:nvPr/>
          </p:nvSpPr>
          <p:spPr bwMode="auto">
            <a:xfrm>
              <a:off x="2636" y="2149"/>
              <a:ext cx="4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0" name="Line 25"/>
            <p:cNvSpPr>
              <a:spLocks noChangeShapeType="1"/>
            </p:cNvSpPr>
            <p:nvPr/>
          </p:nvSpPr>
          <p:spPr bwMode="auto">
            <a:xfrm>
              <a:off x="3211" y="1505"/>
              <a:ext cx="0" cy="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1" name="Text Box 26"/>
            <p:cNvSpPr txBox="1">
              <a:spLocks noChangeArrowheads="1"/>
            </p:cNvSpPr>
            <p:nvPr/>
          </p:nvSpPr>
          <p:spPr bwMode="auto">
            <a:xfrm>
              <a:off x="3201" y="1488"/>
              <a:ext cx="4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N</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50202" name="Text Box 27"/>
            <p:cNvSpPr txBox="1">
              <a:spLocks noChangeArrowheads="1"/>
            </p:cNvSpPr>
            <p:nvPr/>
          </p:nvSpPr>
          <p:spPr bwMode="auto">
            <a:xfrm>
              <a:off x="3005" y="1837"/>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a:t>
              </a:r>
            </a:p>
          </p:txBody>
        </p:sp>
        <p:sp>
          <p:nvSpPr>
            <p:cNvPr id="50203" name="Text Box 28"/>
            <p:cNvSpPr txBox="1">
              <a:spLocks noChangeArrowheads="1"/>
            </p:cNvSpPr>
            <p:nvPr/>
          </p:nvSpPr>
          <p:spPr bwMode="auto">
            <a:xfrm>
              <a:off x="2857" y="2095"/>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 calcmode="lin" valueType="num">
                                      <p:cBhvr additive="base">
                                        <p:cTn id="7" dur="500" fill="hold"/>
                                        <p:tgtEl>
                                          <p:spTgt spid="60420"/>
                                        </p:tgtEl>
                                        <p:attrNameLst>
                                          <p:attrName>ppt_x</p:attrName>
                                        </p:attrNameLst>
                                      </p:cBhvr>
                                      <p:tavLst>
                                        <p:tav tm="0">
                                          <p:val>
                                            <p:strVal val="#ppt_x"/>
                                          </p:val>
                                        </p:tav>
                                        <p:tav tm="100000">
                                          <p:val>
                                            <p:strVal val="#ppt_x"/>
                                          </p:val>
                                        </p:tav>
                                      </p:tavLst>
                                    </p:anim>
                                    <p:anim calcmode="lin" valueType="num">
                                      <p:cBhvr additive="base">
                                        <p:cTn id="8" dur="500" fill="hold"/>
                                        <p:tgtEl>
                                          <p:spTgt spid="604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0445"/>
                                        </p:tgtEl>
                                        <p:attrNameLst>
                                          <p:attrName>style.visibility</p:attrName>
                                        </p:attrNameLst>
                                      </p:cBhvr>
                                      <p:to>
                                        <p:strVal val="visible"/>
                                      </p:to>
                                    </p:set>
                                    <p:anim calcmode="lin" valueType="num">
                                      <p:cBhvr additive="base">
                                        <p:cTn id="13" dur="500" fill="hold"/>
                                        <p:tgtEl>
                                          <p:spTgt spid="60445"/>
                                        </p:tgtEl>
                                        <p:attrNameLst>
                                          <p:attrName>ppt_x</p:attrName>
                                        </p:attrNameLst>
                                      </p:cBhvr>
                                      <p:tavLst>
                                        <p:tav tm="0">
                                          <p:val>
                                            <p:strVal val="#ppt_x"/>
                                          </p:val>
                                        </p:tav>
                                        <p:tav tm="100000">
                                          <p:val>
                                            <p:strVal val="#ppt_x"/>
                                          </p:val>
                                        </p:tav>
                                      </p:tavLst>
                                    </p:anim>
                                    <p:anim calcmode="lin" valueType="num">
                                      <p:cBhvr additive="base">
                                        <p:cTn id="14" dur="500" fill="hold"/>
                                        <p:tgtEl>
                                          <p:spTgt spid="6044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P spid="604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ChangeArrowheads="1"/>
          </p:cNvSpPr>
          <p:nvPr/>
        </p:nvSpPr>
        <p:spPr bwMode="auto">
          <a:xfrm>
            <a:off x="539750" y="476250"/>
            <a:ext cx="3455988"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ü"/>
            </a:pPr>
            <a:r>
              <a:rPr lang="en-US" altLang="zh-CN" sz="2800">
                <a:latin typeface="Times New Roman" panose="02020603050405020304" pitchFamily="18" charset="0"/>
              </a:rPr>
              <a:t>    r(</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宋体" panose="02010600030101010101" pitchFamily="2" charset="-122"/>
              </a:rPr>
              <a:t>作用下系统的</a:t>
            </a:r>
            <a:endParaRPr lang="en-US" altLang="zh-CN" sz="2800">
              <a:latin typeface="宋体" panose="02010600030101010101" pitchFamily="2" charset="-122"/>
            </a:endParaRPr>
          </a:p>
          <a:p>
            <a:pPr eaLnBrk="1" hangingPunct="1">
              <a:lnSpc>
                <a:spcPct val="115000"/>
              </a:lnSpc>
              <a:spcBef>
                <a:spcPct val="0"/>
              </a:spcBef>
              <a:buClrTx/>
              <a:buFontTx/>
              <a:buNone/>
            </a:pPr>
            <a:r>
              <a:rPr lang="en-US" altLang="zh-CN" sz="2800">
                <a:latin typeface="宋体" panose="02010600030101010101" pitchFamily="2" charset="-122"/>
              </a:rPr>
              <a:t>    </a:t>
            </a:r>
            <a:r>
              <a:rPr lang="zh-CN" altLang="en-US" sz="2800">
                <a:latin typeface="宋体" panose="02010600030101010101" pitchFamily="2" charset="-122"/>
              </a:rPr>
              <a:t>闭环传递函数 </a:t>
            </a:r>
          </a:p>
        </p:txBody>
      </p:sp>
      <p:sp>
        <p:nvSpPr>
          <p:cNvPr id="3" name="Rectangle 4"/>
          <p:cNvSpPr>
            <a:spLocks noChangeArrowheads="1"/>
          </p:cNvSpPr>
          <p:nvPr/>
        </p:nvSpPr>
        <p:spPr bwMode="auto">
          <a:xfrm>
            <a:off x="990600" y="4267200"/>
            <a:ext cx="7620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Tx/>
              <a:buFontTx/>
              <a:buNone/>
            </a:pPr>
            <a:r>
              <a:rPr lang="zh-CN" altLang="en-US" sz="2800">
                <a:latin typeface="Times New Roman" panose="02020603050405020304" pitchFamily="18" charset="0"/>
              </a:rPr>
              <a:t>令</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Times New Roman" panose="02020603050405020304" pitchFamily="18" charset="0"/>
              </a:rPr>
              <a:t>，此时在输入</a:t>
            </a:r>
            <a:r>
              <a:rPr lang="en-US" altLang="zh-CN" sz="2800">
                <a:latin typeface="Times New Roman" panose="02020603050405020304" pitchFamily="18" charset="0"/>
              </a:rPr>
              <a:t>r(</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作用下系统的闭环传递函数为：</a:t>
            </a:r>
          </a:p>
        </p:txBody>
      </p:sp>
      <p:grpSp>
        <p:nvGrpSpPr>
          <p:cNvPr id="2" name="Group 5"/>
          <p:cNvGrpSpPr>
            <a:grpSpLocks/>
          </p:cNvGrpSpPr>
          <p:nvPr/>
        </p:nvGrpSpPr>
        <p:grpSpPr bwMode="auto">
          <a:xfrm>
            <a:off x="1752600" y="2133600"/>
            <a:ext cx="5257800" cy="2062163"/>
            <a:chOff x="1152" y="1200"/>
            <a:chExt cx="3312" cy="1299"/>
          </a:xfrm>
        </p:grpSpPr>
        <p:sp>
          <p:nvSpPr>
            <p:cNvPr id="52231" name="Rectangle 6"/>
            <p:cNvSpPr>
              <a:spLocks noChangeArrowheads="1"/>
            </p:cNvSpPr>
            <p:nvPr/>
          </p:nvSpPr>
          <p:spPr bwMode="auto">
            <a:xfrm>
              <a:off x="2527" y="1345"/>
              <a:ext cx="473" cy="31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52232" name="Rectangle 7"/>
            <p:cNvSpPr>
              <a:spLocks noChangeArrowheads="1"/>
            </p:cNvSpPr>
            <p:nvPr/>
          </p:nvSpPr>
          <p:spPr bwMode="auto">
            <a:xfrm>
              <a:off x="2829" y="1841"/>
              <a:ext cx="645" cy="31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H(s)</a:t>
              </a:r>
            </a:p>
          </p:txBody>
        </p:sp>
        <p:sp>
          <p:nvSpPr>
            <p:cNvPr id="52233" name="Line 8"/>
            <p:cNvSpPr>
              <a:spLocks noChangeShapeType="1"/>
            </p:cNvSpPr>
            <p:nvPr/>
          </p:nvSpPr>
          <p:spPr bwMode="auto">
            <a:xfrm>
              <a:off x="2012" y="1504"/>
              <a:ext cx="5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4" name="Line 9"/>
            <p:cNvSpPr>
              <a:spLocks noChangeShapeType="1"/>
            </p:cNvSpPr>
            <p:nvPr/>
          </p:nvSpPr>
          <p:spPr bwMode="auto">
            <a:xfrm flipH="1">
              <a:off x="4160" y="1520"/>
              <a:ext cx="0"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5" name="Line 10"/>
            <p:cNvSpPr>
              <a:spLocks noChangeShapeType="1"/>
            </p:cNvSpPr>
            <p:nvPr/>
          </p:nvSpPr>
          <p:spPr bwMode="auto">
            <a:xfrm flipH="1">
              <a:off x="1926" y="2000"/>
              <a:ext cx="90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36" name="Line 11"/>
            <p:cNvSpPr>
              <a:spLocks noChangeShapeType="1"/>
            </p:cNvSpPr>
            <p:nvPr/>
          </p:nvSpPr>
          <p:spPr bwMode="auto">
            <a:xfrm flipV="1">
              <a:off x="1926" y="1583"/>
              <a:ext cx="0" cy="41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37" name="Text Box 12"/>
            <p:cNvSpPr txBox="1">
              <a:spLocks noChangeArrowheads="1"/>
            </p:cNvSpPr>
            <p:nvPr/>
          </p:nvSpPr>
          <p:spPr bwMode="auto">
            <a:xfrm>
              <a:off x="1797" y="1345"/>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52238" name="Text Box 13"/>
            <p:cNvSpPr txBox="1">
              <a:spLocks noChangeArrowheads="1"/>
            </p:cNvSpPr>
            <p:nvPr/>
          </p:nvSpPr>
          <p:spPr bwMode="auto">
            <a:xfrm>
              <a:off x="1152" y="1200"/>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52239" name="Text Box 14"/>
            <p:cNvSpPr txBox="1">
              <a:spLocks noChangeArrowheads="1"/>
            </p:cNvSpPr>
            <p:nvPr/>
          </p:nvSpPr>
          <p:spPr bwMode="auto">
            <a:xfrm>
              <a:off x="3903" y="1200"/>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C</a:t>
              </a:r>
              <a:r>
                <a:rPr lang="en-US" altLang="zh-CN" sz="2400" b="1" baseline="-25000">
                  <a:latin typeface="Times New Roman" panose="02020603050405020304" pitchFamily="18" charset="0"/>
                </a:rPr>
                <a:t>R</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52240" name="Text Box 15"/>
            <p:cNvSpPr txBox="1">
              <a:spLocks noChangeArrowheads="1"/>
            </p:cNvSpPr>
            <p:nvPr/>
          </p:nvSpPr>
          <p:spPr bwMode="auto">
            <a:xfrm>
              <a:off x="1488" y="1632"/>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52241" name="Text Box 16"/>
            <p:cNvSpPr txBox="1">
              <a:spLocks noChangeArrowheads="1"/>
            </p:cNvSpPr>
            <p:nvPr/>
          </p:nvSpPr>
          <p:spPr bwMode="auto">
            <a:xfrm>
              <a:off x="1966" y="1215"/>
              <a:ext cx="40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52242" name="Line 17"/>
            <p:cNvSpPr>
              <a:spLocks noChangeShapeType="1"/>
            </p:cNvSpPr>
            <p:nvPr/>
          </p:nvSpPr>
          <p:spPr bwMode="auto">
            <a:xfrm>
              <a:off x="1978" y="1728"/>
              <a:ext cx="8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43" name="Rectangle 18"/>
            <p:cNvSpPr>
              <a:spLocks noChangeArrowheads="1"/>
            </p:cNvSpPr>
            <p:nvPr/>
          </p:nvSpPr>
          <p:spPr bwMode="auto">
            <a:xfrm>
              <a:off x="3301" y="1345"/>
              <a:ext cx="474" cy="31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52244" name="Line 19"/>
            <p:cNvSpPr>
              <a:spLocks noChangeShapeType="1"/>
            </p:cNvSpPr>
            <p:nvPr/>
          </p:nvSpPr>
          <p:spPr bwMode="auto">
            <a:xfrm flipH="1">
              <a:off x="3473" y="2000"/>
              <a:ext cx="6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5" name="Line 20"/>
            <p:cNvSpPr>
              <a:spLocks noChangeShapeType="1"/>
            </p:cNvSpPr>
            <p:nvPr/>
          </p:nvSpPr>
          <p:spPr bwMode="auto">
            <a:xfrm>
              <a:off x="3000" y="1504"/>
              <a:ext cx="30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6" name="Line 21"/>
            <p:cNvSpPr>
              <a:spLocks noChangeShapeType="1"/>
            </p:cNvSpPr>
            <p:nvPr/>
          </p:nvSpPr>
          <p:spPr bwMode="auto">
            <a:xfrm>
              <a:off x="3774" y="1504"/>
              <a:ext cx="69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7" name="Line 22"/>
            <p:cNvSpPr>
              <a:spLocks noChangeShapeType="1"/>
            </p:cNvSpPr>
            <p:nvPr/>
          </p:nvSpPr>
          <p:spPr bwMode="auto">
            <a:xfrm>
              <a:off x="1152" y="1504"/>
              <a:ext cx="6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248" name="Text Box 23"/>
            <p:cNvSpPr txBox="1">
              <a:spLocks noChangeArrowheads="1"/>
            </p:cNvSpPr>
            <p:nvPr/>
          </p:nvSpPr>
          <p:spPr bwMode="auto">
            <a:xfrm>
              <a:off x="2078" y="2208"/>
              <a:ext cx="19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r(</a:t>
              </a:r>
              <a:r>
                <a:rPr lang="en-US" altLang="zh-CN" sz="2400" i="1">
                  <a:latin typeface="Times New Roman" panose="02020603050405020304" pitchFamily="18" charset="0"/>
                </a:rPr>
                <a:t>t</a:t>
              </a:r>
              <a:r>
                <a:rPr lang="en-US" altLang="zh-CN" sz="2400">
                  <a:latin typeface="Times New Roman" panose="02020603050405020304" pitchFamily="18" charset="0"/>
                </a:rPr>
                <a:t>)</a:t>
              </a:r>
              <a:r>
                <a:rPr lang="zh-CN" altLang="en-US" sz="2400">
                  <a:latin typeface="Times New Roman" panose="02020603050405020304" pitchFamily="18" charset="0"/>
                </a:rPr>
                <a:t>作用下的闭环系统</a:t>
              </a:r>
            </a:p>
          </p:txBody>
        </p:sp>
      </p:grpSp>
      <p:graphicFrame>
        <p:nvGraphicFramePr>
          <p:cNvPr id="58392" name="Object 24"/>
          <p:cNvGraphicFramePr>
            <a:graphicFrameLocks noChangeAspect="1"/>
          </p:cNvGraphicFramePr>
          <p:nvPr/>
        </p:nvGraphicFramePr>
        <p:xfrm>
          <a:off x="2516188" y="5157788"/>
          <a:ext cx="4986337" cy="935037"/>
        </p:xfrm>
        <a:graphic>
          <a:graphicData uri="http://schemas.openxmlformats.org/presentationml/2006/ole">
            <mc:AlternateContent xmlns:mc="http://schemas.openxmlformats.org/markup-compatibility/2006">
              <mc:Choice xmlns:v="urn:schemas-microsoft-com:vml" Requires="v">
                <p:oleObj r:id="rId3" imgW="2362200" imgH="444500" progId="Equation.3">
                  <p:embed/>
                </p:oleObj>
              </mc:Choice>
              <mc:Fallback>
                <p:oleObj r:id="rId3" imgW="2362200" imgH="444500" progId="Equation.3">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6188" y="5157788"/>
                        <a:ext cx="4986337"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2230" name="图片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8475" y="76200"/>
            <a:ext cx="4438650"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8392"/>
                                        </p:tgtEl>
                                        <p:attrNameLst>
                                          <p:attrName>style.visibility</p:attrName>
                                        </p:attrNameLst>
                                      </p:cBhvr>
                                      <p:to>
                                        <p:strVal val="visible"/>
                                      </p:to>
                                    </p:set>
                                    <p:anim calcmode="lin" valueType="num">
                                      <p:cBhvr additive="base">
                                        <p:cTn id="19" dur="500" fill="hold"/>
                                        <p:tgtEl>
                                          <p:spTgt spid="58392"/>
                                        </p:tgtEl>
                                        <p:attrNameLst>
                                          <p:attrName>ppt_x</p:attrName>
                                        </p:attrNameLst>
                                      </p:cBhvr>
                                      <p:tavLst>
                                        <p:tav tm="0">
                                          <p:val>
                                            <p:strVal val="#ppt_x"/>
                                          </p:val>
                                        </p:tav>
                                        <p:tav tm="100000">
                                          <p:val>
                                            <p:strVal val="#ppt_x"/>
                                          </p:val>
                                        </p:tav>
                                      </p:tavLst>
                                    </p:anim>
                                    <p:anim calcmode="lin" valueType="num">
                                      <p:cBhvr additive="base">
                                        <p:cTn id="20" dur="500" fill="hold"/>
                                        <p:tgtEl>
                                          <p:spTgt spid="583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ChangeArrowheads="1"/>
          </p:cNvSpPr>
          <p:nvPr/>
        </p:nvSpPr>
        <p:spPr bwMode="auto">
          <a:xfrm>
            <a:off x="539750" y="476250"/>
            <a:ext cx="3384550"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ü"/>
            </a:pPr>
            <a:r>
              <a:rPr lang="en-US" altLang="zh-CN" sz="2800">
                <a:latin typeface="Times New Roman" panose="02020603050405020304" pitchFamily="18" charset="0"/>
              </a:rPr>
              <a:t>   </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宋体" panose="02010600030101010101" pitchFamily="2" charset="-122"/>
              </a:rPr>
              <a:t>作用下系统的</a:t>
            </a:r>
            <a:endParaRPr lang="en-US" altLang="zh-CN" sz="2800">
              <a:latin typeface="宋体" panose="02010600030101010101" pitchFamily="2" charset="-122"/>
            </a:endParaRPr>
          </a:p>
          <a:p>
            <a:pPr eaLnBrk="1" hangingPunct="1">
              <a:lnSpc>
                <a:spcPct val="115000"/>
              </a:lnSpc>
              <a:spcBef>
                <a:spcPct val="0"/>
              </a:spcBef>
              <a:buClrTx/>
              <a:buFontTx/>
              <a:buNone/>
            </a:pPr>
            <a:r>
              <a:rPr lang="en-US" altLang="zh-CN" sz="2800">
                <a:latin typeface="宋体" panose="02010600030101010101" pitchFamily="2" charset="-122"/>
              </a:rPr>
              <a:t>   </a:t>
            </a:r>
            <a:r>
              <a:rPr lang="zh-CN" altLang="en-US" sz="2800">
                <a:latin typeface="宋体" panose="02010600030101010101" pitchFamily="2" charset="-122"/>
              </a:rPr>
              <a:t> 闭环传递函数 </a:t>
            </a:r>
          </a:p>
        </p:txBody>
      </p:sp>
      <p:sp>
        <p:nvSpPr>
          <p:cNvPr id="56324" name="Rectangle 4"/>
          <p:cNvSpPr>
            <a:spLocks noChangeArrowheads="1"/>
          </p:cNvSpPr>
          <p:nvPr/>
        </p:nvSpPr>
        <p:spPr bwMode="auto">
          <a:xfrm>
            <a:off x="990600" y="4267200"/>
            <a:ext cx="7620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spcBef>
                <a:spcPct val="0"/>
              </a:spcBef>
              <a:buClrTx/>
              <a:buFontTx/>
              <a:buNone/>
            </a:pPr>
            <a:r>
              <a:rPr lang="zh-CN" altLang="en-US" sz="2800">
                <a:latin typeface="宋体" panose="02010600030101010101" pitchFamily="2" charset="-122"/>
              </a:rPr>
              <a:t>令</a:t>
            </a:r>
            <a:r>
              <a:rPr lang="en-US" altLang="zh-CN" sz="2800">
                <a:latin typeface="宋体" panose="02010600030101010101" pitchFamily="2" charset="-122"/>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宋体" panose="02010600030101010101" pitchFamily="2" charset="-122"/>
              </a:rPr>
              <a:t>，此时在扰动</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宋体" panose="02010600030101010101" pitchFamily="2" charset="-122"/>
              </a:rPr>
              <a:t>作用下系统的闭环传递函数（</a:t>
            </a:r>
            <a:r>
              <a:rPr lang="zh-CN" altLang="en-US" sz="2800">
                <a:solidFill>
                  <a:srgbClr val="CC0000"/>
                </a:solidFill>
                <a:latin typeface="宋体" panose="02010600030101010101" pitchFamily="2" charset="-122"/>
              </a:rPr>
              <a:t>干扰传递函数</a:t>
            </a:r>
            <a:r>
              <a:rPr lang="zh-CN" altLang="en-US" sz="2800">
                <a:latin typeface="宋体" panose="02010600030101010101" pitchFamily="2" charset="-122"/>
              </a:rPr>
              <a:t>）为：</a:t>
            </a:r>
            <a:r>
              <a:rPr lang="zh-CN" altLang="en-US" sz="2800">
                <a:latin typeface="Times New Roman" panose="02020603050405020304" pitchFamily="18" charset="0"/>
              </a:rPr>
              <a:t> </a:t>
            </a:r>
          </a:p>
        </p:txBody>
      </p:sp>
      <p:grpSp>
        <p:nvGrpSpPr>
          <p:cNvPr id="2" name="Group 5"/>
          <p:cNvGrpSpPr>
            <a:grpSpLocks/>
          </p:cNvGrpSpPr>
          <p:nvPr/>
        </p:nvGrpSpPr>
        <p:grpSpPr bwMode="auto">
          <a:xfrm>
            <a:off x="1676400" y="2001838"/>
            <a:ext cx="5797550" cy="2341562"/>
            <a:chOff x="1148" y="1222"/>
            <a:chExt cx="3796" cy="1523"/>
          </a:xfrm>
        </p:grpSpPr>
        <p:sp>
          <p:nvSpPr>
            <p:cNvPr id="54279" name="Rectangle 6"/>
            <p:cNvSpPr>
              <a:spLocks noChangeArrowheads="1"/>
            </p:cNvSpPr>
            <p:nvPr/>
          </p:nvSpPr>
          <p:spPr bwMode="auto">
            <a:xfrm>
              <a:off x="2400" y="1942"/>
              <a:ext cx="529" cy="38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54280" name="Rectangle 7"/>
            <p:cNvSpPr>
              <a:spLocks noChangeArrowheads="1"/>
            </p:cNvSpPr>
            <p:nvPr/>
          </p:nvSpPr>
          <p:spPr bwMode="auto">
            <a:xfrm>
              <a:off x="3405" y="1942"/>
              <a:ext cx="579" cy="38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H(s)</a:t>
              </a:r>
            </a:p>
          </p:txBody>
        </p:sp>
        <p:sp>
          <p:nvSpPr>
            <p:cNvPr id="54281" name="Line 8"/>
            <p:cNvSpPr>
              <a:spLocks noChangeShapeType="1"/>
            </p:cNvSpPr>
            <p:nvPr/>
          </p:nvSpPr>
          <p:spPr bwMode="auto">
            <a:xfrm>
              <a:off x="4508" y="1532"/>
              <a:ext cx="1" cy="6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82" name="Line 9"/>
            <p:cNvSpPr>
              <a:spLocks noChangeShapeType="1"/>
            </p:cNvSpPr>
            <p:nvPr/>
          </p:nvSpPr>
          <p:spPr bwMode="auto">
            <a:xfrm flipV="1">
              <a:off x="2013" y="1628"/>
              <a:ext cx="0" cy="50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3" name="Text Box 10"/>
            <p:cNvSpPr txBox="1">
              <a:spLocks noChangeArrowheads="1"/>
            </p:cNvSpPr>
            <p:nvPr/>
          </p:nvSpPr>
          <p:spPr bwMode="auto">
            <a:xfrm>
              <a:off x="1869" y="1340"/>
              <a:ext cx="326"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54284" name="Text Box 11"/>
            <p:cNvSpPr txBox="1">
              <a:spLocks noChangeArrowheads="1"/>
            </p:cNvSpPr>
            <p:nvPr/>
          </p:nvSpPr>
          <p:spPr bwMode="auto">
            <a:xfrm>
              <a:off x="1196" y="1222"/>
              <a:ext cx="47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i="1">
                  <a:latin typeface="Times New Roman" panose="02020603050405020304" pitchFamily="18" charset="0"/>
                </a:rPr>
                <a:t>N</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54285" name="Text Box 12"/>
            <p:cNvSpPr txBox="1">
              <a:spLocks noChangeArrowheads="1"/>
            </p:cNvSpPr>
            <p:nvPr/>
          </p:nvSpPr>
          <p:spPr bwMode="auto">
            <a:xfrm>
              <a:off x="4269" y="1222"/>
              <a:ext cx="57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C</a:t>
              </a:r>
              <a:r>
                <a:rPr lang="en-US" altLang="zh-CN" sz="2400" b="1" baseline="-25000">
                  <a:latin typeface="Times New Roman" panose="02020603050405020304" pitchFamily="18" charset="0"/>
                </a:rPr>
                <a:t>N</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54286" name="Rectangle 13"/>
            <p:cNvSpPr>
              <a:spLocks noChangeArrowheads="1"/>
            </p:cNvSpPr>
            <p:nvPr/>
          </p:nvSpPr>
          <p:spPr bwMode="auto">
            <a:xfrm>
              <a:off x="3023" y="1340"/>
              <a:ext cx="721" cy="38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54287" name="Line 14"/>
            <p:cNvSpPr>
              <a:spLocks noChangeShapeType="1"/>
            </p:cNvSpPr>
            <p:nvPr/>
          </p:nvSpPr>
          <p:spPr bwMode="auto">
            <a:xfrm>
              <a:off x="1148" y="1532"/>
              <a:ext cx="76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8" name="Text Box 15"/>
            <p:cNvSpPr txBox="1">
              <a:spLocks noChangeArrowheads="1"/>
            </p:cNvSpPr>
            <p:nvPr/>
          </p:nvSpPr>
          <p:spPr bwMode="auto">
            <a:xfrm>
              <a:off x="2006" y="2448"/>
              <a:ext cx="2005"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n</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r>
                <a:rPr lang="zh-CN" altLang="en-US" sz="2400">
                  <a:latin typeface="Times New Roman" panose="02020603050405020304" pitchFamily="18" charset="0"/>
                </a:rPr>
                <a:t>作用下的闭环系统</a:t>
              </a:r>
            </a:p>
          </p:txBody>
        </p:sp>
        <p:sp>
          <p:nvSpPr>
            <p:cNvPr id="54289" name="Line 16"/>
            <p:cNvSpPr>
              <a:spLocks noChangeShapeType="1"/>
            </p:cNvSpPr>
            <p:nvPr/>
          </p:nvSpPr>
          <p:spPr bwMode="auto">
            <a:xfrm>
              <a:off x="3744" y="1532"/>
              <a:ext cx="1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0" name="Line 17"/>
            <p:cNvSpPr>
              <a:spLocks noChangeShapeType="1"/>
            </p:cNvSpPr>
            <p:nvPr/>
          </p:nvSpPr>
          <p:spPr bwMode="auto">
            <a:xfrm>
              <a:off x="2112" y="1532"/>
              <a:ext cx="9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1" name="Line 18"/>
            <p:cNvSpPr>
              <a:spLocks noChangeShapeType="1"/>
            </p:cNvSpPr>
            <p:nvPr/>
          </p:nvSpPr>
          <p:spPr bwMode="auto">
            <a:xfrm flipH="1">
              <a:off x="3984" y="2134"/>
              <a:ext cx="5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2" name="Line 19"/>
            <p:cNvSpPr>
              <a:spLocks noChangeShapeType="1"/>
            </p:cNvSpPr>
            <p:nvPr/>
          </p:nvSpPr>
          <p:spPr bwMode="auto">
            <a:xfrm flipH="1">
              <a:off x="2928" y="2134"/>
              <a:ext cx="4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3" name="Line 20"/>
            <p:cNvSpPr>
              <a:spLocks noChangeShapeType="1"/>
            </p:cNvSpPr>
            <p:nvPr/>
          </p:nvSpPr>
          <p:spPr bwMode="auto">
            <a:xfrm flipH="1">
              <a:off x="2016" y="2134"/>
              <a:ext cx="3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4" name="Line 21"/>
            <p:cNvSpPr>
              <a:spLocks noChangeShapeType="1"/>
            </p:cNvSpPr>
            <p:nvPr/>
          </p:nvSpPr>
          <p:spPr bwMode="auto">
            <a:xfrm>
              <a:off x="2112" y="1750"/>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6342" name="Object 22"/>
          <p:cNvGraphicFramePr>
            <a:graphicFrameLocks noChangeAspect="1"/>
          </p:cNvGraphicFramePr>
          <p:nvPr/>
        </p:nvGraphicFramePr>
        <p:xfrm>
          <a:off x="2308225" y="5495925"/>
          <a:ext cx="4602163" cy="855663"/>
        </p:xfrm>
        <a:graphic>
          <a:graphicData uri="http://schemas.openxmlformats.org/presentationml/2006/ole">
            <mc:AlternateContent xmlns:mc="http://schemas.openxmlformats.org/markup-compatibility/2006">
              <mc:Choice xmlns:v="urn:schemas-microsoft-com:vml" Requires="v">
                <p:oleObj r:id="rId3" imgW="2387600" imgH="444500" progId="Equation.3">
                  <p:embed/>
                </p:oleObj>
              </mc:Choice>
              <mc:Fallback>
                <p:oleObj r:id="rId3" imgW="2387600" imgH="44450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8225" y="5495925"/>
                        <a:ext cx="4602163"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4278" name="图片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8475" y="76200"/>
            <a:ext cx="4438650"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24"/>
                                        </p:tgtEl>
                                        <p:attrNameLst>
                                          <p:attrName>style.visibility</p:attrName>
                                        </p:attrNameLst>
                                      </p:cBhvr>
                                      <p:to>
                                        <p:strVal val="visible"/>
                                      </p:to>
                                    </p:set>
                                    <p:anim calcmode="lin" valueType="num">
                                      <p:cBhvr additive="base">
                                        <p:cTn id="13" dur="500" fill="hold"/>
                                        <p:tgtEl>
                                          <p:spTgt spid="56324"/>
                                        </p:tgtEl>
                                        <p:attrNameLst>
                                          <p:attrName>ppt_x</p:attrName>
                                        </p:attrNameLst>
                                      </p:cBhvr>
                                      <p:tavLst>
                                        <p:tav tm="0">
                                          <p:val>
                                            <p:strVal val="#ppt_x"/>
                                          </p:val>
                                        </p:tav>
                                        <p:tav tm="100000">
                                          <p:val>
                                            <p:strVal val="#ppt_x"/>
                                          </p:val>
                                        </p:tav>
                                      </p:tavLst>
                                    </p:anim>
                                    <p:anim calcmode="lin" valueType="num">
                                      <p:cBhvr additive="base">
                                        <p:cTn id="14" dur="500" fill="hold"/>
                                        <p:tgtEl>
                                          <p:spTgt spid="5632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6342"/>
                                        </p:tgtEl>
                                        <p:attrNameLst>
                                          <p:attrName>style.visibility</p:attrName>
                                        </p:attrNameLst>
                                      </p:cBhvr>
                                      <p:to>
                                        <p:strVal val="visible"/>
                                      </p:to>
                                    </p:set>
                                    <p:anim calcmode="lin" valueType="num">
                                      <p:cBhvr additive="base">
                                        <p:cTn id="19" dur="500" fill="hold"/>
                                        <p:tgtEl>
                                          <p:spTgt spid="56342"/>
                                        </p:tgtEl>
                                        <p:attrNameLst>
                                          <p:attrName>ppt_x</p:attrName>
                                        </p:attrNameLst>
                                      </p:cBhvr>
                                      <p:tavLst>
                                        <p:tav tm="0">
                                          <p:val>
                                            <p:strVal val="#ppt_x"/>
                                          </p:val>
                                        </p:tav>
                                        <p:tav tm="100000">
                                          <p:val>
                                            <p:strVal val="#ppt_x"/>
                                          </p:val>
                                        </p:tav>
                                      </p:tavLst>
                                    </p:anim>
                                    <p:anim calcmode="lin" valueType="num">
                                      <p:cBhvr additive="base">
                                        <p:cTn id="20" dur="500" fill="hold"/>
                                        <p:tgtEl>
                                          <p:spTgt spid="56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ChangeArrowheads="1"/>
          </p:cNvSpPr>
          <p:nvPr/>
        </p:nvSpPr>
        <p:spPr bwMode="auto">
          <a:xfrm>
            <a:off x="827088" y="981075"/>
            <a:ext cx="45370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ü"/>
            </a:pPr>
            <a:r>
              <a:rPr lang="zh-CN" altLang="en-US" sz="2800">
                <a:latin typeface="宋体" panose="02010600030101010101" pitchFamily="2" charset="-122"/>
              </a:rPr>
              <a:t> 系统的总输出  </a:t>
            </a:r>
          </a:p>
        </p:txBody>
      </p:sp>
      <p:graphicFrame>
        <p:nvGraphicFramePr>
          <p:cNvPr id="2" name="Object 4"/>
          <p:cNvGraphicFramePr>
            <a:graphicFrameLocks noChangeAspect="1"/>
          </p:cNvGraphicFramePr>
          <p:nvPr/>
        </p:nvGraphicFramePr>
        <p:xfrm>
          <a:off x="1116013" y="3429000"/>
          <a:ext cx="7618412" cy="1349375"/>
        </p:xfrm>
        <a:graphic>
          <a:graphicData uri="http://schemas.openxmlformats.org/presentationml/2006/ole">
            <mc:AlternateContent xmlns:mc="http://schemas.openxmlformats.org/markup-compatibility/2006">
              <mc:Choice xmlns:v="urn:schemas-microsoft-com:vml" Requires="v">
                <p:oleObj r:id="rId3" imgW="3746500" imgH="660400" progId="Equation.3">
                  <p:embed/>
                </p:oleObj>
              </mc:Choice>
              <mc:Fallback>
                <p:oleObj r:id="rId3" imgW="3746500" imgH="660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429000"/>
                        <a:ext cx="7618412"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3" name="Rectangle 5"/>
          <p:cNvSpPr>
            <a:spLocks noChangeArrowheads="1"/>
          </p:cNvSpPr>
          <p:nvPr/>
        </p:nvSpPr>
        <p:spPr bwMode="auto">
          <a:xfrm>
            <a:off x="971550" y="1916113"/>
            <a:ext cx="74676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25000"/>
              </a:lnSpc>
              <a:spcBef>
                <a:spcPct val="0"/>
              </a:spcBef>
              <a:buClrTx/>
              <a:buFontTx/>
              <a:buNone/>
            </a:pPr>
            <a:r>
              <a:rPr lang="zh-CN" altLang="en-US" sz="2800">
                <a:latin typeface="Times New Roman" panose="02020603050405020304" pitchFamily="18" charset="0"/>
              </a:rPr>
              <a:t>根据线性系统的叠加原理，系统在输入</a:t>
            </a:r>
            <a:r>
              <a:rPr lang="en-US" altLang="zh-CN" sz="2800">
                <a:latin typeface="Times New Roman" panose="02020603050405020304" pitchFamily="18" charset="0"/>
              </a:rPr>
              <a:t>r(</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及扰动</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共同作用下的总输出为：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anim calcmode="lin" valueType="num">
                                      <p:cBhvr additive="base">
                                        <p:cTn id="7" dur="500" fill="hold"/>
                                        <p:tgtEl>
                                          <p:spTgt spid="53253"/>
                                        </p:tgtEl>
                                        <p:attrNameLst>
                                          <p:attrName>ppt_x</p:attrName>
                                        </p:attrNameLst>
                                      </p:cBhvr>
                                      <p:tavLst>
                                        <p:tav tm="0">
                                          <p:val>
                                            <p:strVal val="#ppt_x"/>
                                          </p:val>
                                        </p:tav>
                                        <p:tav tm="100000">
                                          <p:val>
                                            <p:strVal val="#ppt_x"/>
                                          </p:val>
                                        </p:tav>
                                      </p:tavLst>
                                    </p:anim>
                                    <p:anim calcmode="lin" valueType="num">
                                      <p:cBhvr additive="base">
                                        <p:cTn id="8" dur="500" fill="hold"/>
                                        <p:tgtEl>
                                          <p:spTgt spid="5325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ChangeArrowheads="1"/>
          </p:cNvSpPr>
          <p:nvPr/>
        </p:nvSpPr>
        <p:spPr bwMode="auto">
          <a:xfrm>
            <a:off x="539750" y="404813"/>
            <a:ext cx="3887788"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Ø"/>
            </a:pPr>
            <a:r>
              <a:rPr lang="zh-CN" altLang="en-US" sz="2800">
                <a:latin typeface="Times New Roman" panose="02020603050405020304" pitchFamily="18" charset="0"/>
              </a:rPr>
              <a:t>系统</a:t>
            </a:r>
            <a:r>
              <a:rPr lang="zh-CN" altLang="en-US" sz="2800">
                <a:latin typeface="宋体" panose="02010600030101010101" pitchFamily="2" charset="-122"/>
              </a:rPr>
              <a:t>的偏（误）差传</a:t>
            </a:r>
            <a:endParaRPr lang="en-US" altLang="zh-CN" sz="2800">
              <a:latin typeface="宋体" panose="02010600030101010101" pitchFamily="2" charset="-122"/>
            </a:endParaRPr>
          </a:p>
          <a:p>
            <a:pPr eaLnBrk="1" hangingPunct="1">
              <a:lnSpc>
                <a:spcPct val="115000"/>
              </a:lnSpc>
              <a:spcBef>
                <a:spcPct val="0"/>
              </a:spcBef>
              <a:buClrTx/>
              <a:buFontTx/>
              <a:buNone/>
            </a:pPr>
            <a:r>
              <a:rPr lang="zh-CN" altLang="en-US" sz="2800">
                <a:latin typeface="宋体" panose="02010600030101010101" pitchFamily="2" charset="-122"/>
              </a:rPr>
              <a:t>  递函数 </a:t>
            </a:r>
          </a:p>
        </p:txBody>
      </p:sp>
      <p:grpSp>
        <p:nvGrpSpPr>
          <p:cNvPr id="2" name="Group 4"/>
          <p:cNvGrpSpPr>
            <a:grpSpLocks/>
          </p:cNvGrpSpPr>
          <p:nvPr/>
        </p:nvGrpSpPr>
        <p:grpSpPr bwMode="auto">
          <a:xfrm>
            <a:off x="2916238" y="2997200"/>
            <a:ext cx="5105400" cy="2014538"/>
            <a:chOff x="1344" y="2187"/>
            <a:chExt cx="3216" cy="1269"/>
          </a:xfrm>
        </p:grpSpPr>
        <p:sp>
          <p:nvSpPr>
            <p:cNvPr id="58378" name="Rectangle 5"/>
            <p:cNvSpPr>
              <a:spLocks noChangeArrowheads="1"/>
            </p:cNvSpPr>
            <p:nvPr/>
          </p:nvSpPr>
          <p:spPr bwMode="auto">
            <a:xfrm>
              <a:off x="2801" y="2369"/>
              <a:ext cx="473" cy="29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1</a:t>
              </a:r>
            </a:p>
          </p:txBody>
        </p:sp>
        <p:sp>
          <p:nvSpPr>
            <p:cNvPr id="58379" name="Rectangle 6"/>
            <p:cNvSpPr>
              <a:spLocks noChangeArrowheads="1"/>
            </p:cNvSpPr>
            <p:nvPr/>
          </p:nvSpPr>
          <p:spPr bwMode="auto">
            <a:xfrm>
              <a:off x="2082" y="2827"/>
              <a:ext cx="462" cy="29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H(s)</a:t>
              </a:r>
            </a:p>
          </p:txBody>
        </p:sp>
        <p:sp>
          <p:nvSpPr>
            <p:cNvPr id="58380" name="Line 7"/>
            <p:cNvSpPr>
              <a:spLocks noChangeShapeType="1"/>
            </p:cNvSpPr>
            <p:nvPr/>
          </p:nvSpPr>
          <p:spPr bwMode="auto">
            <a:xfrm flipV="1">
              <a:off x="1903" y="2597"/>
              <a:ext cx="0" cy="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1" name="Text Box 8"/>
            <p:cNvSpPr txBox="1">
              <a:spLocks noChangeArrowheads="1"/>
            </p:cNvSpPr>
            <p:nvPr/>
          </p:nvSpPr>
          <p:spPr bwMode="auto">
            <a:xfrm>
              <a:off x="1757" y="2328"/>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58382" name="Line 9"/>
            <p:cNvSpPr>
              <a:spLocks noChangeShapeType="1"/>
            </p:cNvSpPr>
            <p:nvPr/>
          </p:nvSpPr>
          <p:spPr bwMode="auto">
            <a:xfrm>
              <a:off x="1353" y="2515"/>
              <a:ext cx="47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3" name="Text Box 10"/>
            <p:cNvSpPr txBox="1">
              <a:spLocks noChangeArrowheads="1"/>
            </p:cNvSpPr>
            <p:nvPr/>
          </p:nvSpPr>
          <p:spPr bwMode="auto">
            <a:xfrm>
              <a:off x="1344" y="2187"/>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a:latin typeface="Times New Roman" panose="02020603050405020304" pitchFamily="18" charset="0"/>
                </a:rPr>
                <a:t>R(</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58384" name="Line 11"/>
            <p:cNvSpPr>
              <a:spLocks noChangeShapeType="1"/>
            </p:cNvSpPr>
            <p:nvPr/>
          </p:nvSpPr>
          <p:spPr bwMode="auto">
            <a:xfrm>
              <a:off x="1954" y="2736"/>
              <a:ext cx="8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5" name="Rectangle 12"/>
            <p:cNvSpPr>
              <a:spLocks noChangeArrowheads="1"/>
            </p:cNvSpPr>
            <p:nvPr/>
          </p:nvSpPr>
          <p:spPr bwMode="auto">
            <a:xfrm>
              <a:off x="3531" y="2827"/>
              <a:ext cx="473" cy="29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58386" name="Rectangle 13"/>
            <p:cNvSpPr>
              <a:spLocks noChangeArrowheads="1"/>
            </p:cNvSpPr>
            <p:nvPr/>
          </p:nvSpPr>
          <p:spPr bwMode="auto">
            <a:xfrm>
              <a:off x="2801" y="2827"/>
              <a:ext cx="473" cy="29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58387" name="Line 14"/>
            <p:cNvSpPr>
              <a:spLocks noChangeShapeType="1"/>
            </p:cNvSpPr>
            <p:nvPr/>
          </p:nvSpPr>
          <p:spPr bwMode="auto">
            <a:xfrm>
              <a:off x="3274" y="2499"/>
              <a:ext cx="128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8" name="Line 15"/>
            <p:cNvSpPr>
              <a:spLocks noChangeShapeType="1"/>
            </p:cNvSpPr>
            <p:nvPr/>
          </p:nvSpPr>
          <p:spPr bwMode="auto">
            <a:xfrm>
              <a:off x="1987" y="2516"/>
              <a:ext cx="81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9" name="Line 16"/>
            <p:cNvSpPr>
              <a:spLocks noChangeShapeType="1"/>
            </p:cNvSpPr>
            <p:nvPr/>
          </p:nvSpPr>
          <p:spPr bwMode="auto">
            <a:xfrm>
              <a:off x="1901" y="2973"/>
              <a:ext cx="1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0" name="Line 17"/>
            <p:cNvSpPr>
              <a:spLocks noChangeShapeType="1"/>
            </p:cNvSpPr>
            <p:nvPr/>
          </p:nvSpPr>
          <p:spPr bwMode="auto">
            <a:xfrm flipH="1">
              <a:off x="3274" y="2973"/>
              <a:ext cx="25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1" name="Line 18"/>
            <p:cNvSpPr>
              <a:spLocks noChangeShapeType="1"/>
            </p:cNvSpPr>
            <p:nvPr/>
          </p:nvSpPr>
          <p:spPr bwMode="auto">
            <a:xfrm flipH="1">
              <a:off x="2544" y="2973"/>
              <a:ext cx="25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2" name="Line 19"/>
            <p:cNvSpPr>
              <a:spLocks noChangeShapeType="1"/>
            </p:cNvSpPr>
            <p:nvPr/>
          </p:nvSpPr>
          <p:spPr bwMode="auto">
            <a:xfrm>
              <a:off x="4217" y="2499"/>
              <a:ext cx="0" cy="47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93" name="Line 20"/>
            <p:cNvSpPr>
              <a:spLocks noChangeShapeType="1"/>
            </p:cNvSpPr>
            <p:nvPr/>
          </p:nvSpPr>
          <p:spPr bwMode="auto">
            <a:xfrm flipH="1">
              <a:off x="4003" y="2973"/>
              <a:ext cx="21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94" name="Text Box 21"/>
            <p:cNvSpPr txBox="1">
              <a:spLocks noChangeArrowheads="1"/>
            </p:cNvSpPr>
            <p:nvPr/>
          </p:nvSpPr>
          <p:spPr bwMode="auto">
            <a:xfrm>
              <a:off x="4003" y="2187"/>
              <a:ext cx="53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sym typeface="Symbol" panose="05050102010706020507" pitchFamily="18" charset="2"/>
                </a:rPr>
                <a:t></a:t>
              </a:r>
              <a:r>
                <a:rPr lang="en-US" altLang="zh-CN" sz="2400" i="1" baseline="-25000">
                  <a:latin typeface="Times New Roman" panose="02020603050405020304" pitchFamily="18" charset="0"/>
                </a:rPr>
                <a:t>R</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58395" name="Text Box 22"/>
            <p:cNvSpPr txBox="1">
              <a:spLocks noChangeArrowheads="1"/>
            </p:cNvSpPr>
            <p:nvPr/>
          </p:nvSpPr>
          <p:spPr bwMode="auto">
            <a:xfrm>
              <a:off x="1584" y="3168"/>
              <a:ext cx="28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偏差信号与输入信号之间的关系</a:t>
              </a:r>
            </a:p>
          </p:txBody>
        </p:sp>
      </p:grpSp>
      <p:graphicFrame>
        <p:nvGraphicFramePr>
          <p:cNvPr id="57367" name="Object 23"/>
          <p:cNvGraphicFramePr>
            <a:graphicFrameLocks noChangeAspect="1"/>
          </p:cNvGraphicFramePr>
          <p:nvPr/>
        </p:nvGraphicFramePr>
        <p:xfrm>
          <a:off x="2260600" y="5362575"/>
          <a:ext cx="4562475" cy="847725"/>
        </p:xfrm>
        <a:graphic>
          <a:graphicData uri="http://schemas.openxmlformats.org/presentationml/2006/ole">
            <mc:AlternateContent xmlns:mc="http://schemas.openxmlformats.org/markup-compatibility/2006">
              <mc:Choice xmlns:v="urn:schemas-microsoft-com:vml" Requires="v">
                <p:oleObj r:id="rId3" imgW="2324100" imgH="431800" progId="Equation.3">
                  <p:embed/>
                </p:oleObj>
              </mc:Choice>
              <mc:Fallback>
                <p:oleObj r:id="rId3" imgW="2324100" imgH="431800"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0600" y="5362575"/>
                        <a:ext cx="45624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24"/>
          <p:cNvGrpSpPr>
            <a:grpSpLocks/>
          </p:cNvGrpSpPr>
          <p:nvPr/>
        </p:nvGrpSpPr>
        <p:grpSpPr bwMode="auto">
          <a:xfrm>
            <a:off x="755650" y="1844675"/>
            <a:ext cx="7758113" cy="1577975"/>
            <a:chOff x="576" y="1183"/>
            <a:chExt cx="4704" cy="994"/>
          </a:xfrm>
        </p:grpSpPr>
        <p:graphicFrame>
          <p:nvGraphicFramePr>
            <p:cNvPr id="58375" name="Object 25"/>
            <p:cNvGraphicFramePr>
              <a:graphicFrameLocks noChangeAspect="1"/>
            </p:cNvGraphicFramePr>
            <p:nvPr/>
          </p:nvGraphicFramePr>
          <p:xfrm>
            <a:off x="698" y="1917"/>
            <a:ext cx="507" cy="260"/>
          </p:xfrm>
          <a:graphic>
            <a:graphicData uri="http://schemas.openxmlformats.org/presentationml/2006/ole">
              <mc:AlternateContent xmlns:mc="http://schemas.openxmlformats.org/markup-compatibility/2006">
                <mc:Choice xmlns:v="urn:schemas-microsoft-com:vml" Requires="v">
                  <p:oleObj r:id="rId5" imgW="469696" imgH="241195" progId="Equation.3">
                    <p:embed/>
                  </p:oleObj>
                </mc:Choice>
                <mc:Fallback>
                  <p:oleObj r:id="rId5" imgW="469696" imgH="241195"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 y="1917"/>
                          <a:ext cx="50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6" name="Rectangle 26"/>
            <p:cNvSpPr>
              <a:spLocks noChangeArrowheads="1"/>
            </p:cNvSpPr>
            <p:nvPr/>
          </p:nvSpPr>
          <p:spPr bwMode="auto">
            <a:xfrm>
              <a:off x="576" y="1183"/>
              <a:ext cx="4704"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en-US" altLang="zh-CN" sz="2800">
                  <a:latin typeface="Times New Roman" panose="02020603050405020304" pitchFamily="18" charset="0"/>
                </a:rPr>
                <a:t>1. </a:t>
              </a:r>
              <a:r>
                <a:rPr lang="zh-CN" altLang="en-US" sz="2800">
                  <a:latin typeface="Times New Roman" panose="02020603050405020304" pitchFamily="18" charset="0"/>
                </a:rPr>
                <a:t>令</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Times New Roman" panose="02020603050405020304" pitchFamily="18" charset="0"/>
                </a:rPr>
                <a:t>，此时系统输入</a:t>
              </a:r>
              <a:r>
                <a:rPr lang="en-US" altLang="zh-CN" sz="2800">
                  <a:latin typeface="Times New Roman" panose="02020603050405020304" pitchFamily="18" charset="0"/>
                </a:rPr>
                <a:t>R(</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与偏差</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之间的传递函数称为</a:t>
              </a:r>
              <a:r>
                <a:rPr lang="zh-CN" altLang="en-US" sz="2800">
                  <a:solidFill>
                    <a:srgbClr val="FF0000"/>
                  </a:solidFill>
                  <a:latin typeface="Times New Roman" panose="02020603050405020304" pitchFamily="18" charset="0"/>
                </a:rPr>
                <a:t>控制量</a:t>
              </a:r>
              <a:r>
                <a:rPr lang="zh-CN" altLang="en-US" sz="2800">
                  <a:solidFill>
                    <a:srgbClr val="CC0000"/>
                  </a:solidFill>
                  <a:latin typeface="Times New Roman" panose="02020603050405020304" pitchFamily="18" charset="0"/>
                </a:rPr>
                <a:t>作用下的偏差传递函数</a:t>
              </a:r>
              <a:r>
                <a:rPr lang="zh-CN" altLang="en-US" sz="2800">
                  <a:latin typeface="Times New Roman" panose="02020603050405020304" pitchFamily="18" charset="0"/>
                </a:rPr>
                <a:t>。用</a:t>
              </a:r>
            </a:p>
          </p:txBody>
        </p:sp>
        <p:sp>
          <p:nvSpPr>
            <p:cNvPr id="58377" name="Rectangle 27"/>
            <p:cNvSpPr>
              <a:spLocks noChangeArrowheads="1"/>
            </p:cNvSpPr>
            <p:nvPr/>
          </p:nvSpPr>
          <p:spPr bwMode="auto">
            <a:xfrm>
              <a:off x="1200" y="1839"/>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表示。</a:t>
              </a:r>
            </a:p>
          </p:txBody>
        </p:sp>
      </p:grpSp>
      <p:pic>
        <p:nvPicPr>
          <p:cNvPr id="58374" name="图片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8475" y="76200"/>
            <a:ext cx="4438650"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7367"/>
                                        </p:tgtEl>
                                        <p:attrNameLst>
                                          <p:attrName>style.visibility</p:attrName>
                                        </p:attrNameLst>
                                      </p:cBhvr>
                                      <p:to>
                                        <p:strVal val="visible"/>
                                      </p:to>
                                    </p:set>
                                    <p:anim calcmode="lin" valueType="num">
                                      <p:cBhvr additive="base">
                                        <p:cTn id="19" dur="500" fill="hold"/>
                                        <p:tgtEl>
                                          <p:spTgt spid="57367"/>
                                        </p:tgtEl>
                                        <p:attrNameLst>
                                          <p:attrName>ppt_x</p:attrName>
                                        </p:attrNameLst>
                                      </p:cBhvr>
                                      <p:tavLst>
                                        <p:tav tm="0">
                                          <p:val>
                                            <p:strVal val="#ppt_x"/>
                                          </p:val>
                                        </p:tav>
                                        <p:tav tm="100000">
                                          <p:val>
                                            <p:strVal val="#ppt_x"/>
                                          </p:val>
                                        </p:tav>
                                      </p:tavLst>
                                    </p:anim>
                                    <p:anim calcmode="lin" valueType="num">
                                      <p:cBhvr additive="base">
                                        <p:cTn id="20" dur="500" fill="hold"/>
                                        <p:tgtEl>
                                          <p:spTgt spid="573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ChangeArrowheads="1"/>
          </p:cNvSpPr>
          <p:nvPr/>
        </p:nvSpPr>
        <p:spPr bwMode="auto">
          <a:xfrm>
            <a:off x="914400" y="1878013"/>
            <a:ext cx="76200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en-US" altLang="zh-CN" sz="2800">
                <a:latin typeface="宋体" panose="02010600030101010101" pitchFamily="2" charset="-122"/>
              </a:rPr>
              <a:t>2.</a:t>
            </a:r>
            <a:r>
              <a:rPr lang="zh-CN" altLang="en-US" sz="2800">
                <a:latin typeface="宋体" panose="02010600030101010101" pitchFamily="2" charset="-122"/>
              </a:rPr>
              <a:t>令</a:t>
            </a:r>
            <a:r>
              <a:rPr lang="en-US" altLang="zh-CN" sz="2800">
                <a:latin typeface="宋体" panose="02010600030101010101" pitchFamily="2" charset="-122"/>
              </a:rPr>
              <a:t>r</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宋体" panose="02010600030101010101" pitchFamily="2" charset="-122"/>
              </a:rPr>
              <a:t>，此时系统在扰动作用下的偏差传递函数（称</a:t>
            </a:r>
            <a:r>
              <a:rPr lang="zh-CN" altLang="en-US" sz="2800">
                <a:solidFill>
                  <a:srgbClr val="CC0000"/>
                </a:solidFill>
                <a:latin typeface="宋体" panose="02010600030101010101" pitchFamily="2" charset="-122"/>
              </a:rPr>
              <a:t>扰动偏差传递函数</a:t>
            </a:r>
            <a:r>
              <a:rPr lang="zh-CN" altLang="en-US" sz="2800">
                <a:latin typeface="宋体" panose="02010600030101010101" pitchFamily="2" charset="-122"/>
              </a:rPr>
              <a:t>）。</a:t>
            </a:r>
            <a:r>
              <a:rPr lang="zh-CN" altLang="en-US" sz="2800">
                <a:latin typeface="Times New Roman" panose="02020603050405020304" pitchFamily="18" charset="0"/>
              </a:rPr>
              <a:t> </a:t>
            </a:r>
          </a:p>
        </p:txBody>
      </p:sp>
      <p:graphicFrame>
        <p:nvGraphicFramePr>
          <p:cNvPr id="55301" name="Object 5"/>
          <p:cNvGraphicFramePr>
            <a:graphicFrameLocks noChangeAspect="1"/>
          </p:cNvGraphicFramePr>
          <p:nvPr/>
        </p:nvGraphicFramePr>
        <p:xfrm>
          <a:off x="2532063" y="5619750"/>
          <a:ext cx="4232275" cy="773113"/>
        </p:xfrm>
        <a:graphic>
          <a:graphicData uri="http://schemas.openxmlformats.org/presentationml/2006/ole">
            <mc:AlternateContent xmlns:mc="http://schemas.openxmlformats.org/markup-compatibility/2006">
              <mc:Choice xmlns:v="urn:schemas-microsoft-com:vml" Requires="v">
                <p:oleObj r:id="rId3" imgW="2362200" imgH="431800" progId="Equation.3">
                  <p:embed/>
                </p:oleObj>
              </mc:Choice>
              <mc:Fallback>
                <p:oleObj r:id="rId3" imgW="2362200" imgH="431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2063" y="5619750"/>
                        <a:ext cx="4232275"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p:cNvGrpSpPr>
            <a:grpSpLocks/>
          </p:cNvGrpSpPr>
          <p:nvPr/>
        </p:nvGrpSpPr>
        <p:grpSpPr bwMode="auto">
          <a:xfrm>
            <a:off x="1828800" y="2971800"/>
            <a:ext cx="5715000" cy="2417763"/>
            <a:chOff x="1152" y="1872"/>
            <a:chExt cx="3600" cy="1523"/>
          </a:xfrm>
        </p:grpSpPr>
        <p:sp>
          <p:nvSpPr>
            <p:cNvPr id="60422" name="Rectangle 7"/>
            <p:cNvSpPr>
              <a:spLocks noChangeArrowheads="1"/>
            </p:cNvSpPr>
            <p:nvPr/>
          </p:nvSpPr>
          <p:spPr bwMode="auto">
            <a:xfrm>
              <a:off x="3744" y="1990"/>
              <a:ext cx="384" cy="38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-1</a:t>
              </a:r>
            </a:p>
          </p:txBody>
        </p:sp>
        <p:sp>
          <p:nvSpPr>
            <p:cNvPr id="60423" name="Line 8"/>
            <p:cNvSpPr>
              <a:spLocks noChangeShapeType="1"/>
            </p:cNvSpPr>
            <p:nvPr/>
          </p:nvSpPr>
          <p:spPr bwMode="auto">
            <a:xfrm flipV="1">
              <a:off x="1786" y="2278"/>
              <a:ext cx="0" cy="50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4" name="Text Box 9"/>
            <p:cNvSpPr txBox="1">
              <a:spLocks noChangeArrowheads="1"/>
            </p:cNvSpPr>
            <p:nvPr/>
          </p:nvSpPr>
          <p:spPr bwMode="auto">
            <a:xfrm>
              <a:off x="1634" y="1990"/>
              <a:ext cx="31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60425" name="Line 10"/>
            <p:cNvSpPr>
              <a:spLocks noChangeShapeType="1"/>
            </p:cNvSpPr>
            <p:nvPr/>
          </p:nvSpPr>
          <p:spPr bwMode="auto">
            <a:xfrm>
              <a:off x="1162" y="2182"/>
              <a:ext cx="52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6" name="Text Box 11"/>
            <p:cNvSpPr txBox="1">
              <a:spLocks noChangeArrowheads="1"/>
            </p:cNvSpPr>
            <p:nvPr/>
          </p:nvSpPr>
          <p:spPr bwMode="auto">
            <a:xfrm>
              <a:off x="1152" y="1872"/>
              <a:ext cx="4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i="1">
                  <a:latin typeface="Times New Roman" panose="02020603050405020304" pitchFamily="18" charset="0"/>
                </a:rPr>
                <a:t>N</a:t>
              </a:r>
              <a:r>
                <a:rPr lang="en-US" altLang="zh-CN" sz="2400" b="1">
                  <a:latin typeface="Times New Roman" panose="02020603050405020304" pitchFamily="18" charset="0"/>
                </a:rPr>
                <a:t>(</a:t>
              </a:r>
              <a:r>
                <a:rPr lang="en-US" altLang="zh-CN" sz="2400" b="1" i="1">
                  <a:latin typeface="Times New Roman" panose="02020603050405020304" pitchFamily="18" charset="0"/>
                </a:rPr>
                <a:t>s</a:t>
              </a:r>
              <a:r>
                <a:rPr lang="en-US" altLang="zh-CN" sz="2400" b="1">
                  <a:latin typeface="Times New Roman" panose="02020603050405020304" pitchFamily="18" charset="0"/>
                </a:rPr>
                <a:t>)</a:t>
              </a:r>
            </a:p>
          </p:txBody>
        </p:sp>
        <p:sp>
          <p:nvSpPr>
            <p:cNvPr id="60427" name="Rectangle 12"/>
            <p:cNvSpPr>
              <a:spLocks noChangeArrowheads="1"/>
            </p:cNvSpPr>
            <p:nvPr/>
          </p:nvSpPr>
          <p:spPr bwMode="auto">
            <a:xfrm>
              <a:off x="2927" y="2592"/>
              <a:ext cx="529" cy="38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1</a:t>
              </a:r>
              <a:r>
                <a:rPr lang="en-US" altLang="zh-CN" sz="2400">
                  <a:latin typeface="Times New Roman" panose="02020603050405020304" pitchFamily="18" charset="0"/>
                </a:rPr>
                <a:t>(s)</a:t>
              </a:r>
            </a:p>
          </p:txBody>
        </p:sp>
        <p:sp>
          <p:nvSpPr>
            <p:cNvPr id="60428" name="Line 13"/>
            <p:cNvSpPr>
              <a:spLocks noChangeShapeType="1"/>
            </p:cNvSpPr>
            <p:nvPr/>
          </p:nvSpPr>
          <p:spPr bwMode="auto">
            <a:xfrm>
              <a:off x="4128" y="2160"/>
              <a:ext cx="62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9" name="Line 14"/>
            <p:cNvSpPr>
              <a:spLocks noChangeShapeType="1"/>
            </p:cNvSpPr>
            <p:nvPr/>
          </p:nvSpPr>
          <p:spPr bwMode="auto">
            <a:xfrm>
              <a:off x="1872" y="2176"/>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0" name="Line 15"/>
            <p:cNvSpPr>
              <a:spLocks noChangeShapeType="1"/>
            </p:cNvSpPr>
            <p:nvPr/>
          </p:nvSpPr>
          <p:spPr bwMode="auto">
            <a:xfrm>
              <a:off x="1776" y="2784"/>
              <a:ext cx="115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1" name="Line 16"/>
            <p:cNvSpPr>
              <a:spLocks noChangeShapeType="1"/>
            </p:cNvSpPr>
            <p:nvPr/>
          </p:nvSpPr>
          <p:spPr bwMode="auto">
            <a:xfrm>
              <a:off x="4368" y="2160"/>
              <a:ext cx="0" cy="6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2" name="Line 17"/>
            <p:cNvSpPr>
              <a:spLocks noChangeShapeType="1"/>
            </p:cNvSpPr>
            <p:nvPr/>
          </p:nvSpPr>
          <p:spPr bwMode="auto">
            <a:xfrm flipH="1">
              <a:off x="3456" y="2784"/>
              <a:ext cx="9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3" name="Text Box 18"/>
            <p:cNvSpPr txBox="1">
              <a:spLocks noChangeArrowheads="1"/>
            </p:cNvSpPr>
            <p:nvPr/>
          </p:nvSpPr>
          <p:spPr bwMode="auto">
            <a:xfrm>
              <a:off x="4128" y="1872"/>
              <a:ext cx="5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sym typeface="Symbol" panose="05050102010706020507" pitchFamily="18" charset="2"/>
                </a:rPr>
                <a:t></a:t>
              </a:r>
              <a:r>
                <a:rPr lang="en-US" altLang="zh-CN" sz="2400" i="1" baseline="-25000">
                  <a:latin typeface="Times New Roman" panose="02020603050405020304" pitchFamily="18" charset="0"/>
                </a:rPr>
                <a:t>N</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60434" name="Text Box 19"/>
            <p:cNvSpPr txBox="1">
              <a:spLocks noChangeArrowheads="1"/>
            </p:cNvSpPr>
            <p:nvPr/>
          </p:nvSpPr>
          <p:spPr bwMode="auto">
            <a:xfrm>
              <a:off x="1559" y="3107"/>
              <a:ext cx="28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偏差信号与干扰信号之间的关系</a:t>
              </a:r>
            </a:p>
          </p:txBody>
        </p:sp>
        <p:sp>
          <p:nvSpPr>
            <p:cNvPr id="60435" name="Rectangle 20"/>
            <p:cNvSpPr>
              <a:spLocks noChangeArrowheads="1"/>
            </p:cNvSpPr>
            <p:nvPr/>
          </p:nvSpPr>
          <p:spPr bwMode="auto">
            <a:xfrm>
              <a:off x="2112" y="1968"/>
              <a:ext cx="529" cy="38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G</a:t>
              </a:r>
              <a:r>
                <a:rPr lang="en-US" altLang="zh-CN" sz="2400" baseline="-25000">
                  <a:latin typeface="Times New Roman" panose="02020603050405020304" pitchFamily="18" charset="0"/>
                </a:rPr>
                <a:t>2</a:t>
              </a:r>
              <a:r>
                <a:rPr lang="en-US" altLang="zh-CN" sz="2400">
                  <a:latin typeface="Times New Roman" panose="02020603050405020304" pitchFamily="18" charset="0"/>
                </a:rPr>
                <a:t>(s)</a:t>
              </a:r>
            </a:p>
          </p:txBody>
        </p:sp>
        <p:sp>
          <p:nvSpPr>
            <p:cNvPr id="60436" name="Rectangle 21"/>
            <p:cNvSpPr>
              <a:spLocks noChangeArrowheads="1"/>
            </p:cNvSpPr>
            <p:nvPr/>
          </p:nvSpPr>
          <p:spPr bwMode="auto">
            <a:xfrm>
              <a:off x="2938" y="1968"/>
              <a:ext cx="518" cy="38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latin typeface="Times New Roman" panose="02020603050405020304" pitchFamily="18" charset="0"/>
                </a:rPr>
                <a:t>H(s)</a:t>
              </a:r>
            </a:p>
          </p:txBody>
        </p:sp>
        <p:sp>
          <p:nvSpPr>
            <p:cNvPr id="60437" name="Line 22"/>
            <p:cNvSpPr>
              <a:spLocks noChangeShapeType="1"/>
            </p:cNvSpPr>
            <p:nvPr/>
          </p:nvSpPr>
          <p:spPr bwMode="auto">
            <a:xfrm>
              <a:off x="2640" y="2160"/>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8" name="Line 23"/>
            <p:cNvSpPr>
              <a:spLocks noChangeShapeType="1"/>
            </p:cNvSpPr>
            <p:nvPr/>
          </p:nvSpPr>
          <p:spPr bwMode="auto">
            <a:xfrm>
              <a:off x="3456" y="2160"/>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9" name="Text Box 24"/>
            <p:cNvSpPr txBox="1">
              <a:spLocks noChangeArrowheads="1"/>
            </p:cNvSpPr>
            <p:nvPr/>
          </p:nvSpPr>
          <p:spPr bwMode="auto">
            <a:xfrm>
              <a:off x="1814" y="2234"/>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a:t>
              </a:r>
            </a:p>
          </p:txBody>
        </p:sp>
      </p:grpSp>
      <p:pic>
        <p:nvPicPr>
          <p:cNvPr id="60421" name="图片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8475" y="76200"/>
            <a:ext cx="4438650"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300"/>
                                        </p:tgtEl>
                                        <p:attrNameLst>
                                          <p:attrName>style.visibility</p:attrName>
                                        </p:attrNameLst>
                                      </p:cBhvr>
                                      <p:to>
                                        <p:strVal val="visible"/>
                                      </p:to>
                                    </p:set>
                                    <p:anim calcmode="lin" valueType="num">
                                      <p:cBhvr additive="base">
                                        <p:cTn id="7" dur="500" fill="hold"/>
                                        <p:tgtEl>
                                          <p:spTgt spid="55300"/>
                                        </p:tgtEl>
                                        <p:attrNameLst>
                                          <p:attrName>ppt_x</p:attrName>
                                        </p:attrNameLst>
                                      </p:cBhvr>
                                      <p:tavLst>
                                        <p:tav tm="0">
                                          <p:val>
                                            <p:strVal val="#ppt_x"/>
                                          </p:val>
                                        </p:tav>
                                        <p:tav tm="100000">
                                          <p:val>
                                            <p:strVal val="#ppt_x"/>
                                          </p:val>
                                        </p:tav>
                                      </p:tavLst>
                                    </p:anim>
                                    <p:anim calcmode="lin" valueType="num">
                                      <p:cBhvr additive="base">
                                        <p:cTn id="8" dur="500" fill="hold"/>
                                        <p:tgtEl>
                                          <p:spTgt spid="5530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5301"/>
                                        </p:tgtEl>
                                        <p:attrNameLst>
                                          <p:attrName>style.visibility</p:attrName>
                                        </p:attrNameLst>
                                      </p:cBhvr>
                                      <p:to>
                                        <p:strVal val="visible"/>
                                      </p:to>
                                    </p:set>
                                    <p:anim calcmode="lin" valueType="num">
                                      <p:cBhvr additive="base">
                                        <p:cTn id="19" dur="500" fill="hold"/>
                                        <p:tgtEl>
                                          <p:spTgt spid="55301"/>
                                        </p:tgtEl>
                                        <p:attrNameLst>
                                          <p:attrName>ppt_x</p:attrName>
                                        </p:attrNameLst>
                                      </p:cBhvr>
                                      <p:tavLst>
                                        <p:tav tm="0">
                                          <p:val>
                                            <p:strVal val="#ppt_x"/>
                                          </p:val>
                                        </p:tav>
                                        <p:tav tm="100000">
                                          <p:val>
                                            <p:strVal val="#ppt_x"/>
                                          </p:val>
                                        </p:tav>
                                      </p:tavLst>
                                    </p:anim>
                                    <p:anim calcmode="lin" valueType="num">
                                      <p:cBhvr additive="base">
                                        <p:cTn id="20" dur="500" fill="hold"/>
                                        <p:tgtEl>
                                          <p:spTgt spid="55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ChangeArrowheads="1"/>
          </p:cNvSpPr>
          <p:nvPr/>
        </p:nvSpPr>
        <p:spPr bwMode="auto">
          <a:xfrm>
            <a:off x="1066800" y="762000"/>
            <a:ext cx="6934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结论 </a:t>
            </a:r>
          </a:p>
        </p:txBody>
      </p:sp>
      <p:grpSp>
        <p:nvGrpSpPr>
          <p:cNvPr id="2" name="Group 4"/>
          <p:cNvGrpSpPr>
            <a:grpSpLocks/>
          </p:cNvGrpSpPr>
          <p:nvPr/>
        </p:nvGrpSpPr>
        <p:grpSpPr bwMode="auto">
          <a:xfrm>
            <a:off x="1042988" y="1628775"/>
            <a:ext cx="7467600" cy="2544763"/>
            <a:chOff x="657" y="1607"/>
            <a:chExt cx="4704" cy="1603"/>
          </a:xfrm>
        </p:grpSpPr>
        <p:sp>
          <p:nvSpPr>
            <p:cNvPr id="62469" name="Rectangle 5"/>
            <p:cNvSpPr>
              <a:spLocks noChangeArrowheads="1"/>
            </p:cNvSpPr>
            <p:nvPr/>
          </p:nvSpPr>
          <p:spPr bwMode="auto">
            <a:xfrm>
              <a:off x="657" y="1607"/>
              <a:ext cx="4704" cy="1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系统的闭环传递函数      、     、</a:t>
              </a:r>
            </a:p>
            <a:p>
              <a:pPr eaLnBrk="1" hangingPunct="1">
                <a:lnSpc>
                  <a:spcPct val="115000"/>
                </a:lnSpc>
                <a:spcBef>
                  <a:spcPct val="0"/>
                </a:spcBef>
                <a:buClrTx/>
                <a:buFontTx/>
                <a:buNone/>
              </a:pPr>
              <a:r>
                <a:rPr lang="zh-CN" altLang="en-US" sz="2800">
                  <a:latin typeface="宋体" panose="02010600030101010101" pitchFamily="2" charset="-122"/>
                </a:rPr>
                <a:t>  及       具有相同的特征多项式：</a:t>
              </a:r>
            </a:p>
            <a:p>
              <a:pPr eaLnBrk="1" hangingPunct="1">
                <a:lnSpc>
                  <a:spcPct val="115000"/>
                </a:lnSpc>
                <a:spcBef>
                  <a:spcPct val="0"/>
                </a:spcBef>
                <a:buClrTx/>
                <a:buFontTx/>
                <a:buNone/>
              </a:pPr>
              <a:r>
                <a:rPr lang="zh-CN" altLang="en-US" sz="2800">
                  <a:latin typeface="宋体" panose="02010600030101010101" pitchFamily="2" charset="-122"/>
                </a:rPr>
                <a:t>  </a:t>
              </a:r>
              <a:r>
                <a:rPr lang="zh-CN" altLang="en-US" sz="2800">
                  <a:latin typeface="Times New Roman" panose="02020603050405020304" pitchFamily="18" charset="0"/>
                </a:rPr>
                <a:t>                 </a:t>
              </a:r>
              <a:r>
                <a:rPr lang="en-US" altLang="zh-CN" sz="2800">
                  <a:latin typeface="Times New Roman" panose="02020603050405020304" pitchFamily="18" charset="0"/>
                </a:rPr>
                <a:t>1+G</a:t>
              </a:r>
              <a:r>
                <a:rPr lang="en-US" altLang="zh-CN" sz="2900" baseline="-30000">
                  <a:latin typeface="Times New Roman" panose="02020603050405020304" pitchFamily="18" charset="0"/>
                </a:rPr>
                <a:t>1</a:t>
              </a:r>
              <a:r>
                <a:rPr lang="en-US" altLang="zh-CN" sz="2800">
                  <a:latin typeface="Times New Roman" panose="02020603050405020304" pitchFamily="18" charset="0"/>
                </a:rPr>
                <a:t>(s)G</a:t>
              </a:r>
              <a:r>
                <a:rPr lang="en-US" altLang="zh-CN" sz="2900" baseline="-30000">
                  <a:latin typeface="Times New Roman" panose="02020603050405020304" pitchFamily="18" charset="0"/>
                </a:rPr>
                <a:t>2</a:t>
              </a:r>
              <a:r>
                <a:rPr lang="en-US" altLang="zh-CN" sz="2800">
                  <a:latin typeface="Times New Roman" panose="02020603050405020304" pitchFamily="18" charset="0"/>
                </a:rPr>
                <a:t>(s)H(s)</a:t>
              </a:r>
            </a:p>
            <a:p>
              <a:pPr eaLnBrk="1" hangingPunct="1">
                <a:lnSpc>
                  <a:spcPct val="115000"/>
                </a:lnSpc>
                <a:spcBef>
                  <a:spcPct val="0"/>
                </a:spcBef>
                <a:buClrTx/>
                <a:buFontTx/>
                <a:buNone/>
              </a:pPr>
              <a:r>
                <a:rPr lang="en-US" altLang="zh-CN" sz="2800">
                  <a:latin typeface="Times New Roman" panose="02020603050405020304" pitchFamily="18" charset="0"/>
                </a:rPr>
                <a:t>     </a:t>
              </a:r>
              <a:r>
                <a:rPr lang="zh-CN" altLang="en-US" sz="2800">
                  <a:latin typeface="宋体" panose="02010600030101010101" pitchFamily="2" charset="-122"/>
                </a:rPr>
                <a:t>其中</a:t>
              </a:r>
              <a:r>
                <a:rPr lang="en-US" altLang="zh-CN" sz="2800">
                  <a:latin typeface="Times New Roman" panose="02020603050405020304" pitchFamily="18" charset="0"/>
                </a:rPr>
                <a:t>G</a:t>
              </a:r>
              <a:r>
                <a:rPr lang="en-US" altLang="zh-CN" sz="2900" baseline="-30000">
                  <a:latin typeface="Times New Roman" panose="02020603050405020304" pitchFamily="18" charset="0"/>
                </a:rPr>
                <a:t>1</a:t>
              </a:r>
              <a:r>
                <a:rPr lang="en-US" altLang="zh-CN" sz="2800">
                  <a:latin typeface="Times New Roman" panose="02020603050405020304" pitchFamily="18" charset="0"/>
                </a:rPr>
                <a:t>(s)G</a:t>
              </a:r>
              <a:r>
                <a:rPr lang="en-US" altLang="zh-CN" sz="2900" baseline="-30000">
                  <a:latin typeface="Times New Roman" panose="02020603050405020304" pitchFamily="18" charset="0"/>
                </a:rPr>
                <a:t>2</a:t>
              </a:r>
              <a:r>
                <a:rPr lang="en-US" altLang="zh-CN" sz="2800">
                  <a:latin typeface="Times New Roman" panose="02020603050405020304" pitchFamily="18" charset="0"/>
                </a:rPr>
                <a:t>(s)H(s)</a:t>
              </a:r>
              <a:r>
                <a:rPr lang="zh-CN" altLang="en-US" sz="2800">
                  <a:latin typeface="宋体" panose="02010600030101010101" pitchFamily="2" charset="-122"/>
                </a:rPr>
                <a:t>为系统的开环传递函数。</a:t>
              </a:r>
            </a:p>
            <a:p>
              <a:pPr eaLnBrk="1" hangingPunct="1">
                <a:lnSpc>
                  <a:spcPct val="115000"/>
                </a:lnSpc>
                <a:spcBef>
                  <a:spcPct val="0"/>
                </a:spcBef>
                <a:buClrTx/>
                <a:buFontTx/>
                <a:buNone/>
              </a:pPr>
              <a:r>
                <a:rPr lang="zh-CN" altLang="en-US" sz="2800">
                  <a:latin typeface="宋体" panose="02010600030101010101" pitchFamily="2" charset="-122"/>
                </a:rPr>
                <a:t>  即</a:t>
              </a:r>
              <a:r>
                <a:rPr lang="zh-CN" altLang="en-US" sz="2800">
                  <a:solidFill>
                    <a:srgbClr val="CC0000"/>
                  </a:solidFill>
                  <a:latin typeface="宋体" panose="02010600030101010101" pitchFamily="2" charset="-122"/>
                </a:rPr>
                <a:t>闭环传递函数的极点相同</a:t>
              </a:r>
              <a:r>
                <a:rPr lang="zh-CN" altLang="en-US" sz="2800">
                  <a:latin typeface="宋体" panose="02010600030101010101" pitchFamily="2" charset="-122"/>
                </a:rPr>
                <a:t>。</a:t>
              </a:r>
              <a:r>
                <a:rPr lang="zh-CN" altLang="en-US" sz="2800">
                  <a:latin typeface="Times New Roman" panose="02020603050405020304" pitchFamily="18" charset="0"/>
                </a:rPr>
                <a:t> </a:t>
              </a:r>
            </a:p>
          </p:txBody>
        </p:sp>
        <p:graphicFrame>
          <p:nvGraphicFramePr>
            <p:cNvPr id="62470" name="Object 6"/>
            <p:cNvGraphicFramePr>
              <a:graphicFrameLocks noChangeAspect="1"/>
            </p:cNvGraphicFramePr>
            <p:nvPr/>
          </p:nvGraphicFramePr>
          <p:xfrm>
            <a:off x="3070" y="1667"/>
            <a:ext cx="515" cy="254"/>
          </p:xfrm>
          <a:graphic>
            <a:graphicData uri="http://schemas.openxmlformats.org/presentationml/2006/ole">
              <mc:AlternateContent xmlns:mc="http://schemas.openxmlformats.org/markup-compatibility/2006">
                <mc:Choice xmlns:v="urn:schemas-microsoft-com:vml" Requires="v">
                  <p:oleObj r:id="rId3" imgW="431613" imgH="215806" progId="Equation.3">
                    <p:embed/>
                  </p:oleObj>
                </mc:Choice>
                <mc:Fallback>
                  <p:oleObj r:id="rId3" imgW="431613" imgH="215806"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0" y="1667"/>
                          <a:ext cx="515"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1" name="Object 7"/>
            <p:cNvGraphicFramePr>
              <a:graphicFrameLocks noChangeAspect="1"/>
            </p:cNvGraphicFramePr>
            <p:nvPr/>
          </p:nvGraphicFramePr>
          <p:xfrm>
            <a:off x="3830" y="1663"/>
            <a:ext cx="560" cy="273"/>
          </p:xfrm>
          <a:graphic>
            <a:graphicData uri="http://schemas.openxmlformats.org/presentationml/2006/ole">
              <mc:AlternateContent xmlns:mc="http://schemas.openxmlformats.org/markup-compatibility/2006">
                <mc:Choice xmlns:v="urn:schemas-microsoft-com:vml" Requires="v">
                  <p:oleObj r:id="rId5" imgW="469900" imgH="228600" progId="Equation.3">
                    <p:embed/>
                  </p:oleObj>
                </mc:Choice>
                <mc:Fallback>
                  <p:oleObj r:id="rId5" imgW="469900" imgH="228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0" y="1663"/>
                          <a:ext cx="56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2" name="Object 8"/>
            <p:cNvGraphicFramePr>
              <a:graphicFrameLocks noChangeAspect="1"/>
            </p:cNvGraphicFramePr>
            <p:nvPr/>
          </p:nvGraphicFramePr>
          <p:xfrm>
            <a:off x="4592" y="1640"/>
            <a:ext cx="624" cy="283"/>
          </p:xfrm>
          <a:graphic>
            <a:graphicData uri="http://schemas.openxmlformats.org/presentationml/2006/ole">
              <mc:AlternateContent xmlns:mc="http://schemas.openxmlformats.org/markup-compatibility/2006">
                <mc:Choice xmlns:v="urn:schemas-microsoft-com:vml" Requires="v">
                  <p:oleObj r:id="rId7" imgW="520474" imgH="241195" progId="Equation.3">
                    <p:embed/>
                  </p:oleObj>
                </mc:Choice>
                <mc:Fallback>
                  <p:oleObj r:id="rId7" imgW="520474" imgH="24119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2" y="1640"/>
                          <a:ext cx="624"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3" name="Object 9"/>
            <p:cNvGraphicFramePr>
              <a:graphicFrameLocks noChangeAspect="1"/>
            </p:cNvGraphicFramePr>
            <p:nvPr/>
          </p:nvGraphicFramePr>
          <p:xfrm>
            <a:off x="1264" y="1952"/>
            <a:ext cx="715" cy="317"/>
          </p:xfrm>
          <a:graphic>
            <a:graphicData uri="http://schemas.openxmlformats.org/presentationml/2006/ole">
              <mc:AlternateContent xmlns:mc="http://schemas.openxmlformats.org/markup-compatibility/2006">
                <mc:Choice xmlns:v="urn:schemas-microsoft-com:vml" Requires="v">
                  <p:oleObj r:id="rId9" imgW="596641" imgH="266584" progId="Equation.3">
                    <p:embed/>
                  </p:oleObj>
                </mc:Choice>
                <mc:Fallback>
                  <p:oleObj r:id="rId9" imgW="596641" imgH="266584"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64" y="1952"/>
                          <a:ext cx="71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54282" name="Rectangle 10"/>
          <p:cNvSpPr>
            <a:spLocks noChangeArrowheads="1"/>
          </p:cNvSpPr>
          <p:nvPr/>
        </p:nvSpPr>
        <p:spPr bwMode="auto">
          <a:xfrm>
            <a:off x="971550" y="4221163"/>
            <a:ext cx="76200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系统的固有特性与输入、输出的形式、位置</a:t>
            </a:r>
          </a:p>
          <a:p>
            <a:pPr eaLnBrk="1" hangingPunct="1">
              <a:lnSpc>
                <a:spcPct val="115000"/>
              </a:lnSpc>
              <a:spcBef>
                <a:spcPct val="0"/>
              </a:spcBef>
              <a:buClrTx/>
              <a:buFontTx/>
              <a:buNone/>
            </a:pPr>
            <a:r>
              <a:rPr lang="zh-CN" altLang="en-US" sz="2800">
                <a:latin typeface="宋体" panose="02010600030101010101" pitchFamily="2" charset="-122"/>
              </a:rPr>
              <a:t>  均无关；同一个外作用加在系统不同的位置</a:t>
            </a:r>
          </a:p>
          <a:p>
            <a:pPr eaLnBrk="1" hangingPunct="1">
              <a:lnSpc>
                <a:spcPct val="115000"/>
              </a:lnSpc>
              <a:spcBef>
                <a:spcPct val="0"/>
              </a:spcBef>
              <a:buClrTx/>
              <a:buFontTx/>
              <a:buNone/>
            </a:pPr>
            <a:r>
              <a:rPr lang="zh-CN" altLang="en-US" sz="2800">
                <a:latin typeface="宋体" panose="02010600030101010101" pitchFamily="2" charset="-122"/>
              </a:rPr>
              <a:t>  上，系统的响应不同，但不会改变系统的固</a:t>
            </a:r>
          </a:p>
          <a:p>
            <a:pPr eaLnBrk="1" hangingPunct="1">
              <a:lnSpc>
                <a:spcPct val="115000"/>
              </a:lnSpc>
              <a:spcBef>
                <a:spcPct val="0"/>
              </a:spcBef>
              <a:buClrTx/>
              <a:buFontTx/>
              <a:buNone/>
            </a:pPr>
            <a:r>
              <a:rPr lang="zh-CN" altLang="en-US" sz="2800">
                <a:latin typeface="宋体" panose="02010600030101010101" pitchFamily="2" charset="-122"/>
              </a:rPr>
              <a:t>  有特性；</a:t>
            </a:r>
            <a:r>
              <a:rPr lang="zh-CN" altLang="en-US" sz="280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82"/>
                                        </p:tgtEl>
                                        <p:attrNameLst>
                                          <p:attrName>style.visibility</p:attrName>
                                        </p:attrNameLst>
                                      </p:cBhvr>
                                      <p:to>
                                        <p:strVal val="visible"/>
                                      </p:to>
                                    </p:set>
                                    <p:anim calcmode="lin" valueType="num">
                                      <p:cBhvr additive="base">
                                        <p:cTn id="13" dur="500" fill="hold"/>
                                        <p:tgtEl>
                                          <p:spTgt spid="54282"/>
                                        </p:tgtEl>
                                        <p:attrNameLst>
                                          <p:attrName>ppt_x</p:attrName>
                                        </p:attrNameLst>
                                      </p:cBhvr>
                                      <p:tavLst>
                                        <p:tav tm="0">
                                          <p:val>
                                            <p:strVal val="#ppt_x"/>
                                          </p:val>
                                        </p:tav>
                                        <p:tav tm="100000">
                                          <p:val>
                                            <p:strVal val="#ppt_x"/>
                                          </p:val>
                                        </p:tav>
                                      </p:tavLst>
                                    </p:anim>
                                    <p:anim calcmode="lin" valueType="num">
                                      <p:cBhvr additive="base">
                                        <p:cTn id="14" dur="500" fill="hold"/>
                                        <p:tgtEl>
                                          <p:spTgt spid="542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E5B3C17D-B94E-4FC6-B3BA-8EA8983F3B65}" type="datetime1">
              <a:rPr lang="zh-CN" altLang="en-US" sz="1200" smtClean="0"/>
              <a:pPr>
                <a:spcBef>
                  <a:spcPct val="0"/>
                </a:spcBef>
                <a:buClrTx/>
                <a:buFontTx/>
                <a:buNone/>
              </a:pPr>
              <a:t>2025/9/14</a:t>
            </a:fld>
            <a:endParaRPr lang="zh-CN" altLang="en-US" sz="1200"/>
          </a:p>
        </p:txBody>
      </p:sp>
      <p:sp>
        <p:nvSpPr>
          <p:cNvPr id="64515" name="灯片编号占位符 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837ACD25-B185-4BC0-BC92-BF9E0543EF54}" type="slidenum">
              <a:rPr lang="en-US" altLang="zh-CN" sz="1200" smtClean="0"/>
              <a:pPr>
                <a:spcBef>
                  <a:spcPct val="0"/>
                </a:spcBef>
                <a:buClrTx/>
                <a:buFontTx/>
                <a:buNone/>
              </a:pPr>
              <a:t>20</a:t>
            </a:fld>
            <a:endParaRPr lang="en-US" altLang="zh-CN" sz="1200"/>
          </a:p>
        </p:txBody>
      </p:sp>
      <p:sp>
        <p:nvSpPr>
          <p:cNvPr id="64516" name="文本框 3"/>
          <p:cNvSpPr txBox="1">
            <a:spLocks noChangeArrowheads="1"/>
          </p:cNvSpPr>
          <p:nvPr/>
        </p:nvSpPr>
        <p:spPr bwMode="auto">
          <a:xfrm>
            <a:off x="827088" y="2852738"/>
            <a:ext cx="21447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t>作业</a:t>
            </a:r>
            <a:r>
              <a:rPr lang="en-US" altLang="zh-CN" sz="2800"/>
              <a:t>:  2-14</a:t>
            </a:r>
            <a:endParaRPr lang="zh-CN" altLang="en-US" sz="2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7D43BC9C-63F9-4776-B966-90DD2D8D52E5}" type="datetime1">
              <a:rPr lang="zh-CN" altLang="en-US" sz="1200" smtClean="0"/>
              <a:pPr>
                <a:spcBef>
                  <a:spcPct val="0"/>
                </a:spcBef>
                <a:buClrTx/>
                <a:buFontTx/>
                <a:buNone/>
              </a:pPr>
              <a:t>2025/9/14</a:t>
            </a:fld>
            <a:endParaRPr lang="zh-CN" altLang="en-US" sz="1200"/>
          </a:p>
        </p:txBody>
      </p:sp>
      <p:sp>
        <p:nvSpPr>
          <p:cNvPr id="65539"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ED852C18-418C-4592-9F59-69F84F2BE593}" type="slidenum">
              <a:rPr lang="en-US" altLang="zh-CN" sz="1200" smtClean="0"/>
              <a:pPr>
                <a:spcBef>
                  <a:spcPct val="0"/>
                </a:spcBef>
                <a:buClrTx/>
                <a:buFontTx/>
                <a:buNone/>
              </a:pPr>
              <a:t>21</a:t>
            </a:fld>
            <a:endParaRPr lang="en-US" altLang="zh-CN" sz="1200"/>
          </a:p>
        </p:txBody>
      </p:sp>
      <p:sp>
        <p:nvSpPr>
          <p:cNvPr id="65540" name="Text Box 3"/>
          <p:cNvSpPr txBox="1">
            <a:spLocks noChangeArrowheads="1"/>
          </p:cNvSpPr>
          <p:nvPr/>
        </p:nvSpPr>
        <p:spPr bwMode="auto">
          <a:xfrm>
            <a:off x="19081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2</a:t>
            </a:r>
            <a:r>
              <a:rPr lang="zh-CN" altLang="en-US" sz="3600">
                <a:latin typeface="Times New Roman" panose="02020603050405020304" pitchFamily="18" charset="0"/>
                <a:ea typeface="华文新魏" panose="02010800040101010101" pitchFamily="2" charset="-122"/>
              </a:rPr>
              <a:t>章  数学模型</a:t>
            </a:r>
          </a:p>
        </p:txBody>
      </p:sp>
      <p:sp>
        <p:nvSpPr>
          <p:cNvPr id="65541" name="Rectangle 4"/>
          <p:cNvSpPr>
            <a:spLocks noChangeArrowheads="1"/>
          </p:cNvSpPr>
          <p:nvPr/>
        </p:nvSpPr>
        <p:spPr bwMode="auto">
          <a:xfrm>
            <a:off x="1981200" y="2209800"/>
            <a:ext cx="377507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2.2   </a:t>
            </a:r>
            <a:r>
              <a:rPr lang="zh-CN" altLang="en-US" sz="2800">
                <a:latin typeface="Times New Roman" panose="02020603050405020304" pitchFamily="18" charset="0"/>
                <a:ea typeface="黑体" panose="02010609060101010101" pitchFamily="49" charset="-122"/>
              </a:rPr>
              <a:t>拉氏变换和反变换</a:t>
            </a:r>
          </a:p>
        </p:txBody>
      </p:sp>
      <p:sp>
        <p:nvSpPr>
          <p:cNvPr id="65542" name="Rectangle 5"/>
          <p:cNvSpPr>
            <a:spLocks noChangeArrowheads="1"/>
          </p:cNvSpPr>
          <p:nvPr/>
        </p:nvSpPr>
        <p:spPr bwMode="auto">
          <a:xfrm>
            <a:off x="1981200" y="2757488"/>
            <a:ext cx="23383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2.3   </a:t>
            </a:r>
            <a:r>
              <a:rPr lang="zh-CN" altLang="en-US" sz="2800">
                <a:latin typeface="Times New Roman" panose="02020603050405020304" pitchFamily="18" charset="0"/>
                <a:ea typeface="黑体" panose="02010609060101010101" pitchFamily="49" charset="-122"/>
              </a:rPr>
              <a:t>传递函数</a:t>
            </a:r>
          </a:p>
        </p:txBody>
      </p:sp>
      <p:sp>
        <p:nvSpPr>
          <p:cNvPr id="65543" name="Rectangle 6"/>
          <p:cNvSpPr>
            <a:spLocks noChangeArrowheads="1"/>
          </p:cNvSpPr>
          <p:nvPr/>
        </p:nvSpPr>
        <p:spPr bwMode="auto">
          <a:xfrm>
            <a:off x="1981200" y="3967163"/>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solidFill>
                  <a:srgbClr val="FF0000"/>
                </a:solidFill>
                <a:latin typeface="Times New Roman" panose="02020603050405020304" pitchFamily="18" charset="0"/>
                <a:ea typeface="黑体" panose="02010609060101010101" pitchFamily="49" charset="-122"/>
              </a:rPr>
              <a:t>2.5   </a:t>
            </a:r>
            <a:r>
              <a:rPr lang="zh-CN" altLang="en-US" sz="2800">
                <a:solidFill>
                  <a:srgbClr val="FF0000"/>
                </a:solidFill>
                <a:latin typeface="Times New Roman" panose="02020603050405020304" pitchFamily="18" charset="0"/>
                <a:ea typeface="黑体" panose="02010609060101010101" pitchFamily="49" charset="-122"/>
              </a:rPr>
              <a:t>非线性数学模型的线性化</a:t>
            </a:r>
          </a:p>
        </p:txBody>
      </p:sp>
      <p:sp>
        <p:nvSpPr>
          <p:cNvPr id="65544" name="Rectangle 7"/>
          <p:cNvSpPr>
            <a:spLocks noChangeArrowheads="1"/>
          </p:cNvSpPr>
          <p:nvPr/>
        </p:nvSpPr>
        <p:spPr bwMode="auto">
          <a:xfrm>
            <a:off x="1979613" y="3330575"/>
            <a:ext cx="449421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2.4   </a:t>
            </a:r>
            <a:r>
              <a:rPr lang="zh-CN" altLang="en-US" sz="2800">
                <a:latin typeface="Times New Roman" panose="02020603050405020304" pitchFamily="18" charset="0"/>
                <a:ea typeface="黑体" panose="02010609060101010101" pitchFamily="49" charset="-122"/>
              </a:rPr>
              <a:t>系统方框图和信号流图</a:t>
            </a:r>
          </a:p>
        </p:txBody>
      </p:sp>
      <p:sp>
        <p:nvSpPr>
          <p:cNvPr id="65545" name="Rectangle 8"/>
          <p:cNvSpPr>
            <a:spLocks noChangeArrowheads="1"/>
          </p:cNvSpPr>
          <p:nvPr/>
        </p:nvSpPr>
        <p:spPr bwMode="auto">
          <a:xfrm>
            <a:off x="1981200" y="4405313"/>
            <a:ext cx="5211763"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2.6   </a:t>
            </a:r>
            <a:r>
              <a:rPr lang="zh-CN" altLang="en-US" sz="2800">
                <a:latin typeface="Times New Roman" panose="02020603050405020304" pitchFamily="18" charset="0"/>
                <a:ea typeface="黑体" panose="02010609060101010101" pitchFamily="49" charset="-122"/>
              </a:rPr>
              <a:t>控制系统传递函数推导举例</a:t>
            </a:r>
          </a:p>
        </p:txBody>
      </p:sp>
      <p:sp>
        <p:nvSpPr>
          <p:cNvPr id="65546" name="Rectangle 11"/>
          <p:cNvSpPr>
            <a:spLocks noChangeArrowheads="1"/>
          </p:cNvSpPr>
          <p:nvPr/>
        </p:nvSpPr>
        <p:spPr bwMode="auto">
          <a:xfrm>
            <a:off x="1981200" y="1676400"/>
            <a:ext cx="485298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2.1   </a:t>
            </a:r>
            <a:r>
              <a:rPr lang="zh-CN" altLang="en-US" sz="2800">
                <a:latin typeface="Times New Roman" panose="02020603050405020304" pitchFamily="18" charset="0"/>
                <a:ea typeface="黑体" panose="02010609060101010101" pitchFamily="49" charset="-122"/>
              </a:rPr>
              <a:t>控制系统的运动微分方程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030518E8-3512-4589-8F70-A91B7C30702B}" type="datetime1">
              <a:rPr lang="zh-CN" altLang="en-US" sz="1200" smtClean="0"/>
              <a:pPr>
                <a:spcBef>
                  <a:spcPct val="0"/>
                </a:spcBef>
                <a:buClrTx/>
                <a:buFontTx/>
                <a:buNone/>
              </a:pPr>
              <a:t>2025/9/14</a:t>
            </a:fld>
            <a:endParaRPr lang="zh-CN" altLang="en-US" sz="1200"/>
          </a:p>
        </p:txBody>
      </p:sp>
      <p:sp>
        <p:nvSpPr>
          <p:cNvPr id="67587"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B3AF912E-02DA-44DA-BEA4-A255CA8DC072}" type="slidenum">
              <a:rPr lang="en-US" altLang="zh-CN" sz="1200" smtClean="0"/>
              <a:pPr>
                <a:spcBef>
                  <a:spcPct val="0"/>
                </a:spcBef>
                <a:buClrTx/>
                <a:buFontTx/>
                <a:buNone/>
              </a:pPr>
              <a:t>22</a:t>
            </a:fld>
            <a:endParaRPr lang="en-US" altLang="zh-CN" sz="1200"/>
          </a:p>
        </p:txBody>
      </p:sp>
      <p:sp>
        <p:nvSpPr>
          <p:cNvPr id="28674" name="Rectangle 2"/>
          <p:cNvSpPr>
            <a:spLocks noChangeArrowheads="1"/>
          </p:cNvSpPr>
          <p:nvPr/>
        </p:nvSpPr>
        <p:spPr bwMode="auto">
          <a:xfrm>
            <a:off x="1371600" y="2246313"/>
            <a:ext cx="7391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宋体" panose="02010600030101010101" pitchFamily="2" charset="-122"/>
              </a:rPr>
              <a:t>用非线性微分方程描述的系统。非线性系统不满足叠加原理。</a:t>
            </a:r>
          </a:p>
        </p:txBody>
      </p:sp>
      <p:sp>
        <p:nvSpPr>
          <p:cNvPr id="67589" name="Rectangle 3"/>
          <p:cNvSpPr>
            <a:spLocks noChangeArrowheads="1"/>
          </p:cNvSpPr>
          <p:nvPr/>
        </p:nvSpPr>
        <p:spPr bwMode="auto">
          <a:xfrm>
            <a:off x="1365250" y="1600200"/>
            <a:ext cx="2368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q"/>
            </a:pPr>
            <a:r>
              <a:rPr lang="en-US" altLang="zh-CN" sz="2800">
                <a:latin typeface="Times New Roman" panose="02020603050405020304" pitchFamily="18" charset="0"/>
              </a:rPr>
              <a:t> </a:t>
            </a:r>
            <a:r>
              <a:rPr lang="zh-CN" altLang="en-US" sz="2800">
                <a:latin typeface="Times New Roman" panose="02020603050405020304" pitchFamily="18" charset="0"/>
              </a:rPr>
              <a:t>非线性系统</a:t>
            </a:r>
          </a:p>
        </p:txBody>
      </p:sp>
      <p:sp>
        <p:nvSpPr>
          <p:cNvPr id="28676" name="Rectangle 4"/>
          <p:cNvSpPr>
            <a:spLocks noChangeArrowheads="1"/>
          </p:cNvSpPr>
          <p:nvPr/>
        </p:nvSpPr>
        <p:spPr bwMode="auto">
          <a:xfrm>
            <a:off x="1331913" y="5084763"/>
            <a:ext cx="7315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宋体" panose="02010600030101010101" pitchFamily="2" charset="-122"/>
              </a:rPr>
              <a:t>为分析方便，通常在合理的条件下，将非线性系统简化为线性系统处理。 </a:t>
            </a:r>
          </a:p>
        </p:txBody>
      </p:sp>
      <p:sp>
        <p:nvSpPr>
          <p:cNvPr id="28677" name="Rectangle 5"/>
          <p:cNvSpPr>
            <a:spLocks noChangeArrowheads="1"/>
          </p:cNvSpPr>
          <p:nvPr/>
        </p:nvSpPr>
        <p:spPr bwMode="auto">
          <a:xfrm>
            <a:off x="1371600" y="3346450"/>
            <a:ext cx="7315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宋体" panose="02010600030101010101" pitchFamily="2" charset="-122"/>
              </a:rPr>
              <a:t>实际的系统通常都是非线性的，线性只在一定的工作范围内成立。 </a:t>
            </a:r>
          </a:p>
        </p:txBody>
      </p:sp>
      <p:sp>
        <p:nvSpPr>
          <p:cNvPr id="28679" name="Rectangle 7"/>
          <p:cNvSpPr>
            <a:spLocks noChangeArrowheads="1"/>
          </p:cNvSpPr>
          <p:nvPr/>
        </p:nvSpPr>
        <p:spPr bwMode="auto">
          <a:xfrm>
            <a:off x="1403350" y="4508500"/>
            <a:ext cx="7391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宋体" panose="02010600030101010101" pitchFamily="2" charset="-122"/>
              </a:rPr>
              <a:t>非线性系统的分析和综合是非常复杂的； </a:t>
            </a:r>
          </a:p>
        </p:txBody>
      </p:sp>
      <p:sp>
        <p:nvSpPr>
          <p:cNvPr id="67593" name="Rectangle 16"/>
          <p:cNvSpPr>
            <a:spLocks noChangeArrowheads="1"/>
          </p:cNvSpPr>
          <p:nvPr/>
        </p:nvSpPr>
        <p:spPr bwMode="auto">
          <a:xfrm>
            <a:off x="971550" y="908050"/>
            <a:ext cx="47625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2.5  </a:t>
            </a:r>
            <a:r>
              <a:rPr lang="zh-CN" altLang="en-US" sz="2800">
                <a:latin typeface="Times New Roman" panose="02020603050405020304" pitchFamily="18" charset="0"/>
                <a:ea typeface="黑体" panose="02010609060101010101" pitchFamily="49" charset="-122"/>
              </a:rPr>
              <a:t>非线性数学模型的线性化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additive="base">
                                        <p:cTn id="7" dur="500" fill="hold"/>
                                        <p:tgtEl>
                                          <p:spTgt spid="28674"/>
                                        </p:tgtEl>
                                        <p:attrNameLst>
                                          <p:attrName>ppt_x</p:attrName>
                                        </p:attrNameLst>
                                      </p:cBhvr>
                                      <p:tavLst>
                                        <p:tav tm="0">
                                          <p:val>
                                            <p:strVal val="#ppt_x"/>
                                          </p:val>
                                        </p:tav>
                                        <p:tav tm="100000">
                                          <p:val>
                                            <p:strVal val="#ppt_x"/>
                                          </p:val>
                                        </p:tav>
                                      </p:tavLst>
                                    </p:anim>
                                    <p:anim calcmode="lin" valueType="num">
                                      <p:cBhvr additive="base">
                                        <p:cTn id="8" dur="500" fill="hold"/>
                                        <p:tgtEl>
                                          <p:spTgt spid="286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7"/>
                                        </p:tgtEl>
                                        <p:attrNameLst>
                                          <p:attrName>style.visibility</p:attrName>
                                        </p:attrNameLst>
                                      </p:cBhvr>
                                      <p:to>
                                        <p:strVal val="visible"/>
                                      </p:to>
                                    </p:set>
                                    <p:anim calcmode="lin" valueType="num">
                                      <p:cBhvr additive="base">
                                        <p:cTn id="13" dur="500" fill="hold"/>
                                        <p:tgtEl>
                                          <p:spTgt spid="28677"/>
                                        </p:tgtEl>
                                        <p:attrNameLst>
                                          <p:attrName>ppt_x</p:attrName>
                                        </p:attrNameLst>
                                      </p:cBhvr>
                                      <p:tavLst>
                                        <p:tav tm="0">
                                          <p:val>
                                            <p:strVal val="#ppt_x"/>
                                          </p:val>
                                        </p:tav>
                                        <p:tav tm="100000">
                                          <p:val>
                                            <p:strVal val="#ppt_x"/>
                                          </p:val>
                                        </p:tav>
                                      </p:tavLst>
                                    </p:anim>
                                    <p:anim calcmode="lin" valueType="num">
                                      <p:cBhvr additive="base">
                                        <p:cTn id="14" dur="500" fill="hold"/>
                                        <p:tgtEl>
                                          <p:spTgt spid="2867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9"/>
                                        </p:tgtEl>
                                        <p:attrNameLst>
                                          <p:attrName>style.visibility</p:attrName>
                                        </p:attrNameLst>
                                      </p:cBhvr>
                                      <p:to>
                                        <p:strVal val="visible"/>
                                      </p:to>
                                    </p:set>
                                    <p:anim calcmode="lin" valueType="num">
                                      <p:cBhvr additive="base">
                                        <p:cTn id="19" dur="500" fill="hold"/>
                                        <p:tgtEl>
                                          <p:spTgt spid="28679"/>
                                        </p:tgtEl>
                                        <p:attrNameLst>
                                          <p:attrName>ppt_x</p:attrName>
                                        </p:attrNameLst>
                                      </p:cBhvr>
                                      <p:tavLst>
                                        <p:tav tm="0">
                                          <p:val>
                                            <p:strVal val="#ppt_x"/>
                                          </p:val>
                                        </p:tav>
                                        <p:tav tm="100000">
                                          <p:val>
                                            <p:strVal val="#ppt_x"/>
                                          </p:val>
                                        </p:tav>
                                      </p:tavLst>
                                    </p:anim>
                                    <p:anim calcmode="lin" valueType="num">
                                      <p:cBhvr additive="base">
                                        <p:cTn id="20" dur="500" fill="hold"/>
                                        <p:tgtEl>
                                          <p:spTgt spid="28679"/>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8676"/>
                                        </p:tgtEl>
                                        <p:attrNameLst>
                                          <p:attrName>style.visibility</p:attrName>
                                        </p:attrNameLst>
                                      </p:cBhvr>
                                      <p:to>
                                        <p:strVal val="visible"/>
                                      </p:to>
                                    </p:set>
                                    <p:anim calcmode="lin" valueType="num">
                                      <p:cBhvr additive="base">
                                        <p:cTn id="25" dur="500" fill="hold"/>
                                        <p:tgtEl>
                                          <p:spTgt spid="28676"/>
                                        </p:tgtEl>
                                        <p:attrNameLst>
                                          <p:attrName>ppt_x</p:attrName>
                                        </p:attrNameLst>
                                      </p:cBhvr>
                                      <p:tavLst>
                                        <p:tav tm="0">
                                          <p:val>
                                            <p:strVal val="#ppt_x"/>
                                          </p:val>
                                        </p:tav>
                                        <p:tav tm="100000">
                                          <p:val>
                                            <p:strVal val="#ppt_x"/>
                                          </p:val>
                                        </p:tav>
                                      </p:tavLst>
                                    </p:anim>
                                    <p:anim calcmode="lin" valueType="num">
                                      <p:cBhvr additive="base">
                                        <p:cTn id="26" dur="500" fill="hold"/>
                                        <p:tgtEl>
                                          <p:spTgt spid="286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7" grpId="0"/>
      <p:bldP spid="2867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8AC8038-FBC0-4053-BC3C-4CA8965E7C28}" type="datetime1">
              <a:rPr lang="en-US" altLang="zh-CN" sz="1200" smtClean="0"/>
              <a:pPr>
                <a:spcBef>
                  <a:spcPct val="0"/>
                </a:spcBef>
                <a:buClrTx/>
                <a:buFontTx/>
                <a:buNone/>
              </a:pPr>
              <a:t>9/14/2025</a:t>
            </a:fld>
            <a:endParaRPr lang="en-US" altLang="zh-CN" sz="1200"/>
          </a:p>
        </p:txBody>
      </p:sp>
      <p:sp>
        <p:nvSpPr>
          <p:cNvPr id="6963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C79ACDED-932F-44D5-B1A9-F9C2269CE140}" type="slidenum">
              <a:rPr lang="en-US" altLang="zh-CN" sz="1200" smtClean="0"/>
              <a:pPr>
                <a:spcBef>
                  <a:spcPct val="0"/>
                </a:spcBef>
                <a:buClrTx/>
                <a:buFontTx/>
                <a:buNone/>
              </a:pPr>
              <a:t>23</a:t>
            </a:fld>
            <a:endParaRPr lang="en-US" altLang="zh-CN" sz="1200"/>
          </a:p>
        </p:txBody>
      </p:sp>
      <p:sp>
        <p:nvSpPr>
          <p:cNvPr id="69636" name="Rectangle 2"/>
          <p:cNvSpPr>
            <a:spLocks noChangeArrowheads="1"/>
          </p:cNvSpPr>
          <p:nvPr/>
        </p:nvSpPr>
        <p:spPr bwMode="auto">
          <a:xfrm>
            <a:off x="900113" y="981075"/>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小偏差</a:t>
            </a:r>
            <a:r>
              <a:rPr lang="zh-CN" altLang="en-US" sz="2800">
                <a:latin typeface="宋体" panose="02010600030101010101" pitchFamily="2" charset="-122"/>
              </a:rPr>
              <a:t>线性化</a:t>
            </a:r>
            <a:r>
              <a:rPr lang="en-US" altLang="zh-CN" sz="2800">
                <a:latin typeface="Times New Roman" panose="02020603050405020304" pitchFamily="18" charset="0"/>
              </a:rPr>
              <a:t>——</a:t>
            </a:r>
            <a:r>
              <a:rPr lang="zh-CN" altLang="en-US" sz="2800">
                <a:latin typeface="宋体" panose="02010600030101010101" pitchFamily="2" charset="-122"/>
              </a:rPr>
              <a:t>切线法 </a:t>
            </a:r>
          </a:p>
        </p:txBody>
      </p:sp>
      <p:grpSp>
        <p:nvGrpSpPr>
          <p:cNvPr id="2" name="Group 3"/>
          <p:cNvGrpSpPr>
            <a:grpSpLocks/>
          </p:cNvGrpSpPr>
          <p:nvPr/>
        </p:nvGrpSpPr>
        <p:grpSpPr bwMode="auto">
          <a:xfrm>
            <a:off x="4481513" y="2133600"/>
            <a:ext cx="4205287" cy="4191000"/>
            <a:chOff x="2823" y="1344"/>
            <a:chExt cx="2649" cy="2640"/>
          </a:xfrm>
        </p:grpSpPr>
        <p:sp>
          <p:nvSpPr>
            <p:cNvPr id="69640" name="Line 4"/>
            <p:cNvSpPr>
              <a:spLocks noChangeShapeType="1"/>
            </p:cNvSpPr>
            <p:nvPr/>
          </p:nvSpPr>
          <p:spPr bwMode="auto">
            <a:xfrm flipV="1">
              <a:off x="3084" y="1431"/>
              <a:ext cx="0" cy="20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1" name="Line 5"/>
            <p:cNvSpPr>
              <a:spLocks noChangeShapeType="1"/>
            </p:cNvSpPr>
            <p:nvPr/>
          </p:nvSpPr>
          <p:spPr bwMode="auto">
            <a:xfrm flipV="1">
              <a:off x="3081" y="3492"/>
              <a:ext cx="235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2" name="Freeform 6"/>
            <p:cNvSpPr>
              <a:spLocks noChangeArrowheads="1"/>
            </p:cNvSpPr>
            <p:nvPr/>
          </p:nvSpPr>
          <p:spPr bwMode="auto">
            <a:xfrm>
              <a:off x="3462" y="1804"/>
              <a:ext cx="1192" cy="1203"/>
            </a:xfrm>
            <a:custGeom>
              <a:avLst/>
              <a:gdLst>
                <a:gd name="T0" fmla="*/ 0 w 1968"/>
                <a:gd name="T1" fmla="*/ 152 h 2016"/>
                <a:gd name="T2" fmla="*/ 51 w 1968"/>
                <a:gd name="T3" fmla="*/ 62 h 2016"/>
                <a:gd name="T4" fmla="*/ 161 w 1968"/>
                <a:gd name="T5" fmla="*/ 0 h 2016"/>
                <a:gd name="T6" fmla="*/ 0 60000 65536"/>
                <a:gd name="T7" fmla="*/ 0 60000 65536"/>
                <a:gd name="T8" fmla="*/ 0 60000 65536"/>
              </a:gdLst>
              <a:ahLst/>
              <a:cxnLst>
                <a:cxn ang="T6">
                  <a:pos x="T0" y="T1"/>
                </a:cxn>
                <a:cxn ang="T7">
                  <a:pos x="T2" y="T3"/>
                </a:cxn>
                <a:cxn ang="T8">
                  <a:pos x="T4" y="T5"/>
                </a:cxn>
              </a:cxnLst>
              <a:rect l="0" t="0" r="r" b="b"/>
              <a:pathLst>
                <a:path w="1968" h="2016">
                  <a:moveTo>
                    <a:pt x="0" y="2016"/>
                  </a:moveTo>
                  <a:cubicBezTo>
                    <a:pt x="148" y="1584"/>
                    <a:pt x="296" y="1152"/>
                    <a:pt x="624" y="816"/>
                  </a:cubicBezTo>
                  <a:cubicBezTo>
                    <a:pt x="952" y="480"/>
                    <a:pt x="1460" y="240"/>
                    <a:pt x="1968" y="0"/>
                  </a:cubicBezTo>
                </a:path>
              </a:pathLst>
            </a:custGeom>
            <a:noFill/>
            <a:ln w="50800">
              <a:solidFill>
                <a:srgbClr val="1C12D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43" name="Line 7"/>
            <p:cNvSpPr>
              <a:spLocks noChangeShapeType="1"/>
            </p:cNvSpPr>
            <p:nvPr/>
          </p:nvSpPr>
          <p:spPr bwMode="auto">
            <a:xfrm flipV="1">
              <a:off x="3346" y="1603"/>
              <a:ext cx="1017" cy="129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4" name="Line 8"/>
            <p:cNvSpPr>
              <a:spLocks noChangeShapeType="1"/>
            </p:cNvSpPr>
            <p:nvPr/>
          </p:nvSpPr>
          <p:spPr bwMode="auto">
            <a:xfrm flipH="1">
              <a:off x="3084" y="2377"/>
              <a:ext cx="669" cy="0"/>
            </a:xfrm>
            <a:prstGeom prst="line">
              <a:avLst/>
            </a:prstGeom>
            <a:noFill/>
            <a:ln w="317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5" name="Line 9"/>
            <p:cNvSpPr>
              <a:spLocks noChangeShapeType="1"/>
            </p:cNvSpPr>
            <p:nvPr/>
          </p:nvSpPr>
          <p:spPr bwMode="auto">
            <a:xfrm>
              <a:off x="3782" y="2377"/>
              <a:ext cx="0" cy="1117"/>
            </a:xfrm>
            <a:prstGeom prst="line">
              <a:avLst/>
            </a:prstGeom>
            <a:noFill/>
            <a:ln w="317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6" name="Line 10"/>
            <p:cNvSpPr>
              <a:spLocks noChangeShapeType="1"/>
            </p:cNvSpPr>
            <p:nvPr/>
          </p:nvSpPr>
          <p:spPr bwMode="auto">
            <a:xfrm>
              <a:off x="3753" y="2377"/>
              <a:ext cx="127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7" name="Line 11"/>
            <p:cNvSpPr>
              <a:spLocks noChangeShapeType="1"/>
            </p:cNvSpPr>
            <p:nvPr/>
          </p:nvSpPr>
          <p:spPr bwMode="auto">
            <a:xfrm flipV="1">
              <a:off x="4305" y="1689"/>
              <a:ext cx="0" cy="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8" name="Line 12"/>
            <p:cNvSpPr>
              <a:spLocks noChangeShapeType="1"/>
            </p:cNvSpPr>
            <p:nvPr/>
          </p:nvSpPr>
          <p:spPr bwMode="auto">
            <a:xfrm>
              <a:off x="4305" y="1689"/>
              <a:ext cx="7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9" name="Line 13"/>
            <p:cNvSpPr>
              <a:spLocks noChangeShapeType="1"/>
            </p:cNvSpPr>
            <p:nvPr/>
          </p:nvSpPr>
          <p:spPr bwMode="auto">
            <a:xfrm>
              <a:off x="4305" y="1976"/>
              <a:ext cx="34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0" name="Line 14"/>
            <p:cNvSpPr>
              <a:spLocks noChangeShapeType="1"/>
            </p:cNvSpPr>
            <p:nvPr/>
          </p:nvSpPr>
          <p:spPr bwMode="auto">
            <a:xfrm>
              <a:off x="4567" y="1976"/>
              <a:ext cx="0" cy="401"/>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1" name="Line 15"/>
            <p:cNvSpPr>
              <a:spLocks noChangeShapeType="1"/>
            </p:cNvSpPr>
            <p:nvPr/>
          </p:nvSpPr>
          <p:spPr bwMode="auto">
            <a:xfrm>
              <a:off x="4887" y="1689"/>
              <a:ext cx="0" cy="68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2" name="Freeform 16"/>
            <p:cNvSpPr>
              <a:spLocks noChangeArrowheads="1"/>
            </p:cNvSpPr>
            <p:nvPr/>
          </p:nvSpPr>
          <p:spPr bwMode="auto">
            <a:xfrm>
              <a:off x="3898" y="2176"/>
              <a:ext cx="146" cy="201"/>
            </a:xfrm>
            <a:custGeom>
              <a:avLst/>
              <a:gdLst>
                <a:gd name="T0" fmla="*/ 49 w 192"/>
                <a:gd name="T1" fmla="*/ 26 h 336"/>
                <a:gd name="T2" fmla="*/ 37 w 192"/>
                <a:gd name="T3" fmla="*/ 11 h 336"/>
                <a:gd name="T4" fmla="*/ 0 w 192"/>
                <a:gd name="T5" fmla="*/ 0 h 336"/>
                <a:gd name="T6" fmla="*/ 0 60000 65536"/>
                <a:gd name="T7" fmla="*/ 0 60000 65536"/>
                <a:gd name="T8" fmla="*/ 0 60000 65536"/>
              </a:gdLst>
              <a:ahLst/>
              <a:cxnLst>
                <a:cxn ang="T6">
                  <a:pos x="T0" y="T1"/>
                </a:cxn>
                <a:cxn ang="T7">
                  <a:pos x="T2" y="T3"/>
                </a:cxn>
                <a:cxn ang="T8">
                  <a:pos x="T4" y="T5"/>
                </a:cxn>
              </a:cxnLst>
              <a:rect l="0" t="0" r="r" b="b"/>
              <a:pathLst>
                <a:path w="192" h="336">
                  <a:moveTo>
                    <a:pt x="192" y="336"/>
                  </a:moveTo>
                  <a:cubicBezTo>
                    <a:pt x="184" y="268"/>
                    <a:pt x="176" y="200"/>
                    <a:pt x="144" y="144"/>
                  </a:cubicBezTo>
                  <a:cubicBezTo>
                    <a:pt x="112" y="88"/>
                    <a:pt x="56" y="44"/>
                    <a:pt x="0"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53" name="Text Box 17"/>
            <p:cNvSpPr txBox="1">
              <a:spLocks noChangeArrowheads="1"/>
            </p:cNvSpPr>
            <p:nvPr/>
          </p:nvSpPr>
          <p:spPr bwMode="auto">
            <a:xfrm>
              <a:off x="2933" y="345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0</a:t>
              </a:r>
            </a:p>
          </p:txBody>
        </p:sp>
        <p:sp>
          <p:nvSpPr>
            <p:cNvPr id="69654" name="Text Box 18"/>
            <p:cNvSpPr txBox="1">
              <a:spLocks noChangeArrowheads="1"/>
            </p:cNvSpPr>
            <p:nvPr/>
          </p:nvSpPr>
          <p:spPr bwMode="auto">
            <a:xfrm>
              <a:off x="5271" y="3504"/>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x</a:t>
              </a:r>
              <a:endParaRPr lang="en-US" altLang="zh-CN" sz="2400">
                <a:latin typeface="Times New Roman" panose="02020603050405020304" pitchFamily="18" charset="0"/>
              </a:endParaRPr>
            </a:p>
          </p:txBody>
        </p:sp>
        <p:sp>
          <p:nvSpPr>
            <p:cNvPr id="69655" name="Text Box 19"/>
            <p:cNvSpPr txBox="1">
              <a:spLocks noChangeArrowheads="1"/>
            </p:cNvSpPr>
            <p:nvPr/>
          </p:nvSpPr>
          <p:spPr bwMode="auto">
            <a:xfrm>
              <a:off x="3159" y="1344"/>
              <a:ext cx="6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y</a:t>
              </a:r>
              <a:r>
                <a:rPr lang="en-US" altLang="zh-CN" sz="2400">
                  <a:latin typeface="Times New Roman" panose="02020603050405020304" pitchFamily="18" charset="0"/>
                </a:rPr>
                <a:t>=</a:t>
              </a:r>
              <a:r>
                <a:rPr lang="en-US" altLang="zh-CN" sz="2400" i="1">
                  <a:latin typeface="Times New Roman" panose="02020603050405020304" pitchFamily="18" charset="0"/>
                </a:rPr>
                <a:t>f</a:t>
              </a:r>
              <a:r>
                <a:rPr lang="en-US" altLang="zh-CN" sz="2400">
                  <a:latin typeface="Times New Roman" panose="02020603050405020304" pitchFamily="18" charset="0"/>
                </a:rPr>
                <a:t>(</a:t>
              </a:r>
              <a:r>
                <a:rPr lang="en-US" altLang="zh-CN" sz="2400" i="1">
                  <a:latin typeface="Times New Roman" panose="02020603050405020304" pitchFamily="18" charset="0"/>
                </a:rPr>
                <a:t>x</a:t>
              </a:r>
              <a:r>
                <a:rPr lang="en-US" altLang="zh-CN" sz="2400">
                  <a:latin typeface="Times New Roman" panose="02020603050405020304" pitchFamily="18" charset="0"/>
                </a:rPr>
                <a:t>)</a:t>
              </a:r>
            </a:p>
          </p:txBody>
        </p:sp>
        <p:sp>
          <p:nvSpPr>
            <p:cNvPr id="69656" name="Text Box 20"/>
            <p:cNvSpPr txBox="1">
              <a:spLocks noChangeArrowheads="1"/>
            </p:cNvSpPr>
            <p:nvPr/>
          </p:nvSpPr>
          <p:spPr bwMode="auto">
            <a:xfrm>
              <a:off x="2823" y="2208"/>
              <a:ext cx="5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y</a:t>
              </a:r>
              <a:r>
                <a:rPr lang="en-US" altLang="zh-CN" sz="2400" baseline="-25000">
                  <a:latin typeface="Times New Roman" panose="02020603050405020304" pitchFamily="18" charset="0"/>
                </a:rPr>
                <a:t>0</a:t>
              </a:r>
              <a:endParaRPr lang="en-US" altLang="zh-CN" sz="2400">
                <a:latin typeface="Times New Roman" panose="02020603050405020304" pitchFamily="18" charset="0"/>
              </a:endParaRPr>
            </a:p>
          </p:txBody>
        </p:sp>
        <p:sp>
          <p:nvSpPr>
            <p:cNvPr id="69657" name="Text Box 21"/>
            <p:cNvSpPr txBox="1">
              <a:spLocks noChangeArrowheads="1"/>
            </p:cNvSpPr>
            <p:nvPr/>
          </p:nvSpPr>
          <p:spPr bwMode="auto">
            <a:xfrm>
              <a:off x="3639" y="3466"/>
              <a:ext cx="5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x</a:t>
              </a:r>
              <a:r>
                <a:rPr lang="en-US" altLang="zh-CN" sz="2400" baseline="-25000">
                  <a:latin typeface="Times New Roman" panose="02020603050405020304" pitchFamily="18" charset="0"/>
                </a:rPr>
                <a:t>0</a:t>
              </a:r>
              <a:endParaRPr lang="en-US" altLang="zh-CN" sz="2400">
                <a:latin typeface="Times New Roman" panose="02020603050405020304" pitchFamily="18" charset="0"/>
              </a:endParaRPr>
            </a:p>
          </p:txBody>
        </p:sp>
        <p:sp>
          <p:nvSpPr>
            <p:cNvPr id="69658" name="Text Box 22"/>
            <p:cNvSpPr txBox="1">
              <a:spLocks noChangeArrowheads="1"/>
            </p:cNvSpPr>
            <p:nvPr/>
          </p:nvSpPr>
          <p:spPr bwMode="auto">
            <a:xfrm>
              <a:off x="4016" y="21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69659" name="Text Box 23"/>
            <p:cNvSpPr txBox="1">
              <a:spLocks noChangeArrowheads="1"/>
            </p:cNvSpPr>
            <p:nvPr/>
          </p:nvSpPr>
          <p:spPr bwMode="auto">
            <a:xfrm>
              <a:off x="3879" y="2579"/>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x</a:t>
              </a:r>
              <a:endParaRPr lang="en-US" altLang="zh-CN" sz="2400">
                <a:latin typeface="Times New Roman" panose="02020603050405020304" pitchFamily="18" charset="0"/>
              </a:endParaRPr>
            </a:p>
          </p:txBody>
        </p:sp>
        <p:sp>
          <p:nvSpPr>
            <p:cNvPr id="69660" name="Text Box 24"/>
            <p:cNvSpPr txBox="1">
              <a:spLocks noChangeArrowheads="1"/>
            </p:cNvSpPr>
            <p:nvPr/>
          </p:nvSpPr>
          <p:spPr bwMode="auto">
            <a:xfrm>
              <a:off x="4888" y="1947"/>
              <a:ext cx="3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y’</a:t>
              </a:r>
              <a:endParaRPr lang="en-US" altLang="zh-CN" sz="2400">
                <a:latin typeface="Times New Roman" panose="02020603050405020304" pitchFamily="18" charset="0"/>
              </a:endParaRPr>
            </a:p>
          </p:txBody>
        </p:sp>
        <p:sp>
          <p:nvSpPr>
            <p:cNvPr id="69661" name="Text Box 25"/>
            <p:cNvSpPr txBox="1">
              <a:spLocks noChangeArrowheads="1"/>
            </p:cNvSpPr>
            <p:nvPr/>
          </p:nvSpPr>
          <p:spPr bwMode="auto">
            <a:xfrm>
              <a:off x="4566" y="2062"/>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y</a:t>
              </a:r>
              <a:endParaRPr lang="en-US" altLang="zh-CN" sz="2400">
                <a:latin typeface="Times New Roman" panose="02020603050405020304" pitchFamily="18" charset="0"/>
              </a:endParaRPr>
            </a:p>
          </p:txBody>
        </p:sp>
        <p:sp>
          <p:nvSpPr>
            <p:cNvPr id="69662" name="Line 26"/>
            <p:cNvSpPr>
              <a:spLocks noChangeShapeType="1"/>
            </p:cNvSpPr>
            <p:nvPr/>
          </p:nvSpPr>
          <p:spPr bwMode="auto">
            <a:xfrm>
              <a:off x="4305" y="2377"/>
              <a:ext cx="0" cy="2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3" name="Line 27"/>
            <p:cNvSpPr>
              <a:spLocks noChangeShapeType="1"/>
            </p:cNvSpPr>
            <p:nvPr/>
          </p:nvSpPr>
          <p:spPr bwMode="auto">
            <a:xfrm>
              <a:off x="3782" y="2606"/>
              <a:ext cx="523"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4" name="Text Box 28"/>
            <p:cNvSpPr txBox="1">
              <a:spLocks noChangeArrowheads="1"/>
            </p:cNvSpPr>
            <p:nvPr/>
          </p:nvSpPr>
          <p:spPr bwMode="auto">
            <a:xfrm>
              <a:off x="3379" y="3696"/>
              <a:ext cx="16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非线性关系线性化</a:t>
              </a:r>
            </a:p>
          </p:txBody>
        </p:sp>
        <p:sp>
          <p:nvSpPr>
            <p:cNvPr id="69665" name="Text Box 29"/>
            <p:cNvSpPr txBox="1">
              <a:spLocks noChangeArrowheads="1"/>
            </p:cNvSpPr>
            <p:nvPr/>
          </p:nvSpPr>
          <p:spPr bwMode="auto">
            <a:xfrm>
              <a:off x="3543" y="211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A</a:t>
              </a:r>
            </a:p>
          </p:txBody>
        </p:sp>
      </p:grpSp>
      <p:sp>
        <p:nvSpPr>
          <p:cNvPr id="130054" name="Rectangle 30"/>
          <p:cNvSpPr>
            <a:spLocks noChangeArrowheads="1"/>
          </p:cNvSpPr>
          <p:nvPr/>
        </p:nvSpPr>
        <p:spPr bwMode="auto">
          <a:xfrm>
            <a:off x="868363" y="2279650"/>
            <a:ext cx="316230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Times New Roman" panose="02020603050405020304" pitchFamily="18" charset="0"/>
              </a:rPr>
              <a:t>线性化增量方程为：</a:t>
            </a:r>
          </a:p>
        </p:txBody>
      </p:sp>
      <p:sp>
        <p:nvSpPr>
          <p:cNvPr id="144415" name="Rectangle 31"/>
          <p:cNvSpPr>
            <a:spLocks noChangeArrowheads="1"/>
          </p:cNvSpPr>
          <p:nvPr/>
        </p:nvSpPr>
        <p:spPr bwMode="auto">
          <a:xfrm>
            <a:off x="1017588" y="3287713"/>
            <a:ext cx="26352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y </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y' </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x</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tg</a:t>
            </a:r>
            <a:r>
              <a:rPr lang="en-US" altLang="zh-CN" sz="2800" i="1">
                <a:latin typeface="Times New Roman" panose="02020603050405020304" pitchFamily="18" charset="0"/>
                <a:sym typeface="Symbol" panose="05050102010706020507" pitchFamily="18" charset="2"/>
              </a:rPr>
              <a:t></a:t>
            </a:r>
            <a:endParaRPr lang="en-US" altLang="zh-CN" sz="2800"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0054"/>
                                        </p:tgtEl>
                                        <p:attrNameLst>
                                          <p:attrName>style.visibility</p:attrName>
                                        </p:attrNameLst>
                                      </p:cBhvr>
                                      <p:to>
                                        <p:strVal val="visible"/>
                                      </p:to>
                                    </p:set>
                                    <p:anim calcmode="lin" valueType="num">
                                      <p:cBhvr additive="base">
                                        <p:cTn id="13" dur="500" fill="hold"/>
                                        <p:tgtEl>
                                          <p:spTgt spid="130054"/>
                                        </p:tgtEl>
                                        <p:attrNameLst>
                                          <p:attrName>ppt_x</p:attrName>
                                        </p:attrNameLst>
                                      </p:cBhvr>
                                      <p:tavLst>
                                        <p:tav tm="0">
                                          <p:val>
                                            <p:strVal val="#ppt_x"/>
                                          </p:val>
                                        </p:tav>
                                        <p:tav tm="100000">
                                          <p:val>
                                            <p:strVal val="#ppt_x"/>
                                          </p:val>
                                        </p:tav>
                                      </p:tavLst>
                                    </p:anim>
                                    <p:anim calcmode="lin" valueType="num">
                                      <p:cBhvr additive="base">
                                        <p:cTn id="14" dur="500" fill="hold"/>
                                        <p:tgtEl>
                                          <p:spTgt spid="13005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4415"/>
                                        </p:tgtEl>
                                        <p:attrNameLst>
                                          <p:attrName>style.visibility</p:attrName>
                                        </p:attrNameLst>
                                      </p:cBhvr>
                                      <p:to>
                                        <p:strVal val="visible"/>
                                      </p:to>
                                    </p:set>
                                    <p:anim calcmode="lin" valueType="num">
                                      <p:cBhvr additive="base">
                                        <p:cTn id="19" dur="500" fill="hold"/>
                                        <p:tgtEl>
                                          <p:spTgt spid="144415"/>
                                        </p:tgtEl>
                                        <p:attrNameLst>
                                          <p:attrName>ppt_x</p:attrName>
                                        </p:attrNameLst>
                                      </p:cBhvr>
                                      <p:tavLst>
                                        <p:tav tm="0">
                                          <p:val>
                                            <p:strVal val="#ppt_x"/>
                                          </p:val>
                                        </p:tav>
                                        <p:tav tm="100000">
                                          <p:val>
                                            <p:strVal val="#ppt_x"/>
                                          </p:val>
                                        </p:tav>
                                      </p:tavLst>
                                    </p:anim>
                                    <p:anim calcmode="lin" valueType="num">
                                      <p:cBhvr additive="base">
                                        <p:cTn id="20" dur="500" fill="hold"/>
                                        <p:tgtEl>
                                          <p:spTgt spid="1444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4" grpId="0"/>
      <p:bldP spid="1444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07463B1F-E430-428F-822C-A7A637820617}" type="datetime1">
              <a:rPr lang="en-US" altLang="zh-CN" sz="1200" smtClean="0"/>
              <a:pPr>
                <a:spcBef>
                  <a:spcPct val="0"/>
                </a:spcBef>
                <a:buClrTx/>
                <a:buFontTx/>
                <a:buNone/>
              </a:pPr>
              <a:t>9/14/2025</a:t>
            </a:fld>
            <a:endParaRPr lang="en-US" altLang="zh-CN" sz="1200"/>
          </a:p>
        </p:txBody>
      </p:sp>
      <p:sp>
        <p:nvSpPr>
          <p:cNvPr id="7065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BD058E1-CBFC-40E5-84D9-2A09D3834EA9}" type="slidenum">
              <a:rPr lang="en-US" altLang="zh-CN" sz="1200" smtClean="0"/>
              <a:pPr>
                <a:spcBef>
                  <a:spcPct val="0"/>
                </a:spcBef>
                <a:buClrTx/>
                <a:buFontTx/>
                <a:buNone/>
              </a:pPr>
              <a:t>24</a:t>
            </a:fld>
            <a:endParaRPr lang="en-US" altLang="zh-CN" sz="1200"/>
          </a:p>
        </p:txBody>
      </p:sp>
      <p:sp>
        <p:nvSpPr>
          <p:cNvPr id="140291" name="Rectangle 3"/>
          <p:cNvSpPr>
            <a:spLocks noChangeArrowheads="1"/>
          </p:cNvSpPr>
          <p:nvPr/>
        </p:nvSpPr>
        <p:spPr bwMode="auto">
          <a:xfrm>
            <a:off x="900113" y="981075"/>
            <a:ext cx="62642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增量方程的建立</a:t>
            </a:r>
            <a:r>
              <a:rPr lang="en-US" altLang="zh-CN" sz="2800">
                <a:latin typeface="Times New Roman" panose="02020603050405020304" pitchFamily="18" charset="0"/>
              </a:rPr>
              <a:t>——</a:t>
            </a:r>
            <a:r>
              <a:rPr lang="zh-CN" altLang="en-US" sz="2800">
                <a:latin typeface="宋体" panose="02010600030101010101" pitchFamily="2" charset="-122"/>
              </a:rPr>
              <a:t>泰勒级数展开法</a:t>
            </a:r>
            <a:r>
              <a:rPr lang="zh-CN" altLang="en-US" sz="2800">
                <a:latin typeface="Times New Roman" panose="02020603050405020304" pitchFamily="18" charset="0"/>
              </a:rPr>
              <a:t> </a:t>
            </a:r>
          </a:p>
        </p:txBody>
      </p:sp>
      <p:sp>
        <p:nvSpPr>
          <p:cNvPr id="140292" name="Rectangle 4"/>
          <p:cNvSpPr>
            <a:spLocks noChangeArrowheads="1"/>
          </p:cNvSpPr>
          <p:nvPr/>
        </p:nvSpPr>
        <p:spPr bwMode="auto">
          <a:xfrm>
            <a:off x="971550" y="2060575"/>
            <a:ext cx="7543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宋体" panose="02010600030101010101" pitchFamily="2" charset="-122"/>
              </a:rPr>
              <a:t>函数</a:t>
            </a:r>
            <a:r>
              <a:rPr lang="en-US" altLang="zh-CN" sz="2800" i="1">
                <a:latin typeface="Times New Roman" panose="02020603050405020304" pitchFamily="18" charset="0"/>
              </a:rPr>
              <a:t>y</a:t>
            </a:r>
            <a:r>
              <a:rPr lang="en-US" altLang="zh-CN" sz="2800">
                <a:latin typeface="Times New Roman" panose="02020603050405020304" pitchFamily="18" charset="0"/>
              </a:rPr>
              <a:t>=</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x</a:t>
            </a:r>
            <a:r>
              <a:rPr lang="en-US" altLang="zh-CN" sz="2800">
                <a:latin typeface="Times New Roman" panose="02020603050405020304" pitchFamily="18" charset="0"/>
              </a:rPr>
              <a:t>)</a:t>
            </a:r>
            <a:r>
              <a:rPr lang="zh-CN" altLang="en-US" sz="2800">
                <a:latin typeface="宋体" panose="02010600030101010101" pitchFamily="2" charset="-122"/>
              </a:rPr>
              <a:t>在其平衡点（</a:t>
            </a:r>
            <a:r>
              <a:rPr lang="en-US" altLang="zh-CN" sz="2800" i="1">
                <a:latin typeface="Times New Roman" panose="02020603050405020304" pitchFamily="18" charset="0"/>
              </a:rPr>
              <a:t>x</a:t>
            </a:r>
            <a:r>
              <a:rPr lang="en-US" altLang="zh-CN" sz="2900" baseline="-18000">
                <a:latin typeface="Times New Roman" panose="02020603050405020304" pitchFamily="18" charset="0"/>
              </a:rPr>
              <a:t>0</a:t>
            </a:r>
            <a:r>
              <a:rPr lang="en-US" altLang="zh-CN" sz="2800">
                <a:latin typeface="Times New Roman" panose="02020603050405020304" pitchFamily="18" charset="0"/>
              </a:rPr>
              <a:t>, </a:t>
            </a:r>
            <a:r>
              <a:rPr lang="en-US" altLang="zh-CN" sz="2800" i="1">
                <a:latin typeface="Times New Roman" panose="02020603050405020304" pitchFamily="18" charset="0"/>
              </a:rPr>
              <a:t>y</a:t>
            </a:r>
            <a:r>
              <a:rPr lang="en-US" altLang="zh-CN" sz="2900" baseline="-18000">
                <a:latin typeface="Times New Roman" panose="02020603050405020304" pitchFamily="18" charset="0"/>
              </a:rPr>
              <a:t>0</a:t>
            </a:r>
            <a:r>
              <a:rPr lang="zh-CN" altLang="en-US" sz="2800">
                <a:latin typeface="宋体" panose="02010600030101010101" pitchFamily="2" charset="-122"/>
              </a:rPr>
              <a:t>）附近的泰勒级数展开式为：</a:t>
            </a:r>
            <a:r>
              <a:rPr lang="zh-CN" altLang="en-US" sz="2800">
                <a:latin typeface="Times New Roman" panose="02020603050405020304" pitchFamily="18" charset="0"/>
              </a:rPr>
              <a:t> </a:t>
            </a:r>
          </a:p>
        </p:txBody>
      </p:sp>
      <p:graphicFrame>
        <p:nvGraphicFramePr>
          <p:cNvPr id="140293" name="Object 2"/>
          <p:cNvGraphicFramePr>
            <a:graphicFrameLocks noChangeAspect="1"/>
          </p:cNvGraphicFramePr>
          <p:nvPr/>
        </p:nvGraphicFramePr>
        <p:xfrm>
          <a:off x="1042988" y="3500438"/>
          <a:ext cx="7467600" cy="2109787"/>
        </p:xfrm>
        <a:graphic>
          <a:graphicData uri="http://schemas.openxmlformats.org/presentationml/2006/ole">
            <mc:AlternateContent xmlns:mc="http://schemas.openxmlformats.org/markup-compatibility/2006">
              <mc:Choice xmlns:v="urn:schemas-microsoft-com:vml" Requires="v">
                <p:oleObj r:id="rId2" imgW="4508500" imgH="1206500" progId="Equation.3">
                  <p:embed/>
                </p:oleObj>
              </mc:Choice>
              <mc:Fallback>
                <p:oleObj r:id="rId2" imgW="4508500" imgH="12065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500438"/>
                        <a:ext cx="7467600" cy="210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0291"/>
                                        </p:tgtEl>
                                        <p:attrNameLst>
                                          <p:attrName>style.visibility</p:attrName>
                                        </p:attrNameLst>
                                      </p:cBhvr>
                                      <p:to>
                                        <p:strVal val="visible"/>
                                      </p:to>
                                    </p:set>
                                    <p:anim calcmode="lin" valueType="num">
                                      <p:cBhvr additive="base">
                                        <p:cTn id="7" dur="500" fill="hold"/>
                                        <p:tgtEl>
                                          <p:spTgt spid="140291"/>
                                        </p:tgtEl>
                                        <p:attrNameLst>
                                          <p:attrName>ppt_x</p:attrName>
                                        </p:attrNameLst>
                                      </p:cBhvr>
                                      <p:tavLst>
                                        <p:tav tm="0">
                                          <p:val>
                                            <p:strVal val="#ppt_x"/>
                                          </p:val>
                                        </p:tav>
                                        <p:tav tm="100000">
                                          <p:val>
                                            <p:strVal val="#ppt_x"/>
                                          </p:val>
                                        </p:tav>
                                      </p:tavLst>
                                    </p:anim>
                                    <p:anim calcmode="lin" valueType="num">
                                      <p:cBhvr additive="base">
                                        <p:cTn id="8" dur="500" fill="hold"/>
                                        <p:tgtEl>
                                          <p:spTgt spid="1402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0292"/>
                                        </p:tgtEl>
                                        <p:attrNameLst>
                                          <p:attrName>style.visibility</p:attrName>
                                        </p:attrNameLst>
                                      </p:cBhvr>
                                      <p:to>
                                        <p:strVal val="visible"/>
                                      </p:to>
                                    </p:set>
                                    <p:anim calcmode="lin" valueType="num">
                                      <p:cBhvr additive="base">
                                        <p:cTn id="13" dur="500" fill="hold"/>
                                        <p:tgtEl>
                                          <p:spTgt spid="140292"/>
                                        </p:tgtEl>
                                        <p:attrNameLst>
                                          <p:attrName>ppt_x</p:attrName>
                                        </p:attrNameLst>
                                      </p:cBhvr>
                                      <p:tavLst>
                                        <p:tav tm="0">
                                          <p:val>
                                            <p:strVal val="#ppt_x"/>
                                          </p:val>
                                        </p:tav>
                                        <p:tav tm="100000">
                                          <p:val>
                                            <p:strVal val="#ppt_x"/>
                                          </p:val>
                                        </p:tav>
                                      </p:tavLst>
                                    </p:anim>
                                    <p:anim calcmode="lin" valueType="num">
                                      <p:cBhvr additive="base">
                                        <p:cTn id="14" dur="500" fill="hold"/>
                                        <p:tgtEl>
                                          <p:spTgt spid="14029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0293"/>
                                        </p:tgtEl>
                                        <p:attrNameLst>
                                          <p:attrName>style.visibility</p:attrName>
                                        </p:attrNameLst>
                                      </p:cBhvr>
                                      <p:to>
                                        <p:strVal val="visible"/>
                                      </p:to>
                                    </p:set>
                                    <p:anim calcmode="lin" valueType="num">
                                      <p:cBhvr additive="base">
                                        <p:cTn id="19" dur="500" fill="hold"/>
                                        <p:tgtEl>
                                          <p:spTgt spid="140293"/>
                                        </p:tgtEl>
                                        <p:attrNameLst>
                                          <p:attrName>ppt_x</p:attrName>
                                        </p:attrNameLst>
                                      </p:cBhvr>
                                      <p:tavLst>
                                        <p:tav tm="0">
                                          <p:val>
                                            <p:strVal val="#ppt_x"/>
                                          </p:val>
                                        </p:tav>
                                        <p:tav tm="100000">
                                          <p:val>
                                            <p:strVal val="#ppt_x"/>
                                          </p:val>
                                        </p:tav>
                                      </p:tavLst>
                                    </p:anim>
                                    <p:anim calcmode="lin" valueType="num">
                                      <p:cBhvr additive="base">
                                        <p:cTn id="20" dur="500" fill="hold"/>
                                        <p:tgtEl>
                                          <p:spTgt spid="1402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p:bldP spid="14029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8D55B196-545F-4C02-8C6C-B4A377626420}" type="datetime1">
              <a:rPr lang="en-US" altLang="zh-CN" sz="1200" smtClean="0"/>
              <a:pPr>
                <a:spcBef>
                  <a:spcPct val="0"/>
                </a:spcBef>
                <a:buClrTx/>
                <a:buFontTx/>
                <a:buNone/>
              </a:pPr>
              <a:t>9/14/2025</a:t>
            </a:fld>
            <a:endParaRPr lang="en-US" altLang="zh-CN" sz="1200"/>
          </a:p>
        </p:txBody>
      </p:sp>
      <p:sp>
        <p:nvSpPr>
          <p:cNvPr id="71683"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9EBB55D0-4B9F-4331-A22A-7153D999D4DF}" type="slidenum">
              <a:rPr lang="en-US" altLang="zh-CN" sz="1200" smtClean="0"/>
              <a:pPr>
                <a:spcBef>
                  <a:spcPct val="0"/>
                </a:spcBef>
                <a:buClrTx/>
                <a:buFontTx/>
                <a:buNone/>
              </a:pPr>
              <a:t>25</a:t>
            </a:fld>
            <a:endParaRPr lang="en-US" altLang="zh-CN" sz="1200"/>
          </a:p>
        </p:txBody>
      </p:sp>
      <p:graphicFrame>
        <p:nvGraphicFramePr>
          <p:cNvPr id="2" name="Object 2"/>
          <p:cNvGraphicFramePr>
            <a:graphicFrameLocks noChangeAspect="1"/>
          </p:cNvGraphicFramePr>
          <p:nvPr/>
        </p:nvGraphicFramePr>
        <p:xfrm>
          <a:off x="1219200" y="2697163"/>
          <a:ext cx="4267200" cy="1036637"/>
        </p:xfrm>
        <a:graphic>
          <a:graphicData uri="http://schemas.openxmlformats.org/presentationml/2006/ole">
            <mc:AlternateContent xmlns:mc="http://schemas.openxmlformats.org/markup-compatibility/2006">
              <mc:Choice xmlns:v="urn:schemas-microsoft-com:vml" Requires="v">
                <p:oleObj r:id="rId2" imgW="2349500" imgH="571500" progId="Equation.3">
                  <p:embed/>
                </p:oleObj>
              </mc:Choice>
              <mc:Fallback>
                <p:oleObj r:id="rId2" imgW="2349500" imgH="5715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697163"/>
                        <a:ext cx="4267200"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5" name="Rectangle 3"/>
          <p:cNvSpPr>
            <a:spLocks noChangeArrowheads="1"/>
          </p:cNvSpPr>
          <p:nvPr/>
        </p:nvSpPr>
        <p:spPr bwMode="auto">
          <a:xfrm>
            <a:off x="1066800" y="1995488"/>
            <a:ext cx="7002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略去含有高于一次的增量</a:t>
            </a:r>
            <a:r>
              <a:rPr lang="zh-CN" altLang="en-US"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x</a:t>
            </a:r>
            <a:r>
              <a:rPr lang="en-US" altLang="zh-CN" sz="2800">
                <a:latin typeface="Times New Roman" panose="02020603050405020304" pitchFamily="18" charset="0"/>
              </a:rPr>
              <a:t>=</a:t>
            </a:r>
            <a:r>
              <a:rPr lang="en-US" altLang="zh-CN" sz="2800" i="1">
                <a:latin typeface="Times New Roman" panose="02020603050405020304" pitchFamily="18" charset="0"/>
              </a:rPr>
              <a:t>x</a:t>
            </a:r>
            <a:r>
              <a:rPr lang="en-US" altLang="zh-CN" sz="2800">
                <a:latin typeface="Times New Roman" panose="02020603050405020304" pitchFamily="18" charset="0"/>
              </a:rPr>
              <a:t>-</a:t>
            </a:r>
            <a:r>
              <a:rPr lang="en-US" altLang="zh-CN" sz="2800" i="1">
                <a:latin typeface="Times New Roman" panose="02020603050405020304" pitchFamily="18" charset="0"/>
              </a:rPr>
              <a:t>x</a:t>
            </a:r>
            <a:r>
              <a:rPr lang="en-US" altLang="zh-CN" sz="2900" baseline="-18000">
                <a:latin typeface="Times New Roman" panose="02020603050405020304" pitchFamily="18" charset="0"/>
              </a:rPr>
              <a:t>0</a:t>
            </a:r>
            <a:r>
              <a:rPr lang="zh-CN" altLang="en-US" sz="2800">
                <a:latin typeface="Times New Roman" panose="02020603050405020304" pitchFamily="18" charset="0"/>
              </a:rPr>
              <a:t>的项，则：</a:t>
            </a:r>
          </a:p>
        </p:txBody>
      </p:sp>
      <p:grpSp>
        <p:nvGrpSpPr>
          <p:cNvPr id="3" name="Group 4"/>
          <p:cNvGrpSpPr>
            <a:grpSpLocks/>
          </p:cNvGrpSpPr>
          <p:nvPr/>
        </p:nvGrpSpPr>
        <p:grpSpPr bwMode="auto">
          <a:xfrm>
            <a:off x="1066800" y="3822700"/>
            <a:ext cx="6934200" cy="977900"/>
            <a:chOff x="672" y="2312"/>
            <a:chExt cx="4368" cy="616"/>
          </a:xfrm>
        </p:grpSpPr>
        <p:graphicFrame>
          <p:nvGraphicFramePr>
            <p:cNvPr id="71688" name="Object 3"/>
            <p:cNvGraphicFramePr>
              <a:graphicFrameLocks noChangeAspect="1"/>
            </p:cNvGraphicFramePr>
            <p:nvPr/>
          </p:nvGraphicFramePr>
          <p:xfrm>
            <a:off x="3696" y="2312"/>
            <a:ext cx="1344" cy="616"/>
          </p:xfrm>
          <a:graphic>
            <a:graphicData uri="http://schemas.openxmlformats.org/presentationml/2006/ole">
              <mc:AlternateContent xmlns:mc="http://schemas.openxmlformats.org/markup-compatibility/2006">
                <mc:Choice xmlns:v="urn:schemas-microsoft-com:vml" Requires="v">
                  <p:oleObj r:id="rId4" imgW="1244600" imgH="571500" progId="Equation.3">
                    <p:embed/>
                  </p:oleObj>
                </mc:Choice>
                <mc:Fallback>
                  <p:oleObj r:id="rId4" imgW="1244600" imgH="5715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2312"/>
                          <a:ext cx="1344" cy="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9" name="Rectangle 6"/>
            <p:cNvSpPr>
              <a:spLocks noChangeArrowheads="1"/>
            </p:cNvSpPr>
            <p:nvPr/>
          </p:nvSpPr>
          <p:spPr bwMode="auto">
            <a:xfrm>
              <a:off x="672" y="2400"/>
              <a:ext cx="30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或：</a:t>
              </a:r>
              <a:r>
                <a:rPr lang="en-US" altLang="zh-CN" sz="2800" i="1">
                  <a:latin typeface="Times New Roman" panose="02020603050405020304" pitchFamily="18" charset="0"/>
                </a:rPr>
                <a:t>y </a:t>
              </a:r>
              <a:r>
                <a:rPr lang="en-US" altLang="zh-CN" sz="2800">
                  <a:latin typeface="Times New Roman" panose="02020603050405020304" pitchFamily="18" charset="0"/>
                </a:rPr>
                <a:t>- </a:t>
              </a:r>
              <a:r>
                <a:rPr lang="en-US" altLang="zh-CN" sz="2800" i="1">
                  <a:latin typeface="Times New Roman" panose="02020603050405020304" pitchFamily="18" charset="0"/>
                </a:rPr>
                <a:t>y</a:t>
              </a:r>
              <a:r>
                <a:rPr lang="en-US" altLang="zh-CN" sz="2900" baseline="-18000">
                  <a:latin typeface="Times New Roman" panose="02020603050405020304" pitchFamily="18" charset="0"/>
                </a:rPr>
                <a:t>0  </a:t>
              </a:r>
              <a:r>
                <a:rPr lang="en-US" altLang="zh-CN" sz="2800">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y </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x</a:t>
              </a:r>
              <a:r>
                <a:rPr lang="zh-CN" altLang="en-US" sz="2800">
                  <a:latin typeface="Times New Roman" panose="02020603050405020304" pitchFamily="18" charset="0"/>
                </a:rPr>
                <a:t>， 其中：</a:t>
              </a:r>
            </a:p>
          </p:txBody>
        </p:sp>
      </p:grpSp>
      <p:sp>
        <p:nvSpPr>
          <p:cNvPr id="4" name="Rectangle 7"/>
          <p:cNvSpPr>
            <a:spLocks noChangeArrowheads="1"/>
          </p:cNvSpPr>
          <p:nvPr/>
        </p:nvSpPr>
        <p:spPr bwMode="auto">
          <a:xfrm>
            <a:off x="1066800" y="4870450"/>
            <a:ext cx="7391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Times New Roman" panose="02020603050405020304" pitchFamily="18" charset="0"/>
              </a:rPr>
              <a:t>上式即为非线性系统的线性化模型，称为</a:t>
            </a:r>
            <a:r>
              <a:rPr lang="zh-CN" altLang="en-US" sz="2800">
                <a:solidFill>
                  <a:srgbClr val="CC0000"/>
                </a:solidFill>
                <a:latin typeface="Times New Roman" panose="02020603050405020304" pitchFamily="18" charset="0"/>
              </a:rPr>
              <a:t>增量方程</a:t>
            </a:r>
            <a:r>
              <a:rPr lang="zh-CN" altLang="en-US" sz="2800">
                <a:latin typeface="Times New Roman" panose="02020603050405020304" pitchFamily="18" charset="0"/>
              </a:rPr>
              <a:t>。</a:t>
            </a:r>
            <a:r>
              <a:rPr lang="en-US" altLang="zh-CN" sz="2800" i="1">
                <a:latin typeface="Times New Roman" panose="02020603050405020304" pitchFamily="18" charset="0"/>
              </a:rPr>
              <a:t>y</a:t>
            </a:r>
            <a:r>
              <a:rPr lang="en-US" altLang="zh-CN" sz="2900" baseline="-18000">
                <a:latin typeface="Times New Roman" panose="02020603050405020304" pitchFamily="18" charset="0"/>
              </a:rPr>
              <a:t>0 </a:t>
            </a:r>
            <a:r>
              <a:rPr lang="en-US" altLang="zh-CN" sz="2800">
                <a:latin typeface="Times New Roman" panose="02020603050405020304" pitchFamily="18" charset="0"/>
              </a:rPr>
              <a:t>= </a:t>
            </a:r>
            <a:r>
              <a:rPr lang="en-US" altLang="zh-CN" sz="2800" i="1">
                <a:latin typeface="Times New Roman" panose="02020603050405020304" pitchFamily="18" charset="0"/>
              </a:rPr>
              <a:t>f </a:t>
            </a:r>
            <a:r>
              <a:rPr lang="en-US" altLang="zh-CN" sz="2800">
                <a:latin typeface="Times New Roman" panose="02020603050405020304" pitchFamily="18" charset="0"/>
              </a:rPr>
              <a:t>(</a:t>
            </a:r>
            <a:r>
              <a:rPr lang="en-US" altLang="zh-CN" sz="2800" i="1">
                <a:latin typeface="Times New Roman" panose="02020603050405020304" pitchFamily="18" charset="0"/>
              </a:rPr>
              <a:t>x</a:t>
            </a:r>
            <a:r>
              <a:rPr lang="en-US" altLang="zh-CN" sz="2900" baseline="-18000">
                <a:latin typeface="Times New Roman" panose="02020603050405020304" pitchFamily="18" charset="0"/>
              </a:rPr>
              <a:t>0</a:t>
            </a:r>
            <a:r>
              <a:rPr lang="en-US" altLang="zh-CN" sz="2800">
                <a:latin typeface="Times New Roman" panose="02020603050405020304" pitchFamily="18" charset="0"/>
              </a:rPr>
              <a:t>)</a:t>
            </a:r>
            <a:r>
              <a:rPr lang="zh-CN" altLang="en-US" sz="2800">
                <a:latin typeface="Times New Roman" panose="02020603050405020304" pitchFamily="18" charset="0"/>
              </a:rPr>
              <a:t>称为系统的</a:t>
            </a:r>
            <a:r>
              <a:rPr lang="zh-CN" altLang="en-US" sz="2800">
                <a:solidFill>
                  <a:srgbClr val="CC0000"/>
                </a:solidFill>
                <a:latin typeface="Times New Roman" panose="02020603050405020304" pitchFamily="18" charset="0"/>
              </a:rPr>
              <a:t>静态方程</a:t>
            </a:r>
            <a:r>
              <a:rPr lang="zh-CN" altLang="en-US" sz="280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B8C87805-9CA6-4E07-BBC6-98F3820BC22E}" type="datetime1">
              <a:rPr lang="en-US" altLang="zh-CN" sz="1200" smtClean="0"/>
              <a:pPr>
                <a:spcBef>
                  <a:spcPct val="0"/>
                </a:spcBef>
                <a:buClrTx/>
                <a:buFontTx/>
                <a:buNone/>
              </a:pPr>
              <a:t>9/14/2025</a:t>
            </a:fld>
            <a:endParaRPr lang="en-US" altLang="zh-CN" sz="1200"/>
          </a:p>
        </p:txBody>
      </p:sp>
      <p:sp>
        <p:nvSpPr>
          <p:cNvPr id="11059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57128EE-9BBA-4442-8350-72ABF8DE8ED3}" type="slidenum">
              <a:rPr lang="en-US" altLang="zh-CN" sz="1200" smtClean="0"/>
              <a:pPr>
                <a:spcBef>
                  <a:spcPct val="0"/>
                </a:spcBef>
                <a:buClrTx/>
                <a:buFontTx/>
                <a:buNone/>
              </a:pPr>
              <a:t>26</a:t>
            </a:fld>
            <a:endParaRPr lang="en-US" altLang="zh-CN" sz="1200"/>
          </a:p>
        </p:txBody>
      </p:sp>
      <p:sp>
        <p:nvSpPr>
          <p:cNvPr id="110596" name="Rectangle 2"/>
          <p:cNvSpPr>
            <a:spLocks noChangeArrowheads="1"/>
          </p:cNvSpPr>
          <p:nvPr/>
        </p:nvSpPr>
        <p:spPr bwMode="auto">
          <a:xfrm>
            <a:off x="971550" y="1052513"/>
            <a:ext cx="4913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l"/>
            </a:pPr>
            <a:r>
              <a:rPr lang="en-US" altLang="zh-CN" sz="2800" b="1">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系统线性化微分方程的建立 </a:t>
            </a:r>
          </a:p>
        </p:txBody>
      </p:sp>
      <p:sp>
        <p:nvSpPr>
          <p:cNvPr id="110597" name="Rectangle 3"/>
          <p:cNvSpPr>
            <a:spLocks noChangeArrowheads="1"/>
          </p:cNvSpPr>
          <p:nvPr/>
        </p:nvSpPr>
        <p:spPr bwMode="auto">
          <a:xfrm>
            <a:off x="1116013" y="1989138"/>
            <a:ext cx="548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步骤 </a:t>
            </a:r>
          </a:p>
        </p:txBody>
      </p:sp>
      <p:sp>
        <p:nvSpPr>
          <p:cNvPr id="145412" name="Rectangle 4"/>
          <p:cNvSpPr>
            <a:spLocks noChangeArrowheads="1"/>
          </p:cNvSpPr>
          <p:nvPr/>
        </p:nvSpPr>
        <p:spPr bwMode="auto">
          <a:xfrm>
            <a:off x="1116013" y="2854325"/>
            <a:ext cx="74882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确定系统在平衡态对应的额定工作点；</a:t>
            </a:r>
            <a:r>
              <a:rPr lang="zh-CN" altLang="en-US" sz="2800">
                <a:latin typeface="Times New Roman" panose="02020603050405020304" pitchFamily="18" charset="0"/>
              </a:rPr>
              <a:t> </a:t>
            </a:r>
          </a:p>
        </p:txBody>
      </p:sp>
      <p:sp>
        <p:nvSpPr>
          <p:cNvPr id="145413" name="Rectangle 5"/>
          <p:cNvSpPr>
            <a:spLocks noChangeArrowheads="1"/>
          </p:cNvSpPr>
          <p:nvPr/>
        </p:nvSpPr>
        <p:spPr bwMode="auto">
          <a:xfrm>
            <a:off x="1116013" y="4581525"/>
            <a:ext cx="7162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q"/>
            </a:pPr>
            <a:r>
              <a:rPr lang="en-US" altLang="zh-CN" sz="2800">
                <a:latin typeface="Times New Roman" panose="02020603050405020304" pitchFamily="18" charset="0"/>
              </a:rPr>
              <a:t> </a:t>
            </a:r>
            <a:r>
              <a:rPr lang="zh-CN" altLang="en-US" sz="2800">
                <a:latin typeface="Times New Roman" panose="02020603050405020304" pitchFamily="18" charset="0"/>
              </a:rPr>
              <a:t>与静态方程式相减获得系统</a:t>
            </a:r>
            <a:r>
              <a:rPr lang="zh-CN" altLang="en-US" sz="2800">
                <a:latin typeface="宋体" panose="02010600030101010101" pitchFamily="2" charset="-122"/>
              </a:rPr>
              <a:t>在工作点附近以增量表示的线性化微分方程。</a:t>
            </a:r>
          </a:p>
        </p:txBody>
      </p:sp>
      <p:sp>
        <p:nvSpPr>
          <p:cNvPr id="9" name="Rectangle 5"/>
          <p:cNvSpPr>
            <a:spLocks noChangeArrowheads="1"/>
          </p:cNvSpPr>
          <p:nvPr/>
        </p:nvSpPr>
        <p:spPr bwMode="auto">
          <a:xfrm>
            <a:off x="1116013" y="3573463"/>
            <a:ext cx="7162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q"/>
            </a:pPr>
            <a:r>
              <a:rPr lang="en-US" altLang="zh-CN" sz="2800">
                <a:latin typeface="Times New Roman" panose="02020603050405020304" pitchFamily="18" charset="0"/>
              </a:rPr>
              <a:t> </a:t>
            </a:r>
            <a:r>
              <a:rPr lang="zh-CN" altLang="en-US" sz="2800">
                <a:latin typeface="Times New Roman" panose="02020603050405020304" pitchFamily="18" charset="0"/>
              </a:rPr>
              <a:t>将原方程式中的瞬时值用其额定点值和增量之和表示</a:t>
            </a:r>
            <a:r>
              <a:rPr lang="zh-CN" altLang="en-US" sz="2800">
                <a:latin typeface="宋体" panose="02010600030101010101" pitchFamily="2" charset="-122"/>
              </a:rPr>
              <a:t>；</a:t>
            </a:r>
          </a:p>
        </p:txBody>
      </p:sp>
    </p:spTree>
    <p:extLst>
      <p:ext uri="{BB962C8B-B14F-4D97-AF65-F5344CB8AC3E}">
        <p14:creationId xmlns:p14="http://schemas.microsoft.com/office/powerpoint/2010/main" val="15873751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412"/>
                                        </p:tgtEl>
                                        <p:attrNameLst>
                                          <p:attrName>style.visibility</p:attrName>
                                        </p:attrNameLst>
                                      </p:cBhvr>
                                      <p:to>
                                        <p:strVal val="visible"/>
                                      </p:to>
                                    </p:set>
                                    <p:anim calcmode="lin" valueType="num">
                                      <p:cBhvr additive="base">
                                        <p:cTn id="7" dur="500" fill="hold"/>
                                        <p:tgtEl>
                                          <p:spTgt spid="145412"/>
                                        </p:tgtEl>
                                        <p:attrNameLst>
                                          <p:attrName>ppt_x</p:attrName>
                                        </p:attrNameLst>
                                      </p:cBhvr>
                                      <p:tavLst>
                                        <p:tav tm="0">
                                          <p:val>
                                            <p:strVal val="#ppt_x"/>
                                          </p:val>
                                        </p:tav>
                                        <p:tav tm="100000">
                                          <p:val>
                                            <p:strVal val="#ppt_x"/>
                                          </p:val>
                                        </p:tav>
                                      </p:tavLst>
                                    </p:anim>
                                    <p:anim calcmode="lin" valueType="num">
                                      <p:cBhvr additive="base">
                                        <p:cTn id="8" dur="500" fill="hold"/>
                                        <p:tgtEl>
                                          <p:spTgt spid="1454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45413"/>
                                        </p:tgtEl>
                                        <p:attrNameLst>
                                          <p:attrName>style.visibility</p:attrName>
                                        </p:attrNameLst>
                                      </p:cBhvr>
                                      <p:to>
                                        <p:strVal val="visible"/>
                                      </p:to>
                                    </p:set>
                                    <p:animEffect transition="in" filter="slide(fromBottom)">
                                      <p:cBhvr>
                                        <p:cTn id="19" dur="500"/>
                                        <p:tgtEl>
                                          <p:spTgt spid="145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2" grpId="0"/>
      <p:bldP spid="145413"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9AE0BD2-9F96-42DF-9CCB-D480866CB161}" type="datetime1">
              <a:rPr lang="en-US" altLang="zh-CN" sz="1200" smtClean="0"/>
              <a:pPr>
                <a:spcBef>
                  <a:spcPct val="0"/>
                </a:spcBef>
                <a:buClrTx/>
                <a:buFontTx/>
                <a:buNone/>
              </a:pPr>
              <a:t>9/14/2025</a:t>
            </a:fld>
            <a:endParaRPr lang="en-US" altLang="zh-CN" sz="1200"/>
          </a:p>
        </p:txBody>
      </p:sp>
      <p:sp>
        <p:nvSpPr>
          <p:cNvPr id="111619"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597D2327-5A87-4D9C-814C-40DC0C93C69E}" type="slidenum">
              <a:rPr lang="en-US" altLang="zh-CN" sz="1200" smtClean="0"/>
              <a:pPr>
                <a:spcBef>
                  <a:spcPct val="0"/>
                </a:spcBef>
                <a:buClrTx/>
                <a:buFontTx/>
                <a:buNone/>
              </a:pPr>
              <a:t>27</a:t>
            </a:fld>
            <a:endParaRPr lang="en-US" altLang="zh-CN" sz="1200"/>
          </a:p>
        </p:txBody>
      </p:sp>
      <p:sp>
        <p:nvSpPr>
          <p:cNvPr id="111620" name="Rectangle 2"/>
          <p:cNvSpPr>
            <a:spLocks noChangeArrowheads="1"/>
          </p:cNvSpPr>
          <p:nvPr/>
        </p:nvSpPr>
        <p:spPr bwMode="auto">
          <a:xfrm>
            <a:off x="971550" y="260350"/>
            <a:ext cx="784860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实例：液位系统，</a:t>
            </a:r>
            <a:r>
              <a:rPr lang="en-US" altLang="zh-CN" sz="2800">
                <a:latin typeface="宋体" panose="02010600030101010101" pitchFamily="2" charset="-122"/>
              </a:rPr>
              <a:t>q</a:t>
            </a:r>
            <a:r>
              <a:rPr lang="en-US" altLang="zh-CN" sz="2800" baseline="-25000">
                <a:latin typeface="宋体" panose="02010600030101010101" pitchFamily="2" charset="-122"/>
              </a:rPr>
              <a:t>i</a:t>
            </a:r>
            <a:r>
              <a:rPr lang="en-US" altLang="zh-CN" sz="2800">
                <a:latin typeface="宋体" panose="02010600030101010101" pitchFamily="2" charset="-122"/>
              </a:rPr>
              <a:t>(t)</a:t>
            </a:r>
            <a:r>
              <a:rPr lang="zh-CN" altLang="en-US" sz="2800">
                <a:latin typeface="宋体" panose="02010600030101010101" pitchFamily="2" charset="-122"/>
              </a:rPr>
              <a:t>为流入量，</a:t>
            </a:r>
            <a:r>
              <a:rPr lang="en-US" altLang="zh-CN" sz="2800">
                <a:latin typeface="宋体" panose="02010600030101010101" pitchFamily="2" charset="-122"/>
              </a:rPr>
              <a:t>q</a:t>
            </a:r>
            <a:r>
              <a:rPr lang="en-US" altLang="zh-CN" sz="2800" baseline="-25000">
                <a:latin typeface="宋体" panose="02010600030101010101" pitchFamily="2" charset="-122"/>
              </a:rPr>
              <a:t>o</a:t>
            </a:r>
            <a:r>
              <a:rPr lang="en-US" altLang="zh-CN" sz="2800">
                <a:latin typeface="宋体" panose="02010600030101010101" pitchFamily="2" charset="-122"/>
              </a:rPr>
              <a:t>(t)</a:t>
            </a:r>
            <a:r>
              <a:rPr lang="zh-CN" altLang="en-US" sz="2800">
                <a:latin typeface="宋体" panose="02010600030101010101" pitchFamily="2" charset="-122"/>
              </a:rPr>
              <a:t>为流出量，</a:t>
            </a:r>
            <a:r>
              <a:rPr lang="en-US" altLang="zh-CN" sz="2800">
                <a:latin typeface="宋体" panose="02010600030101010101" pitchFamily="2" charset="-122"/>
              </a:rPr>
              <a:t>H(t)</a:t>
            </a:r>
            <a:r>
              <a:rPr lang="zh-CN" altLang="en-US" sz="2800">
                <a:latin typeface="宋体" panose="02010600030101010101" pitchFamily="2" charset="-122"/>
              </a:rPr>
              <a:t>为液面高度</a:t>
            </a:r>
            <a:r>
              <a:rPr lang="en-US" altLang="zh-CN" sz="2800">
                <a:latin typeface="宋体" panose="02010600030101010101" pitchFamily="2" charset="-122"/>
              </a:rPr>
              <a:t>,</a:t>
            </a:r>
            <a:r>
              <a:rPr lang="zh-CN" altLang="en-US" sz="2800">
                <a:latin typeface="宋体" panose="02010600030101010101" pitchFamily="2" charset="-122"/>
              </a:rPr>
              <a:t>容器横截面积为</a:t>
            </a:r>
            <a:r>
              <a:rPr lang="en-US" altLang="zh-CN" sz="2800">
                <a:latin typeface="宋体" panose="02010600030101010101" pitchFamily="2" charset="-122"/>
              </a:rPr>
              <a:t>A</a:t>
            </a:r>
            <a:r>
              <a:rPr lang="zh-CN" altLang="en-US" sz="2800">
                <a:latin typeface="宋体" panose="02010600030101010101" pitchFamily="2" charset="-122"/>
              </a:rPr>
              <a:t>，列出液位变化的运动方程式。 </a:t>
            </a:r>
          </a:p>
        </p:txBody>
      </p:sp>
      <p:graphicFrame>
        <p:nvGraphicFramePr>
          <p:cNvPr id="146435" name="Object 2"/>
          <p:cNvGraphicFramePr>
            <a:graphicFrameLocks noChangeAspect="1"/>
          </p:cNvGraphicFramePr>
          <p:nvPr/>
        </p:nvGraphicFramePr>
        <p:xfrm>
          <a:off x="1476375" y="2349500"/>
          <a:ext cx="3733800" cy="847725"/>
        </p:xfrm>
        <a:graphic>
          <a:graphicData uri="http://schemas.openxmlformats.org/presentationml/2006/ole">
            <mc:AlternateContent xmlns:mc="http://schemas.openxmlformats.org/markup-compatibility/2006">
              <mc:Choice xmlns:v="urn:schemas-microsoft-com:vml" Requires="v">
                <p:oleObj r:id="rId2" imgW="1968500" imgH="444500" progId="Equation.3">
                  <p:embed/>
                </p:oleObj>
              </mc:Choice>
              <mc:Fallback>
                <p:oleObj r:id="rId2" imgW="1968500" imgH="444500" progId="Equation.3">
                  <p:embed/>
                  <p:pic>
                    <p:nvPicPr>
                      <p:cNvPr id="14643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349500"/>
                        <a:ext cx="3733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6436" name="Object 3"/>
          <p:cNvGraphicFramePr>
            <a:graphicFrameLocks noChangeAspect="1"/>
          </p:cNvGraphicFramePr>
          <p:nvPr/>
        </p:nvGraphicFramePr>
        <p:xfrm>
          <a:off x="1187450" y="4941888"/>
          <a:ext cx="7086600" cy="1044575"/>
        </p:xfrm>
        <a:graphic>
          <a:graphicData uri="http://schemas.openxmlformats.org/presentationml/2006/ole">
            <mc:AlternateContent xmlns:mc="http://schemas.openxmlformats.org/markup-compatibility/2006">
              <mc:Choice xmlns:v="urn:schemas-microsoft-com:vml" Requires="v">
                <p:oleObj r:id="rId4" imgW="4483100" imgH="596900" progId="Equation.3">
                  <p:embed/>
                </p:oleObj>
              </mc:Choice>
              <mc:Fallback>
                <p:oleObj r:id="rId4" imgW="4483100" imgH="596900" progId="Equation.3">
                  <p:embed/>
                  <p:pic>
                    <p:nvPicPr>
                      <p:cNvPr id="14643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941888"/>
                        <a:ext cx="7086600"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6438" name="Rectangle 6"/>
          <p:cNvSpPr>
            <a:spLocks noChangeArrowheads="1"/>
          </p:cNvSpPr>
          <p:nvPr/>
        </p:nvSpPr>
        <p:spPr bwMode="auto">
          <a:xfrm>
            <a:off x="611188" y="1844675"/>
            <a:ext cx="5213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b="1">
                <a:latin typeface="Times New Roman" panose="02020603050405020304" pitchFamily="18" charset="0"/>
              </a:rPr>
              <a:t>解</a:t>
            </a:r>
            <a:r>
              <a:rPr lang="zh-CN" altLang="en-US" sz="2800">
                <a:latin typeface="Times New Roman" panose="02020603050405020304" pitchFamily="18" charset="0"/>
              </a:rPr>
              <a:t>：根据流体力学相关定律有：</a:t>
            </a:r>
          </a:p>
        </p:txBody>
      </p:sp>
      <p:grpSp>
        <p:nvGrpSpPr>
          <p:cNvPr id="2" name="Group 7"/>
          <p:cNvGrpSpPr>
            <a:grpSpLocks/>
          </p:cNvGrpSpPr>
          <p:nvPr/>
        </p:nvGrpSpPr>
        <p:grpSpPr bwMode="auto">
          <a:xfrm>
            <a:off x="971550" y="4221163"/>
            <a:ext cx="5111750" cy="520700"/>
            <a:chOff x="1440" y="2448"/>
            <a:chExt cx="3220" cy="328"/>
          </a:xfrm>
        </p:grpSpPr>
        <p:graphicFrame>
          <p:nvGraphicFramePr>
            <p:cNvPr id="111667" name="Object 5"/>
            <p:cNvGraphicFramePr>
              <a:graphicFrameLocks noChangeAspect="1"/>
            </p:cNvGraphicFramePr>
            <p:nvPr/>
          </p:nvGraphicFramePr>
          <p:xfrm>
            <a:off x="2400" y="2448"/>
            <a:ext cx="624" cy="328"/>
          </p:xfrm>
          <a:graphic>
            <a:graphicData uri="http://schemas.openxmlformats.org/presentationml/2006/ole">
              <mc:AlternateContent xmlns:mc="http://schemas.openxmlformats.org/markup-compatibility/2006">
                <mc:Choice xmlns:v="urn:schemas-microsoft-com:vml" Requires="v">
                  <p:oleObj r:id="rId6" imgW="520474" imgH="279279" progId="Equation.3">
                    <p:embed/>
                  </p:oleObj>
                </mc:Choice>
                <mc:Fallback>
                  <p:oleObj r:id="rId6" imgW="520474" imgH="279279" progId="Equation.3">
                    <p:embed/>
                    <p:pic>
                      <p:nvPicPr>
                        <p:cNvPr id="11166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0" y="2448"/>
                          <a:ext cx="624"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1668" name="Rectangle 9"/>
            <p:cNvSpPr>
              <a:spLocks noChangeArrowheads="1"/>
            </p:cNvSpPr>
            <p:nvPr/>
          </p:nvSpPr>
          <p:spPr bwMode="auto">
            <a:xfrm>
              <a:off x="1440" y="2448"/>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非线性项</a:t>
              </a:r>
            </a:p>
          </p:txBody>
        </p:sp>
        <p:sp>
          <p:nvSpPr>
            <p:cNvPr id="111669" name="Rectangle 10"/>
            <p:cNvSpPr>
              <a:spLocks noChangeArrowheads="1"/>
            </p:cNvSpPr>
            <p:nvPr/>
          </p:nvSpPr>
          <p:spPr bwMode="auto">
            <a:xfrm>
              <a:off x="2976" y="2448"/>
              <a:ext cx="16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的泰勒展开为：</a:t>
              </a:r>
            </a:p>
          </p:txBody>
        </p:sp>
      </p:grpSp>
      <p:grpSp>
        <p:nvGrpSpPr>
          <p:cNvPr id="3" name="Group 12"/>
          <p:cNvGrpSpPr>
            <a:grpSpLocks/>
          </p:cNvGrpSpPr>
          <p:nvPr/>
        </p:nvGrpSpPr>
        <p:grpSpPr bwMode="auto">
          <a:xfrm>
            <a:off x="5638800" y="1905000"/>
            <a:ext cx="3387725" cy="2898775"/>
            <a:chOff x="3552" y="1200"/>
            <a:chExt cx="2134" cy="1826"/>
          </a:xfrm>
        </p:grpSpPr>
        <p:sp>
          <p:nvSpPr>
            <p:cNvPr id="111629" name="Rectangle 13" descr="浅色横线"/>
            <p:cNvSpPr>
              <a:spLocks noChangeArrowheads="1"/>
            </p:cNvSpPr>
            <p:nvPr/>
          </p:nvSpPr>
          <p:spPr bwMode="auto">
            <a:xfrm>
              <a:off x="4921" y="2574"/>
              <a:ext cx="138" cy="60"/>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11630" name="Rectangle 14" descr="浅色横线"/>
            <p:cNvSpPr>
              <a:spLocks noChangeArrowheads="1"/>
            </p:cNvSpPr>
            <p:nvPr/>
          </p:nvSpPr>
          <p:spPr bwMode="auto">
            <a:xfrm>
              <a:off x="3975" y="1941"/>
              <a:ext cx="946" cy="693"/>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11631" name="Freeform 15"/>
            <p:cNvSpPr>
              <a:spLocks noChangeArrowheads="1"/>
            </p:cNvSpPr>
            <p:nvPr/>
          </p:nvSpPr>
          <p:spPr bwMode="auto">
            <a:xfrm>
              <a:off x="3958" y="1581"/>
              <a:ext cx="378" cy="182"/>
            </a:xfrm>
            <a:custGeom>
              <a:avLst/>
              <a:gdLst>
                <a:gd name="T0" fmla="*/ 0 w 1056"/>
                <a:gd name="T1" fmla="*/ 1 h 296"/>
                <a:gd name="T2" fmla="*/ 4 w 1056"/>
                <a:gd name="T3" fmla="*/ 1 h 296"/>
                <a:gd name="T4" fmla="*/ 5 w 1056"/>
                <a:gd name="T5" fmla="*/ 5 h 296"/>
                <a:gd name="T6" fmla="*/ 6 w 1056"/>
                <a:gd name="T7" fmla="*/ 26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56" h="296">
                  <a:moveTo>
                    <a:pt x="0" y="8"/>
                  </a:moveTo>
                  <a:cubicBezTo>
                    <a:pt x="260" y="4"/>
                    <a:pt x="520" y="0"/>
                    <a:pt x="672" y="8"/>
                  </a:cubicBezTo>
                  <a:cubicBezTo>
                    <a:pt x="824" y="16"/>
                    <a:pt x="848" y="8"/>
                    <a:pt x="912" y="56"/>
                  </a:cubicBezTo>
                  <a:cubicBezTo>
                    <a:pt x="976" y="104"/>
                    <a:pt x="1016" y="200"/>
                    <a:pt x="1056" y="296"/>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632" name="Freeform 16"/>
            <p:cNvSpPr>
              <a:spLocks noChangeArrowheads="1"/>
            </p:cNvSpPr>
            <p:nvPr/>
          </p:nvSpPr>
          <p:spPr bwMode="auto">
            <a:xfrm>
              <a:off x="3958" y="1641"/>
              <a:ext cx="327" cy="122"/>
            </a:xfrm>
            <a:custGeom>
              <a:avLst/>
              <a:gdLst>
                <a:gd name="T0" fmla="*/ 0 w 912"/>
                <a:gd name="T1" fmla="*/ 0 h 296"/>
                <a:gd name="T2" fmla="*/ 4 w 912"/>
                <a:gd name="T3" fmla="*/ 0 h 296"/>
                <a:gd name="T4" fmla="*/ 5 w 912"/>
                <a:gd name="T5" fmla="*/ 1 h 296"/>
                <a:gd name="T6" fmla="*/ 5 w 912"/>
                <a:gd name="T7" fmla="*/ 4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2" h="296">
                  <a:moveTo>
                    <a:pt x="0" y="8"/>
                  </a:moveTo>
                  <a:cubicBezTo>
                    <a:pt x="244" y="4"/>
                    <a:pt x="488" y="0"/>
                    <a:pt x="624" y="8"/>
                  </a:cubicBezTo>
                  <a:cubicBezTo>
                    <a:pt x="760" y="16"/>
                    <a:pt x="768" y="8"/>
                    <a:pt x="816" y="56"/>
                  </a:cubicBezTo>
                  <a:cubicBezTo>
                    <a:pt x="864" y="104"/>
                    <a:pt x="888" y="200"/>
                    <a:pt x="912" y="296"/>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1633" name="Line 17"/>
            <p:cNvSpPr>
              <a:spLocks noChangeShapeType="1"/>
            </p:cNvSpPr>
            <p:nvPr/>
          </p:nvSpPr>
          <p:spPr bwMode="auto">
            <a:xfrm>
              <a:off x="4285" y="1763"/>
              <a:ext cx="5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4" name="Line 18"/>
            <p:cNvSpPr>
              <a:spLocks noChangeShapeType="1"/>
            </p:cNvSpPr>
            <p:nvPr/>
          </p:nvSpPr>
          <p:spPr bwMode="auto">
            <a:xfrm>
              <a:off x="3958" y="1565"/>
              <a:ext cx="0"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5" name="Line 19"/>
            <p:cNvSpPr>
              <a:spLocks noChangeShapeType="1"/>
            </p:cNvSpPr>
            <p:nvPr/>
          </p:nvSpPr>
          <p:spPr bwMode="auto">
            <a:xfrm>
              <a:off x="3820" y="1565"/>
              <a:ext cx="0"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6" name="Line 20"/>
            <p:cNvSpPr>
              <a:spLocks noChangeShapeType="1"/>
            </p:cNvSpPr>
            <p:nvPr/>
          </p:nvSpPr>
          <p:spPr bwMode="auto">
            <a:xfrm>
              <a:off x="3820" y="1565"/>
              <a:ext cx="138"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7" name="Line 21"/>
            <p:cNvSpPr>
              <a:spLocks noChangeShapeType="1"/>
            </p:cNvSpPr>
            <p:nvPr/>
          </p:nvSpPr>
          <p:spPr bwMode="auto">
            <a:xfrm flipV="1">
              <a:off x="3820" y="1565"/>
              <a:ext cx="138"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8" name="Line 22"/>
            <p:cNvSpPr>
              <a:spLocks noChangeShapeType="1"/>
            </p:cNvSpPr>
            <p:nvPr/>
          </p:nvSpPr>
          <p:spPr bwMode="auto">
            <a:xfrm flipH="1">
              <a:off x="3648" y="1584"/>
              <a:ext cx="1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39" name="Line 23"/>
            <p:cNvSpPr>
              <a:spLocks noChangeShapeType="1"/>
            </p:cNvSpPr>
            <p:nvPr/>
          </p:nvSpPr>
          <p:spPr bwMode="auto">
            <a:xfrm flipH="1">
              <a:off x="3648" y="1644"/>
              <a:ext cx="1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0" name="Line 24"/>
            <p:cNvSpPr>
              <a:spLocks noChangeShapeType="1"/>
            </p:cNvSpPr>
            <p:nvPr/>
          </p:nvSpPr>
          <p:spPr bwMode="auto">
            <a:xfrm flipV="1">
              <a:off x="3889" y="1486"/>
              <a:ext cx="0" cy="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1" name="Line 25"/>
            <p:cNvSpPr>
              <a:spLocks noChangeShapeType="1"/>
            </p:cNvSpPr>
            <p:nvPr/>
          </p:nvSpPr>
          <p:spPr bwMode="auto">
            <a:xfrm>
              <a:off x="3837" y="1486"/>
              <a:ext cx="10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2" name="Text Box 26"/>
            <p:cNvSpPr txBox="1">
              <a:spLocks noChangeArrowheads="1"/>
            </p:cNvSpPr>
            <p:nvPr/>
          </p:nvSpPr>
          <p:spPr bwMode="auto">
            <a:xfrm>
              <a:off x="3552" y="1200"/>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节流阀</a:t>
              </a:r>
            </a:p>
          </p:txBody>
        </p:sp>
        <p:sp>
          <p:nvSpPr>
            <p:cNvPr id="111643" name="Line 27"/>
            <p:cNvSpPr>
              <a:spLocks noChangeShapeType="1"/>
            </p:cNvSpPr>
            <p:nvPr/>
          </p:nvSpPr>
          <p:spPr bwMode="auto">
            <a:xfrm>
              <a:off x="3975" y="1763"/>
              <a:ext cx="0" cy="87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4" name="Line 28"/>
            <p:cNvSpPr>
              <a:spLocks noChangeShapeType="1"/>
            </p:cNvSpPr>
            <p:nvPr/>
          </p:nvSpPr>
          <p:spPr bwMode="auto">
            <a:xfrm>
              <a:off x="3975" y="2634"/>
              <a:ext cx="108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5" name="Line 29"/>
            <p:cNvSpPr>
              <a:spLocks noChangeShapeType="1"/>
            </p:cNvSpPr>
            <p:nvPr/>
          </p:nvSpPr>
          <p:spPr bwMode="auto">
            <a:xfrm flipV="1">
              <a:off x="4921" y="1763"/>
              <a:ext cx="0" cy="8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6" name="Line 30"/>
            <p:cNvSpPr>
              <a:spLocks noChangeShapeType="1"/>
            </p:cNvSpPr>
            <p:nvPr/>
          </p:nvSpPr>
          <p:spPr bwMode="auto">
            <a:xfrm>
              <a:off x="5204" y="2554"/>
              <a:ext cx="0"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7" name="Line 31"/>
            <p:cNvSpPr>
              <a:spLocks noChangeShapeType="1"/>
            </p:cNvSpPr>
            <p:nvPr/>
          </p:nvSpPr>
          <p:spPr bwMode="auto">
            <a:xfrm>
              <a:off x="5066" y="2554"/>
              <a:ext cx="0"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8" name="Line 32"/>
            <p:cNvSpPr>
              <a:spLocks noChangeShapeType="1"/>
            </p:cNvSpPr>
            <p:nvPr/>
          </p:nvSpPr>
          <p:spPr bwMode="auto">
            <a:xfrm>
              <a:off x="5066" y="2554"/>
              <a:ext cx="138"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49" name="Line 33"/>
            <p:cNvSpPr>
              <a:spLocks noChangeShapeType="1"/>
            </p:cNvSpPr>
            <p:nvPr/>
          </p:nvSpPr>
          <p:spPr bwMode="auto">
            <a:xfrm flipV="1">
              <a:off x="5066" y="2554"/>
              <a:ext cx="138" cy="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50" name="Line 34"/>
            <p:cNvSpPr>
              <a:spLocks noChangeShapeType="1"/>
            </p:cNvSpPr>
            <p:nvPr/>
          </p:nvSpPr>
          <p:spPr bwMode="auto">
            <a:xfrm flipV="1">
              <a:off x="5135" y="2475"/>
              <a:ext cx="0" cy="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51" name="Line 35"/>
            <p:cNvSpPr>
              <a:spLocks noChangeShapeType="1"/>
            </p:cNvSpPr>
            <p:nvPr/>
          </p:nvSpPr>
          <p:spPr bwMode="auto">
            <a:xfrm>
              <a:off x="5083" y="2475"/>
              <a:ext cx="103" cy="0"/>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52" name="Text Box 36"/>
            <p:cNvSpPr txBox="1">
              <a:spLocks noChangeArrowheads="1"/>
            </p:cNvSpPr>
            <p:nvPr/>
          </p:nvSpPr>
          <p:spPr bwMode="auto">
            <a:xfrm>
              <a:off x="4896" y="2160"/>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节流阀</a:t>
              </a:r>
            </a:p>
          </p:txBody>
        </p:sp>
        <p:sp>
          <p:nvSpPr>
            <p:cNvPr id="111653" name="Line 37"/>
            <p:cNvSpPr>
              <a:spLocks noChangeShapeType="1"/>
            </p:cNvSpPr>
            <p:nvPr/>
          </p:nvSpPr>
          <p:spPr bwMode="auto">
            <a:xfrm flipH="1">
              <a:off x="4921" y="2574"/>
              <a:ext cx="1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54" name="Line 38"/>
            <p:cNvSpPr>
              <a:spLocks noChangeShapeType="1"/>
            </p:cNvSpPr>
            <p:nvPr/>
          </p:nvSpPr>
          <p:spPr bwMode="auto">
            <a:xfrm>
              <a:off x="5196" y="2574"/>
              <a:ext cx="8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55" name="Line 39"/>
            <p:cNvSpPr>
              <a:spLocks noChangeShapeType="1"/>
            </p:cNvSpPr>
            <p:nvPr/>
          </p:nvSpPr>
          <p:spPr bwMode="auto">
            <a:xfrm>
              <a:off x="5196" y="2634"/>
              <a:ext cx="8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56" name="Line 40"/>
            <p:cNvSpPr>
              <a:spLocks noChangeShapeType="1"/>
            </p:cNvSpPr>
            <p:nvPr/>
          </p:nvSpPr>
          <p:spPr bwMode="auto">
            <a:xfrm>
              <a:off x="5300" y="2614"/>
              <a:ext cx="20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57" name="Line 41"/>
            <p:cNvSpPr>
              <a:spLocks noChangeShapeType="1"/>
            </p:cNvSpPr>
            <p:nvPr/>
          </p:nvSpPr>
          <p:spPr bwMode="auto">
            <a:xfrm>
              <a:off x="3975" y="1941"/>
              <a:ext cx="94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58" name="Line 42"/>
            <p:cNvSpPr>
              <a:spLocks noChangeShapeType="1"/>
            </p:cNvSpPr>
            <p:nvPr/>
          </p:nvSpPr>
          <p:spPr bwMode="auto">
            <a:xfrm>
              <a:off x="4440" y="1941"/>
              <a:ext cx="0" cy="693"/>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659" name="Line 43"/>
            <p:cNvSpPr>
              <a:spLocks noChangeShapeType="1"/>
            </p:cNvSpPr>
            <p:nvPr/>
          </p:nvSpPr>
          <p:spPr bwMode="auto">
            <a:xfrm>
              <a:off x="4319" y="1802"/>
              <a:ext cx="17" cy="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60" name="Line 44"/>
            <p:cNvSpPr>
              <a:spLocks noChangeShapeType="1"/>
            </p:cNvSpPr>
            <p:nvPr/>
          </p:nvSpPr>
          <p:spPr bwMode="auto">
            <a:xfrm>
              <a:off x="4336" y="1802"/>
              <a:ext cx="52" cy="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61" name="Line 45"/>
            <p:cNvSpPr>
              <a:spLocks noChangeShapeType="1"/>
            </p:cNvSpPr>
            <p:nvPr/>
          </p:nvSpPr>
          <p:spPr bwMode="auto">
            <a:xfrm>
              <a:off x="4302" y="1802"/>
              <a:ext cx="0" cy="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62" name="Line 46"/>
            <p:cNvSpPr>
              <a:spLocks noChangeShapeType="1"/>
            </p:cNvSpPr>
            <p:nvPr/>
          </p:nvSpPr>
          <p:spPr bwMode="auto">
            <a:xfrm flipH="1">
              <a:off x="4267" y="1802"/>
              <a:ext cx="18" cy="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663" name="Text Box 47"/>
            <p:cNvSpPr txBox="1">
              <a:spLocks noChangeArrowheads="1"/>
            </p:cNvSpPr>
            <p:nvPr/>
          </p:nvSpPr>
          <p:spPr bwMode="auto">
            <a:xfrm>
              <a:off x="4340" y="1616"/>
              <a:ext cx="4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i="1">
                  <a:latin typeface="Times New Roman" panose="02020603050405020304" pitchFamily="18" charset="0"/>
                </a:rPr>
                <a:t>q</a:t>
              </a:r>
              <a:r>
                <a:rPr lang="en-US" altLang="zh-CN" sz="2400" b="1" i="1" baseline="-25000">
                  <a:latin typeface="Times New Roman" panose="02020603050405020304" pitchFamily="18" charset="0"/>
                </a:rPr>
                <a:t>i</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111664" name="Text Box 48"/>
            <p:cNvSpPr txBox="1">
              <a:spLocks noChangeArrowheads="1"/>
            </p:cNvSpPr>
            <p:nvPr/>
          </p:nvSpPr>
          <p:spPr bwMode="auto">
            <a:xfrm>
              <a:off x="5184" y="2614"/>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i="1">
                  <a:latin typeface="Times New Roman" panose="02020603050405020304" pitchFamily="18" charset="0"/>
                </a:rPr>
                <a:t>q</a:t>
              </a:r>
              <a:r>
                <a:rPr lang="en-US" altLang="zh-CN" sz="2400" b="1" i="1" baseline="-25000">
                  <a:latin typeface="Times New Roman" panose="02020603050405020304" pitchFamily="18" charset="0"/>
                </a:rPr>
                <a:t>o</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111665" name="Text Box 49"/>
            <p:cNvSpPr txBox="1">
              <a:spLocks noChangeArrowheads="1"/>
            </p:cNvSpPr>
            <p:nvPr/>
          </p:nvSpPr>
          <p:spPr bwMode="auto">
            <a:xfrm>
              <a:off x="4017" y="2112"/>
              <a:ext cx="4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b="1" i="1">
                  <a:latin typeface="Times New Roman" panose="02020603050405020304" pitchFamily="18" charset="0"/>
                </a:rPr>
                <a:t>H</a:t>
              </a:r>
              <a:r>
                <a:rPr lang="en-US" altLang="zh-CN" sz="2400" b="1">
                  <a:latin typeface="Times New Roman" panose="02020603050405020304" pitchFamily="18" charset="0"/>
                </a:rPr>
                <a:t>(</a:t>
              </a:r>
              <a:r>
                <a:rPr lang="en-US" altLang="zh-CN" sz="2400" b="1" i="1">
                  <a:latin typeface="Times New Roman" panose="02020603050405020304" pitchFamily="18" charset="0"/>
                </a:rPr>
                <a:t>t</a:t>
              </a:r>
              <a:r>
                <a:rPr lang="en-US" altLang="zh-CN" sz="2400" b="1">
                  <a:latin typeface="Times New Roman" panose="02020603050405020304" pitchFamily="18" charset="0"/>
                </a:rPr>
                <a:t>)</a:t>
              </a:r>
            </a:p>
          </p:txBody>
        </p:sp>
        <p:sp>
          <p:nvSpPr>
            <p:cNvPr id="111666" name="Text Box 50"/>
            <p:cNvSpPr txBox="1">
              <a:spLocks noChangeArrowheads="1"/>
            </p:cNvSpPr>
            <p:nvPr/>
          </p:nvSpPr>
          <p:spPr bwMode="auto">
            <a:xfrm>
              <a:off x="4285" y="2738"/>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液位系统</a:t>
              </a:r>
            </a:p>
          </p:txBody>
        </p:sp>
      </p:grpSp>
      <p:grpSp>
        <p:nvGrpSpPr>
          <p:cNvPr id="4" name="组合 52"/>
          <p:cNvGrpSpPr>
            <a:grpSpLocks/>
          </p:cNvGrpSpPr>
          <p:nvPr/>
        </p:nvGrpSpPr>
        <p:grpSpPr bwMode="auto">
          <a:xfrm>
            <a:off x="323850" y="3357563"/>
            <a:ext cx="4424363" cy="609600"/>
            <a:chOff x="323850" y="3357563"/>
            <a:chExt cx="4424363" cy="609600"/>
          </a:xfrm>
        </p:grpSpPr>
        <p:graphicFrame>
          <p:nvGraphicFramePr>
            <p:cNvPr id="111627" name="Object 4"/>
            <p:cNvGraphicFramePr>
              <a:graphicFrameLocks noChangeAspect="1"/>
            </p:cNvGraphicFramePr>
            <p:nvPr/>
          </p:nvGraphicFramePr>
          <p:xfrm>
            <a:off x="1547813" y="3357563"/>
            <a:ext cx="3200400" cy="609600"/>
          </p:xfrm>
          <a:graphic>
            <a:graphicData uri="http://schemas.openxmlformats.org/presentationml/2006/ole">
              <mc:AlternateContent xmlns:mc="http://schemas.openxmlformats.org/markup-compatibility/2006">
                <mc:Choice xmlns:v="urn:schemas-microsoft-com:vml" Requires="v">
                  <p:oleObj r:id="rId9" imgW="1396394" imgH="266584" progId="Equation.3">
                    <p:embed/>
                  </p:oleObj>
                </mc:Choice>
                <mc:Fallback>
                  <p:oleObj r:id="rId9" imgW="1396394" imgH="266584" progId="Equation.3">
                    <p:embed/>
                    <p:pic>
                      <p:nvPicPr>
                        <p:cNvPr id="111627"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3357563"/>
                          <a:ext cx="3200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1628" name="矩形 53"/>
            <p:cNvSpPr>
              <a:spLocks noChangeArrowheads="1"/>
            </p:cNvSpPr>
            <p:nvPr/>
          </p:nvSpPr>
          <p:spPr bwMode="auto">
            <a:xfrm>
              <a:off x="323850" y="3357563"/>
              <a:ext cx="14922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稳态时</a:t>
              </a:r>
              <a:r>
                <a:rPr lang="zh-CN" altLang="en-US" sz="1800">
                  <a:latin typeface="Times New Roman" panose="02020603050405020304" pitchFamily="18" charset="0"/>
                </a:rPr>
                <a:t>：</a:t>
              </a:r>
              <a:endParaRPr lang="zh-CN" altLang="en-US" sz="1800"/>
            </a:p>
          </p:txBody>
        </p:sp>
      </p:grpSp>
    </p:spTree>
    <p:extLst>
      <p:ext uri="{BB962C8B-B14F-4D97-AF65-F5344CB8AC3E}">
        <p14:creationId xmlns:p14="http://schemas.microsoft.com/office/powerpoint/2010/main" val="313111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6438"/>
                                        </p:tgtEl>
                                        <p:attrNameLst>
                                          <p:attrName>style.visibility</p:attrName>
                                        </p:attrNameLst>
                                      </p:cBhvr>
                                      <p:to>
                                        <p:strVal val="visible"/>
                                      </p:to>
                                    </p:set>
                                    <p:anim calcmode="lin" valueType="num">
                                      <p:cBhvr additive="base">
                                        <p:cTn id="13" dur="500" fill="hold"/>
                                        <p:tgtEl>
                                          <p:spTgt spid="146438"/>
                                        </p:tgtEl>
                                        <p:attrNameLst>
                                          <p:attrName>ppt_x</p:attrName>
                                        </p:attrNameLst>
                                      </p:cBhvr>
                                      <p:tavLst>
                                        <p:tav tm="0">
                                          <p:val>
                                            <p:strVal val="#ppt_x"/>
                                          </p:val>
                                        </p:tav>
                                        <p:tav tm="100000">
                                          <p:val>
                                            <p:strVal val="#ppt_x"/>
                                          </p:val>
                                        </p:tav>
                                      </p:tavLst>
                                    </p:anim>
                                    <p:anim calcmode="lin" valueType="num">
                                      <p:cBhvr additive="base">
                                        <p:cTn id="14" dur="500" fill="hold"/>
                                        <p:tgtEl>
                                          <p:spTgt spid="14643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46435"/>
                                        </p:tgtEl>
                                        <p:attrNameLst>
                                          <p:attrName>style.visibility</p:attrName>
                                        </p:attrNameLst>
                                      </p:cBhvr>
                                      <p:to>
                                        <p:strVal val="visible"/>
                                      </p:to>
                                    </p:set>
                                    <p:anim calcmode="lin" valueType="num">
                                      <p:cBhvr additive="base">
                                        <p:cTn id="19" dur="500" fill="hold"/>
                                        <p:tgtEl>
                                          <p:spTgt spid="146435"/>
                                        </p:tgtEl>
                                        <p:attrNameLst>
                                          <p:attrName>ppt_x</p:attrName>
                                        </p:attrNameLst>
                                      </p:cBhvr>
                                      <p:tavLst>
                                        <p:tav tm="0">
                                          <p:val>
                                            <p:strVal val="#ppt_x"/>
                                          </p:val>
                                        </p:tav>
                                        <p:tav tm="100000">
                                          <p:val>
                                            <p:strVal val="#ppt_x"/>
                                          </p:val>
                                        </p:tav>
                                      </p:tavLst>
                                    </p:anim>
                                    <p:anim calcmode="lin" valueType="num">
                                      <p:cBhvr additive="base">
                                        <p:cTn id="20" dur="500" fill="hold"/>
                                        <p:tgtEl>
                                          <p:spTgt spid="14643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slide(fromBottom)">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146436"/>
                                        </p:tgtEl>
                                        <p:attrNameLst>
                                          <p:attrName>style.visibility</p:attrName>
                                        </p:attrNameLst>
                                      </p:cBhvr>
                                      <p:to>
                                        <p:strVal val="visible"/>
                                      </p:to>
                                    </p:set>
                                    <p:anim calcmode="lin" valueType="num">
                                      <p:cBhvr additive="base">
                                        <p:cTn id="36" dur="500" fill="hold"/>
                                        <p:tgtEl>
                                          <p:spTgt spid="146436"/>
                                        </p:tgtEl>
                                        <p:attrNameLst>
                                          <p:attrName>ppt_x</p:attrName>
                                        </p:attrNameLst>
                                      </p:cBhvr>
                                      <p:tavLst>
                                        <p:tav tm="0">
                                          <p:val>
                                            <p:strVal val="#ppt_x"/>
                                          </p:val>
                                        </p:tav>
                                        <p:tav tm="100000">
                                          <p:val>
                                            <p:strVal val="#ppt_x"/>
                                          </p:val>
                                        </p:tav>
                                      </p:tavLst>
                                    </p:anim>
                                    <p:anim calcmode="lin" valueType="num">
                                      <p:cBhvr additive="base">
                                        <p:cTn id="37" dur="500" fill="hold"/>
                                        <p:tgtEl>
                                          <p:spTgt spid="1464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1F09F7FA-242C-4EA5-AF9B-4403B6B1964C}" type="datetime1">
              <a:rPr lang="en-US" altLang="zh-CN" sz="1200" smtClean="0"/>
              <a:pPr>
                <a:spcBef>
                  <a:spcPct val="0"/>
                </a:spcBef>
                <a:buClrTx/>
                <a:buFontTx/>
                <a:buNone/>
              </a:pPr>
              <a:t>9/14/2025</a:t>
            </a:fld>
            <a:endParaRPr lang="en-US" altLang="zh-CN" sz="1200"/>
          </a:p>
        </p:txBody>
      </p:sp>
      <p:sp>
        <p:nvSpPr>
          <p:cNvPr id="112643"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E321AA48-FF19-479A-B329-FA2EE09FC5E0}" type="slidenum">
              <a:rPr lang="en-US" altLang="zh-CN" sz="1200" smtClean="0"/>
              <a:pPr>
                <a:spcBef>
                  <a:spcPct val="0"/>
                </a:spcBef>
                <a:buClrTx/>
                <a:buFontTx/>
                <a:buNone/>
              </a:pPr>
              <a:t>28</a:t>
            </a:fld>
            <a:endParaRPr lang="en-US" altLang="zh-CN" sz="1200"/>
          </a:p>
        </p:txBody>
      </p:sp>
      <p:graphicFrame>
        <p:nvGraphicFramePr>
          <p:cNvPr id="112644" name="Object 2"/>
          <p:cNvGraphicFramePr>
            <a:graphicFrameLocks noChangeAspect="1"/>
          </p:cNvGraphicFramePr>
          <p:nvPr/>
        </p:nvGraphicFramePr>
        <p:xfrm>
          <a:off x="1905000" y="1981200"/>
          <a:ext cx="6705600" cy="1057275"/>
        </p:xfrm>
        <a:graphic>
          <a:graphicData uri="http://schemas.openxmlformats.org/presentationml/2006/ole">
            <mc:AlternateContent xmlns:mc="http://schemas.openxmlformats.org/markup-compatibility/2006">
              <mc:Choice xmlns:v="urn:schemas-microsoft-com:vml" Requires="v">
                <p:oleObj r:id="rId2" imgW="3797300" imgH="596900" progId="Equation.3">
                  <p:embed/>
                </p:oleObj>
              </mc:Choice>
              <mc:Fallback>
                <p:oleObj r:id="rId2" imgW="3797300" imgH="596900" progId="Equation.3">
                  <p:embed/>
                  <p:pic>
                    <p:nvPicPr>
                      <p:cNvPr id="11264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81200"/>
                        <a:ext cx="67056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645" name="Rectangle 3"/>
          <p:cNvSpPr>
            <a:spLocks noChangeArrowheads="1"/>
          </p:cNvSpPr>
          <p:nvPr/>
        </p:nvSpPr>
        <p:spPr bwMode="auto">
          <a:xfrm>
            <a:off x="971550" y="1557338"/>
            <a:ext cx="89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则：</a:t>
            </a:r>
          </a:p>
        </p:txBody>
      </p:sp>
      <p:grpSp>
        <p:nvGrpSpPr>
          <p:cNvPr id="2" name="Group 4"/>
          <p:cNvGrpSpPr>
            <a:grpSpLocks/>
          </p:cNvGrpSpPr>
          <p:nvPr/>
        </p:nvGrpSpPr>
        <p:grpSpPr bwMode="auto">
          <a:xfrm>
            <a:off x="1066800" y="3016250"/>
            <a:ext cx="7010400" cy="1527175"/>
            <a:chOff x="672" y="1900"/>
            <a:chExt cx="4416" cy="962"/>
          </a:xfrm>
        </p:grpSpPr>
        <p:graphicFrame>
          <p:nvGraphicFramePr>
            <p:cNvPr id="112650" name="Object 4"/>
            <p:cNvGraphicFramePr>
              <a:graphicFrameLocks noChangeAspect="1"/>
            </p:cNvGraphicFramePr>
            <p:nvPr/>
          </p:nvGraphicFramePr>
          <p:xfrm>
            <a:off x="1248" y="2256"/>
            <a:ext cx="3840" cy="606"/>
          </p:xfrm>
          <a:graphic>
            <a:graphicData uri="http://schemas.openxmlformats.org/presentationml/2006/ole">
              <mc:AlternateContent xmlns:mc="http://schemas.openxmlformats.org/markup-compatibility/2006">
                <mc:Choice xmlns:v="urn:schemas-microsoft-com:vml" Requires="v">
                  <p:oleObj r:id="rId4" imgW="3619500" imgH="571500" progId="Equation.3">
                    <p:embed/>
                  </p:oleObj>
                </mc:Choice>
                <mc:Fallback>
                  <p:oleObj r:id="rId4" imgW="3619500" imgH="571500" progId="Equation.3">
                    <p:embed/>
                    <p:pic>
                      <p:nvPicPr>
                        <p:cNvPr id="11265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8" y="2256"/>
                          <a:ext cx="3840"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651" name="Rectangle 6"/>
            <p:cNvSpPr>
              <a:spLocks noChangeArrowheads="1"/>
            </p:cNvSpPr>
            <p:nvPr/>
          </p:nvSpPr>
          <p:spPr bwMode="auto">
            <a:xfrm>
              <a:off x="672" y="1900"/>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由于：</a:t>
              </a:r>
            </a:p>
          </p:txBody>
        </p:sp>
      </p:grpSp>
      <p:grpSp>
        <p:nvGrpSpPr>
          <p:cNvPr id="3" name="Group 7"/>
          <p:cNvGrpSpPr>
            <a:grpSpLocks/>
          </p:cNvGrpSpPr>
          <p:nvPr/>
        </p:nvGrpSpPr>
        <p:grpSpPr bwMode="auto">
          <a:xfrm>
            <a:off x="1066800" y="4662488"/>
            <a:ext cx="4017963" cy="1357312"/>
            <a:chOff x="672" y="2937"/>
            <a:chExt cx="2531" cy="855"/>
          </a:xfrm>
        </p:grpSpPr>
        <p:sp>
          <p:nvSpPr>
            <p:cNvPr id="112648" name="Rectangle 8"/>
            <p:cNvSpPr>
              <a:spLocks noChangeArrowheads="1"/>
            </p:cNvSpPr>
            <p:nvPr/>
          </p:nvSpPr>
          <p:spPr bwMode="auto">
            <a:xfrm>
              <a:off x="672" y="2937"/>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注意到：</a:t>
              </a:r>
            </a:p>
          </p:txBody>
        </p:sp>
        <p:graphicFrame>
          <p:nvGraphicFramePr>
            <p:cNvPr id="112649" name="Object 3"/>
            <p:cNvGraphicFramePr>
              <a:graphicFrameLocks noChangeAspect="1"/>
            </p:cNvGraphicFramePr>
            <p:nvPr/>
          </p:nvGraphicFramePr>
          <p:xfrm>
            <a:off x="1296" y="3264"/>
            <a:ext cx="1907" cy="528"/>
          </p:xfrm>
          <a:graphic>
            <a:graphicData uri="http://schemas.openxmlformats.org/presentationml/2006/ole">
              <mc:AlternateContent xmlns:mc="http://schemas.openxmlformats.org/markup-compatibility/2006">
                <mc:Choice xmlns:v="urn:schemas-microsoft-com:vml" Requires="v">
                  <p:oleObj r:id="rId6" imgW="1422400" imgH="393700" progId="Equation.3">
                    <p:embed/>
                  </p:oleObj>
                </mc:Choice>
                <mc:Fallback>
                  <p:oleObj r:id="rId6" imgW="1422400" imgH="393700" progId="Equation.3">
                    <p:embed/>
                    <p:pic>
                      <p:nvPicPr>
                        <p:cNvPr id="112649"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6" y="3264"/>
                          <a:ext cx="1907"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721633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203AC9A-240E-4D5E-949E-4CF6B7D1B4FE}" type="datetime1">
              <a:rPr lang="en-US" altLang="zh-CN" sz="1200" smtClean="0"/>
              <a:pPr>
                <a:spcBef>
                  <a:spcPct val="0"/>
                </a:spcBef>
                <a:buClrTx/>
                <a:buFontTx/>
                <a:buNone/>
              </a:pPr>
              <a:t>9/14/2025</a:t>
            </a:fld>
            <a:endParaRPr lang="en-US" altLang="zh-CN" sz="1200"/>
          </a:p>
        </p:txBody>
      </p:sp>
      <p:sp>
        <p:nvSpPr>
          <p:cNvPr id="113667"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C2CCB6F-FC24-4A0D-9926-5881975202F2}" type="slidenum">
              <a:rPr lang="en-US" altLang="zh-CN" sz="1200" smtClean="0"/>
              <a:pPr>
                <a:spcBef>
                  <a:spcPct val="0"/>
                </a:spcBef>
                <a:buClrTx/>
                <a:buFontTx/>
                <a:buNone/>
              </a:pPr>
              <a:t>29</a:t>
            </a:fld>
            <a:endParaRPr lang="en-US" altLang="zh-CN" sz="1200"/>
          </a:p>
        </p:txBody>
      </p:sp>
      <p:graphicFrame>
        <p:nvGraphicFramePr>
          <p:cNvPr id="521216" name="Object 2"/>
          <p:cNvGraphicFramePr>
            <a:graphicFrameLocks noChangeAspect="1"/>
          </p:cNvGraphicFramePr>
          <p:nvPr/>
        </p:nvGraphicFramePr>
        <p:xfrm>
          <a:off x="1752600" y="3827463"/>
          <a:ext cx="4267200" cy="896937"/>
        </p:xfrm>
        <a:graphic>
          <a:graphicData uri="http://schemas.openxmlformats.org/presentationml/2006/ole">
            <mc:AlternateContent xmlns:mc="http://schemas.openxmlformats.org/markup-compatibility/2006">
              <mc:Choice xmlns:v="urn:schemas-microsoft-com:vml" Requires="v">
                <p:oleObj r:id="rId2" imgW="2400300" imgH="508000" progId="Equation.3">
                  <p:embed/>
                </p:oleObj>
              </mc:Choice>
              <mc:Fallback>
                <p:oleObj r:id="rId2" imgW="2400300" imgH="508000" progId="Equation.3">
                  <p:embed/>
                  <p:pic>
                    <p:nvPicPr>
                      <p:cNvPr id="52121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827463"/>
                        <a:ext cx="42672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8483" name="Rectangle 3"/>
          <p:cNvSpPr>
            <a:spLocks noChangeArrowheads="1"/>
          </p:cNvSpPr>
          <p:nvPr/>
        </p:nvSpPr>
        <p:spPr bwMode="auto">
          <a:xfrm>
            <a:off x="1009650" y="3138488"/>
            <a:ext cx="6229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实际使用中，常略去增量符号而写成：</a:t>
            </a:r>
          </a:p>
        </p:txBody>
      </p:sp>
      <p:graphicFrame>
        <p:nvGraphicFramePr>
          <p:cNvPr id="113670" name="Object 3"/>
          <p:cNvGraphicFramePr>
            <a:graphicFrameLocks noChangeAspect="1"/>
          </p:cNvGraphicFramePr>
          <p:nvPr/>
        </p:nvGraphicFramePr>
        <p:xfrm>
          <a:off x="1752600" y="1944688"/>
          <a:ext cx="5105400" cy="950912"/>
        </p:xfrm>
        <a:graphic>
          <a:graphicData uri="http://schemas.openxmlformats.org/presentationml/2006/ole">
            <mc:AlternateContent xmlns:mc="http://schemas.openxmlformats.org/markup-compatibility/2006">
              <mc:Choice xmlns:v="urn:schemas-microsoft-com:vml" Requires="v">
                <p:oleObj r:id="rId4" imgW="2717800" imgH="508000" progId="Equation.3">
                  <p:embed/>
                </p:oleObj>
              </mc:Choice>
              <mc:Fallback>
                <p:oleObj r:id="rId4" imgW="2717800" imgH="508000" progId="Equation.3">
                  <p:embed/>
                  <p:pic>
                    <p:nvPicPr>
                      <p:cNvPr id="11367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1944688"/>
                        <a:ext cx="5105400" cy="95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3671" name="Rectangle 5"/>
          <p:cNvSpPr>
            <a:spLocks noChangeArrowheads="1"/>
          </p:cNvSpPr>
          <p:nvPr/>
        </p:nvSpPr>
        <p:spPr bwMode="auto">
          <a:xfrm>
            <a:off x="827088" y="981075"/>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宋体" panose="02010600030101010101" pitchFamily="2" charset="-122"/>
              </a:rPr>
              <a:t>所以：</a:t>
            </a:r>
          </a:p>
        </p:txBody>
      </p:sp>
      <p:sp>
        <p:nvSpPr>
          <p:cNvPr id="148486" name="Rectangle 6"/>
          <p:cNvSpPr>
            <a:spLocks noChangeArrowheads="1"/>
          </p:cNvSpPr>
          <p:nvPr/>
        </p:nvSpPr>
        <p:spPr bwMode="auto">
          <a:xfrm>
            <a:off x="990600" y="4967288"/>
            <a:ext cx="7759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latin typeface="Times New Roman" panose="02020603050405020304" pitchFamily="18" charset="0"/>
              </a:rPr>
              <a:t>此时，上式中</a:t>
            </a:r>
            <a:r>
              <a:rPr lang="en-US" altLang="zh-CN" sz="2800" i="1">
                <a:latin typeface="Times New Roman" panose="02020603050405020304" pitchFamily="18" charset="0"/>
              </a:rPr>
              <a:t>H</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和</a:t>
            </a:r>
            <a:r>
              <a:rPr lang="en-US" altLang="zh-CN" sz="2800" i="1">
                <a:latin typeface="Times New Roman" panose="02020603050405020304" pitchFamily="18" charset="0"/>
              </a:rPr>
              <a:t>q</a:t>
            </a:r>
            <a:r>
              <a:rPr lang="en-US" altLang="zh-CN" sz="2900" i="1" baseline="-18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均为平衡工作点的增量。</a:t>
            </a:r>
          </a:p>
        </p:txBody>
      </p:sp>
    </p:spTree>
    <p:extLst>
      <p:ext uri="{BB962C8B-B14F-4D97-AF65-F5344CB8AC3E}">
        <p14:creationId xmlns:p14="http://schemas.microsoft.com/office/powerpoint/2010/main" val="2272054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8483"/>
                                        </p:tgtEl>
                                        <p:attrNameLst>
                                          <p:attrName>style.visibility</p:attrName>
                                        </p:attrNameLst>
                                      </p:cBhvr>
                                      <p:to>
                                        <p:strVal val="visible"/>
                                      </p:to>
                                    </p:set>
                                    <p:anim calcmode="lin" valueType="num">
                                      <p:cBhvr additive="base">
                                        <p:cTn id="7" dur="500" fill="hold"/>
                                        <p:tgtEl>
                                          <p:spTgt spid="148483"/>
                                        </p:tgtEl>
                                        <p:attrNameLst>
                                          <p:attrName>ppt_x</p:attrName>
                                        </p:attrNameLst>
                                      </p:cBhvr>
                                      <p:tavLst>
                                        <p:tav tm="0">
                                          <p:val>
                                            <p:strVal val="#ppt_x"/>
                                          </p:val>
                                        </p:tav>
                                        <p:tav tm="100000">
                                          <p:val>
                                            <p:strVal val="#ppt_x"/>
                                          </p:val>
                                        </p:tav>
                                      </p:tavLst>
                                    </p:anim>
                                    <p:anim calcmode="lin" valueType="num">
                                      <p:cBhvr additive="base">
                                        <p:cTn id="8" dur="500" fill="hold"/>
                                        <p:tgtEl>
                                          <p:spTgt spid="14848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1216"/>
                                        </p:tgtEl>
                                        <p:attrNameLst>
                                          <p:attrName>style.visibility</p:attrName>
                                        </p:attrNameLst>
                                      </p:cBhvr>
                                      <p:to>
                                        <p:strVal val="visible"/>
                                      </p:to>
                                    </p:set>
                                    <p:anim calcmode="lin" valueType="num">
                                      <p:cBhvr additive="base">
                                        <p:cTn id="13" dur="500" fill="hold"/>
                                        <p:tgtEl>
                                          <p:spTgt spid="521216"/>
                                        </p:tgtEl>
                                        <p:attrNameLst>
                                          <p:attrName>ppt_x</p:attrName>
                                        </p:attrNameLst>
                                      </p:cBhvr>
                                      <p:tavLst>
                                        <p:tav tm="0">
                                          <p:val>
                                            <p:strVal val="#ppt_x"/>
                                          </p:val>
                                        </p:tav>
                                        <p:tav tm="100000">
                                          <p:val>
                                            <p:strVal val="#ppt_x"/>
                                          </p:val>
                                        </p:tav>
                                      </p:tavLst>
                                    </p:anim>
                                    <p:anim calcmode="lin" valueType="num">
                                      <p:cBhvr additive="base">
                                        <p:cTn id="14" dur="500" fill="hold"/>
                                        <p:tgtEl>
                                          <p:spTgt spid="52121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8486"/>
                                        </p:tgtEl>
                                        <p:attrNameLst>
                                          <p:attrName>style.visibility</p:attrName>
                                        </p:attrNameLst>
                                      </p:cBhvr>
                                      <p:to>
                                        <p:strVal val="visible"/>
                                      </p:to>
                                    </p:set>
                                    <p:anim calcmode="lin" valueType="num">
                                      <p:cBhvr additive="base">
                                        <p:cTn id="19" dur="500" fill="hold"/>
                                        <p:tgtEl>
                                          <p:spTgt spid="148486"/>
                                        </p:tgtEl>
                                        <p:attrNameLst>
                                          <p:attrName>ppt_x</p:attrName>
                                        </p:attrNameLst>
                                      </p:cBhvr>
                                      <p:tavLst>
                                        <p:tav tm="0">
                                          <p:val>
                                            <p:strVal val="#ppt_x"/>
                                          </p:val>
                                        </p:tav>
                                        <p:tav tm="100000">
                                          <p:val>
                                            <p:strVal val="#ppt_x"/>
                                          </p:val>
                                        </p:tav>
                                      </p:tavLst>
                                    </p:anim>
                                    <p:anim calcmode="lin" valueType="num">
                                      <p:cBhvr additive="base">
                                        <p:cTn id="20" dur="500" fill="hold"/>
                                        <p:tgtEl>
                                          <p:spTgt spid="1484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p:bldP spid="14848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C60EB0D3-C2F6-4477-B7ED-6ABC133F23E4}" type="datetime1">
              <a:rPr lang="en-US" altLang="zh-CN" sz="1200" smtClean="0"/>
              <a:pPr>
                <a:spcBef>
                  <a:spcPct val="0"/>
                </a:spcBef>
                <a:buClrTx/>
                <a:buFontTx/>
                <a:buNone/>
              </a:pPr>
              <a:t>9/14/2025</a:t>
            </a:fld>
            <a:endParaRPr lang="en-US" altLang="zh-CN" sz="1200"/>
          </a:p>
        </p:txBody>
      </p:sp>
      <p:sp>
        <p:nvSpPr>
          <p:cNvPr id="114691"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29AA40BE-FBEE-44AC-A246-7F35437753EC}" type="slidenum">
              <a:rPr lang="en-US" altLang="zh-CN" sz="1200" smtClean="0"/>
              <a:pPr>
                <a:spcBef>
                  <a:spcPct val="0"/>
                </a:spcBef>
                <a:buClrTx/>
                <a:buFontTx/>
                <a:buNone/>
              </a:pPr>
              <a:t>30</a:t>
            </a:fld>
            <a:endParaRPr lang="en-US" altLang="zh-CN" sz="1200"/>
          </a:p>
        </p:txBody>
      </p:sp>
      <p:sp>
        <p:nvSpPr>
          <p:cNvPr id="114692" name="Rectangle 2"/>
          <p:cNvSpPr>
            <a:spLocks noChangeArrowheads="1"/>
          </p:cNvSpPr>
          <p:nvPr/>
        </p:nvSpPr>
        <p:spPr bwMode="auto">
          <a:xfrm>
            <a:off x="1042988" y="836613"/>
            <a:ext cx="41989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l"/>
            </a:pPr>
            <a:r>
              <a:rPr lang="en-US" altLang="zh-CN" sz="2800" b="1">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线性化处理的注意事项 </a:t>
            </a:r>
          </a:p>
        </p:txBody>
      </p:sp>
      <p:sp>
        <p:nvSpPr>
          <p:cNvPr id="149507" name="Rectangle 3"/>
          <p:cNvSpPr>
            <a:spLocks noChangeArrowheads="1"/>
          </p:cNvSpPr>
          <p:nvPr/>
        </p:nvSpPr>
        <p:spPr bwMode="auto">
          <a:xfrm>
            <a:off x="1116013" y="1628775"/>
            <a:ext cx="7467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线性化方程的系数与平衡工作点的选择有关；</a:t>
            </a:r>
            <a:endParaRPr lang="zh-CN" altLang="en-US" sz="2800">
              <a:latin typeface="Times New Roman" panose="02020603050405020304" pitchFamily="18" charset="0"/>
            </a:endParaRPr>
          </a:p>
        </p:txBody>
      </p:sp>
      <p:sp>
        <p:nvSpPr>
          <p:cNvPr id="149508" name="Rectangle 4"/>
          <p:cNvSpPr>
            <a:spLocks noChangeArrowheads="1"/>
          </p:cNvSpPr>
          <p:nvPr/>
        </p:nvSpPr>
        <p:spPr bwMode="auto">
          <a:xfrm>
            <a:off x="1143000" y="2667000"/>
            <a:ext cx="7467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线性化是有条件的，必须注意线性化方程适</a:t>
            </a:r>
          </a:p>
          <a:p>
            <a:pPr eaLnBrk="1" hangingPunct="1">
              <a:lnSpc>
                <a:spcPct val="115000"/>
              </a:lnSpc>
              <a:spcBef>
                <a:spcPct val="0"/>
              </a:spcBef>
              <a:buClrTx/>
              <a:buFontTx/>
              <a:buNone/>
            </a:pPr>
            <a:r>
              <a:rPr lang="zh-CN" altLang="en-US" sz="2800">
                <a:latin typeface="宋体" panose="02010600030101010101" pitchFamily="2" charset="-122"/>
              </a:rPr>
              <a:t>  用的工作范围； </a:t>
            </a:r>
          </a:p>
        </p:txBody>
      </p:sp>
      <p:sp>
        <p:nvSpPr>
          <p:cNvPr id="149509" name="Rectangle 5"/>
          <p:cNvSpPr>
            <a:spLocks noChangeArrowheads="1"/>
          </p:cNvSpPr>
          <p:nvPr/>
        </p:nvSpPr>
        <p:spPr bwMode="auto">
          <a:xfrm>
            <a:off x="1143000" y="3779838"/>
            <a:ext cx="7467600"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某些典型的本质非线性，如继电器特性、间</a:t>
            </a:r>
          </a:p>
          <a:p>
            <a:pPr eaLnBrk="1" hangingPunct="1">
              <a:lnSpc>
                <a:spcPct val="115000"/>
              </a:lnSpc>
              <a:spcBef>
                <a:spcPct val="0"/>
              </a:spcBef>
              <a:buClrTx/>
              <a:buFontTx/>
              <a:buNone/>
            </a:pPr>
            <a:r>
              <a:rPr lang="zh-CN" altLang="en-US" sz="2800">
                <a:latin typeface="宋体" panose="02010600030101010101" pitchFamily="2" charset="-122"/>
              </a:rPr>
              <a:t>  隙、死区、摩擦等，由于存在不连续点，不</a:t>
            </a:r>
          </a:p>
          <a:p>
            <a:pPr eaLnBrk="1" hangingPunct="1">
              <a:lnSpc>
                <a:spcPct val="115000"/>
              </a:lnSpc>
              <a:spcBef>
                <a:spcPct val="0"/>
              </a:spcBef>
              <a:buClrTx/>
              <a:buFontTx/>
              <a:buNone/>
            </a:pPr>
            <a:r>
              <a:rPr lang="zh-CN" altLang="en-US" sz="2800">
                <a:latin typeface="宋体" panose="02010600030101010101" pitchFamily="2" charset="-122"/>
              </a:rPr>
              <a:t>  能通过泰勒展开进行线性化，只有当它们对</a:t>
            </a:r>
          </a:p>
          <a:p>
            <a:pPr eaLnBrk="1" hangingPunct="1">
              <a:lnSpc>
                <a:spcPct val="115000"/>
              </a:lnSpc>
              <a:spcBef>
                <a:spcPct val="0"/>
              </a:spcBef>
              <a:buClrTx/>
              <a:buFontTx/>
              <a:buNone/>
            </a:pPr>
            <a:r>
              <a:rPr lang="zh-CN" altLang="en-US" sz="2800">
                <a:latin typeface="宋体" panose="02010600030101010101" pitchFamily="2" charset="-122"/>
              </a:rPr>
              <a:t>  系统影响很小时才能忽略不计，否则只能作</a:t>
            </a:r>
          </a:p>
          <a:p>
            <a:pPr eaLnBrk="1" hangingPunct="1">
              <a:lnSpc>
                <a:spcPct val="115000"/>
              </a:lnSpc>
              <a:spcBef>
                <a:spcPct val="0"/>
              </a:spcBef>
              <a:buClrTx/>
              <a:buFontTx/>
              <a:buNone/>
            </a:pPr>
            <a:r>
              <a:rPr lang="zh-CN" altLang="en-US" sz="2800">
                <a:latin typeface="宋体" panose="02010600030101010101" pitchFamily="2" charset="-122"/>
              </a:rPr>
              <a:t>  为非线性问题处理。 </a:t>
            </a:r>
          </a:p>
        </p:txBody>
      </p:sp>
    </p:spTree>
    <p:extLst>
      <p:ext uri="{BB962C8B-B14F-4D97-AF65-F5344CB8AC3E}">
        <p14:creationId xmlns:p14="http://schemas.microsoft.com/office/powerpoint/2010/main" val="31381541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9507"/>
                                        </p:tgtEl>
                                        <p:attrNameLst>
                                          <p:attrName>style.visibility</p:attrName>
                                        </p:attrNameLst>
                                      </p:cBhvr>
                                      <p:to>
                                        <p:strVal val="visible"/>
                                      </p:to>
                                    </p:set>
                                    <p:anim calcmode="lin" valueType="num">
                                      <p:cBhvr additive="base">
                                        <p:cTn id="7" dur="500" fill="hold"/>
                                        <p:tgtEl>
                                          <p:spTgt spid="149507"/>
                                        </p:tgtEl>
                                        <p:attrNameLst>
                                          <p:attrName>ppt_x</p:attrName>
                                        </p:attrNameLst>
                                      </p:cBhvr>
                                      <p:tavLst>
                                        <p:tav tm="0">
                                          <p:val>
                                            <p:strVal val="#ppt_x"/>
                                          </p:val>
                                        </p:tav>
                                        <p:tav tm="100000">
                                          <p:val>
                                            <p:strVal val="#ppt_x"/>
                                          </p:val>
                                        </p:tav>
                                      </p:tavLst>
                                    </p:anim>
                                    <p:anim calcmode="lin" valueType="num">
                                      <p:cBhvr additive="base">
                                        <p:cTn id="8" dur="500" fill="hold"/>
                                        <p:tgtEl>
                                          <p:spTgt spid="14950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9508"/>
                                        </p:tgtEl>
                                        <p:attrNameLst>
                                          <p:attrName>style.visibility</p:attrName>
                                        </p:attrNameLst>
                                      </p:cBhvr>
                                      <p:to>
                                        <p:strVal val="visible"/>
                                      </p:to>
                                    </p:set>
                                    <p:anim calcmode="lin" valueType="num">
                                      <p:cBhvr additive="base">
                                        <p:cTn id="13" dur="500" fill="hold"/>
                                        <p:tgtEl>
                                          <p:spTgt spid="149508"/>
                                        </p:tgtEl>
                                        <p:attrNameLst>
                                          <p:attrName>ppt_x</p:attrName>
                                        </p:attrNameLst>
                                      </p:cBhvr>
                                      <p:tavLst>
                                        <p:tav tm="0">
                                          <p:val>
                                            <p:strVal val="#ppt_x"/>
                                          </p:val>
                                        </p:tav>
                                        <p:tav tm="100000">
                                          <p:val>
                                            <p:strVal val="#ppt_x"/>
                                          </p:val>
                                        </p:tav>
                                      </p:tavLst>
                                    </p:anim>
                                    <p:anim calcmode="lin" valueType="num">
                                      <p:cBhvr additive="base">
                                        <p:cTn id="14" dur="500" fill="hold"/>
                                        <p:tgtEl>
                                          <p:spTgt spid="14950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9509"/>
                                        </p:tgtEl>
                                        <p:attrNameLst>
                                          <p:attrName>style.visibility</p:attrName>
                                        </p:attrNameLst>
                                      </p:cBhvr>
                                      <p:to>
                                        <p:strVal val="visible"/>
                                      </p:to>
                                    </p:set>
                                    <p:anim calcmode="lin" valueType="num">
                                      <p:cBhvr additive="base">
                                        <p:cTn id="19" dur="500" fill="hold"/>
                                        <p:tgtEl>
                                          <p:spTgt spid="149509"/>
                                        </p:tgtEl>
                                        <p:attrNameLst>
                                          <p:attrName>ppt_x</p:attrName>
                                        </p:attrNameLst>
                                      </p:cBhvr>
                                      <p:tavLst>
                                        <p:tav tm="0">
                                          <p:val>
                                            <p:strVal val="#ppt_x"/>
                                          </p:val>
                                        </p:tav>
                                        <p:tav tm="100000">
                                          <p:val>
                                            <p:strVal val="#ppt_x"/>
                                          </p:val>
                                        </p:tav>
                                      </p:tavLst>
                                    </p:anim>
                                    <p:anim calcmode="lin" valueType="num">
                                      <p:cBhvr additive="base">
                                        <p:cTn id="20" dur="500" fill="hold"/>
                                        <p:tgtEl>
                                          <p:spTgt spid="1495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p:bldP spid="149508" grpId="0"/>
      <p:bldP spid="14950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758CD92E-E90F-4854-88FF-875B454443C5}" type="datetime1">
              <a:rPr lang="en-US" altLang="zh-CN" sz="1200" smtClean="0"/>
              <a:pPr>
                <a:spcBef>
                  <a:spcPct val="0"/>
                </a:spcBef>
                <a:buClrTx/>
                <a:buFontTx/>
                <a:buNone/>
              </a:pPr>
              <a:t>9/14/2025</a:t>
            </a:fld>
            <a:endParaRPr lang="en-US" altLang="zh-CN" sz="1200"/>
          </a:p>
        </p:txBody>
      </p:sp>
      <p:sp>
        <p:nvSpPr>
          <p:cNvPr id="11571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B70EC322-7F35-4CD9-83B9-44B59ACACF78}" type="slidenum">
              <a:rPr lang="en-US" altLang="zh-CN" sz="1200" smtClean="0"/>
              <a:pPr>
                <a:spcBef>
                  <a:spcPct val="0"/>
                </a:spcBef>
                <a:buClrTx/>
                <a:buFontTx/>
                <a:buNone/>
              </a:pPr>
              <a:t>31</a:t>
            </a:fld>
            <a:endParaRPr lang="en-US" altLang="zh-CN" sz="1200"/>
          </a:p>
        </p:txBody>
      </p:sp>
      <p:grpSp>
        <p:nvGrpSpPr>
          <p:cNvPr id="2" name="Group 20"/>
          <p:cNvGrpSpPr>
            <a:grpSpLocks/>
          </p:cNvGrpSpPr>
          <p:nvPr/>
        </p:nvGrpSpPr>
        <p:grpSpPr bwMode="auto">
          <a:xfrm>
            <a:off x="900113" y="2133600"/>
            <a:ext cx="2706687" cy="2743200"/>
            <a:chOff x="2832" y="720"/>
            <a:chExt cx="1705" cy="1728"/>
          </a:xfrm>
        </p:grpSpPr>
        <p:sp>
          <p:nvSpPr>
            <p:cNvPr id="115741" name="Line 21"/>
            <p:cNvSpPr>
              <a:spLocks noChangeShapeType="1"/>
            </p:cNvSpPr>
            <p:nvPr/>
          </p:nvSpPr>
          <p:spPr bwMode="auto">
            <a:xfrm>
              <a:off x="2832" y="1584"/>
              <a:ext cx="16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42" name="Line 22"/>
            <p:cNvSpPr>
              <a:spLocks noChangeShapeType="1"/>
            </p:cNvSpPr>
            <p:nvPr/>
          </p:nvSpPr>
          <p:spPr bwMode="auto">
            <a:xfrm flipV="1">
              <a:off x="3648" y="816"/>
              <a:ext cx="0" cy="1392"/>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43" name="Text Box 23"/>
            <p:cNvSpPr txBox="1">
              <a:spLocks noChangeArrowheads="1"/>
            </p:cNvSpPr>
            <p:nvPr/>
          </p:nvSpPr>
          <p:spPr bwMode="auto">
            <a:xfrm>
              <a:off x="4272" y="1536"/>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in</a:t>
              </a:r>
            </a:p>
          </p:txBody>
        </p:sp>
        <p:sp>
          <p:nvSpPr>
            <p:cNvPr id="115744" name="Text Box 24"/>
            <p:cNvSpPr txBox="1">
              <a:spLocks noChangeArrowheads="1"/>
            </p:cNvSpPr>
            <p:nvPr/>
          </p:nvSpPr>
          <p:spPr bwMode="auto">
            <a:xfrm>
              <a:off x="3671" y="720"/>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out</a:t>
              </a:r>
            </a:p>
          </p:txBody>
        </p:sp>
        <p:sp>
          <p:nvSpPr>
            <p:cNvPr id="115745" name="Text Box 25"/>
            <p:cNvSpPr txBox="1">
              <a:spLocks noChangeArrowheads="1"/>
            </p:cNvSpPr>
            <p:nvPr/>
          </p:nvSpPr>
          <p:spPr bwMode="auto">
            <a:xfrm>
              <a:off x="3625" y="153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0</a:t>
              </a:r>
            </a:p>
          </p:txBody>
        </p:sp>
        <p:sp>
          <p:nvSpPr>
            <p:cNvPr id="115746" name="Line 26"/>
            <p:cNvSpPr>
              <a:spLocks noChangeShapeType="1"/>
            </p:cNvSpPr>
            <p:nvPr/>
          </p:nvSpPr>
          <p:spPr bwMode="auto">
            <a:xfrm flipH="1">
              <a:off x="3001" y="1584"/>
              <a:ext cx="336" cy="43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47" name="Line 27"/>
            <p:cNvSpPr>
              <a:spLocks noChangeShapeType="1"/>
            </p:cNvSpPr>
            <p:nvPr/>
          </p:nvSpPr>
          <p:spPr bwMode="auto">
            <a:xfrm flipH="1">
              <a:off x="3961" y="1152"/>
              <a:ext cx="336" cy="432"/>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48" name="Line 28"/>
            <p:cNvSpPr>
              <a:spLocks noChangeShapeType="1"/>
            </p:cNvSpPr>
            <p:nvPr/>
          </p:nvSpPr>
          <p:spPr bwMode="auto">
            <a:xfrm>
              <a:off x="3337" y="1584"/>
              <a:ext cx="624"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49" name="Text Box 29"/>
            <p:cNvSpPr txBox="1">
              <a:spLocks noChangeArrowheads="1"/>
            </p:cNvSpPr>
            <p:nvPr/>
          </p:nvSpPr>
          <p:spPr bwMode="auto">
            <a:xfrm>
              <a:off x="3145" y="2160"/>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死区非线性</a:t>
              </a:r>
            </a:p>
          </p:txBody>
        </p:sp>
      </p:grpSp>
      <p:grpSp>
        <p:nvGrpSpPr>
          <p:cNvPr id="3" name="Group 39"/>
          <p:cNvGrpSpPr>
            <a:grpSpLocks/>
          </p:cNvGrpSpPr>
          <p:nvPr/>
        </p:nvGrpSpPr>
        <p:grpSpPr bwMode="auto">
          <a:xfrm>
            <a:off x="4787900" y="2205038"/>
            <a:ext cx="2706688" cy="2743200"/>
            <a:chOff x="720" y="2448"/>
            <a:chExt cx="1705" cy="1728"/>
          </a:xfrm>
        </p:grpSpPr>
        <p:sp>
          <p:nvSpPr>
            <p:cNvPr id="115718" name="Line 40"/>
            <p:cNvSpPr>
              <a:spLocks noChangeShapeType="1"/>
            </p:cNvSpPr>
            <p:nvPr/>
          </p:nvSpPr>
          <p:spPr bwMode="auto">
            <a:xfrm>
              <a:off x="720" y="3312"/>
              <a:ext cx="16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19" name="Line 41"/>
            <p:cNvSpPr>
              <a:spLocks noChangeShapeType="1"/>
            </p:cNvSpPr>
            <p:nvPr/>
          </p:nvSpPr>
          <p:spPr bwMode="auto">
            <a:xfrm flipV="1">
              <a:off x="1536" y="2544"/>
              <a:ext cx="0" cy="1392"/>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0" name="Text Box 42"/>
            <p:cNvSpPr txBox="1">
              <a:spLocks noChangeArrowheads="1"/>
            </p:cNvSpPr>
            <p:nvPr/>
          </p:nvSpPr>
          <p:spPr bwMode="auto">
            <a:xfrm>
              <a:off x="2160" y="3264"/>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in</a:t>
              </a:r>
            </a:p>
          </p:txBody>
        </p:sp>
        <p:sp>
          <p:nvSpPr>
            <p:cNvPr id="115721" name="Text Box 43"/>
            <p:cNvSpPr txBox="1">
              <a:spLocks noChangeArrowheads="1"/>
            </p:cNvSpPr>
            <p:nvPr/>
          </p:nvSpPr>
          <p:spPr bwMode="auto">
            <a:xfrm>
              <a:off x="1559" y="2448"/>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out</a:t>
              </a:r>
            </a:p>
          </p:txBody>
        </p:sp>
        <p:sp>
          <p:nvSpPr>
            <p:cNvPr id="115722" name="Text Box 44"/>
            <p:cNvSpPr txBox="1">
              <a:spLocks noChangeArrowheads="1"/>
            </p:cNvSpPr>
            <p:nvPr/>
          </p:nvSpPr>
          <p:spPr bwMode="auto">
            <a:xfrm>
              <a:off x="1344" y="32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0</a:t>
              </a:r>
            </a:p>
          </p:txBody>
        </p:sp>
        <p:sp>
          <p:nvSpPr>
            <p:cNvPr id="115723" name="AutoShape 45"/>
            <p:cNvSpPr>
              <a:spLocks noChangeArrowheads="1"/>
            </p:cNvSpPr>
            <p:nvPr/>
          </p:nvSpPr>
          <p:spPr bwMode="auto">
            <a:xfrm>
              <a:off x="816" y="2880"/>
              <a:ext cx="1440" cy="864"/>
            </a:xfrm>
            <a:prstGeom prst="parallelogram">
              <a:avLst>
                <a:gd name="adj" fmla="val 115787"/>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15724" name="Line 46"/>
            <p:cNvSpPr>
              <a:spLocks noChangeShapeType="1"/>
            </p:cNvSpPr>
            <p:nvPr/>
          </p:nvSpPr>
          <p:spPr bwMode="auto">
            <a:xfrm flipH="1">
              <a:off x="1144" y="3216"/>
              <a:ext cx="288" cy="24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5" name="Line 47"/>
            <p:cNvSpPr>
              <a:spLocks noChangeShapeType="1"/>
            </p:cNvSpPr>
            <p:nvPr/>
          </p:nvSpPr>
          <p:spPr bwMode="auto">
            <a:xfrm flipV="1">
              <a:off x="1632" y="3168"/>
              <a:ext cx="288" cy="24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6" name="Line 48"/>
            <p:cNvSpPr>
              <a:spLocks noChangeShapeType="1"/>
            </p:cNvSpPr>
            <p:nvPr/>
          </p:nvSpPr>
          <p:spPr bwMode="auto">
            <a:xfrm flipH="1">
              <a:off x="1920" y="2880"/>
              <a:ext cx="192"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7" name="Line 49"/>
            <p:cNvSpPr>
              <a:spLocks noChangeShapeType="1"/>
            </p:cNvSpPr>
            <p:nvPr/>
          </p:nvSpPr>
          <p:spPr bwMode="auto">
            <a:xfrm>
              <a:off x="960" y="3744"/>
              <a:ext cx="144"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8" name="Text Box 50"/>
            <p:cNvSpPr txBox="1">
              <a:spLocks noChangeArrowheads="1"/>
            </p:cNvSpPr>
            <p:nvPr/>
          </p:nvSpPr>
          <p:spPr bwMode="auto">
            <a:xfrm>
              <a:off x="1104" y="3888"/>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latin typeface="Times New Roman" panose="02020603050405020304" pitchFamily="18" charset="0"/>
                </a:rPr>
                <a:t>间隙非线性</a:t>
              </a:r>
            </a:p>
          </p:txBody>
        </p:sp>
        <p:grpSp>
          <p:nvGrpSpPr>
            <p:cNvPr id="115729" name="Group 51"/>
            <p:cNvGrpSpPr>
              <a:grpSpLocks/>
            </p:cNvGrpSpPr>
            <p:nvPr/>
          </p:nvGrpSpPr>
          <p:grpSpPr bwMode="auto">
            <a:xfrm>
              <a:off x="1728" y="2976"/>
              <a:ext cx="432" cy="0"/>
              <a:chOff x="1728" y="2976"/>
              <a:chExt cx="432" cy="0"/>
            </a:xfrm>
          </p:grpSpPr>
          <p:sp>
            <p:nvSpPr>
              <p:cNvPr id="115739" name="Line 52"/>
              <p:cNvSpPr>
                <a:spLocks noChangeShapeType="1"/>
              </p:cNvSpPr>
              <p:nvPr/>
            </p:nvSpPr>
            <p:spPr bwMode="auto">
              <a:xfrm flipH="1">
                <a:off x="1872" y="2976"/>
                <a:ext cx="288"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40" name="Line 53"/>
              <p:cNvSpPr>
                <a:spLocks noChangeShapeType="1"/>
              </p:cNvSpPr>
              <p:nvPr/>
            </p:nvSpPr>
            <p:spPr bwMode="auto">
              <a:xfrm flipH="1">
                <a:off x="1728" y="2976"/>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5730" name="Group 54"/>
            <p:cNvGrpSpPr>
              <a:grpSpLocks/>
            </p:cNvGrpSpPr>
            <p:nvPr/>
          </p:nvGrpSpPr>
          <p:grpSpPr bwMode="auto">
            <a:xfrm>
              <a:off x="1600" y="3072"/>
              <a:ext cx="432" cy="0"/>
              <a:chOff x="1728" y="2976"/>
              <a:chExt cx="432" cy="0"/>
            </a:xfrm>
          </p:grpSpPr>
          <p:sp>
            <p:nvSpPr>
              <p:cNvPr id="115737" name="Line 55"/>
              <p:cNvSpPr>
                <a:spLocks noChangeShapeType="1"/>
              </p:cNvSpPr>
              <p:nvPr/>
            </p:nvSpPr>
            <p:spPr bwMode="auto">
              <a:xfrm flipH="1">
                <a:off x="1872" y="2976"/>
                <a:ext cx="288"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8" name="Line 56"/>
              <p:cNvSpPr>
                <a:spLocks noChangeShapeType="1"/>
              </p:cNvSpPr>
              <p:nvPr/>
            </p:nvSpPr>
            <p:spPr bwMode="auto">
              <a:xfrm flipH="1">
                <a:off x="1728" y="2976"/>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5731" name="Group 57"/>
            <p:cNvGrpSpPr>
              <a:grpSpLocks/>
            </p:cNvGrpSpPr>
            <p:nvPr/>
          </p:nvGrpSpPr>
          <p:grpSpPr bwMode="auto">
            <a:xfrm flipH="1">
              <a:off x="928" y="3648"/>
              <a:ext cx="432" cy="0"/>
              <a:chOff x="1728" y="2976"/>
              <a:chExt cx="432" cy="0"/>
            </a:xfrm>
          </p:grpSpPr>
          <p:sp>
            <p:nvSpPr>
              <p:cNvPr id="115735" name="Line 58"/>
              <p:cNvSpPr>
                <a:spLocks noChangeShapeType="1"/>
              </p:cNvSpPr>
              <p:nvPr/>
            </p:nvSpPr>
            <p:spPr bwMode="auto">
              <a:xfrm flipH="1">
                <a:off x="1872" y="2976"/>
                <a:ext cx="288"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6" name="Line 59"/>
              <p:cNvSpPr>
                <a:spLocks noChangeShapeType="1"/>
              </p:cNvSpPr>
              <p:nvPr/>
            </p:nvSpPr>
            <p:spPr bwMode="auto">
              <a:xfrm flipH="1">
                <a:off x="1728" y="2976"/>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5732" name="Group 60"/>
            <p:cNvGrpSpPr>
              <a:grpSpLocks/>
            </p:cNvGrpSpPr>
            <p:nvPr/>
          </p:nvGrpSpPr>
          <p:grpSpPr bwMode="auto">
            <a:xfrm flipH="1">
              <a:off x="1040" y="3552"/>
              <a:ext cx="432" cy="0"/>
              <a:chOff x="1728" y="2976"/>
              <a:chExt cx="432" cy="0"/>
            </a:xfrm>
          </p:grpSpPr>
          <p:sp>
            <p:nvSpPr>
              <p:cNvPr id="115733" name="Line 61"/>
              <p:cNvSpPr>
                <a:spLocks noChangeShapeType="1"/>
              </p:cNvSpPr>
              <p:nvPr/>
            </p:nvSpPr>
            <p:spPr bwMode="auto">
              <a:xfrm flipH="1">
                <a:off x="1872" y="2976"/>
                <a:ext cx="288"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4" name="Line 62"/>
              <p:cNvSpPr>
                <a:spLocks noChangeShapeType="1"/>
              </p:cNvSpPr>
              <p:nvPr/>
            </p:nvSpPr>
            <p:spPr bwMode="auto">
              <a:xfrm flipH="1">
                <a:off x="1728" y="2976"/>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727869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1"/>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DC778CAB-4302-4691-9CB2-41931107557E}" type="datetime1">
              <a:rPr lang="en-US" altLang="zh-CN" sz="1200" smtClean="0"/>
              <a:pPr>
                <a:spcBef>
                  <a:spcPct val="0"/>
                </a:spcBef>
                <a:buClrTx/>
                <a:buFontTx/>
                <a:buNone/>
              </a:pPr>
              <a:t>9/14/2025</a:t>
            </a:fld>
            <a:endParaRPr lang="en-US" altLang="zh-CN" sz="1200"/>
          </a:p>
        </p:txBody>
      </p:sp>
      <p:sp>
        <p:nvSpPr>
          <p:cNvPr id="74755" name="灯片编号占位符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778987E1-3FC5-4A04-BFA9-72DC3DEFEBC1}" type="slidenum">
              <a:rPr lang="en-US" altLang="zh-CN" sz="1200" smtClean="0"/>
              <a:pPr>
                <a:spcBef>
                  <a:spcPct val="0"/>
                </a:spcBef>
                <a:buClrTx/>
                <a:buFontTx/>
                <a:buNone/>
              </a:pPr>
              <a:t>32</a:t>
            </a:fld>
            <a:endParaRPr lang="en-US" altLang="zh-CN" sz="1200"/>
          </a:p>
        </p:txBody>
      </p:sp>
      <p:sp>
        <p:nvSpPr>
          <p:cNvPr id="74756" name="Rectangle 2"/>
          <p:cNvSpPr>
            <a:spLocks noChangeArrowheads="1"/>
          </p:cNvSpPr>
          <p:nvPr/>
        </p:nvSpPr>
        <p:spPr bwMode="auto">
          <a:xfrm>
            <a:off x="609600" y="550863"/>
            <a:ext cx="75438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15000"/>
              </a:lnSpc>
              <a:spcBef>
                <a:spcPct val="0"/>
              </a:spcBef>
              <a:buClrTx/>
              <a:buFontTx/>
              <a:buNone/>
            </a:pPr>
            <a:r>
              <a:rPr lang="zh-CN" altLang="en-US" sz="2800">
                <a:latin typeface="宋体" panose="02010600030101010101" pitchFamily="2" charset="-122"/>
              </a:rPr>
              <a:t>增量方程的数学含义就是将参考坐标的原点移到系统或元件的平衡工作点上，对于实际系统就是以正常工作状态为研究系统运动的起始点，这时，系统所有的初始条件均为零。</a:t>
            </a:r>
            <a:r>
              <a:rPr lang="zh-CN" altLang="en-US" sz="2800">
                <a:latin typeface="Times New Roman" panose="02020603050405020304" pitchFamily="18" charset="0"/>
              </a:rPr>
              <a:t> </a:t>
            </a:r>
          </a:p>
        </p:txBody>
      </p:sp>
      <p:grpSp>
        <p:nvGrpSpPr>
          <p:cNvPr id="5" name="Group 3"/>
          <p:cNvGrpSpPr>
            <a:grpSpLocks/>
          </p:cNvGrpSpPr>
          <p:nvPr/>
        </p:nvGrpSpPr>
        <p:grpSpPr bwMode="auto">
          <a:xfrm>
            <a:off x="2586038" y="2794000"/>
            <a:ext cx="3971925" cy="3449638"/>
            <a:chOff x="2823" y="1344"/>
            <a:chExt cx="2649" cy="2448"/>
          </a:xfrm>
        </p:grpSpPr>
        <p:sp>
          <p:nvSpPr>
            <p:cNvPr id="74758" name="Line 4"/>
            <p:cNvSpPr>
              <a:spLocks noChangeShapeType="1"/>
            </p:cNvSpPr>
            <p:nvPr/>
          </p:nvSpPr>
          <p:spPr bwMode="auto">
            <a:xfrm flipV="1">
              <a:off x="3084" y="1431"/>
              <a:ext cx="0" cy="20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59" name="Line 5"/>
            <p:cNvSpPr>
              <a:spLocks noChangeShapeType="1"/>
            </p:cNvSpPr>
            <p:nvPr/>
          </p:nvSpPr>
          <p:spPr bwMode="auto">
            <a:xfrm flipV="1">
              <a:off x="3081" y="3492"/>
              <a:ext cx="235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0" name="Freeform 6"/>
            <p:cNvSpPr>
              <a:spLocks noChangeArrowheads="1"/>
            </p:cNvSpPr>
            <p:nvPr/>
          </p:nvSpPr>
          <p:spPr bwMode="auto">
            <a:xfrm>
              <a:off x="3462" y="1804"/>
              <a:ext cx="1192" cy="1203"/>
            </a:xfrm>
            <a:custGeom>
              <a:avLst/>
              <a:gdLst>
                <a:gd name="T0" fmla="*/ 0 w 1968"/>
                <a:gd name="T1" fmla="*/ 152 h 2016"/>
                <a:gd name="T2" fmla="*/ 51 w 1968"/>
                <a:gd name="T3" fmla="*/ 62 h 2016"/>
                <a:gd name="T4" fmla="*/ 161 w 1968"/>
                <a:gd name="T5" fmla="*/ 0 h 2016"/>
                <a:gd name="T6" fmla="*/ 0 60000 65536"/>
                <a:gd name="T7" fmla="*/ 0 60000 65536"/>
                <a:gd name="T8" fmla="*/ 0 60000 65536"/>
              </a:gdLst>
              <a:ahLst/>
              <a:cxnLst>
                <a:cxn ang="T6">
                  <a:pos x="T0" y="T1"/>
                </a:cxn>
                <a:cxn ang="T7">
                  <a:pos x="T2" y="T3"/>
                </a:cxn>
                <a:cxn ang="T8">
                  <a:pos x="T4" y="T5"/>
                </a:cxn>
              </a:cxnLst>
              <a:rect l="0" t="0" r="r" b="b"/>
              <a:pathLst>
                <a:path w="1968" h="2016">
                  <a:moveTo>
                    <a:pt x="0" y="2016"/>
                  </a:moveTo>
                  <a:cubicBezTo>
                    <a:pt x="148" y="1584"/>
                    <a:pt x="296" y="1152"/>
                    <a:pt x="624" y="816"/>
                  </a:cubicBezTo>
                  <a:cubicBezTo>
                    <a:pt x="952" y="480"/>
                    <a:pt x="1460" y="240"/>
                    <a:pt x="1968" y="0"/>
                  </a:cubicBezTo>
                </a:path>
              </a:pathLst>
            </a:custGeom>
            <a:noFill/>
            <a:ln w="50800">
              <a:solidFill>
                <a:srgbClr val="1C12D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61" name="Line 7"/>
            <p:cNvSpPr>
              <a:spLocks noChangeShapeType="1"/>
            </p:cNvSpPr>
            <p:nvPr/>
          </p:nvSpPr>
          <p:spPr bwMode="auto">
            <a:xfrm flipV="1">
              <a:off x="3346" y="1603"/>
              <a:ext cx="1017" cy="129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2" name="Line 8"/>
            <p:cNvSpPr>
              <a:spLocks noChangeShapeType="1"/>
            </p:cNvSpPr>
            <p:nvPr/>
          </p:nvSpPr>
          <p:spPr bwMode="auto">
            <a:xfrm flipH="1">
              <a:off x="3084" y="2377"/>
              <a:ext cx="669" cy="0"/>
            </a:xfrm>
            <a:prstGeom prst="line">
              <a:avLst/>
            </a:prstGeom>
            <a:noFill/>
            <a:ln w="317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3" name="Line 9"/>
            <p:cNvSpPr>
              <a:spLocks noChangeShapeType="1"/>
            </p:cNvSpPr>
            <p:nvPr/>
          </p:nvSpPr>
          <p:spPr bwMode="auto">
            <a:xfrm>
              <a:off x="3782" y="2377"/>
              <a:ext cx="0" cy="1117"/>
            </a:xfrm>
            <a:prstGeom prst="line">
              <a:avLst/>
            </a:prstGeom>
            <a:noFill/>
            <a:ln w="317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4" name="Line 10"/>
            <p:cNvSpPr>
              <a:spLocks noChangeShapeType="1"/>
            </p:cNvSpPr>
            <p:nvPr/>
          </p:nvSpPr>
          <p:spPr bwMode="auto">
            <a:xfrm>
              <a:off x="3753" y="2377"/>
              <a:ext cx="127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5" name="Line 11"/>
            <p:cNvSpPr>
              <a:spLocks noChangeShapeType="1"/>
            </p:cNvSpPr>
            <p:nvPr/>
          </p:nvSpPr>
          <p:spPr bwMode="auto">
            <a:xfrm flipV="1">
              <a:off x="4305" y="1689"/>
              <a:ext cx="0" cy="6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6" name="Line 12"/>
            <p:cNvSpPr>
              <a:spLocks noChangeShapeType="1"/>
            </p:cNvSpPr>
            <p:nvPr/>
          </p:nvSpPr>
          <p:spPr bwMode="auto">
            <a:xfrm>
              <a:off x="4305" y="1689"/>
              <a:ext cx="7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7" name="Line 13"/>
            <p:cNvSpPr>
              <a:spLocks noChangeShapeType="1"/>
            </p:cNvSpPr>
            <p:nvPr/>
          </p:nvSpPr>
          <p:spPr bwMode="auto">
            <a:xfrm>
              <a:off x="4305" y="1976"/>
              <a:ext cx="34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8" name="Line 14"/>
            <p:cNvSpPr>
              <a:spLocks noChangeShapeType="1"/>
            </p:cNvSpPr>
            <p:nvPr/>
          </p:nvSpPr>
          <p:spPr bwMode="auto">
            <a:xfrm>
              <a:off x="4567" y="1976"/>
              <a:ext cx="0" cy="401"/>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9" name="Line 15"/>
            <p:cNvSpPr>
              <a:spLocks noChangeShapeType="1"/>
            </p:cNvSpPr>
            <p:nvPr/>
          </p:nvSpPr>
          <p:spPr bwMode="auto">
            <a:xfrm>
              <a:off x="4887" y="1689"/>
              <a:ext cx="0" cy="68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70" name="Freeform 16"/>
            <p:cNvSpPr>
              <a:spLocks noChangeArrowheads="1"/>
            </p:cNvSpPr>
            <p:nvPr/>
          </p:nvSpPr>
          <p:spPr bwMode="auto">
            <a:xfrm>
              <a:off x="3898" y="2176"/>
              <a:ext cx="146" cy="201"/>
            </a:xfrm>
            <a:custGeom>
              <a:avLst/>
              <a:gdLst>
                <a:gd name="T0" fmla="*/ 49 w 192"/>
                <a:gd name="T1" fmla="*/ 26 h 336"/>
                <a:gd name="T2" fmla="*/ 37 w 192"/>
                <a:gd name="T3" fmla="*/ 11 h 336"/>
                <a:gd name="T4" fmla="*/ 0 w 192"/>
                <a:gd name="T5" fmla="*/ 0 h 336"/>
                <a:gd name="T6" fmla="*/ 0 60000 65536"/>
                <a:gd name="T7" fmla="*/ 0 60000 65536"/>
                <a:gd name="T8" fmla="*/ 0 60000 65536"/>
              </a:gdLst>
              <a:ahLst/>
              <a:cxnLst>
                <a:cxn ang="T6">
                  <a:pos x="T0" y="T1"/>
                </a:cxn>
                <a:cxn ang="T7">
                  <a:pos x="T2" y="T3"/>
                </a:cxn>
                <a:cxn ang="T8">
                  <a:pos x="T4" y="T5"/>
                </a:cxn>
              </a:cxnLst>
              <a:rect l="0" t="0" r="r" b="b"/>
              <a:pathLst>
                <a:path w="192" h="336">
                  <a:moveTo>
                    <a:pt x="192" y="336"/>
                  </a:moveTo>
                  <a:cubicBezTo>
                    <a:pt x="184" y="268"/>
                    <a:pt x="176" y="200"/>
                    <a:pt x="144" y="144"/>
                  </a:cubicBezTo>
                  <a:cubicBezTo>
                    <a:pt x="112" y="88"/>
                    <a:pt x="56" y="44"/>
                    <a:pt x="0" y="0"/>
                  </a:cubicBezTo>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71" name="Text Box 17"/>
            <p:cNvSpPr txBox="1">
              <a:spLocks noChangeArrowheads="1"/>
            </p:cNvSpPr>
            <p:nvPr/>
          </p:nvSpPr>
          <p:spPr bwMode="auto">
            <a:xfrm>
              <a:off x="2933" y="345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rPr>
                <a:t>0</a:t>
              </a:r>
            </a:p>
          </p:txBody>
        </p:sp>
        <p:sp>
          <p:nvSpPr>
            <p:cNvPr id="74772" name="Text Box 18"/>
            <p:cNvSpPr txBox="1">
              <a:spLocks noChangeArrowheads="1"/>
            </p:cNvSpPr>
            <p:nvPr/>
          </p:nvSpPr>
          <p:spPr bwMode="auto">
            <a:xfrm>
              <a:off x="5271" y="3504"/>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x</a:t>
              </a:r>
              <a:endParaRPr lang="en-US" altLang="zh-CN" sz="2400">
                <a:latin typeface="Times New Roman" panose="02020603050405020304" pitchFamily="18" charset="0"/>
              </a:endParaRPr>
            </a:p>
          </p:txBody>
        </p:sp>
        <p:sp>
          <p:nvSpPr>
            <p:cNvPr id="74773" name="Text Box 19"/>
            <p:cNvSpPr txBox="1">
              <a:spLocks noChangeArrowheads="1"/>
            </p:cNvSpPr>
            <p:nvPr/>
          </p:nvSpPr>
          <p:spPr bwMode="auto">
            <a:xfrm>
              <a:off x="3159" y="1344"/>
              <a:ext cx="6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y</a:t>
              </a:r>
              <a:r>
                <a:rPr lang="en-US" altLang="zh-CN" sz="2400">
                  <a:latin typeface="Times New Roman" panose="02020603050405020304" pitchFamily="18" charset="0"/>
                </a:rPr>
                <a:t>=</a:t>
              </a:r>
              <a:r>
                <a:rPr lang="en-US" altLang="zh-CN" sz="2400" i="1">
                  <a:latin typeface="Times New Roman" panose="02020603050405020304" pitchFamily="18" charset="0"/>
                </a:rPr>
                <a:t>f</a:t>
              </a:r>
              <a:r>
                <a:rPr lang="en-US" altLang="zh-CN" sz="2400">
                  <a:latin typeface="Times New Roman" panose="02020603050405020304" pitchFamily="18" charset="0"/>
                </a:rPr>
                <a:t>(</a:t>
              </a:r>
              <a:r>
                <a:rPr lang="en-US" altLang="zh-CN" sz="2400" i="1">
                  <a:latin typeface="Times New Roman" panose="02020603050405020304" pitchFamily="18" charset="0"/>
                </a:rPr>
                <a:t>x</a:t>
              </a:r>
              <a:r>
                <a:rPr lang="en-US" altLang="zh-CN" sz="2400">
                  <a:latin typeface="Times New Roman" panose="02020603050405020304" pitchFamily="18" charset="0"/>
                </a:rPr>
                <a:t>)</a:t>
              </a:r>
            </a:p>
          </p:txBody>
        </p:sp>
        <p:sp>
          <p:nvSpPr>
            <p:cNvPr id="74774" name="Text Box 20"/>
            <p:cNvSpPr txBox="1">
              <a:spLocks noChangeArrowheads="1"/>
            </p:cNvSpPr>
            <p:nvPr/>
          </p:nvSpPr>
          <p:spPr bwMode="auto">
            <a:xfrm>
              <a:off x="2823" y="2208"/>
              <a:ext cx="5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y</a:t>
              </a:r>
              <a:r>
                <a:rPr lang="en-US" altLang="zh-CN" sz="2400" baseline="-25000">
                  <a:latin typeface="Times New Roman" panose="02020603050405020304" pitchFamily="18" charset="0"/>
                </a:rPr>
                <a:t>0</a:t>
              </a:r>
              <a:endParaRPr lang="en-US" altLang="zh-CN" sz="2400">
                <a:latin typeface="Times New Roman" panose="02020603050405020304" pitchFamily="18" charset="0"/>
              </a:endParaRPr>
            </a:p>
          </p:txBody>
        </p:sp>
        <p:sp>
          <p:nvSpPr>
            <p:cNvPr id="74775" name="Text Box 21"/>
            <p:cNvSpPr txBox="1">
              <a:spLocks noChangeArrowheads="1"/>
            </p:cNvSpPr>
            <p:nvPr/>
          </p:nvSpPr>
          <p:spPr bwMode="auto">
            <a:xfrm>
              <a:off x="3639" y="3466"/>
              <a:ext cx="5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x</a:t>
              </a:r>
              <a:r>
                <a:rPr lang="en-US" altLang="zh-CN" sz="2400" baseline="-25000">
                  <a:latin typeface="Times New Roman" panose="02020603050405020304" pitchFamily="18" charset="0"/>
                </a:rPr>
                <a:t>0</a:t>
              </a:r>
              <a:endParaRPr lang="en-US" altLang="zh-CN" sz="2400">
                <a:latin typeface="Times New Roman" panose="02020603050405020304" pitchFamily="18" charset="0"/>
              </a:endParaRPr>
            </a:p>
          </p:txBody>
        </p:sp>
        <p:sp>
          <p:nvSpPr>
            <p:cNvPr id="74776" name="Text Box 22"/>
            <p:cNvSpPr txBox="1">
              <a:spLocks noChangeArrowheads="1"/>
            </p:cNvSpPr>
            <p:nvPr/>
          </p:nvSpPr>
          <p:spPr bwMode="auto">
            <a:xfrm>
              <a:off x="4016" y="2103"/>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74777" name="Text Box 23"/>
            <p:cNvSpPr txBox="1">
              <a:spLocks noChangeArrowheads="1"/>
            </p:cNvSpPr>
            <p:nvPr/>
          </p:nvSpPr>
          <p:spPr bwMode="auto">
            <a:xfrm>
              <a:off x="3879" y="2579"/>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x</a:t>
              </a:r>
              <a:endParaRPr lang="en-US" altLang="zh-CN" sz="2400">
                <a:latin typeface="Times New Roman" panose="02020603050405020304" pitchFamily="18" charset="0"/>
              </a:endParaRPr>
            </a:p>
          </p:txBody>
        </p:sp>
        <p:sp>
          <p:nvSpPr>
            <p:cNvPr id="74778" name="Text Box 24"/>
            <p:cNvSpPr txBox="1">
              <a:spLocks noChangeArrowheads="1"/>
            </p:cNvSpPr>
            <p:nvPr/>
          </p:nvSpPr>
          <p:spPr bwMode="auto">
            <a:xfrm>
              <a:off x="4888" y="1947"/>
              <a:ext cx="3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y’</a:t>
              </a:r>
              <a:endParaRPr lang="en-US" altLang="zh-CN" sz="2400">
                <a:latin typeface="Times New Roman" panose="02020603050405020304" pitchFamily="18" charset="0"/>
              </a:endParaRPr>
            </a:p>
          </p:txBody>
        </p:sp>
        <p:sp>
          <p:nvSpPr>
            <p:cNvPr id="74779" name="Text Box 25"/>
            <p:cNvSpPr txBox="1">
              <a:spLocks noChangeArrowheads="1"/>
            </p:cNvSpPr>
            <p:nvPr/>
          </p:nvSpPr>
          <p:spPr bwMode="auto">
            <a:xfrm>
              <a:off x="4566" y="2062"/>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y</a:t>
              </a:r>
              <a:endParaRPr lang="en-US" altLang="zh-CN" sz="2400">
                <a:latin typeface="Times New Roman" panose="02020603050405020304" pitchFamily="18" charset="0"/>
              </a:endParaRPr>
            </a:p>
          </p:txBody>
        </p:sp>
        <p:sp>
          <p:nvSpPr>
            <p:cNvPr id="74780" name="Line 26"/>
            <p:cNvSpPr>
              <a:spLocks noChangeShapeType="1"/>
            </p:cNvSpPr>
            <p:nvPr/>
          </p:nvSpPr>
          <p:spPr bwMode="auto">
            <a:xfrm>
              <a:off x="4305" y="2377"/>
              <a:ext cx="0" cy="2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1" name="Line 27"/>
            <p:cNvSpPr>
              <a:spLocks noChangeShapeType="1"/>
            </p:cNvSpPr>
            <p:nvPr/>
          </p:nvSpPr>
          <p:spPr bwMode="auto">
            <a:xfrm>
              <a:off x="3782" y="2606"/>
              <a:ext cx="523"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2" name="Text Box 29"/>
            <p:cNvSpPr txBox="1">
              <a:spLocks noChangeArrowheads="1"/>
            </p:cNvSpPr>
            <p:nvPr/>
          </p:nvSpPr>
          <p:spPr bwMode="auto">
            <a:xfrm>
              <a:off x="3543" y="211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i="1">
                  <a:latin typeface="Times New Roman" panose="02020603050405020304" pitchFamily="18" charset="0"/>
                </a:rPr>
                <a:t>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8205F56-15B0-4D5A-B2DA-3F8431695952}" type="datetime1">
              <a:rPr lang="zh-CN" altLang="en-US" sz="1200" smtClean="0"/>
              <a:pPr>
                <a:spcBef>
                  <a:spcPct val="0"/>
                </a:spcBef>
                <a:buClrTx/>
                <a:buFontTx/>
                <a:buNone/>
              </a:pPr>
              <a:t>2025/9/14</a:t>
            </a:fld>
            <a:endParaRPr lang="zh-CN" altLang="en-US" sz="1200"/>
          </a:p>
        </p:txBody>
      </p:sp>
      <p:sp>
        <p:nvSpPr>
          <p:cNvPr id="75779"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1A0CA5B-FE13-4579-B1C5-C7CA064124B4}" type="slidenum">
              <a:rPr lang="en-US" altLang="zh-CN" sz="1200" smtClean="0"/>
              <a:pPr>
                <a:spcBef>
                  <a:spcPct val="0"/>
                </a:spcBef>
                <a:buClrTx/>
                <a:buFontTx/>
                <a:buNone/>
              </a:pPr>
              <a:t>33</a:t>
            </a:fld>
            <a:endParaRPr lang="en-US" altLang="zh-CN" sz="1200"/>
          </a:p>
        </p:txBody>
      </p:sp>
      <p:sp>
        <p:nvSpPr>
          <p:cNvPr id="75780" name="Text Box 3"/>
          <p:cNvSpPr txBox="1">
            <a:spLocks noChangeArrowheads="1"/>
          </p:cNvSpPr>
          <p:nvPr/>
        </p:nvSpPr>
        <p:spPr bwMode="auto">
          <a:xfrm>
            <a:off x="19081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2</a:t>
            </a:r>
            <a:r>
              <a:rPr lang="zh-CN" altLang="en-US" sz="3600">
                <a:latin typeface="Times New Roman" panose="02020603050405020304" pitchFamily="18" charset="0"/>
                <a:ea typeface="华文新魏" panose="02010800040101010101" pitchFamily="2" charset="-122"/>
              </a:rPr>
              <a:t>章  数学模型</a:t>
            </a:r>
          </a:p>
        </p:txBody>
      </p:sp>
      <p:sp>
        <p:nvSpPr>
          <p:cNvPr id="75781" name="Rectangle 4"/>
          <p:cNvSpPr>
            <a:spLocks noChangeArrowheads="1"/>
          </p:cNvSpPr>
          <p:nvPr/>
        </p:nvSpPr>
        <p:spPr bwMode="auto">
          <a:xfrm>
            <a:off x="1981200" y="2209800"/>
            <a:ext cx="377507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2.2   </a:t>
            </a:r>
            <a:r>
              <a:rPr lang="zh-CN" altLang="en-US" sz="2800">
                <a:latin typeface="Times New Roman" panose="02020603050405020304" pitchFamily="18" charset="0"/>
                <a:ea typeface="黑体" panose="02010609060101010101" pitchFamily="49" charset="-122"/>
              </a:rPr>
              <a:t>拉氏变换和反变换</a:t>
            </a:r>
          </a:p>
        </p:txBody>
      </p:sp>
      <p:sp>
        <p:nvSpPr>
          <p:cNvPr id="75782" name="Rectangle 5"/>
          <p:cNvSpPr>
            <a:spLocks noChangeArrowheads="1"/>
          </p:cNvSpPr>
          <p:nvPr/>
        </p:nvSpPr>
        <p:spPr bwMode="auto">
          <a:xfrm>
            <a:off x="1981200" y="2757488"/>
            <a:ext cx="23383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2.3   </a:t>
            </a:r>
            <a:r>
              <a:rPr lang="zh-CN" altLang="en-US" sz="2800">
                <a:latin typeface="Times New Roman" panose="02020603050405020304" pitchFamily="18" charset="0"/>
                <a:ea typeface="黑体" panose="02010609060101010101" pitchFamily="49" charset="-122"/>
              </a:rPr>
              <a:t>传递函数</a:t>
            </a:r>
          </a:p>
        </p:txBody>
      </p:sp>
      <p:sp>
        <p:nvSpPr>
          <p:cNvPr id="75783" name="Rectangle 6"/>
          <p:cNvSpPr>
            <a:spLocks noChangeArrowheads="1"/>
          </p:cNvSpPr>
          <p:nvPr/>
        </p:nvSpPr>
        <p:spPr bwMode="auto">
          <a:xfrm>
            <a:off x="1981200" y="3967163"/>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latin typeface="Times New Roman" panose="02020603050405020304" pitchFamily="18" charset="0"/>
                <a:ea typeface="黑体" panose="02010609060101010101" pitchFamily="49" charset="-122"/>
              </a:rPr>
              <a:t>2.5   </a:t>
            </a:r>
            <a:r>
              <a:rPr lang="zh-CN" altLang="en-US" sz="2800">
                <a:latin typeface="Times New Roman" panose="02020603050405020304" pitchFamily="18" charset="0"/>
                <a:ea typeface="黑体" panose="02010609060101010101" pitchFamily="49" charset="-122"/>
              </a:rPr>
              <a:t>非线性数学模型的线性化</a:t>
            </a:r>
          </a:p>
        </p:txBody>
      </p:sp>
      <p:sp>
        <p:nvSpPr>
          <p:cNvPr id="75784" name="Rectangle 7"/>
          <p:cNvSpPr>
            <a:spLocks noChangeArrowheads="1"/>
          </p:cNvSpPr>
          <p:nvPr/>
        </p:nvSpPr>
        <p:spPr bwMode="auto">
          <a:xfrm>
            <a:off x="1979613" y="3330575"/>
            <a:ext cx="449421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2.4   </a:t>
            </a:r>
            <a:r>
              <a:rPr lang="zh-CN" altLang="en-US" sz="2800">
                <a:latin typeface="Times New Roman" panose="02020603050405020304" pitchFamily="18" charset="0"/>
                <a:ea typeface="黑体" panose="02010609060101010101" pitchFamily="49" charset="-122"/>
              </a:rPr>
              <a:t>系统方框图和信号流图</a:t>
            </a:r>
          </a:p>
        </p:txBody>
      </p:sp>
      <p:sp>
        <p:nvSpPr>
          <p:cNvPr id="75785" name="Rectangle 8"/>
          <p:cNvSpPr>
            <a:spLocks noChangeArrowheads="1"/>
          </p:cNvSpPr>
          <p:nvPr/>
        </p:nvSpPr>
        <p:spPr bwMode="auto">
          <a:xfrm>
            <a:off x="1981200" y="4405313"/>
            <a:ext cx="5211763"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solidFill>
                  <a:srgbClr val="FF0000"/>
                </a:solidFill>
                <a:latin typeface="Times New Roman" panose="02020603050405020304" pitchFamily="18" charset="0"/>
                <a:ea typeface="黑体" panose="02010609060101010101" pitchFamily="49" charset="-122"/>
              </a:rPr>
              <a:t>2.6   </a:t>
            </a:r>
            <a:r>
              <a:rPr lang="zh-CN" altLang="en-US" sz="2800">
                <a:solidFill>
                  <a:srgbClr val="FF0000"/>
                </a:solidFill>
                <a:latin typeface="Times New Roman" panose="02020603050405020304" pitchFamily="18" charset="0"/>
                <a:ea typeface="黑体" panose="02010609060101010101" pitchFamily="49" charset="-122"/>
              </a:rPr>
              <a:t>控制系统传递函数推导举例</a:t>
            </a:r>
          </a:p>
        </p:txBody>
      </p:sp>
      <p:sp>
        <p:nvSpPr>
          <p:cNvPr id="75786" name="Rectangle 11"/>
          <p:cNvSpPr>
            <a:spLocks noChangeArrowheads="1"/>
          </p:cNvSpPr>
          <p:nvPr/>
        </p:nvSpPr>
        <p:spPr bwMode="auto">
          <a:xfrm>
            <a:off x="1981200" y="1676400"/>
            <a:ext cx="485298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2.1   </a:t>
            </a:r>
            <a:r>
              <a:rPr lang="zh-CN" altLang="en-US" sz="2800">
                <a:latin typeface="Times New Roman" panose="02020603050405020304" pitchFamily="18" charset="0"/>
                <a:ea typeface="黑体" panose="02010609060101010101" pitchFamily="49" charset="-122"/>
              </a:rPr>
              <a:t>控制系统的运动微分方程</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日期占位符 25"/>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ECAC690-E021-401A-BF15-78CE39A01DA2}" type="datetime1">
              <a:rPr lang="en-US" altLang="zh-CN" sz="1200" smtClean="0"/>
              <a:pPr>
                <a:spcBef>
                  <a:spcPct val="0"/>
                </a:spcBef>
                <a:buClrTx/>
                <a:buFontTx/>
                <a:buNone/>
              </a:pPr>
              <a:t>9/14/2025</a:t>
            </a:fld>
            <a:endParaRPr lang="en-US" altLang="zh-CN" sz="1200"/>
          </a:p>
        </p:txBody>
      </p:sp>
      <p:sp>
        <p:nvSpPr>
          <p:cNvPr id="77827" name="灯片编号占位符 27"/>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DF6FA42D-6AA7-48EB-8C78-96CBF43AB218}" type="slidenum">
              <a:rPr lang="en-US" altLang="zh-CN" sz="1200" smtClean="0"/>
              <a:pPr>
                <a:spcBef>
                  <a:spcPct val="0"/>
                </a:spcBef>
                <a:buClrTx/>
                <a:buFontTx/>
                <a:buNone/>
              </a:pPr>
              <a:t>34</a:t>
            </a:fld>
            <a:endParaRPr lang="en-US" altLang="zh-CN" sz="1200"/>
          </a:p>
        </p:txBody>
      </p:sp>
      <p:sp>
        <p:nvSpPr>
          <p:cNvPr id="77828" name="Rectangle 1048"/>
          <p:cNvSpPr>
            <a:spLocks noChangeArrowheads="1"/>
          </p:cNvSpPr>
          <p:nvPr/>
        </p:nvSpPr>
        <p:spPr bwMode="auto">
          <a:xfrm>
            <a:off x="530225" y="276225"/>
            <a:ext cx="503237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2.6 </a:t>
            </a:r>
            <a:r>
              <a:rPr lang="zh-CN" altLang="en-US" sz="2800">
                <a:latin typeface="Times New Roman" panose="02020603050405020304" pitchFamily="18" charset="0"/>
                <a:ea typeface="黑体" panose="02010609060101010101" pitchFamily="49" charset="-122"/>
              </a:rPr>
              <a:t>控制系统传递函数推导举例</a:t>
            </a:r>
          </a:p>
        </p:txBody>
      </p:sp>
      <p:sp>
        <p:nvSpPr>
          <p:cNvPr id="449559" name="Rectangle 1047"/>
          <p:cNvSpPr>
            <a:spLocks noChangeArrowheads="1"/>
          </p:cNvSpPr>
          <p:nvPr/>
        </p:nvSpPr>
        <p:spPr bwMode="auto">
          <a:xfrm>
            <a:off x="863600" y="949325"/>
            <a:ext cx="1966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 typeface="Wingdings" panose="05000000000000000000" pitchFamily="2" charset="2"/>
              <a:buChar char="l"/>
            </a:pPr>
            <a:r>
              <a:rPr lang="en-US" altLang="zh-CN" sz="2800" b="1">
                <a:latin typeface="Times New Roman" panose="02020603050405020304" pitchFamily="18" charset="0"/>
              </a:rPr>
              <a:t> </a:t>
            </a:r>
            <a:r>
              <a:rPr lang="zh-CN" altLang="en-US" sz="2800" b="1">
                <a:latin typeface="Times New Roman" panose="02020603050405020304" pitchFamily="18" charset="0"/>
              </a:rPr>
              <a:t>机械系统</a:t>
            </a:r>
            <a:endParaRPr lang="zh-CN" altLang="en-US" sz="2800">
              <a:latin typeface="Times New Roman" panose="02020603050405020304" pitchFamily="18" charset="0"/>
            </a:endParaRPr>
          </a:p>
        </p:txBody>
      </p:sp>
      <p:sp>
        <p:nvSpPr>
          <p:cNvPr id="449558" name="Rectangle 1046"/>
          <p:cNvSpPr>
            <a:spLocks noChangeArrowheads="1"/>
          </p:cNvSpPr>
          <p:nvPr/>
        </p:nvSpPr>
        <p:spPr bwMode="auto">
          <a:xfrm>
            <a:off x="823913" y="1677988"/>
            <a:ext cx="6934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电机驱动进给装置 </a:t>
            </a:r>
          </a:p>
        </p:txBody>
      </p:sp>
      <p:grpSp>
        <p:nvGrpSpPr>
          <p:cNvPr id="27" name="Group 4"/>
          <p:cNvGrpSpPr>
            <a:grpSpLocks/>
          </p:cNvGrpSpPr>
          <p:nvPr/>
        </p:nvGrpSpPr>
        <p:grpSpPr bwMode="auto">
          <a:xfrm>
            <a:off x="820738" y="1970088"/>
            <a:ext cx="7937500" cy="4267200"/>
            <a:chOff x="384" y="1488"/>
            <a:chExt cx="5000" cy="2688"/>
          </a:xfrm>
        </p:grpSpPr>
        <p:sp>
          <p:nvSpPr>
            <p:cNvPr id="77832" name="Rectangle 5" descr="宽上对角线"/>
            <p:cNvSpPr>
              <a:spLocks noChangeArrowheads="1"/>
            </p:cNvSpPr>
            <p:nvPr/>
          </p:nvSpPr>
          <p:spPr bwMode="auto">
            <a:xfrm>
              <a:off x="4224" y="2112"/>
              <a:ext cx="816" cy="96"/>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33" name="Rectangle 6"/>
            <p:cNvSpPr>
              <a:spLocks noChangeArrowheads="1"/>
            </p:cNvSpPr>
            <p:nvPr/>
          </p:nvSpPr>
          <p:spPr bwMode="auto">
            <a:xfrm>
              <a:off x="912" y="3264"/>
              <a:ext cx="576"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34" name="Line 7"/>
            <p:cNvSpPr>
              <a:spLocks noChangeShapeType="1"/>
            </p:cNvSpPr>
            <p:nvPr/>
          </p:nvSpPr>
          <p:spPr bwMode="auto">
            <a:xfrm>
              <a:off x="680" y="3552"/>
              <a:ext cx="2440"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5" name="Rectangle 8"/>
            <p:cNvSpPr>
              <a:spLocks noChangeArrowheads="1"/>
            </p:cNvSpPr>
            <p:nvPr/>
          </p:nvSpPr>
          <p:spPr bwMode="auto">
            <a:xfrm>
              <a:off x="1488" y="3168"/>
              <a:ext cx="96" cy="72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36" name="Rectangle 9"/>
            <p:cNvSpPr>
              <a:spLocks noChangeArrowheads="1"/>
            </p:cNvSpPr>
            <p:nvPr/>
          </p:nvSpPr>
          <p:spPr bwMode="auto">
            <a:xfrm>
              <a:off x="3120" y="1728"/>
              <a:ext cx="1488" cy="33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工作台</a:t>
              </a:r>
              <a:r>
                <a:rPr lang="en-US" altLang="zh-CN" sz="2800" i="1">
                  <a:latin typeface="Times New Roman" panose="02020603050405020304" pitchFamily="18" charset="0"/>
                </a:rPr>
                <a:t>m</a:t>
              </a:r>
            </a:p>
          </p:txBody>
        </p:sp>
        <p:sp>
          <p:nvSpPr>
            <p:cNvPr id="77837" name="Line 10"/>
            <p:cNvSpPr>
              <a:spLocks noChangeShapeType="1"/>
            </p:cNvSpPr>
            <p:nvPr/>
          </p:nvSpPr>
          <p:spPr bwMode="auto">
            <a:xfrm flipH="1" flipV="1">
              <a:off x="3984" y="2448"/>
              <a:ext cx="288" cy="33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8" name="Rectangle 11"/>
            <p:cNvSpPr>
              <a:spLocks noChangeArrowheads="1"/>
            </p:cNvSpPr>
            <p:nvPr/>
          </p:nvSpPr>
          <p:spPr bwMode="auto">
            <a:xfrm>
              <a:off x="4224" y="2649"/>
              <a:ext cx="6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丝杠</a:t>
              </a:r>
              <a:r>
                <a:rPr lang="en-US" altLang="zh-CN" sz="2800" i="1">
                  <a:latin typeface="Times New Roman" panose="02020603050405020304" pitchFamily="18" charset="0"/>
                </a:rPr>
                <a:t>L</a:t>
              </a:r>
            </a:p>
          </p:txBody>
        </p:sp>
        <p:sp>
          <p:nvSpPr>
            <p:cNvPr id="77839" name="Rectangle 12"/>
            <p:cNvSpPr>
              <a:spLocks noChangeArrowheads="1"/>
            </p:cNvSpPr>
            <p:nvPr/>
          </p:nvSpPr>
          <p:spPr bwMode="auto">
            <a:xfrm>
              <a:off x="716" y="3849"/>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伺服电机</a:t>
              </a:r>
              <a:endParaRPr lang="zh-CN" altLang="en-US" sz="2800" i="1">
                <a:latin typeface="Times New Roman" panose="02020603050405020304" pitchFamily="18" charset="0"/>
              </a:endParaRPr>
            </a:p>
          </p:txBody>
        </p:sp>
        <p:sp>
          <p:nvSpPr>
            <p:cNvPr id="77840" name="Rectangle 13"/>
            <p:cNvSpPr>
              <a:spLocks noChangeArrowheads="1"/>
            </p:cNvSpPr>
            <p:nvPr/>
          </p:nvSpPr>
          <p:spPr bwMode="auto">
            <a:xfrm>
              <a:off x="1584" y="3456"/>
              <a:ext cx="28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41" name="Freeform 14"/>
            <p:cNvSpPr>
              <a:spLocks noChangeArrowheads="1"/>
            </p:cNvSpPr>
            <p:nvPr/>
          </p:nvSpPr>
          <p:spPr bwMode="auto">
            <a:xfrm>
              <a:off x="1680" y="3312"/>
              <a:ext cx="96" cy="480"/>
            </a:xfrm>
            <a:custGeom>
              <a:avLst/>
              <a:gdLst>
                <a:gd name="T0" fmla="*/ 0 w 96"/>
                <a:gd name="T1" fmla="*/ 0 h 432"/>
                <a:gd name="T2" fmla="*/ 96 w 96"/>
                <a:gd name="T3" fmla="*/ 324 h 432"/>
                <a:gd name="T4" fmla="*/ 0 w 96"/>
                <a:gd name="T5" fmla="*/ 731 h 432"/>
                <a:gd name="T6" fmla="*/ 0 60000 65536"/>
                <a:gd name="T7" fmla="*/ 0 60000 65536"/>
                <a:gd name="T8" fmla="*/ 0 60000 65536"/>
              </a:gdLst>
              <a:ahLst/>
              <a:cxnLst>
                <a:cxn ang="T6">
                  <a:pos x="T0" y="T1"/>
                </a:cxn>
                <a:cxn ang="T7">
                  <a:pos x="T2" y="T3"/>
                </a:cxn>
                <a:cxn ang="T8">
                  <a:pos x="T4" y="T5"/>
                </a:cxn>
              </a:cxnLst>
              <a:rect l="0" t="0" r="r" b="b"/>
              <a:pathLst>
                <a:path w="96" h="432">
                  <a:moveTo>
                    <a:pt x="0" y="0"/>
                  </a:moveTo>
                  <a:cubicBezTo>
                    <a:pt x="48" y="60"/>
                    <a:pt x="96" y="120"/>
                    <a:pt x="96" y="192"/>
                  </a:cubicBezTo>
                  <a:cubicBezTo>
                    <a:pt x="96" y="264"/>
                    <a:pt x="48" y="348"/>
                    <a:pt x="0" y="432"/>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42" name="Rectangle 15"/>
            <p:cNvSpPr>
              <a:spLocks noChangeArrowheads="1"/>
            </p:cNvSpPr>
            <p:nvPr/>
          </p:nvSpPr>
          <p:spPr bwMode="auto">
            <a:xfrm>
              <a:off x="1872" y="3312"/>
              <a:ext cx="192" cy="48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43" name="Rectangle 16"/>
            <p:cNvSpPr>
              <a:spLocks noChangeArrowheads="1"/>
            </p:cNvSpPr>
            <p:nvPr/>
          </p:nvSpPr>
          <p:spPr bwMode="auto">
            <a:xfrm>
              <a:off x="1872" y="2544"/>
              <a:ext cx="192" cy="76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44" name="Line 17"/>
            <p:cNvSpPr>
              <a:spLocks noChangeShapeType="1"/>
            </p:cNvSpPr>
            <p:nvPr/>
          </p:nvSpPr>
          <p:spPr bwMode="auto">
            <a:xfrm>
              <a:off x="672" y="2928"/>
              <a:ext cx="2448"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5" name="Rectangle 18"/>
            <p:cNvSpPr>
              <a:spLocks noChangeArrowheads="1"/>
            </p:cNvSpPr>
            <p:nvPr/>
          </p:nvSpPr>
          <p:spPr bwMode="auto">
            <a:xfrm>
              <a:off x="2064" y="2832"/>
              <a:ext cx="28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46" name="Rectangle 19"/>
            <p:cNvSpPr>
              <a:spLocks noChangeArrowheads="1"/>
            </p:cNvSpPr>
            <p:nvPr/>
          </p:nvSpPr>
          <p:spPr bwMode="auto">
            <a:xfrm>
              <a:off x="2352" y="2688"/>
              <a:ext cx="192" cy="48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47" name="Rectangle 20"/>
            <p:cNvSpPr>
              <a:spLocks noChangeArrowheads="1"/>
            </p:cNvSpPr>
            <p:nvPr/>
          </p:nvSpPr>
          <p:spPr bwMode="auto">
            <a:xfrm>
              <a:off x="2352" y="1920"/>
              <a:ext cx="192" cy="76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48" name="Line 21"/>
            <p:cNvSpPr>
              <a:spLocks noChangeShapeType="1"/>
            </p:cNvSpPr>
            <p:nvPr/>
          </p:nvSpPr>
          <p:spPr bwMode="auto">
            <a:xfrm>
              <a:off x="672" y="2304"/>
              <a:ext cx="3792"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9" name="Rectangle 22"/>
            <p:cNvSpPr>
              <a:spLocks noChangeArrowheads="1"/>
            </p:cNvSpPr>
            <p:nvPr/>
          </p:nvSpPr>
          <p:spPr bwMode="auto">
            <a:xfrm>
              <a:off x="2544" y="2160"/>
              <a:ext cx="1632" cy="28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50" name="Rectangle 23"/>
            <p:cNvSpPr>
              <a:spLocks noChangeArrowheads="1"/>
            </p:cNvSpPr>
            <p:nvPr/>
          </p:nvSpPr>
          <p:spPr bwMode="auto">
            <a:xfrm>
              <a:off x="2640" y="2208"/>
              <a:ext cx="1536"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useBgFill="1">
          <p:nvSpPr>
            <p:cNvPr id="77851" name="Rectangle 24"/>
            <p:cNvSpPr>
              <a:spLocks noChangeArrowheads="1"/>
            </p:cNvSpPr>
            <p:nvPr/>
          </p:nvSpPr>
          <p:spPr bwMode="auto">
            <a:xfrm>
              <a:off x="3552" y="2064"/>
              <a:ext cx="288" cy="480"/>
            </a:xfrm>
            <a:prstGeom prst="rect">
              <a:avLst/>
            </a:prstGeom>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77852" name="Line 25"/>
            <p:cNvSpPr>
              <a:spLocks noChangeShapeType="1"/>
            </p:cNvSpPr>
            <p:nvPr/>
          </p:nvSpPr>
          <p:spPr bwMode="auto">
            <a:xfrm>
              <a:off x="4224" y="2112"/>
              <a:ext cx="816"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3" name="Line 26"/>
            <p:cNvSpPr>
              <a:spLocks noChangeShapeType="1"/>
            </p:cNvSpPr>
            <p:nvPr/>
          </p:nvSpPr>
          <p:spPr bwMode="auto">
            <a:xfrm flipV="1">
              <a:off x="4608" y="1488"/>
              <a:ext cx="0" cy="28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4" name="Line 27"/>
            <p:cNvSpPr>
              <a:spLocks noChangeShapeType="1"/>
            </p:cNvSpPr>
            <p:nvPr/>
          </p:nvSpPr>
          <p:spPr bwMode="auto">
            <a:xfrm>
              <a:off x="4608" y="1488"/>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55" name="Text Box 28"/>
            <p:cNvSpPr txBox="1">
              <a:spLocks noChangeArrowheads="1"/>
            </p:cNvSpPr>
            <p:nvPr/>
          </p:nvSpPr>
          <p:spPr bwMode="auto">
            <a:xfrm>
              <a:off x="4704" y="1497"/>
              <a:ext cx="5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77856" name="Text Box 29"/>
            <p:cNvSpPr txBox="1">
              <a:spLocks noChangeArrowheads="1"/>
            </p:cNvSpPr>
            <p:nvPr/>
          </p:nvSpPr>
          <p:spPr bwMode="auto">
            <a:xfrm>
              <a:off x="4267" y="2160"/>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3</a:t>
              </a:r>
            </a:p>
          </p:txBody>
        </p:sp>
        <p:sp>
          <p:nvSpPr>
            <p:cNvPr id="77857" name="Text Box 30"/>
            <p:cNvSpPr txBox="1">
              <a:spLocks noChangeArrowheads="1"/>
            </p:cNvSpPr>
            <p:nvPr/>
          </p:nvSpPr>
          <p:spPr bwMode="auto">
            <a:xfrm>
              <a:off x="3072" y="2784"/>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2</a:t>
              </a:r>
            </a:p>
          </p:txBody>
        </p:sp>
        <p:sp>
          <p:nvSpPr>
            <p:cNvPr id="77858" name="Text Box 31"/>
            <p:cNvSpPr txBox="1">
              <a:spLocks noChangeArrowheads="1"/>
            </p:cNvSpPr>
            <p:nvPr/>
          </p:nvSpPr>
          <p:spPr bwMode="auto">
            <a:xfrm>
              <a:off x="3077" y="3369"/>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1</a:t>
              </a:r>
            </a:p>
          </p:txBody>
        </p:sp>
        <p:sp>
          <p:nvSpPr>
            <p:cNvPr id="77859" name="Text Box 32"/>
            <p:cNvSpPr txBox="1">
              <a:spLocks noChangeArrowheads="1"/>
            </p:cNvSpPr>
            <p:nvPr/>
          </p:nvSpPr>
          <p:spPr bwMode="auto">
            <a:xfrm>
              <a:off x="5009" y="1929"/>
              <a:ext cx="3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C</a:t>
              </a:r>
              <a:r>
                <a:rPr lang="en-US" altLang="zh-CN" sz="2900" i="1" baseline="-18000">
                  <a:latin typeface="Times New Roman" panose="02020603050405020304" pitchFamily="18" charset="0"/>
                </a:rPr>
                <a:t>m</a:t>
              </a:r>
            </a:p>
          </p:txBody>
        </p:sp>
        <p:sp>
          <p:nvSpPr>
            <p:cNvPr id="77860" name="Text Box 33"/>
            <p:cNvSpPr txBox="1">
              <a:spLocks noChangeArrowheads="1"/>
            </p:cNvSpPr>
            <p:nvPr/>
          </p:nvSpPr>
          <p:spPr bwMode="auto">
            <a:xfrm>
              <a:off x="2064" y="3600"/>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1</a:t>
              </a:r>
            </a:p>
          </p:txBody>
        </p:sp>
        <p:sp>
          <p:nvSpPr>
            <p:cNvPr id="77861" name="Text Box 34"/>
            <p:cNvSpPr txBox="1">
              <a:spLocks noChangeArrowheads="1"/>
            </p:cNvSpPr>
            <p:nvPr/>
          </p:nvSpPr>
          <p:spPr bwMode="auto">
            <a:xfrm>
              <a:off x="1593" y="2352"/>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2</a:t>
              </a:r>
            </a:p>
          </p:txBody>
        </p:sp>
        <p:sp>
          <p:nvSpPr>
            <p:cNvPr id="77862" name="Text Box 35"/>
            <p:cNvSpPr txBox="1">
              <a:spLocks noChangeArrowheads="1"/>
            </p:cNvSpPr>
            <p:nvPr/>
          </p:nvSpPr>
          <p:spPr bwMode="auto">
            <a:xfrm>
              <a:off x="2304" y="3072"/>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3</a:t>
              </a:r>
            </a:p>
          </p:txBody>
        </p:sp>
        <p:sp>
          <p:nvSpPr>
            <p:cNvPr id="77863" name="Text Box 36"/>
            <p:cNvSpPr txBox="1">
              <a:spLocks noChangeArrowheads="1"/>
            </p:cNvSpPr>
            <p:nvPr/>
          </p:nvSpPr>
          <p:spPr bwMode="auto">
            <a:xfrm>
              <a:off x="2304" y="1584"/>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4</a:t>
              </a:r>
            </a:p>
          </p:txBody>
        </p:sp>
        <p:sp>
          <p:nvSpPr>
            <p:cNvPr id="77864" name="Text Box 37"/>
            <p:cNvSpPr txBox="1">
              <a:spLocks noChangeArrowheads="1"/>
            </p:cNvSpPr>
            <p:nvPr/>
          </p:nvSpPr>
          <p:spPr bwMode="auto">
            <a:xfrm>
              <a:off x="480" y="3408"/>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a:t>
              </a:r>
            </a:p>
          </p:txBody>
        </p:sp>
        <p:sp>
          <p:nvSpPr>
            <p:cNvPr id="77865" name="Text Box 38"/>
            <p:cNvSpPr txBox="1">
              <a:spLocks noChangeArrowheads="1"/>
            </p:cNvSpPr>
            <p:nvPr/>
          </p:nvSpPr>
          <p:spPr bwMode="auto">
            <a:xfrm>
              <a:off x="428" y="278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II</a:t>
              </a:r>
            </a:p>
          </p:txBody>
        </p:sp>
        <p:sp>
          <p:nvSpPr>
            <p:cNvPr id="77866" name="Text Box 39"/>
            <p:cNvSpPr txBox="1">
              <a:spLocks noChangeArrowheads="1"/>
            </p:cNvSpPr>
            <p:nvPr/>
          </p:nvSpPr>
          <p:spPr bwMode="auto">
            <a:xfrm>
              <a:off x="384" y="21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III</a:t>
              </a:r>
            </a:p>
          </p:txBody>
        </p:sp>
        <p:sp>
          <p:nvSpPr>
            <p:cNvPr id="77867" name="Text Box 40"/>
            <p:cNvSpPr txBox="1">
              <a:spLocks noChangeArrowheads="1"/>
            </p:cNvSpPr>
            <p:nvPr/>
          </p:nvSpPr>
          <p:spPr bwMode="auto">
            <a:xfrm>
              <a:off x="1631" y="3018"/>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p>
          </p:txBody>
        </p:sp>
        <p:sp>
          <p:nvSpPr>
            <p:cNvPr id="77868" name="Text Box 41"/>
            <p:cNvSpPr txBox="1">
              <a:spLocks noChangeArrowheads="1"/>
            </p:cNvSpPr>
            <p:nvPr/>
          </p:nvSpPr>
          <p:spPr bwMode="auto">
            <a:xfrm>
              <a:off x="1597" y="3701"/>
              <a:ext cx="2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i</a:t>
              </a:r>
            </a:p>
          </p:txBody>
        </p:sp>
        <p:sp>
          <p:nvSpPr>
            <p:cNvPr id="77869" name="Text Box 42"/>
            <p:cNvSpPr txBox="1">
              <a:spLocks noChangeArrowheads="1"/>
            </p:cNvSpPr>
            <p:nvPr/>
          </p:nvSpPr>
          <p:spPr bwMode="auto">
            <a:xfrm>
              <a:off x="3513" y="2496"/>
              <a:ext cx="3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K</a:t>
              </a:r>
              <a:r>
                <a:rPr lang="en-US" altLang="zh-CN" sz="2900" i="1" baseline="-18000">
                  <a:latin typeface="Times New Roman" panose="02020603050405020304" pitchFamily="18" charset="0"/>
                </a:rPr>
                <a:t>m</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9559"/>
                                        </p:tgtEl>
                                        <p:attrNameLst>
                                          <p:attrName>style.visibility</p:attrName>
                                        </p:attrNameLst>
                                      </p:cBhvr>
                                      <p:to>
                                        <p:strVal val="visible"/>
                                      </p:to>
                                    </p:set>
                                    <p:anim calcmode="lin" valueType="num">
                                      <p:cBhvr additive="base">
                                        <p:cTn id="7" dur="500" fill="hold"/>
                                        <p:tgtEl>
                                          <p:spTgt spid="449559"/>
                                        </p:tgtEl>
                                        <p:attrNameLst>
                                          <p:attrName>ppt_x</p:attrName>
                                        </p:attrNameLst>
                                      </p:cBhvr>
                                      <p:tavLst>
                                        <p:tav tm="0">
                                          <p:val>
                                            <p:strVal val="#ppt_x"/>
                                          </p:val>
                                        </p:tav>
                                        <p:tav tm="100000">
                                          <p:val>
                                            <p:strVal val="#ppt_x"/>
                                          </p:val>
                                        </p:tav>
                                      </p:tavLst>
                                    </p:anim>
                                    <p:anim calcmode="lin" valueType="num">
                                      <p:cBhvr additive="base">
                                        <p:cTn id="8" dur="500" fill="hold"/>
                                        <p:tgtEl>
                                          <p:spTgt spid="44955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9558"/>
                                        </p:tgtEl>
                                        <p:attrNameLst>
                                          <p:attrName>style.visibility</p:attrName>
                                        </p:attrNameLst>
                                      </p:cBhvr>
                                      <p:to>
                                        <p:strVal val="visible"/>
                                      </p:to>
                                    </p:set>
                                    <p:anim calcmode="lin" valueType="num">
                                      <p:cBhvr additive="base">
                                        <p:cTn id="13" dur="500" fill="hold"/>
                                        <p:tgtEl>
                                          <p:spTgt spid="449558"/>
                                        </p:tgtEl>
                                        <p:attrNameLst>
                                          <p:attrName>ppt_x</p:attrName>
                                        </p:attrNameLst>
                                      </p:cBhvr>
                                      <p:tavLst>
                                        <p:tav tm="0">
                                          <p:val>
                                            <p:strVal val="#ppt_x"/>
                                          </p:val>
                                        </p:tav>
                                        <p:tav tm="100000">
                                          <p:val>
                                            <p:strVal val="#ppt_x"/>
                                          </p:val>
                                        </p:tav>
                                      </p:tavLst>
                                    </p:anim>
                                    <p:anim calcmode="lin" valueType="num">
                                      <p:cBhvr additive="base">
                                        <p:cTn id="14" dur="500" fill="hold"/>
                                        <p:tgtEl>
                                          <p:spTgt spid="44955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59" grpId="0"/>
      <p:bldP spid="44955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F951BA5-71AC-4D54-9FED-753ACB130EF5}" type="datetime1">
              <a:rPr lang="zh-CN" altLang="en-US" sz="1200" smtClean="0"/>
              <a:pPr>
                <a:spcBef>
                  <a:spcPct val="0"/>
                </a:spcBef>
                <a:buClrTx/>
                <a:buFontTx/>
                <a:buNone/>
              </a:pPr>
              <a:t>2025/9/14</a:t>
            </a:fld>
            <a:endParaRPr lang="en-US" altLang="zh-CN" sz="1200"/>
          </a:p>
        </p:txBody>
      </p:sp>
      <p:sp>
        <p:nvSpPr>
          <p:cNvPr id="78851"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0E93C1F0-8572-4021-B585-F3FE25A15B9E}" type="slidenum">
              <a:rPr lang="en-US" altLang="zh-CN" sz="1200" smtClean="0"/>
              <a:pPr>
                <a:spcBef>
                  <a:spcPct val="0"/>
                </a:spcBef>
                <a:buClrTx/>
                <a:buFontTx/>
                <a:buNone/>
              </a:pPr>
              <a:t>35</a:t>
            </a:fld>
            <a:endParaRPr lang="en-US" altLang="zh-CN" sz="1200"/>
          </a:p>
        </p:txBody>
      </p:sp>
      <p:sp>
        <p:nvSpPr>
          <p:cNvPr id="78852" name="TextBox 5"/>
          <p:cNvSpPr txBox="1">
            <a:spLocks noChangeArrowheads="1"/>
          </p:cNvSpPr>
          <p:nvPr/>
        </p:nvSpPr>
        <p:spPr bwMode="auto">
          <a:xfrm>
            <a:off x="611188" y="692150"/>
            <a:ext cx="44942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t>补充</a:t>
            </a:r>
            <a:r>
              <a:rPr lang="en-US" altLang="zh-CN" sz="2800"/>
              <a:t>——</a:t>
            </a:r>
            <a:r>
              <a:rPr lang="zh-CN" altLang="en-US" sz="2800"/>
              <a:t>机械旋转运动建模</a:t>
            </a:r>
          </a:p>
        </p:txBody>
      </p:sp>
      <p:pic>
        <p:nvPicPr>
          <p:cNvPr id="7" name="Picture 8" descr="f4-7"/>
          <p:cNvPicPr>
            <a:picLocks noChangeAspect="1" noChangeArrowheads="1"/>
          </p:cNvPicPr>
          <p:nvPr/>
        </p:nvPicPr>
        <p:blipFill>
          <a:blip r:embed="rId2">
            <a:lum contrast="24000"/>
            <a:extLst>
              <a:ext uri="{28A0092B-C50C-407E-A947-70E740481C1C}">
                <a14:useLocalDpi xmlns:a14="http://schemas.microsoft.com/office/drawing/2010/main" val="0"/>
              </a:ext>
            </a:extLst>
          </a:blip>
          <a:srcRect b="7645"/>
          <a:stretch>
            <a:fillRect/>
          </a:stretch>
        </p:blipFill>
        <p:spPr bwMode="auto">
          <a:xfrm>
            <a:off x="971550" y="1700213"/>
            <a:ext cx="714692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1403350" y="5373688"/>
            <a:ext cx="32845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800"/>
              <a:t>根据牛顿第</a:t>
            </a:r>
            <a:r>
              <a:rPr lang="en-US" altLang="zh-CN" sz="2800"/>
              <a:t>2</a:t>
            </a:r>
            <a:r>
              <a:rPr lang="zh-CN" altLang="en-US" sz="2800"/>
              <a:t>定律：</a:t>
            </a:r>
          </a:p>
        </p:txBody>
      </p:sp>
      <p:graphicFrame>
        <p:nvGraphicFramePr>
          <p:cNvPr id="9" name="Object 7"/>
          <p:cNvGraphicFramePr>
            <a:graphicFrameLocks noChangeAspect="1"/>
          </p:cNvGraphicFramePr>
          <p:nvPr/>
        </p:nvGraphicFramePr>
        <p:xfrm>
          <a:off x="4787900" y="5229225"/>
          <a:ext cx="1584325" cy="776288"/>
        </p:xfrm>
        <a:graphic>
          <a:graphicData uri="http://schemas.openxmlformats.org/presentationml/2006/ole">
            <mc:AlternateContent xmlns:mc="http://schemas.openxmlformats.org/markup-compatibility/2006">
              <mc:Choice xmlns:v="urn:schemas-microsoft-com:vml" Requires="v">
                <p:oleObj name="公式" r:id="rId3" imgW="628692" imgH="285860" progId="Equation.3">
                  <p:embed/>
                </p:oleObj>
              </mc:Choice>
              <mc:Fallback>
                <p:oleObj name="公式" r:id="rId3" imgW="628692" imgH="28586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5229225"/>
                        <a:ext cx="1584325"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81" name="Object 5"/>
          <p:cNvGraphicFramePr>
            <a:graphicFrameLocks noChangeAspect="1"/>
          </p:cNvGraphicFramePr>
          <p:nvPr/>
        </p:nvGraphicFramePr>
        <p:xfrm>
          <a:off x="1331913" y="549275"/>
          <a:ext cx="3160712" cy="704850"/>
        </p:xfrm>
        <a:graphic>
          <a:graphicData uri="http://schemas.openxmlformats.org/presentationml/2006/ole">
            <mc:AlternateContent xmlns:mc="http://schemas.openxmlformats.org/markup-compatibility/2006">
              <mc:Choice xmlns:v="urn:schemas-microsoft-com:vml" Requires="v">
                <p:oleObj name="公式" r:id="rId2" imgW="1371570" imgH="266694" progId="Equation.3">
                  <p:embed/>
                </p:oleObj>
              </mc:Choice>
              <mc:Fallback>
                <p:oleObj name="公式" r:id="rId2" imgW="1371570" imgH="266694"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549275"/>
                        <a:ext cx="3160712"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2" name="Text Box 6"/>
          <p:cNvSpPr txBox="1">
            <a:spLocks noChangeArrowheads="1"/>
          </p:cNvSpPr>
          <p:nvPr/>
        </p:nvSpPr>
        <p:spPr bwMode="auto">
          <a:xfrm>
            <a:off x="4932363" y="836613"/>
            <a:ext cx="1385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t>(</a:t>
            </a:r>
            <a:r>
              <a:rPr lang="zh-CN" altLang="en-US" sz="2400"/>
              <a:t>电机轴</a:t>
            </a:r>
            <a:r>
              <a:rPr lang="en-US" altLang="zh-CN" sz="2400"/>
              <a:t>)</a:t>
            </a:r>
          </a:p>
        </p:txBody>
      </p:sp>
      <p:graphicFrame>
        <p:nvGraphicFramePr>
          <p:cNvPr id="75783" name="Object 7"/>
          <p:cNvGraphicFramePr>
            <a:graphicFrameLocks noChangeAspect="1"/>
          </p:cNvGraphicFramePr>
          <p:nvPr/>
        </p:nvGraphicFramePr>
        <p:xfrm>
          <a:off x="1403350" y="1700213"/>
          <a:ext cx="2232025" cy="706437"/>
        </p:xfrm>
        <a:graphic>
          <a:graphicData uri="http://schemas.openxmlformats.org/presentationml/2006/ole">
            <mc:AlternateContent xmlns:mc="http://schemas.openxmlformats.org/markup-compatibility/2006">
              <mc:Choice xmlns:v="urn:schemas-microsoft-com:vml" Requires="v">
                <p:oleObj name="公式" r:id="rId4" imgW="952621" imgH="266694" progId="Equation.3">
                  <p:embed/>
                </p:oleObj>
              </mc:Choice>
              <mc:Fallback>
                <p:oleObj name="公式" r:id="rId4" imgW="952621" imgH="266694"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700213"/>
                        <a:ext cx="2232025" cy="70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4" name="Text Box 8"/>
          <p:cNvSpPr txBox="1">
            <a:spLocks noChangeArrowheads="1"/>
          </p:cNvSpPr>
          <p:nvPr/>
        </p:nvSpPr>
        <p:spPr bwMode="auto">
          <a:xfrm>
            <a:off x="4787900" y="1844675"/>
            <a:ext cx="1387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t>(</a:t>
            </a:r>
            <a:r>
              <a:rPr lang="zh-CN" altLang="en-US" sz="2400"/>
              <a:t>负载轴</a:t>
            </a:r>
            <a:r>
              <a:rPr lang="en-US" altLang="zh-CN" sz="2400"/>
              <a:t>)</a:t>
            </a:r>
          </a:p>
        </p:txBody>
      </p:sp>
      <p:graphicFrame>
        <p:nvGraphicFramePr>
          <p:cNvPr id="75785" name="Object 9"/>
          <p:cNvGraphicFramePr>
            <a:graphicFrameLocks noChangeAspect="1"/>
          </p:cNvGraphicFramePr>
          <p:nvPr/>
        </p:nvGraphicFramePr>
        <p:xfrm>
          <a:off x="900113" y="2708275"/>
          <a:ext cx="1584325" cy="500063"/>
        </p:xfrm>
        <a:graphic>
          <a:graphicData uri="http://schemas.openxmlformats.org/presentationml/2006/ole">
            <mc:AlternateContent xmlns:mc="http://schemas.openxmlformats.org/markup-compatibility/2006">
              <mc:Choice xmlns:v="urn:schemas-microsoft-com:vml" Requires="v">
                <p:oleObj name="公式" r:id="rId6" imgW="685920" imgH="180855" progId="Equation.3">
                  <p:embed/>
                </p:oleObj>
              </mc:Choice>
              <mc:Fallback>
                <p:oleObj name="公式" r:id="rId6" imgW="685920" imgH="180855"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2708275"/>
                        <a:ext cx="1584325"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6" name="Object 10"/>
          <p:cNvGraphicFramePr>
            <a:graphicFrameLocks noChangeAspect="1"/>
          </p:cNvGraphicFramePr>
          <p:nvPr/>
        </p:nvGraphicFramePr>
        <p:xfrm>
          <a:off x="2987675" y="2636838"/>
          <a:ext cx="1296988" cy="500062"/>
        </p:xfrm>
        <a:graphic>
          <a:graphicData uri="http://schemas.openxmlformats.org/presentationml/2006/ole">
            <mc:AlternateContent xmlns:mc="http://schemas.openxmlformats.org/markup-compatibility/2006">
              <mc:Choice xmlns:v="urn:schemas-microsoft-com:vml" Requires="v">
                <p:oleObj name="公式" r:id="rId8" imgW="514237" imgH="171408" progId="Equation.3">
                  <p:embed/>
                </p:oleObj>
              </mc:Choice>
              <mc:Fallback>
                <p:oleObj name="公式" r:id="rId8" imgW="514237" imgH="171408"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87675" y="2636838"/>
                        <a:ext cx="1296988" cy="500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7" name="Text Box 11"/>
          <p:cNvSpPr txBox="1">
            <a:spLocks noChangeArrowheads="1"/>
          </p:cNvSpPr>
          <p:nvPr/>
        </p:nvSpPr>
        <p:spPr bwMode="auto">
          <a:xfrm>
            <a:off x="4716463" y="2708275"/>
            <a:ext cx="1387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400"/>
              <a:t>(</a:t>
            </a:r>
            <a:r>
              <a:rPr lang="zh-CN" altLang="en-US" sz="2400"/>
              <a:t>减速器</a:t>
            </a:r>
            <a:r>
              <a:rPr lang="en-US" altLang="zh-CN" sz="2400"/>
              <a:t>)</a:t>
            </a:r>
          </a:p>
        </p:txBody>
      </p:sp>
      <p:sp>
        <p:nvSpPr>
          <p:cNvPr id="75788" name="Text Box 12"/>
          <p:cNvSpPr txBox="1">
            <a:spLocks noChangeArrowheads="1"/>
          </p:cNvSpPr>
          <p:nvPr/>
        </p:nvSpPr>
        <p:spPr bwMode="auto">
          <a:xfrm>
            <a:off x="323850" y="3429000"/>
            <a:ext cx="4186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t>将所有变量折算到电机轴上有</a:t>
            </a:r>
            <a:endParaRPr lang="en-US" altLang="zh-CN" sz="2400"/>
          </a:p>
        </p:txBody>
      </p:sp>
      <p:graphicFrame>
        <p:nvGraphicFramePr>
          <p:cNvPr id="75789" name="Object 13"/>
          <p:cNvGraphicFramePr>
            <a:graphicFrameLocks noChangeAspect="1"/>
          </p:cNvGraphicFramePr>
          <p:nvPr/>
        </p:nvGraphicFramePr>
        <p:xfrm>
          <a:off x="1116013" y="3860800"/>
          <a:ext cx="3097212" cy="835025"/>
        </p:xfrm>
        <a:graphic>
          <a:graphicData uri="http://schemas.openxmlformats.org/presentationml/2006/ole">
            <mc:AlternateContent xmlns:mc="http://schemas.openxmlformats.org/markup-compatibility/2006">
              <mc:Choice xmlns:v="urn:schemas-microsoft-com:vml" Requires="v">
                <p:oleObj name="公式" r:id="rId10" imgW="1409631" imgH="342816" progId="Equation.3">
                  <p:embed/>
                </p:oleObj>
              </mc:Choice>
              <mc:Fallback>
                <p:oleObj name="公式" r:id="rId10" imgW="1409631" imgH="342816"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6013" y="3860800"/>
                        <a:ext cx="3097212"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3" name="Object 1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公式" r:id="rId12" imgW="114151" imgH="215619" progId="Equation.3">
                  <p:embed/>
                </p:oleObj>
              </mc:Choice>
              <mc:Fallback>
                <p:oleObj name="公式" r:id="rId12" imgW="114151" imgH="215619"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2" name="Object 16"/>
          <p:cNvGraphicFramePr>
            <a:graphicFrameLocks noChangeAspect="1"/>
          </p:cNvGraphicFramePr>
          <p:nvPr/>
        </p:nvGraphicFramePr>
        <p:xfrm>
          <a:off x="1042988" y="4652963"/>
          <a:ext cx="3960812" cy="939800"/>
        </p:xfrm>
        <a:graphic>
          <a:graphicData uri="http://schemas.openxmlformats.org/presentationml/2006/ole">
            <mc:AlternateContent xmlns:mc="http://schemas.openxmlformats.org/markup-compatibility/2006">
              <mc:Choice xmlns:v="urn:schemas-microsoft-com:vml" Requires="v">
                <p:oleObj name="公式" r:id="rId14" imgW="1981096" imgH="438102" progId="Equation.3">
                  <p:embed/>
                </p:oleObj>
              </mc:Choice>
              <mc:Fallback>
                <p:oleObj name="公式" r:id="rId14" imgW="1981096" imgH="438102"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42988" y="4652963"/>
                        <a:ext cx="39608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3" name="Object 17"/>
          <p:cNvGraphicFramePr>
            <a:graphicFrameLocks noChangeAspect="1"/>
          </p:cNvGraphicFramePr>
          <p:nvPr/>
        </p:nvGraphicFramePr>
        <p:xfrm>
          <a:off x="1187450" y="5661025"/>
          <a:ext cx="4103688" cy="941388"/>
        </p:xfrm>
        <a:graphic>
          <a:graphicData uri="http://schemas.openxmlformats.org/presentationml/2006/ole">
            <mc:AlternateContent xmlns:mc="http://schemas.openxmlformats.org/markup-compatibility/2006">
              <mc:Choice xmlns:v="urn:schemas-microsoft-com:vml" Requires="v">
                <p:oleObj name="公式" r:id="rId16" imgW="2057489" imgH="438102" progId="Equation.3">
                  <p:embed/>
                </p:oleObj>
              </mc:Choice>
              <mc:Fallback>
                <p:oleObj name="公式" r:id="rId16" imgW="2057489" imgH="438102" progId="Equation.3">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87450" y="5661025"/>
                        <a:ext cx="4103688" cy="9413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7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78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57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578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578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578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578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578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578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579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57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2" grpId="0"/>
      <p:bldP spid="75784" grpId="0"/>
      <p:bldP spid="75787" grpId="0"/>
      <p:bldP spid="7578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4"/>
          <p:cNvGraphicFramePr>
            <a:graphicFrameLocks noChangeAspect="1"/>
          </p:cNvGraphicFramePr>
          <p:nvPr/>
        </p:nvGraphicFramePr>
        <p:xfrm>
          <a:off x="1042988" y="333375"/>
          <a:ext cx="4103687" cy="941388"/>
        </p:xfrm>
        <a:graphic>
          <a:graphicData uri="http://schemas.openxmlformats.org/presentationml/2006/ole">
            <mc:AlternateContent xmlns:mc="http://schemas.openxmlformats.org/markup-compatibility/2006">
              <mc:Choice xmlns:v="urn:schemas-microsoft-com:vml" Requires="v">
                <p:oleObj name="公式" r:id="rId2" imgW="2057489" imgH="438102" progId="Equation.3">
                  <p:embed/>
                </p:oleObj>
              </mc:Choice>
              <mc:Fallback>
                <p:oleObj name="公式" r:id="rId2" imgW="2057489" imgH="438102"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33375"/>
                        <a:ext cx="4103687" cy="941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5" name="Text Box 5"/>
          <p:cNvSpPr txBox="1">
            <a:spLocks noChangeArrowheads="1"/>
          </p:cNvSpPr>
          <p:nvPr/>
        </p:nvSpPr>
        <p:spPr bwMode="auto">
          <a:xfrm>
            <a:off x="468313" y="1628775"/>
            <a:ext cx="2039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t>最后可得到：</a:t>
            </a:r>
            <a:endParaRPr lang="en-US" altLang="zh-CN" sz="2400"/>
          </a:p>
        </p:txBody>
      </p:sp>
      <p:graphicFrame>
        <p:nvGraphicFramePr>
          <p:cNvPr id="76806" name="Object 6"/>
          <p:cNvGraphicFramePr>
            <a:graphicFrameLocks noChangeAspect="1"/>
          </p:cNvGraphicFramePr>
          <p:nvPr/>
        </p:nvGraphicFramePr>
        <p:xfrm>
          <a:off x="755650" y="2133600"/>
          <a:ext cx="4464050" cy="1531938"/>
        </p:xfrm>
        <a:graphic>
          <a:graphicData uri="http://schemas.openxmlformats.org/presentationml/2006/ole">
            <mc:AlternateContent xmlns:mc="http://schemas.openxmlformats.org/markup-compatibility/2006">
              <mc:Choice xmlns:v="urn:schemas-microsoft-com:vml" Requires="v">
                <p:oleObj name="公式" r:id="rId4" imgW="2019428" imgH="666736" progId="Equation.3">
                  <p:embed/>
                </p:oleObj>
              </mc:Choice>
              <mc:Fallback>
                <p:oleObj name="公式" r:id="rId4" imgW="2019428" imgH="666736"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2133600"/>
                        <a:ext cx="4464050" cy="153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7" name="Text Box 7"/>
          <p:cNvSpPr txBox="1">
            <a:spLocks noChangeArrowheads="1"/>
          </p:cNvSpPr>
          <p:nvPr/>
        </p:nvSpPr>
        <p:spPr bwMode="auto">
          <a:xfrm>
            <a:off x="519113" y="3856038"/>
            <a:ext cx="2646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t>两边取拉氏变换：</a:t>
            </a:r>
            <a:endParaRPr lang="en-US" altLang="zh-CN" sz="2400"/>
          </a:p>
        </p:txBody>
      </p:sp>
      <p:graphicFrame>
        <p:nvGraphicFramePr>
          <p:cNvPr id="76808" name="Object 8"/>
          <p:cNvGraphicFramePr>
            <a:graphicFrameLocks noChangeAspect="1"/>
          </p:cNvGraphicFramePr>
          <p:nvPr/>
        </p:nvGraphicFramePr>
        <p:xfrm>
          <a:off x="3708400" y="3644900"/>
          <a:ext cx="1614488" cy="871538"/>
        </p:xfrm>
        <a:graphic>
          <a:graphicData uri="http://schemas.openxmlformats.org/presentationml/2006/ole">
            <mc:AlternateContent xmlns:mc="http://schemas.openxmlformats.org/markup-compatibility/2006">
              <mc:Choice xmlns:v="urn:schemas-microsoft-com:vml" Requires="v">
                <p:oleObj name="公式" r:id="rId6" imgW="752595" imgH="380876" progId="Equation.3">
                  <p:embed/>
                </p:oleObj>
              </mc:Choice>
              <mc:Fallback>
                <p:oleObj name="公式" r:id="rId6" imgW="752595" imgH="380876"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3644900"/>
                        <a:ext cx="1614488" cy="87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9" name="Text Box 9"/>
          <p:cNvSpPr txBox="1">
            <a:spLocks noChangeArrowheads="1"/>
          </p:cNvSpPr>
          <p:nvPr/>
        </p:nvSpPr>
        <p:spPr bwMode="auto">
          <a:xfrm>
            <a:off x="323850" y="4581525"/>
            <a:ext cx="3262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a:t>信号传递的方块图为：</a:t>
            </a:r>
            <a:endParaRPr lang="en-US" altLang="zh-CN" sz="2400"/>
          </a:p>
        </p:txBody>
      </p:sp>
      <p:pic>
        <p:nvPicPr>
          <p:cNvPr id="3" name="图片 2"/>
          <p:cNvPicPr>
            <a:picLocks noChangeAspect="1"/>
          </p:cNvPicPr>
          <p:nvPr/>
        </p:nvPicPr>
        <p:blipFill>
          <a:blip r:embed="rId8">
            <a:extLst>
              <a:ext uri="{28A0092B-C50C-407E-A947-70E740481C1C}">
                <a14:useLocalDpi xmlns:a14="http://schemas.microsoft.com/office/drawing/2010/main" val="0"/>
              </a:ext>
            </a:extLst>
          </a:blip>
          <a:srcRect l="51234"/>
          <a:stretch>
            <a:fillRect/>
          </a:stretch>
        </p:blipFill>
        <p:spPr bwMode="auto">
          <a:xfrm>
            <a:off x="3435350" y="4618038"/>
            <a:ext cx="35687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1000" fill="hold"/>
                                        <p:tgtEl>
                                          <p:spTgt spid="76805"/>
                                        </p:tgtEl>
                                        <p:attrNameLst>
                                          <p:attrName>ppt_w</p:attrName>
                                        </p:attrNameLst>
                                      </p:cBhvr>
                                      <p:tavLst>
                                        <p:tav tm="0">
                                          <p:val>
                                            <p:strVal val="#ppt_w*0.70"/>
                                          </p:val>
                                        </p:tav>
                                        <p:tav tm="100000">
                                          <p:val>
                                            <p:strVal val="#ppt_w"/>
                                          </p:val>
                                        </p:tav>
                                      </p:tavLst>
                                    </p:anim>
                                    <p:anim calcmode="lin" valueType="num">
                                      <p:cBhvr>
                                        <p:cTn id="8" dur="1000" fill="hold"/>
                                        <p:tgtEl>
                                          <p:spTgt spid="76805"/>
                                        </p:tgtEl>
                                        <p:attrNameLst>
                                          <p:attrName>ppt_h</p:attrName>
                                        </p:attrNameLst>
                                      </p:cBhvr>
                                      <p:tavLst>
                                        <p:tav tm="0">
                                          <p:val>
                                            <p:strVal val="#ppt_h"/>
                                          </p:val>
                                        </p:tav>
                                        <p:tav tm="100000">
                                          <p:val>
                                            <p:strVal val="#ppt_h"/>
                                          </p:val>
                                        </p:tav>
                                      </p:tavLst>
                                    </p:anim>
                                    <p:animEffect transition="in" filter="fade">
                                      <p:cBhvr>
                                        <p:cTn id="9" dur="1000"/>
                                        <p:tgtEl>
                                          <p:spTgt spid="76805"/>
                                        </p:tgtEl>
                                      </p:cBhvr>
                                    </p:animEffect>
                                  </p:childTnLst>
                                </p:cTn>
                              </p:par>
                              <p:par>
                                <p:cTn id="10" presetID="55" presetClass="entr" presetSubtype="0" fill="hold" nodeType="withEffect">
                                  <p:stCondLst>
                                    <p:cond delay="0"/>
                                  </p:stCondLst>
                                  <p:childTnLst>
                                    <p:set>
                                      <p:cBhvr>
                                        <p:cTn id="11" dur="1" fill="hold">
                                          <p:stCondLst>
                                            <p:cond delay="0"/>
                                          </p:stCondLst>
                                        </p:cTn>
                                        <p:tgtEl>
                                          <p:spTgt spid="76806"/>
                                        </p:tgtEl>
                                        <p:attrNameLst>
                                          <p:attrName>style.visibility</p:attrName>
                                        </p:attrNameLst>
                                      </p:cBhvr>
                                      <p:to>
                                        <p:strVal val="visible"/>
                                      </p:to>
                                    </p:set>
                                    <p:anim calcmode="lin" valueType="num">
                                      <p:cBhvr>
                                        <p:cTn id="12" dur="1000" fill="hold"/>
                                        <p:tgtEl>
                                          <p:spTgt spid="76806"/>
                                        </p:tgtEl>
                                        <p:attrNameLst>
                                          <p:attrName>ppt_w</p:attrName>
                                        </p:attrNameLst>
                                      </p:cBhvr>
                                      <p:tavLst>
                                        <p:tav tm="0">
                                          <p:val>
                                            <p:strVal val="#ppt_w*0.70"/>
                                          </p:val>
                                        </p:tav>
                                        <p:tav tm="100000">
                                          <p:val>
                                            <p:strVal val="#ppt_w"/>
                                          </p:val>
                                        </p:tav>
                                      </p:tavLst>
                                    </p:anim>
                                    <p:anim calcmode="lin" valueType="num">
                                      <p:cBhvr>
                                        <p:cTn id="13" dur="1000" fill="hold"/>
                                        <p:tgtEl>
                                          <p:spTgt spid="76806"/>
                                        </p:tgtEl>
                                        <p:attrNameLst>
                                          <p:attrName>ppt_h</p:attrName>
                                        </p:attrNameLst>
                                      </p:cBhvr>
                                      <p:tavLst>
                                        <p:tav tm="0">
                                          <p:val>
                                            <p:strVal val="#ppt_h"/>
                                          </p:val>
                                        </p:tav>
                                        <p:tav tm="100000">
                                          <p:val>
                                            <p:strVal val="#ppt_h"/>
                                          </p:val>
                                        </p:tav>
                                      </p:tavLst>
                                    </p:anim>
                                    <p:animEffect transition="in" filter="fade">
                                      <p:cBhvr>
                                        <p:cTn id="14" dur="1000"/>
                                        <p:tgtEl>
                                          <p:spTgt spid="7680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80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6808"/>
                                        </p:tgtEl>
                                        <p:attrNameLst>
                                          <p:attrName>style.visibility</p:attrName>
                                        </p:attrNameLst>
                                      </p:cBhvr>
                                      <p:to>
                                        <p:strVal val="visible"/>
                                      </p:to>
                                    </p:set>
                                  </p:childTnLst>
                                </p:cTn>
                              </p:par>
                              <p:par>
                                <p:cTn id="23" presetID="12" presetClass="entr" presetSubtype="4" fill="hold" grpId="0" nodeType="withEffect">
                                  <p:stCondLst>
                                    <p:cond delay="0"/>
                                  </p:stCondLst>
                                  <p:childTnLst>
                                    <p:set>
                                      <p:cBhvr>
                                        <p:cTn id="24" dur="1" fill="hold">
                                          <p:stCondLst>
                                            <p:cond delay="0"/>
                                          </p:stCondLst>
                                        </p:cTn>
                                        <p:tgtEl>
                                          <p:spTgt spid="76809"/>
                                        </p:tgtEl>
                                        <p:attrNameLst>
                                          <p:attrName>style.visibility</p:attrName>
                                        </p:attrNameLst>
                                      </p:cBhvr>
                                      <p:to>
                                        <p:strVal val="visible"/>
                                      </p:to>
                                    </p:set>
                                    <p:animEffect transition="in" filter="slide(fromBottom)">
                                      <p:cBhvr>
                                        <p:cTn id="25" dur="500"/>
                                        <p:tgtEl>
                                          <p:spTgt spid="7680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p:bldP spid="76807" grpId="0"/>
      <p:bldP spid="7680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25"/>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0D99CEE-A3A8-443E-93C1-F7E32624AEC4}" type="datetime1">
              <a:rPr lang="en-US" altLang="zh-CN" sz="1200" smtClean="0"/>
              <a:pPr>
                <a:spcBef>
                  <a:spcPct val="0"/>
                </a:spcBef>
                <a:buClrTx/>
                <a:buFontTx/>
                <a:buNone/>
              </a:pPr>
              <a:t>9/14/2025</a:t>
            </a:fld>
            <a:endParaRPr lang="en-US" altLang="zh-CN" sz="1200"/>
          </a:p>
        </p:txBody>
      </p:sp>
      <p:sp>
        <p:nvSpPr>
          <p:cNvPr id="81923" name="灯片编号占位符 27"/>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B394F879-81F7-479C-977C-0DF51C67491C}" type="slidenum">
              <a:rPr lang="en-US" altLang="zh-CN" sz="1200" smtClean="0"/>
              <a:pPr>
                <a:spcBef>
                  <a:spcPct val="0"/>
                </a:spcBef>
                <a:buClrTx/>
                <a:buFontTx/>
                <a:buNone/>
              </a:pPr>
              <a:t>38</a:t>
            </a:fld>
            <a:endParaRPr lang="en-US" altLang="zh-CN" sz="1200"/>
          </a:p>
        </p:txBody>
      </p:sp>
      <p:sp>
        <p:nvSpPr>
          <p:cNvPr id="81924" name="Rectangle 1046"/>
          <p:cNvSpPr>
            <a:spLocks noChangeArrowheads="1"/>
          </p:cNvSpPr>
          <p:nvPr/>
        </p:nvSpPr>
        <p:spPr bwMode="auto">
          <a:xfrm>
            <a:off x="744538" y="971550"/>
            <a:ext cx="6934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电机驱动进给装置 </a:t>
            </a:r>
          </a:p>
        </p:txBody>
      </p:sp>
      <p:grpSp>
        <p:nvGrpSpPr>
          <p:cNvPr id="81925" name="Group 4"/>
          <p:cNvGrpSpPr>
            <a:grpSpLocks/>
          </p:cNvGrpSpPr>
          <p:nvPr/>
        </p:nvGrpSpPr>
        <p:grpSpPr bwMode="auto">
          <a:xfrm>
            <a:off x="820738" y="1970088"/>
            <a:ext cx="7904162" cy="4267200"/>
            <a:chOff x="384" y="1488"/>
            <a:chExt cx="4979" cy="2688"/>
          </a:xfrm>
        </p:grpSpPr>
        <p:sp>
          <p:nvSpPr>
            <p:cNvPr id="81926" name="Rectangle 5" descr="宽上对角线"/>
            <p:cNvSpPr>
              <a:spLocks noChangeArrowheads="1"/>
            </p:cNvSpPr>
            <p:nvPr/>
          </p:nvSpPr>
          <p:spPr bwMode="auto">
            <a:xfrm>
              <a:off x="4224" y="2112"/>
              <a:ext cx="816" cy="96"/>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27" name="Rectangle 6"/>
            <p:cNvSpPr>
              <a:spLocks noChangeArrowheads="1"/>
            </p:cNvSpPr>
            <p:nvPr/>
          </p:nvSpPr>
          <p:spPr bwMode="auto">
            <a:xfrm>
              <a:off x="912" y="3264"/>
              <a:ext cx="576"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28" name="Line 7"/>
            <p:cNvSpPr>
              <a:spLocks noChangeShapeType="1"/>
            </p:cNvSpPr>
            <p:nvPr/>
          </p:nvSpPr>
          <p:spPr bwMode="auto">
            <a:xfrm>
              <a:off x="680" y="3552"/>
              <a:ext cx="2440"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9" name="Rectangle 8"/>
            <p:cNvSpPr>
              <a:spLocks noChangeArrowheads="1"/>
            </p:cNvSpPr>
            <p:nvPr/>
          </p:nvSpPr>
          <p:spPr bwMode="auto">
            <a:xfrm>
              <a:off x="1488" y="3168"/>
              <a:ext cx="96" cy="72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30" name="Rectangle 9"/>
            <p:cNvSpPr>
              <a:spLocks noChangeArrowheads="1"/>
            </p:cNvSpPr>
            <p:nvPr/>
          </p:nvSpPr>
          <p:spPr bwMode="auto">
            <a:xfrm>
              <a:off x="3120" y="1728"/>
              <a:ext cx="1488" cy="33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工作台</a:t>
              </a:r>
              <a:r>
                <a:rPr lang="en-US" altLang="zh-CN" sz="2800" i="1">
                  <a:latin typeface="Times New Roman" panose="02020603050405020304" pitchFamily="18" charset="0"/>
                </a:rPr>
                <a:t>m</a:t>
              </a:r>
            </a:p>
          </p:txBody>
        </p:sp>
        <p:sp>
          <p:nvSpPr>
            <p:cNvPr id="81931" name="Line 10"/>
            <p:cNvSpPr>
              <a:spLocks noChangeShapeType="1"/>
            </p:cNvSpPr>
            <p:nvPr/>
          </p:nvSpPr>
          <p:spPr bwMode="auto">
            <a:xfrm flipH="1" flipV="1">
              <a:off x="3984" y="2448"/>
              <a:ext cx="288" cy="33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2" name="Rectangle 11"/>
            <p:cNvSpPr>
              <a:spLocks noChangeArrowheads="1"/>
            </p:cNvSpPr>
            <p:nvPr/>
          </p:nvSpPr>
          <p:spPr bwMode="auto">
            <a:xfrm>
              <a:off x="4224" y="2649"/>
              <a:ext cx="6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丝杠</a:t>
              </a:r>
              <a:r>
                <a:rPr lang="en-US" altLang="zh-CN" sz="2800" i="1">
                  <a:latin typeface="Times New Roman" panose="02020603050405020304" pitchFamily="18" charset="0"/>
                </a:rPr>
                <a:t>L</a:t>
              </a:r>
            </a:p>
          </p:txBody>
        </p:sp>
        <p:sp>
          <p:nvSpPr>
            <p:cNvPr id="81933" name="Rectangle 12"/>
            <p:cNvSpPr>
              <a:spLocks noChangeArrowheads="1"/>
            </p:cNvSpPr>
            <p:nvPr/>
          </p:nvSpPr>
          <p:spPr bwMode="auto">
            <a:xfrm>
              <a:off x="716" y="3849"/>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伺服电机</a:t>
              </a:r>
              <a:endParaRPr lang="zh-CN" altLang="en-US" sz="2800" i="1">
                <a:latin typeface="Times New Roman" panose="02020603050405020304" pitchFamily="18" charset="0"/>
              </a:endParaRPr>
            </a:p>
          </p:txBody>
        </p:sp>
        <p:sp>
          <p:nvSpPr>
            <p:cNvPr id="81934" name="Rectangle 13"/>
            <p:cNvSpPr>
              <a:spLocks noChangeArrowheads="1"/>
            </p:cNvSpPr>
            <p:nvPr/>
          </p:nvSpPr>
          <p:spPr bwMode="auto">
            <a:xfrm>
              <a:off x="1584" y="3456"/>
              <a:ext cx="28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35" name="Freeform 14"/>
            <p:cNvSpPr>
              <a:spLocks noChangeArrowheads="1"/>
            </p:cNvSpPr>
            <p:nvPr/>
          </p:nvSpPr>
          <p:spPr bwMode="auto">
            <a:xfrm>
              <a:off x="1680" y="3312"/>
              <a:ext cx="96" cy="480"/>
            </a:xfrm>
            <a:custGeom>
              <a:avLst/>
              <a:gdLst>
                <a:gd name="T0" fmla="*/ 0 w 96"/>
                <a:gd name="T1" fmla="*/ 0 h 432"/>
                <a:gd name="T2" fmla="*/ 96 w 96"/>
                <a:gd name="T3" fmla="*/ 324 h 432"/>
                <a:gd name="T4" fmla="*/ 0 w 96"/>
                <a:gd name="T5" fmla="*/ 731 h 432"/>
                <a:gd name="T6" fmla="*/ 0 60000 65536"/>
                <a:gd name="T7" fmla="*/ 0 60000 65536"/>
                <a:gd name="T8" fmla="*/ 0 60000 65536"/>
              </a:gdLst>
              <a:ahLst/>
              <a:cxnLst>
                <a:cxn ang="T6">
                  <a:pos x="T0" y="T1"/>
                </a:cxn>
                <a:cxn ang="T7">
                  <a:pos x="T2" y="T3"/>
                </a:cxn>
                <a:cxn ang="T8">
                  <a:pos x="T4" y="T5"/>
                </a:cxn>
              </a:cxnLst>
              <a:rect l="0" t="0" r="r" b="b"/>
              <a:pathLst>
                <a:path w="96" h="432">
                  <a:moveTo>
                    <a:pt x="0" y="0"/>
                  </a:moveTo>
                  <a:cubicBezTo>
                    <a:pt x="48" y="60"/>
                    <a:pt x="96" y="120"/>
                    <a:pt x="96" y="192"/>
                  </a:cubicBezTo>
                  <a:cubicBezTo>
                    <a:pt x="96" y="264"/>
                    <a:pt x="48" y="348"/>
                    <a:pt x="0" y="432"/>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6" name="Rectangle 15"/>
            <p:cNvSpPr>
              <a:spLocks noChangeArrowheads="1"/>
            </p:cNvSpPr>
            <p:nvPr/>
          </p:nvSpPr>
          <p:spPr bwMode="auto">
            <a:xfrm>
              <a:off x="1872" y="3312"/>
              <a:ext cx="192" cy="48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37" name="Rectangle 16"/>
            <p:cNvSpPr>
              <a:spLocks noChangeArrowheads="1"/>
            </p:cNvSpPr>
            <p:nvPr/>
          </p:nvSpPr>
          <p:spPr bwMode="auto">
            <a:xfrm>
              <a:off x="1872" y="2544"/>
              <a:ext cx="192" cy="76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38" name="Line 17"/>
            <p:cNvSpPr>
              <a:spLocks noChangeShapeType="1"/>
            </p:cNvSpPr>
            <p:nvPr/>
          </p:nvSpPr>
          <p:spPr bwMode="auto">
            <a:xfrm>
              <a:off x="672" y="2928"/>
              <a:ext cx="2448"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9" name="Rectangle 18"/>
            <p:cNvSpPr>
              <a:spLocks noChangeArrowheads="1"/>
            </p:cNvSpPr>
            <p:nvPr/>
          </p:nvSpPr>
          <p:spPr bwMode="auto">
            <a:xfrm>
              <a:off x="2064" y="2832"/>
              <a:ext cx="28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40" name="Rectangle 19"/>
            <p:cNvSpPr>
              <a:spLocks noChangeArrowheads="1"/>
            </p:cNvSpPr>
            <p:nvPr/>
          </p:nvSpPr>
          <p:spPr bwMode="auto">
            <a:xfrm>
              <a:off x="2352" y="2688"/>
              <a:ext cx="192" cy="48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41" name="Rectangle 20"/>
            <p:cNvSpPr>
              <a:spLocks noChangeArrowheads="1"/>
            </p:cNvSpPr>
            <p:nvPr/>
          </p:nvSpPr>
          <p:spPr bwMode="auto">
            <a:xfrm>
              <a:off x="2352" y="1920"/>
              <a:ext cx="192" cy="76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42" name="Line 21"/>
            <p:cNvSpPr>
              <a:spLocks noChangeShapeType="1"/>
            </p:cNvSpPr>
            <p:nvPr/>
          </p:nvSpPr>
          <p:spPr bwMode="auto">
            <a:xfrm>
              <a:off x="672" y="2304"/>
              <a:ext cx="3792"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3" name="Rectangle 22"/>
            <p:cNvSpPr>
              <a:spLocks noChangeArrowheads="1"/>
            </p:cNvSpPr>
            <p:nvPr/>
          </p:nvSpPr>
          <p:spPr bwMode="auto">
            <a:xfrm>
              <a:off x="2544" y="2160"/>
              <a:ext cx="1632" cy="28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44" name="Rectangle 23"/>
            <p:cNvSpPr>
              <a:spLocks noChangeArrowheads="1"/>
            </p:cNvSpPr>
            <p:nvPr/>
          </p:nvSpPr>
          <p:spPr bwMode="auto">
            <a:xfrm>
              <a:off x="2640" y="2208"/>
              <a:ext cx="1536"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useBgFill="1">
          <p:nvSpPr>
            <p:cNvPr id="81945" name="Rectangle 24"/>
            <p:cNvSpPr>
              <a:spLocks noChangeArrowheads="1"/>
            </p:cNvSpPr>
            <p:nvPr/>
          </p:nvSpPr>
          <p:spPr bwMode="auto">
            <a:xfrm>
              <a:off x="3552" y="2064"/>
              <a:ext cx="288" cy="480"/>
            </a:xfrm>
            <a:prstGeom prst="rect">
              <a:avLst/>
            </a:prstGeom>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1946" name="Line 25"/>
            <p:cNvSpPr>
              <a:spLocks noChangeShapeType="1"/>
            </p:cNvSpPr>
            <p:nvPr/>
          </p:nvSpPr>
          <p:spPr bwMode="auto">
            <a:xfrm>
              <a:off x="4224" y="2112"/>
              <a:ext cx="816"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7" name="Line 26"/>
            <p:cNvSpPr>
              <a:spLocks noChangeShapeType="1"/>
            </p:cNvSpPr>
            <p:nvPr/>
          </p:nvSpPr>
          <p:spPr bwMode="auto">
            <a:xfrm flipV="1">
              <a:off x="4608" y="1488"/>
              <a:ext cx="0" cy="28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8" name="Line 27"/>
            <p:cNvSpPr>
              <a:spLocks noChangeShapeType="1"/>
            </p:cNvSpPr>
            <p:nvPr/>
          </p:nvSpPr>
          <p:spPr bwMode="auto">
            <a:xfrm>
              <a:off x="4608" y="1488"/>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9" name="Text Box 28"/>
            <p:cNvSpPr txBox="1">
              <a:spLocks noChangeArrowheads="1"/>
            </p:cNvSpPr>
            <p:nvPr/>
          </p:nvSpPr>
          <p:spPr bwMode="auto">
            <a:xfrm>
              <a:off x="4704" y="1497"/>
              <a:ext cx="5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81950" name="Text Box 29"/>
            <p:cNvSpPr txBox="1">
              <a:spLocks noChangeArrowheads="1"/>
            </p:cNvSpPr>
            <p:nvPr/>
          </p:nvSpPr>
          <p:spPr bwMode="auto">
            <a:xfrm>
              <a:off x="4398" y="2169"/>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3</a:t>
              </a:r>
            </a:p>
          </p:txBody>
        </p:sp>
        <p:sp>
          <p:nvSpPr>
            <p:cNvPr id="81951" name="Text Box 30"/>
            <p:cNvSpPr txBox="1">
              <a:spLocks noChangeArrowheads="1"/>
            </p:cNvSpPr>
            <p:nvPr/>
          </p:nvSpPr>
          <p:spPr bwMode="auto">
            <a:xfrm>
              <a:off x="3072" y="2784"/>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2</a:t>
              </a:r>
            </a:p>
          </p:txBody>
        </p:sp>
        <p:sp>
          <p:nvSpPr>
            <p:cNvPr id="81952" name="Text Box 31"/>
            <p:cNvSpPr txBox="1">
              <a:spLocks noChangeArrowheads="1"/>
            </p:cNvSpPr>
            <p:nvPr/>
          </p:nvSpPr>
          <p:spPr bwMode="auto">
            <a:xfrm>
              <a:off x="3077" y="3369"/>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1</a:t>
              </a:r>
            </a:p>
          </p:txBody>
        </p:sp>
        <p:sp>
          <p:nvSpPr>
            <p:cNvPr id="81953" name="Text Box 32"/>
            <p:cNvSpPr txBox="1">
              <a:spLocks noChangeArrowheads="1"/>
            </p:cNvSpPr>
            <p:nvPr/>
          </p:nvSpPr>
          <p:spPr bwMode="auto">
            <a:xfrm>
              <a:off x="4913" y="1856"/>
              <a:ext cx="3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C</a:t>
              </a:r>
              <a:r>
                <a:rPr lang="en-US" altLang="zh-CN" sz="2900" i="1" baseline="-18000">
                  <a:latin typeface="Times New Roman" panose="02020603050405020304" pitchFamily="18" charset="0"/>
                </a:rPr>
                <a:t>m</a:t>
              </a:r>
            </a:p>
          </p:txBody>
        </p:sp>
        <p:sp>
          <p:nvSpPr>
            <p:cNvPr id="81954" name="Text Box 33"/>
            <p:cNvSpPr txBox="1">
              <a:spLocks noChangeArrowheads="1"/>
            </p:cNvSpPr>
            <p:nvPr/>
          </p:nvSpPr>
          <p:spPr bwMode="auto">
            <a:xfrm>
              <a:off x="2064" y="3600"/>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1</a:t>
              </a:r>
            </a:p>
          </p:txBody>
        </p:sp>
        <p:sp>
          <p:nvSpPr>
            <p:cNvPr id="81955" name="Text Box 34"/>
            <p:cNvSpPr txBox="1">
              <a:spLocks noChangeArrowheads="1"/>
            </p:cNvSpPr>
            <p:nvPr/>
          </p:nvSpPr>
          <p:spPr bwMode="auto">
            <a:xfrm>
              <a:off x="1593" y="2352"/>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2</a:t>
              </a:r>
            </a:p>
          </p:txBody>
        </p:sp>
        <p:sp>
          <p:nvSpPr>
            <p:cNvPr id="81956" name="Text Box 35"/>
            <p:cNvSpPr txBox="1">
              <a:spLocks noChangeArrowheads="1"/>
            </p:cNvSpPr>
            <p:nvPr/>
          </p:nvSpPr>
          <p:spPr bwMode="auto">
            <a:xfrm>
              <a:off x="2304" y="3072"/>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3</a:t>
              </a:r>
            </a:p>
          </p:txBody>
        </p:sp>
        <p:sp>
          <p:nvSpPr>
            <p:cNvPr id="81957" name="Text Box 36"/>
            <p:cNvSpPr txBox="1">
              <a:spLocks noChangeArrowheads="1"/>
            </p:cNvSpPr>
            <p:nvPr/>
          </p:nvSpPr>
          <p:spPr bwMode="auto">
            <a:xfrm>
              <a:off x="2304" y="1584"/>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4</a:t>
              </a:r>
            </a:p>
          </p:txBody>
        </p:sp>
        <p:sp>
          <p:nvSpPr>
            <p:cNvPr id="81958" name="Text Box 37"/>
            <p:cNvSpPr txBox="1">
              <a:spLocks noChangeArrowheads="1"/>
            </p:cNvSpPr>
            <p:nvPr/>
          </p:nvSpPr>
          <p:spPr bwMode="auto">
            <a:xfrm>
              <a:off x="480" y="3408"/>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a:t>
              </a:r>
            </a:p>
          </p:txBody>
        </p:sp>
        <p:sp>
          <p:nvSpPr>
            <p:cNvPr id="81959" name="Text Box 38"/>
            <p:cNvSpPr txBox="1">
              <a:spLocks noChangeArrowheads="1"/>
            </p:cNvSpPr>
            <p:nvPr/>
          </p:nvSpPr>
          <p:spPr bwMode="auto">
            <a:xfrm>
              <a:off x="428" y="278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II</a:t>
              </a:r>
            </a:p>
          </p:txBody>
        </p:sp>
        <p:sp>
          <p:nvSpPr>
            <p:cNvPr id="81960" name="Text Box 39"/>
            <p:cNvSpPr txBox="1">
              <a:spLocks noChangeArrowheads="1"/>
            </p:cNvSpPr>
            <p:nvPr/>
          </p:nvSpPr>
          <p:spPr bwMode="auto">
            <a:xfrm>
              <a:off x="384" y="21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III</a:t>
              </a:r>
            </a:p>
          </p:txBody>
        </p:sp>
        <p:sp>
          <p:nvSpPr>
            <p:cNvPr id="81961" name="Text Box 40"/>
            <p:cNvSpPr txBox="1">
              <a:spLocks noChangeArrowheads="1"/>
            </p:cNvSpPr>
            <p:nvPr/>
          </p:nvSpPr>
          <p:spPr bwMode="auto">
            <a:xfrm>
              <a:off x="1631" y="3018"/>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p>
          </p:txBody>
        </p:sp>
        <p:sp>
          <p:nvSpPr>
            <p:cNvPr id="81962" name="Text Box 41"/>
            <p:cNvSpPr txBox="1">
              <a:spLocks noChangeArrowheads="1"/>
            </p:cNvSpPr>
            <p:nvPr/>
          </p:nvSpPr>
          <p:spPr bwMode="auto">
            <a:xfrm>
              <a:off x="1597" y="3701"/>
              <a:ext cx="2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i</a:t>
              </a:r>
            </a:p>
          </p:txBody>
        </p:sp>
        <p:sp>
          <p:nvSpPr>
            <p:cNvPr id="81963" name="Text Box 42"/>
            <p:cNvSpPr txBox="1">
              <a:spLocks noChangeArrowheads="1"/>
            </p:cNvSpPr>
            <p:nvPr/>
          </p:nvSpPr>
          <p:spPr bwMode="auto">
            <a:xfrm>
              <a:off x="3513" y="2496"/>
              <a:ext cx="3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K</a:t>
              </a:r>
              <a:r>
                <a:rPr lang="en-US" altLang="zh-CN" sz="2900" i="1" baseline="-18000">
                  <a:latin typeface="Times New Roman" panose="02020603050405020304" pitchFamily="18" charset="0"/>
                </a:rPr>
                <a:t>m</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日期占位符 25"/>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25C3036D-6FF4-4E88-BD6D-6E25030312E0}" type="datetime1">
              <a:rPr lang="en-US" altLang="zh-CN" sz="1200" smtClean="0"/>
              <a:pPr>
                <a:spcBef>
                  <a:spcPct val="0"/>
                </a:spcBef>
                <a:buClrTx/>
                <a:buFontTx/>
                <a:buNone/>
              </a:pPr>
              <a:t>9/14/2025</a:t>
            </a:fld>
            <a:endParaRPr lang="en-US" altLang="zh-CN" sz="1200"/>
          </a:p>
        </p:txBody>
      </p:sp>
      <p:sp>
        <p:nvSpPr>
          <p:cNvPr id="82947" name="灯片编号占位符 27"/>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E24BC6D8-8653-4DD4-9D2F-923C4F1EB102}" type="slidenum">
              <a:rPr lang="en-US" altLang="zh-CN" sz="1200" smtClean="0"/>
              <a:pPr>
                <a:spcBef>
                  <a:spcPct val="0"/>
                </a:spcBef>
                <a:buClrTx/>
                <a:buFontTx/>
                <a:buNone/>
              </a:pPr>
              <a:t>39</a:t>
            </a:fld>
            <a:endParaRPr lang="en-US" altLang="zh-CN" sz="1200"/>
          </a:p>
        </p:txBody>
      </p:sp>
      <p:grpSp>
        <p:nvGrpSpPr>
          <p:cNvPr id="449539" name="Group 1027"/>
          <p:cNvGrpSpPr>
            <a:grpSpLocks/>
          </p:cNvGrpSpPr>
          <p:nvPr/>
        </p:nvGrpSpPr>
        <p:grpSpPr bwMode="auto">
          <a:xfrm>
            <a:off x="4194175" y="1846263"/>
            <a:ext cx="4495800" cy="2133600"/>
            <a:chOff x="576" y="2208"/>
            <a:chExt cx="2832" cy="1344"/>
          </a:xfrm>
        </p:grpSpPr>
        <p:sp>
          <p:nvSpPr>
            <p:cNvPr id="82962" name="Rectangle 1045"/>
            <p:cNvSpPr>
              <a:spLocks noChangeArrowheads="1"/>
            </p:cNvSpPr>
            <p:nvPr/>
          </p:nvSpPr>
          <p:spPr bwMode="auto">
            <a:xfrm>
              <a:off x="816" y="2784"/>
              <a:ext cx="576"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2963" name="Line 1044"/>
            <p:cNvSpPr>
              <a:spLocks noChangeShapeType="1"/>
            </p:cNvSpPr>
            <p:nvPr/>
          </p:nvSpPr>
          <p:spPr bwMode="auto">
            <a:xfrm>
              <a:off x="584" y="3072"/>
              <a:ext cx="912"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4" name="Rectangle 1043"/>
            <p:cNvSpPr>
              <a:spLocks noChangeArrowheads="1"/>
            </p:cNvSpPr>
            <p:nvPr/>
          </p:nvSpPr>
          <p:spPr bwMode="auto">
            <a:xfrm>
              <a:off x="1392" y="2688"/>
              <a:ext cx="96" cy="72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2965" name="Line 1042"/>
            <p:cNvSpPr>
              <a:spLocks noChangeShapeType="1"/>
            </p:cNvSpPr>
            <p:nvPr/>
          </p:nvSpPr>
          <p:spPr bwMode="auto">
            <a:xfrm>
              <a:off x="1488" y="3072"/>
              <a:ext cx="144"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6" name="Freeform 1041"/>
            <p:cNvSpPr>
              <a:spLocks noChangeArrowheads="1"/>
            </p:cNvSpPr>
            <p:nvPr/>
          </p:nvSpPr>
          <p:spPr bwMode="auto">
            <a:xfrm>
              <a:off x="2080" y="3024"/>
              <a:ext cx="216" cy="96"/>
            </a:xfrm>
            <a:custGeom>
              <a:avLst/>
              <a:gdLst>
                <a:gd name="T0" fmla="*/ 0 w 96"/>
                <a:gd name="T1" fmla="*/ 96 h 96"/>
                <a:gd name="T2" fmla="*/ 2770 w 96"/>
                <a:gd name="T3" fmla="*/ 0 h 96"/>
                <a:gd name="T4" fmla="*/ 5540 w 96"/>
                <a:gd name="T5" fmla="*/ 96 h 96"/>
                <a:gd name="T6" fmla="*/ 0 60000 65536"/>
                <a:gd name="T7" fmla="*/ 0 60000 65536"/>
                <a:gd name="T8" fmla="*/ 0 60000 65536"/>
              </a:gdLst>
              <a:ahLst/>
              <a:cxnLst>
                <a:cxn ang="T6">
                  <a:pos x="T0" y="T1"/>
                </a:cxn>
                <a:cxn ang="T7">
                  <a:pos x="T2" y="T3"/>
                </a:cxn>
                <a:cxn ang="T8">
                  <a:pos x="T4" y="T5"/>
                </a:cxn>
              </a:cxnLst>
              <a:rect l="0" t="0" r="r" b="b"/>
              <a:pathLst>
                <a:path w="96" h="96">
                  <a:moveTo>
                    <a:pt x="0" y="96"/>
                  </a:moveTo>
                  <a:cubicBezTo>
                    <a:pt x="16" y="48"/>
                    <a:pt x="32" y="0"/>
                    <a:pt x="48" y="0"/>
                  </a:cubicBezTo>
                  <a:cubicBezTo>
                    <a:pt x="64" y="0"/>
                    <a:pt x="80" y="48"/>
                    <a:pt x="96" y="96"/>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7" name="Freeform 1040"/>
            <p:cNvSpPr>
              <a:spLocks noChangeArrowheads="1"/>
            </p:cNvSpPr>
            <p:nvPr/>
          </p:nvSpPr>
          <p:spPr bwMode="auto">
            <a:xfrm>
              <a:off x="2040" y="2928"/>
              <a:ext cx="288" cy="96"/>
            </a:xfrm>
            <a:custGeom>
              <a:avLst/>
              <a:gdLst>
                <a:gd name="T0" fmla="*/ 0 w 96"/>
                <a:gd name="T1" fmla="*/ 96 h 96"/>
                <a:gd name="T2" fmla="*/ 11664 w 96"/>
                <a:gd name="T3" fmla="*/ 0 h 96"/>
                <a:gd name="T4" fmla="*/ 23328 w 96"/>
                <a:gd name="T5" fmla="*/ 96 h 96"/>
                <a:gd name="T6" fmla="*/ 0 60000 65536"/>
                <a:gd name="T7" fmla="*/ 0 60000 65536"/>
                <a:gd name="T8" fmla="*/ 0 60000 65536"/>
              </a:gdLst>
              <a:ahLst/>
              <a:cxnLst>
                <a:cxn ang="T6">
                  <a:pos x="T0" y="T1"/>
                </a:cxn>
                <a:cxn ang="T7">
                  <a:pos x="T2" y="T3"/>
                </a:cxn>
                <a:cxn ang="T8">
                  <a:pos x="T4" y="T5"/>
                </a:cxn>
              </a:cxnLst>
              <a:rect l="0" t="0" r="r" b="b"/>
              <a:pathLst>
                <a:path w="96" h="96">
                  <a:moveTo>
                    <a:pt x="0" y="96"/>
                  </a:moveTo>
                  <a:cubicBezTo>
                    <a:pt x="16" y="48"/>
                    <a:pt x="32" y="0"/>
                    <a:pt x="48" y="0"/>
                  </a:cubicBezTo>
                  <a:cubicBezTo>
                    <a:pt x="64" y="0"/>
                    <a:pt x="80" y="48"/>
                    <a:pt x="96" y="96"/>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2968" name="Group 1035"/>
            <p:cNvGrpSpPr>
              <a:grpSpLocks/>
            </p:cNvGrpSpPr>
            <p:nvPr/>
          </p:nvGrpSpPr>
          <p:grpSpPr bwMode="auto">
            <a:xfrm>
              <a:off x="1632" y="2960"/>
              <a:ext cx="1776" cy="168"/>
              <a:chOff x="1632" y="2776"/>
              <a:chExt cx="1776" cy="168"/>
            </a:xfrm>
          </p:grpSpPr>
          <p:sp>
            <p:nvSpPr>
              <p:cNvPr id="82976" name="Freeform 1039"/>
              <p:cNvSpPr>
                <a:spLocks noChangeArrowheads="1"/>
              </p:cNvSpPr>
              <p:nvPr/>
            </p:nvSpPr>
            <p:spPr bwMode="auto">
              <a:xfrm>
                <a:off x="1632" y="2776"/>
                <a:ext cx="480" cy="160"/>
              </a:xfrm>
              <a:custGeom>
                <a:avLst/>
                <a:gdLst>
                  <a:gd name="T0" fmla="*/ 0 w 480"/>
                  <a:gd name="T1" fmla="*/ 104 h 160"/>
                  <a:gd name="T2" fmla="*/ 144 w 480"/>
                  <a:gd name="T3" fmla="*/ 8 h 160"/>
                  <a:gd name="T4" fmla="*/ 336 w 480"/>
                  <a:gd name="T5" fmla="*/ 152 h 160"/>
                  <a:gd name="T6" fmla="*/ 480 w 480"/>
                  <a:gd name="T7" fmla="*/ 56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160">
                    <a:moveTo>
                      <a:pt x="0" y="104"/>
                    </a:moveTo>
                    <a:cubicBezTo>
                      <a:pt x="44" y="52"/>
                      <a:pt x="88" y="0"/>
                      <a:pt x="144" y="8"/>
                    </a:cubicBezTo>
                    <a:cubicBezTo>
                      <a:pt x="200" y="16"/>
                      <a:pt x="280" y="144"/>
                      <a:pt x="336" y="152"/>
                    </a:cubicBezTo>
                    <a:cubicBezTo>
                      <a:pt x="392" y="160"/>
                      <a:pt x="436" y="108"/>
                      <a:pt x="480" y="56"/>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7" name="Freeform 1038"/>
              <p:cNvSpPr>
                <a:spLocks noChangeArrowheads="1"/>
              </p:cNvSpPr>
              <p:nvPr/>
            </p:nvSpPr>
            <p:spPr bwMode="auto">
              <a:xfrm>
                <a:off x="2056" y="2784"/>
                <a:ext cx="480" cy="160"/>
              </a:xfrm>
              <a:custGeom>
                <a:avLst/>
                <a:gdLst>
                  <a:gd name="T0" fmla="*/ 0 w 480"/>
                  <a:gd name="T1" fmla="*/ 104 h 160"/>
                  <a:gd name="T2" fmla="*/ 144 w 480"/>
                  <a:gd name="T3" fmla="*/ 8 h 160"/>
                  <a:gd name="T4" fmla="*/ 336 w 480"/>
                  <a:gd name="T5" fmla="*/ 152 h 160"/>
                  <a:gd name="T6" fmla="*/ 480 w 480"/>
                  <a:gd name="T7" fmla="*/ 56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160">
                    <a:moveTo>
                      <a:pt x="0" y="104"/>
                    </a:moveTo>
                    <a:cubicBezTo>
                      <a:pt x="44" y="52"/>
                      <a:pt x="88" y="0"/>
                      <a:pt x="144" y="8"/>
                    </a:cubicBezTo>
                    <a:cubicBezTo>
                      <a:pt x="200" y="16"/>
                      <a:pt x="280" y="144"/>
                      <a:pt x="336" y="152"/>
                    </a:cubicBezTo>
                    <a:cubicBezTo>
                      <a:pt x="392" y="160"/>
                      <a:pt x="436" y="108"/>
                      <a:pt x="480" y="56"/>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8" name="Freeform 1037"/>
              <p:cNvSpPr>
                <a:spLocks noChangeArrowheads="1"/>
              </p:cNvSpPr>
              <p:nvPr/>
            </p:nvSpPr>
            <p:spPr bwMode="auto">
              <a:xfrm>
                <a:off x="2496" y="2784"/>
                <a:ext cx="480" cy="160"/>
              </a:xfrm>
              <a:custGeom>
                <a:avLst/>
                <a:gdLst>
                  <a:gd name="T0" fmla="*/ 0 w 480"/>
                  <a:gd name="T1" fmla="*/ 104 h 160"/>
                  <a:gd name="T2" fmla="*/ 144 w 480"/>
                  <a:gd name="T3" fmla="*/ 8 h 160"/>
                  <a:gd name="T4" fmla="*/ 336 w 480"/>
                  <a:gd name="T5" fmla="*/ 152 h 160"/>
                  <a:gd name="T6" fmla="*/ 480 w 480"/>
                  <a:gd name="T7" fmla="*/ 56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160">
                    <a:moveTo>
                      <a:pt x="0" y="104"/>
                    </a:moveTo>
                    <a:cubicBezTo>
                      <a:pt x="44" y="52"/>
                      <a:pt x="88" y="0"/>
                      <a:pt x="144" y="8"/>
                    </a:cubicBezTo>
                    <a:cubicBezTo>
                      <a:pt x="200" y="16"/>
                      <a:pt x="280" y="144"/>
                      <a:pt x="336" y="152"/>
                    </a:cubicBezTo>
                    <a:cubicBezTo>
                      <a:pt x="392" y="160"/>
                      <a:pt x="436" y="108"/>
                      <a:pt x="480" y="56"/>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79" name="Freeform 1036"/>
              <p:cNvSpPr>
                <a:spLocks noChangeArrowheads="1"/>
              </p:cNvSpPr>
              <p:nvPr/>
            </p:nvSpPr>
            <p:spPr bwMode="auto">
              <a:xfrm>
                <a:off x="2928" y="2784"/>
                <a:ext cx="480" cy="160"/>
              </a:xfrm>
              <a:custGeom>
                <a:avLst/>
                <a:gdLst>
                  <a:gd name="T0" fmla="*/ 0 w 480"/>
                  <a:gd name="T1" fmla="*/ 104 h 160"/>
                  <a:gd name="T2" fmla="*/ 144 w 480"/>
                  <a:gd name="T3" fmla="*/ 8 h 160"/>
                  <a:gd name="T4" fmla="*/ 336 w 480"/>
                  <a:gd name="T5" fmla="*/ 152 h 160"/>
                  <a:gd name="T6" fmla="*/ 480 w 480"/>
                  <a:gd name="T7" fmla="*/ 56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160">
                    <a:moveTo>
                      <a:pt x="0" y="104"/>
                    </a:moveTo>
                    <a:cubicBezTo>
                      <a:pt x="44" y="52"/>
                      <a:pt x="88" y="0"/>
                      <a:pt x="144" y="8"/>
                    </a:cubicBezTo>
                    <a:cubicBezTo>
                      <a:pt x="200" y="16"/>
                      <a:pt x="280" y="144"/>
                      <a:pt x="336" y="152"/>
                    </a:cubicBezTo>
                    <a:cubicBezTo>
                      <a:pt x="392" y="160"/>
                      <a:pt x="436" y="108"/>
                      <a:pt x="480" y="56"/>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2969" name="Line 1034"/>
            <p:cNvSpPr>
              <a:spLocks noChangeShapeType="1"/>
            </p:cNvSpPr>
            <p:nvPr/>
          </p:nvSpPr>
          <p:spPr bwMode="auto">
            <a:xfrm flipV="1">
              <a:off x="2184" y="2645"/>
              <a:ext cx="0" cy="283"/>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0" name="Rectangle 1033"/>
            <p:cNvSpPr>
              <a:spLocks noChangeArrowheads="1"/>
            </p:cNvSpPr>
            <p:nvPr/>
          </p:nvSpPr>
          <p:spPr bwMode="auto">
            <a:xfrm>
              <a:off x="1672" y="2304"/>
              <a:ext cx="1008" cy="33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工作台</a:t>
              </a:r>
              <a:r>
                <a:rPr lang="en-US" altLang="zh-CN" sz="2800" i="1">
                  <a:latin typeface="Times New Roman" panose="02020603050405020304" pitchFamily="18" charset="0"/>
                </a:rPr>
                <a:t>m</a:t>
              </a:r>
            </a:p>
          </p:txBody>
        </p:sp>
        <p:sp>
          <p:nvSpPr>
            <p:cNvPr id="82971" name="Line 1032"/>
            <p:cNvSpPr>
              <a:spLocks noChangeShapeType="1"/>
            </p:cNvSpPr>
            <p:nvPr/>
          </p:nvSpPr>
          <p:spPr bwMode="auto">
            <a:xfrm flipH="1" flipV="1">
              <a:off x="1632" y="3024"/>
              <a:ext cx="288" cy="33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2" name="Rectangle 1031"/>
            <p:cNvSpPr>
              <a:spLocks noChangeArrowheads="1"/>
            </p:cNvSpPr>
            <p:nvPr/>
          </p:nvSpPr>
          <p:spPr bwMode="auto">
            <a:xfrm>
              <a:off x="1872" y="3225"/>
              <a:ext cx="6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丝杠</a:t>
              </a:r>
              <a:r>
                <a:rPr lang="en-US" altLang="zh-CN" sz="2800" i="1">
                  <a:latin typeface="Times New Roman" panose="02020603050405020304" pitchFamily="18" charset="0"/>
                </a:rPr>
                <a:t>L</a:t>
              </a:r>
            </a:p>
          </p:txBody>
        </p:sp>
        <p:sp>
          <p:nvSpPr>
            <p:cNvPr id="82973" name="Rectangle 1030"/>
            <p:cNvSpPr>
              <a:spLocks noChangeArrowheads="1"/>
            </p:cNvSpPr>
            <p:nvPr/>
          </p:nvSpPr>
          <p:spPr bwMode="auto">
            <a:xfrm>
              <a:off x="576" y="2251"/>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电动机</a:t>
              </a:r>
              <a:endParaRPr lang="zh-CN" altLang="en-US" sz="2800" i="1">
                <a:latin typeface="Times New Roman" panose="02020603050405020304" pitchFamily="18" charset="0"/>
              </a:endParaRPr>
            </a:p>
          </p:txBody>
        </p:sp>
        <p:sp>
          <p:nvSpPr>
            <p:cNvPr id="82974" name="Line 1029"/>
            <p:cNvSpPr>
              <a:spLocks noChangeShapeType="1"/>
            </p:cNvSpPr>
            <p:nvPr/>
          </p:nvSpPr>
          <p:spPr bwMode="auto">
            <a:xfrm>
              <a:off x="960" y="2544"/>
              <a:ext cx="192" cy="24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5" name="Line 1028"/>
            <p:cNvSpPr>
              <a:spLocks noChangeShapeType="1"/>
            </p:cNvSpPr>
            <p:nvPr/>
          </p:nvSpPr>
          <p:spPr bwMode="auto">
            <a:xfrm>
              <a:off x="1872" y="2208"/>
              <a:ext cx="576" cy="0"/>
            </a:xfrm>
            <a:prstGeom prst="line">
              <a:avLst/>
            </a:prstGeom>
            <a:noFill/>
            <a:ln w="222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49538" name="Rectangle 1026"/>
          <p:cNvSpPr>
            <a:spLocks noChangeArrowheads="1"/>
          </p:cNvSpPr>
          <p:nvPr/>
        </p:nvSpPr>
        <p:spPr bwMode="auto">
          <a:xfrm>
            <a:off x="392113" y="1808163"/>
            <a:ext cx="3508375" cy="293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0000"/>
              </a:lnSpc>
              <a:spcBef>
                <a:spcPct val="0"/>
              </a:spcBef>
              <a:buClrTx/>
              <a:buFontTx/>
              <a:buNone/>
            </a:pPr>
            <a:r>
              <a:rPr lang="zh-CN" altLang="en-US" sz="2800">
                <a:latin typeface="宋体" panose="02010600030101010101" pitchFamily="2" charset="-122"/>
              </a:rPr>
              <a:t>暂不考虑左端的齿轮减速部分，将上图简化为右图所示，丝杠螺母装置将电机的旋转运动转变为工作台的直线运动。</a:t>
            </a:r>
          </a:p>
        </p:txBody>
      </p:sp>
      <p:grpSp>
        <p:nvGrpSpPr>
          <p:cNvPr id="297990" name="Group 1029"/>
          <p:cNvGrpSpPr>
            <a:grpSpLocks/>
          </p:cNvGrpSpPr>
          <p:nvPr/>
        </p:nvGrpSpPr>
        <p:grpSpPr bwMode="auto">
          <a:xfrm>
            <a:off x="3328988" y="4175125"/>
            <a:ext cx="5105400" cy="2381250"/>
            <a:chOff x="1008" y="576"/>
            <a:chExt cx="3216" cy="1500"/>
          </a:xfrm>
        </p:grpSpPr>
        <p:sp>
          <p:nvSpPr>
            <p:cNvPr id="82951" name="Text Box 1040"/>
            <p:cNvSpPr txBox="1">
              <a:spLocks noChangeArrowheads="1"/>
            </p:cNvSpPr>
            <p:nvPr/>
          </p:nvSpPr>
          <p:spPr bwMode="auto">
            <a:xfrm>
              <a:off x="1008" y="1785"/>
              <a:ext cx="321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400">
                  <a:latin typeface="宋体" panose="02010600030101010101" pitchFamily="2" charset="-122"/>
                </a:rPr>
                <a:t>电机驱动进给装置</a:t>
              </a:r>
              <a:r>
                <a:rPr lang="zh-CN" altLang="en-US" sz="2400">
                  <a:latin typeface="Times New Roman" panose="02020603050405020304" pitchFamily="18" charset="0"/>
                </a:rPr>
                <a:t>等效系统</a:t>
              </a:r>
            </a:p>
          </p:txBody>
        </p:sp>
        <p:sp>
          <p:nvSpPr>
            <p:cNvPr id="82952" name="Line 1039"/>
            <p:cNvSpPr>
              <a:spLocks noChangeShapeType="1"/>
            </p:cNvSpPr>
            <p:nvPr/>
          </p:nvSpPr>
          <p:spPr bwMode="auto">
            <a:xfrm>
              <a:off x="2880" y="1397"/>
              <a:ext cx="384"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3" name="Rectangle 1038"/>
            <p:cNvSpPr>
              <a:spLocks noChangeArrowheads="1"/>
            </p:cNvSpPr>
            <p:nvPr/>
          </p:nvSpPr>
          <p:spPr bwMode="auto">
            <a:xfrm>
              <a:off x="1480" y="1109"/>
              <a:ext cx="576"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lang="zh-CN" altLang="en-US" sz="1800"/>
            </a:p>
          </p:txBody>
        </p:sp>
        <p:sp>
          <p:nvSpPr>
            <p:cNvPr id="82954" name="Line 1037"/>
            <p:cNvSpPr>
              <a:spLocks noChangeShapeType="1"/>
            </p:cNvSpPr>
            <p:nvPr/>
          </p:nvSpPr>
          <p:spPr bwMode="auto">
            <a:xfrm>
              <a:off x="1248" y="1397"/>
              <a:ext cx="912"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5" name="Rectangle 1036"/>
            <p:cNvSpPr>
              <a:spLocks noChangeArrowheads="1"/>
            </p:cNvSpPr>
            <p:nvPr/>
          </p:nvSpPr>
          <p:spPr bwMode="auto">
            <a:xfrm>
              <a:off x="2056" y="1013"/>
              <a:ext cx="96" cy="72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lang="zh-CN" altLang="en-US" sz="1800"/>
            </a:p>
          </p:txBody>
        </p:sp>
        <p:sp>
          <p:nvSpPr>
            <p:cNvPr id="82956" name="Line 1035"/>
            <p:cNvSpPr>
              <a:spLocks noChangeShapeType="1"/>
            </p:cNvSpPr>
            <p:nvPr/>
          </p:nvSpPr>
          <p:spPr bwMode="auto">
            <a:xfrm>
              <a:off x="2152" y="1397"/>
              <a:ext cx="440"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useBgFill="1">
          <p:nvSpPr>
            <p:cNvPr id="82957" name="Rectangle 1034"/>
            <p:cNvSpPr>
              <a:spLocks noChangeArrowheads="1"/>
            </p:cNvSpPr>
            <p:nvPr/>
          </p:nvSpPr>
          <p:spPr bwMode="auto">
            <a:xfrm>
              <a:off x="2592" y="1109"/>
              <a:ext cx="432" cy="528"/>
            </a:xfrm>
            <a:prstGeom prst="rect">
              <a:avLst/>
            </a:prstGeom>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en-US" altLang="zh-CN" sz="2800" i="1">
                  <a:latin typeface="Times New Roman" panose="02020603050405020304" pitchFamily="18" charset="0"/>
                </a:rPr>
                <a:t>J</a:t>
              </a:r>
            </a:p>
          </p:txBody>
        </p:sp>
        <p:sp>
          <p:nvSpPr>
            <p:cNvPr id="82958" name="Rectangle 1033"/>
            <p:cNvSpPr>
              <a:spLocks noChangeArrowheads="1"/>
            </p:cNvSpPr>
            <p:nvPr/>
          </p:nvSpPr>
          <p:spPr bwMode="auto">
            <a:xfrm>
              <a:off x="1248" y="576"/>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电动机</a:t>
              </a:r>
              <a:endParaRPr lang="zh-CN" altLang="en-US" sz="2800" i="1">
                <a:latin typeface="Times New Roman" panose="02020603050405020304" pitchFamily="18" charset="0"/>
              </a:endParaRPr>
            </a:p>
          </p:txBody>
        </p:sp>
        <p:sp>
          <p:nvSpPr>
            <p:cNvPr id="82959" name="Line 1032"/>
            <p:cNvSpPr>
              <a:spLocks noChangeShapeType="1"/>
            </p:cNvSpPr>
            <p:nvPr/>
          </p:nvSpPr>
          <p:spPr bwMode="auto">
            <a:xfrm>
              <a:off x="1632" y="869"/>
              <a:ext cx="192" cy="24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60" name="Rectangle 1031"/>
            <p:cNvSpPr>
              <a:spLocks noChangeArrowheads="1"/>
            </p:cNvSpPr>
            <p:nvPr/>
          </p:nvSpPr>
          <p:spPr bwMode="auto">
            <a:xfrm>
              <a:off x="2160" y="581"/>
              <a:ext cx="17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等效转动惯量</a:t>
              </a:r>
              <a:endParaRPr lang="zh-CN" altLang="en-US" sz="2800" i="1">
                <a:latin typeface="Times New Roman" panose="02020603050405020304" pitchFamily="18" charset="0"/>
              </a:endParaRPr>
            </a:p>
          </p:txBody>
        </p:sp>
        <p:sp>
          <p:nvSpPr>
            <p:cNvPr id="82961" name="Line 1030"/>
            <p:cNvSpPr>
              <a:spLocks noChangeShapeType="1"/>
            </p:cNvSpPr>
            <p:nvPr/>
          </p:nvSpPr>
          <p:spPr bwMode="auto">
            <a:xfrm flipH="1">
              <a:off x="2784" y="917"/>
              <a:ext cx="96" cy="192"/>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9538"/>
                                        </p:tgtEl>
                                        <p:attrNameLst>
                                          <p:attrName>style.visibility</p:attrName>
                                        </p:attrNameLst>
                                      </p:cBhvr>
                                      <p:to>
                                        <p:strVal val="visible"/>
                                      </p:to>
                                    </p:set>
                                    <p:anim calcmode="lin" valueType="num">
                                      <p:cBhvr additive="base">
                                        <p:cTn id="7" dur="500" fill="hold"/>
                                        <p:tgtEl>
                                          <p:spTgt spid="449538"/>
                                        </p:tgtEl>
                                        <p:attrNameLst>
                                          <p:attrName>ppt_x</p:attrName>
                                        </p:attrNameLst>
                                      </p:cBhvr>
                                      <p:tavLst>
                                        <p:tav tm="0">
                                          <p:val>
                                            <p:strVal val="#ppt_x"/>
                                          </p:val>
                                        </p:tav>
                                        <p:tav tm="100000">
                                          <p:val>
                                            <p:strVal val="#ppt_x"/>
                                          </p:val>
                                        </p:tav>
                                      </p:tavLst>
                                    </p:anim>
                                    <p:anim calcmode="lin" valueType="num">
                                      <p:cBhvr additive="base">
                                        <p:cTn id="8" dur="500" fill="hold"/>
                                        <p:tgtEl>
                                          <p:spTgt spid="44953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9539"/>
                                        </p:tgtEl>
                                        <p:attrNameLst>
                                          <p:attrName>style.visibility</p:attrName>
                                        </p:attrNameLst>
                                      </p:cBhvr>
                                      <p:to>
                                        <p:strVal val="visible"/>
                                      </p:to>
                                    </p:set>
                                    <p:anim calcmode="lin" valueType="num">
                                      <p:cBhvr additive="base">
                                        <p:cTn id="13" dur="500" fill="hold"/>
                                        <p:tgtEl>
                                          <p:spTgt spid="449539"/>
                                        </p:tgtEl>
                                        <p:attrNameLst>
                                          <p:attrName>ppt_x</p:attrName>
                                        </p:attrNameLst>
                                      </p:cBhvr>
                                      <p:tavLst>
                                        <p:tav tm="0">
                                          <p:val>
                                            <p:strVal val="#ppt_x"/>
                                          </p:val>
                                        </p:tav>
                                        <p:tav tm="100000">
                                          <p:val>
                                            <p:strVal val="#ppt_x"/>
                                          </p:val>
                                        </p:tav>
                                      </p:tavLst>
                                    </p:anim>
                                    <p:anim calcmode="lin" valueType="num">
                                      <p:cBhvr additive="base">
                                        <p:cTn id="14" dur="500" fill="hold"/>
                                        <p:tgtEl>
                                          <p:spTgt spid="44953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79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17"/>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D4B4BF3-272B-403C-A2CB-921B6FDEC4A5}" type="datetime1">
              <a:rPr lang="en-US" altLang="zh-CN" sz="1200" smtClean="0"/>
              <a:pPr>
                <a:spcBef>
                  <a:spcPct val="0"/>
                </a:spcBef>
                <a:buClrTx/>
                <a:buFontTx/>
                <a:buNone/>
              </a:pPr>
              <a:t>9/14/2025</a:t>
            </a:fld>
            <a:endParaRPr lang="en-US" altLang="zh-CN" sz="1200"/>
          </a:p>
        </p:txBody>
      </p:sp>
      <p:sp>
        <p:nvSpPr>
          <p:cNvPr id="83971" name="灯片编号占位符 19"/>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E762949D-0388-4755-9F95-F4C82CF8D91C}" type="slidenum">
              <a:rPr lang="en-US" altLang="zh-CN" sz="1200" smtClean="0"/>
              <a:pPr>
                <a:spcBef>
                  <a:spcPct val="0"/>
                </a:spcBef>
                <a:buClrTx/>
                <a:buFontTx/>
                <a:buNone/>
              </a:pPr>
              <a:t>40</a:t>
            </a:fld>
            <a:endParaRPr lang="en-US" altLang="zh-CN" sz="1200"/>
          </a:p>
        </p:txBody>
      </p:sp>
      <p:sp>
        <p:nvSpPr>
          <p:cNvPr id="448516" name="Text Box 1028"/>
          <p:cNvSpPr txBox="1">
            <a:spLocks noChangeArrowheads="1"/>
          </p:cNvSpPr>
          <p:nvPr/>
        </p:nvSpPr>
        <p:spPr bwMode="auto">
          <a:xfrm>
            <a:off x="412750" y="520700"/>
            <a:ext cx="72390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宋体" panose="02010600030101010101" pitchFamily="2" charset="-122"/>
              </a:rPr>
              <a:t>按等功原理：</a:t>
            </a:r>
          </a:p>
        </p:txBody>
      </p:sp>
      <p:graphicFrame>
        <p:nvGraphicFramePr>
          <p:cNvPr id="448515" name="Object 1027"/>
          <p:cNvGraphicFramePr>
            <a:graphicFrameLocks noChangeAspect="1"/>
          </p:cNvGraphicFramePr>
          <p:nvPr/>
        </p:nvGraphicFramePr>
        <p:xfrm>
          <a:off x="2843213" y="3511550"/>
          <a:ext cx="1778000" cy="1057275"/>
        </p:xfrm>
        <a:graphic>
          <a:graphicData uri="http://schemas.openxmlformats.org/presentationml/2006/ole">
            <mc:AlternateContent xmlns:mc="http://schemas.openxmlformats.org/markup-compatibility/2006">
              <mc:Choice xmlns:v="urn:schemas-microsoft-com:vml" Requires="v">
                <p:oleObj r:id="rId2" imgW="812447" imgH="482391" progId="Equation.3">
                  <p:embed/>
                </p:oleObj>
              </mc:Choice>
              <mc:Fallback>
                <p:oleObj r:id="rId2" imgW="812447" imgH="482391" progId="Equation.3">
                  <p:embed/>
                  <p:pic>
                    <p:nvPicPr>
                      <p:cNvPr id="0" name="Object 10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3511550"/>
                        <a:ext cx="17780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8514" name="Rectangle 1026"/>
          <p:cNvSpPr>
            <a:spLocks noChangeArrowheads="1"/>
          </p:cNvSpPr>
          <p:nvPr/>
        </p:nvSpPr>
        <p:spPr bwMode="auto">
          <a:xfrm>
            <a:off x="755650" y="4856163"/>
            <a:ext cx="72390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en-US" altLang="zh-CN" sz="2800" i="1">
                <a:latin typeface="Times New Roman" panose="02020603050405020304" pitchFamily="18" charset="0"/>
              </a:rPr>
              <a:t>L </a:t>
            </a:r>
            <a:r>
              <a:rPr lang="en-US" altLang="zh-CN" sz="2800">
                <a:latin typeface="Times New Roman" panose="02020603050405020304" pitchFamily="18" charset="0"/>
              </a:rPr>
              <a:t>—</a:t>
            </a:r>
            <a:r>
              <a:rPr lang="en-US" altLang="zh-CN" sz="2800">
                <a:latin typeface="宋体" panose="02010600030101010101" pitchFamily="2" charset="-122"/>
              </a:rPr>
              <a:t> </a:t>
            </a:r>
            <a:r>
              <a:rPr lang="zh-CN" altLang="en-US" sz="2800">
                <a:latin typeface="宋体" panose="02010600030101010101" pitchFamily="2" charset="-122"/>
              </a:rPr>
              <a:t>丝杠螺距，即丝杠每转一周工作台移动的直线距离。</a:t>
            </a:r>
          </a:p>
        </p:txBody>
      </p:sp>
      <p:sp>
        <p:nvSpPr>
          <p:cNvPr id="21" name="Text Box 1028"/>
          <p:cNvSpPr txBox="1">
            <a:spLocks noChangeArrowheads="1"/>
          </p:cNvSpPr>
          <p:nvPr/>
        </p:nvSpPr>
        <p:spPr bwMode="auto">
          <a:xfrm>
            <a:off x="609600" y="2073275"/>
            <a:ext cx="72390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宋体" panose="02010600030101010101" pitchFamily="2" charset="-122"/>
              </a:rPr>
              <a:t>由以上式子联立，可得工作台等直线运动部件质量</a:t>
            </a:r>
            <a:r>
              <a:rPr lang="en-US" altLang="zh-CN" sz="2800" i="1">
                <a:latin typeface="Times New Roman" panose="02020603050405020304" pitchFamily="18" charset="0"/>
              </a:rPr>
              <a:t>m</a:t>
            </a:r>
            <a:r>
              <a:rPr lang="zh-CN" altLang="en-US" sz="2800">
                <a:latin typeface="宋体" panose="02010600030101010101" pitchFamily="2" charset="-122"/>
              </a:rPr>
              <a:t>的等效转动惯量为：</a:t>
            </a:r>
          </a:p>
        </p:txBody>
      </p:sp>
      <p:sp>
        <p:nvSpPr>
          <p:cNvPr id="2" name="文本框 1"/>
          <p:cNvSpPr txBox="1">
            <a:spLocks noRot="1" noChangeAspect="1" noEditPoints="1" noChangeArrowheads="1" noTextEdit="1"/>
          </p:cNvSpPr>
          <p:nvPr/>
        </p:nvSpPr>
        <p:spPr bwMode="auto">
          <a:xfrm>
            <a:off x="2843213" y="146050"/>
            <a:ext cx="2376487" cy="69215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 name="文本框 2"/>
          <p:cNvSpPr txBox="1">
            <a:spLocks noRot="1" noChangeAspect="1" noMove="1" noResize="1" noEditPoints="1" noAdjustHandles="1" noChangeArrowheads="1" noChangeShapeType="1" noTextEdit="1"/>
          </p:cNvSpPr>
          <p:nvPr/>
        </p:nvSpPr>
        <p:spPr>
          <a:xfrm>
            <a:off x="2590800" y="1017662"/>
            <a:ext cx="3888429" cy="541560"/>
          </a:xfrm>
          <a:prstGeom prst="rect">
            <a:avLst/>
          </a:prstGeom>
          <a:blipFill>
            <a:blip r:embed="rId5"/>
            <a:stretch>
              <a:fillRect t="-3371" b="-15730"/>
            </a:stretch>
          </a:blipFill>
        </p:spPr>
        <p:txBody>
          <a:bodyPr/>
          <a:lstStyle/>
          <a:p>
            <a:pPr>
              <a:defRPr/>
            </a:pPr>
            <a:r>
              <a:rPr lang="zh-CN" altLang="en-US">
                <a:noFill/>
              </a:rPr>
              <a:t> </a:t>
            </a:r>
          </a:p>
        </p:txBody>
      </p:sp>
      <p:sp>
        <p:nvSpPr>
          <p:cNvPr id="299018" name="文本框 3"/>
          <p:cNvSpPr txBox="1">
            <a:spLocks noChangeArrowheads="1"/>
          </p:cNvSpPr>
          <p:nvPr/>
        </p:nvSpPr>
        <p:spPr bwMode="auto">
          <a:xfrm>
            <a:off x="6235700" y="334963"/>
            <a:ext cx="2616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i="1">
                <a:latin typeface="Times New Roman" panose="02020603050405020304" pitchFamily="18" charset="0"/>
              </a:rPr>
              <a:t>x</a:t>
            </a:r>
            <a:r>
              <a:rPr lang="en-US" altLang="zh-CN" sz="2400"/>
              <a:t>-</a:t>
            </a:r>
            <a:r>
              <a:rPr lang="zh-CN" altLang="en-US" sz="2400"/>
              <a:t>工作台直线位移</a:t>
            </a:r>
          </a:p>
        </p:txBody>
      </p:sp>
      <p:sp>
        <p:nvSpPr>
          <p:cNvPr id="299019" name="文本框 4"/>
          <p:cNvSpPr txBox="1">
            <a:spLocks noChangeArrowheads="1"/>
          </p:cNvSpPr>
          <p:nvPr/>
        </p:nvSpPr>
        <p:spPr bwMode="auto">
          <a:xfrm>
            <a:off x="6235700" y="823913"/>
            <a:ext cx="20240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400">
                <a:sym typeface="Symbol" panose="05050102010706020507" pitchFamily="18" charset="2"/>
              </a:rPr>
              <a:t></a:t>
            </a:r>
            <a:r>
              <a:rPr lang="en-US" altLang="zh-CN" sz="2400">
                <a:sym typeface="Symbol" panose="05050102010706020507" pitchFamily="18" charset="2"/>
              </a:rPr>
              <a:t>-</a:t>
            </a:r>
            <a:r>
              <a:rPr lang="zh-CN" altLang="en-US" sz="2400">
                <a:sym typeface="Symbol" panose="05050102010706020507" pitchFamily="18" charset="2"/>
              </a:rPr>
              <a:t>丝杠角位移</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8516"/>
                                        </p:tgtEl>
                                        <p:attrNameLst>
                                          <p:attrName>style.visibility</p:attrName>
                                        </p:attrNameLst>
                                      </p:cBhvr>
                                      <p:to>
                                        <p:strVal val="visible"/>
                                      </p:to>
                                    </p:set>
                                    <p:anim calcmode="lin" valueType="num">
                                      <p:cBhvr additive="base">
                                        <p:cTn id="7" dur="500" fill="hold"/>
                                        <p:tgtEl>
                                          <p:spTgt spid="448516"/>
                                        </p:tgtEl>
                                        <p:attrNameLst>
                                          <p:attrName>ppt_x</p:attrName>
                                        </p:attrNameLst>
                                      </p:cBhvr>
                                      <p:tavLst>
                                        <p:tav tm="0">
                                          <p:val>
                                            <p:strVal val="#ppt_x"/>
                                          </p:val>
                                        </p:tav>
                                        <p:tav tm="100000">
                                          <p:val>
                                            <p:strVal val="#ppt_x"/>
                                          </p:val>
                                        </p:tav>
                                      </p:tavLst>
                                    </p:anim>
                                    <p:anim calcmode="lin" valueType="num">
                                      <p:cBhvr additive="base">
                                        <p:cTn id="8" dur="500" fill="hold"/>
                                        <p:tgtEl>
                                          <p:spTgt spid="4485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901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901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448515"/>
                                        </p:tgtEl>
                                        <p:attrNameLst>
                                          <p:attrName>style.visibility</p:attrName>
                                        </p:attrNameLst>
                                      </p:cBhvr>
                                      <p:to>
                                        <p:strVal val="visible"/>
                                      </p:to>
                                    </p:set>
                                    <p:anim calcmode="lin" valueType="num">
                                      <p:cBhvr additive="base">
                                        <p:cTn id="35" dur="500" fill="hold"/>
                                        <p:tgtEl>
                                          <p:spTgt spid="448515"/>
                                        </p:tgtEl>
                                        <p:attrNameLst>
                                          <p:attrName>ppt_x</p:attrName>
                                        </p:attrNameLst>
                                      </p:cBhvr>
                                      <p:tavLst>
                                        <p:tav tm="0">
                                          <p:val>
                                            <p:strVal val="#ppt_x"/>
                                          </p:val>
                                        </p:tav>
                                        <p:tav tm="100000">
                                          <p:val>
                                            <p:strVal val="#ppt_x"/>
                                          </p:val>
                                        </p:tav>
                                      </p:tavLst>
                                    </p:anim>
                                    <p:anim calcmode="lin" valueType="num">
                                      <p:cBhvr additive="base">
                                        <p:cTn id="36" dur="500" fill="hold"/>
                                        <p:tgtEl>
                                          <p:spTgt spid="448515"/>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48514"/>
                                        </p:tgtEl>
                                        <p:attrNameLst>
                                          <p:attrName>style.visibility</p:attrName>
                                        </p:attrNameLst>
                                      </p:cBhvr>
                                      <p:to>
                                        <p:strVal val="visible"/>
                                      </p:to>
                                    </p:set>
                                    <p:anim calcmode="lin" valueType="num">
                                      <p:cBhvr additive="base">
                                        <p:cTn id="41" dur="500" fill="hold"/>
                                        <p:tgtEl>
                                          <p:spTgt spid="448514"/>
                                        </p:tgtEl>
                                        <p:attrNameLst>
                                          <p:attrName>ppt_x</p:attrName>
                                        </p:attrNameLst>
                                      </p:cBhvr>
                                      <p:tavLst>
                                        <p:tav tm="0">
                                          <p:val>
                                            <p:strVal val="#ppt_x"/>
                                          </p:val>
                                        </p:tav>
                                        <p:tav tm="100000">
                                          <p:val>
                                            <p:strVal val="#ppt_x"/>
                                          </p:val>
                                        </p:tav>
                                      </p:tavLst>
                                    </p:anim>
                                    <p:anim calcmode="lin" valueType="num">
                                      <p:cBhvr additive="base">
                                        <p:cTn id="42" dur="500" fill="hold"/>
                                        <p:tgtEl>
                                          <p:spTgt spid="4485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6" grpId="0"/>
      <p:bldP spid="448514" grpId="0"/>
      <p:bldP spid="21" grpId="0"/>
      <p:bldP spid="299018" grpId="0"/>
      <p:bldP spid="2990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27"/>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11EBC71-9EC0-4C83-9AF9-9D53D057F641}" type="datetime1">
              <a:rPr lang="en-US" altLang="zh-CN" sz="1200" smtClean="0"/>
              <a:pPr>
                <a:spcBef>
                  <a:spcPct val="0"/>
                </a:spcBef>
                <a:buClrTx/>
                <a:buFontTx/>
                <a:buNone/>
              </a:pPr>
              <a:t>9/14/2025</a:t>
            </a:fld>
            <a:endParaRPr lang="en-US" altLang="zh-CN" sz="1200"/>
          </a:p>
        </p:txBody>
      </p:sp>
      <p:sp>
        <p:nvSpPr>
          <p:cNvPr id="84995" name="灯片编号占位符 29"/>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972463D-45BA-459C-A792-6CA314710B46}" type="slidenum">
              <a:rPr lang="en-US" altLang="zh-CN" sz="1200" smtClean="0"/>
              <a:pPr>
                <a:spcBef>
                  <a:spcPct val="0"/>
                </a:spcBef>
                <a:buClrTx/>
                <a:buFontTx/>
                <a:buNone/>
              </a:pPr>
              <a:t>41</a:t>
            </a:fld>
            <a:endParaRPr lang="en-US" altLang="zh-CN" sz="1200"/>
          </a:p>
        </p:txBody>
      </p:sp>
      <p:sp>
        <p:nvSpPr>
          <p:cNvPr id="84996" name="Rectangle 1050"/>
          <p:cNvSpPr>
            <a:spLocks noChangeArrowheads="1"/>
          </p:cNvSpPr>
          <p:nvPr/>
        </p:nvSpPr>
        <p:spPr bwMode="auto">
          <a:xfrm>
            <a:off x="1031875" y="571500"/>
            <a:ext cx="6934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齿轮传动装置</a:t>
            </a:r>
            <a:r>
              <a:rPr lang="zh-CN" altLang="en-US" sz="2800">
                <a:latin typeface="宋体" panose="02010600030101010101" pitchFamily="2" charset="-122"/>
              </a:rPr>
              <a:t> </a:t>
            </a:r>
          </a:p>
        </p:txBody>
      </p:sp>
      <p:grpSp>
        <p:nvGrpSpPr>
          <p:cNvPr id="447498" name="Group 1034"/>
          <p:cNvGrpSpPr>
            <a:grpSpLocks/>
          </p:cNvGrpSpPr>
          <p:nvPr/>
        </p:nvGrpSpPr>
        <p:grpSpPr bwMode="auto">
          <a:xfrm>
            <a:off x="838200" y="1414463"/>
            <a:ext cx="2743200" cy="3252787"/>
            <a:chOff x="816" y="777"/>
            <a:chExt cx="1728" cy="2049"/>
          </a:xfrm>
        </p:grpSpPr>
        <p:sp>
          <p:nvSpPr>
            <p:cNvPr id="85006" name="Text Box 1049"/>
            <p:cNvSpPr txBox="1">
              <a:spLocks noChangeArrowheads="1"/>
            </p:cNvSpPr>
            <p:nvPr/>
          </p:nvSpPr>
          <p:spPr bwMode="auto">
            <a:xfrm>
              <a:off x="1803" y="777"/>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1</a:t>
              </a:r>
            </a:p>
          </p:txBody>
        </p:sp>
        <p:sp>
          <p:nvSpPr>
            <p:cNvPr id="85007" name="Rectangle 1048"/>
            <p:cNvSpPr>
              <a:spLocks noChangeArrowheads="1"/>
            </p:cNvSpPr>
            <p:nvPr/>
          </p:nvSpPr>
          <p:spPr bwMode="auto">
            <a:xfrm>
              <a:off x="1584" y="960"/>
              <a:ext cx="240" cy="67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5008" name="Rectangle 1047"/>
            <p:cNvSpPr>
              <a:spLocks noChangeArrowheads="1"/>
            </p:cNvSpPr>
            <p:nvPr/>
          </p:nvSpPr>
          <p:spPr bwMode="auto">
            <a:xfrm>
              <a:off x="1584" y="1632"/>
              <a:ext cx="240" cy="864"/>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5009" name="Rectangle 1046"/>
            <p:cNvSpPr>
              <a:spLocks noChangeArrowheads="1"/>
            </p:cNvSpPr>
            <p:nvPr/>
          </p:nvSpPr>
          <p:spPr bwMode="auto">
            <a:xfrm>
              <a:off x="960" y="1200"/>
              <a:ext cx="624"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5010" name="Line 1045"/>
            <p:cNvSpPr>
              <a:spLocks noChangeShapeType="1"/>
            </p:cNvSpPr>
            <p:nvPr/>
          </p:nvSpPr>
          <p:spPr bwMode="auto">
            <a:xfrm>
              <a:off x="816" y="1296"/>
              <a:ext cx="1296"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1" name="Freeform 1044"/>
            <p:cNvSpPr>
              <a:spLocks noChangeArrowheads="1"/>
            </p:cNvSpPr>
            <p:nvPr/>
          </p:nvSpPr>
          <p:spPr bwMode="auto">
            <a:xfrm>
              <a:off x="1152" y="1008"/>
              <a:ext cx="152" cy="576"/>
            </a:xfrm>
            <a:custGeom>
              <a:avLst/>
              <a:gdLst>
                <a:gd name="T0" fmla="*/ 48 w 152"/>
                <a:gd name="T1" fmla="*/ 0 h 576"/>
                <a:gd name="T2" fmla="*/ 144 w 152"/>
                <a:gd name="T3" fmla="*/ 336 h 576"/>
                <a:gd name="T4" fmla="*/ 0 w 152"/>
                <a:gd name="T5" fmla="*/ 576 h 576"/>
                <a:gd name="T6" fmla="*/ 0 60000 65536"/>
                <a:gd name="T7" fmla="*/ 0 60000 65536"/>
                <a:gd name="T8" fmla="*/ 0 60000 65536"/>
              </a:gdLst>
              <a:ahLst/>
              <a:cxnLst>
                <a:cxn ang="T6">
                  <a:pos x="T0" y="T1"/>
                </a:cxn>
                <a:cxn ang="T7">
                  <a:pos x="T2" y="T3"/>
                </a:cxn>
                <a:cxn ang="T8">
                  <a:pos x="T4" y="T5"/>
                </a:cxn>
              </a:cxnLst>
              <a:rect l="0" t="0" r="r" b="b"/>
              <a:pathLst>
                <a:path w="152" h="576">
                  <a:moveTo>
                    <a:pt x="48" y="0"/>
                  </a:moveTo>
                  <a:cubicBezTo>
                    <a:pt x="100" y="120"/>
                    <a:pt x="152" y="240"/>
                    <a:pt x="144" y="336"/>
                  </a:cubicBezTo>
                  <a:cubicBezTo>
                    <a:pt x="136" y="432"/>
                    <a:pt x="68" y="504"/>
                    <a:pt x="0" y="576"/>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012" name="Text Box 1043"/>
            <p:cNvSpPr txBox="1">
              <a:spLocks noChangeArrowheads="1"/>
            </p:cNvSpPr>
            <p:nvPr/>
          </p:nvSpPr>
          <p:spPr bwMode="auto">
            <a:xfrm>
              <a:off x="931" y="864"/>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r>
                <a:rPr lang="en-US" altLang="zh-CN" sz="2900" baseline="-18000">
                  <a:latin typeface="Times New Roman" panose="02020603050405020304" pitchFamily="18" charset="0"/>
                </a:rPr>
                <a:t>1</a:t>
              </a:r>
            </a:p>
          </p:txBody>
        </p:sp>
        <p:sp>
          <p:nvSpPr>
            <p:cNvPr id="85013" name="Text Box 1042"/>
            <p:cNvSpPr txBox="1">
              <a:spLocks noChangeArrowheads="1"/>
            </p:cNvSpPr>
            <p:nvPr/>
          </p:nvSpPr>
          <p:spPr bwMode="auto">
            <a:xfrm>
              <a:off x="1267" y="860"/>
              <a:ext cx="3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1</a:t>
              </a:r>
            </a:p>
          </p:txBody>
        </p:sp>
        <p:sp>
          <p:nvSpPr>
            <p:cNvPr id="85014" name="Line 1041"/>
            <p:cNvSpPr>
              <a:spLocks noChangeShapeType="1"/>
            </p:cNvSpPr>
            <p:nvPr/>
          </p:nvSpPr>
          <p:spPr bwMode="auto">
            <a:xfrm>
              <a:off x="1344" y="2072"/>
              <a:ext cx="1200" cy="1"/>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5" name="Rectangle 1040"/>
            <p:cNvSpPr>
              <a:spLocks noChangeArrowheads="1"/>
            </p:cNvSpPr>
            <p:nvPr/>
          </p:nvSpPr>
          <p:spPr bwMode="auto">
            <a:xfrm>
              <a:off x="1824" y="1968"/>
              <a:ext cx="624"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5016" name="Freeform 1039"/>
            <p:cNvSpPr>
              <a:spLocks noChangeArrowheads="1"/>
            </p:cNvSpPr>
            <p:nvPr/>
          </p:nvSpPr>
          <p:spPr bwMode="auto">
            <a:xfrm flipH="1" flipV="1">
              <a:off x="2056" y="1776"/>
              <a:ext cx="152" cy="576"/>
            </a:xfrm>
            <a:custGeom>
              <a:avLst/>
              <a:gdLst>
                <a:gd name="T0" fmla="*/ 48 w 152"/>
                <a:gd name="T1" fmla="*/ 0 h 576"/>
                <a:gd name="T2" fmla="*/ 144 w 152"/>
                <a:gd name="T3" fmla="*/ 336 h 576"/>
                <a:gd name="T4" fmla="*/ 0 w 152"/>
                <a:gd name="T5" fmla="*/ 576 h 576"/>
                <a:gd name="T6" fmla="*/ 0 60000 65536"/>
                <a:gd name="T7" fmla="*/ 0 60000 65536"/>
                <a:gd name="T8" fmla="*/ 0 60000 65536"/>
              </a:gdLst>
              <a:ahLst/>
              <a:cxnLst>
                <a:cxn ang="T6">
                  <a:pos x="T0" y="T1"/>
                </a:cxn>
                <a:cxn ang="T7">
                  <a:pos x="T2" y="T3"/>
                </a:cxn>
                <a:cxn ang="T8">
                  <a:pos x="T4" y="T5"/>
                </a:cxn>
              </a:cxnLst>
              <a:rect l="0" t="0" r="r" b="b"/>
              <a:pathLst>
                <a:path w="152" h="576">
                  <a:moveTo>
                    <a:pt x="48" y="0"/>
                  </a:moveTo>
                  <a:cubicBezTo>
                    <a:pt x="100" y="120"/>
                    <a:pt x="152" y="240"/>
                    <a:pt x="144" y="336"/>
                  </a:cubicBezTo>
                  <a:cubicBezTo>
                    <a:pt x="136" y="432"/>
                    <a:pt x="68" y="504"/>
                    <a:pt x="0" y="576"/>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017" name="Text Box 1038"/>
            <p:cNvSpPr txBox="1">
              <a:spLocks noChangeArrowheads="1"/>
            </p:cNvSpPr>
            <p:nvPr/>
          </p:nvSpPr>
          <p:spPr bwMode="auto">
            <a:xfrm>
              <a:off x="1851" y="2121"/>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r>
                <a:rPr lang="en-US" altLang="zh-CN" sz="2900" baseline="-18000">
                  <a:latin typeface="Times New Roman" panose="02020603050405020304" pitchFamily="18" charset="0"/>
                </a:rPr>
                <a:t>2</a:t>
              </a:r>
            </a:p>
          </p:txBody>
        </p:sp>
        <p:sp>
          <p:nvSpPr>
            <p:cNvPr id="85018" name="Text Box 1037"/>
            <p:cNvSpPr txBox="1">
              <a:spLocks noChangeArrowheads="1"/>
            </p:cNvSpPr>
            <p:nvPr/>
          </p:nvSpPr>
          <p:spPr bwMode="auto">
            <a:xfrm>
              <a:off x="2187" y="2117"/>
              <a:ext cx="3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2</a:t>
              </a:r>
            </a:p>
          </p:txBody>
        </p:sp>
        <p:sp>
          <p:nvSpPr>
            <p:cNvPr id="85019" name="Text Box 1036"/>
            <p:cNvSpPr txBox="1">
              <a:spLocks noChangeArrowheads="1"/>
            </p:cNvSpPr>
            <p:nvPr/>
          </p:nvSpPr>
          <p:spPr bwMode="auto">
            <a:xfrm>
              <a:off x="1305" y="2217"/>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2</a:t>
              </a:r>
            </a:p>
          </p:txBody>
        </p:sp>
        <p:sp>
          <p:nvSpPr>
            <p:cNvPr id="85020" name="Text Box 1035"/>
            <p:cNvSpPr txBox="1">
              <a:spLocks noChangeArrowheads="1"/>
            </p:cNvSpPr>
            <p:nvPr/>
          </p:nvSpPr>
          <p:spPr bwMode="auto">
            <a:xfrm>
              <a:off x="1276" y="2538"/>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400">
                  <a:latin typeface="Times New Roman" panose="02020603050405020304" pitchFamily="18" charset="0"/>
                </a:rPr>
                <a:t>齿轮副</a:t>
              </a:r>
            </a:p>
          </p:txBody>
        </p:sp>
      </p:grpSp>
      <p:sp>
        <p:nvSpPr>
          <p:cNvPr id="447497" name="Rectangle 1033"/>
          <p:cNvSpPr>
            <a:spLocks noChangeArrowheads="1"/>
          </p:cNvSpPr>
          <p:nvPr/>
        </p:nvSpPr>
        <p:spPr bwMode="auto">
          <a:xfrm>
            <a:off x="1063625" y="4572000"/>
            <a:ext cx="7391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假设齿轮传动中无功率损耗，且忽略齿轮转动惯量、啮合间隙与变形，则：</a:t>
            </a:r>
          </a:p>
        </p:txBody>
      </p:sp>
      <p:graphicFrame>
        <p:nvGraphicFramePr>
          <p:cNvPr id="447496" name="Object 1032"/>
          <p:cNvGraphicFramePr>
            <a:graphicFrameLocks noChangeAspect="1"/>
          </p:cNvGraphicFramePr>
          <p:nvPr/>
        </p:nvGraphicFramePr>
        <p:xfrm>
          <a:off x="2209800" y="5562600"/>
          <a:ext cx="3581400" cy="1022350"/>
        </p:xfrm>
        <a:graphic>
          <a:graphicData uri="http://schemas.openxmlformats.org/presentationml/2006/ole">
            <mc:AlternateContent xmlns:mc="http://schemas.openxmlformats.org/markup-compatibility/2006">
              <mc:Choice xmlns:v="urn:schemas-microsoft-com:vml" Requires="v">
                <p:oleObj r:id="rId2" imgW="1511300" imgH="431800" progId="Equation.3">
                  <p:embed/>
                </p:oleObj>
              </mc:Choice>
              <mc:Fallback>
                <p:oleObj r:id="rId2" imgW="1511300" imgH="431800" progId="Equation.3">
                  <p:embed/>
                  <p:pic>
                    <p:nvPicPr>
                      <p:cNvPr id="0" name="Object 10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5562600"/>
                        <a:ext cx="35814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47490" name="Group 1026"/>
          <p:cNvGrpSpPr>
            <a:grpSpLocks/>
          </p:cNvGrpSpPr>
          <p:nvPr/>
        </p:nvGrpSpPr>
        <p:grpSpPr bwMode="auto">
          <a:xfrm>
            <a:off x="4076700" y="1641475"/>
            <a:ext cx="3978275" cy="2714625"/>
            <a:chOff x="2592" y="939"/>
            <a:chExt cx="2506" cy="1710"/>
          </a:xfrm>
        </p:grpSpPr>
        <p:sp>
          <p:nvSpPr>
            <p:cNvPr id="85001" name="Rectangle 1031"/>
            <p:cNvSpPr>
              <a:spLocks noChangeArrowheads="1"/>
            </p:cNvSpPr>
            <p:nvPr/>
          </p:nvSpPr>
          <p:spPr bwMode="auto">
            <a:xfrm>
              <a:off x="2592" y="939"/>
              <a:ext cx="141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T</a:t>
              </a:r>
              <a:r>
                <a:rPr lang="en-US" altLang="zh-CN" sz="2900" baseline="-18000">
                  <a:latin typeface="Times New Roman" panose="02020603050405020304" pitchFamily="18" charset="0"/>
                </a:rPr>
                <a:t>2</a:t>
              </a:r>
              <a:r>
                <a:rPr lang="zh-CN" altLang="en-US" sz="2800">
                  <a:latin typeface="Times New Roman" panose="02020603050405020304" pitchFamily="18" charset="0"/>
                </a:rPr>
                <a:t>：转矩</a:t>
              </a:r>
            </a:p>
          </p:txBody>
        </p:sp>
        <p:sp>
          <p:nvSpPr>
            <p:cNvPr id="85002" name="Rectangle 1030"/>
            <p:cNvSpPr>
              <a:spLocks noChangeArrowheads="1"/>
            </p:cNvSpPr>
            <p:nvPr/>
          </p:nvSpPr>
          <p:spPr bwMode="auto">
            <a:xfrm>
              <a:off x="2592" y="1266"/>
              <a:ext cx="16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zh-CN" altLang="en-US"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2</a:t>
              </a:r>
              <a:r>
                <a:rPr lang="zh-CN" altLang="en-US" sz="2800">
                  <a:latin typeface="Times New Roman" panose="02020603050405020304" pitchFamily="18" charset="0"/>
                </a:rPr>
                <a:t>：角位移</a:t>
              </a:r>
            </a:p>
          </p:txBody>
        </p:sp>
        <p:sp>
          <p:nvSpPr>
            <p:cNvPr id="85003" name="Rectangle 1029"/>
            <p:cNvSpPr>
              <a:spLocks noChangeArrowheads="1"/>
            </p:cNvSpPr>
            <p:nvPr/>
          </p:nvSpPr>
          <p:spPr bwMode="auto">
            <a:xfrm>
              <a:off x="2592" y="1611"/>
              <a:ext cx="169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zh-CN" altLang="en-US"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2</a:t>
              </a:r>
              <a:r>
                <a:rPr lang="zh-CN" altLang="en-US" sz="2800">
                  <a:latin typeface="Times New Roman" panose="02020603050405020304" pitchFamily="18" charset="0"/>
                </a:rPr>
                <a:t>：角速度</a:t>
              </a:r>
            </a:p>
          </p:txBody>
        </p:sp>
        <p:sp>
          <p:nvSpPr>
            <p:cNvPr id="85004" name="Rectangle 1028"/>
            <p:cNvSpPr>
              <a:spLocks noChangeArrowheads="1"/>
            </p:cNvSpPr>
            <p:nvPr/>
          </p:nvSpPr>
          <p:spPr bwMode="auto">
            <a:xfrm>
              <a:off x="2634" y="1947"/>
              <a:ext cx="13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z</a:t>
              </a:r>
              <a:r>
                <a:rPr lang="en-US" altLang="zh-CN" sz="2900" baseline="-18000">
                  <a:latin typeface="Times New Roman" panose="02020603050405020304" pitchFamily="18" charset="0"/>
                </a:rPr>
                <a:t>2</a:t>
              </a:r>
              <a:r>
                <a:rPr lang="zh-CN" altLang="en-US" sz="2800">
                  <a:latin typeface="Times New Roman" panose="02020603050405020304" pitchFamily="18" charset="0"/>
                </a:rPr>
                <a:t>：齿数</a:t>
              </a:r>
            </a:p>
          </p:txBody>
        </p:sp>
        <p:sp>
          <p:nvSpPr>
            <p:cNvPr id="85005" name="Rectangle 1027"/>
            <p:cNvSpPr>
              <a:spLocks noChangeArrowheads="1"/>
            </p:cNvSpPr>
            <p:nvPr/>
          </p:nvSpPr>
          <p:spPr bwMode="auto">
            <a:xfrm>
              <a:off x="2640" y="2322"/>
              <a:ext cx="24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r</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r</a:t>
              </a:r>
              <a:r>
                <a:rPr lang="en-US" altLang="zh-CN" sz="2900" baseline="-18000">
                  <a:latin typeface="Times New Roman" panose="02020603050405020304" pitchFamily="18" charset="0"/>
                </a:rPr>
                <a:t>2</a:t>
              </a:r>
              <a:r>
                <a:rPr lang="zh-CN" altLang="en-US" sz="2800">
                  <a:latin typeface="Times New Roman" panose="02020603050405020304" pitchFamily="18" charset="0"/>
                </a:rPr>
                <a:t>：齿轮分度圆半径</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7498"/>
                                        </p:tgtEl>
                                        <p:attrNameLst>
                                          <p:attrName>style.visibility</p:attrName>
                                        </p:attrNameLst>
                                      </p:cBhvr>
                                      <p:to>
                                        <p:strVal val="visible"/>
                                      </p:to>
                                    </p:set>
                                    <p:anim calcmode="lin" valueType="num">
                                      <p:cBhvr additive="base">
                                        <p:cTn id="7" dur="500" fill="hold"/>
                                        <p:tgtEl>
                                          <p:spTgt spid="447498"/>
                                        </p:tgtEl>
                                        <p:attrNameLst>
                                          <p:attrName>ppt_x</p:attrName>
                                        </p:attrNameLst>
                                      </p:cBhvr>
                                      <p:tavLst>
                                        <p:tav tm="0">
                                          <p:val>
                                            <p:strVal val="#ppt_x"/>
                                          </p:val>
                                        </p:tav>
                                        <p:tav tm="100000">
                                          <p:val>
                                            <p:strVal val="#ppt_x"/>
                                          </p:val>
                                        </p:tav>
                                      </p:tavLst>
                                    </p:anim>
                                    <p:anim calcmode="lin" valueType="num">
                                      <p:cBhvr additive="base">
                                        <p:cTn id="8" dur="500" fill="hold"/>
                                        <p:tgtEl>
                                          <p:spTgt spid="4474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7490"/>
                                        </p:tgtEl>
                                        <p:attrNameLst>
                                          <p:attrName>style.visibility</p:attrName>
                                        </p:attrNameLst>
                                      </p:cBhvr>
                                      <p:to>
                                        <p:strVal val="visible"/>
                                      </p:to>
                                    </p:set>
                                    <p:anim calcmode="lin" valueType="num">
                                      <p:cBhvr additive="base">
                                        <p:cTn id="13" dur="500" fill="hold"/>
                                        <p:tgtEl>
                                          <p:spTgt spid="447490"/>
                                        </p:tgtEl>
                                        <p:attrNameLst>
                                          <p:attrName>ppt_x</p:attrName>
                                        </p:attrNameLst>
                                      </p:cBhvr>
                                      <p:tavLst>
                                        <p:tav tm="0">
                                          <p:val>
                                            <p:strVal val="#ppt_x"/>
                                          </p:val>
                                        </p:tav>
                                        <p:tav tm="100000">
                                          <p:val>
                                            <p:strVal val="#ppt_x"/>
                                          </p:val>
                                        </p:tav>
                                      </p:tavLst>
                                    </p:anim>
                                    <p:anim calcmode="lin" valueType="num">
                                      <p:cBhvr additive="base">
                                        <p:cTn id="14" dur="500" fill="hold"/>
                                        <p:tgtEl>
                                          <p:spTgt spid="44749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7497"/>
                                        </p:tgtEl>
                                        <p:attrNameLst>
                                          <p:attrName>style.visibility</p:attrName>
                                        </p:attrNameLst>
                                      </p:cBhvr>
                                      <p:to>
                                        <p:strVal val="visible"/>
                                      </p:to>
                                    </p:set>
                                    <p:anim calcmode="lin" valueType="num">
                                      <p:cBhvr additive="base">
                                        <p:cTn id="19" dur="500" fill="hold"/>
                                        <p:tgtEl>
                                          <p:spTgt spid="447497"/>
                                        </p:tgtEl>
                                        <p:attrNameLst>
                                          <p:attrName>ppt_x</p:attrName>
                                        </p:attrNameLst>
                                      </p:cBhvr>
                                      <p:tavLst>
                                        <p:tav tm="0">
                                          <p:val>
                                            <p:strVal val="#ppt_x"/>
                                          </p:val>
                                        </p:tav>
                                        <p:tav tm="100000">
                                          <p:val>
                                            <p:strVal val="#ppt_x"/>
                                          </p:val>
                                        </p:tav>
                                      </p:tavLst>
                                    </p:anim>
                                    <p:anim calcmode="lin" valueType="num">
                                      <p:cBhvr additive="base">
                                        <p:cTn id="20" dur="500" fill="hold"/>
                                        <p:tgtEl>
                                          <p:spTgt spid="44749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7496"/>
                                        </p:tgtEl>
                                        <p:attrNameLst>
                                          <p:attrName>style.visibility</p:attrName>
                                        </p:attrNameLst>
                                      </p:cBhvr>
                                      <p:to>
                                        <p:strVal val="visible"/>
                                      </p:to>
                                    </p:set>
                                    <p:anim calcmode="lin" valueType="num">
                                      <p:cBhvr additive="base">
                                        <p:cTn id="25" dur="500" fill="hold"/>
                                        <p:tgtEl>
                                          <p:spTgt spid="447496"/>
                                        </p:tgtEl>
                                        <p:attrNameLst>
                                          <p:attrName>ppt_x</p:attrName>
                                        </p:attrNameLst>
                                      </p:cBhvr>
                                      <p:tavLst>
                                        <p:tav tm="0">
                                          <p:val>
                                            <p:strVal val="#ppt_x"/>
                                          </p:val>
                                        </p:tav>
                                        <p:tav tm="100000">
                                          <p:val>
                                            <p:strVal val="#ppt_x"/>
                                          </p:val>
                                        </p:tav>
                                      </p:tavLst>
                                    </p:anim>
                                    <p:anim calcmode="lin" valueType="num">
                                      <p:cBhvr additive="base">
                                        <p:cTn id="26" dur="500" fill="hold"/>
                                        <p:tgtEl>
                                          <p:spTgt spid="4474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49"/>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E212781D-1299-4586-89EF-B02FE0CC16A6}" type="datetime1">
              <a:rPr lang="en-US" altLang="zh-CN" sz="1200" smtClean="0"/>
              <a:pPr>
                <a:spcBef>
                  <a:spcPct val="0"/>
                </a:spcBef>
                <a:buClrTx/>
                <a:buFontTx/>
                <a:buNone/>
              </a:pPr>
              <a:t>9/14/2025</a:t>
            </a:fld>
            <a:endParaRPr lang="en-US" altLang="zh-CN" sz="1200"/>
          </a:p>
        </p:txBody>
      </p:sp>
      <p:sp>
        <p:nvSpPr>
          <p:cNvPr id="86019" name="灯片编号占位符 51"/>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8A061592-71E1-4BE3-A068-4BA441E8E017}" type="slidenum">
              <a:rPr lang="en-US" altLang="zh-CN" sz="1200" smtClean="0"/>
              <a:pPr>
                <a:spcBef>
                  <a:spcPct val="0"/>
                </a:spcBef>
                <a:buClrTx/>
                <a:buFontTx/>
                <a:buNone/>
              </a:pPr>
              <a:t>42</a:t>
            </a:fld>
            <a:endParaRPr lang="en-US" altLang="zh-CN" sz="1200"/>
          </a:p>
        </p:txBody>
      </p:sp>
      <p:grpSp>
        <p:nvGrpSpPr>
          <p:cNvPr id="86020" name="Group 1030"/>
          <p:cNvGrpSpPr>
            <a:grpSpLocks/>
          </p:cNvGrpSpPr>
          <p:nvPr/>
        </p:nvGrpSpPr>
        <p:grpSpPr bwMode="auto">
          <a:xfrm>
            <a:off x="1130300" y="963613"/>
            <a:ext cx="7329488" cy="3541712"/>
            <a:chOff x="864" y="672"/>
            <a:chExt cx="4617" cy="2231"/>
          </a:xfrm>
        </p:grpSpPr>
        <p:grpSp>
          <p:nvGrpSpPr>
            <p:cNvPr id="86025" name="Group 1032"/>
            <p:cNvGrpSpPr>
              <a:grpSpLocks/>
            </p:cNvGrpSpPr>
            <p:nvPr/>
          </p:nvGrpSpPr>
          <p:grpSpPr bwMode="auto">
            <a:xfrm>
              <a:off x="1008" y="1008"/>
              <a:ext cx="3312" cy="1895"/>
              <a:chOff x="1008" y="1152"/>
              <a:chExt cx="3312" cy="1895"/>
            </a:xfrm>
          </p:grpSpPr>
          <p:sp>
            <p:nvSpPr>
              <p:cNvPr id="86027" name="Rectangle 1072"/>
              <p:cNvSpPr>
                <a:spLocks noChangeArrowheads="1"/>
              </p:cNvSpPr>
              <p:nvPr/>
            </p:nvSpPr>
            <p:spPr bwMode="auto">
              <a:xfrm>
                <a:off x="2544" y="1463"/>
                <a:ext cx="240" cy="67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6028" name="Rectangle 1071"/>
              <p:cNvSpPr>
                <a:spLocks noChangeArrowheads="1"/>
              </p:cNvSpPr>
              <p:nvPr/>
            </p:nvSpPr>
            <p:spPr bwMode="auto">
              <a:xfrm>
                <a:off x="2544" y="2135"/>
                <a:ext cx="240" cy="864"/>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6029" name="Rectangle 1070"/>
              <p:cNvSpPr>
                <a:spLocks noChangeArrowheads="1"/>
              </p:cNvSpPr>
              <p:nvPr/>
            </p:nvSpPr>
            <p:spPr bwMode="auto">
              <a:xfrm>
                <a:off x="1536" y="1703"/>
                <a:ext cx="100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6030" name="Line 1069"/>
              <p:cNvSpPr>
                <a:spLocks noChangeShapeType="1"/>
              </p:cNvSpPr>
              <p:nvPr/>
            </p:nvSpPr>
            <p:spPr bwMode="auto">
              <a:xfrm>
                <a:off x="1008" y="1799"/>
                <a:ext cx="2640"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1" name="Freeform 1068"/>
              <p:cNvSpPr>
                <a:spLocks noChangeArrowheads="1"/>
              </p:cNvSpPr>
              <p:nvPr/>
            </p:nvSpPr>
            <p:spPr bwMode="auto">
              <a:xfrm>
                <a:off x="1757" y="1511"/>
                <a:ext cx="152" cy="576"/>
              </a:xfrm>
              <a:custGeom>
                <a:avLst/>
                <a:gdLst>
                  <a:gd name="T0" fmla="*/ 48 w 152"/>
                  <a:gd name="T1" fmla="*/ 0 h 576"/>
                  <a:gd name="T2" fmla="*/ 144 w 152"/>
                  <a:gd name="T3" fmla="*/ 336 h 576"/>
                  <a:gd name="T4" fmla="*/ 0 w 152"/>
                  <a:gd name="T5" fmla="*/ 576 h 576"/>
                  <a:gd name="T6" fmla="*/ 0 60000 65536"/>
                  <a:gd name="T7" fmla="*/ 0 60000 65536"/>
                  <a:gd name="T8" fmla="*/ 0 60000 65536"/>
                </a:gdLst>
                <a:ahLst/>
                <a:cxnLst>
                  <a:cxn ang="T6">
                    <a:pos x="T0" y="T1"/>
                  </a:cxn>
                  <a:cxn ang="T7">
                    <a:pos x="T2" y="T3"/>
                  </a:cxn>
                  <a:cxn ang="T8">
                    <a:pos x="T4" y="T5"/>
                  </a:cxn>
                </a:cxnLst>
                <a:rect l="0" t="0" r="r" b="b"/>
                <a:pathLst>
                  <a:path w="152" h="576">
                    <a:moveTo>
                      <a:pt x="48" y="0"/>
                    </a:moveTo>
                    <a:cubicBezTo>
                      <a:pt x="100" y="120"/>
                      <a:pt x="152" y="240"/>
                      <a:pt x="144" y="336"/>
                    </a:cubicBezTo>
                    <a:cubicBezTo>
                      <a:pt x="136" y="432"/>
                      <a:pt x="68" y="504"/>
                      <a:pt x="0" y="576"/>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32" name="Text Box 1067"/>
              <p:cNvSpPr txBox="1">
                <a:spLocks noChangeArrowheads="1"/>
              </p:cNvSpPr>
              <p:nvPr/>
            </p:nvSpPr>
            <p:spPr bwMode="auto">
              <a:xfrm>
                <a:off x="1536" y="1904"/>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endParaRPr lang="en-US" altLang="zh-CN" sz="2900" baseline="-18000">
                  <a:latin typeface="Times New Roman" panose="02020603050405020304" pitchFamily="18" charset="0"/>
                </a:endParaRPr>
              </a:p>
            </p:txBody>
          </p:sp>
          <p:sp>
            <p:nvSpPr>
              <p:cNvPr id="86033" name="Text Box 1066"/>
              <p:cNvSpPr txBox="1">
                <a:spLocks noChangeArrowheads="1"/>
              </p:cNvSpPr>
              <p:nvPr/>
            </p:nvSpPr>
            <p:spPr bwMode="auto">
              <a:xfrm>
                <a:off x="1803" y="1900"/>
                <a:ext cx="3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1</a:t>
                </a:r>
              </a:p>
            </p:txBody>
          </p:sp>
          <p:sp>
            <p:nvSpPr>
              <p:cNvPr id="86034" name="Text Box 1065"/>
              <p:cNvSpPr txBox="1">
                <a:spLocks noChangeArrowheads="1"/>
              </p:cNvSpPr>
              <p:nvPr/>
            </p:nvSpPr>
            <p:spPr bwMode="auto">
              <a:xfrm>
                <a:off x="2763" y="1280"/>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1</a:t>
                </a:r>
              </a:p>
            </p:txBody>
          </p:sp>
          <p:sp>
            <p:nvSpPr>
              <p:cNvPr id="86035" name="Line 1064"/>
              <p:cNvSpPr>
                <a:spLocks noChangeShapeType="1"/>
              </p:cNvSpPr>
              <p:nvPr/>
            </p:nvSpPr>
            <p:spPr bwMode="auto">
              <a:xfrm flipV="1">
                <a:off x="1872" y="2567"/>
                <a:ext cx="2448"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6" name="Freeform 1063"/>
              <p:cNvSpPr>
                <a:spLocks noChangeArrowheads="1"/>
              </p:cNvSpPr>
              <p:nvPr/>
            </p:nvSpPr>
            <p:spPr bwMode="auto">
              <a:xfrm flipH="1" flipV="1">
                <a:off x="3352" y="2279"/>
                <a:ext cx="152" cy="576"/>
              </a:xfrm>
              <a:custGeom>
                <a:avLst/>
                <a:gdLst>
                  <a:gd name="T0" fmla="*/ 48 w 152"/>
                  <a:gd name="T1" fmla="*/ 0 h 576"/>
                  <a:gd name="T2" fmla="*/ 144 w 152"/>
                  <a:gd name="T3" fmla="*/ 336 h 576"/>
                  <a:gd name="T4" fmla="*/ 0 w 152"/>
                  <a:gd name="T5" fmla="*/ 576 h 576"/>
                  <a:gd name="T6" fmla="*/ 0 60000 65536"/>
                  <a:gd name="T7" fmla="*/ 0 60000 65536"/>
                  <a:gd name="T8" fmla="*/ 0 60000 65536"/>
                </a:gdLst>
                <a:ahLst/>
                <a:cxnLst>
                  <a:cxn ang="T6">
                    <a:pos x="T0" y="T1"/>
                  </a:cxn>
                  <a:cxn ang="T7">
                    <a:pos x="T2" y="T3"/>
                  </a:cxn>
                  <a:cxn ang="T8">
                    <a:pos x="T4" y="T5"/>
                  </a:cxn>
                </a:cxnLst>
                <a:rect l="0" t="0" r="r" b="b"/>
                <a:pathLst>
                  <a:path w="152" h="576">
                    <a:moveTo>
                      <a:pt x="48" y="0"/>
                    </a:moveTo>
                    <a:cubicBezTo>
                      <a:pt x="100" y="120"/>
                      <a:pt x="152" y="240"/>
                      <a:pt x="144" y="336"/>
                    </a:cubicBezTo>
                    <a:cubicBezTo>
                      <a:pt x="136" y="432"/>
                      <a:pt x="68" y="504"/>
                      <a:pt x="0" y="576"/>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37" name="Text Box 1062"/>
              <p:cNvSpPr txBox="1">
                <a:spLocks noChangeArrowheads="1"/>
              </p:cNvSpPr>
              <p:nvPr/>
            </p:nvSpPr>
            <p:spPr bwMode="auto">
              <a:xfrm>
                <a:off x="3147" y="2624"/>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r>
                  <a:rPr lang="en-US" altLang="zh-CN" sz="2900" baseline="-18000">
                    <a:latin typeface="Times New Roman" panose="02020603050405020304" pitchFamily="18" charset="0"/>
                  </a:rPr>
                  <a:t>2</a:t>
                </a:r>
              </a:p>
            </p:txBody>
          </p:sp>
          <p:sp>
            <p:nvSpPr>
              <p:cNvPr id="86038" name="Text Box 1061"/>
              <p:cNvSpPr txBox="1">
                <a:spLocks noChangeArrowheads="1"/>
              </p:cNvSpPr>
              <p:nvPr/>
            </p:nvSpPr>
            <p:spPr bwMode="auto">
              <a:xfrm>
                <a:off x="3483" y="2620"/>
                <a:ext cx="3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baseline="-18000">
                    <a:latin typeface="Times New Roman" panose="02020603050405020304" pitchFamily="18" charset="0"/>
                  </a:rPr>
                  <a:t>2</a:t>
                </a:r>
              </a:p>
            </p:txBody>
          </p:sp>
          <p:sp>
            <p:nvSpPr>
              <p:cNvPr id="86039" name="Text Box 1060"/>
              <p:cNvSpPr txBox="1">
                <a:spLocks noChangeArrowheads="1"/>
              </p:cNvSpPr>
              <p:nvPr/>
            </p:nvSpPr>
            <p:spPr bwMode="auto">
              <a:xfrm>
                <a:off x="2265" y="2720"/>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2</a:t>
                </a:r>
              </a:p>
            </p:txBody>
          </p:sp>
          <p:sp useBgFill="1">
            <p:nvSpPr>
              <p:cNvPr id="86040" name="Rectangle 1059"/>
              <p:cNvSpPr>
                <a:spLocks noChangeArrowheads="1"/>
              </p:cNvSpPr>
              <p:nvPr/>
            </p:nvSpPr>
            <p:spPr bwMode="auto">
              <a:xfrm>
                <a:off x="1152" y="1511"/>
                <a:ext cx="384" cy="576"/>
              </a:xfrm>
              <a:prstGeom prst="rect">
                <a:avLst/>
              </a:prstGeom>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1</a:t>
                </a:r>
              </a:p>
            </p:txBody>
          </p:sp>
          <p:grpSp>
            <p:nvGrpSpPr>
              <p:cNvPr id="86041" name="Group 1054"/>
              <p:cNvGrpSpPr>
                <a:grpSpLocks/>
              </p:cNvGrpSpPr>
              <p:nvPr/>
            </p:nvGrpSpPr>
            <p:grpSpPr bwMode="auto">
              <a:xfrm>
                <a:off x="2160" y="1479"/>
                <a:ext cx="192" cy="144"/>
                <a:chOff x="3648" y="1440"/>
                <a:chExt cx="192" cy="144"/>
              </a:xfrm>
            </p:grpSpPr>
            <p:sp>
              <p:nvSpPr>
                <p:cNvPr id="86063" name="Rectangle 1058" descr="宽上对角线"/>
                <p:cNvSpPr>
                  <a:spLocks noChangeArrowheads="1"/>
                </p:cNvSpPr>
                <p:nvPr/>
              </p:nvSpPr>
              <p:spPr bwMode="auto">
                <a:xfrm>
                  <a:off x="3648" y="1440"/>
                  <a:ext cx="192" cy="14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6064" name="Line 1057"/>
                <p:cNvSpPr>
                  <a:spLocks noChangeShapeType="1"/>
                </p:cNvSpPr>
                <p:nvPr/>
              </p:nvSpPr>
              <p:spPr bwMode="auto">
                <a:xfrm>
                  <a:off x="3648"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65" name="Line 1056"/>
                <p:cNvSpPr>
                  <a:spLocks noChangeShapeType="1"/>
                </p:cNvSpPr>
                <p:nvPr/>
              </p:nvSpPr>
              <p:spPr bwMode="auto">
                <a:xfrm>
                  <a:off x="3648" y="1584"/>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66" name="Line 1055"/>
                <p:cNvSpPr>
                  <a:spLocks noChangeShapeType="1"/>
                </p:cNvSpPr>
                <p:nvPr/>
              </p:nvSpPr>
              <p:spPr bwMode="auto">
                <a:xfrm flipV="1">
                  <a:off x="3840"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6042" name="Group 1049"/>
              <p:cNvGrpSpPr>
                <a:grpSpLocks/>
              </p:cNvGrpSpPr>
              <p:nvPr/>
            </p:nvGrpSpPr>
            <p:grpSpPr bwMode="auto">
              <a:xfrm flipV="1">
                <a:off x="2160" y="1975"/>
                <a:ext cx="192" cy="144"/>
                <a:chOff x="3648" y="1440"/>
                <a:chExt cx="192" cy="144"/>
              </a:xfrm>
            </p:grpSpPr>
            <p:sp>
              <p:nvSpPr>
                <p:cNvPr id="86059" name="Rectangle 1053" descr="宽上对角线"/>
                <p:cNvSpPr>
                  <a:spLocks noChangeArrowheads="1"/>
                </p:cNvSpPr>
                <p:nvPr/>
              </p:nvSpPr>
              <p:spPr bwMode="auto">
                <a:xfrm>
                  <a:off x="3648" y="1440"/>
                  <a:ext cx="192" cy="14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6060" name="Line 1052"/>
                <p:cNvSpPr>
                  <a:spLocks noChangeShapeType="1"/>
                </p:cNvSpPr>
                <p:nvPr/>
              </p:nvSpPr>
              <p:spPr bwMode="auto">
                <a:xfrm>
                  <a:off x="3648"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61" name="Line 1051"/>
                <p:cNvSpPr>
                  <a:spLocks noChangeShapeType="1"/>
                </p:cNvSpPr>
                <p:nvPr/>
              </p:nvSpPr>
              <p:spPr bwMode="auto">
                <a:xfrm>
                  <a:off x="3648" y="1584"/>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62" name="Line 1050"/>
                <p:cNvSpPr>
                  <a:spLocks noChangeShapeType="1"/>
                </p:cNvSpPr>
                <p:nvPr/>
              </p:nvSpPr>
              <p:spPr bwMode="auto">
                <a:xfrm flipV="1">
                  <a:off x="3840"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6043" name="Text Box 1048"/>
              <p:cNvSpPr txBox="1">
                <a:spLocks noChangeArrowheads="1"/>
              </p:cNvSpPr>
              <p:nvPr/>
            </p:nvSpPr>
            <p:spPr bwMode="auto">
              <a:xfrm>
                <a:off x="2107" y="1152"/>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C</a:t>
                </a:r>
                <a:r>
                  <a:rPr lang="en-US" altLang="zh-CN" sz="2900" baseline="-18000">
                    <a:latin typeface="Times New Roman" panose="02020603050405020304" pitchFamily="18" charset="0"/>
                  </a:rPr>
                  <a:t>1</a:t>
                </a:r>
              </a:p>
            </p:txBody>
          </p:sp>
          <p:sp>
            <p:nvSpPr>
              <p:cNvPr id="86044" name="Rectangle 1047"/>
              <p:cNvSpPr>
                <a:spLocks noChangeArrowheads="1"/>
              </p:cNvSpPr>
              <p:nvPr/>
            </p:nvSpPr>
            <p:spPr bwMode="auto">
              <a:xfrm>
                <a:off x="2784" y="2471"/>
                <a:ext cx="100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useBgFill="1">
            <p:nvSpPr>
              <p:cNvPr id="86045" name="Rectangle 1046"/>
              <p:cNvSpPr>
                <a:spLocks noChangeArrowheads="1"/>
              </p:cNvSpPr>
              <p:nvPr/>
            </p:nvSpPr>
            <p:spPr bwMode="auto">
              <a:xfrm>
                <a:off x="3792" y="2279"/>
                <a:ext cx="384" cy="576"/>
              </a:xfrm>
              <a:prstGeom prst="rect">
                <a:avLst/>
              </a:prstGeom>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2</a:t>
                </a:r>
              </a:p>
            </p:txBody>
          </p:sp>
          <p:grpSp>
            <p:nvGrpSpPr>
              <p:cNvPr id="86046" name="Group 1041"/>
              <p:cNvGrpSpPr>
                <a:grpSpLocks/>
              </p:cNvGrpSpPr>
              <p:nvPr/>
            </p:nvGrpSpPr>
            <p:grpSpPr bwMode="auto">
              <a:xfrm>
                <a:off x="2928" y="2254"/>
                <a:ext cx="192" cy="144"/>
                <a:chOff x="3648" y="1440"/>
                <a:chExt cx="192" cy="144"/>
              </a:xfrm>
            </p:grpSpPr>
            <p:sp>
              <p:nvSpPr>
                <p:cNvPr id="86055" name="Rectangle 1045" descr="宽上对角线"/>
                <p:cNvSpPr>
                  <a:spLocks noChangeArrowheads="1"/>
                </p:cNvSpPr>
                <p:nvPr/>
              </p:nvSpPr>
              <p:spPr bwMode="auto">
                <a:xfrm>
                  <a:off x="3648" y="1440"/>
                  <a:ext cx="192" cy="14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6056" name="Line 1044"/>
                <p:cNvSpPr>
                  <a:spLocks noChangeShapeType="1"/>
                </p:cNvSpPr>
                <p:nvPr/>
              </p:nvSpPr>
              <p:spPr bwMode="auto">
                <a:xfrm>
                  <a:off x="3648"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57" name="Line 1043"/>
                <p:cNvSpPr>
                  <a:spLocks noChangeShapeType="1"/>
                </p:cNvSpPr>
                <p:nvPr/>
              </p:nvSpPr>
              <p:spPr bwMode="auto">
                <a:xfrm>
                  <a:off x="3648" y="1584"/>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58" name="Line 1042"/>
                <p:cNvSpPr>
                  <a:spLocks noChangeShapeType="1"/>
                </p:cNvSpPr>
                <p:nvPr/>
              </p:nvSpPr>
              <p:spPr bwMode="auto">
                <a:xfrm flipV="1">
                  <a:off x="3840"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6047" name="Group 1036"/>
              <p:cNvGrpSpPr>
                <a:grpSpLocks/>
              </p:cNvGrpSpPr>
              <p:nvPr/>
            </p:nvGrpSpPr>
            <p:grpSpPr bwMode="auto">
              <a:xfrm flipV="1">
                <a:off x="2928" y="2734"/>
                <a:ext cx="192" cy="144"/>
                <a:chOff x="3648" y="1440"/>
                <a:chExt cx="192" cy="144"/>
              </a:xfrm>
            </p:grpSpPr>
            <p:sp>
              <p:nvSpPr>
                <p:cNvPr id="86051" name="Rectangle 1040" descr="宽上对角线"/>
                <p:cNvSpPr>
                  <a:spLocks noChangeArrowheads="1"/>
                </p:cNvSpPr>
                <p:nvPr/>
              </p:nvSpPr>
              <p:spPr bwMode="auto">
                <a:xfrm>
                  <a:off x="3648" y="1440"/>
                  <a:ext cx="192" cy="14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86052" name="Line 1039"/>
                <p:cNvSpPr>
                  <a:spLocks noChangeShapeType="1"/>
                </p:cNvSpPr>
                <p:nvPr/>
              </p:nvSpPr>
              <p:spPr bwMode="auto">
                <a:xfrm>
                  <a:off x="3648"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53" name="Line 1038"/>
                <p:cNvSpPr>
                  <a:spLocks noChangeShapeType="1"/>
                </p:cNvSpPr>
                <p:nvPr/>
              </p:nvSpPr>
              <p:spPr bwMode="auto">
                <a:xfrm>
                  <a:off x="3648" y="1584"/>
                  <a:ext cx="19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54" name="Line 1037"/>
                <p:cNvSpPr>
                  <a:spLocks noChangeShapeType="1"/>
                </p:cNvSpPr>
                <p:nvPr/>
              </p:nvSpPr>
              <p:spPr bwMode="auto">
                <a:xfrm flipV="1">
                  <a:off x="3840" y="1440"/>
                  <a:ext cx="0" cy="14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6048" name="Text Box 1035"/>
              <p:cNvSpPr txBox="1">
                <a:spLocks noChangeArrowheads="1"/>
              </p:cNvSpPr>
              <p:nvPr/>
            </p:nvSpPr>
            <p:spPr bwMode="auto">
              <a:xfrm>
                <a:off x="2875" y="1943"/>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C</a:t>
                </a:r>
                <a:r>
                  <a:rPr lang="en-US" altLang="zh-CN" sz="2900" baseline="-18000">
                    <a:latin typeface="Times New Roman" panose="02020603050405020304" pitchFamily="18" charset="0"/>
                  </a:rPr>
                  <a:t>2</a:t>
                </a:r>
              </a:p>
            </p:txBody>
          </p:sp>
          <p:sp>
            <p:nvSpPr>
              <p:cNvPr id="86049" name="Freeform 1034"/>
              <p:cNvSpPr>
                <a:spLocks noChangeArrowheads="1"/>
              </p:cNvSpPr>
              <p:nvPr/>
            </p:nvSpPr>
            <p:spPr bwMode="auto">
              <a:xfrm flipH="1" flipV="1">
                <a:off x="3264" y="1511"/>
                <a:ext cx="152" cy="576"/>
              </a:xfrm>
              <a:custGeom>
                <a:avLst/>
                <a:gdLst>
                  <a:gd name="T0" fmla="*/ 48 w 152"/>
                  <a:gd name="T1" fmla="*/ 0 h 576"/>
                  <a:gd name="T2" fmla="*/ 144 w 152"/>
                  <a:gd name="T3" fmla="*/ 336 h 576"/>
                  <a:gd name="T4" fmla="*/ 0 w 152"/>
                  <a:gd name="T5" fmla="*/ 576 h 576"/>
                  <a:gd name="T6" fmla="*/ 0 60000 65536"/>
                  <a:gd name="T7" fmla="*/ 0 60000 65536"/>
                  <a:gd name="T8" fmla="*/ 0 60000 65536"/>
                </a:gdLst>
                <a:ahLst/>
                <a:cxnLst>
                  <a:cxn ang="T6">
                    <a:pos x="T0" y="T1"/>
                  </a:cxn>
                  <a:cxn ang="T7">
                    <a:pos x="T2" y="T3"/>
                  </a:cxn>
                  <a:cxn ang="T8">
                    <a:pos x="T4" y="T5"/>
                  </a:cxn>
                </a:cxnLst>
                <a:rect l="0" t="0" r="r" b="b"/>
                <a:pathLst>
                  <a:path w="152" h="576">
                    <a:moveTo>
                      <a:pt x="48" y="0"/>
                    </a:moveTo>
                    <a:cubicBezTo>
                      <a:pt x="100" y="120"/>
                      <a:pt x="152" y="240"/>
                      <a:pt x="144" y="336"/>
                    </a:cubicBezTo>
                    <a:cubicBezTo>
                      <a:pt x="136" y="432"/>
                      <a:pt x="68" y="504"/>
                      <a:pt x="0" y="576"/>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50" name="Text Box 1033"/>
              <p:cNvSpPr txBox="1">
                <a:spLocks noChangeArrowheads="1"/>
              </p:cNvSpPr>
              <p:nvPr/>
            </p:nvSpPr>
            <p:spPr bwMode="auto">
              <a:xfrm>
                <a:off x="3408" y="1367"/>
                <a:ext cx="3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r>
                  <a:rPr lang="en-US" altLang="zh-CN" sz="2900" baseline="-18000">
                    <a:latin typeface="Times New Roman" panose="02020603050405020304" pitchFamily="18" charset="0"/>
                  </a:rPr>
                  <a:t>1</a:t>
                </a:r>
              </a:p>
            </p:txBody>
          </p:sp>
        </p:grpSp>
        <p:sp>
          <p:nvSpPr>
            <p:cNvPr id="86026" name="Rectangle 1031"/>
            <p:cNvSpPr>
              <a:spLocks noChangeArrowheads="1"/>
            </p:cNvSpPr>
            <p:nvPr/>
          </p:nvSpPr>
          <p:spPr bwMode="auto">
            <a:xfrm>
              <a:off x="864" y="672"/>
              <a:ext cx="4617"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考虑阻尼和转动惯量时集中参数齿轮副模型：</a:t>
              </a:r>
            </a:p>
          </p:txBody>
        </p:sp>
      </p:grpSp>
      <p:grpSp>
        <p:nvGrpSpPr>
          <p:cNvPr id="446466" name="Group 1026"/>
          <p:cNvGrpSpPr>
            <a:grpSpLocks/>
          </p:cNvGrpSpPr>
          <p:nvPr/>
        </p:nvGrpSpPr>
        <p:grpSpPr bwMode="auto">
          <a:xfrm>
            <a:off x="1387475" y="4724400"/>
            <a:ext cx="6232525" cy="1600200"/>
            <a:chOff x="874" y="2976"/>
            <a:chExt cx="3926" cy="1008"/>
          </a:xfrm>
        </p:grpSpPr>
        <p:sp>
          <p:nvSpPr>
            <p:cNvPr id="86022" name="Rectangle 1029"/>
            <p:cNvSpPr>
              <a:spLocks noChangeArrowheads="1"/>
            </p:cNvSpPr>
            <p:nvPr/>
          </p:nvSpPr>
          <p:spPr bwMode="auto">
            <a:xfrm>
              <a:off x="874" y="3312"/>
              <a:ext cx="36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J</a:t>
              </a:r>
              <a:r>
                <a:rPr lang="en-US" altLang="zh-CN" sz="2900" baseline="-18000">
                  <a:latin typeface="Times New Roman" panose="02020603050405020304" pitchFamily="18" charset="0"/>
                </a:rPr>
                <a:t>2  </a:t>
              </a:r>
              <a:r>
                <a:rPr lang="zh-CN" altLang="en-US" sz="2800">
                  <a:latin typeface="Times New Roman" panose="02020603050405020304" pitchFamily="18" charset="0"/>
                </a:rPr>
                <a:t>：齿轮（包括轴）的转动惯量</a:t>
              </a:r>
            </a:p>
          </p:txBody>
        </p:sp>
        <p:sp>
          <p:nvSpPr>
            <p:cNvPr id="86023" name="Rectangle 1028"/>
            <p:cNvSpPr>
              <a:spLocks noChangeArrowheads="1"/>
            </p:cNvSpPr>
            <p:nvPr/>
          </p:nvSpPr>
          <p:spPr bwMode="auto">
            <a:xfrm>
              <a:off x="874" y="3657"/>
              <a:ext cx="39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C</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C</a:t>
              </a:r>
              <a:r>
                <a:rPr lang="en-US" altLang="zh-CN" sz="2900" baseline="-18000">
                  <a:latin typeface="Times New Roman" panose="02020603050405020304" pitchFamily="18" charset="0"/>
                </a:rPr>
                <a:t>2</a:t>
              </a:r>
              <a:r>
                <a:rPr lang="zh-CN" altLang="en-US" sz="2800">
                  <a:latin typeface="Times New Roman" panose="02020603050405020304" pitchFamily="18" charset="0"/>
                </a:rPr>
                <a:t>：啮合齿轮、支承粘性阻尼系数</a:t>
              </a:r>
            </a:p>
          </p:txBody>
        </p:sp>
        <p:sp>
          <p:nvSpPr>
            <p:cNvPr id="86024" name="Rectangle 1027"/>
            <p:cNvSpPr>
              <a:spLocks noChangeArrowheads="1"/>
            </p:cNvSpPr>
            <p:nvPr/>
          </p:nvSpPr>
          <p:spPr bwMode="auto">
            <a:xfrm>
              <a:off x="882" y="2976"/>
              <a:ext cx="18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        </a:t>
              </a:r>
              <a:r>
                <a:rPr lang="en-US" altLang="zh-CN" sz="2900" baseline="-18000">
                  <a:latin typeface="Times New Roman" panose="02020603050405020304" pitchFamily="18" charset="0"/>
                </a:rPr>
                <a:t>  </a:t>
              </a:r>
              <a:r>
                <a:rPr lang="zh-CN" altLang="en-US" sz="2800">
                  <a:latin typeface="Times New Roman" panose="02020603050405020304" pitchFamily="18" charset="0"/>
                </a:rPr>
                <a:t>：输入转矩</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6466"/>
                                        </p:tgtEl>
                                        <p:attrNameLst>
                                          <p:attrName>style.visibility</p:attrName>
                                        </p:attrNameLst>
                                      </p:cBhvr>
                                      <p:to>
                                        <p:strVal val="visible"/>
                                      </p:to>
                                    </p:set>
                                    <p:anim calcmode="lin" valueType="num">
                                      <p:cBhvr additive="base">
                                        <p:cTn id="7" dur="500" fill="hold"/>
                                        <p:tgtEl>
                                          <p:spTgt spid="446466"/>
                                        </p:tgtEl>
                                        <p:attrNameLst>
                                          <p:attrName>ppt_x</p:attrName>
                                        </p:attrNameLst>
                                      </p:cBhvr>
                                      <p:tavLst>
                                        <p:tav tm="0">
                                          <p:val>
                                            <p:strVal val="#ppt_x"/>
                                          </p:val>
                                        </p:tav>
                                        <p:tav tm="100000">
                                          <p:val>
                                            <p:strVal val="#ppt_x"/>
                                          </p:val>
                                        </p:tav>
                                      </p:tavLst>
                                    </p:anim>
                                    <p:anim calcmode="lin" valueType="num">
                                      <p:cBhvr additive="base">
                                        <p:cTn id="8" dur="500" fill="hold"/>
                                        <p:tgtEl>
                                          <p:spTgt spid="4464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14"/>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F2AA69E2-A7F4-427D-83F8-4865FDDA8EED}" type="datetime1">
              <a:rPr lang="en-US" altLang="zh-CN" sz="1200" smtClean="0"/>
              <a:pPr>
                <a:spcBef>
                  <a:spcPct val="0"/>
                </a:spcBef>
                <a:buClrTx/>
                <a:buFontTx/>
                <a:buNone/>
              </a:pPr>
              <a:t>9/14/2025</a:t>
            </a:fld>
            <a:endParaRPr lang="en-US" altLang="zh-CN" sz="1200"/>
          </a:p>
        </p:txBody>
      </p:sp>
      <p:sp>
        <p:nvSpPr>
          <p:cNvPr id="87043" name="灯片编号占位符 1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74B809AC-5ED0-4646-B742-136FC14F65FD}" type="slidenum">
              <a:rPr lang="en-US" altLang="zh-CN" sz="1200" smtClean="0"/>
              <a:pPr>
                <a:spcBef>
                  <a:spcPct val="0"/>
                </a:spcBef>
                <a:buClrTx/>
                <a:buFontTx/>
                <a:buNone/>
              </a:pPr>
              <a:t>43</a:t>
            </a:fld>
            <a:endParaRPr lang="en-US" altLang="zh-CN" sz="1200"/>
          </a:p>
        </p:txBody>
      </p:sp>
      <p:sp>
        <p:nvSpPr>
          <p:cNvPr id="87044" name="Rectangle 1038"/>
          <p:cNvSpPr>
            <a:spLocks noChangeArrowheads="1"/>
          </p:cNvSpPr>
          <p:nvPr/>
        </p:nvSpPr>
        <p:spPr bwMode="auto">
          <a:xfrm>
            <a:off x="468313" y="855663"/>
            <a:ext cx="2697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宋体" panose="02010600030101010101" pitchFamily="2" charset="-122"/>
              </a:rPr>
              <a:t>根据牛顿定律：</a:t>
            </a:r>
          </a:p>
        </p:txBody>
      </p:sp>
      <p:grpSp>
        <p:nvGrpSpPr>
          <p:cNvPr id="87045" name="Group 1035"/>
          <p:cNvGrpSpPr>
            <a:grpSpLocks/>
          </p:cNvGrpSpPr>
          <p:nvPr/>
        </p:nvGrpSpPr>
        <p:grpSpPr bwMode="auto">
          <a:xfrm>
            <a:off x="1143000" y="1752600"/>
            <a:ext cx="7391400" cy="927100"/>
            <a:chOff x="672" y="1152"/>
            <a:chExt cx="4656" cy="584"/>
          </a:xfrm>
        </p:grpSpPr>
        <p:sp>
          <p:nvSpPr>
            <p:cNvPr id="87055" name="Rectangle 1037"/>
            <p:cNvSpPr>
              <a:spLocks noChangeArrowheads="1"/>
            </p:cNvSpPr>
            <p:nvPr/>
          </p:nvSpPr>
          <p:spPr bwMode="auto">
            <a:xfrm>
              <a:off x="672" y="1220"/>
              <a:ext cx="465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齿轮</a:t>
              </a:r>
              <a:r>
                <a:rPr lang="en-US" altLang="zh-CN" sz="2800">
                  <a:latin typeface="Times New Roman" panose="02020603050405020304" pitchFamily="18" charset="0"/>
                </a:rPr>
                <a:t>1</a:t>
              </a:r>
              <a:r>
                <a:rPr lang="zh-CN" altLang="en-US" sz="2800">
                  <a:latin typeface="Times New Roman" panose="02020603050405020304" pitchFamily="18" charset="0"/>
                </a:rPr>
                <a:t>：</a:t>
              </a:r>
            </a:p>
          </p:txBody>
        </p:sp>
        <p:graphicFrame>
          <p:nvGraphicFramePr>
            <p:cNvPr id="87056" name="Object 1036"/>
            <p:cNvGraphicFramePr>
              <a:graphicFrameLocks noChangeAspect="1"/>
            </p:cNvGraphicFramePr>
            <p:nvPr/>
          </p:nvGraphicFramePr>
          <p:xfrm>
            <a:off x="1510" y="1152"/>
            <a:ext cx="2870" cy="584"/>
          </p:xfrm>
          <a:graphic>
            <a:graphicData uri="http://schemas.openxmlformats.org/presentationml/2006/ole">
              <mc:AlternateContent xmlns:mc="http://schemas.openxmlformats.org/markup-compatibility/2006">
                <mc:Choice xmlns:v="urn:schemas-microsoft-com:vml" Requires="v">
                  <p:oleObj r:id="rId2" imgW="2184400" imgH="444500" progId="Equation.3">
                    <p:embed/>
                  </p:oleObj>
                </mc:Choice>
                <mc:Fallback>
                  <p:oleObj r:id="rId2" imgW="2184400" imgH="444500" progId="Equation.3">
                    <p:embed/>
                    <p:pic>
                      <p:nvPicPr>
                        <p:cNvPr id="0" name="Object 10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0" y="1152"/>
                          <a:ext cx="287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45448" name="Group 1032"/>
          <p:cNvGrpSpPr>
            <a:grpSpLocks/>
          </p:cNvGrpSpPr>
          <p:nvPr/>
        </p:nvGrpSpPr>
        <p:grpSpPr bwMode="auto">
          <a:xfrm>
            <a:off x="1143000" y="2882900"/>
            <a:ext cx="7391400" cy="927100"/>
            <a:chOff x="672" y="1816"/>
            <a:chExt cx="4656" cy="584"/>
          </a:xfrm>
        </p:grpSpPr>
        <p:sp>
          <p:nvSpPr>
            <p:cNvPr id="87053" name="Rectangle 1034"/>
            <p:cNvSpPr>
              <a:spLocks noChangeArrowheads="1"/>
            </p:cNvSpPr>
            <p:nvPr/>
          </p:nvSpPr>
          <p:spPr bwMode="auto">
            <a:xfrm>
              <a:off x="672" y="1915"/>
              <a:ext cx="465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齿轮</a:t>
              </a:r>
              <a:r>
                <a:rPr lang="en-US" altLang="zh-CN" sz="2800">
                  <a:latin typeface="Times New Roman" panose="02020603050405020304" pitchFamily="18" charset="0"/>
                </a:rPr>
                <a:t>2</a:t>
              </a:r>
              <a:r>
                <a:rPr lang="zh-CN" altLang="en-US" sz="2800">
                  <a:latin typeface="Times New Roman" panose="02020603050405020304" pitchFamily="18" charset="0"/>
                </a:rPr>
                <a:t>：</a:t>
              </a:r>
            </a:p>
          </p:txBody>
        </p:sp>
        <p:graphicFrame>
          <p:nvGraphicFramePr>
            <p:cNvPr id="87054" name="Object 1033"/>
            <p:cNvGraphicFramePr>
              <a:graphicFrameLocks noChangeAspect="1"/>
            </p:cNvGraphicFramePr>
            <p:nvPr/>
          </p:nvGraphicFramePr>
          <p:xfrm>
            <a:off x="1480" y="1816"/>
            <a:ext cx="2504" cy="584"/>
          </p:xfrm>
          <a:graphic>
            <a:graphicData uri="http://schemas.openxmlformats.org/presentationml/2006/ole">
              <mc:AlternateContent xmlns:mc="http://schemas.openxmlformats.org/markup-compatibility/2006">
                <mc:Choice xmlns:v="urn:schemas-microsoft-com:vml" Requires="v">
                  <p:oleObj r:id="rId4" imgW="1905000" imgH="444500" progId="Equation.3">
                    <p:embed/>
                  </p:oleObj>
                </mc:Choice>
                <mc:Fallback>
                  <p:oleObj r:id="rId4" imgW="1905000" imgH="444500" progId="Equation.3">
                    <p:embed/>
                    <p:pic>
                      <p:nvPicPr>
                        <p:cNvPr id="0" name="Object 10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0" y="1816"/>
                          <a:ext cx="250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45445" name="Group 1029"/>
          <p:cNvGrpSpPr>
            <a:grpSpLocks/>
          </p:cNvGrpSpPr>
          <p:nvPr/>
        </p:nvGrpSpPr>
        <p:grpSpPr bwMode="auto">
          <a:xfrm>
            <a:off x="1143000" y="3943350"/>
            <a:ext cx="7391400" cy="933450"/>
            <a:chOff x="672" y="2400"/>
            <a:chExt cx="4656" cy="588"/>
          </a:xfrm>
        </p:grpSpPr>
        <p:graphicFrame>
          <p:nvGraphicFramePr>
            <p:cNvPr id="87051" name="Object 1031"/>
            <p:cNvGraphicFramePr>
              <a:graphicFrameLocks noChangeAspect="1"/>
            </p:cNvGraphicFramePr>
            <p:nvPr/>
          </p:nvGraphicFramePr>
          <p:xfrm>
            <a:off x="1471" y="2400"/>
            <a:ext cx="2801" cy="588"/>
          </p:xfrm>
          <a:graphic>
            <a:graphicData uri="http://schemas.openxmlformats.org/presentationml/2006/ole">
              <mc:AlternateContent xmlns:mc="http://schemas.openxmlformats.org/markup-compatibility/2006">
                <mc:Choice xmlns:v="urn:schemas-microsoft-com:vml" Requires="v">
                  <p:oleObj r:id="rId6" imgW="2057400" imgH="431800" progId="Equation.3">
                    <p:embed/>
                  </p:oleObj>
                </mc:Choice>
                <mc:Fallback>
                  <p:oleObj r:id="rId6" imgW="2057400" imgH="431800" progId="Equation.3">
                    <p:embed/>
                    <p:pic>
                      <p:nvPicPr>
                        <p:cNvPr id="0" name="Object 10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1" y="2400"/>
                          <a:ext cx="2801"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52" name="Rectangle 1030"/>
            <p:cNvSpPr>
              <a:spLocks noChangeArrowheads="1"/>
            </p:cNvSpPr>
            <p:nvPr/>
          </p:nvSpPr>
          <p:spPr bwMode="auto">
            <a:xfrm>
              <a:off x="672" y="2465"/>
              <a:ext cx="4656"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利用：</a:t>
              </a:r>
            </a:p>
          </p:txBody>
        </p:sp>
      </p:grpSp>
      <p:grpSp>
        <p:nvGrpSpPr>
          <p:cNvPr id="445442" name="Group 1026"/>
          <p:cNvGrpSpPr>
            <a:grpSpLocks/>
          </p:cNvGrpSpPr>
          <p:nvPr/>
        </p:nvGrpSpPr>
        <p:grpSpPr bwMode="auto">
          <a:xfrm>
            <a:off x="1143000" y="5010150"/>
            <a:ext cx="6702425" cy="1085850"/>
            <a:chOff x="720" y="3156"/>
            <a:chExt cx="4222" cy="684"/>
          </a:xfrm>
        </p:grpSpPr>
        <p:sp>
          <p:nvSpPr>
            <p:cNvPr id="87049" name="Rectangle 1028"/>
            <p:cNvSpPr>
              <a:spLocks noChangeArrowheads="1"/>
            </p:cNvSpPr>
            <p:nvPr/>
          </p:nvSpPr>
          <p:spPr bwMode="auto">
            <a:xfrm>
              <a:off x="720" y="3321"/>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有：</a:t>
              </a:r>
            </a:p>
          </p:txBody>
        </p:sp>
        <p:graphicFrame>
          <p:nvGraphicFramePr>
            <p:cNvPr id="87050" name="Object 1027"/>
            <p:cNvGraphicFramePr>
              <a:graphicFrameLocks noChangeAspect="1"/>
            </p:cNvGraphicFramePr>
            <p:nvPr/>
          </p:nvGraphicFramePr>
          <p:xfrm>
            <a:off x="1488" y="3156"/>
            <a:ext cx="3454" cy="684"/>
          </p:xfrm>
          <a:graphic>
            <a:graphicData uri="http://schemas.openxmlformats.org/presentationml/2006/ole">
              <mc:AlternateContent xmlns:mc="http://schemas.openxmlformats.org/markup-compatibility/2006">
                <mc:Choice xmlns:v="urn:schemas-microsoft-com:vml" Requires="v">
                  <p:oleObj r:id="rId8" imgW="2628900" imgH="520700" progId="Equation.3">
                    <p:embed/>
                  </p:oleObj>
                </mc:Choice>
                <mc:Fallback>
                  <p:oleObj r:id="rId8" imgW="2628900" imgH="520700" progId="Equation.3">
                    <p:embed/>
                    <p:pic>
                      <p:nvPicPr>
                        <p:cNvPr id="0" name="Object 10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8" y="3156"/>
                          <a:ext cx="3454" cy="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5448"/>
                                        </p:tgtEl>
                                        <p:attrNameLst>
                                          <p:attrName>style.visibility</p:attrName>
                                        </p:attrNameLst>
                                      </p:cBhvr>
                                      <p:to>
                                        <p:strVal val="visible"/>
                                      </p:to>
                                    </p:set>
                                    <p:anim calcmode="lin" valueType="num">
                                      <p:cBhvr additive="base">
                                        <p:cTn id="7" dur="500" fill="hold"/>
                                        <p:tgtEl>
                                          <p:spTgt spid="445448"/>
                                        </p:tgtEl>
                                        <p:attrNameLst>
                                          <p:attrName>ppt_x</p:attrName>
                                        </p:attrNameLst>
                                      </p:cBhvr>
                                      <p:tavLst>
                                        <p:tav tm="0">
                                          <p:val>
                                            <p:strVal val="#ppt_x"/>
                                          </p:val>
                                        </p:tav>
                                        <p:tav tm="100000">
                                          <p:val>
                                            <p:strVal val="#ppt_x"/>
                                          </p:val>
                                        </p:tav>
                                      </p:tavLst>
                                    </p:anim>
                                    <p:anim calcmode="lin" valueType="num">
                                      <p:cBhvr additive="base">
                                        <p:cTn id="8" dur="500" fill="hold"/>
                                        <p:tgtEl>
                                          <p:spTgt spid="4454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5445"/>
                                        </p:tgtEl>
                                        <p:attrNameLst>
                                          <p:attrName>style.visibility</p:attrName>
                                        </p:attrNameLst>
                                      </p:cBhvr>
                                      <p:to>
                                        <p:strVal val="visible"/>
                                      </p:to>
                                    </p:set>
                                    <p:anim calcmode="lin" valueType="num">
                                      <p:cBhvr additive="base">
                                        <p:cTn id="13" dur="500" fill="hold"/>
                                        <p:tgtEl>
                                          <p:spTgt spid="445445"/>
                                        </p:tgtEl>
                                        <p:attrNameLst>
                                          <p:attrName>ppt_x</p:attrName>
                                        </p:attrNameLst>
                                      </p:cBhvr>
                                      <p:tavLst>
                                        <p:tav tm="0">
                                          <p:val>
                                            <p:strVal val="#ppt_x"/>
                                          </p:val>
                                        </p:tav>
                                        <p:tav tm="100000">
                                          <p:val>
                                            <p:strVal val="#ppt_x"/>
                                          </p:val>
                                        </p:tav>
                                      </p:tavLst>
                                    </p:anim>
                                    <p:anim calcmode="lin" valueType="num">
                                      <p:cBhvr additive="base">
                                        <p:cTn id="14" dur="500" fill="hold"/>
                                        <p:tgtEl>
                                          <p:spTgt spid="44544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5442"/>
                                        </p:tgtEl>
                                        <p:attrNameLst>
                                          <p:attrName>style.visibility</p:attrName>
                                        </p:attrNameLst>
                                      </p:cBhvr>
                                      <p:to>
                                        <p:strVal val="visible"/>
                                      </p:to>
                                    </p:set>
                                    <p:anim calcmode="lin" valueType="num">
                                      <p:cBhvr additive="base">
                                        <p:cTn id="19" dur="500" fill="hold"/>
                                        <p:tgtEl>
                                          <p:spTgt spid="445442"/>
                                        </p:tgtEl>
                                        <p:attrNameLst>
                                          <p:attrName>ppt_x</p:attrName>
                                        </p:attrNameLst>
                                      </p:cBhvr>
                                      <p:tavLst>
                                        <p:tav tm="0">
                                          <p:val>
                                            <p:strVal val="#ppt_x"/>
                                          </p:val>
                                        </p:tav>
                                        <p:tav tm="100000">
                                          <p:val>
                                            <p:strVal val="#ppt_x"/>
                                          </p:val>
                                        </p:tav>
                                      </p:tavLst>
                                    </p:anim>
                                    <p:anim calcmode="lin" valueType="num">
                                      <p:cBhvr additive="base">
                                        <p:cTn id="20" dur="500" fill="hold"/>
                                        <p:tgtEl>
                                          <p:spTgt spid="4454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12"/>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0E043F4-B6E5-4067-B24A-E01B2996C840}" type="datetime1">
              <a:rPr lang="en-US" altLang="zh-CN" sz="1200" smtClean="0"/>
              <a:pPr>
                <a:spcBef>
                  <a:spcPct val="0"/>
                </a:spcBef>
                <a:buClrTx/>
                <a:buFontTx/>
                <a:buNone/>
              </a:pPr>
              <a:t>9/14/2025</a:t>
            </a:fld>
            <a:endParaRPr lang="en-US" altLang="zh-CN" sz="1200"/>
          </a:p>
        </p:txBody>
      </p:sp>
      <p:sp>
        <p:nvSpPr>
          <p:cNvPr id="88067" name="灯片编号占位符 1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F6B4E7C0-CA7B-4EE7-85A7-B5D67B71DC32}" type="slidenum">
              <a:rPr lang="en-US" altLang="zh-CN" sz="1200" smtClean="0"/>
              <a:pPr>
                <a:spcBef>
                  <a:spcPct val="0"/>
                </a:spcBef>
                <a:buClrTx/>
                <a:buFontTx/>
                <a:buNone/>
              </a:pPr>
              <a:t>44</a:t>
            </a:fld>
            <a:endParaRPr lang="en-US" altLang="zh-CN" sz="1200"/>
          </a:p>
        </p:txBody>
      </p:sp>
      <p:graphicFrame>
        <p:nvGraphicFramePr>
          <p:cNvPr id="88068" name="Object 3"/>
          <p:cNvGraphicFramePr>
            <a:graphicFrameLocks noChangeAspect="1"/>
          </p:cNvGraphicFramePr>
          <p:nvPr/>
        </p:nvGraphicFramePr>
        <p:xfrm>
          <a:off x="1355725" y="785813"/>
          <a:ext cx="3787775" cy="927100"/>
        </p:xfrm>
        <a:graphic>
          <a:graphicData uri="http://schemas.openxmlformats.org/presentationml/2006/ole">
            <mc:AlternateContent xmlns:mc="http://schemas.openxmlformats.org/markup-compatibility/2006">
              <mc:Choice xmlns:v="urn:schemas-microsoft-com:vml" Requires="v">
                <p:oleObj r:id="rId2" imgW="1815312" imgH="444307" progId="Equation.3">
                  <p:embed/>
                </p:oleObj>
              </mc:Choice>
              <mc:Fallback>
                <p:oleObj r:id="rId2" imgW="1815312" imgH="444307"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5725" y="785813"/>
                        <a:ext cx="3787775"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95268" name="Group 4"/>
          <p:cNvGrpSpPr>
            <a:grpSpLocks/>
          </p:cNvGrpSpPr>
          <p:nvPr/>
        </p:nvGrpSpPr>
        <p:grpSpPr bwMode="auto">
          <a:xfrm>
            <a:off x="1054100" y="2160588"/>
            <a:ext cx="3795713" cy="625475"/>
            <a:chOff x="720" y="1601"/>
            <a:chExt cx="2391" cy="394"/>
          </a:xfrm>
        </p:grpSpPr>
        <p:sp>
          <p:nvSpPr>
            <p:cNvPr id="88076" name="Rectangle 5"/>
            <p:cNvSpPr>
              <a:spLocks noChangeArrowheads="1"/>
            </p:cNvSpPr>
            <p:nvPr/>
          </p:nvSpPr>
          <p:spPr bwMode="auto">
            <a:xfrm>
              <a:off x="720" y="1601"/>
              <a:ext cx="2304"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式中：</a:t>
              </a:r>
            </a:p>
          </p:txBody>
        </p:sp>
        <p:graphicFrame>
          <p:nvGraphicFramePr>
            <p:cNvPr id="88077" name="Object 6"/>
            <p:cNvGraphicFramePr>
              <a:graphicFrameLocks noChangeAspect="1"/>
            </p:cNvGraphicFramePr>
            <p:nvPr/>
          </p:nvGraphicFramePr>
          <p:xfrm>
            <a:off x="1425" y="1661"/>
            <a:ext cx="1686" cy="334"/>
          </p:xfrm>
          <a:graphic>
            <a:graphicData uri="http://schemas.openxmlformats.org/presentationml/2006/ole">
              <mc:AlternateContent xmlns:mc="http://schemas.openxmlformats.org/markup-compatibility/2006">
                <mc:Choice xmlns:v="urn:schemas-microsoft-com:vml" Requires="v">
                  <p:oleObj r:id="rId4" imgW="1282700" imgH="254000" progId="Equation.3">
                    <p:embed/>
                  </p:oleObj>
                </mc:Choice>
                <mc:Fallback>
                  <p:oleObj r:id="rId4" imgW="1282700" imgH="2540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5" y="1661"/>
                          <a:ext cx="168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95271" name="Rectangle 7"/>
          <p:cNvSpPr>
            <a:spLocks noChangeArrowheads="1"/>
          </p:cNvSpPr>
          <p:nvPr/>
        </p:nvSpPr>
        <p:spPr bwMode="auto">
          <a:xfrm>
            <a:off x="2173288" y="3113088"/>
            <a:ext cx="60198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en-US" altLang="zh-CN" sz="2800">
                <a:latin typeface="Times New Roman" panose="02020603050405020304" pitchFamily="18" charset="0"/>
              </a:rPr>
              <a:t>—— </a:t>
            </a:r>
            <a:r>
              <a:rPr lang="zh-CN" altLang="en-US" sz="2800">
                <a:latin typeface="Times New Roman" panose="02020603050405020304" pitchFamily="18" charset="0"/>
              </a:rPr>
              <a:t>等效折算到输入端的转动惯量</a:t>
            </a:r>
          </a:p>
        </p:txBody>
      </p:sp>
      <p:grpSp>
        <p:nvGrpSpPr>
          <p:cNvPr id="395272" name="Group 8"/>
          <p:cNvGrpSpPr>
            <a:grpSpLocks/>
          </p:cNvGrpSpPr>
          <p:nvPr/>
        </p:nvGrpSpPr>
        <p:grpSpPr bwMode="auto">
          <a:xfrm>
            <a:off x="2911475" y="4021138"/>
            <a:ext cx="5695950" cy="1751012"/>
            <a:chOff x="1824" y="2603"/>
            <a:chExt cx="3588" cy="1103"/>
          </a:xfrm>
        </p:grpSpPr>
        <p:sp>
          <p:nvSpPr>
            <p:cNvPr id="88072" name="Rectangle 9"/>
            <p:cNvSpPr>
              <a:spLocks noChangeArrowheads="1"/>
            </p:cNvSpPr>
            <p:nvPr/>
          </p:nvSpPr>
          <p:spPr bwMode="auto">
            <a:xfrm>
              <a:off x="1824" y="2603"/>
              <a:ext cx="788"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其中，</a:t>
              </a:r>
            </a:p>
          </p:txBody>
        </p:sp>
        <p:sp>
          <p:nvSpPr>
            <p:cNvPr id="88073" name="Rectangle 10"/>
            <p:cNvSpPr>
              <a:spLocks noChangeArrowheads="1"/>
            </p:cNvSpPr>
            <p:nvPr/>
          </p:nvSpPr>
          <p:spPr bwMode="auto">
            <a:xfrm>
              <a:off x="1824" y="2976"/>
              <a:ext cx="3588"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动惯量折算到齿轮</a:t>
              </a:r>
              <a:r>
                <a:rPr lang="en-US" altLang="zh-CN" sz="2800">
                  <a:latin typeface="Times New Roman" panose="02020603050405020304" pitchFamily="18" charset="0"/>
                </a:rPr>
                <a:t>1</a:t>
              </a:r>
              <a:r>
                <a:rPr lang="zh-CN" altLang="en-US" sz="2800">
                  <a:latin typeface="Times New Roman" panose="02020603050405020304" pitchFamily="18" charset="0"/>
                </a:rPr>
                <a:t>一侧的等效转动</a:t>
              </a:r>
            </a:p>
            <a:p>
              <a:pPr>
                <a:lnSpc>
                  <a:spcPct val="125000"/>
                </a:lnSpc>
                <a:spcBef>
                  <a:spcPct val="0"/>
                </a:spcBef>
                <a:buClrTx/>
                <a:buFontTx/>
                <a:buNone/>
              </a:pPr>
              <a:r>
                <a:rPr lang="zh-CN" altLang="en-US" sz="2800">
                  <a:latin typeface="Times New Roman" panose="02020603050405020304" pitchFamily="18" charset="0"/>
                </a:rPr>
                <a:t>惯量</a:t>
              </a:r>
            </a:p>
          </p:txBody>
        </p:sp>
        <p:sp>
          <p:nvSpPr>
            <p:cNvPr id="88074" name="Rectangle 11"/>
            <p:cNvSpPr>
              <a:spLocks noChangeArrowheads="1"/>
            </p:cNvSpPr>
            <p:nvPr/>
          </p:nvSpPr>
          <p:spPr bwMode="auto">
            <a:xfrm>
              <a:off x="3532" y="2612"/>
              <a:ext cx="1852"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为齿轮</a:t>
              </a:r>
              <a:r>
                <a:rPr lang="en-US" altLang="zh-CN" sz="2800">
                  <a:latin typeface="Times New Roman" panose="02020603050405020304" pitchFamily="18" charset="0"/>
                </a:rPr>
                <a:t>2 </a:t>
              </a:r>
              <a:r>
                <a:rPr lang="zh-CN" altLang="en-US" sz="2800">
                  <a:latin typeface="Times New Roman" panose="02020603050405020304" pitchFamily="18" charset="0"/>
                </a:rPr>
                <a:t>一侧的转</a:t>
              </a:r>
            </a:p>
          </p:txBody>
        </p:sp>
        <p:graphicFrame>
          <p:nvGraphicFramePr>
            <p:cNvPr id="88075" name="Object 12"/>
            <p:cNvGraphicFramePr>
              <a:graphicFrameLocks noChangeAspect="1"/>
            </p:cNvGraphicFramePr>
            <p:nvPr/>
          </p:nvGraphicFramePr>
          <p:xfrm>
            <a:off x="2585" y="2640"/>
            <a:ext cx="919" cy="334"/>
          </p:xfrm>
          <a:graphic>
            <a:graphicData uri="http://schemas.openxmlformats.org/presentationml/2006/ole">
              <mc:AlternateContent xmlns:mc="http://schemas.openxmlformats.org/markup-compatibility/2006">
                <mc:Choice xmlns:v="urn:schemas-microsoft-com:vml" Requires="v">
                  <p:oleObj r:id="rId6" imgW="698197" imgH="253890" progId="Equation.3">
                    <p:embed/>
                  </p:oleObj>
                </mc:Choice>
                <mc:Fallback>
                  <p:oleObj r:id="rId6" imgW="698197" imgH="25389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5" y="2640"/>
                          <a:ext cx="91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5268"/>
                                        </p:tgtEl>
                                        <p:attrNameLst>
                                          <p:attrName>style.visibility</p:attrName>
                                        </p:attrNameLst>
                                      </p:cBhvr>
                                      <p:to>
                                        <p:strVal val="visible"/>
                                      </p:to>
                                    </p:set>
                                    <p:anim calcmode="lin" valueType="num">
                                      <p:cBhvr additive="base">
                                        <p:cTn id="7" dur="500" fill="hold"/>
                                        <p:tgtEl>
                                          <p:spTgt spid="395268"/>
                                        </p:tgtEl>
                                        <p:attrNameLst>
                                          <p:attrName>ppt_x</p:attrName>
                                        </p:attrNameLst>
                                      </p:cBhvr>
                                      <p:tavLst>
                                        <p:tav tm="0">
                                          <p:val>
                                            <p:strVal val="#ppt_x"/>
                                          </p:val>
                                        </p:tav>
                                        <p:tav tm="100000">
                                          <p:val>
                                            <p:strVal val="#ppt_x"/>
                                          </p:val>
                                        </p:tav>
                                      </p:tavLst>
                                    </p:anim>
                                    <p:anim calcmode="lin" valueType="num">
                                      <p:cBhvr additive="base">
                                        <p:cTn id="8" dur="500" fill="hold"/>
                                        <p:tgtEl>
                                          <p:spTgt spid="3952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5271"/>
                                        </p:tgtEl>
                                        <p:attrNameLst>
                                          <p:attrName>style.visibility</p:attrName>
                                        </p:attrNameLst>
                                      </p:cBhvr>
                                      <p:to>
                                        <p:strVal val="visible"/>
                                      </p:to>
                                    </p:set>
                                    <p:anim calcmode="lin" valueType="num">
                                      <p:cBhvr additive="base">
                                        <p:cTn id="13" dur="500" fill="hold"/>
                                        <p:tgtEl>
                                          <p:spTgt spid="395271"/>
                                        </p:tgtEl>
                                        <p:attrNameLst>
                                          <p:attrName>ppt_x</p:attrName>
                                        </p:attrNameLst>
                                      </p:cBhvr>
                                      <p:tavLst>
                                        <p:tav tm="0">
                                          <p:val>
                                            <p:strVal val="#ppt_x"/>
                                          </p:val>
                                        </p:tav>
                                        <p:tav tm="100000">
                                          <p:val>
                                            <p:strVal val="#ppt_x"/>
                                          </p:val>
                                        </p:tav>
                                      </p:tavLst>
                                    </p:anim>
                                    <p:anim calcmode="lin" valueType="num">
                                      <p:cBhvr additive="base">
                                        <p:cTn id="14" dur="500" fill="hold"/>
                                        <p:tgtEl>
                                          <p:spTgt spid="39527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95272"/>
                                        </p:tgtEl>
                                        <p:attrNameLst>
                                          <p:attrName>style.visibility</p:attrName>
                                        </p:attrNameLst>
                                      </p:cBhvr>
                                      <p:to>
                                        <p:strVal val="visible"/>
                                      </p:to>
                                    </p:set>
                                    <p:anim calcmode="lin" valueType="num">
                                      <p:cBhvr additive="base">
                                        <p:cTn id="19" dur="500" fill="hold"/>
                                        <p:tgtEl>
                                          <p:spTgt spid="395272"/>
                                        </p:tgtEl>
                                        <p:attrNameLst>
                                          <p:attrName>ppt_x</p:attrName>
                                        </p:attrNameLst>
                                      </p:cBhvr>
                                      <p:tavLst>
                                        <p:tav tm="0">
                                          <p:val>
                                            <p:strVal val="#ppt_x"/>
                                          </p:val>
                                        </p:tav>
                                        <p:tav tm="100000">
                                          <p:val>
                                            <p:strVal val="#ppt_x"/>
                                          </p:val>
                                        </p:tav>
                                      </p:tavLst>
                                    </p:anim>
                                    <p:anim calcmode="lin" valueType="num">
                                      <p:cBhvr additive="base">
                                        <p:cTn id="20" dur="500" fill="hold"/>
                                        <p:tgtEl>
                                          <p:spTgt spid="3952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7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1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CB7AB16-4D52-4D51-9A4E-F96131D7D332}" type="datetime1">
              <a:rPr lang="en-US" altLang="zh-CN" sz="1200" smtClean="0"/>
              <a:pPr>
                <a:spcBef>
                  <a:spcPct val="0"/>
                </a:spcBef>
                <a:buClrTx/>
                <a:buFontTx/>
                <a:buNone/>
              </a:pPr>
              <a:t>9/14/2025</a:t>
            </a:fld>
            <a:endParaRPr lang="en-US" altLang="zh-CN" sz="1200"/>
          </a:p>
        </p:txBody>
      </p:sp>
      <p:sp>
        <p:nvSpPr>
          <p:cNvPr id="89091" name="灯片编号占位符 1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39C91067-4330-45E0-861E-6E2B7CFE93AF}" type="slidenum">
              <a:rPr lang="en-US" altLang="zh-CN" sz="1200" smtClean="0"/>
              <a:pPr>
                <a:spcBef>
                  <a:spcPct val="0"/>
                </a:spcBef>
                <a:buClrTx/>
                <a:buFontTx/>
                <a:buNone/>
              </a:pPr>
              <a:t>45</a:t>
            </a:fld>
            <a:endParaRPr lang="en-US" altLang="zh-CN" sz="1200"/>
          </a:p>
        </p:txBody>
      </p:sp>
      <p:graphicFrame>
        <p:nvGraphicFramePr>
          <p:cNvPr id="89092" name="Object 3"/>
          <p:cNvGraphicFramePr>
            <a:graphicFrameLocks noChangeAspect="1"/>
          </p:cNvGraphicFramePr>
          <p:nvPr/>
        </p:nvGraphicFramePr>
        <p:xfrm>
          <a:off x="1422400" y="755650"/>
          <a:ext cx="2754313" cy="530225"/>
        </p:xfrm>
        <a:graphic>
          <a:graphicData uri="http://schemas.openxmlformats.org/presentationml/2006/ole">
            <mc:AlternateContent xmlns:mc="http://schemas.openxmlformats.org/markup-compatibility/2006">
              <mc:Choice xmlns:v="urn:schemas-microsoft-com:vml" Requires="v">
                <p:oleObj r:id="rId2" imgW="1320227" imgH="253890" progId="Equation.3">
                  <p:embed/>
                </p:oleObj>
              </mc:Choice>
              <mc:Fallback>
                <p:oleObj r:id="rId2" imgW="1320227" imgH="25389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755650"/>
                        <a:ext cx="27543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6292" name="Rectangle 4"/>
          <p:cNvSpPr>
            <a:spLocks noChangeArrowheads="1"/>
          </p:cNvSpPr>
          <p:nvPr/>
        </p:nvSpPr>
        <p:spPr bwMode="auto">
          <a:xfrm>
            <a:off x="1911350" y="1733550"/>
            <a:ext cx="6553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en-US" altLang="zh-CN" sz="2800">
                <a:latin typeface="Times New Roman" panose="02020603050405020304" pitchFamily="18" charset="0"/>
              </a:rPr>
              <a:t>—— </a:t>
            </a:r>
            <a:r>
              <a:rPr lang="zh-CN" altLang="en-US" sz="2800">
                <a:latin typeface="Times New Roman" panose="02020603050405020304" pitchFamily="18" charset="0"/>
              </a:rPr>
              <a:t>等效折算到输入端的粘性阻尼系数</a:t>
            </a:r>
          </a:p>
        </p:txBody>
      </p:sp>
      <p:grpSp>
        <p:nvGrpSpPr>
          <p:cNvPr id="396293" name="Group 5"/>
          <p:cNvGrpSpPr>
            <a:grpSpLocks/>
          </p:cNvGrpSpPr>
          <p:nvPr/>
        </p:nvGrpSpPr>
        <p:grpSpPr bwMode="auto">
          <a:xfrm>
            <a:off x="1422400" y="4187825"/>
            <a:ext cx="7016750" cy="2057400"/>
            <a:chOff x="912" y="2688"/>
            <a:chExt cx="4420" cy="1296"/>
          </a:xfrm>
        </p:grpSpPr>
        <p:sp>
          <p:nvSpPr>
            <p:cNvPr id="89100" name="Rectangle 6"/>
            <p:cNvSpPr>
              <a:spLocks noChangeArrowheads="1"/>
            </p:cNvSpPr>
            <p:nvPr/>
          </p:nvSpPr>
          <p:spPr bwMode="auto">
            <a:xfrm>
              <a:off x="916" y="2752"/>
              <a:ext cx="441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显然，利用                                    ，齿轮</a:t>
              </a:r>
              <a:r>
                <a:rPr lang="en-US" altLang="zh-CN" sz="2800">
                  <a:latin typeface="Times New Roman" panose="02020603050405020304" pitchFamily="18" charset="0"/>
                </a:rPr>
                <a:t>2 </a:t>
              </a:r>
              <a:r>
                <a:rPr lang="zh-CN" altLang="en-US" sz="2800">
                  <a:latin typeface="Times New Roman" panose="02020603050405020304" pitchFamily="18" charset="0"/>
                </a:rPr>
                <a:t>一</a:t>
              </a:r>
            </a:p>
          </p:txBody>
        </p:sp>
        <p:graphicFrame>
          <p:nvGraphicFramePr>
            <p:cNvPr id="89101" name="Object 7"/>
            <p:cNvGraphicFramePr>
              <a:graphicFrameLocks noChangeAspect="1"/>
            </p:cNvGraphicFramePr>
            <p:nvPr/>
          </p:nvGraphicFramePr>
          <p:xfrm>
            <a:off x="2238" y="2688"/>
            <a:ext cx="1580" cy="584"/>
          </p:xfrm>
          <a:graphic>
            <a:graphicData uri="http://schemas.openxmlformats.org/presentationml/2006/ole">
              <mc:AlternateContent xmlns:mc="http://schemas.openxmlformats.org/markup-compatibility/2006">
                <mc:Choice xmlns:v="urn:schemas-microsoft-com:vml" Requires="v">
                  <p:oleObj r:id="rId4" imgW="1167893" imgH="431613" progId="Equation.3">
                    <p:embed/>
                  </p:oleObj>
                </mc:Choice>
                <mc:Fallback>
                  <p:oleObj r:id="rId4" imgW="1167893" imgH="431613"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 y="2688"/>
                          <a:ext cx="1580"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9102" name="Rectangle 8"/>
            <p:cNvSpPr>
              <a:spLocks noChangeArrowheads="1"/>
            </p:cNvSpPr>
            <p:nvPr/>
          </p:nvSpPr>
          <p:spPr bwMode="auto">
            <a:xfrm>
              <a:off x="912" y="3254"/>
              <a:ext cx="4420"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侧的转矩、转速和角位移同样可等效折算到齿轮</a:t>
              </a:r>
              <a:r>
                <a:rPr lang="en-US" altLang="zh-CN" sz="2800">
                  <a:latin typeface="Times New Roman" panose="02020603050405020304" pitchFamily="18" charset="0"/>
                </a:rPr>
                <a:t>1</a:t>
              </a:r>
              <a:r>
                <a:rPr lang="zh-CN" altLang="en-US" sz="2800">
                  <a:latin typeface="Times New Roman" panose="02020603050405020304" pitchFamily="18" charset="0"/>
                </a:rPr>
                <a:t>一侧。</a:t>
              </a:r>
            </a:p>
          </p:txBody>
        </p:sp>
      </p:grpSp>
      <p:grpSp>
        <p:nvGrpSpPr>
          <p:cNvPr id="396297" name="Group 9"/>
          <p:cNvGrpSpPr>
            <a:grpSpLocks/>
          </p:cNvGrpSpPr>
          <p:nvPr/>
        </p:nvGrpSpPr>
        <p:grpSpPr bwMode="auto">
          <a:xfrm>
            <a:off x="2635250" y="2384425"/>
            <a:ext cx="5695950" cy="1685925"/>
            <a:chOff x="1680" y="1674"/>
            <a:chExt cx="3588" cy="1062"/>
          </a:xfrm>
        </p:grpSpPr>
        <p:sp>
          <p:nvSpPr>
            <p:cNvPr id="89096" name="Rectangle 10"/>
            <p:cNvSpPr>
              <a:spLocks noChangeArrowheads="1"/>
            </p:cNvSpPr>
            <p:nvPr/>
          </p:nvSpPr>
          <p:spPr bwMode="auto">
            <a:xfrm>
              <a:off x="1680" y="1674"/>
              <a:ext cx="788"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其中，</a:t>
              </a:r>
            </a:p>
          </p:txBody>
        </p:sp>
        <p:sp>
          <p:nvSpPr>
            <p:cNvPr id="89097" name="Rectangle 11"/>
            <p:cNvSpPr>
              <a:spLocks noChangeArrowheads="1"/>
            </p:cNvSpPr>
            <p:nvPr/>
          </p:nvSpPr>
          <p:spPr bwMode="auto">
            <a:xfrm>
              <a:off x="1680" y="2060"/>
              <a:ext cx="3588"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性阻尼系数折算到齿轮</a:t>
              </a:r>
              <a:r>
                <a:rPr lang="en-US" altLang="zh-CN" sz="2800">
                  <a:latin typeface="Times New Roman" panose="02020603050405020304" pitchFamily="18" charset="0"/>
                </a:rPr>
                <a:t>1</a:t>
              </a:r>
              <a:r>
                <a:rPr lang="zh-CN" altLang="en-US" sz="2800">
                  <a:latin typeface="Times New Roman" panose="02020603050405020304" pitchFamily="18" charset="0"/>
                </a:rPr>
                <a:t>一侧的等效</a:t>
              </a:r>
            </a:p>
            <a:p>
              <a:pPr>
                <a:lnSpc>
                  <a:spcPct val="115000"/>
                </a:lnSpc>
                <a:spcBef>
                  <a:spcPct val="0"/>
                </a:spcBef>
                <a:buClrTx/>
                <a:buFontTx/>
                <a:buNone/>
              </a:pPr>
              <a:r>
                <a:rPr lang="zh-CN" altLang="en-US" sz="2800">
                  <a:latin typeface="Times New Roman" panose="02020603050405020304" pitchFamily="18" charset="0"/>
                </a:rPr>
                <a:t>粘性阻尼系数</a:t>
              </a:r>
            </a:p>
          </p:txBody>
        </p:sp>
        <p:sp>
          <p:nvSpPr>
            <p:cNvPr id="89098" name="Rectangle 12"/>
            <p:cNvSpPr>
              <a:spLocks noChangeArrowheads="1"/>
            </p:cNvSpPr>
            <p:nvPr/>
          </p:nvSpPr>
          <p:spPr bwMode="auto">
            <a:xfrm>
              <a:off x="3388" y="1681"/>
              <a:ext cx="185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Tx/>
                <a:buNone/>
              </a:pPr>
              <a:r>
                <a:rPr lang="zh-CN" altLang="en-US" sz="2800">
                  <a:latin typeface="Times New Roman" panose="02020603050405020304" pitchFamily="18" charset="0"/>
                </a:rPr>
                <a:t>为齿轮</a:t>
              </a:r>
              <a:r>
                <a:rPr lang="en-US" altLang="zh-CN" sz="2800">
                  <a:latin typeface="Times New Roman" panose="02020603050405020304" pitchFamily="18" charset="0"/>
                </a:rPr>
                <a:t>2 </a:t>
              </a:r>
              <a:r>
                <a:rPr lang="zh-CN" altLang="en-US" sz="2800">
                  <a:latin typeface="Times New Roman" panose="02020603050405020304" pitchFamily="18" charset="0"/>
                </a:rPr>
                <a:t>一侧的粘</a:t>
              </a:r>
            </a:p>
          </p:txBody>
        </p:sp>
        <p:graphicFrame>
          <p:nvGraphicFramePr>
            <p:cNvPr id="89099" name="Object 13"/>
            <p:cNvGraphicFramePr>
              <a:graphicFrameLocks noChangeAspect="1"/>
            </p:cNvGraphicFramePr>
            <p:nvPr/>
          </p:nvGraphicFramePr>
          <p:xfrm>
            <a:off x="2458" y="1704"/>
            <a:ext cx="934" cy="334"/>
          </p:xfrm>
          <a:graphic>
            <a:graphicData uri="http://schemas.openxmlformats.org/presentationml/2006/ole">
              <mc:AlternateContent xmlns:mc="http://schemas.openxmlformats.org/markup-compatibility/2006">
                <mc:Choice xmlns:v="urn:schemas-microsoft-com:vml" Requires="v">
                  <p:oleObj r:id="rId6" imgW="710891" imgH="253890" progId="Equation.3">
                    <p:embed/>
                  </p:oleObj>
                </mc:Choice>
                <mc:Fallback>
                  <p:oleObj r:id="rId6" imgW="710891" imgH="253890"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8" y="1704"/>
                          <a:ext cx="93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6292"/>
                                        </p:tgtEl>
                                        <p:attrNameLst>
                                          <p:attrName>style.visibility</p:attrName>
                                        </p:attrNameLst>
                                      </p:cBhvr>
                                      <p:to>
                                        <p:strVal val="visible"/>
                                      </p:to>
                                    </p:set>
                                    <p:anim calcmode="lin" valueType="num">
                                      <p:cBhvr additive="base">
                                        <p:cTn id="7" dur="500" fill="hold"/>
                                        <p:tgtEl>
                                          <p:spTgt spid="396292"/>
                                        </p:tgtEl>
                                        <p:attrNameLst>
                                          <p:attrName>ppt_x</p:attrName>
                                        </p:attrNameLst>
                                      </p:cBhvr>
                                      <p:tavLst>
                                        <p:tav tm="0">
                                          <p:val>
                                            <p:strVal val="#ppt_x"/>
                                          </p:val>
                                        </p:tav>
                                        <p:tav tm="100000">
                                          <p:val>
                                            <p:strVal val="#ppt_x"/>
                                          </p:val>
                                        </p:tav>
                                      </p:tavLst>
                                    </p:anim>
                                    <p:anim calcmode="lin" valueType="num">
                                      <p:cBhvr additive="base">
                                        <p:cTn id="8" dur="500" fill="hold"/>
                                        <p:tgtEl>
                                          <p:spTgt spid="3962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6297"/>
                                        </p:tgtEl>
                                        <p:attrNameLst>
                                          <p:attrName>style.visibility</p:attrName>
                                        </p:attrNameLst>
                                      </p:cBhvr>
                                      <p:to>
                                        <p:strVal val="visible"/>
                                      </p:to>
                                    </p:set>
                                    <p:anim calcmode="lin" valueType="num">
                                      <p:cBhvr additive="base">
                                        <p:cTn id="13" dur="500" fill="hold"/>
                                        <p:tgtEl>
                                          <p:spTgt spid="396297"/>
                                        </p:tgtEl>
                                        <p:attrNameLst>
                                          <p:attrName>ppt_x</p:attrName>
                                        </p:attrNameLst>
                                      </p:cBhvr>
                                      <p:tavLst>
                                        <p:tav tm="0">
                                          <p:val>
                                            <p:strVal val="#ppt_x"/>
                                          </p:val>
                                        </p:tav>
                                        <p:tav tm="100000">
                                          <p:val>
                                            <p:strVal val="#ppt_x"/>
                                          </p:val>
                                        </p:tav>
                                      </p:tavLst>
                                    </p:anim>
                                    <p:anim calcmode="lin" valueType="num">
                                      <p:cBhvr additive="base">
                                        <p:cTn id="14" dur="500" fill="hold"/>
                                        <p:tgtEl>
                                          <p:spTgt spid="39629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96293"/>
                                        </p:tgtEl>
                                        <p:attrNameLst>
                                          <p:attrName>style.visibility</p:attrName>
                                        </p:attrNameLst>
                                      </p:cBhvr>
                                      <p:to>
                                        <p:strVal val="visible"/>
                                      </p:to>
                                    </p:set>
                                    <p:anim calcmode="lin" valueType="num">
                                      <p:cBhvr additive="base">
                                        <p:cTn id="19" dur="500" fill="hold"/>
                                        <p:tgtEl>
                                          <p:spTgt spid="396293"/>
                                        </p:tgtEl>
                                        <p:attrNameLst>
                                          <p:attrName>ppt_x</p:attrName>
                                        </p:attrNameLst>
                                      </p:cBhvr>
                                      <p:tavLst>
                                        <p:tav tm="0">
                                          <p:val>
                                            <p:strVal val="#ppt_x"/>
                                          </p:val>
                                        </p:tav>
                                        <p:tav tm="100000">
                                          <p:val>
                                            <p:strVal val="#ppt_x"/>
                                          </p:val>
                                        </p:tav>
                                      </p:tavLst>
                                    </p:anim>
                                    <p:anim calcmode="lin" valueType="num">
                                      <p:cBhvr additive="base">
                                        <p:cTn id="20" dur="500" fill="hold"/>
                                        <p:tgtEl>
                                          <p:spTgt spid="3962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日期占位符 8"/>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E6B7F02F-9775-42D6-8733-3A005D81A368}" type="datetime1">
              <a:rPr lang="en-US" altLang="zh-CN" sz="1200" smtClean="0"/>
              <a:pPr>
                <a:spcBef>
                  <a:spcPct val="0"/>
                </a:spcBef>
                <a:buClrTx/>
                <a:buFontTx/>
                <a:buNone/>
              </a:pPr>
              <a:t>9/14/2025</a:t>
            </a:fld>
            <a:endParaRPr lang="en-US" altLang="zh-CN" sz="1200"/>
          </a:p>
        </p:txBody>
      </p:sp>
      <p:sp>
        <p:nvSpPr>
          <p:cNvPr id="90115" name="灯片编号占位符 10"/>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9615EB5-A25E-4011-B3E8-187EFB89DC86}" type="slidenum">
              <a:rPr lang="en-US" altLang="zh-CN" sz="1200" smtClean="0"/>
              <a:pPr>
                <a:spcBef>
                  <a:spcPct val="0"/>
                </a:spcBef>
                <a:buClrTx/>
                <a:buFontTx/>
                <a:buNone/>
              </a:pPr>
              <a:t>46</a:t>
            </a:fld>
            <a:endParaRPr lang="en-US" altLang="zh-CN" sz="1200"/>
          </a:p>
        </p:txBody>
      </p:sp>
      <p:grpSp>
        <p:nvGrpSpPr>
          <p:cNvPr id="90116" name="Group 3"/>
          <p:cNvGrpSpPr>
            <a:grpSpLocks/>
          </p:cNvGrpSpPr>
          <p:nvPr/>
        </p:nvGrpSpPr>
        <p:grpSpPr bwMode="auto">
          <a:xfrm>
            <a:off x="1136650" y="1773238"/>
            <a:ext cx="7245350" cy="1708150"/>
            <a:chOff x="716" y="1248"/>
            <a:chExt cx="4564" cy="1076"/>
          </a:xfrm>
        </p:grpSpPr>
        <p:sp>
          <p:nvSpPr>
            <p:cNvPr id="90119" name="Rectangle 4"/>
            <p:cNvSpPr>
              <a:spLocks noChangeArrowheads="1"/>
            </p:cNvSpPr>
            <p:nvPr/>
          </p:nvSpPr>
          <p:spPr bwMode="auto">
            <a:xfrm>
              <a:off x="716" y="1248"/>
              <a:ext cx="4564" cy="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考虑扭转弹性变形效应时，齿轮</a:t>
              </a:r>
              <a:r>
                <a:rPr lang="en-US" altLang="zh-CN" sz="2800">
                  <a:latin typeface="Times New Roman" panose="02020603050405020304" pitchFamily="18" charset="0"/>
                </a:rPr>
                <a:t>2</a:t>
              </a:r>
              <a:r>
                <a:rPr lang="zh-CN" altLang="en-US" sz="2800">
                  <a:latin typeface="Times New Roman" panose="02020603050405020304" pitchFamily="18" charset="0"/>
                </a:rPr>
                <a:t>一侧的扭转刚度系数等效到齿轮</a:t>
              </a:r>
              <a:r>
                <a:rPr lang="en-US" altLang="zh-CN" sz="2800">
                  <a:latin typeface="Times New Roman" panose="02020603050405020304" pitchFamily="18" charset="0"/>
                </a:rPr>
                <a:t>1</a:t>
              </a:r>
              <a:r>
                <a:rPr lang="zh-CN" altLang="en-US" sz="2800">
                  <a:latin typeface="Times New Roman" panose="02020603050405020304" pitchFamily="18" charset="0"/>
                </a:rPr>
                <a:t>一侧时，刚度系数也应乘以</a:t>
              </a:r>
            </a:p>
          </p:txBody>
        </p:sp>
        <p:graphicFrame>
          <p:nvGraphicFramePr>
            <p:cNvPr id="90120" name="Object 5"/>
            <p:cNvGraphicFramePr>
              <a:graphicFrameLocks noChangeAspect="1"/>
            </p:cNvGraphicFramePr>
            <p:nvPr/>
          </p:nvGraphicFramePr>
          <p:xfrm>
            <a:off x="1296" y="1970"/>
            <a:ext cx="701" cy="334"/>
          </p:xfrm>
          <a:graphic>
            <a:graphicData uri="http://schemas.openxmlformats.org/presentationml/2006/ole">
              <mc:AlternateContent xmlns:mc="http://schemas.openxmlformats.org/markup-compatibility/2006">
                <mc:Choice xmlns:v="urn:schemas-microsoft-com:vml" Requires="v">
                  <p:oleObj r:id="rId2" imgW="533169" imgH="253890" progId="Equation.3">
                    <p:embed/>
                  </p:oleObj>
                </mc:Choice>
                <mc:Fallback>
                  <p:oleObj r:id="rId2" imgW="533169" imgH="25389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 y="1970"/>
                          <a:ext cx="70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21" name="Rectangle 6"/>
            <p:cNvSpPr>
              <a:spLocks noChangeArrowheads="1"/>
            </p:cNvSpPr>
            <p:nvPr/>
          </p:nvSpPr>
          <p:spPr bwMode="auto">
            <a:xfrm>
              <a:off x="1920" y="1997"/>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a:t>
              </a:r>
            </a:p>
          </p:txBody>
        </p:sp>
      </p:grpSp>
      <p:sp>
        <p:nvSpPr>
          <p:cNvPr id="397319" name="Rectangle 7"/>
          <p:cNvSpPr>
            <a:spLocks noChangeArrowheads="1"/>
          </p:cNvSpPr>
          <p:nvPr/>
        </p:nvSpPr>
        <p:spPr bwMode="auto">
          <a:xfrm>
            <a:off x="1143000" y="3590925"/>
            <a:ext cx="7239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即若</a:t>
            </a:r>
            <a:r>
              <a:rPr lang="en-US" altLang="zh-CN" sz="2800" i="1">
                <a:latin typeface="Times New Roman" panose="02020603050405020304" pitchFamily="18" charset="0"/>
              </a:rPr>
              <a:t>K</a:t>
            </a:r>
            <a:r>
              <a:rPr lang="en-US" altLang="zh-CN" sz="2900" baseline="-18000">
                <a:latin typeface="Times New Roman" panose="02020603050405020304" pitchFamily="18" charset="0"/>
              </a:rPr>
              <a:t>1</a:t>
            </a:r>
            <a:r>
              <a:rPr lang="zh-CN" altLang="en-US" sz="2800">
                <a:latin typeface="Times New Roman" panose="02020603050405020304" pitchFamily="18" charset="0"/>
              </a:rPr>
              <a:t>、</a:t>
            </a:r>
            <a:r>
              <a:rPr lang="en-US" altLang="zh-CN" sz="2800" i="1">
                <a:latin typeface="Times New Roman" panose="02020603050405020304" pitchFamily="18" charset="0"/>
              </a:rPr>
              <a:t>K</a:t>
            </a:r>
            <a:r>
              <a:rPr lang="en-US" altLang="zh-CN" sz="2900" baseline="-18000">
                <a:latin typeface="Times New Roman" panose="02020603050405020304" pitchFamily="18" charset="0"/>
              </a:rPr>
              <a:t>2 </a:t>
            </a:r>
            <a:r>
              <a:rPr lang="zh-CN" altLang="en-US" sz="2800">
                <a:latin typeface="Times New Roman" panose="02020603050405020304" pitchFamily="18" charset="0"/>
              </a:rPr>
              <a:t>的分别为齿轮</a:t>
            </a:r>
            <a:r>
              <a:rPr lang="en-US" altLang="zh-CN" sz="2800">
                <a:latin typeface="Times New Roman" panose="02020603050405020304" pitchFamily="18" charset="0"/>
              </a:rPr>
              <a:t>1 </a:t>
            </a:r>
            <a:r>
              <a:rPr lang="zh-CN" altLang="en-US" sz="2800">
                <a:latin typeface="Times New Roman" panose="02020603050405020304" pitchFamily="18" charset="0"/>
              </a:rPr>
              <a:t>和</a:t>
            </a:r>
            <a:r>
              <a:rPr lang="en-US" altLang="zh-CN" sz="2800">
                <a:latin typeface="Times New Roman" panose="02020603050405020304" pitchFamily="18" charset="0"/>
              </a:rPr>
              <a:t>2</a:t>
            </a:r>
            <a:r>
              <a:rPr lang="zh-CN" altLang="en-US" sz="2800">
                <a:latin typeface="Times New Roman" panose="02020603050405020304" pitchFamily="18" charset="0"/>
              </a:rPr>
              <a:t>的扭转刚度系数，则齿轮</a:t>
            </a:r>
            <a:r>
              <a:rPr lang="en-US" altLang="zh-CN" sz="2800">
                <a:latin typeface="Times New Roman" panose="02020603050405020304" pitchFamily="18" charset="0"/>
              </a:rPr>
              <a:t>1 </a:t>
            </a:r>
            <a:r>
              <a:rPr lang="zh-CN" altLang="en-US" sz="2800">
                <a:latin typeface="Times New Roman" panose="02020603050405020304" pitchFamily="18" charset="0"/>
              </a:rPr>
              <a:t>一侧的等效刚度</a:t>
            </a:r>
            <a:r>
              <a:rPr lang="en-US" altLang="zh-CN" sz="2800" i="1">
                <a:latin typeface="Times New Roman" panose="02020603050405020304" pitchFamily="18" charset="0"/>
              </a:rPr>
              <a:t>K</a:t>
            </a:r>
            <a:r>
              <a:rPr lang="en-US" altLang="zh-CN" sz="2900" i="1" baseline="-18000">
                <a:latin typeface="Times New Roman" panose="02020603050405020304" pitchFamily="18" charset="0"/>
              </a:rPr>
              <a:t>I</a:t>
            </a:r>
            <a:r>
              <a:rPr lang="zh-CN" altLang="en-US" sz="2800">
                <a:latin typeface="Times New Roman" panose="02020603050405020304" pitchFamily="18" charset="0"/>
              </a:rPr>
              <a:t>为：</a:t>
            </a:r>
          </a:p>
        </p:txBody>
      </p:sp>
      <p:graphicFrame>
        <p:nvGraphicFramePr>
          <p:cNvPr id="397320" name="Object 8"/>
          <p:cNvGraphicFramePr>
            <a:graphicFrameLocks noChangeAspect="1"/>
          </p:cNvGraphicFramePr>
          <p:nvPr/>
        </p:nvGraphicFramePr>
        <p:xfrm>
          <a:off x="2590800" y="4876800"/>
          <a:ext cx="3046413" cy="1325563"/>
        </p:xfrm>
        <a:graphic>
          <a:graphicData uri="http://schemas.openxmlformats.org/presentationml/2006/ole">
            <mc:AlternateContent xmlns:mc="http://schemas.openxmlformats.org/markup-compatibility/2006">
              <mc:Choice xmlns:v="urn:schemas-microsoft-com:vml" Requires="v">
                <p:oleObj r:id="rId4" imgW="1459866" imgH="634725" progId="Equation.3">
                  <p:embed/>
                </p:oleObj>
              </mc:Choice>
              <mc:Fallback>
                <p:oleObj r:id="rId4" imgW="1459866" imgH="634725"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4876800"/>
                        <a:ext cx="3046413"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7319"/>
                                        </p:tgtEl>
                                        <p:attrNameLst>
                                          <p:attrName>style.visibility</p:attrName>
                                        </p:attrNameLst>
                                      </p:cBhvr>
                                      <p:to>
                                        <p:strVal val="visible"/>
                                      </p:to>
                                    </p:set>
                                    <p:anim calcmode="lin" valueType="num">
                                      <p:cBhvr additive="base">
                                        <p:cTn id="7" dur="500" fill="hold"/>
                                        <p:tgtEl>
                                          <p:spTgt spid="397319"/>
                                        </p:tgtEl>
                                        <p:attrNameLst>
                                          <p:attrName>ppt_x</p:attrName>
                                        </p:attrNameLst>
                                      </p:cBhvr>
                                      <p:tavLst>
                                        <p:tav tm="0">
                                          <p:val>
                                            <p:strVal val="#ppt_x"/>
                                          </p:val>
                                        </p:tav>
                                        <p:tav tm="100000">
                                          <p:val>
                                            <p:strVal val="#ppt_x"/>
                                          </p:val>
                                        </p:tav>
                                      </p:tavLst>
                                    </p:anim>
                                    <p:anim calcmode="lin" valueType="num">
                                      <p:cBhvr additive="base">
                                        <p:cTn id="8" dur="500" fill="hold"/>
                                        <p:tgtEl>
                                          <p:spTgt spid="39731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7320"/>
                                        </p:tgtEl>
                                        <p:attrNameLst>
                                          <p:attrName>style.visibility</p:attrName>
                                        </p:attrNameLst>
                                      </p:cBhvr>
                                      <p:to>
                                        <p:strVal val="visible"/>
                                      </p:to>
                                    </p:set>
                                    <p:anim calcmode="lin" valueType="num">
                                      <p:cBhvr additive="base">
                                        <p:cTn id="13" dur="500" fill="hold"/>
                                        <p:tgtEl>
                                          <p:spTgt spid="397320"/>
                                        </p:tgtEl>
                                        <p:attrNameLst>
                                          <p:attrName>ppt_x</p:attrName>
                                        </p:attrNameLst>
                                      </p:cBhvr>
                                      <p:tavLst>
                                        <p:tav tm="0">
                                          <p:val>
                                            <p:strVal val="#ppt_x"/>
                                          </p:val>
                                        </p:tav>
                                        <p:tav tm="100000">
                                          <p:val>
                                            <p:strVal val="#ppt_x"/>
                                          </p:val>
                                        </p:tav>
                                      </p:tavLst>
                                    </p:anim>
                                    <p:anim calcmode="lin" valueType="num">
                                      <p:cBhvr additive="base">
                                        <p:cTn id="14" dur="500" fill="hold"/>
                                        <p:tgtEl>
                                          <p:spTgt spid="397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42"/>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24C009A5-F124-4A22-9DD3-1885F921480B}" type="datetime1">
              <a:rPr lang="en-US" altLang="zh-CN" sz="1200" smtClean="0"/>
              <a:pPr>
                <a:spcBef>
                  <a:spcPct val="0"/>
                </a:spcBef>
                <a:buClrTx/>
                <a:buFontTx/>
                <a:buNone/>
              </a:pPr>
              <a:t>9/14/2025</a:t>
            </a:fld>
            <a:endParaRPr lang="en-US" altLang="zh-CN" sz="1200"/>
          </a:p>
        </p:txBody>
      </p:sp>
      <p:sp>
        <p:nvSpPr>
          <p:cNvPr id="91139" name="灯片编号占位符 4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A2FD57F-8677-4D69-AD8A-A5D034B16FF8}" type="slidenum">
              <a:rPr lang="en-US" altLang="zh-CN" sz="1200" smtClean="0"/>
              <a:pPr>
                <a:spcBef>
                  <a:spcPct val="0"/>
                </a:spcBef>
                <a:buClrTx/>
                <a:buFontTx/>
                <a:buNone/>
              </a:pPr>
              <a:t>47</a:t>
            </a:fld>
            <a:endParaRPr lang="en-US" altLang="zh-CN" sz="1200"/>
          </a:p>
        </p:txBody>
      </p:sp>
      <p:sp>
        <p:nvSpPr>
          <p:cNvPr id="91140" name="Rectangle 3"/>
          <p:cNvSpPr>
            <a:spLocks noChangeArrowheads="1"/>
          </p:cNvSpPr>
          <p:nvPr/>
        </p:nvSpPr>
        <p:spPr bwMode="auto">
          <a:xfrm>
            <a:off x="711200" y="1004888"/>
            <a:ext cx="6934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机床进给传动链</a:t>
            </a:r>
            <a:endParaRPr lang="zh-CN" altLang="en-US" sz="2800">
              <a:latin typeface="宋体" panose="02010600030101010101" pitchFamily="2" charset="-122"/>
            </a:endParaRPr>
          </a:p>
        </p:txBody>
      </p:sp>
      <p:grpSp>
        <p:nvGrpSpPr>
          <p:cNvPr id="398340" name="Group 4"/>
          <p:cNvGrpSpPr>
            <a:grpSpLocks/>
          </p:cNvGrpSpPr>
          <p:nvPr/>
        </p:nvGrpSpPr>
        <p:grpSpPr bwMode="auto">
          <a:xfrm>
            <a:off x="827088" y="1789113"/>
            <a:ext cx="7937500" cy="4292600"/>
            <a:chOff x="384" y="1488"/>
            <a:chExt cx="5000" cy="2704"/>
          </a:xfrm>
        </p:grpSpPr>
        <p:sp>
          <p:nvSpPr>
            <p:cNvPr id="91144" name="Rectangle 5" descr="宽上对角线"/>
            <p:cNvSpPr>
              <a:spLocks noChangeArrowheads="1"/>
            </p:cNvSpPr>
            <p:nvPr/>
          </p:nvSpPr>
          <p:spPr bwMode="auto">
            <a:xfrm>
              <a:off x="4224" y="2112"/>
              <a:ext cx="816" cy="96"/>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45" name="Rectangle 6"/>
            <p:cNvSpPr>
              <a:spLocks noChangeArrowheads="1"/>
            </p:cNvSpPr>
            <p:nvPr/>
          </p:nvSpPr>
          <p:spPr bwMode="auto">
            <a:xfrm>
              <a:off x="912" y="3264"/>
              <a:ext cx="576"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46" name="Line 7"/>
            <p:cNvSpPr>
              <a:spLocks noChangeShapeType="1"/>
            </p:cNvSpPr>
            <p:nvPr/>
          </p:nvSpPr>
          <p:spPr bwMode="auto">
            <a:xfrm>
              <a:off x="680" y="3552"/>
              <a:ext cx="2440"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7" name="Rectangle 8"/>
            <p:cNvSpPr>
              <a:spLocks noChangeArrowheads="1"/>
            </p:cNvSpPr>
            <p:nvPr/>
          </p:nvSpPr>
          <p:spPr bwMode="auto">
            <a:xfrm>
              <a:off x="1488" y="3168"/>
              <a:ext cx="96" cy="72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48" name="Rectangle 9"/>
            <p:cNvSpPr>
              <a:spLocks noChangeArrowheads="1"/>
            </p:cNvSpPr>
            <p:nvPr/>
          </p:nvSpPr>
          <p:spPr bwMode="auto">
            <a:xfrm>
              <a:off x="3120" y="1728"/>
              <a:ext cx="1488" cy="33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工作台</a:t>
              </a:r>
              <a:r>
                <a:rPr lang="en-US" altLang="zh-CN" sz="2800" i="1">
                  <a:latin typeface="Times New Roman" panose="02020603050405020304" pitchFamily="18" charset="0"/>
                </a:rPr>
                <a:t>m</a:t>
              </a:r>
            </a:p>
          </p:txBody>
        </p:sp>
        <p:sp>
          <p:nvSpPr>
            <p:cNvPr id="91149" name="Line 10"/>
            <p:cNvSpPr>
              <a:spLocks noChangeShapeType="1"/>
            </p:cNvSpPr>
            <p:nvPr/>
          </p:nvSpPr>
          <p:spPr bwMode="auto">
            <a:xfrm flipH="1" flipV="1">
              <a:off x="3984" y="2448"/>
              <a:ext cx="288" cy="336"/>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150" name="Rectangle 11"/>
            <p:cNvSpPr>
              <a:spLocks noChangeArrowheads="1"/>
            </p:cNvSpPr>
            <p:nvPr/>
          </p:nvSpPr>
          <p:spPr bwMode="auto">
            <a:xfrm>
              <a:off x="4224" y="2649"/>
              <a:ext cx="6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丝杠</a:t>
              </a:r>
              <a:r>
                <a:rPr lang="en-US" altLang="zh-CN" sz="2800" i="1">
                  <a:latin typeface="Times New Roman" panose="02020603050405020304" pitchFamily="18" charset="0"/>
                </a:rPr>
                <a:t>L</a:t>
              </a:r>
            </a:p>
          </p:txBody>
        </p:sp>
        <p:sp>
          <p:nvSpPr>
            <p:cNvPr id="91151" name="Rectangle 12"/>
            <p:cNvSpPr>
              <a:spLocks noChangeArrowheads="1"/>
            </p:cNvSpPr>
            <p:nvPr/>
          </p:nvSpPr>
          <p:spPr bwMode="auto">
            <a:xfrm>
              <a:off x="590" y="3865"/>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伺服电机</a:t>
              </a:r>
              <a:endParaRPr lang="zh-CN" altLang="en-US" sz="2800" i="1">
                <a:latin typeface="Times New Roman" panose="02020603050405020304" pitchFamily="18" charset="0"/>
              </a:endParaRPr>
            </a:p>
          </p:txBody>
        </p:sp>
        <p:sp>
          <p:nvSpPr>
            <p:cNvPr id="91152" name="Rectangle 13"/>
            <p:cNvSpPr>
              <a:spLocks noChangeArrowheads="1"/>
            </p:cNvSpPr>
            <p:nvPr/>
          </p:nvSpPr>
          <p:spPr bwMode="auto">
            <a:xfrm>
              <a:off x="1584" y="3456"/>
              <a:ext cx="28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53" name="Freeform 14"/>
            <p:cNvSpPr>
              <a:spLocks noChangeArrowheads="1"/>
            </p:cNvSpPr>
            <p:nvPr/>
          </p:nvSpPr>
          <p:spPr bwMode="auto">
            <a:xfrm>
              <a:off x="1680" y="3312"/>
              <a:ext cx="96" cy="480"/>
            </a:xfrm>
            <a:custGeom>
              <a:avLst/>
              <a:gdLst>
                <a:gd name="T0" fmla="*/ 0 w 96"/>
                <a:gd name="T1" fmla="*/ 0 h 432"/>
                <a:gd name="T2" fmla="*/ 96 w 96"/>
                <a:gd name="T3" fmla="*/ 324 h 432"/>
                <a:gd name="T4" fmla="*/ 0 w 96"/>
                <a:gd name="T5" fmla="*/ 731 h 432"/>
                <a:gd name="T6" fmla="*/ 0 60000 65536"/>
                <a:gd name="T7" fmla="*/ 0 60000 65536"/>
                <a:gd name="T8" fmla="*/ 0 60000 65536"/>
              </a:gdLst>
              <a:ahLst/>
              <a:cxnLst>
                <a:cxn ang="T6">
                  <a:pos x="T0" y="T1"/>
                </a:cxn>
                <a:cxn ang="T7">
                  <a:pos x="T2" y="T3"/>
                </a:cxn>
                <a:cxn ang="T8">
                  <a:pos x="T4" y="T5"/>
                </a:cxn>
              </a:cxnLst>
              <a:rect l="0" t="0" r="r" b="b"/>
              <a:pathLst>
                <a:path w="96" h="432">
                  <a:moveTo>
                    <a:pt x="0" y="0"/>
                  </a:moveTo>
                  <a:cubicBezTo>
                    <a:pt x="48" y="60"/>
                    <a:pt x="96" y="120"/>
                    <a:pt x="96" y="192"/>
                  </a:cubicBezTo>
                  <a:cubicBezTo>
                    <a:pt x="96" y="264"/>
                    <a:pt x="48" y="348"/>
                    <a:pt x="0" y="432"/>
                  </a:cubicBezTo>
                </a:path>
              </a:pathLst>
            </a:custGeom>
            <a:noFill/>
            <a:ln w="222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54" name="Rectangle 15"/>
            <p:cNvSpPr>
              <a:spLocks noChangeArrowheads="1"/>
            </p:cNvSpPr>
            <p:nvPr/>
          </p:nvSpPr>
          <p:spPr bwMode="auto">
            <a:xfrm>
              <a:off x="1872" y="3312"/>
              <a:ext cx="192" cy="48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55" name="Rectangle 16"/>
            <p:cNvSpPr>
              <a:spLocks noChangeArrowheads="1"/>
            </p:cNvSpPr>
            <p:nvPr/>
          </p:nvSpPr>
          <p:spPr bwMode="auto">
            <a:xfrm>
              <a:off x="1872" y="2544"/>
              <a:ext cx="192" cy="76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56" name="Line 17"/>
            <p:cNvSpPr>
              <a:spLocks noChangeShapeType="1"/>
            </p:cNvSpPr>
            <p:nvPr/>
          </p:nvSpPr>
          <p:spPr bwMode="auto">
            <a:xfrm>
              <a:off x="672" y="2928"/>
              <a:ext cx="2448"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7" name="Rectangle 18"/>
            <p:cNvSpPr>
              <a:spLocks noChangeArrowheads="1"/>
            </p:cNvSpPr>
            <p:nvPr/>
          </p:nvSpPr>
          <p:spPr bwMode="auto">
            <a:xfrm>
              <a:off x="2064" y="2832"/>
              <a:ext cx="288"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58" name="Rectangle 19"/>
            <p:cNvSpPr>
              <a:spLocks noChangeArrowheads="1"/>
            </p:cNvSpPr>
            <p:nvPr/>
          </p:nvSpPr>
          <p:spPr bwMode="auto">
            <a:xfrm>
              <a:off x="2352" y="2688"/>
              <a:ext cx="192" cy="48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59" name="Rectangle 20"/>
            <p:cNvSpPr>
              <a:spLocks noChangeArrowheads="1"/>
            </p:cNvSpPr>
            <p:nvPr/>
          </p:nvSpPr>
          <p:spPr bwMode="auto">
            <a:xfrm>
              <a:off x="2352" y="1920"/>
              <a:ext cx="192" cy="76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60" name="Line 21"/>
            <p:cNvSpPr>
              <a:spLocks noChangeShapeType="1"/>
            </p:cNvSpPr>
            <p:nvPr/>
          </p:nvSpPr>
          <p:spPr bwMode="auto">
            <a:xfrm>
              <a:off x="672" y="2304"/>
              <a:ext cx="3792" cy="0"/>
            </a:xfrm>
            <a:prstGeom prst="line">
              <a:avLst/>
            </a:prstGeom>
            <a:noFill/>
            <a:ln w="22225">
              <a:solidFill>
                <a:schemeClr val="tx1"/>
              </a:solidFill>
              <a:prstDash val="lgDashDot"/>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1" name="Rectangle 22"/>
            <p:cNvSpPr>
              <a:spLocks noChangeArrowheads="1"/>
            </p:cNvSpPr>
            <p:nvPr/>
          </p:nvSpPr>
          <p:spPr bwMode="auto">
            <a:xfrm>
              <a:off x="2544" y="2160"/>
              <a:ext cx="1632" cy="288"/>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62" name="Rectangle 23"/>
            <p:cNvSpPr>
              <a:spLocks noChangeArrowheads="1"/>
            </p:cNvSpPr>
            <p:nvPr/>
          </p:nvSpPr>
          <p:spPr bwMode="auto">
            <a:xfrm>
              <a:off x="2640" y="2208"/>
              <a:ext cx="1536" cy="192"/>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useBgFill="1">
          <p:nvSpPr>
            <p:cNvPr id="91163" name="Rectangle 24"/>
            <p:cNvSpPr>
              <a:spLocks noChangeArrowheads="1"/>
            </p:cNvSpPr>
            <p:nvPr/>
          </p:nvSpPr>
          <p:spPr bwMode="auto">
            <a:xfrm>
              <a:off x="3552" y="2064"/>
              <a:ext cx="288" cy="480"/>
            </a:xfrm>
            <a:prstGeom prst="rect">
              <a:avLst/>
            </a:prstGeom>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1164" name="Line 25"/>
            <p:cNvSpPr>
              <a:spLocks noChangeShapeType="1"/>
            </p:cNvSpPr>
            <p:nvPr/>
          </p:nvSpPr>
          <p:spPr bwMode="auto">
            <a:xfrm>
              <a:off x="4224" y="2112"/>
              <a:ext cx="816"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5" name="Line 26"/>
            <p:cNvSpPr>
              <a:spLocks noChangeShapeType="1"/>
            </p:cNvSpPr>
            <p:nvPr/>
          </p:nvSpPr>
          <p:spPr bwMode="auto">
            <a:xfrm flipV="1">
              <a:off x="4608" y="1488"/>
              <a:ext cx="0" cy="28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6" name="Line 27"/>
            <p:cNvSpPr>
              <a:spLocks noChangeShapeType="1"/>
            </p:cNvSpPr>
            <p:nvPr/>
          </p:nvSpPr>
          <p:spPr bwMode="auto">
            <a:xfrm>
              <a:off x="4608" y="1488"/>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167" name="Text Box 28"/>
            <p:cNvSpPr txBox="1">
              <a:spLocks noChangeArrowheads="1"/>
            </p:cNvSpPr>
            <p:nvPr/>
          </p:nvSpPr>
          <p:spPr bwMode="auto">
            <a:xfrm>
              <a:off x="4704" y="1497"/>
              <a:ext cx="5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91168" name="Text Box 29"/>
            <p:cNvSpPr txBox="1">
              <a:spLocks noChangeArrowheads="1"/>
            </p:cNvSpPr>
            <p:nvPr/>
          </p:nvSpPr>
          <p:spPr bwMode="auto">
            <a:xfrm>
              <a:off x="4267" y="2160"/>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3</a:t>
              </a:r>
            </a:p>
          </p:txBody>
        </p:sp>
        <p:sp>
          <p:nvSpPr>
            <p:cNvPr id="91169" name="Text Box 30"/>
            <p:cNvSpPr txBox="1">
              <a:spLocks noChangeArrowheads="1"/>
            </p:cNvSpPr>
            <p:nvPr/>
          </p:nvSpPr>
          <p:spPr bwMode="auto">
            <a:xfrm>
              <a:off x="3072" y="2784"/>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2</a:t>
              </a:r>
            </a:p>
          </p:txBody>
        </p:sp>
        <p:sp>
          <p:nvSpPr>
            <p:cNvPr id="91170" name="Text Box 31"/>
            <p:cNvSpPr txBox="1">
              <a:spLocks noChangeArrowheads="1"/>
            </p:cNvSpPr>
            <p:nvPr/>
          </p:nvSpPr>
          <p:spPr bwMode="auto">
            <a:xfrm>
              <a:off x="3077" y="3369"/>
              <a:ext cx="9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J</a:t>
              </a:r>
              <a:r>
                <a:rPr lang="en-US" altLang="zh-CN" sz="2900" baseline="-18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K</a:t>
              </a:r>
              <a:r>
                <a:rPr lang="en-US" altLang="zh-CN" sz="2900" baseline="-18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1</a:t>
              </a:r>
            </a:p>
          </p:txBody>
        </p:sp>
        <p:sp>
          <p:nvSpPr>
            <p:cNvPr id="91171" name="Text Box 32"/>
            <p:cNvSpPr txBox="1">
              <a:spLocks noChangeArrowheads="1"/>
            </p:cNvSpPr>
            <p:nvPr/>
          </p:nvSpPr>
          <p:spPr bwMode="auto">
            <a:xfrm>
              <a:off x="5009" y="1929"/>
              <a:ext cx="3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C</a:t>
              </a:r>
              <a:r>
                <a:rPr lang="en-US" altLang="zh-CN" sz="2900" i="1" baseline="-18000">
                  <a:latin typeface="Times New Roman" panose="02020603050405020304" pitchFamily="18" charset="0"/>
                </a:rPr>
                <a:t>m</a:t>
              </a:r>
            </a:p>
          </p:txBody>
        </p:sp>
        <p:sp>
          <p:nvSpPr>
            <p:cNvPr id="91172" name="Text Box 33"/>
            <p:cNvSpPr txBox="1">
              <a:spLocks noChangeArrowheads="1"/>
            </p:cNvSpPr>
            <p:nvPr/>
          </p:nvSpPr>
          <p:spPr bwMode="auto">
            <a:xfrm>
              <a:off x="2064" y="3600"/>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1</a:t>
              </a:r>
            </a:p>
          </p:txBody>
        </p:sp>
        <p:sp>
          <p:nvSpPr>
            <p:cNvPr id="91173" name="Text Box 34"/>
            <p:cNvSpPr txBox="1">
              <a:spLocks noChangeArrowheads="1"/>
            </p:cNvSpPr>
            <p:nvPr/>
          </p:nvSpPr>
          <p:spPr bwMode="auto">
            <a:xfrm>
              <a:off x="1593" y="2352"/>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2</a:t>
              </a:r>
            </a:p>
          </p:txBody>
        </p:sp>
        <p:sp>
          <p:nvSpPr>
            <p:cNvPr id="91174" name="Text Box 35"/>
            <p:cNvSpPr txBox="1">
              <a:spLocks noChangeArrowheads="1"/>
            </p:cNvSpPr>
            <p:nvPr/>
          </p:nvSpPr>
          <p:spPr bwMode="auto">
            <a:xfrm>
              <a:off x="2304" y="3072"/>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3</a:t>
              </a:r>
            </a:p>
          </p:txBody>
        </p:sp>
        <p:sp>
          <p:nvSpPr>
            <p:cNvPr id="91175" name="Text Box 36"/>
            <p:cNvSpPr txBox="1">
              <a:spLocks noChangeArrowheads="1"/>
            </p:cNvSpPr>
            <p:nvPr/>
          </p:nvSpPr>
          <p:spPr bwMode="auto">
            <a:xfrm>
              <a:off x="2304" y="1584"/>
              <a:ext cx="2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z</a:t>
              </a:r>
              <a:r>
                <a:rPr lang="en-US" altLang="zh-CN" sz="2900" baseline="-18000">
                  <a:latin typeface="Times New Roman" panose="02020603050405020304" pitchFamily="18" charset="0"/>
                </a:rPr>
                <a:t>4</a:t>
              </a:r>
            </a:p>
          </p:txBody>
        </p:sp>
        <p:sp>
          <p:nvSpPr>
            <p:cNvPr id="91176" name="Text Box 37"/>
            <p:cNvSpPr txBox="1">
              <a:spLocks noChangeArrowheads="1"/>
            </p:cNvSpPr>
            <p:nvPr/>
          </p:nvSpPr>
          <p:spPr bwMode="auto">
            <a:xfrm>
              <a:off x="480" y="3408"/>
              <a:ext cx="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a:t>
              </a:r>
            </a:p>
          </p:txBody>
        </p:sp>
        <p:sp>
          <p:nvSpPr>
            <p:cNvPr id="91177" name="Text Box 38"/>
            <p:cNvSpPr txBox="1">
              <a:spLocks noChangeArrowheads="1"/>
            </p:cNvSpPr>
            <p:nvPr/>
          </p:nvSpPr>
          <p:spPr bwMode="auto">
            <a:xfrm>
              <a:off x="428" y="278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II</a:t>
              </a:r>
            </a:p>
          </p:txBody>
        </p:sp>
        <p:sp>
          <p:nvSpPr>
            <p:cNvPr id="91178" name="Text Box 39"/>
            <p:cNvSpPr txBox="1">
              <a:spLocks noChangeArrowheads="1"/>
            </p:cNvSpPr>
            <p:nvPr/>
          </p:nvSpPr>
          <p:spPr bwMode="auto">
            <a:xfrm>
              <a:off x="384" y="2160"/>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400">
                  <a:latin typeface="Times New Roman" panose="02020603050405020304" pitchFamily="18" charset="0"/>
                </a:rPr>
                <a:t>III</a:t>
              </a:r>
            </a:p>
          </p:txBody>
        </p:sp>
        <p:sp>
          <p:nvSpPr>
            <p:cNvPr id="91179" name="Text Box 40"/>
            <p:cNvSpPr txBox="1">
              <a:spLocks noChangeArrowheads="1"/>
            </p:cNvSpPr>
            <p:nvPr/>
          </p:nvSpPr>
          <p:spPr bwMode="auto">
            <a:xfrm>
              <a:off x="1631" y="3018"/>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T</a:t>
              </a:r>
            </a:p>
          </p:txBody>
        </p:sp>
        <p:sp>
          <p:nvSpPr>
            <p:cNvPr id="91180" name="Text Box 41"/>
            <p:cNvSpPr txBox="1">
              <a:spLocks noChangeArrowheads="1"/>
            </p:cNvSpPr>
            <p:nvPr/>
          </p:nvSpPr>
          <p:spPr bwMode="auto">
            <a:xfrm>
              <a:off x="1597" y="3701"/>
              <a:ext cx="2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i</a:t>
              </a:r>
            </a:p>
          </p:txBody>
        </p:sp>
        <p:sp>
          <p:nvSpPr>
            <p:cNvPr id="91181" name="Text Box 42"/>
            <p:cNvSpPr txBox="1">
              <a:spLocks noChangeArrowheads="1"/>
            </p:cNvSpPr>
            <p:nvPr/>
          </p:nvSpPr>
          <p:spPr bwMode="auto">
            <a:xfrm>
              <a:off x="3513" y="2496"/>
              <a:ext cx="3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K</a:t>
              </a:r>
              <a:r>
                <a:rPr lang="en-US" altLang="zh-CN" sz="2900" i="1" baseline="-18000">
                  <a:latin typeface="Times New Roman" panose="02020603050405020304" pitchFamily="18" charset="0"/>
                </a:rPr>
                <a:t>m</a:t>
              </a:r>
            </a:p>
          </p:txBody>
        </p:sp>
      </p:grpSp>
      <p:sp>
        <p:nvSpPr>
          <p:cNvPr id="2" name="矩形 1"/>
          <p:cNvSpPr/>
          <p:nvPr/>
        </p:nvSpPr>
        <p:spPr>
          <a:xfrm>
            <a:off x="2752725" y="5446713"/>
            <a:ext cx="436563" cy="3746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矩形 45"/>
          <p:cNvSpPr/>
          <p:nvPr/>
        </p:nvSpPr>
        <p:spPr>
          <a:xfrm>
            <a:off x="7732713" y="1909763"/>
            <a:ext cx="714375" cy="412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8340"/>
                                        </p:tgtEl>
                                        <p:attrNameLst>
                                          <p:attrName>style.visibility</p:attrName>
                                        </p:attrNameLst>
                                      </p:cBhvr>
                                      <p:to>
                                        <p:strVal val="visible"/>
                                      </p:to>
                                    </p:set>
                                    <p:anim calcmode="lin" valueType="num">
                                      <p:cBhvr additive="base">
                                        <p:cTn id="7" dur="500" fill="hold"/>
                                        <p:tgtEl>
                                          <p:spTgt spid="398340"/>
                                        </p:tgtEl>
                                        <p:attrNameLst>
                                          <p:attrName>ppt_x</p:attrName>
                                        </p:attrNameLst>
                                      </p:cBhvr>
                                      <p:tavLst>
                                        <p:tav tm="0">
                                          <p:val>
                                            <p:strVal val="#ppt_x"/>
                                          </p:val>
                                        </p:tav>
                                        <p:tav tm="100000">
                                          <p:val>
                                            <p:strVal val="#ppt_x"/>
                                          </p:val>
                                        </p:tav>
                                      </p:tavLst>
                                    </p:anim>
                                    <p:anim calcmode="lin" valueType="num">
                                      <p:cBhvr additive="base">
                                        <p:cTn id="8" dur="500" fill="hold"/>
                                        <p:tgtEl>
                                          <p:spTgt spid="39834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10"/>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057EFDAC-F28A-468B-AC98-87A2DD74CCCC}" type="datetime1">
              <a:rPr lang="en-US" altLang="zh-CN" sz="1200" smtClean="0"/>
              <a:pPr>
                <a:spcBef>
                  <a:spcPct val="0"/>
                </a:spcBef>
                <a:buClrTx/>
                <a:buFontTx/>
                <a:buNone/>
              </a:pPr>
              <a:t>9/14/2025</a:t>
            </a:fld>
            <a:endParaRPr lang="en-US" altLang="zh-CN" sz="1200"/>
          </a:p>
        </p:txBody>
      </p:sp>
      <p:sp>
        <p:nvSpPr>
          <p:cNvPr id="92163" name="灯片编号占位符 1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F5653651-E3F7-46A3-ADF4-D3E3A8F77853}" type="slidenum">
              <a:rPr lang="en-US" altLang="zh-CN" sz="1200" smtClean="0"/>
              <a:pPr>
                <a:spcBef>
                  <a:spcPct val="0"/>
                </a:spcBef>
                <a:buClrTx/>
                <a:buFontTx/>
                <a:buNone/>
              </a:pPr>
              <a:t>48</a:t>
            </a:fld>
            <a:endParaRPr lang="en-US" altLang="zh-CN" sz="1200"/>
          </a:p>
        </p:txBody>
      </p:sp>
      <p:sp>
        <p:nvSpPr>
          <p:cNvPr id="399363" name="Rectangle 3"/>
          <p:cNvSpPr>
            <a:spLocks noChangeArrowheads="1"/>
          </p:cNvSpPr>
          <p:nvPr/>
        </p:nvSpPr>
        <p:spPr bwMode="auto">
          <a:xfrm>
            <a:off x="2133600" y="3290888"/>
            <a:ext cx="6477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en-US" altLang="zh-CN"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m</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为工作台位移</a:t>
            </a: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折算到</a:t>
            </a:r>
            <a:r>
              <a:rPr lang="en-US" altLang="zh-CN" sz="2800">
                <a:latin typeface="Times New Roman" panose="02020603050405020304" pitchFamily="18" charset="0"/>
              </a:rPr>
              <a:t>I</a:t>
            </a:r>
            <a:r>
              <a:rPr lang="zh-CN" altLang="en-US" sz="2800">
                <a:latin typeface="Times New Roman" panose="02020603050405020304" pitchFamily="18" charset="0"/>
              </a:rPr>
              <a:t>轴上的等效当量转角：</a:t>
            </a:r>
          </a:p>
        </p:txBody>
      </p:sp>
      <p:sp>
        <p:nvSpPr>
          <p:cNvPr id="92165" name="Rectangle 4"/>
          <p:cNvSpPr>
            <a:spLocks noChangeArrowheads="1"/>
          </p:cNvSpPr>
          <p:nvPr/>
        </p:nvSpPr>
        <p:spPr bwMode="auto">
          <a:xfrm>
            <a:off x="1066800" y="846138"/>
            <a:ext cx="72390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空载时，</a:t>
            </a:r>
            <a:r>
              <a:rPr lang="en-US" altLang="zh-CN" sz="2800">
                <a:latin typeface="Times New Roman" panose="02020603050405020304" pitchFamily="18" charset="0"/>
              </a:rPr>
              <a:t>I</a:t>
            </a:r>
            <a:r>
              <a:rPr lang="zh-CN" altLang="en-US" sz="2800">
                <a:latin typeface="Times New Roman" panose="02020603050405020304" pitchFamily="18" charset="0"/>
              </a:rPr>
              <a:t>轴转矩平衡方程为：</a:t>
            </a:r>
          </a:p>
        </p:txBody>
      </p:sp>
      <p:graphicFrame>
        <p:nvGraphicFramePr>
          <p:cNvPr id="399365" name="Object 5"/>
          <p:cNvGraphicFramePr>
            <a:graphicFrameLocks noChangeAspect="1"/>
          </p:cNvGraphicFramePr>
          <p:nvPr/>
        </p:nvGraphicFramePr>
        <p:xfrm>
          <a:off x="1219200" y="1828800"/>
          <a:ext cx="5589588" cy="927100"/>
        </p:xfrm>
        <a:graphic>
          <a:graphicData uri="http://schemas.openxmlformats.org/presentationml/2006/ole">
            <mc:AlternateContent xmlns:mc="http://schemas.openxmlformats.org/markup-compatibility/2006">
              <mc:Choice xmlns:v="urn:schemas-microsoft-com:vml" Requires="v">
                <p:oleObj r:id="rId2" imgW="2679700" imgH="444500" progId="Equation.3">
                  <p:embed/>
                </p:oleObj>
              </mc:Choice>
              <mc:Fallback>
                <p:oleObj r:id="rId2" imgW="2679700" imgH="4445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828800"/>
                        <a:ext cx="558958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9366" name="Rectangle 6"/>
          <p:cNvSpPr>
            <a:spLocks noChangeArrowheads="1"/>
          </p:cNvSpPr>
          <p:nvPr/>
        </p:nvSpPr>
        <p:spPr bwMode="auto">
          <a:xfrm>
            <a:off x="1143000" y="2741613"/>
            <a:ext cx="72390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其中，</a:t>
            </a:r>
            <a:r>
              <a:rPr lang="zh-CN" altLang="en-US" sz="2800" i="1">
                <a:latin typeface="Times New Roman" panose="02020603050405020304" pitchFamily="18" charset="0"/>
                <a:sym typeface="Symbol" panose="05050102010706020507" pitchFamily="18" charset="2"/>
              </a:rPr>
              <a:t></a:t>
            </a:r>
            <a:r>
              <a:rPr lang="en-US" altLang="zh-CN" sz="2900" i="1" baseline="-18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为</a:t>
            </a:r>
            <a:r>
              <a:rPr lang="en-US" altLang="zh-CN" sz="2800">
                <a:latin typeface="Times New Roman" panose="02020603050405020304" pitchFamily="18" charset="0"/>
              </a:rPr>
              <a:t>I</a:t>
            </a:r>
            <a:r>
              <a:rPr lang="zh-CN" altLang="en-US" sz="2800">
                <a:latin typeface="Times New Roman" panose="02020603050405020304" pitchFamily="18" charset="0"/>
              </a:rPr>
              <a:t>轴输入转角；</a:t>
            </a:r>
          </a:p>
        </p:txBody>
      </p:sp>
      <p:graphicFrame>
        <p:nvGraphicFramePr>
          <p:cNvPr id="399367" name="Object 7"/>
          <p:cNvGraphicFramePr>
            <a:graphicFrameLocks noChangeAspect="1"/>
          </p:cNvGraphicFramePr>
          <p:nvPr/>
        </p:nvGraphicFramePr>
        <p:xfrm>
          <a:off x="3192463" y="4510088"/>
          <a:ext cx="2674937" cy="900112"/>
        </p:xfrm>
        <a:graphic>
          <a:graphicData uri="http://schemas.openxmlformats.org/presentationml/2006/ole">
            <mc:AlternateContent xmlns:mc="http://schemas.openxmlformats.org/markup-compatibility/2006">
              <mc:Choice xmlns:v="urn:schemas-microsoft-com:vml" Requires="v">
                <p:oleObj r:id="rId4" imgW="1282700" imgH="431800" progId="Equation.3">
                  <p:embed/>
                </p:oleObj>
              </mc:Choice>
              <mc:Fallback>
                <p:oleObj r:id="rId4" imgW="1282700" imgH="4318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2463" y="4510088"/>
                        <a:ext cx="2674937"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99368" name="Group 8"/>
          <p:cNvGrpSpPr>
            <a:grpSpLocks/>
          </p:cNvGrpSpPr>
          <p:nvPr/>
        </p:nvGrpSpPr>
        <p:grpSpPr bwMode="auto">
          <a:xfrm>
            <a:off x="3200400" y="5500688"/>
            <a:ext cx="4800600" cy="900112"/>
            <a:chOff x="1440" y="3561"/>
            <a:chExt cx="3024" cy="567"/>
          </a:xfrm>
        </p:grpSpPr>
        <p:graphicFrame>
          <p:nvGraphicFramePr>
            <p:cNvPr id="92170" name="Object 9"/>
            <p:cNvGraphicFramePr>
              <a:graphicFrameLocks noChangeAspect="1"/>
            </p:cNvGraphicFramePr>
            <p:nvPr/>
          </p:nvGraphicFramePr>
          <p:xfrm>
            <a:off x="1440" y="3561"/>
            <a:ext cx="1418" cy="567"/>
          </p:xfrm>
          <a:graphic>
            <a:graphicData uri="http://schemas.openxmlformats.org/presentationml/2006/ole">
              <mc:AlternateContent xmlns:mc="http://schemas.openxmlformats.org/markup-compatibility/2006">
                <mc:Choice xmlns:v="urn:schemas-microsoft-com:vml" Requires="v">
                  <p:oleObj r:id="rId6" imgW="1079032" imgH="431613" progId="Equation.3">
                    <p:embed/>
                  </p:oleObj>
                </mc:Choice>
                <mc:Fallback>
                  <p:oleObj r:id="rId6" imgW="1079032" imgH="431613"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0" y="3561"/>
                          <a:ext cx="1418"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171" name="Rectangle 10"/>
            <p:cNvSpPr>
              <a:spLocks noChangeArrowheads="1"/>
            </p:cNvSpPr>
            <p:nvPr/>
          </p:nvSpPr>
          <p:spPr bwMode="auto">
            <a:xfrm>
              <a:off x="2879" y="3648"/>
              <a:ext cx="15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a:t>
              </a:r>
              <a:r>
                <a:rPr lang="en-US" altLang="zh-CN" sz="2800" i="1">
                  <a:latin typeface="Times New Roman" panose="02020603050405020304" pitchFamily="18" charset="0"/>
                </a:rPr>
                <a:t>L</a:t>
              </a:r>
              <a:r>
                <a:rPr lang="zh-CN" altLang="en-US" sz="2800">
                  <a:latin typeface="Times New Roman" panose="02020603050405020304" pitchFamily="18" charset="0"/>
                </a:rPr>
                <a:t>为丝杠螺距</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9365"/>
                                        </p:tgtEl>
                                        <p:attrNameLst>
                                          <p:attrName>style.visibility</p:attrName>
                                        </p:attrNameLst>
                                      </p:cBhvr>
                                      <p:to>
                                        <p:strVal val="visible"/>
                                      </p:to>
                                    </p:set>
                                    <p:anim calcmode="lin" valueType="num">
                                      <p:cBhvr additive="base">
                                        <p:cTn id="7" dur="500" fill="hold"/>
                                        <p:tgtEl>
                                          <p:spTgt spid="399365"/>
                                        </p:tgtEl>
                                        <p:attrNameLst>
                                          <p:attrName>ppt_x</p:attrName>
                                        </p:attrNameLst>
                                      </p:cBhvr>
                                      <p:tavLst>
                                        <p:tav tm="0">
                                          <p:val>
                                            <p:strVal val="#ppt_x"/>
                                          </p:val>
                                        </p:tav>
                                        <p:tav tm="100000">
                                          <p:val>
                                            <p:strVal val="#ppt_x"/>
                                          </p:val>
                                        </p:tav>
                                      </p:tavLst>
                                    </p:anim>
                                    <p:anim calcmode="lin" valueType="num">
                                      <p:cBhvr additive="base">
                                        <p:cTn id="8" dur="500" fill="hold"/>
                                        <p:tgtEl>
                                          <p:spTgt spid="39936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366"/>
                                        </p:tgtEl>
                                        <p:attrNameLst>
                                          <p:attrName>style.visibility</p:attrName>
                                        </p:attrNameLst>
                                      </p:cBhvr>
                                      <p:to>
                                        <p:strVal val="visible"/>
                                      </p:to>
                                    </p:set>
                                    <p:anim calcmode="lin" valueType="num">
                                      <p:cBhvr additive="base">
                                        <p:cTn id="13" dur="500" fill="hold"/>
                                        <p:tgtEl>
                                          <p:spTgt spid="399366"/>
                                        </p:tgtEl>
                                        <p:attrNameLst>
                                          <p:attrName>ppt_x</p:attrName>
                                        </p:attrNameLst>
                                      </p:cBhvr>
                                      <p:tavLst>
                                        <p:tav tm="0">
                                          <p:val>
                                            <p:strVal val="#ppt_x"/>
                                          </p:val>
                                        </p:tav>
                                        <p:tav tm="100000">
                                          <p:val>
                                            <p:strVal val="#ppt_x"/>
                                          </p:val>
                                        </p:tav>
                                      </p:tavLst>
                                    </p:anim>
                                    <p:anim calcmode="lin" valueType="num">
                                      <p:cBhvr additive="base">
                                        <p:cTn id="14" dur="500" fill="hold"/>
                                        <p:tgtEl>
                                          <p:spTgt spid="39936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363"/>
                                        </p:tgtEl>
                                        <p:attrNameLst>
                                          <p:attrName>style.visibility</p:attrName>
                                        </p:attrNameLst>
                                      </p:cBhvr>
                                      <p:to>
                                        <p:strVal val="visible"/>
                                      </p:to>
                                    </p:set>
                                    <p:anim calcmode="lin" valueType="num">
                                      <p:cBhvr additive="base">
                                        <p:cTn id="19" dur="500" fill="hold"/>
                                        <p:tgtEl>
                                          <p:spTgt spid="399363"/>
                                        </p:tgtEl>
                                        <p:attrNameLst>
                                          <p:attrName>ppt_x</p:attrName>
                                        </p:attrNameLst>
                                      </p:cBhvr>
                                      <p:tavLst>
                                        <p:tav tm="0">
                                          <p:val>
                                            <p:strVal val="#ppt_x"/>
                                          </p:val>
                                        </p:tav>
                                        <p:tav tm="100000">
                                          <p:val>
                                            <p:strVal val="#ppt_x"/>
                                          </p:val>
                                        </p:tav>
                                      </p:tavLst>
                                    </p:anim>
                                    <p:anim calcmode="lin" valueType="num">
                                      <p:cBhvr additive="base">
                                        <p:cTn id="20" dur="500" fill="hold"/>
                                        <p:tgtEl>
                                          <p:spTgt spid="39936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99367"/>
                                        </p:tgtEl>
                                        <p:attrNameLst>
                                          <p:attrName>style.visibility</p:attrName>
                                        </p:attrNameLst>
                                      </p:cBhvr>
                                      <p:to>
                                        <p:strVal val="visible"/>
                                      </p:to>
                                    </p:set>
                                    <p:anim calcmode="lin" valueType="num">
                                      <p:cBhvr additive="base">
                                        <p:cTn id="25" dur="500" fill="hold"/>
                                        <p:tgtEl>
                                          <p:spTgt spid="399367"/>
                                        </p:tgtEl>
                                        <p:attrNameLst>
                                          <p:attrName>ppt_x</p:attrName>
                                        </p:attrNameLst>
                                      </p:cBhvr>
                                      <p:tavLst>
                                        <p:tav tm="0">
                                          <p:val>
                                            <p:strVal val="#ppt_x"/>
                                          </p:val>
                                        </p:tav>
                                        <p:tav tm="100000">
                                          <p:val>
                                            <p:strVal val="#ppt_x"/>
                                          </p:val>
                                        </p:tav>
                                      </p:tavLst>
                                    </p:anim>
                                    <p:anim calcmode="lin" valueType="num">
                                      <p:cBhvr additive="base">
                                        <p:cTn id="26" dur="500" fill="hold"/>
                                        <p:tgtEl>
                                          <p:spTgt spid="39936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99368"/>
                                        </p:tgtEl>
                                        <p:attrNameLst>
                                          <p:attrName>style.visibility</p:attrName>
                                        </p:attrNameLst>
                                      </p:cBhvr>
                                      <p:to>
                                        <p:strVal val="visible"/>
                                      </p:to>
                                    </p:set>
                                    <p:anim calcmode="lin" valueType="num">
                                      <p:cBhvr additive="base">
                                        <p:cTn id="31" dur="500" fill="hold"/>
                                        <p:tgtEl>
                                          <p:spTgt spid="399368"/>
                                        </p:tgtEl>
                                        <p:attrNameLst>
                                          <p:attrName>ppt_x</p:attrName>
                                        </p:attrNameLst>
                                      </p:cBhvr>
                                      <p:tavLst>
                                        <p:tav tm="0">
                                          <p:val>
                                            <p:strVal val="#ppt_x"/>
                                          </p:val>
                                        </p:tav>
                                        <p:tav tm="100000">
                                          <p:val>
                                            <p:strVal val="#ppt_x"/>
                                          </p:val>
                                        </p:tav>
                                      </p:tavLst>
                                    </p:anim>
                                    <p:anim calcmode="lin" valueType="num">
                                      <p:cBhvr additive="base">
                                        <p:cTn id="32" dur="500" fill="hold"/>
                                        <p:tgtEl>
                                          <p:spTgt spid="3993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p:bldP spid="39936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7"/>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C603375B-CEAE-4CAE-A7D6-360F28CAB91E}" type="datetime1">
              <a:rPr lang="en-US" altLang="zh-CN" sz="1200" smtClean="0"/>
              <a:pPr>
                <a:spcBef>
                  <a:spcPct val="0"/>
                </a:spcBef>
                <a:buClrTx/>
                <a:buFontTx/>
                <a:buNone/>
              </a:pPr>
              <a:t>9/14/2025</a:t>
            </a:fld>
            <a:endParaRPr lang="en-US" altLang="zh-CN" sz="1200"/>
          </a:p>
        </p:txBody>
      </p:sp>
      <p:sp>
        <p:nvSpPr>
          <p:cNvPr id="93187" name="灯片编号占位符 9"/>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D6E71BE-3114-4C30-8DAE-6D5C3329C3E9}" type="slidenum">
              <a:rPr lang="en-US" altLang="zh-CN" sz="1200" smtClean="0"/>
              <a:pPr>
                <a:spcBef>
                  <a:spcPct val="0"/>
                </a:spcBef>
                <a:buClrTx/>
                <a:buFontTx/>
                <a:buNone/>
              </a:pPr>
              <a:t>49</a:t>
            </a:fld>
            <a:endParaRPr lang="en-US" altLang="zh-CN" sz="1200"/>
          </a:p>
        </p:txBody>
      </p:sp>
      <p:sp>
        <p:nvSpPr>
          <p:cNvPr id="93188" name="Rectangle 3"/>
          <p:cNvSpPr>
            <a:spLocks noChangeArrowheads="1"/>
          </p:cNvSpPr>
          <p:nvPr/>
        </p:nvSpPr>
        <p:spPr bwMode="auto">
          <a:xfrm>
            <a:off x="1143000" y="1736725"/>
            <a:ext cx="73914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en-US" altLang="zh-CN" sz="2800" i="1">
                <a:latin typeface="Times New Roman" panose="02020603050405020304" pitchFamily="18" charset="0"/>
              </a:rPr>
              <a:t>J</a:t>
            </a:r>
            <a:r>
              <a:rPr lang="zh-CN" altLang="en-US" sz="2800" i="1">
                <a:latin typeface="Times New Roman" panose="02020603050405020304" pitchFamily="18" charset="0"/>
              </a:rPr>
              <a:t>、</a:t>
            </a:r>
            <a:r>
              <a:rPr lang="en-US" altLang="zh-CN" sz="2800" i="1">
                <a:latin typeface="Times New Roman" panose="02020603050405020304" pitchFamily="18" charset="0"/>
              </a:rPr>
              <a:t>C</a:t>
            </a:r>
            <a:r>
              <a:rPr lang="zh-CN" altLang="en-US" sz="2800" i="1">
                <a:latin typeface="Times New Roman" panose="02020603050405020304" pitchFamily="18" charset="0"/>
              </a:rPr>
              <a:t>、</a:t>
            </a:r>
            <a:r>
              <a:rPr lang="en-US" altLang="zh-CN" sz="2800" i="1">
                <a:latin typeface="Times New Roman" panose="02020603050405020304" pitchFamily="18" charset="0"/>
              </a:rPr>
              <a:t>K</a:t>
            </a:r>
            <a:r>
              <a:rPr lang="zh-CN" altLang="en-US" sz="2800">
                <a:latin typeface="Times New Roman" panose="02020603050405020304" pitchFamily="18" charset="0"/>
              </a:rPr>
              <a:t>分别为工作台及各轴折算到</a:t>
            </a:r>
            <a:r>
              <a:rPr lang="en-US" altLang="zh-CN" sz="2800">
                <a:latin typeface="Times New Roman" panose="02020603050405020304" pitchFamily="18" charset="0"/>
              </a:rPr>
              <a:t>I</a:t>
            </a:r>
            <a:r>
              <a:rPr lang="zh-CN" altLang="en-US" sz="2800">
                <a:latin typeface="Times New Roman" panose="02020603050405020304" pitchFamily="18" charset="0"/>
              </a:rPr>
              <a:t>轴上的等效总转动惯量、等效总粘性阻尼系数及等效总刚度系数。</a:t>
            </a:r>
          </a:p>
        </p:txBody>
      </p:sp>
      <p:grpSp>
        <p:nvGrpSpPr>
          <p:cNvPr id="400388" name="Group 4"/>
          <p:cNvGrpSpPr>
            <a:grpSpLocks/>
          </p:cNvGrpSpPr>
          <p:nvPr/>
        </p:nvGrpSpPr>
        <p:grpSpPr bwMode="auto">
          <a:xfrm>
            <a:off x="1698625" y="3375025"/>
            <a:ext cx="5721350" cy="3108325"/>
            <a:chOff x="1056" y="2160"/>
            <a:chExt cx="3604" cy="1958"/>
          </a:xfrm>
        </p:grpSpPr>
        <p:graphicFrame>
          <p:nvGraphicFramePr>
            <p:cNvPr id="93190" name="Object 5"/>
            <p:cNvGraphicFramePr>
              <a:graphicFrameLocks noChangeAspect="1"/>
            </p:cNvGraphicFramePr>
            <p:nvPr/>
          </p:nvGraphicFramePr>
          <p:xfrm>
            <a:off x="1104" y="2160"/>
            <a:ext cx="3153" cy="450"/>
          </p:xfrm>
          <a:graphic>
            <a:graphicData uri="http://schemas.openxmlformats.org/presentationml/2006/ole">
              <mc:AlternateContent xmlns:mc="http://schemas.openxmlformats.org/markup-compatibility/2006">
                <mc:Choice xmlns:v="urn:schemas-microsoft-com:vml" Requires="v">
                  <p:oleObj r:id="rId2" imgW="2400300" imgH="342900" progId="Equation.3">
                    <p:embed/>
                  </p:oleObj>
                </mc:Choice>
                <mc:Fallback>
                  <p:oleObj r:id="rId2" imgW="2400300" imgH="3429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 y="2160"/>
                          <a:ext cx="3153"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1" name="Object 6"/>
            <p:cNvGraphicFramePr>
              <a:graphicFrameLocks noChangeAspect="1"/>
            </p:cNvGraphicFramePr>
            <p:nvPr/>
          </p:nvGraphicFramePr>
          <p:xfrm>
            <a:off x="1096" y="2688"/>
            <a:ext cx="3320" cy="450"/>
          </p:xfrm>
          <a:graphic>
            <a:graphicData uri="http://schemas.openxmlformats.org/presentationml/2006/ole">
              <mc:AlternateContent xmlns:mc="http://schemas.openxmlformats.org/markup-compatibility/2006">
                <mc:Choice xmlns:v="urn:schemas-microsoft-com:vml" Requires="v">
                  <p:oleObj r:id="rId4" imgW="2527300" imgH="342900" progId="Equation.3">
                    <p:embed/>
                  </p:oleObj>
                </mc:Choice>
                <mc:Fallback>
                  <p:oleObj r:id="rId4" imgW="2527300" imgH="3429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6" y="2688"/>
                          <a:ext cx="3320"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2" name="Object 7"/>
            <p:cNvGraphicFramePr>
              <a:graphicFrameLocks noChangeAspect="1"/>
            </p:cNvGraphicFramePr>
            <p:nvPr/>
          </p:nvGraphicFramePr>
          <p:xfrm>
            <a:off x="1056" y="3168"/>
            <a:ext cx="3604" cy="950"/>
          </p:xfrm>
          <a:graphic>
            <a:graphicData uri="http://schemas.openxmlformats.org/presentationml/2006/ole">
              <mc:AlternateContent xmlns:mc="http://schemas.openxmlformats.org/markup-compatibility/2006">
                <mc:Choice xmlns:v="urn:schemas-microsoft-com:vml" Requires="v">
                  <p:oleObj r:id="rId6" imgW="2743200" imgH="723900" progId="Equation.3">
                    <p:embed/>
                  </p:oleObj>
                </mc:Choice>
                <mc:Fallback>
                  <p:oleObj r:id="rId6" imgW="2743200" imgH="7239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3168"/>
                          <a:ext cx="3604" cy="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00388"/>
                                        </p:tgtEl>
                                        <p:attrNameLst>
                                          <p:attrName>style.visibility</p:attrName>
                                        </p:attrNameLst>
                                      </p:cBhvr>
                                      <p:to>
                                        <p:strVal val="visible"/>
                                      </p:to>
                                    </p:set>
                                    <p:anim calcmode="lin" valueType="num">
                                      <p:cBhvr additive="base">
                                        <p:cTn id="7" dur="500" fill="hold"/>
                                        <p:tgtEl>
                                          <p:spTgt spid="400388"/>
                                        </p:tgtEl>
                                        <p:attrNameLst>
                                          <p:attrName>ppt_x</p:attrName>
                                        </p:attrNameLst>
                                      </p:cBhvr>
                                      <p:tavLst>
                                        <p:tav tm="0">
                                          <p:val>
                                            <p:strVal val="#ppt_x"/>
                                          </p:val>
                                        </p:tav>
                                        <p:tav tm="100000">
                                          <p:val>
                                            <p:strVal val="#ppt_x"/>
                                          </p:val>
                                        </p:tav>
                                      </p:tavLst>
                                    </p:anim>
                                    <p:anim calcmode="lin" valueType="num">
                                      <p:cBhvr additive="base">
                                        <p:cTn id="8" dur="500" fill="hold"/>
                                        <p:tgtEl>
                                          <p:spTgt spid="4003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7"/>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18B0CFC2-9FC6-467E-8602-B9D2473E8C40}" type="datetime1">
              <a:rPr lang="en-US" altLang="zh-CN" sz="1200" smtClean="0"/>
              <a:pPr>
                <a:spcBef>
                  <a:spcPct val="0"/>
                </a:spcBef>
                <a:buClrTx/>
                <a:buFontTx/>
                <a:buNone/>
              </a:pPr>
              <a:t>9/14/2025</a:t>
            </a:fld>
            <a:endParaRPr lang="en-US" altLang="zh-CN" sz="1200"/>
          </a:p>
        </p:txBody>
      </p:sp>
      <p:sp>
        <p:nvSpPr>
          <p:cNvPr id="94211" name="灯片编号占位符 9"/>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60357455-4E8D-4AB5-A549-4D2DE382711A}" type="slidenum">
              <a:rPr lang="en-US" altLang="zh-CN" sz="1200" smtClean="0"/>
              <a:pPr>
                <a:spcBef>
                  <a:spcPct val="0"/>
                </a:spcBef>
                <a:buClrTx/>
                <a:buFontTx/>
                <a:buNone/>
              </a:pPr>
              <a:t>50</a:t>
            </a:fld>
            <a:endParaRPr lang="en-US" altLang="zh-CN" sz="1200"/>
          </a:p>
        </p:txBody>
      </p:sp>
      <p:graphicFrame>
        <p:nvGraphicFramePr>
          <p:cNvPr id="401411" name="Object 3"/>
          <p:cNvGraphicFramePr>
            <a:graphicFrameLocks noChangeAspect="1"/>
          </p:cNvGraphicFramePr>
          <p:nvPr/>
        </p:nvGraphicFramePr>
        <p:xfrm>
          <a:off x="1308100" y="2578100"/>
          <a:ext cx="5854700" cy="927100"/>
        </p:xfrm>
        <a:graphic>
          <a:graphicData uri="http://schemas.openxmlformats.org/presentationml/2006/ole">
            <mc:AlternateContent xmlns:mc="http://schemas.openxmlformats.org/markup-compatibility/2006">
              <mc:Choice xmlns:v="urn:schemas-microsoft-com:vml" Requires="v">
                <p:oleObj r:id="rId2" imgW="2806700" imgH="444500" progId="Equation.3">
                  <p:embed/>
                </p:oleObj>
              </mc:Choice>
              <mc:Fallback>
                <p:oleObj r:id="rId2" imgW="2806700" imgH="4445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00" y="2578100"/>
                        <a:ext cx="58547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3" name="Rectangle 4"/>
          <p:cNvSpPr>
            <a:spLocks noChangeArrowheads="1"/>
          </p:cNvSpPr>
          <p:nvPr/>
        </p:nvSpPr>
        <p:spPr bwMode="auto">
          <a:xfrm>
            <a:off x="1143000" y="1812925"/>
            <a:ext cx="72390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根据上述关系，可求得系统微分方程为：</a:t>
            </a:r>
          </a:p>
        </p:txBody>
      </p:sp>
      <p:grpSp>
        <p:nvGrpSpPr>
          <p:cNvPr id="401413" name="Group 5"/>
          <p:cNvGrpSpPr>
            <a:grpSpLocks/>
          </p:cNvGrpSpPr>
          <p:nvPr/>
        </p:nvGrpSpPr>
        <p:grpSpPr bwMode="auto">
          <a:xfrm>
            <a:off x="1143000" y="3641725"/>
            <a:ext cx="7239000" cy="1920875"/>
            <a:chOff x="720" y="2294"/>
            <a:chExt cx="4560" cy="1210"/>
          </a:xfrm>
        </p:grpSpPr>
        <p:sp>
          <p:nvSpPr>
            <p:cNvPr id="94215" name="Rectangle 6"/>
            <p:cNvSpPr>
              <a:spLocks noChangeArrowheads="1"/>
            </p:cNvSpPr>
            <p:nvPr/>
          </p:nvSpPr>
          <p:spPr bwMode="auto">
            <a:xfrm>
              <a:off x="720" y="2294"/>
              <a:ext cx="4560"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传递函数：</a:t>
              </a:r>
            </a:p>
          </p:txBody>
        </p:sp>
        <p:graphicFrame>
          <p:nvGraphicFramePr>
            <p:cNvPr id="94216" name="Object 7"/>
            <p:cNvGraphicFramePr>
              <a:graphicFrameLocks noChangeAspect="1"/>
            </p:cNvGraphicFramePr>
            <p:nvPr/>
          </p:nvGraphicFramePr>
          <p:xfrm>
            <a:off x="816" y="2737"/>
            <a:ext cx="4021" cy="767"/>
          </p:xfrm>
          <a:graphic>
            <a:graphicData uri="http://schemas.openxmlformats.org/presentationml/2006/ole">
              <mc:AlternateContent xmlns:mc="http://schemas.openxmlformats.org/markup-compatibility/2006">
                <mc:Choice xmlns:v="urn:schemas-microsoft-com:vml" Requires="v">
                  <p:oleObj r:id="rId4" imgW="3060700" imgH="584200" progId="Equation.3">
                    <p:embed/>
                  </p:oleObj>
                </mc:Choice>
                <mc:Fallback>
                  <p:oleObj r:id="rId4" imgW="3060700" imgH="5842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 y="2737"/>
                          <a:ext cx="4021" cy="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01411"/>
                                        </p:tgtEl>
                                        <p:attrNameLst>
                                          <p:attrName>style.visibility</p:attrName>
                                        </p:attrNameLst>
                                      </p:cBhvr>
                                      <p:to>
                                        <p:strVal val="visible"/>
                                      </p:to>
                                    </p:set>
                                    <p:anim calcmode="lin" valueType="num">
                                      <p:cBhvr additive="base">
                                        <p:cTn id="7" dur="500" fill="hold"/>
                                        <p:tgtEl>
                                          <p:spTgt spid="401411"/>
                                        </p:tgtEl>
                                        <p:attrNameLst>
                                          <p:attrName>ppt_x</p:attrName>
                                        </p:attrNameLst>
                                      </p:cBhvr>
                                      <p:tavLst>
                                        <p:tav tm="0">
                                          <p:val>
                                            <p:strVal val="#ppt_x"/>
                                          </p:val>
                                        </p:tav>
                                        <p:tav tm="100000">
                                          <p:val>
                                            <p:strVal val="#ppt_x"/>
                                          </p:val>
                                        </p:tav>
                                      </p:tavLst>
                                    </p:anim>
                                    <p:anim calcmode="lin" valueType="num">
                                      <p:cBhvr additive="base">
                                        <p:cTn id="8" dur="500" fill="hold"/>
                                        <p:tgtEl>
                                          <p:spTgt spid="40141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01413"/>
                                        </p:tgtEl>
                                        <p:attrNameLst>
                                          <p:attrName>style.visibility</p:attrName>
                                        </p:attrNameLst>
                                      </p:cBhvr>
                                      <p:to>
                                        <p:strVal val="visible"/>
                                      </p:to>
                                    </p:set>
                                    <p:anim calcmode="lin" valueType="num">
                                      <p:cBhvr additive="base">
                                        <p:cTn id="13" dur="500" fill="hold"/>
                                        <p:tgtEl>
                                          <p:spTgt spid="401413"/>
                                        </p:tgtEl>
                                        <p:attrNameLst>
                                          <p:attrName>ppt_x</p:attrName>
                                        </p:attrNameLst>
                                      </p:cBhvr>
                                      <p:tavLst>
                                        <p:tav tm="0">
                                          <p:val>
                                            <p:strVal val="#ppt_x"/>
                                          </p:val>
                                        </p:tav>
                                        <p:tav tm="100000">
                                          <p:val>
                                            <p:strVal val="#ppt_x"/>
                                          </p:val>
                                        </p:tav>
                                      </p:tavLst>
                                    </p:anim>
                                    <p:anim calcmode="lin" valueType="num">
                                      <p:cBhvr additive="base">
                                        <p:cTn id="14" dur="500" fill="hold"/>
                                        <p:tgtEl>
                                          <p:spTgt spid="401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50"/>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93C767E8-A39F-4255-857A-C0369BD80BF4}" type="datetime1">
              <a:rPr lang="en-US" altLang="zh-CN" sz="1200" smtClean="0"/>
              <a:pPr>
                <a:spcBef>
                  <a:spcPct val="0"/>
                </a:spcBef>
                <a:buClrTx/>
                <a:buFontTx/>
                <a:buNone/>
              </a:pPr>
              <a:t>9/14/2025</a:t>
            </a:fld>
            <a:endParaRPr lang="en-US" altLang="zh-CN" sz="1200"/>
          </a:p>
        </p:txBody>
      </p:sp>
      <p:sp>
        <p:nvSpPr>
          <p:cNvPr id="95235" name="灯片编号占位符 5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FE8CD3BE-F1A9-4E52-A4B1-9CB32E9E024F}" type="slidenum">
              <a:rPr lang="en-US" altLang="zh-CN" sz="1200" smtClean="0"/>
              <a:pPr>
                <a:spcBef>
                  <a:spcPct val="0"/>
                </a:spcBef>
                <a:buClrTx/>
                <a:buFontTx/>
                <a:buNone/>
              </a:pPr>
              <a:t>51</a:t>
            </a:fld>
            <a:endParaRPr lang="en-US" altLang="zh-CN" sz="1200"/>
          </a:p>
        </p:txBody>
      </p:sp>
      <p:sp>
        <p:nvSpPr>
          <p:cNvPr id="95236" name="Rectangle 3"/>
          <p:cNvSpPr>
            <a:spLocks noChangeArrowheads="1"/>
          </p:cNvSpPr>
          <p:nvPr/>
        </p:nvSpPr>
        <p:spPr bwMode="auto">
          <a:xfrm>
            <a:off x="914400" y="941388"/>
            <a:ext cx="6934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汽车悬挂系统</a:t>
            </a:r>
            <a:endParaRPr lang="zh-CN" altLang="en-US" sz="2800">
              <a:latin typeface="宋体" panose="02010600030101010101" pitchFamily="2" charset="-122"/>
            </a:endParaRPr>
          </a:p>
        </p:txBody>
      </p:sp>
      <p:grpSp>
        <p:nvGrpSpPr>
          <p:cNvPr id="95237" name="Group 4"/>
          <p:cNvGrpSpPr>
            <a:grpSpLocks/>
          </p:cNvGrpSpPr>
          <p:nvPr/>
        </p:nvGrpSpPr>
        <p:grpSpPr bwMode="auto">
          <a:xfrm>
            <a:off x="1524000" y="1820863"/>
            <a:ext cx="2514600" cy="1066800"/>
            <a:chOff x="816" y="912"/>
            <a:chExt cx="1584" cy="672"/>
          </a:xfrm>
        </p:grpSpPr>
        <p:pic>
          <p:nvPicPr>
            <p:cNvPr id="95280" name="Picture 5" descr="AG00152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 y="912"/>
              <a:ext cx="1008"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81" name="Freeform 6"/>
            <p:cNvSpPr>
              <a:spLocks noChangeArrowheads="1"/>
            </p:cNvSpPr>
            <p:nvPr/>
          </p:nvSpPr>
          <p:spPr bwMode="auto">
            <a:xfrm>
              <a:off x="816" y="1285"/>
              <a:ext cx="1584" cy="59"/>
            </a:xfrm>
            <a:custGeom>
              <a:avLst/>
              <a:gdLst>
                <a:gd name="T0" fmla="*/ 0 w 1584"/>
                <a:gd name="T1" fmla="*/ 25 h 59"/>
                <a:gd name="T2" fmla="*/ 93 w 1584"/>
                <a:gd name="T3" fmla="*/ 0 h 59"/>
                <a:gd name="T4" fmla="*/ 169 w 1584"/>
                <a:gd name="T5" fmla="*/ 8 h 59"/>
                <a:gd name="T6" fmla="*/ 288 w 1584"/>
                <a:gd name="T7" fmla="*/ 50 h 59"/>
                <a:gd name="T8" fmla="*/ 534 w 1584"/>
                <a:gd name="T9" fmla="*/ 25 h 59"/>
                <a:gd name="T10" fmla="*/ 661 w 1584"/>
                <a:gd name="T11" fmla="*/ 50 h 59"/>
                <a:gd name="T12" fmla="*/ 906 w 1584"/>
                <a:gd name="T13" fmla="*/ 50 h 59"/>
                <a:gd name="T14" fmla="*/ 1169 w 1584"/>
                <a:gd name="T15" fmla="*/ 16 h 59"/>
                <a:gd name="T16" fmla="*/ 1474 w 1584"/>
                <a:gd name="T17" fmla="*/ 33 h 59"/>
                <a:gd name="T18" fmla="*/ 1584 w 1584"/>
                <a:gd name="T19" fmla="*/ 59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4" h="59">
                  <a:moveTo>
                    <a:pt x="0" y="25"/>
                  </a:moveTo>
                  <a:cubicBezTo>
                    <a:pt x="31" y="17"/>
                    <a:pt x="62" y="7"/>
                    <a:pt x="93" y="0"/>
                  </a:cubicBezTo>
                  <a:cubicBezTo>
                    <a:pt x="118" y="3"/>
                    <a:pt x="144" y="4"/>
                    <a:pt x="169" y="8"/>
                  </a:cubicBezTo>
                  <a:cubicBezTo>
                    <a:pt x="212" y="15"/>
                    <a:pt x="245" y="42"/>
                    <a:pt x="288" y="50"/>
                  </a:cubicBezTo>
                  <a:cubicBezTo>
                    <a:pt x="377" y="44"/>
                    <a:pt x="446" y="32"/>
                    <a:pt x="534" y="25"/>
                  </a:cubicBezTo>
                  <a:cubicBezTo>
                    <a:pt x="588" y="31"/>
                    <a:pt x="614" y="36"/>
                    <a:pt x="661" y="50"/>
                  </a:cubicBezTo>
                  <a:cubicBezTo>
                    <a:pt x="708" y="48"/>
                    <a:pt x="845" y="18"/>
                    <a:pt x="906" y="50"/>
                  </a:cubicBezTo>
                  <a:cubicBezTo>
                    <a:pt x="1017" y="45"/>
                    <a:pt x="1077" y="49"/>
                    <a:pt x="1169" y="16"/>
                  </a:cubicBezTo>
                  <a:cubicBezTo>
                    <a:pt x="1270" y="25"/>
                    <a:pt x="1373" y="23"/>
                    <a:pt x="1474" y="33"/>
                  </a:cubicBezTo>
                  <a:cubicBezTo>
                    <a:pt x="1511" y="37"/>
                    <a:pt x="1543" y="59"/>
                    <a:pt x="1584" y="59"/>
                  </a:cubicBezTo>
                </a:path>
              </a:pathLst>
            </a:cu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82" name="Line 7"/>
            <p:cNvSpPr>
              <a:spLocks noChangeShapeType="1"/>
            </p:cNvSpPr>
            <p:nvPr/>
          </p:nvSpPr>
          <p:spPr bwMode="auto">
            <a:xfrm flipV="1">
              <a:off x="1344" y="1296"/>
              <a:ext cx="0" cy="288"/>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83" name="Line 8"/>
            <p:cNvSpPr>
              <a:spLocks noChangeShapeType="1"/>
            </p:cNvSpPr>
            <p:nvPr/>
          </p:nvSpPr>
          <p:spPr bwMode="auto">
            <a:xfrm flipV="1">
              <a:off x="1920" y="1296"/>
              <a:ext cx="0" cy="288"/>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02441" name="Rectangle 9"/>
          <p:cNvSpPr>
            <a:spLocks noChangeArrowheads="1"/>
          </p:cNvSpPr>
          <p:nvPr/>
        </p:nvSpPr>
        <p:spPr bwMode="auto">
          <a:xfrm>
            <a:off x="1219200" y="2879725"/>
            <a:ext cx="35052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25000"/>
              </a:lnSpc>
              <a:spcBef>
                <a:spcPct val="0"/>
              </a:spcBef>
              <a:buClrTx/>
              <a:buFontTx/>
              <a:buNone/>
            </a:pPr>
            <a:r>
              <a:rPr lang="zh-CN" altLang="en-US" sz="2800">
                <a:latin typeface="Times New Roman" panose="02020603050405020304" pitchFamily="18" charset="0"/>
              </a:rPr>
              <a:t>当汽车行驶时，轮胎的垂直位移作用于汽车悬挂系统上，系统的运动由质心的平移运动和围绕质心的旋转运动组成。</a:t>
            </a:r>
          </a:p>
        </p:txBody>
      </p:sp>
      <p:grpSp>
        <p:nvGrpSpPr>
          <p:cNvPr id="402442" name="Group 10"/>
          <p:cNvGrpSpPr>
            <a:grpSpLocks/>
          </p:cNvGrpSpPr>
          <p:nvPr/>
        </p:nvGrpSpPr>
        <p:grpSpPr bwMode="auto">
          <a:xfrm>
            <a:off x="4284663" y="2354263"/>
            <a:ext cx="4535487" cy="3822700"/>
            <a:chOff x="2699" y="1483"/>
            <a:chExt cx="2857" cy="2408"/>
          </a:xfrm>
        </p:grpSpPr>
        <p:grpSp>
          <p:nvGrpSpPr>
            <p:cNvPr id="95240" name="Group 11"/>
            <p:cNvGrpSpPr>
              <a:grpSpLocks/>
            </p:cNvGrpSpPr>
            <p:nvPr/>
          </p:nvGrpSpPr>
          <p:grpSpPr bwMode="auto">
            <a:xfrm>
              <a:off x="3260" y="1483"/>
              <a:ext cx="1680" cy="2021"/>
              <a:chOff x="816" y="1680"/>
              <a:chExt cx="1680" cy="2021"/>
            </a:xfrm>
          </p:grpSpPr>
          <p:sp>
            <p:nvSpPr>
              <p:cNvPr id="95242" name="Rectangle 12"/>
              <p:cNvSpPr>
                <a:spLocks noChangeArrowheads="1"/>
              </p:cNvSpPr>
              <p:nvPr/>
            </p:nvSpPr>
            <p:spPr bwMode="auto">
              <a:xfrm>
                <a:off x="816" y="1680"/>
                <a:ext cx="1680" cy="32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车体</a:t>
                </a:r>
              </a:p>
            </p:txBody>
          </p:sp>
          <p:grpSp>
            <p:nvGrpSpPr>
              <p:cNvPr id="95243" name="Group 13"/>
              <p:cNvGrpSpPr>
                <a:grpSpLocks/>
              </p:cNvGrpSpPr>
              <p:nvPr/>
            </p:nvGrpSpPr>
            <p:grpSpPr bwMode="auto">
              <a:xfrm>
                <a:off x="882" y="2006"/>
                <a:ext cx="510" cy="730"/>
                <a:chOff x="882" y="1958"/>
                <a:chExt cx="574" cy="833"/>
              </a:xfrm>
            </p:grpSpPr>
            <p:sp>
              <p:nvSpPr>
                <p:cNvPr id="95269" name="Freeform 14"/>
                <p:cNvSpPr>
                  <a:spLocks noChangeArrowheads="1"/>
                </p:cNvSpPr>
                <p:nvPr/>
              </p:nvSpPr>
              <p:spPr bwMode="auto">
                <a:xfrm>
                  <a:off x="882" y="2077"/>
                  <a:ext cx="173" cy="476"/>
                </a:xfrm>
                <a:custGeom>
                  <a:avLst/>
                  <a:gdLst>
                    <a:gd name="T0" fmla="*/ 44 w 208"/>
                    <a:gd name="T1" fmla="*/ 0 h 576"/>
                    <a:gd name="T2" fmla="*/ 6 w 208"/>
                    <a:gd name="T3" fmla="*/ 18 h 576"/>
                    <a:gd name="T4" fmla="*/ 83 w 208"/>
                    <a:gd name="T5" fmla="*/ 55 h 576"/>
                    <a:gd name="T6" fmla="*/ 6 w 208"/>
                    <a:gd name="T7" fmla="*/ 74 h 576"/>
                    <a:gd name="T8" fmla="*/ 83 w 208"/>
                    <a:gd name="T9" fmla="*/ 112 h 576"/>
                    <a:gd name="T10" fmla="*/ 6 w 208"/>
                    <a:gd name="T11" fmla="*/ 130 h 576"/>
                    <a:gd name="T12" fmla="*/ 83 w 208"/>
                    <a:gd name="T13" fmla="*/ 167 h 576"/>
                    <a:gd name="T14" fmla="*/ 6 w 208"/>
                    <a:gd name="T15" fmla="*/ 185 h 576"/>
                    <a:gd name="T16" fmla="*/ 44 w 208"/>
                    <a:gd name="T17" fmla="*/ 22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70" name="Line 15"/>
                <p:cNvSpPr>
                  <a:spLocks noChangeShapeType="1"/>
                </p:cNvSpPr>
                <p:nvPr/>
              </p:nvSpPr>
              <p:spPr bwMode="auto">
                <a:xfrm flipV="1">
                  <a:off x="975" y="1958"/>
                  <a:ext cx="4"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1" name="Line 16"/>
                <p:cNvSpPr>
                  <a:spLocks noChangeShapeType="1"/>
                </p:cNvSpPr>
                <p:nvPr/>
              </p:nvSpPr>
              <p:spPr bwMode="auto">
                <a:xfrm>
                  <a:off x="975" y="2553"/>
                  <a:ext cx="4" cy="8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2" name="Line 17"/>
                <p:cNvSpPr>
                  <a:spLocks noChangeShapeType="1"/>
                </p:cNvSpPr>
                <p:nvPr/>
              </p:nvSpPr>
              <p:spPr bwMode="auto">
                <a:xfrm flipH="1">
                  <a:off x="1339" y="1958"/>
                  <a:ext cx="0" cy="35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3" name="Line 18"/>
                <p:cNvSpPr>
                  <a:spLocks noChangeShapeType="1"/>
                </p:cNvSpPr>
                <p:nvPr/>
              </p:nvSpPr>
              <p:spPr bwMode="auto">
                <a:xfrm>
                  <a:off x="1255" y="2315"/>
                  <a:ext cx="16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4" name="Line 19"/>
                <p:cNvSpPr>
                  <a:spLocks noChangeShapeType="1"/>
                </p:cNvSpPr>
                <p:nvPr/>
              </p:nvSpPr>
              <p:spPr bwMode="auto">
                <a:xfrm>
                  <a:off x="1215" y="2275"/>
                  <a:ext cx="1"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5" name="Line 20"/>
                <p:cNvSpPr>
                  <a:spLocks noChangeShapeType="1"/>
                </p:cNvSpPr>
                <p:nvPr/>
              </p:nvSpPr>
              <p:spPr bwMode="auto">
                <a:xfrm>
                  <a:off x="1215" y="2394"/>
                  <a:ext cx="240" cy="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6" name="Line 21"/>
                <p:cNvSpPr>
                  <a:spLocks noChangeShapeType="1"/>
                </p:cNvSpPr>
                <p:nvPr/>
              </p:nvSpPr>
              <p:spPr bwMode="auto">
                <a:xfrm>
                  <a:off x="1455" y="2275"/>
                  <a:ext cx="1"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7" name="Line 22"/>
                <p:cNvSpPr>
                  <a:spLocks noChangeShapeType="1"/>
                </p:cNvSpPr>
                <p:nvPr/>
              </p:nvSpPr>
              <p:spPr bwMode="auto">
                <a:xfrm>
                  <a:off x="1339" y="2394"/>
                  <a:ext cx="0" cy="23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8" name="Line 23"/>
                <p:cNvSpPr>
                  <a:spLocks noChangeShapeType="1"/>
                </p:cNvSpPr>
                <p:nvPr/>
              </p:nvSpPr>
              <p:spPr bwMode="auto">
                <a:xfrm>
                  <a:off x="979" y="2633"/>
                  <a:ext cx="360"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9" name="Line 24"/>
                <p:cNvSpPr>
                  <a:spLocks noChangeShapeType="1"/>
                </p:cNvSpPr>
                <p:nvPr/>
              </p:nvSpPr>
              <p:spPr bwMode="auto">
                <a:xfrm>
                  <a:off x="1136" y="2633"/>
                  <a:ext cx="0" cy="15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5244" name="Group 25"/>
              <p:cNvGrpSpPr>
                <a:grpSpLocks/>
              </p:cNvGrpSpPr>
              <p:nvPr/>
            </p:nvGrpSpPr>
            <p:grpSpPr bwMode="auto">
              <a:xfrm>
                <a:off x="1938" y="2006"/>
                <a:ext cx="510" cy="730"/>
                <a:chOff x="1802" y="1958"/>
                <a:chExt cx="574" cy="833"/>
              </a:xfrm>
            </p:grpSpPr>
            <p:sp>
              <p:nvSpPr>
                <p:cNvPr id="95258" name="Freeform 26"/>
                <p:cNvSpPr>
                  <a:spLocks noChangeArrowheads="1"/>
                </p:cNvSpPr>
                <p:nvPr/>
              </p:nvSpPr>
              <p:spPr bwMode="auto">
                <a:xfrm>
                  <a:off x="1802" y="2077"/>
                  <a:ext cx="173" cy="476"/>
                </a:xfrm>
                <a:custGeom>
                  <a:avLst/>
                  <a:gdLst>
                    <a:gd name="T0" fmla="*/ 44 w 208"/>
                    <a:gd name="T1" fmla="*/ 0 h 576"/>
                    <a:gd name="T2" fmla="*/ 6 w 208"/>
                    <a:gd name="T3" fmla="*/ 18 h 576"/>
                    <a:gd name="T4" fmla="*/ 83 w 208"/>
                    <a:gd name="T5" fmla="*/ 55 h 576"/>
                    <a:gd name="T6" fmla="*/ 6 w 208"/>
                    <a:gd name="T7" fmla="*/ 74 h 576"/>
                    <a:gd name="T8" fmla="*/ 83 w 208"/>
                    <a:gd name="T9" fmla="*/ 112 h 576"/>
                    <a:gd name="T10" fmla="*/ 6 w 208"/>
                    <a:gd name="T11" fmla="*/ 130 h 576"/>
                    <a:gd name="T12" fmla="*/ 83 w 208"/>
                    <a:gd name="T13" fmla="*/ 167 h 576"/>
                    <a:gd name="T14" fmla="*/ 6 w 208"/>
                    <a:gd name="T15" fmla="*/ 185 h 576"/>
                    <a:gd name="T16" fmla="*/ 44 w 208"/>
                    <a:gd name="T17" fmla="*/ 22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59" name="Line 27"/>
                <p:cNvSpPr>
                  <a:spLocks noChangeShapeType="1"/>
                </p:cNvSpPr>
                <p:nvPr/>
              </p:nvSpPr>
              <p:spPr bwMode="auto">
                <a:xfrm flipV="1">
                  <a:off x="1895" y="1958"/>
                  <a:ext cx="4"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0" name="Line 28"/>
                <p:cNvSpPr>
                  <a:spLocks noChangeShapeType="1"/>
                </p:cNvSpPr>
                <p:nvPr/>
              </p:nvSpPr>
              <p:spPr bwMode="auto">
                <a:xfrm>
                  <a:off x="1895" y="2553"/>
                  <a:ext cx="4" cy="8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1" name="Line 29"/>
                <p:cNvSpPr>
                  <a:spLocks noChangeShapeType="1"/>
                </p:cNvSpPr>
                <p:nvPr/>
              </p:nvSpPr>
              <p:spPr bwMode="auto">
                <a:xfrm flipH="1">
                  <a:off x="2259" y="1958"/>
                  <a:ext cx="0" cy="35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2" name="Line 30"/>
                <p:cNvSpPr>
                  <a:spLocks noChangeShapeType="1"/>
                </p:cNvSpPr>
                <p:nvPr/>
              </p:nvSpPr>
              <p:spPr bwMode="auto">
                <a:xfrm>
                  <a:off x="2175" y="2315"/>
                  <a:ext cx="16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3" name="Line 31"/>
                <p:cNvSpPr>
                  <a:spLocks noChangeShapeType="1"/>
                </p:cNvSpPr>
                <p:nvPr/>
              </p:nvSpPr>
              <p:spPr bwMode="auto">
                <a:xfrm>
                  <a:off x="2135" y="2275"/>
                  <a:ext cx="1"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4" name="Line 32"/>
                <p:cNvSpPr>
                  <a:spLocks noChangeShapeType="1"/>
                </p:cNvSpPr>
                <p:nvPr/>
              </p:nvSpPr>
              <p:spPr bwMode="auto">
                <a:xfrm>
                  <a:off x="2135" y="2394"/>
                  <a:ext cx="240" cy="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5" name="Line 33"/>
                <p:cNvSpPr>
                  <a:spLocks noChangeShapeType="1"/>
                </p:cNvSpPr>
                <p:nvPr/>
              </p:nvSpPr>
              <p:spPr bwMode="auto">
                <a:xfrm>
                  <a:off x="2375" y="2275"/>
                  <a:ext cx="1"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6" name="Line 34"/>
                <p:cNvSpPr>
                  <a:spLocks noChangeShapeType="1"/>
                </p:cNvSpPr>
                <p:nvPr/>
              </p:nvSpPr>
              <p:spPr bwMode="auto">
                <a:xfrm>
                  <a:off x="2259" y="2394"/>
                  <a:ext cx="0" cy="23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7" name="Line 35"/>
                <p:cNvSpPr>
                  <a:spLocks noChangeShapeType="1"/>
                </p:cNvSpPr>
                <p:nvPr/>
              </p:nvSpPr>
              <p:spPr bwMode="auto">
                <a:xfrm>
                  <a:off x="1899" y="2633"/>
                  <a:ext cx="360"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8" name="Line 36"/>
                <p:cNvSpPr>
                  <a:spLocks noChangeShapeType="1"/>
                </p:cNvSpPr>
                <p:nvPr/>
              </p:nvSpPr>
              <p:spPr bwMode="auto">
                <a:xfrm>
                  <a:off x="2083" y="2633"/>
                  <a:ext cx="0" cy="15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5245" name="Rectangle 37"/>
              <p:cNvSpPr>
                <a:spLocks noChangeArrowheads="1"/>
              </p:cNvSpPr>
              <p:nvPr/>
            </p:nvSpPr>
            <p:spPr bwMode="auto">
              <a:xfrm>
                <a:off x="816" y="2736"/>
                <a:ext cx="1680" cy="333"/>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zh-CN" altLang="en-US" sz="2800">
                    <a:latin typeface="Times New Roman" panose="02020603050405020304" pitchFamily="18" charset="0"/>
                  </a:rPr>
                  <a:t>车架</a:t>
                </a:r>
              </a:p>
            </p:txBody>
          </p:sp>
          <p:grpSp>
            <p:nvGrpSpPr>
              <p:cNvPr id="95246" name="Group 38"/>
              <p:cNvGrpSpPr>
                <a:grpSpLocks/>
              </p:cNvGrpSpPr>
              <p:nvPr/>
            </p:nvGrpSpPr>
            <p:grpSpPr bwMode="auto">
              <a:xfrm>
                <a:off x="1043" y="3069"/>
                <a:ext cx="173" cy="627"/>
                <a:chOff x="1043" y="3069"/>
                <a:chExt cx="173" cy="627"/>
              </a:xfrm>
            </p:grpSpPr>
            <p:sp>
              <p:nvSpPr>
                <p:cNvPr id="95255" name="Freeform 39"/>
                <p:cNvSpPr>
                  <a:spLocks noChangeArrowheads="1"/>
                </p:cNvSpPr>
                <p:nvPr/>
              </p:nvSpPr>
              <p:spPr bwMode="auto">
                <a:xfrm>
                  <a:off x="1043" y="3172"/>
                  <a:ext cx="173" cy="415"/>
                </a:xfrm>
                <a:custGeom>
                  <a:avLst/>
                  <a:gdLst>
                    <a:gd name="T0" fmla="*/ 44 w 208"/>
                    <a:gd name="T1" fmla="*/ 0 h 576"/>
                    <a:gd name="T2" fmla="*/ 6 w 208"/>
                    <a:gd name="T3" fmla="*/ 9 h 576"/>
                    <a:gd name="T4" fmla="*/ 83 w 208"/>
                    <a:gd name="T5" fmla="*/ 28 h 576"/>
                    <a:gd name="T6" fmla="*/ 6 w 208"/>
                    <a:gd name="T7" fmla="*/ 37 h 576"/>
                    <a:gd name="T8" fmla="*/ 83 w 208"/>
                    <a:gd name="T9" fmla="*/ 56 h 576"/>
                    <a:gd name="T10" fmla="*/ 6 w 208"/>
                    <a:gd name="T11" fmla="*/ 65 h 576"/>
                    <a:gd name="T12" fmla="*/ 83 w 208"/>
                    <a:gd name="T13" fmla="*/ 84 h 576"/>
                    <a:gd name="T14" fmla="*/ 6 w 208"/>
                    <a:gd name="T15" fmla="*/ 93 h 576"/>
                    <a:gd name="T16" fmla="*/ 44 w 208"/>
                    <a:gd name="T17" fmla="*/ 11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56" name="Line 40"/>
                <p:cNvSpPr>
                  <a:spLocks noChangeShapeType="1"/>
                </p:cNvSpPr>
                <p:nvPr/>
              </p:nvSpPr>
              <p:spPr bwMode="auto">
                <a:xfrm flipV="1">
                  <a:off x="1136" y="3069"/>
                  <a:ext cx="3" cy="10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7" name="Line 41"/>
                <p:cNvSpPr>
                  <a:spLocks noChangeShapeType="1"/>
                </p:cNvSpPr>
                <p:nvPr/>
              </p:nvSpPr>
              <p:spPr bwMode="auto">
                <a:xfrm>
                  <a:off x="1136" y="3587"/>
                  <a:ext cx="3" cy="10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5247" name="Group 42"/>
              <p:cNvGrpSpPr>
                <a:grpSpLocks/>
              </p:cNvGrpSpPr>
              <p:nvPr/>
            </p:nvGrpSpPr>
            <p:grpSpPr bwMode="auto">
              <a:xfrm>
                <a:off x="2083" y="3069"/>
                <a:ext cx="173" cy="587"/>
                <a:chOff x="1976" y="3069"/>
                <a:chExt cx="173" cy="587"/>
              </a:xfrm>
            </p:grpSpPr>
            <p:sp>
              <p:nvSpPr>
                <p:cNvPr id="95252" name="Freeform 43"/>
                <p:cNvSpPr>
                  <a:spLocks noChangeArrowheads="1"/>
                </p:cNvSpPr>
                <p:nvPr/>
              </p:nvSpPr>
              <p:spPr bwMode="auto">
                <a:xfrm>
                  <a:off x="1976" y="3172"/>
                  <a:ext cx="173" cy="415"/>
                </a:xfrm>
                <a:custGeom>
                  <a:avLst/>
                  <a:gdLst>
                    <a:gd name="T0" fmla="*/ 44 w 208"/>
                    <a:gd name="T1" fmla="*/ 0 h 576"/>
                    <a:gd name="T2" fmla="*/ 6 w 208"/>
                    <a:gd name="T3" fmla="*/ 9 h 576"/>
                    <a:gd name="T4" fmla="*/ 83 w 208"/>
                    <a:gd name="T5" fmla="*/ 28 h 576"/>
                    <a:gd name="T6" fmla="*/ 6 w 208"/>
                    <a:gd name="T7" fmla="*/ 37 h 576"/>
                    <a:gd name="T8" fmla="*/ 83 w 208"/>
                    <a:gd name="T9" fmla="*/ 56 h 576"/>
                    <a:gd name="T10" fmla="*/ 6 w 208"/>
                    <a:gd name="T11" fmla="*/ 65 h 576"/>
                    <a:gd name="T12" fmla="*/ 83 w 208"/>
                    <a:gd name="T13" fmla="*/ 84 h 576"/>
                    <a:gd name="T14" fmla="*/ 6 w 208"/>
                    <a:gd name="T15" fmla="*/ 93 h 576"/>
                    <a:gd name="T16" fmla="*/ 44 w 208"/>
                    <a:gd name="T17" fmla="*/ 11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53" name="Line 44"/>
                <p:cNvSpPr>
                  <a:spLocks noChangeShapeType="1"/>
                </p:cNvSpPr>
                <p:nvPr/>
              </p:nvSpPr>
              <p:spPr bwMode="auto">
                <a:xfrm flipV="1">
                  <a:off x="2069" y="3069"/>
                  <a:ext cx="4" cy="10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4" name="Line 45"/>
                <p:cNvSpPr>
                  <a:spLocks noChangeShapeType="1"/>
                </p:cNvSpPr>
                <p:nvPr/>
              </p:nvSpPr>
              <p:spPr bwMode="auto">
                <a:xfrm>
                  <a:off x="2069" y="3587"/>
                  <a:ext cx="4" cy="6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5248" name="Freeform 46"/>
              <p:cNvSpPr>
                <a:spLocks noChangeArrowheads="1"/>
              </p:cNvSpPr>
              <p:nvPr/>
            </p:nvSpPr>
            <p:spPr bwMode="auto">
              <a:xfrm>
                <a:off x="816" y="3648"/>
                <a:ext cx="1584" cy="53"/>
              </a:xfrm>
              <a:custGeom>
                <a:avLst/>
                <a:gdLst>
                  <a:gd name="T0" fmla="*/ 0 w 1584"/>
                  <a:gd name="T1" fmla="*/ 14 h 59"/>
                  <a:gd name="T2" fmla="*/ 93 w 1584"/>
                  <a:gd name="T3" fmla="*/ 0 h 59"/>
                  <a:gd name="T4" fmla="*/ 169 w 1584"/>
                  <a:gd name="T5" fmla="*/ 4 h 59"/>
                  <a:gd name="T6" fmla="*/ 288 w 1584"/>
                  <a:gd name="T7" fmla="*/ 29 h 59"/>
                  <a:gd name="T8" fmla="*/ 534 w 1584"/>
                  <a:gd name="T9" fmla="*/ 14 h 59"/>
                  <a:gd name="T10" fmla="*/ 661 w 1584"/>
                  <a:gd name="T11" fmla="*/ 29 h 59"/>
                  <a:gd name="T12" fmla="*/ 906 w 1584"/>
                  <a:gd name="T13" fmla="*/ 29 h 59"/>
                  <a:gd name="T14" fmla="*/ 1169 w 1584"/>
                  <a:gd name="T15" fmla="*/ 10 h 59"/>
                  <a:gd name="T16" fmla="*/ 1474 w 1584"/>
                  <a:gd name="T17" fmla="*/ 20 h 59"/>
                  <a:gd name="T18" fmla="*/ 1584 w 1584"/>
                  <a:gd name="T19" fmla="*/ 35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4" h="59">
                    <a:moveTo>
                      <a:pt x="0" y="25"/>
                    </a:moveTo>
                    <a:cubicBezTo>
                      <a:pt x="31" y="17"/>
                      <a:pt x="62" y="7"/>
                      <a:pt x="93" y="0"/>
                    </a:cubicBezTo>
                    <a:cubicBezTo>
                      <a:pt x="118" y="3"/>
                      <a:pt x="144" y="4"/>
                      <a:pt x="169" y="8"/>
                    </a:cubicBezTo>
                    <a:cubicBezTo>
                      <a:pt x="212" y="15"/>
                      <a:pt x="245" y="42"/>
                      <a:pt x="288" y="50"/>
                    </a:cubicBezTo>
                    <a:cubicBezTo>
                      <a:pt x="377" y="44"/>
                      <a:pt x="446" y="32"/>
                      <a:pt x="534" y="25"/>
                    </a:cubicBezTo>
                    <a:cubicBezTo>
                      <a:pt x="588" y="31"/>
                      <a:pt x="614" y="36"/>
                      <a:pt x="661" y="50"/>
                    </a:cubicBezTo>
                    <a:cubicBezTo>
                      <a:pt x="708" y="48"/>
                      <a:pt x="845" y="18"/>
                      <a:pt x="906" y="50"/>
                    </a:cubicBezTo>
                    <a:cubicBezTo>
                      <a:pt x="1017" y="45"/>
                      <a:pt x="1077" y="49"/>
                      <a:pt x="1169" y="16"/>
                    </a:cubicBezTo>
                    <a:cubicBezTo>
                      <a:pt x="1270" y="25"/>
                      <a:pt x="1373" y="23"/>
                      <a:pt x="1474" y="33"/>
                    </a:cubicBezTo>
                    <a:cubicBezTo>
                      <a:pt x="1511" y="37"/>
                      <a:pt x="1543" y="59"/>
                      <a:pt x="1584" y="59"/>
                    </a:cubicBezTo>
                  </a:path>
                </a:pathLst>
              </a:cu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49" name="Oval 47"/>
              <p:cNvSpPr>
                <a:spLocks noChangeArrowheads="1"/>
              </p:cNvSpPr>
              <p:nvPr/>
            </p:nvSpPr>
            <p:spPr bwMode="auto">
              <a:xfrm>
                <a:off x="1488" y="2544"/>
                <a:ext cx="48" cy="48"/>
              </a:xfrm>
              <a:prstGeom prst="ellipse">
                <a:avLst/>
              </a:prstGeom>
              <a:solidFill>
                <a:schemeClr val="tx1"/>
              </a:solidFill>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5250" name="Rectangle 48"/>
              <p:cNvSpPr>
                <a:spLocks noChangeArrowheads="1"/>
              </p:cNvSpPr>
              <p:nvPr/>
            </p:nvSpPr>
            <p:spPr bwMode="auto">
              <a:xfrm>
                <a:off x="1404" y="2025"/>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质心</a:t>
                </a:r>
              </a:p>
            </p:txBody>
          </p:sp>
          <p:sp>
            <p:nvSpPr>
              <p:cNvPr id="95251" name="Line 49"/>
              <p:cNvSpPr>
                <a:spLocks noChangeShapeType="1"/>
              </p:cNvSpPr>
              <p:nvPr/>
            </p:nvSpPr>
            <p:spPr bwMode="auto">
              <a:xfrm flipH="1">
                <a:off x="1536" y="2304"/>
                <a:ext cx="144" cy="24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241" name="Rectangle 50"/>
            <p:cNvSpPr>
              <a:spLocks noChangeArrowheads="1"/>
            </p:cNvSpPr>
            <p:nvPr/>
          </p:nvSpPr>
          <p:spPr bwMode="auto">
            <a:xfrm>
              <a:off x="2699" y="3561"/>
              <a:ext cx="285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汽车悬挂系统（垂直方向）</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2441"/>
                                        </p:tgtEl>
                                        <p:attrNameLst>
                                          <p:attrName>style.visibility</p:attrName>
                                        </p:attrNameLst>
                                      </p:cBhvr>
                                      <p:to>
                                        <p:strVal val="visible"/>
                                      </p:to>
                                    </p:set>
                                    <p:anim calcmode="lin" valueType="num">
                                      <p:cBhvr additive="base">
                                        <p:cTn id="7" dur="500" fill="hold"/>
                                        <p:tgtEl>
                                          <p:spTgt spid="402441"/>
                                        </p:tgtEl>
                                        <p:attrNameLst>
                                          <p:attrName>ppt_x</p:attrName>
                                        </p:attrNameLst>
                                      </p:cBhvr>
                                      <p:tavLst>
                                        <p:tav tm="0">
                                          <p:val>
                                            <p:strVal val="#ppt_x"/>
                                          </p:val>
                                        </p:tav>
                                        <p:tav tm="100000">
                                          <p:val>
                                            <p:strVal val="#ppt_x"/>
                                          </p:val>
                                        </p:tav>
                                      </p:tavLst>
                                    </p:anim>
                                    <p:anim calcmode="lin" valueType="num">
                                      <p:cBhvr additive="base">
                                        <p:cTn id="8" dur="500" fill="hold"/>
                                        <p:tgtEl>
                                          <p:spTgt spid="40244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02442"/>
                                        </p:tgtEl>
                                        <p:attrNameLst>
                                          <p:attrName>style.visibility</p:attrName>
                                        </p:attrNameLst>
                                      </p:cBhvr>
                                      <p:to>
                                        <p:strVal val="visible"/>
                                      </p:to>
                                    </p:set>
                                    <p:anim calcmode="lin" valueType="num">
                                      <p:cBhvr additive="base">
                                        <p:cTn id="13" dur="500" fill="hold"/>
                                        <p:tgtEl>
                                          <p:spTgt spid="402442"/>
                                        </p:tgtEl>
                                        <p:attrNameLst>
                                          <p:attrName>ppt_x</p:attrName>
                                        </p:attrNameLst>
                                      </p:cBhvr>
                                      <p:tavLst>
                                        <p:tav tm="0">
                                          <p:val>
                                            <p:strVal val="#ppt_x"/>
                                          </p:val>
                                        </p:tav>
                                        <p:tav tm="100000">
                                          <p:val>
                                            <p:strVal val="#ppt_x"/>
                                          </p:val>
                                        </p:tav>
                                      </p:tavLst>
                                    </p:anim>
                                    <p:anim calcmode="lin" valueType="num">
                                      <p:cBhvr additive="base">
                                        <p:cTn id="14" dur="500" fill="hold"/>
                                        <p:tgtEl>
                                          <p:spTgt spid="4024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4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日期占位符 39"/>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D6ED1B36-73F8-437A-A8D9-AA74F4AF5494}" type="datetime1">
              <a:rPr lang="en-US" altLang="zh-CN" sz="1200" smtClean="0"/>
              <a:pPr>
                <a:spcBef>
                  <a:spcPct val="0"/>
                </a:spcBef>
                <a:buClrTx/>
                <a:buFontTx/>
                <a:buNone/>
              </a:pPr>
              <a:t>9/14/2025</a:t>
            </a:fld>
            <a:endParaRPr lang="en-US" altLang="zh-CN" sz="1200"/>
          </a:p>
        </p:txBody>
      </p:sp>
      <p:sp>
        <p:nvSpPr>
          <p:cNvPr id="96259" name="灯片编号占位符 41"/>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3124A92-B2F2-4C7B-859C-8092B44E1BD7}" type="slidenum">
              <a:rPr lang="en-US" altLang="zh-CN" sz="1200" smtClean="0"/>
              <a:pPr>
                <a:spcBef>
                  <a:spcPct val="0"/>
                </a:spcBef>
                <a:buClrTx/>
                <a:buFontTx/>
                <a:buNone/>
              </a:pPr>
              <a:t>52</a:t>
            </a:fld>
            <a:endParaRPr lang="en-US" altLang="zh-CN" sz="1200"/>
          </a:p>
        </p:txBody>
      </p:sp>
      <p:graphicFrame>
        <p:nvGraphicFramePr>
          <p:cNvPr id="444454" name="Object 38"/>
          <p:cNvGraphicFramePr>
            <a:graphicFrameLocks noChangeAspect="1"/>
          </p:cNvGraphicFramePr>
          <p:nvPr/>
        </p:nvGraphicFramePr>
        <p:xfrm>
          <a:off x="1306513" y="5157788"/>
          <a:ext cx="7262812" cy="455612"/>
        </p:xfrm>
        <a:graphic>
          <a:graphicData uri="http://schemas.openxmlformats.org/presentationml/2006/ole">
            <mc:AlternateContent xmlns:mc="http://schemas.openxmlformats.org/markup-compatibility/2006">
              <mc:Choice xmlns:v="urn:schemas-microsoft-com:vml" Requires="v">
                <p:oleObj r:id="rId2" imgW="3644900" imgH="228600" progId="Equation.3">
                  <p:embed/>
                </p:oleObj>
              </mc:Choice>
              <mc:Fallback>
                <p:oleObj r:id="rId2" imgW="3644900" imgH="228600" progId="Equation.3">
                  <p:embed/>
                  <p:pic>
                    <p:nvPicPr>
                      <p:cNvPr id="0" name="Object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513" y="5157788"/>
                        <a:ext cx="72628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4453" name="Object 37"/>
          <p:cNvGraphicFramePr>
            <a:graphicFrameLocks noChangeAspect="1"/>
          </p:cNvGraphicFramePr>
          <p:nvPr/>
        </p:nvGraphicFramePr>
        <p:xfrm>
          <a:off x="1614488" y="4437063"/>
          <a:ext cx="5132387" cy="455612"/>
        </p:xfrm>
        <a:graphic>
          <a:graphicData uri="http://schemas.openxmlformats.org/presentationml/2006/ole">
            <mc:AlternateContent xmlns:mc="http://schemas.openxmlformats.org/markup-compatibility/2006">
              <mc:Choice xmlns:v="urn:schemas-microsoft-com:vml" Requires="v">
                <p:oleObj r:id="rId4" imgW="2578100" imgH="228600" progId="Equation.3">
                  <p:embed/>
                </p:oleObj>
              </mc:Choice>
              <mc:Fallback>
                <p:oleObj r:id="rId4" imgW="2578100" imgH="228600" progId="Equation.3">
                  <p:embed/>
                  <p:pic>
                    <p:nvPicPr>
                      <p:cNvPr id="0"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4488" y="4437063"/>
                        <a:ext cx="513238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6262" name="Group 2"/>
          <p:cNvGrpSpPr>
            <a:grpSpLocks/>
          </p:cNvGrpSpPr>
          <p:nvPr/>
        </p:nvGrpSpPr>
        <p:grpSpPr bwMode="auto">
          <a:xfrm>
            <a:off x="2124075" y="260350"/>
            <a:ext cx="4806950" cy="3975100"/>
            <a:chOff x="1366" y="760"/>
            <a:chExt cx="3028" cy="2504"/>
          </a:xfrm>
        </p:grpSpPr>
        <p:grpSp>
          <p:nvGrpSpPr>
            <p:cNvPr id="96263" name="Group 4"/>
            <p:cNvGrpSpPr>
              <a:grpSpLocks/>
            </p:cNvGrpSpPr>
            <p:nvPr/>
          </p:nvGrpSpPr>
          <p:grpSpPr bwMode="auto">
            <a:xfrm>
              <a:off x="1768" y="760"/>
              <a:ext cx="1928" cy="2168"/>
              <a:chOff x="1768" y="760"/>
              <a:chExt cx="1928" cy="2168"/>
            </a:xfrm>
          </p:grpSpPr>
          <p:sp>
            <p:nvSpPr>
              <p:cNvPr id="96265" name="Rectangle 36"/>
              <p:cNvSpPr>
                <a:spLocks noChangeArrowheads="1"/>
              </p:cNvSpPr>
              <p:nvPr/>
            </p:nvSpPr>
            <p:spPr bwMode="auto">
              <a:xfrm>
                <a:off x="2208" y="824"/>
                <a:ext cx="720" cy="32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en-US" altLang="zh-CN" sz="2800" i="1">
                    <a:latin typeface="Times New Roman" panose="02020603050405020304" pitchFamily="18" charset="0"/>
                  </a:rPr>
                  <a:t>m</a:t>
                </a:r>
                <a:r>
                  <a:rPr lang="en-US" altLang="zh-CN" sz="2900" baseline="-18000">
                    <a:latin typeface="Times New Roman" panose="02020603050405020304" pitchFamily="18" charset="0"/>
                  </a:rPr>
                  <a:t>2</a:t>
                </a:r>
              </a:p>
            </p:txBody>
          </p:sp>
          <p:grpSp>
            <p:nvGrpSpPr>
              <p:cNvPr id="96266" name="Group 24"/>
              <p:cNvGrpSpPr>
                <a:grpSpLocks/>
              </p:cNvGrpSpPr>
              <p:nvPr/>
            </p:nvGrpSpPr>
            <p:grpSpPr bwMode="auto">
              <a:xfrm>
                <a:off x="2274" y="1150"/>
                <a:ext cx="510" cy="730"/>
                <a:chOff x="882" y="1958"/>
                <a:chExt cx="574" cy="833"/>
              </a:xfrm>
            </p:grpSpPr>
            <p:sp>
              <p:nvSpPr>
                <p:cNvPr id="96286" name="Freeform 35"/>
                <p:cNvSpPr>
                  <a:spLocks noChangeArrowheads="1"/>
                </p:cNvSpPr>
                <p:nvPr/>
              </p:nvSpPr>
              <p:spPr bwMode="auto">
                <a:xfrm>
                  <a:off x="882" y="2077"/>
                  <a:ext cx="173" cy="476"/>
                </a:xfrm>
                <a:custGeom>
                  <a:avLst/>
                  <a:gdLst>
                    <a:gd name="T0" fmla="*/ 44 w 208"/>
                    <a:gd name="T1" fmla="*/ 0 h 576"/>
                    <a:gd name="T2" fmla="*/ 6 w 208"/>
                    <a:gd name="T3" fmla="*/ 18 h 576"/>
                    <a:gd name="T4" fmla="*/ 83 w 208"/>
                    <a:gd name="T5" fmla="*/ 55 h 576"/>
                    <a:gd name="T6" fmla="*/ 6 w 208"/>
                    <a:gd name="T7" fmla="*/ 74 h 576"/>
                    <a:gd name="T8" fmla="*/ 83 w 208"/>
                    <a:gd name="T9" fmla="*/ 112 h 576"/>
                    <a:gd name="T10" fmla="*/ 6 w 208"/>
                    <a:gd name="T11" fmla="*/ 130 h 576"/>
                    <a:gd name="T12" fmla="*/ 83 w 208"/>
                    <a:gd name="T13" fmla="*/ 167 h 576"/>
                    <a:gd name="T14" fmla="*/ 6 w 208"/>
                    <a:gd name="T15" fmla="*/ 185 h 576"/>
                    <a:gd name="T16" fmla="*/ 44 w 208"/>
                    <a:gd name="T17" fmla="*/ 22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287" name="Line 34"/>
                <p:cNvSpPr>
                  <a:spLocks noChangeShapeType="1"/>
                </p:cNvSpPr>
                <p:nvPr/>
              </p:nvSpPr>
              <p:spPr bwMode="auto">
                <a:xfrm flipV="1">
                  <a:off x="975" y="1958"/>
                  <a:ext cx="4"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8" name="Line 33"/>
                <p:cNvSpPr>
                  <a:spLocks noChangeShapeType="1"/>
                </p:cNvSpPr>
                <p:nvPr/>
              </p:nvSpPr>
              <p:spPr bwMode="auto">
                <a:xfrm>
                  <a:off x="975" y="2553"/>
                  <a:ext cx="4" cy="8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9" name="Line 32"/>
                <p:cNvSpPr>
                  <a:spLocks noChangeShapeType="1"/>
                </p:cNvSpPr>
                <p:nvPr/>
              </p:nvSpPr>
              <p:spPr bwMode="auto">
                <a:xfrm flipH="1">
                  <a:off x="1339" y="1958"/>
                  <a:ext cx="0" cy="357"/>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0" name="Line 31"/>
                <p:cNvSpPr>
                  <a:spLocks noChangeShapeType="1"/>
                </p:cNvSpPr>
                <p:nvPr/>
              </p:nvSpPr>
              <p:spPr bwMode="auto">
                <a:xfrm>
                  <a:off x="1255" y="2315"/>
                  <a:ext cx="16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1" name="Line 30"/>
                <p:cNvSpPr>
                  <a:spLocks noChangeShapeType="1"/>
                </p:cNvSpPr>
                <p:nvPr/>
              </p:nvSpPr>
              <p:spPr bwMode="auto">
                <a:xfrm>
                  <a:off x="1215" y="2275"/>
                  <a:ext cx="1"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2" name="Line 29"/>
                <p:cNvSpPr>
                  <a:spLocks noChangeShapeType="1"/>
                </p:cNvSpPr>
                <p:nvPr/>
              </p:nvSpPr>
              <p:spPr bwMode="auto">
                <a:xfrm>
                  <a:off x="1215" y="2394"/>
                  <a:ext cx="240" cy="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3" name="Line 28"/>
                <p:cNvSpPr>
                  <a:spLocks noChangeShapeType="1"/>
                </p:cNvSpPr>
                <p:nvPr/>
              </p:nvSpPr>
              <p:spPr bwMode="auto">
                <a:xfrm>
                  <a:off x="1455" y="2275"/>
                  <a:ext cx="1" cy="11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4" name="Line 27"/>
                <p:cNvSpPr>
                  <a:spLocks noChangeShapeType="1"/>
                </p:cNvSpPr>
                <p:nvPr/>
              </p:nvSpPr>
              <p:spPr bwMode="auto">
                <a:xfrm>
                  <a:off x="1339" y="2394"/>
                  <a:ext cx="0" cy="23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5" name="Line 26"/>
                <p:cNvSpPr>
                  <a:spLocks noChangeShapeType="1"/>
                </p:cNvSpPr>
                <p:nvPr/>
              </p:nvSpPr>
              <p:spPr bwMode="auto">
                <a:xfrm>
                  <a:off x="979" y="2633"/>
                  <a:ext cx="360"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6" name="Line 25"/>
                <p:cNvSpPr>
                  <a:spLocks noChangeShapeType="1"/>
                </p:cNvSpPr>
                <p:nvPr/>
              </p:nvSpPr>
              <p:spPr bwMode="auto">
                <a:xfrm>
                  <a:off x="1136" y="2633"/>
                  <a:ext cx="0" cy="15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6267" name="Rectangle 23"/>
              <p:cNvSpPr>
                <a:spLocks noChangeArrowheads="1"/>
              </p:cNvSpPr>
              <p:nvPr/>
            </p:nvSpPr>
            <p:spPr bwMode="auto">
              <a:xfrm>
                <a:off x="2208" y="1880"/>
                <a:ext cx="720" cy="333"/>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en-US" altLang="zh-CN" sz="2800" i="1">
                    <a:latin typeface="Times New Roman" panose="02020603050405020304" pitchFamily="18" charset="0"/>
                  </a:rPr>
                  <a:t>m</a:t>
                </a:r>
                <a:r>
                  <a:rPr lang="en-US" altLang="zh-CN" sz="2900" baseline="-18000">
                    <a:latin typeface="Times New Roman" panose="02020603050405020304" pitchFamily="18" charset="0"/>
                  </a:rPr>
                  <a:t>1</a:t>
                </a:r>
              </a:p>
            </p:txBody>
          </p:sp>
          <p:grpSp>
            <p:nvGrpSpPr>
              <p:cNvPr id="96268" name="Group 19"/>
              <p:cNvGrpSpPr>
                <a:grpSpLocks/>
              </p:cNvGrpSpPr>
              <p:nvPr/>
            </p:nvGrpSpPr>
            <p:grpSpPr bwMode="auto">
              <a:xfrm>
                <a:off x="2435" y="2213"/>
                <a:ext cx="173" cy="627"/>
                <a:chOff x="1043" y="3069"/>
                <a:chExt cx="173" cy="627"/>
              </a:xfrm>
            </p:grpSpPr>
            <p:sp>
              <p:nvSpPr>
                <p:cNvPr id="96283" name="Freeform 22"/>
                <p:cNvSpPr>
                  <a:spLocks noChangeArrowheads="1"/>
                </p:cNvSpPr>
                <p:nvPr/>
              </p:nvSpPr>
              <p:spPr bwMode="auto">
                <a:xfrm>
                  <a:off x="1043" y="3172"/>
                  <a:ext cx="173" cy="415"/>
                </a:xfrm>
                <a:custGeom>
                  <a:avLst/>
                  <a:gdLst>
                    <a:gd name="T0" fmla="*/ 44 w 208"/>
                    <a:gd name="T1" fmla="*/ 0 h 576"/>
                    <a:gd name="T2" fmla="*/ 6 w 208"/>
                    <a:gd name="T3" fmla="*/ 9 h 576"/>
                    <a:gd name="T4" fmla="*/ 83 w 208"/>
                    <a:gd name="T5" fmla="*/ 28 h 576"/>
                    <a:gd name="T6" fmla="*/ 6 w 208"/>
                    <a:gd name="T7" fmla="*/ 37 h 576"/>
                    <a:gd name="T8" fmla="*/ 83 w 208"/>
                    <a:gd name="T9" fmla="*/ 56 h 576"/>
                    <a:gd name="T10" fmla="*/ 6 w 208"/>
                    <a:gd name="T11" fmla="*/ 65 h 576"/>
                    <a:gd name="T12" fmla="*/ 83 w 208"/>
                    <a:gd name="T13" fmla="*/ 84 h 576"/>
                    <a:gd name="T14" fmla="*/ 6 w 208"/>
                    <a:gd name="T15" fmla="*/ 93 h 576"/>
                    <a:gd name="T16" fmla="*/ 44 w 208"/>
                    <a:gd name="T17" fmla="*/ 112 h 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284" name="Line 21"/>
                <p:cNvSpPr>
                  <a:spLocks noChangeShapeType="1"/>
                </p:cNvSpPr>
                <p:nvPr/>
              </p:nvSpPr>
              <p:spPr bwMode="auto">
                <a:xfrm flipV="1">
                  <a:off x="1136" y="3069"/>
                  <a:ext cx="3" cy="10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5" name="Line 20"/>
                <p:cNvSpPr>
                  <a:spLocks noChangeShapeType="1"/>
                </p:cNvSpPr>
                <p:nvPr/>
              </p:nvSpPr>
              <p:spPr bwMode="auto">
                <a:xfrm>
                  <a:off x="1136" y="3587"/>
                  <a:ext cx="3" cy="109"/>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6269" name="Freeform 18"/>
              <p:cNvSpPr>
                <a:spLocks noChangeArrowheads="1"/>
              </p:cNvSpPr>
              <p:nvPr/>
            </p:nvSpPr>
            <p:spPr bwMode="auto">
              <a:xfrm flipH="1">
                <a:off x="2016" y="2776"/>
                <a:ext cx="1056" cy="152"/>
              </a:xfrm>
              <a:custGeom>
                <a:avLst/>
                <a:gdLst>
                  <a:gd name="T0" fmla="*/ 0 w 1056"/>
                  <a:gd name="T1" fmla="*/ 104 h 152"/>
                  <a:gd name="T2" fmla="*/ 144 w 1056"/>
                  <a:gd name="T3" fmla="*/ 8 h 152"/>
                  <a:gd name="T4" fmla="*/ 432 w 1056"/>
                  <a:gd name="T5" fmla="*/ 152 h 152"/>
                  <a:gd name="T6" fmla="*/ 624 w 1056"/>
                  <a:gd name="T7" fmla="*/ 8 h 152"/>
                  <a:gd name="T8" fmla="*/ 864 w 1056"/>
                  <a:gd name="T9" fmla="*/ 152 h 152"/>
                  <a:gd name="T10" fmla="*/ 1056 w 1056"/>
                  <a:gd name="T11" fmla="*/ 8 h 1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6" h="152">
                    <a:moveTo>
                      <a:pt x="0" y="104"/>
                    </a:moveTo>
                    <a:cubicBezTo>
                      <a:pt x="36" y="52"/>
                      <a:pt x="72" y="0"/>
                      <a:pt x="144" y="8"/>
                    </a:cubicBezTo>
                    <a:cubicBezTo>
                      <a:pt x="216" y="16"/>
                      <a:pt x="352" y="152"/>
                      <a:pt x="432" y="152"/>
                    </a:cubicBezTo>
                    <a:cubicBezTo>
                      <a:pt x="512" y="152"/>
                      <a:pt x="552" y="8"/>
                      <a:pt x="624" y="8"/>
                    </a:cubicBezTo>
                    <a:cubicBezTo>
                      <a:pt x="696" y="8"/>
                      <a:pt x="792" y="152"/>
                      <a:pt x="864" y="152"/>
                    </a:cubicBezTo>
                    <a:cubicBezTo>
                      <a:pt x="936" y="152"/>
                      <a:pt x="996" y="80"/>
                      <a:pt x="1056" y="8"/>
                    </a:cubicBez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270" name="Line 17"/>
              <p:cNvSpPr>
                <a:spLocks noChangeShapeType="1"/>
              </p:cNvSpPr>
              <p:nvPr/>
            </p:nvSpPr>
            <p:spPr bwMode="auto">
              <a:xfrm flipH="1">
                <a:off x="2192" y="2848"/>
                <a:ext cx="336"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1" name="Line 16"/>
              <p:cNvSpPr>
                <a:spLocks noChangeShapeType="1"/>
              </p:cNvSpPr>
              <p:nvPr/>
            </p:nvSpPr>
            <p:spPr bwMode="auto">
              <a:xfrm flipV="1">
                <a:off x="2232" y="2552"/>
                <a:ext cx="0" cy="288"/>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2" name="Rectangle 15"/>
              <p:cNvSpPr>
                <a:spLocks noChangeArrowheads="1"/>
              </p:cNvSpPr>
              <p:nvPr/>
            </p:nvSpPr>
            <p:spPr bwMode="auto">
              <a:xfrm>
                <a:off x="1963" y="1265"/>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K</a:t>
                </a:r>
                <a:r>
                  <a:rPr lang="en-US" altLang="zh-CN" sz="2900" baseline="-18000">
                    <a:latin typeface="Times New Roman" panose="02020603050405020304" pitchFamily="18" charset="0"/>
                  </a:rPr>
                  <a:t>2</a:t>
                </a:r>
              </a:p>
            </p:txBody>
          </p:sp>
          <p:sp>
            <p:nvSpPr>
              <p:cNvPr id="96273" name="Rectangle 14"/>
              <p:cNvSpPr>
                <a:spLocks noChangeArrowheads="1"/>
              </p:cNvSpPr>
              <p:nvPr/>
            </p:nvSpPr>
            <p:spPr bwMode="auto">
              <a:xfrm>
                <a:off x="2779" y="125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C</a:t>
                </a:r>
                <a:endParaRPr lang="en-US" altLang="zh-CN" sz="2900" baseline="-18000">
                  <a:latin typeface="Times New Roman" panose="02020603050405020304" pitchFamily="18" charset="0"/>
                </a:endParaRPr>
              </a:p>
            </p:txBody>
          </p:sp>
          <p:sp>
            <p:nvSpPr>
              <p:cNvPr id="96274" name="Rectangle 13"/>
              <p:cNvSpPr>
                <a:spLocks noChangeArrowheads="1"/>
              </p:cNvSpPr>
              <p:nvPr/>
            </p:nvSpPr>
            <p:spPr bwMode="auto">
              <a:xfrm>
                <a:off x="2587" y="2321"/>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K</a:t>
                </a:r>
                <a:r>
                  <a:rPr lang="en-US" altLang="zh-CN" sz="2900" baseline="-18000">
                    <a:latin typeface="Times New Roman" panose="02020603050405020304" pitchFamily="18" charset="0"/>
                  </a:rPr>
                  <a:t>1</a:t>
                </a:r>
              </a:p>
            </p:txBody>
          </p:sp>
          <p:sp>
            <p:nvSpPr>
              <p:cNvPr id="96275" name="Rectangle 12"/>
              <p:cNvSpPr>
                <a:spLocks noChangeArrowheads="1"/>
              </p:cNvSpPr>
              <p:nvPr/>
            </p:nvSpPr>
            <p:spPr bwMode="auto">
              <a:xfrm>
                <a:off x="1768" y="2417"/>
                <a:ext cx="4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900" i="1" baseline="-18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96276" name="Rectangle 11"/>
              <p:cNvSpPr>
                <a:spLocks noChangeArrowheads="1"/>
              </p:cNvSpPr>
              <p:nvPr/>
            </p:nvSpPr>
            <p:spPr bwMode="auto">
              <a:xfrm>
                <a:off x="3193" y="824"/>
                <a:ext cx="5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96277" name="Line 10"/>
              <p:cNvSpPr>
                <a:spLocks noChangeShapeType="1"/>
              </p:cNvSpPr>
              <p:nvPr/>
            </p:nvSpPr>
            <p:spPr bwMode="auto">
              <a:xfrm>
                <a:off x="2880" y="1152"/>
                <a:ext cx="43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8" name="Line 9"/>
              <p:cNvSpPr>
                <a:spLocks noChangeShapeType="1"/>
              </p:cNvSpPr>
              <p:nvPr/>
            </p:nvSpPr>
            <p:spPr bwMode="auto">
              <a:xfrm flipV="1">
                <a:off x="3168" y="760"/>
                <a:ext cx="0" cy="38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9" name="Rectangle 8"/>
              <p:cNvSpPr>
                <a:spLocks noChangeArrowheads="1"/>
              </p:cNvSpPr>
              <p:nvPr/>
            </p:nvSpPr>
            <p:spPr bwMode="auto">
              <a:xfrm>
                <a:off x="3193" y="1880"/>
                <a:ext cx="4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96280" name="Line 7"/>
              <p:cNvSpPr>
                <a:spLocks noChangeShapeType="1"/>
              </p:cNvSpPr>
              <p:nvPr/>
            </p:nvSpPr>
            <p:spPr bwMode="auto">
              <a:xfrm>
                <a:off x="2880" y="2208"/>
                <a:ext cx="432"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81" name="Line 6"/>
              <p:cNvSpPr>
                <a:spLocks noChangeShapeType="1"/>
              </p:cNvSpPr>
              <p:nvPr/>
            </p:nvSpPr>
            <p:spPr bwMode="auto">
              <a:xfrm flipV="1">
                <a:off x="3168" y="1816"/>
                <a:ext cx="0" cy="38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2" name="Oval 5"/>
              <p:cNvSpPr>
                <a:spLocks noChangeArrowheads="1"/>
              </p:cNvSpPr>
              <p:nvPr/>
            </p:nvSpPr>
            <p:spPr bwMode="auto">
              <a:xfrm>
                <a:off x="2504" y="2824"/>
                <a:ext cx="48" cy="48"/>
              </a:xfrm>
              <a:prstGeom prst="ellipse">
                <a:avLst/>
              </a:prstGeom>
              <a:solidFill>
                <a:schemeClr val="tx1"/>
              </a:solidFill>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grpSp>
        <p:sp>
          <p:nvSpPr>
            <p:cNvPr id="96264" name="Rectangle 3"/>
            <p:cNvSpPr>
              <a:spLocks noChangeArrowheads="1"/>
            </p:cNvSpPr>
            <p:nvPr/>
          </p:nvSpPr>
          <p:spPr bwMode="auto">
            <a:xfrm>
              <a:off x="1366" y="2937"/>
              <a:ext cx="30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2800">
                  <a:latin typeface="Times New Roman" panose="02020603050405020304" pitchFamily="18" charset="0"/>
                </a:rPr>
                <a:t>简化的悬挂系统（垂直方向）</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4453"/>
                                        </p:tgtEl>
                                        <p:attrNameLst>
                                          <p:attrName>style.visibility</p:attrName>
                                        </p:attrNameLst>
                                      </p:cBhvr>
                                      <p:to>
                                        <p:strVal val="visible"/>
                                      </p:to>
                                    </p:set>
                                    <p:anim calcmode="lin" valueType="num">
                                      <p:cBhvr additive="base">
                                        <p:cTn id="7" dur="500" fill="hold"/>
                                        <p:tgtEl>
                                          <p:spTgt spid="444453"/>
                                        </p:tgtEl>
                                        <p:attrNameLst>
                                          <p:attrName>ppt_x</p:attrName>
                                        </p:attrNameLst>
                                      </p:cBhvr>
                                      <p:tavLst>
                                        <p:tav tm="0">
                                          <p:val>
                                            <p:strVal val="#ppt_x"/>
                                          </p:val>
                                        </p:tav>
                                        <p:tav tm="100000">
                                          <p:val>
                                            <p:strVal val="#ppt_x"/>
                                          </p:val>
                                        </p:tav>
                                      </p:tavLst>
                                    </p:anim>
                                    <p:anim calcmode="lin" valueType="num">
                                      <p:cBhvr additive="base">
                                        <p:cTn id="8" dur="500" fill="hold"/>
                                        <p:tgtEl>
                                          <p:spTgt spid="44445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4454"/>
                                        </p:tgtEl>
                                        <p:attrNameLst>
                                          <p:attrName>style.visibility</p:attrName>
                                        </p:attrNameLst>
                                      </p:cBhvr>
                                      <p:to>
                                        <p:strVal val="visible"/>
                                      </p:to>
                                    </p:set>
                                    <p:anim calcmode="lin" valueType="num">
                                      <p:cBhvr additive="base">
                                        <p:cTn id="13" dur="500" fill="hold"/>
                                        <p:tgtEl>
                                          <p:spTgt spid="444454"/>
                                        </p:tgtEl>
                                        <p:attrNameLst>
                                          <p:attrName>ppt_x</p:attrName>
                                        </p:attrNameLst>
                                      </p:cBhvr>
                                      <p:tavLst>
                                        <p:tav tm="0">
                                          <p:val>
                                            <p:strVal val="#ppt_x"/>
                                          </p:val>
                                        </p:tav>
                                        <p:tav tm="100000">
                                          <p:val>
                                            <p:strVal val="#ppt_x"/>
                                          </p:val>
                                        </p:tav>
                                      </p:tavLst>
                                    </p:anim>
                                    <p:anim calcmode="lin" valueType="num">
                                      <p:cBhvr additive="base">
                                        <p:cTn id="14" dur="500" fill="hold"/>
                                        <p:tgtEl>
                                          <p:spTgt spid="4444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0"/>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32B19CE-73B5-45D6-A419-C205D99F1098}" type="datetime1">
              <a:rPr lang="en-US" altLang="zh-CN" sz="1200" smtClean="0"/>
              <a:pPr>
                <a:spcBef>
                  <a:spcPct val="0"/>
                </a:spcBef>
                <a:buClrTx/>
                <a:buFontTx/>
                <a:buNone/>
              </a:pPr>
              <a:t>9/14/2025</a:t>
            </a:fld>
            <a:endParaRPr lang="en-US" altLang="zh-CN" sz="1200"/>
          </a:p>
        </p:txBody>
      </p:sp>
      <p:sp>
        <p:nvSpPr>
          <p:cNvPr id="97283" name="灯片编号占位符 32"/>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A2AE73C8-AAD7-4A91-B45F-CBC0114B9B8D}" type="slidenum">
              <a:rPr lang="en-US" altLang="zh-CN" sz="1200" smtClean="0"/>
              <a:pPr>
                <a:spcBef>
                  <a:spcPct val="0"/>
                </a:spcBef>
                <a:buClrTx/>
                <a:buFontTx/>
                <a:buNone/>
              </a:pPr>
              <a:t>53</a:t>
            </a:fld>
            <a:endParaRPr lang="en-US" altLang="zh-CN" sz="1200"/>
          </a:p>
        </p:txBody>
      </p:sp>
      <p:graphicFrame>
        <p:nvGraphicFramePr>
          <p:cNvPr id="443421" name="Object 29"/>
          <p:cNvGraphicFramePr>
            <a:graphicFrameLocks noChangeAspect="1"/>
          </p:cNvGraphicFramePr>
          <p:nvPr/>
        </p:nvGraphicFramePr>
        <p:xfrm>
          <a:off x="1358900" y="1962150"/>
          <a:ext cx="6213475" cy="488950"/>
        </p:xfrm>
        <a:graphic>
          <a:graphicData uri="http://schemas.openxmlformats.org/presentationml/2006/ole">
            <mc:AlternateContent xmlns:mc="http://schemas.openxmlformats.org/markup-compatibility/2006">
              <mc:Choice xmlns:v="urn:schemas-microsoft-com:vml" Requires="v">
                <p:oleObj r:id="rId2" imgW="3390900" imgH="266700" progId="Equation.3">
                  <p:embed/>
                </p:oleObj>
              </mc:Choice>
              <mc:Fallback>
                <p:oleObj r:id="rId2" imgW="3390900" imgH="266700" progId="Equation.3">
                  <p:embed/>
                  <p:pic>
                    <p:nvPicPr>
                      <p:cNvPr id="0"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8900" y="1962150"/>
                        <a:ext cx="62134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285" name="Object 28"/>
          <p:cNvGraphicFramePr>
            <a:graphicFrameLocks noChangeAspect="1"/>
          </p:cNvGraphicFramePr>
          <p:nvPr/>
        </p:nvGraphicFramePr>
        <p:xfrm>
          <a:off x="1371600" y="1028700"/>
          <a:ext cx="4514850" cy="488950"/>
        </p:xfrm>
        <a:graphic>
          <a:graphicData uri="http://schemas.openxmlformats.org/presentationml/2006/ole">
            <mc:AlternateContent xmlns:mc="http://schemas.openxmlformats.org/markup-compatibility/2006">
              <mc:Choice xmlns:v="urn:schemas-microsoft-com:vml" Requires="v">
                <p:oleObj r:id="rId4" imgW="2462731" imgH="266584" progId="Equation.3">
                  <p:embed/>
                </p:oleObj>
              </mc:Choice>
              <mc:Fallback>
                <p:oleObj r:id="rId4" imgW="2462731" imgH="266584" progId="Equation.3">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028700"/>
                        <a:ext cx="45148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3419" name="Object 27"/>
          <p:cNvGraphicFramePr>
            <a:graphicFrameLocks noChangeAspect="1"/>
          </p:cNvGraphicFramePr>
          <p:nvPr/>
        </p:nvGraphicFramePr>
        <p:xfrm>
          <a:off x="533400" y="5205413"/>
          <a:ext cx="8401050" cy="814387"/>
        </p:xfrm>
        <a:graphic>
          <a:graphicData uri="http://schemas.openxmlformats.org/presentationml/2006/ole">
            <mc:AlternateContent xmlns:mc="http://schemas.openxmlformats.org/markup-compatibility/2006">
              <mc:Choice xmlns:v="urn:schemas-microsoft-com:vml" Requires="v">
                <p:oleObj r:id="rId6" imgW="4584700" imgH="444500" progId="Equation.3">
                  <p:embed/>
                </p:oleObj>
              </mc:Choice>
              <mc:Fallback>
                <p:oleObj r:id="rId6" imgW="4584700" imgH="444500" progId="Equation.3">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5205413"/>
                        <a:ext cx="8401050"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43394" name="Group 2"/>
          <p:cNvGrpSpPr>
            <a:grpSpLocks/>
          </p:cNvGrpSpPr>
          <p:nvPr/>
        </p:nvGrpSpPr>
        <p:grpSpPr bwMode="auto">
          <a:xfrm>
            <a:off x="698500" y="2971800"/>
            <a:ext cx="7896225" cy="1981200"/>
            <a:chOff x="440" y="1872"/>
            <a:chExt cx="4974" cy="1248"/>
          </a:xfrm>
        </p:grpSpPr>
        <p:grpSp>
          <p:nvGrpSpPr>
            <p:cNvPr id="97288" name="Group 23"/>
            <p:cNvGrpSpPr>
              <a:grpSpLocks/>
            </p:cNvGrpSpPr>
            <p:nvPr/>
          </p:nvGrpSpPr>
          <p:grpSpPr bwMode="auto">
            <a:xfrm>
              <a:off x="1536" y="2112"/>
              <a:ext cx="192" cy="192"/>
              <a:chOff x="1152" y="2304"/>
              <a:chExt cx="192" cy="192"/>
            </a:xfrm>
          </p:grpSpPr>
          <p:sp>
            <p:nvSpPr>
              <p:cNvPr id="97309" name="Oval 26"/>
              <p:cNvSpPr>
                <a:spLocks noChangeArrowheads="1"/>
              </p:cNvSpPr>
              <p:nvPr/>
            </p:nvSpPr>
            <p:spPr bwMode="auto">
              <a:xfrm>
                <a:off x="1152" y="2304"/>
                <a:ext cx="192" cy="192"/>
              </a:xfrm>
              <a:prstGeom prst="ellipse">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7310" name="Line 25"/>
              <p:cNvSpPr>
                <a:spLocks noChangeShapeType="1"/>
              </p:cNvSpPr>
              <p:nvPr/>
            </p:nvSpPr>
            <p:spPr bwMode="auto">
              <a:xfrm flipH="1">
                <a:off x="1200" y="2352"/>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11" name="Line 24"/>
              <p:cNvSpPr>
                <a:spLocks noChangeShapeType="1"/>
              </p:cNvSpPr>
              <p:nvPr/>
            </p:nvSpPr>
            <p:spPr bwMode="auto">
              <a:xfrm>
                <a:off x="1200" y="2352"/>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7289" name="Rectangle 22"/>
            <p:cNvSpPr>
              <a:spLocks noChangeArrowheads="1"/>
            </p:cNvSpPr>
            <p:nvPr/>
          </p:nvSpPr>
          <p:spPr bwMode="auto">
            <a:xfrm>
              <a:off x="960" y="1920"/>
              <a:ext cx="336"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lang="en-US" altLang="zh-CN" sz="2800" i="1">
                  <a:latin typeface="Times New Roman" panose="02020603050405020304" pitchFamily="18" charset="0"/>
                </a:rPr>
                <a:t>K</a:t>
              </a:r>
              <a:r>
                <a:rPr lang="en-US" altLang="zh-CN" sz="2900" baseline="-18000">
                  <a:latin typeface="Times New Roman" panose="02020603050405020304" pitchFamily="18" charset="0"/>
                </a:rPr>
                <a:t>1</a:t>
              </a:r>
            </a:p>
          </p:txBody>
        </p:sp>
        <p:sp>
          <p:nvSpPr>
            <p:cNvPr id="97290" name="Line 21"/>
            <p:cNvSpPr>
              <a:spLocks noChangeShapeType="1"/>
            </p:cNvSpPr>
            <p:nvPr/>
          </p:nvSpPr>
          <p:spPr bwMode="auto">
            <a:xfrm>
              <a:off x="1296" y="2208"/>
              <a:ext cx="24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291" name="Line 20"/>
            <p:cNvSpPr>
              <a:spLocks noChangeShapeType="1"/>
            </p:cNvSpPr>
            <p:nvPr/>
          </p:nvSpPr>
          <p:spPr bwMode="auto">
            <a:xfrm>
              <a:off x="480" y="2208"/>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292" name="Rectangle 19"/>
            <p:cNvSpPr>
              <a:spLocks noChangeArrowheads="1"/>
            </p:cNvSpPr>
            <p:nvPr/>
          </p:nvSpPr>
          <p:spPr bwMode="auto">
            <a:xfrm>
              <a:off x="1968" y="1920"/>
              <a:ext cx="1344"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lang="zh-CN" altLang="zh-CN" sz="2900" baseline="-18000">
                <a:latin typeface="Times New Roman" panose="02020603050405020304" pitchFamily="18" charset="0"/>
              </a:endParaRPr>
            </a:p>
          </p:txBody>
        </p:sp>
        <p:graphicFrame>
          <p:nvGraphicFramePr>
            <p:cNvPr id="97293" name="Object 18"/>
            <p:cNvGraphicFramePr>
              <a:graphicFrameLocks noChangeAspect="1"/>
            </p:cNvGraphicFramePr>
            <p:nvPr/>
          </p:nvGraphicFramePr>
          <p:xfrm>
            <a:off x="1968" y="1968"/>
            <a:ext cx="1346" cy="504"/>
          </p:xfrm>
          <a:graphic>
            <a:graphicData uri="http://schemas.openxmlformats.org/presentationml/2006/ole">
              <mc:AlternateContent xmlns:mc="http://schemas.openxmlformats.org/markup-compatibility/2006">
                <mc:Choice xmlns:v="urn:schemas-microsoft-com:vml" Requires="v">
                  <p:oleObj r:id="rId8" imgW="1294838" imgH="444307" progId="Equation.3">
                    <p:embed/>
                  </p:oleObj>
                </mc:Choice>
                <mc:Fallback>
                  <p:oleObj r:id="rId8" imgW="1294838" imgH="444307" progId="Equation.3">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8" y="1968"/>
                          <a:ext cx="1346"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294" name="Object 17"/>
            <p:cNvGraphicFramePr>
              <a:graphicFrameLocks noChangeAspect="1"/>
            </p:cNvGraphicFramePr>
            <p:nvPr/>
          </p:nvGraphicFramePr>
          <p:xfrm>
            <a:off x="3792" y="1968"/>
            <a:ext cx="1056" cy="504"/>
          </p:xfrm>
          <a:graphic>
            <a:graphicData uri="http://schemas.openxmlformats.org/presentationml/2006/ole">
              <mc:AlternateContent xmlns:mc="http://schemas.openxmlformats.org/markup-compatibility/2006">
                <mc:Choice xmlns:v="urn:schemas-microsoft-com:vml" Requires="v">
                  <p:oleObj r:id="rId10" imgW="1015559" imgH="444307" progId="Equation.3">
                    <p:embed/>
                  </p:oleObj>
                </mc:Choice>
                <mc:Fallback>
                  <p:oleObj r:id="rId10" imgW="1015559" imgH="444307"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92" y="1968"/>
                          <a:ext cx="1056"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7295" name="Object 16"/>
            <p:cNvGraphicFramePr>
              <a:graphicFrameLocks noChangeAspect="1"/>
            </p:cNvGraphicFramePr>
            <p:nvPr/>
          </p:nvGraphicFramePr>
          <p:xfrm>
            <a:off x="3024" y="2813"/>
            <a:ext cx="624" cy="259"/>
          </p:xfrm>
          <a:graphic>
            <a:graphicData uri="http://schemas.openxmlformats.org/presentationml/2006/ole">
              <mc:AlternateContent xmlns:mc="http://schemas.openxmlformats.org/markup-compatibility/2006">
                <mc:Choice xmlns:v="urn:schemas-microsoft-com:vml" Requires="v">
                  <p:oleObj r:id="rId12" imgW="520474" imgH="215806" progId="Equation.3">
                    <p:embed/>
                  </p:oleObj>
                </mc:Choice>
                <mc:Fallback>
                  <p:oleObj r:id="rId12" imgW="520474" imgH="215806" progId="Equation.3">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24" y="2813"/>
                          <a:ext cx="624"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7296" name="Rectangle 15"/>
            <p:cNvSpPr>
              <a:spLocks noChangeArrowheads="1"/>
            </p:cNvSpPr>
            <p:nvPr/>
          </p:nvSpPr>
          <p:spPr bwMode="auto">
            <a:xfrm>
              <a:off x="3792" y="1920"/>
              <a:ext cx="1056" cy="576"/>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lang="zh-CN" altLang="zh-CN" sz="2900" baseline="-18000">
                <a:latin typeface="Times New Roman" panose="02020603050405020304" pitchFamily="18" charset="0"/>
              </a:endParaRPr>
            </a:p>
          </p:txBody>
        </p:sp>
        <p:sp>
          <p:nvSpPr>
            <p:cNvPr id="97297" name="Line 14"/>
            <p:cNvSpPr>
              <a:spLocks noChangeShapeType="1"/>
            </p:cNvSpPr>
            <p:nvPr/>
          </p:nvSpPr>
          <p:spPr bwMode="auto">
            <a:xfrm>
              <a:off x="1728" y="2208"/>
              <a:ext cx="24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298" name="Line 13"/>
            <p:cNvSpPr>
              <a:spLocks noChangeShapeType="1"/>
            </p:cNvSpPr>
            <p:nvPr/>
          </p:nvSpPr>
          <p:spPr bwMode="auto">
            <a:xfrm>
              <a:off x="3312" y="2208"/>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299" name="Rectangle 12"/>
            <p:cNvSpPr>
              <a:spLocks noChangeArrowheads="1"/>
            </p:cNvSpPr>
            <p:nvPr/>
          </p:nvSpPr>
          <p:spPr bwMode="auto">
            <a:xfrm>
              <a:off x="3326" y="1872"/>
              <a:ext cx="4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97300" name="Line 11"/>
            <p:cNvSpPr>
              <a:spLocks noChangeShapeType="1"/>
            </p:cNvSpPr>
            <p:nvPr/>
          </p:nvSpPr>
          <p:spPr bwMode="auto">
            <a:xfrm>
              <a:off x="4848" y="2208"/>
              <a:ext cx="48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1" name="Rectangle 10"/>
            <p:cNvSpPr>
              <a:spLocks noChangeArrowheads="1"/>
            </p:cNvSpPr>
            <p:nvPr/>
          </p:nvSpPr>
          <p:spPr bwMode="auto">
            <a:xfrm>
              <a:off x="4848" y="1872"/>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900" i="1" baseline="-18000">
                  <a:latin typeface="Times New Roman" panose="02020603050405020304" pitchFamily="18" charset="0"/>
                </a:rPr>
                <a:t>o</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sp>
          <p:nvSpPr>
            <p:cNvPr id="97302" name="Rectangle 9"/>
            <p:cNvSpPr>
              <a:spLocks noChangeArrowheads="1"/>
            </p:cNvSpPr>
            <p:nvPr/>
          </p:nvSpPr>
          <p:spPr bwMode="auto">
            <a:xfrm>
              <a:off x="2880" y="2736"/>
              <a:ext cx="912" cy="384"/>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lang="zh-CN" altLang="zh-CN" sz="2900" baseline="-18000">
                <a:latin typeface="Times New Roman" panose="02020603050405020304" pitchFamily="18" charset="0"/>
              </a:endParaRPr>
            </a:p>
          </p:txBody>
        </p:sp>
        <p:sp>
          <p:nvSpPr>
            <p:cNvPr id="97303" name="Line 8"/>
            <p:cNvSpPr>
              <a:spLocks noChangeShapeType="1"/>
            </p:cNvSpPr>
            <p:nvPr/>
          </p:nvSpPr>
          <p:spPr bwMode="auto">
            <a:xfrm flipH="1">
              <a:off x="3792" y="2928"/>
              <a:ext cx="1296"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4" name="Line 7"/>
            <p:cNvSpPr>
              <a:spLocks noChangeShapeType="1"/>
            </p:cNvSpPr>
            <p:nvPr/>
          </p:nvSpPr>
          <p:spPr bwMode="auto">
            <a:xfrm flipV="1">
              <a:off x="5088" y="2208"/>
              <a:ext cx="0" cy="72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5" name="Line 6"/>
            <p:cNvSpPr>
              <a:spLocks noChangeShapeType="1"/>
            </p:cNvSpPr>
            <p:nvPr/>
          </p:nvSpPr>
          <p:spPr bwMode="auto">
            <a:xfrm flipH="1">
              <a:off x="1632" y="2928"/>
              <a:ext cx="1248" cy="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06" name="Line 5"/>
            <p:cNvSpPr>
              <a:spLocks noChangeShapeType="1"/>
            </p:cNvSpPr>
            <p:nvPr/>
          </p:nvSpPr>
          <p:spPr bwMode="auto">
            <a:xfrm flipV="1">
              <a:off x="1632" y="2304"/>
              <a:ext cx="0" cy="624"/>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07" name="Oval 4"/>
            <p:cNvSpPr>
              <a:spLocks noChangeArrowheads="1"/>
            </p:cNvSpPr>
            <p:nvPr/>
          </p:nvSpPr>
          <p:spPr bwMode="auto">
            <a:xfrm>
              <a:off x="5056" y="2176"/>
              <a:ext cx="48" cy="48"/>
            </a:xfrm>
            <a:prstGeom prst="ellipse">
              <a:avLst/>
            </a:prstGeom>
            <a:solidFill>
              <a:schemeClr val="tx1"/>
            </a:solidFill>
            <a:ln w="222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lang="zh-CN" altLang="en-US" sz="1800"/>
            </a:p>
          </p:txBody>
        </p:sp>
        <p:sp>
          <p:nvSpPr>
            <p:cNvPr id="97308" name="Rectangle 3"/>
            <p:cNvSpPr>
              <a:spLocks noChangeArrowheads="1"/>
            </p:cNvSpPr>
            <p:nvPr/>
          </p:nvSpPr>
          <p:spPr bwMode="auto">
            <a:xfrm>
              <a:off x="440" y="1872"/>
              <a:ext cx="5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en-US" altLang="zh-CN" sz="2800" i="1">
                  <a:latin typeface="Times New Roman" panose="02020603050405020304" pitchFamily="18" charset="0"/>
                </a:rPr>
                <a:t>X</a:t>
              </a:r>
              <a:r>
                <a:rPr lang="en-US" altLang="zh-CN" sz="2900" i="1" baseline="-18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3421"/>
                                        </p:tgtEl>
                                        <p:attrNameLst>
                                          <p:attrName>style.visibility</p:attrName>
                                        </p:attrNameLst>
                                      </p:cBhvr>
                                      <p:to>
                                        <p:strVal val="visible"/>
                                      </p:to>
                                    </p:set>
                                    <p:anim calcmode="lin" valueType="num">
                                      <p:cBhvr additive="base">
                                        <p:cTn id="7" dur="500" fill="hold"/>
                                        <p:tgtEl>
                                          <p:spTgt spid="443421"/>
                                        </p:tgtEl>
                                        <p:attrNameLst>
                                          <p:attrName>ppt_x</p:attrName>
                                        </p:attrNameLst>
                                      </p:cBhvr>
                                      <p:tavLst>
                                        <p:tav tm="0">
                                          <p:val>
                                            <p:strVal val="#ppt_x"/>
                                          </p:val>
                                        </p:tav>
                                        <p:tav tm="100000">
                                          <p:val>
                                            <p:strVal val="#ppt_x"/>
                                          </p:val>
                                        </p:tav>
                                      </p:tavLst>
                                    </p:anim>
                                    <p:anim calcmode="lin" valueType="num">
                                      <p:cBhvr additive="base">
                                        <p:cTn id="8" dur="500" fill="hold"/>
                                        <p:tgtEl>
                                          <p:spTgt spid="4434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3394"/>
                                        </p:tgtEl>
                                        <p:attrNameLst>
                                          <p:attrName>style.visibility</p:attrName>
                                        </p:attrNameLst>
                                      </p:cBhvr>
                                      <p:to>
                                        <p:strVal val="visible"/>
                                      </p:to>
                                    </p:set>
                                    <p:anim calcmode="lin" valueType="num">
                                      <p:cBhvr additive="base">
                                        <p:cTn id="13" dur="500" fill="hold"/>
                                        <p:tgtEl>
                                          <p:spTgt spid="443394"/>
                                        </p:tgtEl>
                                        <p:attrNameLst>
                                          <p:attrName>ppt_x</p:attrName>
                                        </p:attrNameLst>
                                      </p:cBhvr>
                                      <p:tavLst>
                                        <p:tav tm="0">
                                          <p:val>
                                            <p:strVal val="#ppt_x"/>
                                          </p:val>
                                        </p:tav>
                                        <p:tav tm="100000">
                                          <p:val>
                                            <p:strVal val="#ppt_x"/>
                                          </p:val>
                                        </p:tav>
                                      </p:tavLst>
                                    </p:anim>
                                    <p:anim calcmode="lin" valueType="num">
                                      <p:cBhvr additive="base">
                                        <p:cTn id="14" dur="500" fill="hold"/>
                                        <p:tgtEl>
                                          <p:spTgt spid="44339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3419"/>
                                        </p:tgtEl>
                                        <p:attrNameLst>
                                          <p:attrName>style.visibility</p:attrName>
                                        </p:attrNameLst>
                                      </p:cBhvr>
                                      <p:to>
                                        <p:strVal val="visible"/>
                                      </p:to>
                                    </p:set>
                                    <p:anim calcmode="lin" valueType="num">
                                      <p:cBhvr additive="base">
                                        <p:cTn id="19" dur="500" fill="hold"/>
                                        <p:tgtEl>
                                          <p:spTgt spid="443419"/>
                                        </p:tgtEl>
                                        <p:attrNameLst>
                                          <p:attrName>ppt_x</p:attrName>
                                        </p:attrNameLst>
                                      </p:cBhvr>
                                      <p:tavLst>
                                        <p:tav tm="0">
                                          <p:val>
                                            <p:strVal val="#ppt_x"/>
                                          </p:val>
                                        </p:tav>
                                        <p:tav tm="100000">
                                          <p:val>
                                            <p:strVal val="#ppt_x"/>
                                          </p:val>
                                        </p:tav>
                                      </p:tavLst>
                                    </p:anim>
                                    <p:anim calcmode="lin" valueType="num">
                                      <p:cBhvr additive="base">
                                        <p:cTn id="20" dur="500" fill="hold"/>
                                        <p:tgtEl>
                                          <p:spTgt spid="4434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48"/>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34C4F7FA-27EF-42D2-84B2-6CA6E9511BDB}" type="datetime1">
              <a:rPr lang="en-US" altLang="zh-CN" sz="1200" smtClean="0"/>
              <a:pPr>
                <a:spcBef>
                  <a:spcPct val="0"/>
                </a:spcBef>
                <a:buClrTx/>
                <a:buFontTx/>
                <a:buNone/>
              </a:pPr>
              <a:t>9/14/2025</a:t>
            </a:fld>
            <a:endParaRPr lang="en-US" altLang="zh-CN" sz="1200"/>
          </a:p>
        </p:txBody>
      </p:sp>
      <p:sp>
        <p:nvSpPr>
          <p:cNvPr id="98307" name="灯片编号占位符 50"/>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274EC8C1-B00B-4BDA-B1BB-550035AE7E5F}" type="slidenum">
              <a:rPr lang="en-US" altLang="zh-CN" sz="1200" smtClean="0"/>
              <a:pPr>
                <a:spcBef>
                  <a:spcPct val="0"/>
                </a:spcBef>
                <a:buClrTx/>
                <a:buFontTx/>
                <a:buNone/>
              </a:pPr>
              <a:t>54</a:t>
            </a:fld>
            <a:endParaRPr lang="en-US" altLang="zh-CN" sz="1200"/>
          </a:p>
        </p:txBody>
      </p:sp>
      <p:sp>
        <p:nvSpPr>
          <p:cNvPr id="312324" name="Rectangle 47"/>
          <p:cNvSpPr>
            <a:spLocks noChangeArrowheads="1"/>
          </p:cNvSpPr>
          <p:nvPr/>
        </p:nvSpPr>
        <p:spPr bwMode="auto">
          <a:xfrm>
            <a:off x="914400" y="941388"/>
            <a:ext cx="69342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车削过程（自学）</a:t>
            </a:r>
            <a:endParaRPr lang="zh-CN" altLang="en-US" sz="2800">
              <a:latin typeface="宋体" panose="02010600030101010101" pitchFamily="2" charset="-122"/>
            </a:endParaRPr>
          </a:p>
        </p:txBody>
      </p:sp>
      <p:sp>
        <p:nvSpPr>
          <p:cNvPr id="52" name="Rectangle 29"/>
          <p:cNvSpPr>
            <a:spLocks noChangeArrowheads="1"/>
          </p:cNvSpPr>
          <p:nvPr/>
        </p:nvSpPr>
        <p:spPr bwMode="auto">
          <a:xfrm>
            <a:off x="914400" y="1795463"/>
            <a:ext cx="6934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液压缸系统（自学）</a:t>
            </a:r>
          </a:p>
        </p:txBody>
      </p:sp>
      <p:sp>
        <p:nvSpPr>
          <p:cNvPr id="312326" name="Rectangle 70"/>
          <p:cNvSpPr>
            <a:spLocks noChangeArrowheads="1"/>
          </p:cNvSpPr>
          <p:nvPr/>
        </p:nvSpPr>
        <p:spPr bwMode="auto">
          <a:xfrm>
            <a:off x="893763" y="2644775"/>
            <a:ext cx="693420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液压伺服马达（自学）</a:t>
            </a:r>
          </a:p>
        </p:txBody>
      </p:sp>
      <p:sp>
        <p:nvSpPr>
          <p:cNvPr id="54" name="Rectangle 101"/>
          <p:cNvSpPr>
            <a:spLocks noChangeArrowheads="1"/>
          </p:cNvSpPr>
          <p:nvPr/>
        </p:nvSpPr>
        <p:spPr bwMode="auto">
          <a:xfrm>
            <a:off x="914400" y="3592513"/>
            <a:ext cx="693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打印轮控制系统（自学）</a:t>
            </a:r>
          </a:p>
        </p:txBody>
      </p:sp>
      <p:sp>
        <p:nvSpPr>
          <p:cNvPr id="55" name="Rectangle 101"/>
          <p:cNvSpPr>
            <a:spLocks noChangeArrowheads="1"/>
          </p:cNvSpPr>
          <p:nvPr/>
        </p:nvSpPr>
        <p:spPr bwMode="auto">
          <a:xfrm>
            <a:off x="893763" y="4422775"/>
            <a:ext cx="69342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115000"/>
              </a:lnSpc>
              <a:spcBef>
                <a:spcPct val="0"/>
              </a:spcBef>
              <a:buClrTx/>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热力</a:t>
            </a:r>
            <a:r>
              <a:rPr lang="zh-CN" altLang="en-US" sz="2800">
                <a:latin typeface="宋体" panose="02010600030101010101" pitchFamily="2" charset="-122"/>
              </a:rPr>
              <a:t>系统（自学）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23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232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anim calcmode="lin" valueType="num">
                                      <p:cBhvr additive="base">
                                        <p:cTn id="21" dur="500" fill="hold"/>
                                        <p:tgtEl>
                                          <p:spTgt spid="54"/>
                                        </p:tgtEl>
                                        <p:attrNameLst>
                                          <p:attrName>ppt_x</p:attrName>
                                        </p:attrNameLst>
                                      </p:cBhvr>
                                      <p:tavLst>
                                        <p:tav tm="0">
                                          <p:val>
                                            <p:strVal val="#ppt_x"/>
                                          </p:val>
                                        </p:tav>
                                        <p:tav tm="100000">
                                          <p:val>
                                            <p:strVal val="#ppt_x"/>
                                          </p:val>
                                        </p:tav>
                                      </p:tavLst>
                                    </p:anim>
                                    <p:anim calcmode="lin" valueType="num">
                                      <p:cBhvr additive="base">
                                        <p:cTn id="2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additive="base">
                                        <p:cTn id="27" dur="500" fill="hold"/>
                                        <p:tgtEl>
                                          <p:spTgt spid="55"/>
                                        </p:tgtEl>
                                        <p:attrNameLst>
                                          <p:attrName>ppt_x</p:attrName>
                                        </p:attrNameLst>
                                      </p:cBhvr>
                                      <p:tavLst>
                                        <p:tav tm="0">
                                          <p:val>
                                            <p:strVal val="#ppt_x"/>
                                          </p:val>
                                        </p:tav>
                                        <p:tav tm="100000">
                                          <p:val>
                                            <p:strVal val="#ppt_x"/>
                                          </p:val>
                                        </p:tav>
                                      </p:tavLst>
                                    </p:anim>
                                    <p:anim calcmode="lin" valueType="num">
                                      <p:cBhvr additive="base">
                                        <p:cTn id="2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4" grpId="0"/>
      <p:bldP spid="52" grpId="0"/>
      <p:bldP spid="312326" grpId="0"/>
      <p:bldP spid="54" grpId="0"/>
      <p:bldP spid="5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FDE02D40-4128-46AB-B94A-DF30E7D30FF6}" type="datetime1">
              <a:rPr lang="zh-CN" altLang="en-US" sz="1200" smtClean="0"/>
              <a:pPr>
                <a:spcBef>
                  <a:spcPct val="0"/>
                </a:spcBef>
                <a:buClrTx/>
                <a:buFontTx/>
                <a:buNone/>
              </a:pPr>
              <a:t>2025/9/14</a:t>
            </a:fld>
            <a:endParaRPr lang="zh-CN" altLang="en-US" sz="1200"/>
          </a:p>
        </p:txBody>
      </p:sp>
      <p:sp>
        <p:nvSpPr>
          <p:cNvPr id="99331"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06AF5C5-481B-4F11-91B7-EFF42D7C072A}" type="slidenum">
              <a:rPr lang="en-US" altLang="zh-CN" sz="1200" smtClean="0"/>
              <a:pPr>
                <a:spcBef>
                  <a:spcPct val="0"/>
                </a:spcBef>
                <a:buClrTx/>
                <a:buFontTx/>
                <a:buNone/>
              </a:pPr>
              <a:t>55</a:t>
            </a:fld>
            <a:endParaRPr lang="en-US" altLang="zh-CN" sz="1200"/>
          </a:p>
        </p:txBody>
      </p:sp>
      <p:sp>
        <p:nvSpPr>
          <p:cNvPr id="99332" name="Text Box 3"/>
          <p:cNvSpPr txBox="1">
            <a:spLocks noChangeArrowheads="1"/>
          </p:cNvSpPr>
          <p:nvPr/>
        </p:nvSpPr>
        <p:spPr bwMode="auto">
          <a:xfrm>
            <a:off x="19081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2</a:t>
            </a:r>
            <a:r>
              <a:rPr lang="zh-CN" altLang="en-US" sz="3600">
                <a:latin typeface="Times New Roman" panose="02020603050405020304" pitchFamily="18" charset="0"/>
                <a:ea typeface="华文新魏" panose="02010800040101010101" pitchFamily="2" charset="-122"/>
              </a:rPr>
              <a:t>章  数学模型</a:t>
            </a:r>
          </a:p>
        </p:txBody>
      </p:sp>
      <p:sp>
        <p:nvSpPr>
          <p:cNvPr id="99333" name="Rectangle 4"/>
          <p:cNvSpPr>
            <a:spLocks noChangeArrowheads="1"/>
          </p:cNvSpPr>
          <p:nvPr/>
        </p:nvSpPr>
        <p:spPr bwMode="auto">
          <a:xfrm>
            <a:off x="1981200" y="2209800"/>
            <a:ext cx="3775075"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2.2   </a:t>
            </a:r>
            <a:r>
              <a:rPr lang="zh-CN" altLang="en-US" sz="2800">
                <a:latin typeface="Times New Roman" panose="02020603050405020304" pitchFamily="18" charset="0"/>
                <a:ea typeface="黑体" panose="02010609060101010101" pitchFamily="49" charset="-122"/>
              </a:rPr>
              <a:t>拉氏变换和反变换</a:t>
            </a:r>
          </a:p>
        </p:txBody>
      </p:sp>
      <p:sp>
        <p:nvSpPr>
          <p:cNvPr id="99334" name="Rectangle 5"/>
          <p:cNvSpPr>
            <a:spLocks noChangeArrowheads="1"/>
          </p:cNvSpPr>
          <p:nvPr/>
        </p:nvSpPr>
        <p:spPr bwMode="auto">
          <a:xfrm>
            <a:off x="1981200" y="2757488"/>
            <a:ext cx="23383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2.3   </a:t>
            </a:r>
            <a:r>
              <a:rPr lang="zh-CN" altLang="en-US" sz="2800">
                <a:latin typeface="Times New Roman" panose="02020603050405020304" pitchFamily="18" charset="0"/>
                <a:ea typeface="黑体" panose="02010609060101010101" pitchFamily="49" charset="-122"/>
              </a:rPr>
              <a:t>传递函数</a:t>
            </a:r>
          </a:p>
        </p:txBody>
      </p:sp>
      <p:sp>
        <p:nvSpPr>
          <p:cNvPr id="99335" name="Rectangle 6"/>
          <p:cNvSpPr>
            <a:spLocks noChangeArrowheads="1"/>
          </p:cNvSpPr>
          <p:nvPr/>
        </p:nvSpPr>
        <p:spPr bwMode="auto">
          <a:xfrm>
            <a:off x="1981200" y="3967163"/>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800">
                <a:latin typeface="Times New Roman" panose="02020603050405020304" pitchFamily="18" charset="0"/>
                <a:ea typeface="黑体" panose="02010609060101010101" pitchFamily="49" charset="-122"/>
              </a:rPr>
              <a:t>2.5   </a:t>
            </a:r>
            <a:r>
              <a:rPr lang="zh-CN" altLang="en-US" sz="2800">
                <a:latin typeface="Times New Roman" panose="02020603050405020304" pitchFamily="18" charset="0"/>
                <a:ea typeface="黑体" panose="02010609060101010101" pitchFamily="49" charset="-122"/>
              </a:rPr>
              <a:t>非线性数学模型的线性化</a:t>
            </a:r>
          </a:p>
        </p:txBody>
      </p:sp>
      <p:sp>
        <p:nvSpPr>
          <p:cNvPr id="99336" name="Rectangle 7"/>
          <p:cNvSpPr>
            <a:spLocks noChangeArrowheads="1"/>
          </p:cNvSpPr>
          <p:nvPr/>
        </p:nvSpPr>
        <p:spPr bwMode="auto">
          <a:xfrm>
            <a:off x="1979613" y="3330575"/>
            <a:ext cx="449421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2.4   </a:t>
            </a:r>
            <a:r>
              <a:rPr lang="zh-CN" altLang="en-US" sz="2800">
                <a:latin typeface="Times New Roman" panose="02020603050405020304" pitchFamily="18" charset="0"/>
                <a:ea typeface="黑体" panose="02010609060101010101" pitchFamily="49" charset="-122"/>
              </a:rPr>
              <a:t>系统方框图和信号流图</a:t>
            </a:r>
          </a:p>
        </p:txBody>
      </p:sp>
      <p:sp>
        <p:nvSpPr>
          <p:cNvPr id="99337" name="Rectangle 8"/>
          <p:cNvSpPr>
            <a:spLocks noChangeArrowheads="1"/>
          </p:cNvSpPr>
          <p:nvPr/>
        </p:nvSpPr>
        <p:spPr bwMode="auto">
          <a:xfrm>
            <a:off x="1981200" y="4405313"/>
            <a:ext cx="5211763"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2.6   </a:t>
            </a:r>
            <a:r>
              <a:rPr lang="zh-CN" altLang="en-US" sz="2800">
                <a:latin typeface="Times New Roman" panose="02020603050405020304" pitchFamily="18" charset="0"/>
                <a:ea typeface="黑体" panose="02010609060101010101" pitchFamily="49" charset="-122"/>
              </a:rPr>
              <a:t>控制系统传递函数推导举例</a:t>
            </a:r>
          </a:p>
        </p:txBody>
      </p:sp>
      <p:sp>
        <p:nvSpPr>
          <p:cNvPr id="99338" name="Rectangle 11"/>
          <p:cNvSpPr>
            <a:spLocks noChangeArrowheads="1"/>
          </p:cNvSpPr>
          <p:nvPr/>
        </p:nvSpPr>
        <p:spPr bwMode="auto">
          <a:xfrm>
            <a:off x="1981200" y="1676400"/>
            <a:ext cx="485298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35000"/>
              </a:lnSpc>
              <a:spcBef>
                <a:spcPct val="0"/>
              </a:spcBef>
              <a:buClrTx/>
              <a:buFontTx/>
              <a:buNone/>
            </a:pPr>
            <a:r>
              <a:rPr lang="en-US" altLang="zh-CN" sz="2800">
                <a:latin typeface="Times New Roman" panose="02020603050405020304" pitchFamily="18" charset="0"/>
                <a:ea typeface="黑体" panose="02010609060101010101" pitchFamily="49" charset="-122"/>
              </a:rPr>
              <a:t>2.1   </a:t>
            </a:r>
            <a:r>
              <a:rPr lang="zh-CN" altLang="en-US" sz="2800">
                <a:latin typeface="Times New Roman" panose="02020603050405020304" pitchFamily="18" charset="0"/>
                <a:ea typeface="黑体" panose="02010609060101010101" pitchFamily="49" charset="-122"/>
              </a:rPr>
              <a:t>控制系统的运动微分方程</a:t>
            </a:r>
          </a:p>
        </p:txBody>
      </p:sp>
      <p:sp>
        <p:nvSpPr>
          <p:cNvPr id="99339" name="文本框 10"/>
          <p:cNvSpPr txBox="1">
            <a:spLocks noChangeArrowheads="1"/>
          </p:cNvSpPr>
          <p:nvPr/>
        </p:nvSpPr>
        <p:spPr bwMode="auto">
          <a:xfrm>
            <a:off x="2689225" y="5089525"/>
            <a:ext cx="3262313"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lang="zh-CN" altLang="en-US" sz="6000"/>
              <a:t>本章结束</a:t>
            </a:r>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925</TotalTime>
  <Words>2628</Words>
  <Application>Microsoft Office PowerPoint</Application>
  <PresentationFormat>全屏显示(4:3)</PresentationFormat>
  <Paragraphs>573</Paragraphs>
  <Slides>55</Slides>
  <Notes>14</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55</vt:i4>
      </vt:variant>
    </vt:vector>
  </HeadingPairs>
  <TitlesOfParts>
    <vt:vector size="64" baseType="lpstr">
      <vt:lpstr>宋体</vt:lpstr>
      <vt:lpstr>Arial</vt:lpstr>
      <vt:lpstr>Symbol</vt:lpstr>
      <vt:lpstr>Times New Roman</vt:lpstr>
      <vt:lpstr>Verdana</vt:lpstr>
      <vt:lpstr>Wingdings</vt:lpstr>
      <vt:lpstr>Profile</vt:lpstr>
      <vt:lpstr>Equation.3</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AIMIN FANG</cp:lastModifiedBy>
  <cp:revision>173</cp:revision>
  <dcterms:created xsi:type="dcterms:W3CDTF">2011-07-27T09:01:44Z</dcterms:created>
  <dcterms:modified xsi:type="dcterms:W3CDTF">2025-09-14T10:38:33Z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