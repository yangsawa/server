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8"/>
  </p:notesMasterIdLst>
  <p:handoutMasterIdLst>
    <p:handoutMasterId r:id="rId49"/>
  </p:handoutMasterIdLst>
  <p:sldIdLst>
    <p:sldId id="482" r:id="rId3"/>
    <p:sldId id="696" r:id="rId4"/>
    <p:sldId id="564" r:id="rId5"/>
    <p:sldId id="567" r:id="rId6"/>
    <p:sldId id="570" r:id="rId7"/>
    <p:sldId id="572" r:id="rId8"/>
    <p:sldId id="573" r:id="rId9"/>
    <p:sldId id="574" r:id="rId10"/>
    <p:sldId id="698" r:id="rId11"/>
    <p:sldId id="699" r:id="rId12"/>
    <p:sldId id="575" r:id="rId13"/>
    <p:sldId id="576" r:id="rId14"/>
    <p:sldId id="700" r:id="rId15"/>
    <p:sldId id="701" r:id="rId16"/>
    <p:sldId id="577" r:id="rId17"/>
    <p:sldId id="578" r:id="rId18"/>
    <p:sldId id="579" r:id="rId19"/>
    <p:sldId id="580" r:id="rId20"/>
    <p:sldId id="600" r:id="rId21"/>
    <p:sldId id="581" r:id="rId22"/>
    <p:sldId id="395" r:id="rId23"/>
    <p:sldId id="424" r:id="rId24"/>
    <p:sldId id="426" r:id="rId25"/>
    <p:sldId id="396" r:id="rId26"/>
    <p:sldId id="425" r:id="rId27"/>
    <p:sldId id="427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582" r:id="rId38"/>
    <p:sldId id="583" r:id="rId39"/>
    <p:sldId id="584" r:id="rId40"/>
    <p:sldId id="585" r:id="rId41"/>
    <p:sldId id="586" r:id="rId42"/>
    <p:sldId id="587" r:id="rId43"/>
    <p:sldId id="588" r:id="rId44"/>
    <p:sldId id="602" r:id="rId45"/>
    <p:sldId id="603" r:id="rId46"/>
    <p:sldId id="589" r:id="rId4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93866"/>
  </p:normalViewPr>
  <p:slideViewPr>
    <p:cSldViewPr showGuides="1">
      <p:cViewPr varScale="1">
        <p:scale>
          <a:sx n="73" d="100"/>
          <a:sy n="73" d="100"/>
        </p:scale>
        <p:origin x="1296" y="78"/>
      </p:cViewPr>
      <p:guideLst>
        <p:guide orient="horz" pos="2162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A99AE4-74C8-47F4-9F62-F9B05530D8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061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406169-7F15-4B6C-84B6-60B661CB37E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3695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45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18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29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806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32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37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46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D34B46-FC29-4FFC-9C6E-DFE2C60A83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D34B46-FC29-4FFC-9C6E-DFE2C60A83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2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C1E68A-A795-4598-8CCA-A3B211B660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11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image" Target="../media/image13.wmf"/><Relationship Id="rId10" Type="http://schemas.openxmlformats.org/officeDocument/2006/relationships/image" Target="../media/image15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9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8.wmf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1.jpeg"/><Relationship Id="rId4" Type="http://schemas.openxmlformats.org/officeDocument/2006/relationships/image" Target="../media/image30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5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62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6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6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5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7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5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7170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7171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7172" name="Rectangle 8"/>
          <p:cNvSpPr/>
          <p:nvPr/>
        </p:nvSpPr>
        <p:spPr>
          <a:xfrm>
            <a:off x="1403350" y="3643313"/>
            <a:ext cx="5545138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7173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174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7175" name="Rectangle 9"/>
          <p:cNvSpPr/>
          <p:nvPr/>
        </p:nvSpPr>
        <p:spPr>
          <a:xfrm>
            <a:off x="1403350" y="4899025"/>
            <a:ext cx="6553200" cy="6127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7176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3525" y="252413"/>
            <a:ext cx="3805238" cy="2030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1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Nyquist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稳定性判据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无积分环节时：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有积分环节时：</a:t>
            </a:r>
          </a:p>
        </p:txBody>
      </p:sp>
      <p:sp>
        <p:nvSpPr>
          <p:cNvPr id="8" name="矩形 7"/>
          <p:cNvSpPr/>
          <p:nvPr/>
        </p:nvSpPr>
        <p:spPr>
          <a:xfrm>
            <a:off x="223838" y="2416175"/>
            <a:ext cx="8462962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2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什么是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相位裕量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？其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物理含义是什么？其与稳定性的关系如何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9" name="矩形 8"/>
          <p:cNvSpPr/>
          <p:nvPr/>
        </p:nvSpPr>
        <p:spPr>
          <a:xfrm>
            <a:off x="214313" y="3546475"/>
            <a:ext cx="8462962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3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什么是增益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裕量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？其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物理含义是什么</a:t>
            </a:r>
            <a:r>
              <a:rPr lang="zh-CN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？</a:t>
            </a:r>
            <a:r>
              <a:rPr lang="zh-CN" altLang="en-US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通常情况下</a:t>
            </a:r>
            <a:r>
              <a:rPr lang="zh-CN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其</a:t>
            </a:r>
            <a:r>
              <a:rPr lang="zh-CN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与稳定性的关系如何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（最小相位系统）？</a:t>
            </a:r>
          </a:p>
        </p:txBody>
      </p:sp>
      <p:sp>
        <p:nvSpPr>
          <p:cNvPr id="10" name="矩形 9"/>
          <p:cNvSpPr/>
          <p:nvPr/>
        </p:nvSpPr>
        <p:spPr>
          <a:xfrm>
            <a:off x="211138" y="4675188"/>
            <a:ext cx="84629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4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图上如何找相位裕量？</a:t>
            </a:r>
          </a:p>
        </p:txBody>
      </p:sp>
      <p:sp>
        <p:nvSpPr>
          <p:cNvPr id="11" name="矩形 10"/>
          <p:cNvSpPr/>
          <p:nvPr/>
        </p:nvSpPr>
        <p:spPr>
          <a:xfrm>
            <a:off x="211138" y="5394325"/>
            <a:ext cx="84629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ClrTx/>
              <a:buFontTx/>
            </a:pPr>
            <a:r>
              <a:rPr lang="en-US" altLang="zh-CN" sz="2800" dirty="0">
                <a:latin typeface="Calibri" panose="020F0502020204030204" pitchFamily="34" charset="0"/>
              </a:rPr>
              <a:t>5</a:t>
            </a:r>
            <a:r>
              <a:rPr lang="en-US" altLang="zh-CN" sz="2800" dirty="0" smtClean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800" dirty="0">
                <a:latin typeface="Calibri" panose="020F0502020204030204" pitchFamily="34" charset="0"/>
                <a:ea typeface="宋体" panose="02010600030101010101" pitchFamily="2" charset="-122"/>
              </a:rPr>
              <a:t>图上如何找增益裕量？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1835785" y="5517515"/>
            <a:ext cx="16471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相位裕量</a:t>
            </a:r>
          </a:p>
        </p:txBody>
      </p:sp>
      <p:sp>
        <p:nvSpPr>
          <p:cNvPr id="38922" name="Rectangle 8"/>
          <p:cNvSpPr/>
          <p:nvPr/>
        </p:nvSpPr>
        <p:spPr>
          <a:xfrm>
            <a:off x="611188" y="188913"/>
            <a:ext cx="53340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35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稳定性裕量</a:t>
            </a:r>
          </a:p>
        </p:txBody>
      </p:sp>
      <p:grpSp>
        <p:nvGrpSpPr>
          <p:cNvPr id="3" name="Group 34"/>
          <p:cNvGrpSpPr/>
          <p:nvPr/>
        </p:nvGrpSpPr>
        <p:grpSpPr>
          <a:xfrm>
            <a:off x="960755" y="2021523"/>
            <a:ext cx="3429000" cy="2806700"/>
            <a:chOff x="3264" y="951"/>
            <a:chExt cx="2160" cy="1768"/>
          </a:xfrm>
        </p:grpSpPr>
        <p:sp>
          <p:nvSpPr>
            <p:cNvPr id="40972" name="AutoShape 10"/>
            <p:cNvSpPr/>
            <p:nvPr/>
          </p:nvSpPr>
          <p:spPr>
            <a:xfrm>
              <a:off x="3744" y="1248"/>
              <a:ext cx="1180" cy="1134"/>
            </a:xfrm>
            <a:prstGeom prst="flowChartConnector">
              <a:avLst/>
            </a:prstGeom>
            <a:solidFill>
              <a:schemeClr val="accent1"/>
            </a:solidFill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3" name="Line 11"/>
            <p:cNvSpPr/>
            <p:nvPr/>
          </p:nvSpPr>
          <p:spPr>
            <a:xfrm>
              <a:off x="3391" y="1813"/>
              <a:ext cx="1769" cy="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0974" name="Line 12"/>
            <p:cNvSpPr/>
            <p:nvPr/>
          </p:nvSpPr>
          <p:spPr>
            <a:xfrm flipV="1">
              <a:off x="4298" y="951"/>
              <a:ext cx="0" cy="1588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0975" name="Freeform 13"/>
            <p:cNvSpPr/>
            <p:nvPr/>
          </p:nvSpPr>
          <p:spPr>
            <a:xfrm>
              <a:off x="3572" y="1632"/>
              <a:ext cx="726" cy="952"/>
            </a:xfrm>
            <a:custGeom>
              <a:avLst/>
              <a:gdLst/>
              <a:ahLst/>
              <a:cxnLst>
                <a:cxn ang="0">
                  <a:pos x="726" y="181"/>
                </a:cxn>
                <a:cxn ang="0">
                  <a:pos x="454" y="45"/>
                </a:cxn>
                <a:cxn ang="0">
                  <a:pos x="136" y="453"/>
                </a:cxn>
                <a:cxn ang="0">
                  <a:pos x="0" y="952"/>
                </a:cxn>
              </a:cxnLst>
              <a:rect l="0" t="0" r="0" b="0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0976" name="Object 14"/>
            <p:cNvGraphicFramePr>
              <a:graphicFrameLocks noChangeAspect="1"/>
            </p:cNvGraphicFramePr>
            <p:nvPr/>
          </p:nvGraphicFramePr>
          <p:xfrm>
            <a:off x="5232" y="1776"/>
            <a:ext cx="192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r:id="rId4" imgW="215900" imgH="177800" progId="Equation.3">
                    <p:embed/>
                  </p:oleObj>
                </mc:Choice>
                <mc:Fallback>
                  <p:oleObj r:id="rId4" imgW="215900" imgH="1778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32" y="1776"/>
                          <a:ext cx="192" cy="1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7" name="Object 15"/>
            <p:cNvGraphicFramePr>
              <a:graphicFrameLocks noChangeAspect="1"/>
            </p:cNvGraphicFramePr>
            <p:nvPr/>
          </p:nvGraphicFramePr>
          <p:xfrm>
            <a:off x="4368" y="1008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r:id="rId6" imgW="215900" imgH="165100" progId="Equation.3">
                    <p:embed/>
                  </p:oleObj>
                </mc:Choice>
                <mc:Fallback>
                  <p:oleObj r:id="rId6" imgW="215900" imgH="1651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368" y="1008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8" name="Line 16"/>
            <p:cNvSpPr/>
            <p:nvPr/>
          </p:nvSpPr>
          <p:spPr>
            <a:xfrm flipV="1">
              <a:off x="3754" y="1813"/>
              <a:ext cx="544" cy="181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0979" name="Arc 17"/>
            <p:cNvSpPr/>
            <p:nvPr/>
          </p:nvSpPr>
          <p:spPr>
            <a:xfrm rot="6765167">
              <a:off x="3939" y="1256"/>
              <a:ext cx="633" cy="75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152" h="18968" fill="none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</a:path>
                <a:path w="20152" h="18968" stroke="0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  <a:lnTo>
                    <a:pt x="0" y="18968"/>
                  </a:lnTo>
                  <a:lnTo>
                    <a:pt x="10333" y="-1"/>
                  </a:lnTo>
                  <a:close/>
                </a:path>
              </a:pathLst>
            </a:custGeom>
            <a:noFill/>
            <a:ln w="25400" cap="flat" cmpd="sng">
              <a:solidFill>
                <a:srgbClr val="003366"/>
              </a:solidFill>
              <a:prstDash val="solid"/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0980" name="Object 18"/>
            <p:cNvGraphicFramePr>
              <a:graphicFrameLocks noChangeAspect="1"/>
            </p:cNvGraphicFramePr>
            <p:nvPr/>
          </p:nvGraphicFramePr>
          <p:xfrm>
            <a:off x="4320" y="1895"/>
            <a:ext cx="3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r:id="rId8" imgW="406400" imgH="228600" progId="Equation.3">
                    <p:embed/>
                  </p:oleObj>
                </mc:Choice>
                <mc:Fallback>
                  <p:oleObj r:id="rId8" imgW="406400" imgH="2286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20" y="1895"/>
                          <a:ext cx="336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1" name="Object 19"/>
            <p:cNvGraphicFramePr>
              <a:graphicFrameLocks noChangeAspect="1"/>
            </p:cNvGraphicFramePr>
            <p:nvPr/>
          </p:nvGraphicFramePr>
          <p:xfrm>
            <a:off x="3844" y="1813"/>
            <a:ext cx="17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r:id="rId10" imgW="127000" imgH="165100" progId="Equation.3">
                    <p:embed/>
                  </p:oleObj>
                </mc:Choice>
                <mc:Fallback>
                  <p:oleObj r:id="rId10" imgW="127000" imgH="1651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844" y="1813"/>
                          <a:ext cx="173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2" name="Rectangle 20"/>
            <p:cNvSpPr/>
            <p:nvPr/>
          </p:nvSpPr>
          <p:spPr>
            <a:xfrm>
              <a:off x="3552" y="1632"/>
              <a:ext cx="230" cy="21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GB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-1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3" name="Line 21"/>
            <p:cNvSpPr/>
            <p:nvPr/>
          </p:nvSpPr>
          <p:spPr>
            <a:xfrm flipV="1">
              <a:off x="4298" y="1405"/>
              <a:ext cx="454" cy="408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0984" name="Rectangle 22"/>
            <p:cNvSpPr/>
            <p:nvPr/>
          </p:nvSpPr>
          <p:spPr>
            <a:xfrm>
              <a:off x="4615" y="1450"/>
              <a:ext cx="22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GB" altLang="zh-CN" sz="24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0985" name="Object 23"/>
            <p:cNvGraphicFramePr>
              <a:graphicFrameLocks noChangeAspect="1"/>
            </p:cNvGraphicFramePr>
            <p:nvPr/>
          </p:nvGraphicFramePr>
          <p:xfrm>
            <a:off x="3648" y="2544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r:id="rId12" imgW="888365" imgH="203200" progId="Equation.3">
                    <p:embed/>
                  </p:oleObj>
                </mc:Choice>
                <mc:Fallback>
                  <p:oleObj r:id="rId12" imgW="888365" imgH="2032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648" y="2544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6" name="Line 24"/>
            <p:cNvSpPr/>
            <p:nvPr/>
          </p:nvSpPr>
          <p:spPr>
            <a:xfrm flipH="1" flipV="1">
              <a:off x="3618" y="2403"/>
              <a:ext cx="90" cy="136"/>
            </a:xfrm>
            <a:prstGeom prst="line">
              <a:avLst/>
            </a:prstGeom>
            <a:ln w="25400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40987" name="Object 25"/>
            <p:cNvGraphicFramePr>
              <a:graphicFrameLocks noChangeAspect="1"/>
            </p:cNvGraphicFramePr>
            <p:nvPr/>
          </p:nvGraphicFramePr>
          <p:xfrm>
            <a:off x="3744" y="2016"/>
            <a:ext cx="21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r:id="rId14" imgW="203200" imgH="228600" progId="Equation.3">
                    <p:embed/>
                  </p:oleObj>
                </mc:Choice>
                <mc:Fallback>
                  <p:oleObj r:id="rId14" imgW="2032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744" y="2016"/>
                          <a:ext cx="21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8" name="Freeform 26"/>
            <p:cNvSpPr/>
            <p:nvPr/>
          </p:nvSpPr>
          <p:spPr>
            <a:xfrm>
              <a:off x="3552" y="1586"/>
              <a:ext cx="720" cy="1054"/>
            </a:xfrm>
            <a:custGeom>
              <a:avLst/>
              <a:gdLst/>
              <a:ahLst/>
              <a:cxnLst>
                <a:cxn ang="0">
                  <a:pos x="0" y="1054"/>
                </a:cxn>
                <a:cxn ang="0">
                  <a:pos x="46" y="628"/>
                </a:cxn>
                <a:cxn ang="0">
                  <a:pos x="192" y="190"/>
                </a:cxn>
                <a:cxn ang="0">
                  <a:pos x="480" y="0"/>
                </a:cxn>
                <a:cxn ang="0">
                  <a:pos x="720" y="190"/>
                </a:cxn>
              </a:cxnLst>
              <a:rect l="0" t="0" r="0" b="0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Freeform 29"/>
            <p:cNvSpPr/>
            <p:nvPr/>
          </p:nvSpPr>
          <p:spPr>
            <a:xfrm>
              <a:off x="3264" y="1456"/>
              <a:ext cx="1008" cy="1136"/>
            </a:xfrm>
            <a:custGeom>
              <a:avLst/>
              <a:gdLst/>
              <a:ahLst/>
              <a:cxnLst>
                <a:cxn ang="0">
                  <a:pos x="0" y="1136"/>
                </a:cxn>
                <a:cxn ang="0">
                  <a:pos x="192" y="512"/>
                </a:cxn>
                <a:cxn ang="0">
                  <a:pos x="432" y="128"/>
                </a:cxn>
                <a:cxn ang="0">
                  <a:pos x="720" y="32"/>
                </a:cxn>
                <a:cxn ang="0">
                  <a:pos x="1008" y="320"/>
                </a:cxn>
              </a:cxnLst>
              <a:rect l="0" t="0" r="0" b="0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166485" y="5445125"/>
            <a:ext cx="15621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rtlCol="0" anchor="t" anchorCtr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幅值裕量</a:t>
            </a:r>
          </a:p>
        </p:txBody>
      </p:sp>
      <p:grpSp>
        <p:nvGrpSpPr>
          <p:cNvPr id="5" name="Group 44"/>
          <p:cNvGrpSpPr/>
          <p:nvPr/>
        </p:nvGrpSpPr>
        <p:grpSpPr>
          <a:xfrm>
            <a:off x="4716145" y="1692910"/>
            <a:ext cx="3767138" cy="3135313"/>
            <a:chOff x="3198" y="192"/>
            <a:chExt cx="2373" cy="1975"/>
          </a:xfrm>
        </p:grpSpPr>
        <p:sp>
          <p:nvSpPr>
            <p:cNvPr id="47119" name="AutoShape 13"/>
            <p:cNvSpPr/>
            <p:nvPr/>
          </p:nvSpPr>
          <p:spPr>
            <a:xfrm>
              <a:off x="3936" y="432"/>
              <a:ext cx="1180" cy="1134"/>
            </a:xfrm>
            <a:prstGeom prst="flowChartConnector">
              <a:avLst/>
            </a:prstGeom>
            <a:solidFill>
              <a:srgbClr val="CCFFFF"/>
            </a:solidFill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20" name="Line 14"/>
            <p:cNvSpPr/>
            <p:nvPr/>
          </p:nvSpPr>
          <p:spPr>
            <a:xfrm>
              <a:off x="3583" y="997"/>
              <a:ext cx="1769" cy="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21" name="Line 15"/>
            <p:cNvSpPr/>
            <p:nvPr/>
          </p:nvSpPr>
          <p:spPr>
            <a:xfrm flipV="1">
              <a:off x="4512" y="240"/>
              <a:ext cx="0" cy="1588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22" name="Freeform 16"/>
            <p:cNvSpPr/>
            <p:nvPr/>
          </p:nvSpPr>
          <p:spPr>
            <a:xfrm>
              <a:off x="3764" y="816"/>
              <a:ext cx="726" cy="952"/>
            </a:xfrm>
            <a:custGeom>
              <a:avLst/>
              <a:gdLst/>
              <a:ahLst/>
              <a:cxnLst>
                <a:cxn ang="0">
                  <a:pos x="726" y="181"/>
                </a:cxn>
                <a:cxn ang="0">
                  <a:pos x="454" y="45"/>
                </a:cxn>
                <a:cxn ang="0">
                  <a:pos x="136" y="453"/>
                </a:cxn>
                <a:cxn ang="0">
                  <a:pos x="0" y="952"/>
                </a:cxn>
              </a:cxnLst>
              <a:rect l="0" t="0" r="0" b="0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3" name="Line 17"/>
            <p:cNvSpPr/>
            <p:nvPr/>
          </p:nvSpPr>
          <p:spPr>
            <a:xfrm flipV="1">
              <a:off x="4082" y="589"/>
              <a:ext cx="0" cy="408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lg" len="lg"/>
            </a:ln>
          </p:spPr>
        </p:sp>
        <p:graphicFrame>
          <p:nvGraphicFramePr>
            <p:cNvPr id="47124" name="Object 18"/>
            <p:cNvGraphicFramePr>
              <a:graphicFrameLocks noChangeAspect="1"/>
            </p:cNvGraphicFramePr>
            <p:nvPr/>
          </p:nvGraphicFramePr>
          <p:xfrm>
            <a:off x="5375" y="981"/>
            <a:ext cx="19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r:id="rId16" imgW="215900" imgH="177800" progId="Equation.3">
                    <p:embed/>
                  </p:oleObj>
                </mc:Choice>
                <mc:Fallback>
                  <p:oleObj r:id="rId16" imgW="215900" imgH="1778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375" y="981"/>
                          <a:ext cx="196" cy="1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5" name="Object 19"/>
            <p:cNvGraphicFramePr>
              <a:graphicFrameLocks noChangeAspect="1"/>
            </p:cNvGraphicFramePr>
            <p:nvPr/>
          </p:nvGraphicFramePr>
          <p:xfrm>
            <a:off x="4560" y="192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r:id="rId17" imgW="215900" imgH="165100" progId="Equation.3">
                    <p:embed/>
                  </p:oleObj>
                </mc:Choice>
                <mc:Fallback>
                  <p:oleObj r:id="rId17" imgW="215900" imgH="1651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560" y="192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6" name="Line 20"/>
            <p:cNvSpPr/>
            <p:nvPr/>
          </p:nvSpPr>
          <p:spPr>
            <a:xfrm>
              <a:off x="3991" y="679"/>
              <a:ext cx="91" cy="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27" name="Line 21"/>
            <p:cNvSpPr/>
            <p:nvPr/>
          </p:nvSpPr>
          <p:spPr>
            <a:xfrm flipH="1">
              <a:off x="4490" y="679"/>
              <a:ext cx="227" cy="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47128" name="Object 22"/>
            <p:cNvGraphicFramePr>
              <a:graphicFrameLocks noChangeAspect="1"/>
            </p:cNvGraphicFramePr>
            <p:nvPr/>
          </p:nvGraphicFramePr>
          <p:xfrm>
            <a:off x="4160" y="381"/>
            <a:ext cx="273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r:id="rId18" imgW="266700" imgH="443865" progId="Equation.3">
                    <p:embed/>
                  </p:oleObj>
                </mc:Choice>
                <mc:Fallback>
                  <p:oleObj r:id="rId18" imgW="266700" imgH="44386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160" y="381"/>
                          <a:ext cx="273" cy="4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9" name="Rectangle 23"/>
            <p:cNvSpPr/>
            <p:nvPr/>
          </p:nvSpPr>
          <p:spPr>
            <a:xfrm>
              <a:off x="3744" y="816"/>
              <a:ext cx="230" cy="21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GB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-1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0" name="Line 24"/>
            <p:cNvSpPr/>
            <p:nvPr/>
          </p:nvSpPr>
          <p:spPr>
            <a:xfrm flipV="1">
              <a:off x="4490" y="589"/>
              <a:ext cx="454" cy="408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31" name="Rectangle 25"/>
            <p:cNvSpPr/>
            <p:nvPr/>
          </p:nvSpPr>
          <p:spPr>
            <a:xfrm>
              <a:off x="4807" y="634"/>
              <a:ext cx="22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GB" altLang="zh-CN" sz="24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7132" name="Object 26"/>
            <p:cNvGraphicFramePr>
              <a:graphicFrameLocks noChangeAspect="1"/>
            </p:cNvGraphicFramePr>
            <p:nvPr/>
          </p:nvGraphicFramePr>
          <p:xfrm>
            <a:off x="3840" y="1728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r:id="rId20" imgW="888365" imgH="203200" progId="Equation.3">
                    <p:embed/>
                  </p:oleObj>
                </mc:Choice>
                <mc:Fallback>
                  <p:oleObj r:id="rId20" imgW="888365" imgH="2032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840" y="1728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3" name="Line 27"/>
            <p:cNvSpPr/>
            <p:nvPr/>
          </p:nvSpPr>
          <p:spPr>
            <a:xfrm flipH="1" flipV="1">
              <a:off x="3810" y="1587"/>
              <a:ext cx="90" cy="136"/>
            </a:xfrm>
            <a:prstGeom prst="line">
              <a:avLst/>
            </a:prstGeom>
            <a:ln w="25400" cap="flat" cmpd="sng">
              <a:solidFill>
                <a:srgbClr val="003366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34" name="Freeform 28"/>
            <p:cNvSpPr/>
            <p:nvPr/>
          </p:nvSpPr>
          <p:spPr>
            <a:xfrm>
              <a:off x="3744" y="770"/>
              <a:ext cx="720" cy="1054"/>
            </a:xfrm>
            <a:custGeom>
              <a:avLst/>
              <a:gdLst/>
              <a:ahLst/>
              <a:cxnLst>
                <a:cxn ang="0">
                  <a:pos x="0" y="1054"/>
                </a:cxn>
                <a:cxn ang="0">
                  <a:pos x="46" y="628"/>
                </a:cxn>
                <a:cxn ang="0">
                  <a:pos x="192" y="190"/>
                </a:cxn>
                <a:cxn ang="0">
                  <a:pos x="480" y="0"/>
                </a:cxn>
                <a:cxn ang="0">
                  <a:pos x="720" y="190"/>
                </a:cxn>
              </a:cxnLst>
              <a:rect l="0" t="0" r="0" b="0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5" name="Line 29"/>
            <p:cNvSpPr/>
            <p:nvPr/>
          </p:nvSpPr>
          <p:spPr>
            <a:xfrm flipH="1">
              <a:off x="3552" y="1440"/>
              <a:ext cx="240" cy="43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6" name="Text Box 30"/>
            <p:cNvSpPr txBox="1"/>
            <p:nvPr/>
          </p:nvSpPr>
          <p:spPr>
            <a:xfrm>
              <a:off x="3312" y="1841"/>
              <a:ext cx="452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临界稳</a:t>
              </a:r>
            </a:p>
            <a:p>
              <a:r>
                <a:rPr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定系统</a:t>
              </a:r>
            </a:p>
          </p:txBody>
        </p:sp>
        <p:sp>
          <p:nvSpPr>
            <p:cNvPr id="47137" name="Freeform 31"/>
            <p:cNvSpPr/>
            <p:nvPr/>
          </p:nvSpPr>
          <p:spPr>
            <a:xfrm>
              <a:off x="3456" y="640"/>
              <a:ext cx="1008" cy="1136"/>
            </a:xfrm>
            <a:custGeom>
              <a:avLst/>
              <a:gdLst/>
              <a:ahLst/>
              <a:cxnLst>
                <a:cxn ang="0">
                  <a:pos x="0" y="1136"/>
                </a:cxn>
                <a:cxn ang="0">
                  <a:pos x="192" y="512"/>
                </a:cxn>
                <a:cxn ang="0">
                  <a:pos x="432" y="128"/>
                </a:cxn>
                <a:cxn ang="0">
                  <a:pos x="720" y="32"/>
                </a:cxn>
                <a:cxn ang="0">
                  <a:pos x="1008" y="320"/>
                </a:cxn>
              </a:cxnLst>
              <a:rect l="0" t="0" r="0" b="0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8" name="Line 32"/>
            <p:cNvSpPr/>
            <p:nvPr/>
          </p:nvSpPr>
          <p:spPr>
            <a:xfrm flipH="1" flipV="1">
              <a:off x="3424" y="1026"/>
              <a:ext cx="192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9" name="Text Box 33"/>
            <p:cNvSpPr txBox="1"/>
            <p:nvPr/>
          </p:nvSpPr>
          <p:spPr>
            <a:xfrm>
              <a:off x="3198" y="618"/>
              <a:ext cx="52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不稳定系统</a:t>
              </a:r>
            </a:p>
          </p:txBody>
        </p:sp>
        <p:graphicFrame>
          <p:nvGraphicFramePr>
            <p:cNvPr id="47140" name="Object 34"/>
            <p:cNvGraphicFramePr>
              <a:graphicFrameLocks noChangeAspect="1"/>
            </p:cNvGraphicFramePr>
            <p:nvPr/>
          </p:nvGraphicFramePr>
          <p:xfrm>
            <a:off x="4032" y="91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r:id="rId21" imgW="203200" imgH="241300" progId="Equation.3">
                    <p:embed/>
                  </p:oleObj>
                </mc:Choice>
                <mc:Fallback>
                  <p:oleObj r:id="rId21" imgW="203200" imgH="2413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032" y="912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88" y="1341438"/>
            <a:ext cx="4692650" cy="4437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7" name="Oval 3"/>
          <p:cNvSpPr/>
          <p:nvPr/>
        </p:nvSpPr>
        <p:spPr>
          <a:xfrm>
            <a:off x="3130550" y="2565400"/>
            <a:ext cx="73025" cy="7143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059113" y="2133600"/>
          <a:ext cx="352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r:id="rId5" imgW="165100" imgH="190500" progId="Equation.3">
                  <p:embed/>
                </p:oleObj>
              </mc:Choice>
              <mc:Fallback>
                <p:oleObj r:id="rId5" imgW="165100" imgH="1905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113" y="2133600"/>
                        <a:ext cx="352425" cy="4064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Line 5"/>
          <p:cNvSpPr/>
          <p:nvPr/>
        </p:nvSpPr>
        <p:spPr>
          <a:xfrm>
            <a:off x="3130550" y="2638425"/>
            <a:ext cx="0" cy="19446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0" name="Line 6"/>
          <p:cNvSpPr/>
          <p:nvPr/>
        </p:nvSpPr>
        <p:spPr>
          <a:xfrm>
            <a:off x="3130550" y="4583113"/>
            <a:ext cx="4318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1" name="Line 7"/>
          <p:cNvSpPr/>
          <p:nvPr/>
        </p:nvSpPr>
        <p:spPr>
          <a:xfrm>
            <a:off x="3346450" y="4149725"/>
            <a:ext cx="0" cy="4333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</p:spPr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419475" y="4149725"/>
          <a:ext cx="231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r:id="rId7" imgW="114300" imgH="177800" progId="Equation.3">
                  <p:embed/>
                </p:oleObj>
              </mc:Choice>
              <mc:Fallback>
                <p:oleObj r:id="rId7" imgW="114300" imgH="177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475" y="4149725"/>
                        <a:ext cx="231775" cy="3603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Line 9"/>
          <p:cNvSpPr/>
          <p:nvPr/>
        </p:nvSpPr>
        <p:spPr>
          <a:xfrm flipH="1">
            <a:off x="2698750" y="4583113"/>
            <a:ext cx="50482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4" name="Line 10"/>
          <p:cNvSpPr/>
          <p:nvPr/>
        </p:nvSpPr>
        <p:spPr>
          <a:xfrm>
            <a:off x="2843213" y="4583113"/>
            <a:ext cx="0" cy="287337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6395" name="Text Box 11"/>
          <p:cNvSpPr txBox="1"/>
          <p:nvPr/>
        </p:nvSpPr>
        <p:spPr>
          <a:xfrm>
            <a:off x="2195513" y="4532313"/>
            <a:ext cx="431800" cy="366712"/>
          </a:xfrm>
          <a:prstGeom prst="rect">
            <a:avLst/>
          </a:prstGeom>
          <a:solidFill>
            <a:srgbClr val="66FF33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16396" name="Line 12"/>
          <p:cNvSpPr/>
          <p:nvPr/>
        </p:nvSpPr>
        <p:spPr>
          <a:xfrm>
            <a:off x="2627313" y="4870450"/>
            <a:ext cx="576262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7" name="Text Box 13"/>
          <p:cNvSpPr txBox="1"/>
          <p:nvPr/>
        </p:nvSpPr>
        <p:spPr>
          <a:xfrm>
            <a:off x="5940425" y="2492375"/>
            <a:ext cx="2808288" cy="2465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先找到和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0dB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线相交处的幅值穿越频率 ；相位裕量为该频率处的相位与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-180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相位之差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6399" name="Text Box 15"/>
          <p:cNvSpPr txBox="1"/>
          <p:nvPr/>
        </p:nvSpPr>
        <p:spPr>
          <a:xfrm>
            <a:off x="3492500" y="1916113"/>
            <a:ext cx="156845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增益交界频率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123123" y="621030"/>
          <a:ext cx="40528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r:id="rId4" imgW="2006600" imgH="279400" progId="Equation.DSMT4">
                  <p:embed/>
                </p:oleObj>
              </mc:Choice>
              <mc:Fallback>
                <p:oleObj r:id="rId4" imgW="2006600" imgH="2794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123" y="621030"/>
                        <a:ext cx="4052887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59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50" y="1844675"/>
            <a:ext cx="4692650" cy="4437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Oval 4"/>
          <p:cNvSpPr/>
          <p:nvPr/>
        </p:nvSpPr>
        <p:spPr>
          <a:xfrm>
            <a:off x="3563938" y="5302250"/>
            <a:ext cx="71437" cy="7143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Line 5"/>
          <p:cNvSpPr/>
          <p:nvPr/>
        </p:nvSpPr>
        <p:spPr>
          <a:xfrm flipV="1">
            <a:off x="3563938" y="3070225"/>
            <a:ext cx="0" cy="2303463"/>
          </a:xfrm>
          <a:prstGeom prst="line">
            <a:avLst/>
          </a:prstGeom>
          <a:ln w="2857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9462" name="Line 6"/>
          <p:cNvSpPr/>
          <p:nvPr/>
        </p:nvSpPr>
        <p:spPr>
          <a:xfrm>
            <a:off x="3563938" y="3502025"/>
            <a:ext cx="12954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63" name="Line 7"/>
          <p:cNvSpPr/>
          <p:nvPr/>
        </p:nvSpPr>
        <p:spPr>
          <a:xfrm>
            <a:off x="4427538" y="3070225"/>
            <a:ext cx="0" cy="4318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4654550" y="3094038"/>
          <a:ext cx="6238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r:id="rId7" imgW="330200" imgH="241300" progId="Equation.DSMT4">
                  <p:embed/>
                </p:oleObj>
              </mc:Choice>
              <mc:Fallback>
                <p:oleObj r:id="rId7" imgW="330200" imgH="2413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4550" y="3094038"/>
                        <a:ext cx="623888" cy="455612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3419475" y="2636838"/>
          <a:ext cx="365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r:id="rId9" imgW="177800" imgH="203200" progId="Equation.3">
                  <p:embed/>
                </p:oleObj>
              </mc:Choice>
              <mc:Fallback>
                <p:oleObj r:id="rId9" imgW="177800" imgH="2032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9475" y="2636838"/>
                        <a:ext cx="365125" cy="4191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 Box 10"/>
          <p:cNvSpPr txBox="1"/>
          <p:nvPr/>
        </p:nvSpPr>
        <p:spPr>
          <a:xfrm>
            <a:off x="5867400" y="2636838"/>
            <a:ext cx="2520950" cy="2973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先找到相位交界频率，幅值裕量为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0DB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值与该频率处的幅频特性值之差（单位是分贝） 。 </a:t>
            </a:r>
          </a:p>
        </p:txBody>
      </p:sp>
      <p:sp>
        <p:nvSpPr>
          <p:cNvPr id="19467" name="Line 11"/>
          <p:cNvSpPr/>
          <p:nvPr/>
        </p:nvSpPr>
        <p:spPr>
          <a:xfrm flipH="1">
            <a:off x="3635375" y="2349500"/>
            <a:ext cx="144463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9468" name="Text Box 12"/>
          <p:cNvSpPr txBox="1"/>
          <p:nvPr/>
        </p:nvSpPr>
        <p:spPr>
          <a:xfrm>
            <a:off x="3635375" y="1901825"/>
            <a:ext cx="17176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相位穿越频率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/>
          <p:nvPr/>
        </p:nvSpPr>
        <p:spPr>
          <a:xfrm>
            <a:off x="1311275" y="711200"/>
            <a:ext cx="3805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这两系统的相应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图为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pic>
        <p:nvPicPr>
          <p:cNvPr id="2150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175" y="1341438"/>
            <a:ext cx="4692650" cy="4437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8" y="2205038"/>
            <a:ext cx="3662362" cy="3494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Text Box 5"/>
          <p:cNvSpPr txBox="1"/>
          <p:nvPr/>
        </p:nvSpPr>
        <p:spPr>
          <a:xfrm>
            <a:off x="3132138" y="6021388"/>
            <a:ext cx="29527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系统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1----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稳定的系统</a:t>
            </a:r>
          </a:p>
        </p:txBody>
      </p:sp>
      <p:sp>
        <p:nvSpPr>
          <p:cNvPr id="21510" name="Freeform 6"/>
          <p:cNvSpPr/>
          <p:nvPr/>
        </p:nvSpPr>
        <p:spPr>
          <a:xfrm>
            <a:off x="7135813" y="2576513"/>
            <a:ext cx="12700" cy="2300287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0" t="0" r="0" b="0"/>
            <a:pathLst>
              <a:path w="8" h="1449">
                <a:moveTo>
                  <a:pt x="0" y="1449"/>
                </a:moveTo>
                <a:lnTo>
                  <a:pt x="8" y="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/>
          <p:cNvSpPr/>
          <p:nvPr/>
        </p:nvSpPr>
        <p:spPr>
          <a:xfrm>
            <a:off x="7164388" y="3068638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12" name="Line 8"/>
          <p:cNvSpPr/>
          <p:nvPr/>
        </p:nvSpPr>
        <p:spPr>
          <a:xfrm>
            <a:off x="7740650" y="2565400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7799388" y="2584450"/>
          <a:ext cx="1177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r:id="rId6" imgW="571500" imgH="241300" progId="Equation.DSMT4">
                  <p:embed/>
                </p:oleObj>
              </mc:Choice>
              <mc:Fallback>
                <p:oleObj r:id="rId6" imgW="571500" imgH="2413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99388" y="2584450"/>
                        <a:ext cx="1177925" cy="496888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Line 10"/>
          <p:cNvSpPr/>
          <p:nvPr/>
        </p:nvSpPr>
        <p:spPr>
          <a:xfrm>
            <a:off x="6372225" y="2565400"/>
            <a:ext cx="0" cy="2016125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15" name="Line 11"/>
          <p:cNvSpPr/>
          <p:nvPr/>
        </p:nvSpPr>
        <p:spPr>
          <a:xfrm flipH="1">
            <a:off x="5867400" y="4581525"/>
            <a:ext cx="504825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16" name="Line 12"/>
          <p:cNvSpPr/>
          <p:nvPr/>
        </p:nvSpPr>
        <p:spPr>
          <a:xfrm>
            <a:off x="6084888" y="4581525"/>
            <a:ext cx="0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5027613" y="4468813"/>
          <a:ext cx="842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r:id="rId8" imgW="393700" imgH="228600" progId="Equation.DSMT4">
                  <p:embed/>
                </p:oleObj>
              </mc:Choice>
              <mc:Fallback>
                <p:oleObj r:id="rId8" imgW="393700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27613" y="4468813"/>
                        <a:ext cx="842962" cy="4889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14"/>
          <p:cNvSpPr txBox="1"/>
          <p:nvPr/>
        </p:nvSpPr>
        <p:spPr>
          <a:xfrm>
            <a:off x="3924300" y="2349500"/>
            <a:ext cx="73501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dB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8" y="1557338"/>
            <a:ext cx="4319587" cy="3205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1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538" y="549275"/>
            <a:ext cx="3811587" cy="469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 Box 4"/>
          <p:cNvSpPr txBox="1"/>
          <p:nvPr/>
        </p:nvSpPr>
        <p:spPr>
          <a:xfrm>
            <a:off x="971550" y="5157788"/>
            <a:ext cx="220186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Nyquist Diagram</a:t>
            </a:r>
          </a:p>
        </p:txBody>
      </p:sp>
      <p:sp>
        <p:nvSpPr>
          <p:cNvPr id="22533" name="Text Box 5"/>
          <p:cNvSpPr txBox="1"/>
          <p:nvPr/>
        </p:nvSpPr>
        <p:spPr>
          <a:xfrm>
            <a:off x="5651500" y="5229225"/>
            <a:ext cx="190658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Bode Diagram</a:t>
            </a:r>
          </a:p>
        </p:txBody>
      </p:sp>
      <p:sp>
        <p:nvSpPr>
          <p:cNvPr id="22534" name="Text Box 6"/>
          <p:cNvSpPr txBox="1"/>
          <p:nvPr/>
        </p:nvSpPr>
        <p:spPr>
          <a:xfrm>
            <a:off x="2484438" y="5805488"/>
            <a:ext cx="3743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系统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2------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不稳定的系统</a:t>
            </a:r>
          </a:p>
        </p:txBody>
      </p:sp>
      <p:sp>
        <p:nvSpPr>
          <p:cNvPr id="22535" name="Line 7"/>
          <p:cNvSpPr/>
          <p:nvPr/>
        </p:nvSpPr>
        <p:spPr>
          <a:xfrm flipV="1">
            <a:off x="6443663" y="1844675"/>
            <a:ext cx="0" cy="25923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6" name="Line 8"/>
          <p:cNvSpPr/>
          <p:nvPr/>
        </p:nvSpPr>
        <p:spPr>
          <a:xfrm>
            <a:off x="6443663" y="1844675"/>
            <a:ext cx="1008062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7" name="Line 9"/>
          <p:cNvSpPr/>
          <p:nvPr/>
        </p:nvSpPr>
        <p:spPr>
          <a:xfrm>
            <a:off x="7235825" y="1844675"/>
            <a:ext cx="0" cy="144463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8" name="Line 10"/>
          <p:cNvSpPr/>
          <p:nvPr/>
        </p:nvSpPr>
        <p:spPr>
          <a:xfrm flipV="1">
            <a:off x="7235825" y="1989138"/>
            <a:ext cx="0" cy="287337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39" name="Line 11"/>
          <p:cNvSpPr/>
          <p:nvPr/>
        </p:nvSpPr>
        <p:spPr>
          <a:xfrm>
            <a:off x="7235825" y="1412875"/>
            <a:ext cx="0" cy="4318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40" name="Line 12"/>
          <p:cNvSpPr/>
          <p:nvPr/>
        </p:nvSpPr>
        <p:spPr>
          <a:xfrm flipH="1">
            <a:off x="7235825" y="1773238"/>
            <a:ext cx="504825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7885113" y="1433513"/>
          <a:ext cx="917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6" imgW="558800" imgH="241300" progId="Equation.DSMT4">
                  <p:embed/>
                </p:oleObj>
              </mc:Choice>
              <mc:Fallback>
                <p:oleObj r:id="rId6" imgW="558800" imgH="2413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85113" y="1433513"/>
                        <a:ext cx="917575" cy="39687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Text Box 14"/>
          <p:cNvSpPr txBox="1"/>
          <p:nvPr/>
        </p:nvSpPr>
        <p:spPr>
          <a:xfrm>
            <a:off x="4284663" y="1773238"/>
            <a:ext cx="73501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dB</a:t>
            </a:r>
          </a:p>
        </p:txBody>
      </p:sp>
      <p:sp>
        <p:nvSpPr>
          <p:cNvPr id="22543" name="Line 15"/>
          <p:cNvSpPr/>
          <p:nvPr/>
        </p:nvSpPr>
        <p:spPr>
          <a:xfrm>
            <a:off x="6464958" y="1989138"/>
            <a:ext cx="0" cy="2592387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4" name="Line 16"/>
          <p:cNvSpPr/>
          <p:nvPr/>
        </p:nvSpPr>
        <p:spPr>
          <a:xfrm flipH="1">
            <a:off x="5558714" y="4471879"/>
            <a:ext cx="936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5" name="Line 17"/>
          <p:cNvSpPr/>
          <p:nvPr/>
        </p:nvSpPr>
        <p:spPr>
          <a:xfrm>
            <a:off x="5867400" y="4221163"/>
            <a:ext cx="0" cy="21590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46" name="Line 18"/>
          <p:cNvSpPr/>
          <p:nvPr/>
        </p:nvSpPr>
        <p:spPr>
          <a:xfrm flipV="1">
            <a:off x="5870028" y="4449516"/>
            <a:ext cx="0" cy="21590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48" name="Line 20"/>
          <p:cNvSpPr/>
          <p:nvPr/>
        </p:nvSpPr>
        <p:spPr>
          <a:xfrm flipH="1">
            <a:off x="4284661" y="4471879"/>
            <a:ext cx="1582737" cy="252521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graphicFrame>
        <p:nvGraphicFramePr>
          <p:cNvPr id="22549" name="Object 21"/>
          <p:cNvGraphicFramePr>
            <a:graphicFrameLocks noChangeAspect="1"/>
          </p:cNvGraphicFramePr>
          <p:nvPr/>
        </p:nvGraphicFramePr>
        <p:xfrm>
          <a:off x="3563938" y="4508500"/>
          <a:ext cx="6842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r:id="rId8" imgW="355600" imgH="203200" progId="Equation.DSMT4">
                  <p:embed/>
                </p:oleObj>
              </mc:Choice>
              <mc:Fallback>
                <p:oleObj r:id="rId8" imgW="355600" imgH="2032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63938" y="4508500"/>
                        <a:ext cx="684212" cy="39052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2"/>
          <p:cNvSpPr txBox="1"/>
          <p:nvPr/>
        </p:nvSpPr>
        <p:spPr>
          <a:xfrm>
            <a:off x="735013" y="981075"/>
            <a:ext cx="5632450" cy="457200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关于相位裕量和幅值裕量的几点说明：</a:t>
            </a:r>
          </a:p>
        </p:txBody>
      </p:sp>
      <p:sp>
        <p:nvSpPr>
          <p:cNvPr id="23555" name="Text Box 3"/>
          <p:cNvSpPr txBox="1"/>
          <p:nvPr/>
        </p:nvSpPr>
        <p:spPr>
          <a:xfrm>
            <a:off x="971550" y="1844675"/>
            <a:ext cx="7292975" cy="82232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）二者均表示极坐标图对临界点的靠近程度，可以用来作为设计准则来确定系统的相对稳定性。</a:t>
            </a:r>
          </a:p>
        </p:txBody>
      </p:sp>
      <p:sp>
        <p:nvSpPr>
          <p:cNvPr id="23556" name="Text Box 4"/>
          <p:cNvSpPr txBox="1"/>
          <p:nvPr/>
        </p:nvSpPr>
        <p:spPr>
          <a:xfrm>
            <a:off x="900113" y="2997200"/>
            <a:ext cx="7272337" cy="1200329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）对于最小相位系统，只有当二者均为正时，系统稳定。事实上，相位裕量大于零可作为系统稳定性的可靠判据，幅值裕量大于零时系统不一定</a:t>
            </a:r>
            <a:r>
              <a:rPr lang="zh-CN" altLang="en-US" sz="24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稳定。</a:t>
            </a:r>
            <a:endParaRPr lang="zh-CN" altLang="en-US" sz="24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Text Box 5"/>
          <p:cNvSpPr txBox="1"/>
          <p:nvPr/>
        </p:nvSpPr>
        <p:spPr>
          <a:xfrm>
            <a:off x="1042988" y="4508500"/>
            <a:ext cx="7364412" cy="140652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）对于最小相位系统，当相位裕量在</a:t>
            </a: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30°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至</a:t>
            </a: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60°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之间时，</a:t>
            </a: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Bode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图上幅频特性曲线穿越</a:t>
            </a: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0dB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线的斜率大于</a:t>
            </a:r>
            <a:r>
              <a:rPr lang="en-US" altLang="zh-CN" sz="2400" b="1" dirty="0">
                <a:latin typeface="Verdana" panose="020B0604030504040204" pitchFamily="34" charset="0"/>
                <a:ea typeface="宋体" panose="02010600030101010101" pitchFamily="2" charset="-122"/>
              </a:rPr>
              <a:t>-40dB/dec</a:t>
            </a: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，这样的系统稳定程度较高。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57E855-2B41-48CC-A5A8-4062C0FDA235}" type="datetime1">
              <a:rPr lang="zh-CN" altLang="en-US"/>
              <a:pPr>
                <a:defRPr/>
              </a:pPr>
              <a:t>2024/10/17</a:t>
            </a:fld>
            <a:endParaRPr lang="en-US" altLang="zh-CN"/>
          </a:p>
        </p:txBody>
      </p:sp>
      <p:sp>
        <p:nvSpPr>
          <p:cNvPr id="1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57279A-2DB4-47A7-A907-FB1F81C19A1E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例：</a:t>
            </a:r>
            <a:endParaRPr lang="en-US" altLang="zh-CN" dirty="0"/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553632"/>
              </p:ext>
            </p:extLst>
          </p:nvPr>
        </p:nvGraphicFramePr>
        <p:xfrm>
          <a:off x="1811337" y="379960"/>
          <a:ext cx="2882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公式" r:id="rId3" imgW="1155600" imgH="380880" progId="Equation.3">
                  <p:embed/>
                </p:oleObj>
              </mc:Choice>
              <mc:Fallback>
                <p:oleObj name="公式" r:id="rId3" imgW="11556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7" y="379960"/>
                        <a:ext cx="2882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654068" y="1759892"/>
            <a:ext cx="1984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 smtClean="0"/>
              <a:t>Bode</a:t>
            </a:r>
            <a:r>
              <a:rPr lang="zh-CN" altLang="en-US" dirty="0" smtClean="0"/>
              <a:t>图如下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pic>
        <p:nvPicPr>
          <p:cNvPr id="49227" name="Picture 7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90725"/>
            <a:ext cx="7242175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31" name="Line 79"/>
          <p:cNvSpPr>
            <a:spLocks noChangeShapeType="1"/>
          </p:cNvSpPr>
          <p:nvPr/>
        </p:nvSpPr>
        <p:spPr bwMode="auto">
          <a:xfrm>
            <a:off x="2916238" y="5589588"/>
            <a:ext cx="0" cy="3603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32" name="Text Box 80"/>
          <p:cNvSpPr txBox="1">
            <a:spLocks noChangeArrowheads="1"/>
          </p:cNvSpPr>
          <p:nvPr/>
        </p:nvSpPr>
        <p:spPr bwMode="auto">
          <a:xfrm>
            <a:off x="2987675" y="5589588"/>
            <a:ext cx="530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/>
              <a:t>45</a:t>
            </a:r>
            <a:r>
              <a:rPr lang="en-US" altLang="zh-CN" sz="1800">
                <a:sym typeface="Symbol" pitchFamily="18" charset="2"/>
              </a:rPr>
              <a:t></a:t>
            </a:r>
          </a:p>
        </p:txBody>
      </p:sp>
      <p:sp>
        <p:nvSpPr>
          <p:cNvPr id="49233" name="Text Box 81"/>
          <p:cNvSpPr txBox="1">
            <a:spLocks noChangeArrowheads="1"/>
          </p:cNvSpPr>
          <p:nvPr/>
        </p:nvSpPr>
        <p:spPr bwMode="auto">
          <a:xfrm>
            <a:off x="1908175" y="2422525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/>
              <a:t>-40</a:t>
            </a:r>
          </a:p>
        </p:txBody>
      </p:sp>
      <p:sp>
        <p:nvSpPr>
          <p:cNvPr id="49234" name="Text Box 82"/>
          <p:cNvSpPr txBox="1">
            <a:spLocks noChangeArrowheads="1"/>
          </p:cNvSpPr>
          <p:nvPr/>
        </p:nvSpPr>
        <p:spPr bwMode="auto">
          <a:xfrm>
            <a:off x="3132138" y="3500438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/>
              <a:t>-20</a:t>
            </a:r>
          </a:p>
        </p:txBody>
      </p:sp>
      <p:sp>
        <p:nvSpPr>
          <p:cNvPr id="49235" name="Text Box 83"/>
          <p:cNvSpPr txBox="1">
            <a:spLocks noChangeArrowheads="1"/>
          </p:cNvSpPr>
          <p:nvPr/>
        </p:nvSpPr>
        <p:spPr bwMode="auto">
          <a:xfrm>
            <a:off x="4932363" y="3789363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/>
              <a:t>-40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73652" y="85621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劳斯判据应用？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3397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  <p:bldP spid="49231" grpId="0" animBg="1"/>
      <p:bldP spid="49233" grpId="0"/>
      <p:bldP spid="49234" grpId="0"/>
      <p:bldP spid="4923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F2F17-5998-4514-BEF8-65E1DB456B37}" type="datetime1">
              <a:rPr lang="zh-CN" altLang="en-US"/>
              <a:pPr>
                <a:defRPr/>
              </a:pPr>
              <a:t>2024/10/17</a:t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EC821-A573-4854-B3DB-787A1F457C36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0246" name="Text Box 4"/>
          <p:cNvSpPr txBox="1">
            <a:spLocks noChangeArrowheads="1"/>
          </p:cNvSpPr>
          <p:nvPr/>
        </p:nvSpPr>
        <p:spPr bwMode="auto">
          <a:xfrm>
            <a:off x="1455738" y="5476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1311275" y="566738"/>
            <a:ext cx="21435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相应的根轨迹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pic>
        <p:nvPicPr>
          <p:cNvPr id="1024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6211888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2" name="Object 10"/>
          <p:cNvGraphicFramePr>
            <a:graphicFrameLocks noChangeAspect="1"/>
          </p:cNvGraphicFramePr>
          <p:nvPr/>
        </p:nvGraphicFramePr>
        <p:xfrm>
          <a:off x="6372225" y="549275"/>
          <a:ext cx="23780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公式" r:id="rId4" imgW="1155600" imgH="380880" progId="Equation.3">
                  <p:embed/>
                </p:oleObj>
              </mc:Choice>
              <mc:Fallback>
                <p:oleObj name="公式" r:id="rId4" imgW="11556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49275"/>
                        <a:ext cx="23780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708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2024/10/17</a:t>
            </a:fld>
            <a:endParaRPr lang="zh-CN" altLang="en-US" sz="1200" dirty="0"/>
          </a:p>
        </p:txBody>
      </p:sp>
      <p:sp>
        <p:nvSpPr>
          <p:cNvPr id="6144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Lujx</a:t>
            </a: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11</a:t>
            </a:fld>
            <a:endParaRPr lang="en-US" altLang="zh-CN" sz="1200" dirty="0"/>
          </a:p>
        </p:txBody>
      </p:sp>
      <p:sp>
        <p:nvSpPr>
          <p:cNvPr id="61444" name="Text Box 2"/>
          <p:cNvSpPr txBox="1"/>
          <p:nvPr/>
        </p:nvSpPr>
        <p:spPr>
          <a:xfrm>
            <a:off x="1908175" y="404813"/>
            <a:ext cx="5921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61445" name="Object 3"/>
          <p:cNvGraphicFramePr>
            <a:graphicFrameLocks noChangeAspect="1"/>
          </p:cNvGraphicFramePr>
          <p:nvPr/>
        </p:nvGraphicFramePr>
        <p:xfrm>
          <a:off x="3348038" y="260350"/>
          <a:ext cx="260826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r:id="rId3" imgW="1041400" imgH="368300" progId="Equation.3">
                  <p:embed/>
                </p:oleObj>
              </mc:Choice>
              <mc:Fallback>
                <p:oleObj r:id="rId3" imgW="1041400" imgH="3683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8038" y="260350"/>
                        <a:ext cx="2608262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8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0" y="1773238"/>
            <a:ext cx="6840538" cy="4183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381" name="Text Box 5"/>
          <p:cNvSpPr txBox="1"/>
          <p:nvPr/>
        </p:nvSpPr>
        <p:spPr>
          <a:xfrm>
            <a:off x="1527175" y="1000125"/>
            <a:ext cx="2051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Bode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图如下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01382" name="Line 6"/>
          <p:cNvSpPr/>
          <p:nvPr/>
        </p:nvSpPr>
        <p:spPr>
          <a:xfrm>
            <a:off x="3779838" y="3068638"/>
            <a:ext cx="0" cy="2376487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83" name="Line 7"/>
          <p:cNvSpPr/>
          <p:nvPr/>
        </p:nvSpPr>
        <p:spPr>
          <a:xfrm flipH="1">
            <a:off x="2987675" y="5445125"/>
            <a:ext cx="7921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84" name="Line 8"/>
          <p:cNvSpPr/>
          <p:nvPr/>
        </p:nvSpPr>
        <p:spPr>
          <a:xfrm>
            <a:off x="3276600" y="5300663"/>
            <a:ext cx="0" cy="144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1385" name="Line 9"/>
          <p:cNvSpPr/>
          <p:nvPr/>
        </p:nvSpPr>
        <p:spPr>
          <a:xfrm flipH="1" flipV="1">
            <a:off x="3348038" y="5373688"/>
            <a:ext cx="64770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1386" name="Text Box 10"/>
          <p:cNvSpPr txBox="1"/>
          <p:nvPr/>
        </p:nvSpPr>
        <p:spPr>
          <a:xfrm>
            <a:off x="3995738" y="5734050"/>
            <a:ext cx="2600325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&lt;0,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表明系统不稳定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1387" name="Freeform 11"/>
          <p:cNvSpPr/>
          <p:nvPr/>
        </p:nvSpPr>
        <p:spPr>
          <a:xfrm>
            <a:off x="4267200" y="3379788"/>
            <a:ext cx="900113" cy="14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0" t="0" r="0" b="0"/>
            <a:pathLst>
              <a:path w="567" h="9">
                <a:moveTo>
                  <a:pt x="0" y="0"/>
                </a:moveTo>
                <a:lnTo>
                  <a:pt x="567" y="9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388" name="Line 12"/>
          <p:cNvSpPr/>
          <p:nvPr/>
        </p:nvSpPr>
        <p:spPr>
          <a:xfrm>
            <a:off x="4859338" y="3141663"/>
            <a:ext cx="0" cy="287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1389" name="Line 13"/>
          <p:cNvSpPr/>
          <p:nvPr/>
        </p:nvSpPr>
        <p:spPr>
          <a:xfrm flipH="1">
            <a:off x="4932363" y="2708275"/>
            <a:ext cx="576262" cy="576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1390" name="Text Box 14"/>
          <p:cNvSpPr txBox="1"/>
          <p:nvPr/>
        </p:nvSpPr>
        <p:spPr>
          <a:xfrm>
            <a:off x="5632450" y="2414588"/>
            <a:ext cx="2922588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Kg&gt;0dB,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表明系统稳定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1391" name="Text Box 15"/>
          <p:cNvSpPr txBox="1"/>
          <p:nvPr/>
        </p:nvSpPr>
        <p:spPr>
          <a:xfrm>
            <a:off x="4067176" y="3097749"/>
            <a:ext cx="852124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600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20lgK</a:t>
            </a:r>
            <a:r>
              <a:rPr lang="en-US" altLang="zh-CN" sz="1600" b="1" baseline="-25000" dirty="0" smtClean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1392" name="Object 16"/>
          <p:cNvGraphicFramePr>
            <a:graphicFrameLocks noChangeAspect="1"/>
          </p:cNvGraphicFramePr>
          <p:nvPr/>
        </p:nvGraphicFramePr>
        <p:xfrm>
          <a:off x="5076825" y="3429000"/>
          <a:ext cx="4572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r:id="rId6" imgW="304165" imgH="177800" progId="Equation.3">
                  <p:embed/>
                </p:oleObj>
              </mc:Choice>
              <mc:Fallback>
                <p:oleObj r:id="rId6" imgW="304165" imgH="177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6825" y="3429000"/>
                        <a:ext cx="457200" cy="268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3" name="Rectangle 17"/>
          <p:cNvSpPr/>
          <p:nvPr/>
        </p:nvSpPr>
        <p:spPr>
          <a:xfrm>
            <a:off x="5724525" y="4797425"/>
            <a:ext cx="316865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当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K&gt;K</a:t>
            </a:r>
            <a:r>
              <a:rPr lang="en-US" altLang="zh-CN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系统由不稳定变为稳定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019800" y="113446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劳斯判据应用？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01386" grpId="0"/>
      <p:bldP spid="101390" grpId="0"/>
      <p:bldP spid="101391" grpId="0"/>
      <p:bldP spid="101393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2024/10/17</a:t>
            </a:fld>
            <a:endParaRPr lang="zh-CN" altLang="en-US" sz="1200" dirty="0"/>
          </a:p>
        </p:txBody>
      </p:sp>
      <p:sp>
        <p:nvSpPr>
          <p:cNvPr id="62466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Lujx</a:t>
            </a:r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12</a:t>
            </a:fld>
            <a:endParaRPr lang="en-US" altLang="zh-CN" sz="1200" dirty="0"/>
          </a:p>
        </p:txBody>
      </p:sp>
      <p:pic>
        <p:nvPicPr>
          <p:cNvPr id="62468" name="Picture 2"/>
          <p:cNvPicPr>
            <a:picLocks noChangeAspect="1"/>
          </p:cNvPicPr>
          <p:nvPr/>
        </p:nvPicPr>
        <p:blipFill>
          <a:blip r:embed="rId3">
            <a:lum contrast="54000"/>
          </a:blip>
          <a:stretch>
            <a:fillRect/>
          </a:stretch>
        </p:blipFill>
        <p:spPr>
          <a:xfrm rot="-139791">
            <a:off x="1042988" y="1196975"/>
            <a:ext cx="7543800" cy="493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Text Box 3"/>
          <p:cNvSpPr txBox="1"/>
          <p:nvPr/>
        </p:nvSpPr>
        <p:spPr>
          <a:xfrm>
            <a:off x="1311275" y="495300"/>
            <a:ext cx="1511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根轨迹为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02404" name="Rectangle 4"/>
          <p:cNvSpPr/>
          <p:nvPr/>
        </p:nvSpPr>
        <p:spPr>
          <a:xfrm>
            <a:off x="1476375" y="1196975"/>
            <a:ext cx="3095625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当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K&gt;K</a:t>
            </a:r>
            <a:r>
              <a:rPr lang="en-US" altLang="zh-CN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系统是稳定的。</a:t>
            </a:r>
          </a:p>
        </p:txBody>
      </p:sp>
      <p:graphicFrame>
        <p:nvGraphicFramePr>
          <p:cNvPr id="62471" name="Object 5"/>
          <p:cNvGraphicFramePr>
            <a:graphicFrameLocks noChangeAspect="1"/>
          </p:cNvGraphicFramePr>
          <p:nvPr/>
        </p:nvGraphicFramePr>
        <p:xfrm>
          <a:off x="6372225" y="260350"/>
          <a:ext cx="23209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4" imgW="1041400" imgH="368300" progId="Equation.3">
                  <p:embed/>
                </p:oleObj>
              </mc:Choice>
              <mc:Fallback>
                <p:oleObj r:id="rId4" imgW="1041400" imgH="3683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225" y="260350"/>
                        <a:ext cx="2320925" cy="820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198A7A-5139-407A-92B9-37F61CC41DAB}" type="datetime1">
              <a:rPr lang="zh-CN" altLang="en-US"/>
              <a:pPr>
                <a:defRPr/>
              </a:pPr>
              <a:t>2024/10/17</a:t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8AA63E-10CF-4445-BFCF-4D11652941D1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395288" y="149977"/>
            <a:ext cx="596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005099"/>
              </p:ext>
            </p:extLst>
          </p:nvPr>
        </p:nvGraphicFramePr>
        <p:xfrm>
          <a:off x="1259632" y="-25437"/>
          <a:ext cx="4661018" cy="90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公式" r:id="rId3" imgW="2158920" imgH="419040" progId="Equation.3">
                  <p:embed/>
                </p:oleObj>
              </mc:Choice>
              <mc:Fallback>
                <p:oleObj name="公式" r:id="rId3" imgW="2158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-25437"/>
                        <a:ext cx="4661018" cy="905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7956550" y="3573463"/>
            <a:ext cx="820738" cy="701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/>
              <a:t>Bode</a:t>
            </a:r>
          </a:p>
          <a:p>
            <a:pPr eaLnBrk="1" hangingPunct="1"/>
            <a:r>
              <a:rPr lang="en-US" altLang="zh-CN" sz="2000" dirty="0"/>
              <a:t> </a:t>
            </a:r>
            <a:r>
              <a:rPr lang="zh-CN" altLang="en-US" sz="2000" dirty="0" smtClean="0"/>
              <a:t>图</a:t>
            </a:r>
            <a:endParaRPr lang="en-US" altLang="zh-CN" sz="2000" dirty="0"/>
          </a:p>
        </p:txBody>
      </p:sp>
      <p:pic>
        <p:nvPicPr>
          <p:cNvPr id="5121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628775"/>
            <a:ext cx="698341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187624" y="908011"/>
            <a:ext cx="6213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</a:rPr>
              <a:t>试估计：高频处对数幅频特性的斜率是多少</a:t>
            </a:r>
            <a:r>
              <a:rPr lang="en-US" altLang="zh-CN" sz="2000" dirty="0" smtClean="0">
                <a:solidFill>
                  <a:srgbClr val="FF0000"/>
                </a:solidFill>
              </a:rPr>
              <a:t>dB/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dec</a:t>
            </a:r>
            <a:r>
              <a:rPr lang="zh-CN" altLang="en-US" sz="2000" dirty="0" smtClean="0">
                <a:solidFill>
                  <a:srgbClr val="FF0000"/>
                </a:solidFill>
              </a:rPr>
              <a:t>？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 </a:t>
            </a:r>
            <a:r>
              <a:rPr lang="zh-CN" altLang="en-US" sz="2000" dirty="0" smtClean="0">
                <a:solidFill>
                  <a:srgbClr val="FF0000"/>
                </a:solidFill>
              </a:rPr>
              <a:t>高频</a:t>
            </a:r>
            <a:r>
              <a:rPr lang="zh-CN" altLang="en-US" sz="2000" dirty="0">
                <a:solidFill>
                  <a:srgbClr val="FF0000"/>
                </a:solidFill>
              </a:rPr>
              <a:t>处</a:t>
            </a:r>
            <a:r>
              <a:rPr lang="zh-CN" altLang="en-US" sz="2000" dirty="0" smtClean="0">
                <a:solidFill>
                  <a:srgbClr val="FF0000"/>
                </a:solidFill>
              </a:rPr>
              <a:t>对数相频特性的相位是多少度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8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9782E20-5357-4975-AB15-E35593EEEE28}" type="datetime1">
              <a:rPr lang="zh-CN" altLang="en-US"/>
              <a:pPr>
                <a:defRPr/>
              </a:pPr>
              <a:t>2024/10/17</a:t>
            </a:fld>
            <a:endParaRPr lang="en-US" altLang="zh-CN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Jixia Lu</a:t>
            </a: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F37F2-0D3F-4AA1-8748-A1347B83AD15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grpSp>
        <p:nvGrpSpPr>
          <p:cNvPr id="53253" name="组合 14"/>
          <p:cNvGrpSpPr>
            <a:grpSpLocks/>
          </p:cNvGrpSpPr>
          <p:nvPr/>
        </p:nvGrpSpPr>
        <p:grpSpPr bwMode="auto">
          <a:xfrm>
            <a:off x="179388" y="260350"/>
            <a:ext cx="8753475" cy="6124575"/>
            <a:chOff x="179388" y="260350"/>
            <a:chExt cx="8753475" cy="6124575"/>
          </a:xfrm>
        </p:grpSpPr>
        <p:pic>
          <p:nvPicPr>
            <p:cNvPr id="5325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88" y="476250"/>
              <a:ext cx="8753475" cy="5908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5" name="Line 7"/>
            <p:cNvSpPr>
              <a:spLocks noChangeShapeType="1"/>
            </p:cNvSpPr>
            <p:nvPr/>
          </p:nvSpPr>
          <p:spPr bwMode="auto">
            <a:xfrm>
              <a:off x="2555875" y="1484313"/>
              <a:ext cx="1511300" cy="79216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6" name="Line 8"/>
            <p:cNvSpPr>
              <a:spLocks noChangeShapeType="1"/>
            </p:cNvSpPr>
            <p:nvPr/>
          </p:nvSpPr>
          <p:spPr bwMode="auto">
            <a:xfrm>
              <a:off x="4067175" y="2276475"/>
              <a:ext cx="1512888" cy="2873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Line 9"/>
            <p:cNvSpPr>
              <a:spLocks noChangeShapeType="1"/>
            </p:cNvSpPr>
            <p:nvPr/>
          </p:nvSpPr>
          <p:spPr bwMode="auto">
            <a:xfrm>
              <a:off x="5580063" y="2565400"/>
              <a:ext cx="1584325" cy="93662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10"/>
            <p:cNvSpPr>
              <a:spLocks noChangeShapeType="1"/>
            </p:cNvSpPr>
            <p:nvPr/>
          </p:nvSpPr>
          <p:spPr bwMode="auto">
            <a:xfrm>
              <a:off x="7164388" y="3500438"/>
              <a:ext cx="1368425" cy="93503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1"/>
            <p:cNvSpPr>
              <a:spLocks noChangeShapeType="1"/>
            </p:cNvSpPr>
            <p:nvPr/>
          </p:nvSpPr>
          <p:spPr bwMode="auto">
            <a:xfrm flipH="1" flipV="1">
              <a:off x="1763713" y="836613"/>
              <a:ext cx="792162" cy="649287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12"/>
            <p:cNvSpPr>
              <a:spLocks noChangeShapeType="1"/>
            </p:cNvSpPr>
            <p:nvPr/>
          </p:nvSpPr>
          <p:spPr bwMode="auto">
            <a:xfrm>
              <a:off x="2555875" y="260350"/>
              <a:ext cx="1511300" cy="79216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>
              <a:off x="4067175" y="1052513"/>
              <a:ext cx="1512888" cy="28733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>
              <a:off x="5580063" y="1341438"/>
              <a:ext cx="1584325" cy="93662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Line 15"/>
            <p:cNvSpPr>
              <a:spLocks noChangeShapeType="1"/>
            </p:cNvSpPr>
            <p:nvPr/>
          </p:nvSpPr>
          <p:spPr bwMode="auto">
            <a:xfrm>
              <a:off x="7164388" y="2276475"/>
              <a:ext cx="1368425" cy="9350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56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2"/>
          <p:cNvSpPr txBox="1"/>
          <p:nvPr/>
        </p:nvSpPr>
        <p:spPr>
          <a:xfrm>
            <a:off x="519113" y="908050"/>
            <a:ext cx="10287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例：</a:t>
            </a:r>
          </a:p>
        </p:txBody>
      </p:sp>
      <p:sp>
        <p:nvSpPr>
          <p:cNvPr id="63490" name="Text Box 3"/>
          <p:cNvSpPr txBox="1"/>
          <p:nvPr/>
        </p:nvSpPr>
        <p:spPr>
          <a:xfrm>
            <a:off x="950913" y="1752600"/>
            <a:ext cx="580707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一系统前向通道和反馈通道的传递函数分别为：</a:t>
            </a:r>
          </a:p>
        </p:txBody>
      </p:sp>
      <p:graphicFrame>
        <p:nvGraphicFramePr>
          <p:cNvPr id="63491" name="Object 2"/>
          <p:cNvGraphicFramePr>
            <a:graphicFrameLocks noChangeAspect="1"/>
          </p:cNvGraphicFramePr>
          <p:nvPr/>
        </p:nvGraphicFramePr>
        <p:xfrm>
          <a:off x="1547813" y="2349500"/>
          <a:ext cx="30575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r:id="rId4" imgW="1320165" imgH="381000" progId="Equation.3">
                  <p:embed/>
                </p:oleObj>
              </mc:Choice>
              <mc:Fallback>
                <p:oleObj r:id="rId4" imgW="1320165" imgH="3810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7813" y="2349500"/>
                        <a:ext cx="3057525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5"/>
          <p:cNvSpPr txBox="1"/>
          <p:nvPr/>
        </p:nvSpPr>
        <p:spPr>
          <a:xfrm>
            <a:off x="5003800" y="2565400"/>
            <a:ext cx="509588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和 </a:t>
            </a:r>
          </a:p>
        </p:txBody>
      </p:sp>
      <p:graphicFrame>
        <p:nvGraphicFramePr>
          <p:cNvPr id="63493" name="Object 3"/>
          <p:cNvGraphicFramePr>
            <a:graphicFrameLocks noChangeAspect="1"/>
          </p:cNvGraphicFramePr>
          <p:nvPr/>
        </p:nvGraphicFramePr>
        <p:xfrm>
          <a:off x="5940425" y="2636838"/>
          <a:ext cx="1152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r:id="rId6" imgW="482600" imgH="190500" progId="Equation.3">
                  <p:embed/>
                </p:oleObj>
              </mc:Choice>
              <mc:Fallback>
                <p:oleObj r:id="rId6" imgW="482600" imgH="1905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40425" y="2636838"/>
                        <a:ext cx="115252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7"/>
          <p:cNvSpPr txBox="1"/>
          <p:nvPr/>
        </p:nvSpPr>
        <p:spPr>
          <a:xfrm>
            <a:off x="900113" y="3644900"/>
            <a:ext cx="69310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求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K=1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时系统的相位裕量和幅值裕量，并判断系统的稳定性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2"/>
          <p:cNvSpPr txBox="1"/>
          <p:nvPr/>
        </p:nvSpPr>
        <p:spPr>
          <a:xfrm>
            <a:off x="539750" y="644525"/>
            <a:ext cx="5921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7651" name="Text Box 3"/>
          <p:cNvSpPr txBox="1"/>
          <p:nvPr/>
        </p:nvSpPr>
        <p:spPr>
          <a:xfrm>
            <a:off x="1239838" y="1187450"/>
            <a:ext cx="36195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s=j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代入开环传递函数有</a:t>
            </a:r>
          </a:p>
        </p:txBody>
      </p:sp>
      <p:graphicFrame>
        <p:nvGraphicFramePr>
          <p:cNvPr id="27652" name="Object 2"/>
          <p:cNvGraphicFramePr>
            <a:graphicFrameLocks noChangeAspect="1"/>
          </p:cNvGraphicFramePr>
          <p:nvPr/>
        </p:nvGraphicFramePr>
        <p:xfrm>
          <a:off x="1725613" y="1916113"/>
          <a:ext cx="43942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r:id="rId4" imgW="1816100" imgH="381000" progId="Equation.3">
                  <p:embed/>
                </p:oleObj>
              </mc:Choice>
              <mc:Fallback>
                <p:oleObj r:id="rId4" imgW="1816100" imgH="3810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613" y="1916113"/>
                        <a:ext cx="4394200" cy="922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/>
          <p:nvPr/>
        </p:nvSpPr>
        <p:spPr>
          <a:xfrm>
            <a:off x="879475" y="3049588"/>
            <a:ext cx="3836988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幅频特性和相频特性分别为：</a:t>
            </a:r>
          </a:p>
        </p:txBody>
      </p:sp>
      <p:graphicFrame>
        <p:nvGraphicFramePr>
          <p:cNvPr id="27654" name="Object 3"/>
          <p:cNvGraphicFramePr>
            <a:graphicFrameLocks noChangeAspect="1"/>
          </p:cNvGraphicFramePr>
          <p:nvPr/>
        </p:nvGraphicFramePr>
        <p:xfrm>
          <a:off x="2484438" y="3573463"/>
          <a:ext cx="33432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r:id="rId6" imgW="1511300" imgH="393700" progId="Equation.3">
                  <p:embed/>
                </p:oleObj>
              </mc:Choice>
              <mc:Fallback>
                <p:oleObj r:id="rId6" imgW="1511300" imgH="3937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84438" y="3573463"/>
                        <a:ext cx="33432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4"/>
          <p:cNvGraphicFramePr>
            <a:graphicFrameLocks noChangeAspect="1"/>
          </p:cNvGraphicFramePr>
          <p:nvPr/>
        </p:nvGraphicFramePr>
        <p:xfrm>
          <a:off x="2411413" y="4797425"/>
          <a:ext cx="40640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r:id="rId8" imgW="1777365" imgH="215900" progId="Equation.3">
                  <p:embed/>
                </p:oleObj>
              </mc:Choice>
              <mc:Fallback>
                <p:oleObj r:id="rId8" imgW="1777365" imgH="215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11413" y="4797425"/>
                        <a:ext cx="40640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/>
          <p:nvPr/>
        </p:nvSpPr>
        <p:spPr>
          <a:xfrm>
            <a:off x="735013" y="971550"/>
            <a:ext cx="6861175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=-180 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来求相位穿越频率 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1511300" y="1916113"/>
          <a:ext cx="50212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r:id="rId4" imgW="2197100" imgH="215900" progId="Equation.3">
                  <p:embed/>
                </p:oleObj>
              </mc:Choice>
              <mc:Fallback>
                <p:oleObj r:id="rId4" imgW="2197100" imgH="215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11300" y="1916113"/>
                        <a:ext cx="5021263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/>
        </p:nvGraphicFramePr>
        <p:xfrm>
          <a:off x="2614613" y="2749550"/>
          <a:ext cx="11795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r:id="rId6" imgW="545465" imgH="203200" progId="Equation.3">
                  <p:embed/>
                </p:oleObj>
              </mc:Choice>
              <mc:Fallback>
                <p:oleObj r:id="rId6" imgW="545465" imgH="203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4613" y="2749550"/>
                        <a:ext cx="117951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1547813" y="3429000"/>
          <a:ext cx="4495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r:id="rId8" imgW="2032000" imgH="482600" progId="Equation.3">
                  <p:embed/>
                </p:oleObj>
              </mc:Choice>
              <mc:Fallback>
                <p:oleObj r:id="rId8" imgW="2032000" imgH="482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7813" y="3429000"/>
                        <a:ext cx="4495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2198688" y="4979988"/>
          <a:ext cx="215741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r:id="rId10" imgW="965200" imgH="431800" progId="Equation.DSMT4">
                  <p:embed/>
                </p:oleObj>
              </mc:Choice>
              <mc:Fallback>
                <p:oleObj r:id="rId10" imgW="965200" imgH="431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98688" y="4979988"/>
                        <a:ext cx="2157412" cy="963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808038" y="900113"/>
            <a:ext cx="486568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为求相位裕量，需先求出幅值穿越频率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r:id="rId4" imgW="101600" imgH="190500" progId="Equation.3">
                  <p:embed/>
                </p:oleObj>
              </mc:Choice>
              <mc:Fallback>
                <p:oleObj r:id="rId4" imgW="101600" imgH="1905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1979613" y="1844675"/>
          <a:ext cx="37369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r:id="rId6" imgW="1688465" imgH="393700" progId="Equation.3">
                  <p:embed/>
                </p:oleObj>
              </mc:Choice>
              <mc:Fallback>
                <p:oleObj r:id="rId6" imgW="1688465" imgH="393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79613" y="1844675"/>
                        <a:ext cx="37369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/>
          <p:cNvSpPr txBox="1"/>
          <p:nvPr/>
        </p:nvSpPr>
        <p:spPr>
          <a:xfrm>
            <a:off x="735013" y="1839913"/>
            <a:ext cx="50958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</a:p>
        </p:txBody>
      </p:sp>
      <p:sp>
        <p:nvSpPr>
          <p:cNvPr id="29702" name="Text Box 6"/>
          <p:cNvSpPr txBox="1"/>
          <p:nvPr/>
        </p:nvSpPr>
        <p:spPr>
          <a:xfrm>
            <a:off x="735013" y="2976563"/>
            <a:ext cx="95091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可求出</a:t>
            </a:r>
          </a:p>
        </p:txBody>
      </p:sp>
      <p:graphicFrame>
        <p:nvGraphicFramePr>
          <p:cNvPr id="29703" name="Object 4"/>
          <p:cNvGraphicFramePr>
            <a:graphicFrameLocks noChangeAspect="1"/>
          </p:cNvGraphicFramePr>
          <p:nvPr/>
        </p:nvGraphicFramePr>
        <p:xfrm>
          <a:off x="2633663" y="3251200"/>
          <a:ext cx="24431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r:id="rId8" imgW="927100" imgH="190500" progId="Equation.3">
                  <p:embed/>
                </p:oleObj>
              </mc:Choice>
              <mc:Fallback>
                <p:oleObj r:id="rId8" imgW="927100" imgH="1905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33663" y="3251200"/>
                        <a:ext cx="244316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5"/>
          <p:cNvGraphicFramePr>
            <a:graphicFrameLocks noChangeAspect="1"/>
          </p:cNvGraphicFramePr>
          <p:nvPr/>
        </p:nvGraphicFramePr>
        <p:xfrm>
          <a:off x="1476375" y="4076700"/>
          <a:ext cx="5254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r:id="rId10" imgW="2298700" imgH="215900" progId="Equation.3">
                  <p:embed/>
                </p:oleObj>
              </mc:Choice>
              <mc:Fallback>
                <p:oleObj r:id="rId10" imgW="2298700" imgH="2159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76375" y="4076700"/>
                        <a:ext cx="5254625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6"/>
          <p:cNvGraphicFramePr>
            <a:graphicFrameLocks noChangeAspect="1"/>
          </p:cNvGraphicFramePr>
          <p:nvPr/>
        </p:nvGraphicFramePr>
        <p:xfrm>
          <a:off x="2411413" y="4797425"/>
          <a:ext cx="28225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r:id="rId12" imgW="1231265" imgH="228600" progId="Equation.DSMT4">
                  <p:embed/>
                </p:oleObj>
              </mc:Choice>
              <mc:Fallback>
                <p:oleObj r:id="rId12" imgW="1231265" imgH="2286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11413" y="4797425"/>
                        <a:ext cx="282257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/>
          <p:cNvSpPr txBox="1"/>
          <p:nvPr/>
        </p:nvSpPr>
        <p:spPr>
          <a:xfrm>
            <a:off x="879475" y="5568950"/>
            <a:ext cx="6573838" cy="3968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Verdana" panose="020B0604030504040204" pitchFamily="34" charset="0"/>
                <a:ea typeface="宋体" panose="02010600030101010101" pitchFamily="2" charset="-122"/>
              </a:rPr>
              <a:t>因为相位裕量和幅值裕量均大于零，所以闭环系统稳定。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1" grpId="0"/>
      <p:bldP spid="29702" grpId="0"/>
      <p:bldP spid="297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1"/>
          <p:cNvSpPr txBox="1"/>
          <p:nvPr/>
        </p:nvSpPr>
        <p:spPr>
          <a:xfrm>
            <a:off x="755650" y="2852738"/>
            <a:ext cx="6270625" cy="7381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作业：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P227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5-17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）（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        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72706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72707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72708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72709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2710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72711" name="Rectangle 9"/>
          <p:cNvSpPr/>
          <p:nvPr/>
        </p:nvSpPr>
        <p:spPr>
          <a:xfrm>
            <a:off x="1403350" y="4899025"/>
            <a:ext cx="6553200" cy="6127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72712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/>
          <p:nvPr/>
        </p:nvSpPr>
        <p:spPr>
          <a:xfrm>
            <a:off x="827088" y="3500438"/>
            <a:ext cx="719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现在以一个单位反馈系统为例，闭环传函可表示为：</a:t>
            </a:r>
          </a:p>
        </p:txBody>
      </p:sp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1979613" y="4076700"/>
          <a:ext cx="3556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r:id="rId4" imgW="1548765" imgH="381000" progId="Equation.3">
                  <p:embed/>
                </p:oleObj>
              </mc:Choice>
              <mc:Fallback>
                <p:oleObj r:id="rId4" imgW="1548765" imgH="3810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9613" y="4076700"/>
                        <a:ext cx="3556000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Text Box 6"/>
          <p:cNvSpPr txBox="1"/>
          <p:nvPr/>
        </p:nvSpPr>
        <p:spPr>
          <a:xfrm>
            <a:off x="1116013" y="5084763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将闭环幅频和相频特性分别用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cl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和 来表示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1383" name="Text Box 7"/>
          <p:cNvSpPr txBox="1"/>
          <p:nvPr/>
        </p:nvSpPr>
        <p:spPr>
          <a:xfrm>
            <a:off x="1331913" y="1844675"/>
            <a:ext cx="2720975" cy="461963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可采用矢量求法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01384" name="Text Box 8"/>
          <p:cNvSpPr txBox="1"/>
          <p:nvPr/>
        </p:nvSpPr>
        <p:spPr>
          <a:xfrm>
            <a:off x="1331913" y="2349500"/>
            <a:ext cx="5146675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</a:t>
            </a:r>
            <a:r>
              <a:rPr lang="zh-CN" altLang="en-US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等</a:t>
            </a: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M-N</a:t>
            </a:r>
            <a:r>
              <a:rPr lang="zh-CN" altLang="en-US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圆法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和尼柯尔斯图法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74758" name="Text Box 3"/>
          <p:cNvSpPr txBox="1"/>
          <p:nvPr/>
        </p:nvSpPr>
        <p:spPr>
          <a:xfrm>
            <a:off x="611188" y="476250"/>
            <a:ext cx="5905500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  <a:ea typeface="黑体" panose="02010609060101010101" pitchFamily="49" charset="-122"/>
              </a:rPr>
              <a:t>4.5 </a:t>
            </a:r>
            <a:r>
              <a:rPr lang="zh-CN" altLang="en-US" sz="2800" b="1" dirty="0">
                <a:latin typeface="Verdana" panose="020B0604030504040204" pitchFamily="34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74759" name="Text Box 4"/>
          <p:cNvSpPr txBox="1"/>
          <p:nvPr/>
        </p:nvSpPr>
        <p:spPr>
          <a:xfrm>
            <a:off x="971550" y="1125538"/>
            <a:ext cx="3698875" cy="522287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闭环频率特性的求取</a:t>
            </a:r>
          </a:p>
        </p:txBody>
      </p:sp>
      <p:sp>
        <p:nvSpPr>
          <p:cNvPr id="10" name="Text Box 7"/>
          <p:cNvSpPr txBox="1"/>
          <p:nvPr/>
        </p:nvSpPr>
        <p:spPr>
          <a:xfrm>
            <a:off x="1331913" y="2852738"/>
            <a:ext cx="4079875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可采用相关软件工具求取。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2" grpId="0"/>
      <p:bldP spid="101383" grpId="0"/>
      <p:bldP spid="101384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2024/10/17</a:t>
            </a:fld>
            <a:endParaRPr lang="zh-CN" altLang="en-US" sz="1200" dirty="0"/>
          </a:p>
        </p:txBody>
      </p:sp>
      <p:sp>
        <p:nvSpPr>
          <p:cNvPr id="7680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22</a:t>
            </a:fld>
            <a:endParaRPr lang="en-US" altLang="zh-CN" sz="1200" dirty="0"/>
          </a:p>
        </p:txBody>
      </p:sp>
      <p:pic>
        <p:nvPicPr>
          <p:cNvPr id="76804" name="Picture 10"/>
          <p:cNvPicPr>
            <a:picLocks noChangeAspect="1"/>
          </p:cNvPicPr>
          <p:nvPr/>
        </p:nvPicPr>
        <p:blipFill>
          <a:blip r:embed="rId3">
            <a:lum contrast="48000"/>
          </a:blip>
          <a:srcRect t="2536" b="3957"/>
          <a:stretch>
            <a:fillRect/>
          </a:stretch>
        </p:blipFill>
        <p:spPr>
          <a:xfrm>
            <a:off x="1258888" y="549275"/>
            <a:ext cx="6411912" cy="49911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6805" name="Object 11"/>
          <p:cNvGraphicFramePr>
            <a:graphicFrameLocks noChangeAspect="1"/>
          </p:cNvGraphicFramePr>
          <p:nvPr/>
        </p:nvGraphicFramePr>
        <p:xfrm>
          <a:off x="4140200" y="5373688"/>
          <a:ext cx="41036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r:id="rId4" imgW="1663700" imgH="393700" progId="Equation.3">
                  <p:embed/>
                </p:oleObj>
              </mc:Choice>
              <mc:Fallback>
                <p:oleObj r:id="rId4" imgW="16637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40200" y="5373688"/>
                        <a:ext cx="410368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539750" y="5589588"/>
          <a:ext cx="29495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r:id="rId6" imgW="1777365" imgH="431800" progId="Equation.3">
                  <p:embed/>
                </p:oleObj>
              </mc:Choice>
              <mc:Fallback>
                <p:oleObj r:id="rId6" imgW="1777365" imgH="4318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750" y="5589588"/>
                        <a:ext cx="2949575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2024/10/17</a:t>
            </a:fld>
            <a:endParaRPr lang="zh-CN" altLang="en-US" sz="1200" dirty="0"/>
          </a:p>
        </p:txBody>
      </p:sp>
      <p:sp>
        <p:nvSpPr>
          <p:cNvPr id="77826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23</a:t>
            </a:fld>
            <a:endParaRPr lang="en-US" altLang="zh-CN" sz="1200" dirty="0"/>
          </a:p>
        </p:txBody>
      </p:sp>
      <p:pic>
        <p:nvPicPr>
          <p:cNvPr id="77828" name="Picture 10"/>
          <p:cNvPicPr>
            <a:picLocks noChangeAspect="1"/>
          </p:cNvPicPr>
          <p:nvPr/>
        </p:nvPicPr>
        <p:blipFill>
          <a:blip r:embed="rId2"/>
          <a:srcRect l="4942" r="3851"/>
          <a:stretch>
            <a:fillRect/>
          </a:stretch>
        </p:blipFill>
        <p:spPr>
          <a:xfrm>
            <a:off x="468313" y="620713"/>
            <a:ext cx="5976937" cy="5602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829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588" y="1268413"/>
            <a:ext cx="1555750" cy="4492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2"/>
          <p:cNvSpPr txBox="1"/>
          <p:nvPr/>
        </p:nvSpPr>
        <p:spPr>
          <a:xfrm>
            <a:off x="1384300" y="76517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闭环幅频特性图绘制如下：</a:t>
            </a:r>
          </a:p>
        </p:txBody>
      </p:sp>
      <p:pic>
        <p:nvPicPr>
          <p:cNvPr id="7885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363">
            <a:off x="1403350" y="1844675"/>
            <a:ext cx="6516688" cy="420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7" name="Picture 4"/>
          <p:cNvPicPr>
            <a:picLocks noChangeAspect="1"/>
          </p:cNvPicPr>
          <p:nvPr/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31750" y="188913"/>
            <a:ext cx="5745163" cy="54625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776913" y="1341438"/>
          <a:ext cx="32035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r:id="rId4" imgW="1269365" imgH="381000" progId="Equation.3">
                  <p:embed/>
                </p:oleObj>
              </mc:Choice>
              <mc:Fallback>
                <p:oleObj r:id="rId4" imgW="1269365" imgH="3810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6913" y="1341438"/>
                        <a:ext cx="3203575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837113" y="3573463"/>
          <a:ext cx="43211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r:id="rId6" imgW="1777365" imgH="355600" progId="Equation.3">
                  <p:embed/>
                </p:oleObj>
              </mc:Choice>
              <mc:Fallback>
                <p:oleObj r:id="rId6" imgW="1777365" imgH="355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37113" y="3573463"/>
                        <a:ext cx="4321175" cy="865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日期占位符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200" dirty="0"/>
              <a:t>2024/10/17</a:t>
            </a:fld>
            <a:endParaRPr lang="zh-CN" altLang="en-US" sz="1200" dirty="0"/>
          </a:p>
        </p:txBody>
      </p:sp>
      <p:sp>
        <p:nvSpPr>
          <p:cNvPr id="81922" name="页脚占位符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r>
              <a:rPr lang="en-US" altLang="zh-CN" sz="1200" dirty="0"/>
              <a:t>Jixia Lu</a:t>
            </a:r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200" dirty="0"/>
              <a:t>26</a:t>
            </a:fld>
            <a:endParaRPr lang="en-US" altLang="zh-CN" sz="1200" dirty="0"/>
          </a:p>
        </p:txBody>
      </p:sp>
      <p:pic>
        <p:nvPicPr>
          <p:cNvPr id="81924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13" y="549275"/>
            <a:ext cx="5313362" cy="585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5" name="Line 9"/>
          <p:cNvSpPr/>
          <p:nvPr/>
        </p:nvSpPr>
        <p:spPr>
          <a:xfrm>
            <a:off x="7740650" y="1125538"/>
            <a:ext cx="0" cy="4608512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6" name="Line 10"/>
          <p:cNvSpPr/>
          <p:nvPr/>
        </p:nvSpPr>
        <p:spPr>
          <a:xfrm>
            <a:off x="6877050" y="1773238"/>
            <a:ext cx="1655763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7" name="Text Box 11"/>
          <p:cNvSpPr txBox="1"/>
          <p:nvPr/>
        </p:nvSpPr>
        <p:spPr>
          <a:xfrm>
            <a:off x="7000875" y="1282700"/>
            <a:ext cx="4508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81928" name="Text Box 12"/>
          <p:cNvSpPr txBox="1"/>
          <p:nvPr/>
        </p:nvSpPr>
        <p:spPr>
          <a:xfrm>
            <a:off x="7864475" y="1282700"/>
            <a:ext cx="376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81929" name="Text Box 13"/>
          <p:cNvSpPr txBox="1"/>
          <p:nvPr/>
        </p:nvSpPr>
        <p:spPr>
          <a:xfrm>
            <a:off x="7000875" y="193040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</a:p>
        </p:txBody>
      </p:sp>
      <p:sp>
        <p:nvSpPr>
          <p:cNvPr id="81930" name="Text Box 14"/>
          <p:cNvSpPr txBox="1"/>
          <p:nvPr/>
        </p:nvSpPr>
        <p:spPr>
          <a:xfrm>
            <a:off x="7019925" y="4652963"/>
            <a:ext cx="619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81931" name="Text Box 15"/>
          <p:cNvSpPr txBox="1"/>
          <p:nvPr/>
        </p:nvSpPr>
        <p:spPr>
          <a:xfrm>
            <a:off x="7019925" y="3284538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81932" name="Text Box 16"/>
          <p:cNvSpPr txBox="1"/>
          <p:nvPr/>
        </p:nvSpPr>
        <p:spPr>
          <a:xfrm>
            <a:off x="7019925" y="3933825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81933" name="Text Box 17"/>
          <p:cNvSpPr txBox="1"/>
          <p:nvPr/>
        </p:nvSpPr>
        <p:spPr>
          <a:xfrm>
            <a:off x="7019925" y="256540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81934" name="Line 18"/>
          <p:cNvSpPr/>
          <p:nvPr/>
        </p:nvSpPr>
        <p:spPr>
          <a:xfrm>
            <a:off x="6948488" y="2492375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5" name="Line 19"/>
          <p:cNvSpPr/>
          <p:nvPr/>
        </p:nvSpPr>
        <p:spPr>
          <a:xfrm>
            <a:off x="6948488" y="3141663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6" name="Line 20"/>
          <p:cNvSpPr/>
          <p:nvPr/>
        </p:nvSpPr>
        <p:spPr>
          <a:xfrm>
            <a:off x="6948488" y="3860800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7" name="Line 21"/>
          <p:cNvSpPr/>
          <p:nvPr/>
        </p:nvSpPr>
        <p:spPr>
          <a:xfrm>
            <a:off x="6948488" y="4581525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8" name="Line 22"/>
          <p:cNvSpPr/>
          <p:nvPr/>
        </p:nvSpPr>
        <p:spPr>
          <a:xfrm>
            <a:off x="6948488" y="5373688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39" name="Text Box 23"/>
          <p:cNvSpPr txBox="1"/>
          <p:nvPr/>
        </p:nvSpPr>
        <p:spPr>
          <a:xfrm>
            <a:off x="7864475" y="1979613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-20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0" name="Text Box 24"/>
          <p:cNvSpPr txBox="1"/>
          <p:nvPr/>
        </p:nvSpPr>
        <p:spPr>
          <a:xfrm>
            <a:off x="7812088" y="2636838"/>
            <a:ext cx="652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-30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1" name="Text Box 25"/>
          <p:cNvSpPr txBox="1"/>
          <p:nvPr/>
        </p:nvSpPr>
        <p:spPr>
          <a:xfrm>
            <a:off x="7812088" y="3357563"/>
            <a:ext cx="652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-60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81942" name="Text Box 26"/>
          <p:cNvSpPr txBox="1"/>
          <p:nvPr/>
        </p:nvSpPr>
        <p:spPr>
          <a:xfrm>
            <a:off x="7812088" y="4005263"/>
            <a:ext cx="7937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-120</a:t>
            </a: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"/>
          <p:cNvPicPr>
            <a:picLocks noChangeAspect="1"/>
          </p:cNvPicPr>
          <p:nvPr/>
        </p:nvPicPr>
        <p:blipFill>
          <a:blip r:embed="rId3">
            <a:lum contrast="29999"/>
          </a:blip>
          <a:srcRect r="5692"/>
          <a:stretch>
            <a:fillRect/>
          </a:stretch>
        </p:blipFill>
        <p:spPr>
          <a:xfrm>
            <a:off x="1116013" y="1628775"/>
            <a:ext cx="6553200" cy="4094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Text Box 3"/>
          <p:cNvSpPr txBox="1"/>
          <p:nvPr/>
        </p:nvSpPr>
        <p:spPr>
          <a:xfrm>
            <a:off x="900113" y="476250"/>
            <a:ext cx="7272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闭环相频特性图绘制如下：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3"/>
          <p:cNvSpPr txBox="1"/>
          <p:nvPr/>
        </p:nvSpPr>
        <p:spPr>
          <a:xfrm>
            <a:off x="684213" y="765175"/>
            <a:ext cx="3698875" cy="5238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闭环系统的频域指标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971550" y="1773238"/>
            <a:ext cx="6010275" cy="4479925"/>
            <a:chOff x="612" y="891"/>
            <a:chExt cx="3786" cy="2822"/>
          </a:xfrm>
        </p:grpSpPr>
        <p:sp>
          <p:nvSpPr>
            <p:cNvPr id="84995" name="Line 5"/>
            <p:cNvSpPr/>
            <p:nvPr/>
          </p:nvSpPr>
          <p:spPr>
            <a:xfrm flipV="1">
              <a:off x="1474" y="1117"/>
              <a:ext cx="0" cy="19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996" name="Line 6"/>
            <p:cNvSpPr/>
            <p:nvPr/>
          </p:nvSpPr>
          <p:spPr>
            <a:xfrm>
              <a:off x="1474" y="3113"/>
              <a:ext cx="26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997" name="Freeform 7"/>
            <p:cNvSpPr/>
            <p:nvPr/>
          </p:nvSpPr>
          <p:spPr>
            <a:xfrm>
              <a:off x="1476" y="1381"/>
              <a:ext cx="2311" cy="1142"/>
            </a:xfrm>
            <a:custGeom>
              <a:avLst/>
              <a:gdLst/>
              <a:ahLst/>
              <a:cxnLst>
                <a:cxn ang="0">
                  <a:pos x="0" y="363"/>
                </a:cxn>
                <a:cxn ang="0">
                  <a:pos x="149" y="339"/>
                </a:cxn>
                <a:cxn ang="0">
                  <a:pos x="270" y="280"/>
                </a:cxn>
                <a:cxn ang="0">
                  <a:pos x="451" y="189"/>
                </a:cxn>
                <a:cxn ang="0">
                  <a:pos x="769" y="53"/>
                </a:cxn>
                <a:cxn ang="0">
                  <a:pos x="1041" y="53"/>
                </a:cxn>
                <a:cxn ang="0">
                  <a:pos x="1449" y="371"/>
                </a:cxn>
                <a:cxn ang="0">
                  <a:pos x="1767" y="688"/>
                </a:cxn>
                <a:cxn ang="0">
                  <a:pos x="1994" y="915"/>
                </a:cxn>
                <a:cxn ang="0">
                  <a:pos x="2311" y="1142"/>
                </a:cxn>
              </a:cxnLst>
              <a:rect l="0" t="0" r="0" b="0"/>
              <a:pathLst>
                <a:path w="2311" h="1142">
                  <a:moveTo>
                    <a:pt x="0" y="363"/>
                  </a:moveTo>
                  <a:cubicBezTo>
                    <a:pt x="25" y="359"/>
                    <a:pt x="104" y="353"/>
                    <a:pt x="149" y="339"/>
                  </a:cubicBezTo>
                  <a:cubicBezTo>
                    <a:pt x="194" y="325"/>
                    <a:pt x="220" y="305"/>
                    <a:pt x="270" y="280"/>
                  </a:cubicBezTo>
                  <a:cubicBezTo>
                    <a:pt x="320" y="255"/>
                    <a:pt x="368" y="227"/>
                    <a:pt x="451" y="189"/>
                  </a:cubicBezTo>
                  <a:cubicBezTo>
                    <a:pt x="534" y="151"/>
                    <a:pt x="671" y="76"/>
                    <a:pt x="769" y="53"/>
                  </a:cubicBezTo>
                  <a:cubicBezTo>
                    <a:pt x="867" y="30"/>
                    <a:pt x="928" y="0"/>
                    <a:pt x="1041" y="53"/>
                  </a:cubicBezTo>
                  <a:cubicBezTo>
                    <a:pt x="1154" y="106"/>
                    <a:pt x="1328" y="265"/>
                    <a:pt x="1449" y="371"/>
                  </a:cubicBezTo>
                  <a:cubicBezTo>
                    <a:pt x="1570" y="477"/>
                    <a:pt x="1676" y="597"/>
                    <a:pt x="1767" y="688"/>
                  </a:cubicBezTo>
                  <a:cubicBezTo>
                    <a:pt x="1858" y="779"/>
                    <a:pt x="1903" y="839"/>
                    <a:pt x="1994" y="915"/>
                  </a:cubicBezTo>
                  <a:cubicBezTo>
                    <a:pt x="2085" y="991"/>
                    <a:pt x="2258" y="1104"/>
                    <a:pt x="2311" y="114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98" name="Line 8"/>
            <p:cNvSpPr/>
            <p:nvPr/>
          </p:nvSpPr>
          <p:spPr>
            <a:xfrm>
              <a:off x="1474" y="1752"/>
              <a:ext cx="14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4999" name="Line 9"/>
            <p:cNvSpPr/>
            <p:nvPr/>
          </p:nvSpPr>
          <p:spPr>
            <a:xfrm>
              <a:off x="1474" y="2115"/>
              <a:ext cx="181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0" name="Line 10"/>
            <p:cNvSpPr/>
            <p:nvPr/>
          </p:nvSpPr>
          <p:spPr>
            <a:xfrm>
              <a:off x="1474" y="2432"/>
              <a:ext cx="21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1" name="Text Box 11"/>
            <p:cNvSpPr txBox="1"/>
            <p:nvPr/>
          </p:nvSpPr>
          <p:spPr>
            <a:xfrm>
              <a:off x="1053" y="1625"/>
              <a:ext cx="45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M(0)</a:t>
              </a:r>
            </a:p>
          </p:txBody>
        </p:sp>
        <p:sp>
          <p:nvSpPr>
            <p:cNvPr id="85002" name="Text Box 12"/>
            <p:cNvSpPr txBox="1"/>
            <p:nvPr/>
          </p:nvSpPr>
          <p:spPr>
            <a:xfrm>
              <a:off x="612" y="1979"/>
              <a:ext cx="87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0.707M(0)</a:t>
              </a:r>
            </a:p>
          </p:txBody>
        </p:sp>
        <p:sp>
          <p:nvSpPr>
            <p:cNvPr id="85003" name="Text Box 13"/>
            <p:cNvSpPr txBox="1"/>
            <p:nvPr/>
          </p:nvSpPr>
          <p:spPr>
            <a:xfrm>
              <a:off x="793" y="2296"/>
              <a:ext cx="69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0.5M(0)</a:t>
              </a:r>
            </a:p>
          </p:txBody>
        </p:sp>
        <p:sp>
          <p:nvSpPr>
            <p:cNvPr id="85004" name="Line 14"/>
            <p:cNvSpPr/>
            <p:nvPr/>
          </p:nvSpPr>
          <p:spPr>
            <a:xfrm>
              <a:off x="3288" y="2115"/>
              <a:ext cx="0" cy="9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5" name="Line 15"/>
            <p:cNvSpPr/>
            <p:nvPr/>
          </p:nvSpPr>
          <p:spPr>
            <a:xfrm>
              <a:off x="3651" y="2432"/>
              <a:ext cx="0" cy="6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6" name="Line 16"/>
            <p:cNvSpPr/>
            <p:nvPr/>
          </p:nvSpPr>
          <p:spPr>
            <a:xfrm>
              <a:off x="2925" y="1752"/>
              <a:ext cx="0" cy="1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7" name="Line 17"/>
            <p:cNvSpPr/>
            <p:nvPr/>
          </p:nvSpPr>
          <p:spPr>
            <a:xfrm>
              <a:off x="2381" y="1389"/>
              <a:ext cx="0" cy="17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8" name="Line 18"/>
            <p:cNvSpPr/>
            <p:nvPr/>
          </p:nvSpPr>
          <p:spPr>
            <a:xfrm flipH="1">
              <a:off x="1474" y="1389"/>
              <a:ext cx="9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09" name="Text Box 19"/>
            <p:cNvSpPr txBox="1"/>
            <p:nvPr/>
          </p:nvSpPr>
          <p:spPr>
            <a:xfrm>
              <a:off x="1156" y="1298"/>
              <a:ext cx="27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</a:t>
              </a:r>
              <a:r>
                <a:rPr lang="en-US" altLang="zh-CN" baseline="-25000" dirty="0">
                  <a:latin typeface="Verdana" panose="020B0604030504040204" pitchFamily="34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85010" name="Line 20"/>
            <p:cNvSpPr/>
            <p:nvPr/>
          </p:nvSpPr>
          <p:spPr>
            <a:xfrm>
              <a:off x="1474" y="1525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11" name="Line 21"/>
            <p:cNvSpPr/>
            <p:nvPr/>
          </p:nvSpPr>
          <p:spPr>
            <a:xfrm>
              <a:off x="2018" y="1525"/>
              <a:ext cx="0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012" name="Line 22"/>
            <p:cNvSpPr/>
            <p:nvPr/>
          </p:nvSpPr>
          <p:spPr>
            <a:xfrm>
              <a:off x="2018" y="1525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13" name="Line 23"/>
            <p:cNvSpPr/>
            <p:nvPr/>
          </p:nvSpPr>
          <p:spPr>
            <a:xfrm>
              <a:off x="2200" y="152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85014" name="Text Box 24"/>
            <p:cNvSpPr txBox="1"/>
            <p:nvPr/>
          </p:nvSpPr>
          <p:spPr>
            <a:xfrm rot="-5400000">
              <a:off x="1982" y="1507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</a:t>
              </a:r>
            </a:p>
          </p:txBody>
        </p:sp>
        <p:graphicFrame>
          <p:nvGraphicFramePr>
            <p:cNvPr id="85015" name="Object 25"/>
            <p:cNvGraphicFramePr>
              <a:graphicFrameLocks noChangeAspect="1"/>
            </p:cNvGraphicFramePr>
            <p:nvPr/>
          </p:nvGraphicFramePr>
          <p:xfrm>
            <a:off x="1882" y="3158"/>
            <a:ext cx="22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4" r:id="rId4" imgW="241300" imgH="228600" progId="Equation.DSMT4">
                    <p:embed/>
                  </p:oleObj>
                </mc:Choice>
                <mc:Fallback>
                  <p:oleObj r:id="rId4" imgW="241300" imgH="2286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82" y="3158"/>
                          <a:ext cx="227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6" name="Object 26"/>
            <p:cNvGraphicFramePr>
              <a:graphicFrameLocks noChangeAspect="1"/>
            </p:cNvGraphicFramePr>
            <p:nvPr/>
          </p:nvGraphicFramePr>
          <p:xfrm>
            <a:off x="2290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5" r:id="rId6" imgW="190500" imgH="228600" progId="Equation.DSMT4">
                    <p:embed/>
                  </p:oleObj>
                </mc:Choice>
                <mc:Fallback>
                  <p:oleObj r:id="rId6" imgW="190500" imgH="2286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90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7" name="Object 27"/>
            <p:cNvGraphicFramePr>
              <a:graphicFrameLocks noChangeAspect="1"/>
            </p:cNvGraphicFramePr>
            <p:nvPr/>
          </p:nvGraphicFramePr>
          <p:xfrm>
            <a:off x="3152" y="3158"/>
            <a:ext cx="18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6" r:id="rId8" imgW="190500" imgH="228600" progId="Equation.DSMT4">
                    <p:embed/>
                  </p:oleObj>
                </mc:Choice>
                <mc:Fallback>
                  <p:oleObj r:id="rId8" imgW="190500" imgH="2286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52" y="3158"/>
                          <a:ext cx="18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8" name="Object 28"/>
            <p:cNvGraphicFramePr>
              <a:graphicFrameLocks noChangeAspect="1"/>
            </p:cNvGraphicFramePr>
            <p:nvPr/>
          </p:nvGraphicFramePr>
          <p:xfrm>
            <a:off x="2789" y="3158"/>
            <a:ext cx="17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7" r:id="rId10" imgW="177800" imgH="228600" progId="Equation.DSMT4">
                    <p:embed/>
                  </p:oleObj>
                </mc:Choice>
                <mc:Fallback>
                  <p:oleObj r:id="rId10" imgW="177800" imgH="228600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789" y="3158"/>
                          <a:ext cx="17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9" name="Object 29"/>
            <p:cNvGraphicFramePr>
              <a:graphicFrameLocks noChangeAspect="1"/>
            </p:cNvGraphicFramePr>
            <p:nvPr/>
          </p:nvGraphicFramePr>
          <p:xfrm>
            <a:off x="3560" y="3158"/>
            <a:ext cx="19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8" r:id="rId12" imgW="190500" imgH="228600" progId="Equation.DSMT4">
                    <p:embed/>
                  </p:oleObj>
                </mc:Choice>
                <mc:Fallback>
                  <p:oleObj r:id="rId12" imgW="190500" imgH="2286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560" y="3158"/>
                          <a:ext cx="19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20" name="Text Box 30"/>
            <p:cNvSpPr txBox="1"/>
            <p:nvPr/>
          </p:nvSpPr>
          <p:spPr>
            <a:xfrm>
              <a:off x="1247" y="891"/>
              <a:ext cx="46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M(</a:t>
              </a:r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85021" name="Text Box 31"/>
            <p:cNvSpPr txBox="1"/>
            <p:nvPr/>
          </p:nvSpPr>
          <p:spPr>
            <a:xfrm>
              <a:off x="1292" y="3067"/>
              <a:ext cx="2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5022" name="Text Box 32"/>
            <p:cNvSpPr txBox="1"/>
            <p:nvPr/>
          </p:nvSpPr>
          <p:spPr>
            <a:xfrm>
              <a:off x="4183" y="3032"/>
              <a:ext cx="21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Verdan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85023" name="Text Box 33"/>
            <p:cNvSpPr txBox="1"/>
            <p:nvPr/>
          </p:nvSpPr>
          <p:spPr>
            <a:xfrm>
              <a:off x="1824" y="3463"/>
              <a:ext cx="14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000" b="1" dirty="0">
                  <a:latin typeface="Verdana" panose="020B0604030504040204" pitchFamily="34" charset="0"/>
                  <a:ea typeface="宋体" panose="02010600030101010101" pitchFamily="2" charset="-122"/>
                </a:rPr>
                <a:t>闭环系统幅频特性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4"/>
          <p:cNvPicPr>
            <a:picLocks noChangeAspect="1"/>
          </p:cNvPicPr>
          <p:nvPr/>
        </p:nvPicPr>
        <p:blipFill>
          <a:blip r:embed="rId3"/>
          <a:srcRect t="4437" b="7118"/>
          <a:stretch>
            <a:fillRect/>
          </a:stretch>
        </p:blipFill>
        <p:spPr>
          <a:xfrm>
            <a:off x="1331913" y="3573463"/>
            <a:ext cx="6156325" cy="2879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150" y="0"/>
            <a:ext cx="4716463" cy="35163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Text Box 8"/>
          <p:cNvSpPr txBox="1"/>
          <p:nvPr/>
        </p:nvSpPr>
        <p:spPr>
          <a:xfrm>
            <a:off x="395288" y="836613"/>
            <a:ext cx="34766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零频幅值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1" name="Text Box 9"/>
          <p:cNvSpPr txBox="1"/>
          <p:nvPr/>
        </p:nvSpPr>
        <p:spPr>
          <a:xfrm>
            <a:off x="395288" y="4508500"/>
            <a:ext cx="34766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复现频率</a:t>
            </a:r>
            <a:r>
              <a:rPr lang="zh-CN" altLang="en-US" sz="2000" b="1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b="1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</a:p>
        </p:txBody>
      </p:sp>
      <p:pic>
        <p:nvPicPr>
          <p:cNvPr id="8909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63" y="0"/>
            <a:ext cx="4859337" cy="3622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sp>
        <p:nvSpPr>
          <p:cNvPr id="33803" name="Text Box 11"/>
          <p:cNvSpPr txBox="1"/>
          <p:nvPr/>
        </p:nvSpPr>
        <p:spPr>
          <a:xfrm>
            <a:off x="323850" y="1628775"/>
            <a:ext cx="3960813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表示频率接近于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时，系统输出幅值与输入幅值之比。</a:t>
            </a:r>
          </a:p>
        </p:txBody>
      </p:sp>
      <p:sp>
        <p:nvSpPr>
          <p:cNvPr id="33804" name="Text Box 12"/>
          <p:cNvSpPr txBox="1"/>
          <p:nvPr/>
        </p:nvSpPr>
        <p:spPr>
          <a:xfrm>
            <a:off x="539750" y="2636838"/>
            <a:ext cx="424815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通过零频幅值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M(0)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是否为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，可判断系统是否为无静差系统。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M(0)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值越接近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，有差系统的稳态误差越小。</a:t>
            </a:r>
          </a:p>
        </p:txBody>
      </p:sp>
      <p:sp>
        <p:nvSpPr>
          <p:cNvPr id="33805" name="Text Box 13"/>
          <p:cNvSpPr txBox="1"/>
          <p:nvPr/>
        </p:nvSpPr>
        <p:spPr>
          <a:xfrm>
            <a:off x="827088" y="4941888"/>
            <a:ext cx="7704137" cy="1296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取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为反映低频输入信号的允许误差， </a:t>
            </a:r>
            <a:r>
              <a:rPr lang="en-US" altLang="zh-CN" sz="2400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为闭环幅频特性与零频幅值之差第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次达到时的频率，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0~ </a:t>
            </a:r>
            <a:r>
              <a:rPr lang="en-US" altLang="zh-CN" sz="2400" baseline="-250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频率范围称为复现带宽。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/>
      <p:bldP spid="33801" grpId="0"/>
      <p:bldP spid="33803" grpId="0"/>
      <p:bldP spid="33804" grpId="0"/>
      <p:bldP spid="3380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38" name="Text Box 34"/>
          <p:cNvSpPr txBox="1"/>
          <p:nvPr/>
        </p:nvSpPr>
        <p:spPr>
          <a:xfrm>
            <a:off x="755650" y="1125538"/>
            <a:ext cx="34766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相对谐振峰值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, 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3939" name="Text Box 35"/>
          <p:cNvSpPr txBox="1"/>
          <p:nvPr/>
        </p:nvSpPr>
        <p:spPr>
          <a:xfrm>
            <a:off x="684213" y="2349500"/>
            <a:ext cx="30495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=M(j)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max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/M(0)</a:t>
            </a:r>
            <a:endParaRPr lang="en-US" altLang="zh-CN" sz="2400" b="1" baseline="-25000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23941" name="Text Box 37"/>
          <p:cNvSpPr txBox="1"/>
          <p:nvPr/>
        </p:nvSpPr>
        <p:spPr>
          <a:xfrm>
            <a:off x="611188" y="3716338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谐振频率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123942" name="Text Box 38"/>
          <p:cNvSpPr txBox="1"/>
          <p:nvPr/>
        </p:nvSpPr>
        <p:spPr>
          <a:xfrm>
            <a:off x="755650" y="4581525"/>
            <a:ext cx="7985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对应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处的频率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通常该频率反映闭环系统的响应速度。 </a:t>
            </a:r>
          </a:p>
        </p:txBody>
      </p:sp>
      <p:pic>
        <p:nvPicPr>
          <p:cNvPr id="91141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63" y="0"/>
            <a:ext cx="4859337" cy="36226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38" grpId="0"/>
      <p:bldP spid="123939" grpId="0"/>
      <p:bldP spid="123941" grpId="0"/>
      <p:bldP spid="12394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971550" y="1989138"/>
            <a:ext cx="1384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令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s=j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, 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484438" y="1916113"/>
          <a:ext cx="49466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r:id="rId4" imgW="2628900" imgH="914400" progId="Equation.DSMT4">
                  <p:embed/>
                </p:oleObj>
              </mc:Choice>
              <mc:Fallback>
                <p:oleObj r:id="rId4" imgW="2628900" imgH="9144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4438" y="1916113"/>
                        <a:ext cx="4946650" cy="171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Text Box 4"/>
          <p:cNvSpPr txBox="1"/>
          <p:nvPr/>
        </p:nvSpPr>
        <p:spPr>
          <a:xfrm>
            <a:off x="1042988" y="836613"/>
            <a:ext cx="33321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对于标准的二阶系统： 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4500563" y="549275"/>
          <a:ext cx="42560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r:id="rId6" imgW="1955800" imgH="457200" progId="Equation.DSMT4">
                  <p:embed/>
                </p:oleObj>
              </mc:Choice>
              <mc:Fallback>
                <p:oleObj r:id="rId6" imgW="1955800" imgH="457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00563" y="549275"/>
                        <a:ext cx="4256087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3708400" y="4437063"/>
            <a:ext cx="2978150" cy="647700"/>
            <a:chOff x="1791" y="2750"/>
            <a:chExt cx="1876" cy="408"/>
          </a:xfrm>
        </p:grpSpPr>
        <p:graphicFrame>
          <p:nvGraphicFramePr>
            <p:cNvPr id="93190" name="Object 10"/>
            <p:cNvGraphicFramePr>
              <a:graphicFrameLocks noChangeAspect="1"/>
            </p:cNvGraphicFramePr>
            <p:nvPr/>
          </p:nvGraphicFramePr>
          <p:xfrm>
            <a:off x="2200" y="2750"/>
            <a:ext cx="1467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3" r:id="rId8" imgW="914400" imgH="254000" progId="Equation.3">
                    <p:embed/>
                  </p:oleObj>
                </mc:Choice>
                <mc:Fallback>
                  <p:oleObj r:id="rId8" imgW="914400" imgH="2540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0" y="2750"/>
                          <a:ext cx="1467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1" name="AutoShape 11"/>
            <p:cNvSpPr/>
            <p:nvPr/>
          </p:nvSpPr>
          <p:spPr>
            <a:xfrm>
              <a:off x="1791" y="2976"/>
              <a:ext cx="182" cy="46"/>
            </a:xfrm>
            <a:prstGeom prst="rightArrow">
              <a:avLst>
                <a:gd name="adj1" fmla="val 50000"/>
                <a:gd name="adj2" fmla="val 98839"/>
              </a:avLst>
            </a:prstGeom>
            <a:solidFill>
              <a:schemeClr val="accent1"/>
            </a:solidFill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Text Box 9"/>
          <p:cNvSpPr txBox="1"/>
          <p:nvPr/>
        </p:nvSpPr>
        <p:spPr>
          <a:xfrm>
            <a:off x="2843213" y="5805488"/>
            <a:ext cx="530383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表示只有当阻尼比小于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0.707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时，存在谐振 。 </a:t>
            </a: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476375" y="5157788"/>
          <a:ext cx="2800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r:id="rId10" imgW="1257300" imgH="228600" progId="Equation.3">
                  <p:embed/>
                </p:oleObj>
              </mc:Choice>
              <mc:Fallback>
                <p:oleObj r:id="rId10" imgW="1257300" imgH="228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76375" y="5157788"/>
                        <a:ext cx="280035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31913" y="4076700"/>
            <a:ext cx="2954337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令幅值对频率求导，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0" grpId="0"/>
      <p:bldP spid="9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1331913" y="692150"/>
            <a:ext cx="5476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代入幅值计算公式，可获得谐振峰值： 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195513" y="1916113"/>
          <a:ext cx="396081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r:id="rId4" imgW="1587500" imgH="419100" progId="Equation.3">
                  <p:embed/>
                </p:oleObj>
              </mc:Choice>
              <mc:Fallback>
                <p:oleObj r:id="rId4" imgW="1587500" imgH="4191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5513" y="1916113"/>
                        <a:ext cx="3960812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/>
          <p:nvPr/>
        </p:nvSpPr>
        <p:spPr>
          <a:xfrm>
            <a:off x="1042988" y="3213100"/>
            <a:ext cx="720090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一般来说，谐振峰值可以反映闭环稳定系统的相对稳定性 。通常讲，谐振峰值越大，系统阶跃响应的超调量就越大 。对于大多数控制系统来说，谐振峰值的最佳取值为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1.1 ~ 1.5.</a:t>
            </a:r>
          </a:p>
        </p:txBody>
      </p:sp>
      <p:sp>
        <p:nvSpPr>
          <p:cNvPr id="37893" name="Line 5"/>
          <p:cNvSpPr/>
          <p:nvPr/>
        </p:nvSpPr>
        <p:spPr>
          <a:xfrm flipV="1">
            <a:off x="6372225" y="2276475"/>
            <a:ext cx="287338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894" name="Text Box 6"/>
          <p:cNvSpPr txBox="1"/>
          <p:nvPr/>
        </p:nvSpPr>
        <p:spPr>
          <a:xfrm>
            <a:off x="6699250" y="1901825"/>
            <a:ext cx="1335088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仅和阻尼比</a:t>
            </a:r>
          </a:p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 有关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2" grpId="0"/>
      <p:bldP spid="3789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900113" y="836613"/>
            <a:ext cx="23796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截止频率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1116013" y="1628775"/>
            <a:ext cx="7488237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截止频率指闭环幅频特性值下降至零频幅值的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70.7%,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或闭环对数幅频特性值下降至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- 3 dB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时的频率。</a:t>
            </a:r>
          </a:p>
        </p:txBody>
      </p:sp>
      <p:pic>
        <p:nvPicPr>
          <p:cNvPr id="38921" name="Picture 9"/>
          <p:cNvPicPr>
            <a:picLocks noChangeAspect="1"/>
          </p:cNvPicPr>
          <p:nvPr/>
        </p:nvPicPr>
        <p:blipFill>
          <a:blip r:embed="rId3"/>
          <a:srcRect t="4437" b="7118"/>
          <a:stretch>
            <a:fillRect/>
          </a:stretch>
        </p:blipFill>
        <p:spPr>
          <a:xfrm>
            <a:off x="3995738" y="2708275"/>
            <a:ext cx="5003800" cy="2339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22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3141663"/>
            <a:ext cx="3708400" cy="2765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755650" y="3883025"/>
            <a:ext cx="1276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带宽 </a:t>
            </a:r>
          </a:p>
        </p:txBody>
      </p:sp>
      <p:sp>
        <p:nvSpPr>
          <p:cNvPr id="39939" name="Text Box 3"/>
          <p:cNvSpPr txBox="1"/>
          <p:nvPr/>
        </p:nvSpPr>
        <p:spPr>
          <a:xfrm>
            <a:off x="1042988" y="4652963"/>
            <a:ext cx="6043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闭环系统幅值不低于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-3dB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对应的频率范围。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1042988" y="5354638"/>
            <a:ext cx="6840537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带宽越大，控制系统的响应速度越快。但抑制噪声能力减弱。</a:t>
            </a:r>
          </a:p>
        </p:txBody>
      </p:sp>
      <p:sp>
        <p:nvSpPr>
          <p:cNvPr id="39941" name="Text Box 5"/>
          <p:cNvSpPr txBox="1"/>
          <p:nvPr/>
        </p:nvSpPr>
        <p:spPr>
          <a:xfrm>
            <a:off x="827088" y="260350"/>
            <a:ext cx="2401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对于二阶系统： 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2359025" y="649288"/>
          <a:ext cx="48244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r:id="rId4" imgW="2019300" imgH="381000" progId="Equation.3">
                  <p:embed/>
                </p:oleObj>
              </mc:Choice>
              <mc:Fallback>
                <p:oleObj r:id="rId4" imgW="2019300" imgH="3810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9025" y="649288"/>
                        <a:ext cx="4824413" cy="909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/>
          <p:cNvSpPr txBox="1"/>
          <p:nvPr/>
        </p:nvSpPr>
        <p:spPr>
          <a:xfrm>
            <a:off x="900113" y="1608138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可求出</a:t>
            </a:r>
          </a:p>
        </p:txBody>
      </p:sp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2287588" y="1873250"/>
          <a:ext cx="5113337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r:id="rId6" imgW="1981200" imgH="381000" progId="Equation.3">
                  <p:embed/>
                </p:oleObj>
              </mc:Choice>
              <mc:Fallback>
                <p:oleObj r:id="rId6" imgW="1981200" imgH="3810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7588" y="1873250"/>
                        <a:ext cx="5113337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/>
          <p:cNvSpPr txBox="1"/>
          <p:nvPr/>
        </p:nvSpPr>
        <p:spPr>
          <a:xfrm>
            <a:off x="1135063" y="3025775"/>
            <a:ext cx="4953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也反映一个稳定系统的响应速度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/>
      <p:bldP spid="39940" grpId="0"/>
      <p:bldP spid="39941" grpId="0"/>
      <p:bldP spid="39943" grpId="0"/>
      <p:bldP spid="399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01378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01379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01380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01381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01382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01383" name="Rectangle 9"/>
          <p:cNvSpPr/>
          <p:nvPr/>
        </p:nvSpPr>
        <p:spPr>
          <a:xfrm>
            <a:off x="1403350" y="4899025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01384" name="Rectangle 9"/>
          <p:cNvSpPr/>
          <p:nvPr/>
        </p:nvSpPr>
        <p:spPr>
          <a:xfrm>
            <a:off x="1403350" y="5451475"/>
            <a:ext cx="6913563" cy="674688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3"/>
          <p:cNvSpPr/>
          <p:nvPr/>
        </p:nvSpPr>
        <p:spPr>
          <a:xfrm>
            <a:off x="468313" y="458788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Text Box 4"/>
          <p:cNvSpPr txBox="1"/>
          <p:nvPr/>
        </p:nvSpPr>
        <p:spPr>
          <a:xfrm>
            <a:off x="1219200" y="1981200"/>
            <a:ext cx="7086600" cy="5826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稳态精度：稳态误差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ss</a:t>
            </a:r>
          </a:p>
        </p:txBody>
      </p:sp>
      <p:sp>
        <p:nvSpPr>
          <p:cNvPr id="22533" name="Text Box 5"/>
          <p:cNvSpPr txBox="1"/>
          <p:nvPr/>
        </p:nvSpPr>
        <p:spPr>
          <a:xfrm>
            <a:off x="1219200" y="2590800"/>
            <a:ext cx="7086600" cy="5826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过渡过程响应特性</a:t>
            </a:r>
          </a:p>
        </p:txBody>
      </p:sp>
      <p:sp>
        <p:nvSpPr>
          <p:cNvPr id="22536" name="Text Box 8"/>
          <p:cNvSpPr txBox="1"/>
          <p:nvPr/>
        </p:nvSpPr>
        <p:spPr>
          <a:xfrm>
            <a:off x="1600200" y="3160713"/>
            <a:ext cx="7086600" cy="209232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时域：上升时间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、超调量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、调节时间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频域：谐振峰值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、谐振频率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、带宽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增益交界频率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900" i="1" baseline="-18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、增益裕量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Kg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、相位</a:t>
            </a:r>
          </a:p>
          <a:p>
            <a:pPr>
              <a:lnSpc>
                <a:spcPct val="115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裕量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9638" name="Rectangle 3"/>
          <p:cNvSpPr/>
          <p:nvPr/>
        </p:nvSpPr>
        <p:spPr>
          <a:xfrm>
            <a:off x="827088" y="1158875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6" grpId="0"/>
      <p:bldP spid="696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3"/>
          <p:cNvSpPr/>
          <p:nvPr/>
        </p:nvSpPr>
        <p:spPr>
          <a:xfrm>
            <a:off x="539750" y="357188"/>
            <a:ext cx="6840538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/>
          <p:nvPr/>
        </p:nvSpPr>
        <p:spPr>
          <a:xfrm>
            <a:off x="790575" y="1036638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控制系统设计的指标转换（二阶欠阻尼系统）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1" name="TextBox 3"/>
          <p:cNvSpPr txBox="1"/>
          <p:nvPr/>
        </p:nvSpPr>
        <p:spPr>
          <a:xfrm>
            <a:off x="971550" y="1989138"/>
            <a:ext cx="71278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）反映系统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阻尼程度（平稳性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）的指标之间的关系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339975" y="2708275"/>
          <a:ext cx="3621088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r:id="rId3" imgW="1765300" imgH="1651000" progId="Equation.3">
                  <p:embed/>
                </p:oleObj>
              </mc:Choice>
              <mc:Fallback>
                <p:oleObj r:id="rId3" imgW="1765300" imgH="16510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975" y="2708275"/>
                        <a:ext cx="3621088" cy="338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3"/>
          <p:cNvSpPr/>
          <p:nvPr/>
        </p:nvSpPr>
        <p:spPr>
          <a:xfrm>
            <a:off x="611188" y="354013"/>
            <a:ext cx="6840537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8" name="Rectangle 3"/>
          <p:cNvSpPr/>
          <p:nvPr/>
        </p:nvSpPr>
        <p:spPr>
          <a:xfrm>
            <a:off x="827088" y="1049338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控制系统设计的指标转换（二阶欠阻尼系统）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TextBox 3"/>
          <p:cNvSpPr txBox="1"/>
          <p:nvPr/>
        </p:nvSpPr>
        <p:spPr>
          <a:xfrm>
            <a:off x="971550" y="1989138"/>
            <a:ext cx="58959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）反映系统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响应快速性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的指标之间的关系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323850" y="2636838"/>
          <a:ext cx="4056063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r:id="rId3" imgW="2311400" imgH="1549400" progId="Equation.3">
                  <p:embed/>
                </p:oleObj>
              </mc:Choice>
              <mc:Fallback>
                <p:oleObj r:id="rId3" imgW="2311400" imgH="1549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2636838"/>
                        <a:ext cx="4056063" cy="271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4932363" y="2708275"/>
          <a:ext cx="3952875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r:id="rId5" imgW="2336800" imgH="1574800" progId="Equation.3">
                  <p:embed/>
                </p:oleObj>
              </mc:Choice>
              <mc:Fallback>
                <p:oleObj r:id="rId5" imgW="2336800" imgH="15748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2363" y="2708275"/>
                        <a:ext cx="3952875" cy="266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Box 7"/>
          <p:cNvSpPr txBox="1"/>
          <p:nvPr/>
        </p:nvSpPr>
        <p:spPr>
          <a:xfrm>
            <a:off x="4211638" y="3429000"/>
            <a:ext cx="49212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3"/>
          <p:cNvSpPr/>
          <p:nvPr/>
        </p:nvSpPr>
        <p:spPr>
          <a:xfrm>
            <a:off x="539750" y="404813"/>
            <a:ext cx="6840538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控制系统设计的性能指标及指标转换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" name="Rectangle 3"/>
          <p:cNvSpPr/>
          <p:nvPr/>
        </p:nvSpPr>
        <p:spPr>
          <a:xfrm>
            <a:off x="827088" y="950913"/>
            <a:ext cx="7489825" cy="5238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控制系统设计的指标转换（高阶系统）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" name="TextBox 3"/>
          <p:cNvSpPr txBox="1"/>
          <p:nvPr/>
        </p:nvSpPr>
        <p:spPr>
          <a:xfrm>
            <a:off x="971550" y="1989138"/>
            <a:ext cx="2338388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一组经验公式：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1547813" y="2997200"/>
          <a:ext cx="5167312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r:id="rId3" imgW="2641600" imgH="1130300" progId="Equation.3">
                  <p:embed/>
                </p:oleObj>
              </mc:Choice>
              <mc:Fallback>
                <p:oleObj r:id="rId3" imgW="2641600" imgH="1130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813" y="2997200"/>
                        <a:ext cx="5167312" cy="221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08546" name="Rectangle 5"/>
          <p:cNvSpPr/>
          <p:nvPr/>
        </p:nvSpPr>
        <p:spPr>
          <a:xfrm>
            <a:off x="1403350" y="2522538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08547" name="Rectangle 6"/>
          <p:cNvSpPr/>
          <p:nvPr/>
        </p:nvSpPr>
        <p:spPr>
          <a:xfrm>
            <a:off x="1403350" y="3132138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08548" name="Rectangle 8"/>
          <p:cNvSpPr/>
          <p:nvPr/>
        </p:nvSpPr>
        <p:spPr>
          <a:xfrm>
            <a:off x="1403350" y="3643313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08549" name="Rectangle 9"/>
          <p:cNvSpPr/>
          <p:nvPr/>
        </p:nvSpPr>
        <p:spPr>
          <a:xfrm>
            <a:off x="1403350" y="4291013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08550" name="Rectangle 11"/>
          <p:cNvSpPr/>
          <p:nvPr/>
        </p:nvSpPr>
        <p:spPr>
          <a:xfrm>
            <a:off x="1403350" y="1916113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08551" name="Rectangle 9"/>
          <p:cNvSpPr/>
          <p:nvPr/>
        </p:nvSpPr>
        <p:spPr>
          <a:xfrm>
            <a:off x="1403350" y="4899025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08552" name="Rectangle 9"/>
          <p:cNvSpPr/>
          <p:nvPr/>
        </p:nvSpPr>
        <p:spPr>
          <a:xfrm>
            <a:off x="1403350" y="5451475"/>
            <a:ext cx="6913563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5"/>
          <p:cNvSpPr/>
          <p:nvPr/>
        </p:nvSpPr>
        <p:spPr>
          <a:xfrm>
            <a:off x="-23812" y="115888"/>
            <a:ext cx="4892675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希望对数幅频特性曲线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4" name="TextBox 3"/>
          <p:cNvSpPr txBox="1"/>
          <p:nvPr/>
        </p:nvSpPr>
        <p:spPr>
          <a:xfrm>
            <a:off x="0" y="631825"/>
            <a:ext cx="7894638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低频段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提供尽可能高的增益和较大的斜率，以满足系统稳态误差的要求；</a:t>
            </a:r>
          </a:p>
        </p:txBody>
      </p:sp>
      <p:pic>
        <p:nvPicPr>
          <p:cNvPr id="110595" name="图片 1"/>
          <p:cNvPicPr>
            <a:picLocks noChangeAspect="1"/>
          </p:cNvPicPr>
          <p:nvPr/>
        </p:nvPicPr>
        <p:blipFill>
          <a:blip r:embed="rId2"/>
          <a:srcRect l="7037" t="51050" r="8379" b="6950"/>
          <a:stretch>
            <a:fillRect/>
          </a:stretch>
        </p:blipFill>
        <p:spPr>
          <a:xfrm>
            <a:off x="827088" y="1652588"/>
            <a:ext cx="3984625" cy="25288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6" name="图片 2"/>
          <p:cNvPicPr>
            <a:picLocks noChangeAspect="1"/>
          </p:cNvPicPr>
          <p:nvPr/>
        </p:nvPicPr>
        <p:blipFill>
          <a:blip r:embed="rId3"/>
          <a:srcRect l="13596" t="44749" r="6593" b="12201"/>
          <a:stretch>
            <a:fillRect/>
          </a:stretch>
        </p:blipFill>
        <p:spPr>
          <a:xfrm>
            <a:off x="5008563" y="1560513"/>
            <a:ext cx="3722687" cy="2678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7" name="图片 3"/>
          <p:cNvPicPr>
            <a:picLocks noChangeAspect="1"/>
          </p:cNvPicPr>
          <p:nvPr/>
        </p:nvPicPr>
        <p:blipFill>
          <a:blip r:embed="rId4"/>
          <a:srcRect l="15070" t="35300" r="6685" b="23750"/>
          <a:stretch>
            <a:fillRect/>
          </a:stretch>
        </p:blipFill>
        <p:spPr>
          <a:xfrm>
            <a:off x="2555875" y="4164013"/>
            <a:ext cx="3898900" cy="2716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extBox 4"/>
          <p:cNvSpPr txBox="1"/>
          <p:nvPr/>
        </p:nvSpPr>
        <p:spPr>
          <a:xfrm>
            <a:off x="250825" y="333375"/>
            <a:ext cx="7896225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穿越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0dB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线的斜率限制在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-20dB/dec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左右，并保证足够带宽，以满足系统稳定性的要求；</a:t>
            </a:r>
          </a:p>
        </p:txBody>
      </p:sp>
      <p:pic>
        <p:nvPicPr>
          <p:cNvPr id="111618" name="图片 3"/>
          <p:cNvPicPr>
            <a:picLocks noChangeAspect="1"/>
          </p:cNvPicPr>
          <p:nvPr/>
        </p:nvPicPr>
        <p:blipFill>
          <a:blip r:embed="rId2"/>
          <a:srcRect l="9801" t="41599" r="3389" b="16402"/>
          <a:stretch>
            <a:fillRect/>
          </a:stretch>
        </p:blipFill>
        <p:spPr>
          <a:xfrm>
            <a:off x="9525" y="1835150"/>
            <a:ext cx="4465638" cy="2881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619" name="图片 4"/>
          <p:cNvPicPr>
            <a:picLocks noChangeAspect="1"/>
          </p:cNvPicPr>
          <p:nvPr/>
        </p:nvPicPr>
        <p:blipFill>
          <a:blip r:embed="rId3"/>
          <a:srcRect l="7996" t="35300" r="2394" b="17450"/>
          <a:stretch>
            <a:fillRect/>
          </a:stretch>
        </p:blipFill>
        <p:spPr>
          <a:xfrm>
            <a:off x="4518025" y="1476375"/>
            <a:ext cx="4608513" cy="3240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001861" y="5157192"/>
            <a:ext cx="4394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和</a:t>
            </a:r>
            <a:r>
              <a:rPr lang="en-US" altLang="zh-CN" sz="2800" dirty="0" smtClean="0"/>
              <a:t>-40</a:t>
            </a:r>
            <a:r>
              <a:rPr lang="zh-CN" altLang="en-US" sz="2800" dirty="0" smtClean="0"/>
              <a:t>斜率穿越做比较分析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extBox 5"/>
          <p:cNvSpPr txBox="1"/>
          <p:nvPr/>
        </p:nvSpPr>
        <p:spPr>
          <a:xfrm>
            <a:off x="395288" y="692150"/>
            <a:ext cx="7894637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高频段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应尽可能快地衰减，以减小高频噪声对系统的干扰。</a:t>
            </a:r>
          </a:p>
        </p:txBody>
      </p:sp>
      <p:grpSp>
        <p:nvGrpSpPr>
          <p:cNvPr id="3" name="Group 4"/>
          <p:cNvGrpSpPr/>
          <p:nvPr/>
        </p:nvGrpSpPr>
        <p:grpSpPr>
          <a:xfrm>
            <a:off x="1670050" y="1916113"/>
            <a:ext cx="5346700" cy="3657600"/>
            <a:chOff x="816" y="1200"/>
            <a:chExt cx="3368" cy="2304"/>
          </a:xfrm>
        </p:grpSpPr>
        <p:sp>
          <p:nvSpPr>
            <p:cNvPr id="112643" name="Rectangle 5" descr="宽上对角线"/>
            <p:cNvSpPr/>
            <p:nvPr/>
          </p:nvSpPr>
          <p:spPr>
            <a:xfrm>
              <a:off x="3408" y="2112"/>
              <a:ext cx="96" cy="13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222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仿宋_GB2312"/>
              </a:endParaRPr>
            </a:p>
          </p:txBody>
        </p:sp>
        <p:sp>
          <p:nvSpPr>
            <p:cNvPr id="112644" name="Line 6"/>
            <p:cNvSpPr/>
            <p:nvPr/>
          </p:nvSpPr>
          <p:spPr>
            <a:xfrm>
              <a:off x="1008" y="2112"/>
              <a:ext cx="31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12645" name="Line 7"/>
            <p:cNvSpPr/>
            <p:nvPr/>
          </p:nvSpPr>
          <p:spPr>
            <a:xfrm flipV="1">
              <a:off x="1008" y="1280"/>
              <a:ext cx="0" cy="217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12646" name="Line 8"/>
            <p:cNvSpPr/>
            <p:nvPr/>
          </p:nvSpPr>
          <p:spPr>
            <a:xfrm>
              <a:off x="1392" y="1920"/>
              <a:ext cx="1028" cy="384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47" name="Line 9"/>
            <p:cNvSpPr/>
            <p:nvPr/>
          </p:nvSpPr>
          <p:spPr>
            <a:xfrm>
              <a:off x="2420" y="2304"/>
              <a:ext cx="412" cy="28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48" name="Line 10"/>
            <p:cNvSpPr/>
            <p:nvPr/>
          </p:nvSpPr>
          <p:spPr>
            <a:xfrm flipV="1">
              <a:off x="2420" y="2112"/>
              <a:ext cx="0" cy="52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49" name="Text Box 11"/>
            <p:cNvSpPr txBox="1"/>
            <p:nvPr/>
          </p:nvSpPr>
          <p:spPr>
            <a:xfrm>
              <a:off x="816" y="1968"/>
              <a:ext cx="21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0</a:t>
              </a:r>
            </a:p>
          </p:txBody>
        </p:sp>
        <p:sp>
          <p:nvSpPr>
            <p:cNvPr id="112650" name="Text Box 12"/>
            <p:cNvSpPr txBox="1"/>
            <p:nvPr/>
          </p:nvSpPr>
          <p:spPr>
            <a:xfrm>
              <a:off x="3936" y="2064"/>
              <a:ext cx="248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endParaRPr lang="en-US" altLang="zh-CN" i="1" dirty="0"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112651" name="Text Box 13"/>
            <p:cNvSpPr txBox="1"/>
            <p:nvPr/>
          </p:nvSpPr>
          <p:spPr>
            <a:xfrm>
              <a:off x="1008" y="1200"/>
              <a:ext cx="483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L</a:t>
              </a:r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)</a:t>
              </a:r>
            </a:p>
          </p:txBody>
        </p:sp>
        <p:sp>
          <p:nvSpPr>
            <p:cNvPr id="112652" name="Text Box 14"/>
            <p:cNvSpPr txBox="1"/>
            <p:nvPr/>
          </p:nvSpPr>
          <p:spPr>
            <a:xfrm>
              <a:off x="1748" y="2040"/>
              <a:ext cx="384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仿宋_GB2312"/>
                  <a:sym typeface="Symbol" panose="05050102010706020507" pitchFamily="18" charset="2"/>
                </a:rPr>
                <a:t></a:t>
              </a:r>
              <a:r>
                <a:rPr lang="en-US" altLang="zh-CN" i="1" baseline="-18000" dirty="0">
                  <a:latin typeface="Times New Roman" panose="02020603050405020304" pitchFamily="18" charset="0"/>
                  <a:ea typeface="仿宋_GB2312"/>
                </a:rPr>
                <a:t>c</a:t>
              </a:r>
            </a:p>
          </p:txBody>
        </p:sp>
        <p:sp>
          <p:nvSpPr>
            <p:cNvPr id="112653" name="Text Box 15"/>
            <p:cNvSpPr txBox="1"/>
            <p:nvPr/>
          </p:nvSpPr>
          <p:spPr>
            <a:xfrm>
              <a:off x="1644" y="1824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-20</a:t>
              </a:r>
            </a:p>
          </p:txBody>
        </p:sp>
        <p:sp>
          <p:nvSpPr>
            <p:cNvPr id="112654" name="Text Box 16"/>
            <p:cNvSpPr txBox="1"/>
            <p:nvPr/>
          </p:nvSpPr>
          <p:spPr>
            <a:xfrm>
              <a:off x="2460" y="2160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-40</a:t>
              </a:r>
            </a:p>
          </p:txBody>
        </p:sp>
        <p:sp>
          <p:nvSpPr>
            <p:cNvPr id="112655" name="Line 17"/>
            <p:cNvSpPr/>
            <p:nvPr/>
          </p:nvSpPr>
          <p:spPr>
            <a:xfrm>
              <a:off x="1008" y="1680"/>
              <a:ext cx="384" cy="24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56" name="Text Box 18"/>
            <p:cNvSpPr txBox="1"/>
            <p:nvPr/>
          </p:nvSpPr>
          <p:spPr>
            <a:xfrm>
              <a:off x="1200" y="1584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-40</a:t>
              </a:r>
            </a:p>
          </p:txBody>
        </p:sp>
        <p:sp>
          <p:nvSpPr>
            <p:cNvPr id="112657" name="Line 19"/>
            <p:cNvSpPr/>
            <p:nvPr/>
          </p:nvSpPr>
          <p:spPr>
            <a:xfrm>
              <a:off x="1392" y="1920"/>
              <a:ext cx="0" cy="19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58" name="Text Box 20"/>
            <p:cNvSpPr txBox="1"/>
            <p:nvPr/>
          </p:nvSpPr>
          <p:spPr>
            <a:xfrm>
              <a:off x="2208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3</a:t>
              </a:r>
            </a:p>
          </p:txBody>
        </p:sp>
        <p:sp>
          <p:nvSpPr>
            <p:cNvPr id="112659" name="Text Box 21"/>
            <p:cNvSpPr txBox="1"/>
            <p:nvPr/>
          </p:nvSpPr>
          <p:spPr>
            <a:xfrm>
              <a:off x="1200" y="206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2</a:t>
              </a:r>
            </a:p>
          </p:txBody>
        </p:sp>
        <p:sp>
          <p:nvSpPr>
            <p:cNvPr id="112660" name="Line 22"/>
            <p:cNvSpPr/>
            <p:nvPr/>
          </p:nvSpPr>
          <p:spPr>
            <a:xfrm>
              <a:off x="1392" y="2304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1" name="Line 23"/>
            <p:cNvSpPr/>
            <p:nvPr/>
          </p:nvSpPr>
          <p:spPr>
            <a:xfrm>
              <a:off x="1412" y="2592"/>
              <a:ext cx="100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triangle" w="med" len="med"/>
            </a:ln>
          </p:spPr>
        </p:sp>
        <p:sp>
          <p:nvSpPr>
            <p:cNvPr id="112662" name="Rectangle 24"/>
            <p:cNvSpPr/>
            <p:nvPr/>
          </p:nvSpPr>
          <p:spPr>
            <a:xfrm>
              <a:off x="1760" y="2304"/>
              <a:ext cx="228" cy="327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仿宋_GB2312"/>
                </a:rPr>
                <a:t>h</a:t>
              </a:r>
            </a:p>
          </p:txBody>
        </p:sp>
        <p:sp>
          <p:nvSpPr>
            <p:cNvPr id="112663" name="Line 25"/>
            <p:cNvSpPr/>
            <p:nvPr/>
          </p:nvSpPr>
          <p:spPr>
            <a:xfrm>
              <a:off x="2832" y="2592"/>
              <a:ext cx="336" cy="4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4" name="Line 26"/>
            <p:cNvSpPr/>
            <p:nvPr/>
          </p:nvSpPr>
          <p:spPr>
            <a:xfrm>
              <a:off x="3168" y="3024"/>
              <a:ext cx="192" cy="43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5" name="Line 27"/>
            <p:cNvSpPr/>
            <p:nvPr/>
          </p:nvSpPr>
          <p:spPr>
            <a:xfrm flipV="1">
              <a:off x="2832" y="2112"/>
              <a:ext cx="0" cy="48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6" name="Line 28"/>
            <p:cNvSpPr/>
            <p:nvPr/>
          </p:nvSpPr>
          <p:spPr>
            <a:xfrm flipV="1">
              <a:off x="3168" y="2112"/>
              <a:ext cx="0" cy="91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12667" name="Line 29"/>
            <p:cNvSpPr/>
            <p:nvPr/>
          </p:nvSpPr>
          <p:spPr>
            <a:xfrm>
              <a:off x="3408" y="2112"/>
              <a:ext cx="0" cy="1392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668" name="Text Box 30"/>
            <p:cNvSpPr txBox="1"/>
            <p:nvPr/>
          </p:nvSpPr>
          <p:spPr>
            <a:xfrm>
              <a:off x="3590" y="2221"/>
              <a:ext cx="308" cy="97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小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参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数</a:t>
              </a:r>
            </a:p>
            <a:p>
              <a:r>
                <a:rPr lang="zh-CN" altLang="en-US" dirty="0">
                  <a:latin typeface="Times New Roman" panose="02020603050405020304" pitchFamily="18" charset="0"/>
                  <a:ea typeface="仿宋_GB2312"/>
                </a:rPr>
                <a:t>区</a:t>
              </a:r>
            </a:p>
          </p:txBody>
        </p:sp>
        <p:sp>
          <p:nvSpPr>
            <p:cNvPr id="112669" name="Text Box 31"/>
            <p:cNvSpPr txBox="1"/>
            <p:nvPr/>
          </p:nvSpPr>
          <p:spPr>
            <a:xfrm>
              <a:off x="2592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4</a:t>
              </a:r>
            </a:p>
          </p:txBody>
        </p:sp>
        <p:sp>
          <p:nvSpPr>
            <p:cNvPr id="112670" name="Text Box 32"/>
            <p:cNvSpPr txBox="1"/>
            <p:nvPr/>
          </p:nvSpPr>
          <p:spPr>
            <a:xfrm>
              <a:off x="2928" y="1824"/>
              <a:ext cx="576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1/</a:t>
              </a:r>
              <a:r>
                <a:rPr lang="en-US" altLang="zh-CN" i="1" dirty="0">
                  <a:latin typeface="Times New Roman" panose="02020603050405020304" pitchFamily="18" charset="0"/>
                  <a:ea typeface="仿宋_GB2312"/>
                </a:rPr>
                <a:t>T</a:t>
              </a:r>
              <a:r>
                <a:rPr lang="en-US" altLang="zh-CN" baseline="-18000" dirty="0">
                  <a:latin typeface="Times New Roman" panose="02020603050405020304" pitchFamily="18" charset="0"/>
                  <a:ea typeface="仿宋_GB2312"/>
                </a:rPr>
                <a:t>5</a:t>
              </a:r>
            </a:p>
          </p:txBody>
        </p:sp>
        <p:sp>
          <p:nvSpPr>
            <p:cNvPr id="112671" name="Text Box 33"/>
            <p:cNvSpPr txBox="1"/>
            <p:nvPr/>
          </p:nvSpPr>
          <p:spPr>
            <a:xfrm>
              <a:off x="2652" y="2688"/>
              <a:ext cx="372" cy="288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仿宋_GB2312"/>
                </a:rPr>
                <a:t>-60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ext Box 4"/>
          <p:cNvSpPr txBox="1"/>
          <p:nvPr/>
        </p:nvSpPr>
        <p:spPr>
          <a:xfrm>
            <a:off x="2124075" y="692150"/>
            <a:ext cx="341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ea typeface="华文新魏" pitchFamily="2" charset="-122"/>
              </a:rPr>
              <a:t>章  频率特性</a:t>
            </a:r>
          </a:p>
        </p:txBody>
      </p:sp>
      <p:sp>
        <p:nvSpPr>
          <p:cNvPr id="113666" name="Rectangle 5"/>
          <p:cNvSpPr/>
          <p:nvPr/>
        </p:nvSpPr>
        <p:spPr>
          <a:xfrm>
            <a:off x="1403350" y="2163763"/>
            <a:ext cx="5562600" cy="6096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113667" name="Rectangle 6"/>
          <p:cNvSpPr/>
          <p:nvPr/>
        </p:nvSpPr>
        <p:spPr>
          <a:xfrm>
            <a:off x="1403350" y="2773363"/>
            <a:ext cx="5486400" cy="5191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113668" name="Rectangle 8"/>
          <p:cNvSpPr/>
          <p:nvPr/>
        </p:nvSpPr>
        <p:spPr>
          <a:xfrm>
            <a:off x="1403350" y="3284538"/>
            <a:ext cx="5545138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113669" name="Rectangle 9"/>
          <p:cNvSpPr/>
          <p:nvPr/>
        </p:nvSpPr>
        <p:spPr>
          <a:xfrm>
            <a:off x="1403350" y="3932238"/>
            <a:ext cx="6553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113670" name="Rectangle 11"/>
          <p:cNvSpPr/>
          <p:nvPr/>
        </p:nvSpPr>
        <p:spPr>
          <a:xfrm>
            <a:off x="1403350" y="1557338"/>
            <a:ext cx="4648200" cy="60801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113671" name="Rectangle 9"/>
          <p:cNvSpPr/>
          <p:nvPr/>
        </p:nvSpPr>
        <p:spPr>
          <a:xfrm>
            <a:off x="1403350" y="4540250"/>
            <a:ext cx="6553200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113672" name="Rectangle 9"/>
          <p:cNvSpPr/>
          <p:nvPr/>
        </p:nvSpPr>
        <p:spPr>
          <a:xfrm>
            <a:off x="1403350" y="5092700"/>
            <a:ext cx="6913563" cy="608013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  <p:sp>
        <p:nvSpPr>
          <p:cNvPr id="113673" name="文本框 2"/>
          <p:cNvSpPr txBox="1"/>
          <p:nvPr/>
        </p:nvSpPr>
        <p:spPr>
          <a:xfrm>
            <a:off x="2554288" y="5699125"/>
            <a:ext cx="3262312" cy="10144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000" dirty="0">
                <a:latin typeface="Verdana" panose="020B0604030504040204" pitchFamily="34" charset="0"/>
                <a:ea typeface="宋体" panose="02010600030101010101" pitchFamily="2" charset="-122"/>
              </a:rPr>
              <a:t>本章结束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344</TotalTime>
  <Words>1442</Words>
  <Application>Microsoft Office PowerPoint</Application>
  <PresentationFormat>全屏显示(4:3)</PresentationFormat>
  <Paragraphs>258</Paragraphs>
  <Slides>45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仿宋_GB2312</vt:lpstr>
      <vt:lpstr>黑体</vt:lpstr>
      <vt:lpstr>华文新魏</vt:lpstr>
      <vt:lpstr>楷体_GB2312</vt:lpstr>
      <vt:lpstr>宋体</vt:lpstr>
      <vt:lpstr>Arial</vt:lpstr>
      <vt:lpstr>Calibri</vt:lpstr>
      <vt:lpstr>Symbol</vt:lpstr>
      <vt:lpstr>Times New Roman</vt:lpstr>
      <vt:lpstr>Verdana</vt:lpstr>
      <vt:lpstr>Wingdings</vt:lpstr>
      <vt:lpstr>Profile</vt:lpstr>
      <vt:lpstr>1_Profile</vt:lpstr>
      <vt:lpstr>Equation.3</vt:lpstr>
      <vt:lpstr>Equation.DSMT4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Lujx</cp:lastModifiedBy>
  <cp:revision>159</cp:revision>
  <dcterms:created xsi:type="dcterms:W3CDTF">2011-07-28T08:27:52Z</dcterms:created>
  <dcterms:modified xsi:type="dcterms:W3CDTF">2024-10-17T07:35:54Z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