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870" r:id="rId2"/>
    <p:sldId id="871" r:id="rId3"/>
    <p:sldId id="872" r:id="rId4"/>
    <p:sldId id="873" r:id="rId5"/>
    <p:sldId id="874" r:id="rId6"/>
    <p:sldId id="331" r:id="rId7"/>
    <p:sldId id="552" r:id="rId8"/>
    <p:sldId id="553" r:id="rId9"/>
    <p:sldId id="554" r:id="rId10"/>
    <p:sldId id="655" r:id="rId11"/>
    <p:sldId id="563" r:id="rId12"/>
    <p:sldId id="555" r:id="rId13"/>
    <p:sldId id="556" r:id="rId14"/>
    <p:sldId id="557" r:id="rId15"/>
    <p:sldId id="559" r:id="rId16"/>
    <p:sldId id="560" r:id="rId17"/>
    <p:sldId id="564" r:id="rId18"/>
    <p:sldId id="565" r:id="rId19"/>
    <p:sldId id="561" r:id="rId20"/>
    <p:sldId id="566" r:id="rId21"/>
    <p:sldId id="567" r:id="rId22"/>
    <p:sldId id="568" r:id="rId23"/>
    <p:sldId id="569" r:id="rId24"/>
    <p:sldId id="570" r:id="rId25"/>
    <p:sldId id="571" r:id="rId26"/>
    <p:sldId id="572" r:id="rId27"/>
    <p:sldId id="706" r:id="rId28"/>
    <p:sldId id="641" r:id="rId29"/>
    <p:sldId id="340" r:id="rId30"/>
    <p:sldId id="341" r:id="rId31"/>
    <p:sldId id="342" r:id="rId32"/>
    <p:sldId id="343" r:id="rId33"/>
    <p:sldId id="344" r:id="rId34"/>
    <p:sldId id="345" r:id="rId35"/>
    <p:sldId id="346" r:id="rId36"/>
    <p:sldId id="347" r:id="rId37"/>
    <p:sldId id="348" r:id="rId38"/>
    <p:sldId id="349" r:id="rId39"/>
    <p:sldId id="878" r:id="rId40"/>
    <p:sldId id="879" r:id="rId41"/>
    <p:sldId id="880" r:id="rId42"/>
    <p:sldId id="881" r:id="rId43"/>
    <p:sldId id="882" r:id="rId44"/>
    <p:sldId id="883" r:id="rId45"/>
    <p:sldId id="884" r:id="rId46"/>
    <p:sldId id="885" r:id="rId47"/>
    <p:sldId id="875" r:id="rId48"/>
    <p:sldId id="876" r:id="rId49"/>
    <p:sldId id="877" r:id="rId50"/>
  </p:sldIdLst>
  <p:sldSz cx="9144000" cy="6858000" type="screen4x3"/>
  <p:notesSz cx="6669088" cy="9926638"/>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41" d="100"/>
          <a:sy n="41" d="100"/>
        </p:scale>
        <p:origin x="1356" y="60"/>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11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5" Type="http://schemas.openxmlformats.org/officeDocument/2006/relationships/image" Target="../media/image15.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5" Type="http://schemas.openxmlformats.org/officeDocument/2006/relationships/image" Target="../media/image62.wmf"/><Relationship Id="rId4" Type="http://schemas.openxmlformats.org/officeDocument/2006/relationships/image" Target="../media/image61.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4" Type="http://schemas.openxmlformats.org/officeDocument/2006/relationships/image" Target="../media/image7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5" Type="http://schemas.openxmlformats.org/officeDocument/2006/relationships/image" Target="../media/image62.wmf"/><Relationship Id="rId4" Type="http://schemas.openxmlformats.org/officeDocument/2006/relationships/image" Target="../media/image6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091" name="Rectangle 3"/>
          <p:cNvSpPr>
            <a:spLocks noGrp="1" noChangeArrowheads="1"/>
          </p:cNvSpPr>
          <p:nvPr>
            <p:ph type="dt" sz="quarter"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092" name="Rectangle 4"/>
          <p:cNvSpPr>
            <a:spLocks noGrp="1" noChangeArrowheads="1"/>
          </p:cNvSpPr>
          <p:nvPr>
            <p:ph type="ftr" sz="quarter" idx="2"/>
          </p:nvPr>
        </p:nvSpPr>
        <p:spPr bwMode="auto">
          <a:xfrm>
            <a:off x="0" y="9428163"/>
            <a:ext cx="288925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093" name="Rectangle 5"/>
          <p:cNvSpPr>
            <a:spLocks noGrp="1" noChangeArrowheads="1"/>
          </p:cNvSpPr>
          <p:nvPr>
            <p:ph type="sldNum" sz="quarter" idx="3"/>
          </p:nvPr>
        </p:nvSpPr>
        <p:spPr bwMode="auto">
          <a:xfrm>
            <a:off x="3778250" y="9428163"/>
            <a:ext cx="2889250" cy="496888"/>
          </a:xfrm>
          <a:prstGeom prst="rect">
            <a:avLst/>
          </a:prstGeom>
          <a:noFill/>
          <a:ln w="9525">
            <a:noFill/>
            <a:miter lim="800000"/>
          </a:ln>
          <a:effectLst/>
        </p:spPr>
        <p:txBody>
          <a:bodyPr vert="horz" wrap="square" lIns="91440" tIns="45720" rIns="91440" bIns="45720" numCol="1" anchor="b" anchorCtr="0" compatLnSpc="1"/>
          <a:lstStyle>
            <a:lvl1pPr algn="r">
              <a:defRPr sz="1200" noProof="1" dirty="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56C329F-1BDB-476C-BEB3-039755956DFC}" type="slidenum">
              <a:rPr kumimoji="0" lang="en-US" altLang="zh-CN" sz="12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67" name="Rectangle 3"/>
          <p:cNvSpPr>
            <a:spLocks noGrp="1" noChangeArrowheads="1"/>
          </p:cNvSpPr>
          <p:nvPr>
            <p:ph type="dt"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852488" y="744538"/>
            <a:ext cx="4964112" cy="3722687"/>
          </a:xfrm>
          <a:prstGeom prst="rect">
            <a:avLst/>
          </a:prstGeom>
          <a:noFill/>
          <a:ln w="9525" cap="flat" cmpd="sng">
            <a:solidFill>
              <a:srgbClr val="000000"/>
            </a:solidFill>
            <a:prstDash val="solid"/>
            <a:miter/>
            <a:headEnd type="none" w="med" len="med"/>
            <a:tailEnd type="none" w="med" len="med"/>
          </a:ln>
        </p:spPr>
      </p:sp>
      <p:sp>
        <p:nvSpPr>
          <p:cNvPr id="88069" name="Rectangle 5"/>
          <p:cNvSpPr>
            <a:spLocks noGrp="1" noChangeArrowheads="1"/>
          </p:cNvSpPr>
          <p:nvPr>
            <p:ph type="body" sz="quarter" idx="3"/>
          </p:nvPr>
        </p:nvSpPr>
        <p:spPr bwMode="auto">
          <a:xfrm>
            <a:off x="666750" y="4714875"/>
            <a:ext cx="5335588"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88070" name="Rectangle 6"/>
          <p:cNvSpPr>
            <a:spLocks noGrp="1" noChangeArrowheads="1"/>
          </p:cNvSpPr>
          <p:nvPr>
            <p:ph type="ftr" sz="quarter" idx="4"/>
          </p:nvPr>
        </p:nvSpPr>
        <p:spPr bwMode="auto">
          <a:xfrm>
            <a:off x="0" y="9428163"/>
            <a:ext cx="288925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71" name="Rectangle 7"/>
          <p:cNvSpPr>
            <a:spLocks noGrp="1" noChangeArrowheads="1"/>
          </p:cNvSpPr>
          <p:nvPr>
            <p:ph type="sldNum" sz="quarter" idx="5"/>
          </p:nvPr>
        </p:nvSpPr>
        <p:spPr bwMode="auto">
          <a:xfrm>
            <a:off x="3778250" y="9428163"/>
            <a:ext cx="2889250" cy="496888"/>
          </a:xfrm>
          <a:prstGeom prst="rect">
            <a:avLst/>
          </a:prstGeom>
          <a:noFill/>
          <a:ln w="9525">
            <a:noFill/>
            <a:miter lim="800000"/>
          </a:ln>
          <a:effectLst/>
        </p:spPr>
        <p:txBody>
          <a:bodyPr vert="horz" wrap="square" lIns="91440" tIns="45720" rIns="91440" bIns="45720" numCol="1" anchor="b" anchorCtr="0" compatLnSpc="1"/>
          <a:lstStyle>
            <a:lvl1pPr algn="r">
              <a:defRPr sz="1200" noProof="1" dirty="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22FA483-BFED-47D6-BF53-6F4529601AB4}" type="slidenum">
              <a:rPr kumimoji="0" lang="en-US" altLang="zh-CN" sz="12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a:t>
            </a:fld>
            <a:endParaRPr lang="en-US" altLang="zh-CN" sz="1200" dirty="0">
              <a:latin typeface="Arial" panose="020B0604020202020204" pitchFamily="34" charset="0"/>
            </a:endParaRPr>
          </a:p>
        </p:txBody>
      </p:sp>
      <p:sp>
        <p:nvSpPr>
          <p:cNvPr id="6146" name="Rectangle 2"/>
          <p:cNvSpPr>
            <a:spLocks noGrp="1" noRot="1" noChangeAspect="1" noTextEdit="1"/>
          </p:cNvSpPr>
          <p:nvPr>
            <p:ph type="sldImg"/>
          </p:nvPr>
        </p:nvSpPr>
        <p:spPr/>
      </p:sp>
      <p:sp>
        <p:nvSpPr>
          <p:cNvPr id="614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6</a:t>
            </a:fld>
            <a:endParaRPr lang="en-US" altLang="zh-CN" sz="1200" dirty="0">
              <a:latin typeface="Arial" panose="020B0604020202020204" pitchFamily="34" charset="0"/>
            </a:endParaRPr>
          </a:p>
        </p:txBody>
      </p:sp>
      <p:sp>
        <p:nvSpPr>
          <p:cNvPr id="12290" name="Rectangle 2"/>
          <p:cNvSpPr>
            <a:spLocks noGrp="1" noRot="1" noChangeAspect="1" noTextEdit="1"/>
          </p:cNvSpPr>
          <p:nvPr>
            <p:ph type="sldImg"/>
          </p:nvPr>
        </p:nvSpPr>
        <p:spPr/>
      </p:sp>
      <p:sp>
        <p:nvSpPr>
          <p:cNvPr id="1229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7</a:t>
            </a:fld>
            <a:endParaRPr lang="en-US" altLang="zh-CN" sz="1200" dirty="0">
              <a:latin typeface="Arial" panose="020B0604020202020204" pitchFamily="34" charset="0"/>
            </a:endParaRPr>
          </a:p>
        </p:txBody>
      </p:sp>
      <p:sp>
        <p:nvSpPr>
          <p:cNvPr id="14338" name="Rectangle 2"/>
          <p:cNvSpPr>
            <a:spLocks noGrp="1" noRot="1" noChangeAspect="1" noTextEdit="1"/>
          </p:cNvSpPr>
          <p:nvPr>
            <p:ph type="sldImg"/>
          </p:nvPr>
        </p:nvSpPr>
        <p:spPr/>
      </p:sp>
      <p:sp>
        <p:nvSpPr>
          <p:cNvPr id="1433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8</a:t>
            </a:fld>
            <a:endParaRPr lang="en-US" altLang="zh-CN" sz="1200" dirty="0">
              <a:latin typeface="Arial" panose="020B0604020202020204" pitchFamily="34" charset="0"/>
            </a:endParaRPr>
          </a:p>
        </p:txBody>
      </p:sp>
      <p:sp>
        <p:nvSpPr>
          <p:cNvPr id="16386" name="Rectangle 2"/>
          <p:cNvSpPr>
            <a:spLocks noGrp="1" noRot="1" noChangeAspect="1" noTextEdit="1"/>
          </p:cNvSpPr>
          <p:nvPr>
            <p:ph type="sldImg"/>
          </p:nvPr>
        </p:nvSpPr>
        <p:spPr/>
      </p:sp>
      <p:sp>
        <p:nvSpPr>
          <p:cNvPr id="1638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9</a:t>
            </a:fld>
            <a:endParaRPr lang="en-US" altLang="zh-CN" sz="1200" dirty="0">
              <a:latin typeface="Arial" panose="020B0604020202020204" pitchFamily="34" charset="0"/>
            </a:endParaRPr>
          </a:p>
        </p:txBody>
      </p:sp>
      <p:sp>
        <p:nvSpPr>
          <p:cNvPr id="18434" name="Rectangle 2"/>
          <p:cNvSpPr>
            <a:spLocks noGrp="1" noRot="1" noChangeAspect="1" noTextEdit="1"/>
          </p:cNvSpPr>
          <p:nvPr>
            <p:ph type="sldImg"/>
          </p:nvPr>
        </p:nvSpPr>
        <p:spPr/>
      </p:sp>
      <p:sp>
        <p:nvSpPr>
          <p:cNvPr id="1843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10</a:t>
            </a:fld>
            <a:endParaRPr lang="en-US" altLang="zh-CN" sz="1200" dirty="0">
              <a:latin typeface="Arial" panose="020B0604020202020204" pitchFamily="34" charset="0"/>
            </a:endParaRPr>
          </a:p>
        </p:txBody>
      </p:sp>
      <p:sp>
        <p:nvSpPr>
          <p:cNvPr id="20482" name="Rectangle 2"/>
          <p:cNvSpPr>
            <a:spLocks noGrp="1" noRot="1" noChangeAspect="1" noTextEdit="1"/>
          </p:cNvSpPr>
          <p:nvPr>
            <p:ph type="sldImg"/>
          </p:nvPr>
        </p:nvSpPr>
        <p:spPr/>
      </p:sp>
      <p:sp>
        <p:nvSpPr>
          <p:cNvPr id="2048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12</a:t>
            </a:fld>
            <a:endParaRPr lang="en-US" altLang="zh-CN" sz="1200" dirty="0">
              <a:latin typeface="Arial" panose="020B0604020202020204" pitchFamily="34" charset="0"/>
            </a:endParaRPr>
          </a:p>
        </p:txBody>
      </p:sp>
      <p:sp>
        <p:nvSpPr>
          <p:cNvPr id="23554" name="Rectangle 2"/>
          <p:cNvSpPr>
            <a:spLocks noGrp="1" noRot="1" noChangeAspect="1" noTextEdit="1"/>
          </p:cNvSpPr>
          <p:nvPr>
            <p:ph type="sldImg"/>
          </p:nvPr>
        </p:nvSpPr>
        <p:spPr/>
      </p:sp>
      <p:sp>
        <p:nvSpPr>
          <p:cNvPr id="2355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13</a:t>
            </a:fld>
            <a:endParaRPr lang="en-US" altLang="zh-CN" sz="1200" dirty="0">
              <a:latin typeface="Arial" panose="020B0604020202020204" pitchFamily="34" charset="0"/>
            </a:endParaRPr>
          </a:p>
        </p:txBody>
      </p:sp>
      <p:sp>
        <p:nvSpPr>
          <p:cNvPr id="25602" name="Rectangle 2"/>
          <p:cNvSpPr>
            <a:spLocks noGrp="1" noRot="1" noChangeAspect="1" noTextEdit="1"/>
          </p:cNvSpPr>
          <p:nvPr>
            <p:ph type="sldImg"/>
          </p:nvPr>
        </p:nvSpPr>
        <p:spPr/>
      </p:sp>
      <p:sp>
        <p:nvSpPr>
          <p:cNvPr id="2560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14</a:t>
            </a:fld>
            <a:endParaRPr lang="en-US" altLang="zh-CN" sz="1200" dirty="0">
              <a:latin typeface="Arial" panose="020B0604020202020204" pitchFamily="34" charset="0"/>
            </a:endParaRPr>
          </a:p>
        </p:txBody>
      </p:sp>
      <p:sp>
        <p:nvSpPr>
          <p:cNvPr id="27650" name="Rectangle 2"/>
          <p:cNvSpPr>
            <a:spLocks noGrp="1" noRot="1" noChangeAspect="1" noTextEdit="1"/>
          </p:cNvSpPr>
          <p:nvPr>
            <p:ph type="sldImg"/>
          </p:nvPr>
        </p:nvSpPr>
        <p:spPr/>
      </p:sp>
      <p:sp>
        <p:nvSpPr>
          <p:cNvPr id="2765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15</a:t>
            </a:fld>
            <a:endParaRPr lang="en-US" altLang="zh-CN" sz="1200" dirty="0">
              <a:latin typeface="Arial" panose="020B0604020202020204" pitchFamily="34" charset="0"/>
            </a:endParaRPr>
          </a:p>
        </p:txBody>
      </p:sp>
      <p:sp>
        <p:nvSpPr>
          <p:cNvPr id="29698" name="Rectangle 2"/>
          <p:cNvSpPr>
            <a:spLocks noGrp="1" noRot="1" noChangeAspect="1" noTextEdit="1"/>
          </p:cNvSpPr>
          <p:nvPr>
            <p:ph type="sldImg"/>
          </p:nvPr>
        </p:nvSpPr>
        <p:spPr/>
      </p:sp>
      <p:sp>
        <p:nvSpPr>
          <p:cNvPr id="2969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19</a:t>
            </a:fld>
            <a:endParaRPr lang="en-US" altLang="zh-CN" sz="1200" dirty="0">
              <a:latin typeface="Arial" panose="020B0604020202020204" pitchFamily="34" charset="0"/>
            </a:endParaRPr>
          </a:p>
        </p:txBody>
      </p:sp>
      <p:sp>
        <p:nvSpPr>
          <p:cNvPr id="34818" name="Rectangle 2"/>
          <p:cNvSpPr>
            <a:spLocks noGrp="1" noRot="1" noChangeAspect="1" noTextEdit="1"/>
          </p:cNvSpPr>
          <p:nvPr>
            <p:ph type="sldImg"/>
          </p:nvPr>
        </p:nvSpPr>
        <p:spPr/>
      </p:sp>
      <p:sp>
        <p:nvSpPr>
          <p:cNvPr id="3481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24</a:t>
            </a:fld>
            <a:endParaRPr lang="en-US" altLang="zh-CN" sz="1200" dirty="0">
              <a:latin typeface="Arial" panose="020B0604020202020204" pitchFamily="34" charset="0"/>
            </a:endParaRPr>
          </a:p>
        </p:txBody>
      </p:sp>
      <p:sp>
        <p:nvSpPr>
          <p:cNvPr id="40962" name="Rectangle 2"/>
          <p:cNvSpPr>
            <a:spLocks noGrp="1" noRot="1" noChangeAspect="1" noTextEdit="1"/>
          </p:cNvSpPr>
          <p:nvPr>
            <p:ph type="sldImg"/>
          </p:nvPr>
        </p:nvSpPr>
        <p:spPr/>
      </p:sp>
      <p:sp>
        <p:nvSpPr>
          <p:cNvPr id="4096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28</a:t>
            </a:fld>
            <a:endParaRPr lang="en-US" altLang="zh-CN" sz="1200" dirty="0">
              <a:latin typeface="Arial" panose="020B0604020202020204" pitchFamily="34" charset="0"/>
            </a:endParaRPr>
          </a:p>
        </p:txBody>
      </p:sp>
      <p:sp>
        <p:nvSpPr>
          <p:cNvPr id="46082" name="Rectangle 2"/>
          <p:cNvSpPr>
            <a:spLocks noGrp="1" noRot="1" noChangeAspect="1" noTextEdit="1"/>
          </p:cNvSpPr>
          <p:nvPr>
            <p:ph type="sldImg"/>
          </p:nvPr>
        </p:nvSpPr>
        <p:spPr/>
      </p:sp>
      <p:sp>
        <p:nvSpPr>
          <p:cNvPr id="4608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30</a:t>
            </a:fld>
            <a:endParaRPr lang="en-US" altLang="zh-CN" sz="1200" dirty="0">
              <a:latin typeface="Arial" panose="020B0604020202020204" pitchFamily="34" charset="0"/>
            </a:endParaRPr>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31</a:t>
            </a:fld>
            <a:endParaRPr lang="en-US" altLang="zh-CN" sz="1200" dirty="0">
              <a:latin typeface="Arial" panose="020B0604020202020204" pitchFamily="34" charset="0"/>
            </a:endParaRPr>
          </a:p>
        </p:txBody>
      </p:sp>
      <p:sp>
        <p:nvSpPr>
          <p:cNvPr id="51202" name="Rectangle 2"/>
          <p:cNvSpPr>
            <a:spLocks noGrp="1" noRot="1" noChangeAspect="1" noTextEdit="1"/>
          </p:cNvSpPr>
          <p:nvPr>
            <p:ph type="sldImg"/>
          </p:nvPr>
        </p:nvSpPr>
        <p:spPr/>
      </p:sp>
      <p:sp>
        <p:nvSpPr>
          <p:cNvPr id="5120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32</a:t>
            </a:fld>
            <a:endParaRPr lang="en-US" altLang="zh-CN" sz="1200" dirty="0">
              <a:latin typeface="Arial" panose="020B0604020202020204" pitchFamily="34" charset="0"/>
            </a:endParaRPr>
          </a:p>
        </p:txBody>
      </p:sp>
      <p:sp>
        <p:nvSpPr>
          <p:cNvPr id="53250" name="Rectangle 2"/>
          <p:cNvSpPr>
            <a:spLocks noGrp="1" noRot="1" noChangeAspect="1" noTextEdit="1"/>
          </p:cNvSpPr>
          <p:nvPr>
            <p:ph type="sldImg"/>
          </p:nvPr>
        </p:nvSpPr>
        <p:spPr/>
      </p:sp>
      <p:sp>
        <p:nvSpPr>
          <p:cNvPr id="5325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33</a:t>
            </a:fld>
            <a:endParaRPr lang="en-US" altLang="zh-CN" sz="1200" dirty="0">
              <a:latin typeface="Arial" panose="020B0604020202020204" pitchFamily="34" charset="0"/>
            </a:endParaRPr>
          </a:p>
        </p:txBody>
      </p:sp>
      <p:sp>
        <p:nvSpPr>
          <p:cNvPr id="55298" name="Rectangle 2"/>
          <p:cNvSpPr>
            <a:spLocks noGrp="1" noRot="1" noChangeAspect="1" noTextEdit="1"/>
          </p:cNvSpPr>
          <p:nvPr>
            <p:ph type="sldImg"/>
          </p:nvPr>
        </p:nvSpPr>
        <p:spPr/>
      </p:sp>
      <p:sp>
        <p:nvSpPr>
          <p:cNvPr id="5529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34</a:t>
            </a:fld>
            <a:endParaRPr lang="en-US" altLang="zh-CN" sz="1200" dirty="0">
              <a:latin typeface="Arial" panose="020B0604020202020204" pitchFamily="34" charset="0"/>
            </a:endParaRPr>
          </a:p>
        </p:txBody>
      </p:sp>
      <p:sp>
        <p:nvSpPr>
          <p:cNvPr id="57346" name="Rectangle 2"/>
          <p:cNvSpPr>
            <a:spLocks noGrp="1" noRot="1" noChangeAspect="1" noTextEdit="1"/>
          </p:cNvSpPr>
          <p:nvPr>
            <p:ph type="sldImg"/>
          </p:nvPr>
        </p:nvSpPr>
        <p:spPr/>
      </p:sp>
      <p:sp>
        <p:nvSpPr>
          <p:cNvPr id="5734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35</a:t>
            </a:fld>
            <a:endParaRPr lang="en-US" altLang="zh-CN" sz="1200" dirty="0">
              <a:latin typeface="Arial" panose="020B0604020202020204" pitchFamily="34" charset="0"/>
            </a:endParaRPr>
          </a:p>
        </p:txBody>
      </p:sp>
      <p:sp>
        <p:nvSpPr>
          <p:cNvPr id="59394" name="Rectangle 2"/>
          <p:cNvSpPr>
            <a:spLocks noGrp="1" noRot="1" noChangeAspect="1" noTextEdit="1"/>
          </p:cNvSpPr>
          <p:nvPr>
            <p:ph type="sldImg"/>
          </p:nvPr>
        </p:nvSpPr>
        <p:spPr/>
      </p:sp>
      <p:sp>
        <p:nvSpPr>
          <p:cNvPr id="59395"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36</a:t>
            </a:fld>
            <a:endParaRPr lang="en-US" altLang="zh-CN" sz="1200" dirty="0">
              <a:latin typeface="Arial" panose="020B0604020202020204" pitchFamily="34" charset="0"/>
            </a:endParaRPr>
          </a:p>
        </p:txBody>
      </p:sp>
      <p:sp>
        <p:nvSpPr>
          <p:cNvPr id="61442" name="Rectangle 2"/>
          <p:cNvSpPr>
            <a:spLocks noGrp="1" noRot="1" noChangeAspect="1" noTextEdit="1"/>
          </p:cNvSpPr>
          <p:nvPr>
            <p:ph type="sldImg"/>
          </p:nvPr>
        </p:nvSpPr>
        <p:spPr/>
      </p:sp>
      <p:sp>
        <p:nvSpPr>
          <p:cNvPr id="6144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37</a:t>
            </a:fld>
            <a:endParaRPr lang="en-US" altLang="zh-CN" sz="1200" dirty="0">
              <a:latin typeface="Arial" panose="020B0604020202020204" pitchFamily="34" charset="0"/>
            </a:endParaRPr>
          </a:p>
        </p:txBody>
      </p:sp>
      <p:sp>
        <p:nvSpPr>
          <p:cNvPr id="63490" name="Rectangle 2"/>
          <p:cNvSpPr>
            <a:spLocks noGrp="1" noRot="1" noChangeAspect="1" noTextEdit="1"/>
          </p:cNvSpPr>
          <p:nvPr>
            <p:ph type="sldImg"/>
          </p:nvPr>
        </p:nvSpPr>
        <p:spPr/>
      </p:sp>
      <p:sp>
        <p:nvSpPr>
          <p:cNvPr id="63491"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38</a:t>
            </a:fld>
            <a:endParaRPr lang="en-US" altLang="zh-CN" sz="1200" dirty="0">
              <a:latin typeface="Arial" panose="020B0604020202020204" pitchFamily="34" charset="0"/>
            </a:endParaRPr>
          </a:p>
        </p:txBody>
      </p:sp>
      <p:sp>
        <p:nvSpPr>
          <p:cNvPr id="65538" name="Rectangle 2"/>
          <p:cNvSpPr>
            <a:spLocks noGrp="1" noRot="1" noChangeAspect="1" noTextEdit="1"/>
          </p:cNvSpPr>
          <p:nvPr>
            <p:ph type="sldImg"/>
          </p:nvPr>
        </p:nvSpPr>
        <p:spPr/>
      </p:sp>
      <p:sp>
        <p:nvSpPr>
          <p:cNvPr id="65539"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6370B29-6E54-4575-A138-E5303D1EB16F}" type="slidenum">
              <a:rPr altLang="zh-CN" smtClean="0">
                <a:latin typeface="Arial" panose="020B0604020202020204" pitchFamily="34" charset="0"/>
              </a:rPr>
              <a:pPr/>
              <a:t>39</a:t>
            </a:fld>
            <a:endParaRPr lang="zh-CN" altLang="zh-CN" smtClean="0">
              <a:latin typeface="Arial" panose="020B0604020202020204" pitchFamily="34" charset="0"/>
            </a:endParaRPr>
          </a:p>
        </p:txBody>
      </p:sp>
      <p:sp>
        <p:nvSpPr>
          <p:cNvPr id="10243" name="Rectangle 2"/>
          <p:cNvSpPr>
            <a:spLocks noGrp="1" noRot="1" noChangeAspect="1" noTextEdit="1"/>
          </p:cNvSpPr>
          <p:nvPr>
            <p:ph type="sldImg"/>
          </p:nvPr>
        </p:nvSpPr>
        <p:spPr>
          <a:ln/>
        </p:spPr>
      </p:sp>
      <p:sp>
        <p:nvSpPr>
          <p:cNvPr id="10244" name="Rectangle 3"/>
          <p:cNvSpPr>
            <a:spLocks noGrp="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2353384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0AEC78C-9A48-40B6-A8CC-FC3EF00F71FA}" type="slidenum">
              <a:rPr altLang="zh-CN" smtClean="0">
                <a:latin typeface="Arial" panose="020B0604020202020204" pitchFamily="34" charset="0"/>
              </a:rPr>
              <a:pPr/>
              <a:t>40</a:t>
            </a:fld>
            <a:endParaRPr lang="zh-CN" altLang="zh-CN" smtClean="0">
              <a:latin typeface="Arial" panose="020B0604020202020204" pitchFamily="34" charset="0"/>
            </a:endParaRPr>
          </a:p>
        </p:txBody>
      </p:sp>
      <p:sp>
        <p:nvSpPr>
          <p:cNvPr id="12291" name="Rectangle 2"/>
          <p:cNvSpPr>
            <a:spLocks noGrp="1" noRot="1" noChangeAspect="1" noTextEdit="1"/>
          </p:cNvSpPr>
          <p:nvPr>
            <p:ph type="sldImg"/>
          </p:nvPr>
        </p:nvSpPr>
        <p:spPr>
          <a:ln/>
        </p:spPr>
      </p:sp>
      <p:sp>
        <p:nvSpPr>
          <p:cNvPr id="12292" name="Rectangle 3"/>
          <p:cNvSpPr>
            <a:spLocks noGrp="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3511559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DA69E6B-7408-48C6-A9AA-D902915535F4}" type="slidenum">
              <a:rPr altLang="zh-CN" smtClean="0">
                <a:latin typeface="Arial" panose="020B0604020202020204" pitchFamily="34" charset="0"/>
              </a:rPr>
              <a:pPr/>
              <a:t>41</a:t>
            </a:fld>
            <a:endParaRPr lang="zh-CN" altLang="zh-CN" smtClean="0">
              <a:latin typeface="Arial" panose="020B0604020202020204" pitchFamily="34" charset="0"/>
            </a:endParaRPr>
          </a:p>
        </p:txBody>
      </p:sp>
      <p:sp>
        <p:nvSpPr>
          <p:cNvPr id="14339" name="Rectangle 2"/>
          <p:cNvSpPr>
            <a:spLocks noGrp="1" noRot="1" noChangeAspect="1" noTextEdit="1"/>
          </p:cNvSpPr>
          <p:nvPr>
            <p:ph type="sldImg"/>
          </p:nvPr>
        </p:nvSpPr>
        <p:spPr>
          <a:ln/>
        </p:spPr>
      </p:sp>
      <p:sp>
        <p:nvSpPr>
          <p:cNvPr id="14340" name="Rectangle 3"/>
          <p:cNvSpPr>
            <a:spLocks noGrp="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2399080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9210002-CDEF-4BEB-913E-B8317E9EC4F5}" type="slidenum">
              <a:rPr altLang="zh-CN" smtClean="0">
                <a:latin typeface="Arial" panose="020B0604020202020204" pitchFamily="34" charset="0"/>
              </a:rPr>
              <a:pPr/>
              <a:t>42</a:t>
            </a:fld>
            <a:endParaRPr lang="zh-CN" altLang="zh-CN" smtClean="0">
              <a:latin typeface="Arial" panose="020B0604020202020204" pitchFamily="34" charset="0"/>
            </a:endParaRPr>
          </a:p>
        </p:txBody>
      </p:sp>
      <p:sp>
        <p:nvSpPr>
          <p:cNvPr id="16387" name="Rectangle 2"/>
          <p:cNvSpPr>
            <a:spLocks noGrp="1" noRot="1" noChangeAspect="1" noTextEdit="1"/>
          </p:cNvSpPr>
          <p:nvPr>
            <p:ph type="sldImg"/>
          </p:nvPr>
        </p:nvSpPr>
        <p:spPr>
          <a:ln/>
        </p:spPr>
      </p:sp>
      <p:sp>
        <p:nvSpPr>
          <p:cNvPr id="16388" name="Rectangle 3"/>
          <p:cNvSpPr>
            <a:spLocks noGrp="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359158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FCD846F-F346-41A4-B085-6C867593A220}" type="slidenum">
              <a:rPr altLang="zh-CN" smtClean="0">
                <a:latin typeface="Arial" panose="020B0604020202020204" pitchFamily="34" charset="0"/>
              </a:rPr>
              <a:pPr/>
              <a:t>43</a:t>
            </a:fld>
            <a:endParaRPr lang="zh-CN" altLang="zh-CN" smtClean="0">
              <a:latin typeface="Arial" panose="020B0604020202020204" pitchFamily="34" charset="0"/>
            </a:endParaRPr>
          </a:p>
        </p:txBody>
      </p:sp>
      <p:sp>
        <p:nvSpPr>
          <p:cNvPr id="18435" name="Rectangle 2"/>
          <p:cNvSpPr>
            <a:spLocks noGrp="1" noRot="1" noChangeAspect="1" noTextEdit="1"/>
          </p:cNvSpPr>
          <p:nvPr>
            <p:ph type="sldImg"/>
          </p:nvPr>
        </p:nvSpPr>
        <p:spPr>
          <a:ln/>
        </p:spPr>
      </p:sp>
      <p:sp>
        <p:nvSpPr>
          <p:cNvPr id="18436" name="Rectangle 3"/>
          <p:cNvSpPr>
            <a:spLocks noGrp="1"/>
          </p:cNvSpPr>
          <p:nvPr>
            <p:ph type="body"/>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23274018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771D92E-D055-43EC-BE5C-27DBE15E089C}" type="slidenum">
              <a:rPr altLang="zh-CN" smtClean="0">
                <a:latin typeface="Arial" panose="020B0604020202020204" pitchFamily="34" charset="0"/>
              </a:rPr>
              <a:pPr/>
              <a:t>44</a:t>
            </a:fld>
            <a:endParaRPr lang="zh-CN" altLang="zh-CN" smtClean="0">
              <a:latin typeface="Arial" panose="020B0604020202020204" pitchFamily="34" charset="0"/>
            </a:endParaRPr>
          </a:p>
        </p:txBody>
      </p:sp>
      <p:sp>
        <p:nvSpPr>
          <p:cNvPr id="20483" name="Rectangle 2"/>
          <p:cNvSpPr>
            <a:spLocks noGrp="1" noRot="1" noChangeAspect="1" noChangeArrowheads="1" noTextEdit="1"/>
          </p:cNvSpPr>
          <p:nvPr>
            <p:ph type="sldImg" idx="4294967295"/>
          </p:nvPr>
        </p:nvSpPr>
        <p:spPr>
          <a:ln/>
        </p:spPr>
      </p:sp>
      <p:sp>
        <p:nvSpPr>
          <p:cNvPr id="20484"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467622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42D74E6-1006-48F2-A864-86C1C874DCDF}" type="slidenum">
              <a:rPr altLang="zh-CN" smtClean="0">
                <a:latin typeface="Arial" panose="020B0604020202020204" pitchFamily="34" charset="0"/>
              </a:rPr>
              <a:pPr/>
              <a:t>45</a:t>
            </a:fld>
            <a:endParaRPr lang="zh-CN" altLang="zh-CN" smtClean="0">
              <a:latin typeface="Arial" panose="020B0604020202020204" pitchFamily="34" charset="0"/>
            </a:endParaRPr>
          </a:p>
        </p:txBody>
      </p:sp>
      <p:sp>
        <p:nvSpPr>
          <p:cNvPr id="22531" name="Rectangle 2"/>
          <p:cNvSpPr>
            <a:spLocks noGrp="1" noRot="1" noChangeAspect="1" noChangeArrowheads="1" noTextEdit="1"/>
          </p:cNvSpPr>
          <p:nvPr>
            <p:ph type="sldImg" idx="4294967295"/>
          </p:nvPr>
        </p:nvSpPr>
        <p:spPr>
          <a:ln/>
        </p:spPr>
      </p:sp>
      <p:sp>
        <p:nvSpPr>
          <p:cNvPr id="22532"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41690519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EB919F8-0D5B-403C-93C9-4502001A4106}" type="slidenum">
              <a:rPr altLang="zh-CN" smtClean="0">
                <a:latin typeface="Arial" panose="020B0604020202020204" pitchFamily="34" charset="0"/>
              </a:rPr>
              <a:pPr/>
              <a:t>46</a:t>
            </a:fld>
            <a:endParaRPr lang="zh-CN" altLang="zh-CN" smtClean="0">
              <a:latin typeface="Arial" panose="020B0604020202020204" pitchFamily="34" charset="0"/>
            </a:endParaRPr>
          </a:p>
        </p:txBody>
      </p:sp>
      <p:sp>
        <p:nvSpPr>
          <p:cNvPr id="24579" name="Rectangle 2"/>
          <p:cNvSpPr>
            <a:spLocks noGrp="1" noRot="1" noChangeAspect="1" noChangeArrowheads="1" noTextEdit="1"/>
          </p:cNvSpPr>
          <p:nvPr>
            <p:ph type="sldImg" idx="4294967295"/>
          </p:nvPr>
        </p:nvSpPr>
        <p:spPr>
          <a:ln/>
        </p:spPr>
      </p:sp>
      <p:sp>
        <p:nvSpPr>
          <p:cNvPr id="24580" name="Rectangle 3"/>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smtClean="0"/>
          </a:p>
        </p:txBody>
      </p:sp>
    </p:spTree>
    <p:extLst>
      <p:ext uri="{BB962C8B-B14F-4D97-AF65-F5344CB8AC3E}">
        <p14:creationId xmlns:p14="http://schemas.microsoft.com/office/powerpoint/2010/main" val="28654697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txBox="1">
            <a:spLocks noGrp="1"/>
          </p:cNvSpPr>
          <p:nvPr>
            <p:ph type="sldNum" sz="quarter"/>
          </p:nvPr>
        </p:nvSpPr>
        <p:spPr>
          <a:xfrm>
            <a:off x="3778250" y="9428163"/>
            <a:ext cx="2889250" cy="496887"/>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en-US" altLang="zh-CN" sz="1200" dirty="0">
                <a:latin typeface="Arial" panose="020B0604020202020204" pitchFamily="34" charset="0"/>
              </a:rPr>
              <a:t>47</a:t>
            </a:fld>
            <a:endParaRPr lang="en-US" altLang="zh-CN" sz="1200" dirty="0">
              <a:latin typeface="Arial" panose="020B0604020202020204" pitchFamily="34" charset="0"/>
            </a:endParaRPr>
          </a:p>
        </p:txBody>
      </p:sp>
      <p:sp>
        <p:nvSpPr>
          <p:cNvPr id="81922" name="Rectangle 2"/>
          <p:cNvSpPr>
            <a:spLocks noGrp="1" noRot="1" noChangeAspect="1" noTextEdit="1"/>
          </p:cNvSpPr>
          <p:nvPr>
            <p:ph type="sldImg"/>
          </p:nvPr>
        </p:nvSpPr>
        <p:spPr/>
      </p:sp>
      <p:sp>
        <p:nvSpPr>
          <p:cNvPr id="81923"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blip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4803343" y="0"/>
              </a:cxn>
              <a:cxn ang="0">
                <a:pos x="4803343" y="109538"/>
              </a:cxn>
              <a:cxn ang="0">
                <a:pos x="0" y="109538"/>
              </a:cxn>
              <a:cxn ang="0">
                <a:pos x="0" y="0"/>
              </a:cxn>
              <a:cxn ang="0">
                <a:pos x="0" y="0"/>
              </a:cxn>
              <a:cxn ang="0">
                <a:pos x="7772400" y="0"/>
              </a:cxn>
            </a:cxnLst>
            <a:rect l="0" t="0" r="0" b="0"/>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4000"/>
            </a:lvl1pPr>
          </a:lstStyle>
          <a:p>
            <a:pPr fontAlgn="base"/>
            <a:r>
              <a:rPr lang="zh-CN" altLang="en-US" strike="noStrike" noProof="1"/>
              <a:t>单击此处编辑母版标题样式</a:t>
            </a:r>
          </a:p>
        </p:txBody>
      </p:sp>
      <p:sp>
        <p:nvSpPr>
          <p:cNvPr id="512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p>
        </p:txBody>
      </p:sp>
      <p:sp>
        <p:nvSpPr>
          <p:cNvPr id="1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5561E42-3374-4497-85D0-A7913E0D4BA3}"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FE1B612-8AE1-4AB1-9213-C08695E1DA9B}"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571500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574675" y="304800"/>
            <a:ext cx="8001000" cy="1216025"/>
          </a:xfrm>
          <a:prstGeom prst="rect">
            <a:avLst/>
          </a:prstGeom>
          <a:noFill/>
          <a:ln w="9525">
            <a:noFill/>
          </a:ln>
        </p:spPr>
        <p:txBody>
          <a:bodyPr anchor="b" anchorCtr="0"/>
          <a:lstStyle/>
          <a:p>
            <a:pPr lvl="0"/>
            <a:r>
              <a:rPr lang="zh-CN" altLang="en-US" dirty="0"/>
              <a:t>单击此处编辑母版标题样式</a:t>
            </a:r>
          </a:p>
        </p:txBody>
      </p:sp>
      <p:sp>
        <p:nvSpPr>
          <p:cNvPr id="1027" name="Rectangle 3"/>
          <p:cNvSpPr>
            <a:spLocks noGrp="1"/>
          </p:cNvSpPr>
          <p:nvPr>
            <p:ph type="body"/>
          </p:nvPr>
        </p:nvSpPr>
        <p:spPr>
          <a:xfrm>
            <a:off x="566738" y="1752600"/>
            <a:ext cx="8001000" cy="42672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AutoShape 4"/>
          <p:cNvSpPr/>
          <p:nvPr/>
        </p:nvSpPr>
        <p:spPr>
          <a:xfrm>
            <a:off x="609600" y="1566863"/>
            <a:ext cx="7958138" cy="109537"/>
          </a:xfrm>
          <a:custGeom>
            <a:avLst/>
            <a:gdLst/>
            <a:ahLst/>
            <a:cxnLst>
              <a:cxn ang="0">
                <a:pos x="0" y="0"/>
              </a:cxn>
              <a:cxn ang="0">
                <a:pos x="4655511" y="0"/>
              </a:cxn>
              <a:cxn ang="0">
                <a:pos x="4655511" y="109537"/>
              </a:cxn>
              <a:cxn ang="0">
                <a:pos x="0" y="109537"/>
              </a:cxn>
              <a:cxn ang="0">
                <a:pos x="0" y="0"/>
              </a:cxn>
              <a:cxn ang="0">
                <a:pos x="0" y="0"/>
              </a:cxn>
              <a:cxn ang="0">
                <a:pos x="7958138" y="0"/>
              </a:cxn>
            </a:cxnLst>
            <a:rect l="0" t="0" r="0" b="0"/>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endParaRPr lang="zh-CN" altLang="en-US"/>
          </a:p>
        </p:txBody>
      </p:sp>
      <p:sp>
        <p:nvSpPr>
          <p:cNvPr id="1029" name="Line 5"/>
          <p:cNvSpPr/>
          <p:nvPr/>
        </p:nvSpPr>
        <p:spPr>
          <a:xfrm flipV="1">
            <a:off x="609600" y="6172200"/>
            <a:ext cx="7924800" cy="0"/>
          </a:xfrm>
          <a:prstGeom prst="line">
            <a:avLst/>
          </a:prstGeom>
          <a:ln w="3175" cap="flat" cmpd="sng">
            <a:solidFill>
              <a:schemeClr val="accent2"/>
            </a:solidFill>
            <a:prstDash val="solid"/>
            <a:round/>
            <a:headEnd type="none" w="med" len="med"/>
            <a:tailEnd type="none" w="med" len="med"/>
          </a:ln>
        </p:spPr>
      </p:sp>
      <p:sp>
        <p:nvSpPr>
          <p:cNvPr id="4102"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fld id="{05657353-D58E-491F-82C8-D579584BA021}"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2025/9/2</a:t>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3"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104"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noProof="1" dirty="0"/>
            </a:lvl1pPr>
          </a:lstStyle>
          <a:p>
            <a:pPr marL="0" marR="0" lvl="0" indent="0" algn="r" defTabSz="914400" rtl="0" eaLnBrk="1" fontAlgn="base" latinLnBrk="0" hangingPunct="1">
              <a:lnSpc>
                <a:spcPct val="100000"/>
              </a:lnSpc>
              <a:spcBef>
                <a:spcPct val="0"/>
              </a:spcBef>
              <a:spcAft>
                <a:spcPct val="0"/>
              </a:spcAft>
              <a:buClrTx/>
              <a:buSzTx/>
              <a:buFontTx/>
              <a:buNone/>
              <a:defRPr/>
            </a:pPr>
            <a:fld id="{7864F62C-89A0-489B-9896-9A5E4C480999}" type="slidenum">
              <a:rPr kumimoji="0" lang="en-US" altLang="zh-CN"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image" Target="../media/image8.wmf"/><Relationship Id="rId2" Type="http://schemas.openxmlformats.org/officeDocument/2006/relationships/slideLayout" Target="../slideLayouts/slideLayout7.xml"/><Relationship Id="rId16" Type="http://schemas.openxmlformats.org/officeDocument/2006/relationships/oleObject" Target="../embeddings/oleObject8.bin"/><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7.wmf"/><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2.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oleObject" Target="../embeddings/oleObject16.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8.wmf"/><Relationship Id="rId4" Type="http://schemas.openxmlformats.org/officeDocument/2006/relationships/oleObject" Target="../embeddings/oleObject17.bin"/></Relationships>
</file>

<file path=ppt/slides/_rels/slide15.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notesSlide" Target="../notesSlides/notesSlide10.xml"/><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9.wmf"/><Relationship Id="rId5" Type="http://schemas.openxmlformats.org/officeDocument/2006/relationships/oleObject" Target="../embeddings/oleObject18.bin"/><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3.bin"/><Relationship Id="rId5" Type="http://schemas.openxmlformats.org/officeDocument/2006/relationships/image" Target="../media/image24.wmf"/><Relationship Id="rId4"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7.wmf"/><Relationship Id="rId5" Type="http://schemas.openxmlformats.org/officeDocument/2006/relationships/oleObject" Target="../embeddings/oleObject25.bin"/><Relationship Id="rId4" Type="http://schemas.openxmlformats.org/officeDocument/2006/relationships/image" Target="../media/image26.wmf"/></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1.png"/><Relationship Id="rId5" Type="http://schemas.openxmlformats.org/officeDocument/2006/relationships/image" Target="../media/image29.wmf"/><Relationship Id="rId4" Type="http://schemas.openxmlformats.org/officeDocument/2006/relationships/oleObject" Target="../embeddings/oleObject27.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3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33.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5.wmf"/><Relationship Id="rId5" Type="http://schemas.openxmlformats.org/officeDocument/2006/relationships/oleObject" Target="../embeddings/oleObject31.bin"/><Relationship Id="rId4" Type="http://schemas.openxmlformats.org/officeDocument/2006/relationships/image" Target="../media/image3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8.wmf"/><Relationship Id="rId5" Type="http://schemas.openxmlformats.org/officeDocument/2006/relationships/oleObject" Target="../embeddings/oleObject34.bin"/><Relationship Id="rId4" Type="http://schemas.openxmlformats.org/officeDocument/2006/relationships/image" Target="../media/image37.w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vmlDrawing" Target="../drawings/vmlDrawing16.vml"/><Relationship Id="rId5" Type="http://schemas.openxmlformats.org/officeDocument/2006/relationships/image" Target="../media/image40.wmf"/><Relationship Id="rId4" Type="http://schemas.openxmlformats.org/officeDocument/2006/relationships/oleObject" Target="../embeddings/oleObject36.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38.bin"/><Relationship Id="rId5" Type="http://schemas.openxmlformats.org/officeDocument/2006/relationships/image" Target="../media/image41.wmf"/><Relationship Id="rId4" Type="http://schemas.openxmlformats.org/officeDocument/2006/relationships/oleObject" Target="../embeddings/oleObject37.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0.bin"/><Relationship Id="rId5" Type="http://schemas.openxmlformats.org/officeDocument/2006/relationships/image" Target="../media/image43.wmf"/><Relationship Id="rId4" Type="http://schemas.openxmlformats.org/officeDocument/2006/relationships/oleObject" Target="../embeddings/oleObject39.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notesSlide" Target="../notesSlides/notesSlide17.xml"/><Relationship Id="rId7"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42.bin"/><Relationship Id="rId5" Type="http://schemas.openxmlformats.org/officeDocument/2006/relationships/image" Target="../media/image45.wmf"/><Relationship Id="rId4" Type="http://schemas.openxmlformats.org/officeDocument/2006/relationships/oleObject" Target="../embeddings/oleObject41.bin"/><Relationship Id="rId9" Type="http://schemas.openxmlformats.org/officeDocument/2006/relationships/image" Target="../media/image47.w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49.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45.bin"/><Relationship Id="rId5" Type="http://schemas.openxmlformats.org/officeDocument/2006/relationships/image" Target="../media/image48.wmf"/><Relationship Id="rId4" Type="http://schemas.openxmlformats.org/officeDocument/2006/relationships/oleObject" Target="../embeddings/oleObject44.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notesSlide" Target="../notesSlides/notesSlide19.xml"/><Relationship Id="rId7"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47.bin"/><Relationship Id="rId11" Type="http://schemas.openxmlformats.org/officeDocument/2006/relationships/image" Target="../media/image53.wmf"/><Relationship Id="rId5" Type="http://schemas.openxmlformats.org/officeDocument/2006/relationships/image" Target="../media/image50.wmf"/><Relationship Id="rId10" Type="http://schemas.openxmlformats.org/officeDocument/2006/relationships/oleObject" Target="../embeddings/oleObject49.bin"/><Relationship Id="rId4" Type="http://schemas.openxmlformats.org/officeDocument/2006/relationships/oleObject" Target="../embeddings/oleObject46.bin"/><Relationship Id="rId9" Type="http://schemas.openxmlformats.org/officeDocument/2006/relationships/image" Target="../media/image52.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55.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1.bin"/><Relationship Id="rId5" Type="http://schemas.openxmlformats.org/officeDocument/2006/relationships/image" Target="../media/image54.wmf"/><Relationship Id="rId4" Type="http://schemas.openxmlformats.org/officeDocument/2006/relationships/oleObject" Target="../embeddings/oleObject50.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57.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53.bin"/><Relationship Id="rId5" Type="http://schemas.openxmlformats.org/officeDocument/2006/relationships/image" Target="../media/image56.wmf"/><Relationship Id="rId4" Type="http://schemas.openxmlformats.org/officeDocument/2006/relationships/oleObject" Target="../embeddings/oleObject52.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62.wmf"/><Relationship Id="rId3" Type="http://schemas.openxmlformats.org/officeDocument/2006/relationships/notesSlide" Target="../notesSlides/notesSlide22.xml"/><Relationship Id="rId7" Type="http://schemas.openxmlformats.org/officeDocument/2006/relationships/image" Target="../media/image59.wmf"/><Relationship Id="rId12"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55.bin"/><Relationship Id="rId11" Type="http://schemas.openxmlformats.org/officeDocument/2006/relationships/image" Target="../media/image61.wmf"/><Relationship Id="rId5" Type="http://schemas.openxmlformats.org/officeDocument/2006/relationships/image" Target="../media/image58.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60.w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64.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60.bin"/><Relationship Id="rId5" Type="http://schemas.openxmlformats.org/officeDocument/2006/relationships/image" Target="../media/image63.wmf"/><Relationship Id="rId4" Type="http://schemas.openxmlformats.org/officeDocument/2006/relationships/oleObject" Target="../embeddings/oleObject59.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66.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62.bin"/><Relationship Id="rId5" Type="http://schemas.openxmlformats.org/officeDocument/2006/relationships/image" Target="../media/image65.wmf"/><Relationship Id="rId4" Type="http://schemas.openxmlformats.org/officeDocument/2006/relationships/oleObject" Target="../embeddings/oleObject61.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67.wmf"/><Relationship Id="rId4" Type="http://schemas.openxmlformats.org/officeDocument/2006/relationships/oleObject" Target="../embeddings/oleObject6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notesSlide" Target="../notesSlides/notesSlide26.xml"/><Relationship Id="rId7" Type="http://schemas.openxmlformats.org/officeDocument/2006/relationships/image" Target="../media/image69.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65.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67.bin"/><Relationship Id="rId4" Type="http://schemas.openxmlformats.org/officeDocument/2006/relationships/oleObject" Target="../embeddings/oleObject64.bin"/><Relationship Id="rId9" Type="http://schemas.openxmlformats.org/officeDocument/2006/relationships/image" Target="../media/image70.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62.wmf"/><Relationship Id="rId3" Type="http://schemas.openxmlformats.org/officeDocument/2006/relationships/notesSlide" Target="../notesSlides/notesSlide27.xml"/><Relationship Id="rId7" Type="http://schemas.openxmlformats.org/officeDocument/2006/relationships/image" Target="../media/image59.wmf"/><Relationship Id="rId12"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69.bin"/><Relationship Id="rId11" Type="http://schemas.openxmlformats.org/officeDocument/2006/relationships/image" Target="../media/image61.wmf"/><Relationship Id="rId5" Type="http://schemas.openxmlformats.org/officeDocument/2006/relationships/image" Target="../media/image58.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60.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notesSlide" Target="../notesSlides/notesSlide28.xml"/><Relationship Id="rId7" Type="http://schemas.openxmlformats.org/officeDocument/2006/relationships/image" Target="../media/image73.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74.bin"/><Relationship Id="rId5" Type="http://schemas.openxmlformats.org/officeDocument/2006/relationships/image" Target="../media/image72.wmf"/><Relationship Id="rId4" Type="http://schemas.openxmlformats.org/officeDocument/2006/relationships/oleObject" Target="../embeddings/oleObject73.bin"/><Relationship Id="rId9" Type="http://schemas.openxmlformats.org/officeDocument/2006/relationships/image" Target="../media/image74.wmf"/></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75.wmf"/><Relationship Id="rId4" Type="http://schemas.openxmlformats.org/officeDocument/2006/relationships/oleObject" Target="../embeddings/oleObject76.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notesSlide" Target="../notesSlides/notesSlide30.xml"/><Relationship Id="rId7" Type="http://schemas.openxmlformats.org/officeDocument/2006/relationships/image" Target="../media/image77.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78.bin"/><Relationship Id="rId5" Type="http://schemas.openxmlformats.org/officeDocument/2006/relationships/image" Target="../media/image76.wmf"/><Relationship Id="rId4" Type="http://schemas.openxmlformats.org/officeDocument/2006/relationships/oleObject" Target="../embeddings/oleObject77.bin"/><Relationship Id="rId9" Type="http://schemas.openxmlformats.org/officeDocument/2006/relationships/image" Target="../media/image78.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日期占位符 1"/>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0">
              <a:rPr lang="zh-CN" altLang="en-US" sz="1200" dirty="0"/>
              <a:t>14:15</a:t>
            </a:fld>
            <a:endParaRPr lang="zh-CN" altLang="en-US" sz="1200" dirty="0"/>
          </a:p>
        </p:txBody>
      </p:sp>
      <p:sp>
        <p:nvSpPr>
          <p:cNvPr id="5122" name="灯片编号占位符 3"/>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a:t>
            </a:fld>
            <a:endParaRPr lang="en-US" altLang="zh-CN" sz="1200" dirty="0"/>
          </a:p>
        </p:txBody>
      </p:sp>
      <p:sp>
        <p:nvSpPr>
          <p:cNvPr id="5123" name="Text Box 2"/>
          <p:cNvSpPr txBox="1"/>
          <p:nvPr/>
        </p:nvSpPr>
        <p:spPr>
          <a:xfrm>
            <a:off x="827088" y="836613"/>
            <a:ext cx="3026410" cy="672465"/>
          </a:xfrm>
          <a:prstGeom prst="rect">
            <a:avLst/>
          </a:prstGeom>
          <a:noFill/>
          <a:ln w="9525">
            <a:noFill/>
          </a:ln>
        </p:spPr>
        <p:txBody>
          <a:bodyPr wrap="none" anchor="t" anchorCtr="0">
            <a:spAutoFit/>
          </a:bodyPr>
          <a:lstStyle/>
          <a:p>
            <a:pPr eaLnBrk="0" hangingPunct="0">
              <a:lnSpc>
                <a:spcPct val="135000"/>
              </a:lnSpc>
              <a:buFont typeface="Wingdings" panose="05000000000000000000" pitchFamily="2" charset="2"/>
              <a:buChar char="l"/>
            </a:pPr>
            <a:r>
              <a:rPr lang="zh-CN" altLang="en-US" sz="2800" dirty="0">
                <a:latin typeface="Times New Roman" panose="02020603050405020304" pitchFamily="18" charset="0"/>
                <a:ea typeface="黑体" panose="02010609060101010101" pitchFamily="49" charset="-122"/>
              </a:rPr>
              <a:t> 典型的控制信号</a:t>
            </a:r>
            <a:endParaRPr lang="en-US" altLang="zh-CN" sz="2800" dirty="0">
              <a:latin typeface="Times New Roman" panose="02020603050405020304" pitchFamily="18" charset="0"/>
              <a:ea typeface="黑体" panose="02010609060101010101" pitchFamily="49" charset="-122"/>
            </a:endParaRPr>
          </a:p>
        </p:txBody>
      </p:sp>
      <p:sp>
        <p:nvSpPr>
          <p:cNvPr id="5124" name="Text Box 3"/>
          <p:cNvSpPr txBox="1"/>
          <p:nvPr/>
        </p:nvSpPr>
        <p:spPr>
          <a:xfrm>
            <a:off x="395288" y="1773238"/>
            <a:ext cx="8497887" cy="2246312"/>
          </a:xfrm>
          <a:prstGeom prst="rect">
            <a:avLst/>
          </a:prstGeom>
          <a:noFill/>
          <a:ln w="9525">
            <a:noFill/>
          </a:ln>
        </p:spPr>
        <p:txBody>
          <a:bodyPr anchor="t" anchorCtr="0">
            <a:spAutoFit/>
          </a:bodyPr>
          <a:lstStyle/>
          <a:p>
            <a:pPr eaLnBrk="0" hangingPunct="0"/>
            <a:r>
              <a:rPr lang="en-US" altLang="zh-CN" sz="20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工程实践中，自动控制系统受到的外作用形式多种多样。不同形式的外作用，被控量的变化情况各不相同。为了便于用统一的方法研究和比较控制系统的性能，通常选用几种确定性函数作为典型的外作用信号。这几种信号应具备以下条件：</a:t>
            </a:r>
          </a:p>
        </p:txBody>
      </p:sp>
      <p:sp>
        <p:nvSpPr>
          <p:cNvPr id="14" name="Text Box 5"/>
          <p:cNvSpPr txBox="1">
            <a:spLocks noChangeArrowheads="1"/>
          </p:cNvSpPr>
          <p:nvPr/>
        </p:nvSpPr>
        <p:spPr bwMode="auto">
          <a:xfrm>
            <a:off x="1042988" y="4005263"/>
            <a:ext cx="5572125" cy="522288"/>
          </a:xfrm>
          <a:prstGeom prst="rect">
            <a:avLst/>
          </a:prstGeom>
          <a:noFill/>
          <a:ln w="9525">
            <a:noFill/>
            <a:miter lim="800000"/>
          </a:ln>
          <a:effectLst/>
        </p:spPr>
        <p:txBody>
          <a:bodyPr wrap="none">
            <a:spAutoFit/>
          </a:bodyPr>
          <a:lstStyle>
            <a:defPPr>
              <a:defRPr lang="zh-CN"/>
            </a:defPPr>
            <a:lvl1pPr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ea"/>
                <a:ea typeface="+mn-ea"/>
                <a:cs typeface="+mn-cs"/>
              </a:rPr>
              <a:t>1. </a:t>
            </a:r>
            <a:r>
              <a:rPr kumimoji="1" lang="zh-CN" altLang="en-US" sz="2800" b="0" i="0" u="none" strike="noStrike" kern="1200" cap="none" spc="0" normalizeH="0" baseline="0" noProof="0" dirty="0" smtClean="0">
                <a:ln>
                  <a:noFill/>
                </a:ln>
                <a:solidFill>
                  <a:schemeClr val="tx1"/>
                </a:solidFill>
                <a:effectLst/>
                <a:uLnTx/>
                <a:uFillTx/>
                <a:latin typeface="+mn-ea"/>
                <a:ea typeface="+mn-ea"/>
                <a:cs typeface="+mn-cs"/>
              </a:rPr>
              <a:t>在</a:t>
            </a:r>
            <a:r>
              <a:rPr kumimoji="1" lang="zh-CN" altLang="en-US" sz="2800" b="0" i="0" u="none" strike="noStrike" kern="1200" cap="none" spc="0" normalizeH="0" baseline="0" noProof="0" dirty="0">
                <a:ln>
                  <a:noFill/>
                </a:ln>
                <a:solidFill>
                  <a:schemeClr val="tx1"/>
                </a:solidFill>
                <a:effectLst/>
                <a:uLnTx/>
                <a:uFillTx/>
                <a:latin typeface="+mn-ea"/>
                <a:ea typeface="+mn-ea"/>
                <a:cs typeface="+mn-cs"/>
              </a:rPr>
              <a:t>现场或在实验室中易得到；</a:t>
            </a:r>
          </a:p>
        </p:txBody>
      </p:sp>
      <p:sp>
        <p:nvSpPr>
          <p:cNvPr id="15" name="Text Box 6"/>
          <p:cNvSpPr txBox="1">
            <a:spLocks noChangeArrowheads="1"/>
          </p:cNvSpPr>
          <p:nvPr/>
        </p:nvSpPr>
        <p:spPr bwMode="auto">
          <a:xfrm>
            <a:off x="1058863" y="4600575"/>
            <a:ext cx="7761288" cy="954088"/>
          </a:xfrm>
          <a:prstGeom prst="rect">
            <a:avLst/>
          </a:prstGeom>
          <a:noFill/>
          <a:ln w="9525">
            <a:noFill/>
            <a:miter lim="800000"/>
          </a:ln>
          <a:effectLst/>
        </p:spPr>
        <p:txBody>
          <a:bodyPr>
            <a:spAutoFit/>
          </a:bodyPr>
          <a:lstStyle>
            <a:defPPr>
              <a:defRPr lang="zh-CN"/>
            </a:defPPr>
            <a:lvl1pPr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marL="457200" marR="0" lvl="0" indent="-45720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ea"/>
                <a:ea typeface="+mn-ea"/>
                <a:cs typeface="+mn-cs"/>
              </a:rPr>
              <a:t>2. </a:t>
            </a:r>
            <a:r>
              <a:rPr kumimoji="1" lang="zh-CN" altLang="en-US" sz="2800" b="0" i="0" u="none" strike="noStrike" kern="1200" cap="none" spc="0" normalizeH="0" baseline="0" noProof="0" dirty="0">
                <a:ln>
                  <a:noFill/>
                </a:ln>
                <a:solidFill>
                  <a:schemeClr val="tx1"/>
                </a:solidFill>
                <a:effectLst/>
                <a:uLnTx/>
                <a:uFillTx/>
                <a:latin typeface="+mn-ea"/>
                <a:ea typeface="+mn-ea"/>
                <a:cs typeface="+mn-cs"/>
              </a:rPr>
              <a:t>控制系统在这种函数下的性能应能代表在实际工作</a:t>
            </a:r>
            <a:r>
              <a:rPr kumimoji="1" lang="zh-CN" altLang="en-US" sz="2800" b="0" i="0" u="none" strike="noStrike" kern="1200" cap="none" spc="0" normalizeH="0" baseline="0" noProof="0" dirty="0" smtClean="0">
                <a:ln>
                  <a:noFill/>
                </a:ln>
                <a:solidFill>
                  <a:schemeClr val="tx1"/>
                </a:solidFill>
                <a:effectLst/>
                <a:uLnTx/>
                <a:uFillTx/>
                <a:latin typeface="+mn-ea"/>
                <a:ea typeface="+mn-ea"/>
                <a:cs typeface="+mn-cs"/>
              </a:rPr>
              <a:t>条件下</a:t>
            </a:r>
            <a:r>
              <a:rPr kumimoji="1" lang="zh-CN" altLang="en-US" sz="2800" b="0" i="0" u="none" strike="noStrike" kern="1200" cap="none" spc="0" normalizeH="0" baseline="0" noProof="0" dirty="0">
                <a:ln>
                  <a:noFill/>
                </a:ln>
                <a:solidFill>
                  <a:schemeClr val="tx1"/>
                </a:solidFill>
                <a:effectLst/>
                <a:uLnTx/>
                <a:uFillTx/>
                <a:latin typeface="+mn-ea"/>
                <a:ea typeface="+mn-ea"/>
                <a:cs typeface="+mn-cs"/>
              </a:rPr>
              <a:t>的性能；</a:t>
            </a:r>
          </a:p>
        </p:txBody>
      </p:sp>
      <p:sp>
        <p:nvSpPr>
          <p:cNvPr id="16" name="Text Box 7"/>
          <p:cNvSpPr txBox="1">
            <a:spLocks noChangeArrowheads="1"/>
          </p:cNvSpPr>
          <p:nvPr/>
        </p:nvSpPr>
        <p:spPr bwMode="auto">
          <a:xfrm>
            <a:off x="1042988" y="5516563"/>
            <a:ext cx="6110288" cy="523875"/>
          </a:xfrm>
          <a:prstGeom prst="rect">
            <a:avLst/>
          </a:prstGeom>
          <a:noFill/>
          <a:ln w="9525">
            <a:noFill/>
            <a:miter lim="800000"/>
          </a:ln>
          <a:effectLst/>
        </p:spPr>
        <p:txBody>
          <a:bodyPr wrap="none">
            <a:spAutoFit/>
          </a:bodyPr>
          <a:lstStyle>
            <a:defPPr>
              <a:defRPr lang="zh-CN"/>
            </a:defPPr>
            <a:lvl1pPr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dirty="0">
                <a:ln>
                  <a:noFill/>
                </a:ln>
                <a:solidFill>
                  <a:schemeClr val="tx1"/>
                </a:solidFill>
                <a:effectLst/>
                <a:uLnTx/>
                <a:uFillTx/>
                <a:latin typeface="+mn-ea"/>
                <a:ea typeface="+mn-ea"/>
                <a:cs typeface="+mn-cs"/>
              </a:rPr>
              <a:t>3. </a:t>
            </a:r>
            <a:r>
              <a:rPr kumimoji="1" lang="zh-CN" altLang="en-US" sz="2800" b="0" i="0" u="none" strike="noStrike" kern="1200" cap="none" spc="0" normalizeH="0" baseline="0" noProof="0" dirty="0">
                <a:ln>
                  <a:noFill/>
                </a:ln>
                <a:solidFill>
                  <a:schemeClr val="tx1"/>
                </a:solidFill>
                <a:effectLst/>
                <a:uLnTx/>
                <a:uFillTx/>
                <a:latin typeface="+mn-ea"/>
                <a:ea typeface="+mn-ea"/>
                <a:cs typeface="+mn-cs"/>
              </a:rPr>
              <a:t>数学表达式简单，便于理论分析。</a:t>
            </a:r>
          </a:p>
        </p:txBody>
      </p:sp>
      <p:sp>
        <p:nvSpPr>
          <p:cNvPr id="2" name="文本框 1"/>
          <p:cNvSpPr txBox="1"/>
          <p:nvPr/>
        </p:nvSpPr>
        <p:spPr>
          <a:xfrm>
            <a:off x="179705" y="476885"/>
            <a:ext cx="885179" cy="461665"/>
          </a:xfrm>
          <a:prstGeom prst="rect">
            <a:avLst/>
          </a:prstGeom>
          <a:noFill/>
        </p:spPr>
        <p:txBody>
          <a:bodyPr wrap="none" rtlCol="0" anchor="t">
            <a:spAutoFit/>
          </a:bodyPr>
          <a:lstStyle/>
          <a:p>
            <a:r>
              <a:rPr lang="zh-CN" altLang="en-US" sz="2400" dirty="0" smtClean="0">
                <a:latin typeface="Times New Roman" panose="02020603050405020304" pitchFamily="18" charset="0"/>
                <a:ea typeface="黑体" panose="02010609060101010101" pitchFamily="49" charset="-122"/>
                <a:sym typeface="+mn-ea"/>
              </a:rPr>
              <a:t>补充</a:t>
            </a:r>
            <a:r>
              <a:rPr lang="en-US" altLang="zh-CN" sz="2400" dirty="0" smtClean="0">
                <a:latin typeface="Times New Roman" panose="02020603050405020304" pitchFamily="18" charset="0"/>
                <a:ea typeface="黑体" panose="02010609060101010101" pitchFamily="49" charset="-122"/>
                <a:sym typeface="+mn-ea"/>
              </a:rPr>
              <a:t>:</a:t>
            </a:r>
            <a:endParaRPr lang="en-US" altLang="zh-CN" sz="2400" dirty="0">
              <a:latin typeface="Times New Roman" panose="02020603050405020304" pitchFamily="18" charset="0"/>
              <a:ea typeface="黑体" panose="02010609060101010101" pitchFamily="49" charset="-122"/>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Text Box 3"/>
          <p:cNvSpPr txBox="1"/>
          <p:nvPr/>
        </p:nvSpPr>
        <p:spPr>
          <a:xfrm>
            <a:off x="250825" y="1773238"/>
            <a:ext cx="8388350" cy="1187450"/>
          </a:xfrm>
          <a:prstGeom prst="rect">
            <a:avLst/>
          </a:prstGeom>
          <a:noFill/>
          <a:ln w="9525">
            <a:noFill/>
          </a:ln>
        </p:spPr>
        <p:txBody>
          <a:bodyPr anchor="t" anchorCtr="0">
            <a:spAutoFit/>
          </a:bodyPr>
          <a:lstStyle/>
          <a:p>
            <a:pPr marL="457200" indent="-457200" eaLnBrk="0" hangingPunct="0"/>
            <a:r>
              <a:rPr lang="zh-CN" altLang="en-US" sz="2400" dirty="0">
                <a:latin typeface="Verdana" panose="020B0604030504040204" pitchFamily="34" charset="0"/>
                <a:ea typeface="宋体" panose="02010600030101010101" pitchFamily="2" charset="-122"/>
              </a:rPr>
              <a:t>           许多随动系统在这种正弦输入信号下工作的。正弦信号作用下的工况代表一种恶劣工况，若在该信号作用下系统能满意的工作，则在实际信号作用下也能满意工作。</a:t>
            </a:r>
          </a:p>
        </p:txBody>
      </p:sp>
      <p:sp>
        <p:nvSpPr>
          <p:cNvPr id="61444" name="Text Box 4"/>
          <p:cNvSpPr txBox="1"/>
          <p:nvPr/>
        </p:nvSpPr>
        <p:spPr>
          <a:xfrm>
            <a:off x="755650" y="3141663"/>
            <a:ext cx="8388350" cy="830262"/>
          </a:xfrm>
          <a:prstGeom prst="rect">
            <a:avLst/>
          </a:prstGeom>
          <a:noFill/>
          <a:ln w="9525">
            <a:noFill/>
          </a:ln>
        </p:spPr>
        <p:txBody>
          <a:bodyPr anchor="t" anchorCtr="0">
            <a:spAutoFit/>
          </a:bodyPr>
          <a:lstStyle/>
          <a:p>
            <a:pPr eaLnBrk="0" hangingPunct="0"/>
            <a:r>
              <a:rPr lang="zh-CN" altLang="en-US" sz="2400" dirty="0">
                <a:latin typeface="Verdana" panose="020B0604030504040204" pitchFamily="34" charset="0"/>
                <a:ea typeface="宋体" panose="02010600030101010101" pitchFamily="2" charset="-122"/>
              </a:rPr>
              <a:t>      另外，控制系统在</a:t>
            </a:r>
            <a:r>
              <a:rPr lang="zh-CN" altLang="en-US" sz="2400" dirty="0">
                <a:solidFill>
                  <a:srgbClr val="F90309"/>
                </a:solidFill>
                <a:latin typeface="Verdana" panose="020B0604030504040204" pitchFamily="34" charset="0"/>
                <a:ea typeface="宋体" panose="02010600030101010101" pitchFamily="2" charset="-122"/>
              </a:rPr>
              <a:t>正弦函数</a:t>
            </a:r>
            <a:r>
              <a:rPr lang="zh-CN" altLang="en-US" sz="2400" dirty="0">
                <a:latin typeface="Verdana" panose="020B0604030504040204" pitchFamily="34" charset="0"/>
                <a:ea typeface="宋体" panose="02010600030101010101" pitchFamily="2" charset="-122"/>
              </a:rPr>
              <a:t>作用下的响应－</a:t>
            </a:r>
            <a:r>
              <a:rPr lang="zh-CN" altLang="en-US" sz="2400" dirty="0">
                <a:solidFill>
                  <a:srgbClr val="FA450C"/>
                </a:solidFill>
                <a:latin typeface="Verdana" panose="020B0604030504040204" pitchFamily="34" charset="0"/>
                <a:ea typeface="宋体" panose="02010600030101010101" pitchFamily="2" charset="-122"/>
              </a:rPr>
              <a:t>频率响应</a:t>
            </a:r>
            <a:r>
              <a:rPr lang="zh-CN" altLang="en-US" sz="2400" dirty="0">
                <a:latin typeface="Verdana" panose="020B0604030504040204" pitchFamily="34" charset="0"/>
                <a:ea typeface="宋体" panose="02010600030101010101" pitchFamily="2" charset="-122"/>
              </a:rPr>
              <a:t>是研究控制系统性能的重要依据。</a:t>
            </a:r>
          </a:p>
        </p:txBody>
      </p:sp>
      <p:sp>
        <p:nvSpPr>
          <p:cNvPr id="61445" name="Text Box 5"/>
          <p:cNvSpPr txBox="1"/>
          <p:nvPr/>
        </p:nvSpPr>
        <p:spPr>
          <a:xfrm>
            <a:off x="755650" y="4005263"/>
            <a:ext cx="1708150" cy="396875"/>
          </a:xfrm>
          <a:prstGeom prst="rect">
            <a:avLst/>
          </a:prstGeom>
          <a:noFill/>
          <a:ln w="9525">
            <a:noFill/>
          </a:ln>
        </p:spPr>
        <p:txBody>
          <a:bodyPr wrap="none" anchor="t" anchorCtr="0">
            <a:spAutoFit/>
          </a:bodyPr>
          <a:lstStyle/>
          <a:p>
            <a:pPr eaLnBrk="0" hangingPunct="0"/>
            <a:r>
              <a:rPr lang="zh-CN" altLang="en-US" dirty="0">
                <a:latin typeface="Verdana" panose="020B0604030504040204" pitchFamily="34" charset="0"/>
                <a:ea typeface="宋体" panose="02010600030101010101" pitchFamily="2" charset="-122"/>
              </a:rPr>
              <a:t>数学表达式：</a:t>
            </a:r>
          </a:p>
        </p:txBody>
      </p:sp>
      <p:graphicFrame>
        <p:nvGraphicFramePr>
          <p:cNvPr id="61446" name="Object 2"/>
          <p:cNvGraphicFramePr>
            <a:graphicFrameLocks noChangeAspect="1"/>
          </p:cNvGraphicFramePr>
          <p:nvPr/>
        </p:nvGraphicFramePr>
        <p:xfrm>
          <a:off x="684213" y="4941888"/>
          <a:ext cx="1752600" cy="358775"/>
        </p:xfrm>
        <a:graphic>
          <a:graphicData uri="http://schemas.openxmlformats.org/presentationml/2006/ole">
            <mc:AlternateContent xmlns:mc="http://schemas.openxmlformats.org/markup-compatibility/2006">
              <mc:Choice xmlns:v="urn:schemas-microsoft-com:vml" Requires="v">
                <p:oleObj spid="_x0000_s3134" r:id="rId3" imgW="1117600" imgH="228600" progId="Equation.3">
                  <p:embed/>
                </p:oleObj>
              </mc:Choice>
              <mc:Fallback>
                <p:oleObj r:id="rId3" imgW="1117600" imgH="228600" progId="Equation.3">
                  <p:embed/>
                  <p:pic>
                    <p:nvPicPr>
                      <p:cNvPr id="0" name="图片 3075"/>
                      <p:cNvPicPr/>
                      <p:nvPr/>
                    </p:nvPicPr>
                    <p:blipFill>
                      <a:blip r:embed="rId4"/>
                      <a:stretch>
                        <a:fillRect/>
                      </a:stretch>
                    </p:blipFill>
                    <p:spPr>
                      <a:xfrm>
                        <a:off x="684213" y="4941888"/>
                        <a:ext cx="1752600" cy="358775"/>
                      </a:xfrm>
                      <a:prstGeom prst="rect">
                        <a:avLst/>
                      </a:prstGeom>
                      <a:noFill/>
                      <a:ln w="38100">
                        <a:noFill/>
                        <a:miter/>
                      </a:ln>
                    </p:spPr>
                  </p:pic>
                </p:oleObj>
              </mc:Fallback>
            </mc:AlternateContent>
          </a:graphicData>
        </a:graphic>
      </p:graphicFrame>
      <p:sp>
        <p:nvSpPr>
          <p:cNvPr id="61447" name="Line 7"/>
          <p:cNvSpPr/>
          <p:nvPr/>
        </p:nvSpPr>
        <p:spPr>
          <a:xfrm>
            <a:off x="2743200" y="5167313"/>
            <a:ext cx="2400300" cy="0"/>
          </a:xfrm>
          <a:prstGeom prst="line">
            <a:avLst/>
          </a:prstGeom>
          <a:ln w="9525" cap="flat" cmpd="sng">
            <a:solidFill>
              <a:srgbClr val="000000"/>
            </a:solidFill>
            <a:prstDash val="solid"/>
            <a:round/>
            <a:headEnd type="none" w="med" len="med"/>
            <a:tailEnd type="triangle" w="sm" len="med"/>
          </a:ln>
        </p:spPr>
      </p:sp>
      <p:sp>
        <p:nvSpPr>
          <p:cNvPr id="61448" name="Line 8"/>
          <p:cNvSpPr/>
          <p:nvPr/>
        </p:nvSpPr>
        <p:spPr>
          <a:xfrm flipV="1">
            <a:off x="3200400" y="4176713"/>
            <a:ext cx="0" cy="1485900"/>
          </a:xfrm>
          <a:prstGeom prst="line">
            <a:avLst/>
          </a:prstGeom>
          <a:ln w="9525" cap="flat" cmpd="sng">
            <a:solidFill>
              <a:srgbClr val="000000"/>
            </a:solidFill>
            <a:prstDash val="solid"/>
            <a:round/>
            <a:headEnd type="none" w="med" len="med"/>
            <a:tailEnd type="triangle" w="sm" len="med"/>
          </a:ln>
        </p:spPr>
      </p:sp>
      <p:sp>
        <p:nvSpPr>
          <p:cNvPr id="61449" name="Freeform 9"/>
          <p:cNvSpPr/>
          <p:nvPr/>
        </p:nvSpPr>
        <p:spPr>
          <a:xfrm>
            <a:off x="2971800" y="4572000"/>
            <a:ext cx="1828800" cy="1189038"/>
          </a:xfrm>
          <a:custGeom>
            <a:avLst/>
            <a:gdLst/>
            <a:ahLst/>
            <a:cxnLst>
              <a:cxn ang="0">
                <a:pos x="0" y="594519"/>
              </a:cxn>
              <a:cxn ang="0">
                <a:pos x="457200" y="0"/>
              </a:cxn>
              <a:cxn ang="0">
                <a:pos x="914400" y="594519"/>
              </a:cxn>
              <a:cxn ang="0">
                <a:pos x="1371600" y="1189038"/>
              </a:cxn>
              <a:cxn ang="0">
                <a:pos x="1828800" y="594519"/>
              </a:cxn>
            </a:cxnLst>
            <a:rect l="0" t="0" r="0" b="0"/>
            <a:pathLst>
              <a:path w="2880" h="1872">
                <a:moveTo>
                  <a:pt x="0" y="936"/>
                </a:moveTo>
                <a:cubicBezTo>
                  <a:pt x="240" y="468"/>
                  <a:pt x="480" y="0"/>
                  <a:pt x="720" y="0"/>
                </a:cubicBezTo>
                <a:cubicBezTo>
                  <a:pt x="960" y="0"/>
                  <a:pt x="1200" y="624"/>
                  <a:pt x="1440" y="936"/>
                </a:cubicBezTo>
                <a:cubicBezTo>
                  <a:pt x="1680" y="1248"/>
                  <a:pt x="1920" y="1872"/>
                  <a:pt x="2160" y="1872"/>
                </a:cubicBezTo>
                <a:cubicBezTo>
                  <a:pt x="2400" y="1872"/>
                  <a:pt x="2760" y="1092"/>
                  <a:pt x="2880" y="936"/>
                </a:cubicBezTo>
              </a:path>
            </a:pathLst>
          </a:custGeom>
          <a:noFill/>
          <a:ln w="19050" cap="flat" cmpd="sng">
            <a:solidFill>
              <a:srgbClr val="000000"/>
            </a:solidFill>
            <a:prstDash val="solid"/>
            <a:round/>
            <a:headEnd type="none" w="med" len="med"/>
            <a:tailEnd type="none" w="med" len="med"/>
          </a:ln>
        </p:spPr>
        <p:txBody>
          <a:bodyPr/>
          <a:lstStyle/>
          <a:p>
            <a:endParaRPr lang="zh-CN" altLang="en-US"/>
          </a:p>
        </p:txBody>
      </p:sp>
      <p:sp>
        <p:nvSpPr>
          <p:cNvPr id="7176" name="Text Box 10"/>
          <p:cNvSpPr txBox="1"/>
          <p:nvPr/>
        </p:nvSpPr>
        <p:spPr>
          <a:xfrm>
            <a:off x="3086100" y="3978275"/>
            <a:ext cx="309563" cy="268288"/>
          </a:xfrm>
          <a:prstGeom prst="rect">
            <a:avLst/>
          </a:prstGeom>
          <a:noFill/>
          <a:ln w="9525">
            <a:noFill/>
          </a:ln>
        </p:spPr>
        <p:txBody>
          <a:bodyPr anchor="t" anchorCtr="0"/>
          <a:lstStyle/>
          <a:p>
            <a:pPr algn="just" eaLnBrk="0" hangingPunct="0"/>
            <a:endParaRPr lang="zh-CN" altLang="zh-CN" sz="1000" dirty="0">
              <a:latin typeface="Verdana" panose="020B0604030504040204" pitchFamily="34" charset="0"/>
              <a:ea typeface="宋体" panose="02010600030101010101" pitchFamily="2" charset="-122"/>
            </a:endParaRPr>
          </a:p>
        </p:txBody>
      </p:sp>
      <p:sp>
        <p:nvSpPr>
          <p:cNvPr id="61451" name="Text Box 11"/>
          <p:cNvSpPr txBox="1"/>
          <p:nvPr/>
        </p:nvSpPr>
        <p:spPr>
          <a:xfrm>
            <a:off x="5029200" y="4968875"/>
            <a:ext cx="228600" cy="296863"/>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t</a:t>
            </a:r>
          </a:p>
        </p:txBody>
      </p:sp>
      <p:sp>
        <p:nvSpPr>
          <p:cNvPr id="61452" name="Line 12"/>
          <p:cNvSpPr/>
          <p:nvPr/>
        </p:nvSpPr>
        <p:spPr>
          <a:xfrm>
            <a:off x="2971800" y="5167313"/>
            <a:ext cx="0" cy="990600"/>
          </a:xfrm>
          <a:prstGeom prst="line">
            <a:avLst/>
          </a:prstGeom>
          <a:ln w="9525" cap="flat" cmpd="sng">
            <a:solidFill>
              <a:srgbClr val="000000"/>
            </a:solidFill>
            <a:prstDash val="solid"/>
            <a:round/>
            <a:headEnd type="none" w="med" len="med"/>
            <a:tailEnd type="none" w="med" len="med"/>
          </a:ln>
        </p:spPr>
      </p:sp>
      <p:sp>
        <p:nvSpPr>
          <p:cNvPr id="61453" name="Line 13"/>
          <p:cNvSpPr/>
          <p:nvPr/>
        </p:nvSpPr>
        <p:spPr>
          <a:xfrm>
            <a:off x="2971800" y="5464175"/>
            <a:ext cx="228600" cy="0"/>
          </a:xfrm>
          <a:prstGeom prst="line">
            <a:avLst/>
          </a:prstGeom>
          <a:ln w="9525" cap="flat" cmpd="sng">
            <a:solidFill>
              <a:srgbClr val="000000"/>
            </a:solidFill>
            <a:prstDash val="solid"/>
            <a:round/>
            <a:headEnd type="triangle" w="sm" len="med"/>
            <a:tailEnd type="triangle" w="sm" len="med"/>
          </a:ln>
        </p:spPr>
      </p:sp>
      <p:sp>
        <p:nvSpPr>
          <p:cNvPr id="61454" name="Text Box 14"/>
          <p:cNvSpPr txBox="1"/>
          <p:nvPr/>
        </p:nvSpPr>
        <p:spPr>
          <a:xfrm>
            <a:off x="2971800" y="5167313"/>
            <a:ext cx="322263" cy="255587"/>
          </a:xfrm>
          <a:prstGeom prst="rect">
            <a:avLst/>
          </a:prstGeom>
          <a:noFill/>
          <a:ln w="9525">
            <a:noFill/>
          </a:ln>
        </p:spPr>
        <p:txBody>
          <a:bodyPr anchor="t" anchorCtr="0"/>
          <a:lstStyle/>
          <a:p>
            <a:pPr algn="just" eaLnBrk="0" hangingPunct="0"/>
            <a:endParaRPr lang="zh-CN" altLang="zh-CN" sz="1000" dirty="0">
              <a:latin typeface="Verdana" panose="020B0604030504040204" pitchFamily="34" charset="0"/>
              <a:ea typeface="宋体" panose="02010600030101010101" pitchFamily="2" charset="-122"/>
            </a:endParaRPr>
          </a:p>
        </p:txBody>
      </p:sp>
      <p:sp>
        <p:nvSpPr>
          <p:cNvPr id="61455" name="Line 15"/>
          <p:cNvSpPr/>
          <p:nvPr/>
        </p:nvSpPr>
        <p:spPr>
          <a:xfrm>
            <a:off x="4800600" y="5167313"/>
            <a:ext cx="0" cy="990600"/>
          </a:xfrm>
          <a:prstGeom prst="line">
            <a:avLst/>
          </a:prstGeom>
          <a:ln w="9525" cap="flat" cmpd="sng">
            <a:solidFill>
              <a:srgbClr val="000000"/>
            </a:solidFill>
            <a:prstDash val="solid"/>
            <a:round/>
            <a:headEnd type="none" w="med" len="med"/>
            <a:tailEnd type="none" w="med" len="med"/>
          </a:ln>
        </p:spPr>
      </p:sp>
      <p:sp>
        <p:nvSpPr>
          <p:cNvPr id="61456" name="Line 16"/>
          <p:cNvSpPr/>
          <p:nvPr/>
        </p:nvSpPr>
        <p:spPr>
          <a:xfrm>
            <a:off x="2971800" y="6057900"/>
            <a:ext cx="1828800" cy="0"/>
          </a:xfrm>
          <a:prstGeom prst="line">
            <a:avLst/>
          </a:prstGeom>
          <a:ln w="9525" cap="flat" cmpd="sng">
            <a:solidFill>
              <a:srgbClr val="000000"/>
            </a:solidFill>
            <a:prstDash val="solid"/>
            <a:round/>
            <a:headEnd type="triangle" w="sm" len="med"/>
            <a:tailEnd type="triangle" w="sm" len="med"/>
          </a:ln>
        </p:spPr>
      </p:sp>
      <p:sp>
        <p:nvSpPr>
          <p:cNvPr id="61457" name="Text Box 17"/>
          <p:cNvSpPr txBox="1"/>
          <p:nvPr/>
        </p:nvSpPr>
        <p:spPr>
          <a:xfrm>
            <a:off x="3657600" y="5859463"/>
            <a:ext cx="342900" cy="298450"/>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T</a:t>
            </a:r>
          </a:p>
        </p:txBody>
      </p:sp>
      <p:sp>
        <p:nvSpPr>
          <p:cNvPr id="61458" name="Line 18"/>
          <p:cNvSpPr/>
          <p:nvPr/>
        </p:nvSpPr>
        <p:spPr>
          <a:xfrm>
            <a:off x="3429000" y="4572000"/>
            <a:ext cx="914400" cy="0"/>
          </a:xfrm>
          <a:prstGeom prst="line">
            <a:avLst/>
          </a:prstGeom>
          <a:ln w="9525" cap="flat" cmpd="sng">
            <a:solidFill>
              <a:srgbClr val="000000"/>
            </a:solidFill>
            <a:prstDash val="solid"/>
            <a:round/>
            <a:headEnd type="none" w="med" len="med"/>
            <a:tailEnd type="none" w="med" len="med"/>
          </a:ln>
        </p:spPr>
      </p:sp>
      <p:sp>
        <p:nvSpPr>
          <p:cNvPr id="61459" name="Line 19"/>
          <p:cNvSpPr/>
          <p:nvPr/>
        </p:nvSpPr>
        <p:spPr>
          <a:xfrm>
            <a:off x="4229100" y="4572000"/>
            <a:ext cx="0" cy="595313"/>
          </a:xfrm>
          <a:prstGeom prst="line">
            <a:avLst/>
          </a:prstGeom>
          <a:ln w="9525" cap="flat" cmpd="sng">
            <a:solidFill>
              <a:srgbClr val="000000"/>
            </a:solidFill>
            <a:prstDash val="solid"/>
            <a:round/>
            <a:headEnd type="triangle" w="sm" len="med"/>
            <a:tailEnd type="triangle" w="sm" len="med"/>
          </a:ln>
        </p:spPr>
      </p:sp>
      <p:sp>
        <p:nvSpPr>
          <p:cNvPr id="61460" name="Text Box 20"/>
          <p:cNvSpPr txBox="1"/>
          <p:nvPr/>
        </p:nvSpPr>
        <p:spPr>
          <a:xfrm>
            <a:off x="3886200" y="4672013"/>
            <a:ext cx="342900" cy="395287"/>
          </a:xfrm>
          <a:prstGeom prst="rect">
            <a:avLst/>
          </a:prstGeom>
          <a:noFill/>
          <a:ln w="9525">
            <a:noFill/>
          </a:ln>
        </p:spPr>
        <p:txBody>
          <a:bodyPr anchor="t" anchorCtr="0"/>
          <a:lstStyle/>
          <a:p>
            <a:pPr algn="just" eaLnBrk="0" hangingPunct="0"/>
            <a:endParaRPr lang="zh-CN" altLang="zh-CN" sz="1000" dirty="0">
              <a:latin typeface="Verdana" panose="020B0604030504040204" pitchFamily="34" charset="0"/>
              <a:ea typeface="宋体" panose="02010600030101010101" pitchFamily="2" charset="-122"/>
            </a:endParaRPr>
          </a:p>
        </p:txBody>
      </p:sp>
      <p:sp>
        <p:nvSpPr>
          <p:cNvPr id="61461" name="Text Box 21"/>
          <p:cNvSpPr txBox="1"/>
          <p:nvPr/>
        </p:nvSpPr>
        <p:spPr>
          <a:xfrm>
            <a:off x="6384925" y="4416425"/>
            <a:ext cx="184150" cy="396875"/>
          </a:xfrm>
          <a:prstGeom prst="rect">
            <a:avLst/>
          </a:prstGeom>
          <a:noFill/>
          <a:ln w="9525">
            <a:noFill/>
          </a:ln>
        </p:spPr>
        <p:txBody>
          <a:bodyPr wrap="none" anchor="t" anchorCtr="0">
            <a:spAutoFit/>
          </a:bodyPr>
          <a:lstStyle/>
          <a:p>
            <a:pPr eaLnBrk="0" hangingPunct="0"/>
            <a:endParaRPr lang="zh-CN" altLang="zh-CN" dirty="0">
              <a:latin typeface="Verdana" panose="020B0604030504040204" pitchFamily="34" charset="0"/>
              <a:ea typeface="宋体" panose="02010600030101010101" pitchFamily="2" charset="-122"/>
            </a:endParaRPr>
          </a:p>
        </p:txBody>
      </p:sp>
      <p:graphicFrame>
        <p:nvGraphicFramePr>
          <p:cNvPr id="61462" name="Object 3"/>
          <p:cNvGraphicFramePr>
            <a:graphicFrameLocks noChangeAspect="1"/>
          </p:cNvGraphicFramePr>
          <p:nvPr/>
        </p:nvGraphicFramePr>
        <p:xfrm>
          <a:off x="3276600" y="4114800"/>
          <a:ext cx="173038" cy="241300"/>
        </p:xfrm>
        <a:graphic>
          <a:graphicData uri="http://schemas.openxmlformats.org/presentationml/2006/ole">
            <mc:AlternateContent xmlns:mc="http://schemas.openxmlformats.org/markup-compatibility/2006">
              <mc:Choice xmlns:v="urn:schemas-microsoft-com:vml" Requires="v">
                <p:oleObj spid="_x0000_s3135" r:id="rId5" imgW="127000" imgH="177165" progId="Equation.3">
                  <p:embed/>
                </p:oleObj>
              </mc:Choice>
              <mc:Fallback>
                <p:oleObj r:id="rId5" imgW="127000" imgH="177165" progId="Equation.3">
                  <p:embed/>
                  <p:pic>
                    <p:nvPicPr>
                      <p:cNvPr id="0" name="图片 3076"/>
                      <p:cNvPicPr/>
                      <p:nvPr/>
                    </p:nvPicPr>
                    <p:blipFill>
                      <a:blip r:embed="rId6"/>
                      <a:stretch>
                        <a:fillRect/>
                      </a:stretch>
                    </p:blipFill>
                    <p:spPr>
                      <a:xfrm>
                        <a:off x="3276600" y="4114800"/>
                        <a:ext cx="173038" cy="241300"/>
                      </a:xfrm>
                      <a:prstGeom prst="rect">
                        <a:avLst/>
                      </a:prstGeom>
                      <a:noFill/>
                      <a:ln w="38100">
                        <a:noFill/>
                        <a:miter/>
                      </a:ln>
                    </p:spPr>
                  </p:pic>
                </p:oleObj>
              </mc:Fallback>
            </mc:AlternateContent>
          </a:graphicData>
        </a:graphic>
      </p:graphicFrame>
      <p:sp>
        <p:nvSpPr>
          <p:cNvPr id="61463" name="Text Box 23"/>
          <p:cNvSpPr txBox="1"/>
          <p:nvPr/>
        </p:nvSpPr>
        <p:spPr>
          <a:xfrm>
            <a:off x="6537325" y="4492625"/>
            <a:ext cx="184150" cy="396875"/>
          </a:xfrm>
          <a:prstGeom prst="rect">
            <a:avLst/>
          </a:prstGeom>
          <a:noFill/>
          <a:ln w="9525">
            <a:noFill/>
          </a:ln>
        </p:spPr>
        <p:txBody>
          <a:bodyPr wrap="none" anchor="t" anchorCtr="0">
            <a:spAutoFit/>
          </a:bodyPr>
          <a:lstStyle/>
          <a:p>
            <a:pPr eaLnBrk="0" hangingPunct="0"/>
            <a:endParaRPr lang="zh-CN" altLang="zh-CN" dirty="0">
              <a:latin typeface="Verdana" panose="020B0604030504040204" pitchFamily="34" charset="0"/>
              <a:ea typeface="宋体" panose="02010600030101010101" pitchFamily="2" charset="-122"/>
            </a:endParaRPr>
          </a:p>
        </p:txBody>
      </p:sp>
      <p:graphicFrame>
        <p:nvGraphicFramePr>
          <p:cNvPr id="61464" name="Object 4"/>
          <p:cNvGraphicFramePr>
            <a:graphicFrameLocks noChangeAspect="1"/>
          </p:cNvGraphicFramePr>
          <p:nvPr/>
        </p:nvGraphicFramePr>
        <p:xfrm>
          <a:off x="3962400" y="4724400"/>
          <a:ext cx="254000" cy="304800"/>
        </p:xfrm>
        <a:graphic>
          <a:graphicData uri="http://schemas.openxmlformats.org/presentationml/2006/ole">
            <mc:AlternateContent xmlns:mc="http://schemas.openxmlformats.org/markup-compatibility/2006">
              <mc:Choice xmlns:v="urn:schemas-microsoft-com:vml" Requires="v">
                <p:oleObj spid="_x0000_s3136" r:id="rId7" imgW="190500" imgH="228600" progId="Equation.3">
                  <p:embed/>
                </p:oleObj>
              </mc:Choice>
              <mc:Fallback>
                <p:oleObj r:id="rId7" imgW="190500" imgH="228600" progId="Equation.3">
                  <p:embed/>
                  <p:pic>
                    <p:nvPicPr>
                      <p:cNvPr id="0" name="图片 3077"/>
                      <p:cNvPicPr/>
                      <p:nvPr/>
                    </p:nvPicPr>
                    <p:blipFill>
                      <a:blip r:embed="rId8"/>
                      <a:stretch>
                        <a:fillRect/>
                      </a:stretch>
                    </p:blipFill>
                    <p:spPr>
                      <a:xfrm>
                        <a:off x="3962400" y="4724400"/>
                        <a:ext cx="254000" cy="304800"/>
                      </a:xfrm>
                      <a:prstGeom prst="rect">
                        <a:avLst/>
                      </a:prstGeom>
                      <a:noFill/>
                      <a:ln w="38100">
                        <a:noFill/>
                        <a:miter/>
                      </a:ln>
                    </p:spPr>
                  </p:pic>
                </p:oleObj>
              </mc:Fallback>
            </mc:AlternateContent>
          </a:graphicData>
        </a:graphic>
      </p:graphicFrame>
      <p:sp>
        <p:nvSpPr>
          <p:cNvPr id="61465" name="Text Box 25"/>
          <p:cNvSpPr txBox="1"/>
          <p:nvPr/>
        </p:nvSpPr>
        <p:spPr>
          <a:xfrm>
            <a:off x="6172200" y="4495800"/>
            <a:ext cx="381000" cy="396875"/>
          </a:xfrm>
          <a:prstGeom prst="rect">
            <a:avLst/>
          </a:prstGeom>
          <a:noFill/>
          <a:ln w="9525">
            <a:noFill/>
          </a:ln>
        </p:spPr>
        <p:txBody>
          <a:bodyPr anchor="t" anchorCtr="0">
            <a:spAutoFit/>
          </a:bodyPr>
          <a:lstStyle/>
          <a:p>
            <a:pPr eaLnBrk="0" hangingPunct="0">
              <a:spcBef>
                <a:spcPct val="50000"/>
              </a:spcBef>
            </a:pPr>
            <a:endParaRPr lang="zh-CN" altLang="zh-CN" dirty="0">
              <a:latin typeface="Verdana" panose="020B0604030504040204" pitchFamily="34" charset="0"/>
              <a:ea typeface="宋体" panose="02010600030101010101" pitchFamily="2" charset="-122"/>
            </a:endParaRPr>
          </a:p>
        </p:txBody>
      </p:sp>
      <p:graphicFrame>
        <p:nvGraphicFramePr>
          <p:cNvPr id="61466" name="Object 5"/>
          <p:cNvGraphicFramePr>
            <a:graphicFrameLocks noChangeAspect="1"/>
          </p:cNvGraphicFramePr>
          <p:nvPr/>
        </p:nvGraphicFramePr>
        <p:xfrm>
          <a:off x="2971800" y="5181600"/>
          <a:ext cx="204788" cy="241300"/>
        </p:xfrm>
        <a:graphic>
          <a:graphicData uri="http://schemas.openxmlformats.org/presentationml/2006/ole">
            <mc:AlternateContent xmlns:mc="http://schemas.openxmlformats.org/markup-compatibility/2006">
              <mc:Choice xmlns:v="urn:schemas-microsoft-com:vml" Requires="v">
                <p:oleObj spid="_x0000_s3137" r:id="rId9" imgW="139700" imgH="165100" progId="Equation.3">
                  <p:embed/>
                </p:oleObj>
              </mc:Choice>
              <mc:Fallback>
                <p:oleObj r:id="rId9" imgW="139700" imgH="165100" progId="Equation.3">
                  <p:embed/>
                  <p:pic>
                    <p:nvPicPr>
                      <p:cNvPr id="0" name="图片 3078"/>
                      <p:cNvPicPr/>
                      <p:nvPr/>
                    </p:nvPicPr>
                    <p:blipFill>
                      <a:blip r:embed="rId10"/>
                      <a:stretch>
                        <a:fillRect/>
                      </a:stretch>
                    </p:blipFill>
                    <p:spPr>
                      <a:xfrm>
                        <a:off x="2971800" y="5181600"/>
                        <a:ext cx="204788" cy="241300"/>
                      </a:xfrm>
                      <a:prstGeom prst="rect">
                        <a:avLst/>
                      </a:prstGeom>
                      <a:noFill/>
                      <a:ln w="38100">
                        <a:noFill/>
                        <a:miter/>
                      </a:ln>
                    </p:spPr>
                  </p:pic>
                </p:oleObj>
              </mc:Fallback>
            </mc:AlternateContent>
          </a:graphicData>
        </a:graphic>
      </p:graphicFrame>
      <p:graphicFrame>
        <p:nvGraphicFramePr>
          <p:cNvPr id="61467" name="Object 6"/>
          <p:cNvGraphicFramePr>
            <a:graphicFrameLocks noChangeAspect="1"/>
          </p:cNvGraphicFramePr>
          <p:nvPr/>
        </p:nvGraphicFramePr>
        <p:xfrm>
          <a:off x="5562600" y="4191000"/>
          <a:ext cx="254000" cy="304800"/>
        </p:xfrm>
        <a:graphic>
          <a:graphicData uri="http://schemas.openxmlformats.org/presentationml/2006/ole">
            <mc:AlternateContent xmlns:mc="http://schemas.openxmlformats.org/markup-compatibility/2006">
              <mc:Choice xmlns:v="urn:schemas-microsoft-com:vml" Requires="v">
                <p:oleObj spid="_x0000_s3138" r:id="rId11" imgW="190500" imgH="228600" progId="Equation.3">
                  <p:embed/>
                </p:oleObj>
              </mc:Choice>
              <mc:Fallback>
                <p:oleObj r:id="rId11" imgW="190500" imgH="228600" progId="Equation.3">
                  <p:embed/>
                  <p:pic>
                    <p:nvPicPr>
                      <p:cNvPr id="0" name="图片 3079"/>
                      <p:cNvPicPr/>
                      <p:nvPr/>
                    </p:nvPicPr>
                    <p:blipFill>
                      <a:blip r:embed="rId12"/>
                      <a:stretch>
                        <a:fillRect/>
                      </a:stretch>
                    </p:blipFill>
                    <p:spPr>
                      <a:xfrm>
                        <a:off x="5562600" y="4191000"/>
                        <a:ext cx="254000" cy="304800"/>
                      </a:xfrm>
                      <a:prstGeom prst="rect">
                        <a:avLst/>
                      </a:prstGeom>
                      <a:noFill/>
                      <a:ln w="38100">
                        <a:noFill/>
                        <a:miter/>
                      </a:ln>
                    </p:spPr>
                  </p:pic>
                </p:oleObj>
              </mc:Fallback>
            </mc:AlternateContent>
          </a:graphicData>
        </a:graphic>
      </p:graphicFrame>
      <p:sp>
        <p:nvSpPr>
          <p:cNvPr id="61468" name="Text Box 28"/>
          <p:cNvSpPr txBox="1"/>
          <p:nvPr/>
        </p:nvSpPr>
        <p:spPr>
          <a:xfrm>
            <a:off x="5775325" y="4164013"/>
            <a:ext cx="2216150" cy="336550"/>
          </a:xfrm>
          <a:prstGeom prst="rect">
            <a:avLst/>
          </a:prstGeom>
          <a:noFill/>
          <a:ln w="9525">
            <a:noFill/>
          </a:ln>
        </p:spPr>
        <p:txBody>
          <a:bodyPr wrap="none" anchor="t" anchorCtr="0">
            <a:spAutoFit/>
          </a:bodyPr>
          <a:lstStyle/>
          <a:p>
            <a:pPr eaLnBrk="0" hangingPunct="0"/>
            <a:r>
              <a:rPr lang="zh-CN" altLang="en-US" sz="1600" dirty="0">
                <a:latin typeface="Verdana" panose="020B0604030504040204" pitchFamily="34" charset="0"/>
                <a:ea typeface="宋体" panose="02010600030101010101" pitchFamily="2" charset="-122"/>
              </a:rPr>
              <a:t>－－正弦信号的振幅；</a:t>
            </a:r>
          </a:p>
        </p:txBody>
      </p:sp>
      <p:sp>
        <p:nvSpPr>
          <p:cNvPr id="61469" name="Text Box 29"/>
          <p:cNvSpPr txBox="1"/>
          <p:nvPr/>
        </p:nvSpPr>
        <p:spPr>
          <a:xfrm>
            <a:off x="5546725" y="4645025"/>
            <a:ext cx="184150" cy="396875"/>
          </a:xfrm>
          <a:prstGeom prst="rect">
            <a:avLst/>
          </a:prstGeom>
          <a:noFill/>
          <a:ln w="9525">
            <a:noFill/>
          </a:ln>
        </p:spPr>
        <p:txBody>
          <a:bodyPr wrap="none" anchor="t" anchorCtr="0">
            <a:spAutoFit/>
          </a:bodyPr>
          <a:lstStyle/>
          <a:p>
            <a:pPr eaLnBrk="0" hangingPunct="0"/>
            <a:endParaRPr lang="zh-CN" altLang="zh-CN" dirty="0">
              <a:latin typeface="Verdana" panose="020B0604030504040204" pitchFamily="34" charset="0"/>
              <a:ea typeface="宋体" panose="02010600030101010101" pitchFamily="2" charset="-122"/>
            </a:endParaRPr>
          </a:p>
        </p:txBody>
      </p:sp>
      <p:graphicFrame>
        <p:nvGraphicFramePr>
          <p:cNvPr id="61470" name="Object 7"/>
          <p:cNvGraphicFramePr>
            <a:graphicFrameLocks noChangeAspect="1"/>
          </p:cNvGraphicFramePr>
          <p:nvPr/>
        </p:nvGraphicFramePr>
        <p:xfrm>
          <a:off x="5638800" y="4724400"/>
          <a:ext cx="193675" cy="228600"/>
        </p:xfrm>
        <a:graphic>
          <a:graphicData uri="http://schemas.openxmlformats.org/presentationml/2006/ole">
            <mc:AlternateContent xmlns:mc="http://schemas.openxmlformats.org/markup-compatibility/2006">
              <mc:Choice xmlns:v="urn:schemas-microsoft-com:vml" Requires="v">
                <p:oleObj spid="_x0000_s3139" r:id="rId13" imgW="139700" imgH="165100" progId="Equation.3">
                  <p:embed/>
                </p:oleObj>
              </mc:Choice>
              <mc:Fallback>
                <p:oleObj r:id="rId13" imgW="139700" imgH="165100" progId="Equation.3">
                  <p:embed/>
                  <p:pic>
                    <p:nvPicPr>
                      <p:cNvPr id="0" name="图片 3080"/>
                      <p:cNvPicPr/>
                      <p:nvPr/>
                    </p:nvPicPr>
                    <p:blipFill>
                      <a:blip r:embed="rId10"/>
                      <a:stretch>
                        <a:fillRect/>
                      </a:stretch>
                    </p:blipFill>
                    <p:spPr>
                      <a:xfrm>
                        <a:off x="5638800" y="4724400"/>
                        <a:ext cx="193675" cy="228600"/>
                      </a:xfrm>
                      <a:prstGeom prst="rect">
                        <a:avLst/>
                      </a:prstGeom>
                      <a:noFill/>
                      <a:ln w="38100">
                        <a:noFill/>
                        <a:miter/>
                      </a:ln>
                    </p:spPr>
                  </p:pic>
                </p:oleObj>
              </mc:Fallback>
            </mc:AlternateContent>
          </a:graphicData>
        </a:graphic>
      </p:graphicFrame>
      <p:sp>
        <p:nvSpPr>
          <p:cNvPr id="61471" name="Text Box 31"/>
          <p:cNvSpPr txBox="1"/>
          <p:nvPr/>
        </p:nvSpPr>
        <p:spPr>
          <a:xfrm>
            <a:off x="5775325" y="4621213"/>
            <a:ext cx="1606550" cy="336550"/>
          </a:xfrm>
          <a:prstGeom prst="rect">
            <a:avLst/>
          </a:prstGeom>
          <a:noFill/>
          <a:ln w="9525">
            <a:noFill/>
          </a:ln>
        </p:spPr>
        <p:txBody>
          <a:bodyPr wrap="none" anchor="t" anchorCtr="0">
            <a:spAutoFit/>
          </a:bodyPr>
          <a:lstStyle/>
          <a:p>
            <a:pPr eaLnBrk="0" hangingPunct="0"/>
            <a:r>
              <a:rPr lang="zh-CN" altLang="en-US" sz="1600" dirty="0">
                <a:latin typeface="Verdana" panose="020B0604030504040204" pitchFamily="34" charset="0"/>
                <a:ea typeface="宋体" panose="02010600030101010101" pitchFamily="2" charset="-122"/>
              </a:rPr>
              <a:t>－－初始相角；</a:t>
            </a:r>
          </a:p>
        </p:txBody>
      </p:sp>
      <p:sp>
        <p:nvSpPr>
          <p:cNvPr id="61472" name="Text Box 32"/>
          <p:cNvSpPr txBox="1"/>
          <p:nvPr/>
        </p:nvSpPr>
        <p:spPr>
          <a:xfrm>
            <a:off x="5546725" y="5026025"/>
            <a:ext cx="184150" cy="396875"/>
          </a:xfrm>
          <a:prstGeom prst="rect">
            <a:avLst/>
          </a:prstGeom>
          <a:noFill/>
          <a:ln w="9525">
            <a:noFill/>
          </a:ln>
        </p:spPr>
        <p:txBody>
          <a:bodyPr wrap="none" anchor="t" anchorCtr="0">
            <a:spAutoFit/>
          </a:bodyPr>
          <a:lstStyle/>
          <a:p>
            <a:pPr eaLnBrk="0" hangingPunct="0"/>
            <a:endParaRPr lang="zh-CN" altLang="zh-CN" dirty="0">
              <a:latin typeface="Verdana" panose="020B0604030504040204" pitchFamily="34" charset="0"/>
              <a:ea typeface="宋体" panose="02010600030101010101" pitchFamily="2" charset="-122"/>
            </a:endParaRPr>
          </a:p>
        </p:txBody>
      </p:sp>
      <p:graphicFrame>
        <p:nvGraphicFramePr>
          <p:cNvPr id="61473" name="Object 8"/>
          <p:cNvGraphicFramePr>
            <a:graphicFrameLocks noChangeAspect="1"/>
          </p:cNvGraphicFramePr>
          <p:nvPr/>
        </p:nvGraphicFramePr>
        <p:xfrm>
          <a:off x="5562600" y="5181600"/>
          <a:ext cx="228600" cy="209550"/>
        </p:xfrm>
        <a:graphic>
          <a:graphicData uri="http://schemas.openxmlformats.org/presentationml/2006/ole">
            <mc:AlternateContent xmlns:mc="http://schemas.openxmlformats.org/markup-compatibility/2006">
              <mc:Choice xmlns:v="urn:schemas-microsoft-com:vml" Requires="v">
                <p:oleObj spid="_x0000_s3140" r:id="rId14" imgW="152400" imgH="139700" progId="Equation.3">
                  <p:embed/>
                </p:oleObj>
              </mc:Choice>
              <mc:Fallback>
                <p:oleObj r:id="rId14" imgW="152400" imgH="139700" progId="Equation.3">
                  <p:embed/>
                  <p:pic>
                    <p:nvPicPr>
                      <p:cNvPr id="0" name="图片 3081"/>
                      <p:cNvPicPr/>
                      <p:nvPr/>
                    </p:nvPicPr>
                    <p:blipFill>
                      <a:blip r:embed="rId15"/>
                      <a:stretch>
                        <a:fillRect/>
                      </a:stretch>
                    </p:blipFill>
                    <p:spPr>
                      <a:xfrm>
                        <a:off x="5562600" y="5181600"/>
                        <a:ext cx="228600" cy="209550"/>
                      </a:xfrm>
                      <a:prstGeom prst="rect">
                        <a:avLst/>
                      </a:prstGeom>
                      <a:noFill/>
                      <a:ln w="38100">
                        <a:noFill/>
                        <a:miter/>
                      </a:ln>
                    </p:spPr>
                  </p:pic>
                </p:oleObj>
              </mc:Fallback>
            </mc:AlternateContent>
          </a:graphicData>
        </a:graphic>
      </p:graphicFrame>
      <p:sp>
        <p:nvSpPr>
          <p:cNvPr id="61474" name="Text Box 34"/>
          <p:cNvSpPr txBox="1"/>
          <p:nvPr/>
        </p:nvSpPr>
        <p:spPr>
          <a:xfrm>
            <a:off x="5775325" y="5078413"/>
            <a:ext cx="1606550" cy="336550"/>
          </a:xfrm>
          <a:prstGeom prst="rect">
            <a:avLst/>
          </a:prstGeom>
          <a:noFill/>
          <a:ln w="9525">
            <a:noFill/>
          </a:ln>
        </p:spPr>
        <p:txBody>
          <a:bodyPr wrap="none" anchor="t" anchorCtr="0">
            <a:spAutoFit/>
          </a:bodyPr>
          <a:lstStyle/>
          <a:p>
            <a:pPr eaLnBrk="0" hangingPunct="0"/>
            <a:r>
              <a:rPr lang="zh-CN" altLang="en-US" sz="1600" dirty="0">
                <a:latin typeface="Verdana" panose="020B0604030504040204" pitchFamily="34" charset="0"/>
                <a:ea typeface="宋体" panose="02010600030101010101" pitchFamily="2" charset="-122"/>
              </a:rPr>
              <a:t>－－振荡频率；</a:t>
            </a:r>
          </a:p>
        </p:txBody>
      </p:sp>
      <p:graphicFrame>
        <p:nvGraphicFramePr>
          <p:cNvPr id="61475" name="Object 9"/>
          <p:cNvGraphicFramePr>
            <a:graphicFrameLocks noChangeAspect="1"/>
          </p:cNvGraphicFramePr>
          <p:nvPr/>
        </p:nvGraphicFramePr>
        <p:xfrm>
          <a:off x="7391400" y="5029200"/>
          <a:ext cx="609600" cy="473075"/>
        </p:xfrm>
        <a:graphic>
          <a:graphicData uri="http://schemas.openxmlformats.org/presentationml/2006/ole">
            <mc:AlternateContent xmlns:mc="http://schemas.openxmlformats.org/markup-compatibility/2006">
              <mc:Choice xmlns:v="urn:schemas-microsoft-com:vml" Requires="v">
                <p:oleObj spid="_x0000_s3141" r:id="rId16" imgW="508000" imgH="393700" progId="Equation.3">
                  <p:embed/>
                </p:oleObj>
              </mc:Choice>
              <mc:Fallback>
                <p:oleObj r:id="rId16" imgW="508000" imgH="393700" progId="Equation.3">
                  <p:embed/>
                  <p:pic>
                    <p:nvPicPr>
                      <p:cNvPr id="0" name="图片 3082"/>
                      <p:cNvPicPr/>
                      <p:nvPr/>
                    </p:nvPicPr>
                    <p:blipFill>
                      <a:blip r:embed="rId17"/>
                      <a:stretch>
                        <a:fillRect/>
                      </a:stretch>
                    </p:blipFill>
                    <p:spPr>
                      <a:xfrm>
                        <a:off x="7391400" y="5029200"/>
                        <a:ext cx="609600" cy="473075"/>
                      </a:xfrm>
                      <a:prstGeom prst="rect">
                        <a:avLst/>
                      </a:prstGeom>
                      <a:noFill/>
                      <a:ln w="38100">
                        <a:noFill/>
                        <a:miter/>
                      </a:ln>
                    </p:spPr>
                  </p:pic>
                </p:oleObj>
              </mc:Fallback>
            </mc:AlternateContent>
          </a:graphicData>
        </a:graphic>
      </p:graphicFrame>
      <p:sp>
        <p:nvSpPr>
          <p:cNvPr id="61476" name="Text Box 36"/>
          <p:cNvSpPr txBox="1"/>
          <p:nvPr/>
        </p:nvSpPr>
        <p:spPr>
          <a:xfrm>
            <a:off x="5638800" y="5638800"/>
            <a:ext cx="1730375" cy="336550"/>
          </a:xfrm>
          <a:prstGeom prst="rect">
            <a:avLst/>
          </a:prstGeom>
          <a:noFill/>
          <a:ln w="9525">
            <a:noFill/>
          </a:ln>
        </p:spPr>
        <p:txBody>
          <a:bodyPr wrap="none" anchor="t" anchorCtr="0">
            <a:spAutoFit/>
          </a:bodyPr>
          <a:lstStyle/>
          <a:p>
            <a:pPr eaLnBrk="0" hangingPunct="0"/>
            <a:r>
              <a:rPr lang="en-US" altLang="zh-CN" sz="1600" dirty="0">
                <a:latin typeface="Verdana" panose="020B0604030504040204" pitchFamily="34" charset="0"/>
                <a:ea typeface="宋体" panose="02010600030101010101" pitchFamily="2" charset="-122"/>
              </a:rPr>
              <a:t>T</a:t>
            </a:r>
            <a:r>
              <a:rPr lang="zh-CN" altLang="en-US" sz="1600" dirty="0">
                <a:latin typeface="Verdana" panose="020B0604030504040204" pitchFamily="34" charset="0"/>
                <a:ea typeface="宋体" panose="02010600030101010101" pitchFamily="2" charset="-122"/>
              </a:rPr>
              <a:t>－－振荡周期。</a:t>
            </a:r>
          </a:p>
        </p:txBody>
      </p:sp>
      <p:sp>
        <p:nvSpPr>
          <p:cNvPr id="7203" name="矩形 36"/>
          <p:cNvSpPr/>
          <p:nvPr/>
        </p:nvSpPr>
        <p:spPr>
          <a:xfrm>
            <a:off x="755650" y="692150"/>
            <a:ext cx="2089150" cy="523875"/>
          </a:xfrm>
          <a:prstGeom prst="rect">
            <a:avLst/>
          </a:prstGeom>
          <a:noFill/>
          <a:ln w="9525">
            <a:noFill/>
          </a:ln>
        </p:spPr>
        <p:txBody>
          <a:bodyPr wrap="none" anchor="t" anchorCtr="0">
            <a:spAutoFit/>
          </a:bodyPr>
          <a:lstStyle/>
          <a:p>
            <a:pPr marL="457200" indent="-457200" eaLnBrk="0" hangingPunct="0">
              <a:buFont typeface="Wingdings" panose="05000000000000000000" pitchFamily="2" charset="2"/>
              <a:buChar char="Ø"/>
            </a:pPr>
            <a:r>
              <a:rPr lang="zh-CN" altLang="en-US" sz="2800" b="1" dirty="0">
                <a:latin typeface="Verdana" panose="020B0604030504040204" pitchFamily="34" charset="0"/>
                <a:ea typeface="宋体" panose="02010600030101010101" pitchFamily="2" charset="-122"/>
              </a:rPr>
              <a:t>正弦信号</a:t>
            </a:r>
            <a:endParaRPr lang="en-US" altLang="zh-CN" sz="2800" b="1" dirty="0">
              <a:latin typeface="Verdana" panose="020B0604030504040204" pitchFamily="34" charset="0"/>
              <a:ea typeface="宋体" panose="02010600030101010101" pitchFamily="2" charset="-122"/>
            </a:endParaRPr>
          </a:p>
        </p:txBody>
      </p:sp>
      <p:sp>
        <p:nvSpPr>
          <p:cNvPr id="7204" name="日期占位符 36"/>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0">
              <a:rPr lang="zh-CN" altLang="en-US" sz="1200" dirty="0"/>
              <a:t>14:15</a:t>
            </a:fld>
            <a:endParaRPr lang="zh-CN" altLang="en-US" sz="1200" dirty="0"/>
          </a:p>
        </p:txBody>
      </p:sp>
      <p:sp>
        <p:nvSpPr>
          <p:cNvPr id="7205" name="灯片编号占位符 37"/>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a:t>
            </a:fld>
            <a:endParaRPr lang="en-US" altLang="zh-CN"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
                                        </p:tgtEl>
                                        <p:attrNameLst>
                                          <p:attrName>style.visibility</p:attrName>
                                        </p:attrNameLst>
                                      </p:cBhvr>
                                      <p:to>
                                        <p:strVal val="visible"/>
                                      </p:to>
                                    </p:set>
                                    <p:animEffect transition="in" filter="blinds(horizontal)">
                                      <p:cBhvr>
                                        <p:cTn id="7" dur="500"/>
                                        <p:tgtEl>
                                          <p:spTgt spid="20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blinds(horizontal)">
                                      <p:cBhvr>
                                        <p:cTn id="12" dur="500"/>
                                        <p:tgtEl>
                                          <p:spTgt spid="6144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4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4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4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45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453"/>
                                        </p:tgtEl>
                                        <p:attrNameLst>
                                          <p:attrName>style.visibility</p:attrName>
                                        </p:attrNameLst>
                                      </p:cBhvr>
                                      <p:to>
                                        <p:strVal val="visible"/>
                                      </p:to>
                                    </p:set>
                                  </p:childTnLst>
                                </p:cTn>
                              </p:par>
                              <p:par>
                                <p:cTn id="33" presetID="1" presetClass="entr" presetSubtype="0" fill="hold" grpId="0" nodeType="withEffect" nodePh="1">
                                  <p:stCondLst>
                                    <p:cond delay="0"/>
                                  </p:stCondLst>
                                  <p:endCondLst>
                                    <p:cond delay="0"/>
                                  </p:endCondLst>
                                  <p:childTnLst>
                                    <p:set>
                                      <p:cBhvr>
                                        <p:cTn id="34" dur="1" fill="hold">
                                          <p:stCondLst>
                                            <p:cond delay="0"/>
                                          </p:stCondLst>
                                        </p:cTn>
                                        <p:tgtEl>
                                          <p:spTgt spid="614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4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145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4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145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1459"/>
                                        </p:tgtEl>
                                        <p:attrNameLst>
                                          <p:attrName>style.visibility</p:attrName>
                                        </p:attrNameLst>
                                      </p:cBhvr>
                                      <p:to>
                                        <p:strVal val="visible"/>
                                      </p:to>
                                    </p:set>
                                  </p:childTnLst>
                                </p:cTn>
                              </p:par>
                              <p:par>
                                <p:cTn id="45" presetID="1" presetClass="entr" presetSubtype="0" fill="hold" grpId="0" nodeType="withEffect" nodePh="1">
                                  <p:stCondLst>
                                    <p:cond delay="0"/>
                                  </p:stCondLst>
                                  <p:endCondLst>
                                    <p:cond delay="0"/>
                                  </p:endCondLst>
                                  <p:childTnLst>
                                    <p:set>
                                      <p:cBhvr>
                                        <p:cTn id="46" dur="1" fill="hold">
                                          <p:stCondLst>
                                            <p:cond delay="0"/>
                                          </p:stCondLst>
                                        </p:cTn>
                                        <p:tgtEl>
                                          <p:spTgt spid="6146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146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146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146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nodePh="1">
                                  <p:stCondLst>
                                    <p:cond delay="0"/>
                                  </p:stCondLst>
                                  <p:endCondLst>
                                    <p:cond delay="0"/>
                                  </p:endCondLst>
                                  <p:childTnLst>
                                    <p:set>
                                      <p:cBhvr>
                                        <p:cTn id="56" dur="1" fill="hold">
                                          <p:stCondLst>
                                            <p:cond delay="0"/>
                                          </p:stCondLst>
                                        </p:cTn>
                                        <p:tgtEl>
                                          <p:spTgt spid="61461"/>
                                        </p:tgtEl>
                                        <p:attrNameLst>
                                          <p:attrName>style.visibility</p:attrName>
                                        </p:attrNameLst>
                                      </p:cBhvr>
                                      <p:to>
                                        <p:strVal val="visible"/>
                                      </p:to>
                                    </p:set>
                                  </p:childTnLst>
                                </p:cTn>
                              </p:par>
                              <p:par>
                                <p:cTn id="57" presetID="1" presetClass="entr" presetSubtype="0" fill="hold" grpId="0" nodeType="withEffect" nodePh="1">
                                  <p:stCondLst>
                                    <p:cond delay="0"/>
                                  </p:stCondLst>
                                  <p:endCondLst>
                                    <p:cond delay="0"/>
                                  </p:endCondLst>
                                  <p:childTnLst>
                                    <p:set>
                                      <p:cBhvr>
                                        <p:cTn id="58" dur="1" fill="hold">
                                          <p:stCondLst>
                                            <p:cond delay="0"/>
                                          </p:stCondLst>
                                        </p:cTn>
                                        <p:tgtEl>
                                          <p:spTgt spid="61463"/>
                                        </p:tgtEl>
                                        <p:attrNameLst>
                                          <p:attrName>style.visibility</p:attrName>
                                        </p:attrNameLst>
                                      </p:cBhvr>
                                      <p:to>
                                        <p:strVal val="visible"/>
                                      </p:to>
                                    </p:set>
                                  </p:childTnLst>
                                </p:cTn>
                              </p:par>
                              <p:par>
                                <p:cTn id="59" presetID="1" presetClass="entr" presetSubtype="0" fill="hold" grpId="0" nodeType="withEffect" nodePh="1">
                                  <p:stCondLst>
                                    <p:cond delay="0"/>
                                  </p:stCondLst>
                                  <p:endCondLst>
                                    <p:cond delay="0"/>
                                  </p:endCondLst>
                                  <p:childTnLst>
                                    <p:set>
                                      <p:cBhvr>
                                        <p:cTn id="60" dur="1" fill="hold">
                                          <p:stCondLst>
                                            <p:cond delay="0"/>
                                          </p:stCondLst>
                                        </p:cTn>
                                        <p:tgtEl>
                                          <p:spTgt spid="6146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146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468"/>
                                        </p:tgtEl>
                                        <p:attrNameLst>
                                          <p:attrName>style.visibility</p:attrName>
                                        </p:attrNameLst>
                                      </p:cBhvr>
                                      <p:to>
                                        <p:strVal val="visible"/>
                                      </p:to>
                                    </p:set>
                                  </p:childTnLst>
                                </p:cTn>
                              </p:par>
                              <p:par>
                                <p:cTn id="65" presetID="1" presetClass="entr" presetSubtype="0" fill="hold" grpId="0" nodeType="withEffect" nodePh="1">
                                  <p:stCondLst>
                                    <p:cond delay="0"/>
                                  </p:stCondLst>
                                  <p:endCondLst>
                                    <p:cond delay="0"/>
                                  </p:endCondLst>
                                  <p:childTnLst>
                                    <p:set>
                                      <p:cBhvr>
                                        <p:cTn id="66" dur="1" fill="hold">
                                          <p:stCondLst>
                                            <p:cond delay="0"/>
                                          </p:stCondLst>
                                        </p:cTn>
                                        <p:tgtEl>
                                          <p:spTgt spid="6146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147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1471"/>
                                        </p:tgtEl>
                                        <p:attrNameLst>
                                          <p:attrName>style.visibility</p:attrName>
                                        </p:attrNameLst>
                                      </p:cBhvr>
                                      <p:to>
                                        <p:strVal val="visible"/>
                                      </p:to>
                                    </p:set>
                                  </p:childTnLst>
                                </p:cTn>
                              </p:par>
                              <p:par>
                                <p:cTn id="71" presetID="1" presetClass="entr" presetSubtype="0" fill="hold" grpId="0" nodeType="withEffect" nodePh="1">
                                  <p:stCondLst>
                                    <p:cond delay="0"/>
                                  </p:stCondLst>
                                  <p:endCondLst>
                                    <p:cond delay="0"/>
                                  </p:endCondLst>
                                  <p:childTnLst>
                                    <p:set>
                                      <p:cBhvr>
                                        <p:cTn id="72" dur="1" fill="hold">
                                          <p:stCondLst>
                                            <p:cond delay="0"/>
                                          </p:stCondLst>
                                        </p:cTn>
                                        <p:tgtEl>
                                          <p:spTgt spid="6147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147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147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147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 grpId="0"/>
      <p:bldP spid="61444" grpId="0"/>
      <p:bldP spid="61445" grpId="0"/>
      <p:bldP spid="61451" grpId="0"/>
      <p:bldP spid="61454" grpId="0"/>
      <p:bldP spid="61457" grpId="0"/>
      <p:bldP spid="61460" grpId="0"/>
      <p:bldP spid="61461" grpId="0"/>
      <p:bldP spid="61463" grpId="0"/>
      <p:bldP spid="61465" grpId="0"/>
      <p:bldP spid="61468" grpId="0"/>
      <p:bldP spid="61469" grpId="0"/>
      <p:bldP spid="61471" grpId="0"/>
      <p:bldP spid="61472" grpId="0"/>
      <p:bldP spid="61474" grpId="0"/>
      <p:bldP spid="6147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p:cNvSpPr txBox="1"/>
          <p:nvPr/>
        </p:nvSpPr>
        <p:spPr>
          <a:xfrm>
            <a:off x="900113" y="1052513"/>
            <a:ext cx="2089150" cy="523875"/>
          </a:xfrm>
          <a:prstGeom prst="rect">
            <a:avLst/>
          </a:prstGeom>
          <a:noFill/>
          <a:ln w="9525">
            <a:noFill/>
          </a:ln>
        </p:spPr>
        <p:txBody>
          <a:bodyPr wrap="none" anchor="t" anchorCtr="0">
            <a:spAutoFit/>
          </a:bodyPr>
          <a:lstStyle/>
          <a:p>
            <a:pPr marL="457200" indent="-457200" eaLnBrk="0" hangingPunct="0">
              <a:buFont typeface="Wingdings" panose="05000000000000000000" pitchFamily="2" charset="2"/>
              <a:buChar char="Ø"/>
            </a:pPr>
            <a:r>
              <a:rPr lang="zh-CN" altLang="en-US" sz="2800" b="1" dirty="0">
                <a:latin typeface="Verdana" panose="020B0604030504040204" pitchFamily="34" charset="0"/>
                <a:ea typeface="宋体" panose="02010600030101010101" pitchFamily="2" charset="-122"/>
              </a:rPr>
              <a:t>阶跃信号</a:t>
            </a:r>
          </a:p>
        </p:txBody>
      </p:sp>
      <p:sp>
        <p:nvSpPr>
          <p:cNvPr id="62468" name="Text Box 4"/>
          <p:cNvSpPr txBox="1"/>
          <p:nvPr/>
        </p:nvSpPr>
        <p:spPr>
          <a:xfrm>
            <a:off x="1403350" y="1916113"/>
            <a:ext cx="2032000" cy="461962"/>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数学表达式：</a:t>
            </a:r>
          </a:p>
        </p:txBody>
      </p:sp>
      <p:graphicFrame>
        <p:nvGraphicFramePr>
          <p:cNvPr id="62469" name="Object 2"/>
          <p:cNvGraphicFramePr>
            <a:graphicFrameLocks noChangeAspect="1"/>
          </p:cNvGraphicFramePr>
          <p:nvPr/>
        </p:nvGraphicFramePr>
        <p:xfrm>
          <a:off x="3505200" y="1816100"/>
          <a:ext cx="1858963" cy="915988"/>
        </p:xfrm>
        <a:graphic>
          <a:graphicData uri="http://schemas.openxmlformats.org/presentationml/2006/ole">
            <mc:AlternateContent xmlns:mc="http://schemas.openxmlformats.org/markup-compatibility/2006">
              <mc:Choice xmlns:v="urn:schemas-microsoft-com:vml" Requires="v">
                <p:oleObj spid="_x0000_s4104" r:id="rId3" imgW="927100" imgH="457200" progId="Equation.3">
                  <p:embed/>
                </p:oleObj>
              </mc:Choice>
              <mc:Fallback>
                <p:oleObj r:id="rId3" imgW="927100" imgH="457200" progId="Equation.3">
                  <p:embed/>
                  <p:pic>
                    <p:nvPicPr>
                      <p:cNvPr id="0" name="图片 3083"/>
                      <p:cNvPicPr/>
                      <p:nvPr/>
                    </p:nvPicPr>
                    <p:blipFill>
                      <a:blip r:embed="rId4"/>
                      <a:stretch>
                        <a:fillRect/>
                      </a:stretch>
                    </p:blipFill>
                    <p:spPr>
                      <a:xfrm>
                        <a:off x="3505200" y="1816100"/>
                        <a:ext cx="1858963" cy="915988"/>
                      </a:xfrm>
                      <a:prstGeom prst="rect">
                        <a:avLst/>
                      </a:prstGeom>
                      <a:noFill/>
                      <a:ln w="38100">
                        <a:noFill/>
                        <a:miter/>
                      </a:ln>
                    </p:spPr>
                  </p:pic>
                </p:oleObj>
              </mc:Fallback>
            </mc:AlternateContent>
          </a:graphicData>
        </a:graphic>
      </p:graphicFrame>
      <p:sp>
        <p:nvSpPr>
          <p:cNvPr id="62470" name="Text Box 6"/>
          <p:cNvSpPr txBox="1"/>
          <p:nvPr/>
        </p:nvSpPr>
        <p:spPr>
          <a:xfrm>
            <a:off x="6227763" y="2205038"/>
            <a:ext cx="1130300" cy="396875"/>
          </a:xfrm>
          <a:prstGeom prst="rect">
            <a:avLst/>
          </a:prstGeom>
          <a:noFill/>
          <a:ln w="9525">
            <a:noFill/>
          </a:ln>
        </p:spPr>
        <p:txBody>
          <a:bodyPr wrap="none" anchor="t" anchorCtr="0">
            <a:spAutoFit/>
          </a:bodyPr>
          <a:lstStyle/>
          <a:p>
            <a:pPr eaLnBrk="0" hangingPunct="0"/>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为常数</a:t>
            </a:r>
          </a:p>
        </p:txBody>
      </p:sp>
      <p:sp>
        <p:nvSpPr>
          <p:cNvPr id="62471" name="Text Box 7"/>
          <p:cNvSpPr txBox="1"/>
          <p:nvPr/>
        </p:nvSpPr>
        <p:spPr>
          <a:xfrm>
            <a:off x="1042988" y="2924175"/>
            <a:ext cx="7342187" cy="461963"/>
          </a:xfrm>
          <a:prstGeom prst="rect">
            <a:avLst/>
          </a:prstGeom>
          <a:noFill/>
          <a:ln w="9525">
            <a:noFill/>
          </a:ln>
        </p:spPr>
        <p:txBody>
          <a:bodyPr wrap="none" anchor="t" anchorCtr="0">
            <a:spAutoFit/>
          </a:bodyPr>
          <a:lstStyle/>
          <a:p>
            <a:pPr eaLnBrk="0" hangingPunct="0"/>
            <a:r>
              <a:rPr lang="en-US" altLang="zh-CN" sz="2400" dirty="0">
                <a:latin typeface="Verdana" panose="020B0604030504040204" pitchFamily="34" charset="0"/>
                <a:ea typeface="宋体" panose="02010600030101010101" pitchFamily="2" charset="-122"/>
              </a:rPr>
              <a:t>A=1</a:t>
            </a:r>
            <a:r>
              <a:rPr lang="zh-CN" altLang="en-US" sz="2400" dirty="0">
                <a:latin typeface="Verdana" panose="020B0604030504040204" pitchFamily="34" charset="0"/>
                <a:ea typeface="宋体" panose="02010600030101010101" pitchFamily="2" charset="-122"/>
              </a:rPr>
              <a:t>，即</a:t>
            </a:r>
            <a:r>
              <a:rPr lang="en-US" altLang="zh-CN" sz="2400" dirty="0">
                <a:latin typeface="Verdana" panose="020B0604030504040204" pitchFamily="34" charset="0"/>
                <a:ea typeface="宋体" panose="02010600030101010101" pitchFamily="2" charset="-122"/>
              </a:rPr>
              <a:t>r(t)=1</a:t>
            </a:r>
            <a:r>
              <a:rPr lang="zh-CN" altLang="en-US" sz="2400" dirty="0">
                <a:latin typeface="Verdana" panose="020B0604030504040204" pitchFamily="34" charset="0"/>
                <a:ea typeface="宋体" panose="02010600030101010101" pitchFamily="2" charset="-122"/>
              </a:rPr>
              <a:t>时，称为</a:t>
            </a:r>
            <a:r>
              <a:rPr lang="zh-CN" altLang="en-US" sz="2400" dirty="0">
                <a:solidFill>
                  <a:srgbClr val="FA450C"/>
                </a:solidFill>
                <a:latin typeface="Verdana" panose="020B0604030504040204" pitchFamily="34" charset="0"/>
                <a:ea typeface="宋体" panose="02010600030101010101" pitchFamily="2" charset="-122"/>
              </a:rPr>
              <a:t>单位阶跃函数</a:t>
            </a:r>
            <a:r>
              <a:rPr lang="zh-CN" altLang="en-US" sz="2400" dirty="0">
                <a:latin typeface="Verdana" panose="020B0604030504040204" pitchFamily="34" charset="0"/>
                <a:ea typeface="宋体" panose="02010600030101010101" pitchFamily="2" charset="-122"/>
              </a:rPr>
              <a:t>，记作</a:t>
            </a:r>
            <a:r>
              <a:rPr lang="en-US" altLang="zh-CN" sz="2400" dirty="0">
                <a:latin typeface="Verdana" panose="020B0604030504040204" pitchFamily="34" charset="0"/>
                <a:ea typeface="宋体" panose="02010600030101010101" pitchFamily="2" charset="-122"/>
              </a:rPr>
              <a:t>1(t)</a:t>
            </a:r>
            <a:r>
              <a:rPr lang="zh-CN" altLang="en-US" sz="2400" dirty="0">
                <a:latin typeface="Verdana" panose="020B0604030504040204" pitchFamily="34" charset="0"/>
                <a:ea typeface="宋体" panose="02010600030101010101" pitchFamily="2" charset="-122"/>
              </a:rPr>
              <a:t>。</a:t>
            </a:r>
          </a:p>
        </p:txBody>
      </p:sp>
      <p:grpSp>
        <p:nvGrpSpPr>
          <p:cNvPr id="3079" name="组合 16"/>
          <p:cNvGrpSpPr/>
          <p:nvPr/>
        </p:nvGrpSpPr>
        <p:grpSpPr>
          <a:xfrm>
            <a:off x="1116013" y="3644900"/>
            <a:ext cx="2057400" cy="1385888"/>
            <a:chOff x="1828800" y="3810000"/>
            <a:chExt cx="2057400" cy="1385888"/>
          </a:xfrm>
        </p:grpSpPr>
        <p:sp>
          <p:nvSpPr>
            <p:cNvPr id="8199" name="Line 8"/>
            <p:cNvSpPr/>
            <p:nvPr/>
          </p:nvSpPr>
          <p:spPr>
            <a:xfrm>
              <a:off x="1828800" y="4800600"/>
              <a:ext cx="1828800" cy="0"/>
            </a:xfrm>
            <a:prstGeom prst="line">
              <a:avLst/>
            </a:prstGeom>
            <a:ln w="9525" cap="flat" cmpd="sng">
              <a:solidFill>
                <a:srgbClr val="000000"/>
              </a:solidFill>
              <a:prstDash val="solid"/>
              <a:round/>
              <a:headEnd type="none" w="med" len="med"/>
              <a:tailEnd type="triangle" w="sm" len="med"/>
            </a:ln>
          </p:spPr>
        </p:sp>
        <p:sp>
          <p:nvSpPr>
            <p:cNvPr id="8200" name="Line 9"/>
            <p:cNvSpPr/>
            <p:nvPr/>
          </p:nvSpPr>
          <p:spPr>
            <a:xfrm flipV="1">
              <a:off x="2057400" y="3908425"/>
              <a:ext cx="0" cy="1287463"/>
            </a:xfrm>
            <a:prstGeom prst="line">
              <a:avLst/>
            </a:prstGeom>
            <a:ln w="9525" cap="flat" cmpd="sng">
              <a:solidFill>
                <a:srgbClr val="000000"/>
              </a:solidFill>
              <a:prstDash val="solid"/>
              <a:round/>
              <a:headEnd type="none" w="med" len="med"/>
              <a:tailEnd type="triangle" w="sm" len="med"/>
            </a:ln>
          </p:spPr>
        </p:sp>
        <p:sp>
          <p:nvSpPr>
            <p:cNvPr id="8201" name="Line 10"/>
            <p:cNvSpPr/>
            <p:nvPr/>
          </p:nvSpPr>
          <p:spPr>
            <a:xfrm>
              <a:off x="2057400" y="4305300"/>
              <a:ext cx="1257300" cy="0"/>
            </a:xfrm>
            <a:prstGeom prst="line">
              <a:avLst/>
            </a:prstGeom>
            <a:ln w="9525" cap="flat" cmpd="sng">
              <a:solidFill>
                <a:srgbClr val="000000"/>
              </a:solidFill>
              <a:prstDash val="solid"/>
              <a:round/>
              <a:headEnd type="none" w="med" len="med"/>
              <a:tailEnd type="none" w="med" len="med"/>
            </a:ln>
          </p:spPr>
        </p:sp>
        <p:sp>
          <p:nvSpPr>
            <p:cNvPr id="8202" name="Text Box 11"/>
            <p:cNvSpPr txBox="1"/>
            <p:nvPr/>
          </p:nvSpPr>
          <p:spPr>
            <a:xfrm>
              <a:off x="3657600" y="4572000"/>
              <a:ext cx="228600" cy="274638"/>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t</a:t>
              </a:r>
            </a:p>
          </p:txBody>
        </p:sp>
        <p:sp>
          <p:nvSpPr>
            <p:cNvPr id="8203" name="Text Box 12"/>
            <p:cNvSpPr txBox="1"/>
            <p:nvPr/>
          </p:nvSpPr>
          <p:spPr>
            <a:xfrm>
              <a:off x="1828800" y="4191000"/>
              <a:ext cx="342900" cy="396875"/>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A</a:t>
              </a:r>
            </a:p>
          </p:txBody>
        </p:sp>
        <p:sp>
          <p:nvSpPr>
            <p:cNvPr id="8204" name="Text Box 13"/>
            <p:cNvSpPr txBox="1"/>
            <p:nvPr/>
          </p:nvSpPr>
          <p:spPr>
            <a:xfrm>
              <a:off x="2057400" y="3810000"/>
              <a:ext cx="570384" cy="339080"/>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r(t)</a:t>
              </a:r>
            </a:p>
          </p:txBody>
        </p:sp>
        <p:sp>
          <p:nvSpPr>
            <p:cNvPr id="8205" name="Text Box 14"/>
            <p:cNvSpPr txBox="1"/>
            <p:nvPr/>
          </p:nvSpPr>
          <p:spPr>
            <a:xfrm>
              <a:off x="1828800" y="4800600"/>
              <a:ext cx="342900" cy="298450"/>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0</a:t>
              </a:r>
            </a:p>
          </p:txBody>
        </p:sp>
      </p:grpSp>
      <p:sp>
        <p:nvSpPr>
          <p:cNvPr id="62479" name="Text Box 15"/>
          <p:cNvSpPr txBox="1"/>
          <p:nvPr/>
        </p:nvSpPr>
        <p:spPr>
          <a:xfrm>
            <a:off x="3348038" y="3500438"/>
            <a:ext cx="5108575" cy="1939925"/>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表示在</a:t>
            </a:r>
            <a:r>
              <a:rPr lang="en-US" altLang="zh-CN" sz="2400" dirty="0">
                <a:latin typeface="Verdana" panose="020B0604030504040204" pitchFamily="34" charset="0"/>
                <a:ea typeface="宋体" panose="02010600030101010101" pitchFamily="2" charset="-122"/>
              </a:rPr>
              <a:t>t=0</a:t>
            </a:r>
            <a:r>
              <a:rPr lang="zh-CN" altLang="en-US" sz="2400" dirty="0">
                <a:latin typeface="Verdana" panose="020B0604030504040204" pitchFamily="34" charset="0"/>
                <a:ea typeface="宋体" panose="02010600030101010101" pitchFamily="2" charset="-122"/>
              </a:rPr>
              <a:t>时出现的幅值为</a:t>
            </a:r>
            <a:r>
              <a:rPr lang="en-US" altLang="zh-CN" sz="2400" dirty="0">
                <a:latin typeface="Verdana" panose="020B0604030504040204" pitchFamily="34" charset="0"/>
                <a:ea typeface="宋体" panose="02010600030101010101" pitchFamily="2" charset="-122"/>
              </a:rPr>
              <a:t>A</a:t>
            </a:r>
            <a:r>
              <a:rPr lang="zh-CN" altLang="en-US" sz="2400" dirty="0">
                <a:latin typeface="Verdana" panose="020B0604030504040204" pitchFamily="34" charset="0"/>
                <a:ea typeface="宋体" panose="02010600030101010101" pitchFamily="2" charset="-122"/>
              </a:rPr>
              <a:t>的阶跃</a:t>
            </a:r>
          </a:p>
          <a:p>
            <a:pPr eaLnBrk="0" hangingPunct="0"/>
            <a:r>
              <a:rPr lang="zh-CN" altLang="en-US" sz="2400" dirty="0">
                <a:latin typeface="Verdana" panose="020B0604030504040204" pitchFamily="34" charset="0"/>
                <a:ea typeface="宋体" panose="02010600030101010101" pitchFamily="2" charset="-122"/>
              </a:rPr>
              <a:t>变化函数。实际系统中，意味着</a:t>
            </a:r>
            <a:r>
              <a:rPr lang="en-US" altLang="zh-CN" sz="2400" dirty="0">
                <a:latin typeface="Verdana" panose="020B0604030504040204" pitchFamily="34" charset="0"/>
                <a:ea typeface="宋体" panose="02010600030101010101" pitchFamily="2" charset="-122"/>
              </a:rPr>
              <a:t>t=0</a:t>
            </a:r>
          </a:p>
          <a:p>
            <a:pPr eaLnBrk="0" hangingPunct="0"/>
            <a:r>
              <a:rPr lang="zh-CN" altLang="en-US" sz="2400" dirty="0">
                <a:latin typeface="Verdana" panose="020B0604030504040204" pitchFamily="34" charset="0"/>
                <a:ea typeface="宋体" panose="02010600030101010101" pitchFamily="2" charset="-122"/>
              </a:rPr>
              <a:t>时突然加到系统上的一个幅值不变的</a:t>
            </a:r>
          </a:p>
          <a:p>
            <a:pPr eaLnBrk="0" hangingPunct="0"/>
            <a:r>
              <a:rPr lang="zh-CN" altLang="en-US" sz="2400" dirty="0">
                <a:latin typeface="Verdana" panose="020B0604030504040204" pitchFamily="34" charset="0"/>
                <a:ea typeface="宋体" panose="02010600030101010101" pitchFamily="2" charset="-122"/>
              </a:rPr>
              <a:t>外作用。如负载突然增大或减小；电</a:t>
            </a:r>
          </a:p>
          <a:p>
            <a:pPr eaLnBrk="0" hangingPunct="0"/>
            <a:r>
              <a:rPr lang="zh-CN" altLang="en-US" sz="2400" dirty="0">
                <a:latin typeface="Verdana" panose="020B0604030504040204" pitchFamily="34" charset="0"/>
                <a:ea typeface="宋体" panose="02010600030101010101" pitchFamily="2" charset="-122"/>
              </a:rPr>
              <a:t>源电压突然跳动等。</a:t>
            </a:r>
          </a:p>
        </p:txBody>
      </p:sp>
      <p:sp>
        <p:nvSpPr>
          <p:cNvPr id="62480" name="Text Box 16"/>
          <p:cNvSpPr txBox="1"/>
          <p:nvPr/>
        </p:nvSpPr>
        <p:spPr>
          <a:xfrm>
            <a:off x="827088" y="5373688"/>
            <a:ext cx="7993062" cy="830262"/>
          </a:xfrm>
          <a:prstGeom prst="rect">
            <a:avLst/>
          </a:prstGeom>
          <a:noFill/>
          <a:ln w="9525">
            <a:noFill/>
          </a:ln>
        </p:spPr>
        <p:txBody>
          <a:bodyPr anchor="t" anchorCtr="0">
            <a:spAutoFit/>
          </a:bodyPr>
          <a:lstStyle/>
          <a:p>
            <a:pPr eaLnBrk="0" hangingPunct="0"/>
            <a:r>
              <a:rPr lang="zh-CN" altLang="en-US" sz="2400" dirty="0">
                <a:latin typeface="Verdana" panose="020B0604030504040204" pitchFamily="34" charset="0"/>
                <a:ea typeface="宋体" panose="02010600030101010101" pitchFamily="2" charset="-122"/>
              </a:rPr>
              <a:t>    另外，在控制系统的分析和设计中，一般将阶跃函数作用下系统的响应特性作为评价</a:t>
            </a:r>
            <a:r>
              <a:rPr lang="zh-CN" altLang="en-US" sz="2400" dirty="0">
                <a:solidFill>
                  <a:srgbClr val="FA450C"/>
                </a:solidFill>
                <a:latin typeface="Verdana" panose="020B0604030504040204" pitchFamily="34" charset="0"/>
                <a:ea typeface="宋体" panose="02010600030101010101" pitchFamily="2" charset="-122"/>
              </a:rPr>
              <a:t>系统动态性能指标</a:t>
            </a:r>
            <a:r>
              <a:rPr lang="zh-CN" altLang="en-US" sz="2400" dirty="0">
                <a:latin typeface="Verdana" panose="020B0604030504040204" pitchFamily="34" charset="0"/>
                <a:ea typeface="宋体" panose="02010600030101010101" pitchFamily="2" charset="-122"/>
              </a:rPr>
              <a:t>的依据。</a:t>
            </a:r>
          </a:p>
        </p:txBody>
      </p:sp>
      <p:sp>
        <p:nvSpPr>
          <p:cNvPr id="8208" name="日期占位符 16"/>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0">
              <a:rPr lang="zh-CN" altLang="en-US" sz="1200" dirty="0"/>
              <a:t>14:15</a:t>
            </a:fld>
            <a:endParaRPr lang="zh-CN" altLang="en-US" sz="1200" dirty="0"/>
          </a:p>
        </p:txBody>
      </p:sp>
      <p:sp>
        <p:nvSpPr>
          <p:cNvPr id="8209" name="灯片编号占位符 17"/>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a:t>
            </a:fld>
            <a:endParaRPr lang="en-US" altLang="zh-CN"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 calcmode="lin" valueType="num">
                                      <p:cBhvr>
                                        <p:cTn id="7" dur="1000" fill="hold"/>
                                        <p:tgtEl>
                                          <p:spTgt spid="62467"/>
                                        </p:tgtEl>
                                        <p:attrNameLst>
                                          <p:attrName>ppt_w</p:attrName>
                                        </p:attrNameLst>
                                      </p:cBhvr>
                                      <p:tavLst>
                                        <p:tav tm="0">
                                          <p:val>
                                            <p:strVal val="#ppt_w*0.70"/>
                                          </p:val>
                                        </p:tav>
                                        <p:tav tm="100000">
                                          <p:val>
                                            <p:strVal val="#ppt_w"/>
                                          </p:val>
                                        </p:tav>
                                      </p:tavLst>
                                    </p:anim>
                                    <p:anim calcmode="lin" valueType="num">
                                      <p:cBhvr>
                                        <p:cTn id="8" dur="1000" fill="hold"/>
                                        <p:tgtEl>
                                          <p:spTgt spid="62467"/>
                                        </p:tgtEl>
                                        <p:attrNameLst>
                                          <p:attrName>ppt_h</p:attrName>
                                        </p:attrNameLst>
                                      </p:cBhvr>
                                      <p:tavLst>
                                        <p:tav tm="0">
                                          <p:val>
                                            <p:strVal val="#ppt_h"/>
                                          </p:val>
                                        </p:tav>
                                        <p:tav tm="100000">
                                          <p:val>
                                            <p:strVal val="#ppt_h"/>
                                          </p:val>
                                        </p:tav>
                                      </p:tavLst>
                                    </p:anim>
                                    <p:animEffect transition="in" filter="fade">
                                      <p:cBhvr>
                                        <p:cTn id="9" dur="1000"/>
                                        <p:tgtEl>
                                          <p:spTgt spid="6246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79"/>
                                        </p:tgtEl>
                                        <p:attrNameLst>
                                          <p:attrName>style.visibility</p:attrName>
                                        </p:attrNameLst>
                                      </p:cBhvr>
                                      <p:to>
                                        <p:strVal val="visible"/>
                                      </p:to>
                                    </p:set>
                                    <p:animEffect transition="in" filter="fade">
                                      <p:cBhvr>
                                        <p:cTn id="14" dur="1000"/>
                                        <p:tgtEl>
                                          <p:spTgt spid="3079"/>
                                        </p:tgtEl>
                                      </p:cBhvr>
                                    </p:animEffect>
                                    <p:anim calcmode="lin" valueType="num">
                                      <p:cBhvr>
                                        <p:cTn id="15" dur="1000" fill="hold"/>
                                        <p:tgtEl>
                                          <p:spTgt spid="3079"/>
                                        </p:tgtEl>
                                        <p:attrNameLst>
                                          <p:attrName>ppt_x</p:attrName>
                                        </p:attrNameLst>
                                      </p:cBhvr>
                                      <p:tavLst>
                                        <p:tav tm="0">
                                          <p:val>
                                            <p:strVal val="#ppt_x"/>
                                          </p:val>
                                        </p:tav>
                                        <p:tav tm="100000">
                                          <p:val>
                                            <p:strVal val="#ppt_x"/>
                                          </p:val>
                                        </p:tav>
                                      </p:tavLst>
                                    </p:anim>
                                    <p:anim calcmode="lin" valueType="num">
                                      <p:cBhvr>
                                        <p:cTn id="16" dur="1000" fill="hold"/>
                                        <p:tgtEl>
                                          <p:spTgt spid="307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46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46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47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247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24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p:bldP spid="62468" grpId="0"/>
      <p:bldP spid="62470" grpId="0"/>
      <p:bldP spid="62471" grpId="0"/>
      <p:bldP spid="62479" grpId="0"/>
      <p:bldP spid="6248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p:nvPr/>
        </p:nvSpPr>
        <p:spPr>
          <a:xfrm>
            <a:off x="1116013" y="765175"/>
            <a:ext cx="4252912" cy="523875"/>
          </a:xfrm>
          <a:prstGeom prst="rect">
            <a:avLst/>
          </a:prstGeom>
          <a:noFill/>
          <a:ln w="9525">
            <a:noFill/>
          </a:ln>
        </p:spPr>
        <p:txBody>
          <a:bodyPr wrap="none" anchor="t" anchorCtr="0">
            <a:spAutoFit/>
          </a:bodyPr>
          <a:lstStyle/>
          <a:p>
            <a:pPr marL="457200" indent="-457200" eaLnBrk="0" hangingPunct="0">
              <a:buFont typeface="Wingdings" panose="05000000000000000000" pitchFamily="2" charset="2"/>
              <a:buChar char="Ø"/>
            </a:pPr>
            <a:r>
              <a:rPr lang="zh-CN" altLang="en-US" sz="2800" b="1" dirty="0">
                <a:latin typeface="Verdana" panose="020B0604030504040204" pitchFamily="34" charset="0"/>
                <a:ea typeface="宋体" panose="02010600030101010101" pitchFamily="2" charset="-122"/>
              </a:rPr>
              <a:t>速度输入（斜坡输入）</a:t>
            </a:r>
          </a:p>
        </p:txBody>
      </p:sp>
      <p:sp>
        <p:nvSpPr>
          <p:cNvPr id="63492" name="Text Box 4"/>
          <p:cNvSpPr txBox="1"/>
          <p:nvPr/>
        </p:nvSpPr>
        <p:spPr>
          <a:xfrm>
            <a:off x="1403350" y="1844675"/>
            <a:ext cx="2032000" cy="461963"/>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数学表达式：</a:t>
            </a:r>
          </a:p>
        </p:txBody>
      </p:sp>
      <p:graphicFrame>
        <p:nvGraphicFramePr>
          <p:cNvPr id="63493" name="Object 2"/>
          <p:cNvGraphicFramePr>
            <a:graphicFrameLocks noChangeAspect="1"/>
          </p:cNvGraphicFramePr>
          <p:nvPr/>
        </p:nvGraphicFramePr>
        <p:xfrm>
          <a:off x="3419475" y="1700213"/>
          <a:ext cx="2260600" cy="1055687"/>
        </p:xfrm>
        <a:graphic>
          <a:graphicData uri="http://schemas.openxmlformats.org/presentationml/2006/ole">
            <mc:AlternateContent xmlns:mc="http://schemas.openxmlformats.org/markup-compatibility/2006">
              <mc:Choice xmlns:v="urn:schemas-microsoft-com:vml" Requires="v">
                <p:oleObj spid="_x0000_s5128" r:id="rId3" imgW="977900" imgH="457200" progId="Equation.3">
                  <p:embed/>
                </p:oleObj>
              </mc:Choice>
              <mc:Fallback>
                <p:oleObj r:id="rId3" imgW="977900" imgH="457200" progId="Equation.3">
                  <p:embed/>
                  <p:pic>
                    <p:nvPicPr>
                      <p:cNvPr id="0" name="图片 3084"/>
                      <p:cNvPicPr/>
                      <p:nvPr/>
                    </p:nvPicPr>
                    <p:blipFill>
                      <a:blip r:embed="rId4"/>
                      <a:stretch>
                        <a:fillRect/>
                      </a:stretch>
                    </p:blipFill>
                    <p:spPr>
                      <a:xfrm>
                        <a:off x="3419475" y="1700213"/>
                        <a:ext cx="2260600" cy="1055687"/>
                      </a:xfrm>
                      <a:prstGeom prst="rect">
                        <a:avLst/>
                      </a:prstGeom>
                      <a:noFill/>
                      <a:ln w="38100">
                        <a:noFill/>
                        <a:miter/>
                      </a:ln>
                    </p:spPr>
                  </p:pic>
                </p:oleObj>
              </mc:Fallback>
            </mc:AlternateContent>
          </a:graphicData>
        </a:graphic>
      </p:graphicFrame>
      <p:sp>
        <p:nvSpPr>
          <p:cNvPr id="63494" name="Text Box 6"/>
          <p:cNvSpPr txBox="1"/>
          <p:nvPr/>
        </p:nvSpPr>
        <p:spPr>
          <a:xfrm>
            <a:off x="1431925" y="2909888"/>
            <a:ext cx="5151438" cy="461962"/>
          </a:xfrm>
          <a:prstGeom prst="rect">
            <a:avLst/>
          </a:prstGeom>
          <a:noFill/>
          <a:ln w="9525">
            <a:noFill/>
          </a:ln>
        </p:spPr>
        <p:txBody>
          <a:bodyPr wrap="none" anchor="t" anchorCtr="0">
            <a:spAutoFit/>
          </a:bodyPr>
          <a:lstStyle/>
          <a:p>
            <a:pPr eaLnBrk="0" hangingPunct="0"/>
            <a:r>
              <a:rPr lang="en-US" altLang="zh-CN" sz="2400" dirty="0">
                <a:latin typeface="Verdana" panose="020B0604030504040204" pitchFamily="34" charset="0"/>
                <a:ea typeface="宋体" panose="02010600030101010101" pitchFamily="2" charset="-122"/>
              </a:rPr>
              <a:t>A=1</a:t>
            </a:r>
            <a:r>
              <a:rPr lang="zh-CN" altLang="en-US" sz="2400" dirty="0">
                <a:latin typeface="Verdana" panose="020B0604030504040204" pitchFamily="34" charset="0"/>
                <a:ea typeface="宋体" panose="02010600030101010101" pitchFamily="2" charset="-122"/>
              </a:rPr>
              <a:t>时称为</a:t>
            </a:r>
            <a:r>
              <a:rPr lang="zh-CN" altLang="en-US" sz="2400" dirty="0">
                <a:solidFill>
                  <a:srgbClr val="FA450C"/>
                </a:solidFill>
                <a:latin typeface="Verdana" panose="020B0604030504040204" pitchFamily="34" charset="0"/>
                <a:ea typeface="宋体" panose="02010600030101010101" pitchFamily="2" charset="-122"/>
              </a:rPr>
              <a:t>单位速度（斜坡）函数</a:t>
            </a:r>
            <a:r>
              <a:rPr lang="zh-CN" altLang="en-US" sz="2400" dirty="0">
                <a:latin typeface="Verdana" panose="020B0604030504040204" pitchFamily="34" charset="0"/>
                <a:ea typeface="宋体" panose="02010600030101010101" pitchFamily="2" charset="-122"/>
              </a:rPr>
              <a:t>。</a:t>
            </a:r>
          </a:p>
        </p:txBody>
      </p:sp>
      <p:grpSp>
        <p:nvGrpSpPr>
          <p:cNvPr id="4102" name="组合 15"/>
          <p:cNvGrpSpPr/>
          <p:nvPr/>
        </p:nvGrpSpPr>
        <p:grpSpPr>
          <a:xfrm>
            <a:off x="1187450" y="3716338"/>
            <a:ext cx="2057400" cy="1385887"/>
            <a:chOff x="1600200" y="3657600"/>
            <a:chExt cx="2057400" cy="1385888"/>
          </a:xfrm>
        </p:grpSpPr>
        <p:sp>
          <p:nvSpPr>
            <p:cNvPr id="9222" name="Line 7"/>
            <p:cNvSpPr/>
            <p:nvPr/>
          </p:nvSpPr>
          <p:spPr>
            <a:xfrm>
              <a:off x="1600200" y="4648200"/>
              <a:ext cx="1828800" cy="0"/>
            </a:xfrm>
            <a:prstGeom prst="line">
              <a:avLst/>
            </a:prstGeom>
            <a:ln w="9525" cap="flat" cmpd="sng">
              <a:solidFill>
                <a:srgbClr val="000000"/>
              </a:solidFill>
              <a:prstDash val="solid"/>
              <a:round/>
              <a:headEnd type="none" w="med" len="med"/>
              <a:tailEnd type="triangle" w="sm" len="med"/>
            </a:ln>
          </p:spPr>
        </p:sp>
        <p:sp>
          <p:nvSpPr>
            <p:cNvPr id="9223" name="Line 8"/>
            <p:cNvSpPr/>
            <p:nvPr/>
          </p:nvSpPr>
          <p:spPr>
            <a:xfrm flipV="1">
              <a:off x="1828800" y="3756025"/>
              <a:ext cx="0" cy="1287463"/>
            </a:xfrm>
            <a:prstGeom prst="line">
              <a:avLst/>
            </a:prstGeom>
            <a:ln w="9525" cap="flat" cmpd="sng">
              <a:solidFill>
                <a:srgbClr val="000000"/>
              </a:solidFill>
              <a:prstDash val="solid"/>
              <a:round/>
              <a:headEnd type="none" w="med" len="med"/>
              <a:tailEnd type="triangle" w="sm" len="med"/>
            </a:ln>
          </p:spPr>
        </p:sp>
        <p:sp>
          <p:nvSpPr>
            <p:cNvPr id="9224" name="Text Box 9"/>
            <p:cNvSpPr txBox="1"/>
            <p:nvPr/>
          </p:nvSpPr>
          <p:spPr>
            <a:xfrm>
              <a:off x="3429000" y="4419600"/>
              <a:ext cx="228600" cy="274638"/>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t</a:t>
              </a:r>
            </a:p>
          </p:txBody>
        </p:sp>
        <p:sp>
          <p:nvSpPr>
            <p:cNvPr id="9225" name="Text Box 10"/>
            <p:cNvSpPr txBox="1"/>
            <p:nvPr/>
          </p:nvSpPr>
          <p:spPr>
            <a:xfrm>
              <a:off x="2286000" y="4038600"/>
              <a:ext cx="342900" cy="396875"/>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A</a:t>
              </a:r>
            </a:p>
          </p:txBody>
        </p:sp>
        <p:sp>
          <p:nvSpPr>
            <p:cNvPr id="9226" name="Text Box 11"/>
            <p:cNvSpPr txBox="1"/>
            <p:nvPr/>
          </p:nvSpPr>
          <p:spPr>
            <a:xfrm>
              <a:off x="1828800" y="3657600"/>
              <a:ext cx="654968" cy="347464"/>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r(t)</a:t>
              </a:r>
            </a:p>
          </p:txBody>
        </p:sp>
        <p:sp>
          <p:nvSpPr>
            <p:cNvPr id="9227" name="Text Box 12"/>
            <p:cNvSpPr txBox="1"/>
            <p:nvPr/>
          </p:nvSpPr>
          <p:spPr>
            <a:xfrm>
              <a:off x="1600200" y="4648200"/>
              <a:ext cx="342900" cy="298450"/>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0</a:t>
              </a:r>
            </a:p>
          </p:txBody>
        </p:sp>
        <p:sp>
          <p:nvSpPr>
            <p:cNvPr id="9228" name="Line 13"/>
            <p:cNvSpPr/>
            <p:nvPr/>
          </p:nvSpPr>
          <p:spPr>
            <a:xfrm flipV="1">
              <a:off x="1828800" y="3962400"/>
              <a:ext cx="1066800" cy="685800"/>
            </a:xfrm>
            <a:prstGeom prst="line">
              <a:avLst/>
            </a:prstGeom>
            <a:ln w="9525" cap="flat" cmpd="sng">
              <a:solidFill>
                <a:schemeClr val="tx1"/>
              </a:solidFill>
              <a:prstDash val="solid"/>
              <a:miter/>
              <a:headEnd type="none" w="med" len="med"/>
              <a:tailEnd type="none" w="med" len="med"/>
            </a:ln>
          </p:spPr>
        </p:sp>
      </p:grpSp>
      <p:sp>
        <p:nvSpPr>
          <p:cNvPr id="63502" name="Text Box 14"/>
          <p:cNvSpPr txBox="1"/>
          <p:nvPr/>
        </p:nvSpPr>
        <p:spPr>
          <a:xfrm>
            <a:off x="3492500" y="3573463"/>
            <a:ext cx="5108575" cy="1200150"/>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表示从</a:t>
            </a:r>
            <a:r>
              <a:rPr lang="en-US" altLang="zh-CN" sz="2400" dirty="0">
                <a:latin typeface="Verdana" panose="020B0604030504040204" pitchFamily="34" charset="0"/>
                <a:ea typeface="宋体" panose="02010600030101010101" pitchFamily="2" charset="-122"/>
              </a:rPr>
              <a:t>0</a:t>
            </a:r>
            <a:r>
              <a:rPr lang="zh-CN" altLang="en-US" sz="2400" dirty="0">
                <a:latin typeface="Verdana" panose="020B0604030504040204" pitchFamily="34" charset="0"/>
                <a:ea typeface="宋体" panose="02010600030101010101" pitchFamily="2" charset="-122"/>
              </a:rPr>
              <a:t>时刻开始以恒速率</a:t>
            </a:r>
            <a:r>
              <a:rPr lang="en-US" altLang="zh-CN" sz="2400" dirty="0">
                <a:latin typeface="Verdana" panose="020B0604030504040204" pitchFamily="34" charset="0"/>
                <a:ea typeface="宋体" panose="02010600030101010101" pitchFamily="2" charset="-122"/>
              </a:rPr>
              <a:t>A</a:t>
            </a:r>
            <a:r>
              <a:rPr lang="zh-CN" altLang="en-US" sz="2400" dirty="0">
                <a:latin typeface="Verdana" panose="020B0604030504040204" pitchFamily="34" charset="0"/>
                <a:ea typeface="宋体" panose="02010600030101010101" pitchFamily="2" charset="-122"/>
              </a:rPr>
              <a:t>随时间</a:t>
            </a:r>
          </a:p>
          <a:p>
            <a:pPr eaLnBrk="0" hangingPunct="0"/>
            <a:r>
              <a:rPr lang="zh-CN" altLang="en-US" sz="2400" dirty="0">
                <a:latin typeface="Verdana" panose="020B0604030504040204" pitchFamily="34" charset="0"/>
                <a:ea typeface="宋体" panose="02010600030101010101" pitchFamily="2" charset="-122"/>
              </a:rPr>
              <a:t>而变化的函数。随动系统一般就工作</a:t>
            </a:r>
          </a:p>
          <a:p>
            <a:pPr eaLnBrk="0" hangingPunct="0"/>
            <a:r>
              <a:rPr lang="zh-CN" altLang="en-US" sz="2400" dirty="0">
                <a:latin typeface="Verdana" panose="020B0604030504040204" pitchFamily="34" charset="0"/>
                <a:ea typeface="宋体" panose="02010600030101010101" pitchFamily="2" charset="-122"/>
              </a:rPr>
              <a:t>在这种外作用下。</a:t>
            </a:r>
          </a:p>
        </p:txBody>
      </p:sp>
      <p:sp>
        <p:nvSpPr>
          <p:cNvPr id="63503" name="Text Box 15"/>
          <p:cNvSpPr txBox="1"/>
          <p:nvPr/>
        </p:nvSpPr>
        <p:spPr>
          <a:xfrm>
            <a:off x="3492500" y="4868863"/>
            <a:ext cx="5416550" cy="1200150"/>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如当雷达跟踪系统跟踪的目标是以恒定</a:t>
            </a:r>
          </a:p>
          <a:p>
            <a:pPr eaLnBrk="0" hangingPunct="0"/>
            <a:r>
              <a:rPr lang="zh-CN" altLang="en-US" sz="2400" dirty="0">
                <a:latin typeface="Verdana" panose="020B0604030504040204" pitchFamily="34" charset="0"/>
                <a:ea typeface="宋体" panose="02010600030101010101" pitchFamily="2" charset="-122"/>
              </a:rPr>
              <a:t>速率飞行时，便可认为该控制系统工作</a:t>
            </a:r>
          </a:p>
          <a:p>
            <a:pPr eaLnBrk="0" hangingPunct="0"/>
            <a:r>
              <a:rPr lang="zh-CN" altLang="en-US" sz="2400" dirty="0">
                <a:latin typeface="Verdana" panose="020B0604030504040204" pitchFamily="34" charset="0"/>
                <a:ea typeface="宋体" panose="02010600030101010101" pitchFamily="2" charset="-122"/>
              </a:rPr>
              <a:t>于速度信号下。</a:t>
            </a:r>
          </a:p>
        </p:txBody>
      </p:sp>
      <p:sp>
        <p:nvSpPr>
          <p:cNvPr id="9231" name="日期占位符 15"/>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0">
              <a:rPr lang="zh-CN" altLang="en-US" sz="1200" dirty="0"/>
              <a:t>14:15</a:t>
            </a:fld>
            <a:endParaRPr lang="zh-CN" altLang="en-US" sz="1200" dirty="0"/>
          </a:p>
        </p:txBody>
      </p:sp>
      <p:sp>
        <p:nvSpPr>
          <p:cNvPr id="9232" name="灯片编号占位符 16"/>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4</a:t>
            </a:fld>
            <a:endParaRPr lang="en-US" altLang="zh-CN"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p:cTn id="7" dur="1000" fill="hold"/>
                                        <p:tgtEl>
                                          <p:spTgt spid="63491"/>
                                        </p:tgtEl>
                                        <p:attrNameLst>
                                          <p:attrName>ppt_w</p:attrName>
                                        </p:attrNameLst>
                                      </p:cBhvr>
                                      <p:tavLst>
                                        <p:tav tm="0">
                                          <p:val>
                                            <p:strVal val="#ppt_w*0.70"/>
                                          </p:val>
                                        </p:tav>
                                        <p:tav tm="100000">
                                          <p:val>
                                            <p:strVal val="#ppt_w"/>
                                          </p:val>
                                        </p:tav>
                                      </p:tavLst>
                                    </p:anim>
                                    <p:anim calcmode="lin" valueType="num">
                                      <p:cBhvr>
                                        <p:cTn id="8" dur="1000" fill="hold"/>
                                        <p:tgtEl>
                                          <p:spTgt spid="63491"/>
                                        </p:tgtEl>
                                        <p:attrNameLst>
                                          <p:attrName>ppt_h</p:attrName>
                                        </p:attrNameLst>
                                      </p:cBhvr>
                                      <p:tavLst>
                                        <p:tav tm="0">
                                          <p:val>
                                            <p:strVal val="#ppt_h"/>
                                          </p:val>
                                        </p:tav>
                                        <p:tav tm="100000">
                                          <p:val>
                                            <p:strVal val="#ppt_h"/>
                                          </p:val>
                                        </p:tav>
                                      </p:tavLst>
                                    </p:anim>
                                    <p:animEffect transition="in" filter="fade">
                                      <p:cBhvr>
                                        <p:cTn id="9" dur="1000"/>
                                        <p:tgtEl>
                                          <p:spTgt spid="6349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02"/>
                                        </p:tgtEl>
                                        <p:attrNameLst>
                                          <p:attrName>style.visibility</p:attrName>
                                        </p:attrNameLst>
                                      </p:cBhvr>
                                      <p:to>
                                        <p:strVal val="visible"/>
                                      </p:to>
                                    </p:set>
                                    <p:animEffect transition="in" filter="fade">
                                      <p:cBhvr>
                                        <p:cTn id="14" dur="1000"/>
                                        <p:tgtEl>
                                          <p:spTgt spid="4102"/>
                                        </p:tgtEl>
                                      </p:cBhvr>
                                    </p:animEffect>
                                    <p:anim calcmode="lin" valueType="num">
                                      <p:cBhvr>
                                        <p:cTn id="15" dur="1000" fill="hold"/>
                                        <p:tgtEl>
                                          <p:spTgt spid="4102"/>
                                        </p:tgtEl>
                                        <p:attrNameLst>
                                          <p:attrName>ppt_x</p:attrName>
                                        </p:attrNameLst>
                                      </p:cBhvr>
                                      <p:tavLst>
                                        <p:tav tm="0">
                                          <p:val>
                                            <p:strVal val="#ppt_x"/>
                                          </p:val>
                                        </p:tav>
                                        <p:tav tm="100000">
                                          <p:val>
                                            <p:strVal val="#ppt_x"/>
                                          </p:val>
                                        </p:tav>
                                      </p:tavLst>
                                    </p:anim>
                                    <p:anim calcmode="lin" valueType="num">
                                      <p:cBhvr>
                                        <p:cTn id="16" dur="1000" fill="hold"/>
                                        <p:tgtEl>
                                          <p:spTgt spid="410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4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4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49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35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3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492" grpId="0"/>
      <p:bldP spid="63494" grpId="0"/>
      <p:bldP spid="63502" grpId="0"/>
      <p:bldP spid="6350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3"/>
          <p:cNvSpPr txBox="1"/>
          <p:nvPr/>
        </p:nvSpPr>
        <p:spPr>
          <a:xfrm>
            <a:off x="755650" y="765175"/>
            <a:ext cx="4975225" cy="523875"/>
          </a:xfrm>
          <a:prstGeom prst="rect">
            <a:avLst/>
          </a:prstGeom>
          <a:noFill/>
          <a:ln w="9525">
            <a:noFill/>
          </a:ln>
        </p:spPr>
        <p:txBody>
          <a:bodyPr wrap="none" anchor="t" anchorCtr="0">
            <a:spAutoFit/>
          </a:bodyPr>
          <a:lstStyle/>
          <a:p>
            <a:pPr marL="457200" indent="-457200" eaLnBrk="0" hangingPunct="0">
              <a:buFont typeface="Wingdings" panose="05000000000000000000" pitchFamily="2" charset="2"/>
              <a:buChar char="Ø"/>
            </a:pPr>
            <a:r>
              <a:rPr lang="zh-CN" altLang="en-US" sz="2800" b="1" dirty="0">
                <a:latin typeface="Verdana" panose="020B0604030504040204" pitchFamily="34" charset="0"/>
                <a:ea typeface="宋体" panose="02010600030101010101" pitchFamily="2" charset="-122"/>
              </a:rPr>
              <a:t>加速度输入（抛物线输入）</a:t>
            </a:r>
            <a:endParaRPr lang="en-US" altLang="zh-CN" sz="2800" b="1" dirty="0">
              <a:latin typeface="Verdana" panose="020B0604030504040204" pitchFamily="34" charset="0"/>
              <a:ea typeface="宋体" panose="02010600030101010101" pitchFamily="2" charset="-122"/>
            </a:endParaRPr>
          </a:p>
        </p:txBody>
      </p:sp>
      <p:sp>
        <p:nvSpPr>
          <p:cNvPr id="64516" name="Text Box 4"/>
          <p:cNvSpPr txBox="1"/>
          <p:nvPr/>
        </p:nvSpPr>
        <p:spPr>
          <a:xfrm>
            <a:off x="1042988" y="1844675"/>
            <a:ext cx="2032000" cy="461963"/>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数学表达式：</a:t>
            </a:r>
          </a:p>
        </p:txBody>
      </p:sp>
      <p:graphicFrame>
        <p:nvGraphicFramePr>
          <p:cNvPr id="64517" name="Object 2"/>
          <p:cNvGraphicFramePr>
            <a:graphicFrameLocks noChangeAspect="1"/>
          </p:cNvGraphicFramePr>
          <p:nvPr/>
        </p:nvGraphicFramePr>
        <p:xfrm>
          <a:off x="3048000" y="1746250"/>
          <a:ext cx="2316163" cy="1157288"/>
        </p:xfrm>
        <a:graphic>
          <a:graphicData uri="http://schemas.openxmlformats.org/presentationml/2006/ole">
            <mc:AlternateContent xmlns:mc="http://schemas.openxmlformats.org/markup-compatibility/2006">
              <mc:Choice xmlns:v="urn:schemas-microsoft-com:vml" Requires="v">
                <p:oleObj spid="_x0000_s6180" r:id="rId3" imgW="1167765" imgH="584200" progId="Equation.3">
                  <p:embed/>
                </p:oleObj>
              </mc:Choice>
              <mc:Fallback>
                <p:oleObj r:id="rId3" imgW="1167765" imgH="584200" progId="Equation.3">
                  <p:embed/>
                  <p:pic>
                    <p:nvPicPr>
                      <p:cNvPr id="0" name="图片 3085"/>
                      <p:cNvPicPr/>
                      <p:nvPr/>
                    </p:nvPicPr>
                    <p:blipFill>
                      <a:blip r:embed="rId4"/>
                      <a:stretch>
                        <a:fillRect/>
                      </a:stretch>
                    </p:blipFill>
                    <p:spPr>
                      <a:xfrm>
                        <a:off x="3048000" y="1746250"/>
                        <a:ext cx="2316163" cy="1157288"/>
                      </a:xfrm>
                      <a:prstGeom prst="rect">
                        <a:avLst/>
                      </a:prstGeom>
                      <a:noFill/>
                      <a:ln w="38100">
                        <a:noFill/>
                        <a:miter/>
                      </a:ln>
                    </p:spPr>
                  </p:pic>
                </p:oleObj>
              </mc:Fallback>
            </mc:AlternateContent>
          </a:graphicData>
        </a:graphic>
      </p:graphicFrame>
      <p:grpSp>
        <p:nvGrpSpPr>
          <p:cNvPr id="5129" name="组合 29"/>
          <p:cNvGrpSpPr/>
          <p:nvPr/>
        </p:nvGrpSpPr>
        <p:grpSpPr>
          <a:xfrm>
            <a:off x="6372225" y="1700213"/>
            <a:ext cx="1447800" cy="1385887"/>
            <a:chOff x="5715000" y="2057401"/>
            <a:chExt cx="1447800" cy="1385887"/>
          </a:xfrm>
        </p:grpSpPr>
        <p:sp>
          <p:nvSpPr>
            <p:cNvPr id="10245" name="Line 6"/>
            <p:cNvSpPr/>
            <p:nvPr/>
          </p:nvSpPr>
          <p:spPr>
            <a:xfrm flipV="1">
              <a:off x="5943600" y="2155825"/>
              <a:ext cx="0" cy="1287463"/>
            </a:xfrm>
            <a:prstGeom prst="line">
              <a:avLst/>
            </a:prstGeom>
            <a:ln w="9525" cap="flat" cmpd="sng">
              <a:solidFill>
                <a:srgbClr val="000000"/>
              </a:solidFill>
              <a:prstDash val="solid"/>
              <a:round/>
              <a:headEnd type="none" w="med" len="med"/>
              <a:tailEnd type="triangle" w="sm" len="med"/>
            </a:ln>
          </p:spPr>
        </p:sp>
        <p:sp>
          <p:nvSpPr>
            <p:cNvPr id="10246" name="Text Box 7"/>
            <p:cNvSpPr txBox="1"/>
            <p:nvPr/>
          </p:nvSpPr>
          <p:spPr>
            <a:xfrm>
              <a:off x="6934200" y="2819400"/>
              <a:ext cx="228600" cy="274638"/>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t</a:t>
              </a:r>
            </a:p>
          </p:txBody>
        </p:sp>
        <p:sp>
          <p:nvSpPr>
            <p:cNvPr id="10247" name="Text Box 8"/>
            <p:cNvSpPr txBox="1"/>
            <p:nvPr/>
          </p:nvSpPr>
          <p:spPr>
            <a:xfrm>
              <a:off x="5943600" y="2057401"/>
              <a:ext cx="572616" cy="291480"/>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r(t)</a:t>
              </a:r>
            </a:p>
          </p:txBody>
        </p:sp>
        <p:sp>
          <p:nvSpPr>
            <p:cNvPr id="10248" name="Text Box 9"/>
            <p:cNvSpPr txBox="1"/>
            <p:nvPr/>
          </p:nvSpPr>
          <p:spPr>
            <a:xfrm>
              <a:off x="5715000" y="3048000"/>
              <a:ext cx="342900" cy="298450"/>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0</a:t>
              </a:r>
            </a:p>
          </p:txBody>
        </p:sp>
        <p:sp>
          <p:nvSpPr>
            <p:cNvPr id="10249" name="Freeform 10"/>
            <p:cNvSpPr/>
            <p:nvPr/>
          </p:nvSpPr>
          <p:spPr>
            <a:xfrm>
              <a:off x="5943600" y="2447925"/>
              <a:ext cx="576263" cy="600075"/>
            </a:xfrm>
            <a:custGeom>
              <a:avLst/>
              <a:gdLst/>
              <a:ahLst/>
              <a:cxnLst>
                <a:cxn ang="0">
                  <a:pos x="0" y="600075"/>
                </a:cxn>
                <a:cxn ang="0">
                  <a:pos x="350838" y="485775"/>
                </a:cxn>
                <a:cxn ang="0">
                  <a:pos x="576263" y="0"/>
                </a:cxn>
              </a:cxnLst>
              <a:rect l="0" t="0" r="0" b="0"/>
              <a:pathLst>
                <a:path w="363" h="378">
                  <a:moveTo>
                    <a:pt x="0" y="378"/>
                  </a:moveTo>
                  <a:cubicBezTo>
                    <a:pt x="37" y="366"/>
                    <a:pt x="161" y="369"/>
                    <a:pt x="221" y="306"/>
                  </a:cubicBezTo>
                  <a:cubicBezTo>
                    <a:pt x="281" y="243"/>
                    <a:pt x="334" y="64"/>
                    <a:pt x="363" y="0"/>
                  </a:cubicBezTo>
                </a:path>
              </a:pathLst>
            </a:custGeom>
            <a:noFill/>
            <a:ln w="9525" cap="flat" cmpd="sng">
              <a:solidFill>
                <a:schemeClr val="tx1"/>
              </a:solidFill>
              <a:prstDash val="solid"/>
              <a:miter/>
              <a:headEnd type="none" w="med" len="med"/>
              <a:tailEnd type="none" w="med" len="med"/>
            </a:ln>
          </p:spPr>
          <p:txBody>
            <a:bodyPr/>
            <a:lstStyle/>
            <a:p>
              <a:endParaRPr lang="zh-CN" altLang="en-US"/>
            </a:p>
          </p:txBody>
        </p:sp>
        <p:sp>
          <p:nvSpPr>
            <p:cNvPr id="10250" name="Line 11"/>
            <p:cNvSpPr/>
            <p:nvPr/>
          </p:nvSpPr>
          <p:spPr>
            <a:xfrm>
              <a:off x="5715000" y="3048000"/>
              <a:ext cx="1143000" cy="0"/>
            </a:xfrm>
            <a:prstGeom prst="line">
              <a:avLst/>
            </a:prstGeom>
            <a:ln w="9525" cap="flat" cmpd="sng">
              <a:solidFill>
                <a:schemeClr val="tx1"/>
              </a:solidFill>
              <a:prstDash val="solid"/>
              <a:miter/>
              <a:headEnd type="none" w="med" len="med"/>
              <a:tailEnd type="triangle" w="sm" len="med"/>
            </a:ln>
          </p:spPr>
        </p:sp>
      </p:grpSp>
      <p:sp>
        <p:nvSpPr>
          <p:cNvPr id="64524" name="Text Box 12"/>
          <p:cNvSpPr txBox="1"/>
          <p:nvPr/>
        </p:nvSpPr>
        <p:spPr>
          <a:xfrm>
            <a:off x="1203325" y="2986088"/>
            <a:ext cx="4283075" cy="461962"/>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当</a:t>
            </a:r>
            <a:r>
              <a:rPr lang="en-US" altLang="zh-CN" sz="2400" dirty="0">
                <a:latin typeface="Verdana" panose="020B0604030504040204" pitchFamily="34" charset="0"/>
                <a:ea typeface="宋体" panose="02010600030101010101" pitchFamily="2" charset="-122"/>
              </a:rPr>
              <a:t>A</a:t>
            </a:r>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1</a:t>
            </a:r>
            <a:r>
              <a:rPr lang="zh-CN" altLang="en-US" sz="2400" dirty="0">
                <a:latin typeface="Verdana" panose="020B0604030504040204" pitchFamily="34" charset="0"/>
                <a:ea typeface="宋体" panose="02010600030101010101" pitchFamily="2" charset="-122"/>
              </a:rPr>
              <a:t>时称为</a:t>
            </a:r>
            <a:r>
              <a:rPr lang="zh-CN" altLang="en-US" sz="2400" dirty="0">
                <a:solidFill>
                  <a:srgbClr val="F90309"/>
                </a:solidFill>
                <a:latin typeface="Verdana" panose="020B0604030504040204" pitchFamily="34" charset="0"/>
                <a:ea typeface="宋体" panose="02010600030101010101" pitchFamily="2" charset="-122"/>
              </a:rPr>
              <a:t>单位加速度函数</a:t>
            </a:r>
          </a:p>
        </p:txBody>
      </p:sp>
      <p:sp>
        <p:nvSpPr>
          <p:cNvPr id="64526" name="Text Box 14"/>
          <p:cNvSpPr txBox="1"/>
          <p:nvPr/>
        </p:nvSpPr>
        <p:spPr>
          <a:xfrm>
            <a:off x="790575" y="3859213"/>
            <a:ext cx="2089150" cy="523875"/>
          </a:xfrm>
          <a:prstGeom prst="rect">
            <a:avLst/>
          </a:prstGeom>
          <a:noFill/>
          <a:ln w="9525">
            <a:noFill/>
          </a:ln>
        </p:spPr>
        <p:txBody>
          <a:bodyPr wrap="none" anchor="t" anchorCtr="0">
            <a:spAutoFit/>
          </a:bodyPr>
          <a:lstStyle/>
          <a:p>
            <a:pPr marL="457200" indent="-457200" eaLnBrk="0" hangingPunct="0">
              <a:buFont typeface="Wingdings" panose="05000000000000000000" pitchFamily="2" charset="2"/>
              <a:buChar char="Ø"/>
            </a:pPr>
            <a:r>
              <a:rPr lang="zh-CN" altLang="en-US" sz="2800" b="1" dirty="0">
                <a:latin typeface="Verdana" panose="020B0604030504040204" pitchFamily="34" charset="0"/>
                <a:ea typeface="宋体" panose="02010600030101010101" pitchFamily="2" charset="-122"/>
              </a:rPr>
              <a:t>脉冲输入</a:t>
            </a:r>
            <a:endParaRPr lang="en-US" altLang="zh-CN" dirty="0">
              <a:solidFill>
                <a:srgbClr val="F90309"/>
              </a:solidFill>
              <a:latin typeface="Verdana" panose="020B0604030504040204" pitchFamily="34" charset="0"/>
              <a:ea typeface="宋体" panose="02010600030101010101" pitchFamily="2" charset="-122"/>
            </a:endParaRPr>
          </a:p>
        </p:txBody>
      </p:sp>
      <p:sp>
        <p:nvSpPr>
          <p:cNvPr id="64527" name="Text Box 15"/>
          <p:cNvSpPr txBox="1"/>
          <p:nvPr/>
        </p:nvSpPr>
        <p:spPr>
          <a:xfrm>
            <a:off x="1116013" y="4652963"/>
            <a:ext cx="2030412" cy="461962"/>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数学表达式：</a:t>
            </a:r>
          </a:p>
        </p:txBody>
      </p:sp>
      <p:graphicFrame>
        <p:nvGraphicFramePr>
          <p:cNvPr id="64528" name="Object 3"/>
          <p:cNvGraphicFramePr>
            <a:graphicFrameLocks noChangeAspect="1"/>
          </p:cNvGraphicFramePr>
          <p:nvPr/>
        </p:nvGraphicFramePr>
        <p:xfrm>
          <a:off x="2819400" y="4113213"/>
          <a:ext cx="2328863" cy="1317625"/>
        </p:xfrm>
        <a:graphic>
          <a:graphicData uri="http://schemas.openxmlformats.org/presentationml/2006/ole">
            <mc:AlternateContent xmlns:mc="http://schemas.openxmlformats.org/markup-compatibility/2006">
              <mc:Choice xmlns:v="urn:schemas-microsoft-com:vml" Requires="v">
                <p:oleObj spid="_x0000_s6181" r:id="rId5" imgW="1257300" imgH="711200" progId="Equation.3">
                  <p:embed/>
                </p:oleObj>
              </mc:Choice>
              <mc:Fallback>
                <p:oleObj r:id="rId5" imgW="1257300" imgH="711200" progId="Equation.3">
                  <p:embed/>
                  <p:pic>
                    <p:nvPicPr>
                      <p:cNvPr id="0" name="图片 3087"/>
                      <p:cNvPicPr/>
                      <p:nvPr/>
                    </p:nvPicPr>
                    <p:blipFill>
                      <a:blip r:embed="rId6"/>
                      <a:stretch>
                        <a:fillRect/>
                      </a:stretch>
                    </p:blipFill>
                    <p:spPr>
                      <a:xfrm>
                        <a:off x="2819400" y="4113213"/>
                        <a:ext cx="2328863" cy="1317625"/>
                      </a:xfrm>
                      <a:prstGeom prst="rect">
                        <a:avLst/>
                      </a:prstGeom>
                      <a:noFill/>
                      <a:ln w="38100">
                        <a:noFill/>
                        <a:miter/>
                      </a:ln>
                    </p:spPr>
                  </p:pic>
                </p:oleObj>
              </mc:Fallback>
            </mc:AlternateContent>
          </a:graphicData>
        </a:graphic>
      </p:graphicFrame>
      <p:grpSp>
        <p:nvGrpSpPr>
          <p:cNvPr id="3" name="组合 30"/>
          <p:cNvGrpSpPr/>
          <p:nvPr/>
        </p:nvGrpSpPr>
        <p:grpSpPr>
          <a:xfrm>
            <a:off x="6011863" y="4076700"/>
            <a:ext cx="1447800" cy="1352550"/>
            <a:chOff x="5638800" y="4149080"/>
            <a:chExt cx="1447800" cy="1351608"/>
          </a:xfrm>
        </p:grpSpPr>
        <p:sp>
          <p:nvSpPr>
            <p:cNvPr id="10256" name="Line 17"/>
            <p:cNvSpPr/>
            <p:nvPr/>
          </p:nvSpPr>
          <p:spPr>
            <a:xfrm flipV="1">
              <a:off x="5867400" y="4213225"/>
              <a:ext cx="0" cy="1287463"/>
            </a:xfrm>
            <a:prstGeom prst="line">
              <a:avLst/>
            </a:prstGeom>
            <a:ln w="9525" cap="flat" cmpd="sng">
              <a:solidFill>
                <a:srgbClr val="000000"/>
              </a:solidFill>
              <a:prstDash val="solid"/>
              <a:round/>
              <a:headEnd type="none" w="med" len="med"/>
              <a:tailEnd type="triangle" w="sm" len="med"/>
            </a:ln>
          </p:spPr>
        </p:sp>
        <p:sp>
          <p:nvSpPr>
            <p:cNvPr id="10257" name="Text Box 18"/>
            <p:cNvSpPr txBox="1"/>
            <p:nvPr/>
          </p:nvSpPr>
          <p:spPr>
            <a:xfrm>
              <a:off x="6858000" y="4876800"/>
              <a:ext cx="228600" cy="274638"/>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t</a:t>
              </a:r>
            </a:p>
          </p:txBody>
        </p:sp>
        <p:sp>
          <p:nvSpPr>
            <p:cNvPr id="10258" name="Text Box 19"/>
            <p:cNvSpPr txBox="1"/>
            <p:nvPr/>
          </p:nvSpPr>
          <p:spPr>
            <a:xfrm>
              <a:off x="5867400" y="4149080"/>
              <a:ext cx="648816" cy="262583"/>
            </a:xfrm>
            <a:prstGeom prst="rect">
              <a:avLst/>
            </a:prstGeom>
            <a:noFill/>
            <a:ln w="9525">
              <a:noFill/>
            </a:ln>
          </p:spPr>
          <p:txBody>
            <a:bodyPr anchor="t" anchorCtr="0"/>
            <a:lstStyle/>
            <a:p>
              <a:pPr algn="just" eaLnBrk="0" hangingPunct="0"/>
              <a:r>
                <a:rPr lang="en-US" altLang="zh-CN" sz="1400" dirty="0">
                  <a:latin typeface="Verdana" panose="020B0604030504040204" pitchFamily="34" charset="0"/>
                  <a:ea typeface="宋体" panose="02010600030101010101" pitchFamily="2" charset="-122"/>
                </a:rPr>
                <a:t>r(t)</a:t>
              </a:r>
            </a:p>
          </p:txBody>
        </p:sp>
        <p:sp>
          <p:nvSpPr>
            <p:cNvPr id="10259" name="Text Box 20"/>
            <p:cNvSpPr txBox="1"/>
            <p:nvPr/>
          </p:nvSpPr>
          <p:spPr>
            <a:xfrm>
              <a:off x="5638800" y="5105400"/>
              <a:ext cx="342900" cy="298450"/>
            </a:xfrm>
            <a:prstGeom prst="rect">
              <a:avLst/>
            </a:prstGeom>
            <a:noFill/>
            <a:ln w="9525">
              <a:noFill/>
            </a:ln>
          </p:spPr>
          <p:txBody>
            <a:bodyPr anchor="t" anchorCtr="0"/>
            <a:lstStyle/>
            <a:p>
              <a:pPr algn="just" eaLnBrk="0" hangingPunct="0"/>
              <a:r>
                <a:rPr lang="en-US" altLang="zh-CN" sz="1000" dirty="0">
                  <a:latin typeface="Verdana" panose="020B0604030504040204" pitchFamily="34" charset="0"/>
                  <a:ea typeface="宋体" panose="02010600030101010101" pitchFamily="2" charset="-122"/>
                </a:rPr>
                <a:t>0</a:t>
              </a:r>
            </a:p>
          </p:txBody>
        </p:sp>
        <p:sp>
          <p:nvSpPr>
            <p:cNvPr id="10260" name="Line 21"/>
            <p:cNvSpPr/>
            <p:nvPr/>
          </p:nvSpPr>
          <p:spPr>
            <a:xfrm>
              <a:off x="5638800" y="5105400"/>
              <a:ext cx="1143000" cy="0"/>
            </a:xfrm>
            <a:prstGeom prst="line">
              <a:avLst/>
            </a:prstGeom>
            <a:ln w="9525" cap="flat" cmpd="sng">
              <a:solidFill>
                <a:schemeClr val="tx1"/>
              </a:solidFill>
              <a:prstDash val="solid"/>
              <a:miter/>
              <a:headEnd type="none" w="med" len="med"/>
              <a:tailEnd type="triangle" w="sm" len="med"/>
            </a:ln>
          </p:spPr>
        </p:sp>
        <p:sp>
          <p:nvSpPr>
            <p:cNvPr id="10261" name="Line 22"/>
            <p:cNvSpPr/>
            <p:nvPr/>
          </p:nvSpPr>
          <p:spPr>
            <a:xfrm>
              <a:off x="5867400" y="4572000"/>
              <a:ext cx="152400" cy="0"/>
            </a:xfrm>
            <a:prstGeom prst="line">
              <a:avLst/>
            </a:prstGeom>
            <a:ln w="9525" cap="flat" cmpd="sng">
              <a:solidFill>
                <a:schemeClr val="tx1"/>
              </a:solidFill>
              <a:prstDash val="solid"/>
              <a:miter/>
              <a:headEnd type="none" w="med" len="med"/>
              <a:tailEnd type="none" w="med" len="med"/>
            </a:ln>
          </p:spPr>
        </p:sp>
        <p:sp>
          <p:nvSpPr>
            <p:cNvPr id="10262" name="Line 23"/>
            <p:cNvSpPr/>
            <p:nvPr/>
          </p:nvSpPr>
          <p:spPr>
            <a:xfrm>
              <a:off x="6019800" y="4572000"/>
              <a:ext cx="0" cy="533400"/>
            </a:xfrm>
            <a:prstGeom prst="line">
              <a:avLst/>
            </a:prstGeom>
            <a:ln w="9525" cap="flat" cmpd="sng">
              <a:solidFill>
                <a:schemeClr val="tx1"/>
              </a:solidFill>
              <a:prstDash val="solid"/>
              <a:miter/>
              <a:headEnd type="none" w="med" len="med"/>
              <a:tailEnd type="none" w="med" len="med"/>
            </a:ln>
          </p:spPr>
        </p:sp>
        <p:graphicFrame>
          <p:nvGraphicFramePr>
            <p:cNvPr id="10263" name="Object 4"/>
            <p:cNvGraphicFramePr>
              <a:graphicFrameLocks noChangeAspect="1"/>
            </p:cNvGraphicFramePr>
            <p:nvPr/>
          </p:nvGraphicFramePr>
          <p:xfrm>
            <a:off x="5638800" y="4419600"/>
            <a:ext cx="254000" cy="304800"/>
          </p:xfrm>
          <a:graphic>
            <a:graphicData uri="http://schemas.openxmlformats.org/presentationml/2006/ole">
              <mc:AlternateContent xmlns:mc="http://schemas.openxmlformats.org/markup-compatibility/2006">
                <mc:Choice xmlns:v="urn:schemas-microsoft-com:vml" Requires="v">
                  <p:oleObj spid="_x0000_s6182" r:id="rId7" imgW="254000" imgH="304800" progId="Equation.3">
                    <p:embed/>
                  </p:oleObj>
                </mc:Choice>
                <mc:Fallback>
                  <p:oleObj r:id="rId7" imgW="254000" imgH="304800" progId="Equation.3">
                    <p:embed/>
                    <p:pic>
                      <p:nvPicPr>
                        <p:cNvPr id="0" name="图片 3086"/>
                        <p:cNvPicPr/>
                        <p:nvPr/>
                      </p:nvPicPr>
                      <p:blipFill>
                        <a:blip r:embed="rId8"/>
                        <a:stretch>
                          <a:fillRect/>
                        </a:stretch>
                      </p:blipFill>
                      <p:spPr>
                        <a:xfrm>
                          <a:off x="5638800" y="4419600"/>
                          <a:ext cx="254000" cy="304800"/>
                        </a:xfrm>
                        <a:prstGeom prst="rect">
                          <a:avLst/>
                        </a:prstGeom>
                        <a:noFill/>
                        <a:ln w="38100">
                          <a:noFill/>
                          <a:miter/>
                        </a:ln>
                      </p:spPr>
                    </p:pic>
                  </p:oleObj>
                </mc:Fallback>
              </mc:AlternateContent>
            </a:graphicData>
          </a:graphic>
        </p:graphicFrame>
        <p:graphicFrame>
          <p:nvGraphicFramePr>
            <p:cNvPr id="10264" name="Object 5"/>
            <p:cNvGraphicFramePr>
              <a:graphicFrameLocks noChangeAspect="1"/>
            </p:cNvGraphicFramePr>
            <p:nvPr/>
          </p:nvGraphicFramePr>
          <p:xfrm>
            <a:off x="5943600" y="5105400"/>
            <a:ext cx="207963" cy="228600"/>
          </p:xfrm>
          <a:graphic>
            <a:graphicData uri="http://schemas.openxmlformats.org/presentationml/2006/ole">
              <mc:AlternateContent xmlns:mc="http://schemas.openxmlformats.org/markup-compatibility/2006">
                <mc:Choice xmlns:v="urn:schemas-microsoft-com:vml" Requires="v">
                  <p:oleObj spid="_x0000_s6183" r:id="rId9" imgW="127000" imgH="139700" progId="Equation.3">
                    <p:embed/>
                  </p:oleObj>
                </mc:Choice>
                <mc:Fallback>
                  <p:oleObj r:id="rId9" imgW="127000" imgH="139700" progId="Equation.3">
                    <p:embed/>
                    <p:pic>
                      <p:nvPicPr>
                        <p:cNvPr id="0" name="图片 3088"/>
                        <p:cNvPicPr/>
                        <p:nvPr/>
                      </p:nvPicPr>
                      <p:blipFill>
                        <a:blip r:embed="rId10"/>
                        <a:stretch>
                          <a:fillRect/>
                        </a:stretch>
                      </p:blipFill>
                      <p:spPr>
                        <a:xfrm>
                          <a:off x="5943600" y="5105400"/>
                          <a:ext cx="207963" cy="228600"/>
                        </a:xfrm>
                        <a:prstGeom prst="rect">
                          <a:avLst/>
                        </a:prstGeom>
                        <a:noFill/>
                        <a:ln w="38100">
                          <a:noFill/>
                          <a:miter/>
                        </a:ln>
                      </p:spPr>
                    </p:pic>
                  </p:oleObj>
                </mc:Fallback>
              </mc:AlternateContent>
            </a:graphicData>
          </a:graphic>
        </p:graphicFrame>
      </p:grpSp>
      <p:sp>
        <p:nvSpPr>
          <p:cNvPr id="64538" name="Text Box 26"/>
          <p:cNvSpPr txBox="1"/>
          <p:nvPr/>
        </p:nvSpPr>
        <p:spPr>
          <a:xfrm>
            <a:off x="1355725" y="5576888"/>
            <a:ext cx="1257300" cy="396875"/>
          </a:xfrm>
          <a:prstGeom prst="rect">
            <a:avLst/>
          </a:prstGeom>
          <a:noFill/>
          <a:ln w="9525">
            <a:noFill/>
          </a:ln>
        </p:spPr>
        <p:txBody>
          <a:bodyPr wrap="none" anchor="t" anchorCtr="0">
            <a:spAutoFit/>
          </a:bodyPr>
          <a:lstStyle/>
          <a:p>
            <a:pPr eaLnBrk="0" hangingPunct="0"/>
            <a:r>
              <a:rPr lang="zh-CN" altLang="en-US" dirty="0">
                <a:latin typeface="Verdana" panose="020B0604030504040204" pitchFamily="34" charset="0"/>
                <a:ea typeface="宋体" panose="02010600030101010101" pitchFamily="2" charset="-122"/>
              </a:rPr>
              <a:t>当</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1</a:t>
            </a:r>
            <a:r>
              <a:rPr lang="zh-CN" altLang="en-US" dirty="0">
                <a:latin typeface="Verdana" panose="020B0604030504040204" pitchFamily="34" charset="0"/>
                <a:ea typeface="宋体" panose="02010600030101010101" pitchFamily="2" charset="-122"/>
              </a:rPr>
              <a:t>，</a:t>
            </a:r>
          </a:p>
        </p:txBody>
      </p:sp>
      <p:graphicFrame>
        <p:nvGraphicFramePr>
          <p:cNvPr id="64539" name="Object 6"/>
          <p:cNvGraphicFramePr>
            <a:graphicFrameLocks noChangeAspect="1"/>
          </p:cNvGraphicFramePr>
          <p:nvPr/>
        </p:nvGraphicFramePr>
        <p:xfrm>
          <a:off x="2514600" y="5638800"/>
          <a:ext cx="590550" cy="250825"/>
        </p:xfrm>
        <a:graphic>
          <a:graphicData uri="http://schemas.openxmlformats.org/presentationml/2006/ole">
            <mc:AlternateContent xmlns:mc="http://schemas.openxmlformats.org/markup-compatibility/2006">
              <mc:Choice xmlns:v="urn:schemas-microsoft-com:vml" Requires="v">
                <p:oleObj spid="_x0000_s6184" r:id="rId11" imgW="419100" imgH="177800" progId="Equation.3">
                  <p:embed/>
                </p:oleObj>
              </mc:Choice>
              <mc:Fallback>
                <p:oleObj r:id="rId11" imgW="419100" imgH="177800" progId="Equation.3">
                  <p:embed/>
                  <p:pic>
                    <p:nvPicPr>
                      <p:cNvPr id="0" name="图片 3089"/>
                      <p:cNvPicPr/>
                      <p:nvPr/>
                    </p:nvPicPr>
                    <p:blipFill>
                      <a:blip r:embed="rId12"/>
                      <a:stretch>
                        <a:fillRect/>
                      </a:stretch>
                    </p:blipFill>
                    <p:spPr>
                      <a:xfrm>
                        <a:off x="2514600" y="5638800"/>
                        <a:ext cx="590550" cy="250825"/>
                      </a:xfrm>
                      <a:prstGeom prst="rect">
                        <a:avLst/>
                      </a:prstGeom>
                      <a:noFill/>
                      <a:ln w="38100">
                        <a:noFill/>
                        <a:miter/>
                      </a:ln>
                    </p:spPr>
                  </p:pic>
                </p:oleObj>
              </mc:Fallback>
            </mc:AlternateContent>
          </a:graphicData>
        </a:graphic>
      </p:graphicFrame>
      <p:sp>
        <p:nvSpPr>
          <p:cNvPr id="64540" name="Text Box 28"/>
          <p:cNvSpPr txBox="1"/>
          <p:nvPr/>
        </p:nvSpPr>
        <p:spPr>
          <a:xfrm>
            <a:off x="3108325" y="5570538"/>
            <a:ext cx="3779838" cy="461962"/>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时，称为</a:t>
            </a:r>
            <a:r>
              <a:rPr lang="zh-CN" altLang="en-US" sz="2400" dirty="0">
                <a:solidFill>
                  <a:srgbClr val="F90309"/>
                </a:solidFill>
                <a:latin typeface="Verdana" panose="020B0604030504040204" pitchFamily="34" charset="0"/>
                <a:ea typeface="宋体" panose="02010600030101010101" pitchFamily="2" charset="-122"/>
              </a:rPr>
              <a:t>单位</a:t>
            </a:r>
            <a:r>
              <a:rPr lang="zh-CN" altLang="en-US" sz="2400" dirty="0">
                <a:latin typeface="Verdana" panose="020B0604030504040204" pitchFamily="34" charset="0"/>
                <a:ea typeface="宋体" panose="02010600030101010101" pitchFamily="2" charset="-122"/>
              </a:rPr>
              <a:t>脉冲函数</a:t>
            </a:r>
            <a:r>
              <a:rPr lang="zh-CN" altLang="en-US" sz="2400" dirty="0">
                <a:latin typeface="Verdana" panose="020B0604030504040204" pitchFamily="34" charset="0"/>
                <a:ea typeface="宋体" panose="02010600030101010101" pitchFamily="2" charset="-122"/>
                <a:sym typeface="Symbol" panose="05050102010706020507" pitchFamily="18" charset="2"/>
              </a:rPr>
              <a:t></a:t>
            </a:r>
            <a:r>
              <a:rPr lang="en-US" altLang="zh-CN" sz="2400" dirty="0">
                <a:latin typeface="Verdana" panose="020B0604030504040204" pitchFamily="34" charset="0"/>
                <a:ea typeface="宋体" panose="02010600030101010101" pitchFamily="2" charset="-122"/>
                <a:sym typeface="Symbol" panose="05050102010706020507" pitchFamily="18" charset="2"/>
              </a:rPr>
              <a:t>(t)</a:t>
            </a:r>
            <a:endParaRPr lang="en-US" altLang="zh-CN" sz="2400" dirty="0">
              <a:latin typeface="Verdana" panose="020B0604030504040204" pitchFamily="34" charset="0"/>
              <a:ea typeface="宋体" panose="02010600030101010101" pitchFamily="2" charset="-122"/>
            </a:endParaRPr>
          </a:p>
        </p:txBody>
      </p:sp>
      <p:sp>
        <p:nvSpPr>
          <p:cNvPr id="64541" name="Text Box 29"/>
          <p:cNvSpPr txBox="1"/>
          <p:nvPr/>
        </p:nvSpPr>
        <p:spPr>
          <a:xfrm>
            <a:off x="1371600" y="5943600"/>
            <a:ext cx="7570788" cy="461963"/>
          </a:xfrm>
          <a:prstGeom prst="rect">
            <a:avLst/>
          </a:prstGeom>
          <a:noFill/>
          <a:ln w="9525">
            <a:noFill/>
          </a:ln>
        </p:spPr>
        <p:txBody>
          <a:bodyPr wrap="none" anchor="t" anchorCtr="0">
            <a:spAutoFit/>
          </a:bodyPr>
          <a:lstStyle/>
          <a:p>
            <a:pPr eaLnBrk="0" hangingPunct="0"/>
            <a:r>
              <a:rPr lang="zh-CN" altLang="en-US" sz="2400" dirty="0">
                <a:latin typeface="Verdana" panose="020B0604030504040204" pitchFamily="34" charset="0"/>
                <a:ea typeface="宋体" panose="02010600030101010101" pitchFamily="2" charset="-122"/>
              </a:rPr>
              <a:t>系统受冲击力作用时相当于系统受脉冲输入信号作用。</a:t>
            </a:r>
          </a:p>
        </p:txBody>
      </p:sp>
      <p:sp>
        <p:nvSpPr>
          <p:cNvPr id="10269" name="日期占位符 29"/>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0">
              <a:rPr lang="zh-CN" altLang="en-US" sz="1200" dirty="0"/>
              <a:t>14:15</a:t>
            </a:fld>
            <a:endParaRPr lang="zh-CN" altLang="en-US" sz="1200" dirty="0"/>
          </a:p>
        </p:txBody>
      </p:sp>
      <p:sp>
        <p:nvSpPr>
          <p:cNvPr id="10270" name="灯片编号占位符 30"/>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5</a:t>
            </a:fld>
            <a:endParaRPr lang="en-US" altLang="zh-CN"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 calcmode="lin" valueType="num">
                                      <p:cBhvr>
                                        <p:cTn id="7" dur="1000" fill="hold"/>
                                        <p:tgtEl>
                                          <p:spTgt spid="64515"/>
                                        </p:tgtEl>
                                        <p:attrNameLst>
                                          <p:attrName>ppt_w</p:attrName>
                                        </p:attrNameLst>
                                      </p:cBhvr>
                                      <p:tavLst>
                                        <p:tav tm="0">
                                          <p:val>
                                            <p:strVal val="#ppt_w*0.70"/>
                                          </p:val>
                                        </p:tav>
                                        <p:tav tm="100000">
                                          <p:val>
                                            <p:strVal val="#ppt_w"/>
                                          </p:val>
                                        </p:tav>
                                      </p:tavLst>
                                    </p:anim>
                                    <p:anim calcmode="lin" valueType="num">
                                      <p:cBhvr>
                                        <p:cTn id="8" dur="1000" fill="hold"/>
                                        <p:tgtEl>
                                          <p:spTgt spid="64515"/>
                                        </p:tgtEl>
                                        <p:attrNameLst>
                                          <p:attrName>ppt_h</p:attrName>
                                        </p:attrNameLst>
                                      </p:cBhvr>
                                      <p:tavLst>
                                        <p:tav tm="0">
                                          <p:val>
                                            <p:strVal val="#ppt_h"/>
                                          </p:val>
                                        </p:tav>
                                        <p:tav tm="100000">
                                          <p:val>
                                            <p:strVal val="#ppt_h"/>
                                          </p:val>
                                        </p:tav>
                                      </p:tavLst>
                                    </p:anim>
                                    <p:animEffect transition="in" filter="fade">
                                      <p:cBhvr>
                                        <p:cTn id="9" dur="1000"/>
                                        <p:tgtEl>
                                          <p:spTgt spid="6451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129"/>
                                        </p:tgtEl>
                                        <p:attrNameLst>
                                          <p:attrName>style.visibility</p:attrName>
                                        </p:attrNameLst>
                                      </p:cBhvr>
                                      <p:to>
                                        <p:strVal val="visible"/>
                                      </p:to>
                                    </p:set>
                                    <p:animEffect transition="in" filter="fade">
                                      <p:cBhvr>
                                        <p:cTn id="14" dur="1000"/>
                                        <p:tgtEl>
                                          <p:spTgt spid="5129"/>
                                        </p:tgtEl>
                                      </p:cBhvr>
                                    </p:animEffect>
                                    <p:anim calcmode="lin" valueType="num">
                                      <p:cBhvr>
                                        <p:cTn id="15" dur="1000" fill="hold"/>
                                        <p:tgtEl>
                                          <p:spTgt spid="5129"/>
                                        </p:tgtEl>
                                        <p:attrNameLst>
                                          <p:attrName>ppt_x</p:attrName>
                                        </p:attrNameLst>
                                      </p:cBhvr>
                                      <p:tavLst>
                                        <p:tav tm="0">
                                          <p:val>
                                            <p:strVal val="#ppt_x"/>
                                          </p:val>
                                        </p:tav>
                                        <p:tav tm="100000">
                                          <p:val>
                                            <p:strVal val="#ppt_x"/>
                                          </p:val>
                                        </p:tav>
                                      </p:tavLst>
                                    </p:anim>
                                    <p:anim calcmode="lin" valueType="num">
                                      <p:cBhvr>
                                        <p:cTn id="16" dur="1000" fill="hold"/>
                                        <p:tgtEl>
                                          <p:spTgt spid="51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45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5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5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64526"/>
                                        </p:tgtEl>
                                        <p:attrNameLst>
                                          <p:attrName>style.visibility</p:attrName>
                                        </p:attrNameLst>
                                      </p:cBhvr>
                                      <p:to>
                                        <p:strVal val="visible"/>
                                      </p:to>
                                    </p:set>
                                    <p:anim calcmode="lin" valueType="num">
                                      <p:cBhvr>
                                        <p:cTn id="31" dur="1000" fill="hold"/>
                                        <p:tgtEl>
                                          <p:spTgt spid="64526"/>
                                        </p:tgtEl>
                                        <p:attrNameLst>
                                          <p:attrName>ppt_w</p:attrName>
                                        </p:attrNameLst>
                                      </p:cBhvr>
                                      <p:tavLst>
                                        <p:tav tm="0">
                                          <p:val>
                                            <p:strVal val="#ppt_w*0.70"/>
                                          </p:val>
                                        </p:tav>
                                        <p:tav tm="100000">
                                          <p:val>
                                            <p:strVal val="#ppt_w"/>
                                          </p:val>
                                        </p:tav>
                                      </p:tavLst>
                                    </p:anim>
                                    <p:anim calcmode="lin" valueType="num">
                                      <p:cBhvr>
                                        <p:cTn id="32" dur="1000" fill="hold"/>
                                        <p:tgtEl>
                                          <p:spTgt spid="64526"/>
                                        </p:tgtEl>
                                        <p:attrNameLst>
                                          <p:attrName>ppt_h</p:attrName>
                                        </p:attrNameLst>
                                      </p:cBhvr>
                                      <p:tavLst>
                                        <p:tav tm="0">
                                          <p:val>
                                            <p:strVal val="#ppt_h"/>
                                          </p:val>
                                        </p:tav>
                                        <p:tav tm="100000">
                                          <p:val>
                                            <p:strVal val="#ppt_h"/>
                                          </p:val>
                                        </p:tav>
                                      </p:tavLst>
                                    </p:anim>
                                    <p:animEffect transition="in" filter="fade">
                                      <p:cBhvr>
                                        <p:cTn id="33" dur="1000"/>
                                        <p:tgtEl>
                                          <p:spTgt spid="6452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452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452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64538"/>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453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454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4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P spid="64516" grpId="0"/>
      <p:bldP spid="64524" grpId="0"/>
      <p:bldP spid="64526" grpId="0"/>
      <p:bldP spid="64527" grpId="0"/>
      <p:bldP spid="64538" grpId="0"/>
      <p:bldP spid="64540" grpId="0"/>
      <p:bldP spid="645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11266"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6</a:t>
            </a:fld>
            <a:endParaRPr lang="en-US" altLang="zh-CN" sz="1200" dirty="0"/>
          </a:p>
        </p:txBody>
      </p:sp>
      <p:sp>
        <p:nvSpPr>
          <p:cNvPr id="11267" name="Text Box 3"/>
          <p:cNvSpPr txBox="1"/>
          <p:nvPr/>
        </p:nvSpPr>
        <p:spPr>
          <a:xfrm>
            <a:off x="2339975" y="728663"/>
            <a:ext cx="3416300" cy="646112"/>
          </a:xfrm>
          <a:prstGeom prst="rect">
            <a:avLst/>
          </a:prstGeom>
          <a:noFill/>
          <a:ln w="9525">
            <a:noFill/>
          </a:ln>
        </p:spPr>
        <p:txBody>
          <a:bodyPr wrap="none" anchor="t" anchorCtr="0">
            <a:spAutoFit/>
          </a:bodyPr>
          <a:lstStyle/>
          <a:p>
            <a:r>
              <a:rPr lang="zh-CN" altLang="en-US" sz="3600" dirty="0">
                <a:latin typeface="Times New Roman" panose="02020603050405020304" pitchFamily="18" charset="0"/>
                <a:ea typeface="华文新魏" panose="02010800040101010101" pitchFamily="2" charset="-122"/>
              </a:rPr>
              <a:t>第</a:t>
            </a:r>
            <a:r>
              <a:rPr lang="en-US" altLang="zh-CN" sz="3600" dirty="0">
                <a:latin typeface="Times New Roman" panose="02020603050405020304" pitchFamily="18" charset="0"/>
                <a:ea typeface="华文新魏" panose="02010800040101010101" pitchFamily="2" charset="-122"/>
              </a:rPr>
              <a:t>2</a:t>
            </a:r>
            <a:r>
              <a:rPr lang="zh-CN" altLang="en-US" sz="3600" dirty="0">
                <a:latin typeface="Times New Roman" panose="02020603050405020304" pitchFamily="18" charset="0"/>
                <a:ea typeface="华文新魏" panose="02010800040101010101" pitchFamily="2" charset="-122"/>
              </a:rPr>
              <a:t>章  数学模型</a:t>
            </a:r>
          </a:p>
        </p:txBody>
      </p:sp>
      <p:sp>
        <p:nvSpPr>
          <p:cNvPr id="11268" name="Rectangle 4"/>
          <p:cNvSpPr/>
          <p:nvPr/>
        </p:nvSpPr>
        <p:spPr>
          <a:xfrm>
            <a:off x="1979613" y="2449513"/>
            <a:ext cx="3775075" cy="674687"/>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2.2   </a:t>
            </a:r>
            <a:r>
              <a:rPr lang="zh-CN" altLang="en-US" sz="2800" dirty="0">
                <a:latin typeface="Times New Roman" panose="02020603050405020304" pitchFamily="18" charset="0"/>
                <a:ea typeface="黑体" panose="02010609060101010101" pitchFamily="49" charset="-122"/>
              </a:rPr>
              <a:t>拉氏变换和反变换</a:t>
            </a:r>
          </a:p>
        </p:txBody>
      </p:sp>
      <p:sp>
        <p:nvSpPr>
          <p:cNvPr id="11269" name="Rectangle 5"/>
          <p:cNvSpPr/>
          <p:nvPr/>
        </p:nvSpPr>
        <p:spPr>
          <a:xfrm>
            <a:off x="1979613" y="2997200"/>
            <a:ext cx="2338387" cy="608013"/>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2.3   </a:t>
            </a:r>
            <a:r>
              <a:rPr lang="zh-CN" altLang="en-US" sz="2800" dirty="0">
                <a:latin typeface="Times New Roman" panose="02020603050405020304" pitchFamily="18" charset="0"/>
                <a:ea typeface="黑体" panose="02010609060101010101" pitchFamily="49" charset="-122"/>
              </a:rPr>
              <a:t>传递函数</a:t>
            </a:r>
          </a:p>
        </p:txBody>
      </p:sp>
      <p:sp>
        <p:nvSpPr>
          <p:cNvPr id="11270" name="Rectangle 6"/>
          <p:cNvSpPr/>
          <p:nvPr/>
        </p:nvSpPr>
        <p:spPr>
          <a:xfrm>
            <a:off x="1979613" y="4206875"/>
            <a:ext cx="4852987" cy="523875"/>
          </a:xfrm>
          <a:prstGeom prst="rect">
            <a:avLst/>
          </a:prstGeom>
          <a:noFill/>
          <a:ln w="22225">
            <a:noFill/>
          </a:ln>
        </p:spPr>
        <p:txBody>
          <a:bodyPr wrap="none" anchor="t" anchorCtr="0">
            <a:spAutoFit/>
          </a:bodyPr>
          <a:lstStyle/>
          <a:p>
            <a:r>
              <a:rPr lang="en-US" altLang="zh-CN" sz="2800" dirty="0">
                <a:latin typeface="Times New Roman" panose="02020603050405020304" pitchFamily="18" charset="0"/>
                <a:ea typeface="黑体" panose="02010609060101010101" pitchFamily="49" charset="-122"/>
              </a:rPr>
              <a:t>2.5   </a:t>
            </a:r>
            <a:r>
              <a:rPr lang="zh-CN" altLang="en-US" sz="2800" dirty="0">
                <a:latin typeface="Times New Roman" panose="02020603050405020304" pitchFamily="18" charset="0"/>
                <a:ea typeface="黑体" panose="02010609060101010101" pitchFamily="49" charset="-122"/>
              </a:rPr>
              <a:t>非线性数学模型的线性化</a:t>
            </a:r>
          </a:p>
        </p:txBody>
      </p:sp>
      <p:sp>
        <p:nvSpPr>
          <p:cNvPr id="11271" name="Rectangle 7"/>
          <p:cNvSpPr/>
          <p:nvPr/>
        </p:nvSpPr>
        <p:spPr>
          <a:xfrm>
            <a:off x="1978025" y="3570288"/>
            <a:ext cx="4494213" cy="674687"/>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2.4   </a:t>
            </a:r>
            <a:r>
              <a:rPr lang="zh-CN" altLang="en-US" sz="2800" dirty="0">
                <a:latin typeface="Times New Roman" panose="02020603050405020304" pitchFamily="18" charset="0"/>
                <a:ea typeface="黑体" panose="02010609060101010101" pitchFamily="49" charset="-122"/>
              </a:rPr>
              <a:t>系统方框图和信号流图</a:t>
            </a:r>
          </a:p>
        </p:txBody>
      </p:sp>
      <p:sp>
        <p:nvSpPr>
          <p:cNvPr id="11272" name="Rectangle 8"/>
          <p:cNvSpPr/>
          <p:nvPr/>
        </p:nvSpPr>
        <p:spPr>
          <a:xfrm>
            <a:off x="1979613" y="4645025"/>
            <a:ext cx="5211762" cy="674688"/>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2.6   </a:t>
            </a:r>
            <a:r>
              <a:rPr lang="zh-CN" altLang="en-US" sz="2800" dirty="0">
                <a:latin typeface="Times New Roman" panose="02020603050405020304" pitchFamily="18" charset="0"/>
                <a:ea typeface="黑体" panose="02010609060101010101" pitchFamily="49" charset="-122"/>
              </a:rPr>
              <a:t>控制系统传递函数推导举例</a:t>
            </a:r>
          </a:p>
        </p:txBody>
      </p:sp>
      <p:sp>
        <p:nvSpPr>
          <p:cNvPr id="11273" name="Rectangle 11"/>
          <p:cNvSpPr/>
          <p:nvPr/>
        </p:nvSpPr>
        <p:spPr>
          <a:xfrm>
            <a:off x="1979613" y="1916113"/>
            <a:ext cx="4852987" cy="674687"/>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2.1   </a:t>
            </a:r>
            <a:r>
              <a:rPr lang="zh-CN" altLang="en-US" sz="2800" dirty="0">
                <a:latin typeface="Times New Roman" panose="02020603050405020304" pitchFamily="18" charset="0"/>
                <a:ea typeface="黑体" panose="02010609060101010101" pitchFamily="49" charset="-122"/>
              </a:rPr>
              <a:t>控制系统的运动微分方程</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13314"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7</a:t>
            </a:fld>
            <a:endParaRPr lang="en-US" altLang="zh-CN" sz="1200" dirty="0"/>
          </a:p>
        </p:txBody>
      </p:sp>
      <p:sp>
        <p:nvSpPr>
          <p:cNvPr id="7173" name="Rectangle 5"/>
          <p:cNvSpPr/>
          <p:nvPr/>
        </p:nvSpPr>
        <p:spPr>
          <a:xfrm>
            <a:off x="990600" y="1835150"/>
            <a:ext cx="2055813" cy="519113"/>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数学模型 </a:t>
            </a:r>
          </a:p>
        </p:txBody>
      </p:sp>
      <p:sp>
        <p:nvSpPr>
          <p:cNvPr id="7174" name="Text Box 6"/>
          <p:cNvSpPr txBox="1"/>
          <p:nvPr/>
        </p:nvSpPr>
        <p:spPr>
          <a:xfrm>
            <a:off x="1357313" y="2365375"/>
            <a:ext cx="7010400" cy="1563688"/>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数学模型是描述系统输入、输出量以及内部各变量之间关系的数学表达式，它揭示了系统结构及其参数与其性能之间的内在关系。</a:t>
            </a:r>
            <a:r>
              <a:rPr lang="zh-CN" altLang="en-US" sz="2800" dirty="0">
                <a:latin typeface="Times New Roman" panose="02020603050405020304" pitchFamily="18" charset="0"/>
                <a:ea typeface="宋体" panose="02010600030101010101" pitchFamily="2" charset="-122"/>
              </a:rPr>
              <a:t> </a:t>
            </a:r>
          </a:p>
        </p:txBody>
      </p:sp>
      <p:sp>
        <p:nvSpPr>
          <p:cNvPr id="7175" name="Text Box 7"/>
          <p:cNvSpPr txBox="1"/>
          <p:nvPr/>
        </p:nvSpPr>
        <p:spPr>
          <a:xfrm>
            <a:off x="1371600" y="3886200"/>
            <a:ext cx="7010400" cy="1073150"/>
          </a:xfrm>
          <a:prstGeom prst="rect">
            <a:avLst/>
          </a:prstGeom>
          <a:noFill/>
          <a:ln w="22225">
            <a:noFill/>
          </a:ln>
        </p:spPr>
        <p:txBody>
          <a:bodyPr anchor="t" anchorCtr="0">
            <a:spAutoFit/>
          </a:bodyPr>
          <a:lstStyle/>
          <a:p>
            <a:pPr>
              <a:lnSpc>
                <a:spcPct val="115000"/>
              </a:lnSpc>
            </a:pPr>
            <a:r>
              <a:rPr lang="zh-CN" altLang="en-US" sz="2800" b="1" dirty="0">
                <a:solidFill>
                  <a:srgbClr val="CC0000"/>
                </a:solidFill>
                <a:latin typeface="宋体" panose="02010600030101010101" pitchFamily="2" charset="-122"/>
                <a:ea typeface="宋体" panose="02010600030101010101" pitchFamily="2" charset="-122"/>
              </a:rPr>
              <a:t>静态数学模型</a:t>
            </a:r>
            <a:r>
              <a:rPr lang="zh-CN" altLang="en-US" sz="2800" dirty="0">
                <a:latin typeface="宋体" panose="02010600030101010101" pitchFamily="2" charset="-122"/>
                <a:ea typeface="宋体" panose="02010600030101010101" pitchFamily="2" charset="-122"/>
              </a:rPr>
              <a:t>：静态条件（变量各阶导数为零）下描述变量之间关系的代数方程。</a:t>
            </a:r>
            <a:r>
              <a:rPr lang="zh-CN" altLang="en-US" sz="2800" dirty="0">
                <a:latin typeface="Times New Roman" panose="02020603050405020304" pitchFamily="18" charset="0"/>
                <a:ea typeface="宋体" panose="02010600030101010101" pitchFamily="2" charset="-122"/>
              </a:rPr>
              <a:t> </a:t>
            </a:r>
          </a:p>
        </p:txBody>
      </p:sp>
      <p:sp>
        <p:nvSpPr>
          <p:cNvPr id="7176" name="Text Box 8"/>
          <p:cNvSpPr txBox="1"/>
          <p:nvPr/>
        </p:nvSpPr>
        <p:spPr>
          <a:xfrm>
            <a:off x="1371600" y="4946650"/>
            <a:ext cx="7010400" cy="1073150"/>
          </a:xfrm>
          <a:prstGeom prst="rect">
            <a:avLst/>
          </a:prstGeom>
          <a:noFill/>
          <a:ln w="22225">
            <a:noFill/>
          </a:ln>
        </p:spPr>
        <p:txBody>
          <a:bodyPr anchor="t" anchorCtr="0">
            <a:spAutoFit/>
          </a:bodyPr>
          <a:lstStyle/>
          <a:p>
            <a:pPr>
              <a:lnSpc>
                <a:spcPct val="115000"/>
              </a:lnSpc>
            </a:pPr>
            <a:r>
              <a:rPr lang="zh-CN" altLang="en-US" sz="2800" b="1" dirty="0">
                <a:solidFill>
                  <a:srgbClr val="CC0000"/>
                </a:solidFill>
                <a:latin typeface="宋体" panose="02010600030101010101" pitchFamily="2" charset="-122"/>
                <a:ea typeface="宋体" panose="02010600030101010101" pitchFamily="2" charset="-122"/>
              </a:rPr>
              <a:t>动态数学模型</a:t>
            </a:r>
            <a:r>
              <a:rPr lang="zh-CN" altLang="en-US" sz="2800" dirty="0">
                <a:latin typeface="宋体" panose="02010600030101010101" pitchFamily="2" charset="-122"/>
                <a:ea typeface="宋体" panose="02010600030101010101" pitchFamily="2" charset="-122"/>
              </a:rPr>
              <a:t>：描述变量各阶导数之间关系的微分方程。</a:t>
            </a:r>
            <a:r>
              <a:rPr lang="zh-CN" altLang="en-US" sz="2800" dirty="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 calcmode="lin" valueType="num">
                                      <p:cBhvr additive="base">
                                        <p:cTn id="7" dur="500" fill="hold"/>
                                        <p:tgtEl>
                                          <p:spTgt spid="7173"/>
                                        </p:tgtEl>
                                        <p:attrNameLst>
                                          <p:attrName>ppt_x</p:attrName>
                                        </p:attrNameLst>
                                      </p:cBhvr>
                                      <p:tavLst>
                                        <p:tav tm="0">
                                          <p:val>
                                            <p:strVal val="#ppt_x"/>
                                          </p:val>
                                        </p:tav>
                                        <p:tav tm="100000">
                                          <p:val>
                                            <p:strVal val="#ppt_x"/>
                                          </p:val>
                                        </p:tav>
                                      </p:tavLst>
                                    </p:anim>
                                    <p:anim calcmode="lin" valueType="num">
                                      <p:cBhvr additive="base">
                                        <p:cTn id="8"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4"/>
                                        </p:tgtEl>
                                        <p:attrNameLst>
                                          <p:attrName>style.visibility</p:attrName>
                                        </p:attrNameLst>
                                      </p:cBhvr>
                                      <p:to>
                                        <p:strVal val="visible"/>
                                      </p:to>
                                    </p:set>
                                    <p:anim calcmode="lin" valueType="num">
                                      <p:cBhvr additive="base">
                                        <p:cTn id="13" dur="500" fill="hold"/>
                                        <p:tgtEl>
                                          <p:spTgt spid="7174"/>
                                        </p:tgtEl>
                                        <p:attrNameLst>
                                          <p:attrName>ppt_x</p:attrName>
                                        </p:attrNameLst>
                                      </p:cBhvr>
                                      <p:tavLst>
                                        <p:tav tm="0">
                                          <p:val>
                                            <p:strVal val="#ppt_x"/>
                                          </p:val>
                                        </p:tav>
                                        <p:tav tm="100000">
                                          <p:val>
                                            <p:strVal val="#ppt_x"/>
                                          </p:val>
                                        </p:tav>
                                      </p:tavLst>
                                    </p:anim>
                                    <p:anim calcmode="lin" valueType="num">
                                      <p:cBhvr additive="base">
                                        <p:cTn id="14" dur="500" fill="hold"/>
                                        <p:tgtEl>
                                          <p:spTgt spid="71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5"/>
                                        </p:tgtEl>
                                        <p:attrNameLst>
                                          <p:attrName>style.visibility</p:attrName>
                                        </p:attrNameLst>
                                      </p:cBhvr>
                                      <p:to>
                                        <p:strVal val="visible"/>
                                      </p:to>
                                    </p:set>
                                    <p:anim calcmode="lin" valueType="num">
                                      <p:cBhvr additive="base">
                                        <p:cTn id="19" dur="500" fill="hold"/>
                                        <p:tgtEl>
                                          <p:spTgt spid="7175"/>
                                        </p:tgtEl>
                                        <p:attrNameLst>
                                          <p:attrName>ppt_x</p:attrName>
                                        </p:attrNameLst>
                                      </p:cBhvr>
                                      <p:tavLst>
                                        <p:tav tm="0">
                                          <p:val>
                                            <p:strVal val="#ppt_x"/>
                                          </p:val>
                                        </p:tav>
                                        <p:tav tm="100000">
                                          <p:val>
                                            <p:strVal val="#ppt_x"/>
                                          </p:val>
                                        </p:tav>
                                      </p:tavLst>
                                    </p:anim>
                                    <p:anim calcmode="lin" valueType="num">
                                      <p:cBhvr additive="base">
                                        <p:cTn id="20" dur="500" fill="hold"/>
                                        <p:tgtEl>
                                          <p:spTgt spid="717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6"/>
                                        </p:tgtEl>
                                        <p:attrNameLst>
                                          <p:attrName>style.visibility</p:attrName>
                                        </p:attrNameLst>
                                      </p:cBhvr>
                                      <p:to>
                                        <p:strVal val="visible"/>
                                      </p:to>
                                    </p:set>
                                    <p:anim calcmode="lin" valueType="num">
                                      <p:cBhvr additive="base">
                                        <p:cTn id="25" dur="500" fill="hold"/>
                                        <p:tgtEl>
                                          <p:spTgt spid="7176"/>
                                        </p:tgtEl>
                                        <p:attrNameLst>
                                          <p:attrName>ppt_x</p:attrName>
                                        </p:attrNameLst>
                                      </p:cBhvr>
                                      <p:tavLst>
                                        <p:tav tm="0">
                                          <p:val>
                                            <p:strVal val="#ppt_x"/>
                                          </p:val>
                                        </p:tav>
                                        <p:tav tm="100000">
                                          <p:val>
                                            <p:strVal val="#ppt_x"/>
                                          </p:val>
                                        </p:tav>
                                      </p:tavLst>
                                    </p:anim>
                                    <p:anim calcmode="lin" valueType="num">
                                      <p:cBhvr additive="base">
                                        <p:cTn id="26" dur="500" fill="hold"/>
                                        <p:tgtEl>
                                          <p:spTgt spid="71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p:bldP spid="7174" grpId="0"/>
      <p:bldP spid="7175" grpId="0"/>
      <p:bldP spid="71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15362"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8</a:t>
            </a:fld>
            <a:endParaRPr lang="en-US" altLang="zh-CN" sz="1200" dirty="0"/>
          </a:p>
        </p:txBody>
      </p:sp>
      <p:sp>
        <p:nvSpPr>
          <p:cNvPr id="15363" name="Rectangle 2"/>
          <p:cNvSpPr/>
          <p:nvPr/>
        </p:nvSpPr>
        <p:spPr>
          <a:xfrm>
            <a:off x="990600" y="1828800"/>
            <a:ext cx="3038475" cy="519113"/>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数学模型的形式</a:t>
            </a:r>
          </a:p>
        </p:txBody>
      </p:sp>
      <p:sp>
        <p:nvSpPr>
          <p:cNvPr id="10243" name="Text Box 3"/>
          <p:cNvSpPr txBox="1"/>
          <p:nvPr/>
        </p:nvSpPr>
        <p:spPr>
          <a:xfrm>
            <a:off x="1143000" y="2544763"/>
            <a:ext cx="7532688" cy="102076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时间域：微分方程、差分方程、状态空间表达式</a:t>
            </a:r>
          </a:p>
        </p:txBody>
      </p:sp>
      <p:sp>
        <p:nvSpPr>
          <p:cNvPr id="10244" name="Text Box 4"/>
          <p:cNvSpPr txBox="1"/>
          <p:nvPr/>
        </p:nvSpPr>
        <p:spPr>
          <a:xfrm>
            <a:off x="1143000" y="3760788"/>
            <a:ext cx="7010400" cy="58261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复数域：传递函数、结构图</a:t>
            </a:r>
          </a:p>
        </p:txBody>
      </p:sp>
      <p:sp>
        <p:nvSpPr>
          <p:cNvPr id="10245" name="Text Box 5"/>
          <p:cNvSpPr txBox="1"/>
          <p:nvPr/>
        </p:nvSpPr>
        <p:spPr>
          <a:xfrm>
            <a:off x="1143000" y="4522788"/>
            <a:ext cx="7010400" cy="58261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频率域：频率特性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ppt_x"/>
                                          </p:val>
                                        </p:tav>
                                        <p:tav tm="100000">
                                          <p:val>
                                            <p:strVal val="#ppt_x"/>
                                          </p:val>
                                        </p:tav>
                                      </p:tavLst>
                                    </p:anim>
                                    <p:anim calcmode="lin" valueType="num">
                                      <p:cBhvr additive="base">
                                        <p:cTn id="8"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4"/>
                                        </p:tgtEl>
                                        <p:attrNameLst>
                                          <p:attrName>style.visibility</p:attrName>
                                        </p:attrNameLst>
                                      </p:cBhvr>
                                      <p:to>
                                        <p:strVal val="visible"/>
                                      </p:to>
                                    </p:set>
                                    <p:anim calcmode="lin" valueType="num">
                                      <p:cBhvr additive="base">
                                        <p:cTn id="13" dur="500" fill="hold"/>
                                        <p:tgtEl>
                                          <p:spTgt spid="10244"/>
                                        </p:tgtEl>
                                        <p:attrNameLst>
                                          <p:attrName>ppt_x</p:attrName>
                                        </p:attrNameLst>
                                      </p:cBhvr>
                                      <p:tavLst>
                                        <p:tav tm="0">
                                          <p:val>
                                            <p:strVal val="#ppt_x"/>
                                          </p:val>
                                        </p:tav>
                                        <p:tav tm="100000">
                                          <p:val>
                                            <p:strVal val="#ppt_x"/>
                                          </p:val>
                                        </p:tav>
                                      </p:tavLst>
                                    </p:anim>
                                    <p:anim calcmode="lin" valueType="num">
                                      <p:cBhvr additive="base">
                                        <p:cTn id="14"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5"/>
                                        </p:tgtEl>
                                        <p:attrNameLst>
                                          <p:attrName>style.visibility</p:attrName>
                                        </p:attrNameLst>
                                      </p:cBhvr>
                                      <p:to>
                                        <p:strVal val="visible"/>
                                      </p:to>
                                    </p:set>
                                    <p:anim calcmode="lin" valueType="num">
                                      <p:cBhvr additive="base">
                                        <p:cTn id="19" dur="500" fill="hold"/>
                                        <p:tgtEl>
                                          <p:spTgt spid="10245"/>
                                        </p:tgtEl>
                                        <p:attrNameLst>
                                          <p:attrName>ppt_x</p:attrName>
                                        </p:attrNameLst>
                                      </p:cBhvr>
                                      <p:tavLst>
                                        <p:tav tm="0">
                                          <p:val>
                                            <p:strVal val="#ppt_x"/>
                                          </p:val>
                                        </p:tav>
                                        <p:tav tm="100000">
                                          <p:val>
                                            <p:strVal val="#ppt_x"/>
                                          </p:val>
                                        </p:tav>
                                      </p:tavLst>
                                    </p:anim>
                                    <p:anim calcmode="lin" valueType="num">
                                      <p:cBhvr additive="base">
                                        <p:cTn id="20" dur="500" fill="hold"/>
                                        <p:tgtEl>
                                          <p:spTgt spid="10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4" grpId="0"/>
      <p:bldP spid="102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17410"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9</a:t>
            </a:fld>
            <a:endParaRPr lang="en-US" altLang="zh-CN" sz="1200" dirty="0"/>
          </a:p>
        </p:txBody>
      </p:sp>
      <p:sp>
        <p:nvSpPr>
          <p:cNvPr id="17411" name="Rectangle 2"/>
          <p:cNvSpPr/>
          <p:nvPr/>
        </p:nvSpPr>
        <p:spPr>
          <a:xfrm>
            <a:off x="990600" y="1066800"/>
            <a:ext cx="3752850" cy="519113"/>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建立数学模型的方法</a:t>
            </a:r>
          </a:p>
        </p:txBody>
      </p:sp>
      <p:sp>
        <p:nvSpPr>
          <p:cNvPr id="9219" name="Text Box 3"/>
          <p:cNvSpPr txBox="1"/>
          <p:nvPr/>
        </p:nvSpPr>
        <p:spPr>
          <a:xfrm>
            <a:off x="1143000" y="1600200"/>
            <a:ext cx="7010400" cy="582613"/>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解析法</a:t>
            </a:r>
          </a:p>
        </p:txBody>
      </p:sp>
      <p:sp>
        <p:nvSpPr>
          <p:cNvPr id="9220" name="Text Box 4"/>
          <p:cNvSpPr txBox="1"/>
          <p:nvPr/>
        </p:nvSpPr>
        <p:spPr>
          <a:xfrm>
            <a:off x="1143000" y="3221038"/>
            <a:ext cx="7010400" cy="58261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实验法 </a:t>
            </a:r>
          </a:p>
        </p:txBody>
      </p:sp>
      <p:sp>
        <p:nvSpPr>
          <p:cNvPr id="9221" name="Text Box 5"/>
          <p:cNvSpPr txBox="1"/>
          <p:nvPr/>
        </p:nvSpPr>
        <p:spPr>
          <a:xfrm>
            <a:off x="1143000" y="2133600"/>
            <a:ext cx="7391400" cy="1073150"/>
          </a:xfrm>
          <a:prstGeom prst="rect">
            <a:avLst/>
          </a:prstGeom>
          <a:noFill/>
          <a:ln w="22225">
            <a:noFill/>
          </a:ln>
        </p:spPr>
        <p:txBody>
          <a:bodyPr anchor="t" anchorCtr="0">
            <a:spAutoFit/>
          </a:bodyPr>
          <a:lstStyle/>
          <a:p>
            <a:pPr>
              <a:lnSpc>
                <a:spcPct val="115000"/>
              </a:lnSpc>
            </a:pPr>
            <a:r>
              <a:rPr lang="zh-CN" altLang="en-US" sz="2800" dirty="0">
                <a:latin typeface="Times New Roman" panose="02020603050405020304" pitchFamily="18" charset="0"/>
                <a:ea typeface="宋体" panose="02010600030101010101" pitchFamily="2" charset="-122"/>
              </a:rPr>
              <a:t>依据系统及元件各变量之间所遵循的物理或化学规律列写出相应的数学关系式，建立模型。</a:t>
            </a:r>
            <a:endParaRPr lang="zh-CN" altLang="en-US" sz="2800" dirty="0">
              <a:latin typeface="宋体" panose="02010600030101010101" pitchFamily="2" charset="-122"/>
              <a:ea typeface="宋体" panose="02010600030101010101" pitchFamily="2" charset="-122"/>
            </a:endParaRPr>
          </a:p>
        </p:txBody>
      </p:sp>
      <p:sp>
        <p:nvSpPr>
          <p:cNvPr id="9222" name="Text Box 6"/>
          <p:cNvSpPr txBox="1"/>
          <p:nvPr/>
        </p:nvSpPr>
        <p:spPr>
          <a:xfrm>
            <a:off x="1143000" y="3727450"/>
            <a:ext cx="7391400" cy="1020763"/>
          </a:xfrm>
          <a:prstGeom prst="rect">
            <a:avLst/>
          </a:prstGeom>
          <a:noFill/>
          <a:ln w="22225">
            <a:noFill/>
          </a:ln>
        </p:spPr>
        <p:txBody>
          <a:bodyPr anchor="t" anchorCtr="0">
            <a:spAutoFit/>
          </a:bodyPr>
          <a:lstStyle/>
          <a:p>
            <a:pPr>
              <a:lnSpc>
                <a:spcPct val="115000"/>
              </a:lnSpc>
            </a:pPr>
            <a:r>
              <a:rPr lang="zh-CN" altLang="en-US" sz="2800" dirty="0">
                <a:latin typeface="Times New Roman" panose="02020603050405020304" pitchFamily="18" charset="0"/>
                <a:ea typeface="宋体" panose="02010600030101010101" pitchFamily="2" charset="-122"/>
              </a:rPr>
              <a:t>人为地对系统施加某种测试信号，记录其输出响应，并用适当的数学模型进行逼近。</a:t>
            </a:r>
            <a:endParaRPr lang="zh-CN" altLang="en-US" sz="2800" dirty="0">
              <a:latin typeface="宋体" panose="02010600030101010101" pitchFamily="2" charset="-122"/>
              <a:ea typeface="宋体" panose="02010600030101010101" pitchFamily="2" charset="-122"/>
            </a:endParaRPr>
          </a:p>
        </p:txBody>
      </p:sp>
      <p:sp>
        <p:nvSpPr>
          <p:cNvPr id="9223" name="Text Box 7"/>
          <p:cNvSpPr txBox="1"/>
          <p:nvPr/>
        </p:nvSpPr>
        <p:spPr>
          <a:xfrm>
            <a:off x="1258888" y="5013325"/>
            <a:ext cx="7391400" cy="1073150"/>
          </a:xfrm>
          <a:prstGeom prst="rect">
            <a:avLst/>
          </a:prstGeom>
          <a:noFill/>
          <a:ln w="22225">
            <a:noFill/>
          </a:ln>
        </p:spPr>
        <p:txBody>
          <a:bodyPr anchor="t" anchorCtr="0">
            <a:spAutoFit/>
          </a:bodyPr>
          <a:lstStyle/>
          <a:p>
            <a:pPr>
              <a:lnSpc>
                <a:spcPct val="115000"/>
              </a:lnSpc>
            </a:pPr>
            <a:r>
              <a:rPr lang="zh-CN" altLang="en-US" sz="2800" b="1" dirty="0">
                <a:latin typeface="Times New Roman" panose="02020603050405020304" pitchFamily="18" charset="0"/>
                <a:ea typeface="宋体" panose="02010600030101010101" pitchFamily="2" charset="-122"/>
              </a:rPr>
              <a:t>数学模型应能反映系统内在的本质特征，同时应对模型的简洁性和精确性进行折衷考虑。</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 calcmode="lin" valueType="num">
                                      <p:cBhvr additive="base">
                                        <p:cTn id="7" dur="500" fill="hold"/>
                                        <p:tgtEl>
                                          <p:spTgt spid="9219"/>
                                        </p:tgtEl>
                                        <p:attrNameLst>
                                          <p:attrName>ppt_x</p:attrName>
                                        </p:attrNameLst>
                                      </p:cBhvr>
                                      <p:tavLst>
                                        <p:tav tm="0">
                                          <p:val>
                                            <p:strVal val="#ppt_x"/>
                                          </p:val>
                                        </p:tav>
                                        <p:tav tm="100000">
                                          <p:val>
                                            <p:strVal val="#ppt_x"/>
                                          </p:val>
                                        </p:tav>
                                      </p:tavLst>
                                    </p:anim>
                                    <p:anim calcmode="lin" valueType="num">
                                      <p:cBhvr additive="base">
                                        <p:cTn id="8" dur="500" fill="hold"/>
                                        <p:tgtEl>
                                          <p:spTgt spid="92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1"/>
                                        </p:tgtEl>
                                        <p:attrNameLst>
                                          <p:attrName>style.visibility</p:attrName>
                                        </p:attrNameLst>
                                      </p:cBhvr>
                                      <p:to>
                                        <p:strVal val="visible"/>
                                      </p:to>
                                    </p:set>
                                    <p:anim calcmode="lin" valueType="num">
                                      <p:cBhvr additive="base">
                                        <p:cTn id="13" dur="500" fill="hold"/>
                                        <p:tgtEl>
                                          <p:spTgt spid="9221"/>
                                        </p:tgtEl>
                                        <p:attrNameLst>
                                          <p:attrName>ppt_x</p:attrName>
                                        </p:attrNameLst>
                                      </p:cBhvr>
                                      <p:tavLst>
                                        <p:tav tm="0">
                                          <p:val>
                                            <p:strVal val="#ppt_x"/>
                                          </p:val>
                                        </p:tav>
                                        <p:tav tm="100000">
                                          <p:val>
                                            <p:strVal val="#ppt_x"/>
                                          </p:val>
                                        </p:tav>
                                      </p:tavLst>
                                    </p:anim>
                                    <p:anim calcmode="lin" valueType="num">
                                      <p:cBhvr additive="base">
                                        <p:cTn id="14"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20"/>
                                        </p:tgtEl>
                                        <p:attrNameLst>
                                          <p:attrName>style.visibility</p:attrName>
                                        </p:attrNameLst>
                                      </p:cBhvr>
                                      <p:to>
                                        <p:strVal val="visible"/>
                                      </p:to>
                                    </p:set>
                                    <p:anim calcmode="lin" valueType="num">
                                      <p:cBhvr additive="base">
                                        <p:cTn id="19" dur="500" fill="hold"/>
                                        <p:tgtEl>
                                          <p:spTgt spid="9220"/>
                                        </p:tgtEl>
                                        <p:attrNameLst>
                                          <p:attrName>ppt_x</p:attrName>
                                        </p:attrNameLst>
                                      </p:cBhvr>
                                      <p:tavLst>
                                        <p:tav tm="0">
                                          <p:val>
                                            <p:strVal val="#ppt_x"/>
                                          </p:val>
                                        </p:tav>
                                        <p:tav tm="100000">
                                          <p:val>
                                            <p:strVal val="#ppt_x"/>
                                          </p:val>
                                        </p:tav>
                                      </p:tavLst>
                                    </p:anim>
                                    <p:anim calcmode="lin" valueType="num">
                                      <p:cBhvr additive="base">
                                        <p:cTn id="20"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22"/>
                                        </p:tgtEl>
                                        <p:attrNameLst>
                                          <p:attrName>style.visibility</p:attrName>
                                        </p:attrNameLst>
                                      </p:cBhvr>
                                      <p:to>
                                        <p:strVal val="visible"/>
                                      </p:to>
                                    </p:set>
                                    <p:anim calcmode="lin" valueType="num">
                                      <p:cBhvr additive="base">
                                        <p:cTn id="25" dur="500" fill="hold"/>
                                        <p:tgtEl>
                                          <p:spTgt spid="9222"/>
                                        </p:tgtEl>
                                        <p:attrNameLst>
                                          <p:attrName>ppt_x</p:attrName>
                                        </p:attrNameLst>
                                      </p:cBhvr>
                                      <p:tavLst>
                                        <p:tav tm="0">
                                          <p:val>
                                            <p:strVal val="#ppt_x"/>
                                          </p:val>
                                        </p:tav>
                                        <p:tav tm="100000">
                                          <p:val>
                                            <p:strVal val="#ppt_x"/>
                                          </p:val>
                                        </p:tav>
                                      </p:tavLst>
                                    </p:anim>
                                    <p:anim calcmode="lin" valueType="num">
                                      <p:cBhvr additive="base">
                                        <p:cTn id="26"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23"/>
                                        </p:tgtEl>
                                        <p:attrNameLst>
                                          <p:attrName>style.visibility</p:attrName>
                                        </p:attrNameLst>
                                      </p:cBhvr>
                                      <p:to>
                                        <p:strVal val="visible"/>
                                      </p:to>
                                    </p:set>
                                    <p:anim calcmode="lin" valueType="num">
                                      <p:cBhvr additive="base">
                                        <p:cTn id="31" dur="500" fill="hold"/>
                                        <p:tgtEl>
                                          <p:spTgt spid="9223"/>
                                        </p:tgtEl>
                                        <p:attrNameLst>
                                          <p:attrName>ppt_x</p:attrName>
                                        </p:attrNameLst>
                                      </p:cBhvr>
                                      <p:tavLst>
                                        <p:tav tm="0">
                                          <p:val>
                                            <p:strVal val="#ppt_x"/>
                                          </p:val>
                                        </p:tav>
                                        <p:tav tm="100000">
                                          <p:val>
                                            <p:strVal val="#ppt_x"/>
                                          </p:val>
                                        </p:tav>
                                      </p:tavLst>
                                    </p:anim>
                                    <p:anim calcmode="lin" valueType="num">
                                      <p:cBhvr additive="base">
                                        <p:cTn id="32"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p:bldP spid="9221" grpId="0"/>
      <p:bldP spid="9222" grpId="0"/>
      <p:bldP spid="92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1945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10</a:t>
            </a:fld>
            <a:endParaRPr lang="en-US" altLang="zh-CN" sz="1200" dirty="0"/>
          </a:p>
        </p:txBody>
      </p:sp>
      <p:sp>
        <p:nvSpPr>
          <p:cNvPr id="19459" name="Text Box 3"/>
          <p:cNvSpPr txBox="1"/>
          <p:nvPr/>
        </p:nvSpPr>
        <p:spPr>
          <a:xfrm>
            <a:off x="1908175" y="692150"/>
            <a:ext cx="3416300" cy="646113"/>
          </a:xfrm>
          <a:prstGeom prst="rect">
            <a:avLst/>
          </a:prstGeom>
          <a:noFill/>
          <a:ln w="9525">
            <a:noFill/>
          </a:ln>
        </p:spPr>
        <p:txBody>
          <a:bodyPr wrap="none" anchor="t" anchorCtr="0">
            <a:spAutoFit/>
          </a:bodyPr>
          <a:lstStyle/>
          <a:p>
            <a:r>
              <a:rPr lang="zh-CN" altLang="en-US" sz="3600" dirty="0">
                <a:latin typeface="Times New Roman" panose="02020603050405020304" pitchFamily="18" charset="0"/>
                <a:ea typeface="华文新魏" panose="02010800040101010101" pitchFamily="2" charset="-122"/>
              </a:rPr>
              <a:t>第</a:t>
            </a:r>
            <a:r>
              <a:rPr lang="en-US" altLang="zh-CN" sz="3600" dirty="0">
                <a:latin typeface="Times New Roman" panose="02020603050405020304" pitchFamily="18" charset="0"/>
                <a:ea typeface="华文新魏" panose="02010800040101010101" pitchFamily="2" charset="-122"/>
              </a:rPr>
              <a:t>2</a:t>
            </a:r>
            <a:r>
              <a:rPr lang="zh-CN" altLang="en-US" sz="3600" dirty="0">
                <a:latin typeface="Times New Roman" panose="02020603050405020304" pitchFamily="18" charset="0"/>
                <a:ea typeface="华文新魏" panose="02010800040101010101" pitchFamily="2" charset="-122"/>
              </a:rPr>
              <a:t>章  数学模型</a:t>
            </a:r>
          </a:p>
        </p:txBody>
      </p:sp>
      <p:sp>
        <p:nvSpPr>
          <p:cNvPr id="19460" name="Rectangle 4"/>
          <p:cNvSpPr/>
          <p:nvPr/>
        </p:nvSpPr>
        <p:spPr>
          <a:xfrm>
            <a:off x="1981200" y="2209800"/>
            <a:ext cx="3775075" cy="674688"/>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2.2   </a:t>
            </a:r>
            <a:r>
              <a:rPr lang="zh-CN" altLang="en-US" sz="2800" dirty="0">
                <a:latin typeface="Times New Roman" panose="02020603050405020304" pitchFamily="18" charset="0"/>
                <a:ea typeface="黑体" panose="02010609060101010101" pitchFamily="49" charset="-122"/>
              </a:rPr>
              <a:t>拉氏变换和反变换</a:t>
            </a:r>
          </a:p>
        </p:txBody>
      </p:sp>
      <p:sp>
        <p:nvSpPr>
          <p:cNvPr id="19461" name="Rectangle 5"/>
          <p:cNvSpPr/>
          <p:nvPr/>
        </p:nvSpPr>
        <p:spPr>
          <a:xfrm>
            <a:off x="1981200" y="2757488"/>
            <a:ext cx="2338388" cy="608012"/>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2.3   </a:t>
            </a:r>
            <a:r>
              <a:rPr lang="zh-CN" altLang="en-US" sz="2800" dirty="0">
                <a:latin typeface="Times New Roman" panose="02020603050405020304" pitchFamily="18" charset="0"/>
                <a:ea typeface="黑体" panose="02010609060101010101" pitchFamily="49" charset="-122"/>
              </a:rPr>
              <a:t>传递函数</a:t>
            </a:r>
          </a:p>
        </p:txBody>
      </p:sp>
      <p:sp>
        <p:nvSpPr>
          <p:cNvPr id="19462" name="Rectangle 6"/>
          <p:cNvSpPr/>
          <p:nvPr/>
        </p:nvSpPr>
        <p:spPr>
          <a:xfrm>
            <a:off x="1981200" y="3967163"/>
            <a:ext cx="4852988" cy="523875"/>
          </a:xfrm>
          <a:prstGeom prst="rect">
            <a:avLst/>
          </a:prstGeom>
          <a:noFill/>
          <a:ln w="22225">
            <a:noFill/>
          </a:ln>
        </p:spPr>
        <p:txBody>
          <a:bodyPr wrap="none" anchor="t" anchorCtr="0">
            <a:spAutoFit/>
          </a:bodyPr>
          <a:lstStyle/>
          <a:p>
            <a:r>
              <a:rPr lang="en-US" altLang="zh-CN" sz="2800" dirty="0">
                <a:latin typeface="Times New Roman" panose="02020603050405020304" pitchFamily="18" charset="0"/>
                <a:ea typeface="黑体" panose="02010609060101010101" pitchFamily="49" charset="-122"/>
              </a:rPr>
              <a:t>2.5   </a:t>
            </a:r>
            <a:r>
              <a:rPr lang="zh-CN" altLang="en-US" sz="2800" dirty="0">
                <a:latin typeface="Times New Roman" panose="02020603050405020304" pitchFamily="18" charset="0"/>
                <a:ea typeface="黑体" panose="02010609060101010101" pitchFamily="49" charset="-122"/>
              </a:rPr>
              <a:t>非线性数学模型的线性化</a:t>
            </a:r>
          </a:p>
        </p:txBody>
      </p:sp>
      <p:sp>
        <p:nvSpPr>
          <p:cNvPr id="19463" name="Rectangle 7"/>
          <p:cNvSpPr/>
          <p:nvPr/>
        </p:nvSpPr>
        <p:spPr>
          <a:xfrm>
            <a:off x="1979613" y="3330575"/>
            <a:ext cx="4494212" cy="674688"/>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2.4   </a:t>
            </a:r>
            <a:r>
              <a:rPr lang="zh-CN" altLang="en-US" sz="2800" dirty="0">
                <a:latin typeface="Times New Roman" panose="02020603050405020304" pitchFamily="18" charset="0"/>
                <a:ea typeface="黑体" panose="02010609060101010101" pitchFamily="49" charset="-122"/>
              </a:rPr>
              <a:t>系统方框图和信号流图</a:t>
            </a:r>
          </a:p>
        </p:txBody>
      </p:sp>
      <p:sp>
        <p:nvSpPr>
          <p:cNvPr id="19464" name="Rectangle 8"/>
          <p:cNvSpPr/>
          <p:nvPr/>
        </p:nvSpPr>
        <p:spPr>
          <a:xfrm>
            <a:off x="1981200" y="4405313"/>
            <a:ext cx="5211763" cy="674687"/>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2.6   </a:t>
            </a:r>
            <a:r>
              <a:rPr lang="zh-CN" altLang="en-US" sz="2800" dirty="0">
                <a:latin typeface="Times New Roman" panose="02020603050405020304" pitchFamily="18" charset="0"/>
                <a:ea typeface="黑体" panose="02010609060101010101" pitchFamily="49" charset="-122"/>
              </a:rPr>
              <a:t>控制系统传递函数推导举例</a:t>
            </a:r>
          </a:p>
        </p:txBody>
      </p:sp>
      <p:sp>
        <p:nvSpPr>
          <p:cNvPr id="19465" name="Rectangle 11"/>
          <p:cNvSpPr/>
          <p:nvPr/>
        </p:nvSpPr>
        <p:spPr>
          <a:xfrm>
            <a:off x="1981200" y="1676400"/>
            <a:ext cx="4852988" cy="608013"/>
          </a:xfrm>
          <a:prstGeom prst="rect">
            <a:avLst/>
          </a:prstGeom>
          <a:noFill/>
          <a:ln w="22225">
            <a:noFill/>
          </a:ln>
        </p:spPr>
        <p:txBody>
          <a:bodyPr wrap="none" anchor="t" anchorCtr="0">
            <a:spAutoFit/>
          </a:bodyPr>
          <a:lstStyle/>
          <a:p>
            <a:pPr>
              <a:lnSpc>
                <a:spcPct val="135000"/>
              </a:lnSpc>
            </a:pPr>
            <a:r>
              <a:rPr lang="en-US" altLang="zh-CN" sz="2800" dirty="0">
                <a:solidFill>
                  <a:srgbClr val="FF0000"/>
                </a:solidFill>
                <a:latin typeface="Times New Roman" panose="02020603050405020304" pitchFamily="18" charset="0"/>
                <a:ea typeface="黑体" panose="02010609060101010101" pitchFamily="49" charset="-122"/>
              </a:rPr>
              <a:t>2.1   </a:t>
            </a:r>
            <a:r>
              <a:rPr lang="zh-CN" altLang="en-US" sz="2800" dirty="0">
                <a:solidFill>
                  <a:srgbClr val="FF0000"/>
                </a:solidFill>
                <a:latin typeface="Times New Roman" panose="02020603050405020304" pitchFamily="18" charset="0"/>
                <a:ea typeface="黑体" panose="02010609060101010101" pitchFamily="49" charset="-122"/>
              </a:rPr>
              <a:t>控制系统的运动微分方程</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日期占位符 8"/>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21506" name="灯片编号占位符 10"/>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11</a:t>
            </a:fld>
            <a:endParaRPr lang="en-US" altLang="zh-CN" sz="1200" dirty="0"/>
          </a:p>
        </p:txBody>
      </p:sp>
      <p:sp>
        <p:nvSpPr>
          <p:cNvPr id="10284" name="Rectangle 44"/>
          <p:cNvSpPr/>
          <p:nvPr/>
        </p:nvSpPr>
        <p:spPr>
          <a:xfrm>
            <a:off x="609600" y="1131888"/>
            <a:ext cx="4556125" cy="520700"/>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建立数学模型的一般步骤 </a:t>
            </a:r>
          </a:p>
        </p:txBody>
      </p:sp>
      <p:sp>
        <p:nvSpPr>
          <p:cNvPr id="10285" name="Text Box 45"/>
          <p:cNvSpPr txBox="1"/>
          <p:nvPr/>
        </p:nvSpPr>
        <p:spPr>
          <a:xfrm>
            <a:off x="1219200" y="1941513"/>
            <a:ext cx="7315200" cy="1073150"/>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分析系统工作原理和信号传递变换的过程，</a:t>
            </a:r>
          </a:p>
          <a:p>
            <a:pPr>
              <a:lnSpc>
                <a:spcPct val="115000"/>
              </a:lnSpc>
            </a:pPr>
            <a:r>
              <a:rPr lang="zh-CN" altLang="en-US" sz="2800" dirty="0">
                <a:latin typeface="宋体" panose="02010600030101010101" pitchFamily="2" charset="-122"/>
                <a:ea typeface="宋体" panose="02010600030101010101" pitchFamily="2" charset="-122"/>
              </a:rPr>
              <a:t>  确定系统和各元件的输入、输出量；</a:t>
            </a:r>
            <a:r>
              <a:rPr lang="zh-CN" altLang="en-US" sz="2800" dirty="0">
                <a:latin typeface="Times New Roman" panose="02020603050405020304" pitchFamily="18" charset="0"/>
                <a:ea typeface="宋体" panose="02010600030101010101" pitchFamily="2" charset="-122"/>
              </a:rPr>
              <a:t> </a:t>
            </a:r>
          </a:p>
        </p:txBody>
      </p:sp>
      <p:sp>
        <p:nvSpPr>
          <p:cNvPr id="10288" name="Text Box 48"/>
          <p:cNvSpPr txBox="1"/>
          <p:nvPr/>
        </p:nvSpPr>
        <p:spPr>
          <a:xfrm>
            <a:off x="1192213" y="2990850"/>
            <a:ext cx="7315200" cy="1563688"/>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从输入端开始，按照信号传递变换过程，依</a:t>
            </a:r>
          </a:p>
          <a:p>
            <a:pPr>
              <a:lnSpc>
                <a:spcPct val="115000"/>
              </a:lnSpc>
            </a:pPr>
            <a:r>
              <a:rPr lang="zh-CN" altLang="en-US" sz="2800" dirty="0">
                <a:latin typeface="宋体" panose="02010600030101010101" pitchFamily="2" charset="-122"/>
                <a:ea typeface="宋体" panose="02010600030101010101" pitchFamily="2" charset="-122"/>
              </a:rPr>
              <a:t>  据各变量遵循的物理学定律，依次列写出各</a:t>
            </a:r>
          </a:p>
          <a:p>
            <a:pPr>
              <a:lnSpc>
                <a:spcPct val="115000"/>
              </a:lnSpc>
            </a:pPr>
            <a:r>
              <a:rPr lang="zh-CN" altLang="en-US" sz="2800" dirty="0">
                <a:latin typeface="宋体" panose="02010600030101010101" pitchFamily="2" charset="-122"/>
                <a:ea typeface="宋体" panose="02010600030101010101" pitchFamily="2" charset="-122"/>
              </a:rPr>
              <a:t>  元件、部件的动态微分方程； </a:t>
            </a:r>
          </a:p>
        </p:txBody>
      </p:sp>
      <p:sp>
        <p:nvSpPr>
          <p:cNvPr id="10289" name="Text Box 49"/>
          <p:cNvSpPr txBox="1"/>
          <p:nvPr/>
        </p:nvSpPr>
        <p:spPr>
          <a:xfrm>
            <a:off x="1192213" y="4522788"/>
            <a:ext cx="7315200" cy="1073150"/>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消去中间变量，得到描述元件或系统输入、</a:t>
            </a:r>
          </a:p>
          <a:p>
            <a:pPr>
              <a:lnSpc>
                <a:spcPct val="115000"/>
              </a:lnSpc>
            </a:pPr>
            <a:r>
              <a:rPr lang="zh-CN" altLang="en-US" sz="2800" dirty="0">
                <a:latin typeface="宋体" panose="02010600030101010101" pitchFamily="2" charset="-122"/>
                <a:ea typeface="宋体" panose="02010600030101010101" pitchFamily="2" charset="-122"/>
              </a:rPr>
              <a:t>  输出变量之间关系的微分方程； </a:t>
            </a:r>
          </a:p>
        </p:txBody>
      </p:sp>
      <p:sp>
        <p:nvSpPr>
          <p:cNvPr id="10290" name="Text Box 50"/>
          <p:cNvSpPr txBox="1"/>
          <p:nvPr/>
        </p:nvSpPr>
        <p:spPr>
          <a:xfrm>
            <a:off x="1176338" y="5629275"/>
            <a:ext cx="7315200" cy="582613"/>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标准化：右端输入，左端输出，导数降幂排</a:t>
            </a:r>
          </a:p>
        </p:txBody>
      </p:sp>
      <p:sp>
        <p:nvSpPr>
          <p:cNvPr id="21512" name="Rectangle 5"/>
          <p:cNvSpPr/>
          <p:nvPr/>
        </p:nvSpPr>
        <p:spPr>
          <a:xfrm>
            <a:off x="209550" y="298450"/>
            <a:ext cx="4762500" cy="674688"/>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2.1  </a:t>
            </a:r>
            <a:r>
              <a:rPr lang="zh-CN" altLang="en-US" sz="2800" dirty="0">
                <a:latin typeface="Times New Roman" panose="02020603050405020304" pitchFamily="18" charset="0"/>
                <a:ea typeface="黑体" panose="02010609060101010101" pitchFamily="49" charset="-122"/>
              </a:rPr>
              <a:t>控制系统的运动微分方程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84"/>
                                        </p:tgtEl>
                                        <p:attrNameLst>
                                          <p:attrName>style.visibility</p:attrName>
                                        </p:attrNameLst>
                                      </p:cBhvr>
                                      <p:to>
                                        <p:strVal val="visible"/>
                                      </p:to>
                                    </p:set>
                                    <p:anim calcmode="lin" valueType="num">
                                      <p:cBhvr additive="base">
                                        <p:cTn id="7" dur="500" fill="hold"/>
                                        <p:tgtEl>
                                          <p:spTgt spid="10284"/>
                                        </p:tgtEl>
                                        <p:attrNameLst>
                                          <p:attrName>ppt_x</p:attrName>
                                        </p:attrNameLst>
                                      </p:cBhvr>
                                      <p:tavLst>
                                        <p:tav tm="0">
                                          <p:val>
                                            <p:strVal val="#ppt_x"/>
                                          </p:val>
                                        </p:tav>
                                        <p:tav tm="100000">
                                          <p:val>
                                            <p:strVal val="#ppt_x"/>
                                          </p:val>
                                        </p:tav>
                                      </p:tavLst>
                                    </p:anim>
                                    <p:anim calcmode="lin" valueType="num">
                                      <p:cBhvr additive="base">
                                        <p:cTn id="8" dur="500" fill="hold"/>
                                        <p:tgtEl>
                                          <p:spTgt spid="102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85"/>
                                        </p:tgtEl>
                                        <p:attrNameLst>
                                          <p:attrName>style.visibility</p:attrName>
                                        </p:attrNameLst>
                                      </p:cBhvr>
                                      <p:to>
                                        <p:strVal val="visible"/>
                                      </p:to>
                                    </p:set>
                                    <p:anim calcmode="lin" valueType="num">
                                      <p:cBhvr additive="base">
                                        <p:cTn id="13" dur="500" fill="hold"/>
                                        <p:tgtEl>
                                          <p:spTgt spid="10285"/>
                                        </p:tgtEl>
                                        <p:attrNameLst>
                                          <p:attrName>ppt_x</p:attrName>
                                        </p:attrNameLst>
                                      </p:cBhvr>
                                      <p:tavLst>
                                        <p:tav tm="0">
                                          <p:val>
                                            <p:strVal val="#ppt_x"/>
                                          </p:val>
                                        </p:tav>
                                        <p:tav tm="100000">
                                          <p:val>
                                            <p:strVal val="#ppt_x"/>
                                          </p:val>
                                        </p:tav>
                                      </p:tavLst>
                                    </p:anim>
                                    <p:anim calcmode="lin" valueType="num">
                                      <p:cBhvr additive="base">
                                        <p:cTn id="14" dur="500" fill="hold"/>
                                        <p:tgtEl>
                                          <p:spTgt spid="1028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88"/>
                                        </p:tgtEl>
                                        <p:attrNameLst>
                                          <p:attrName>style.visibility</p:attrName>
                                        </p:attrNameLst>
                                      </p:cBhvr>
                                      <p:to>
                                        <p:strVal val="visible"/>
                                      </p:to>
                                    </p:set>
                                    <p:anim calcmode="lin" valueType="num">
                                      <p:cBhvr additive="base">
                                        <p:cTn id="19" dur="500" fill="hold"/>
                                        <p:tgtEl>
                                          <p:spTgt spid="10288"/>
                                        </p:tgtEl>
                                        <p:attrNameLst>
                                          <p:attrName>ppt_x</p:attrName>
                                        </p:attrNameLst>
                                      </p:cBhvr>
                                      <p:tavLst>
                                        <p:tav tm="0">
                                          <p:val>
                                            <p:strVal val="#ppt_x"/>
                                          </p:val>
                                        </p:tav>
                                        <p:tav tm="100000">
                                          <p:val>
                                            <p:strVal val="#ppt_x"/>
                                          </p:val>
                                        </p:tav>
                                      </p:tavLst>
                                    </p:anim>
                                    <p:anim calcmode="lin" valueType="num">
                                      <p:cBhvr additive="base">
                                        <p:cTn id="20" dur="500" fill="hold"/>
                                        <p:tgtEl>
                                          <p:spTgt spid="102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89"/>
                                        </p:tgtEl>
                                        <p:attrNameLst>
                                          <p:attrName>style.visibility</p:attrName>
                                        </p:attrNameLst>
                                      </p:cBhvr>
                                      <p:to>
                                        <p:strVal val="visible"/>
                                      </p:to>
                                    </p:set>
                                    <p:anim calcmode="lin" valueType="num">
                                      <p:cBhvr additive="base">
                                        <p:cTn id="25" dur="500" fill="hold"/>
                                        <p:tgtEl>
                                          <p:spTgt spid="10289"/>
                                        </p:tgtEl>
                                        <p:attrNameLst>
                                          <p:attrName>ppt_x</p:attrName>
                                        </p:attrNameLst>
                                      </p:cBhvr>
                                      <p:tavLst>
                                        <p:tav tm="0">
                                          <p:val>
                                            <p:strVal val="#ppt_x"/>
                                          </p:val>
                                        </p:tav>
                                        <p:tav tm="100000">
                                          <p:val>
                                            <p:strVal val="#ppt_x"/>
                                          </p:val>
                                        </p:tav>
                                      </p:tavLst>
                                    </p:anim>
                                    <p:anim calcmode="lin" valueType="num">
                                      <p:cBhvr additive="base">
                                        <p:cTn id="26" dur="500" fill="hold"/>
                                        <p:tgtEl>
                                          <p:spTgt spid="1028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290"/>
                                        </p:tgtEl>
                                        <p:attrNameLst>
                                          <p:attrName>style.visibility</p:attrName>
                                        </p:attrNameLst>
                                      </p:cBhvr>
                                      <p:to>
                                        <p:strVal val="visible"/>
                                      </p:to>
                                    </p:set>
                                    <p:anim calcmode="lin" valueType="num">
                                      <p:cBhvr additive="base">
                                        <p:cTn id="31" dur="500" fill="hold"/>
                                        <p:tgtEl>
                                          <p:spTgt spid="10290"/>
                                        </p:tgtEl>
                                        <p:attrNameLst>
                                          <p:attrName>ppt_x</p:attrName>
                                        </p:attrNameLst>
                                      </p:cBhvr>
                                      <p:tavLst>
                                        <p:tav tm="0">
                                          <p:val>
                                            <p:strVal val="#ppt_x"/>
                                          </p:val>
                                        </p:tav>
                                        <p:tav tm="100000">
                                          <p:val>
                                            <p:strVal val="#ppt_x"/>
                                          </p:val>
                                        </p:tav>
                                      </p:tavLst>
                                    </p:anim>
                                    <p:anim calcmode="lin" valueType="num">
                                      <p:cBhvr additive="base">
                                        <p:cTn id="32" dur="500" fill="hold"/>
                                        <p:tgtEl>
                                          <p:spTgt spid="10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4" grpId="0"/>
      <p:bldP spid="10285" grpId="0"/>
      <p:bldP spid="10288" grpId="0"/>
      <p:bldP spid="10289" grpId="0"/>
      <p:bldP spid="1029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22530"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12</a:t>
            </a:fld>
            <a:endParaRPr lang="en-US" altLang="zh-CN" sz="1200" dirty="0"/>
          </a:p>
        </p:txBody>
      </p:sp>
      <p:sp>
        <p:nvSpPr>
          <p:cNvPr id="22531" name="Rectangle 2"/>
          <p:cNvSpPr/>
          <p:nvPr/>
        </p:nvSpPr>
        <p:spPr>
          <a:xfrm>
            <a:off x="990600" y="852488"/>
            <a:ext cx="4492625" cy="523875"/>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dirty="0">
                <a:latin typeface="Times New Roman" panose="02020603050405020304" pitchFamily="18" charset="0"/>
                <a:ea typeface="黑体" panose="02010609060101010101" pitchFamily="49" charset="-122"/>
              </a:rPr>
              <a:t> </a:t>
            </a:r>
            <a:r>
              <a:rPr lang="zh-CN" altLang="en-US" sz="2800" dirty="0">
                <a:latin typeface="Times New Roman" panose="02020603050405020304" pitchFamily="18" charset="0"/>
                <a:ea typeface="黑体" panose="02010609060101010101" pitchFamily="49" charset="-122"/>
              </a:rPr>
              <a:t>控制系统微分方程的列写</a:t>
            </a:r>
            <a:endParaRPr lang="zh-CN" altLang="en-US" sz="2800" b="1" dirty="0">
              <a:latin typeface="宋体" panose="02010600030101010101" pitchFamily="2" charset="-122"/>
              <a:ea typeface="宋体" panose="02010600030101010101" pitchFamily="2" charset="-122"/>
            </a:endParaRPr>
          </a:p>
        </p:txBody>
      </p:sp>
      <p:sp>
        <p:nvSpPr>
          <p:cNvPr id="12291" name="Text Box 3"/>
          <p:cNvSpPr txBox="1"/>
          <p:nvPr/>
        </p:nvSpPr>
        <p:spPr>
          <a:xfrm>
            <a:off x="1187450" y="1557338"/>
            <a:ext cx="7315200" cy="58261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机械系统</a:t>
            </a:r>
            <a:endParaRPr lang="zh-CN" altLang="en-US" sz="2800" dirty="0">
              <a:latin typeface="Times New Roman" panose="02020603050405020304" pitchFamily="18" charset="0"/>
              <a:ea typeface="宋体" panose="02010600030101010101" pitchFamily="2" charset="-122"/>
            </a:endParaRPr>
          </a:p>
        </p:txBody>
      </p:sp>
      <p:sp>
        <p:nvSpPr>
          <p:cNvPr id="12292" name="Text Box 4"/>
          <p:cNvSpPr txBox="1"/>
          <p:nvPr/>
        </p:nvSpPr>
        <p:spPr>
          <a:xfrm>
            <a:off x="1187450" y="2051050"/>
            <a:ext cx="7423150" cy="1073150"/>
          </a:xfrm>
          <a:prstGeom prst="rect">
            <a:avLst/>
          </a:prstGeom>
          <a:noFill/>
          <a:ln w="9525">
            <a:noFill/>
          </a:ln>
        </p:spPr>
        <p:txBody>
          <a:bodyPr anchor="t" anchorCtr="0">
            <a:spAutoFit/>
          </a:bodyPr>
          <a:lstStyle/>
          <a:p>
            <a:pPr>
              <a:lnSpc>
                <a:spcPct val="115000"/>
              </a:lnSpc>
            </a:pPr>
            <a:r>
              <a:rPr lang="zh-CN" altLang="en-US" sz="2800" dirty="0">
                <a:latin typeface="Times New Roman" panose="02020603050405020304" pitchFamily="18" charset="0"/>
                <a:ea typeface="宋体" panose="02010600030101010101" pitchFamily="2" charset="-122"/>
              </a:rPr>
              <a:t>机械系统中以各种形式出现的物理现象，都可简化为质量、弹簧和阻尼三个要素：</a:t>
            </a:r>
          </a:p>
        </p:txBody>
      </p:sp>
      <p:sp>
        <p:nvSpPr>
          <p:cNvPr id="57352" name="Rectangle 2"/>
          <p:cNvSpPr/>
          <p:nvPr/>
        </p:nvSpPr>
        <p:spPr>
          <a:xfrm>
            <a:off x="1187450" y="3357563"/>
            <a:ext cx="2724150" cy="519112"/>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机械平移系统</a:t>
            </a:r>
          </a:p>
        </p:txBody>
      </p:sp>
      <p:sp>
        <p:nvSpPr>
          <p:cNvPr id="57353" name="Rectangle 2"/>
          <p:cNvSpPr/>
          <p:nvPr/>
        </p:nvSpPr>
        <p:spPr>
          <a:xfrm>
            <a:off x="1187450" y="4292600"/>
            <a:ext cx="2724150" cy="519113"/>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机械旋转系统</a:t>
            </a:r>
          </a:p>
        </p:txBody>
      </p:sp>
      <p:sp>
        <p:nvSpPr>
          <p:cNvPr id="2" name="文本框 1"/>
          <p:cNvSpPr txBox="1"/>
          <p:nvPr/>
        </p:nvSpPr>
        <p:spPr>
          <a:xfrm>
            <a:off x="6948805" y="2708910"/>
            <a:ext cx="1706880" cy="460375"/>
          </a:xfrm>
          <a:prstGeom prst="rect">
            <a:avLst/>
          </a:prstGeom>
          <a:noFill/>
        </p:spPr>
        <p:txBody>
          <a:bodyPr wrap="none" rtlCol="0">
            <a:spAutoFit/>
          </a:bodyPr>
          <a:lstStyle/>
          <a:p>
            <a:r>
              <a:rPr lang="zh-CN" altLang="en-US" sz="2400">
                <a:solidFill>
                  <a:srgbClr val="FF0000"/>
                </a:solidFill>
              </a:rPr>
              <a:t>画法？力？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additive="base">
                                        <p:cTn id="7" dur="500" fill="hold"/>
                                        <p:tgtEl>
                                          <p:spTgt spid="12291"/>
                                        </p:tgtEl>
                                        <p:attrNameLst>
                                          <p:attrName>ppt_x</p:attrName>
                                        </p:attrNameLst>
                                      </p:cBhvr>
                                      <p:tavLst>
                                        <p:tav tm="0">
                                          <p:val>
                                            <p:strVal val="#ppt_x"/>
                                          </p:val>
                                        </p:tav>
                                        <p:tav tm="100000">
                                          <p:val>
                                            <p:strVal val="#ppt_x"/>
                                          </p:val>
                                        </p:tav>
                                      </p:tavLst>
                                    </p:anim>
                                    <p:anim calcmode="lin" valueType="num">
                                      <p:cBhvr additive="base">
                                        <p:cTn id="8"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2"/>
                                        </p:tgtEl>
                                        <p:attrNameLst>
                                          <p:attrName>style.visibility</p:attrName>
                                        </p:attrNameLst>
                                      </p:cBhvr>
                                      <p:to>
                                        <p:strVal val="visible"/>
                                      </p:to>
                                    </p:set>
                                    <p:anim calcmode="lin" valueType="num">
                                      <p:cBhvr additive="base">
                                        <p:cTn id="13" dur="500" fill="hold"/>
                                        <p:tgtEl>
                                          <p:spTgt spid="12292"/>
                                        </p:tgtEl>
                                        <p:attrNameLst>
                                          <p:attrName>ppt_x</p:attrName>
                                        </p:attrNameLst>
                                      </p:cBhvr>
                                      <p:tavLst>
                                        <p:tav tm="0">
                                          <p:val>
                                            <p:strVal val="#ppt_x"/>
                                          </p:val>
                                        </p:tav>
                                        <p:tav tm="100000">
                                          <p:val>
                                            <p:strVal val="#ppt_x"/>
                                          </p:val>
                                        </p:tav>
                                      </p:tavLst>
                                    </p:anim>
                                    <p:anim calcmode="lin" valueType="num">
                                      <p:cBhvr additive="base">
                                        <p:cTn id="14" dur="500" fill="hold"/>
                                        <p:tgtEl>
                                          <p:spTgt spid="122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73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p:bldP spid="57352" grpId="0"/>
      <p:bldP spid="57353"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2457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13</a:t>
            </a:fld>
            <a:endParaRPr lang="en-US" altLang="zh-CN" sz="1200" dirty="0"/>
          </a:p>
        </p:txBody>
      </p:sp>
      <p:graphicFrame>
        <p:nvGraphicFramePr>
          <p:cNvPr id="15363" name="Object 3"/>
          <p:cNvGraphicFramePr>
            <a:graphicFrameLocks noChangeAspect="1"/>
          </p:cNvGraphicFramePr>
          <p:nvPr/>
        </p:nvGraphicFramePr>
        <p:xfrm>
          <a:off x="4572000" y="3657600"/>
          <a:ext cx="4343400" cy="2343150"/>
        </p:xfrm>
        <a:graphic>
          <a:graphicData uri="http://schemas.openxmlformats.org/presentationml/2006/ole">
            <mc:AlternateContent xmlns:mc="http://schemas.openxmlformats.org/markup-compatibility/2006">
              <mc:Choice xmlns:v="urn:schemas-microsoft-com:vml" Requires="v">
                <p:oleObj spid="_x0000_s7176" r:id="rId4" imgW="2120900" imgH="1117600" progId="Equation.3">
                  <p:embed/>
                </p:oleObj>
              </mc:Choice>
              <mc:Fallback>
                <p:oleObj r:id="rId4" imgW="2120900" imgH="1117600" progId="Equation.3">
                  <p:embed/>
                  <p:pic>
                    <p:nvPicPr>
                      <p:cNvPr id="0" name="图片 3075"/>
                      <p:cNvPicPr/>
                      <p:nvPr/>
                    </p:nvPicPr>
                    <p:blipFill>
                      <a:blip r:embed="rId5"/>
                      <a:stretch>
                        <a:fillRect/>
                      </a:stretch>
                    </p:blipFill>
                    <p:spPr>
                      <a:xfrm>
                        <a:off x="4572000" y="3657600"/>
                        <a:ext cx="4343400" cy="2343150"/>
                      </a:xfrm>
                      <a:prstGeom prst="rect">
                        <a:avLst/>
                      </a:prstGeom>
                      <a:solidFill>
                        <a:srgbClr val="FFFFFF"/>
                      </a:solidFill>
                      <a:ln w="38100">
                        <a:noFill/>
                        <a:miter/>
                      </a:ln>
                    </p:spPr>
                  </p:pic>
                </p:oleObj>
              </mc:Fallback>
            </mc:AlternateContent>
          </a:graphicData>
        </a:graphic>
      </p:graphicFrame>
      <p:grpSp>
        <p:nvGrpSpPr>
          <p:cNvPr id="2" name="Group 4"/>
          <p:cNvGrpSpPr/>
          <p:nvPr/>
        </p:nvGrpSpPr>
        <p:grpSpPr>
          <a:xfrm>
            <a:off x="304800" y="1828800"/>
            <a:ext cx="4427538" cy="4221163"/>
            <a:chOff x="192" y="1152"/>
            <a:chExt cx="2789" cy="2659"/>
          </a:xfrm>
        </p:grpSpPr>
        <p:sp>
          <p:nvSpPr>
            <p:cNvPr id="24581" name="Rectangle 5"/>
            <p:cNvSpPr/>
            <p:nvPr/>
          </p:nvSpPr>
          <p:spPr>
            <a:xfrm>
              <a:off x="385" y="1580"/>
              <a:ext cx="708" cy="468"/>
            </a:xfrm>
            <a:prstGeom prst="rect">
              <a:avLst/>
            </a:prstGeom>
            <a:noFill/>
            <a:ln w="31750"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24582" name="Freeform 6"/>
            <p:cNvSpPr/>
            <p:nvPr/>
          </p:nvSpPr>
          <p:spPr>
            <a:xfrm>
              <a:off x="503" y="2437"/>
              <a:ext cx="139" cy="468"/>
            </a:xfrm>
            <a:custGeom>
              <a:avLst/>
              <a:gdLst/>
              <a:ahLst/>
              <a:cxnLst>
                <a:cxn ang="0">
                  <a:pos x="75" y="0"/>
                </a:cxn>
                <a:cxn ang="0">
                  <a:pos x="11" y="39"/>
                </a:cxn>
                <a:cxn ang="0">
                  <a:pos x="139" y="117"/>
                </a:cxn>
                <a:cxn ang="0">
                  <a:pos x="11" y="156"/>
                </a:cxn>
                <a:cxn ang="0">
                  <a:pos x="139" y="234"/>
                </a:cxn>
                <a:cxn ang="0">
                  <a:pos x="11" y="273"/>
                </a:cxn>
                <a:cxn ang="0">
                  <a:pos x="139" y="351"/>
                </a:cxn>
                <a:cxn ang="0">
                  <a:pos x="11" y="390"/>
                </a:cxn>
                <a:cxn ang="0">
                  <a:pos x="75" y="468"/>
                </a:cxn>
              </a:cxnLst>
              <a:rect l="0" t="0" r="0" b="0"/>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cap="flat" cmpd="sng">
              <a:solidFill>
                <a:schemeClr val="tx1"/>
              </a:solidFill>
              <a:prstDash val="solid"/>
              <a:round/>
              <a:headEnd type="none" w="med" len="med"/>
              <a:tailEnd type="none" w="med" len="med"/>
            </a:ln>
          </p:spPr>
          <p:txBody>
            <a:bodyPr/>
            <a:lstStyle/>
            <a:p>
              <a:endParaRPr lang="zh-CN" altLang="en-US"/>
            </a:p>
          </p:txBody>
        </p:sp>
        <p:sp>
          <p:nvSpPr>
            <p:cNvPr id="24583" name="Line 7"/>
            <p:cNvSpPr/>
            <p:nvPr/>
          </p:nvSpPr>
          <p:spPr>
            <a:xfrm flipV="1">
              <a:off x="578" y="2048"/>
              <a:ext cx="0" cy="389"/>
            </a:xfrm>
            <a:prstGeom prst="line">
              <a:avLst/>
            </a:prstGeom>
            <a:ln w="31750" cap="flat" cmpd="sng">
              <a:solidFill>
                <a:schemeClr val="tx1"/>
              </a:solidFill>
              <a:prstDash val="solid"/>
              <a:round/>
              <a:headEnd type="none" w="med" len="med"/>
              <a:tailEnd type="none" w="med" len="med"/>
            </a:ln>
          </p:spPr>
        </p:sp>
        <p:sp>
          <p:nvSpPr>
            <p:cNvPr id="24584" name="Line 8"/>
            <p:cNvSpPr/>
            <p:nvPr/>
          </p:nvSpPr>
          <p:spPr>
            <a:xfrm>
              <a:off x="578" y="2905"/>
              <a:ext cx="0" cy="350"/>
            </a:xfrm>
            <a:prstGeom prst="line">
              <a:avLst/>
            </a:prstGeom>
            <a:ln w="31750" cap="flat" cmpd="sng">
              <a:solidFill>
                <a:schemeClr val="tx1"/>
              </a:solidFill>
              <a:prstDash val="solid"/>
              <a:round/>
              <a:headEnd type="none" w="med" len="med"/>
              <a:tailEnd type="none" w="med" len="med"/>
            </a:ln>
          </p:spPr>
        </p:sp>
        <p:sp>
          <p:nvSpPr>
            <p:cNvPr id="24585" name="Line 9"/>
            <p:cNvSpPr/>
            <p:nvPr/>
          </p:nvSpPr>
          <p:spPr>
            <a:xfrm>
              <a:off x="867" y="2048"/>
              <a:ext cx="1" cy="662"/>
            </a:xfrm>
            <a:prstGeom prst="line">
              <a:avLst/>
            </a:prstGeom>
            <a:ln w="31750" cap="flat" cmpd="sng">
              <a:solidFill>
                <a:schemeClr val="tx1"/>
              </a:solidFill>
              <a:prstDash val="solid"/>
              <a:round/>
              <a:headEnd type="none" w="med" len="med"/>
              <a:tailEnd type="none" w="med" len="med"/>
            </a:ln>
          </p:spPr>
        </p:sp>
        <p:sp>
          <p:nvSpPr>
            <p:cNvPr id="24586" name="Line 10"/>
            <p:cNvSpPr/>
            <p:nvPr/>
          </p:nvSpPr>
          <p:spPr>
            <a:xfrm>
              <a:off x="803" y="2710"/>
              <a:ext cx="129" cy="1"/>
            </a:xfrm>
            <a:prstGeom prst="line">
              <a:avLst/>
            </a:prstGeom>
            <a:ln w="31750" cap="flat" cmpd="sng">
              <a:solidFill>
                <a:schemeClr val="tx1"/>
              </a:solidFill>
              <a:prstDash val="solid"/>
              <a:round/>
              <a:headEnd type="none" w="med" len="med"/>
              <a:tailEnd type="none" w="med" len="med"/>
            </a:ln>
          </p:spPr>
        </p:sp>
        <p:sp>
          <p:nvSpPr>
            <p:cNvPr id="24587" name="Line 11"/>
            <p:cNvSpPr/>
            <p:nvPr/>
          </p:nvSpPr>
          <p:spPr>
            <a:xfrm>
              <a:off x="771" y="2671"/>
              <a:ext cx="0" cy="117"/>
            </a:xfrm>
            <a:prstGeom prst="line">
              <a:avLst/>
            </a:prstGeom>
            <a:ln w="31750" cap="flat" cmpd="sng">
              <a:solidFill>
                <a:schemeClr val="tx1"/>
              </a:solidFill>
              <a:prstDash val="solid"/>
              <a:round/>
              <a:headEnd type="none" w="med" len="med"/>
              <a:tailEnd type="none" w="med" len="med"/>
            </a:ln>
          </p:spPr>
        </p:sp>
        <p:sp>
          <p:nvSpPr>
            <p:cNvPr id="24588" name="Line 12"/>
            <p:cNvSpPr/>
            <p:nvPr/>
          </p:nvSpPr>
          <p:spPr>
            <a:xfrm>
              <a:off x="771" y="2788"/>
              <a:ext cx="193" cy="1"/>
            </a:xfrm>
            <a:prstGeom prst="line">
              <a:avLst/>
            </a:prstGeom>
            <a:ln w="31750" cap="flat" cmpd="sng">
              <a:solidFill>
                <a:schemeClr val="tx1"/>
              </a:solidFill>
              <a:prstDash val="solid"/>
              <a:round/>
              <a:headEnd type="none" w="med" len="med"/>
              <a:tailEnd type="none" w="med" len="med"/>
            </a:ln>
          </p:spPr>
        </p:sp>
        <p:sp>
          <p:nvSpPr>
            <p:cNvPr id="24589" name="Line 13"/>
            <p:cNvSpPr/>
            <p:nvPr/>
          </p:nvSpPr>
          <p:spPr>
            <a:xfrm>
              <a:off x="964" y="2671"/>
              <a:ext cx="0" cy="117"/>
            </a:xfrm>
            <a:prstGeom prst="line">
              <a:avLst/>
            </a:prstGeom>
            <a:ln w="31750" cap="flat" cmpd="sng">
              <a:solidFill>
                <a:schemeClr val="tx1"/>
              </a:solidFill>
              <a:prstDash val="solid"/>
              <a:round/>
              <a:headEnd type="none" w="med" len="med"/>
              <a:tailEnd type="none" w="med" len="med"/>
            </a:ln>
          </p:spPr>
        </p:sp>
        <p:sp>
          <p:nvSpPr>
            <p:cNvPr id="24590" name="Line 14"/>
            <p:cNvSpPr/>
            <p:nvPr/>
          </p:nvSpPr>
          <p:spPr>
            <a:xfrm>
              <a:off x="867" y="2788"/>
              <a:ext cx="1" cy="467"/>
            </a:xfrm>
            <a:prstGeom prst="line">
              <a:avLst/>
            </a:prstGeom>
            <a:ln w="31750" cap="flat" cmpd="sng">
              <a:solidFill>
                <a:schemeClr val="tx1"/>
              </a:solidFill>
              <a:prstDash val="solid"/>
              <a:round/>
              <a:headEnd type="none" w="med" len="med"/>
              <a:tailEnd type="none" w="med" len="med"/>
            </a:ln>
          </p:spPr>
        </p:sp>
        <p:sp>
          <p:nvSpPr>
            <p:cNvPr id="24591" name="Rectangle 15" descr="宽上对角线"/>
            <p:cNvSpPr/>
            <p:nvPr/>
          </p:nvSpPr>
          <p:spPr>
            <a:xfrm>
              <a:off x="288" y="3255"/>
              <a:ext cx="901" cy="156"/>
            </a:xfrm>
            <a:prstGeom prst="rect">
              <a:avLst/>
            </a:prstGeom>
            <a:blipFill rotWithShape="0">
              <a:blip r:embed="rId6"/>
            </a:blipFill>
            <a:ln w="3175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592" name="Line 16"/>
            <p:cNvSpPr/>
            <p:nvPr/>
          </p:nvSpPr>
          <p:spPr>
            <a:xfrm>
              <a:off x="288" y="3255"/>
              <a:ext cx="901" cy="0"/>
            </a:xfrm>
            <a:prstGeom prst="line">
              <a:avLst/>
            </a:prstGeom>
            <a:ln w="31750" cap="flat" cmpd="sng">
              <a:solidFill>
                <a:schemeClr val="tx1"/>
              </a:solidFill>
              <a:prstDash val="solid"/>
              <a:round/>
              <a:headEnd type="none" w="med" len="med"/>
              <a:tailEnd type="none" w="med" len="med"/>
            </a:ln>
          </p:spPr>
        </p:sp>
        <p:sp>
          <p:nvSpPr>
            <p:cNvPr id="24593" name="Line 17"/>
            <p:cNvSpPr/>
            <p:nvPr/>
          </p:nvSpPr>
          <p:spPr>
            <a:xfrm>
              <a:off x="739" y="1230"/>
              <a:ext cx="0" cy="350"/>
            </a:xfrm>
            <a:prstGeom prst="line">
              <a:avLst/>
            </a:prstGeom>
            <a:ln w="31750" cap="flat" cmpd="sng">
              <a:solidFill>
                <a:schemeClr val="tx1"/>
              </a:solidFill>
              <a:prstDash val="solid"/>
              <a:round/>
              <a:headEnd type="none" w="med" len="med"/>
              <a:tailEnd type="triangle" w="med" len="med"/>
            </a:ln>
          </p:spPr>
        </p:sp>
        <p:sp>
          <p:nvSpPr>
            <p:cNvPr id="24594" name="Rectangle 18"/>
            <p:cNvSpPr/>
            <p:nvPr/>
          </p:nvSpPr>
          <p:spPr>
            <a:xfrm>
              <a:off x="1629" y="1580"/>
              <a:ext cx="708" cy="468"/>
            </a:xfrm>
            <a:prstGeom prst="rect">
              <a:avLst/>
            </a:prstGeom>
            <a:noFill/>
            <a:ln w="31750" cap="flat" cmpd="sng">
              <a:solidFill>
                <a:schemeClr val="tx1"/>
              </a:solidFill>
              <a:prstDash val="solid"/>
              <a:miter/>
              <a:headEnd type="none" w="med" len="med"/>
              <a:tailEnd type="none" w="med" len="med"/>
            </a:ln>
          </p:spPr>
          <p:txBody>
            <a:bodyPr wrap="none" anchor="ctr" anchorCtr="0"/>
            <a:lstStyle/>
            <a:p>
              <a:pPr algn="ctr"/>
              <a:r>
                <a:rPr lang="en-US" altLang="zh-CN" sz="2400" i="1"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24595" name="Rectangle 19" descr="宽上对角线"/>
            <p:cNvSpPr/>
            <p:nvPr/>
          </p:nvSpPr>
          <p:spPr>
            <a:xfrm>
              <a:off x="1532" y="3255"/>
              <a:ext cx="901" cy="156"/>
            </a:xfrm>
            <a:prstGeom prst="rect">
              <a:avLst/>
            </a:prstGeom>
            <a:blipFill rotWithShape="0">
              <a:blip r:embed="rId6"/>
            </a:blipFill>
            <a:ln w="3175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4596" name="Line 20"/>
            <p:cNvSpPr/>
            <p:nvPr/>
          </p:nvSpPr>
          <p:spPr>
            <a:xfrm>
              <a:off x="1532" y="3255"/>
              <a:ext cx="901" cy="0"/>
            </a:xfrm>
            <a:prstGeom prst="line">
              <a:avLst/>
            </a:prstGeom>
            <a:ln w="31750" cap="flat" cmpd="sng">
              <a:solidFill>
                <a:schemeClr val="tx1"/>
              </a:solidFill>
              <a:prstDash val="solid"/>
              <a:round/>
              <a:headEnd type="none" w="med" len="med"/>
              <a:tailEnd type="none" w="med" len="med"/>
            </a:ln>
          </p:spPr>
        </p:sp>
        <p:sp>
          <p:nvSpPr>
            <p:cNvPr id="24597" name="Line 21"/>
            <p:cNvSpPr/>
            <p:nvPr/>
          </p:nvSpPr>
          <p:spPr>
            <a:xfrm flipH="1">
              <a:off x="1994" y="1230"/>
              <a:ext cx="0" cy="350"/>
            </a:xfrm>
            <a:prstGeom prst="line">
              <a:avLst/>
            </a:prstGeom>
            <a:ln w="31750" cap="flat" cmpd="sng">
              <a:solidFill>
                <a:schemeClr val="tx1"/>
              </a:solidFill>
              <a:prstDash val="solid"/>
              <a:round/>
              <a:headEnd type="none" w="med" len="med"/>
              <a:tailEnd type="triangle" w="med" len="med"/>
            </a:ln>
          </p:spPr>
        </p:sp>
        <p:sp>
          <p:nvSpPr>
            <p:cNvPr id="24598" name="Line 22"/>
            <p:cNvSpPr/>
            <p:nvPr/>
          </p:nvSpPr>
          <p:spPr>
            <a:xfrm>
              <a:off x="1093" y="2048"/>
              <a:ext cx="225" cy="0"/>
            </a:xfrm>
            <a:prstGeom prst="line">
              <a:avLst/>
            </a:prstGeom>
            <a:ln w="19050" cap="flat" cmpd="sng">
              <a:solidFill>
                <a:schemeClr val="tx1"/>
              </a:solidFill>
              <a:prstDash val="solid"/>
              <a:round/>
              <a:headEnd type="none" w="med" len="med"/>
              <a:tailEnd type="none" w="med" len="med"/>
            </a:ln>
          </p:spPr>
        </p:sp>
        <p:sp>
          <p:nvSpPr>
            <p:cNvPr id="24599" name="Line 23"/>
            <p:cNvSpPr/>
            <p:nvPr/>
          </p:nvSpPr>
          <p:spPr>
            <a:xfrm>
              <a:off x="2337" y="2048"/>
              <a:ext cx="225" cy="0"/>
            </a:xfrm>
            <a:prstGeom prst="line">
              <a:avLst/>
            </a:prstGeom>
            <a:ln w="19050" cap="flat" cmpd="sng">
              <a:solidFill>
                <a:schemeClr val="tx1"/>
              </a:solidFill>
              <a:prstDash val="solid"/>
              <a:round/>
              <a:headEnd type="none" w="med" len="med"/>
              <a:tailEnd type="none" w="med" len="med"/>
            </a:ln>
          </p:spPr>
        </p:sp>
        <p:sp>
          <p:nvSpPr>
            <p:cNvPr id="24600" name="Text Box 24"/>
            <p:cNvSpPr txBox="1"/>
            <p:nvPr/>
          </p:nvSpPr>
          <p:spPr>
            <a:xfrm>
              <a:off x="796" y="1152"/>
              <a:ext cx="452" cy="288"/>
            </a:xfrm>
            <a:prstGeom prst="rect">
              <a:avLst/>
            </a:prstGeom>
            <a:noFill/>
            <a:ln w="3175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i</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4601" name="Text Box 25"/>
            <p:cNvSpPr txBox="1"/>
            <p:nvPr/>
          </p:nvSpPr>
          <p:spPr>
            <a:xfrm>
              <a:off x="288" y="2553"/>
              <a:ext cx="244" cy="288"/>
            </a:xfrm>
            <a:prstGeom prst="rect">
              <a:avLst/>
            </a:prstGeom>
            <a:noFill/>
            <a:ln w="317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K</a:t>
              </a:r>
            </a:p>
          </p:txBody>
        </p:sp>
        <p:sp>
          <p:nvSpPr>
            <p:cNvPr id="24602" name="Text Box 26"/>
            <p:cNvSpPr txBox="1"/>
            <p:nvPr/>
          </p:nvSpPr>
          <p:spPr>
            <a:xfrm>
              <a:off x="962" y="2593"/>
              <a:ext cx="244" cy="288"/>
            </a:xfrm>
            <a:prstGeom prst="rect">
              <a:avLst/>
            </a:prstGeom>
            <a:noFill/>
            <a:ln w="317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C</a:t>
              </a:r>
            </a:p>
          </p:txBody>
        </p:sp>
        <p:sp>
          <p:nvSpPr>
            <p:cNvPr id="24603" name="Line 27"/>
            <p:cNvSpPr/>
            <p:nvPr/>
          </p:nvSpPr>
          <p:spPr>
            <a:xfrm>
              <a:off x="1221" y="2048"/>
              <a:ext cx="0" cy="233"/>
            </a:xfrm>
            <a:prstGeom prst="line">
              <a:avLst/>
            </a:prstGeom>
            <a:ln w="25400" cap="flat" cmpd="sng">
              <a:solidFill>
                <a:schemeClr val="tx1"/>
              </a:solidFill>
              <a:prstDash val="solid"/>
              <a:round/>
              <a:headEnd type="none" w="med" len="med"/>
              <a:tailEnd type="triangle" w="med" len="med"/>
            </a:ln>
          </p:spPr>
        </p:sp>
        <p:sp>
          <p:nvSpPr>
            <p:cNvPr id="24604" name="Text Box 28"/>
            <p:cNvSpPr txBox="1"/>
            <p:nvPr/>
          </p:nvSpPr>
          <p:spPr>
            <a:xfrm>
              <a:off x="1092" y="2243"/>
              <a:ext cx="540" cy="288"/>
            </a:xfrm>
            <a:prstGeom prst="rect">
              <a:avLst/>
            </a:prstGeom>
            <a:noFill/>
            <a:ln w="3175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x</a:t>
              </a:r>
              <a:r>
                <a:rPr lang="en-US" altLang="zh-CN" sz="2400" b="1" i="1" baseline="-25000" dirty="0">
                  <a:latin typeface="Times New Roman" panose="02020603050405020304" pitchFamily="18" charset="0"/>
                  <a:ea typeface="宋体" panose="02010600030101010101" pitchFamily="2" charset="-122"/>
                </a:rPr>
                <a:t>o</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4605" name="Text Box 29"/>
            <p:cNvSpPr txBox="1"/>
            <p:nvPr/>
          </p:nvSpPr>
          <p:spPr>
            <a:xfrm>
              <a:off x="2006" y="1170"/>
              <a:ext cx="490" cy="288"/>
            </a:xfrm>
            <a:prstGeom prst="rect">
              <a:avLst/>
            </a:prstGeom>
            <a:noFill/>
            <a:ln w="3175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i</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4606" name="Line 30"/>
            <p:cNvSpPr/>
            <p:nvPr/>
          </p:nvSpPr>
          <p:spPr>
            <a:xfrm>
              <a:off x="2481" y="2048"/>
              <a:ext cx="0" cy="233"/>
            </a:xfrm>
            <a:prstGeom prst="line">
              <a:avLst/>
            </a:prstGeom>
            <a:ln w="25400" cap="flat" cmpd="sng">
              <a:solidFill>
                <a:schemeClr val="tx1"/>
              </a:solidFill>
              <a:prstDash val="solid"/>
              <a:round/>
              <a:headEnd type="none" w="med" len="med"/>
              <a:tailEnd type="triangle" w="med" len="med"/>
            </a:ln>
          </p:spPr>
        </p:sp>
        <p:sp>
          <p:nvSpPr>
            <p:cNvPr id="24607" name="Text Box 31"/>
            <p:cNvSpPr txBox="1"/>
            <p:nvPr/>
          </p:nvSpPr>
          <p:spPr>
            <a:xfrm>
              <a:off x="2353" y="2243"/>
              <a:ext cx="457" cy="288"/>
            </a:xfrm>
            <a:prstGeom prst="rect">
              <a:avLst/>
            </a:prstGeom>
            <a:noFill/>
            <a:ln w="317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x</a:t>
              </a:r>
              <a:r>
                <a:rPr lang="en-US" altLang="zh-CN" sz="2400" b="1" i="1" baseline="-25000" dirty="0">
                  <a:latin typeface="Times New Roman" panose="02020603050405020304" pitchFamily="18" charset="0"/>
                  <a:ea typeface="宋体" panose="02010600030101010101" pitchFamily="2" charset="-122"/>
                </a:rPr>
                <a:t>o</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4608" name="Text Box 32"/>
            <p:cNvSpPr txBox="1"/>
            <p:nvPr/>
          </p:nvSpPr>
          <p:spPr>
            <a:xfrm>
              <a:off x="1303" y="1913"/>
              <a:ext cx="212" cy="288"/>
            </a:xfrm>
            <a:prstGeom prst="rect">
              <a:avLst/>
            </a:prstGeom>
            <a:noFill/>
            <a:ln w="317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24609" name="Text Box 33"/>
            <p:cNvSpPr txBox="1"/>
            <p:nvPr/>
          </p:nvSpPr>
          <p:spPr>
            <a:xfrm>
              <a:off x="2562" y="1931"/>
              <a:ext cx="212" cy="288"/>
            </a:xfrm>
            <a:prstGeom prst="rect">
              <a:avLst/>
            </a:prstGeom>
            <a:noFill/>
            <a:ln w="317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24610" name="Line 34"/>
            <p:cNvSpPr/>
            <p:nvPr/>
          </p:nvSpPr>
          <p:spPr>
            <a:xfrm flipV="1">
              <a:off x="2433" y="1541"/>
              <a:ext cx="0" cy="390"/>
            </a:xfrm>
            <a:prstGeom prst="line">
              <a:avLst/>
            </a:prstGeom>
            <a:ln w="25400" cap="flat" cmpd="sng">
              <a:solidFill>
                <a:schemeClr val="tx1"/>
              </a:solidFill>
              <a:prstDash val="solid"/>
              <a:round/>
              <a:headEnd type="none" w="med" len="med"/>
              <a:tailEnd type="triangle" w="med" len="med"/>
            </a:ln>
          </p:spPr>
        </p:sp>
        <p:sp>
          <p:nvSpPr>
            <p:cNvPr id="24611" name="Text Box 35"/>
            <p:cNvSpPr txBox="1"/>
            <p:nvPr/>
          </p:nvSpPr>
          <p:spPr>
            <a:xfrm>
              <a:off x="2448" y="1584"/>
              <a:ext cx="533" cy="288"/>
            </a:xfrm>
            <a:prstGeom prst="rect">
              <a:avLst/>
            </a:prstGeom>
            <a:noFill/>
            <a:ln w="3175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m</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4612" name="Line 36"/>
            <p:cNvSpPr/>
            <p:nvPr/>
          </p:nvSpPr>
          <p:spPr>
            <a:xfrm>
              <a:off x="1822" y="2048"/>
              <a:ext cx="0" cy="1207"/>
            </a:xfrm>
            <a:prstGeom prst="line">
              <a:avLst/>
            </a:prstGeom>
            <a:ln w="25400" cap="flat" cmpd="sng">
              <a:solidFill>
                <a:schemeClr val="tx1"/>
              </a:solidFill>
              <a:prstDash val="solid"/>
              <a:round/>
              <a:headEnd type="triangle" w="med" len="med"/>
              <a:tailEnd type="triangle" w="med" len="med"/>
            </a:ln>
          </p:spPr>
        </p:sp>
        <p:sp>
          <p:nvSpPr>
            <p:cNvPr id="24613" name="Line 37"/>
            <p:cNvSpPr/>
            <p:nvPr/>
          </p:nvSpPr>
          <p:spPr>
            <a:xfrm>
              <a:off x="2112" y="2048"/>
              <a:ext cx="0" cy="1207"/>
            </a:xfrm>
            <a:prstGeom prst="line">
              <a:avLst/>
            </a:prstGeom>
            <a:ln w="25400" cap="flat" cmpd="sng">
              <a:solidFill>
                <a:schemeClr val="tx1"/>
              </a:solidFill>
              <a:prstDash val="solid"/>
              <a:round/>
              <a:headEnd type="triangle" w="med" len="med"/>
              <a:tailEnd type="triangle" w="med" len="med"/>
            </a:ln>
          </p:spPr>
        </p:sp>
        <p:sp useBgFill="1">
          <p:nvSpPr>
            <p:cNvPr id="24614" name="Text Box 38"/>
            <p:cNvSpPr txBox="1"/>
            <p:nvPr/>
          </p:nvSpPr>
          <p:spPr>
            <a:xfrm>
              <a:off x="1584" y="2515"/>
              <a:ext cx="480" cy="288"/>
            </a:xfrm>
            <a:prstGeom prst="rect">
              <a:avLst/>
            </a:prstGeom>
            <a:ln w="3175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K</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4615" name="Text Box 39"/>
            <p:cNvSpPr txBox="1"/>
            <p:nvPr/>
          </p:nvSpPr>
          <p:spPr>
            <a:xfrm>
              <a:off x="192" y="3523"/>
              <a:ext cx="2420" cy="288"/>
            </a:xfrm>
            <a:prstGeom prst="rect">
              <a:avLst/>
            </a:prstGeom>
            <a:noFill/>
            <a:ln w="317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机械平移系统及其力学模型</a:t>
              </a:r>
            </a:p>
          </p:txBody>
        </p:sp>
        <p:sp useBgFill="1">
          <p:nvSpPr>
            <p:cNvPr id="24616" name="Text Box 40"/>
            <p:cNvSpPr txBox="1"/>
            <p:nvPr/>
          </p:nvSpPr>
          <p:spPr>
            <a:xfrm>
              <a:off x="1994" y="2515"/>
              <a:ext cx="502" cy="288"/>
            </a:xfrm>
            <a:prstGeom prst="rect">
              <a:avLst/>
            </a:prstGeom>
            <a:ln w="3175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C</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grpSp>
      <p:sp>
        <p:nvSpPr>
          <p:cNvPr id="15401" name="AutoShape 41"/>
          <p:cNvSpPr/>
          <p:nvPr/>
        </p:nvSpPr>
        <p:spPr>
          <a:xfrm>
            <a:off x="4983163" y="2671763"/>
            <a:ext cx="3627437" cy="909637"/>
          </a:xfrm>
          <a:prstGeom prst="borderCallout2">
            <a:avLst>
              <a:gd name="adj1" fmla="val 12565"/>
              <a:gd name="adj2" fmla="val -2102"/>
              <a:gd name="adj3" fmla="val 12565"/>
              <a:gd name="adj4" fmla="val -7264"/>
              <a:gd name="adj5" fmla="val 64051"/>
              <a:gd name="adj6" fmla="val -26083"/>
            </a:avLst>
          </a:prstGeom>
          <a:noFill/>
          <a:ln w="22225" cap="flat" cmpd="sng">
            <a:solidFill>
              <a:srgbClr val="FF0000"/>
            </a:solidFill>
            <a:prstDash val="solid"/>
            <a:miter/>
            <a:headEnd type="none" w="med" len="med"/>
            <a:tailEnd type="none" w="med" len="med"/>
          </a:ln>
        </p:spPr>
        <p:txBody>
          <a:bodyPr anchor="t" anchorCtr="0"/>
          <a:lstStyle/>
          <a:p>
            <a:r>
              <a:rPr lang="zh-CN" altLang="en-US" sz="2400" dirty="0">
                <a:solidFill>
                  <a:srgbClr val="CC0000"/>
                </a:solidFill>
                <a:latin typeface="Times New Roman" panose="02020603050405020304" pitchFamily="18" charset="0"/>
                <a:ea typeface="宋体" panose="02010600030101010101" pitchFamily="2" charset="-122"/>
              </a:rPr>
              <a:t>静止（平衡）工作点作为</a:t>
            </a:r>
          </a:p>
          <a:p>
            <a:r>
              <a:rPr lang="zh-CN" altLang="en-US" sz="2400" dirty="0">
                <a:solidFill>
                  <a:srgbClr val="CC0000"/>
                </a:solidFill>
                <a:latin typeface="Times New Roman" panose="02020603050405020304" pitchFamily="18" charset="0"/>
                <a:ea typeface="宋体" panose="02010600030101010101" pitchFamily="2" charset="-122"/>
              </a:rPr>
              <a:t>零点，以消除重力的影响</a:t>
            </a:r>
          </a:p>
          <a:p>
            <a:pPr algn="ctr"/>
            <a:endParaRPr lang="en-US" altLang="zh-CN" sz="2400" dirty="0">
              <a:latin typeface="Times New Roman" panose="02020603050405020304" pitchFamily="18" charset="0"/>
              <a:ea typeface="宋体" panose="02010600030101010101" pitchFamily="2" charset="-122"/>
            </a:endParaRPr>
          </a:p>
        </p:txBody>
      </p:sp>
      <p:sp>
        <p:nvSpPr>
          <p:cNvPr id="24618" name="Rectangle 2"/>
          <p:cNvSpPr/>
          <p:nvPr/>
        </p:nvSpPr>
        <p:spPr>
          <a:xfrm>
            <a:off x="539750" y="981075"/>
            <a:ext cx="2724150" cy="519113"/>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机械平移系统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401"/>
                                        </p:tgtEl>
                                        <p:attrNameLst>
                                          <p:attrName>style.visibility</p:attrName>
                                        </p:attrNameLst>
                                      </p:cBhvr>
                                      <p:to>
                                        <p:strVal val="visible"/>
                                      </p:to>
                                    </p:set>
                                    <p:anim calcmode="lin" valueType="num">
                                      <p:cBhvr additive="base">
                                        <p:cTn id="13" dur="500" fill="hold"/>
                                        <p:tgtEl>
                                          <p:spTgt spid="15401"/>
                                        </p:tgtEl>
                                        <p:attrNameLst>
                                          <p:attrName>ppt_x</p:attrName>
                                        </p:attrNameLst>
                                      </p:cBhvr>
                                      <p:tavLst>
                                        <p:tav tm="0">
                                          <p:val>
                                            <p:strVal val="1+#ppt_w/2"/>
                                          </p:val>
                                        </p:tav>
                                        <p:tav tm="100000">
                                          <p:val>
                                            <p:strVal val="#ppt_x"/>
                                          </p:val>
                                        </p:tav>
                                      </p:tavLst>
                                    </p:anim>
                                    <p:anim calcmode="lin" valueType="num">
                                      <p:cBhvr additive="base">
                                        <p:cTn id="14" dur="500" fill="hold"/>
                                        <p:tgtEl>
                                          <p:spTgt spid="1540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363"/>
                                        </p:tgtEl>
                                        <p:attrNameLst>
                                          <p:attrName>style.visibility</p:attrName>
                                        </p:attrNameLst>
                                      </p:cBhvr>
                                      <p:to>
                                        <p:strVal val="visible"/>
                                      </p:to>
                                    </p:set>
                                    <p:anim calcmode="lin" valueType="num">
                                      <p:cBhvr additive="base">
                                        <p:cTn id="19" dur="500" fill="hold"/>
                                        <p:tgtEl>
                                          <p:spTgt spid="15363"/>
                                        </p:tgtEl>
                                        <p:attrNameLst>
                                          <p:attrName>ppt_x</p:attrName>
                                        </p:attrNameLst>
                                      </p:cBhvr>
                                      <p:tavLst>
                                        <p:tav tm="0">
                                          <p:val>
                                            <p:strVal val="#ppt_x"/>
                                          </p:val>
                                        </p:tav>
                                        <p:tav tm="100000">
                                          <p:val>
                                            <p:strVal val="#ppt_x"/>
                                          </p:val>
                                        </p:tav>
                                      </p:tavLst>
                                    </p:anim>
                                    <p:anim calcmode="lin" valueType="num">
                                      <p:cBhvr additive="base">
                                        <p:cTn id="20"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0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26626"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14</a:t>
            </a:fld>
            <a:endParaRPr lang="en-US" altLang="zh-CN" sz="1200" dirty="0"/>
          </a:p>
        </p:txBody>
      </p:sp>
      <p:graphicFrame>
        <p:nvGraphicFramePr>
          <p:cNvPr id="26627" name="Object 2"/>
          <p:cNvGraphicFramePr>
            <a:graphicFrameLocks noChangeAspect="1"/>
          </p:cNvGraphicFramePr>
          <p:nvPr/>
        </p:nvGraphicFramePr>
        <p:xfrm>
          <a:off x="1676400" y="1946275"/>
          <a:ext cx="5029200" cy="873125"/>
        </p:xfrm>
        <a:graphic>
          <a:graphicData uri="http://schemas.openxmlformats.org/presentationml/2006/ole">
            <mc:AlternateContent xmlns:mc="http://schemas.openxmlformats.org/markup-compatibility/2006">
              <mc:Choice xmlns:v="urn:schemas-microsoft-com:vml" Requires="v">
                <p:oleObj spid="_x0000_s8200" r:id="rId4" imgW="2400300" imgH="419100" progId="Equation.3">
                  <p:embed/>
                </p:oleObj>
              </mc:Choice>
              <mc:Fallback>
                <p:oleObj r:id="rId4" imgW="2400300" imgH="419100" progId="Equation.3">
                  <p:embed/>
                  <p:pic>
                    <p:nvPicPr>
                      <p:cNvPr id="0" name="图片 3076"/>
                      <p:cNvPicPr/>
                      <p:nvPr/>
                    </p:nvPicPr>
                    <p:blipFill>
                      <a:blip r:embed="rId5"/>
                      <a:stretch>
                        <a:fillRect/>
                      </a:stretch>
                    </p:blipFill>
                    <p:spPr>
                      <a:xfrm>
                        <a:off x="1676400" y="1946275"/>
                        <a:ext cx="5029200" cy="873125"/>
                      </a:xfrm>
                      <a:prstGeom prst="rect">
                        <a:avLst/>
                      </a:prstGeom>
                      <a:noFill/>
                      <a:ln w="38100">
                        <a:noFill/>
                        <a:miter/>
                      </a:ln>
                    </p:spPr>
                  </p:pic>
                </p:oleObj>
              </mc:Fallback>
            </mc:AlternateContent>
          </a:graphicData>
        </a:graphic>
      </p:graphicFrame>
      <p:sp>
        <p:nvSpPr>
          <p:cNvPr id="16387" name="Rectangle 3"/>
          <p:cNvSpPr/>
          <p:nvPr/>
        </p:nvSpPr>
        <p:spPr>
          <a:xfrm>
            <a:off x="1066800" y="2941638"/>
            <a:ext cx="7467600" cy="1073150"/>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式中，</a:t>
            </a:r>
            <a:r>
              <a:rPr lang="en-US" altLang="zh-CN" sz="2800" i="1" dirty="0">
                <a:latin typeface="Times New Roman" panose="02020603050405020304" pitchFamily="18" charset="0"/>
                <a:ea typeface="宋体" panose="02010600030101010101" pitchFamily="2" charset="-122"/>
              </a:rPr>
              <a:t>m</a:t>
            </a:r>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C</a:t>
            </a:r>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K</a:t>
            </a:r>
            <a:r>
              <a:rPr lang="zh-CN" altLang="en-US" sz="2800" dirty="0">
                <a:latin typeface="宋体" panose="02010600030101010101" pitchFamily="2" charset="-122"/>
                <a:ea typeface="宋体" panose="02010600030101010101" pitchFamily="2" charset="-122"/>
              </a:rPr>
              <a:t>通常均为常数，故机械平移系统可以由二阶常系数微分方程描述。</a:t>
            </a:r>
          </a:p>
        </p:txBody>
      </p:sp>
      <p:sp>
        <p:nvSpPr>
          <p:cNvPr id="16389" name="Rectangle 5"/>
          <p:cNvSpPr/>
          <p:nvPr/>
        </p:nvSpPr>
        <p:spPr>
          <a:xfrm>
            <a:off x="1066800" y="4191000"/>
            <a:ext cx="7391400" cy="1563688"/>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显然，微分方程的系数取决于系统的结构参数，而阶次等于系统中</a:t>
            </a:r>
            <a:r>
              <a:rPr lang="zh-CN" altLang="en-US" sz="2800" dirty="0">
                <a:solidFill>
                  <a:srgbClr val="CC0000"/>
                </a:solidFill>
                <a:latin typeface="宋体" panose="02010600030101010101" pitchFamily="2" charset="-122"/>
                <a:ea typeface="宋体" panose="02010600030101010101" pitchFamily="2" charset="-122"/>
              </a:rPr>
              <a:t>独立</a:t>
            </a:r>
            <a:r>
              <a:rPr lang="zh-CN" altLang="en-US" sz="2800" dirty="0">
                <a:latin typeface="宋体" panose="02010600030101010101" pitchFamily="2" charset="-122"/>
                <a:ea typeface="宋体" panose="02010600030101010101" pitchFamily="2" charset="-122"/>
              </a:rPr>
              <a:t>储能元件（惯性质量、弹簧）的数量。</a:t>
            </a:r>
            <a:r>
              <a:rPr lang="zh-CN" altLang="en-US" sz="2800" dirty="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500" fill="hold"/>
                                        <p:tgtEl>
                                          <p:spTgt spid="16387"/>
                                        </p:tgtEl>
                                        <p:attrNameLst>
                                          <p:attrName>ppt_x</p:attrName>
                                        </p:attrNameLst>
                                      </p:cBhvr>
                                      <p:tavLst>
                                        <p:tav tm="0">
                                          <p:val>
                                            <p:strVal val="#ppt_x"/>
                                          </p:val>
                                        </p:tav>
                                        <p:tav tm="100000">
                                          <p:val>
                                            <p:strVal val="#ppt_x"/>
                                          </p:val>
                                        </p:tav>
                                      </p:tavLst>
                                    </p:anim>
                                    <p:anim calcmode="lin" valueType="num">
                                      <p:cBhvr additive="base">
                                        <p:cTn id="8" dur="500" fill="hold"/>
                                        <p:tgtEl>
                                          <p:spTgt spid="163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9"/>
                                        </p:tgtEl>
                                        <p:attrNameLst>
                                          <p:attrName>style.visibility</p:attrName>
                                        </p:attrNameLst>
                                      </p:cBhvr>
                                      <p:to>
                                        <p:strVal val="visible"/>
                                      </p:to>
                                    </p:set>
                                    <p:anim calcmode="lin" valueType="num">
                                      <p:cBhvr additive="base">
                                        <p:cTn id="13" dur="500" fill="hold"/>
                                        <p:tgtEl>
                                          <p:spTgt spid="16389"/>
                                        </p:tgtEl>
                                        <p:attrNameLst>
                                          <p:attrName>ppt_x</p:attrName>
                                        </p:attrNameLst>
                                      </p:cBhvr>
                                      <p:tavLst>
                                        <p:tav tm="0">
                                          <p:val>
                                            <p:strVal val="#ppt_x"/>
                                          </p:val>
                                        </p:tav>
                                        <p:tav tm="100000">
                                          <p:val>
                                            <p:strVal val="#ppt_x"/>
                                          </p:val>
                                        </p:tav>
                                      </p:tavLst>
                                    </p:anim>
                                    <p:anim calcmode="lin" valueType="num">
                                      <p:cBhvr additive="base">
                                        <p:cTn id="14"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P spid="1638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28674"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15</a:t>
            </a:fld>
            <a:endParaRPr lang="en-US" altLang="zh-CN" sz="1200" dirty="0"/>
          </a:p>
        </p:txBody>
      </p:sp>
      <p:sp>
        <p:nvSpPr>
          <p:cNvPr id="28675" name="Rectangle 2"/>
          <p:cNvSpPr/>
          <p:nvPr/>
        </p:nvSpPr>
        <p:spPr>
          <a:xfrm>
            <a:off x="1066800" y="928688"/>
            <a:ext cx="3079750" cy="519112"/>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弹簧－阻尼系统</a:t>
            </a:r>
          </a:p>
        </p:txBody>
      </p:sp>
      <p:grpSp>
        <p:nvGrpSpPr>
          <p:cNvPr id="2" name="Group 3"/>
          <p:cNvGrpSpPr/>
          <p:nvPr/>
        </p:nvGrpSpPr>
        <p:grpSpPr>
          <a:xfrm>
            <a:off x="1219200" y="1752600"/>
            <a:ext cx="2317750" cy="4267200"/>
            <a:chOff x="4032" y="768"/>
            <a:chExt cx="1460" cy="2688"/>
          </a:xfrm>
        </p:grpSpPr>
        <p:sp>
          <p:nvSpPr>
            <p:cNvPr id="28677" name="Freeform 4"/>
            <p:cNvSpPr/>
            <p:nvPr/>
          </p:nvSpPr>
          <p:spPr>
            <a:xfrm>
              <a:off x="4320" y="1824"/>
              <a:ext cx="208" cy="576"/>
            </a:xfrm>
            <a:custGeom>
              <a:avLst/>
              <a:gdLst/>
              <a:ahLst/>
              <a:cxnLst>
                <a:cxn ang="0">
                  <a:pos x="112" y="0"/>
                </a:cxn>
                <a:cxn ang="0">
                  <a:pos x="16" y="48"/>
                </a:cxn>
                <a:cxn ang="0">
                  <a:pos x="208" y="144"/>
                </a:cxn>
                <a:cxn ang="0">
                  <a:pos x="16" y="192"/>
                </a:cxn>
                <a:cxn ang="0">
                  <a:pos x="208" y="288"/>
                </a:cxn>
                <a:cxn ang="0">
                  <a:pos x="16" y="336"/>
                </a:cxn>
                <a:cxn ang="0">
                  <a:pos x="208" y="432"/>
                </a:cxn>
                <a:cxn ang="0">
                  <a:pos x="16" y="480"/>
                </a:cxn>
                <a:cxn ang="0">
                  <a:pos x="112" y="576"/>
                </a:cxn>
              </a:cxnLst>
              <a:rect l="0" t="0" r="0" b="0"/>
              <a:pathLst>
                <a:path w="208" h="576">
                  <a:moveTo>
                    <a:pt x="112" y="0"/>
                  </a:moveTo>
                  <a:cubicBezTo>
                    <a:pt x="56" y="12"/>
                    <a:pt x="0" y="24"/>
                    <a:pt x="16" y="48"/>
                  </a:cubicBezTo>
                  <a:cubicBezTo>
                    <a:pt x="32" y="72"/>
                    <a:pt x="208" y="120"/>
                    <a:pt x="208" y="144"/>
                  </a:cubicBezTo>
                  <a:cubicBezTo>
                    <a:pt x="208" y="168"/>
                    <a:pt x="16" y="168"/>
                    <a:pt x="16" y="192"/>
                  </a:cubicBezTo>
                  <a:cubicBezTo>
                    <a:pt x="16" y="216"/>
                    <a:pt x="208" y="264"/>
                    <a:pt x="208" y="288"/>
                  </a:cubicBezTo>
                  <a:cubicBezTo>
                    <a:pt x="208" y="312"/>
                    <a:pt x="16" y="312"/>
                    <a:pt x="16" y="336"/>
                  </a:cubicBezTo>
                  <a:cubicBezTo>
                    <a:pt x="16" y="360"/>
                    <a:pt x="208" y="408"/>
                    <a:pt x="208" y="432"/>
                  </a:cubicBezTo>
                  <a:cubicBezTo>
                    <a:pt x="208" y="456"/>
                    <a:pt x="32" y="456"/>
                    <a:pt x="16" y="480"/>
                  </a:cubicBezTo>
                  <a:cubicBezTo>
                    <a:pt x="0" y="504"/>
                    <a:pt x="56" y="540"/>
                    <a:pt x="112" y="576"/>
                  </a:cubicBezTo>
                </a:path>
              </a:pathLst>
            </a:custGeom>
            <a:noFill/>
            <a:ln w="31750" cap="flat" cmpd="sng">
              <a:solidFill>
                <a:schemeClr val="tx1"/>
              </a:solidFill>
              <a:prstDash val="solid"/>
              <a:round/>
              <a:headEnd type="none" w="med" len="med"/>
              <a:tailEnd type="none" w="med" len="med"/>
            </a:ln>
          </p:spPr>
          <p:txBody>
            <a:bodyPr/>
            <a:lstStyle/>
            <a:p>
              <a:endParaRPr lang="zh-CN" altLang="en-US"/>
            </a:p>
          </p:txBody>
        </p:sp>
        <p:sp>
          <p:nvSpPr>
            <p:cNvPr id="28678" name="Line 5"/>
            <p:cNvSpPr/>
            <p:nvPr/>
          </p:nvSpPr>
          <p:spPr>
            <a:xfrm flipV="1">
              <a:off x="4432" y="1344"/>
              <a:ext cx="1" cy="480"/>
            </a:xfrm>
            <a:prstGeom prst="line">
              <a:avLst/>
            </a:prstGeom>
            <a:ln w="31750" cap="flat" cmpd="sng">
              <a:solidFill>
                <a:schemeClr val="tx1"/>
              </a:solidFill>
              <a:prstDash val="solid"/>
              <a:round/>
              <a:headEnd type="none" w="med" len="med"/>
              <a:tailEnd type="none" w="med" len="med"/>
            </a:ln>
          </p:spPr>
        </p:sp>
        <p:sp>
          <p:nvSpPr>
            <p:cNvPr id="28679" name="Line 6"/>
            <p:cNvSpPr/>
            <p:nvPr/>
          </p:nvSpPr>
          <p:spPr>
            <a:xfrm>
              <a:off x="4432" y="2400"/>
              <a:ext cx="1" cy="432"/>
            </a:xfrm>
            <a:prstGeom prst="line">
              <a:avLst/>
            </a:prstGeom>
            <a:ln w="31750" cap="flat" cmpd="sng">
              <a:solidFill>
                <a:schemeClr val="tx1"/>
              </a:solidFill>
              <a:prstDash val="solid"/>
              <a:round/>
              <a:headEnd type="none" w="med" len="med"/>
              <a:tailEnd type="none" w="med" len="med"/>
            </a:ln>
          </p:spPr>
        </p:sp>
        <p:sp>
          <p:nvSpPr>
            <p:cNvPr id="28680" name="Line 7"/>
            <p:cNvSpPr/>
            <p:nvPr/>
          </p:nvSpPr>
          <p:spPr>
            <a:xfrm>
              <a:off x="4943" y="1344"/>
              <a:ext cx="1" cy="816"/>
            </a:xfrm>
            <a:prstGeom prst="line">
              <a:avLst/>
            </a:prstGeom>
            <a:ln w="31750" cap="flat" cmpd="sng">
              <a:solidFill>
                <a:schemeClr val="tx1"/>
              </a:solidFill>
              <a:prstDash val="solid"/>
              <a:round/>
              <a:headEnd type="none" w="med" len="med"/>
              <a:tailEnd type="none" w="med" len="med"/>
            </a:ln>
          </p:spPr>
        </p:sp>
        <p:sp>
          <p:nvSpPr>
            <p:cNvPr id="28681" name="Line 8"/>
            <p:cNvSpPr/>
            <p:nvPr/>
          </p:nvSpPr>
          <p:spPr>
            <a:xfrm>
              <a:off x="4847" y="2160"/>
              <a:ext cx="192" cy="1"/>
            </a:xfrm>
            <a:prstGeom prst="line">
              <a:avLst/>
            </a:prstGeom>
            <a:ln w="31750" cap="flat" cmpd="sng">
              <a:solidFill>
                <a:schemeClr val="tx1"/>
              </a:solidFill>
              <a:prstDash val="solid"/>
              <a:round/>
              <a:headEnd type="none" w="med" len="med"/>
              <a:tailEnd type="none" w="med" len="med"/>
            </a:ln>
          </p:spPr>
        </p:sp>
        <p:sp>
          <p:nvSpPr>
            <p:cNvPr id="28682" name="Line 9"/>
            <p:cNvSpPr/>
            <p:nvPr/>
          </p:nvSpPr>
          <p:spPr>
            <a:xfrm>
              <a:off x="4799" y="2112"/>
              <a:ext cx="1" cy="144"/>
            </a:xfrm>
            <a:prstGeom prst="line">
              <a:avLst/>
            </a:prstGeom>
            <a:ln w="31750" cap="flat" cmpd="sng">
              <a:solidFill>
                <a:schemeClr val="tx1"/>
              </a:solidFill>
              <a:prstDash val="solid"/>
              <a:round/>
              <a:headEnd type="none" w="med" len="med"/>
              <a:tailEnd type="none" w="med" len="med"/>
            </a:ln>
          </p:spPr>
        </p:sp>
        <p:sp>
          <p:nvSpPr>
            <p:cNvPr id="28683" name="Line 10"/>
            <p:cNvSpPr/>
            <p:nvPr/>
          </p:nvSpPr>
          <p:spPr>
            <a:xfrm>
              <a:off x="4799" y="2256"/>
              <a:ext cx="288" cy="1"/>
            </a:xfrm>
            <a:prstGeom prst="line">
              <a:avLst/>
            </a:prstGeom>
            <a:ln w="31750" cap="flat" cmpd="sng">
              <a:solidFill>
                <a:schemeClr val="tx1"/>
              </a:solidFill>
              <a:prstDash val="solid"/>
              <a:round/>
              <a:headEnd type="none" w="med" len="med"/>
              <a:tailEnd type="none" w="med" len="med"/>
            </a:ln>
          </p:spPr>
        </p:sp>
        <p:sp>
          <p:nvSpPr>
            <p:cNvPr id="28684" name="Line 11"/>
            <p:cNvSpPr/>
            <p:nvPr/>
          </p:nvSpPr>
          <p:spPr>
            <a:xfrm>
              <a:off x="5087" y="2112"/>
              <a:ext cx="1" cy="144"/>
            </a:xfrm>
            <a:prstGeom prst="line">
              <a:avLst/>
            </a:prstGeom>
            <a:ln w="31750" cap="flat" cmpd="sng">
              <a:solidFill>
                <a:schemeClr val="tx1"/>
              </a:solidFill>
              <a:prstDash val="solid"/>
              <a:round/>
              <a:headEnd type="none" w="med" len="med"/>
              <a:tailEnd type="none" w="med" len="med"/>
            </a:ln>
          </p:spPr>
        </p:sp>
        <p:sp>
          <p:nvSpPr>
            <p:cNvPr id="28685" name="Line 12"/>
            <p:cNvSpPr/>
            <p:nvPr/>
          </p:nvSpPr>
          <p:spPr>
            <a:xfrm>
              <a:off x="4943" y="2256"/>
              <a:ext cx="1" cy="576"/>
            </a:xfrm>
            <a:prstGeom prst="line">
              <a:avLst/>
            </a:prstGeom>
            <a:ln w="31750" cap="flat" cmpd="sng">
              <a:solidFill>
                <a:schemeClr val="tx1"/>
              </a:solidFill>
              <a:prstDash val="solid"/>
              <a:round/>
              <a:headEnd type="none" w="med" len="med"/>
              <a:tailEnd type="none" w="med" len="med"/>
            </a:ln>
          </p:spPr>
        </p:sp>
        <p:sp>
          <p:nvSpPr>
            <p:cNvPr id="28686" name="Line 13"/>
            <p:cNvSpPr/>
            <p:nvPr/>
          </p:nvSpPr>
          <p:spPr>
            <a:xfrm>
              <a:off x="4416" y="1344"/>
              <a:ext cx="528" cy="0"/>
            </a:xfrm>
            <a:prstGeom prst="line">
              <a:avLst/>
            </a:prstGeom>
            <a:ln w="31750" cap="flat" cmpd="sng">
              <a:solidFill>
                <a:schemeClr val="tx1"/>
              </a:solidFill>
              <a:prstDash val="solid"/>
              <a:round/>
              <a:headEnd type="none" w="med" len="med"/>
              <a:tailEnd type="none" w="med" len="med"/>
            </a:ln>
          </p:spPr>
        </p:sp>
        <p:sp>
          <p:nvSpPr>
            <p:cNvPr id="28687" name="Line 14"/>
            <p:cNvSpPr/>
            <p:nvPr/>
          </p:nvSpPr>
          <p:spPr>
            <a:xfrm>
              <a:off x="4944" y="1344"/>
              <a:ext cx="336" cy="0"/>
            </a:xfrm>
            <a:prstGeom prst="line">
              <a:avLst/>
            </a:prstGeom>
            <a:ln w="19050" cap="flat" cmpd="sng">
              <a:solidFill>
                <a:schemeClr val="tx1"/>
              </a:solidFill>
              <a:prstDash val="solid"/>
              <a:round/>
              <a:headEnd type="none" w="med" len="med"/>
              <a:tailEnd type="none" w="med" len="med"/>
            </a:ln>
          </p:spPr>
        </p:sp>
        <p:sp>
          <p:nvSpPr>
            <p:cNvPr id="28688" name="Line 15"/>
            <p:cNvSpPr/>
            <p:nvPr/>
          </p:nvSpPr>
          <p:spPr>
            <a:xfrm>
              <a:off x="5159" y="1344"/>
              <a:ext cx="0" cy="288"/>
            </a:xfrm>
            <a:prstGeom prst="line">
              <a:avLst/>
            </a:prstGeom>
            <a:ln w="25400" cap="flat" cmpd="sng">
              <a:solidFill>
                <a:schemeClr val="tx1"/>
              </a:solidFill>
              <a:prstDash val="solid"/>
              <a:round/>
              <a:headEnd type="none" w="med" len="med"/>
              <a:tailEnd type="triangle" w="med" len="med"/>
            </a:ln>
          </p:spPr>
        </p:sp>
        <p:sp>
          <p:nvSpPr>
            <p:cNvPr id="28689" name="Text Box 16"/>
            <p:cNvSpPr txBox="1"/>
            <p:nvPr/>
          </p:nvSpPr>
          <p:spPr>
            <a:xfrm>
              <a:off x="4967" y="1584"/>
              <a:ext cx="457" cy="288"/>
            </a:xfrm>
            <a:prstGeom prst="rect">
              <a:avLst/>
            </a:prstGeom>
            <a:noFill/>
            <a:ln w="317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x</a:t>
              </a:r>
              <a:r>
                <a:rPr lang="en-US" altLang="zh-CN" sz="2400" b="1" i="1" baseline="-25000" dirty="0">
                  <a:latin typeface="Times New Roman" panose="02020603050405020304" pitchFamily="18" charset="0"/>
                  <a:ea typeface="宋体" panose="02010600030101010101" pitchFamily="2" charset="-122"/>
                </a:rPr>
                <a:t>o</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8690" name="Text Box 17"/>
            <p:cNvSpPr txBox="1"/>
            <p:nvPr/>
          </p:nvSpPr>
          <p:spPr>
            <a:xfrm>
              <a:off x="5280" y="1200"/>
              <a:ext cx="212" cy="288"/>
            </a:xfrm>
            <a:prstGeom prst="rect">
              <a:avLst/>
            </a:prstGeom>
            <a:noFill/>
            <a:ln w="317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28691" name="Line 18"/>
            <p:cNvSpPr/>
            <p:nvPr/>
          </p:nvSpPr>
          <p:spPr>
            <a:xfrm>
              <a:off x="4704" y="816"/>
              <a:ext cx="1" cy="528"/>
            </a:xfrm>
            <a:prstGeom prst="line">
              <a:avLst/>
            </a:prstGeom>
            <a:ln w="31750" cap="flat" cmpd="sng">
              <a:solidFill>
                <a:schemeClr val="tx1"/>
              </a:solidFill>
              <a:prstDash val="solid"/>
              <a:round/>
              <a:headEnd type="none" w="med" len="med"/>
              <a:tailEnd type="triangle" w="med" len="med"/>
            </a:ln>
          </p:spPr>
        </p:sp>
        <p:sp>
          <p:nvSpPr>
            <p:cNvPr id="28692" name="Text Box 19"/>
            <p:cNvSpPr txBox="1"/>
            <p:nvPr/>
          </p:nvSpPr>
          <p:spPr>
            <a:xfrm>
              <a:off x="4739" y="768"/>
              <a:ext cx="397" cy="288"/>
            </a:xfrm>
            <a:prstGeom prst="rect">
              <a:avLst/>
            </a:prstGeom>
            <a:noFill/>
            <a:ln w="317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i</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28693" name="Rectangle 20" descr="宽上对角线"/>
            <p:cNvSpPr/>
            <p:nvPr/>
          </p:nvSpPr>
          <p:spPr>
            <a:xfrm>
              <a:off x="4032" y="2832"/>
              <a:ext cx="1344" cy="192"/>
            </a:xfrm>
            <a:prstGeom prst="rect">
              <a:avLst/>
            </a:prstGeom>
            <a:blipFill rotWithShape="0">
              <a:blip r:embed="rId4"/>
            </a:blipFill>
            <a:ln w="3175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28694" name="Line 21"/>
            <p:cNvSpPr/>
            <p:nvPr/>
          </p:nvSpPr>
          <p:spPr>
            <a:xfrm>
              <a:off x="4032" y="2832"/>
              <a:ext cx="1344" cy="0"/>
            </a:xfrm>
            <a:prstGeom prst="line">
              <a:avLst/>
            </a:prstGeom>
            <a:ln w="31750" cap="flat" cmpd="sng">
              <a:solidFill>
                <a:schemeClr val="tx1"/>
              </a:solidFill>
              <a:prstDash val="solid"/>
              <a:round/>
              <a:headEnd type="none" w="med" len="med"/>
              <a:tailEnd type="none" w="med" len="med"/>
            </a:ln>
          </p:spPr>
        </p:sp>
        <p:sp>
          <p:nvSpPr>
            <p:cNvPr id="28695" name="Text Box 22"/>
            <p:cNvSpPr txBox="1"/>
            <p:nvPr/>
          </p:nvSpPr>
          <p:spPr>
            <a:xfrm>
              <a:off x="4070" y="1898"/>
              <a:ext cx="255" cy="288"/>
            </a:xfrm>
            <a:prstGeom prst="rect">
              <a:avLst/>
            </a:prstGeom>
            <a:noFill/>
            <a:ln w="317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K</a:t>
              </a:r>
            </a:p>
          </p:txBody>
        </p:sp>
        <p:sp>
          <p:nvSpPr>
            <p:cNvPr id="28696" name="Text Box 23"/>
            <p:cNvSpPr txBox="1"/>
            <p:nvPr/>
          </p:nvSpPr>
          <p:spPr>
            <a:xfrm>
              <a:off x="5078" y="1994"/>
              <a:ext cx="244" cy="288"/>
            </a:xfrm>
            <a:prstGeom prst="rect">
              <a:avLst/>
            </a:prstGeom>
            <a:noFill/>
            <a:ln w="317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C</a:t>
              </a:r>
            </a:p>
          </p:txBody>
        </p:sp>
        <p:sp>
          <p:nvSpPr>
            <p:cNvPr id="28697" name="Text Box 24"/>
            <p:cNvSpPr txBox="1"/>
            <p:nvPr/>
          </p:nvSpPr>
          <p:spPr>
            <a:xfrm>
              <a:off x="4044" y="3168"/>
              <a:ext cx="1332" cy="288"/>
            </a:xfrm>
            <a:prstGeom prst="rect">
              <a:avLst/>
            </a:prstGeom>
            <a:noFill/>
            <a:ln w="317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弹簧</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阻尼系统</a:t>
              </a:r>
            </a:p>
          </p:txBody>
        </p:sp>
      </p:grpSp>
      <p:sp>
        <p:nvSpPr>
          <p:cNvPr id="17433" name="Rectangle 25"/>
          <p:cNvSpPr/>
          <p:nvPr/>
        </p:nvSpPr>
        <p:spPr>
          <a:xfrm>
            <a:off x="3914775" y="3717925"/>
            <a:ext cx="4724400" cy="1039813"/>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系统运动方程为一阶常系数微分方程。</a:t>
            </a:r>
            <a:endParaRPr lang="zh-CN" altLang="en-US" sz="2800" dirty="0">
              <a:latin typeface="Times New Roman" panose="02020603050405020304" pitchFamily="18" charset="0"/>
              <a:ea typeface="宋体" panose="02010600030101010101" pitchFamily="2" charset="-122"/>
            </a:endParaRPr>
          </a:p>
        </p:txBody>
      </p:sp>
      <p:graphicFrame>
        <p:nvGraphicFramePr>
          <p:cNvPr id="17434" name="Object 26"/>
          <p:cNvGraphicFramePr>
            <a:graphicFrameLocks noChangeAspect="1"/>
          </p:cNvGraphicFramePr>
          <p:nvPr/>
        </p:nvGraphicFramePr>
        <p:xfrm>
          <a:off x="4067175" y="2574925"/>
          <a:ext cx="4114800" cy="992188"/>
        </p:xfrm>
        <a:graphic>
          <a:graphicData uri="http://schemas.openxmlformats.org/presentationml/2006/ole">
            <mc:AlternateContent xmlns:mc="http://schemas.openxmlformats.org/markup-compatibility/2006">
              <mc:Choice xmlns:v="urn:schemas-microsoft-com:vml" Requires="v">
                <p:oleObj spid="_x0000_s9231" r:id="rId5" imgW="1854200" imgH="444500" progId="Equation.3">
                  <p:embed/>
                </p:oleObj>
              </mc:Choice>
              <mc:Fallback>
                <p:oleObj r:id="rId5" imgW="1854200" imgH="444500" progId="Equation.3">
                  <p:embed/>
                  <p:pic>
                    <p:nvPicPr>
                      <p:cNvPr id="0" name="图片 3077"/>
                      <p:cNvPicPr/>
                      <p:nvPr/>
                    </p:nvPicPr>
                    <p:blipFill>
                      <a:blip r:embed="rId6"/>
                      <a:stretch>
                        <a:fillRect/>
                      </a:stretch>
                    </p:blipFill>
                    <p:spPr>
                      <a:xfrm>
                        <a:off x="4067175" y="2574925"/>
                        <a:ext cx="4114800" cy="992188"/>
                      </a:xfrm>
                      <a:prstGeom prst="rect">
                        <a:avLst/>
                      </a:prstGeom>
                      <a:noFill/>
                      <a:ln w="38100">
                        <a:noFill/>
                        <a:miter/>
                      </a:ln>
                    </p:spPr>
                  </p:pic>
                </p:oleObj>
              </mc:Fallback>
            </mc:AlternateContent>
          </a:graphicData>
        </a:graphic>
      </p:graphicFrame>
      <p:graphicFrame>
        <p:nvGraphicFramePr>
          <p:cNvPr id="17435" name="Object 27"/>
          <p:cNvGraphicFramePr>
            <a:graphicFrameLocks noChangeAspect="1"/>
          </p:cNvGraphicFramePr>
          <p:nvPr/>
        </p:nvGraphicFramePr>
        <p:xfrm>
          <a:off x="4067175" y="1844675"/>
          <a:ext cx="3657600" cy="660400"/>
        </p:xfrm>
        <a:graphic>
          <a:graphicData uri="http://schemas.openxmlformats.org/presentationml/2006/ole">
            <mc:AlternateContent xmlns:mc="http://schemas.openxmlformats.org/markup-compatibility/2006">
              <mc:Choice xmlns:v="urn:schemas-microsoft-com:vml" Requires="v">
                <p:oleObj spid="_x0000_s9232" r:id="rId7" imgW="1257300" imgH="228600" progId="Equation.3">
                  <p:embed/>
                </p:oleObj>
              </mc:Choice>
              <mc:Fallback>
                <p:oleObj r:id="rId7" imgW="1257300" imgH="228600" progId="Equation.3">
                  <p:embed/>
                  <p:pic>
                    <p:nvPicPr>
                      <p:cNvPr id="0" name="图片 3078"/>
                      <p:cNvPicPr/>
                      <p:nvPr/>
                    </p:nvPicPr>
                    <p:blipFill>
                      <a:blip r:embed="rId8"/>
                      <a:stretch>
                        <a:fillRect/>
                      </a:stretch>
                    </p:blipFill>
                    <p:spPr>
                      <a:xfrm>
                        <a:off x="4067175" y="1844675"/>
                        <a:ext cx="3657600" cy="660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35"/>
                                        </p:tgtEl>
                                        <p:attrNameLst>
                                          <p:attrName>style.visibility</p:attrName>
                                        </p:attrNameLst>
                                      </p:cBhvr>
                                      <p:to>
                                        <p:strVal val="visible"/>
                                      </p:to>
                                    </p:set>
                                    <p:anim calcmode="lin" valueType="num">
                                      <p:cBhvr additive="base">
                                        <p:cTn id="13" dur="500" fill="hold"/>
                                        <p:tgtEl>
                                          <p:spTgt spid="17435"/>
                                        </p:tgtEl>
                                        <p:attrNameLst>
                                          <p:attrName>ppt_x</p:attrName>
                                        </p:attrNameLst>
                                      </p:cBhvr>
                                      <p:tavLst>
                                        <p:tav tm="0">
                                          <p:val>
                                            <p:strVal val="#ppt_x"/>
                                          </p:val>
                                        </p:tav>
                                        <p:tav tm="100000">
                                          <p:val>
                                            <p:strVal val="#ppt_x"/>
                                          </p:val>
                                        </p:tav>
                                      </p:tavLst>
                                    </p:anim>
                                    <p:anim calcmode="lin" valueType="num">
                                      <p:cBhvr additive="base">
                                        <p:cTn id="14" dur="500" fill="hold"/>
                                        <p:tgtEl>
                                          <p:spTgt spid="174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34"/>
                                        </p:tgtEl>
                                        <p:attrNameLst>
                                          <p:attrName>style.visibility</p:attrName>
                                        </p:attrNameLst>
                                      </p:cBhvr>
                                      <p:to>
                                        <p:strVal val="visible"/>
                                      </p:to>
                                    </p:set>
                                    <p:anim calcmode="lin" valueType="num">
                                      <p:cBhvr additive="base">
                                        <p:cTn id="19" dur="500" fill="hold"/>
                                        <p:tgtEl>
                                          <p:spTgt spid="17434"/>
                                        </p:tgtEl>
                                        <p:attrNameLst>
                                          <p:attrName>ppt_x</p:attrName>
                                        </p:attrNameLst>
                                      </p:cBhvr>
                                      <p:tavLst>
                                        <p:tav tm="0">
                                          <p:val>
                                            <p:strVal val="#ppt_x"/>
                                          </p:val>
                                        </p:tav>
                                        <p:tav tm="100000">
                                          <p:val>
                                            <p:strVal val="#ppt_x"/>
                                          </p:val>
                                        </p:tav>
                                      </p:tavLst>
                                    </p:anim>
                                    <p:anim calcmode="lin" valueType="num">
                                      <p:cBhvr additive="base">
                                        <p:cTn id="20" dur="500" fill="hold"/>
                                        <p:tgtEl>
                                          <p:spTgt spid="174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433"/>
                                        </p:tgtEl>
                                        <p:attrNameLst>
                                          <p:attrName>style.visibility</p:attrName>
                                        </p:attrNameLst>
                                      </p:cBhvr>
                                      <p:to>
                                        <p:strVal val="visible"/>
                                      </p:to>
                                    </p:set>
                                    <p:anim calcmode="lin" valueType="num">
                                      <p:cBhvr additive="base">
                                        <p:cTn id="25" dur="500" fill="hold"/>
                                        <p:tgtEl>
                                          <p:spTgt spid="17433"/>
                                        </p:tgtEl>
                                        <p:attrNameLst>
                                          <p:attrName>ppt_x</p:attrName>
                                        </p:attrNameLst>
                                      </p:cBhvr>
                                      <p:tavLst>
                                        <p:tav tm="0">
                                          <p:val>
                                            <p:strVal val="#ppt_x"/>
                                          </p:val>
                                        </p:tav>
                                        <p:tav tm="100000">
                                          <p:val>
                                            <p:strVal val="#ppt_x"/>
                                          </p:val>
                                        </p:tav>
                                      </p:tavLst>
                                    </p:anim>
                                    <p:anim calcmode="lin" valueType="num">
                                      <p:cBhvr additive="base">
                                        <p:cTn id="26" dur="500" fill="hold"/>
                                        <p:tgtEl>
                                          <p:spTgt spid="174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30722" name="灯片编号占位符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16</a:t>
            </a:fld>
            <a:endParaRPr lang="en-US" altLang="zh-CN" sz="1200" dirty="0"/>
          </a:p>
        </p:txBody>
      </p:sp>
      <p:pic>
        <p:nvPicPr>
          <p:cNvPr id="30723" name="Picture 2"/>
          <p:cNvPicPr>
            <a:picLocks noChangeAspect="1"/>
          </p:cNvPicPr>
          <p:nvPr/>
        </p:nvPicPr>
        <p:blipFill>
          <a:blip r:embed="rId2"/>
          <a:stretch>
            <a:fillRect/>
          </a:stretch>
        </p:blipFill>
        <p:spPr>
          <a:xfrm>
            <a:off x="1476375" y="1557338"/>
            <a:ext cx="5835650" cy="2738437"/>
          </a:xfrm>
          <a:prstGeom prst="rect">
            <a:avLst/>
          </a:prstGeom>
          <a:noFill/>
          <a:ln w="9525">
            <a:noFill/>
          </a:ln>
        </p:spPr>
      </p:pic>
      <p:sp>
        <p:nvSpPr>
          <p:cNvPr id="30724" name="TextBox 6"/>
          <p:cNvSpPr txBox="1"/>
          <p:nvPr/>
        </p:nvSpPr>
        <p:spPr>
          <a:xfrm>
            <a:off x="1116013" y="981075"/>
            <a:ext cx="1800225" cy="522288"/>
          </a:xfrm>
          <a:prstGeom prst="rect">
            <a:avLst/>
          </a:prstGeom>
          <a:noFill/>
          <a:ln w="9525">
            <a:noFill/>
          </a:ln>
        </p:spPr>
        <p:txBody>
          <a:bodyPr anchor="t" anchorCtr="0">
            <a:spAutoFit/>
          </a:bodyPr>
          <a:lstStyle/>
          <a:p>
            <a:r>
              <a:rPr lang="zh-CN" altLang="en-US" sz="2800" b="1" dirty="0">
                <a:latin typeface="Verdana" panose="020B0604030504040204" pitchFamily="34" charset="0"/>
                <a:ea typeface="宋体" panose="02010600030101010101" pitchFamily="2" charset="-122"/>
              </a:rPr>
              <a:t>高阶系统</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日期占位符 5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31746" name="灯片编号占位符 5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17</a:t>
            </a:fld>
            <a:endParaRPr lang="en-US" altLang="zh-CN" sz="1200" dirty="0"/>
          </a:p>
        </p:txBody>
      </p:sp>
      <p:sp>
        <p:nvSpPr>
          <p:cNvPr id="31747" name="Rectangle 145"/>
          <p:cNvSpPr/>
          <p:nvPr/>
        </p:nvSpPr>
        <p:spPr>
          <a:xfrm>
            <a:off x="1066800" y="928688"/>
            <a:ext cx="2724150" cy="519112"/>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机械旋转系统</a:t>
            </a:r>
          </a:p>
        </p:txBody>
      </p:sp>
      <p:grpSp>
        <p:nvGrpSpPr>
          <p:cNvPr id="15509" name="Group 149"/>
          <p:cNvGrpSpPr/>
          <p:nvPr/>
        </p:nvGrpSpPr>
        <p:grpSpPr>
          <a:xfrm>
            <a:off x="533400" y="1676400"/>
            <a:ext cx="8269288" cy="4546600"/>
            <a:chOff x="336" y="1056"/>
            <a:chExt cx="5209" cy="2864"/>
          </a:xfrm>
        </p:grpSpPr>
        <p:sp>
          <p:nvSpPr>
            <p:cNvPr id="31749" name="Rectangle 109" descr="宽上对角线"/>
            <p:cNvSpPr/>
            <p:nvPr/>
          </p:nvSpPr>
          <p:spPr>
            <a:xfrm>
              <a:off x="1694" y="2480"/>
              <a:ext cx="240" cy="96"/>
            </a:xfrm>
            <a:prstGeom prst="rect">
              <a:avLst/>
            </a:prstGeom>
            <a:blipFill rotWithShape="0">
              <a:blip r:embed="rId2"/>
            </a:blipFill>
            <a:ln w="222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1750" name="Rectangle 108" descr="宽上对角线"/>
            <p:cNvSpPr/>
            <p:nvPr/>
          </p:nvSpPr>
          <p:spPr>
            <a:xfrm>
              <a:off x="1694" y="2288"/>
              <a:ext cx="240" cy="96"/>
            </a:xfrm>
            <a:prstGeom prst="rect">
              <a:avLst/>
            </a:prstGeom>
            <a:blipFill rotWithShape="0">
              <a:blip r:embed="rId2"/>
            </a:blipFill>
            <a:ln w="222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nvGrpSpPr>
            <p:cNvPr id="31751" name="Group 95"/>
            <p:cNvGrpSpPr/>
            <p:nvPr/>
          </p:nvGrpSpPr>
          <p:grpSpPr>
            <a:xfrm>
              <a:off x="926" y="1952"/>
              <a:ext cx="624" cy="912"/>
              <a:chOff x="1200" y="1152"/>
              <a:chExt cx="672" cy="1008"/>
            </a:xfrm>
          </p:grpSpPr>
          <p:sp useBgFill="1">
            <p:nvSpPr>
              <p:cNvPr id="31752" name="Oval 94"/>
              <p:cNvSpPr/>
              <p:nvPr/>
            </p:nvSpPr>
            <p:spPr>
              <a:xfrm>
                <a:off x="1296" y="1152"/>
                <a:ext cx="576" cy="1008"/>
              </a:xfrm>
              <a:prstGeom prst="ellipse">
                <a:avLst/>
              </a:prstGeom>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useBgFill="1">
            <p:nvSpPr>
              <p:cNvPr id="31753" name="Oval 93"/>
              <p:cNvSpPr/>
              <p:nvPr/>
            </p:nvSpPr>
            <p:spPr>
              <a:xfrm>
                <a:off x="1200" y="1152"/>
                <a:ext cx="576" cy="1008"/>
              </a:xfrm>
              <a:prstGeom prst="ellipse">
                <a:avLst/>
              </a:prstGeom>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31754" name="Group 101"/>
            <p:cNvGrpSpPr/>
            <p:nvPr/>
          </p:nvGrpSpPr>
          <p:grpSpPr>
            <a:xfrm>
              <a:off x="3182" y="1664"/>
              <a:ext cx="912" cy="1536"/>
              <a:chOff x="3264" y="1344"/>
              <a:chExt cx="912" cy="1536"/>
            </a:xfrm>
          </p:grpSpPr>
          <p:grpSp>
            <p:nvGrpSpPr>
              <p:cNvPr id="31755" name="Group 96"/>
              <p:cNvGrpSpPr/>
              <p:nvPr/>
            </p:nvGrpSpPr>
            <p:grpSpPr>
              <a:xfrm>
                <a:off x="3264" y="1344"/>
                <a:ext cx="912" cy="1536"/>
                <a:chOff x="1200" y="1152"/>
                <a:chExt cx="672" cy="1008"/>
              </a:xfrm>
            </p:grpSpPr>
            <p:sp useBgFill="1">
              <p:nvSpPr>
                <p:cNvPr id="31756" name="Oval 97"/>
                <p:cNvSpPr/>
                <p:nvPr/>
              </p:nvSpPr>
              <p:spPr>
                <a:xfrm>
                  <a:off x="1296" y="1152"/>
                  <a:ext cx="576" cy="1008"/>
                </a:xfrm>
                <a:prstGeom prst="ellipse">
                  <a:avLst/>
                </a:prstGeom>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useBgFill="1">
              <p:nvSpPr>
                <p:cNvPr id="31757" name="Oval 98"/>
                <p:cNvSpPr/>
                <p:nvPr/>
              </p:nvSpPr>
              <p:spPr>
                <a:xfrm>
                  <a:off x="1200" y="1152"/>
                  <a:ext cx="576" cy="1008"/>
                </a:xfrm>
                <a:prstGeom prst="ellipse">
                  <a:avLst/>
                </a:prstGeom>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31758" name="Line 99"/>
              <p:cNvSpPr/>
              <p:nvPr/>
            </p:nvSpPr>
            <p:spPr>
              <a:xfrm>
                <a:off x="3648" y="1344"/>
                <a:ext cx="144" cy="0"/>
              </a:xfrm>
              <a:prstGeom prst="line">
                <a:avLst/>
              </a:prstGeom>
              <a:ln w="22225" cap="flat" cmpd="sng">
                <a:solidFill>
                  <a:schemeClr val="tx1"/>
                </a:solidFill>
                <a:prstDash val="solid"/>
                <a:miter/>
                <a:headEnd type="none" w="med" len="med"/>
                <a:tailEnd type="none" w="med" len="med"/>
              </a:ln>
            </p:spPr>
          </p:sp>
          <p:sp>
            <p:nvSpPr>
              <p:cNvPr id="31759" name="Line 100"/>
              <p:cNvSpPr/>
              <p:nvPr/>
            </p:nvSpPr>
            <p:spPr>
              <a:xfrm>
                <a:off x="3648" y="2880"/>
                <a:ext cx="144" cy="0"/>
              </a:xfrm>
              <a:prstGeom prst="line">
                <a:avLst/>
              </a:prstGeom>
              <a:ln w="22225" cap="flat" cmpd="sng">
                <a:solidFill>
                  <a:schemeClr val="tx1"/>
                </a:solidFill>
                <a:prstDash val="solid"/>
                <a:miter/>
                <a:headEnd type="none" w="med" len="med"/>
                <a:tailEnd type="none" w="med" len="med"/>
              </a:ln>
            </p:spPr>
          </p:sp>
        </p:grpSp>
        <p:sp>
          <p:nvSpPr>
            <p:cNvPr id="31760" name="Line 102"/>
            <p:cNvSpPr/>
            <p:nvPr/>
          </p:nvSpPr>
          <p:spPr>
            <a:xfrm>
              <a:off x="1214" y="1376"/>
              <a:ext cx="0" cy="1824"/>
            </a:xfrm>
            <a:prstGeom prst="line">
              <a:avLst/>
            </a:prstGeom>
            <a:ln w="22225" cap="flat" cmpd="sng">
              <a:solidFill>
                <a:schemeClr val="tx1"/>
              </a:solidFill>
              <a:prstDash val="solid"/>
              <a:miter/>
              <a:headEnd type="none" w="med" len="med"/>
              <a:tailEnd type="none" w="med" len="med"/>
            </a:ln>
          </p:spPr>
        </p:sp>
        <p:sp>
          <p:nvSpPr>
            <p:cNvPr id="31761" name="Line 103"/>
            <p:cNvSpPr/>
            <p:nvPr/>
          </p:nvSpPr>
          <p:spPr>
            <a:xfrm>
              <a:off x="3566" y="1376"/>
              <a:ext cx="0" cy="1968"/>
            </a:xfrm>
            <a:prstGeom prst="line">
              <a:avLst/>
            </a:prstGeom>
            <a:ln w="22225" cap="flat" cmpd="sng">
              <a:solidFill>
                <a:schemeClr val="tx1"/>
              </a:solidFill>
              <a:prstDash val="solid"/>
              <a:miter/>
              <a:headEnd type="none" w="med" len="med"/>
              <a:tailEnd type="none" w="med" len="med"/>
            </a:ln>
          </p:spPr>
        </p:sp>
        <p:sp>
          <p:nvSpPr>
            <p:cNvPr id="31762" name="Line 104"/>
            <p:cNvSpPr/>
            <p:nvPr/>
          </p:nvSpPr>
          <p:spPr>
            <a:xfrm flipH="1">
              <a:off x="638" y="2432"/>
              <a:ext cx="576" cy="0"/>
            </a:xfrm>
            <a:prstGeom prst="line">
              <a:avLst/>
            </a:prstGeom>
            <a:ln w="22225" cap="flat" cmpd="sng">
              <a:solidFill>
                <a:schemeClr val="tx1"/>
              </a:solidFill>
              <a:prstDash val="solid"/>
              <a:miter/>
              <a:headEnd type="none" w="med" len="med"/>
              <a:tailEnd type="none" w="med" len="med"/>
            </a:ln>
          </p:spPr>
        </p:sp>
        <p:sp>
          <p:nvSpPr>
            <p:cNvPr id="31763" name="Line 105"/>
            <p:cNvSpPr/>
            <p:nvPr/>
          </p:nvSpPr>
          <p:spPr>
            <a:xfrm>
              <a:off x="1550" y="2432"/>
              <a:ext cx="624" cy="0"/>
            </a:xfrm>
            <a:prstGeom prst="line">
              <a:avLst/>
            </a:prstGeom>
            <a:ln w="22225" cap="flat" cmpd="sng">
              <a:solidFill>
                <a:schemeClr val="tx1"/>
              </a:solidFill>
              <a:prstDash val="solid"/>
              <a:miter/>
              <a:headEnd type="none" w="med" len="med"/>
              <a:tailEnd type="none" w="med" len="med"/>
            </a:ln>
          </p:spPr>
        </p:sp>
        <p:sp>
          <p:nvSpPr>
            <p:cNvPr id="31764" name="Line 106"/>
            <p:cNvSpPr/>
            <p:nvPr/>
          </p:nvSpPr>
          <p:spPr>
            <a:xfrm>
              <a:off x="1694" y="2384"/>
              <a:ext cx="240" cy="0"/>
            </a:xfrm>
            <a:prstGeom prst="line">
              <a:avLst/>
            </a:prstGeom>
            <a:ln w="22225" cap="flat" cmpd="sng">
              <a:solidFill>
                <a:schemeClr val="tx1"/>
              </a:solidFill>
              <a:prstDash val="solid"/>
              <a:miter/>
              <a:headEnd type="none" w="med" len="med"/>
              <a:tailEnd type="none" w="med" len="med"/>
            </a:ln>
          </p:spPr>
        </p:sp>
        <p:sp>
          <p:nvSpPr>
            <p:cNvPr id="31765" name="Line 107"/>
            <p:cNvSpPr/>
            <p:nvPr/>
          </p:nvSpPr>
          <p:spPr>
            <a:xfrm>
              <a:off x="1694" y="2480"/>
              <a:ext cx="240" cy="0"/>
            </a:xfrm>
            <a:prstGeom prst="line">
              <a:avLst/>
            </a:prstGeom>
            <a:ln w="22225" cap="flat" cmpd="sng">
              <a:solidFill>
                <a:schemeClr val="tx1"/>
              </a:solidFill>
              <a:prstDash val="solid"/>
              <a:miter/>
              <a:headEnd type="none" w="med" len="med"/>
              <a:tailEnd type="none" w="med" len="med"/>
            </a:ln>
          </p:spPr>
        </p:sp>
        <p:sp>
          <p:nvSpPr>
            <p:cNvPr id="31766" name="Line 110"/>
            <p:cNvSpPr/>
            <p:nvPr/>
          </p:nvSpPr>
          <p:spPr>
            <a:xfrm flipH="1">
              <a:off x="2702" y="2432"/>
              <a:ext cx="864" cy="0"/>
            </a:xfrm>
            <a:prstGeom prst="line">
              <a:avLst/>
            </a:prstGeom>
            <a:ln w="22225" cap="flat" cmpd="sng">
              <a:solidFill>
                <a:schemeClr val="tx1"/>
              </a:solidFill>
              <a:prstDash val="solid"/>
              <a:miter/>
              <a:headEnd type="none" w="med" len="med"/>
              <a:tailEnd type="none" w="med" len="med"/>
            </a:ln>
          </p:spPr>
        </p:sp>
        <p:sp>
          <p:nvSpPr>
            <p:cNvPr id="31767" name="Freeform 113"/>
            <p:cNvSpPr/>
            <p:nvPr/>
          </p:nvSpPr>
          <p:spPr>
            <a:xfrm>
              <a:off x="2174" y="2272"/>
              <a:ext cx="528" cy="312"/>
            </a:xfrm>
            <a:custGeom>
              <a:avLst/>
              <a:gdLst/>
              <a:ahLst/>
              <a:cxnLst>
                <a:cxn ang="0">
                  <a:pos x="0" y="160"/>
                </a:cxn>
                <a:cxn ang="0">
                  <a:pos x="96" y="16"/>
                </a:cxn>
                <a:cxn ang="0">
                  <a:pos x="144" y="160"/>
                </a:cxn>
                <a:cxn ang="0">
                  <a:pos x="96" y="304"/>
                </a:cxn>
                <a:cxn ang="0">
                  <a:pos x="48" y="208"/>
                </a:cxn>
                <a:cxn ang="0">
                  <a:pos x="192" y="16"/>
                </a:cxn>
                <a:cxn ang="0">
                  <a:pos x="288" y="208"/>
                </a:cxn>
                <a:cxn ang="0">
                  <a:pos x="240" y="304"/>
                </a:cxn>
                <a:cxn ang="0">
                  <a:pos x="192" y="256"/>
                </a:cxn>
                <a:cxn ang="0">
                  <a:pos x="336" y="16"/>
                </a:cxn>
                <a:cxn ang="0">
                  <a:pos x="432" y="160"/>
                </a:cxn>
                <a:cxn ang="0">
                  <a:pos x="384" y="304"/>
                </a:cxn>
                <a:cxn ang="0">
                  <a:pos x="336" y="208"/>
                </a:cxn>
                <a:cxn ang="0">
                  <a:pos x="480" y="16"/>
                </a:cxn>
                <a:cxn ang="0">
                  <a:pos x="528" y="160"/>
                </a:cxn>
              </a:cxnLst>
              <a:rect l="0" t="0" r="0" b="0"/>
              <a:pathLst>
                <a:path w="528" h="312">
                  <a:moveTo>
                    <a:pt x="0" y="160"/>
                  </a:moveTo>
                  <a:cubicBezTo>
                    <a:pt x="36" y="88"/>
                    <a:pt x="72" y="16"/>
                    <a:pt x="96" y="16"/>
                  </a:cubicBezTo>
                  <a:cubicBezTo>
                    <a:pt x="120" y="16"/>
                    <a:pt x="144" y="112"/>
                    <a:pt x="144" y="160"/>
                  </a:cubicBezTo>
                  <a:cubicBezTo>
                    <a:pt x="144" y="208"/>
                    <a:pt x="112" y="296"/>
                    <a:pt x="96" y="304"/>
                  </a:cubicBezTo>
                  <a:cubicBezTo>
                    <a:pt x="80" y="312"/>
                    <a:pt x="32" y="256"/>
                    <a:pt x="48" y="208"/>
                  </a:cubicBezTo>
                  <a:cubicBezTo>
                    <a:pt x="64" y="160"/>
                    <a:pt x="152" y="16"/>
                    <a:pt x="192" y="16"/>
                  </a:cubicBezTo>
                  <a:cubicBezTo>
                    <a:pt x="232" y="16"/>
                    <a:pt x="280" y="160"/>
                    <a:pt x="288" y="208"/>
                  </a:cubicBezTo>
                  <a:cubicBezTo>
                    <a:pt x="296" y="256"/>
                    <a:pt x="256" y="296"/>
                    <a:pt x="240" y="304"/>
                  </a:cubicBezTo>
                  <a:cubicBezTo>
                    <a:pt x="224" y="312"/>
                    <a:pt x="176" y="304"/>
                    <a:pt x="192" y="256"/>
                  </a:cubicBezTo>
                  <a:cubicBezTo>
                    <a:pt x="208" y="208"/>
                    <a:pt x="296" y="32"/>
                    <a:pt x="336" y="16"/>
                  </a:cubicBezTo>
                  <a:cubicBezTo>
                    <a:pt x="376" y="0"/>
                    <a:pt x="424" y="112"/>
                    <a:pt x="432" y="160"/>
                  </a:cubicBezTo>
                  <a:cubicBezTo>
                    <a:pt x="440" y="208"/>
                    <a:pt x="400" y="296"/>
                    <a:pt x="384" y="304"/>
                  </a:cubicBezTo>
                  <a:cubicBezTo>
                    <a:pt x="368" y="312"/>
                    <a:pt x="320" y="256"/>
                    <a:pt x="336" y="208"/>
                  </a:cubicBezTo>
                  <a:cubicBezTo>
                    <a:pt x="352" y="160"/>
                    <a:pt x="448" y="24"/>
                    <a:pt x="480" y="16"/>
                  </a:cubicBezTo>
                  <a:cubicBezTo>
                    <a:pt x="512" y="8"/>
                    <a:pt x="520" y="84"/>
                    <a:pt x="528" y="160"/>
                  </a:cubicBezTo>
                </a:path>
              </a:pathLst>
            </a:custGeom>
            <a:noFill/>
            <a:ln w="22225" cap="flat" cmpd="sng">
              <a:solidFill>
                <a:schemeClr val="tx1"/>
              </a:solidFill>
              <a:prstDash val="solid"/>
              <a:miter/>
              <a:headEnd type="none" w="med" len="med"/>
              <a:tailEnd type="none" w="med" len="med"/>
            </a:ln>
          </p:spPr>
          <p:txBody>
            <a:bodyPr/>
            <a:lstStyle/>
            <a:p>
              <a:endParaRPr lang="zh-CN" altLang="en-US"/>
            </a:p>
          </p:txBody>
        </p:sp>
        <p:sp>
          <p:nvSpPr>
            <p:cNvPr id="31768" name="Text Box 114"/>
            <p:cNvSpPr txBox="1"/>
            <p:nvPr/>
          </p:nvSpPr>
          <p:spPr>
            <a:xfrm>
              <a:off x="2314" y="2048"/>
              <a:ext cx="244" cy="288"/>
            </a:xfrm>
            <a:prstGeom prst="rect">
              <a:avLst/>
            </a:prstGeom>
            <a:noFill/>
            <a:ln w="22225">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K</a:t>
              </a:r>
            </a:p>
          </p:txBody>
        </p:sp>
        <p:sp>
          <p:nvSpPr>
            <p:cNvPr id="31769" name="Freeform 116"/>
            <p:cNvSpPr/>
            <p:nvPr/>
          </p:nvSpPr>
          <p:spPr>
            <a:xfrm>
              <a:off x="2702" y="2096"/>
              <a:ext cx="344" cy="624"/>
            </a:xfrm>
            <a:custGeom>
              <a:avLst/>
              <a:gdLst/>
              <a:ahLst/>
              <a:cxnLst>
                <a:cxn ang="0">
                  <a:pos x="67" y="624"/>
                </a:cxn>
                <a:cxn ang="0">
                  <a:pos x="266" y="485"/>
                </a:cxn>
                <a:cxn ang="0">
                  <a:pos x="333" y="208"/>
                </a:cxn>
                <a:cxn ang="0">
                  <a:pos x="200" y="23"/>
                </a:cxn>
                <a:cxn ang="0">
                  <a:pos x="0" y="69"/>
                </a:cxn>
              </a:cxnLst>
              <a:rect l="0" t="0" r="0" b="0"/>
              <a:pathLst>
                <a:path w="248" h="648">
                  <a:moveTo>
                    <a:pt x="48" y="648"/>
                  </a:moveTo>
                  <a:cubicBezTo>
                    <a:pt x="104" y="612"/>
                    <a:pt x="160" y="576"/>
                    <a:pt x="192" y="504"/>
                  </a:cubicBezTo>
                  <a:cubicBezTo>
                    <a:pt x="224" y="432"/>
                    <a:pt x="248" y="296"/>
                    <a:pt x="240" y="216"/>
                  </a:cubicBezTo>
                  <a:cubicBezTo>
                    <a:pt x="232" y="136"/>
                    <a:pt x="184" y="48"/>
                    <a:pt x="144" y="24"/>
                  </a:cubicBezTo>
                  <a:cubicBezTo>
                    <a:pt x="104" y="0"/>
                    <a:pt x="52" y="36"/>
                    <a:pt x="0" y="72"/>
                  </a:cubicBezTo>
                </a:path>
              </a:pathLst>
            </a:custGeom>
            <a:noFill/>
            <a:ln w="22225" cap="flat" cmpd="sng">
              <a:solidFill>
                <a:schemeClr val="tx1"/>
              </a:solidFill>
              <a:prstDash val="solid"/>
              <a:miter/>
              <a:headEnd type="none" w="med" len="med"/>
              <a:tailEnd type="triangle" w="med" len="med"/>
            </a:ln>
          </p:spPr>
          <p:txBody>
            <a:bodyPr/>
            <a:lstStyle/>
            <a:p>
              <a:endParaRPr lang="zh-CN" altLang="en-US"/>
            </a:p>
          </p:txBody>
        </p:sp>
        <p:sp>
          <p:nvSpPr>
            <p:cNvPr id="31770" name="Line 117"/>
            <p:cNvSpPr/>
            <p:nvPr/>
          </p:nvSpPr>
          <p:spPr>
            <a:xfrm flipH="1" flipV="1">
              <a:off x="725" y="1520"/>
              <a:ext cx="480" cy="912"/>
            </a:xfrm>
            <a:prstGeom prst="line">
              <a:avLst/>
            </a:prstGeom>
            <a:ln w="22225" cap="flat" cmpd="sng">
              <a:solidFill>
                <a:schemeClr val="tx1"/>
              </a:solidFill>
              <a:prstDash val="solid"/>
              <a:miter/>
              <a:headEnd type="none" w="med" len="med"/>
              <a:tailEnd type="none" w="med" len="med"/>
            </a:ln>
          </p:spPr>
        </p:sp>
        <p:sp>
          <p:nvSpPr>
            <p:cNvPr id="31771" name="Line 118"/>
            <p:cNvSpPr/>
            <p:nvPr/>
          </p:nvSpPr>
          <p:spPr>
            <a:xfrm flipH="1" flipV="1">
              <a:off x="3077" y="1520"/>
              <a:ext cx="480" cy="912"/>
            </a:xfrm>
            <a:prstGeom prst="line">
              <a:avLst/>
            </a:prstGeom>
            <a:ln w="22225" cap="flat" cmpd="sng">
              <a:solidFill>
                <a:schemeClr val="tx1"/>
              </a:solidFill>
              <a:prstDash val="solid"/>
              <a:miter/>
              <a:headEnd type="none" w="med" len="med"/>
              <a:tailEnd type="none" w="med" len="med"/>
            </a:ln>
          </p:spPr>
        </p:sp>
        <p:sp>
          <p:nvSpPr>
            <p:cNvPr id="31772" name="Freeform 119"/>
            <p:cNvSpPr/>
            <p:nvPr/>
          </p:nvSpPr>
          <p:spPr>
            <a:xfrm>
              <a:off x="830" y="1544"/>
              <a:ext cx="384" cy="168"/>
            </a:xfrm>
            <a:custGeom>
              <a:avLst/>
              <a:gdLst/>
              <a:ahLst/>
              <a:cxnLst>
                <a:cxn ang="0">
                  <a:pos x="0" y="168"/>
                </a:cxn>
                <a:cxn ang="0">
                  <a:pos x="144" y="24"/>
                </a:cxn>
                <a:cxn ang="0">
                  <a:pos x="384" y="24"/>
                </a:cxn>
              </a:cxnLst>
              <a:rect l="0" t="0" r="0" b="0"/>
              <a:pathLst>
                <a:path w="384" h="168">
                  <a:moveTo>
                    <a:pt x="0" y="168"/>
                  </a:moveTo>
                  <a:cubicBezTo>
                    <a:pt x="40" y="108"/>
                    <a:pt x="80" y="48"/>
                    <a:pt x="144" y="24"/>
                  </a:cubicBezTo>
                  <a:cubicBezTo>
                    <a:pt x="208" y="0"/>
                    <a:pt x="296" y="12"/>
                    <a:pt x="384" y="24"/>
                  </a:cubicBezTo>
                </a:path>
              </a:pathLst>
            </a:custGeom>
            <a:noFill/>
            <a:ln w="22225" cap="flat" cmpd="sng">
              <a:solidFill>
                <a:schemeClr val="tx1"/>
              </a:solidFill>
              <a:prstDash val="solid"/>
              <a:miter/>
              <a:headEnd type="none" w="med" len="med"/>
              <a:tailEnd type="none" w="med" len="med"/>
            </a:ln>
          </p:spPr>
          <p:txBody>
            <a:bodyPr/>
            <a:lstStyle/>
            <a:p>
              <a:endParaRPr lang="zh-CN" altLang="en-US"/>
            </a:p>
          </p:txBody>
        </p:sp>
        <p:sp>
          <p:nvSpPr>
            <p:cNvPr id="31773" name="Freeform 120"/>
            <p:cNvSpPr/>
            <p:nvPr/>
          </p:nvSpPr>
          <p:spPr>
            <a:xfrm>
              <a:off x="3134" y="1472"/>
              <a:ext cx="432" cy="144"/>
            </a:xfrm>
            <a:custGeom>
              <a:avLst/>
              <a:gdLst/>
              <a:ahLst/>
              <a:cxnLst>
                <a:cxn ang="0">
                  <a:pos x="0" y="144"/>
                </a:cxn>
                <a:cxn ang="0">
                  <a:pos x="162" y="21"/>
                </a:cxn>
                <a:cxn ang="0">
                  <a:pos x="432" y="21"/>
                </a:cxn>
              </a:cxnLst>
              <a:rect l="0" t="0" r="0" b="0"/>
              <a:pathLst>
                <a:path w="384" h="168">
                  <a:moveTo>
                    <a:pt x="0" y="168"/>
                  </a:moveTo>
                  <a:cubicBezTo>
                    <a:pt x="40" y="108"/>
                    <a:pt x="80" y="48"/>
                    <a:pt x="144" y="24"/>
                  </a:cubicBezTo>
                  <a:cubicBezTo>
                    <a:pt x="208" y="0"/>
                    <a:pt x="296" y="12"/>
                    <a:pt x="384" y="24"/>
                  </a:cubicBezTo>
                </a:path>
              </a:pathLst>
            </a:custGeom>
            <a:noFill/>
            <a:ln w="22225" cap="flat" cmpd="sng">
              <a:solidFill>
                <a:schemeClr val="tx1"/>
              </a:solidFill>
              <a:prstDash val="solid"/>
              <a:miter/>
              <a:headEnd type="none" w="med" len="med"/>
              <a:tailEnd type="none" w="med" len="med"/>
            </a:ln>
          </p:spPr>
          <p:txBody>
            <a:bodyPr/>
            <a:lstStyle/>
            <a:p>
              <a:endParaRPr lang="zh-CN" altLang="en-US"/>
            </a:p>
          </p:txBody>
        </p:sp>
        <p:sp>
          <p:nvSpPr>
            <p:cNvPr id="31774" name="Text Box 121"/>
            <p:cNvSpPr txBox="1"/>
            <p:nvPr/>
          </p:nvSpPr>
          <p:spPr>
            <a:xfrm>
              <a:off x="716" y="1184"/>
              <a:ext cx="487"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sym typeface="Symbol" panose="05050102010706020507" pitchFamily="18" charset="2"/>
                </a:rPr>
                <a:t></a:t>
              </a:r>
              <a:r>
                <a:rPr lang="en-US" altLang="zh-CN" sz="2900" i="1" baseline="-18000" dirty="0">
                  <a:latin typeface="Times New Roman" panose="02020603050405020304" pitchFamily="18" charset="0"/>
                  <a:ea typeface="宋体" panose="02010600030101010101" pitchFamily="2" charset="-122"/>
                </a:rPr>
                <a:t>i</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1775" name="Text Box 122"/>
            <p:cNvSpPr txBox="1"/>
            <p:nvPr/>
          </p:nvSpPr>
          <p:spPr>
            <a:xfrm>
              <a:off x="2990" y="1136"/>
              <a:ext cx="521"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sym typeface="Symbol" panose="05050102010706020507" pitchFamily="18" charset="2"/>
                </a:rPr>
                <a:t></a:t>
              </a:r>
              <a:r>
                <a:rPr lang="en-US" altLang="zh-CN" sz="2900" i="1" baseline="-18000" dirty="0">
                  <a:latin typeface="Times New Roman" panose="02020603050405020304" pitchFamily="18" charset="0"/>
                  <a:ea typeface="宋体" panose="02010600030101010101" pitchFamily="2" charset="-122"/>
                </a:rPr>
                <a:t>o</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1776" name="Text Box 123"/>
            <p:cNvSpPr txBox="1"/>
            <p:nvPr/>
          </p:nvSpPr>
          <p:spPr>
            <a:xfrm>
              <a:off x="1118" y="1056"/>
              <a:ext cx="228" cy="327"/>
            </a:xfrm>
            <a:prstGeom prst="rect">
              <a:avLst/>
            </a:prstGeom>
            <a:noFill/>
            <a:ln w="22225">
              <a:noFill/>
            </a:ln>
          </p:spPr>
          <p:txBody>
            <a:bodyPr wrap="none" anchor="t" anchorCtr="0">
              <a:spAutoFit/>
            </a:bodyPr>
            <a:lstStyle/>
            <a:p>
              <a:r>
                <a:rPr lang="en-US" altLang="zh-CN" sz="2800" dirty="0">
                  <a:latin typeface="Times New Roman" panose="02020603050405020304" pitchFamily="18" charset="0"/>
                  <a:ea typeface="宋体" panose="02010600030101010101" pitchFamily="2" charset="-122"/>
                </a:rPr>
                <a:t>0</a:t>
              </a:r>
            </a:p>
          </p:txBody>
        </p:sp>
        <p:sp>
          <p:nvSpPr>
            <p:cNvPr id="31777" name="Text Box 124"/>
            <p:cNvSpPr txBox="1"/>
            <p:nvPr/>
          </p:nvSpPr>
          <p:spPr>
            <a:xfrm>
              <a:off x="3470" y="1056"/>
              <a:ext cx="228" cy="327"/>
            </a:xfrm>
            <a:prstGeom prst="rect">
              <a:avLst/>
            </a:prstGeom>
            <a:noFill/>
            <a:ln w="22225">
              <a:noFill/>
            </a:ln>
          </p:spPr>
          <p:txBody>
            <a:bodyPr wrap="none" anchor="t" anchorCtr="0">
              <a:spAutoFit/>
            </a:bodyPr>
            <a:lstStyle/>
            <a:p>
              <a:r>
                <a:rPr lang="en-US" altLang="zh-CN" sz="2800" dirty="0">
                  <a:latin typeface="Times New Roman" panose="02020603050405020304" pitchFamily="18" charset="0"/>
                  <a:ea typeface="宋体" panose="02010600030101010101" pitchFamily="2" charset="-122"/>
                </a:rPr>
                <a:t>0</a:t>
              </a:r>
            </a:p>
          </p:txBody>
        </p:sp>
        <p:sp>
          <p:nvSpPr>
            <p:cNvPr id="31778" name="Text Box 125"/>
            <p:cNvSpPr txBox="1"/>
            <p:nvPr/>
          </p:nvSpPr>
          <p:spPr>
            <a:xfrm>
              <a:off x="2558" y="1776"/>
              <a:ext cx="554"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T</a:t>
              </a:r>
              <a:r>
                <a:rPr lang="en-US" altLang="zh-CN" sz="2900" i="1" baseline="-18000" dirty="0">
                  <a:latin typeface="Times New Roman" panose="02020603050405020304" pitchFamily="18" charset="0"/>
                  <a:ea typeface="宋体" panose="02010600030101010101" pitchFamily="2" charset="-122"/>
                </a:rPr>
                <a:t>K</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1779" name="Text Box 126"/>
            <p:cNvSpPr txBox="1"/>
            <p:nvPr/>
          </p:nvSpPr>
          <p:spPr>
            <a:xfrm>
              <a:off x="4188" y="1824"/>
              <a:ext cx="554"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T</a:t>
              </a:r>
              <a:r>
                <a:rPr lang="en-US" altLang="zh-CN" sz="2900" i="1" baseline="-18000" dirty="0">
                  <a:latin typeface="Times New Roman" panose="02020603050405020304" pitchFamily="18" charset="0"/>
                  <a:ea typeface="宋体" panose="02010600030101010101" pitchFamily="2" charset="-122"/>
                </a:rPr>
                <a:t>C</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1780" name="Line 127"/>
            <p:cNvSpPr/>
            <p:nvPr/>
          </p:nvSpPr>
          <p:spPr>
            <a:xfrm>
              <a:off x="4094" y="2432"/>
              <a:ext cx="768" cy="0"/>
            </a:xfrm>
            <a:prstGeom prst="line">
              <a:avLst/>
            </a:prstGeom>
            <a:ln w="22225" cap="flat" cmpd="sng">
              <a:solidFill>
                <a:schemeClr val="tx1"/>
              </a:solidFill>
              <a:prstDash val="solid"/>
              <a:miter/>
              <a:headEnd type="none" w="med" len="med"/>
              <a:tailEnd type="none" w="med" len="med"/>
            </a:ln>
          </p:spPr>
        </p:sp>
        <p:sp>
          <p:nvSpPr>
            <p:cNvPr id="31781" name="Rectangle 128" descr="宽上对角线"/>
            <p:cNvSpPr/>
            <p:nvPr/>
          </p:nvSpPr>
          <p:spPr>
            <a:xfrm>
              <a:off x="4526" y="2480"/>
              <a:ext cx="240" cy="96"/>
            </a:xfrm>
            <a:prstGeom prst="rect">
              <a:avLst/>
            </a:prstGeom>
            <a:blipFill rotWithShape="0">
              <a:blip r:embed="rId2"/>
            </a:blipFill>
            <a:ln w="222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1782" name="Rectangle 129" descr="宽上对角线"/>
            <p:cNvSpPr/>
            <p:nvPr/>
          </p:nvSpPr>
          <p:spPr>
            <a:xfrm>
              <a:off x="4526" y="2288"/>
              <a:ext cx="240" cy="96"/>
            </a:xfrm>
            <a:prstGeom prst="rect">
              <a:avLst/>
            </a:prstGeom>
            <a:blipFill rotWithShape="0">
              <a:blip r:embed="rId2"/>
            </a:blipFill>
            <a:ln w="222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1783" name="Line 130"/>
            <p:cNvSpPr/>
            <p:nvPr/>
          </p:nvSpPr>
          <p:spPr>
            <a:xfrm>
              <a:off x="4526" y="2384"/>
              <a:ext cx="240" cy="0"/>
            </a:xfrm>
            <a:prstGeom prst="line">
              <a:avLst/>
            </a:prstGeom>
            <a:ln w="22225" cap="flat" cmpd="sng">
              <a:solidFill>
                <a:schemeClr val="tx1"/>
              </a:solidFill>
              <a:prstDash val="solid"/>
              <a:miter/>
              <a:headEnd type="none" w="med" len="med"/>
              <a:tailEnd type="none" w="med" len="med"/>
            </a:ln>
          </p:spPr>
        </p:sp>
        <p:sp>
          <p:nvSpPr>
            <p:cNvPr id="31784" name="Line 131"/>
            <p:cNvSpPr/>
            <p:nvPr/>
          </p:nvSpPr>
          <p:spPr>
            <a:xfrm>
              <a:off x="4526" y="2480"/>
              <a:ext cx="240" cy="0"/>
            </a:xfrm>
            <a:prstGeom prst="line">
              <a:avLst/>
            </a:prstGeom>
            <a:ln w="22225" cap="flat" cmpd="sng">
              <a:solidFill>
                <a:schemeClr val="tx1"/>
              </a:solidFill>
              <a:prstDash val="solid"/>
              <a:miter/>
              <a:headEnd type="none" w="med" len="med"/>
              <a:tailEnd type="none" w="med" len="med"/>
            </a:ln>
          </p:spPr>
        </p:sp>
        <p:sp>
          <p:nvSpPr>
            <p:cNvPr id="31785" name="Freeform 132"/>
            <p:cNvSpPr/>
            <p:nvPr/>
          </p:nvSpPr>
          <p:spPr>
            <a:xfrm>
              <a:off x="4190" y="2048"/>
              <a:ext cx="104" cy="768"/>
            </a:xfrm>
            <a:custGeom>
              <a:avLst/>
              <a:gdLst/>
              <a:ahLst/>
              <a:cxnLst>
                <a:cxn ang="0">
                  <a:pos x="0" y="0"/>
                </a:cxn>
                <a:cxn ang="0">
                  <a:pos x="89" y="288"/>
                </a:cxn>
                <a:cxn ang="0">
                  <a:pos x="89" y="576"/>
                </a:cxn>
                <a:cxn ang="0">
                  <a:pos x="0" y="768"/>
                </a:cxn>
              </a:cxnLst>
              <a:rect l="0" t="0" r="0" b="0"/>
              <a:pathLst>
                <a:path w="56" h="768">
                  <a:moveTo>
                    <a:pt x="0" y="0"/>
                  </a:moveTo>
                  <a:cubicBezTo>
                    <a:pt x="20" y="96"/>
                    <a:pt x="40" y="192"/>
                    <a:pt x="48" y="288"/>
                  </a:cubicBezTo>
                  <a:cubicBezTo>
                    <a:pt x="56" y="384"/>
                    <a:pt x="56" y="496"/>
                    <a:pt x="48" y="576"/>
                  </a:cubicBezTo>
                  <a:cubicBezTo>
                    <a:pt x="40" y="656"/>
                    <a:pt x="20" y="712"/>
                    <a:pt x="0" y="768"/>
                  </a:cubicBezTo>
                </a:path>
              </a:pathLst>
            </a:custGeom>
            <a:noFill/>
            <a:ln w="22225" cap="flat" cmpd="sng">
              <a:solidFill>
                <a:schemeClr val="tx1"/>
              </a:solidFill>
              <a:prstDash val="solid"/>
              <a:miter/>
              <a:headEnd type="none" w="med" len="med"/>
              <a:tailEnd type="triangle" w="med" len="med"/>
            </a:ln>
          </p:spPr>
          <p:txBody>
            <a:bodyPr/>
            <a:lstStyle/>
            <a:p>
              <a:endParaRPr lang="zh-CN" altLang="en-US"/>
            </a:p>
          </p:txBody>
        </p:sp>
        <p:sp>
          <p:nvSpPr>
            <p:cNvPr id="31786" name="Rectangle 133" descr="宽上对角线"/>
            <p:cNvSpPr/>
            <p:nvPr/>
          </p:nvSpPr>
          <p:spPr>
            <a:xfrm>
              <a:off x="3356" y="3344"/>
              <a:ext cx="432" cy="96"/>
            </a:xfrm>
            <a:prstGeom prst="rect">
              <a:avLst/>
            </a:prstGeom>
            <a:blipFill rotWithShape="0">
              <a:blip r:embed="rId2"/>
            </a:blipFill>
            <a:ln w="22225">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1787" name="Line 134"/>
            <p:cNvSpPr/>
            <p:nvPr/>
          </p:nvSpPr>
          <p:spPr>
            <a:xfrm>
              <a:off x="3356" y="3344"/>
              <a:ext cx="432" cy="1"/>
            </a:xfrm>
            <a:prstGeom prst="line">
              <a:avLst/>
            </a:prstGeom>
            <a:ln w="22225" cap="flat" cmpd="sng">
              <a:solidFill>
                <a:schemeClr val="tx1"/>
              </a:solidFill>
              <a:prstDash val="solid"/>
              <a:miter/>
              <a:headEnd type="none" w="med" len="med"/>
              <a:tailEnd type="none" w="med" len="med"/>
            </a:ln>
          </p:spPr>
        </p:sp>
        <p:sp>
          <p:nvSpPr>
            <p:cNvPr id="31788" name="Text Box 135"/>
            <p:cNvSpPr txBox="1"/>
            <p:nvPr/>
          </p:nvSpPr>
          <p:spPr>
            <a:xfrm>
              <a:off x="3134" y="3104"/>
              <a:ext cx="244" cy="288"/>
            </a:xfrm>
            <a:prstGeom prst="rect">
              <a:avLst/>
            </a:prstGeom>
            <a:noFill/>
            <a:ln w="22225">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C</a:t>
              </a:r>
            </a:p>
          </p:txBody>
        </p:sp>
        <p:sp>
          <p:nvSpPr>
            <p:cNvPr id="31789" name="Line 136"/>
            <p:cNvSpPr/>
            <p:nvPr/>
          </p:nvSpPr>
          <p:spPr>
            <a:xfrm flipH="1">
              <a:off x="3662" y="3056"/>
              <a:ext cx="528" cy="240"/>
            </a:xfrm>
            <a:prstGeom prst="line">
              <a:avLst/>
            </a:prstGeom>
            <a:ln w="22225" cap="flat" cmpd="sng">
              <a:solidFill>
                <a:schemeClr val="tx1"/>
              </a:solidFill>
              <a:prstDash val="solid"/>
              <a:miter/>
              <a:headEnd type="none" w="med" len="med"/>
              <a:tailEnd type="triangle" w="med" len="med"/>
            </a:ln>
          </p:spPr>
        </p:sp>
        <p:sp>
          <p:nvSpPr>
            <p:cNvPr id="31790" name="Text Box 138"/>
            <p:cNvSpPr txBox="1"/>
            <p:nvPr/>
          </p:nvSpPr>
          <p:spPr>
            <a:xfrm>
              <a:off x="4142" y="2912"/>
              <a:ext cx="884" cy="288"/>
            </a:xfrm>
            <a:prstGeom prst="rect">
              <a:avLst/>
            </a:prstGeom>
            <a:noFill/>
            <a:ln w="22225">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粘性液体</a:t>
              </a:r>
            </a:p>
          </p:txBody>
        </p:sp>
        <p:sp>
          <p:nvSpPr>
            <p:cNvPr id="31791" name="Text Box 139"/>
            <p:cNvSpPr txBox="1"/>
            <p:nvPr/>
          </p:nvSpPr>
          <p:spPr>
            <a:xfrm>
              <a:off x="964" y="3165"/>
              <a:ext cx="500" cy="288"/>
            </a:xfrm>
            <a:prstGeom prst="rect">
              <a:avLst/>
            </a:prstGeom>
            <a:noFill/>
            <a:ln w="22225">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齿轮</a:t>
              </a:r>
            </a:p>
          </p:txBody>
        </p:sp>
        <p:sp>
          <p:nvSpPr>
            <p:cNvPr id="31792" name="Line 140"/>
            <p:cNvSpPr/>
            <p:nvPr/>
          </p:nvSpPr>
          <p:spPr>
            <a:xfrm flipV="1">
              <a:off x="3950" y="1712"/>
              <a:ext cx="240" cy="240"/>
            </a:xfrm>
            <a:prstGeom prst="line">
              <a:avLst/>
            </a:prstGeom>
            <a:ln w="22225" cap="flat" cmpd="sng">
              <a:solidFill>
                <a:schemeClr val="tx1"/>
              </a:solidFill>
              <a:prstDash val="solid"/>
              <a:miter/>
              <a:headEnd type="none" w="med" len="med"/>
              <a:tailEnd type="none" w="med" len="med"/>
            </a:ln>
          </p:spPr>
        </p:sp>
        <p:sp>
          <p:nvSpPr>
            <p:cNvPr id="31793" name="Text Box 141"/>
            <p:cNvSpPr txBox="1"/>
            <p:nvPr/>
          </p:nvSpPr>
          <p:spPr>
            <a:xfrm>
              <a:off x="4094" y="1424"/>
              <a:ext cx="215"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J</a:t>
              </a:r>
            </a:p>
          </p:txBody>
        </p:sp>
        <p:sp>
          <p:nvSpPr>
            <p:cNvPr id="31794" name="Text Box 142"/>
            <p:cNvSpPr txBox="1"/>
            <p:nvPr/>
          </p:nvSpPr>
          <p:spPr>
            <a:xfrm>
              <a:off x="964" y="3549"/>
              <a:ext cx="116" cy="288"/>
            </a:xfrm>
            <a:prstGeom prst="rect">
              <a:avLst/>
            </a:prstGeom>
            <a:noFill/>
            <a:ln w="22225">
              <a:noFill/>
            </a:ln>
          </p:spPr>
          <p:txBody>
            <a:bodyPr wrap="none" anchor="t" anchorCtr="0">
              <a:spAutoFit/>
            </a:bodyPr>
            <a:lstStyle/>
            <a:p>
              <a:endParaRPr lang="zh-CN" altLang="en-US" dirty="0">
                <a:latin typeface="Verdana" panose="020B0604030504040204" pitchFamily="34" charset="0"/>
                <a:ea typeface="宋体" panose="02010600030101010101" pitchFamily="2" charset="-122"/>
              </a:endParaRPr>
            </a:p>
          </p:txBody>
        </p:sp>
        <p:sp>
          <p:nvSpPr>
            <p:cNvPr id="31795" name="Text Box 143"/>
            <p:cNvSpPr txBox="1"/>
            <p:nvPr/>
          </p:nvSpPr>
          <p:spPr>
            <a:xfrm>
              <a:off x="336" y="3632"/>
              <a:ext cx="5209" cy="288"/>
            </a:xfrm>
            <a:prstGeom prst="rect">
              <a:avLst/>
            </a:prstGeom>
            <a:noFill/>
            <a:ln w="22225">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J </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旋转体转动惯量；</a:t>
              </a:r>
              <a:r>
                <a:rPr lang="en-US" altLang="zh-CN" sz="2400" i="1" dirty="0">
                  <a:latin typeface="Times New Roman" panose="02020603050405020304" pitchFamily="18" charset="0"/>
                  <a:ea typeface="宋体" panose="02010600030101010101" pitchFamily="2" charset="-122"/>
                </a:rPr>
                <a:t>K </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扭转刚度系数；</a:t>
              </a:r>
              <a:r>
                <a:rPr lang="en-US" altLang="zh-CN" sz="2400" i="1" dirty="0">
                  <a:latin typeface="Times New Roman" panose="02020603050405020304" pitchFamily="18" charset="0"/>
                  <a:ea typeface="宋体" panose="02010600030101010101" pitchFamily="2" charset="-122"/>
                </a:rPr>
                <a:t>C </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粘性阻尼系数</a:t>
              </a:r>
            </a:p>
          </p:txBody>
        </p:sp>
        <p:sp>
          <p:nvSpPr>
            <p:cNvPr id="31796" name="Line 146"/>
            <p:cNvSpPr/>
            <p:nvPr/>
          </p:nvSpPr>
          <p:spPr>
            <a:xfrm flipH="1">
              <a:off x="1920" y="2448"/>
              <a:ext cx="96" cy="432"/>
            </a:xfrm>
            <a:prstGeom prst="line">
              <a:avLst/>
            </a:prstGeom>
            <a:ln w="22225" cap="flat" cmpd="sng">
              <a:solidFill>
                <a:schemeClr val="tx1"/>
              </a:solidFill>
              <a:prstDash val="solid"/>
              <a:miter/>
              <a:headEnd type="none" w="med" len="med"/>
              <a:tailEnd type="none" w="med" len="med"/>
            </a:ln>
          </p:spPr>
        </p:sp>
        <p:sp>
          <p:nvSpPr>
            <p:cNvPr id="31797" name="Text Box 147"/>
            <p:cNvSpPr txBox="1"/>
            <p:nvPr/>
          </p:nvSpPr>
          <p:spPr>
            <a:xfrm>
              <a:off x="1584" y="2832"/>
              <a:ext cx="692" cy="288"/>
            </a:xfrm>
            <a:prstGeom prst="rect">
              <a:avLst/>
            </a:prstGeom>
            <a:noFill/>
            <a:ln w="22225">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柔性轴</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09"/>
                                        </p:tgtEl>
                                        <p:attrNameLst>
                                          <p:attrName>style.visibility</p:attrName>
                                        </p:attrNameLst>
                                      </p:cBhvr>
                                      <p:to>
                                        <p:strVal val="visible"/>
                                      </p:to>
                                    </p:set>
                                    <p:anim calcmode="lin" valueType="num">
                                      <p:cBhvr additive="base">
                                        <p:cTn id="7" dur="500" fill="hold"/>
                                        <p:tgtEl>
                                          <p:spTgt spid="15509"/>
                                        </p:tgtEl>
                                        <p:attrNameLst>
                                          <p:attrName>ppt_x</p:attrName>
                                        </p:attrNameLst>
                                      </p:cBhvr>
                                      <p:tavLst>
                                        <p:tav tm="0">
                                          <p:val>
                                            <p:strVal val="#ppt_x"/>
                                          </p:val>
                                        </p:tav>
                                        <p:tav tm="100000">
                                          <p:val>
                                            <p:strVal val="#ppt_x"/>
                                          </p:val>
                                        </p:tav>
                                      </p:tavLst>
                                    </p:anim>
                                    <p:anim calcmode="lin" valueType="num">
                                      <p:cBhvr additive="base">
                                        <p:cTn id="8" dur="500" fill="hold"/>
                                        <p:tgtEl>
                                          <p:spTgt spid="15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日期占位符 4"/>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32770" name="灯片编号占位符 6"/>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18</a:t>
            </a:fld>
            <a:endParaRPr lang="en-US" altLang="zh-CN" sz="1200" dirty="0"/>
          </a:p>
        </p:txBody>
      </p:sp>
      <p:graphicFrame>
        <p:nvGraphicFramePr>
          <p:cNvPr id="32771" name="Object 4"/>
          <p:cNvGraphicFramePr>
            <a:graphicFrameLocks noChangeAspect="1"/>
          </p:cNvGraphicFramePr>
          <p:nvPr/>
        </p:nvGraphicFramePr>
        <p:xfrm>
          <a:off x="1447800" y="1435100"/>
          <a:ext cx="4348163" cy="3289300"/>
        </p:xfrm>
        <a:graphic>
          <a:graphicData uri="http://schemas.openxmlformats.org/presentationml/2006/ole">
            <mc:AlternateContent xmlns:mc="http://schemas.openxmlformats.org/markup-compatibility/2006">
              <mc:Choice xmlns:v="urn:schemas-microsoft-com:vml" Requires="v">
                <p:oleObj spid="_x0000_s10255" r:id="rId3" imgW="1676400" imgH="1270000" progId="Equation.3">
                  <p:embed/>
                </p:oleObj>
              </mc:Choice>
              <mc:Fallback>
                <p:oleObj r:id="rId3" imgW="1676400" imgH="1270000" progId="Equation.3">
                  <p:embed/>
                  <p:pic>
                    <p:nvPicPr>
                      <p:cNvPr id="0" name="图片 3079"/>
                      <p:cNvPicPr/>
                      <p:nvPr/>
                    </p:nvPicPr>
                    <p:blipFill>
                      <a:blip r:embed="rId4"/>
                      <a:stretch>
                        <a:fillRect/>
                      </a:stretch>
                    </p:blipFill>
                    <p:spPr>
                      <a:xfrm>
                        <a:off x="1447800" y="1435100"/>
                        <a:ext cx="4348163" cy="3289300"/>
                      </a:xfrm>
                      <a:prstGeom prst="rect">
                        <a:avLst/>
                      </a:prstGeom>
                      <a:noFill/>
                      <a:ln w="38100">
                        <a:noFill/>
                        <a:miter/>
                      </a:ln>
                    </p:spPr>
                  </p:pic>
                </p:oleObj>
              </mc:Fallback>
            </mc:AlternateContent>
          </a:graphicData>
        </a:graphic>
      </p:graphicFrame>
      <p:graphicFrame>
        <p:nvGraphicFramePr>
          <p:cNvPr id="53251" name="Object 3"/>
          <p:cNvGraphicFramePr>
            <a:graphicFrameLocks noChangeAspect="1"/>
          </p:cNvGraphicFramePr>
          <p:nvPr/>
        </p:nvGraphicFramePr>
        <p:xfrm>
          <a:off x="1401763" y="4933950"/>
          <a:ext cx="6523037" cy="1085850"/>
        </p:xfrm>
        <a:graphic>
          <a:graphicData uri="http://schemas.openxmlformats.org/presentationml/2006/ole">
            <mc:AlternateContent xmlns:mc="http://schemas.openxmlformats.org/markup-compatibility/2006">
              <mc:Choice xmlns:v="urn:schemas-microsoft-com:vml" Requires="v">
                <p:oleObj spid="_x0000_s10256" r:id="rId5" imgW="2514600" imgH="419100" progId="Equation.3">
                  <p:embed/>
                </p:oleObj>
              </mc:Choice>
              <mc:Fallback>
                <p:oleObj r:id="rId5" imgW="2514600" imgH="419100" progId="Equation.3">
                  <p:embed/>
                  <p:pic>
                    <p:nvPicPr>
                      <p:cNvPr id="0" name="图片 3080"/>
                      <p:cNvPicPr/>
                      <p:nvPr/>
                    </p:nvPicPr>
                    <p:blipFill>
                      <a:blip r:embed="rId6"/>
                      <a:stretch>
                        <a:fillRect/>
                      </a:stretch>
                    </p:blipFill>
                    <p:spPr>
                      <a:xfrm>
                        <a:off x="1401763" y="4933950"/>
                        <a:ext cx="6523037" cy="10858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ppt_x"/>
                                          </p:val>
                                        </p:tav>
                                        <p:tav tm="100000">
                                          <p:val>
                                            <p:strVal val="#ppt_x"/>
                                          </p:val>
                                        </p:tav>
                                      </p:tavLst>
                                    </p:anim>
                                    <p:anim calcmode="lin" valueType="num">
                                      <p:cBhvr additive="base">
                                        <p:cTn id="8" dur="500" fill="hold"/>
                                        <p:tgtEl>
                                          <p:spTgt spid="532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33794"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19</a:t>
            </a:fld>
            <a:endParaRPr lang="en-US" altLang="zh-CN" sz="1200" dirty="0"/>
          </a:p>
        </p:txBody>
      </p:sp>
      <p:graphicFrame>
        <p:nvGraphicFramePr>
          <p:cNvPr id="2" name="Object 2"/>
          <p:cNvGraphicFramePr>
            <a:graphicFrameLocks noChangeAspect="1"/>
          </p:cNvGraphicFramePr>
          <p:nvPr/>
        </p:nvGraphicFramePr>
        <p:xfrm>
          <a:off x="715963" y="3421063"/>
          <a:ext cx="4913312" cy="1858962"/>
        </p:xfrm>
        <a:graphic>
          <a:graphicData uri="http://schemas.openxmlformats.org/presentationml/2006/ole">
            <mc:AlternateContent xmlns:mc="http://schemas.openxmlformats.org/markup-compatibility/2006">
              <mc:Choice xmlns:v="urn:schemas-microsoft-com:vml" Requires="v">
                <p:oleObj spid="_x0000_s11279" r:id="rId4" imgW="2514600" imgH="952500" progId="Equation.3">
                  <p:embed/>
                </p:oleObj>
              </mc:Choice>
              <mc:Fallback>
                <p:oleObj r:id="rId4" imgW="2514600" imgH="952500" progId="Equation.3">
                  <p:embed/>
                  <p:pic>
                    <p:nvPicPr>
                      <p:cNvPr id="0" name="图片 3081"/>
                      <p:cNvPicPr/>
                      <p:nvPr/>
                    </p:nvPicPr>
                    <p:blipFill>
                      <a:blip r:embed="rId5"/>
                      <a:stretch>
                        <a:fillRect/>
                      </a:stretch>
                    </p:blipFill>
                    <p:spPr>
                      <a:xfrm>
                        <a:off x="715963" y="3421063"/>
                        <a:ext cx="4913312" cy="1858962"/>
                      </a:xfrm>
                      <a:prstGeom prst="rect">
                        <a:avLst/>
                      </a:prstGeom>
                      <a:noFill/>
                      <a:ln w="38100">
                        <a:noFill/>
                        <a:miter/>
                      </a:ln>
                    </p:spPr>
                  </p:pic>
                </p:oleObj>
              </mc:Fallback>
            </mc:AlternateContent>
          </a:graphicData>
        </a:graphic>
      </p:graphicFrame>
      <p:sp>
        <p:nvSpPr>
          <p:cNvPr id="33796" name="Rectangle 3"/>
          <p:cNvSpPr/>
          <p:nvPr/>
        </p:nvSpPr>
        <p:spPr>
          <a:xfrm>
            <a:off x="517525" y="1009650"/>
            <a:ext cx="3652838" cy="519113"/>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R-L-C</a:t>
            </a:r>
            <a:r>
              <a:rPr lang="zh-CN" altLang="en-US" sz="2800" dirty="0">
                <a:latin typeface="Times New Roman" panose="02020603050405020304" pitchFamily="18" charset="0"/>
                <a:ea typeface="宋体" panose="02010600030101010101" pitchFamily="2" charset="-122"/>
              </a:rPr>
              <a:t>无源电路网络</a:t>
            </a:r>
          </a:p>
        </p:txBody>
      </p:sp>
      <p:grpSp>
        <p:nvGrpSpPr>
          <p:cNvPr id="3" name="Group 5"/>
          <p:cNvGrpSpPr/>
          <p:nvPr/>
        </p:nvGrpSpPr>
        <p:grpSpPr>
          <a:xfrm>
            <a:off x="3721100" y="1422400"/>
            <a:ext cx="5422900" cy="2211388"/>
            <a:chOff x="950" y="817"/>
            <a:chExt cx="4117" cy="2194"/>
          </a:xfrm>
        </p:grpSpPr>
        <p:sp>
          <p:nvSpPr>
            <p:cNvPr id="33798" name="Oval 6"/>
            <p:cNvSpPr/>
            <p:nvPr/>
          </p:nvSpPr>
          <p:spPr>
            <a:xfrm>
              <a:off x="1044" y="1338"/>
              <a:ext cx="68" cy="62"/>
            </a:xfrm>
            <a:prstGeom prst="ellipse">
              <a:avLst/>
            </a:prstGeom>
            <a:noFill/>
            <a:ln w="31750"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3799" name="Line 7"/>
            <p:cNvSpPr/>
            <p:nvPr/>
          </p:nvSpPr>
          <p:spPr>
            <a:xfrm>
              <a:off x="1114" y="1376"/>
              <a:ext cx="822" cy="0"/>
            </a:xfrm>
            <a:prstGeom prst="line">
              <a:avLst/>
            </a:prstGeom>
            <a:ln w="31750" cap="flat" cmpd="sng">
              <a:solidFill>
                <a:schemeClr val="tx1"/>
              </a:solidFill>
              <a:prstDash val="solid"/>
              <a:round/>
              <a:headEnd type="none" w="med" len="med"/>
              <a:tailEnd type="none" w="med" len="med"/>
            </a:ln>
          </p:spPr>
        </p:sp>
        <p:sp>
          <p:nvSpPr>
            <p:cNvPr id="33800" name="Rectangle 8"/>
            <p:cNvSpPr/>
            <p:nvPr/>
          </p:nvSpPr>
          <p:spPr>
            <a:xfrm>
              <a:off x="3031" y="1316"/>
              <a:ext cx="665" cy="120"/>
            </a:xfrm>
            <a:prstGeom prst="rect">
              <a:avLst/>
            </a:prstGeom>
            <a:noFill/>
            <a:ln w="44450"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3801" name="Freeform 9"/>
            <p:cNvSpPr/>
            <p:nvPr/>
          </p:nvSpPr>
          <p:spPr>
            <a:xfrm>
              <a:off x="1929" y="1277"/>
              <a:ext cx="163" cy="99"/>
            </a:xfrm>
            <a:custGeom>
              <a:avLst/>
              <a:gdLst/>
              <a:ahLst/>
              <a:cxnLst>
                <a:cxn ang="0">
                  <a:pos x="7" y="99"/>
                </a:cxn>
                <a:cxn ang="0">
                  <a:pos x="7" y="40"/>
                </a:cxn>
                <a:cxn ang="0">
                  <a:pos x="46" y="10"/>
                </a:cxn>
                <a:cxn ang="0">
                  <a:pos x="124" y="10"/>
                </a:cxn>
                <a:cxn ang="0">
                  <a:pos x="163" y="69"/>
                </a:cxn>
              </a:cxnLst>
              <a:rect l="0" t="0" r="0" b="0"/>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3802" name="Freeform 10"/>
            <p:cNvSpPr/>
            <p:nvPr/>
          </p:nvSpPr>
          <p:spPr>
            <a:xfrm>
              <a:off x="2086" y="1277"/>
              <a:ext cx="163" cy="99"/>
            </a:xfrm>
            <a:custGeom>
              <a:avLst/>
              <a:gdLst/>
              <a:ahLst/>
              <a:cxnLst>
                <a:cxn ang="0">
                  <a:pos x="7" y="99"/>
                </a:cxn>
                <a:cxn ang="0">
                  <a:pos x="7" y="40"/>
                </a:cxn>
                <a:cxn ang="0">
                  <a:pos x="46" y="10"/>
                </a:cxn>
                <a:cxn ang="0">
                  <a:pos x="124" y="10"/>
                </a:cxn>
                <a:cxn ang="0">
                  <a:pos x="163" y="69"/>
                </a:cxn>
              </a:cxnLst>
              <a:rect l="0" t="0" r="0" b="0"/>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3803" name="Freeform 11"/>
            <p:cNvSpPr/>
            <p:nvPr/>
          </p:nvSpPr>
          <p:spPr>
            <a:xfrm>
              <a:off x="2249" y="1277"/>
              <a:ext cx="163" cy="99"/>
            </a:xfrm>
            <a:custGeom>
              <a:avLst/>
              <a:gdLst/>
              <a:ahLst/>
              <a:cxnLst>
                <a:cxn ang="0">
                  <a:pos x="7" y="99"/>
                </a:cxn>
                <a:cxn ang="0">
                  <a:pos x="7" y="40"/>
                </a:cxn>
                <a:cxn ang="0">
                  <a:pos x="46" y="10"/>
                </a:cxn>
                <a:cxn ang="0">
                  <a:pos x="124" y="10"/>
                </a:cxn>
                <a:cxn ang="0">
                  <a:pos x="163" y="69"/>
                </a:cxn>
              </a:cxnLst>
              <a:rect l="0" t="0" r="0" b="0"/>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3804" name="Freeform 12"/>
            <p:cNvSpPr/>
            <p:nvPr/>
          </p:nvSpPr>
          <p:spPr>
            <a:xfrm>
              <a:off x="2399" y="1277"/>
              <a:ext cx="163" cy="99"/>
            </a:xfrm>
            <a:custGeom>
              <a:avLst/>
              <a:gdLst/>
              <a:ahLst/>
              <a:cxnLst>
                <a:cxn ang="0">
                  <a:pos x="7" y="99"/>
                </a:cxn>
                <a:cxn ang="0">
                  <a:pos x="7" y="40"/>
                </a:cxn>
                <a:cxn ang="0">
                  <a:pos x="46" y="10"/>
                </a:cxn>
                <a:cxn ang="0">
                  <a:pos x="124" y="10"/>
                </a:cxn>
                <a:cxn ang="0">
                  <a:pos x="163" y="69"/>
                </a:cxn>
              </a:cxnLst>
              <a:rect l="0" t="0" r="0" b="0"/>
              <a:pathLst>
                <a:path w="200" h="160">
                  <a:moveTo>
                    <a:pt x="8" y="160"/>
                  </a:moveTo>
                  <a:cubicBezTo>
                    <a:pt x="4" y="124"/>
                    <a:pt x="0" y="88"/>
                    <a:pt x="8" y="64"/>
                  </a:cubicBezTo>
                  <a:cubicBezTo>
                    <a:pt x="16" y="40"/>
                    <a:pt x="32" y="24"/>
                    <a:pt x="56" y="16"/>
                  </a:cubicBezTo>
                  <a:cubicBezTo>
                    <a:pt x="80" y="8"/>
                    <a:pt x="128" y="0"/>
                    <a:pt x="152" y="16"/>
                  </a:cubicBezTo>
                  <a:cubicBezTo>
                    <a:pt x="176" y="32"/>
                    <a:pt x="192" y="88"/>
                    <a:pt x="200" y="112"/>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3805" name="Line 13"/>
            <p:cNvSpPr/>
            <p:nvPr/>
          </p:nvSpPr>
          <p:spPr>
            <a:xfrm>
              <a:off x="2562" y="1346"/>
              <a:ext cx="0" cy="30"/>
            </a:xfrm>
            <a:prstGeom prst="line">
              <a:avLst/>
            </a:prstGeom>
            <a:ln w="38100" cap="flat" cmpd="sng">
              <a:solidFill>
                <a:schemeClr val="tx1"/>
              </a:solidFill>
              <a:prstDash val="solid"/>
              <a:round/>
              <a:headEnd type="none" w="med" len="med"/>
              <a:tailEnd type="none" w="med" len="med"/>
            </a:ln>
          </p:spPr>
        </p:sp>
        <p:sp>
          <p:nvSpPr>
            <p:cNvPr id="33806" name="Line 14"/>
            <p:cNvSpPr/>
            <p:nvPr/>
          </p:nvSpPr>
          <p:spPr>
            <a:xfrm>
              <a:off x="2562" y="1376"/>
              <a:ext cx="469" cy="0"/>
            </a:xfrm>
            <a:prstGeom prst="line">
              <a:avLst/>
            </a:prstGeom>
            <a:ln w="38100" cap="flat" cmpd="sng">
              <a:solidFill>
                <a:schemeClr val="tx1"/>
              </a:solidFill>
              <a:prstDash val="solid"/>
              <a:round/>
              <a:headEnd type="none" w="med" len="med"/>
              <a:tailEnd type="none" w="med" len="med"/>
            </a:ln>
          </p:spPr>
        </p:sp>
        <p:sp>
          <p:nvSpPr>
            <p:cNvPr id="33807" name="Line 15"/>
            <p:cNvSpPr/>
            <p:nvPr/>
          </p:nvSpPr>
          <p:spPr>
            <a:xfrm>
              <a:off x="3696" y="1376"/>
              <a:ext cx="860" cy="0"/>
            </a:xfrm>
            <a:prstGeom prst="line">
              <a:avLst/>
            </a:prstGeom>
            <a:ln w="38100" cap="flat" cmpd="sng">
              <a:solidFill>
                <a:schemeClr val="tx1"/>
              </a:solidFill>
              <a:prstDash val="solid"/>
              <a:round/>
              <a:headEnd type="none" w="med" len="med"/>
              <a:tailEnd type="none" w="med" len="med"/>
            </a:ln>
          </p:spPr>
        </p:sp>
        <p:sp>
          <p:nvSpPr>
            <p:cNvPr id="33808" name="Oval 16"/>
            <p:cNvSpPr/>
            <p:nvPr/>
          </p:nvSpPr>
          <p:spPr>
            <a:xfrm>
              <a:off x="4556" y="1346"/>
              <a:ext cx="79" cy="60"/>
            </a:xfrm>
            <a:prstGeom prst="ellipse">
              <a:avLst/>
            </a:prstGeom>
            <a:noFill/>
            <a:ln w="31750"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3809" name="Line 17"/>
            <p:cNvSpPr/>
            <p:nvPr/>
          </p:nvSpPr>
          <p:spPr>
            <a:xfrm>
              <a:off x="3892" y="1885"/>
              <a:ext cx="234" cy="0"/>
            </a:xfrm>
            <a:prstGeom prst="line">
              <a:avLst/>
            </a:prstGeom>
            <a:ln w="44450" cap="flat" cmpd="sng">
              <a:solidFill>
                <a:schemeClr val="tx1"/>
              </a:solidFill>
              <a:prstDash val="solid"/>
              <a:round/>
              <a:headEnd type="none" w="med" len="med"/>
              <a:tailEnd type="none" w="med" len="med"/>
            </a:ln>
          </p:spPr>
        </p:sp>
        <p:sp>
          <p:nvSpPr>
            <p:cNvPr id="33810" name="Line 18"/>
            <p:cNvSpPr/>
            <p:nvPr/>
          </p:nvSpPr>
          <p:spPr>
            <a:xfrm>
              <a:off x="3892" y="1945"/>
              <a:ext cx="234" cy="0"/>
            </a:xfrm>
            <a:prstGeom prst="line">
              <a:avLst/>
            </a:prstGeom>
            <a:ln w="44450" cap="flat" cmpd="sng">
              <a:solidFill>
                <a:schemeClr val="tx1"/>
              </a:solidFill>
              <a:prstDash val="solid"/>
              <a:round/>
              <a:headEnd type="none" w="med" len="med"/>
              <a:tailEnd type="none" w="med" len="med"/>
            </a:ln>
          </p:spPr>
        </p:sp>
        <p:sp>
          <p:nvSpPr>
            <p:cNvPr id="33811" name="Line 19"/>
            <p:cNvSpPr/>
            <p:nvPr/>
          </p:nvSpPr>
          <p:spPr>
            <a:xfrm flipV="1">
              <a:off x="4009" y="1376"/>
              <a:ext cx="0" cy="509"/>
            </a:xfrm>
            <a:prstGeom prst="line">
              <a:avLst/>
            </a:prstGeom>
            <a:ln w="38100" cap="flat" cmpd="sng">
              <a:solidFill>
                <a:schemeClr val="tx1"/>
              </a:solidFill>
              <a:prstDash val="solid"/>
              <a:round/>
              <a:headEnd type="none" w="med" len="med"/>
              <a:tailEnd type="none" w="med" len="med"/>
            </a:ln>
          </p:spPr>
        </p:sp>
        <p:sp>
          <p:nvSpPr>
            <p:cNvPr id="33812" name="Line 20"/>
            <p:cNvSpPr/>
            <p:nvPr/>
          </p:nvSpPr>
          <p:spPr>
            <a:xfrm flipV="1">
              <a:off x="4009" y="1945"/>
              <a:ext cx="0" cy="509"/>
            </a:xfrm>
            <a:prstGeom prst="line">
              <a:avLst/>
            </a:prstGeom>
            <a:ln w="38100" cap="flat" cmpd="sng">
              <a:solidFill>
                <a:schemeClr val="tx1"/>
              </a:solidFill>
              <a:prstDash val="solid"/>
              <a:round/>
              <a:headEnd type="none" w="med" len="med"/>
              <a:tailEnd type="none" w="med" len="med"/>
            </a:ln>
          </p:spPr>
        </p:sp>
        <p:sp>
          <p:nvSpPr>
            <p:cNvPr id="33813" name="Line 21"/>
            <p:cNvSpPr/>
            <p:nvPr/>
          </p:nvSpPr>
          <p:spPr>
            <a:xfrm>
              <a:off x="1115" y="2454"/>
              <a:ext cx="3441" cy="0"/>
            </a:xfrm>
            <a:prstGeom prst="line">
              <a:avLst/>
            </a:prstGeom>
            <a:ln w="38100" cap="flat" cmpd="sng">
              <a:solidFill>
                <a:schemeClr val="tx1"/>
              </a:solidFill>
              <a:prstDash val="solid"/>
              <a:round/>
              <a:headEnd type="none" w="med" len="med"/>
              <a:tailEnd type="none" w="med" len="med"/>
            </a:ln>
          </p:spPr>
        </p:sp>
        <p:sp>
          <p:nvSpPr>
            <p:cNvPr id="33814" name="Oval 22"/>
            <p:cNvSpPr/>
            <p:nvPr/>
          </p:nvSpPr>
          <p:spPr>
            <a:xfrm>
              <a:off x="4556" y="2424"/>
              <a:ext cx="79" cy="59"/>
            </a:xfrm>
            <a:prstGeom prst="ellipse">
              <a:avLst/>
            </a:prstGeom>
            <a:noFill/>
            <a:ln w="31750"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3815" name="Text Box 23"/>
            <p:cNvSpPr txBox="1"/>
            <p:nvPr/>
          </p:nvSpPr>
          <p:spPr>
            <a:xfrm>
              <a:off x="2153" y="817"/>
              <a:ext cx="305" cy="519"/>
            </a:xfrm>
            <a:prstGeom prst="rect">
              <a:avLst/>
            </a:prstGeom>
            <a:noFill/>
            <a:ln w="38100">
              <a:noFill/>
            </a:ln>
          </p:spPr>
          <p:txBody>
            <a:bodyPr anchor="t" anchorCtr="0">
              <a:spAutoFit/>
            </a:bodyPr>
            <a:lstStyle/>
            <a:p>
              <a:r>
                <a:rPr lang="en-US" altLang="zh-CN" sz="2800" i="1" dirty="0">
                  <a:latin typeface="Times New Roman" panose="02020603050405020304" pitchFamily="18" charset="0"/>
                  <a:ea typeface="宋体" panose="02010600030101010101" pitchFamily="2" charset="-122"/>
                </a:rPr>
                <a:t>L</a:t>
              </a:r>
            </a:p>
          </p:txBody>
        </p:sp>
        <p:sp>
          <p:nvSpPr>
            <p:cNvPr id="33816" name="Text Box 24"/>
            <p:cNvSpPr txBox="1"/>
            <p:nvPr/>
          </p:nvSpPr>
          <p:spPr>
            <a:xfrm>
              <a:off x="3247" y="889"/>
              <a:ext cx="253" cy="327"/>
            </a:xfrm>
            <a:prstGeom prst="rect">
              <a:avLst/>
            </a:prstGeom>
            <a:noFill/>
            <a:ln w="38100">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R</a:t>
              </a:r>
            </a:p>
          </p:txBody>
        </p:sp>
        <p:sp>
          <p:nvSpPr>
            <p:cNvPr id="33817" name="Text Box 25"/>
            <p:cNvSpPr txBox="1"/>
            <p:nvPr/>
          </p:nvSpPr>
          <p:spPr>
            <a:xfrm>
              <a:off x="3623" y="1728"/>
              <a:ext cx="265" cy="327"/>
            </a:xfrm>
            <a:prstGeom prst="rect">
              <a:avLst/>
            </a:prstGeom>
            <a:noFill/>
            <a:ln w="38100">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C</a:t>
              </a:r>
            </a:p>
          </p:txBody>
        </p:sp>
        <p:sp>
          <p:nvSpPr>
            <p:cNvPr id="33818" name="Freeform 26"/>
            <p:cNvSpPr/>
            <p:nvPr/>
          </p:nvSpPr>
          <p:spPr>
            <a:xfrm>
              <a:off x="2047" y="1551"/>
              <a:ext cx="1519" cy="723"/>
            </a:xfrm>
            <a:custGeom>
              <a:avLst/>
              <a:gdLst/>
              <a:ahLst/>
              <a:cxnLst>
                <a:cxn ang="0">
                  <a:pos x="7" y="5"/>
                </a:cxn>
                <a:cxn ang="0">
                  <a:pos x="124" y="5"/>
                </a:cxn>
                <a:cxn ang="0">
                  <a:pos x="750" y="35"/>
                </a:cxn>
                <a:cxn ang="0">
                  <a:pos x="1258" y="125"/>
                </a:cxn>
                <a:cxn ang="0">
                  <a:pos x="1493" y="454"/>
                </a:cxn>
                <a:cxn ang="0">
                  <a:pos x="1415" y="723"/>
                </a:cxn>
              </a:cxnLst>
              <a:rect l="0" t="0" r="0" b="0"/>
              <a:pathLst>
                <a:path w="1864" h="1160">
                  <a:moveTo>
                    <a:pt x="8" y="8"/>
                  </a:moveTo>
                  <a:cubicBezTo>
                    <a:pt x="4" y="4"/>
                    <a:pt x="0" y="0"/>
                    <a:pt x="152" y="8"/>
                  </a:cubicBezTo>
                  <a:cubicBezTo>
                    <a:pt x="304" y="16"/>
                    <a:pt x="688" y="24"/>
                    <a:pt x="920" y="56"/>
                  </a:cubicBezTo>
                  <a:cubicBezTo>
                    <a:pt x="1152" y="88"/>
                    <a:pt x="1392" y="88"/>
                    <a:pt x="1544" y="200"/>
                  </a:cubicBezTo>
                  <a:cubicBezTo>
                    <a:pt x="1696" y="312"/>
                    <a:pt x="1800" y="568"/>
                    <a:pt x="1832" y="728"/>
                  </a:cubicBezTo>
                  <a:cubicBezTo>
                    <a:pt x="1864" y="888"/>
                    <a:pt x="1800" y="1024"/>
                    <a:pt x="1736" y="1160"/>
                  </a:cubicBezTo>
                </a:path>
              </a:pathLst>
            </a:custGeom>
            <a:noFill/>
            <a:ln w="38100" cap="flat" cmpd="sng">
              <a:solidFill>
                <a:schemeClr val="tx1"/>
              </a:solidFill>
              <a:prstDash val="solid"/>
              <a:round/>
              <a:headEnd type="none" w="med" len="med"/>
              <a:tailEnd type="triangle" w="med" len="med"/>
            </a:ln>
          </p:spPr>
          <p:txBody>
            <a:bodyPr/>
            <a:lstStyle/>
            <a:p>
              <a:endParaRPr lang="zh-CN" altLang="en-US"/>
            </a:p>
          </p:txBody>
        </p:sp>
        <p:sp>
          <p:nvSpPr>
            <p:cNvPr id="33819" name="Text Box 27"/>
            <p:cNvSpPr txBox="1"/>
            <p:nvPr/>
          </p:nvSpPr>
          <p:spPr>
            <a:xfrm>
              <a:off x="950" y="1674"/>
              <a:ext cx="682" cy="327"/>
            </a:xfrm>
            <a:prstGeom prst="rect">
              <a:avLst/>
            </a:prstGeom>
            <a:noFill/>
            <a:ln w="38100">
              <a:noFill/>
            </a:ln>
          </p:spPr>
          <p:txBody>
            <a:bodyPr anchor="t" anchorCtr="0">
              <a:spAutoFit/>
            </a:bodyPr>
            <a:lstStyle/>
            <a:p>
              <a:r>
                <a:rPr lang="en-US" altLang="zh-CN" sz="2800" b="1" i="1" dirty="0">
                  <a:latin typeface="Times New Roman" panose="02020603050405020304" pitchFamily="18" charset="0"/>
                  <a:ea typeface="宋体" panose="02010600030101010101" pitchFamily="2" charset="-122"/>
                </a:rPr>
                <a:t>u</a:t>
              </a:r>
              <a:r>
                <a:rPr lang="en-US" altLang="zh-CN" sz="2900" b="1" i="1" baseline="-25000" dirty="0">
                  <a:latin typeface="Times New Roman" panose="02020603050405020304" pitchFamily="18" charset="0"/>
                  <a:ea typeface="宋体" panose="02010600030101010101" pitchFamily="2" charset="-122"/>
                </a:rPr>
                <a:t>i</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t</a:t>
              </a:r>
              <a:r>
                <a:rPr lang="en-US" altLang="zh-CN" sz="2800" b="1" dirty="0">
                  <a:latin typeface="Times New Roman" panose="02020603050405020304" pitchFamily="18" charset="0"/>
                  <a:ea typeface="宋体" panose="02010600030101010101" pitchFamily="2" charset="-122"/>
                </a:rPr>
                <a:t>)</a:t>
              </a:r>
            </a:p>
          </p:txBody>
        </p:sp>
        <p:sp>
          <p:nvSpPr>
            <p:cNvPr id="33820" name="Text Box 28"/>
            <p:cNvSpPr txBox="1"/>
            <p:nvPr/>
          </p:nvSpPr>
          <p:spPr>
            <a:xfrm>
              <a:off x="4340" y="1746"/>
              <a:ext cx="727" cy="327"/>
            </a:xfrm>
            <a:prstGeom prst="rect">
              <a:avLst/>
            </a:prstGeom>
            <a:noFill/>
            <a:ln w="38100">
              <a:noFill/>
            </a:ln>
          </p:spPr>
          <p:txBody>
            <a:bodyPr anchor="t" anchorCtr="0">
              <a:spAutoFit/>
            </a:bodyPr>
            <a:lstStyle/>
            <a:p>
              <a:r>
                <a:rPr lang="en-US" altLang="zh-CN" sz="2800" b="1" i="1" dirty="0">
                  <a:latin typeface="Times New Roman" panose="02020603050405020304" pitchFamily="18" charset="0"/>
                  <a:ea typeface="宋体" panose="02010600030101010101" pitchFamily="2" charset="-122"/>
                </a:rPr>
                <a:t>u</a:t>
              </a:r>
              <a:r>
                <a:rPr lang="en-US" altLang="zh-CN" sz="2900" b="1" i="1" baseline="-25000" dirty="0">
                  <a:latin typeface="Times New Roman" panose="02020603050405020304" pitchFamily="18" charset="0"/>
                  <a:ea typeface="宋体" panose="02010600030101010101" pitchFamily="2" charset="-122"/>
                </a:rPr>
                <a:t>o</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t</a:t>
              </a:r>
              <a:r>
                <a:rPr lang="en-US" altLang="zh-CN" sz="2800" b="1" dirty="0">
                  <a:latin typeface="Times New Roman" panose="02020603050405020304" pitchFamily="18" charset="0"/>
                  <a:ea typeface="宋体" panose="02010600030101010101" pitchFamily="2" charset="-122"/>
                </a:rPr>
                <a:t>)</a:t>
              </a:r>
            </a:p>
          </p:txBody>
        </p:sp>
        <p:sp>
          <p:nvSpPr>
            <p:cNvPr id="33821" name="Text Box 29"/>
            <p:cNvSpPr txBox="1"/>
            <p:nvPr/>
          </p:nvSpPr>
          <p:spPr>
            <a:xfrm>
              <a:off x="2973" y="1824"/>
              <a:ext cx="508" cy="519"/>
            </a:xfrm>
            <a:prstGeom prst="rect">
              <a:avLst/>
            </a:prstGeom>
            <a:noFill/>
            <a:ln w="38100">
              <a:noFill/>
            </a:ln>
          </p:spPr>
          <p:txBody>
            <a:bodyPr anchor="t" anchorCtr="0">
              <a:spAutoFit/>
            </a:bodyPr>
            <a:lstStyle/>
            <a:p>
              <a:r>
                <a:rPr lang="en-US" altLang="zh-CN" sz="2800" b="1" i="1" dirty="0">
                  <a:latin typeface="Times New Roman" panose="02020603050405020304" pitchFamily="18" charset="0"/>
                  <a:ea typeface="宋体" panose="02010600030101010101" pitchFamily="2" charset="-122"/>
                </a:rPr>
                <a:t>i</a:t>
              </a:r>
              <a:r>
                <a:rPr lang="en-US" altLang="zh-CN"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t</a:t>
              </a:r>
              <a:r>
                <a:rPr lang="en-US" altLang="zh-CN" sz="2800" b="1" dirty="0">
                  <a:latin typeface="Times New Roman" panose="02020603050405020304" pitchFamily="18" charset="0"/>
                  <a:ea typeface="宋体" panose="02010600030101010101" pitchFamily="2" charset="-122"/>
                </a:rPr>
                <a:t>)</a:t>
              </a:r>
            </a:p>
          </p:txBody>
        </p:sp>
        <p:sp>
          <p:nvSpPr>
            <p:cNvPr id="33822" name="Text Box 30"/>
            <p:cNvSpPr txBox="1"/>
            <p:nvPr/>
          </p:nvSpPr>
          <p:spPr>
            <a:xfrm>
              <a:off x="2132" y="2553"/>
              <a:ext cx="2152" cy="458"/>
            </a:xfrm>
            <a:prstGeom prst="rect">
              <a:avLst/>
            </a:prstGeom>
            <a:noFill/>
            <a:ln w="3810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R-L-C</a:t>
              </a:r>
              <a:r>
                <a:rPr lang="zh-CN" altLang="en-US" sz="2400" dirty="0">
                  <a:latin typeface="Times New Roman" panose="02020603050405020304" pitchFamily="18" charset="0"/>
                  <a:ea typeface="宋体" panose="02010600030101010101" pitchFamily="2" charset="-122"/>
                </a:rPr>
                <a:t>无源电路网络</a:t>
              </a:r>
            </a:p>
          </p:txBody>
        </p:sp>
        <p:sp>
          <p:nvSpPr>
            <p:cNvPr id="33823" name="Oval 31"/>
            <p:cNvSpPr/>
            <p:nvPr/>
          </p:nvSpPr>
          <p:spPr>
            <a:xfrm>
              <a:off x="1056" y="2432"/>
              <a:ext cx="68" cy="62"/>
            </a:xfrm>
            <a:prstGeom prst="ellipse">
              <a:avLst/>
            </a:prstGeom>
            <a:noFill/>
            <a:ln w="31750" cap="flat" cmpd="sng">
              <a:solidFill>
                <a:schemeClr val="tx1"/>
              </a:solidFill>
              <a:prstDash val="solid"/>
              <a:round/>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sp>
        <p:nvSpPr>
          <p:cNvPr id="33824" name="Text Box 2"/>
          <p:cNvSpPr txBox="1"/>
          <p:nvPr/>
        </p:nvSpPr>
        <p:spPr>
          <a:xfrm>
            <a:off x="557213" y="312738"/>
            <a:ext cx="4419600" cy="58261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电气系统</a:t>
            </a:r>
            <a:endParaRPr lang="zh-CN" altLang="en-US" sz="2800" dirty="0">
              <a:latin typeface="Times New Roman" panose="02020603050405020304" pitchFamily="18" charset="0"/>
              <a:ea typeface="宋体" panose="02010600030101010101" pitchFamily="2" charset="-122"/>
            </a:endParaRPr>
          </a:p>
        </p:txBody>
      </p:sp>
      <p:graphicFrame>
        <p:nvGraphicFramePr>
          <p:cNvPr id="27656" name="Object 3"/>
          <p:cNvGraphicFramePr>
            <a:graphicFrameLocks noChangeAspect="1"/>
          </p:cNvGraphicFramePr>
          <p:nvPr/>
        </p:nvGraphicFramePr>
        <p:xfrm>
          <a:off x="977900" y="5348288"/>
          <a:ext cx="5486400" cy="892175"/>
        </p:xfrm>
        <a:graphic>
          <a:graphicData uri="http://schemas.openxmlformats.org/presentationml/2006/ole">
            <mc:AlternateContent xmlns:mc="http://schemas.openxmlformats.org/markup-compatibility/2006">
              <mc:Choice xmlns:v="urn:schemas-microsoft-com:vml" Requires="v">
                <p:oleObj spid="_x0000_s11280" r:id="rId6" imgW="2870200" imgH="469900" progId="Equation.3">
                  <p:embed/>
                </p:oleObj>
              </mc:Choice>
              <mc:Fallback>
                <p:oleObj r:id="rId6" imgW="2870200" imgH="469900" progId="Equation.3">
                  <p:embed/>
                  <p:pic>
                    <p:nvPicPr>
                      <p:cNvPr id="0" name="图片 3082"/>
                      <p:cNvPicPr/>
                      <p:nvPr/>
                    </p:nvPicPr>
                    <p:blipFill>
                      <a:blip r:embed="rId7"/>
                      <a:stretch>
                        <a:fillRect/>
                      </a:stretch>
                    </p:blipFill>
                    <p:spPr>
                      <a:xfrm>
                        <a:off x="977900" y="5348288"/>
                        <a:ext cx="5486400" cy="8921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日期占位符 40"/>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35842" name="灯片编号占位符 42"/>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20</a:t>
            </a:fld>
            <a:endParaRPr lang="en-US" altLang="zh-CN" sz="1200" dirty="0"/>
          </a:p>
        </p:txBody>
      </p:sp>
      <p:graphicFrame>
        <p:nvGraphicFramePr>
          <p:cNvPr id="55336" name="Object 40"/>
          <p:cNvGraphicFramePr>
            <a:graphicFrameLocks noChangeAspect="1"/>
          </p:cNvGraphicFramePr>
          <p:nvPr/>
        </p:nvGraphicFramePr>
        <p:xfrm>
          <a:off x="1600200" y="4114800"/>
          <a:ext cx="1962150" cy="1243013"/>
        </p:xfrm>
        <a:graphic>
          <a:graphicData uri="http://schemas.openxmlformats.org/presentationml/2006/ole">
            <mc:AlternateContent xmlns:mc="http://schemas.openxmlformats.org/markup-compatibility/2006">
              <mc:Choice xmlns:v="urn:schemas-microsoft-com:vml" Requires="v">
                <p:oleObj spid="_x0000_s12310" r:id="rId3" imgW="761365" imgH="482600" progId="Equation.3">
                  <p:embed/>
                </p:oleObj>
              </mc:Choice>
              <mc:Fallback>
                <p:oleObj r:id="rId3" imgW="761365" imgH="482600" progId="Equation.3">
                  <p:embed/>
                  <p:pic>
                    <p:nvPicPr>
                      <p:cNvPr id="0" name="图片 3083"/>
                      <p:cNvPicPr/>
                      <p:nvPr/>
                    </p:nvPicPr>
                    <p:blipFill>
                      <a:blip r:embed="rId4"/>
                      <a:stretch>
                        <a:fillRect/>
                      </a:stretch>
                    </p:blipFill>
                    <p:spPr>
                      <a:xfrm>
                        <a:off x="1600200" y="4114800"/>
                        <a:ext cx="1962150" cy="1243013"/>
                      </a:xfrm>
                      <a:prstGeom prst="rect">
                        <a:avLst/>
                      </a:prstGeom>
                      <a:noFill/>
                      <a:ln w="38100">
                        <a:noFill/>
                        <a:miter/>
                      </a:ln>
                    </p:spPr>
                  </p:pic>
                </p:oleObj>
              </mc:Fallback>
            </mc:AlternateContent>
          </a:graphicData>
        </a:graphic>
      </p:graphicFrame>
      <p:sp>
        <p:nvSpPr>
          <p:cNvPr id="35844" name="Rectangle 39"/>
          <p:cNvSpPr/>
          <p:nvPr/>
        </p:nvSpPr>
        <p:spPr>
          <a:xfrm>
            <a:off x="742950" y="823913"/>
            <a:ext cx="2368550" cy="519112"/>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有源电网络</a:t>
            </a:r>
          </a:p>
        </p:txBody>
      </p:sp>
      <p:grpSp>
        <p:nvGrpSpPr>
          <p:cNvPr id="55305" name="Group 9"/>
          <p:cNvGrpSpPr/>
          <p:nvPr/>
        </p:nvGrpSpPr>
        <p:grpSpPr>
          <a:xfrm>
            <a:off x="2365375" y="1249363"/>
            <a:ext cx="5702300" cy="2578100"/>
            <a:chOff x="968" y="768"/>
            <a:chExt cx="3592" cy="1623"/>
          </a:xfrm>
        </p:grpSpPr>
        <p:sp>
          <p:nvSpPr>
            <p:cNvPr id="35846" name="AutoShape 38"/>
            <p:cNvSpPr/>
            <p:nvPr/>
          </p:nvSpPr>
          <p:spPr>
            <a:xfrm rot="5400000">
              <a:off x="2774" y="1551"/>
              <a:ext cx="768" cy="912"/>
            </a:xfrm>
            <a:prstGeom prst="triangle">
              <a:avLst>
                <a:gd name="adj" fmla="val 50000"/>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5847" name="Text Box 37"/>
            <p:cNvSpPr txBox="1"/>
            <p:nvPr/>
          </p:nvSpPr>
          <p:spPr>
            <a:xfrm>
              <a:off x="2702" y="2007"/>
              <a:ext cx="224" cy="288"/>
            </a:xfrm>
            <a:prstGeom prst="rect">
              <a:avLst/>
            </a:prstGeom>
            <a:noFill/>
            <a:ln w="222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a:t>
              </a:r>
            </a:p>
          </p:txBody>
        </p:sp>
        <p:sp>
          <p:nvSpPr>
            <p:cNvPr id="35848" name="Text Box 36"/>
            <p:cNvSpPr txBox="1"/>
            <p:nvPr/>
          </p:nvSpPr>
          <p:spPr>
            <a:xfrm>
              <a:off x="2702" y="1719"/>
              <a:ext cx="221" cy="288"/>
            </a:xfrm>
            <a:prstGeom prst="rect">
              <a:avLst/>
            </a:prstGeom>
            <a:noFill/>
            <a:ln w="222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5849" name="Line 35"/>
            <p:cNvSpPr/>
            <p:nvPr/>
          </p:nvSpPr>
          <p:spPr>
            <a:xfrm flipH="1" flipV="1">
              <a:off x="2174" y="1863"/>
              <a:ext cx="528" cy="0"/>
            </a:xfrm>
            <a:prstGeom prst="line">
              <a:avLst/>
            </a:prstGeom>
            <a:ln w="22225" cap="flat" cmpd="sng">
              <a:solidFill>
                <a:schemeClr val="tx1"/>
              </a:solidFill>
              <a:prstDash val="solid"/>
              <a:miter/>
              <a:headEnd type="none" w="med" len="med"/>
              <a:tailEnd type="none" w="med" len="med"/>
            </a:ln>
          </p:spPr>
        </p:sp>
        <p:sp>
          <p:nvSpPr>
            <p:cNvPr id="35850" name="Rectangle 34"/>
            <p:cNvSpPr/>
            <p:nvPr/>
          </p:nvSpPr>
          <p:spPr>
            <a:xfrm>
              <a:off x="1646" y="1767"/>
              <a:ext cx="528" cy="192"/>
            </a:xfrm>
            <a:prstGeom prst="rect">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5851" name="Line 33"/>
            <p:cNvSpPr/>
            <p:nvPr/>
          </p:nvSpPr>
          <p:spPr>
            <a:xfrm flipH="1">
              <a:off x="1118" y="1863"/>
              <a:ext cx="528" cy="0"/>
            </a:xfrm>
            <a:prstGeom prst="line">
              <a:avLst/>
            </a:prstGeom>
            <a:ln w="22225" cap="flat" cmpd="sng">
              <a:solidFill>
                <a:schemeClr val="tx1"/>
              </a:solidFill>
              <a:prstDash val="solid"/>
              <a:miter/>
              <a:headEnd type="none" w="med" len="med"/>
              <a:tailEnd type="none" w="med" len="med"/>
            </a:ln>
          </p:spPr>
        </p:sp>
        <p:sp>
          <p:nvSpPr>
            <p:cNvPr id="35852" name="Oval 32"/>
            <p:cNvSpPr/>
            <p:nvPr/>
          </p:nvSpPr>
          <p:spPr>
            <a:xfrm>
              <a:off x="1022" y="1815"/>
              <a:ext cx="96" cy="96"/>
            </a:xfrm>
            <a:prstGeom prst="ellipse">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5853" name="Line 31"/>
            <p:cNvSpPr/>
            <p:nvPr/>
          </p:nvSpPr>
          <p:spPr>
            <a:xfrm flipV="1">
              <a:off x="2414" y="1287"/>
              <a:ext cx="0" cy="576"/>
            </a:xfrm>
            <a:prstGeom prst="line">
              <a:avLst/>
            </a:prstGeom>
            <a:ln w="22225" cap="flat" cmpd="sng">
              <a:solidFill>
                <a:schemeClr val="tx1"/>
              </a:solidFill>
              <a:prstDash val="solid"/>
              <a:miter/>
              <a:headEnd type="none" w="med" len="med"/>
              <a:tailEnd type="none" w="med" len="med"/>
            </a:ln>
          </p:spPr>
        </p:sp>
        <p:sp>
          <p:nvSpPr>
            <p:cNvPr id="35854" name="Line 30"/>
            <p:cNvSpPr/>
            <p:nvPr/>
          </p:nvSpPr>
          <p:spPr>
            <a:xfrm>
              <a:off x="2414" y="1287"/>
              <a:ext cx="672" cy="0"/>
            </a:xfrm>
            <a:prstGeom prst="line">
              <a:avLst/>
            </a:prstGeom>
            <a:ln w="22225" cap="flat" cmpd="sng">
              <a:solidFill>
                <a:schemeClr val="tx1"/>
              </a:solidFill>
              <a:prstDash val="solid"/>
              <a:miter/>
              <a:headEnd type="none" w="med" len="med"/>
              <a:tailEnd type="none" w="med" len="med"/>
            </a:ln>
          </p:spPr>
        </p:sp>
        <p:sp>
          <p:nvSpPr>
            <p:cNvPr id="35855" name="Line 29"/>
            <p:cNvSpPr/>
            <p:nvPr/>
          </p:nvSpPr>
          <p:spPr>
            <a:xfrm>
              <a:off x="3182" y="1287"/>
              <a:ext cx="720" cy="0"/>
            </a:xfrm>
            <a:prstGeom prst="line">
              <a:avLst/>
            </a:prstGeom>
            <a:ln w="22225" cap="flat" cmpd="sng">
              <a:solidFill>
                <a:schemeClr val="tx1"/>
              </a:solidFill>
              <a:prstDash val="solid"/>
              <a:miter/>
              <a:headEnd type="none" w="med" len="med"/>
              <a:tailEnd type="none" w="med" len="med"/>
            </a:ln>
          </p:spPr>
        </p:sp>
        <p:sp>
          <p:nvSpPr>
            <p:cNvPr id="35856" name="Line 28"/>
            <p:cNvSpPr/>
            <p:nvPr/>
          </p:nvSpPr>
          <p:spPr>
            <a:xfrm>
              <a:off x="3902" y="1287"/>
              <a:ext cx="0" cy="720"/>
            </a:xfrm>
            <a:prstGeom prst="line">
              <a:avLst/>
            </a:prstGeom>
            <a:ln w="22225" cap="flat" cmpd="sng">
              <a:solidFill>
                <a:schemeClr val="tx1"/>
              </a:solidFill>
              <a:prstDash val="solid"/>
              <a:miter/>
              <a:headEnd type="none" w="med" len="med"/>
              <a:tailEnd type="none" w="med" len="med"/>
            </a:ln>
          </p:spPr>
        </p:sp>
        <p:sp>
          <p:nvSpPr>
            <p:cNvPr id="35857" name="Line 27"/>
            <p:cNvSpPr/>
            <p:nvPr/>
          </p:nvSpPr>
          <p:spPr>
            <a:xfrm>
              <a:off x="3614" y="2007"/>
              <a:ext cx="768" cy="0"/>
            </a:xfrm>
            <a:prstGeom prst="line">
              <a:avLst/>
            </a:prstGeom>
            <a:ln w="22225" cap="flat" cmpd="sng">
              <a:solidFill>
                <a:schemeClr val="tx1"/>
              </a:solidFill>
              <a:prstDash val="solid"/>
              <a:miter/>
              <a:headEnd type="none" w="med" len="med"/>
              <a:tailEnd type="none" w="med" len="med"/>
            </a:ln>
          </p:spPr>
        </p:sp>
        <p:sp>
          <p:nvSpPr>
            <p:cNvPr id="35858" name="Line 26"/>
            <p:cNvSpPr/>
            <p:nvPr/>
          </p:nvSpPr>
          <p:spPr>
            <a:xfrm flipH="1">
              <a:off x="2414" y="2151"/>
              <a:ext cx="288" cy="0"/>
            </a:xfrm>
            <a:prstGeom prst="line">
              <a:avLst/>
            </a:prstGeom>
            <a:ln w="22225" cap="flat" cmpd="sng">
              <a:solidFill>
                <a:schemeClr val="tx1"/>
              </a:solidFill>
              <a:prstDash val="solid"/>
              <a:miter/>
              <a:headEnd type="none" w="med" len="med"/>
              <a:tailEnd type="none" w="med" len="med"/>
            </a:ln>
          </p:spPr>
        </p:sp>
        <p:sp>
          <p:nvSpPr>
            <p:cNvPr id="35859" name="Line 25"/>
            <p:cNvSpPr/>
            <p:nvPr/>
          </p:nvSpPr>
          <p:spPr>
            <a:xfrm>
              <a:off x="2414" y="2151"/>
              <a:ext cx="0" cy="240"/>
            </a:xfrm>
            <a:prstGeom prst="line">
              <a:avLst/>
            </a:prstGeom>
            <a:ln w="22225" cap="flat" cmpd="sng">
              <a:solidFill>
                <a:schemeClr val="tx1"/>
              </a:solidFill>
              <a:prstDash val="solid"/>
              <a:miter/>
              <a:headEnd type="none" w="med" len="med"/>
              <a:tailEnd type="none" w="med" len="med"/>
            </a:ln>
          </p:spPr>
        </p:sp>
        <p:sp>
          <p:nvSpPr>
            <p:cNvPr id="35860" name="Line 24"/>
            <p:cNvSpPr/>
            <p:nvPr/>
          </p:nvSpPr>
          <p:spPr>
            <a:xfrm>
              <a:off x="2300" y="2391"/>
              <a:ext cx="240" cy="0"/>
            </a:xfrm>
            <a:prstGeom prst="line">
              <a:avLst/>
            </a:prstGeom>
            <a:ln w="76200" cap="flat" cmpd="sng">
              <a:solidFill>
                <a:schemeClr val="tx1"/>
              </a:solidFill>
              <a:prstDash val="solid"/>
              <a:miter/>
              <a:headEnd type="none" w="med" len="med"/>
              <a:tailEnd type="none" w="med" len="med"/>
            </a:ln>
          </p:spPr>
        </p:sp>
        <p:sp>
          <p:nvSpPr>
            <p:cNvPr id="35861" name="Line 23"/>
            <p:cNvSpPr/>
            <p:nvPr/>
          </p:nvSpPr>
          <p:spPr>
            <a:xfrm>
              <a:off x="3086" y="1143"/>
              <a:ext cx="0" cy="288"/>
            </a:xfrm>
            <a:prstGeom prst="line">
              <a:avLst/>
            </a:prstGeom>
            <a:ln w="38100" cap="flat" cmpd="sng">
              <a:solidFill>
                <a:schemeClr val="tx1"/>
              </a:solidFill>
              <a:prstDash val="solid"/>
              <a:miter/>
              <a:headEnd type="none" w="med" len="med"/>
              <a:tailEnd type="none" w="med" len="med"/>
            </a:ln>
          </p:spPr>
        </p:sp>
        <p:sp>
          <p:nvSpPr>
            <p:cNvPr id="35862" name="Line 22"/>
            <p:cNvSpPr/>
            <p:nvPr/>
          </p:nvSpPr>
          <p:spPr>
            <a:xfrm>
              <a:off x="3182" y="1143"/>
              <a:ext cx="0" cy="288"/>
            </a:xfrm>
            <a:prstGeom prst="line">
              <a:avLst/>
            </a:prstGeom>
            <a:ln w="38100" cap="flat" cmpd="sng">
              <a:solidFill>
                <a:schemeClr val="tx1"/>
              </a:solidFill>
              <a:prstDash val="solid"/>
              <a:miter/>
              <a:headEnd type="none" w="med" len="med"/>
              <a:tailEnd type="none" w="med" len="med"/>
            </a:ln>
          </p:spPr>
        </p:sp>
        <p:sp>
          <p:nvSpPr>
            <p:cNvPr id="35863" name="Oval 21"/>
            <p:cNvSpPr/>
            <p:nvPr/>
          </p:nvSpPr>
          <p:spPr>
            <a:xfrm>
              <a:off x="4382" y="1959"/>
              <a:ext cx="96" cy="96"/>
            </a:xfrm>
            <a:prstGeom prst="ellipse">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5864" name="Oval 20"/>
            <p:cNvSpPr/>
            <p:nvPr/>
          </p:nvSpPr>
          <p:spPr>
            <a:xfrm>
              <a:off x="3875" y="1986"/>
              <a:ext cx="48" cy="48"/>
            </a:xfrm>
            <a:prstGeom prst="ellipse">
              <a:avLst/>
            </a:prstGeom>
            <a:solidFill>
              <a:schemeClr val="tx1"/>
            </a:solid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5865" name="Oval 19"/>
            <p:cNvSpPr/>
            <p:nvPr/>
          </p:nvSpPr>
          <p:spPr>
            <a:xfrm>
              <a:off x="2390" y="1833"/>
              <a:ext cx="48" cy="48"/>
            </a:xfrm>
            <a:prstGeom prst="ellipse">
              <a:avLst/>
            </a:prstGeom>
            <a:solidFill>
              <a:schemeClr val="tx1"/>
            </a:solid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5866" name="Text Box 18"/>
            <p:cNvSpPr txBox="1"/>
            <p:nvPr/>
          </p:nvSpPr>
          <p:spPr>
            <a:xfrm>
              <a:off x="2999" y="1422"/>
              <a:ext cx="244" cy="288"/>
            </a:xfrm>
            <a:prstGeom prst="rect">
              <a:avLst/>
            </a:prstGeom>
            <a:noFill/>
            <a:ln w="22225">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C</a:t>
              </a:r>
            </a:p>
          </p:txBody>
        </p:sp>
        <p:sp>
          <p:nvSpPr>
            <p:cNvPr id="35867" name="Text Box 17"/>
            <p:cNvSpPr txBox="1"/>
            <p:nvPr/>
          </p:nvSpPr>
          <p:spPr>
            <a:xfrm>
              <a:off x="1786" y="1959"/>
              <a:ext cx="233" cy="288"/>
            </a:xfrm>
            <a:prstGeom prst="rect">
              <a:avLst/>
            </a:prstGeom>
            <a:noFill/>
            <a:ln w="22225">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R</a:t>
              </a:r>
            </a:p>
          </p:txBody>
        </p:sp>
        <p:sp>
          <p:nvSpPr>
            <p:cNvPr id="35868" name="Line 16"/>
            <p:cNvSpPr/>
            <p:nvPr/>
          </p:nvSpPr>
          <p:spPr>
            <a:xfrm>
              <a:off x="1694" y="1671"/>
              <a:ext cx="480" cy="0"/>
            </a:xfrm>
            <a:prstGeom prst="line">
              <a:avLst/>
            </a:prstGeom>
            <a:ln w="22225" cap="flat" cmpd="sng">
              <a:solidFill>
                <a:schemeClr val="tx1"/>
              </a:solidFill>
              <a:prstDash val="solid"/>
              <a:miter/>
              <a:headEnd type="none" w="med" len="med"/>
              <a:tailEnd type="triangle" w="med" len="med"/>
            </a:ln>
          </p:spPr>
        </p:sp>
        <p:sp>
          <p:nvSpPr>
            <p:cNvPr id="35869" name="Rectangle 15"/>
            <p:cNvSpPr/>
            <p:nvPr/>
          </p:nvSpPr>
          <p:spPr>
            <a:xfrm>
              <a:off x="1736" y="1335"/>
              <a:ext cx="466"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i</a:t>
              </a:r>
              <a:r>
                <a:rPr lang="en-US" altLang="zh-CN" sz="2900" baseline="-1800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5870" name="Rectangle 14"/>
            <p:cNvSpPr/>
            <p:nvPr/>
          </p:nvSpPr>
          <p:spPr>
            <a:xfrm>
              <a:off x="968" y="1488"/>
              <a:ext cx="482"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u</a:t>
              </a:r>
              <a:r>
                <a:rPr lang="en-US" altLang="zh-CN" sz="2900" i="1" baseline="-18000" dirty="0">
                  <a:latin typeface="Times New Roman" panose="02020603050405020304" pitchFamily="18" charset="0"/>
                  <a:ea typeface="宋体" panose="02010600030101010101" pitchFamily="2" charset="-122"/>
                </a:rPr>
                <a:t>i</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5871" name="Rectangle 13"/>
            <p:cNvSpPr/>
            <p:nvPr/>
          </p:nvSpPr>
          <p:spPr>
            <a:xfrm>
              <a:off x="4044" y="1632"/>
              <a:ext cx="516"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u</a:t>
              </a:r>
              <a:r>
                <a:rPr lang="en-US" altLang="zh-CN" sz="2900" i="1" baseline="-18000" dirty="0">
                  <a:latin typeface="Times New Roman" panose="02020603050405020304" pitchFamily="18" charset="0"/>
                  <a:ea typeface="宋体" panose="02010600030101010101" pitchFamily="2" charset="-122"/>
                </a:rPr>
                <a:t>o</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5872" name="Rectangle 12"/>
            <p:cNvSpPr/>
            <p:nvPr/>
          </p:nvSpPr>
          <p:spPr>
            <a:xfrm>
              <a:off x="2908" y="768"/>
              <a:ext cx="466" cy="327"/>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i</a:t>
              </a:r>
              <a:r>
                <a:rPr lang="en-US" altLang="zh-CN" sz="2900" baseline="-1800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a:t>
              </a:r>
            </a:p>
          </p:txBody>
        </p:sp>
        <p:sp>
          <p:nvSpPr>
            <p:cNvPr id="35873" name="Line 11"/>
            <p:cNvSpPr/>
            <p:nvPr/>
          </p:nvSpPr>
          <p:spPr>
            <a:xfrm>
              <a:off x="2924" y="1095"/>
              <a:ext cx="480" cy="0"/>
            </a:xfrm>
            <a:prstGeom prst="line">
              <a:avLst/>
            </a:prstGeom>
            <a:ln w="22225" cap="flat" cmpd="sng">
              <a:solidFill>
                <a:schemeClr val="tx1"/>
              </a:solidFill>
              <a:prstDash val="solid"/>
              <a:miter/>
              <a:headEnd type="none" w="med" len="med"/>
              <a:tailEnd type="triangle" w="med" len="med"/>
            </a:ln>
          </p:spPr>
        </p:sp>
        <p:sp>
          <p:nvSpPr>
            <p:cNvPr id="35874" name="Text Box 10"/>
            <p:cNvSpPr txBox="1"/>
            <p:nvPr/>
          </p:nvSpPr>
          <p:spPr>
            <a:xfrm>
              <a:off x="2304" y="1824"/>
              <a:ext cx="212" cy="288"/>
            </a:xfrm>
            <a:prstGeom prst="rect">
              <a:avLst/>
            </a:prstGeom>
            <a:noFill/>
            <a:ln w="22225">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a</a:t>
              </a:r>
            </a:p>
          </p:txBody>
        </p:sp>
      </p:grpSp>
      <p:grpSp>
        <p:nvGrpSpPr>
          <p:cNvPr id="55302" name="Group 6"/>
          <p:cNvGrpSpPr/>
          <p:nvPr/>
        </p:nvGrpSpPr>
        <p:grpSpPr>
          <a:xfrm>
            <a:off x="3962400" y="4222750"/>
            <a:ext cx="3733800" cy="882650"/>
            <a:chOff x="2496" y="2708"/>
            <a:chExt cx="2352" cy="556"/>
          </a:xfrm>
        </p:grpSpPr>
        <p:graphicFrame>
          <p:nvGraphicFramePr>
            <p:cNvPr id="35876" name="Object 8"/>
            <p:cNvGraphicFramePr>
              <a:graphicFrameLocks noChangeAspect="1"/>
            </p:cNvGraphicFramePr>
            <p:nvPr/>
          </p:nvGraphicFramePr>
          <p:xfrm>
            <a:off x="3286" y="2708"/>
            <a:ext cx="1562" cy="556"/>
          </p:xfrm>
          <a:graphic>
            <a:graphicData uri="http://schemas.openxmlformats.org/presentationml/2006/ole">
              <mc:AlternateContent xmlns:mc="http://schemas.openxmlformats.org/markup-compatibility/2006">
                <mc:Choice xmlns:v="urn:schemas-microsoft-com:vml" Requires="v">
                  <p:oleObj spid="_x0000_s12311" r:id="rId5" imgW="1104900" imgH="393700" progId="Equation.3">
                    <p:embed/>
                  </p:oleObj>
                </mc:Choice>
                <mc:Fallback>
                  <p:oleObj r:id="rId5" imgW="1104900" imgH="393700" progId="Equation.3">
                    <p:embed/>
                    <p:pic>
                      <p:nvPicPr>
                        <p:cNvPr id="0" name="图片 3084"/>
                        <p:cNvPicPr/>
                        <p:nvPr/>
                      </p:nvPicPr>
                      <p:blipFill>
                        <a:blip r:embed="rId6"/>
                        <a:stretch>
                          <a:fillRect/>
                        </a:stretch>
                      </p:blipFill>
                      <p:spPr>
                        <a:xfrm>
                          <a:off x="3286" y="2708"/>
                          <a:ext cx="1562" cy="556"/>
                        </a:xfrm>
                        <a:prstGeom prst="rect">
                          <a:avLst/>
                        </a:prstGeom>
                        <a:noFill/>
                        <a:ln w="38100">
                          <a:noFill/>
                          <a:miter/>
                        </a:ln>
                      </p:spPr>
                    </p:pic>
                  </p:oleObj>
                </mc:Fallback>
              </mc:AlternateContent>
            </a:graphicData>
          </a:graphic>
        </p:graphicFrame>
        <p:sp>
          <p:nvSpPr>
            <p:cNvPr id="35877" name="AutoShape 7"/>
            <p:cNvSpPr/>
            <p:nvPr/>
          </p:nvSpPr>
          <p:spPr>
            <a:xfrm>
              <a:off x="2496" y="2880"/>
              <a:ext cx="528" cy="240"/>
            </a:xfrm>
            <a:prstGeom prst="rightArrow">
              <a:avLst>
                <a:gd name="adj1" fmla="val 50000"/>
                <a:gd name="adj2" fmla="val 55000"/>
              </a:avLst>
            </a:prstGeom>
            <a:noFill/>
            <a:ln w="22225" cap="flat" cmpd="sng">
              <a:solidFill>
                <a:schemeClr val="tx1"/>
              </a:solidFill>
              <a:prstDash val="solid"/>
              <a:miter/>
              <a:headEnd type="none" w="med" len="med"/>
              <a:tailEnd type="none" w="med" len="med"/>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grpSp>
      <p:grpSp>
        <p:nvGrpSpPr>
          <p:cNvPr id="55299" name="Group 3"/>
          <p:cNvGrpSpPr/>
          <p:nvPr/>
        </p:nvGrpSpPr>
        <p:grpSpPr>
          <a:xfrm>
            <a:off x="2076450" y="5486400"/>
            <a:ext cx="3714750" cy="882650"/>
            <a:chOff x="1308" y="3456"/>
            <a:chExt cx="2340" cy="556"/>
          </a:xfrm>
        </p:grpSpPr>
        <p:graphicFrame>
          <p:nvGraphicFramePr>
            <p:cNvPr id="35879" name="Object 5"/>
            <p:cNvGraphicFramePr>
              <a:graphicFrameLocks noChangeAspect="1"/>
            </p:cNvGraphicFramePr>
            <p:nvPr/>
          </p:nvGraphicFramePr>
          <p:xfrm>
            <a:off x="1960" y="3456"/>
            <a:ext cx="1688" cy="556"/>
          </p:xfrm>
          <a:graphic>
            <a:graphicData uri="http://schemas.openxmlformats.org/presentationml/2006/ole">
              <mc:AlternateContent xmlns:mc="http://schemas.openxmlformats.org/markup-compatibility/2006">
                <mc:Choice xmlns:v="urn:schemas-microsoft-com:vml" Requires="v">
                  <p:oleObj spid="_x0000_s12312" r:id="rId7" imgW="1193800" imgH="393700" progId="Equation.3">
                    <p:embed/>
                  </p:oleObj>
                </mc:Choice>
                <mc:Fallback>
                  <p:oleObj r:id="rId7" imgW="1193800" imgH="393700" progId="Equation.3">
                    <p:embed/>
                    <p:pic>
                      <p:nvPicPr>
                        <p:cNvPr id="0" name="图片 3085"/>
                        <p:cNvPicPr/>
                        <p:nvPr/>
                      </p:nvPicPr>
                      <p:blipFill>
                        <a:blip r:embed="rId8"/>
                        <a:stretch>
                          <a:fillRect/>
                        </a:stretch>
                      </p:blipFill>
                      <p:spPr>
                        <a:xfrm>
                          <a:off x="1960" y="3456"/>
                          <a:ext cx="1688" cy="556"/>
                        </a:xfrm>
                        <a:prstGeom prst="rect">
                          <a:avLst/>
                        </a:prstGeom>
                        <a:noFill/>
                        <a:ln w="38100">
                          <a:noFill/>
                          <a:miter/>
                        </a:ln>
                      </p:spPr>
                    </p:pic>
                  </p:oleObj>
                </mc:Fallback>
              </mc:AlternateContent>
            </a:graphicData>
          </a:graphic>
        </p:graphicFrame>
        <p:sp>
          <p:nvSpPr>
            <p:cNvPr id="35880" name="Text Box 4"/>
            <p:cNvSpPr txBox="1"/>
            <p:nvPr/>
          </p:nvSpPr>
          <p:spPr>
            <a:xfrm>
              <a:off x="1308" y="3532"/>
              <a:ext cx="564" cy="327"/>
            </a:xfrm>
            <a:prstGeom prst="rect">
              <a:avLst/>
            </a:prstGeom>
            <a:noFill/>
            <a:ln w="22225">
              <a:noFill/>
            </a:ln>
          </p:spPr>
          <p:txBody>
            <a:bodyPr wrap="none" anchor="t" anchorCtr="0">
              <a:spAutoFit/>
            </a:bodyPr>
            <a:lstStyle/>
            <a:p>
              <a:r>
                <a:rPr lang="zh-CN" altLang="en-US" sz="2800" dirty="0">
                  <a:latin typeface="Times New Roman" panose="02020603050405020304" pitchFamily="18" charset="0"/>
                  <a:ea typeface="宋体" panose="02010600030101010101" pitchFamily="2" charset="-122"/>
                </a:rPr>
                <a:t>即：</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305"/>
                                        </p:tgtEl>
                                        <p:attrNameLst>
                                          <p:attrName>style.visibility</p:attrName>
                                        </p:attrNameLst>
                                      </p:cBhvr>
                                      <p:to>
                                        <p:strVal val="visible"/>
                                      </p:to>
                                    </p:set>
                                    <p:anim calcmode="lin" valueType="num">
                                      <p:cBhvr additive="base">
                                        <p:cTn id="7" dur="500" fill="hold"/>
                                        <p:tgtEl>
                                          <p:spTgt spid="55305"/>
                                        </p:tgtEl>
                                        <p:attrNameLst>
                                          <p:attrName>ppt_x</p:attrName>
                                        </p:attrNameLst>
                                      </p:cBhvr>
                                      <p:tavLst>
                                        <p:tav tm="0">
                                          <p:val>
                                            <p:strVal val="#ppt_x"/>
                                          </p:val>
                                        </p:tav>
                                        <p:tav tm="100000">
                                          <p:val>
                                            <p:strVal val="#ppt_x"/>
                                          </p:val>
                                        </p:tav>
                                      </p:tavLst>
                                    </p:anim>
                                    <p:anim calcmode="lin" valueType="num">
                                      <p:cBhvr additive="base">
                                        <p:cTn id="8" dur="500" fill="hold"/>
                                        <p:tgtEl>
                                          <p:spTgt spid="553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336"/>
                                        </p:tgtEl>
                                        <p:attrNameLst>
                                          <p:attrName>style.visibility</p:attrName>
                                        </p:attrNameLst>
                                      </p:cBhvr>
                                      <p:to>
                                        <p:strVal val="visible"/>
                                      </p:to>
                                    </p:set>
                                    <p:anim calcmode="lin" valueType="num">
                                      <p:cBhvr additive="base">
                                        <p:cTn id="13" dur="500" fill="hold"/>
                                        <p:tgtEl>
                                          <p:spTgt spid="55336"/>
                                        </p:tgtEl>
                                        <p:attrNameLst>
                                          <p:attrName>ppt_x</p:attrName>
                                        </p:attrNameLst>
                                      </p:cBhvr>
                                      <p:tavLst>
                                        <p:tav tm="0">
                                          <p:val>
                                            <p:strVal val="#ppt_x"/>
                                          </p:val>
                                        </p:tav>
                                        <p:tav tm="100000">
                                          <p:val>
                                            <p:strVal val="#ppt_x"/>
                                          </p:val>
                                        </p:tav>
                                      </p:tavLst>
                                    </p:anim>
                                    <p:anim calcmode="lin" valueType="num">
                                      <p:cBhvr additive="base">
                                        <p:cTn id="14" dur="500" fill="hold"/>
                                        <p:tgtEl>
                                          <p:spTgt spid="553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5302"/>
                                        </p:tgtEl>
                                        <p:attrNameLst>
                                          <p:attrName>style.visibility</p:attrName>
                                        </p:attrNameLst>
                                      </p:cBhvr>
                                      <p:to>
                                        <p:strVal val="visible"/>
                                      </p:to>
                                    </p:set>
                                    <p:anim calcmode="lin" valueType="num">
                                      <p:cBhvr additive="base">
                                        <p:cTn id="19" dur="500" fill="hold"/>
                                        <p:tgtEl>
                                          <p:spTgt spid="55302"/>
                                        </p:tgtEl>
                                        <p:attrNameLst>
                                          <p:attrName>ppt_x</p:attrName>
                                        </p:attrNameLst>
                                      </p:cBhvr>
                                      <p:tavLst>
                                        <p:tav tm="0">
                                          <p:val>
                                            <p:strVal val="#ppt_x"/>
                                          </p:val>
                                        </p:tav>
                                        <p:tav tm="100000">
                                          <p:val>
                                            <p:strVal val="#ppt_x"/>
                                          </p:val>
                                        </p:tav>
                                      </p:tavLst>
                                    </p:anim>
                                    <p:anim calcmode="lin" valueType="num">
                                      <p:cBhvr additive="base">
                                        <p:cTn id="20"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5299"/>
                                        </p:tgtEl>
                                        <p:attrNameLst>
                                          <p:attrName>style.visibility</p:attrName>
                                        </p:attrNameLst>
                                      </p:cBhvr>
                                      <p:to>
                                        <p:strVal val="visible"/>
                                      </p:to>
                                    </p:set>
                                    <p:anim calcmode="lin" valueType="num">
                                      <p:cBhvr additive="base">
                                        <p:cTn id="25" dur="500" fill="hold"/>
                                        <p:tgtEl>
                                          <p:spTgt spid="55299"/>
                                        </p:tgtEl>
                                        <p:attrNameLst>
                                          <p:attrName>ppt_x</p:attrName>
                                        </p:attrNameLst>
                                      </p:cBhvr>
                                      <p:tavLst>
                                        <p:tav tm="0">
                                          <p:val>
                                            <p:strVal val="#ppt_x"/>
                                          </p:val>
                                        </p:tav>
                                        <p:tav tm="100000">
                                          <p:val>
                                            <p:strVal val="#ppt_x"/>
                                          </p:val>
                                        </p:tav>
                                      </p:tavLst>
                                    </p:anim>
                                    <p:anim calcmode="lin" valueType="num">
                                      <p:cBhvr additive="base">
                                        <p:cTn id="26"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日期占位符 45"/>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36866" name="灯片编号占位符 47"/>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21</a:t>
            </a:fld>
            <a:endParaRPr lang="en-US" altLang="zh-CN" sz="1200" dirty="0"/>
          </a:p>
        </p:txBody>
      </p:sp>
      <p:grpSp>
        <p:nvGrpSpPr>
          <p:cNvPr id="23558" name="Group 6"/>
          <p:cNvGrpSpPr/>
          <p:nvPr/>
        </p:nvGrpSpPr>
        <p:grpSpPr>
          <a:xfrm>
            <a:off x="4368800" y="1806575"/>
            <a:ext cx="4724400" cy="3962400"/>
            <a:chOff x="2592" y="912"/>
            <a:chExt cx="2976" cy="2496"/>
          </a:xfrm>
        </p:grpSpPr>
        <p:sp>
          <p:nvSpPr>
            <p:cNvPr id="36868" name="Rectangle 44" descr="浅色横线"/>
            <p:cNvSpPr/>
            <p:nvPr/>
          </p:nvSpPr>
          <p:spPr>
            <a:xfrm>
              <a:off x="4565" y="2867"/>
              <a:ext cx="214" cy="91"/>
            </a:xfrm>
            <a:prstGeom prst="rect">
              <a:avLst/>
            </a:prstGeom>
            <a:blipFill rotWithShape="0">
              <a:blip r:embed="rId3"/>
            </a:blipFill>
            <a:ln w="3810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6869" name="Rectangle 43" descr="浅色横线"/>
            <p:cNvSpPr/>
            <p:nvPr/>
          </p:nvSpPr>
          <p:spPr>
            <a:xfrm>
              <a:off x="3099" y="1898"/>
              <a:ext cx="1466" cy="1060"/>
            </a:xfrm>
            <a:prstGeom prst="rect">
              <a:avLst/>
            </a:prstGeom>
            <a:blipFill rotWithShape="0">
              <a:blip r:embed="rId3"/>
            </a:blipFill>
            <a:ln w="38100">
              <a:noFill/>
            </a:ln>
          </p:spPr>
          <p:txBody>
            <a:bodyPr wrap="none" anchor="ctr" anchorCtr="0"/>
            <a:lstStyle/>
            <a:p>
              <a:endParaRPr lang="zh-CN" altLang="en-US" dirty="0">
                <a:latin typeface="Verdana" panose="020B0604030504040204" pitchFamily="34" charset="0"/>
                <a:ea typeface="宋体" panose="02010600030101010101" pitchFamily="2" charset="-122"/>
              </a:endParaRPr>
            </a:p>
          </p:txBody>
        </p:sp>
        <p:sp>
          <p:nvSpPr>
            <p:cNvPr id="36870" name="Freeform 42"/>
            <p:cNvSpPr/>
            <p:nvPr/>
          </p:nvSpPr>
          <p:spPr>
            <a:xfrm>
              <a:off x="3072" y="1348"/>
              <a:ext cx="587" cy="278"/>
            </a:xfrm>
            <a:custGeom>
              <a:avLst/>
              <a:gdLst/>
              <a:ahLst/>
              <a:cxnLst>
                <a:cxn ang="0">
                  <a:pos x="0" y="8"/>
                </a:cxn>
                <a:cxn ang="0">
                  <a:pos x="374" y="8"/>
                </a:cxn>
                <a:cxn ang="0">
                  <a:pos x="507" y="53"/>
                </a:cxn>
                <a:cxn ang="0">
                  <a:pos x="587" y="278"/>
                </a:cxn>
              </a:cxnLst>
              <a:rect l="0" t="0" r="0" b="0"/>
              <a:pathLst>
                <a:path w="1056" h="296">
                  <a:moveTo>
                    <a:pt x="0" y="8"/>
                  </a:moveTo>
                  <a:cubicBezTo>
                    <a:pt x="260" y="4"/>
                    <a:pt x="520" y="0"/>
                    <a:pt x="672" y="8"/>
                  </a:cubicBezTo>
                  <a:cubicBezTo>
                    <a:pt x="824" y="16"/>
                    <a:pt x="848" y="8"/>
                    <a:pt x="912" y="56"/>
                  </a:cubicBezTo>
                  <a:cubicBezTo>
                    <a:pt x="976" y="104"/>
                    <a:pt x="1016" y="200"/>
                    <a:pt x="1056" y="296"/>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6871" name="Freeform 41"/>
            <p:cNvSpPr/>
            <p:nvPr/>
          </p:nvSpPr>
          <p:spPr>
            <a:xfrm>
              <a:off x="3072" y="1439"/>
              <a:ext cx="507" cy="187"/>
            </a:xfrm>
            <a:custGeom>
              <a:avLst/>
              <a:gdLst/>
              <a:ahLst/>
              <a:cxnLst>
                <a:cxn ang="0">
                  <a:pos x="0" y="5"/>
                </a:cxn>
                <a:cxn ang="0">
                  <a:pos x="347" y="5"/>
                </a:cxn>
                <a:cxn ang="0">
                  <a:pos x="454" y="35"/>
                </a:cxn>
                <a:cxn ang="0">
                  <a:pos x="507" y="187"/>
                </a:cxn>
              </a:cxnLst>
              <a:rect l="0" t="0" r="0" b="0"/>
              <a:pathLst>
                <a:path w="912" h="296">
                  <a:moveTo>
                    <a:pt x="0" y="8"/>
                  </a:moveTo>
                  <a:cubicBezTo>
                    <a:pt x="244" y="4"/>
                    <a:pt x="488" y="0"/>
                    <a:pt x="624" y="8"/>
                  </a:cubicBezTo>
                  <a:cubicBezTo>
                    <a:pt x="760" y="16"/>
                    <a:pt x="768" y="8"/>
                    <a:pt x="816" y="56"/>
                  </a:cubicBezTo>
                  <a:cubicBezTo>
                    <a:pt x="864" y="104"/>
                    <a:pt x="888" y="200"/>
                    <a:pt x="912" y="296"/>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6872" name="Line 40"/>
            <p:cNvSpPr/>
            <p:nvPr/>
          </p:nvSpPr>
          <p:spPr>
            <a:xfrm>
              <a:off x="3579" y="1626"/>
              <a:ext cx="80" cy="0"/>
            </a:xfrm>
            <a:prstGeom prst="line">
              <a:avLst/>
            </a:prstGeom>
            <a:ln w="38100" cap="flat" cmpd="sng">
              <a:solidFill>
                <a:schemeClr val="tx1"/>
              </a:solidFill>
              <a:prstDash val="solid"/>
              <a:round/>
              <a:headEnd type="none" w="med" len="med"/>
              <a:tailEnd type="none" w="med" len="med"/>
            </a:ln>
          </p:spPr>
        </p:sp>
        <p:sp>
          <p:nvSpPr>
            <p:cNvPr id="36873" name="Line 39"/>
            <p:cNvSpPr/>
            <p:nvPr/>
          </p:nvSpPr>
          <p:spPr>
            <a:xfrm>
              <a:off x="3072" y="1323"/>
              <a:ext cx="0" cy="152"/>
            </a:xfrm>
            <a:prstGeom prst="line">
              <a:avLst/>
            </a:prstGeom>
            <a:ln w="38100" cap="flat" cmpd="sng">
              <a:solidFill>
                <a:schemeClr val="tx1"/>
              </a:solidFill>
              <a:prstDash val="solid"/>
              <a:round/>
              <a:headEnd type="none" w="med" len="med"/>
              <a:tailEnd type="none" w="med" len="med"/>
            </a:ln>
          </p:spPr>
        </p:sp>
        <p:sp>
          <p:nvSpPr>
            <p:cNvPr id="36874" name="Line 38"/>
            <p:cNvSpPr/>
            <p:nvPr/>
          </p:nvSpPr>
          <p:spPr>
            <a:xfrm>
              <a:off x="2859" y="1323"/>
              <a:ext cx="0" cy="152"/>
            </a:xfrm>
            <a:prstGeom prst="line">
              <a:avLst/>
            </a:prstGeom>
            <a:ln w="38100" cap="flat" cmpd="sng">
              <a:solidFill>
                <a:schemeClr val="tx1"/>
              </a:solidFill>
              <a:prstDash val="solid"/>
              <a:round/>
              <a:headEnd type="none" w="med" len="med"/>
              <a:tailEnd type="none" w="med" len="med"/>
            </a:ln>
          </p:spPr>
        </p:sp>
        <p:sp>
          <p:nvSpPr>
            <p:cNvPr id="36875" name="Line 37"/>
            <p:cNvSpPr/>
            <p:nvPr/>
          </p:nvSpPr>
          <p:spPr>
            <a:xfrm>
              <a:off x="2859" y="1323"/>
              <a:ext cx="213" cy="152"/>
            </a:xfrm>
            <a:prstGeom prst="line">
              <a:avLst/>
            </a:prstGeom>
            <a:ln w="38100" cap="flat" cmpd="sng">
              <a:solidFill>
                <a:schemeClr val="tx1"/>
              </a:solidFill>
              <a:prstDash val="solid"/>
              <a:round/>
              <a:headEnd type="none" w="med" len="med"/>
              <a:tailEnd type="none" w="med" len="med"/>
            </a:ln>
          </p:spPr>
        </p:sp>
        <p:sp>
          <p:nvSpPr>
            <p:cNvPr id="36876" name="Line 36"/>
            <p:cNvSpPr/>
            <p:nvPr/>
          </p:nvSpPr>
          <p:spPr>
            <a:xfrm flipV="1">
              <a:off x="2859" y="1323"/>
              <a:ext cx="213" cy="152"/>
            </a:xfrm>
            <a:prstGeom prst="line">
              <a:avLst/>
            </a:prstGeom>
            <a:ln w="38100" cap="flat" cmpd="sng">
              <a:solidFill>
                <a:schemeClr val="tx1"/>
              </a:solidFill>
              <a:prstDash val="solid"/>
              <a:round/>
              <a:headEnd type="none" w="med" len="med"/>
              <a:tailEnd type="none" w="med" len="med"/>
            </a:ln>
          </p:spPr>
        </p:sp>
        <p:sp>
          <p:nvSpPr>
            <p:cNvPr id="36877" name="Line 35"/>
            <p:cNvSpPr/>
            <p:nvPr/>
          </p:nvSpPr>
          <p:spPr>
            <a:xfrm flipH="1">
              <a:off x="2592" y="1353"/>
              <a:ext cx="267" cy="0"/>
            </a:xfrm>
            <a:prstGeom prst="line">
              <a:avLst/>
            </a:prstGeom>
            <a:ln w="38100" cap="flat" cmpd="sng">
              <a:solidFill>
                <a:schemeClr val="tx1"/>
              </a:solidFill>
              <a:prstDash val="solid"/>
              <a:round/>
              <a:headEnd type="none" w="med" len="med"/>
              <a:tailEnd type="none" w="med" len="med"/>
            </a:ln>
          </p:spPr>
        </p:sp>
        <p:sp>
          <p:nvSpPr>
            <p:cNvPr id="36878" name="Line 34"/>
            <p:cNvSpPr/>
            <p:nvPr/>
          </p:nvSpPr>
          <p:spPr>
            <a:xfrm flipH="1">
              <a:off x="2592" y="1444"/>
              <a:ext cx="267" cy="0"/>
            </a:xfrm>
            <a:prstGeom prst="line">
              <a:avLst/>
            </a:prstGeom>
            <a:ln w="38100" cap="flat" cmpd="sng">
              <a:solidFill>
                <a:schemeClr val="tx1"/>
              </a:solidFill>
              <a:prstDash val="solid"/>
              <a:round/>
              <a:headEnd type="none" w="med" len="med"/>
              <a:tailEnd type="none" w="med" len="med"/>
            </a:ln>
          </p:spPr>
        </p:sp>
        <p:sp>
          <p:nvSpPr>
            <p:cNvPr id="36879" name="Line 33"/>
            <p:cNvSpPr/>
            <p:nvPr/>
          </p:nvSpPr>
          <p:spPr>
            <a:xfrm flipV="1">
              <a:off x="2965" y="1202"/>
              <a:ext cx="0" cy="182"/>
            </a:xfrm>
            <a:prstGeom prst="line">
              <a:avLst/>
            </a:prstGeom>
            <a:ln w="38100" cap="flat" cmpd="sng">
              <a:solidFill>
                <a:schemeClr val="tx1"/>
              </a:solidFill>
              <a:prstDash val="solid"/>
              <a:round/>
              <a:headEnd type="none" w="med" len="med"/>
              <a:tailEnd type="none" w="med" len="med"/>
            </a:ln>
          </p:spPr>
        </p:sp>
        <p:sp>
          <p:nvSpPr>
            <p:cNvPr id="36880" name="Line 32"/>
            <p:cNvSpPr/>
            <p:nvPr/>
          </p:nvSpPr>
          <p:spPr>
            <a:xfrm>
              <a:off x="2885" y="1202"/>
              <a:ext cx="160" cy="0"/>
            </a:xfrm>
            <a:prstGeom prst="line">
              <a:avLst/>
            </a:prstGeom>
            <a:ln w="44450" cap="flat" cmpd="sng">
              <a:solidFill>
                <a:schemeClr val="tx1"/>
              </a:solidFill>
              <a:prstDash val="solid"/>
              <a:round/>
              <a:headEnd type="none" w="med" len="med"/>
              <a:tailEnd type="none" w="med" len="med"/>
            </a:ln>
          </p:spPr>
        </p:sp>
        <p:sp>
          <p:nvSpPr>
            <p:cNvPr id="36881" name="Text Box 31"/>
            <p:cNvSpPr txBox="1"/>
            <p:nvPr/>
          </p:nvSpPr>
          <p:spPr>
            <a:xfrm>
              <a:off x="2640" y="912"/>
              <a:ext cx="692" cy="288"/>
            </a:xfrm>
            <a:prstGeom prst="rect">
              <a:avLst/>
            </a:prstGeom>
            <a:noFill/>
            <a:ln w="3810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节流阀</a:t>
              </a:r>
            </a:p>
          </p:txBody>
        </p:sp>
        <p:sp>
          <p:nvSpPr>
            <p:cNvPr id="36882" name="Line 30"/>
            <p:cNvSpPr/>
            <p:nvPr/>
          </p:nvSpPr>
          <p:spPr>
            <a:xfrm>
              <a:off x="3099" y="1626"/>
              <a:ext cx="0" cy="1332"/>
            </a:xfrm>
            <a:prstGeom prst="line">
              <a:avLst/>
            </a:prstGeom>
            <a:ln w="38100" cap="flat" cmpd="sng">
              <a:solidFill>
                <a:schemeClr val="tx1"/>
              </a:solidFill>
              <a:prstDash val="solid"/>
              <a:round/>
              <a:headEnd type="none" w="med" len="med"/>
              <a:tailEnd type="none" w="med" len="med"/>
            </a:ln>
          </p:spPr>
        </p:sp>
        <p:sp>
          <p:nvSpPr>
            <p:cNvPr id="36883" name="Line 29"/>
            <p:cNvSpPr/>
            <p:nvPr/>
          </p:nvSpPr>
          <p:spPr>
            <a:xfrm>
              <a:off x="3099" y="2958"/>
              <a:ext cx="1680" cy="0"/>
            </a:xfrm>
            <a:prstGeom prst="line">
              <a:avLst/>
            </a:prstGeom>
            <a:ln w="38100" cap="flat" cmpd="sng">
              <a:solidFill>
                <a:schemeClr val="tx1"/>
              </a:solidFill>
              <a:prstDash val="solid"/>
              <a:round/>
              <a:headEnd type="none" w="med" len="med"/>
              <a:tailEnd type="none" w="med" len="med"/>
            </a:ln>
          </p:spPr>
        </p:sp>
        <p:sp>
          <p:nvSpPr>
            <p:cNvPr id="36884" name="Line 28"/>
            <p:cNvSpPr/>
            <p:nvPr/>
          </p:nvSpPr>
          <p:spPr>
            <a:xfrm flipV="1">
              <a:off x="4565" y="1626"/>
              <a:ext cx="0" cy="1241"/>
            </a:xfrm>
            <a:prstGeom prst="line">
              <a:avLst/>
            </a:prstGeom>
            <a:ln w="38100" cap="flat" cmpd="sng">
              <a:solidFill>
                <a:schemeClr val="tx1"/>
              </a:solidFill>
              <a:prstDash val="solid"/>
              <a:round/>
              <a:headEnd type="none" w="med" len="med"/>
              <a:tailEnd type="none" w="med" len="med"/>
            </a:ln>
          </p:spPr>
        </p:sp>
        <p:sp>
          <p:nvSpPr>
            <p:cNvPr id="36885" name="Line 27"/>
            <p:cNvSpPr/>
            <p:nvPr/>
          </p:nvSpPr>
          <p:spPr>
            <a:xfrm>
              <a:off x="5003" y="2836"/>
              <a:ext cx="0" cy="152"/>
            </a:xfrm>
            <a:prstGeom prst="line">
              <a:avLst/>
            </a:prstGeom>
            <a:ln w="38100" cap="flat" cmpd="sng">
              <a:solidFill>
                <a:schemeClr val="tx1"/>
              </a:solidFill>
              <a:prstDash val="solid"/>
              <a:round/>
              <a:headEnd type="none" w="med" len="med"/>
              <a:tailEnd type="none" w="med" len="med"/>
            </a:ln>
          </p:spPr>
        </p:sp>
        <p:sp>
          <p:nvSpPr>
            <p:cNvPr id="36886" name="Line 26"/>
            <p:cNvSpPr/>
            <p:nvPr/>
          </p:nvSpPr>
          <p:spPr>
            <a:xfrm>
              <a:off x="4790" y="2836"/>
              <a:ext cx="0" cy="152"/>
            </a:xfrm>
            <a:prstGeom prst="line">
              <a:avLst/>
            </a:prstGeom>
            <a:ln w="38100" cap="flat" cmpd="sng">
              <a:solidFill>
                <a:schemeClr val="tx1"/>
              </a:solidFill>
              <a:prstDash val="solid"/>
              <a:round/>
              <a:headEnd type="none" w="med" len="med"/>
              <a:tailEnd type="none" w="med" len="med"/>
            </a:ln>
          </p:spPr>
        </p:sp>
        <p:sp>
          <p:nvSpPr>
            <p:cNvPr id="36887" name="Line 25"/>
            <p:cNvSpPr/>
            <p:nvPr/>
          </p:nvSpPr>
          <p:spPr>
            <a:xfrm>
              <a:off x="4790" y="2836"/>
              <a:ext cx="213" cy="152"/>
            </a:xfrm>
            <a:prstGeom prst="line">
              <a:avLst/>
            </a:prstGeom>
            <a:ln w="38100" cap="flat" cmpd="sng">
              <a:solidFill>
                <a:schemeClr val="tx1"/>
              </a:solidFill>
              <a:prstDash val="solid"/>
              <a:round/>
              <a:headEnd type="none" w="med" len="med"/>
              <a:tailEnd type="none" w="med" len="med"/>
            </a:ln>
          </p:spPr>
        </p:sp>
        <p:sp>
          <p:nvSpPr>
            <p:cNvPr id="36888" name="Line 24"/>
            <p:cNvSpPr/>
            <p:nvPr/>
          </p:nvSpPr>
          <p:spPr>
            <a:xfrm flipV="1">
              <a:off x="4790" y="2836"/>
              <a:ext cx="213" cy="152"/>
            </a:xfrm>
            <a:prstGeom prst="line">
              <a:avLst/>
            </a:prstGeom>
            <a:ln w="38100" cap="flat" cmpd="sng">
              <a:solidFill>
                <a:schemeClr val="tx1"/>
              </a:solidFill>
              <a:prstDash val="solid"/>
              <a:round/>
              <a:headEnd type="none" w="med" len="med"/>
              <a:tailEnd type="none" w="med" len="med"/>
            </a:ln>
          </p:spPr>
        </p:sp>
        <p:sp>
          <p:nvSpPr>
            <p:cNvPr id="36889" name="Line 23"/>
            <p:cNvSpPr/>
            <p:nvPr/>
          </p:nvSpPr>
          <p:spPr>
            <a:xfrm flipV="1">
              <a:off x="4896" y="2715"/>
              <a:ext cx="0" cy="182"/>
            </a:xfrm>
            <a:prstGeom prst="line">
              <a:avLst/>
            </a:prstGeom>
            <a:ln w="38100" cap="flat" cmpd="sng">
              <a:solidFill>
                <a:schemeClr val="tx1"/>
              </a:solidFill>
              <a:prstDash val="solid"/>
              <a:round/>
              <a:headEnd type="none" w="med" len="med"/>
              <a:tailEnd type="none" w="med" len="med"/>
            </a:ln>
          </p:spPr>
        </p:sp>
        <p:sp>
          <p:nvSpPr>
            <p:cNvPr id="36890" name="Line 22"/>
            <p:cNvSpPr/>
            <p:nvPr/>
          </p:nvSpPr>
          <p:spPr>
            <a:xfrm>
              <a:off x="4816" y="2715"/>
              <a:ext cx="160" cy="0"/>
            </a:xfrm>
            <a:prstGeom prst="line">
              <a:avLst/>
            </a:prstGeom>
            <a:ln w="44450" cap="flat" cmpd="sng">
              <a:solidFill>
                <a:schemeClr val="tx1"/>
              </a:solidFill>
              <a:prstDash val="solid"/>
              <a:round/>
              <a:headEnd type="none" w="med" len="med"/>
              <a:tailEnd type="none" w="med" len="med"/>
            </a:ln>
          </p:spPr>
        </p:sp>
        <p:sp>
          <p:nvSpPr>
            <p:cNvPr id="36891" name="Text Box 21"/>
            <p:cNvSpPr txBox="1"/>
            <p:nvPr/>
          </p:nvSpPr>
          <p:spPr>
            <a:xfrm>
              <a:off x="4560" y="2400"/>
              <a:ext cx="692" cy="288"/>
            </a:xfrm>
            <a:prstGeom prst="rect">
              <a:avLst/>
            </a:prstGeom>
            <a:noFill/>
            <a:ln w="3810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节流阀</a:t>
              </a:r>
            </a:p>
          </p:txBody>
        </p:sp>
        <p:sp>
          <p:nvSpPr>
            <p:cNvPr id="36892" name="Line 20"/>
            <p:cNvSpPr/>
            <p:nvPr/>
          </p:nvSpPr>
          <p:spPr>
            <a:xfrm flipH="1">
              <a:off x="4565" y="2867"/>
              <a:ext cx="214" cy="0"/>
            </a:xfrm>
            <a:prstGeom prst="line">
              <a:avLst/>
            </a:prstGeom>
            <a:ln w="38100" cap="flat" cmpd="sng">
              <a:solidFill>
                <a:schemeClr val="tx1"/>
              </a:solidFill>
              <a:prstDash val="solid"/>
              <a:round/>
              <a:headEnd type="none" w="med" len="med"/>
              <a:tailEnd type="none" w="med" len="med"/>
            </a:ln>
          </p:spPr>
        </p:sp>
        <p:sp>
          <p:nvSpPr>
            <p:cNvPr id="36893" name="Line 19"/>
            <p:cNvSpPr/>
            <p:nvPr/>
          </p:nvSpPr>
          <p:spPr>
            <a:xfrm>
              <a:off x="4992" y="2867"/>
              <a:ext cx="133" cy="0"/>
            </a:xfrm>
            <a:prstGeom prst="line">
              <a:avLst/>
            </a:prstGeom>
            <a:ln w="38100" cap="flat" cmpd="sng">
              <a:solidFill>
                <a:schemeClr val="tx1"/>
              </a:solidFill>
              <a:prstDash val="solid"/>
              <a:round/>
              <a:headEnd type="none" w="med" len="med"/>
              <a:tailEnd type="none" w="med" len="med"/>
            </a:ln>
          </p:spPr>
        </p:sp>
        <p:sp>
          <p:nvSpPr>
            <p:cNvPr id="36894" name="Line 18"/>
            <p:cNvSpPr/>
            <p:nvPr/>
          </p:nvSpPr>
          <p:spPr>
            <a:xfrm>
              <a:off x="4992" y="2958"/>
              <a:ext cx="133" cy="0"/>
            </a:xfrm>
            <a:prstGeom prst="line">
              <a:avLst/>
            </a:prstGeom>
            <a:ln w="38100" cap="flat" cmpd="sng">
              <a:solidFill>
                <a:schemeClr val="tx1"/>
              </a:solidFill>
              <a:prstDash val="solid"/>
              <a:round/>
              <a:headEnd type="none" w="med" len="med"/>
              <a:tailEnd type="none" w="med" len="med"/>
            </a:ln>
          </p:spPr>
        </p:sp>
        <p:sp>
          <p:nvSpPr>
            <p:cNvPr id="36895" name="Line 17"/>
            <p:cNvSpPr/>
            <p:nvPr/>
          </p:nvSpPr>
          <p:spPr>
            <a:xfrm>
              <a:off x="5152" y="2927"/>
              <a:ext cx="320" cy="0"/>
            </a:xfrm>
            <a:prstGeom prst="line">
              <a:avLst/>
            </a:prstGeom>
            <a:ln w="38100" cap="flat" cmpd="sng">
              <a:solidFill>
                <a:schemeClr val="tx1"/>
              </a:solidFill>
              <a:prstDash val="solid"/>
              <a:round/>
              <a:headEnd type="none" w="med" len="med"/>
              <a:tailEnd type="triangle" w="med" len="med"/>
            </a:ln>
          </p:spPr>
        </p:sp>
        <p:sp>
          <p:nvSpPr>
            <p:cNvPr id="36896" name="Line 16"/>
            <p:cNvSpPr/>
            <p:nvPr/>
          </p:nvSpPr>
          <p:spPr>
            <a:xfrm>
              <a:off x="3099" y="1898"/>
              <a:ext cx="1466" cy="0"/>
            </a:xfrm>
            <a:prstGeom prst="line">
              <a:avLst/>
            </a:prstGeom>
            <a:ln w="38100" cap="flat" cmpd="sng">
              <a:solidFill>
                <a:schemeClr val="tx1"/>
              </a:solidFill>
              <a:prstDash val="solid"/>
              <a:round/>
              <a:headEnd type="none" w="med" len="med"/>
              <a:tailEnd type="none" w="med" len="med"/>
            </a:ln>
          </p:spPr>
        </p:sp>
        <p:sp>
          <p:nvSpPr>
            <p:cNvPr id="36897" name="Line 15"/>
            <p:cNvSpPr/>
            <p:nvPr/>
          </p:nvSpPr>
          <p:spPr>
            <a:xfrm>
              <a:off x="3819" y="1898"/>
              <a:ext cx="0" cy="1060"/>
            </a:xfrm>
            <a:prstGeom prst="line">
              <a:avLst/>
            </a:prstGeom>
            <a:ln w="38100" cap="flat" cmpd="sng">
              <a:solidFill>
                <a:schemeClr val="tx1"/>
              </a:solidFill>
              <a:prstDash val="solid"/>
              <a:round/>
              <a:headEnd type="triangle" w="med" len="med"/>
              <a:tailEnd type="triangle" w="med" len="med"/>
            </a:ln>
          </p:spPr>
        </p:sp>
        <p:sp>
          <p:nvSpPr>
            <p:cNvPr id="36898" name="Line 14"/>
            <p:cNvSpPr/>
            <p:nvPr/>
          </p:nvSpPr>
          <p:spPr>
            <a:xfrm>
              <a:off x="3632" y="1686"/>
              <a:ext cx="27" cy="91"/>
            </a:xfrm>
            <a:prstGeom prst="line">
              <a:avLst/>
            </a:prstGeom>
            <a:ln w="38100" cap="flat" cmpd="sng">
              <a:solidFill>
                <a:schemeClr val="tx1"/>
              </a:solidFill>
              <a:prstDash val="solid"/>
              <a:round/>
              <a:headEnd type="none" w="med" len="med"/>
              <a:tailEnd type="none" w="med" len="med"/>
            </a:ln>
          </p:spPr>
        </p:sp>
        <p:sp>
          <p:nvSpPr>
            <p:cNvPr id="36899" name="Line 13"/>
            <p:cNvSpPr/>
            <p:nvPr/>
          </p:nvSpPr>
          <p:spPr>
            <a:xfrm>
              <a:off x="3659" y="1686"/>
              <a:ext cx="80" cy="91"/>
            </a:xfrm>
            <a:prstGeom prst="line">
              <a:avLst/>
            </a:prstGeom>
            <a:ln w="38100" cap="flat" cmpd="sng">
              <a:solidFill>
                <a:schemeClr val="tx1"/>
              </a:solidFill>
              <a:prstDash val="solid"/>
              <a:round/>
              <a:headEnd type="none" w="med" len="med"/>
              <a:tailEnd type="none" w="med" len="med"/>
            </a:ln>
          </p:spPr>
        </p:sp>
        <p:sp>
          <p:nvSpPr>
            <p:cNvPr id="36900" name="Line 12"/>
            <p:cNvSpPr/>
            <p:nvPr/>
          </p:nvSpPr>
          <p:spPr>
            <a:xfrm>
              <a:off x="3605" y="1686"/>
              <a:ext cx="0" cy="91"/>
            </a:xfrm>
            <a:prstGeom prst="line">
              <a:avLst/>
            </a:prstGeom>
            <a:ln w="38100" cap="flat" cmpd="sng">
              <a:solidFill>
                <a:schemeClr val="tx1"/>
              </a:solidFill>
              <a:prstDash val="solid"/>
              <a:round/>
              <a:headEnd type="none" w="med" len="med"/>
              <a:tailEnd type="none" w="med" len="med"/>
            </a:ln>
          </p:spPr>
        </p:sp>
        <p:sp>
          <p:nvSpPr>
            <p:cNvPr id="36901" name="Line 11"/>
            <p:cNvSpPr/>
            <p:nvPr/>
          </p:nvSpPr>
          <p:spPr>
            <a:xfrm flipH="1">
              <a:off x="3552" y="1686"/>
              <a:ext cx="27" cy="91"/>
            </a:xfrm>
            <a:prstGeom prst="line">
              <a:avLst/>
            </a:prstGeom>
            <a:ln w="38100" cap="flat" cmpd="sng">
              <a:solidFill>
                <a:schemeClr val="tx1"/>
              </a:solidFill>
              <a:prstDash val="solid"/>
              <a:round/>
              <a:headEnd type="none" w="med" len="med"/>
              <a:tailEnd type="none" w="med" len="med"/>
            </a:ln>
          </p:spPr>
        </p:sp>
        <p:sp>
          <p:nvSpPr>
            <p:cNvPr id="36902" name="Text Box 10"/>
            <p:cNvSpPr txBox="1"/>
            <p:nvPr/>
          </p:nvSpPr>
          <p:spPr>
            <a:xfrm>
              <a:off x="3664" y="1401"/>
              <a:ext cx="656" cy="288"/>
            </a:xfrm>
            <a:prstGeom prst="rect">
              <a:avLst/>
            </a:prstGeom>
            <a:noFill/>
            <a:ln w="3810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q</a:t>
              </a:r>
              <a:r>
                <a:rPr lang="en-US" altLang="zh-CN" sz="2400" b="1" i="1" baseline="-25000" dirty="0">
                  <a:latin typeface="Times New Roman" panose="02020603050405020304" pitchFamily="18" charset="0"/>
                  <a:ea typeface="宋体" panose="02010600030101010101" pitchFamily="2" charset="-122"/>
                </a:rPr>
                <a:t>i</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36903" name="Text Box 9"/>
            <p:cNvSpPr txBox="1"/>
            <p:nvPr/>
          </p:nvSpPr>
          <p:spPr>
            <a:xfrm>
              <a:off x="5088" y="2928"/>
              <a:ext cx="480" cy="288"/>
            </a:xfrm>
            <a:prstGeom prst="rect">
              <a:avLst/>
            </a:prstGeom>
            <a:noFill/>
            <a:ln w="3810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q</a:t>
              </a:r>
              <a:r>
                <a:rPr lang="en-US" altLang="zh-CN" sz="2400" b="1" i="1" baseline="-25000" dirty="0">
                  <a:latin typeface="Times New Roman" panose="02020603050405020304" pitchFamily="18" charset="0"/>
                  <a:ea typeface="宋体" panose="02010600030101010101" pitchFamily="2" charset="-122"/>
                </a:rPr>
                <a:t>o</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36904" name="Text Box 8"/>
            <p:cNvSpPr txBox="1"/>
            <p:nvPr/>
          </p:nvSpPr>
          <p:spPr>
            <a:xfrm>
              <a:off x="3312" y="2256"/>
              <a:ext cx="768" cy="288"/>
            </a:xfrm>
            <a:prstGeom prst="rect">
              <a:avLst/>
            </a:prstGeom>
            <a:noFill/>
            <a:ln w="38100">
              <a:noFill/>
            </a:ln>
          </p:spPr>
          <p:txBody>
            <a:bodyPr anchor="t" anchorCtr="0">
              <a:spAutoFit/>
            </a:bodyPr>
            <a:lstStyle/>
            <a:p>
              <a:r>
                <a:rPr lang="en-US" altLang="zh-CN" sz="2400" b="1" i="1" dirty="0">
                  <a:latin typeface="Times New Roman" panose="02020603050405020304" pitchFamily="18" charset="0"/>
                  <a:ea typeface="宋体" panose="02010600030101010101" pitchFamily="2" charset="-122"/>
                </a:rPr>
                <a:t>H</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p>
          </p:txBody>
        </p:sp>
        <p:sp>
          <p:nvSpPr>
            <p:cNvPr id="36905" name="Text Box 7"/>
            <p:cNvSpPr txBox="1"/>
            <p:nvPr/>
          </p:nvSpPr>
          <p:spPr>
            <a:xfrm>
              <a:off x="3580" y="3120"/>
              <a:ext cx="884" cy="288"/>
            </a:xfrm>
            <a:prstGeom prst="rect">
              <a:avLst/>
            </a:prstGeom>
            <a:noFill/>
            <a:ln w="3810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液位系统</a:t>
              </a:r>
            </a:p>
          </p:txBody>
        </p:sp>
      </p:grpSp>
      <p:sp>
        <p:nvSpPr>
          <p:cNvPr id="23557" name="Rectangle 5"/>
          <p:cNvSpPr/>
          <p:nvPr/>
        </p:nvSpPr>
        <p:spPr>
          <a:xfrm>
            <a:off x="1219200" y="1909763"/>
            <a:ext cx="3124200" cy="1563687"/>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设液体不可压缩，通过节流阀的液流是湍流。</a:t>
            </a:r>
            <a:r>
              <a:rPr lang="zh-CN" altLang="en-US" sz="2800" dirty="0">
                <a:latin typeface="Times New Roman" panose="02020603050405020304" pitchFamily="18" charset="0"/>
                <a:ea typeface="宋体" panose="02010600030101010101" pitchFamily="2" charset="-122"/>
              </a:rPr>
              <a:t> </a:t>
            </a:r>
          </a:p>
        </p:txBody>
      </p:sp>
      <p:graphicFrame>
        <p:nvGraphicFramePr>
          <p:cNvPr id="23556" name="Object 4"/>
          <p:cNvGraphicFramePr>
            <a:graphicFrameLocks noChangeAspect="1"/>
          </p:cNvGraphicFramePr>
          <p:nvPr/>
        </p:nvGraphicFramePr>
        <p:xfrm>
          <a:off x="1371600" y="3662363"/>
          <a:ext cx="3200400" cy="1470025"/>
        </p:xfrm>
        <a:graphic>
          <a:graphicData uri="http://schemas.openxmlformats.org/presentationml/2006/ole">
            <mc:AlternateContent xmlns:mc="http://schemas.openxmlformats.org/markup-compatibility/2006">
              <mc:Choice xmlns:v="urn:schemas-microsoft-com:vml" Requires="v">
                <p:oleObj spid="_x0000_s13320" r:id="rId4" imgW="1485900" imgH="685800" progId="Equation.3">
                  <p:embed/>
                </p:oleObj>
              </mc:Choice>
              <mc:Fallback>
                <p:oleObj r:id="rId4" imgW="1485900" imgH="685800" progId="Equation.3">
                  <p:embed/>
                  <p:pic>
                    <p:nvPicPr>
                      <p:cNvPr id="0" name="图片 3086"/>
                      <p:cNvPicPr/>
                      <p:nvPr/>
                    </p:nvPicPr>
                    <p:blipFill>
                      <a:blip r:embed="rId5"/>
                      <a:stretch>
                        <a:fillRect/>
                      </a:stretch>
                    </p:blipFill>
                    <p:spPr>
                      <a:xfrm>
                        <a:off x="1371600" y="3662363"/>
                        <a:ext cx="3200400" cy="1470025"/>
                      </a:xfrm>
                      <a:prstGeom prst="rect">
                        <a:avLst/>
                      </a:prstGeom>
                      <a:noFill/>
                      <a:ln w="38100">
                        <a:noFill/>
                        <a:miter/>
                      </a:ln>
                    </p:spPr>
                  </p:pic>
                </p:oleObj>
              </mc:Fallback>
            </mc:AlternateContent>
          </a:graphicData>
        </a:graphic>
      </p:graphicFrame>
      <p:sp>
        <p:nvSpPr>
          <p:cNvPr id="23555" name="Rectangle 3"/>
          <p:cNvSpPr/>
          <p:nvPr/>
        </p:nvSpPr>
        <p:spPr>
          <a:xfrm>
            <a:off x="1295400" y="5284788"/>
            <a:ext cx="6858000" cy="582612"/>
          </a:xfrm>
          <a:prstGeom prst="rect">
            <a:avLst/>
          </a:prstGeom>
          <a:noFill/>
          <a:ln w="22225">
            <a:noFill/>
          </a:ln>
        </p:spPr>
        <p:txBody>
          <a:bodyPr anchor="t" anchorCtr="0">
            <a:spAutoFit/>
          </a:bodyPr>
          <a:lstStyle/>
          <a:p>
            <a:pPr>
              <a:lnSpc>
                <a:spcPct val="115000"/>
              </a:lnSpc>
            </a:pPr>
            <a:r>
              <a:rPr lang="en-US" altLang="zh-CN" sz="2800" i="1" dirty="0">
                <a:latin typeface="Times New Roman" panose="02020603050405020304" pitchFamily="18" charset="0"/>
                <a:ea typeface="宋体" panose="02010600030101010101" pitchFamily="2" charset="-122"/>
              </a:rPr>
              <a:t>A</a:t>
            </a:r>
            <a:r>
              <a:rPr lang="zh-CN" altLang="en-US" sz="2800" dirty="0">
                <a:latin typeface="宋体" panose="02010600030101010101" pitchFamily="2" charset="-122"/>
                <a:ea typeface="宋体" panose="02010600030101010101" pitchFamily="2" charset="-122"/>
              </a:rPr>
              <a:t>：箱体截面积；</a:t>
            </a:r>
          </a:p>
        </p:txBody>
      </p:sp>
      <p:sp>
        <p:nvSpPr>
          <p:cNvPr id="36909" name="Text Box 2"/>
          <p:cNvSpPr txBox="1"/>
          <p:nvPr/>
        </p:nvSpPr>
        <p:spPr>
          <a:xfrm>
            <a:off x="609600" y="884238"/>
            <a:ext cx="4419600" cy="58896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流体</a:t>
            </a:r>
            <a:r>
              <a:rPr lang="zh-CN" altLang="en-US" sz="2800" dirty="0">
                <a:latin typeface="宋体" panose="02010600030101010101" pitchFamily="2" charset="-122"/>
                <a:ea typeface="宋体" panose="02010600030101010101" pitchFamily="2" charset="-122"/>
              </a:rPr>
              <a:t>系统</a:t>
            </a:r>
            <a:endParaRPr lang="zh-CN" altLang="en-US" sz="2800" dirty="0">
              <a:latin typeface="Times New Roman" panose="02020603050405020304" pitchFamily="18" charset="0"/>
              <a:ea typeface="宋体" panose="02010600030101010101" pitchFamily="2" charset="-122"/>
            </a:endParaRPr>
          </a:p>
        </p:txBody>
      </p:sp>
      <p:sp>
        <p:nvSpPr>
          <p:cNvPr id="2" name="文本框 1"/>
          <p:cNvSpPr txBox="1">
            <a:spLocks noRot="1" noChangeAspect="1" noMove="1" noResize="1" noEditPoints="1" noAdjustHandles="1" noChangeArrowheads="1" noChangeShapeType="1" noTextEdit="1"/>
          </p:cNvSpPr>
          <p:nvPr/>
        </p:nvSpPr>
        <p:spPr>
          <a:xfrm>
            <a:off x="6145207" y="1491744"/>
            <a:ext cx="2349107" cy="400114"/>
          </a:xfrm>
          <a:prstGeom prst="rect">
            <a:avLst/>
          </a:prstGeom>
          <a:blipFill>
            <a:blip r:embed="rId6"/>
            <a:stretch>
              <a:fillRect b="-13846"/>
            </a:stretch>
          </a:blipFill>
        </p:spPr>
        <p:txBody>
          <a:bodyPr/>
          <a:lstStyle/>
          <a:p>
            <a:pPr marR="0" defTabSz="914400" eaLnBrk="0" hangingPunct="0">
              <a:buClrTx/>
              <a:buSzTx/>
              <a:buFontTx/>
              <a:buNone/>
              <a:defRPr/>
            </a:pPr>
            <a:r>
              <a:rPr kumimoji="0" lang="zh-CN" altLang="en-US" kern="1200" cap="none" spc="0" normalizeH="0" baseline="0" noProof="0">
                <a:noFill/>
                <a:latin typeface="Verdana" panose="020B0604030504040204" pitchFamily="34" charset="0"/>
                <a:ea typeface="宋体" panose="02010600030101010101" pitchFamily="2" charset="-122"/>
                <a:cs typeface="+mn-cs"/>
              </a:rPr>
              <a:t> </a:t>
            </a:r>
          </a:p>
        </p:txBody>
      </p:sp>
      <p:sp>
        <p:nvSpPr>
          <p:cNvPr id="3" name="文本框 2"/>
          <p:cNvSpPr txBox="1"/>
          <p:nvPr/>
        </p:nvSpPr>
        <p:spPr>
          <a:xfrm>
            <a:off x="6249988" y="1958975"/>
            <a:ext cx="1736725" cy="400050"/>
          </a:xfrm>
          <a:prstGeom prst="rect">
            <a:avLst/>
          </a:prstGeom>
          <a:noFill/>
          <a:ln w="9525">
            <a:noFill/>
          </a:ln>
        </p:spPr>
        <p:txBody>
          <a:bodyPr wrap="none" anchor="t" anchorCtr="0">
            <a:spAutoFit/>
          </a:bodyPr>
          <a:lstStyle/>
          <a:p>
            <a:pPr eaLnBrk="0" hangingPunct="0"/>
            <a:r>
              <a:rPr lang="en-US" altLang="zh-CN" sz="2000" dirty="0">
                <a:latin typeface="Verdana" panose="020B0604030504040204" pitchFamily="34" charset="0"/>
                <a:ea typeface="宋体" panose="02010600030101010101" pitchFamily="2" charset="-122"/>
              </a:rPr>
              <a:t>H(t)</a:t>
            </a:r>
            <a:r>
              <a:rPr lang="zh-CN" altLang="en-US" sz="2000" dirty="0">
                <a:latin typeface="Verdana" panose="020B0604030504040204" pitchFamily="34" charset="0"/>
                <a:ea typeface="宋体" panose="02010600030101010101" pitchFamily="2" charset="-122"/>
              </a:rPr>
              <a:t>为输出量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557"/>
                                        </p:tgtEl>
                                        <p:attrNameLst>
                                          <p:attrName>style.visibility</p:attrName>
                                        </p:attrNameLst>
                                      </p:cBhvr>
                                      <p:to>
                                        <p:strVal val="visible"/>
                                      </p:to>
                                    </p:set>
                                    <p:anim calcmode="lin" valueType="num">
                                      <p:cBhvr additive="base">
                                        <p:cTn id="17" dur="500" fill="hold"/>
                                        <p:tgtEl>
                                          <p:spTgt spid="23557"/>
                                        </p:tgtEl>
                                        <p:attrNameLst>
                                          <p:attrName>ppt_x</p:attrName>
                                        </p:attrNameLst>
                                      </p:cBhvr>
                                      <p:tavLst>
                                        <p:tav tm="0">
                                          <p:val>
                                            <p:strVal val="#ppt_x"/>
                                          </p:val>
                                        </p:tav>
                                        <p:tav tm="100000">
                                          <p:val>
                                            <p:strVal val="#ppt_x"/>
                                          </p:val>
                                        </p:tav>
                                      </p:tavLst>
                                    </p:anim>
                                    <p:anim calcmode="lin" valueType="num">
                                      <p:cBhvr additive="base">
                                        <p:cTn id="18"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3556"/>
                                        </p:tgtEl>
                                        <p:attrNameLst>
                                          <p:attrName>style.visibility</p:attrName>
                                        </p:attrNameLst>
                                      </p:cBhvr>
                                      <p:to>
                                        <p:strVal val="visible"/>
                                      </p:to>
                                    </p:set>
                                    <p:anim calcmode="lin" valueType="num">
                                      <p:cBhvr additive="base">
                                        <p:cTn id="23" dur="500" fill="hold"/>
                                        <p:tgtEl>
                                          <p:spTgt spid="23556"/>
                                        </p:tgtEl>
                                        <p:attrNameLst>
                                          <p:attrName>ppt_x</p:attrName>
                                        </p:attrNameLst>
                                      </p:cBhvr>
                                      <p:tavLst>
                                        <p:tav tm="0">
                                          <p:val>
                                            <p:strVal val="#ppt_x"/>
                                          </p:val>
                                        </p:tav>
                                        <p:tav tm="100000">
                                          <p:val>
                                            <p:strVal val="#ppt_x"/>
                                          </p:val>
                                        </p:tav>
                                      </p:tavLst>
                                    </p:anim>
                                    <p:anim calcmode="lin" valueType="num">
                                      <p:cBhvr additive="base">
                                        <p:cTn id="24" dur="500" fill="hold"/>
                                        <p:tgtEl>
                                          <p:spTgt spid="2355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3555"/>
                                        </p:tgtEl>
                                        <p:attrNameLst>
                                          <p:attrName>style.visibility</p:attrName>
                                        </p:attrNameLst>
                                      </p:cBhvr>
                                      <p:to>
                                        <p:strVal val="visible"/>
                                      </p:to>
                                    </p:set>
                                    <p:anim calcmode="lin" valueType="num">
                                      <p:cBhvr additive="base">
                                        <p:cTn id="29" dur="500" fill="hold"/>
                                        <p:tgtEl>
                                          <p:spTgt spid="23555"/>
                                        </p:tgtEl>
                                        <p:attrNameLst>
                                          <p:attrName>ppt_x</p:attrName>
                                        </p:attrNameLst>
                                      </p:cBhvr>
                                      <p:tavLst>
                                        <p:tav tm="0">
                                          <p:val>
                                            <p:strVal val="#ppt_x"/>
                                          </p:val>
                                        </p:tav>
                                        <p:tav tm="100000">
                                          <p:val>
                                            <p:strVal val="#ppt_x"/>
                                          </p:val>
                                        </p:tav>
                                      </p:tavLst>
                                    </p:anim>
                                    <p:anim calcmode="lin" valueType="num">
                                      <p:cBhvr additive="base">
                                        <p:cTn id="30" dur="500" fill="hold"/>
                                        <p:tgtEl>
                                          <p:spTgt spid="235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55"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日期占位符 5"/>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37890" name="灯片编号占位符 7"/>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22</a:t>
            </a:fld>
            <a:endParaRPr lang="en-US" altLang="zh-CN" sz="1200" dirty="0"/>
          </a:p>
        </p:txBody>
      </p:sp>
      <p:graphicFrame>
        <p:nvGraphicFramePr>
          <p:cNvPr id="24581" name="Object 5"/>
          <p:cNvGraphicFramePr>
            <a:graphicFrameLocks noChangeAspect="1"/>
          </p:cNvGraphicFramePr>
          <p:nvPr/>
        </p:nvGraphicFramePr>
        <p:xfrm>
          <a:off x="1371600" y="3505200"/>
          <a:ext cx="3810000" cy="865188"/>
        </p:xfrm>
        <a:graphic>
          <a:graphicData uri="http://schemas.openxmlformats.org/presentationml/2006/ole">
            <mc:AlternateContent xmlns:mc="http://schemas.openxmlformats.org/markup-compatibility/2006">
              <mc:Choice xmlns:v="urn:schemas-microsoft-com:vml" Requires="v">
                <p:oleObj spid="_x0000_s14344" r:id="rId3" imgW="1968500" imgH="444500" progId="Equation.3">
                  <p:embed/>
                </p:oleObj>
              </mc:Choice>
              <mc:Fallback>
                <p:oleObj r:id="rId3" imgW="1968500" imgH="444500" progId="Equation.3">
                  <p:embed/>
                  <p:pic>
                    <p:nvPicPr>
                      <p:cNvPr id="0" name="图片 3087"/>
                      <p:cNvPicPr/>
                      <p:nvPr/>
                    </p:nvPicPr>
                    <p:blipFill>
                      <a:blip r:embed="rId4"/>
                      <a:stretch>
                        <a:fillRect/>
                      </a:stretch>
                    </p:blipFill>
                    <p:spPr>
                      <a:xfrm>
                        <a:off x="1371600" y="3505200"/>
                        <a:ext cx="3810000" cy="865188"/>
                      </a:xfrm>
                      <a:prstGeom prst="rect">
                        <a:avLst/>
                      </a:prstGeom>
                      <a:noFill/>
                      <a:ln w="38100">
                        <a:noFill/>
                        <a:miter/>
                      </a:ln>
                    </p:spPr>
                  </p:pic>
                </p:oleObj>
              </mc:Fallback>
            </mc:AlternateContent>
          </a:graphicData>
        </a:graphic>
      </p:graphicFrame>
      <p:sp>
        <p:nvSpPr>
          <p:cNvPr id="24580" name="Rectangle 4"/>
          <p:cNvSpPr/>
          <p:nvPr/>
        </p:nvSpPr>
        <p:spPr>
          <a:xfrm>
            <a:off x="1219200" y="4611688"/>
            <a:ext cx="7315200" cy="1073150"/>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上式为</a:t>
            </a:r>
            <a:r>
              <a:rPr lang="zh-CN" altLang="en-US" sz="2800" dirty="0">
                <a:solidFill>
                  <a:srgbClr val="FF0000"/>
                </a:solidFill>
                <a:latin typeface="宋体" panose="02010600030101010101" pitchFamily="2" charset="-122"/>
                <a:ea typeface="宋体" panose="02010600030101010101" pitchFamily="2" charset="-122"/>
              </a:rPr>
              <a:t>非线性</a:t>
            </a:r>
            <a:r>
              <a:rPr lang="zh-CN" altLang="en-US" sz="2800" dirty="0">
                <a:latin typeface="宋体" panose="02010600030101010101" pitchFamily="2" charset="-122"/>
                <a:ea typeface="宋体" panose="02010600030101010101" pitchFamily="2" charset="-122"/>
              </a:rPr>
              <a:t>微分方程，即此液位控制系统为非线性系统。</a:t>
            </a:r>
            <a:r>
              <a:rPr lang="zh-CN" altLang="en-US" sz="2800" dirty="0">
                <a:latin typeface="Times New Roman" panose="02020603050405020304" pitchFamily="18" charset="0"/>
                <a:ea typeface="宋体" panose="02010600030101010101" pitchFamily="2" charset="-122"/>
              </a:rPr>
              <a:t> </a:t>
            </a:r>
          </a:p>
        </p:txBody>
      </p:sp>
      <p:sp>
        <p:nvSpPr>
          <p:cNvPr id="37893" name="Rectangle 3"/>
          <p:cNvSpPr/>
          <p:nvPr/>
        </p:nvSpPr>
        <p:spPr>
          <a:xfrm>
            <a:off x="1219200" y="2133600"/>
            <a:ext cx="7315200" cy="1073150"/>
          </a:xfrm>
          <a:prstGeom prst="rect">
            <a:avLst/>
          </a:prstGeom>
          <a:noFill/>
          <a:ln w="22225">
            <a:noFill/>
          </a:ln>
        </p:spPr>
        <p:txBody>
          <a:bodyPr anchor="t" anchorCtr="0">
            <a:spAutoFit/>
          </a:bodyPr>
          <a:lstStyle/>
          <a:p>
            <a:pPr>
              <a:lnSpc>
                <a:spcPct val="115000"/>
              </a:lnSpc>
            </a:pPr>
            <a:r>
              <a:rPr lang="en-US" altLang="zh-CN" sz="2800" i="1" dirty="0">
                <a:latin typeface="Times New Roman" panose="02020603050405020304" pitchFamily="18" charset="0"/>
                <a:ea typeface="宋体" panose="02010600030101010101" pitchFamily="2" charset="-122"/>
                <a:sym typeface="Symbol" panose="05050102010706020507" pitchFamily="18" charset="2"/>
              </a:rPr>
              <a:t></a:t>
            </a:r>
            <a:r>
              <a:rPr lang="zh-CN" altLang="en-US" sz="2800" dirty="0">
                <a:latin typeface="宋体" panose="02010600030101010101" pitchFamily="2" charset="-122"/>
                <a:ea typeface="宋体" panose="02010600030101010101" pitchFamily="2" charset="-122"/>
              </a:rPr>
              <a:t>：由节流阀通流面积和通流口的结构形式决定的系数，通流面积不变时，</a:t>
            </a:r>
            <a:r>
              <a:rPr lang="zh-CN" altLang="en-US" sz="2800" i="1" dirty="0">
                <a:latin typeface="宋体" panose="02010600030101010101" pitchFamily="2" charset="-122"/>
                <a:ea typeface="宋体" panose="02010600030101010101" pitchFamily="2" charset="-122"/>
                <a:sym typeface="Symbol" panose="05050102010706020507" pitchFamily="18" charset="2"/>
              </a:rPr>
              <a:t></a:t>
            </a:r>
            <a:r>
              <a:rPr lang="zh-CN" altLang="en-US" sz="2800" dirty="0">
                <a:latin typeface="宋体" panose="02010600030101010101" pitchFamily="2" charset="-122"/>
                <a:ea typeface="宋体" panose="02010600030101010101" pitchFamily="2" charset="-122"/>
              </a:rPr>
              <a:t>为常数。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81"/>
                                        </p:tgtEl>
                                        <p:attrNameLst>
                                          <p:attrName>style.visibility</p:attrName>
                                        </p:attrNameLst>
                                      </p:cBhvr>
                                      <p:to>
                                        <p:strVal val="visible"/>
                                      </p:to>
                                    </p:set>
                                    <p:anim calcmode="lin" valueType="num">
                                      <p:cBhvr additive="base">
                                        <p:cTn id="7" dur="500" fill="hold"/>
                                        <p:tgtEl>
                                          <p:spTgt spid="24581"/>
                                        </p:tgtEl>
                                        <p:attrNameLst>
                                          <p:attrName>ppt_x</p:attrName>
                                        </p:attrNameLst>
                                      </p:cBhvr>
                                      <p:tavLst>
                                        <p:tav tm="0">
                                          <p:val>
                                            <p:strVal val="#ppt_x"/>
                                          </p:val>
                                        </p:tav>
                                        <p:tav tm="100000">
                                          <p:val>
                                            <p:strVal val="#ppt_x"/>
                                          </p:val>
                                        </p:tav>
                                      </p:tavLst>
                                    </p:anim>
                                    <p:anim calcmode="lin" valueType="num">
                                      <p:cBhvr additive="base">
                                        <p:cTn id="8" dur="500" fill="hold"/>
                                        <p:tgtEl>
                                          <p:spTgt spid="245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additive="base">
                                        <p:cTn id="13" dur="500" fill="hold"/>
                                        <p:tgtEl>
                                          <p:spTgt spid="24580"/>
                                        </p:tgtEl>
                                        <p:attrNameLst>
                                          <p:attrName>ppt_x</p:attrName>
                                        </p:attrNameLst>
                                      </p:cBhvr>
                                      <p:tavLst>
                                        <p:tav tm="0">
                                          <p:val>
                                            <p:strVal val="#ppt_x"/>
                                          </p:val>
                                        </p:tav>
                                        <p:tav tm="100000">
                                          <p:val>
                                            <p:strVal val="#ppt_x"/>
                                          </p:val>
                                        </p:tav>
                                      </p:tavLst>
                                    </p:anim>
                                    <p:anim calcmode="lin" valueType="num">
                                      <p:cBhvr additive="base">
                                        <p:cTn id="14" dur="500" fill="hold"/>
                                        <p:tgtEl>
                                          <p:spTgt spid="245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日期占位符 5"/>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38914" name="灯片编号占位符 7"/>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23</a:t>
            </a:fld>
            <a:endParaRPr lang="en-US" altLang="zh-CN" sz="1200" dirty="0"/>
          </a:p>
        </p:txBody>
      </p:sp>
      <p:sp>
        <p:nvSpPr>
          <p:cNvPr id="38915" name="Rectangle 1029"/>
          <p:cNvSpPr/>
          <p:nvPr/>
        </p:nvSpPr>
        <p:spPr>
          <a:xfrm>
            <a:off x="1371600" y="1828800"/>
            <a:ext cx="5302250" cy="519113"/>
          </a:xfrm>
          <a:prstGeom prst="rect">
            <a:avLst/>
          </a:prstGeom>
          <a:noFill/>
          <a:ln w="22225">
            <a:noFill/>
          </a:ln>
        </p:spPr>
        <p:txBody>
          <a:bodyPr wrap="none"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线性系统微分方程的一般形式</a:t>
            </a:r>
            <a:r>
              <a:rPr lang="zh-CN" altLang="en-US" sz="2800" dirty="0">
                <a:latin typeface="Times New Roman" panose="02020603050405020304" pitchFamily="18" charset="0"/>
                <a:ea typeface="宋体" panose="02010600030101010101" pitchFamily="2" charset="-122"/>
              </a:rPr>
              <a:t> </a:t>
            </a:r>
          </a:p>
        </p:txBody>
      </p:sp>
      <p:sp>
        <p:nvSpPr>
          <p:cNvPr id="167940" name="Rectangle 1028"/>
          <p:cNvSpPr/>
          <p:nvPr/>
        </p:nvSpPr>
        <p:spPr>
          <a:xfrm>
            <a:off x="1371600" y="4475163"/>
            <a:ext cx="7239000" cy="1073150"/>
          </a:xfrm>
          <a:prstGeom prst="rect">
            <a:avLst/>
          </a:prstGeom>
          <a:noFill/>
          <a:ln w="22225">
            <a:noFill/>
          </a:ln>
        </p:spPr>
        <p:txBody>
          <a:bodyPr anchor="t" anchorCtr="0">
            <a:spAutoFit/>
          </a:bodyPr>
          <a:lstStyle/>
          <a:p>
            <a:pPr>
              <a:lnSpc>
                <a:spcPct val="115000"/>
              </a:lnSpc>
            </a:pPr>
            <a:r>
              <a:rPr lang="zh-CN" altLang="en-US" sz="2800" dirty="0">
                <a:latin typeface="宋体" panose="02010600030101010101" pitchFamily="2" charset="-122"/>
                <a:ea typeface="宋体" panose="02010600030101010101" pitchFamily="2" charset="-122"/>
              </a:rPr>
              <a:t>式中，</a:t>
            </a:r>
            <a:r>
              <a:rPr lang="en-US" altLang="zh-CN" sz="2800" i="1" dirty="0">
                <a:latin typeface="Times New Roman" panose="02020603050405020304" pitchFamily="18" charset="0"/>
                <a:ea typeface="宋体" panose="02010600030101010101" pitchFamily="2" charset="-122"/>
              </a:rPr>
              <a:t>a</a:t>
            </a:r>
            <a:r>
              <a:rPr lang="en-US" altLang="zh-CN" sz="2900" baseline="-30000" dirty="0">
                <a:latin typeface="Times New Roman" panose="02020603050405020304" pitchFamily="18" charset="0"/>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a</a:t>
            </a:r>
            <a:r>
              <a:rPr lang="en-US" altLang="zh-CN" sz="2900" baseline="-30000" dirty="0">
                <a:latin typeface="Times New Roman" panose="02020603050405020304" pitchFamily="18" charset="0"/>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a</a:t>
            </a:r>
            <a:r>
              <a:rPr lang="en-US" altLang="zh-CN" sz="2900" i="1" baseline="-30000" dirty="0">
                <a:latin typeface="Times New Roman" panose="02020603050405020304" pitchFamily="18" charset="0"/>
                <a:ea typeface="宋体" panose="02010600030101010101" pitchFamily="2" charset="-122"/>
              </a:rPr>
              <a:t>n</a:t>
            </a:r>
            <a:r>
              <a:rPr lang="zh-CN" altLang="en-US" sz="2800" dirty="0">
                <a:latin typeface="宋体" panose="02010600030101010101" pitchFamily="2" charset="-122"/>
                <a:ea typeface="宋体" panose="02010600030101010101" pitchFamily="2" charset="-122"/>
              </a:rPr>
              <a:t>和</a:t>
            </a:r>
            <a:r>
              <a:rPr lang="en-US" altLang="zh-CN" sz="2800" i="1" dirty="0">
                <a:latin typeface="Times New Roman" panose="02020603050405020304" pitchFamily="18" charset="0"/>
                <a:ea typeface="宋体" panose="02010600030101010101" pitchFamily="2" charset="-122"/>
              </a:rPr>
              <a:t>b</a:t>
            </a:r>
            <a:r>
              <a:rPr lang="en-US" altLang="zh-CN" sz="2900" baseline="-30000" dirty="0">
                <a:latin typeface="Times New Roman" panose="02020603050405020304" pitchFamily="18" charset="0"/>
                <a:ea typeface="宋体" panose="02010600030101010101" pitchFamily="2" charset="-122"/>
              </a:rPr>
              <a:t>0</a:t>
            </a:r>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b</a:t>
            </a:r>
            <a:r>
              <a:rPr lang="en-US" altLang="zh-CN" sz="2900" baseline="-30000" dirty="0">
                <a:latin typeface="Times New Roman" panose="02020603050405020304" pitchFamily="18" charset="0"/>
                <a:ea typeface="宋体" panose="02010600030101010101" pitchFamily="2" charset="-122"/>
              </a:rPr>
              <a:t>1</a:t>
            </a:r>
            <a:r>
              <a:rPr lang="zh-CN" altLang="en-US" sz="2800" dirty="0">
                <a:latin typeface="宋体" panose="02010600030101010101" pitchFamily="2" charset="-122"/>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a:t>
            </a:r>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b</a:t>
            </a:r>
            <a:r>
              <a:rPr lang="en-US" altLang="zh-CN" sz="2900" i="1" baseline="-30000" dirty="0">
                <a:latin typeface="Times New Roman" panose="02020603050405020304" pitchFamily="18" charset="0"/>
                <a:ea typeface="宋体" panose="02010600030101010101" pitchFamily="2" charset="-122"/>
              </a:rPr>
              <a:t>m</a:t>
            </a:r>
            <a:r>
              <a:rPr lang="zh-CN" altLang="en-US" sz="2800" dirty="0">
                <a:latin typeface="宋体" panose="02010600030101010101" pitchFamily="2" charset="-122"/>
                <a:ea typeface="宋体" panose="02010600030101010101" pitchFamily="2" charset="-122"/>
              </a:rPr>
              <a:t>为由系统结构参数决定的实常数，</a:t>
            </a:r>
            <a:r>
              <a:rPr lang="en-US" altLang="zh-CN" sz="2800" i="1" dirty="0">
                <a:latin typeface="Times New Roman" panose="02020603050405020304" pitchFamily="18" charset="0"/>
                <a:ea typeface="宋体" panose="02010600030101010101" pitchFamily="2" charset="-122"/>
              </a:rPr>
              <a:t>m</a:t>
            </a:r>
            <a:r>
              <a:rPr lang="en-US" altLang="zh-CN"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n</a:t>
            </a:r>
            <a:r>
              <a:rPr lang="zh-CN" altLang="en-US" sz="2800" dirty="0">
                <a:latin typeface="宋体" panose="02010600030101010101" pitchFamily="2" charset="-122"/>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p>
        </p:txBody>
      </p:sp>
      <p:graphicFrame>
        <p:nvGraphicFramePr>
          <p:cNvPr id="167939" name="Object 1027"/>
          <p:cNvGraphicFramePr>
            <a:graphicFrameLocks noChangeAspect="1"/>
          </p:cNvGraphicFramePr>
          <p:nvPr/>
        </p:nvGraphicFramePr>
        <p:xfrm>
          <a:off x="1524000" y="2652713"/>
          <a:ext cx="6629400" cy="1625600"/>
        </p:xfrm>
        <a:graphic>
          <a:graphicData uri="http://schemas.openxmlformats.org/presentationml/2006/ole">
            <mc:AlternateContent xmlns:mc="http://schemas.openxmlformats.org/markup-compatibility/2006">
              <mc:Choice xmlns:v="urn:schemas-microsoft-com:vml" Requires="v">
                <p:oleObj spid="_x0000_s15368" r:id="rId3" imgW="3924300" imgH="965200" progId="Equation.3">
                  <p:embed/>
                </p:oleObj>
              </mc:Choice>
              <mc:Fallback>
                <p:oleObj r:id="rId3" imgW="3924300" imgH="965200" progId="Equation.3">
                  <p:embed/>
                  <p:pic>
                    <p:nvPicPr>
                      <p:cNvPr id="0" name="图片 3088"/>
                      <p:cNvPicPr/>
                      <p:nvPr/>
                    </p:nvPicPr>
                    <p:blipFill>
                      <a:blip r:embed="rId4"/>
                      <a:stretch>
                        <a:fillRect/>
                      </a:stretch>
                    </p:blipFill>
                    <p:spPr>
                      <a:xfrm>
                        <a:off x="1524000" y="2652713"/>
                        <a:ext cx="6629400" cy="16256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939"/>
                                        </p:tgtEl>
                                        <p:attrNameLst>
                                          <p:attrName>style.visibility</p:attrName>
                                        </p:attrNameLst>
                                      </p:cBhvr>
                                      <p:to>
                                        <p:strVal val="visible"/>
                                      </p:to>
                                    </p:set>
                                    <p:anim calcmode="lin" valueType="num">
                                      <p:cBhvr additive="base">
                                        <p:cTn id="7" dur="500" fill="hold"/>
                                        <p:tgtEl>
                                          <p:spTgt spid="167939"/>
                                        </p:tgtEl>
                                        <p:attrNameLst>
                                          <p:attrName>ppt_x</p:attrName>
                                        </p:attrNameLst>
                                      </p:cBhvr>
                                      <p:tavLst>
                                        <p:tav tm="0">
                                          <p:val>
                                            <p:strVal val="#ppt_x"/>
                                          </p:val>
                                        </p:tav>
                                        <p:tav tm="100000">
                                          <p:val>
                                            <p:strVal val="#ppt_x"/>
                                          </p:val>
                                        </p:tav>
                                      </p:tavLst>
                                    </p:anim>
                                    <p:anim calcmode="lin" valueType="num">
                                      <p:cBhvr additive="base">
                                        <p:cTn id="8" dur="500" fill="hold"/>
                                        <p:tgtEl>
                                          <p:spTgt spid="1679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7940"/>
                                        </p:tgtEl>
                                        <p:attrNameLst>
                                          <p:attrName>style.visibility</p:attrName>
                                        </p:attrNameLst>
                                      </p:cBhvr>
                                      <p:to>
                                        <p:strVal val="visible"/>
                                      </p:to>
                                    </p:set>
                                    <p:anim calcmode="lin" valueType="num">
                                      <p:cBhvr additive="base">
                                        <p:cTn id="13" dur="500" fill="hold"/>
                                        <p:tgtEl>
                                          <p:spTgt spid="167940"/>
                                        </p:tgtEl>
                                        <p:attrNameLst>
                                          <p:attrName>ppt_x</p:attrName>
                                        </p:attrNameLst>
                                      </p:cBhvr>
                                      <p:tavLst>
                                        <p:tav tm="0">
                                          <p:val>
                                            <p:strVal val="#ppt_x"/>
                                          </p:val>
                                        </p:tav>
                                        <p:tav tm="100000">
                                          <p:val>
                                            <p:strVal val="#ppt_x"/>
                                          </p:val>
                                        </p:tav>
                                      </p:tavLst>
                                    </p:anim>
                                    <p:anim calcmode="lin" valueType="num">
                                      <p:cBhvr additive="base">
                                        <p:cTn id="14" dur="500" fill="hold"/>
                                        <p:tgtEl>
                                          <p:spTgt spid="1679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3993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24</a:t>
            </a:fld>
            <a:endParaRPr lang="en-US" altLang="zh-CN" sz="1200" dirty="0"/>
          </a:p>
        </p:txBody>
      </p:sp>
      <p:sp>
        <p:nvSpPr>
          <p:cNvPr id="39939" name="Text Box 2"/>
          <p:cNvSpPr txBox="1"/>
          <p:nvPr/>
        </p:nvSpPr>
        <p:spPr>
          <a:xfrm>
            <a:off x="1258888" y="1052513"/>
            <a:ext cx="7315200" cy="582612"/>
          </a:xfrm>
          <a:prstGeom prst="rect">
            <a:avLst/>
          </a:prstGeom>
          <a:noFill/>
          <a:ln w="22225">
            <a:noFill/>
          </a:ln>
        </p:spPr>
        <p:txBody>
          <a:bodyPr anchor="t" anchorCtr="0">
            <a:spAutoFit/>
          </a:bodyPr>
          <a:lstStyle/>
          <a:p>
            <a:pPr>
              <a:lnSpc>
                <a:spcPct val="115000"/>
              </a:lnSpc>
              <a:buFont typeface="Wingdings" panose="05000000000000000000" pitchFamily="2" charset="2"/>
              <a:buChar char="Ø"/>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小结</a:t>
            </a:r>
            <a:endParaRPr lang="zh-CN" altLang="en-US" sz="2800" dirty="0">
              <a:latin typeface="Times New Roman" panose="02020603050405020304" pitchFamily="18" charset="0"/>
              <a:ea typeface="宋体" panose="02010600030101010101" pitchFamily="2" charset="-122"/>
            </a:endParaRPr>
          </a:p>
        </p:txBody>
      </p:sp>
      <p:sp>
        <p:nvSpPr>
          <p:cNvPr id="25603" name="Rectangle 3"/>
          <p:cNvSpPr/>
          <p:nvPr/>
        </p:nvSpPr>
        <p:spPr>
          <a:xfrm>
            <a:off x="1042988" y="1989138"/>
            <a:ext cx="7489825" cy="2074862"/>
          </a:xfrm>
          <a:prstGeom prst="rect">
            <a:avLst/>
          </a:prstGeom>
          <a:noFill/>
          <a:ln w="22225">
            <a:noFill/>
          </a:ln>
        </p:spPr>
        <p:txBody>
          <a:bodyPr anchor="t" anchorCtr="0">
            <a:spAutoFit/>
          </a:bodyPr>
          <a:lstStyle/>
          <a:p>
            <a:pPr>
              <a:lnSpc>
                <a:spcPct val="115000"/>
              </a:lnSpc>
              <a:buFont typeface="Wingdings" panose="05000000000000000000" pitchFamily="2" charset="2"/>
              <a:buChar char="ü"/>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物理本质不同的系统，可以有相同的数学模</a:t>
            </a:r>
          </a:p>
          <a:p>
            <a:pPr>
              <a:lnSpc>
                <a:spcPct val="115000"/>
              </a:lnSpc>
            </a:pPr>
            <a:r>
              <a:rPr lang="zh-CN" altLang="en-US" sz="2800" dirty="0">
                <a:latin typeface="宋体" panose="02010600030101010101" pitchFamily="2" charset="-122"/>
                <a:ea typeface="宋体" panose="02010600030101010101" pitchFamily="2" charset="-122"/>
              </a:rPr>
              <a:t>  型，从而可以抛开系统的物理属性，用同一</a:t>
            </a:r>
          </a:p>
          <a:p>
            <a:pPr>
              <a:lnSpc>
                <a:spcPct val="115000"/>
              </a:lnSpc>
            </a:pPr>
            <a:r>
              <a:rPr lang="zh-CN" altLang="en-US" sz="2800" dirty="0">
                <a:latin typeface="宋体" panose="02010600030101010101" pitchFamily="2" charset="-122"/>
                <a:ea typeface="宋体" panose="02010600030101010101" pitchFamily="2" charset="-122"/>
              </a:rPr>
              <a:t>  方法进行具有普遍意义的分析研究</a:t>
            </a:r>
            <a:r>
              <a:rPr lang="zh-CN" altLang="en-US"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相似系</a:t>
            </a:r>
            <a:endParaRPr lang="en-US" altLang="zh-CN" sz="2800" dirty="0">
              <a:latin typeface="宋体" panose="02010600030101010101" pitchFamily="2" charset="-122"/>
              <a:ea typeface="宋体" panose="02010600030101010101" pitchFamily="2" charset="-122"/>
            </a:endParaRPr>
          </a:p>
          <a:p>
            <a:pPr>
              <a:lnSpc>
                <a:spcPct val="115000"/>
              </a:lnSpc>
            </a:pPr>
            <a:r>
              <a:rPr lang="zh-CN" altLang="en-US" sz="2800" dirty="0">
                <a:latin typeface="宋体" panose="02010600030101010101" pitchFamily="2" charset="-122"/>
                <a:ea typeface="宋体" panose="02010600030101010101" pitchFamily="2" charset="-122"/>
              </a:rPr>
              <a:t>  统是控制理论中进行实验模拟的基础；</a:t>
            </a:r>
            <a:endParaRPr lang="zh-CN" altLang="en-US" sz="2800" dirty="0">
              <a:latin typeface="Times New Roman" panose="02020603050405020304" pitchFamily="18" charset="0"/>
              <a:ea typeface="宋体" panose="02010600030101010101" pitchFamily="2" charset="-122"/>
            </a:endParaRPr>
          </a:p>
        </p:txBody>
      </p:sp>
      <p:sp>
        <p:nvSpPr>
          <p:cNvPr id="8" name="Rectangle 2"/>
          <p:cNvSpPr/>
          <p:nvPr/>
        </p:nvSpPr>
        <p:spPr>
          <a:xfrm>
            <a:off x="1187450" y="4292600"/>
            <a:ext cx="7391400" cy="1563688"/>
          </a:xfrm>
          <a:prstGeom prst="rect">
            <a:avLst/>
          </a:prstGeom>
          <a:noFill/>
          <a:ln w="22225">
            <a:noFill/>
          </a:ln>
        </p:spPr>
        <p:txBody>
          <a:bodyPr anchor="t" anchorCtr="0">
            <a:spAutoFit/>
          </a:bodyPr>
          <a:lstStyle/>
          <a:p>
            <a:pPr>
              <a:lnSpc>
                <a:spcPct val="115000"/>
              </a:lnSpc>
              <a:buFont typeface="Wingdings" panose="05000000000000000000" pitchFamily="2" charset="2"/>
              <a:buChar char="ü"/>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通常情况下，元件或系统微分方程的阶次等</a:t>
            </a:r>
          </a:p>
          <a:p>
            <a:pPr>
              <a:lnSpc>
                <a:spcPct val="115000"/>
              </a:lnSpc>
            </a:pPr>
            <a:r>
              <a:rPr lang="zh-CN" altLang="en-US" sz="2800" dirty="0">
                <a:latin typeface="宋体" panose="02010600030101010101" pitchFamily="2" charset="-122"/>
                <a:ea typeface="宋体" panose="02010600030101010101" pitchFamily="2" charset="-122"/>
              </a:rPr>
              <a:t>  于元件或系统中所包含的</a:t>
            </a:r>
            <a:r>
              <a:rPr lang="zh-CN" altLang="en-US" sz="2800" dirty="0">
                <a:solidFill>
                  <a:srgbClr val="CC0000"/>
                </a:solidFill>
                <a:latin typeface="宋体" panose="02010600030101010101" pitchFamily="2" charset="-122"/>
                <a:ea typeface="宋体" panose="02010600030101010101" pitchFamily="2" charset="-122"/>
              </a:rPr>
              <a:t>独立</a:t>
            </a:r>
            <a:r>
              <a:rPr lang="zh-CN" altLang="en-US" sz="2800" dirty="0">
                <a:latin typeface="宋体" panose="02010600030101010101" pitchFamily="2" charset="-122"/>
                <a:ea typeface="宋体" panose="02010600030101010101" pitchFamily="2" charset="-122"/>
              </a:rPr>
              <a:t>储能元件（惯 性质量、弹性要素、电感、电容等）的个数。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additive="base">
                                        <p:cTn id="7" dur="500" fill="hold"/>
                                        <p:tgtEl>
                                          <p:spTgt spid="25603"/>
                                        </p:tgtEl>
                                        <p:attrNameLst>
                                          <p:attrName>ppt_x</p:attrName>
                                        </p:attrNameLst>
                                      </p:cBhvr>
                                      <p:tavLst>
                                        <p:tav tm="0">
                                          <p:val>
                                            <p:strVal val="#ppt_x"/>
                                          </p:val>
                                        </p:tav>
                                        <p:tav tm="100000">
                                          <p:val>
                                            <p:strVal val="#ppt_x"/>
                                          </p:val>
                                        </p:tav>
                                      </p:tavLst>
                                    </p:anim>
                                    <p:anim calcmode="lin" valueType="num">
                                      <p:cBhvr additive="base">
                                        <p:cTn id="8" dur="500" fill="hold"/>
                                        <p:tgtEl>
                                          <p:spTgt spid="256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日期占位符 15"/>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41986" name="灯片编号占位符 17"/>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25</a:t>
            </a:fld>
            <a:endParaRPr lang="en-US" altLang="zh-CN" sz="1200" dirty="0"/>
          </a:p>
        </p:txBody>
      </p:sp>
      <p:sp>
        <p:nvSpPr>
          <p:cNvPr id="58382" name="Rectangle 14"/>
          <p:cNvSpPr/>
          <p:nvPr/>
        </p:nvSpPr>
        <p:spPr>
          <a:xfrm>
            <a:off x="1042988" y="1773238"/>
            <a:ext cx="7391400" cy="2073275"/>
          </a:xfrm>
          <a:prstGeom prst="rect">
            <a:avLst/>
          </a:prstGeom>
          <a:noFill/>
          <a:ln w="22225">
            <a:noFill/>
          </a:ln>
        </p:spPr>
        <p:txBody>
          <a:bodyPr anchor="t" anchorCtr="0">
            <a:spAutoFit/>
          </a:bodyPr>
          <a:lstStyle/>
          <a:p>
            <a:pPr marL="457200" indent="-457200">
              <a:lnSpc>
                <a:spcPct val="115000"/>
              </a:lnSpc>
              <a:buFont typeface="Wingdings" panose="05000000000000000000" pitchFamily="2" charset="2"/>
              <a:buChar char="ü"/>
            </a:pPr>
            <a:r>
              <a:rPr lang="zh-CN" altLang="en-US" sz="2800" dirty="0">
                <a:latin typeface="宋体" panose="02010600030101010101" pitchFamily="2" charset="-122"/>
                <a:ea typeface="宋体" panose="02010600030101010101" pitchFamily="2" charset="-122"/>
              </a:rPr>
              <a:t>线性系统可以用线性微分方程来描述。如果方程的系数为常数，则为</a:t>
            </a:r>
            <a:r>
              <a:rPr lang="zh-CN" altLang="en-US" sz="2800" dirty="0">
                <a:solidFill>
                  <a:srgbClr val="CC0000"/>
                </a:solidFill>
                <a:latin typeface="宋体" panose="02010600030101010101" pitchFamily="2" charset="-122"/>
                <a:ea typeface="宋体" panose="02010600030101010101" pitchFamily="2" charset="-122"/>
              </a:rPr>
              <a:t>线性定常系统</a:t>
            </a:r>
            <a:r>
              <a:rPr lang="zh-CN" altLang="en-US" sz="2800" dirty="0">
                <a:latin typeface="宋体" panose="02010600030101010101" pitchFamily="2" charset="-122"/>
                <a:ea typeface="宋体" panose="02010600030101010101" pitchFamily="2" charset="-122"/>
              </a:rPr>
              <a:t>；如果方程的系数是时间</a:t>
            </a:r>
            <a:r>
              <a:rPr lang="en-US" altLang="zh-CN" sz="2800" i="1" dirty="0">
                <a:latin typeface="宋体" panose="02010600030101010101" pitchFamily="2" charset="-122"/>
                <a:ea typeface="宋体" panose="02010600030101010101" pitchFamily="2" charset="-122"/>
              </a:rPr>
              <a:t>t</a:t>
            </a:r>
            <a:r>
              <a:rPr lang="zh-CN" altLang="en-US" sz="2800" dirty="0">
                <a:latin typeface="宋体" panose="02010600030101010101" pitchFamily="2" charset="-122"/>
                <a:ea typeface="宋体" panose="02010600030101010101" pitchFamily="2" charset="-122"/>
              </a:rPr>
              <a:t>的函数，则为</a:t>
            </a:r>
            <a:r>
              <a:rPr lang="zh-CN" altLang="en-US" sz="2800" dirty="0">
                <a:solidFill>
                  <a:srgbClr val="CC0000"/>
                </a:solidFill>
                <a:latin typeface="宋体" panose="02010600030101010101" pitchFamily="2" charset="-122"/>
                <a:ea typeface="宋体" panose="02010600030101010101" pitchFamily="2" charset="-122"/>
              </a:rPr>
              <a:t>线性时变系统</a:t>
            </a:r>
            <a:r>
              <a:rPr lang="zh-CN" altLang="en-US" sz="2800" dirty="0">
                <a:latin typeface="宋体" panose="02010600030101010101" pitchFamily="2" charset="-122"/>
                <a:ea typeface="宋体" panose="02010600030101010101" pitchFamily="2" charset="-122"/>
              </a:rPr>
              <a:t>； </a:t>
            </a:r>
          </a:p>
        </p:txBody>
      </p:sp>
      <p:sp>
        <p:nvSpPr>
          <p:cNvPr id="58380" name="Rectangle 12"/>
          <p:cNvSpPr/>
          <p:nvPr/>
        </p:nvSpPr>
        <p:spPr>
          <a:xfrm>
            <a:off x="1600200" y="3794125"/>
            <a:ext cx="5518150" cy="519113"/>
          </a:xfrm>
          <a:prstGeom prst="rect">
            <a:avLst/>
          </a:prstGeom>
          <a:noFill/>
          <a:ln w="22225">
            <a:noFill/>
          </a:ln>
        </p:spPr>
        <p:txBody>
          <a:bodyPr wrap="none" anchor="t" anchorCtr="0">
            <a:spAutoFit/>
          </a:bodyPr>
          <a:lstStyle/>
          <a:p>
            <a:r>
              <a:rPr lang="zh-CN" altLang="en-US" sz="2800" dirty="0">
                <a:solidFill>
                  <a:srgbClr val="CC0000"/>
                </a:solidFill>
                <a:latin typeface="Times New Roman" panose="02020603050405020304" pitchFamily="18" charset="0"/>
                <a:ea typeface="宋体" panose="02010600030101010101" pitchFamily="2" charset="-122"/>
              </a:rPr>
              <a:t>线性</a:t>
            </a:r>
            <a:r>
              <a:rPr lang="zh-CN" altLang="en-US" sz="2800" dirty="0">
                <a:latin typeface="Times New Roman" panose="02020603050405020304" pitchFamily="18" charset="0"/>
                <a:ea typeface="宋体" panose="02010600030101010101" pitchFamily="2" charset="-122"/>
              </a:rPr>
              <a:t>是指系统满足</a:t>
            </a:r>
            <a:r>
              <a:rPr lang="zh-CN" altLang="en-US" sz="2800" dirty="0">
                <a:solidFill>
                  <a:srgbClr val="CC0000"/>
                </a:solidFill>
                <a:latin typeface="Times New Roman" panose="02020603050405020304" pitchFamily="18" charset="0"/>
                <a:ea typeface="宋体" panose="02010600030101010101" pitchFamily="2" charset="-122"/>
              </a:rPr>
              <a:t>叠加原理</a:t>
            </a:r>
            <a:r>
              <a:rPr lang="zh-CN" altLang="en-US" sz="2800" dirty="0">
                <a:latin typeface="Times New Roman" panose="02020603050405020304" pitchFamily="18" charset="0"/>
                <a:ea typeface="宋体" panose="02010600030101010101" pitchFamily="2" charset="-122"/>
              </a:rPr>
              <a:t>，即：</a:t>
            </a:r>
          </a:p>
        </p:txBody>
      </p:sp>
      <p:grpSp>
        <p:nvGrpSpPr>
          <p:cNvPr id="58377" name="Group 9"/>
          <p:cNvGrpSpPr/>
          <p:nvPr/>
        </p:nvGrpSpPr>
        <p:grpSpPr>
          <a:xfrm>
            <a:off x="1390650" y="4343400"/>
            <a:ext cx="6229350" cy="541338"/>
            <a:chOff x="876" y="2880"/>
            <a:chExt cx="3924" cy="341"/>
          </a:xfrm>
        </p:grpSpPr>
        <p:graphicFrame>
          <p:nvGraphicFramePr>
            <p:cNvPr id="41990" name="Object 11"/>
            <p:cNvGraphicFramePr>
              <a:graphicFrameLocks noChangeAspect="1"/>
            </p:cNvGraphicFramePr>
            <p:nvPr/>
          </p:nvGraphicFramePr>
          <p:xfrm>
            <a:off x="2112" y="2880"/>
            <a:ext cx="2688" cy="335"/>
          </p:xfrm>
          <a:graphic>
            <a:graphicData uri="http://schemas.openxmlformats.org/presentationml/2006/ole">
              <mc:AlternateContent xmlns:mc="http://schemas.openxmlformats.org/markup-compatibility/2006">
                <mc:Choice xmlns:v="urn:schemas-microsoft-com:vml" Requires="v">
                  <p:oleObj spid="_x0000_s16406" r:id="rId3" imgW="1917700" imgH="241300" progId="Equation.3">
                    <p:embed/>
                  </p:oleObj>
                </mc:Choice>
                <mc:Fallback>
                  <p:oleObj r:id="rId3" imgW="1917700" imgH="241300" progId="Equation.3">
                    <p:embed/>
                    <p:pic>
                      <p:nvPicPr>
                        <p:cNvPr id="0" name="图片 3089"/>
                        <p:cNvPicPr/>
                        <p:nvPr/>
                      </p:nvPicPr>
                      <p:blipFill>
                        <a:blip r:embed="rId4"/>
                        <a:stretch>
                          <a:fillRect/>
                        </a:stretch>
                      </p:blipFill>
                      <p:spPr>
                        <a:xfrm>
                          <a:off x="2112" y="2880"/>
                          <a:ext cx="2688" cy="335"/>
                        </a:xfrm>
                        <a:prstGeom prst="rect">
                          <a:avLst/>
                        </a:prstGeom>
                        <a:noFill/>
                        <a:ln w="38100">
                          <a:noFill/>
                          <a:miter/>
                        </a:ln>
                      </p:spPr>
                    </p:pic>
                  </p:oleObj>
                </mc:Fallback>
              </mc:AlternateContent>
            </a:graphicData>
          </a:graphic>
        </p:graphicFrame>
        <p:sp>
          <p:nvSpPr>
            <p:cNvPr id="41991" name="Rectangle 10"/>
            <p:cNvSpPr/>
            <p:nvPr/>
          </p:nvSpPr>
          <p:spPr>
            <a:xfrm>
              <a:off x="876" y="2894"/>
              <a:ext cx="1244" cy="327"/>
            </a:xfrm>
            <a:prstGeom prst="rect">
              <a:avLst/>
            </a:prstGeom>
            <a:noFill/>
            <a:ln w="22225">
              <a:noFill/>
            </a:ln>
          </p:spPr>
          <p:txBody>
            <a:bodyPr wrap="none" anchor="t" anchorCtr="0">
              <a:spAutoFit/>
            </a:bodyPr>
            <a:lstStyle/>
            <a:p>
              <a:pPr>
                <a:buFont typeface="Wingdings" panose="05000000000000000000" pitchFamily="2" charset="2"/>
                <a:buChar char="ü"/>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可加性：</a:t>
              </a:r>
            </a:p>
          </p:txBody>
        </p:sp>
      </p:grpSp>
      <p:grpSp>
        <p:nvGrpSpPr>
          <p:cNvPr id="58374" name="Group 6"/>
          <p:cNvGrpSpPr/>
          <p:nvPr/>
        </p:nvGrpSpPr>
        <p:grpSpPr>
          <a:xfrm>
            <a:off x="1377950" y="4975225"/>
            <a:ext cx="4565650" cy="533400"/>
            <a:chOff x="868" y="3360"/>
            <a:chExt cx="2876" cy="336"/>
          </a:xfrm>
        </p:grpSpPr>
        <p:graphicFrame>
          <p:nvGraphicFramePr>
            <p:cNvPr id="41993" name="Object 8"/>
            <p:cNvGraphicFramePr>
              <a:graphicFrameLocks noChangeAspect="1"/>
            </p:cNvGraphicFramePr>
            <p:nvPr/>
          </p:nvGraphicFramePr>
          <p:xfrm>
            <a:off x="2112" y="3387"/>
            <a:ext cx="1632" cy="309"/>
          </p:xfrm>
          <a:graphic>
            <a:graphicData uri="http://schemas.openxmlformats.org/presentationml/2006/ole">
              <mc:AlternateContent xmlns:mc="http://schemas.openxmlformats.org/markup-compatibility/2006">
                <mc:Choice xmlns:v="urn:schemas-microsoft-com:vml" Requires="v">
                  <p:oleObj spid="_x0000_s16407" r:id="rId5" imgW="1206500" imgH="228600" progId="Equation.3">
                    <p:embed/>
                  </p:oleObj>
                </mc:Choice>
                <mc:Fallback>
                  <p:oleObj r:id="rId5" imgW="1206500" imgH="228600" progId="Equation.3">
                    <p:embed/>
                    <p:pic>
                      <p:nvPicPr>
                        <p:cNvPr id="0" name="图片 3090"/>
                        <p:cNvPicPr/>
                        <p:nvPr/>
                      </p:nvPicPr>
                      <p:blipFill>
                        <a:blip r:embed="rId6"/>
                        <a:stretch>
                          <a:fillRect/>
                        </a:stretch>
                      </p:blipFill>
                      <p:spPr>
                        <a:xfrm>
                          <a:off x="2112" y="3387"/>
                          <a:ext cx="1632" cy="309"/>
                        </a:xfrm>
                        <a:prstGeom prst="rect">
                          <a:avLst/>
                        </a:prstGeom>
                        <a:noFill/>
                        <a:ln w="38100">
                          <a:noFill/>
                          <a:miter/>
                        </a:ln>
                      </p:spPr>
                    </p:pic>
                  </p:oleObj>
                </mc:Fallback>
              </mc:AlternateContent>
            </a:graphicData>
          </a:graphic>
        </p:graphicFrame>
        <p:sp>
          <p:nvSpPr>
            <p:cNvPr id="41994" name="Rectangle 7"/>
            <p:cNvSpPr/>
            <p:nvPr/>
          </p:nvSpPr>
          <p:spPr>
            <a:xfrm>
              <a:off x="868" y="3360"/>
              <a:ext cx="1244" cy="327"/>
            </a:xfrm>
            <a:prstGeom prst="rect">
              <a:avLst/>
            </a:prstGeom>
            <a:noFill/>
            <a:ln w="22225">
              <a:noFill/>
            </a:ln>
          </p:spPr>
          <p:txBody>
            <a:bodyPr wrap="none" anchor="t" anchorCtr="0">
              <a:spAutoFit/>
            </a:bodyPr>
            <a:lstStyle/>
            <a:p>
              <a:pPr>
                <a:buFont typeface="Wingdings" panose="05000000000000000000" pitchFamily="2" charset="2"/>
                <a:buChar char="ü"/>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齐次性：</a:t>
              </a:r>
            </a:p>
          </p:txBody>
        </p:sp>
      </p:grpSp>
      <p:grpSp>
        <p:nvGrpSpPr>
          <p:cNvPr id="58371" name="Group 3"/>
          <p:cNvGrpSpPr/>
          <p:nvPr/>
        </p:nvGrpSpPr>
        <p:grpSpPr>
          <a:xfrm>
            <a:off x="1371600" y="5576888"/>
            <a:ext cx="5167313" cy="519112"/>
            <a:chOff x="864" y="3595"/>
            <a:chExt cx="3255" cy="327"/>
          </a:xfrm>
        </p:grpSpPr>
        <p:graphicFrame>
          <p:nvGraphicFramePr>
            <p:cNvPr id="41996" name="Object 5"/>
            <p:cNvGraphicFramePr>
              <a:graphicFrameLocks noChangeAspect="1"/>
            </p:cNvGraphicFramePr>
            <p:nvPr/>
          </p:nvGraphicFramePr>
          <p:xfrm>
            <a:off x="1448" y="3618"/>
            <a:ext cx="2671" cy="300"/>
          </p:xfrm>
          <a:graphic>
            <a:graphicData uri="http://schemas.openxmlformats.org/presentationml/2006/ole">
              <mc:AlternateContent xmlns:mc="http://schemas.openxmlformats.org/markup-compatibility/2006">
                <mc:Choice xmlns:v="urn:schemas-microsoft-com:vml" Requires="v">
                  <p:oleObj spid="_x0000_s16408" r:id="rId7" imgW="1904365" imgH="215900" progId="Equation.3">
                    <p:embed/>
                  </p:oleObj>
                </mc:Choice>
                <mc:Fallback>
                  <p:oleObj r:id="rId7" imgW="1904365" imgH="215900" progId="Equation.3">
                    <p:embed/>
                    <p:pic>
                      <p:nvPicPr>
                        <p:cNvPr id="0" name="图片 3091"/>
                        <p:cNvPicPr/>
                        <p:nvPr/>
                      </p:nvPicPr>
                      <p:blipFill>
                        <a:blip r:embed="rId8"/>
                        <a:stretch>
                          <a:fillRect/>
                        </a:stretch>
                      </p:blipFill>
                      <p:spPr>
                        <a:xfrm>
                          <a:off x="1448" y="3618"/>
                          <a:ext cx="2671" cy="300"/>
                        </a:xfrm>
                        <a:prstGeom prst="rect">
                          <a:avLst/>
                        </a:prstGeom>
                        <a:noFill/>
                        <a:ln w="38100">
                          <a:noFill/>
                          <a:miter/>
                        </a:ln>
                      </p:spPr>
                    </p:pic>
                  </p:oleObj>
                </mc:Fallback>
              </mc:AlternateContent>
            </a:graphicData>
          </a:graphic>
        </p:graphicFrame>
        <p:sp>
          <p:nvSpPr>
            <p:cNvPr id="41997" name="Rectangle 4"/>
            <p:cNvSpPr/>
            <p:nvPr/>
          </p:nvSpPr>
          <p:spPr>
            <a:xfrm>
              <a:off x="864" y="3595"/>
              <a:ext cx="564" cy="327"/>
            </a:xfrm>
            <a:prstGeom prst="rect">
              <a:avLst/>
            </a:prstGeom>
            <a:noFill/>
            <a:ln w="22225">
              <a:noFill/>
            </a:ln>
          </p:spPr>
          <p:txBody>
            <a:bodyPr wrap="none" anchor="t" anchorCtr="0">
              <a:spAutoFit/>
            </a:bodyPr>
            <a:lstStyle/>
            <a:p>
              <a:r>
                <a:rPr lang="zh-CN" altLang="en-US" sz="2800" dirty="0">
                  <a:latin typeface="Times New Roman" panose="02020603050405020304" pitchFamily="18" charset="0"/>
                  <a:ea typeface="宋体" panose="02010600030101010101" pitchFamily="2" charset="-122"/>
                </a:rPr>
                <a:t>或：</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382"/>
                                        </p:tgtEl>
                                        <p:attrNameLst>
                                          <p:attrName>style.visibility</p:attrName>
                                        </p:attrNameLst>
                                      </p:cBhvr>
                                      <p:to>
                                        <p:strVal val="visible"/>
                                      </p:to>
                                    </p:set>
                                    <p:anim calcmode="lin" valueType="num">
                                      <p:cBhvr additive="base">
                                        <p:cTn id="7" dur="500" fill="hold"/>
                                        <p:tgtEl>
                                          <p:spTgt spid="58382"/>
                                        </p:tgtEl>
                                        <p:attrNameLst>
                                          <p:attrName>ppt_x</p:attrName>
                                        </p:attrNameLst>
                                      </p:cBhvr>
                                      <p:tavLst>
                                        <p:tav tm="0">
                                          <p:val>
                                            <p:strVal val="#ppt_x"/>
                                          </p:val>
                                        </p:tav>
                                        <p:tav tm="100000">
                                          <p:val>
                                            <p:strVal val="#ppt_x"/>
                                          </p:val>
                                        </p:tav>
                                      </p:tavLst>
                                    </p:anim>
                                    <p:anim calcmode="lin" valueType="num">
                                      <p:cBhvr additive="base">
                                        <p:cTn id="8" dur="500" fill="hold"/>
                                        <p:tgtEl>
                                          <p:spTgt spid="583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80"/>
                                        </p:tgtEl>
                                        <p:attrNameLst>
                                          <p:attrName>style.visibility</p:attrName>
                                        </p:attrNameLst>
                                      </p:cBhvr>
                                      <p:to>
                                        <p:strVal val="visible"/>
                                      </p:to>
                                    </p:set>
                                    <p:anim calcmode="lin" valueType="num">
                                      <p:cBhvr additive="base">
                                        <p:cTn id="13" dur="500" fill="hold"/>
                                        <p:tgtEl>
                                          <p:spTgt spid="58380"/>
                                        </p:tgtEl>
                                        <p:attrNameLst>
                                          <p:attrName>ppt_x</p:attrName>
                                        </p:attrNameLst>
                                      </p:cBhvr>
                                      <p:tavLst>
                                        <p:tav tm="0">
                                          <p:val>
                                            <p:strVal val="#ppt_x"/>
                                          </p:val>
                                        </p:tav>
                                        <p:tav tm="100000">
                                          <p:val>
                                            <p:strVal val="#ppt_x"/>
                                          </p:val>
                                        </p:tav>
                                      </p:tavLst>
                                    </p:anim>
                                    <p:anim calcmode="lin" valueType="num">
                                      <p:cBhvr additive="base">
                                        <p:cTn id="14" dur="500" fill="hold"/>
                                        <p:tgtEl>
                                          <p:spTgt spid="583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8377"/>
                                        </p:tgtEl>
                                        <p:attrNameLst>
                                          <p:attrName>style.visibility</p:attrName>
                                        </p:attrNameLst>
                                      </p:cBhvr>
                                      <p:to>
                                        <p:strVal val="visible"/>
                                      </p:to>
                                    </p:set>
                                    <p:anim calcmode="lin" valueType="num">
                                      <p:cBhvr additive="base">
                                        <p:cTn id="19" dur="500" fill="hold"/>
                                        <p:tgtEl>
                                          <p:spTgt spid="58377"/>
                                        </p:tgtEl>
                                        <p:attrNameLst>
                                          <p:attrName>ppt_x</p:attrName>
                                        </p:attrNameLst>
                                      </p:cBhvr>
                                      <p:tavLst>
                                        <p:tav tm="0">
                                          <p:val>
                                            <p:strVal val="#ppt_x"/>
                                          </p:val>
                                        </p:tav>
                                        <p:tav tm="100000">
                                          <p:val>
                                            <p:strVal val="#ppt_x"/>
                                          </p:val>
                                        </p:tav>
                                      </p:tavLst>
                                    </p:anim>
                                    <p:anim calcmode="lin" valueType="num">
                                      <p:cBhvr additive="base">
                                        <p:cTn id="20" dur="500" fill="hold"/>
                                        <p:tgtEl>
                                          <p:spTgt spid="5837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8374"/>
                                        </p:tgtEl>
                                        <p:attrNameLst>
                                          <p:attrName>style.visibility</p:attrName>
                                        </p:attrNameLst>
                                      </p:cBhvr>
                                      <p:to>
                                        <p:strVal val="visible"/>
                                      </p:to>
                                    </p:set>
                                    <p:anim calcmode="lin" valueType="num">
                                      <p:cBhvr additive="base">
                                        <p:cTn id="25" dur="500" fill="hold"/>
                                        <p:tgtEl>
                                          <p:spTgt spid="58374"/>
                                        </p:tgtEl>
                                        <p:attrNameLst>
                                          <p:attrName>ppt_x</p:attrName>
                                        </p:attrNameLst>
                                      </p:cBhvr>
                                      <p:tavLst>
                                        <p:tav tm="0">
                                          <p:val>
                                            <p:strVal val="#ppt_x"/>
                                          </p:val>
                                        </p:tav>
                                        <p:tav tm="100000">
                                          <p:val>
                                            <p:strVal val="#ppt_x"/>
                                          </p:val>
                                        </p:tav>
                                      </p:tavLst>
                                    </p:anim>
                                    <p:anim calcmode="lin" valueType="num">
                                      <p:cBhvr additive="base">
                                        <p:cTn id="26" dur="500" fill="hold"/>
                                        <p:tgtEl>
                                          <p:spTgt spid="5837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8371"/>
                                        </p:tgtEl>
                                        <p:attrNameLst>
                                          <p:attrName>style.visibility</p:attrName>
                                        </p:attrNameLst>
                                      </p:cBhvr>
                                      <p:to>
                                        <p:strVal val="visible"/>
                                      </p:to>
                                    </p:set>
                                    <p:anim calcmode="lin" valueType="num">
                                      <p:cBhvr additive="base">
                                        <p:cTn id="31" dur="500" fill="hold"/>
                                        <p:tgtEl>
                                          <p:spTgt spid="58371"/>
                                        </p:tgtEl>
                                        <p:attrNameLst>
                                          <p:attrName>ppt_x</p:attrName>
                                        </p:attrNameLst>
                                      </p:cBhvr>
                                      <p:tavLst>
                                        <p:tav tm="0">
                                          <p:val>
                                            <p:strVal val="#ppt_x"/>
                                          </p:val>
                                        </p:tav>
                                        <p:tav tm="100000">
                                          <p:val>
                                            <p:strVal val="#ppt_x"/>
                                          </p:val>
                                        </p:tav>
                                      </p:tavLst>
                                    </p:anim>
                                    <p:anim calcmode="lin" valueType="num">
                                      <p:cBhvr additive="base">
                                        <p:cTn id="32" dur="500" fill="hold"/>
                                        <p:tgtEl>
                                          <p:spTgt spid="583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82" grpId="0"/>
      <p:bldP spid="5838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日期占位符 6"/>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en-US" altLang="zh-CN" sz="1200" dirty="0"/>
              <a:t>9/2/2025</a:t>
            </a:fld>
            <a:endParaRPr lang="en-US" altLang="zh-CN" sz="1200" dirty="0"/>
          </a:p>
        </p:txBody>
      </p:sp>
      <p:sp>
        <p:nvSpPr>
          <p:cNvPr id="43010" name="灯片编号占位符 8"/>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26</a:t>
            </a:fld>
            <a:endParaRPr lang="en-US" altLang="zh-CN" sz="1200" dirty="0"/>
          </a:p>
        </p:txBody>
      </p:sp>
      <p:sp>
        <p:nvSpPr>
          <p:cNvPr id="22534" name="Rectangle 6"/>
          <p:cNvSpPr/>
          <p:nvPr/>
        </p:nvSpPr>
        <p:spPr>
          <a:xfrm>
            <a:off x="1371600" y="2246313"/>
            <a:ext cx="7391400" cy="1020762"/>
          </a:xfrm>
          <a:prstGeom prst="rect">
            <a:avLst/>
          </a:prstGeom>
          <a:noFill/>
          <a:ln w="22225">
            <a:noFill/>
          </a:ln>
        </p:spPr>
        <p:txBody>
          <a:bodyPr anchor="t" anchorCtr="0">
            <a:spAutoFit/>
          </a:bodyPr>
          <a:lstStyle/>
          <a:p>
            <a:pPr marL="457200" indent="-457200">
              <a:lnSpc>
                <a:spcPct val="115000"/>
              </a:lnSpc>
              <a:buFont typeface="Wingdings" panose="05000000000000000000" pitchFamily="2" charset="2"/>
              <a:buChar char="ü"/>
            </a:pPr>
            <a:r>
              <a:rPr lang="zh-CN" altLang="en-US" sz="2800" dirty="0">
                <a:latin typeface="宋体" panose="02010600030101010101" pitchFamily="2" charset="-122"/>
                <a:ea typeface="宋体" panose="02010600030101010101" pitchFamily="2" charset="-122"/>
              </a:rPr>
              <a:t>用非线性微分方程描述的系统为非线性系统。非线性系统不满足叠加原理。</a:t>
            </a:r>
          </a:p>
        </p:txBody>
      </p:sp>
      <p:sp>
        <p:nvSpPr>
          <p:cNvPr id="22532" name="Rectangle 4"/>
          <p:cNvSpPr/>
          <p:nvPr/>
        </p:nvSpPr>
        <p:spPr>
          <a:xfrm>
            <a:off x="1371600" y="4413250"/>
            <a:ext cx="7315200" cy="1020763"/>
          </a:xfrm>
          <a:prstGeom prst="rect">
            <a:avLst/>
          </a:prstGeom>
          <a:noFill/>
          <a:ln w="22225">
            <a:noFill/>
          </a:ln>
        </p:spPr>
        <p:txBody>
          <a:bodyPr anchor="t" anchorCtr="0">
            <a:spAutoFit/>
          </a:bodyPr>
          <a:lstStyle/>
          <a:p>
            <a:pPr marL="457200" indent="-457200">
              <a:lnSpc>
                <a:spcPct val="115000"/>
              </a:lnSpc>
              <a:buFont typeface="Wingdings" panose="05000000000000000000" pitchFamily="2" charset="2"/>
              <a:buChar char="ü"/>
            </a:pPr>
            <a:r>
              <a:rPr lang="zh-CN" altLang="en-US" sz="2800" dirty="0">
                <a:latin typeface="宋体" panose="02010600030101010101" pitchFamily="2" charset="-122"/>
                <a:ea typeface="宋体" panose="02010600030101010101" pitchFamily="2" charset="-122"/>
              </a:rPr>
              <a:t>为分析方便，通常在合理的条件下，将非线性系统简化为线性系统处理。 </a:t>
            </a:r>
          </a:p>
        </p:txBody>
      </p:sp>
      <p:sp>
        <p:nvSpPr>
          <p:cNvPr id="22531" name="Rectangle 3"/>
          <p:cNvSpPr/>
          <p:nvPr/>
        </p:nvSpPr>
        <p:spPr>
          <a:xfrm>
            <a:off x="1371600" y="3346450"/>
            <a:ext cx="7315200" cy="1020763"/>
          </a:xfrm>
          <a:prstGeom prst="rect">
            <a:avLst/>
          </a:prstGeom>
          <a:noFill/>
          <a:ln w="22225">
            <a:noFill/>
          </a:ln>
        </p:spPr>
        <p:txBody>
          <a:bodyPr anchor="t" anchorCtr="0">
            <a:spAutoFit/>
          </a:bodyPr>
          <a:lstStyle/>
          <a:p>
            <a:pPr marL="457200" indent="-457200">
              <a:lnSpc>
                <a:spcPct val="115000"/>
              </a:lnSpc>
              <a:buFont typeface="Wingdings" panose="05000000000000000000" pitchFamily="2" charset="2"/>
              <a:buChar char="ü"/>
            </a:pPr>
            <a:r>
              <a:rPr lang="zh-CN" altLang="en-US" sz="2800" dirty="0">
                <a:latin typeface="宋体" panose="02010600030101010101" pitchFamily="2" charset="-122"/>
                <a:ea typeface="宋体" panose="02010600030101010101" pitchFamily="2" charset="-122"/>
              </a:rPr>
              <a:t>实际的系统通常都是非线性的，线性只在一定的工作范围内成立。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4"/>
                                        </p:tgtEl>
                                        <p:attrNameLst>
                                          <p:attrName>style.visibility</p:attrName>
                                        </p:attrNameLst>
                                      </p:cBhvr>
                                      <p:to>
                                        <p:strVal val="visible"/>
                                      </p:to>
                                    </p:set>
                                    <p:anim calcmode="lin" valueType="num">
                                      <p:cBhvr additive="base">
                                        <p:cTn id="7" dur="500" fill="hold"/>
                                        <p:tgtEl>
                                          <p:spTgt spid="22534"/>
                                        </p:tgtEl>
                                        <p:attrNameLst>
                                          <p:attrName>ppt_x</p:attrName>
                                        </p:attrNameLst>
                                      </p:cBhvr>
                                      <p:tavLst>
                                        <p:tav tm="0">
                                          <p:val>
                                            <p:strVal val="#ppt_x"/>
                                          </p:val>
                                        </p:tav>
                                        <p:tav tm="100000">
                                          <p:val>
                                            <p:strVal val="#ppt_x"/>
                                          </p:val>
                                        </p:tav>
                                      </p:tavLst>
                                    </p:anim>
                                    <p:anim calcmode="lin" valueType="num">
                                      <p:cBhvr additive="base">
                                        <p:cTn id="8"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1"/>
                                        </p:tgtEl>
                                        <p:attrNameLst>
                                          <p:attrName>style.visibility</p:attrName>
                                        </p:attrNameLst>
                                      </p:cBhvr>
                                      <p:to>
                                        <p:strVal val="visible"/>
                                      </p:to>
                                    </p:set>
                                    <p:anim calcmode="lin" valueType="num">
                                      <p:cBhvr additive="base">
                                        <p:cTn id="13" dur="500" fill="hold"/>
                                        <p:tgtEl>
                                          <p:spTgt spid="22531"/>
                                        </p:tgtEl>
                                        <p:attrNameLst>
                                          <p:attrName>ppt_x</p:attrName>
                                        </p:attrNameLst>
                                      </p:cBhvr>
                                      <p:tavLst>
                                        <p:tav tm="0">
                                          <p:val>
                                            <p:strVal val="#ppt_x"/>
                                          </p:val>
                                        </p:tav>
                                        <p:tav tm="100000">
                                          <p:val>
                                            <p:strVal val="#ppt_x"/>
                                          </p:val>
                                        </p:tav>
                                      </p:tavLst>
                                    </p:anim>
                                    <p:anim calcmode="lin" valueType="num">
                                      <p:cBhvr additive="base">
                                        <p:cTn id="14"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2"/>
                                        </p:tgtEl>
                                        <p:attrNameLst>
                                          <p:attrName>style.visibility</p:attrName>
                                        </p:attrNameLst>
                                      </p:cBhvr>
                                      <p:to>
                                        <p:strVal val="visible"/>
                                      </p:to>
                                    </p:set>
                                    <p:anim calcmode="lin" valueType="num">
                                      <p:cBhvr additive="base">
                                        <p:cTn id="19" dur="500" fill="hold"/>
                                        <p:tgtEl>
                                          <p:spTgt spid="22532"/>
                                        </p:tgtEl>
                                        <p:attrNameLst>
                                          <p:attrName>ppt_x</p:attrName>
                                        </p:attrNameLst>
                                      </p:cBhvr>
                                      <p:tavLst>
                                        <p:tav tm="0">
                                          <p:val>
                                            <p:strVal val="#ppt_x"/>
                                          </p:val>
                                        </p:tav>
                                        <p:tav tm="100000">
                                          <p:val>
                                            <p:strVal val="#ppt_x"/>
                                          </p:val>
                                        </p:tav>
                                      </p:tavLst>
                                    </p:anim>
                                    <p:anim calcmode="lin" valueType="num">
                                      <p:cBhvr additive="base">
                                        <p:cTn id="20" dur="500" fill="hold"/>
                                        <p:tgtEl>
                                          <p:spTgt spid="225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4" grpId="0"/>
      <p:bldP spid="22532" grpId="0"/>
      <p:bldP spid="2253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日期占位符 1"/>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44034" name="灯片编号占位符 2"/>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27</a:t>
            </a:fld>
            <a:endParaRPr lang="en-US" altLang="zh-CN" sz="1200" dirty="0"/>
          </a:p>
        </p:txBody>
      </p:sp>
      <p:sp>
        <p:nvSpPr>
          <p:cNvPr id="44035" name="文本框 3"/>
          <p:cNvSpPr txBox="1"/>
          <p:nvPr/>
        </p:nvSpPr>
        <p:spPr>
          <a:xfrm>
            <a:off x="1042988" y="2924175"/>
            <a:ext cx="4397375" cy="584200"/>
          </a:xfrm>
          <a:prstGeom prst="rect">
            <a:avLst/>
          </a:prstGeom>
          <a:noFill/>
          <a:ln w="9525">
            <a:noFill/>
          </a:ln>
        </p:spPr>
        <p:txBody>
          <a:bodyPr wrap="none" anchor="t" anchorCtr="0">
            <a:spAutoFit/>
          </a:bodyPr>
          <a:lstStyle/>
          <a:p>
            <a:pPr eaLnBrk="0" hangingPunct="0"/>
            <a:r>
              <a:rPr lang="zh-CN" altLang="en-US" sz="3200" dirty="0">
                <a:latin typeface="Verdana" panose="020B0604030504040204" pitchFamily="34" charset="0"/>
                <a:ea typeface="宋体" panose="02010600030101010101" pitchFamily="2" charset="-122"/>
              </a:rPr>
              <a:t>作业：</a:t>
            </a:r>
            <a:r>
              <a:rPr lang="en-US" altLang="zh-CN" sz="3200" dirty="0">
                <a:latin typeface="Verdana" panose="020B0604030504040204" pitchFamily="34" charset="0"/>
                <a:ea typeface="宋体" panose="02010600030101010101" pitchFamily="2" charset="-122"/>
              </a:rPr>
              <a:t>P76:2-1 (c)(d)</a:t>
            </a:r>
            <a:endParaRPr lang="zh-CN" altLang="en-US" sz="3200"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4505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28</a:t>
            </a:fld>
            <a:endParaRPr lang="en-US" altLang="zh-CN" sz="1200" dirty="0"/>
          </a:p>
        </p:txBody>
      </p:sp>
      <p:sp>
        <p:nvSpPr>
          <p:cNvPr id="45059" name="Text Box 3"/>
          <p:cNvSpPr txBox="1"/>
          <p:nvPr/>
        </p:nvSpPr>
        <p:spPr>
          <a:xfrm>
            <a:off x="2339975" y="758825"/>
            <a:ext cx="3416300" cy="646113"/>
          </a:xfrm>
          <a:prstGeom prst="rect">
            <a:avLst/>
          </a:prstGeom>
          <a:noFill/>
          <a:ln w="9525">
            <a:noFill/>
          </a:ln>
        </p:spPr>
        <p:txBody>
          <a:bodyPr wrap="none" anchor="t" anchorCtr="0">
            <a:spAutoFit/>
          </a:bodyPr>
          <a:lstStyle/>
          <a:p>
            <a:r>
              <a:rPr lang="zh-CN" altLang="en-US" sz="3600" dirty="0">
                <a:latin typeface="Times New Roman" panose="02020603050405020304" pitchFamily="18" charset="0"/>
                <a:ea typeface="华文新魏" panose="02010800040101010101" pitchFamily="2" charset="-122"/>
              </a:rPr>
              <a:t>第</a:t>
            </a:r>
            <a:r>
              <a:rPr lang="en-US" altLang="zh-CN" sz="3600" dirty="0">
                <a:latin typeface="Times New Roman" panose="02020603050405020304" pitchFamily="18" charset="0"/>
                <a:ea typeface="华文新魏" panose="02010800040101010101" pitchFamily="2" charset="-122"/>
              </a:rPr>
              <a:t>2</a:t>
            </a:r>
            <a:r>
              <a:rPr lang="zh-CN" altLang="en-US" sz="3600" dirty="0">
                <a:latin typeface="Times New Roman" panose="02020603050405020304" pitchFamily="18" charset="0"/>
                <a:ea typeface="华文新魏" panose="02010800040101010101" pitchFamily="2" charset="-122"/>
              </a:rPr>
              <a:t>章  数学模型</a:t>
            </a:r>
          </a:p>
        </p:txBody>
      </p:sp>
      <p:sp>
        <p:nvSpPr>
          <p:cNvPr id="45060" name="Rectangle 4"/>
          <p:cNvSpPr/>
          <p:nvPr/>
        </p:nvSpPr>
        <p:spPr>
          <a:xfrm>
            <a:off x="1835150" y="2668588"/>
            <a:ext cx="3775075" cy="608012"/>
          </a:xfrm>
          <a:prstGeom prst="rect">
            <a:avLst/>
          </a:prstGeom>
          <a:noFill/>
          <a:ln w="22225">
            <a:noFill/>
          </a:ln>
        </p:spPr>
        <p:txBody>
          <a:bodyPr wrap="none" anchor="t" anchorCtr="0">
            <a:spAutoFit/>
          </a:bodyPr>
          <a:lstStyle/>
          <a:p>
            <a:pPr>
              <a:lnSpc>
                <a:spcPct val="135000"/>
              </a:lnSpc>
            </a:pPr>
            <a:r>
              <a:rPr lang="en-US" altLang="zh-CN" sz="2800" dirty="0">
                <a:solidFill>
                  <a:srgbClr val="FF0000"/>
                </a:solidFill>
                <a:latin typeface="Times New Roman" panose="02020603050405020304" pitchFamily="18" charset="0"/>
                <a:ea typeface="黑体" panose="02010609060101010101" pitchFamily="49" charset="-122"/>
              </a:rPr>
              <a:t>2.2   </a:t>
            </a:r>
            <a:r>
              <a:rPr lang="zh-CN" altLang="en-US" sz="2800" dirty="0">
                <a:solidFill>
                  <a:srgbClr val="FF0000"/>
                </a:solidFill>
                <a:latin typeface="Times New Roman" panose="02020603050405020304" pitchFamily="18" charset="0"/>
                <a:ea typeface="黑体" panose="02010609060101010101" pitchFamily="49" charset="-122"/>
              </a:rPr>
              <a:t>拉氏变换和反变换</a:t>
            </a:r>
          </a:p>
        </p:txBody>
      </p:sp>
      <p:sp>
        <p:nvSpPr>
          <p:cNvPr id="45061" name="Rectangle 5"/>
          <p:cNvSpPr/>
          <p:nvPr/>
        </p:nvSpPr>
        <p:spPr>
          <a:xfrm>
            <a:off x="1835150" y="3216275"/>
            <a:ext cx="2338388" cy="608013"/>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2.3   </a:t>
            </a:r>
            <a:r>
              <a:rPr lang="zh-CN" altLang="en-US" sz="2800" dirty="0">
                <a:latin typeface="Times New Roman" panose="02020603050405020304" pitchFamily="18" charset="0"/>
                <a:ea typeface="黑体" panose="02010609060101010101" pitchFamily="49" charset="-122"/>
              </a:rPr>
              <a:t>传递函数</a:t>
            </a:r>
          </a:p>
        </p:txBody>
      </p:sp>
      <p:sp>
        <p:nvSpPr>
          <p:cNvPr id="45062" name="Rectangle 6"/>
          <p:cNvSpPr/>
          <p:nvPr/>
        </p:nvSpPr>
        <p:spPr>
          <a:xfrm>
            <a:off x="1835150" y="4425950"/>
            <a:ext cx="4852988" cy="523875"/>
          </a:xfrm>
          <a:prstGeom prst="rect">
            <a:avLst/>
          </a:prstGeom>
          <a:noFill/>
          <a:ln w="22225">
            <a:noFill/>
          </a:ln>
        </p:spPr>
        <p:txBody>
          <a:bodyPr wrap="none" anchor="t" anchorCtr="0">
            <a:spAutoFit/>
          </a:bodyPr>
          <a:lstStyle/>
          <a:p>
            <a:r>
              <a:rPr lang="en-US" altLang="zh-CN" sz="2800" dirty="0">
                <a:latin typeface="Times New Roman" panose="02020603050405020304" pitchFamily="18" charset="0"/>
                <a:ea typeface="黑体" panose="02010609060101010101" pitchFamily="49" charset="-122"/>
              </a:rPr>
              <a:t>2.5   </a:t>
            </a:r>
            <a:r>
              <a:rPr lang="zh-CN" altLang="en-US" sz="2800" dirty="0">
                <a:latin typeface="Times New Roman" panose="02020603050405020304" pitchFamily="18" charset="0"/>
                <a:ea typeface="黑体" panose="02010609060101010101" pitchFamily="49" charset="-122"/>
              </a:rPr>
              <a:t>非线性数学模型的线性化</a:t>
            </a:r>
          </a:p>
        </p:txBody>
      </p:sp>
      <p:sp>
        <p:nvSpPr>
          <p:cNvPr id="45063" name="Rectangle 7"/>
          <p:cNvSpPr/>
          <p:nvPr/>
        </p:nvSpPr>
        <p:spPr>
          <a:xfrm>
            <a:off x="1833563" y="3789363"/>
            <a:ext cx="4494212" cy="674687"/>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2.4   </a:t>
            </a:r>
            <a:r>
              <a:rPr lang="zh-CN" altLang="en-US" sz="2800" dirty="0">
                <a:latin typeface="Times New Roman" panose="02020603050405020304" pitchFamily="18" charset="0"/>
                <a:ea typeface="黑体" panose="02010609060101010101" pitchFamily="49" charset="-122"/>
              </a:rPr>
              <a:t>系统方框图和信号流图</a:t>
            </a:r>
          </a:p>
        </p:txBody>
      </p:sp>
      <p:sp>
        <p:nvSpPr>
          <p:cNvPr id="45064" name="Rectangle 8"/>
          <p:cNvSpPr/>
          <p:nvPr/>
        </p:nvSpPr>
        <p:spPr>
          <a:xfrm>
            <a:off x="1835150" y="4864100"/>
            <a:ext cx="5211763" cy="674688"/>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2.6   </a:t>
            </a:r>
            <a:r>
              <a:rPr lang="zh-CN" altLang="en-US" sz="2800" dirty="0">
                <a:latin typeface="Times New Roman" panose="02020603050405020304" pitchFamily="18" charset="0"/>
                <a:ea typeface="黑体" panose="02010609060101010101" pitchFamily="49" charset="-122"/>
              </a:rPr>
              <a:t>控制系统传递函数推导举例</a:t>
            </a:r>
          </a:p>
        </p:txBody>
      </p:sp>
      <p:sp>
        <p:nvSpPr>
          <p:cNvPr id="45065" name="Rectangle 11"/>
          <p:cNvSpPr/>
          <p:nvPr/>
        </p:nvSpPr>
        <p:spPr>
          <a:xfrm>
            <a:off x="1835150" y="2135188"/>
            <a:ext cx="4852988" cy="674687"/>
          </a:xfrm>
          <a:prstGeom prst="rect">
            <a:avLst/>
          </a:prstGeom>
          <a:noFill/>
          <a:ln w="222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2.1   </a:t>
            </a:r>
            <a:r>
              <a:rPr lang="zh-CN" altLang="en-US" sz="2800" dirty="0">
                <a:latin typeface="Times New Roman" panose="02020603050405020304" pitchFamily="18" charset="0"/>
                <a:ea typeface="黑体" panose="02010609060101010101" pitchFamily="49" charset="-122"/>
              </a:rPr>
              <a:t>控制系统的运动微分方程</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日期占位符 1"/>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47106" name="灯片编号占位符 3"/>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29</a:t>
            </a:fld>
            <a:endParaRPr lang="en-US" altLang="zh-CN" sz="1200" dirty="0"/>
          </a:p>
        </p:txBody>
      </p:sp>
      <p:sp>
        <p:nvSpPr>
          <p:cNvPr id="181251" name="Text Box 3"/>
          <p:cNvSpPr txBox="1"/>
          <p:nvPr/>
        </p:nvSpPr>
        <p:spPr>
          <a:xfrm>
            <a:off x="1042988" y="1698625"/>
            <a:ext cx="3933825" cy="457200"/>
          </a:xfrm>
          <a:prstGeom prst="rect">
            <a:avLst/>
          </a:prstGeom>
          <a:noFill/>
          <a:ln w="9525">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函数</a:t>
            </a:r>
            <a:r>
              <a:rPr lang="en-US" altLang="zh-CN" sz="2400" dirty="0">
                <a:latin typeface="Times New Roman" panose="02020603050405020304" pitchFamily="18" charset="0"/>
                <a:ea typeface="宋体" panose="02010600030101010101" pitchFamily="2" charset="-122"/>
              </a:rPr>
              <a:t>f(t),t≥0</a:t>
            </a:r>
            <a:r>
              <a:rPr lang="zh-CN" altLang="en-US" sz="2400" dirty="0">
                <a:latin typeface="Times New Roman" panose="02020603050405020304" pitchFamily="18" charset="0"/>
                <a:ea typeface="宋体" panose="02010600030101010101" pitchFamily="2" charset="-122"/>
              </a:rPr>
              <a:t>有定义，且积分</a:t>
            </a:r>
          </a:p>
        </p:txBody>
      </p:sp>
      <p:graphicFrame>
        <p:nvGraphicFramePr>
          <p:cNvPr id="181252" name="Object 4"/>
          <p:cNvGraphicFramePr>
            <a:graphicFrameLocks noChangeAspect="1"/>
          </p:cNvGraphicFramePr>
          <p:nvPr/>
        </p:nvGraphicFramePr>
        <p:xfrm>
          <a:off x="4832350" y="1600200"/>
          <a:ext cx="1466850" cy="604838"/>
        </p:xfrm>
        <a:graphic>
          <a:graphicData uri="http://schemas.openxmlformats.org/presentationml/2006/ole">
            <mc:AlternateContent xmlns:mc="http://schemas.openxmlformats.org/markup-compatibility/2006">
              <mc:Choice xmlns:v="urn:schemas-microsoft-com:vml" Requires="v">
                <p:oleObj spid="_x0000_s17430" r:id="rId3" imgW="799465" imgH="330200" progId="Equation.3">
                  <p:embed/>
                </p:oleObj>
              </mc:Choice>
              <mc:Fallback>
                <p:oleObj r:id="rId3" imgW="799465" imgH="330200" progId="Equation.3">
                  <p:embed/>
                  <p:pic>
                    <p:nvPicPr>
                      <p:cNvPr id="0" name="图片 3092"/>
                      <p:cNvPicPr/>
                      <p:nvPr/>
                    </p:nvPicPr>
                    <p:blipFill>
                      <a:blip r:embed="rId4"/>
                      <a:stretch>
                        <a:fillRect/>
                      </a:stretch>
                    </p:blipFill>
                    <p:spPr>
                      <a:xfrm>
                        <a:off x="4832350" y="1600200"/>
                        <a:ext cx="1466850" cy="604838"/>
                      </a:xfrm>
                      <a:prstGeom prst="rect">
                        <a:avLst/>
                      </a:prstGeom>
                      <a:noFill/>
                      <a:ln w="38100">
                        <a:noFill/>
                        <a:miter/>
                      </a:ln>
                    </p:spPr>
                  </p:pic>
                </p:oleObj>
              </mc:Fallback>
            </mc:AlternateContent>
          </a:graphicData>
        </a:graphic>
      </p:graphicFrame>
      <p:sp>
        <p:nvSpPr>
          <p:cNvPr id="181253" name="Text Box 5"/>
          <p:cNvSpPr txBox="1"/>
          <p:nvPr/>
        </p:nvSpPr>
        <p:spPr>
          <a:xfrm>
            <a:off x="6330950" y="1654175"/>
            <a:ext cx="1725613" cy="457200"/>
          </a:xfrm>
          <a:prstGeom prst="rect">
            <a:avLst/>
          </a:prstGeom>
          <a:noFill/>
          <a:ln w="95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(s</a:t>
            </a:r>
            <a:r>
              <a:rPr lang="zh-CN" altLang="en-US" sz="2400" dirty="0">
                <a:latin typeface="Times New Roman" panose="02020603050405020304" pitchFamily="18" charset="0"/>
                <a:ea typeface="宋体" panose="02010600030101010101" pitchFamily="2" charset="-122"/>
              </a:rPr>
              <a:t>为复参量</a:t>
            </a:r>
            <a:r>
              <a:rPr lang="en-US" altLang="zh-CN" sz="2400" dirty="0">
                <a:latin typeface="Times New Roman" panose="02020603050405020304" pitchFamily="18" charset="0"/>
                <a:ea typeface="宋体" panose="02010600030101010101" pitchFamily="2" charset="-122"/>
              </a:rPr>
              <a:t>)</a:t>
            </a:r>
          </a:p>
        </p:txBody>
      </p:sp>
      <p:sp>
        <p:nvSpPr>
          <p:cNvPr id="181254" name="Text Box 6"/>
          <p:cNvSpPr txBox="1"/>
          <p:nvPr/>
        </p:nvSpPr>
        <p:spPr>
          <a:xfrm>
            <a:off x="517525" y="2174875"/>
            <a:ext cx="7313613" cy="457200"/>
          </a:xfrm>
          <a:prstGeom prst="rect">
            <a:avLst/>
          </a:prstGeom>
          <a:noFill/>
          <a:ln w="9525">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在</a:t>
            </a:r>
            <a:r>
              <a:rPr lang="en-US" altLang="zh-CN" sz="2400" dirty="0">
                <a:latin typeface="Times New Roman" panose="02020603050405020304" pitchFamily="18" charset="0"/>
                <a:ea typeface="宋体" panose="02010600030101010101" pitchFamily="2" charset="-122"/>
              </a:rPr>
              <a:t>s</a:t>
            </a:r>
            <a:r>
              <a:rPr lang="zh-CN" altLang="en-US" sz="2400" dirty="0">
                <a:latin typeface="Times New Roman" panose="02020603050405020304" pitchFamily="18" charset="0"/>
                <a:ea typeface="宋体" panose="02010600030101010101" pitchFamily="2" charset="-122"/>
              </a:rPr>
              <a:t>的某一域内收敛，则由此积分确定的函数可写为：</a:t>
            </a:r>
          </a:p>
        </p:txBody>
      </p:sp>
      <p:graphicFrame>
        <p:nvGraphicFramePr>
          <p:cNvPr id="181255" name="Object 7"/>
          <p:cNvGraphicFramePr>
            <a:graphicFrameLocks noChangeAspect="1"/>
          </p:cNvGraphicFramePr>
          <p:nvPr/>
        </p:nvGraphicFramePr>
        <p:xfrm>
          <a:off x="1331913" y="2636838"/>
          <a:ext cx="2438400" cy="649287"/>
        </p:xfrm>
        <a:graphic>
          <a:graphicData uri="http://schemas.openxmlformats.org/presentationml/2006/ole">
            <mc:AlternateContent xmlns:mc="http://schemas.openxmlformats.org/markup-compatibility/2006">
              <mc:Choice xmlns:v="urn:schemas-microsoft-com:vml" Requires="v">
                <p:oleObj spid="_x0000_s17431" r:id="rId5" imgW="1244600" imgH="330200" progId="Equation.3">
                  <p:embed/>
                </p:oleObj>
              </mc:Choice>
              <mc:Fallback>
                <p:oleObj r:id="rId5" imgW="1244600" imgH="330200" progId="Equation.3">
                  <p:embed/>
                  <p:pic>
                    <p:nvPicPr>
                      <p:cNvPr id="0" name="图片 3095"/>
                      <p:cNvPicPr/>
                      <p:nvPr/>
                    </p:nvPicPr>
                    <p:blipFill>
                      <a:blip r:embed="rId6"/>
                      <a:stretch>
                        <a:fillRect/>
                      </a:stretch>
                    </p:blipFill>
                    <p:spPr>
                      <a:xfrm>
                        <a:off x="1331913" y="2636838"/>
                        <a:ext cx="2438400" cy="649287"/>
                      </a:xfrm>
                      <a:prstGeom prst="rect">
                        <a:avLst/>
                      </a:prstGeom>
                      <a:noFill/>
                      <a:ln w="38100">
                        <a:noFill/>
                        <a:miter/>
                      </a:ln>
                    </p:spPr>
                  </p:pic>
                </p:oleObj>
              </mc:Fallback>
            </mc:AlternateContent>
          </a:graphicData>
        </a:graphic>
      </p:graphicFrame>
      <p:sp>
        <p:nvSpPr>
          <p:cNvPr id="181256" name="Text Box 8"/>
          <p:cNvSpPr txBox="1"/>
          <p:nvPr/>
        </p:nvSpPr>
        <p:spPr>
          <a:xfrm>
            <a:off x="533400" y="3429000"/>
            <a:ext cx="7248525" cy="457200"/>
          </a:xfrm>
          <a:prstGeom prst="rect">
            <a:avLst/>
          </a:prstGeom>
          <a:noFill/>
          <a:ln w="95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F(s)</a:t>
            </a:r>
            <a:r>
              <a:rPr lang="zh-CN" altLang="en-US" sz="2400" dirty="0">
                <a:latin typeface="Times New Roman" panose="02020603050405020304" pitchFamily="18" charset="0"/>
                <a:ea typeface="宋体" panose="02010600030101010101" pitchFamily="2" charset="-122"/>
              </a:rPr>
              <a:t>为函数</a:t>
            </a:r>
            <a:r>
              <a:rPr lang="en-US" altLang="zh-CN" sz="2400" dirty="0">
                <a:latin typeface="Times New Roman" panose="02020603050405020304" pitchFamily="18" charset="0"/>
                <a:ea typeface="宋体" panose="02010600030101010101" pitchFamily="2" charset="-122"/>
              </a:rPr>
              <a:t>f(t)</a:t>
            </a:r>
            <a:r>
              <a:rPr lang="zh-CN" altLang="en-US" sz="2400" dirty="0">
                <a:latin typeface="Times New Roman" panose="02020603050405020304" pitchFamily="18" charset="0"/>
                <a:ea typeface="宋体" panose="02010600030101010101" pitchFamily="2" charset="-122"/>
              </a:rPr>
              <a:t>的拉氏变换式</a:t>
            </a:r>
            <a:r>
              <a:rPr lang="en-US" altLang="zh-CN" sz="2400" dirty="0">
                <a:latin typeface="Times New Roman" panose="02020603050405020304" pitchFamily="18" charset="0"/>
                <a:ea typeface="宋体" panose="02010600030101010101" pitchFamily="2" charset="-122"/>
              </a:rPr>
              <a:t>(Laplace Transformation)</a:t>
            </a:r>
            <a:r>
              <a:rPr lang="zh-CN" altLang="en-US" sz="2400" dirty="0">
                <a:latin typeface="Times New Roman" panose="02020603050405020304" pitchFamily="18" charset="0"/>
                <a:ea typeface="宋体" panose="02010600030101010101" pitchFamily="2" charset="-122"/>
              </a:rPr>
              <a:t>。</a:t>
            </a:r>
          </a:p>
        </p:txBody>
      </p:sp>
      <p:sp>
        <p:nvSpPr>
          <p:cNvPr id="181257" name="Text Box 9"/>
          <p:cNvSpPr txBox="1"/>
          <p:nvPr/>
        </p:nvSpPr>
        <p:spPr>
          <a:xfrm>
            <a:off x="395288" y="5373688"/>
            <a:ext cx="8413750" cy="822325"/>
          </a:xfrm>
          <a:prstGeom prst="rect">
            <a:avLst/>
          </a:prstGeom>
          <a:noFill/>
          <a:ln w="95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控制工程中的一些变量的时间函数，其拉氏变换均是存在</a:t>
            </a:r>
          </a:p>
          <a:p>
            <a:r>
              <a:rPr lang="zh-CN" altLang="en-US" sz="2400" dirty="0">
                <a:latin typeface="Times New Roman" panose="02020603050405020304" pitchFamily="18" charset="0"/>
                <a:ea typeface="宋体" panose="02010600030101010101" pitchFamily="2" charset="-122"/>
              </a:rPr>
              <a:t>的，不必讨论函数拉氏变换的存在性，而可直接求拉氏变换。</a:t>
            </a:r>
          </a:p>
        </p:txBody>
      </p:sp>
      <p:graphicFrame>
        <p:nvGraphicFramePr>
          <p:cNvPr id="181258" name="Object 10"/>
          <p:cNvGraphicFramePr>
            <a:graphicFrameLocks noChangeAspect="1"/>
          </p:cNvGraphicFramePr>
          <p:nvPr/>
        </p:nvGraphicFramePr>
        <p:xfrm>
          <a:off x="4643438" y="2852738"/>
          <a:ext cx="1655762" cy="363537"/>
        </p:xfrm>
        <a:graphic>
          <a:graphicData uri="http://schemas.openxmlformats.org/presentationml/2006/ole">
            <mc:AlternateContent xmlns:mc="http://schemas.openxmlformats.org/markup-compatibility/2006">
              <mc:Choice xmlns:v="urn:schemas-microsoft-com:vml" Requires="v">
                <p:oleObj spid="_x0000_s17432" r:id="rId7" imgW="926465" imgH="203200" progId="Equation.3">
                  <p:embed/>
                </p:oleObj>
              </mc:Choice>
              <mc:Fallback>
                <p:oleObj r:id="rId7" imgW="926465" imgH="203200" progId="Equation.3">
                  <p:embed/>
                  <p:pic>
                    <p:nvPicPr>
                      <p:cNvPr id="0" name="图片 3094"/>
                      <p:cNvPicPr/>
                      <p:nvPr/>
                    </p:nvPicPr>
                    <p:blipFill>
                      <a:blip r:embed="rId8"/>
                      <a:stretch>
                        <a:fillRect/>
                      </a:stretch>
                    </p:blipFill>
                    <p:spPr>
                      <a:xfrm>
                        <a:off x="4643438" y="2852738"/>
                        <a:ext cx="1655762" cy="363537"/>
                      </a:xfrm>
                      <a:prstGeom prst="rect">
                        <a:avLst/>
                      </a:prstGeom>
                      <a:noFill/>
                      <a:ln w="38100">
                        <a:noFill/>
                        <a:miter/>
                      </a:ln>
                    </p:spPr>
                  </p:pic>
                </p:oleObj>
              </mc:Fallback>
            </mc:AlternateContent>
          </a:graphicData>
        </a:graphic>
      </p:graphicFrame>
      <p:sp>
        <p:nvSpPr>
          <p:cNvPr id="181260" name="Text Box 12"/>
          <p:cNvSpPr txBox="1"/>
          <p:nvPr/>
        </p:nvSpPr>
        <p:spPr>
          <a:xfrm>
            <a:off x="468313" y="4076700"/>
            <a:ext cx="8032750" cy="1187450"/>
          </a:xfrm>
          <a:prstGeom prst="rect">
            <a:avLst/>
          </a:prstGeom>
          <a:noFill/>
          <a:ln w="9525">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拉氏变换是这样的一种变换，即在一定条件下，它能把一</a:t>
            </a:r>
          </a:p>
          <a:p>
            <a:r>
              <a:rPr lang="zh-CN" altLang="en-US" sz="2400" dirty="0">
                <a:latin typeface="Times New Roman" panose="02020603050405020304" pitchFamily="18" charset="0"/>
                <a:ea typeface="宋体" panose="02010600030101010101" pitchFamily="2" charset="-122"/>
              </a:rPr>
              <a:t>实数域的时变函数</a:t>
            </a:r>
            <a:r>
              <a:rPr lang="en-US" altLang="zh-CN" sz="2400" dirty="0">
                <a:latin typeface="Times New Roman" panose="02020603050405020304" pitchFamily="18" charset="0"/>
                <a:ea typeface="宋体" panose="02010600030101010101" pitchFamily="2" charset="-122"/>
              </a:rPr>
              <a:t>f(t)</a:t>
            </a:r>
            <a:r>
              <a:rPr lang="zh-CN" altLang="en-US" sz="2400" dirty="0">
                <a:latin typeface="Times New Roman" panose="02020603050405020304" pitchFamily="18" charset="0"/>
                <a:ea typeface="宋体" panose="02010600030101010101" pitchFamily="2" charset="-122"/>
              </a:rPr>
              <a:t>变换为一个在复数域内与之等价的</a:t>
            </a:r>
          </a:p>
          <a:p>
            <a:r>
              <a:rPr lang="zh-CN" altLang="en-US" sz="2400" dirty="0">
                <a:latin typeface="Times New Roman" panose="02020603050405020304" pitchFamily="18" charset="0"/>
                <a:ea typeface="宋体" panose="02010600030101010101" pitchFamily="2" charset="-122"/>
              </a:rPr>
              <a:t>复变函数</a:t>
            </a:r>
            <a:r>
              <a:rPr lang="en-US" altLang="zh-CN" sz="2400" dirty="0">
                <a:latin typeface="Times New Roman" panose="02020603050405020304" pitchFamily="18" charset="0"/>
                <a:ea typeface="宋体" panose="02010600030101010101" pitchFamily="2" charset="-122"/>
              </a:rPr>
              <a:t>F(s)</a:t>
            </a:r>
            <a:r>
              <a:rPr lang="zh-CN" altLang="en-US" sz="2400" dirty="0">
                <a:latin typeface="Times New Roman" panose="02020603050405020304" pitchFamily="18" charset="0"/>
                <a:ea typeface="宋体" panose="02010600030101010101" pitchFamily="2" charset="-122"/>
              </a:rPr>
              <a:t>。</a:t>
            </a:r>
          </a:p>
        </p:txBody>
      </p:sp>
      <p:sp>
        <p:nvSpPr>
          <p:cNvPr id="181262" name="Rectangle 14"/>
          <p:cNvSpPr/>
          <p:nvPr/>
        </p:nvSpPr>
        <p:spPr>
          <a:xfrm>
            <a:off x="1187450" y="981075"/>
            <a:ext cx="4822825" cy="523875"/>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拉氏变换（</a:t>
            </a:r>
            <a:r>
              <a:rPr lang="en-US" altLang="zh-CN" sz="2800" b="1" dirty="0">
                <a:latin typeface="Times New Roman" panose="02020603050405020304" pitchFamily="18" charset="0"/>
                <a:ea typeface="宋体" panose="02010600030101010101" pitchFamily="2" charset="-122"/>
              </a:rPr>
              <a:t>Laplace </a:t>
            </a:r>
            <a:r>
              <a:rPr lang="zh-CN" altLang="en-US" sz="2800" b="1" dirty="0">
                <a:latin typeface="Times New Roman" panose="02020603050405020304" pitchFamily="18" charset="0"/>
                <a:ea typeface="宋体" panose="02010600030101010101" pitchFamily="2" charset="-122"/>
              </a:rPr>
              <a:t>变换） </a:t>
            </a:r>
          </a:p>
        </p:txBody>
      </p:sp>
      <p:sp>
        <p:nvSpPr>
          <p:cNvPr id="47117" name="Text Box 2"/>
          <p:cNvSpPr txBox="1"/>
          <p:nvPr/>
        </p:nvSpPr>
        <p:spPr>
          <a:xfrm>
            <a:off x="517525" y="211138"/>
            <a:ext cx="7397750" cy="674687"/>
          </a:xfrm>
          <a:prstGeom prst="rect">
            <a:avLst/>
          </a:prstGeom>
          <a:noFill/>
          <a:ln w="9525">
            <a:noFill/>
          </a:ln>
        </p:spPr>
        <p:txBody>
          <a:bodyPr wrap="none" anchor="t" anchorCtr="0">
            <a:spAutoFit/>
          </a:bodyPr>
          <a:lstStyle/>
          <a:p>
            <a:pPr>
              <a:lnSpc>
                <a:spcPct val="135000"/>
              </a:lnSpc>
            </a:pPr>
            <a:r>
              <a:rPr lang="en-US" altLang="zh-CN" sz="2800" dirty="0">
                <a:latin typeface="Times New Roman" panose="02020603050405020304" pitchFamily="18" charset="0"/>
                <a:ea typeface="黑体" panose="02010609060101010101" pitchFamily="49" charset="-122"/>
              </a:rPr>
              <a:t>2.2  </a:t>
            </a:r>
            <a:r>
              <a:rPr lang="zh-CN" altLang="en-US" sz="2800" dirty="0">
                <a:latin typeface="Times New Roman" panose="02020603050405020304" pitchFamily="18" charset="0"/>
                <a:ea typeface="黑体" panose="02010609060101010101" pitchFamily="49" charset="-122"/>
              </a:rPr>
              <a:t>拉氏变换和反变换</a:t>
            </a:r>
            <a:r>
              <a:rPr lang="en-US" altLang="zh-CN" sz="2800" dirty="0">
                <a:latin typeface="Times New Roman" panose="02020603050405020304" pitchFamily="18" charset="0"/>
                <a:ea typeface="黑体" panose="02010609060101010101" pitchFamily="49" charset="-122"/>
              </a:rPr>
              <a:t>----</a:t>
            </a:r>
            <a:r>
              <a:rPr lang="zh-CN" altLang="en-US" sz="2800" dirty="0">
                <a:latin typeface="Times New Roman" panose="02020603050405020304" pitchFamily="18" charset="0"/>
                <a:ea typeface="黑体" panose="02010609060101010101" pitchFamily="49" charset="-122"/>
              </a:rPr>
              <a:t>控制工程的数学方法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62"/>
                                        </p:tgtEl>
                                        <p:attrNameLst>
                                          <p:attrName>style.visibility</p:attrName>
                                        </p:attrNameLst>
                                      </p:cBhvr>
                                      <p:to>
                                        <p:strVal val="visible"/>
                                      </p:to>
                                    </p:set>
                                    <p:animEffect transition="in" filter="blinds(horizontal)">
                                      <p:cBhvr>
                                        <p:cTn id="7" dur="500"/>
                                        <p:tgtEl>
                                          <p:spTgt spid="18126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1251"/>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8125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8125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8125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8125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8125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8126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8125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1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p:bldP spid="181253" grpId="0"/>
      <p:bldP spid="181254" grpId="0"/>
      <p:bldP spid="181256" grpId="0"/>
      <p:bldP spid="181257" grpId="0"/>
      <p:bldP spid="181260" grpId="0"/>
      <p:bldP spid="18126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日期占位符 2"/>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48130" name="灯片编号占位符 4"/>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30</a:t>
            </a:fld>
            <a:endParaRPr lang="en-US" altLang="zh-CN" sz="1200" dirty="0"/>
          </a:p>
        </p:txBody>
      </p:sp>
      <p:sp>
        <p:nvSpPr>
          <p:cNvPr id="77831" name="Rectangle 7"/>
          <p:cNvSpPr/>
          <p:nvPr/>
        </p:nvSpPr>
        <p:spPr>
          <a:xfrm>
            <a:off x="514350" y="2174875"/>
            <a:ext cx="2405063" cy="519113"/>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拉氏反变换 </a:t>
            </a:r>
          </a:p>
        </p:txBody>
      </p:sp>
      <p:graphicFrame>
        <p:nvGraphicFramePr>
          <p:cNvPr id="77832" name="Object 8"/>
          <p:cNvGraphicFramePr>
            <a:graphicFrameLocks noChangeAspect="1"/>
          </p:cNvGraphicFramePr>
          <p:nvPr/>
        </p:nvGraphicFramePr>
        <p:xfrm>
          <a:off x="977900" y="2735263"/>
          <a:ext cx="6470650" cy="963612"/>
        </p:xfrm>
        <a:graphic>
          <a:graphicData uri="http://schemas.openxmlformats.org/presentationml/2006/ole">
            <mc:AlternateContent xmlns:mc="http://schemas.openxmlformats.org/markup-compatibility/2006">
              <mc:Choice xmlns:v="urn:schemas-microsoft-com:vml" Requires="v">
                <p:oleObj spid="_x0000_s18440" r:id="rId4" imgW="2755900" imgH="419100" progId="Equation.3">
                  <p:embed/>
                </p:oleObj>
              </mc:Choice>
              <mc:Fallback>
                <p:oleObj r:id="rId4" imgW="2755900" imgH="419100" progId="Equation.3">
                  <p:embed/>
                  <p:pic>
                    <p:nvPicPr>
                      <p:cNvPr id="0" name="图片 3093"/>
                      <p:cNvPicPr/>
                      <p:nvPr/>
                    </p:nvPicPr>
                    <p:blipFill>
                      <a:blip r:embed="rId5"/>
                      <a:stretch>
                        <a:fillRect/>
                      </a:stretch>
                    </p:blipFill>
                    <p:spPr>
                      <a:xfrm>
                        <a:off x="977900" y="2735263"/>
                        <a:ext cx="6470650" cy="963612"/>
                      </a:xfrm>
                      <a:prstGeom prst="rect">
                        <a:avLst/>
                      </a:prstGeom>
                      <a:noFill/>
                      <a:ln w="38100">
                        <a:noFill/>
                        <a:miter/>
                      </a:ln>
                    </p:spPr>
                  </p:pic>
                </p:oleObj>
              </mc:Fallback>
            </mc:AlternateContent>
          </a:graphicData>
        </a:graphic>
      </p:graphicFrame>
      <p:sp>
        <p:nvSpPr>
          <p:cNvPr id="77833" name="Rectangle 9"/>
          <p:cNvSpPr/>
          <p:nvPr/>
        </p:nvSpPr>
        <p:spPr>
          <a:xfrm>
            <a:off x="971550" y="3789363"/>
            <a:ext cx="4300538" cy="519112"/>
          </a:xfrm>
          <a:prstGeom prst="rect">
            <a:avLst/>
          </a:prstGeom>
          <a:noFill/>
          <a:ln w="22225">
            <a:noFill/>
          </a:ln>
        </p:spPr>
        <p:txBody>
          <a:bodyPr wrap="none" anchor="t" anchorCtr="0">
            <a:spAutoFit/>
          </a:bodyPr>
          <a:lstStyle/>
          <a:p>
            <a:r>
              <a:rPr lang="en-US" altLang="zh-CN" sz="2800" i="1" dirty="0">
                <a:latin typeface="Times New Roman" panose="02020603050405020304" pitchFamily="18" charset="0"/>
                <a:ea typeface="宋体" panose="02010600030101010101" pitchFamily="2" charset="-122"/>
              </a:rPr>
              <a:t>L</a:t>
            </a:r>
            <a:r>
              <a:rPr lang="zh-CN" altLang="en-US" sz="2900" baseline="30000" dirty="0">
                <a:latin typeface="Times New Roman" panose="02020603050405020304" pitchFamily="18" charset="0"/>
                <a:ea typeface="宋体" panose="02010600030101010101" pitchFamily="2" charset="-122"/>
              </a:rPr>
              <a:t>－</a:t>
            </a:r>
            <a:r>
              <a:rPr lang="en-US" altLang="zh-CN" sz="2900" baseline="30000" dirty="0">
                <a:latin typeface="Times New Roman" panose="02020603050405020304" pitchFamily="18" charset="0"/>
                <a:ea typeface="宋体" panose="02010600030101010101" pitchFamily="2" charset="-122"/>
              </a:rPr>
              <a:t>1</a:t>
            </a:r>
            <a:r>
              <a:rPr lang="zh-CN" altLang="en-US" sz="2800" dirty="0">
                <a:latin typeface="宋体" panose="02010600030101010101" pitchFamily="2" charset="-122"/>
                <a:ea typeface="宋体" panose="02010600030101010101" pitchFamily="2" charset="-122"/>
              </a:rPr>
              <a:t>为拉氏反变换的符号。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31"/>
                                        </p:tgtEl>
                                        <p:attrNameLst>
                                          <p:attrName>style.visibility</p:attrName>
                                        </p:attrNameLst>
                                      </p:cBhvr>
                                      <p:to>
                                        <p:strVal val="visible"/>
                                      </p:to>
                                    </p:set>
                                    <p:anim calcmode="lin" valueType="num">
                                      <p:cBhvr additive="base">
                                        <p:cTn id="7" dur="500" fill="hold"/>
                                        <p:tgtEl>
                                          <p:spTgt spid="77831"/>
                                        </p:tgtEl>
                                        <p:attrNameLst>
                                          <p:attrName>ppt_x</p:attrName>
                                        </p:attrNameLst>
                                      </p:cBhvr>
                                      <p:tavLst>
                                        <p:tav tm="0">
                                          <p:val>
                                            <p:strVal val="#ppt_x"/>
                                          </p:val>
                                        </p:tav>
                                        <p:tav tm="100000">
                                          <p:val>
                                            <p:strVal val="#ppt_x"/>
                                          </p:val>
                                        </p:tav>
                                      </p:tavLst>
                                    </p:anim>
                                    <p:anim calcmode="lin" valueType="num">
                                      <p:cBhvr additive="base">
                                        <p:cTn id="8" dur="500" fill="hold"/>
                                        <p:tgtEl>
                                          <p:spTgt spid="778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7832"/>
                                        </p:tgtEl>
                                        <p:attrNameLst>
                                          <p:attrName>style.visibility</p:attrName>
                                        </p:attrNameLst>
                                      </p:cBhvr>
                                      <p:to>
                                        <p:strVal val="visible"/>
                                      </p:to>
                                    </p:set>
                                    <p:anim calcmode="lin" valueType="num">
                                      <p:cBhvr additive="base">
                                        <p:cTn id="13" dur="500" fill="hold"/>
                                        <p:tgtEl>
                                          <p:spTgt spid="77832"/>
                                        </p:tgtEl>
                                        <p:attrNameLst>
                                          <p:attrName>ppt_x</p:attrName>
                                        </p:attrNameLst>
                                      </p:cBhvr>
                                      <p:tavLst>
                                        <p:tav tm="0">
                                          <p:val>
                                            <p:strVal val="#ppt_x"/>
                                          </p:val>
                                        </p:tav>
                                        <p:tav tm="100000">
                                          <p:val>
                                            <p:strVal val="#ppt_x"/>
                                          </p:val>
                                        </p:tav>
                                      </p:tavLst>
                                    </p:anim>
                                    <p:anim calcmode="lin" valueType="num">
                                      <p:cBhvr additive="base">
                                        <p:cTn id="14" dur="500" fill="hold"/>
                                        <p:tgtEl>
                                          <p:spTgt spid="7783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7833"/>
                                        </p:tgtEl>
                                        <p:attrNameLst>
                                          <p:attrName>style.visibility</p:attrName>
                                        </p:attrNameLst>
                                      </p:cBhvr>
                                      <p:to>
                                        <p:strVal val="visible"/>
                                      </p:to>
                                    </p:set>
                                    <p:anim calcmode="lin" valueType="num">
                                      <p:cBhvr additive="base">
                                        <p:cTn id="19" dur="500" fill="hold"/>
                                        <p:tgtEl>
                                          <p:spTgt spid="77833"/>
                                        </p:tgtEl>
                                        <p:attrNameLst>
                                          <p:attrName>ppt_x</p:attrName>
                                        </p:attrNameLst>
                                      </p:cBhvr>
                                      <p:tavLst>
                                        <p:tav tm="0">
                                          <p:val>
                                            <p:strVal val="#ppt_x"/>
                                          </p:val>
                                        </p:tav>
                                        <p:tav tm="100000">
                                          <p:val>
                                            <p:strVal val="#ppt_x"/>
                                          </p:val>
                                        </p:tav>
                                      </p:tavLst>
                                    </p:anim>
                                    <p:anim calcmode="lin" valueType="num">
                                      <p:cBhvr additive="base">
                                        <p:cTn id="20" dur="500" fill="hold"/>
                                        <p:tgtEl>
                                          <p:spTgt spid="778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1" grpId="0"/>
      <p:bldP spid="7783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5017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31</a:t>
            </a:fld>
            <a:endParaRPr lang="en-US" altLang="zh-CN" sz="1200" dirty="0"/>
          </a:p>
        </p:txBody>
      </p:sp>
      <p:sp>
        <p:nvSpPr>
          <p:cNvPr id="50179" name="Rectangle 2"/>
          <p:cNvSpPr/>
          <p:nvPr/>
        </p:nvSpPr>
        <p:spPr>
          <a:xfrm>
            <a:off x="900113" y="981075"/>
            <a:ext cx="4689475" cy="523875"/>
          </a:xfrm>
          <a:prstGeom prst="rect">
            <a:avLst/>
          </a:prstGeom>
          <a:noFill/>
          <a:ln w="22225">
            <a:noFill/>
          </a:ln>
        </p:spPr>
        <p:txBody>
          <a:bodyPr wrap="none" anchor="t" anchorCtr="0">
            <a:spAutoFit/>
          </a:bodyPr>
          <a:lstStyle/>
          <a:p>
            <a:pPr>
              <a:buFont typeface="Wingdings" panose="05000000000000000000" pitchFamily="2" charset="2"/>
              <a:buChar char="l"/>
            </a:pPr>
            <a:r>
              <a:rPr lang="en-US" altLang="zh-CN" sz="2800" b="1" dirty="0">
                <a:latin typeface="Times New Roman" panose="02020603050405020304" pitchFamily="18" charset="0"/>
                <a:ea typeface="黑体" panose="02010609060101010101" pitchFamily="49" charset="-122"/>
              </a:rPr>
              <a:t> </a:t>
            </a:r>
            <a:r>
              <a:rPr lang="zh-CN" altLang="en-US" sz="2800" b="1" dirty="0">
                <a:latin typeface="Times New Roman" panose="02020603050405020304" pitchFamily="18" charset="0"/>
                <a:ea typeface="宋体" panose="02010600030101010101" pitchFamily="2" charset="-122"/>
              </a:rPr>
              <a:t>几种常用函数的拉氏变换  </a:t>
            </a:r>
          </a:p>
        </p:txBody>
      </p:sp>
      <p:sp>
        <p:nvSpPr>
          <p:cNvPr id="76803" name="Rectangle 3"/>
          <p:cNvSpPr/>
          <p:nvPr/>
        </p:nvSpPr>
        <p:spPr>
          <a:xfrm>
            <a:off x="1219200" y="2071688"/>
            <a:ext cx="3886200" cy="519112"/>
          </a:xfrm>
          <a:prstGeom prst="rect">
            <a:avLst/>
          </a:prstGeom>
          <a:noFill/>
          <a:ln w="22225">
            <a:noFill/>
          </a:ln>
        </p:spPr>
        <p:txBody>
          <a:bodyPr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单位阶跃函数</a:t>
            </a:r>
            <a:r>
              <a:rPr lang="en-US" altLang="zh-CN" sz="2800" dirty="0">
                <a:latin typeface="Times New Roman" panose="02020603050405020304" pitchFamily="18" charset="0"/>
                <a:ea typeface="宋体" panose="02010600030101010101" pitchFamily="2" charset="-122"/>
              </a:rPr>
              <a:t>1(</a:t>
            </a:r>
            <a:r>
              <a:rPr lang="en-US" altLang="zh-CN" sz="2800" i="1" dirty="0">
                <a:latin typeface="Times New Roman" panose="02020603050405020304" pitchFamily="18" charset="0"/>
                <a:ea typeface="宋体" panose="02010600030101010101" pitchFamily="2" charset="-122"/>
              </a:rPr>
              <a:t>t</a:t>
            </a:r>
            <a:r>
              <a:rPr lang="en-US" altLang="zh-CN" sz="2800" dirty="0">
                <a:latin typeface="Times New Roman" panose="02020603050405020304" pitchFamily="18" charset="0"/>
                <a:ea typeface="宋体" panose="02010600030101010101" pitchFamily="2" charset="-122"/>
              </a:rPr>
              <a:t>) </a:t>
            </a:r>
          </a:p>
        </p:txBody>
      </p:sp>
      <p:grpSp>
        <p:nvGrpSpPr>
          <p:cNvPr id="2" name="Group 4"/>
          <p:cNvGrpSpPr/>
          <p:nvPr/>
        </p:nvGrpSpPr>
        <p:grpSpPr>
          <a:xfrm>
            <a:off x="5065713" y="2071688"/>
            <a:ext cx="3675062" cy="2587625"/>
            <a:chOff x="3191" y="1344"/>
            <a:chExt cx="2315" cy="1630"/>
          </a:xfrm>
        </p:grpSpPr>
        <p:sp>
          <p:nvSpPr>
            <p:cNvPr id="50182" name="Line 5"/>
            <p:cNvSpPr/>
            <p:nvPr/>
          </p:nvSpPr>
          <p:spPr>
            <a:xfrm flipV="1">
              <a:off x="3578" y="1392"/>
              <a:ext cx="0" cy="1187"/>
            </a:xfrm>
            <a:prstGeom prst="line">
              <a:avLst/>
            </a:prstGeom>
            <a:ln w="44450" cap="flat" cmpd="sng">
              <a:solidFill>
                <a:schemeClr val="tx1"/>
              </a:solidFill>
              <a:prstDash val="solid"/>
              <a:round/>
              <a:headEnd type="none" w="med" len="med"/>
              <a:tailEnd type="triangle" w="med" len="med"/>
            </a:ln>
          </p:spPr>
        </p:sp>
        <p:sp>
          <p:nvSpPr>
            <p:cNvPr id="50183" name="Line 6"/>
            <p:cNvSpPr/>
            <p:nvPr/>
          </p:nvSpPr>
          <p:spPr>
            <a:xfrm>
              <a:off x="3578" y="2579"/>
              <a:ext cx="1908" cy="0"/>
            </a:xfrm>
            <a:prstGeom prst="line">
              <a:avLst/>
            </a:prstGeom>
            <a:ln w="44450" cap="flat" cmpd="sng">
              <a:solidFill>
                <a:schemeClr val="tx1"/>
              </a:solidFill>
              <a:prstDash val="solid"/>
              <a:round/>
              <a:headEnd type="none" w="med" len="med"/>
              <a:tailEnd type="triangle" w="med" len="med"/>
            </a:ln>
          </p:spPr>
        </p:sp>
        <p:sp>
          <p:nvSpPr>
            <p:cNvPr id="50184" name="Line 7"/>
            <p:cNvSpPr/>
            <p:nvPr/>
          </p:nvSpPr>
          <p:spPr>
            <a:xfrm>
              <a:off x="3578" y="1859"/>
              <a:ext cx="1724" cy="0"/>
            </a:xfrm>
            <a:prstGeom prst="line">
              <a:avLst/>
            </a:prstGeom>
            <a:ln w="31750" cap="flat" cmpd="sng">
              <a:solidFill>
                <a:schemeClr val="tx1"/>
              </a:solidFill>
              <a:prstDash val="solid"/>
              <a:round/>
              <a:headEnd type="none" w="med" len="med"/>
              <a:tailEnd type="none" w="med" len="med"/>
            </a:ln>
          </p:spPr>
        </p:sp>
        <p:sp>
          <p:nvSpPr>
            <p:cNvPr id="50185" name="Text Box 8"/>
            <p:cNvSpPr txBox="1"/>
            <p:nvPr/>
          </p:nvSpPr>
          <p:spPr>
            <a:xfrm>
              <a:off x="3360" y="1728"/>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1</a:t>
              </a:r>
            </a:p>
          </p:txBody>
        </p:sp>
        <p:sp>
          <p:nvSpPr>
            <p:cNvPr id="50186" name="Text Box 9"/>
            <p:cNvSpPr txBox="1"/>
            <p:nvPr/>
          </p:nvSpPr>
          <p:spPr>
            <a:xfrm>
              <a:off x="3458" y="2534"/>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50187" name="Text Box 10"/>
            <p:cNvSpPr txBox="1"/>
            <p:nvPr/>
          </p:nvSpPr>
          <p:spPr>
            <a:xfrm>
              <a:off x="5337" y="2607"/>
              <a:ext cx="169" cy="288"/>
            </a:xfrm>
            <a:prstGeom prst="rect">
              <a:avLst/>
            </a:prstGeom>
            <a:noFill/>
            <a:ln w="444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t</a:t>
              </a:r>
              <a:endParaRPr lang="en-US" altLang="zh-CN" sz="2400" b="1" dirty="0">
                <a:latin typeface="Times New Roman" panose="02020603050405020304" pitchFamily="18" charset="0"/>
                <a:ea typeface="宋体" panose="02010600030101010101" pitchFamily="2" charset="-122"/>
              </a:endParaRPr>
            </a:p>
          </p:txBody>
        </p:sp>
        <p:sp>
          <p:nvSpPr>
            <p:cNvPr id="50188" name="Text Box 11"/>
            <p:cNvSpPr txBox="1"/>
            <p:nvPr/>
          </p:nvSpPr>
          <p:spPr>
            <a:xfrm>
              <a:off x="3191" y="1344"/>
              <a:ext cx="361" cy="288"/>
            </a:xfrm>
            <a:prstGeom prst="rect">
              <a:avLst/>
            </a:prstGeom>
            <a:noFill/>
            <a:ln w="444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endParaRPr lang="en-US" altLang="zh-CN" sz="2400" b="1" i="1" dirty="0">
                <a:latin typeface="Times New Roman" panose="02020603050405020304" pitchFamily="18" charset="0"/>
                <a:ea typeface="宋体" panose="02010600030101010101" pitchFamily="2" charset="-122"/>
              </a:endParaRPr>
            </a:p>
          </p:txBody>
        </p:sp>
        <p:sp>
          <p:nvSpPr>
            <p:cNvPr id="50189" name="Text Box 12"/>
            <p:cNvSpPr txBox="1"/>
            <p:nvPr/>
          </p:nvSpPr>
          <p:spPr>
            <a:xfrm>
              <a:off x="3936" y="2686"/>
              <a:ext cx="1268" cy="288"/>
            </a:xfrm>
            <a:prstGeom prst="rect">
              <a:avLst/>
            </a:prstGeom>
            <a:noFill/>
            <a:ln w="444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单位阶跃函数</a:t>
              </a:r>
            </a:p>
          </p:txBody>
        </p:sp>
      </p:grpSp>
      <p:graphicFrame>
        <p:nvGraphicFramePr>
          <p:cNvPr id="76813" name="Object 13"/>
          <p:cNvGraphicFramePr>
            <a:graphicFrameLocks noChangeAspect="1"/>
          </p:cNvGraphicFramePr>
          <p:nvPr/>
        </p:nvGraphicFramePr>
        <p:xfrm>
          <a:off x="1752600" y="2681288"/>
          <a:ext cx="2895600" cy="1162050"/>
        </p:xfrm>
        <a:graphic>
          <a:graphicData uri="http://schemas.openxmlformats.org/presentationml/2006/ole">
            <mc:AlternateContent xmlns:mc="http://schemas.openxmlformats.org/markup-compatibility/2006">
              <mc:Choice xmlns:v="urn:schemas-microsoft-com:vml" Requires="v">
                <p:oleObj spid="_x0000_s19471" r:id="rId4" imgW="1308100" imgH="520700" progId="Equation.3">
                  <p:embed/>
                </p:oleObj>
              </mc:Choice>
              <mc:Fallback>
                <p:oleObj r:id="rId4" imgW="1308100" imgH="520700" progId="Equation.3">
                  <p:embed/>
                  <p:pic>
                    <p:nvPicPr>
                      <p:cNvPr id="0" name="图片 3096"/>
                      <p:cNvPicPr/>
                      <p:nvPr/>
                    </p:nvPicPr>
                    <p:blipFill>
                      <a:blip r:embed="rId5"/>
                      <a:stretch>
                        <a:fillRect/>
                      </a:stretch>
                    </p:blipFill>
                    <p:spPr>
                      <a:xfrm>
                        <a:off x="1752600" y="2681288"/>
                        <a:ext cx="2895600" cy="1162050"/>
                      </a:xfrm>
                      <a:prstGeom prst="rect">
                        <a:avLst/>
                      </a:prstGeom>
                      <a:noFill/>
                      <a:ln w="38100">
                        <a:noFill/>
                        <a:miter/>
                      </a:ln>
                    </p:spPr>
                  </p:pic>
                </p:oleObj>
              </mc:Fallback>
            </mc:AlternateContent>
          </a:graphicData>
        </a:graphic>
      </p:graphicFrame>
      <p:sp>
        <p:nvSpPr>
          <p:cNvPr id="50191" name="Rectangle 14"/>
          <p:cNvSpPr/>
          <p:nvPr/>
        </p:nvSpPr>
        <p:spPr>
          <a:xfrm>
            <a:off x="3371850" y="2300288"/>
            <a:ext cx="0" cy="0"/>
          </a:xfrm>
          <a:prstGeom prst="rect">
            <a:avLst/>
          </a:prstGeom>
          <a:noFill/>
          <a:ln w="22225">
            <a:noFill/>
          </a:ln>
        </p:spPr>
        <p:txBody>
          <a:bodyPr anchor="t" anchorCtr="0">
            <a:spAutoFit/>
          </a:bodyPr>
          <a:lstStyle/>
          <a:p>
            <a:endParaRPr lang="zh-CN" altLang="en-US" dirty="0">
              <a:latin typeface="Verdana" panose="020B0604030504040204" pitchFamily="34" charset="0"/>
              <a:ea typeface="宋体" panose="02010600030101010101" pitchFamily="2" charset="-122"/>
            </a:endParaRPr>
          </a:p>
        </p:txBody>
      </p:sp>
      <p:graphicFrame>
        <p:nvGraphicFramePr>
          <p:cNvPr id="76815" name="Object 15"/>
          <p:cNvGraphicFramePr>
            <a:graphicFrameLocks noChangeAspect="1"/>
          </p:cNvGraphicFramePr>
          <p:nvPr/>
        </p:nvGraphicFramePr>
        <p:xfrm>
          <a:off x="1331913" y="4149725"/>
          <a:ext cx="4957762" cy="1976438"/>
        </p:xfrm>
        <a:graphic>
          <a:graphicData uri="http://schemas.openxmlformats.org/presentationml/2006/ole">
            <mc:AlternateContent xmlns:mc="http://schemas.openxmlformats.org/markup-compatibility/2006">
              <mc:Choice xmlns:v="urn:schemas-microsoft-com:vml" Requires="v">
                <p:oleObj spid="_x0000_s19472" r:id="rId6" imgW="1675765" imgH="862965" progId="Equation.3">
                  <p:embed/>
                </p:oleObj>
              </mc:Choice>
              <mc:Fallback>
                <p:oleObj r:id="rId6" imgW="1675765" imgH="862965" progId="Equation.3">
                  <p:embed/>
                  <p:pic>
                    <p:nvPicPr>
                      <p:cNvPr id="0" name="图片 3097"/>
                      <p:cNvPicPr/>
                      <p:nvPr/>
                    </p:nvPicPr>
                    <p:blipFill>
                      <a:blip r:embed="rId7"/>
                      <a:stretch>
                        <a:fillRect/>
                      </a:stretch>
                    </p:blipFill>
                    <p:spPr>
                      <a:xfrm>
                        <a:off x="1331913" y="4149725"/>
                        <a:ext cx="4957762" cy="19764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3"/>
                                        </p:tgtEl>
                                        <p:attrNameLst>
                                          <p:attrName>style.visibility</p:attrName>
                                        </p:attrNameLst>
                                      </p:cBhvr>
                                      <p:to>
                                        <p:strVal val="visible"/>
                                      </p:to>
                                    </p:set>
                                    <p:anim calcmode="lin" valueType="num">
                                      <p:cBhvr additive="base">
                                        <p:cTn id="7" dur="500" fill="hold"/>
                                        <p:tgtEl>
                                          <p:spTgt spid="76803"/>
                                        </p:tgtEl>
                                        <p:attrNameLst>
                                          <p:attrName>ppt_x</p:attrName>
                                        </p:attrNameLst>
                                      </p:cBhvr>
                                      <p:tavLst>
                                        <p:tav tm="0">
                                          <p:val>
                                            <p:strVal val="#ppt_x"/>
                                          </p:val>
                                        </p:tav>
                                        <p:tav tm="100000">
                                          <p:val>
                                            <p:strVal val="#ppt_x"/>
                                          </p:val>
                                        </p:tav>
                                      </p:tavLst>
                                    </p:anim>
                                    <p:anim calcmode="lin" valueType="num">
                                      <p:cBhvr additive="base">
                                        <p:cTn id="8" dur="500" fill="hold"/>
                                        <p:tgtEl>
                                          <p:spTgt spid="768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6813"/>
                                        </p:tgtEl>
                                        <p:attrNameLst>
                                          <p:attrName>style.visibility</p:attrName>
                                        </p:attrNameLst>
                                      </p:cBhvr>
                                      <p:to>
                                        <p:strVal val="visible"/>
                                      </p:to>
                                    </p:set>
                                    <p:anim calcmode="lin" valueType="num">
                                      <p:cBhvr additive="base">
                                        <p:cTn id="13" dur="500" fill="hold"/>
                                        <p:tgtEl>
                                          <p:spTgt spid="76813"/>
                                        </p:tgtEl>
                                        <p:attrNameLst>
                                          <p:attrName>ppt_x</p:attrName>
                                        </p:attrNameLst>
                                      </p:cBhvr>
                                      <p:tavLst>
                                        <p:tav tm="0">
                                          <p:val>
                                            <p:strVal val="#ppt_x"/>
                                          </p:val>
                                        </p:tav>
                                        <p:tav tm="100000">
                                          <p:val>
                                            <p:strVal val="#ppt_x"/>
                                          </p:val>
                                        </p:tav>
                                      </p:tavLst>
                                    </p:anim>
                                    <p:anim calcmode="lin" valueType="num">
                                      <p:cBhvr additive="base">
                                        <p:cTn id="14" dur="500" fill="hold"/>
                                        <p:tgtEl>
                                          <p:spTgt spid="768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6815"/>
                                        </p:tgtEl>
                                        <p:attrNameLst>
                                          <p:attrName>style.visibility</p:attrName>
                                        </p:attrNameLst>
                                      </p:cBhvr>
                                      <p:to>
                                        <p:strVal val="visible"/>
                                      </p:to>
                                    </p:set>
                                    <p:anim calcmode="lin" valueType="num">
                                      <p:cBhvr additive="base">
                                        <p:cTn id="25" dur="500" fill="hold"/>
                                        <p:tgtEl>
                                          <p:spTgt spid="76815"/>
                                        </p:tgtEl>
                                        <p:attrNameLst>
                                          <p:attrName>ppt_x</p:attrName>
                                        </p:attrNameLst>
                                      </p:cBhvr>
                                      <p:tavLst>
                                        <p:tav tm="0">
                                          <p:val>
                                            <p:strVal val="#ppt_x"/>
                                          </p:val>
                                        </p:tav>
                                        <p:tav tm="100000">
                                          <p:val>
                                            <p:strVal val="#ppt_x"/>
                                          </p:val>
                                        </p:tav>
                                      </p:tavLst>
                                    </p:anim>
                                    <p:anim calcmode="lin" valueType="num">
                                      <p:cBhvr additive="base">
                                        <p:cTn id="26" dur="500" fill="hold"/>
                                        <p:tgtEl>
                                          <p:spTgt spid="768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52226"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32</a:t>
            </a:fld>
            <a:endParaRPr lang="en-US" altLang="zh-CN" sz="1200" dirty="0"/>
          </a:p>
        </p:txBody>
      </p:sp>
      <p:sp>
        <p:nvSpPr>
          <p:cNvPr id="52227" name="Rectangle 2"/>
          <p:cNvSpPr/>
          <p:nvPr/>
        </p:nvSpPr>
        <p:spPr>
          <a:xfrm>
            <a:off x="1219200" y="1676400"/>
            <a:ext cx="3886200" cy="519113"/>
          </a:xfrm>
          <a:prstGeom prst="rect">
            <a:avLst/>
          </a:prstGeom>
          <a:noFill/>
          <a:ln w="22225">
            <a:noFill/>
          </a:ln>
        </p:spPr>
        <p:txBody>
          <a:bodyPr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指数函数</a:t>
            </a:r>
          </a:p>
        </p:txBody>
      </p:sp>
      <p:grpSp>
        <p:nvGrpSpPr>
          <p:cNvPr id="2" name="Group 3"/>
          <p:cNvGrpSpPr/>
          <p:nvPr/>
        </p:nvGrpSpPr>
        <p:grpSpPr>
          <a:xfrm>
            <a:off x="1600200" y="2514600"/>
            <a:ext cx="3892550" cy="533400"/>
            <a:chOff x="1056" y="1392"/>
            <a:chExt cx="2452" cy="336"/>
          </a:xfrm>
        </p:grpSpPr>
        <p:graphicFrame>
          <p:nvGraphicFramePr>
            <p:cNvPr id="52229" name="Object 4"/>
            <p:cNvGraphicFramePr>
              <a:graphicFrameLocks noChangeAspect="1"/>
            </p:cNvGraphicFramePr>
            <p:nvPr/>
          </p:nvGraphicFramePr>
          <p:xfrm>
            <a:off x="1056" y="1392"/>
            <a:ext cx="1008" cy="336"/>
          </p:xfrm>
          <a:graphic>
            <a:graphicData uri="http://schemas.openxmlformats.org/presentationml/2006/ole">
              <mc:AlternateContent xmlns:mc="http://schemas.openxmlformats.org/markup-compatibility/2006">
                <mc:Choice xmlns:v="urn:schemas-microsoft-com:vml" Requires="v">
                  <p:oleObj spid="_x0000_s20495" r:id="rId4" imgW="774065" imgH="254000" progId="Equation.3">
                    <p:embed/>
                  </p:oleObj>
                </mc:Choice>
                <mc:Fallback>
                  <p:oleObj r:id="rId4" imgW="774065" imgH="254000" progId="Equation.3">
                    <p:embed/>
                    <p:pic>
                      <p:nvPicPr>
                        <p:cNvPr id="0" name="图片 3098"/>
                        <p:cNvPicPr/>
                        <p:nvPr/>
                      </p:nvPicPr>
                      <p:blipFill>
                        <a:blip r:embed="rId5"/>
                        <a:stretch>
                          <a:fillRect/>
                        </a:stretch>
                      </p:blipFill>
                      <p:spPr>
                        <a:xfrm>
                          <a:off x="1056" y="1392"/>
                          <a:ext cx="1008" cy="336"/>
                        </a:xfrm>
                        <a:prstGeom prst="rect">
                          <a:avLst/>
                        </a:prstGeom>
                        <a:noFill/>
                        <a:ln w="38100">
                          <a:noFill/>
                          <a:miter/>
                        </a:ln>
                      </p:spPr>
                    </p:pic>
                  </p:oleObj>
                </mc:Fallback>
              </mc:AlternateContent>
            </a:graphicData>
          </a:graphic>
        </p:graphicFrame>
        <p:sp>
          <p:nvSpPr>
            <p:cNvPr id="52230" name="Rectangle 5"/>
            <p:cNvSpPr/>
            <p:nvPr/>
          </p:nvSpPr>
          <p:spPr>
            <a:xfrm>
              <a:off x="2160" y="1401"/>
              <a:ext cx="1348" cy="327"/>
            </a:xfrm>
            <a:prstGeom prst="rect">
              <a:avLst/>
            </a:prstGeom>
            <a:noFill/>
            <a:ln w="22225">
              <a:noFill/>
            </a:ln>
          </p:spPr>
          <p:txBody>
            <a:bodyPr wrap="none" anchor="t" anchorCtr="0">
              <a:spAutoFit/>
            </a:bodyPr>
            <a:lstStyle/>
            <a:p>
              <a:r>
                <a:rPr lang="zh-CN" altLang="en-US" sz="2800" dirty="0">
                  <a:latin typeface="宋体" panose="02010600030101010101" pitchFamily="2" charset="-122"/>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rPr>
                <a:t>a</a:t>
              </a:r>
              <a:r>
                <a:rPr lang="zh-CN" altLang="en-US" sz="2800" dirty="0">
                  <a:latin typeface="宋体" panose="02010600030101010101" pitchFamily="2" charset="-122"/>
                  <a:ea typeface="宋体" panose="02010600030101010101" pitchFamily="2" charset="-122"/>
                </a:rPr>
                <a:t>为常数）</a:t>
              </a:r>
            </a:p>
          </p:txBody>
        </p:sp>
      </p:grpSp>
      <p:grpSp>
        <p:nvGrpSpPr>
          <p:cNvPr id="3" name="Group 6"/>
          <p:cNvGrpSpPr/>
          <p:nvPr/>
        </p:nvGrpSpPr>
        <p:grpSpPr>
          <a:xfrm>
            <a:off x="5257800" y="1828800"/>
            <a:ext cx="3468688" cy="3200400"/>
            <a:chOff x="1824" y="2112"/>
            <a:chExt cx="2185" cy="2016"/>
          </a:xfrm>
        </p:grpSpPr>
        <p:sp>
          <p:nvSpPr>
            <p:cNvPr id="52232" name="Text Box 7"/>
            <p:cNvSpPr txBox="1"/>
            <p:nvPr/>
          </p:nvSpPr>
          <p:spPr>
            <a:xfrm>
              <a:off x="2640" y="3840"/>
              <a:ext cx="884" cy="288"/>
            </a:xfrm>
            <a:prstGeom prst="rect">
              <a:avLst/>
            </a:prstGeom>
            <a:noFill/>
            <a:ln w="444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指数函数</a:t>
              </a:r>
            </a:p>
          </p:txBody>
        </p:sp>
        <p:sp>
          <p:nvSpPr>
            <p:cNvPr id="52233" name="Line 8"/>
            <p:cNvSpPr/>
            <p:nvPr/>
          </p:nvSpPr>
          <p:spPr>
            <a:xfrm flipV="1">
              <a:off x="2208" y="3723"/>
              <a:ext cx="1776" cy="0"/>
            </a:xfrm>
            <a:prstGeom prst="line">
              <a:avLst/>
            </a:prstGeom>
            <a:ln w="44450" cap="flat" cmpd="sng">
              <a:solidFill>
                <a:schemeClr val="tx1"/>
              </a:solidFill>
              <a:prstDash val="solid"/>
              <a:round/>
              <a:headEnd type="none" w="med" len="med"/>
              <a:tailEnd type="triangle" w="med" len="med"/>
            </a:ln>
          </p:spPr>
        </p:sp>
        <p:sp>
          <p:nvSpPr>
            <p:cNvPr id="52234" name="Line 9"/>
            <p:cNvSpPr/>
            <p:nvPr/>
          </p:nvSpPr>
          <p:spPr>
            <a:xfrm flipV="1">
              <a:off x="2205" y="2169"/>
              <a:ext cx="0" cy="1552"/>
            </a:xfrm>
            <a:prstGeom prst="line">
              <a:avLst/>
            </a:prstGeom>
            <a:ln w="44450" cap="flat" cmpd="sng">
              <a:solidFill>
                <a:schemeClr val="tx1"/>
              </a:solidFill>
              <a:prstDash val="solid"/>
              <a:round/>
              <a:headEnd type="none" w="med" len="med"/>
              <a:tailEnd type="triangle" w="med" len="med"/>
            </a:ln>
          </p:spPr>
        </p:sp>
        <p:sp>
          <p:nvSpPr>
            <p:cNvPr id="52235" name="Text Box 10"/>
            <p:cNvSpPr txBox="1"/>
            <p:nvPr/>
          </p:nvSpPr>
          <p:spPr>
            <a:xfrm>
              <a:off x="2016" y="3678"/>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52236" name="Text Box 11"/>
            <p:cNvSpPr txBox="1"/>
            <p:nvPr/>
          </p:nvSpPr>
          <p:spPr>
            <a:xfrm>
              <a:off x="3840" y="3696"/>
              <a:ext cx="169"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t</a:t>
              </a:r>
            </a:p>
          </p:txBody>
        </p:sp>
        <p:sp>
          <p:nvSpPr>
            <p:cNvPr id="52237" name="Text Box 12"/>
            <p:cNvSpPr txBox="1"/>
            <p:nvPr/>
          </p:nvSpPr>
          <p:spPr>
            <a:xfrm>
              <a:off x="1824" y="2112"/>
              <a:ext cx="350"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t</a:t>
              </a:r>
              <a:r>
                <a:rPr lang="en-US" altLang="zh-CN" sz="2400" dirty="0">
                  <a:latin typeface="Times New Roman" panose="02020603050405020304" pitchFamily="18" charset="0"/>
                  <a:ea typeface="宋体" panose="02010600030101010101" pitchFamily="2" charset="-122"/>
                </a:rPr>
                <a:t>)</a:t>
              </a:r>
            </a:p>
          </p:txBody>
        </p:sp>
        <p:sp>
          <p:nvSpPr>
            <p:cNvPr id="52238" name="Freeform 13"/>
            <p:cNvSpPr/>
            <p:nvPr/>
          </p:nvSpPr>
          <p:spPr>
            <a:xfrm>
              <a:off x="2205" y="2466"/>
              <a:ext cx="1353" cy="1230"/>
            </a:xfrm>
            <a:custGeom>
              <a:avLst/>
              <a:gdLst/>
              <a:ahLst/>
              <a:cxnLst>
                <a:cxn ang="0">
                  <a:pos x="0" y="0"/>
                </a:cxn>
                <a:cxn ang="0">
                  <a:pos x="23" y="117"/>
                </a:cxn>
                <a:cxn ang="0">
                  <a:pos x="44" y="222"/>
                </a:cxn>
                <a:cxn ang="0">
                  <a:pos x="68" y="319"/>
                </a:cxn>
                <a:cxn ang="0">
                  <a:pos x="91" y="406"/>
                </a:cxn>
                <a:cxn ang="0">
                  <a:pos x="112" y="484"/>
                </a:cxn>
                <a:cxn ang="0">
                  <a:pos x="135" y="556"/>
                </a:cxn>
                <a:cxn ang="0">
                  <a:pos x="159" y="619"/>
                </a:cxn>
                <a:cxn ang="0">
                  <a:pos x="180" y="680"/>
                </a:cxn>
                <a:cxn ang="0">
                  <a:pos x="203" y="731"/>
                </a:cxn>
                <a:cxn ang="0">
                  <a:pos x="226" y="779"/>
                </a:cxn>
                <a:cxn ang="0">
                  <a:pos x="247" y="824"/>
                </a:cxn>
                <a:cxn ang="0">
                  <a:pos x="271" y="863"/>
                </a:cxn>
                <a:cxn ang="0">
                  <a:pos x="294" y="896"/>
                </a:cxn>
                <a:cxn ang="0">
                  <a:pos x="315" y="929"/>
                </a:cxn>
                <a:cxn ang="0">
                  <a:pos x="338" y="959"/>
                </a:cxn>
                <a:cxn ang="0">
                  <a:pos x="362" y="984"/>
                </a:cxn>
                <a:cxn ang="0">
                  <a:pos x="383" y="1008"/>
                </a:cxn>
                <a:cxn ang="0">
                  <a:pos x="406" y="1028"/>
                </a:cxn>
                <a:cxn ang="0">
                  <a:pos x="429" y="1049"/>
                </a:cxn>
                <a:cxn ang="0">
                  <a:pos x="450" y="1068"/>
                </a:cxn>
                <a:cxn ang="0">
                  <a:pos x="474" y="1083"/>
                </a:cxn>
                <a:cxn ang="0">
                  <a:pos x="497" y="1098"/>
                </a:cxn>
                <a:cxn ang="0">
                  <a:pos x="518" y="1110"/>
                </a:cxn>
                <a:cxn ang="0">
                  <a:pos x="541" y="1122"/>
                </a:cxn>
                <a:cxn ang="0">
                  <a:pos x="565" y="1131"/>
                </a:cxn>
                <a:cxn ang="0">
                  <a:pos x="585" y="1143"/>
                </a:cxn>
                <a:cxn ang="0">
                  <a:pos x="609" y="1149"/>
                </a:cxn>
                <a:cxn ang="0">
                  <a:pos x="632" y="1158"/>
                </a:cxn>
                <a:cxn ang="0">
                  <a:pos x="653" y="1164"/>
                </a:cxn>
                <a:cxn ang="0">
                  <a:pos x="676" y="1173"/>
                </a:cxn>
                <a:cxn ang="0">
                  <a:pos x="700" y="1179"/>
                </a:cxn>
                <a:cxn ang="0">
                  <a:pos x="721" y="1182"/>
                </a:cxn>
                <a:cxn ang="0">
                  <a:pos x="744" y="1188"/>
                </a:cxn>
                <a:cxn ang="0">
                  <a:pos x="768" y="1191"/>
                </a:cxn>
                <a:cxn ang="0">
                  <a:pos x="788" y="1197"/>
                </a:cxn>
                <a:cxn ang="0">
                  <a:pos x="812" y="1200"/>
                </a:cxn>
                <a:cxn ang="0">
                  <a:pos x="835" y="1203"/>
                </a:cxn>
                <a:cxn ang="0">
                  <a:pos x="856" y="1206"/>
                </a:cxn>
                <a:cxn ang="0">
                  <a:pos x="879" y="1209"/>
                </a:cxn>
                <a:cxn ang="0">
                  <a:pos x="903" y="1209"/>
                </a:cxn>
                <a:cxn ang="0">
                  <a:pos x="924" y="1212"/>
                </a:cxn>
                <a:cxn ang="0">
                  <a:pos x="947" y="1215"/>
                </a:cxn>
                <a:cxn ang="0">
                  <a:pos x="970" y="1215"/>
                </a:cxn>
                <a:cxn ang="0">
                  <a:pos x="991" y="1218"/>
                </a:cxn>
                <a:cxn ang="0">
                  <a:pos x="1015" y="1218"/>
                </a:cxn>
                <a:cxn ang="0">
                  <a:pos x="1038" y="1221"/>
                </a:cxn>
                <a:cxn ang="0">
                  <a:pos x="1059" y="1221"/>
                </a:cxn>
                <a:cxn ang="0">
                  <a:pos x="1082" y="1224"/>
                </a:cxn>
                <a:cxn ang="0">
                  <a:pos x="1106" y="1224"/>
                </a:cxn>
                <a:cxn ang="0">
                  <a:pos x="1127" y="1224"/>
                </a:cxn>
                <a:cxn ang="0">
                  <a:pos x="1150" y="1227"/>
                </a:cxn>
                <a:cxn ang="0">
                  <a:pos x="1173" y="1227"/>
                </a:cxn>
                <a:cxn ang="0">
                  <a:pos x="1194" y="1227"/>
                </a:cxn>
                <a:cxn ang="0">
                  <a:pos x="1218" y="1227"/>
                </a:cxn>
                <a:cxn ang="0">
                  <a:pos x="1241" y="1227"/>
                </a:cxn>
                <a:cxn ang="0">
                  <a:pos x="1262" y="1227"/>
                </a:cxn>
                <a:cxn ang="0">
                  <a:pos x="1285" y="1230"/>
                </a:cxn>
                <a:cxn ang="0">
                  <a:pos x="1309" y="1230"/>
                </a:cxn>
                <a:cxn ang="0">
                  <a:pos x="1330" y="1230"/>
                </a:cxn>
                <a:cxn ang="0">
                  <a:pos x="1353" y="1230"/>
                </a:cxn>
              </a:cxnLst>
              <a:rect l="0" t="0" r="0" b="0"/>
              <a:pathLst>
                <a:path w="3805" h="2991">
                  <a:moveTo>
                    <a:pt x="0" y="0"/>
                  </a:moveTo>
                  <a:lnTo>
                    <a:pt x="66" y="285"/>
                  </a:lnTo>
                  <a:lnTo>
                    <a:pt x="124" y="541"/>
                  </a:lnTo>
                  <a:lnTo>
                    <a:pt x="190" y="775"/>
                  </a:lnTo>
                  <a:lnTo>
                    <a:pt x="256" y="987"/>
                  </a:lnTo>
                  <a:lnTo>
                    <a:pt x="314" y="1177"/>
                  </a:lnTo>
                  <a:lnTo>
                    <a:pt x="380" y="1353"/>
                  </a:lnTo>
                  <a:lnTo>
                    <a:pt x="446" y="1506"/>
                  </a:lnTo>
                  <a:lnTo>
                    <a:pt x="505" y="1653"/>
                  </a:lnTo>
                  <a:lnTo>
                    <a:pt x="571" y="1777"/>
                  </a:lnTo>
                  <a:lnTo>
                    <a:pt x="636" y="1894"/>
                  </a:lnTo>
                  <a:lnTo>
                    <a:pt x="695" y="2004"/>
                  </a:lnTo>
                  <a:lnTo>
                    <a:pt x="761" y="2099"/>
                  </a:lnTo>
                  <a:lnTo>
                    <a:pt x="827" y="2179"/>
                  </a:lnTo>
                  <a:lnTo>
                    <a:pt x="885" y="2260"/>
                  </a:lnTo>
                  <a:lnTo>
                    <a:pt x="951" y="2333"/>
                  </a:lnTo>
                  <a:lnTo>
                    <a:pt x="1017" y="2392"/>
                  </a:lnTo>
                  <a:lnTo>
                    <a:pt x="1076" y="2450"/>
                  </a:lnTo>
                  <a:lnTo>
                    <a:pt x="1141" y="2501"/>
                  </a:lnTo>
                  <a:lnTo>
                    <a:pt x="1207" y="2552"/>
                  </a:lnTo>
                  <a:lnTo>
                    <a:pt x="1266" y="2596"/>
                  </a:lnTo>
                  <a:lnTo>
                    <a:pt x="1332" y="2633"/>
                  </a:lnTo>
                  <a:lnTo>
                    <a:pt x="1398" y="2670"/>
                  </a:lnTo>
                  <a:lnTo>
                    <a:pt x="1456" y="2699"/>
                  </a:lnTo>
                  <a:lnTo>
                    <a:pt x="1522" y="2728"/>
                  </a:lnTo>
                  <a:lnTo>
                    <a:pt x="1588" y="2750"/>
                  </a:lnTo>
                  <a:lnTo>
                    <a:pt x="1646" y="2779"/>
                  </a:lnTo>
                  <a:lnTo>
                    <a:pt x="1712" y="2794"/>
                  </a:lnTo>
                  <a:lnTo>
                    <a:pt x="1778" y="2816"/>
                  </a:lnTo>
                  <a:lnTo>
                    <a:pt x="1837" y="2830"/>
                  </a:lnTo>
                  <a:lnTo>
                    <a:pt x="1902" y="2852"/>
                  </a:lnTo>
                  <a:lnTo>
                    <a:pt x="1968" y="2867"/>
                  </a:lnTo>
                  <a:lnTo>
                    <a:pt x="2027" y="2874"/>
                  </a:lnTo>
                  <a:lnTo>
                    <a:pt x="2093" y="2889"/>
                  </a:lnTo>
                  <a:lnTo>
                    <a:pt x="2159" y="2896"/>
                  </a:lnTo>
                  <a:lnTo>
                    <a:pt x="2217" y="2911"/>
                  </a:lnTo>
                  <a:lnTo>
                    <a:pt x="2283" y="2918"/>
                  </a:lnTo>
                  <a:lnTo>
                    <a:pt x="2349" y="2926"/>
                  </a:lnTo>
                  <a:lnTo>
                    <a:pt x="2407" y="2933"/>
                  </a:lnTo>
                  <a:lnTo>
                    <a:pt x="2473" y="2940"/>
                  </a:lnTo>
                  <a:lnTo>
                    <a:pt x="2539" y="2940"/>
                  </a:lnTo>
                  <a:lnTo>
                    <a:pt x="2598" y="2947"/>
                  </a:lnTo>
                  <a:lnTo>
                    <a:pt x="2664" y="2955"/>
                  </a:lnTo>
                  <a:lnTo>
                    <a:pt x="2729" y="2955"/>
                  </a:lnTo>
                  <a:lnTo>
                    <a:pt x="2788" y="2962"/>
                  </a:lnTo>
                  <a:lnTo>
                    <a:pt x="2854" y="2962"/>
                  </a:lnTo>
                  <a:lnTo>
                    <a:pt x="2920" y="2969"/>
                  </a:lnTo>
                  <a:lnTo>
                    <a:pt x="2978" y="2969"/>
                  </a:lnTo>
                  <a:lnTo>
                    <a:pt x="3044" y="2977"/>
                  </a:lnTo>
                  <a:lnTo>
                    <a:pt x="3110" y="2977"/>
                  </a:lnTo>
                  <a:lnTo>
                    <a:pt x="3169" y="2977"/>
                  </a:lnTo>
                  <a:lnTo>
                    <a:pt x="3234" y="2984"/>
                  </a:lnTo>
                  <a:lnTo>
                    <a:pt x="3300" y="2984"/>
                  </a:lnTo>
                  <a:lnTo>
                    <a:pt x="3359" y="2984"/>
                  </a:lnTo>
                  <a:lnTo>
                    <a:pt x="3425" y="2984"/>
                  </a:lnTo>
                  <a:lnTo>
                    <a:pt x="3491" y="2984"/>
                  </a:lnTo>
                  <a:lnTo>
                    <a:pt x="3549" y="2984"/>
                  </a:lnTo>
                  <a:lnTo>
                    <a:pt x="3615" y="2991"/>
                  </a:lnTo>
                  <a:lnTo>
                    <a:pt x="3681" y="2991"/>
                  </a:lnTo>
                  <a:lnTo>
                    <a:pt x="3739" y="2991"/>
                  </a:lnTo>
                  <a:lnTo>
                    <a:pt x="3805" y="2991"/>
                  </a:lnTo>
                </a:path>
              </a:pathLst>
            </a:custGeom>
            <a:noFill/>
            <a:ln w="36576" cap="flat" cmpd="sng">
              <a:solidFill>
                <a:schemeClr val="tx1"/>
              </a:solidFill>
              <a:prstDash val="solid"/>
              <a:round/>
              <a:headEnd type="none" w="med" len="med"/>
              <a:tailEnd type="none" w="med" len="med"/>
            </a:ln>
          </p:spPr>
          <p:txBody>
            <a:bodyPr/>
            <a:lstStyle/>
            <a:p>
              <a:endParaRPr lang="zh-CN" altLang="en-US"/>
            </a:p>
          </p:txBody>
        </p:sp>
        <p:sp>
          <p:nvSpPr>
            <p:cNvPr id="52239" name="Text Box 14"/>
            <p:cNvSpPr txBox="1"/>
            <p:nvPr/>
          </p:nvSpPr>
          <p:spPr>
            <a:xfrm>
              <a:off x="2016" y="2352"/>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1</a:t>
              </a:r>
            </a:p>
          </p:txBody>
        </p:sp>
      </p:grpSp>
      <p:graphicFrame>
        <p:nvGraphicFramePr>
          <p:cNvPr id="75791" name="Object 15"/>
          <p:cNvGraphicFramePr>
            <a:graphicFrameLocks noChangeAspect="1"/>
          </p:cNvGraphicFramePr>
          <p:nvPr/>
        </p:nvGraphicFramePr>
        <p:xfrm>
          <a:off x="1403350" y="3213100"/>
          <a:ext cx="3452813" cy="2698750"/>
        </p:xfrm>
        <a:graphic>
          <a:graphicData uri="http://schemas.openxmlformats.org/presentationml/2006/ole">
            <mc:AlternateContent xmlns:mc="http://schemas.openxmlformats.org/markup-compatibility/2006">
              <mc:Choice xmlns:v="urn:schemas-microsoft-com:vml" Requires="v">
                <p:oleObj spid="_x0000_s20496" r:id="rId6" imgW="1384300" imgH="1079500" progId="Equation.3">
                  <p:embed/>
                </p:oleObj>
              </mc:Choice>
              <mc:Fallback>
                <p:oleObj r:id="rId6" imgW="1384300" imgH="1079500" progId="Equation.3">
                  <p:embed/>
                  <p:pic>
                    <p:nvPicPr>
                      <p:cNvPr id="0" name="图片 3099"/>
                      <p:cNvPicPr/>
                      <p:nvPr/>
                    </p:nvPicPr>
                    <p:blipFill>
                      <a:blip r:embed="rId7"/>
                      <a:stretch>
                        <a:fillRect/>
                      </a:stretch>
                    </p:blipFill>
                    <p:spPr>
                      <a:xfrm>
                        <a:off x="1403350" y="3213100"/>
                        <a:ext cx="3452813" cy="26987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791"/>
                                        </p:tgtEl>
                                        <p:attrNameLst>
                                          <p:attrName>style.visibility</p:attrName>
                                        </p:attrNameLst>
                                      </p:cBhvr>
                                      <p:to>
                                        <p:strVal val="visible"/>
                                      </p:to>
                                    </p:set>
                                    <p:anim calcmode="lin" valueType="num">
                                      <p:cBhvr additive="base">
                                        <p:cTn id="19" dur="500" fill="hold"/>
                                        <p:tgtEl>
                                          <p:spTgt spid="75791"/>
                                        </p:tgtEl>
                                        <p:attrNameLst>
                                          <p:attrName>ppt_x</p:attrName>
                                        </p:attrNameLst>
                                      </p:cBhvr>
                                      <p:tavLst>
                                        <p:tav tm="0">
                                          <p:val>
                                            <p:strVal val="#ppt_x"/>
                                          </p:val>
                                        </p:tav>
                                        <p:tav tm="100000">
                                          <p:val>
                                            <p:strVal val="#ppt_x"/>
                                          </p:val>
                                        </p:tav>
                                      </p:tavLst>
                                    </p:anim>
                                    <p:anim calcmode="lin" valueType="num">
                                      <p:cBhvr additive="base">
                                        <p:cTn id="20" dur="500" fill="hold"/>
                                        <p:tgtEl>
                                          <p:spTgt spid="757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54274"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33</a:t>
            </a:fld>
            <a:endParaRPr lang="en-US" altLang="zh-CN" sz="1200" dirty="0"/>
          </a:p>
        </p:txBody>
      </p:sp>
      <p:sp>
        <p:nvSpPr>
          <p:cNvPr id="54275" name="Rectangle 2"/>
          <p:cNvSpPr/>
          <p:nvPr/>
        </p:nvSpPr>
        <p:spPr>
          <a:xfrm>
            <a:off x="1187450" y="1052513"/>
            <a:ext cx="4038600" cy="519112"/>
          </a:xfrm>
          <a:prstGeom prst="rect">
            <a:avLst/>
          </a:prstGeom>
          <a:noFill/>
          <a:ln w="22225">
            <a:noFill/>
          </a:ln>
        </p:spPr>
        <p:txBody>
          <a:bodyPr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正弦函数与余弦函数 </a:t>
            </a:r>
          </a:p>
        </p:txBody>
      </p:sp>
      <p:grpSp>
        <p:nvGrpSpPr>
          <p:cNvPr id="2" name="Group 3"/>
          <p:cNvGrpSpPr/>
          <p:nvPr/>
        </p:nvGrpSpPr>
        <p:grpSpPr>
          <a:xfrm>
            <a:off x="4953000" y="2590800"/>
            <a:ext cx="3962400" cy="2895600"/>
            <a:chOff x="3024" y="1392"/>
            <a:chExt cx="2496" cy="1824"/>
          </a:xfrm>
        </p:grpSpPr>
        <p:sp>
          <p:nvSpPr>
            <p:cNvPr id="54277" name="Text Box 4"/>
            <p:cNvSpPr txBox="1"/>
            <p:nvPr/>
          </p:nvSpPr>
          <p:spPr>
            <a:xfrm>
              <a:off x="3724" y="2928"/>
              <a:ext cx="1460" cy="288"/>
            </a:xfrm>
            <a:prstGeom prst="rect">
              <a:avLst/>
            </a:prstGeom>
            <a:noFill/>
            <a:ln w="444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正弦及余弦函数</a:t>
              </a:r>
            </a:p>
          </p:txBody>
        </p:sp>
        <p:sp>
          <p:nvSpPr>
            <p:cNvPr id="54278" name="Freeform 5"/>
            <p:cNvSpPr/>
            <p:nvPr/>
          </p:nvSpPr>
          <p:spPr>
            <a:xfrm>
              <a:off x="3422" y="1763"/>
              <a:ext cx="1839" cy="885"/>
            </a:xfrm>
            <a:custGeom>
              <a:avLst/>
              <a:gdLst/>
              <a:ahLst/>
              <a:cxnLst>
                <a:cxn ang="0">
                  <a:pos x="0" y="445"/>
                </a:cxn>
                <a:cxn ang="0">
                  <a:pos x="29" y="399"/>
                </a:cxn>
                <a:cxn ang="0">
                  <a:pos x="62" y="357"/>
                </a:cxn>
                <a:cxn ang="0">
                  <a:pos x="92" y="311"/>
                </a:cxn>
                <a:cxn ang="0">
                  <a:pos x="121" y="268"/>
                </a:cxn>
                <a:cxn ang="0">
                  <a:pos x="154" y="230"/>
                </a:cxn>
                <a:cxn ang="0">
                  <a:pos x="183" y="193"/>
                </a:cxn>
                <a:cxn ang="0">
                  <a:pos x="213" y="155"/>
                </a:cxn>
                <a:cxn ang="0">
                  <a:pos x="246" y="126"/>
                </a:cxn>
                <a:cxn ang="0">
                  <a:pos x="275" y="96"/>
                </a:cxn>
                <a:cxn ang="0">
                  <a:pos x="308" y="71"/>
                </a:cxn>
                <a:cxn ang="0">
                  <a:pos x="338" y="46"/>
                </a:cxn>
                <a:cxn ang="0">
                  <a:pos x="367" y="29"/>
                </a:cxn>
                <a:cxn ang="0">
                  <a:pos x="400" y="17"/>
                </a:cxn>
                <a:cxn ang="0">
                  <a:pos x="429" y="4"/>
                </a:cxn>
                <a:cxn ang="0">
                  <a:pos x="459" y="0"/>
                </a:cxn>
                <a:cxn ang="0">
                  <a:pos x="492" y="0"/>
                </a:cxn>
                <a:cxn ang="0">
                  <a:pos x="521" y="4"/>
                </a:cxn>
                <a:cxn ang="0">
                  <a:pos x="550" y="13"/>
                </a:cxn>
                <a:cxn ang="0">
                  <a:pos x="584" y="25"/>
                </a:cxn>
                <a:cxn ang="0">
                  <a:pos x="613" y="38"/>
                </a:cxn>
                <a:cxn ang="0">
                  <a:pos x="642" y="59"/>
                </a:cxn>
                <a:cxn ang="0">
                  <a:pos x="676" y="84"/>
                </a:cxn>
                <a:cxn ang="0">
                  <a:pos x="704" y="113"/>
                </a:cxn>
                <a:cxn ang="0">
                  <a:pos x="734" y="143"/>
                </a:cxn>
                <a:cxn ang="0">
                  <a:pos x="767" y="176"/>
                </a:cxn>
                <a:cxn ang="0">
                  <a:pos x="797" y="214"/>
                </a:cxn>
                <a:cxn ang="0">
                  <a:pos x="825" y="252"/>
                </a:cxn>
                <a:cxn ang="0">
                  <a:pos x="859" y="293"/>
                </a:cxn>
                <a:cxn ang="0">
                  <a:pos x="888" y="336"/>
                </a:cxn>
                <a:cxn ang="0">
                  <a:pos x="921" y="382"/>
                </a:cxn>
                <a:cxn ang="0">
                  <a:pos x="951" y="424"/>
                </a:cxn>
                <a:cxn ang="0">
                  <a:pos x="980" y="470"/>
                </a:cxn>
                <a:cxn ang="0">
                  <a:pos x="1013" y="512"/>
                </a:cxn>
                <a:cxn ang="0">
                  <a:pos x="1042" y="558"/>
                </a:cxn>
                <a:cxn ang="0">
                  <a:pos x="1072" y="600"/>
                </a:cxn>
                <a:cxn ang="0">
                  <a:pos x="1105" y="637"/>
                </a:cxn>
                <a:cxn ang="0">
                  <a:pos x="1134" y="675"/>
                </a:cxn>
                <a:cxn ang="0">
                  <a:pos x="1163" y="713"/>
                </a:cxn>
                <a:cxn ang="0">
                  <a:pos x="1197" y="746"/>
                </a:cxn>
                <a:cxn ang="0">
                  <a:pos x="1226" y="776"/>
                </a:cxn>
                <a:cxn ang="0">
                  <a:pos x="1255" y="805"/>
                </a:cxn>
                <a:cxn ang="0">
                  <a:pos x="1288" y="830"/>
                </a:cxn>
                <a:cxn ang="0">
                  <a:pos x="1318" y="847"/>
                </a:cxn>
                <a:cxn ang="0">
                  <a:pos x="1347" y="864"/>
                </a:cxn>
                <a:cxn ang="0">
                  <a:pos x="1380" y="877"/>
                </a:cxn>
                <a:cxn ang="0">
                  <a:pos x="1409" y="885"/>
                </a:cxn>
                <a:cxn ang="0">
                  <a:pos x="1439" y="885"/>
                </a:cxn>
                <a:cxn ang="0">
                  <a:pos x="1472" y="885"/>
                </a:cxn>
                <a:cxn ang="0">
                  <a:pos x="1501" y="877"/>
                </a:cxn>
                <a:cxn ang="0">
                  <a:pos x="1535" y="868"/>
                </a:cxn>
                <a:cxn ang="0">
                  <a:pos x="1564" y="852"/>
                </a:cxn>
                <a:cxn ang="0">
                  <a:pos x="1593" y="835"/>
                </a:cxn>
                <a:cxn ang="0">
                  <a:pos x="1626" y="809"/>
                </a:cxn>
                <a:cxn ang="0">
                  <a:pos x="1656" y="784"/>
                </a:cxn>
                <a:cxn ang="0">
                  <a:pos x="1685" y="755"/>
                </a:cxn>
                <a:cxn ang="0">
                  <a:pos x="1718" y="721"/>
                </a:cxn>
                <a:cxn ang="0">
                  <a:pos x="1747" y="688"/>
                </a:cxn>
                <a:cxn ang="0">
                  <a:pos x="1777" y="650"/>
                </a:cxn>
                <a:cxn ang="0">
                  <a:pos x="1810" y="608"/>
                </a:cxn>
                <a:cxn ang="0">
                  <a:pos x="1839" y="566"/>
                </a:cxn>
              </a:cxnLst>
              <a:rect l="0" t="0" r="0" b="0"/>
              <a:pathLst>
                <a:path w="4211" h="2012">
                  <a:moveTo>
                    <a:pt x="0" y="1011"/>
                  </a:moveTo>
                  <a:lnTo>
                    <a:pt x="66" y="906"/>
                  </a:lnTo>
                  <a:lnTo>
                    <a:pt x="143" y="811"/>
                  </a:lnTo>
                  <a:lnTo>
                    <a:pt x="210" y="706"/>
                  </a:lnTo>
                  <a:lnTo>
                    <a:pt x="277" y="610"/>
                  </a:lnTo>
                  <a:lnTo>
                    <a:pt x="353" y="524"/>
                  </a:lnTo>
                  <a:lnTo>
                    <a:pt x="420" y="439"/>
                  </a:lnTo>
                  <a:lnTo>
                    <a:pt x="487" y="353"/>
                  </a:lnTo>
                  <a:lnTo>
                    <a:pt x="563" y="286"/>
                  </a:lnTo>
                  <a:lnTo>
                    <a:pt x="630" y="219"/>
                  </a:lnTo>
                  <a:lnTo>
                    <a:pt x="706" y="162"/>
                  </a:lnTo>
                  <a:lnTo>
                    <a:pt x="773" y="105"/>
                  </a:lnTo>
                  <a:lnTo>
                    <a:pt x="840" y="67"/>
                  </a:lnTo>
                  <a:lnTo>
                    <a:pt x="916" y="38"/>
                  </a:lnTo>
                  <a:lnTo>
                    <a:pt x="983" y="9"/>
                  </a:lnTo>
                  <a:lnTo>
                    <a:pt x="1050" y="0"/>
                  </a:lnTo>
                  <a:lnTo>
                    <a:pt x="1126" y="0"/>
                  </a:lnTo>
                  <a:lnTo>
                    <a:pt x="1193" y="9"/>
                  </a:lnTo>
                  <a:lnTo>
                    <a:pt x="1260" y="29"/>
                  </a:lnTo>
                  <a:lnTo>
                    <a:pt x="1337" y="57"/>
                  </a:lnTo>
                  <a:lnTo>
                    <a:pt x="1403" y="86"/>
                  </a:lnTo>
                  <a:lnTo>
                    <a:pt x="1470" y="133"/>
                  </a:lnTo>
                  <a:lnTo>
                    <a:pt x="1547" y="191"/>
                  </a:lnTo>
                  <a:lnTo>
                    <a:pt x="1613" y="257"/>
                  </a:lnTo>
                  <a:lnTo>
                    <a:pt x="1680" y="324"/>
                  </a:lnTo>
                  <a:lnTo>
                    <a:pt x="1757" y="400"/>
                  </a:lnTo>
                  <a:lnTo>
                    <a:pt x="1824" y="486"/>
                  </a:lnTo>
                  <a:lnTo>
                    <a:pt x="1890" y="572"/>
                  </a:lnTo>
                  <a:lnTo>
                    <a:pt x="1967" y="667"/>
                  </a:lnTo>
                  <a:lnTo>
                    <a:pt x="2034" y="763"/>
                  </a:lnTo>
                  <a:lnTo>
                    <a:pt x="2110" y="868"/>
                  </a:lnTo>
                  <a:lnTo>
                    <a:pt x="2177" y="963"/>
                  </a:lnTo>
                  <a:lnTo>
                    <a:pt x="2244" y="1068"/>
                  </a:lnTo>
                  <a:lnTo>
                    <a:pt x="2320" y="1163"/>
                  </a:lnTo>
                  <a:lnTo>
                    <a:pt x="2387" y="1268"/>
                  </a:lnTo>
                  <a:lnTo>
                    <a:pt x="2454" y="1364"/>
                  </a:lnTo>
                  <a:lnTo>
                    <a:pt x="2530" y="1449"/>
                  </a:lnTo>
                  <a:lnTo>
                    <a:pt x="2597" y="1535"/>
                  </a:lnTo>
                  <a:lnTo>
                    <a:pt x="2664" y="1621"/>
                  </a:lnTo>
                  <a:lnTo>
                    <a:pt x="2740" y="1697"/>
                  </a:lnTo>
                  <a:lnTo>
                    <a:pt x="2807" y="1764"/>
                  </a:lnTo>
                  <a:lnTo>
                    <a:pt x="2874" y="1831"/>
                  </a:lnTo>
                  <a:lnTo>
                    <a:pt x="2950" y="1888"/>
                  </a:lnTo>
                  <a:lnTo>
                    <a:pt x="3017" y="1926"/>
                  </a:lnTo>
                  <a:lnTo>
                    <a:pt x="3084" y="1964"/>
                  </a:lnTo>
                  <a:lnTo>
                    <a:pt x="3160" y="1993"/>
                  </a:lnTo>
                  <a:lnTo>
                    <a:pt x="3227" y="2012"/>
                  </a:lnTo>
                  <a:lnTo>
                    <a:pt x="3294" y="2012"/>
                  </a:lnTo>
                  <a:lnTo>
                    <a:pt x="3371" y="2012"/>
                  </a:lnTo>
                  <a:lnTo>
                    <a:pt x="3437" y="1993"/>
                  </a:lnTo>
                  <a:lnTo>
                    <a:pt x="3514" y="1974"/>
                  </a:lnTo>
                  <a:lnTo>
                    <a:pt x="3581" y="1936"/>
                  </a:lnTo>
                  <a:lnTo>
                    <a:pt x="3647" y="1898"/>
                  </a:lnTo>
                  <a:lnTo>
                    <a:pt x="3724" y="1840"/>
                  </a:lnTo>
                  <a:lnTo>
                    <a:pt x="3791" y="1783"/>
                  </a:lnTo>
                  <a:lnTo>
                    <a:pt x="3858" y="1716"/>
                  </a:lnTo>
                  <a:lnTo>
                    <a:pt x="3934" y="1640"/>
                  </a:lnTo>
                  <a:lnTo>
                    <a:pt x="4001" y="1564"/>
                  </a:lnTo>
                  <a:lnTo>
                    <a:pt x="4068" y="1478"/>
                  </a:lnTo>
                  <a:lnTo>
                    <a:pt x="4144" y="1383"/>
                  </a:lnTo>
                  <a:lnTo>
                    <a:pt x="4211" y="1287"/>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54279" name="Freeform 6"/>
            <p:cNvSpPr/>
            <p:nvPr/>
          </p:nvSpPr>
          <p:spPr>
            <a:xfrm>
              <a:off x="3422" y="1763"/>
              <a:ext cx="1839" cy="885"/>
            </a:xfrm>
            <a:custGeom>
              <a:avLst/>
              <a:gdLst/>
              <a:ahLst/>
              <a:cxnLst>
                <a:cxn ang="0">
                  <a:pos x="0" y="0"/>
                </a:cxn>
                <a:cxn ang="0">
                  <a:pos x="29" y="0"/>
                </a:cxn>
                <a:cxn ang="0">
                  <a:pos x="62" y="8"/>
                </a:cxn>
                <a:cxn ang="0">
                  <a:pos x="92" y="21"/>
                </a:cxn>
                <a:cxn ang="0">
                  <a:pos x="121" y="33"/>
                </a:cxn>
                <a:cxn ang="0">
                  <a:pos x="154" y="55"/>
                </a:cxn>
                <a:cxn ang="0">
                  <a:pos x="183" y="76"/>
                </a:cxn>
                <a:cxn ang="0">
                  <a:pos x="213" y="105"/>
                </a:cxn>
                <a:cxn ang="0">
                  <a:pos x="246" y="134"/>
                </a:cxn>
                <a:cxn ang="0">
                  <a:pos x="275" y="168"/>
                </a:cxn>
                <a:cxn ang="0">
                  <a:pos x="308" y="201"/>
                </a:cxn>
                <a:cxn ang="0">
                  <a:pos x="338" y="243"/>
                </a:cxn>
                <a:cxn ang="0">
                  <a:pos x="367" y="281"/>
                </a:cxn>
                <a:cxn ang="0">
                  <a:pos x="400" y="323"/>
                </a:cxn>
                <a:cxn ang="0">
                  <a:pos x="429" y="369"/>
                </a:cxn>
                <a:cxn ang="0">
                  <a:pos x="459" y="411"/>
                </a:cxn>
                <a:cxn ang="0">
                  <a:pos x="492" y="457"/>
                </a:cxn>
                <a:cxn ang="0">
                  <a:pos x="521" y="499"/>
                </a:cxn>
                <a:cxn ang="0">
                  <a:pos x="550" y="545"/>
                </a:cxn>
                <a:cxn ang="0">
                  <a:pos x="584" y="587"/>
                </a:cxn>
                <a:cxn ang="0">
                  <a:pos x="613" y="625"/>
                </a:cxn>
                <a:cxn ang="0">
                  <a:pos x="642" y="667"/>
                </a:cxn>
                <a:cxn ang="0">
                  <a:pos x="676" y="705"/>
                </a:cxn>
                <a:cxn ang="0">
                  <a:pos x="704" y="738"/>
                </a:cxn>
                <a:cxn ang="0">
                  <a:pos x="734" y="768"/>
                </a:cxn>
                <a:cxn ang="0">
                  <a:pos x="767" y="797"/>
                </a:cxn>
                <a:cxn ang="0">
                  <a:pos x="797" y="822"/>
                </a:cxn>
                <a:cxn ang="0">
                  <a:pos x="825" y="843"/>
                </a:cxn>
                <a:cxn ang="0">
                  <a:pos x="859" y="860"/>
                </a:cxn>
                <a:cxn ang="0">
                  <a:pos x="888" y="872"/>
                </a:cxn>
                <a:cxn ang="0">
                  <a:pos x="921" y="881"/>
                </a:cxn>
                <a:cxn ang="0">
                  <a:pos x="951" y="885"/>
                </a:cxn>
                <a:cxn ang="0">
                  <a:pos x="980" y="885"/>
                </a:cxn>
                <a:cxn ang="0">
                  <a:pos x="1013" y="881"/>
                </a:cxn>
                <a:cxn ang="0">
                  <a:pos x="1042" y="872"/>
                </a:cxn>
                <a:cxn ang="0">
                  <a:pos x="1072" y="856"/>
                </a:cxn>
                <a:cxn ang="0">
                  <a:pos x="1105" y="839"/>
                </a:cxn>
                <a:cxn ang="0">
                  <a:pos x="1134" y="818"/>
                </a:cxn>
                <a:cxn ang="0">
                  <a:pos x="1163" y="793"/>
                </a:cxn>
                <a:cxn ang="0">
                  <a:pos x="1197" y="764"/>
                </a:cxn>
                <a:cxn ang="0">
                  <a:pos x="1226" y="734"/>
                </a:cxn>
                <a:cxn ang="0">
                  <a:pos x="1255" y="696"/>
                </a:cxn>
                <a:cxn ang="0">
                  <a:pos x="1288" y="658"/>
                </a:cxn>
                <a:cxn ang="0">
                  <a:pos x="1318" y="621"/>
                </a:cxn>
                <a:cxn ang="0">
                  <a:pos x="1347" y="579"/>
                </a:cxn>
                <a:cxn ang="0">
                  <a:pos x="1380" y="537"/>
                </a:cxn>
                <a:cxn ang="0">
                  <a:pos x="1409" y="491"/>
                </a:cxn>
                <a:cxn ang="0">
                  <a:pos x="1439" y="449"/>
                </a:cxn>
                <a:cxn ang="0">
                  <a:pos x="1472" y="402"/>
                </a:cxn>
                <a:cxn ang="0">
                  <a:pos x="1501" y="361"/>
                </a:cxn>
                <a:cxn ang="0">
                  <a:pos x="1535" y="319"/>
                </a:cxn>
                <a:cxn ang="0">
                  <a:pos x="1564" y="277"/>
                </a:cxn>
                <a:cxn ang="0">
                  <a:pos x="1593" y="235"/>
                </a:cxn>
                <a:cxn ang="0">
                  <a:pos x="1626" y="197"/>
                </a:cxn>
                <a:cxn ang="0">
                  <a:pos x="1656" y="159"/>
                </a:cxn>
                <a:cxn ang="0">
                  <a:pos x="1685" y="130"/>
                </a:cxn>
                <a:cxn ang="0">
                  <a:pos x="1718" y="101"/>
                </a:cxn>
                <a:cxn ang="0">
                  <a:pos x="1747" y="71"/>
                </a:cxn>
                <a:cxn ang="0">
                  <a:pos x="1777" y="50"/>
                </a:cxn>
                <a:cxn ang="0">
                  <a:pos x="1810" y="29"/>
                </a:cxn>
                <a:cxn ang="0">
                  <a:pos x="1839" y="17"/>
                </a:cxn>
              </a:cxnLst>
              <a:rect l="0" t="0" r="0" b="0"/>
              <a:pathLst>
                <a:path w="4211" h="2012">
                  <a:moveTo>
                    <a:pt x="0" y="0"/>
                  </a:moveTo>
                  <a:lnTo>
                    <a:pt x="66" y="0"/>
                  </a:lnTo>
                  <a:lnTo>
                    <a:pt x="143" y="19"/>
                  </a:lnTo>
                  <a:lnTo>
                    <a:pt x="210" y="48"/>
                  </a:lnTo>
                  <a:lnTo>
                    <a:pt x="277" y="76"/>
                  </a:lnTo>
                  <a:lnTo>
                    <a:pt x="353" y="124"/>
                  </a:lnTo>
                  <a:lnTo>
                    <a:pt x="420" y="172"/>
                  </a:lnTo>
                  <a:lnTo>
                    <a:pt x="487" y="238"/>
                  </a:lnTo>
                  <a:lnTo>
                    <a:pt x="563" y="305"/>
                  </a:lnTo>
                  <a:lnTo>
                    <a:pt x="630" y="381"/>
                  </a:lnTo>
                  <a:lnTo>
                    <a:pt x="706" y="458"/>
                  </a:lnTo>
                  <a:lnTo>
                    <a:pt x="773" y="553"/>
                  </a:lnTo>
                  <a:lnTo>
                    <a:pt x="840" y="639"/>
                  </a:lnTo>
                  <a:lnTo>
                    <a:pt x="916" y="734"/>
                  </a:lnTo>
                  <a:lnTo>
                    <a:pt x="983" y="839"/>
                  </a:lnTo>
                  <a:lnTo>
                    <a:pt x="1050" y="934"/>
                  </a:lnTo>
                  <a:lnTo>
                    <a:pt x="1126" y="1039"/>
                  </a:lnTo>
                  <a:lnTo>
                    <a:pt x="1193" y="1135"/>
                  </a:lnTo>
                  <a:lnTo>
                    <a:pt x="1260" y="1240"/>
                  </a:lnTo>
                  <a:lnTo>
                    <a:pt x="1337" y="1335"/>
                  </a:lnTo>
                  <a:lnTo>
                    <a:pt x="1403" y="1421"/>
                  </a:lnTo>
                  <a:lnTo>
                    <a:pt x="1470" y="1516"/>
                  </a:lnTo>
                  <a:lnTo>
                    <a:pt x="1547" y="1602"/>
                  </a:lnTo>
                  <a:lnTo>
                    <a:pt x="1613" y="1678"/>
                  </a:lnTo>
                  <a:lnTo>
                    <a:pt x="1680" y="1745"/>
                  </a:lnTo>
                  <a:lnTo>
                    <a:pt x="1757" y="1812"/>
                  </a:lnTo>
                  <a:lnTo>
                    <a:pt x="1824" y="1869"/>
                  </a:lnTo>
                  <a:lnTo>
                    <a:pt x="1890" y="1917"/>
                  </a:lnTo>
                  <a:lnTo>
                    <a:pt x="1967" y="1955"/>
                  </a:lnTo>
                  <a:lnTo>
                    <a:pt x="2034" y="1983"/>
                  </a:lnTo>
                  <a:lnTo>
                    <a:pt x="2110" y="2003"/>
                  </a:lnTo>
                  <a:lnTo>
                    <a:pt x="2177" y="2012"/>
                  </a:lnTo>
                  <a:lnTo>
                    <a:pt x="2244" y="2012"/>
                  </a:lnTo>
                  <a:lnTo>
                    <a:pt x="2320" y="2003"/>
                  </a:lnTo>
                  <a:lnTo>
                    <a:pt x="2387" y="1983"/>
                  </a:lnTo>
                  <a:lnTo>
                    <a:pt x="2454" y="1945"/>
                  </a:lnTo>
                  <a:lnTo>
                    <a:pt x="2530" y="1907"/>
                  </a:lnTo>
                  <a:lnTo>
                    <a:pt x="2597" y="1859"/>
                  </a:lnTo>
                  <a:lnTo>
                    <a:pt x="2664" y="1802"/>
                  </a:lnTo>
                  <a:lnTo>
                    <a:pt x="2740" y="1736"/>
                  </a:lnTo>
                  <a:lnTo>
                    <a:pt x="2807" y="1669"/>
                  </a:lnTo>
                  <a:lnTo>
                    <a:pt x="2874" y="1583"/>
                  </a:lnTo>
                  <a:lnTo>
                    <a:pt x="2950" y="1497"/>
                  </a:lnTo>
                  <a:lnTo>
                    <a:pt x="3017" y="1411"/>
                  </a:lnTo>
                  <a:lnTo>
                    <a:pt x="3084" y="1316"/>
                  </a:lnTo>
                  <a:lnTo>
                    <a:pt x="3160" y="1221"/>
                  </a:lnTo>
                  <a:lnTo>
                    <a:pt x="3227" y="1116"/>
                  </a:lnTo>
                  <a:lnTo>
                    <a:pt x="3294" y="1020"/>
                  </a:lnTo>
                  <a:lnTo>
                    <a:pt x="3371" y="915"/>
                  </a:lnTo>
                  <a:lnTo>
                    <a:pt x="3437" y="820"/>
                  </a:lnTo>
                  <a:lnTo>
                    <a:pt x="3514" y="725"/>
                  </a:lnTo>
                  <a:lnTo>
                    <a:pt x="3581" y="629"/>
                  </a:lnTo>
                  <a:lnTo>
                    <a:pt x="3647" y="534"/>
                  </a:lnTo>
                  <a:lnTo>
                    <a:pt x="3724" y="448"/>
                  </a:lnTo>
                  <a:lnTo>
                    <a:pt x="3791" y="362"/>
                  </a:lnTo>
                  <a:lnTo>
                    <a:pt x="3858" y="296"/>
                  </a:lnTo>
                  <a:lnTo>
                    <a:pt x="3934" y="229"/>
                  </a:lnTo>
                  <a:lnTo>
                    <a:pt x="4001" y="162"/>
                  </a:lnTo>
                  <a:lnTo>
                    <a:pt x="4068" y="114"/>
                  </a:lnTo>
                  <a:lnTo>
                    <a:pt x="4144" y="67"/>
                  </a:lnTo>
                  <a:lnTo>
                    <a:pt x="4211" y="38"/>
                  </a:ln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54280" name="Line 7"/>
            <p:cNvSpPr/>
            <p:nvPr/>
          </p:nvSpPr>
          <p:spPr>
            <a:xfrm>
              <a:off x="3428" y="2200"/>
              <a:ext cx="1992" cy="0"/>
            </a:xfrm>
            <a:prstGeom prst="line">
              <a:avLst/>
            </a:prstGeom>
            <a:ln w="44450" cap="flat" cmpd="sng">
              <a:solidFill>
                <a:schemeClr val="tx1"/>
              </a:solidFill>
              <a:prstDash val="solid"/>
              <a:round/>
              <a:headEnd type="none" w="med" len="med"/>
              <a:tailEnd type="triangle" w="med" len="med"/>
            </a:ln>
          </p:spPr>
        </p:sp>
        <p:sp>
          <p:nvSpPr>
            <p:cNvPr id="54281" name="Line 8"/>
            <p:cNvSpPr/>
            <p:nvPr/>
          </p:nvSpPr>
          <p:spPr>
            <a:xfrm flipV="1">
              <a:off x="3428" y="1440"/>
              <a:ext cx="0" cy="1457"/>
            </a:xfrm>
            <a:prstGeom prst="line">
              <a:avLst/>
            </a:prstGeom>
            <a:ln w="44450" cap="flat" cmpd="sng">
              <a:solidFill>
                <a:schemeClr val="tx1"/>
              </a:solidFill>
              <a:prstDash val="solid"/>
              <a:round/>
              <a:headEnd type="none" w="med" len="med"/>
              <a:tailEnd type="triangle" w="med" len="med"/>
            </a:ln>
          </p:spPr>
        </p:sp>
        <p:sp>
          <p:nvSpPr>
            <p:cNvPr id="54282" name="Text Box 9"/>
            <p:cNvSpPr txBox="1"/>
            <p:nvPr/>
          </p:nvSpPr>
          <p:spPr>
            <a:xfrm>
              <a:off x="3216" y="1632"/>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1</a:t>
              </a:r>
            </a:p>
          </p:txBody>
        </p:sp>
        <p:sp>
          <p:nvSpPr>
            <p:cNvPr id="54283" name="Text Box 10"/>
            <p:cNvSpPr txBox="1"/>
            <p:nvPr/>
          </p:nvSpPr>
          <p:spPr>
            <a:xfrm>
              <a:off x="3216" y="2147"/>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54284" name="Text Box 11"/>
            <p:cNvSpPr txBox="1"/>
            <p:nvPr/>
          </p:nvSpPr>
          <p:spPr>
            <a:xfrm>
              <a:off x="5351" y="2211"/>
              <a:ext cx="169"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t</a:t>
              </a:r>
              <a:endParaRPr lang="en-US" altLang="zh-CN" sz="2400" dirty="0">
                <a:latin typeface="Times New Roman" panose="02020603050405020304" pitchFamily="18" charset="0"/>
                <a:ea typeface="宋体" panose="02010600030101010101" pitchFamily="2" charset="-122"/>
              </a:endParaRPr>
            </a:p>
          </p:txBody>
        </p:sp>
        <p:sp>
          <p:nvSpPr>
            <p:cNvPr id="54285" name="Text Box 12"/>
            <p:cNvSpPr txBox="1"/>
            <p:nvPr/>
          </p:nvSpPr>
          <p:spPr>
            <a:xfrm>
              <a:off x="3024" y="1392"/>
              <a:ext cx="350"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t</a:t>
              </a:r>
              <a:r>
                <a:rPr lang="en-US" altLang="zh-CN" sz="2400" dirty="0">
                  <a:latin typeface="Times New Roman" panose="02020603050405020304" pitchFamily="18" charset="0"/>
                  <a:ea typeface="宋体" panose="02010600030101010101" pitchFamily="2" charset="-122"/>
                </a:rPr>
                <a:t>)</a:t>
              </a:r>
            </a:p>
          </p:txBody>
        </p:sp>
        <p:sp>
          <p:nvSpPr>
            <p:cNvPr id="54286" name="Line 13"/>
            <p:cNvSpPr/>
            <p:nvPr/>
          </p:nvSpPr>
          <p:spPr>
            <a:xfrm flipH="1">
              <a:off x="4078" y="1630"/>
              <a:ext cx="251" cy="190"/>
            </a:xfrm>
            <a:prstGeom prst="line">
              <a:avLst/>
            </a:prstGeom>
            <a:ln w="22225" cap="flat" cmpd="sng">
              <a:solidFill>
                <a:schemeClr val="tx1"/>
              </a:solidFill>
              <a:prstDash val="solid"/>
              <a:round/>
              <a:headEnd type="none" w="med" len="med"/>
              <a:tailEnd type="triangle" w="med" len="med"/>
            </a:ln>
          </p:spPr>
        </p:sp>
        <p:sp>
          <p:nvSpPr>
            <p:cNvPr id="54287" name="Text Box 14"/>
            <p:cNvSpPr txBox="1"/>
            <p:nvPr/>
          </p:nvSpPr>
          <p:spPr>
            <a:xfrm>
              <a:off x="4272" y="1488"/>
              <a:ext cx="867"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t</a:t>
              </a:r>
              <a:r>
                <a:rPr lang="en-US" altLang="zh-CN" sz="2400" dirty="0">
                  <a:latin typeface="Times New Roman" panose="02020603050405020304" pitchFamily="18" charset="0"/>
                  <a:ea typeface="宋体" panose="02010600030101010101" pitchFamily="2" charset="-122"/>
                </a:rPr>
                <a:t>)=sin</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rPr>
                <a:t>t</a:t>
              </a:r>
              <a:endParaRPr lang="en-US" altLang="zh-CN" sz="2400" dirty="0">
                <a:latin typeface="Times New Roman" panose="02020603050405020304" pitchFamily="18" charset="0"/>
                <a:ea typeface="宋体" panose="02010600030101010101" pitchFamily="2" charset="-122"/>
              </a:endParaRPr>
            </a:p>
          </p:txBody>
        </p:sp>
        <p:sp>
          <p:nvSpPr>
            <p:cNvPr id="54288" name="Text Box 15"/>
            <p:cNvSpPr txBox="1"/>
            <p:nvPr/>
          </p:nvSpPr>
          <p:spPr>
            <a:xfrm>
              <a:off x="3504" y="2592"/>
              <a:ext cx="899"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t</a:t>
              </a:r>
              <a:r>
                <a:rPr lang="en-US" altLang="zh-CN" sz="2400" dirty="0">
                  <a:latin typeface="Times New Roman" panose="02020603050405020304" pitchFamily="18" charset="0"/>
                  <a:ea typeface="宋体" panose="02010600030101010101" pitchFamily="2" charset="-122"/>
                </a:rPr>
                <a:t>)=cos</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rPr>
                <a:t>t</a:t>
              </a:r>
              <a:endParaRPr lang="en-US" altLang="zh-CN" sz="2400" dirty="0">
                <a:latin typeface="Times New Roman" panose="02020603050405020304" pitchFamily="18" charset="0"/>
                <a:ea typeface="宋体" panose="02010600030101010101" pitchFamily="2" charset="-122"/>
              </a:endParaRPr>
            </a:p>
          </p:txBody>
        </p:sp>
        <p:sp>
          <p:nvSpPr>
            <p:cNvPr id="54289" name="Line 16"/>
            <p:cNvSpPr/>
            <p:nvPr/>
          </p:nvSpPr>
          <p:spPr>
            <a:xfrm flipV="1">
              <a:off x="3840" y="2453"/>
              <a:ext cx="238" cy="187"/>
            </a:xfrm>
            <a:prstGeom prst="line">
              <a:avLst/>
            </a:prstGeom>
            <a:ln w="22225" cap="flat" cmpd="sng">
              <a:solidFill>
                <a:schemeClr val="tx1"/>
              </a:solidFill>
              <a:prstDash val="solid"/>
              <a:round/>
              <a:headEnd type="none" w="med" len="med"/>
              <a:tailEnd type="triangle" w="med" len="med"/>
            </a:ln>
          </p:spPr>
        </p:sp>
        <p:sp>
          <p:nvSpPr>
            <p:cNvPr id="54290" name="Text Box 17"/>
            <p:cNvSpPr txBox="1"/>
            <p:nvPr/>
          </p:nvSpPr>
          <p:spPr>
            <a:xfrm>
              <a:off x="3168" y="2544"/>
              <a:ext cx="276"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-1</a:t>
              </a:r>
            </a:p>
          </p:txBody>
        </p:sp>
        <p:sp>
          <p:nvSpPr>
            <p:cNvPr id="54291" name="Line 18"/>
            <p:cNvSpPr/>
            <p:nvPr/>
          </p:nvSpPr>
          <p:spPr>
            <a:xfrm flipH="1">
              <a:off x="3428" y="2643"/>
              <a:ext cx="21" cy="0"/>
            </a:xfrm>
            <a:prstGeom prst="line">
              <a:avLst/>
            </a:prstGeom>
            <a:ln w="44450" cap="flat" cmpd="sng">
              <a:solidFill>
                <a:schemeClr val="tx1"/>
              </a:solidFill>
              <a:prstDash val="solid"/>
              <a:round/>
              <a:headEnd type="none" w="med" len="med"/>
              <a:tailEnd type="none" w="med" len="med"/>
            </a:ln>
          </p:spPr>
        </p:sp>
      </p:grpSp>
      <p:graphicFrame>
        <p:nvGraphicFramePr>
          <p:cNvPr id="74771" name="Object 19"/>
          <p:cNvGraphicFramePr>
            <a:graphicFrameLocks noChangeAspect="1"/>
          </p:cNvGraphicFramePr>
          <p:nvPr/>
        </p:nvGraphicFramePr>
        <p:xfrm>
          <a:off x="1606550" y="2286000"/>
          <a:ext cx="3194050" cy="577850"/>
        </p:xfrm>
        <a:graphic>
          <a:graphicData uri="http://schemas.openxmlformats.org/presentationml/2006/ole">
            <mc:AlternateContent xmlns:mc="http://schemas.openxmlformats.org/markup-compatibility/2006">
              <mc:Choice xmlns:v="urn:schemas-microsoft-com:vml" Requires="v">
                <p:oleObj spid="_x0000_s21526" r:id="rId4" imgW="1892300" imgH="342900" progId="Equation.3">
                  <p:embed/>
                </p:oleObj>
              </mc:Choice>
              <mc:Fallback>
                <p:oleObj r:id="rId4" imgW="1892300" imgH="342900" progId="Equation.3">
                  <p:embed/>
                  <p:pic>
                    <p:nvPicPr>
                      <p:cNvPr id="0" name="图片 3100"/>
                      <p:cNvPicPr/>
                      <p:nvPr/>
                    </p:nvPicPr>
                    <p:blipFill>
                      <a:blip r:embed="rId5"/>
                      <a:stretch>
                        <a:fillRect/>
                      </a:stretch>
                    </p:blipFill>
                    <p:spPr>
                      <a:xfrm>
                        <a:off x="1606550" y="2286000"/>
                        <a:ext cx="3194050" cy="577850"/>
                      </a:xfrm>
                      <a:prstGeom prst="rect">
                        <a:avLst/>
                      </a:prstGeom>
                      <a:noFill/>
                      <a:ln w="38100">
                        <a:noFill/>
                        <a:miter/>
                      </a:ln>
                    </p:spPr>
                  </p:pic>
                </p:oleObj>
              </mc:Fallback>
            </mc:AlternateContent>
          </a:graphicData>
        </a:graphic>
      </p:graphicFrame>
      <p:graphicFrame>
        <p:nvGraphicFramePr>
          <p:cNvPr id="74772" name="Object 20"/>
          <p:cNvGraphicFramePr>
            <a:graphicFrameLocks noChangeAspect="1"/>
          </p:cNvGraphicFramePr>
          <p:nvPr/>
        </p:nvGraphicFramePr>
        <p:xfrm>
          <a:off x="1600200" y="2971800"/>
          <a:ext cx="3276600" cy="577850"/>
        </p:xfrm>
        <a:graphic>
          <a:graphicData uri="http://schemas.openxmlformats.org/presentationml/2006/ole">
            <mc:AlternateContent xmlns:mc="http://schemas.openxmlformats.org/markup-compatibility/2006">
              <mc:Choice xmlns:v="urn:schemas-microsoft-com:vml" Requires="v">
                <p:oleObj spid="_x0000_s21527" r:id="rId6" imgW="1943100" imgH="342900" progId="Equation.3">
                  <p:embed/>
                </p:oleObj>
              </mc:Choice>
              <mc:Fallback>
                <p:oleObj r:id="rId6" imgW="1943100" imgH="342900" progId="Equation.3">
                  <p:embed/>
                  <p:pic>
                    <p:nvPicPr>
                      <p:cNvPr id="0" name="图片 3101"/>
                      <p:cNvPicPr/>
                      <p:nvPr/>
                    </p:nvPicPr>
                    <p:blipFill>
                      <a:blip r:embed="rId7"/>
                      <a:stretch>
                        <a:fillRect/>
                      </a:stretch>
                    </p:blipFill>
                    <p:spPr>
                      <a:xfrm>
                        <a:off x="1600200" y="2971800"/>
                        <a:ext cx="3276600" cy="577850"/>
                      </a:xfrm>
                      <a:prstGeom prst="rect">
                        <a:avLst/>
                      </a:prstGeom>
                      <a:noFill/>
                      <a:ln w="38100">
                        <a:noFill/>
                        <a:miter/>
                      </a:ln>
                    </p:spPr>
                  </p:pic>
                </p:oleObj>
              </mc:Fallback>
            </mc:AlternateContent>
          </a:graphicData>
        </a:graphic>
      </p:graphicFrame>
      <p:sp>
        <p:nvSpPr>
          <p:cNvPr id="74773" name="Rectangle 21"/>
          <p:cNvSpPr/>
          <p:nvPr/>
        </p:nvSpPr>
        <p:spPr>
          <a:xfrm>
            <a:off x="1524000" y="3748088"/>
            <a:ext cx="3200400" cy="519112"/>
          </a:xfrm>
          <a:prstGeom prst="rect">
            <a:avLst/>
          </a:prstGeom>
          <a:noFill/>
          <a:ln w="22225">
            <a:noFill/>
          </a:ln>
        </p:spPr>
        <p:txBody>
          <a:bodyPr anchor="t" anchorCtr="0">
            <a:spAutoFit/>
          </a:bodyPr>
          <a:lstStyle/>
          <a:p>
            <a:pPr algn="just"/>
            <a:r>
              <a:rPr lang="zh-CN" altLang="en-US" sz="2800" dirty="0">
                <a:latin typeface="Times New Roman" panose="02020603050405020304" pitchFamily="18" charset="0"/>
                <a:ea typeface="宋体" panose="02010600030101010101" pitchFamily="2" charset="-122"/>
              </a:rPr>
              <a:t>由欧拉公式，</a:t>
            </a:r>
            <a:r>
              <a:rPr lang="zh-CN" altLang="en-US" sz="2800" dirty="0">
                <a:latin typeface="宋体" panose="02010600030101010101" pitchFamily="2" charset="-122"/>
                <a:ea typeface="宋体" panose="02010600030101010101" pitchFamily="2" charset="-122"/>
              </a:rPr>
              <a:t>有：</a:t>
            </a:r>
            <a:r>
              <a:rPr lang="zh-CN" altLang="en-US" sz="2800" dirty="0">
                <a:latin typeface="Times New Roman" panose="02020603050405020304" pitchFamily="18" charset="0"/>
                <a:ea typeface="宋体" panose="02010600030101010101" pitchFamily="2" charset="-122"/>
              </a:rPr>
              <a:t> </a:t>
            </a:r>
          </a:p>
        </p:txBody>
      </p:sp>
      <p:graphicFrame>
        <p:nvGraphicFramePr>
          <p:cNvPr id="74774" name="Object 22"/>
          <p:cNvGraphicFramePr>
            <a:graphicFrameLocks noChangeAspect="1"/>
          </p:cNvGraphicFramePr>
          <p:nvPr/>
        </p:nvGraphicFramePr>
        <p:xfrm>
          <a:off x="1676400" y="4419600"/>
          <a:ext cx="2913063" cy="1584325"/>
        </p:xfrm>
        <a:graphic>
          <a:graphicData uri="http://schemas.openxmlformats.org/presentationml/2006/ole">
            <mc:AlternateContent xmlns:mc="http://schemas.openxmlformats.org/markup-compatibility/2006">
              <mc:Choice xmlns:v="urn:schemas-microsoft-com:vml" Requires="v">
                <p:oleObj spid="_x0000_s21528" r:id="rId8" imgW="1549400" imgH="838200" progId="Equation.3">
                  <p:embed/>
                </p:oleObj>
              </mc:Choice>
              <mc:Fallback>
                <p:oleObj r:id="rId8" imgW="1549400" imgH="838200" progId="Equation.3">
                  <p:embed/>
                  <p:pic>
                    <p:nvPicPr>
                      <p:cNvPr id="0" name="图片 3103"/>
                      <p:cNvPicPr/>
                      <p:nvPr/>
                    </p:nvPicPr>
                    <p:blipFill>
                      <a:blip r:embed="rId9"/>
                      <a:stretch>
                        <a:fillRect/>
                      </a:stretch>
                    </p:blipFill>
                    <p:spPr>
                      <a:xfrm>
                        <a:off x="1676400" y="4419600"/>
                        <a:ext cx="2913063" cy="15843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71"/>
                                        </p:tgtEl>
                                        <p:attrNameLst>
                                          <p:attrName>style.visibility</p:attrName>
                                        </p:attrNameLst>
                                      </p:cBhvr>
                                      <p:to>
                                        <p:strVal val="visible"/>
                                      </p:to>
                                    </p:set>
                                    <p:anim calcmode="lin" valueType="num">
                                      <p:cBhvr additive="base">
                                        <p:cTn id="13" dur="500" fill="hold"/>
                                        <p:tgtEl>
                                          <p:spTgt spid="74771"/>
                                        </p:tgtEl>
                                        <p:attrNameLst>
                                          <p:attrName>ppt_x</p:attrName>
                                        </p:attrNameLst>
                                      </p:cBhvr>
                                      <p:tavLst>
                                        <p:tav tm="0">
                                          <p:val>
                                            <p:strVal val="#ppt_x"/>
                                          </p:val>
                                        </p:tav>
                                        <p:tav tm="100000">
                                          <p:val>
                                            <p:strVal val="#ppt_x"/>
                                          </p:val>
                                        </p:tav>
                                      </p:tavLst>
                                    </p:anim>
                                    <p:anim calcmode="lin" valueType="num">
                                      <p:cBhvr additive="base">
                                        <p:cTn id="14" dur="500" fill="hold"/>
                                        <p:tgtEl>
                                          <p:spTgt spid="7477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4772"/>
                                        </p:tgtEl>
                                        <p:attrNameLst>
                                          <p:attrName>style.visibility</p:attrName>
                                        </p:attrNameLst>
                                      </p:cBhvr>
                                      <p:to>
                                        <p:strVal val="visible"/>
                                      </p:to>
                                    </p:set>
                                    <p:anim calcmode="lin" valueType="num">
                                      <p:cBhvr additive="base">
                                        <p:cTn id="19" dur="500" fill="hold"/>
                                        <p:tgtEl>
                                          <p:spTgt spid="74772"/>
                                        </p:tgtEl>
                                        <p:attrNameLst>
                                          <p:attrName>ppt_x</p:attrName>
                                        </p:attrNameLst>
                                      </p:cBhvr>
                                      <p:tavLst>
                                        <p:tav tm="0">
                                          <p:val>
                                            <p:strVal val="#ppt_x"/>
                                          </p:val>
                                        </p:tav>
                                        <p:tav tm="100000">
                                          <p:val>
                                            <p:strVal val="#ppt_x"/>
                                          </p:val>
                                        </p:tav>
                                      </p:tavLst>
                                    </p:anim>
                                    <p:anim calcmode="lin" valueType="num">
                                      <p:cBhvr additive="base">
                                        <p:cTn id="20" dur="500" fill="hold"/>
                                        <p:tgtEl>
                                          <p:spTgt spid="7477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4773"/>
                                        </p:tgtEl>
                                        <p:attrNameLst>
                                          <p:attrName>style.visibility</p:attrName>
                                        </p:attrNameLst>
                                      </p:cBhvr>
                                      <p:to>
                                        <p:strVal val="visible"/>
                                      </p:to>
                                    </p:set>
                                    <p:anim calcmode="lin" valueType="num">
                                      <p:cBhvr additive="base">
                                        <p:cTn id="25" dur="500" fill="hold"/>
                                        <p:tgtEl>
                                          <p:spTgt spid="74773"/>
                                        </p:tgtEl>
                                        <p:attrNameLst>
                                          <p:attrName>ppt_x</p:attrName>
                                        </p:attrNameLst>
                                      </p:cBhvr>
                                      <p:tavLst>
                                        <p:tav tm="0">
                                          <p:val>
                                            <p:strVal val="#ppt_x"/>
                                          </p:val>
                                        </p:tav>
                                        <p:tav tm="100000">
                                          <p:val>
                                            <p:strVal val="#ppt_x"/>
                                          </p:val>
                                        </p:tav>
                                      </p:tavLst>
                                    </p:anim>
                                    <p:anim calcmode="lin" valueType="num">
                                      <p:cBhvr additive="base">
                                        <p:cTn id="26" dur="500" fill="hold"/>
                                        <p:tgtEl>
                                          <p:spTgt spid="7477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4774"/>
                                        </p:tgtEl>
                                        <p:attrNameLst>
                                          <p:attrName>style.visibility</p:attrName>
                                        </p:attrNameLst>
                                      </p:cBhvr>
                                      <p:to>
                                        <p:strVal val="visible"/>
                                      </p:to>
                                    </p:set>
                                    <p:anim calcmode="lin" valueType="num">
                                      <p:cBhvr additive="base">
                                        <p:cTn id="31" dur="500" fill="hold"/>
                                        <p:tgtEl>
                                          <p:spTgt spid="74774"/>
                                        </p:tgtEl>
                                        <p:attrNameLst>
                                          <p:attrName>ppt_x</p:attrName>
                                        </p:attrNameLst>
                                      </p:cBhvr>
                                      <p:tavLst>
                                        <p:tav tm="0">
                                          <p:val>
                                            <p:strVal val="#ppt_x"/>
                                          </p:val>
                                        </p:tav>
                                        <p:tav tm="100000">
                                          <p:val>
                                            <p:strVal val="#ppt_x"/>
                                          </p:val>
                                        </p:tav>
                                      </p:tavLst>
                                    </p:anim>
                                    <p:anim calcmode="lin" valueType="num">
                                      <p:cBhvr additive="base">
                                        <p:cTn id="32" dur="500" fill="hold"/>
                                        <p:tgtEl>
                                          <p:spTgt spid="747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7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56322"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34</a:t>
            </a:fld>
            <a:endParaRPr lang="en-US" altLang="zh-CN" sz="1200" dirty="0"/>
          </a:p>
        </p:txBody>
      </p:sp>
      <p:grpSp>
        <p:nvGrpSpPr>
          <p:cNvPr id="56323" name="Group 2"/>
          <p:cNvGrpSpPr/>
          <p:nvPr/>
        </p:nvGrpSpPr>
        <p:grpSpPr>
          <a:xfrm>
            <a:off x="1374775" y="1844675"/>
            <a:ext cx="6472238" cy="3695700"/>
            <a:chOff x="849" y="873"/>
            <a:chExt cx="4077" cy="2328"/>
          </a:xfrm>
        </p:grpSpPr>
        <p:graphicFrame>
          <p:nvGraphicFramePr>
            <p:cNvPr id="56324" name="Object 3"/>
            <p:cNvGraphicFramePr>
              <a:graphicFrameLocks noChangeAspect="1"/>
            </p:cNvGraphicFramePr>
            <p:nvPr/>
          </p:nvGraphicFramePr>
          <p:xfrm>
            <a:off x="849" y="1248"/>
            <a:ext cx="4077" cy="1953"/>
          </p:xfrm>
          <a:graphic>
            <a:graphicData uri="http://schemas.openxmlformats.org/presentationml/2006/ole">
              <mc:AlternateContent xmlns:mc="http://schemas.openxmlformats.org/markup-compatibility/2006">
                <mc:Choice xmlns:v="urn:schemas-microsoft-com:vml" Requires="v">
                  <p:oleObj spid="_x0000_s22543" r:id="rId4" imgW="2667000" imgH="1320800" progId="Equation.3">
                    <p:embed/>
                  </p:oleObj>
                </mc:Choice>
                <mc:Fallback>
                  <p:oleObj r:id="rId4" imgW="2667000" imgH="1320800" progId="Equation.3">
                    <p:embed/>
                    <p:pic>
                      <p:nvPicPr>
                        <p:cNvPr id="0" name="图片 3102"/>
                        <p:cNvPicPr/>
                        <p:nvPr/>
                      </p:nvPicPr>
                      <p:blipFill>
                        <a:blip r:embed="rId5"/>
                        <a:stretch>
                          <a:fillRect/>
                        </a:stretch>
                      </p:blipFill>
                      <p:spPr>
                        <a:xfrm>
                          <a:off x="849" y="1248"/>
                          <a:ext cx="4077" cy="1953"/>
                        </a:xfrm>
                        <a:prstGeom prst="rect">
                          <a:avLst/>
                        </a:prstGeom>
                        <a:noFill/>
                        <a:ln w="38100">
                          <a:noFill/>
                          <a:miter/>
                        </a:ln>
                      </p:spPr>
                    </p:pic>
                  </p:oleObj>
                </mc:Fallback>
              </mc:AlternateContent>
            </a:graphicData>
          </a:graphic>
        </p:graphicFrame>
        <p:sp>
          <p:nvSpPr>
            <p:cNvPr id="56325" name="Rectangle 4"/>
            <p:cNvSpPr/>
            <p:nvPr/>
          </p:nvSpPr>
          <p:spPr>
            <a:xfrm>
              <a:off x="912" y="873"/>
              <a:ext cx="788" cy="327"/>
            </a:xfrm>
            <a:prstGeom prst="rect">
              <a:avLst/>
            </a:prstGeom>
            <a:noFill/>
            <a:ln w="22225">
              <a:noFill/>
            </a:ln>
          </p:spPr>
          <p:txBody>
            <a:bodyPr wrap="none" anchor="t" anchorCtr="0">
              <a:spAutoFit/>
            </a:bodyPr>
            <a:lstStyle/>
            <a:p>
              <a:r>
                <a:rPr lang="zh-CN" altLang="en-US" sz="2800" dirty="0">
                  <a:latin typeface="Times New Roman" panose="02020603050405020304" pitchFamily="18" charset="0"/>
                  <a:ea typeface="宋体" panose="02010600030101010101" pitchFamily="2" charset="-122"/>
                </a:rPr>
                <a:t>从而：</a:t>
              </a:r>
            </a:p>
          </p:txBody>
        </p:sp>
      </p:grpSp>
      <p:grpSp>
        <p:nvGrpSpPr>
          <p:cNvPr id="3" name="Group 5"/>
          <p:cNvGrpSpPr/>
          <p:nvPr/>
        </p:nvGrpSpPr>
        <p:grpSpPr>
          <a:xfrm>
            <a:off x="1663700" y="5397500"/>
            <a:ext cx="4572000" cy="914400"/>
            <a:chOff x="912" y="3264"/>
            <a:chExt cx="2880" cy="576"/>
          </a:xfrm>
        </p:grpSpPr>
        <p:graphicFrame>
          <p:nvGraphicFramePr>
            <p:cNvPr id="56327" name="Object 6"/>
            <p:cNvGraphicFramePr>
              <a:graphicFrameLocks noChangeAspect="1"/>
            </p:cNvGraphicFramePr>
            <p:nvPr/>
          </p:nvGraphicFramePr>
          <p:xfrm>
            <a:off x="1728" y="3264"/>
            <a:ext cx="2064" cy="576"/>
          </p:xfrm>
          <a:graphic>
            <a:graphicData uri="http://schemas.openxmlformats.org/presentationml/2006/ole">
              <mc:AlternateContent xmlns:mc="http://schemas.openxmlformats.org/markup-compatibility/2006">
                <mc:Choice xmlns:v="urn:schemas-microsoft-com:vml" Requires="v">
                  <p:oleObj spid="_x0000_s22544" r:id="rId6" imgW="1422400" imgH="444500" progId="Equation.3">
                    <p:embed/>
                  </p:oleObj>
                </mc:Choice>
                <mc:Fallback>
                  <p:oleObj r:id="rId6" imgW="1422400" imgH="444500" progId="Equation.3">
                    <p:embed/>
                    <p:pic>
                      <p:nvPicPr>
                        <p:cNvPr id="0" name="图片 3104"/>
                        <p:cNvPicPr/>
                        <p:nvPr/>
                      </p:nvPicPr>
                      <p:blipFill>
                        <a:blip r:embed="rId7"/>
                        <a:stretch>
                          <a:fillRect/>
                        </a:stretch>
                      </p:blipFill>
                      <p:spPr>
                        <a:xfrm>
                          <a:off x="1728" y="3264"/>
                          <a:ext cx="2064" cy="576"/>
                        </a:xfrm>
                        <a:prstGeom prst="rect">
                          <a:avLst/>
                        </a:prstGeom>
                        <a:noFill/>
                        <a:ln w="38100">
                          <a:noFill/>
                          <a:miter/>
                        </a:ln>
                      </p:spPr>
                    </p:pic>
                  </p:oleObj>
                </mc:Fallback>
              </mc:AlternateContent>
            </a:graphicData>
          </a:graphic>
        </p:graphicFrame>
        <p:sp>
          <p:nvSpPr>
            <p:cNvPr id="56328" name="Rectangle 7"/>
            <p:cNvSpPr/>
            <p:nvPr/>
          </p:nvSpPr>
          <p:spPr>
            <a:xfrm>
              <a:off x="912" y="3369"/>
              <a:ext cx="788" cy="327"/>
            </a:xfrm>
            <a:prstGeom prst="rect">
              <a:avLst/>
            </a:prstGeom>
            <a:noFill/>
            <a:ln w="22225">
              <a:noFill/>
            </a:ln>
          </p:spPr>
          <p:txBody>
            <a:bodyPr wrap="none" anchor="t" anchorCtr="0">
              <a:spAutoFit/>
            </a:bodyPr>
            <a:lstStyle/>
            <a:p>
              <a:r>
                <a:rPr lang="zh-CN" altLang="en-US" sz="2800" dirty="0">
                  <a:latin typeface="Times New Roman" panose="02020603050405020304" pitchFamily="18" charset="0"/>
                  <a:ea typeface="宋体" panose="02010600030101010101" pitchFamily="2" charset="-122"/>
                </a:rPr>
                <a:t>同理：</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58370"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35</a:t>
            </a:fld>
            <a:endParaRPr lang="en-US" altLang="zh-CN" sz="1200" dirty="0"/>
          </a:p>
        </p:txBody>
      </p:sp>
      <p:sp>
        <p:nvSpPr>
          <p:cNvPr id="58371" name="Rectangle 2"/>
          <p:cNvSpPr/>
          <p:nvPr/>
        </p:nvSpPr>
        <p:spPr>
          <a:xfrm>
            <a:off x="1143000" y="1066800"/>
            <a:ext cx="4038600" cy="519113"/>
          </a:xfrm>
          <a:prstGeom prst="rect">
            <a:avLst/>
          </a:prstGeom>
          <a:noFill/>
          <a:ln w="22225">
            <a:noFill/>
          </a:ln>
        </p:spPr>
        <p:txBody>
          <a:bodyPr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单位脉冲函数</a:t>
            </a:r>
            <a:r>
              <a:rPr lang="zh-CN" altLang="en-US" sz="2800"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宋体" panose="02010600030101010101" pitchFamily="2" charset="-122"/>
                <a:ea typeface="宋体" panose="02010600030101010101" pitchFamily="2" charset="-122"/>
              </a:rPr>
              <a:t>(</a:t>
            </a:r>
            <a:r>
              <a:rPr lang="en-US" altLang="zh-CN" sz="2800" i="1" dirty="0">
                <a:latin typeface="宋体" panose="02010600030101010101" pitchFamily="2" charset="-122"/>
                <a:ea typeface="宋体" panose="02010600030101010101" pitchFamily="2" charset="-122"/>
              </a:rPr>
              <a:t>t</a:t>
            </a:r>
            <a:r>
              <a:rPr lang="en-US" altLang="zh-CN" sz="2800" dirty="0">
                <a:latin typeface="宋体" panose="02010600030101010101" pitchFamily="2" charset="-122"/>
                <a:ea typeface="宋体" panose="02010600030101010101" pitchFamily="2" charset="-122"/>
              </a:rPr>
              <a:t>) </a:t>
            </a:r>
          </a:p>
        </p:txBody>
      </p:sp>
      <p:grpSp>
        <p:nvGrpSpPr>
          <p:cNvPr id="2" name="Group 3"/>
          <p:cNvGrpSpPr/>
          <p:nvPr/>
        </p:nvGrpSpPr>
        <p:grpSpPr>
          <a:xfrm>
            <a:off x="5586413" y="1905000"/>
            <a:ext cx="3176587" cy="2743200"/>
            <a:chOff x="3312" y="816"/>
            <a:chExt cx="2001" cy="1728"/>
          </a:xfrm>
        </p:grpSpPr>
        <p:sp>
          <p:nvSpPr>
            <p:cNvPr id="58373" name="Line 4"/>
            <p:cNvSpPr/>
            <p:nvPr/>
          </p:nvSpPr>
          <p:spPr>
            <a:xfrm flipV="1">
              <a:off x="3741" y="905"/>
              <a:ext cx="0" cy="1213"/>
            </a:xfrm>
            <a:prstGeom prst="line">
              <a:avLst/>
            </a:prstGeom>
            <a:ln w="44450" cap="flat" cmpd="sng">
              <a:solidFill>
                <a:schemeClr val="tx1"/>
              </a:solidFill>
              <a:prstDash val="solid"/>
              <a:round/>
              <a:headEnd type="none" w="med" len="med"/>
              <a:tailEnd type="triangle" w="med" len="med"/>
            </a:ln>
          </p:spPr>
        </p:sp>
        <p:sp>
          <p:nvSpPr>
            <p:cNvPr id="58374" name="Line 5"/>
            <p:cNvSpPr/>
            <p:nvPr/>
          </p:nvSpPr>
          <p:spPr>
            <a:xfrm>
              <a:off x="3731" y="2104"/>
              <a:ext cx="1570" cy="0"/>
            </a:xfrm>
            <a:prstGeom prst="line">
              <a:avLst/>
            </a:prstGeom>
            <a:ln w="44450" cap="flat" cmpd="sng">
              <a:solidFill>
                <a:schemeClr val="tx1"/>
              </a:solidFill>
              <a:prstDash val="solid"/>
              <a:round/>
              <a:headEnd type="none" w="med" len="med"/>
              <a:tailEnd type="triangle" w="med" len="med"/>
            </a:ln>
          </p:spPr>
        </p:sp>
        <p:sp>
          <p:nvSpPr>
            <p:cNvPr id="58375" name="Text Box 6"/>
            <p:cNvSpPr txBox="1"/>
            <p:nvPr/>
          </p:nvSpPr>
          <p:spPr>
            <a:xfrm>
              <a:off x="3574" y="2081"/>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58376" name="Text Box 7"/>
            <p:cNvSpPr txBox="1"/>
            <p:nvPr/>
          </p:nvSpPr>
          <p:spPr>
            <a:xfrm>
              <a:off x="5144" y="2122"/>
              <a:ext cx="169" cy="288"/>
            </a:xfrm>
            <a:prstGeom prst="rect">
              <a:avLst/>
            </a:prstGeom>
            <a:noFill/>
            <a:ln w="444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t</a:t>
              </a:r>
              <a:endParaRPr lang="en-US" altLang="zh-CN" sz="2400" b="1" dirty="0">
                <a:latin typeface="Times New Roman" panose="02020603050405020304" pitchFamily="18" charset="0"/>
                <a:ea typeface="宋体" panose="02010600030101010101" pitchFamily="2" charset="-122"/>
              </a:endParaRPr>
            </a:p>
          </p:txBody>
        </p:sp>
        <p:sp>
          <p:nvSpPr>
            <p:cNvPr id="58377" name="Text Box 8"/>
            <p:cNvSpPr txBox="1"/>
            <p:nvPr/>
          </p:nvSpPr>
          <p:spPr>
            <a:xfrm>
              <a:off x="3312" y="816"/>
              <a:ext cx="361" cy="288"/>
            </a:xfrm>
            <a:prstGeom prst="rect">
              <a:avLst/>
            </a:prstGeom>
            <a:noFill/>
            <a:ln w="444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endParaRPr lang="en-US" altLang="zh-CN" sz="2400" b="1" i="1" dirty="0">
                <a:latin typeface="Times New Roman" panose="02020603050405020304" pitchFamily="18" charset="0"/>
                <a:ea typeface="宋体" panose="02010600030101010101" pitchFamily="2" charset="-122"/>
              </a:endParaRPr>
            </a:p>
          </p:txBody>
        </p:sp>
        <p:sp>
          <p:nvSpPr>
            <p:cNvPr id="58378" name="Text Box 9"/>
            <p:cNvSpPr txBox="1"/>
            <p:nvPr/>
          </p:nvSpPr>
          <p:spPr>
            <a:xfrm>
              <a:off x="3820" y="2256"/>
              <a:ext cx="1268" cy="288"/>
            </a:xfrm>
            <a:prstGeom prst="rect">
              <a:avLst/>
            </a:prstGeom>
            <a:noFill/>
            <a:ln w="444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单位脉冲函数</a:t>
              </a:r>
            </a:p>
          </p:txBody>
        </p:sp>
        <p:sp>
          <p:nvSpPr>
            <p:cNvPr id="58379" name="Line 10"/>
            <p:cNvSpPr/>
            <p:nvPr/>
          </p:nvSpPr>
          <p:spPr>
            <a:xfrm>
              <a:off x="3750" y="1247"/>
              <a:ext cx="129" cy="0"/>
            </a:xfrm>
            <a:prstGeom prst="line">
              <a:avLst/>
            </a:prstGeom>
            <a:ln w="31750" cap="flat" cmpd="sng">
              <a:solidFill>
                <a:schemeClr val="tx1"/>
              </a:solidFill>
              <a:prstDash val="solid"/>
              <a:round/>
              <a:headEnd type="none" w="med" len="med"/>
              <a:tailEnd type="none" w="med" len="med"/>
            </a:ln>
          </p:spPr>
        </p:sp>
        <p:sp>
          <p:nvSpPr>
            <p:cNvPr id="58380" name="Line 11"/>
            <p:cNvSpPr/>
            <p:nvPr/>
          </p:nvSpPr>
          <p:spPr>
            <a:xfrm>
              <a:off x="3879" y="1247"/>
              <a:ext cx="0" cy="864"/>
            </a:xfrm>
            <a:prstGeom prst="line">
              <a:avLst/>
            </a:prstGeom>
            <a:ln w="31750" cap="flat" cmpd="sng">
              <a:solidFill>
                <a:schemeClr val="tx1"/>
              </a:solidFill>
              <a:prstDash val="solid"/>
              <a:round/>
              <a:headEnd type="none" w="med" len="med"/>
              <a:tailEnd type="none" w="med" len="med"/>
            </a:ln>
          </p:spPr>
        </p:sp>
        <p:sp>
          <p:nvSpPr>
            <p:cNvPr id="58381" name="Text Box 12"/>
            <p:cNvSpPr txBox="1"/>
            <p:nvPr/>
          </p:nvSpPr>
          <p:spPr>
            <a:xfrm>
              <a:off x="3783" y="2080"/>
              <a:ext cx="200"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58382" name="Text Box 13"/>
            <p:cNvSpPr txBox="1"/>
            <p:nvPr/>
          </p:nvSpPr>
          <p:spPr>
            <a:xfrm>
              <a:off x="3500" y="1068"/>
              <a:ext cx="212" cy="472"/>
            </a:xfrm>
            <a:prstGeom prst="rect">
              <a:avLst/>
            </a:prstGeom>
            <a:noFill/>
            <a:ln w="44450">
              <a:noFill/>
            </a:ln>
          </p:spPr>
          <p:txBody>
            <a:bodyPr wrap="none" anchor="t" anchorCtr="0">
              <a:spAutoFit/>
            </a:bodyPr>
            <a:lstStyle/>
            <a:p>
              <a:pPr>
                <a:lnSpc>
                  <a:spcPct val="90000"/>
                </a:lnSpc>
              </a:pPr>
              <a:r>
                <a:rPr lang="en-US" altLang="zh-CN" sz="2400" dirty="0">
                  <a:latin typeface="Times New Roman" panose="02020603050405020304" pitchFamily="18" charset="0"/>
                  <a:ea typeface="宋体" panose="02010600030101010101" pitchFamily="2" charset="-122"/>
                </a:rPr>
                <a:t>1</a:t>
              </a:r>
            </a:p>
            <a:p>
              <a:pPr>
                <a:lnSpc>
                  <a:spcPct val="90000"/>
                </a:lnSpc>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58383" name="Line 14"/>
            <p:cNvSpPr/>
            <p:nvPr/>
          </p:nvSpPr>
          <p:spPr>
            <a:xfrm flipH="1">
              <a:off x="3522" y="1316"/>
              <a:ext cx="156" cy="0"/>
            </a:xfrm>
            <a:prstGeom prst="line">
              <a:avLst/>
            </a:prstGeom>
            <a:ln w="22225" cap="flat" cmpd="sng">
              <a:solidFill>
                <a:schemeClr val="tx1"/>
              </a:solidFill>
              <a:prstDash val="solid"/>
              <a:miter/>
              <a:headEnd type="none" w="med" len="med"/>
              <a:tailEnd type="none" w="med" len="med"/>
            </a:ln>
          </p:spPr>
        </p:sp>
      </p:grpSp>
      <p:graphicFrame>
        <p:nvGraphicFramePr>
          <p:cNvPr id="72719" name="Object 15"/>
          <p:cNvGraphicFramePr>
            <a:graphicFrameLocks noChangeAspect="1"/>
          </p:cNvGraphicFramePr>
          <p:nvPr/>
        </p:nvGraphicFramePr>
        <p:xfrm>
          <a:off x="1524000" y="1752600"/>
          <a:ext cx="3886200" cy="1295400"/>
        </p:xfrm>
        <a:graphic>
          <a:graphicData uri="http://schemas.openxmlformats.org/presentationml/2006/ole">
            <mc:AlternateContent xmlns:mc="http://schemas.openxmlformats.org/markup-compatibility/2006">
              <mc:Choice xmlns:v="urn:schemas-microsoft-com:vml" Requires="v">
                <p:oleObj spid="_x0000_s23581" r:id="rId4" imgW="2159000" imgH="749300" progId="Equation.3">
                  <p:embed/>
                </p:oleObj>
              </mc:Choice>
              <mc:Fallback>
                <p:oleObj r:id="rId4" imgW="2159000" imgH="749300" progId="Equation.3">
                  <p:embed/>
                  <p:pic>
                    <p:nvPicPr>
                      <p:cNvPr id="0" name="图片 3105"/>
                      <p:cNvPicPr/>
                      <p:nvPr/>
                    </p:nvPicPr>
                    <p:blipFill>
                      <a:blip r:embed="rId5"/>
                      <a:stretch>
                        <a:fillRect/>
                      </a:stretch>
                    </p:blipFill>
                    <p:spPr>
                      <a:xfrm>
                        <a:off x="1524000" y="1752600"/>
                        <a:ext cx="3886200" cy="1295400"/>
                      </a:xfrm>
                      <a:prstGeom prst="rect">
                        <a:avLst/>
                      </a:prstGeom>
                      <a:noFill/>
                      <a:ln w="38100">
                        <a:noFill/>
                        <a:miter/>
                      </a:ln>
                    </p:spPr>
                  </p:pic>
                </p:oleObj>
              </mc:Fallback>
            </mc:AlternateContent>
          </a:graphicData>
        </a:graphic>
      </p:graphicFrame>
      <p:graphicFrame>
        <p:nvGraphicFramePr>
          <p:cNvPr id="72720" name="Object 16"/>
          <p:cNvGraphicFramePr>
            <a:graphicFrameLocks noChangeAspect="1"/>
          </p:cNvGraphicFramePr>
          <p:nvPr/>
        </p:nvGraphicFramePr>
        <p:xfrm>
          <a:off x="1447800" y="3124200"/>
          <a:ext cx="3179763" cy="1706563"/>
        </p:xfrm>
        <a:graphic>
          <a:graphicData uri="http://schemas.openxmlformats.org/presentationml/2006/ole">
            <mc:AlternateContent xmlns:mc="http://schemas.openxmlformats.org/markup-compatibility/2006">
              <mc:Choice xmlns:v="urn:schemas-microsoft-com:vml" Requires="v">
                <p:oleObj spid="_x0000_s23582" r:id="rId6" imgW="1562100" imgH="838200" progId="Equation.3">
                  <p:embed/>
                </p:oleObj>
              </mc:Choice>
              <mc:Fallback>
                <p:oleObj r:id="rId6" imgW="1562100" imgH="838200" progId="Equation.3">
                  <p:embed/>
                  <p:pic>
                    <p:nvPicPr>
                      <p:cNvPr id="0" name="图片 3106"/>
                      <p:cNvPicPr/>
                      <p:nvPr/>
                    </p:nvPicPr>
                    <p:blipFill>
                      <a:blip r:embed="rId7"/>
                      <a:stretch>
                        <a:fillRect/>
                      </a:stretch>
                    </p:blipFill>
                    <p:spPr>
                      <a:xfrm>
                        <a:off x="1447800" y="3124200"/>
                        <a:ext cx="3179763" cy="1706563"/>
                      </a:xfrm>
                      <a:prstGeom prst="rect">
                        <a:avLst/>
                      </a:prstGeom>
                      <a:noFill/>
                      <a:ln w="38100">
                        <a:noFill/>
                        <a:miter/>
                      </a:ln>
                    </p:spPr>
                  </p:pic>
                </p:oleObj>
              </mc:Fallback>
            </mc:AlternateContent>
          </a:graphicData>
        </a:graphic>
      </p:graphicFrame>
      <p:grpSp>
        <p:nvGrpSpPr>
          <p:cNvPr id="3" name="Group 17"/>
          <p:cNvGrpSpPr/>
          <p:nvPr/>
        </p:nvGrpSpPr>
        <p:grpSpPr>
          <a:xfrm>
            <a:off x="1447800" y="4800600"/>
            <a:ext cx="6629400" cy="923925"/>
            <a:chOff x="912" y="3024"/>
            <a:chExt cx="4176" cy="582"/>
          </a:xfrm>
        </p:grpSpPr>
        <p:graphicFrame>
          <p:nvGraphicFramePr>
            <p:cNvPr id="58387" name="Object 18"/>
            <p:cNvGraphicFramePr>
              <a:graphicFrameLocks noChangeAspect="1"/>
            </p:cNvGraphicFramePr>
            <p:nvPr/>
          </p:nvGraphicFramePr>
          <p:xfrm>
            <a:off x="2592" y="3024"/>
            <a:ext cx="2496" cy="582"/>
          </p:xfrm>
          <a:graphic>
            <a:graphicData uri="http://schemas.openxmlformats.org/presentationml/2006/ole">
              <mc:AlternateContent xmlns:mc="http://schemas.openxmlformats.org/markup-compatibility/2006">
                <mc:Choice xmlns:v="urn:schemas-microsoft-com:vml" Requires="v">
                  <p:oleObj spid="_x0000_s23583" r:id="rId8" imgW="2247900" imgH="520700" progId="Equation.3">
                    <p:embed/>
                  </p:oleObj>
                </mc:Choice>
                <mc:Fallback>
                  <p:oleObj r:id="rId8" imgW="2247900" imgH="520700" progId="Equation.3">
                    <p:embed/>
                    <p:pic>
                      <p:nvPicPr>
                        <p:cNvPr id="0" name="图片 3107"/>
                        <p:cNvPicPr/>
                        <p:nvPr/>
                      </p:nvPicPr>
                      <p:blipFill>
                        <a:blip r:embed="rId9"/>
                        <a:stretch>
                          <a:fillRect/>
                        </a:stretch>
                      </p:blipFill>
                      <p:spPr>
                        <a:xfrm>
                          <a:off x="2592" y="3024"/>
                          <a:ext cx="2496" cy="582"/>
                        </a:xfrm>
                        <a:prstGeom prst="rect">
                          <a:avLst/>
                        </a:prstGeom>
                        <a:noFill/>
                        <a:ln w="38100">
                          <a:noFill/>
                          <a:miter/>
                        </a:ln>
                      </p:spPr>
                    </p:pic>
                  </p:oleObj>
                </mc:Fallback>
              </mc:AlternateContent>
            </a:graphicData>
          </a:graphic>
        </p:graphicFrame>
        <p:sp>
          <p:nvSpPr>
            <p:cNvPr id="58388" name="Rectangle 19"/>
            <p:cNvSpPr/>
            <p:nvPr/>
          </p:nvSpPr>
          <p:spPr>
            <a:xfrm>
              <a:off x="912" y="3129"/>
              <a:ext cx="1684" cy="327"/>
            </a:xfrm>
            <a:prstGeom prst="rect">
              <a:avLst/>
            </a:prstGeom>
            <a:noFill/>
            <a:ln w="22225">
              <a:noFill/>
            </a:ln>
          </p:spPr>
          <p:txBody>
            <a:bodyPr wrap="none" anchor="t" anchorCtr="0">
              <a:spAutoFit/>
            </a:bodyPr>
            <a:lstStyle/>
            <a:p>
              <a:r>
                <a:rPr lang="zh-CN" altLang="en-US" sz="2800" dirty="0">
                  <a:latin typeface="Times New Roman" panose="02020603050405020304" pitchFamily="18" charset="0"/>
                  <a:ea typeface="宋体" panose="02010600030101010101" pitchFamily="2" charset="-122"/>
                </a:rPr>
                <a:t>由洛必达法则：</a:t>
              </a:r>
            </a:p>
          </p:txBody>
        </p:sp>
      </p:grpSp>
      <p:grpSp>
        <p:nvGrpSpPr>
          <p:cNvPr id="4" name="Group 20"/>
          <p:cNvGrpSpPr/>
          <p:nvPr/>
        </p:nvGrpSpPr>
        <p:grpSpPr>
          <a:xfrm>
            <a:off x="1447800" y="5726113"/>
            <a:ext cx="4191000" cy="827087"/>
            <a:chOff x="912" y="3607"/>
            <a:chExt cx="2640" cy="521"/>
          </a:xfrm>
        </p:grpSpPr>
        <p:graphicFrame>
          <p:nvGraphicFramePr>
            <p:cNvPr id="58390" name="Object 21"/>
            <p:cNvGraphicFramePr>
              <a:graphicFrameLocks noChangeAspect="1"/>
            </p:cNvGraphicFramePr>
            <p:nvPr/>
          </p:nvGraphicFramePr>
          <p:xfrm>
            <a:off x="1680" y="3607"/>
            <a:ext cx="1872" cy="521"/>
          </p:xfrm>
          <a:graphic>
            <a:graphicData uri="http://schemas.openxmlformats.org/presentationml/2006/ole">
              <mc:AlternateContent xmlns:mc="http://schemas.openxmlformats.org/markup-compatibility/2006">
                <mc:Choice xmlns:v="urn:schemas-microsoft-com:vml" Requires="v">
                  <p:oleObj spid="_x0000_s23584" r:id="rId10" imgW="1676400" imgH="469900" progId="Equation.3">
                    <p:embed/>
                  </p:oleObj>
                </mc:Choice>
                <mc:Fallback>
                  <p:oleObj r:id="rId10" imgW="1676400" imgH="469900" progId="Equation.3">
                    <p:embed/>
                    <p:pic>
                      <p:nvPicPr>
                        <p:cNvPr id="0" name="图片 3108"/>
                        <p:cNvPicPr/>
                        <p:nvPr/>
                      </p:nvPicPr>
                      <p:blipFill>
                        <a:blip r:embed="rId11"/>
                        <a:stretch>
                          <a:fillRect/>
                        </a:stretch>
                      </p:blipFill>
                      <p:spPr>
                        <a:xfrm>
                          <a:off x="1680" y="3607"/>
                          <a:ext cx="1872" cy="521"/>
                        </a:xfrm>
                        <a:prstGeom prst="rect">
                          <a:avLst/>
                        </a:prstGeom>
                        <a:noFill/>
                        <a:ln w="38100">
                          <a:noFill/>
                          <a:miter/>
                        </a:ln>
                      </p:spPr>
                    </p:pic>
                  </p:oleObj>
                </mc:Fallback>
              </mc:AlternateContent>
            </a:graphicData>
          </a:graphic>
        </p:graphicFrame>
        <p:sp>
          <p:nvSpPr>
            <p:cNvPr id="58391" name="Rectangle 22"/>
            <p:cNvSpPr/>
            <p:nvPr/>
          </p:nvSpPr>
          <p:spPr>
            <a:xfrm>
              <a:off x="912" y="3705"/>
              <a:ext cx="788" cy="327"/>
            </a:xfrm>
            <a:prstGeom prst="rect">
              <a:avLst/>
            </a:prstGeom>
            <a:noFill/>
            <a:ln w="22225">
              <a:noFill/>
            </a:ln>
          </p:spPr>
          <p:txBody>
            <a:bodyPr wrap="none" anchor="t" anchorCtr="0">
              <a:spAutoFit/>
            </a:bodyPr>
            <a:lstStyle/>
            <a:p>
              <a:r>
                <a:rPr lang="zh-CN" altLang="en-US" sz="2800" dirty="0">
                  <a:latin typeface="宋体" panose="02010600030101010101" pitchFamily="2" charset="-122"/>
                  <a:ea typeface="宋体" panose="02010600030101010101" pitchFamily="2" charset="-122"/>
                </a:rPr>
                <a:t>所以：</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719"/>
                                        </p:tgtEl>
                                        <p:attrNameLst>
                                          <p:attrName>style.visibility</p:attrName>
                                        </p:attrNameLst>
                                      </p:cBhvr>
                                      <p:to>
                                        <p:strVal val="visible"/>
                                      </p:to>
                                    </p:set>
                                    <p:anim calcmode="lin" valueType="num">
                                      <p:cBhvr additive="base">
                                        <p:cTn id="13" dur="500" fill="hold"/>
                                        <p:tgtEl>
                                          <p:spTgt spid="72719"/>
                                        </p:tgtEl>
                                        <p:attrNameLst>
                                          <p:attrName>ppt_x</p:attrName>
                                        </p:attrNameLst>
                                      </p:cBhvr>
                                      <p:tavLst>
                                        <p:tav tm="0">
                                          <p:val>
                                            <p:strVal val="#ppt_x"/>
                                          </p:val>
                                        </p:tav>
                                        <p:tav tm="100000">
                                          <p:val>
                                            <p:strVal val="#ppt_x"/>
                                          </p:val>
                                        </p:tav>
                                      </p:tavLst>
                                    </p:anim>
                                    <p:anim calcmode="lin" valueType="num">
                                      <p:cBhvr additive="base">
                                        <p:cTn id="14" dur="500" fill="hold"/>
                                        <p:tgtEl>
                                          <p:spTgt spid="727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2720"/>
                                        </p:tgtEl>
                                        <p:attrNameLst>
                                          <p:attrName>style.visibility</p:attrName>
                                        </p:attrNameLst>
                                      </p:cBhvr>
                                      <p:to>
                                        <p:strVal val="visible"/>
                                      </p:to>
                                    </p:set>
                                    <p:anim calcmode="lin" valueType="num">
                                      <p:cBhvr additive="base">
                                        <p:cTn id="19" dur="500" fill="hold"/>
                                        <p:tgtEl>
                                          <p:spTgt spid="72720"/>
                                        </p:tgtEl>
                                        <p:attrNameLst>
                                          <p:attrName>ppt_x</p:attrName>
                                        </p:attrNameLst>
                                      </p:cBhvr>
                                      <p:tavLst>
                                        <p:tav tm="0">
                                          <p:val>
                                            <p:strVal val="#ppt_x"/>
                                          </p:val>
                                        </p:tav>
                                        <p:tav tm="100000">
                                          <p:val>
                                            <p:strVal val="#ppt_x"/>
                                          </p:val>
                                        </p:tav>
                                      </p:tavLst>
                                    </p:anim>
                                    <p:anim calcmode="lin" valueType="num">
                                      <p:cBhvr additive="base">
                                        <p:cTn id="20" dur="500" fill="hold"/>
                                        <p:tgtEl>
                                          <p:spTgt spid="727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6041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36</a:t>
            </a:fld>
            <a:endParaRPr lang="en-US" altLang="zh-CN" sz="1200" dirty="0"/>
          </a:p>
        </p:txBody>
      </p:sp>
      <p:sp>
        <p:nvSpPr>
          <p:cNvPr id="60419" name="Rectangle 2"/>
          <p:cNvSpPr/>
          <p:nvPr/>
        </p:nvSpPr>
        <p:spPr>
          <a:xfrm>
            <a:off x="1187450" y="1052513"/>
            <a:ext cx="5029200" cy="519112"/>
          </a:xfrm>
          <a:prstGeom prst="rect">
            <a:avLst/>
          </a:prstGeom>
          <a:noFill/>
          <a:ln w="22225">
            <a:noFill/>
          </a:ln>
        </p:spPr>
        <p:txBody>
          <a:bodyPr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单位速度函数（斜坡函数） </a:t>
            </a:r>
          </a:p>
        </p:txBody>
      </p:sp>
      <p:grpSp>
        <p:nvGrpSpPr>
          <p:cNvPr id="2" name="Group 3"/>
          <p:cNvGrpSpPr/>
          <p:nvPr/>
        </p:nvGrpSpPr>
        <p:grpSpPr>
          <a:xfrm>
            <a:off x="5410200" y="1905000"/>
            <a:ext cx="3276600" cy="3429000"/>
            <a:chOff x="2928" y="1008"/>
            <a:chExt cx="2064" cy="2160"/>
          </a:xfrm>
        </p:grpSpPr>
        <p:sp>
          <p:nvSpPr>
            <p:cNvPr id="60421" name="Line 4"/>
            <p:cNvSpPr/>
            <p:nvPr/>
          </p:nvSpPr>
          <p:spPr>
            <a:xfrm flipV="1">
              <a:off x="3318" y="1056"/>
              <a:ext cx="0" cy="1584"/>
            </a:xfrm>
            <a:prstGeom prst="line">
              <a:avLst/>
            </a:prstGeom>
            <a:ln w="44450" cap="flat" cmpd="sng">
              <a:solidFill>
                <a:schemeClr val="tx1"/>
              </a:solidFill>
              <a:prstDash val="solid"/>
              <a:round/>
              <a:headEnd type="none" w="med" len="med"/>
              <a:tailEnd type="triangle" w="med" len="med"/>
            </a:ln>
          </p:spPr>
        </p:sp>
        <p:sp>
          <p:nvSpPr>
            <p:cNvPr id="60422" name="Line 5"/>
            <p:cNvSpPr/>
            <p:nvPr/>
          </p:nvSpPr>
          <p:spPr>
            <a:xfrm>
              <a:off x="3317" y="2640"/>
              <a:ext cx="1675" cy="0"/>
            </a:xfrm>
            <a:prstGeom prst="line">
              <a:avLst/>
            </a:prstGeom>
            <a:ln w="44450" cap="flat" cmpd="sng">
              <a:solidFill>
                <a:schemeClr val="tx1"/>
              </a:solidFill>
              <a:prstDash val="solid"/>
              <a:round/>
              <a:headEnd type="none" w="med" len="med"/>
              <a:tailEnd type="triangle" w="med" len="med"/>
            </a:ln>
          </p:spPr>
        </p:sp>
        <p:sp>
          <p:nvSpPr>
            <p:cNvPr id="60423" name="Text Box 6"/>
            <p:cNvSpPr txBox="1"/>
            <p:nvPr/>
          </p:nvSpPr>
          <p:spPr>
            <a:xfrm>
              <a:off x="3072" y="1584"/>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1</a:t>
              </a:r>
            </a:p>
          </p:txBody>
        </p:sp>
        <p:sp>
          <p:nvSpPr>
            <p:cNvPr id="60424" name="Text Box 7"/>
            <p:cNvSpPr txBox="1"/>
            <p:nvPr/>
          </p:nvSpPr>
          <p:spPr>
            <a:xfrm>
              <a:off x="3091" y="2640"/>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60425" name="Text Box 8"/>
            <p:cNvSpPr txBox="1"/>
            <p:nvPr/>
          </p:nvSpPr>
          <p:spPr>
            <a:xfrm>
              <a:off x="4823" y="2677"/>
              <a:ext cx="169" cy="288"/>
            </a:xfrm>
            <a:prstGeom prst="rect">
              <a:avLst/>
            </a:prstGeom>
            <a:noFill/>
            <a:ln w="444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t</a:t>
              </a:r>
              <a:endParaRPr lang="en-US" altLang="zh-CN" sz="2400" b="1" dirty="0">
                <a:latin typeface="Times New Roman" panose="02020603050405020304" pitchFamily="18" charset="0"/>
                <a:ea typeface="宋体" panose="02010600030101010101" pitchFamily="2" charset="-122"/>
              </a:endParaRPr>
            </a:p>
          </p:txBody>
        </p:sp>
        <p:sp>
          <p:nvSpPr>
            <p:cNvPr id="60426" name="Text Box 9"/>
            <p:cNvSpPr txBox="1"/>
            <p:nvPr/>
          </p:nvSpPr>
          <p:spPr>
            <a:xfrm>
              <a:off x="2928" y="1008"/>
              <a:ext cx="361" cy="288"/>
            </a:xfrm>
            <a:prstGeom prst="rect">
              <a:avLst/>
            </a:prstGeom>
            <a:noFill/>
            <a:ln w="44450">
              <a:noFill/>
            </a:ln>
          </p:spPr>
          <p:txBody>
            <a:bodyPr wrap="none" anchor="t" anchorCtr="0">
              <a:spAutoFit/>
            </a:bodyPr>
            <a:lstStyle/>
            <a:p>
              <a:r>
                <a:rPr lang="en-US" altLang="zh-CN" sz="2400" b="1" i="1" dirty="0">
                  <a:latin typeface="Times New Roman" panose="02020603050405020304" pitchFamily="18" charset="0"/>
                  <a:ea typeface="宋体" panose="02010600030101010101" pitchFamily="2" charset="-122"/>
                </a:rPr>
                <a:t>f</a:t>
              </a:r>
              <a:r>
                <a:rPr lang="en-US" altLang="zh-CN"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a:t>
              </a:r>
              <a:endParaRPr lang="en-US" altLang="zh-CN" sz="2400" b="1" i="1" dirty="0">
                <a:latin typeface="Times New Roman" panose="02020603050405020304" pitchFamily="18" charset="0"/>
                <a:ea typeface="宋体" panose="02010600030101010101" pitchFamily="2" charset="-122"/>
              </a:endParaRPr>
            </a:p>
          </p:txBody>
        </p:sp>
        <p:sp>
          <p:nvSpPr>
            <p:cNvPr id="60427" name="Text Box 10"/>
            <p:cNvSpPr txBox="1"/>
            <p:nvPr/>
          </p:nvSpPr>
          <p:spPr>
            <a:xfrm>
              <a:off x="3436" y="2880"/>
              <a:ext cx="1268" cy="288"/>
            </a:xfrm>
            <a:prstGeom prst="rect">
              <a:avLst/>
            </a:prstGeom>
            <a:noFill/>
            <a:ln w="444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单位速度函数</a:t>
              </a:r>
            </a:p>
          </p:txBody>
        </p:sp>
        <p:sp>
          <p:nvSpPr>
            <p:cNvPr id="60428" name="Line 11"/>
            <p:cNvSpPr/>
            <p:nvPr/>
          </p:nvSpPr>
          <p:spPr>
            <a:xfrm flipV="1">
              <a:off x="3318" y="1320"/>
              <a:ext cx="1311" cy="1320"/>
            </a:xfrm>
            <a:prstGeom prst="line">
              <a:avLst/>
            </a:prstGeom>
            <a:ln w="44450" cap="flat" cmpd="sng">
              <a:solidFill>
                <a:schemeClr val="tx1"/>
              </a:solidFill>
              <a:prstDash val="solid"/>
              <a:round/>
              <a:headEnd type="none" w="med" len="med"/>
              <a:tailEnd type="none" w="med" len="med"/>
            </a:ln>
          </p:spPr>
        </p:sp>
        <p:sp>
          <p:nvSpPr>
            <p:cNvPr id="60429" name="Line 12"/>
            <p:cNvSpPr/>
            <p:nvPr/>
          </p:nvSpPr>
          <p:spPr>
            <a:xfrm>
              <a:off x="3318" y="1704"/>
              <a:ext cx="929" cy="0"/>
            </a:xfrm>
            <a:prstGeom prst="line">
              <a:avLst/>
            </a:prstGeom>
            <a:ln w="25400" cap="flat" cmpd="sng">
              <a:solidFill>
                <a:schemeClr val="tx1"/>
              </a:solidFill>
              <a:prstDash val="lgDash"/>
              <a:round/>
              <a:headEnd type="none" w="med" len="med"/>
              <a:tailEnd type="none" w="med" len="med"/>
            </a:ln>
          </p:spPr>
        </p:sp>
        <p:sp>
          <p:nvSpPr>
            <p:cNvPr id="60430" name="Line 13"/>
            <p:cNvSpPr/>
            <p:nvPr/>
          </p:nvSpPr>
          <p:spPr>
            <a:xfrm>
              <a:off x="4247" y="1704"/>
              <a:ext cx="0" cy="936"/>
            </a:xfrm>
            <a:prstGeom prst="line">
              <a:avLst/>
            </a:prstGeom>
            <a:ln w="25400" cap="flat" cmpd="sng">
              <a:solidFill>
                <a:schemeClr val="tx1"/>
              </a:solidFill>
              <a:prstDash val="lgDash"/>
              <a:round/>
              <a:headEnd type="none" w="med" len="med"/>
              <a:tailEnd type="none" w="med" len="med"/>
            </a:ln>
          </p:spPr>
        </p:sp>
        <p:sp>
          <p:nvSpPr>
            <p:cNvPr id="60431" name="Text Box 14"/>
            <p:cNvSpPr txBox="1"/>
            <p:nvPr/>
          </p:nvSpPr>
          <p:spPr>
            <a:xfrm>
              <a:off x="4128" y="2640"/>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1</a:t>
              </a:r>
            </a:p>
          </p:txBody>
        </p:sp>
      </p:grpSp>
      <p:graphicFrame>
        <p:nvGraphicFramePr>
          <p:cNvPr id="71695" name="Object 15"/>
          <p:cNvGraphicFramePr>
            <a:graphicFrameLocks noChangeAspect="1"/>
          </p:cNvGraphicFramePr>
          <p:nvPr/>
        </p:nvGraphicFramePr>
        <p:xfrm>
          <a:off x="1676400" y="1917700"/>
          <a:ext cx="2743200" cy="1206500"/>
        </p:xfrm>
        <a:graphic>
          <a:graphicData uri="http://schemas.openxmlformats.org/presentationml/2006/ole">
            <mc:AlternateContent xmlns:mc="http://schemas.openxmlformats.org/markup-compatibility/2006">
              <mc:Choice xmlns:v="urn:schemas-microsoft-com:vml" Requires="v">
                <p:oleObj spid="_x0000_s24591" r:id="rId4" imgW="1193800" imgH="520700" progId="Equation.3">
                  <p:embed/>
                </p:oleObj>
              </mc:Choice>
              <mc:Fallback>
                <p:oleObj r:id="rId4" imgW="1193800" imgH="520700" progId="Equation.3">
                  <p:embed/>
                  <p:pic>
                    <p:nvPicPr>
                      <p:cNvPr id="0" name="图片 3109"/>
                      <p:cNvPicPr/>
                      <p:nvPr/>
                    </p:nvPicPr>
                    <p:blipFill>
                      <a:blip r:embed="rId5"/>
                      <a:stretch>
                        <a:fillRect/>
                      </a:stretch>
                    </p:blipFill>
                    <p:spPr>
                      <a:xfrm>
                        <a:off x="1676400" y="1917700"/>
                        <a:ext cx="2743200" cy="1206500"/>
                      </a:xfrm>
                      <a:prstGeom prst="rect">
                        <a:avLst/>
                      </a:prstGeom>
                      <a:noFill/>
                      <a:ln w="38100">
                        <a:noFill/>
                        <a:miter/>
                      </a:ln>
                    </p:spPr>
                  </p:pic>
                </p:oleObj>
              </mc:Fallback>
            </mc:AlternateContent>
          </a:graphicData>
        </a:graphic>
      </p:graphicFrame>
      <p:graphicFrame>
        <p:nvGraphicFramePr>
          <p:cNvPr id="71696" name="Object 16"/>
          <p:cNvGraphicFramePr>
            <a:graphicFrameLocks noChangeAspect="1"/>
          </p:cNvGraphicFramePr>
          <p:nvPr/>
        </p:nvGraphicFramePr>
        <p:xfrm>
          <a:off x="1666875" y="3357563"/>
          <a:ext cx="3559175" cy="2667000"/>
        </p:xfrm>
        <a:graphic>
          <a:graphicData uri="http://schemas.openxmlformats.org/presentationml/2006/ole">
            <mc:AlternateContent xmlns:mc="http://schemas.openxmlformats.org/markup-compatibility/2006">
              <mc:Choice xmlns:v="urn:schemas-microsoft-com:vml" Requires="v">
                <p:oleObj spid="_x0000_s24592" r:id="rId6" imgW="1701800" imgH="1270000" progId="Equation.3">
                  <p:embed/>
                </p:oleObj>
              </mc:Choice>
              <mc:Fallback>
                <p:oleObj r:id="rId6" imgW="1701800" imgH="1270000" progId="Equation.3">
                  <p:embed/>
                  <p:pic>
                    <p:nvPicPr>
                      <p:cNvPr id="0" name="图片 3110"/>
                      <p:cNvPicPr/>
                      <p:nvPr/>
                    </p:nvPicPr>
                    <p:blipFill>
                      <a:blip r:embed="rId7"/>
                      <a:stretch>
                        <a:fillRect/>
                      </a:stretch>
                    </p:blipFill>
                    <p:spPr>
                      <a:xfrm>
                        <a:off x="1666875" y="3357563"/>
                        <a:ext cx="3559175" cy="2667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95"/>
                                        </p:tgtEl>
                                        <p:attrNameLst>
                                          <p:attrName>style.visibility</p:attrName>
                                        </p:attrNameLst>
                                      </p:cBhvr>
                                      <p:to>
                                        <p:strVal val="visible"/>
                                      </p:to>
                                    </p:set>
                                    <p:anim calcmode="lin" valueType="num">
                                      <p:cBhvr additive="base">
                                        <p:cTn id="7" dur="500" fill="hold"/>
                                        <p:tgtEl>
                                          <p:spTgt spid="71695"/>
                                        </p:tgtEl>
                                        <p:attrNameLst>
                                          <p:attrName>ppt_x</p:attrName>
                                        </p:attrNameLst>
                                      </p:cBhvr>
                                      <p:tavLst>
                                        <p:tav tm="0">
                                          <p:val>
                                            <p:strVal val="#ppt_x"/>
                                          </p:val>
                                        </p:tav>
                                        <p:tav tm="100000">
                                          <p:val>
                                            <p:strVal val="#ppt_x"/>
                                          </p:val>
                                        </p:tav>
                                      </p:tavLst>
                                    </p:anim>
                                    <p:anim calcmode="lin" valueType="num">
                                      <p:cBhvr additive="base">
                                        <p:cTn id="8" dur="500" fill="hold"/>
                                        <p:tgtEl>
                                          <p:spTgt spid="716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Par">
                                  <p:stCondLst>
                                    <p:cond delay="0"/>
                                  </p:stCondLst>
                                  <p:childTnLst>
                                    <p:set>
                                      <p:cBhvr>
                                        <p:cTn id="18" dur="500" fill="hold">
                                          <p:stCondLst>
                                            <p:cond delay="0"/>
                                          </p:stCondLst>
                                        </p:cTn>
                                        <p:tgtEl>
                                          <p:spTgt spid="71696"/>
                                        </p:tgtEl>
                                        <p:attrNameLst>
                                          <p:attrName>style.visibility</p:attrName>
                                        </p:attrNameLst>
                                      </p:cBhvr>
                                      <p:to>
                                        <p:strVal val="visible"/>
                                      </p:to>
                                    </p:set>
                                    <p:anim calcmode="lin" valueType="num">
                                      <p:cBhvr additive="base">
                                        <p:cTn id="19" dur="500" fill="hold"/>
                                        <p:tgtEl>
                                          <p:spTgt spid="71696"/>
                                        </p:tgtEl>
                                        <p:attrNameLst>
                                          <p:attrName>ppt_x</p:attrName>
                                        </p:attrNameLst>
                                      </p:cBhvr>
                                      <p:tavLst>
                                        <p:tav tm="0">
                                          <p:val>
                                            <p:strVal val="#ppt_x"/>
                                          </p:val>
                                        </p:tav>
                                        <p:tav tm="100000">
                                          <p:val>
                                            <p:strVal val="#ppt_x"/>
                                          </p:val>
                                        </p:tav>
                                      </p:tavLst>
                                    </p:anim>
                                    <p:anim calcmode="lin" valueType="num">
                                      <p:cBhvr additive="base">
                                        <p:cTn id="20" dur="500" fill="hold"/>
                                        <p:tgtEl>
                                          <p:spTgt spid="716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62466"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37</a:t>
            </a:fld>
            <a:endParaRPr lang="en-US" altLang="zh-CN" sz="1200" dirty="0"/>
          </a:p>
        </p:txBody>
      </p:sp>
      <p:sp>
        <p:nvSpPr>
          <p:cNvPr id="62467" name="Rectangle 2"/>
          <p:cNvSpPr/>
          <p:nvPr/>
        </p:nvSpPr>
        <p:spPr>
          <a:xfrm>
            <a:off x="1187450" y="1125538"/>
            <a:ext cx="5029200" cy="519112"/>
          </a:xfrm>
          <a:prstGeom prst="rect">
            <a:avLst/>
          </a:prstGeom>
          <a:noFill/>
          <a:ln w="22225">
            <a:noFill/>
          </a:ln>
        </p:spPr>
        <p:txBody>
          <a:bodyPr anchor="t" anchorCtr="0">
            <a:spAutoFit/>
          </a:bodyPr>
          <a:lstStyle/>
          <a:p>
            <a:pPr>
              <a:buFont typeface="Wingdings" panose="05000000000000000000" pitchFamily="2" charset="2"/>
              <a:buChar char="q"/>
            </a:pPr>
            <a:r>
              <a:rPr lang="en-US" altLang="zh-CN" sz="2800" dirty="0">
                <a:latin typeface="Times New Roman" panose="02020603050405020304" pitchFamily="18" charset="0"/>
                <a:ea typeface="宋体" panose="02010600030101010101" pitchFamily="2" charset="-122"/>
              </a:rPr>
              <a:t> </a:t>
            </a:r>
            <a:r>
              <a:rPr lang="zh-CN" altLang="en-US" sz="2800" dirty="0">
                <a:latin typeface="宋体" panose="02010600030101010101" pitchFamily="2" charset="-122"/>
                <a:ea typeface="宋体" panose="02010600030101010101" pitchFamily="2" charset="-122"/>
              </a:rPr>
              <a:t>单位加速度函数</a:t>
            </a:r>
          </a:p>
        </p:txBody>
      </p:sp>
      <p:graphicFrame>
        <p:nvGraphicFramePr>
          <p:cNvPr id="70659" name="Object 3"/>
          <p:cNvGraphicFramePr>
            <a:graphicFrameLocks noChangeAspect="1"/>
          </p:cNvGraphicFramePr>
          <p:nvPr/>
        </p:nvGraphicFramePr>
        <p:xfrm>
          <a:off x="1676400" y="1828800"/>
          <a:ext cx="2743200" cy="1474788"/>
        </p:xfrm>
        <a:graphic>
          <a:graphicData uri="http://schemas.openxmlformats.org/presentationml/2006/ole">
            <mc:AlternateContent xmlns:mc="http://schemas.openxmlformats.org/markup-compatibility/2006">
              <mc:Choice xmlns:v="urn:schemas-microsoft-com:vml" Requires="v">
                <p:oleObj spid="_x0000_s25615" r:id="rId4" imgW="1397000" imgH="749300" progId="Equation.3">
                  <p:embed/>
                </p:oleObj>
              </mc:Choice>
              <mc:Fallback>
                <p:oleObj r:id="rId4" imgW="1397000" imgH="749300" progId="Equation.3">
                  <p:embed/>
                  <p:pic>
                    <p:nvPicPr>
                      <p:cNvPr id="0" name="图片 3111"/>
                      <p:cNvPicPr/>
                      <p:nvPr/>
                    </p:nvPicPr>
                    <p:blipFill>
                      <a:blip r:embed="rId5"/>
                      <a:stretch>
                        <a:fillRect/>
                      </a:stretch>
                    </p:blipFill>
                    <p:spPr>
                      <a:xfrm>
                        <a:off x="1676400" y="1828800"/>
                        <a:ext cx="2743200" cy="1474788"/>
                      </a:xfrm>
                      <a:prstGeom prst="rect">
                        <a:avLst/>
                      </a:prstGeom>
                      <a:noFill/>
                      <a:ln w="38100">
                        <a:noFill/>
                        <a:miter/>
                      </a:ln>
                    </p:spPr>
                  </p:pic>
                </p:oleObj>
              </mc:Fallback>
            </mc:AlternateContent>
          </a:graphicData>
        </a:graphic>
      </p:graphicFrame>
      <p:graphicFrame>
        <p:nvGraphicFramePr>
          <p:cNvPr id="70660" name="Object 4"/>
          <p:cNvGraphicFramePr>
            <a:graphicFrameLocks noChangeAspect="1"/>
          </p:cNvGraphicFramePr>
          <p:nvPr/>
        </p:nvGraphicFramePr>
        <p:xfrm>
          <a:off x="2141538" y="3359150"/>
          <a:ext cx="2994025" cy="1822450"/>
        </p:xfrm>
        <a:graphic>
          <a:graphicData uri="http://schemas.openxmlformats.org/presentationml/2006/ole">
            <mc:AlternateContent xmlns:mc="http://schemas.openxmlformats.org/markup-compatibility/2006">
              <mc:Choice xmlns:v="urn:schemas-microsoft-com:vml" Requires="v">
                <p:oleObj spid="_x0000_s25616" r:id="rId6" imgW="1346200" imgH="812800" progId="Equation.3">
                  <p:embed/>
                </p:oleObj>
              </mc:Choice>
              <mc:Fallback>
                <p:oleObj r:id="rId6" imgW="1346200" imgH="812800" progId="Equation.3">
                  <p:embed/>
                  <p:pic>
                    <p:nvPicPr>
                      <p:cNvPr id="0" name="图片 3112"/>
                      <p:cNvPicPr/>
                      <p:nvPr/>
                    </p:nvPicPr>
                    <p:blipFill>
                      <a:blip r:embed="rId7"/>
                      <a:stretch>
                        <a:fillRect/>
                      </a:stretch>
                    </p:blipFill>
                    <p:spPr>
                      <a:xfrm>
                        <a:off x="2141538" y="3359150"/>
                        <a:ext cx="2994025" cy="1822450"/>
                      </a:xfrm>
                      <a:prstGeom prst="rect">
                        <a:avLst/>
                      </a:prstGeom>
                      <a:noFill/>
                      <a:ln w="38100">
                        <a:noFill/>
                        <a:miter/>
                      </a:ln>
                    </p:spPr>
                  </p:pic>
                </p:oleObj>
              </mc:Fallback>
            </mc:AlternateContent>
          </a:graphicData>
        </a:graphic>
      </p:graphicFrame>
      <p:grpSp>
        <p:nvGrpSpPr>
          <p:cNvPr id="2" name="Group 5"/>
          <p:cNvGrpSpPr/>
          <p:nvPr/>
        </p:nvGrpSpPr>
        <p:grpSpPr>
          <a:xfrm>
            <a:off x="5638800" y="1981200"/>
            <a:ext cx="2998788" cy="3200400"/>
            <a:chOff x="3264" y="1248"/>
            <a:chExt cx="1889" cy="2016"/>
          </a:xfrm>
        </p:grpSpPr>
        <p:sp>
          <p:nvSpPr>
            <p:cNvPr id="62471" name="Text Box 6"/>
            <p:cNvSpPr txBox="1"/>
            <p:nvPr/>
          </p:nvSpPr>
          <p:spPr>
            <a:xfrm>
              <a:off x="3628" y="2976"/>
              <a:ext cx="1460" cy="288"/>
            </a:xfrm>
            <a:prstGeom prst="rect">
              <a:avLst/>
            </a:prstGeom>
            <a:noFill/>
            <a:ln w="44450">
              <a:noFill/>
            </a:ln>
          </p:spPr>
          <p:txBody>
            <a:bodyPr wrap="none" anchor="t" anchorCtr="0">
              <a:spAutoFit/>
            </a:bodyPr>
            <a:lstStyle/>
            <a:p>
              <a:r>
                <a:rPr lang="zh-CN" altLang="en-US" sz="2400" dirty="0">
                  <a:latin typeface="Times New Roman" panose="02020603050405020304" pitchFamily="18" charset="0"/>
                  <a:ea typeface="宋体" panose="02010600030101010101" pitchFamily="2" charset="-122"/>
                </a:rPr>
                <a:t>单位加速度函数</a:t>
              </a:r>
            </a:p>
          </p:txBody>
        </p:sp>
        <p:sp>
          <p:nvSpPr>
            <p:cNvPr id="62472" name="Line 7"/>
            <p:cNvSpPr/>
            <p:nvPr/>
          </p:nvSpPr>
          <p:spPr>
            <a:xfrm flipV="1">
              <a:off x="3645" y="2795"/>
              <a:ext cx="1508" cy="0"/>
            </a:xfrm>
            <a:prstGeom prst="line">
              <a:avLst/>
            </a:prstGeom>
            <a:ln w="44450" cap="flat" cmpd="sng">
              <a:solidFill>
                <a:schemeClr val="tx1"/>
              </a:solidFill>
              <a:prstDash val="solid"/>
              <a:round/>
              <a:headEnd type="none" w="med" len="med"/>
              <a:tailEnd type="triangle" w="med" len="med"/>
            </a:ln>
          </p:spPr>
        </p:sp>
        <p:sp>
          <p:nvSpPr>
            <p:cNvPr id="62473" name="Line 8"/>
            <p:cNvSpPr/>
            <p:nvPr/>
          </p:nvSpPr>
          <p:spPr>
            <a:xfrm flipV="1">
              <a:off x="3645" y="1296"/>
              <a:ext cx="0" cy="1499"/>
            </a:xfrm>
            <a:prstGeom prst="line">
              <a:avLst/>
            </a:prstGeom>
            <a:ln w="44450" cap="flat" cmpd="sng">
              <a:solidFill>
                <a:schemeClr val="tx1"/>
              </a:solidFill>
              <a:prstDash val="solid"/>
              <a:round/>
              <a:headEnd type="none" w="med" len="med"/>
              <a:tailEnd type="triangle" w="med" len="med"/>
            </a:ln>
          </p:spPr>
        </p:sp>
        <p:sp>
          <p:nvSpPr>
            <p:cNvPr id="62474" name="Text Box 9"/>
            <p:cNvSpPr txBox="1"/>
            <p:nvPr/>
          </p:nvSpPr>
          <p:spPr>
            <a:xfrm>
              <a:off x="3559" y="2762"/>
              <a:ext cx="212" cy="288"/>
            </a:xfrm>
            <a:prstGeom prst="rect">
              <a:avLst/>
            </a:prstGeom>
            <a:noFill/>
            <a:ln w="44450">
              <a:noFill/>
            </a:ln>
          </p:spPr>
          <p:txBody>
            <a:bodyPr wrap="none" anchor="t" anchorCtr="0">
              <a:spAutoFit/>
            </a:bodyPr>
            <a:lstStyle/>
            <a:p>
              <a:r>
                <a:rPr lang="en-US" altLang="zh-CN" sz="2400" dirty="0">
                  <a:latin typeface="Times New Roman" panose="02020603050405020304" pitchFamily="18" charset="0"/>
                  <a:ea typeface="宋体" panose="02010600030101010101" pitchFamily="2" charset="-122"/>
                </a:rPr>
                <a:t>0</a:t>
              </a:r>
            </a:p>
          </p:txBody>
        </p:sp>
        <p:sp>
          <p:nvSpPr>
            <p:cNvPr id="62475" name="Text Box 10"/>
            <p:cNvSpPr txBox="1"/>
            <p:nvPr/>
          </p:nvSpPr>
          <p:spPr>
            <a:xfrm>
              <a:off x="4944" y="2784"/>
              <a:ext cx="169"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t</a:t>
              </a:r>
            </a:p>
          </p:txBody>
        </p:sp>
        <p:sp>
          <p:nvSpPr>
            <p:cNvPr id="62476" name="Text Box 11"/>
            <p:cNvSpPr txBox="1"/>
            <p:nvPr/>
          </p:nvSpPr>
          <p:spPr>
            <a:xfrm>
              <a:off x="3264" y="1248"/>
              <a:ext cx="350" cy="288"/>
            </a:xfrm>
            <a:prstGeom prst="rect">
              <a:avLst/>
            </a:prstGeom>
            <a:noFill/>
            <a:ln w="44450">
              <a:noFill/>
            </a:ln>
          </p:spPr>
          <p:txBody>
            <a:bodyPr wrap="none" anchor="t" anchorCtr="0">
              <a:spAutoFit/>
            </a:bodyPr>
            <a:lstStyle/>
            <a:p>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t</a:t>
              </a:r>
              <a:r>
                <a:rPr lang="en-US" altLang="zh-CN" sz="2400" dirty="0">
                  <a:latin typeface="Times New Roman" panose="02020603050405020304" pitchFamily="18" charset="0"/>
                  <a:ea typeface="宋体" panose="02010600030101010101" pitchFamily="2" charset="-122"/>
                </a:rPr>
                <a:t>)</a:t>
              </a:r>
            </a:p>
          </p:txBody>
        </p:sp>
        <p:sp>
          <p:nvSpPr>
            <p:cNvPr id="62477" name="Freeform 12"/>
            <p:cNvSpPr/>
            <p:nvPr/>
          </p:nvSpPr>
          <p:spPr>
            <a:xfrm>
              <a:off x="3640" y="1660"/>
              <a:ext cx="726" cy="1135"/>
            </a:xfrm>
            <a:custGeom>
              <a:avLst/>
              <a:gdLst/>
              <a:ahLst/>
              <a:cxnLst>
                <a:cxn ang="0">
                  <a:pos x="0" y="1135"/>
                </a:cxn>
                <a:cxn ang="0">
                  <a:pos x="292" y="935"/>
                </a:cxn>
                <a:cxn ang="0">
                  <a:pos x="726" y="0"/>
                </a:cxn>
              </a:cxnLst>
              <a:rect l="0" t="0" r="0" b="0"/>
              <a:pathLst>
                <a:path w="3936" h="1632">
                  <a:moveTo>
                    <a:pt x="0" y="1632"/>
                  </a:moveTo>
                  <a:cubicBezTo>
                    <a:pt x="464" y="1624"/>
                    <a:pt x="928" y="1616"/>
                    <a:pt x="1584" y="1344"/>
                  </a:cubicBezTo>
                  <a:cubicBezTo>
                    <a:pt x="2240" y="1072"/>
                    <a:pt x="3088" y="536"/>
                    <a:pt x="3936" y="0"/>
                  </a:cubicBezTo>
                </a:path>
              </a:pathLst>
            </a:custGeom>
            <a:noFill/>
            <a:ln w="44450" cap="flat" cmpd="sng">
              <a:solidFill>
                <a:schemeClr val="tx1"/>
              </a:solidFill>
              <a:prstDash val="solid"/>
              <a:round/>
              <a:headEnd type="none" w="med" len="med"/>
              <a:tailEnd type="none" w="med" len="med"/>
            </a:ln>
          </p:spPr>
          <p:txBody>
            <a:bodyPr/>
            <a:lstStyle/>
            <a:p>
              <a:endParaRPr lang="zh-CN" altLang="en-US"/>
            </a:p>
          </p:txBody>
        </p:sp>
      </p:grpSp>
      <p:sp>
        <p:nvSpPr>
          <p:cNvPr id="70669" name="Rectangle 13"/>
          <p:cNvSpPr/>
          <p:nvPr/>
        </p:nvSpPr>
        <p:spPr>
          <a:xfrm>
            <a:off x="539750" y="5229225"/>
            <a:ext cx="7975600" cy="1127125"/>
          </a:xfrm>
          <a:prstGeom prst="rect">
            <a:avLst/>
          </a:prstGeom>
          <a:noFill/>
          <a:ln w="22225">
            <a:noFill/>
          </a:ln>
        </p:spPr>
        <p:txBody>
          <a:bodyPr anchor="t" anchorCtr="0">
            <a:spAutoFit/>
          </a:bodyPr>
          <a:lstStyle/>
          <a:p>
            <a:pPr>
              <a:lnSpc>
                <a:spcPct val="120000"/>
              </a:lnSpc>
            </a:pPr>
            <a:r>
              <a:rPr lang="zh-CN" altLang="en-US" sz="2800" dirty="0">
                <a:latin typeface="宋体" panose="02010600030101010101" pitchFamily="2" charset="-122"/>
                <a:ea typeface="宋体" panose="02010600030101010101" pitchFamily="2" charset="-122"/>
              </a:rPr>
              <a:t>函数的拉氏变换及反变换通常可以由拉氏变换表（见</a:t>
            </a:r>
            <a:r>
              <a:rPr lang="en-US" altLang="zh-CN" sz="2800" dirty="0">
                <a:latin typeface="宋体" panose="02010600030101010101" pitchFamily="2" charset="-122"/>
                <a:ea typeface="宋体" panose="02010600030101010101" pitchFamily="2" charset="-122"/>
              </a:rPr>
              <a:t>P399</a:t>
            </a:r>
            <a:r>
              <a:rPr lang="zh-CN" altLang="en-US" sz="2800" dirty="0">
                <a:latin typeface="宋体" panose="02010600030101010101" pitchFamily="2" charset="-122"/>
                <a:ea typeface="宋体" panose="02010600030101010101" pitchFamily="2" charset="-122"/>
              </a:rPr>
              <a:t>附录</a:t>
            </a:r>
            <a:r>
              <a:rPr lang="en-US" altLang="zh-CN" sz="2800" dirty="0">
                <a:latin typeface="宋体" panose="02010600030101010101" pitchFamily="2" charset="-122"/>
                <a:ea typeface="宋体" panose="02010600030101010101" pitchFamily="2" charset="-122"/>
              </a:rPr>
              <a:t>A</a:t>
            </a:r>
            <a:r>
              <a:rPr lang="zh-CN" altLang="en-US" sz="2800" dirty="0">
                <a:latin typeface="宋体" panose="02010600030101010101" pitchFamily="2" charset="-122"/>
                <a:ea typeface="宋体" panose="02010600030101010101" pitchFamily="2" charset="-122"/>
              </a:rPr>
              <a:t>）直接查得或通过一定的转换得到。</a:t>
            </a:r>
            <a:r>
              <a:rPr lang="zh-CN" altLang="en-US" sz="2800" dirty="0">
                <a:latin typeface="Times New Roman" panose="02020603050405020304" pitchFamily="18"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gtEl>
                                        <p:attrNameLst>
                                          <p:attrName>style.visibility</p:attrName>
                                        </p:attrNameLst>
                                      </p:cBhvr>
                                      <p:to>
                                        <p:strVal val="visible"/>
                                      </p:to>
                                    </p:set>
                                    <p:anim calcmode="lin" valueType="num">
                                      <p:cBhvr additive="base">
                                        <p:cTn id="7" dur="500" fill="hold"/>
                                        <p:tgtEl>
                                          <p:spTgt spid="70659"/>
                                        </p:tgtEl>
                                        <p:attrNameLst>
                                          <p:attrName>ppt_x</p:attrName>
                                        </p:attrNameLst>
                                      </p:cBhvr>
                                      <p:tavLst>
                                        <p:tav tm="0">
                                          <p:val>
                                            <p:strVal val="#ppt_x"/>
                                          </p:val>
                                        </p:tav>
                                        <p:tav tm="100000">
                                          <p:val>
                                            <p:strVal val="#ppt_x"/>
                                          </p:val>
                                        </p:tav>
                                      </p:tavLst>
                                    </p:anim>
                                    <p:anim calcmode="lin" valueType="num">
                                      <p:cBhvr additive="base">
                                        <p:cTn id="8" dur="500" fill="hold"/>
                                        <p:tgtEl>
                                          <p:spTgt spid="706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0660"/>
                                        </p:tgtEl>
                                        <p:attrNameLst>
                                          <p:attrName>style.visibility</p:attrName>
                                        </p:attrNameLst>
                                      </p:cBhvr>
                                      <p:to>
                                        <p:strVal val="visible"/>
                                      </p:to>
                                    </p:set>
                                    <p:anim calcmode="lin" valueType="num">
                                      <p:cBhvr additive="base">
                                        <p:cTn id="19" dur="500" fill="hold"/>
                                        <p:tgtEl>
                                          <p:spTgt spid="70660"/>
                                        </p:tgtEl>
                                        <p:attrNameLst>
                                          <p:attrName>ppt_x</p:attrName>
                                        </p:attrNameLst>
                                      </p:cBhvr>
                                      <p:tavLst>
                                        <p:tav tm="0">
                                          <p:val>
                                            <p:strVal val="#ppt_x"/>
                                          </p:val>
                                        </p:tav>
                                        <p:tav tm="100000">
                                          <p:val>
                                            <p:strVal val="#ppt_x"/>
                                          </p:val>
                                        </p:tav>
                                      </p:tavLst>
                                    </p:anim>
                                    <p:anim calcmode="lin" valueType="num">
                                      <p:cBhvr additive="base">
                                        <p:cTn id="20" dur="500" fill="hold"/>
                                        <p:tgtEl>
                                          <p:spTgt spid="7066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0669"/>
                                        </p:tgtEl>
                                        <p:attrNameLst>
                                          <p:attrName>style.visibility</p:attrName>
                                        </p:attrNameLst>
                                      </p:cBhvr>
                                      <p:to>
                                        <p:strVal val="visible"/>
                                      </p:to>
                                    </p:set>
                                    <p:anim calcmode="lin" valueType="num">
                                      <p:cBhvr additive="base">
                                        <p:cTn id="25" dur="500" fill="hold"/>
                                        <p:tgtEl>
                                          <p:spTgt spid="70669"/>
                                        </p:tgtEl>
                                        <p:attrNameLst>
                                          <p:attrName>ppt_x</p:attrName>
                                        </p:attrNameLst>
                                      </p:cBhvr>
                                      <p:tavLst>
                                        <p:tav tm="0">
                                          <p:val>
                                            <p:strVal val="#ppt_x"/>
                                          </p:val>
                                        </p:tav>
                                        <p:tav tm="100000">
                                          <p:val>
                                            <p:strVal val="#ppt_x"/>
                                          </p:val>
                                        </p:tav>
                                      </p:tavLst>
                                    </p:anim>
                                    <p:anim calcmode="lin" valueType="num">
                                      <p:cBhvr additive="base">
                                        <p:cTn id="26" dur="500" fill="hold"/>
                                        <p:tgtEl>
                                          <p:spTgt spid="706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Box 3"/>
          <p:cNvSpPr txBox="1"/>
          <p:nvPr/>
        </p:nvSpPr>
        <p:spPr>
          <a:xfrm>
            <a:off x="1187450" y="908050"/>
            <a:ext cx="7315200" cy="588963"/>
          </a:xfrm>
          <a:prstGeom prst="rect">
            <a:avLst/>
          </a:prstGeom>
          <a:noFill/>
          <a:ln w="22225">
            <a:noFill/>
          </a:ln>
        </p:spPr>
        <p:txBody>
          <a:bodyPr anchor="t" anchorCtr="0">
            <a:spAutoFit/>
          </a:bodyPr>
          <a:lstStyle/>
          <a:p>
            <a:pPr>
              <a:lnSpc>
                <a:spcPct val="115000"/>
              </a:lnSpc>
            </a:pPr>
            <a:r>
              <a:rPr lang="zh-CN" altLang="en-US" sz="2800" b="1" dirty="0">
                <a:latin typeface="Times New Roman" panose="02020603050405020304" pitchFamily="18" charset="0"/>
                <a:ea typeface="宋体" panose="02010600030101010101" pitchFamily="2" charset="-122"/>
              </a:rPr>
              <a:t>常用的</a:t>
            </a:r>
            <a:r>
              <a:rPr lang="zh-CN" altLang="en-US" sz="2800" b="1" dirty="0">
                <a:latin typeface="宋体" panose="02010600030101010101" pitchFamily="2" charset="-122"/>
                <a:ea typeface="宋体" panose="02010600030101010101" pitchFamily="2" charset="-122"/>
              </a:rPr>
              <a:t>典型输入信号时域、</a:t>
            </a:r>
            <a:r>
              <a:rPr lang="en-US" altLang="zh-CN" sz="2800" b="1" dirty="0">
                <a:latin typeface="宋体" panose="02010600030101010101" pitchFamily="2" charset="-122"/>
                <a:ea typeface="宋体" panose="02010600030101010101" pitchFamily="2" charset="-122"/>
              </a:rPr>
              <a:t>s</a:t>
            </a:r>
            <a:r>
              <a:rPr lang="zh-CN" altLang="en-US" sz="2800" b="1" dirty="0">
                <a:latin typeface="宋体" panose="02010600030101010101" pitchFamily="2" charset="-122"/>
                <a:ea typeface="宋体" panose="02010600030101010101" pitchFamily="2" charset="-122"/>
              </a:rPr>
              <a:t>域表达式</a:t>
            </a:r>
            <a:endParaRPr lang="zh-CN" altLang="en-US" sz="2800" b="1" dirty="0">
              <a:latin typeface="Times New Roman" panose="02020603050405020304" pitchFamily="18" charset="0"/>
              <a:ea typeface="宋体" panose="02010600030101010101" pitchFamily="2" charset="-122"/>
            </a:endParaRPr>
          </a:p>
        </p:txBody>
      </p:sp>
      <p:grpSp>
        <p:nvGrpSpPr>
          <p:cNvPr id="2" name="Group 4"/>
          <p:cNvGrpSpPr/>
          <p:nvPr/>
        </p:nvGrpSpPr>
        <p:grpSpPr>
          <a:xfrm>
            <a:off x="900113" y="1773238"/>
            <a:ext cx="7848600" cy="4495800"/>
            <a:chOff x="672" y="1296"/>
            <a:chExt cx="4944" cy="2832"/>
          </a:xfrm>
        </p:grpSpPr>
        <p:sp>
          <p:nvSpPr>
            <p:cNvPr id="64515" name="Rectangle 5"/>
            <p:cNvSpPr/>
            <p:nvPr/>
          </p:nvSpPr>
          <p:spPr>
            <a:xfrm>
              <a:off x="4128" y="3656"/>
              <a:ext cx="1488" cy="472"/>
            </a:xfrm>
            <a:prstGeom prst="rect">
              <a:avLst/>
            </a:prstGeom>
            <a:noFill/>
            <a:ln w="22225">
              <a:noFill/>
            </a:ln>
          </p:spPr>
          <p:txBody>
            <a:bodyPr anchor="ctr" anchorCtr="0"/>
            <a:lstStyle/>
            <a:p>
              <a:pPr>
                <a:spcBef>
                  <a:spcPct val="20000"/>
                </a:spcBef>
                <a:buClr>
                  <a:schemeClr val="accent2"/>
                </a:buClr>
              </a:pPr>
              <a:endParaRPr lang="zh-CN" altLang="zh-CN" sz="2600" dirty="0">
                <a:latin typeface="Verdana" panose="020B0604030504040204" pitchFamily="34" charset="0"/>
                <a:ea typeface="宋体" panose="02010600030101010101" pitchFamily="2" charset="-122"/>
              </a:endParaRPr>
            </a:p>
          </p:txBody>
        </p:sp>
        <p:sp>
          <p:nvSpPr>
            <p:cNvPr id="64516" name="Rectangle 6"/>
            <p:cNvSpPr/>
            <p:nvPr/>
          </p:nvSpPr>
          <p:spPr>
            <a:xfrm>
              <a:off x="2784" y="3656"/>
              <a:ext cx="1344" cy="472"/>
            </a:xfrm>
            <a:prstGeom prst="rect">
              <a:avLst/>
            </a:prstGeom>
            <a:noFill/>
            <a:ln w="22225">
              <a:noFill/>
            </a:ln>
          </p:spPr>
          <p:txBody>
            <a:bodyPr anchor="ctr" anchorCtr="0"/>
            <a:lstStyle/>
            <a:p>
              <a:pPr>
                <a:spcBef>
                  <a:spcPct val="20000"/>
                </a:spcBef>
                <a:buClr>
                  <a:schemeClr val="accent2"/>
                </a:buClr>
              </a:pPr>
              <a:r>
                <a:rPr lang="en-US" altLang="zh-CN" sz="2600" i="1" dirty="0">
                  <a:latin typeface="Verdana" panose="020B0604030504040204" pitchFamily="34" charset="0"/>
                  <a:ea typeface="宋体" panose="02010600030101010101" pitchFamily="2" charset="-122"/>
                </a:rPr>
                <a:t>Asin</a:t>
              </a:r>
              <a:r>
                <a:rPr lang="en-US" altLang="zh-CN" sz="2600" i="1" dirty="0">
                  <a:latin typeface="Verdana" panose="020B0604030504040204" pitchFamily="34" charset="0"/>
                  <a:ea typeface="宋体" panose="02010600030101010101" pitchFamily="2" charset="-122"/>
                  <a:sym typeface="Symbol" panose="05050102010706020507" pitchFamily="18" charset="2"/>
                </a:rPr>
                <a:t></a:t>
              </a:r>
              <a:r>
                <a:rPr lang="en-US" altLang="zh-CN" sz="2600" i="1" dirty="0">
                  <a:latin typeface="Verdana" panose="020B0604030504040204" pitchFamily="34" charset="0"/>
                  <a:ea typeface="宋体" panose="02010600030101010101" pitchFamily="2" charset="-122"/>
                </a:rPr>
                <a:t>t</a:t>
              </a:r>
              <a:r>
                <a:rPr lang="en-US" altLang="zh-CN" sz="2600" dirty="0">
                  <a:latin typeface="Verdana" panose="020B0604030504040204" pitchFamily="34" charset="0"/>
                  <a:ea typeface="宋体" panose="02010600030101010101" pitchFamily="2" charset="-122"/>
                </a:rPr>
                <a:t> </a:t>
              </a:r>
            </a:p>
          </p:txBody>
        </p:sp>
        <p:sp>
          <p:nvSpPr>
            <p:cNvPr id="64517" name="Rectangle 7"/>
            <p:cNvSpPr/>
            <p:nvPr/>
          </p:nvSpPr>
          <p:spPr>
            <a:xfrm>
              <a:off x="672" y="3656"/>
              <a:ext cx="2112" cy="472"/>
            </a:xfrm>
            <a:prstGeom prst="rect">
              <a:avLst/>
            </a:prstGeom>
            <a:noFill/>
            <a:ln w="22225">
              <a:noFill/>
            </a:ln>
          </p:spPr>
          <p:txBody>
            <a:bodyPr anchor="ctr" anchorCtr="0"/>
            <a:lstStyle/>
            <a:p>
              <a:pPr>
                <a:spcBef>
                  <a:spcPct val="20000"/>
                </a:spcBef>
                <a:buClr>
                  <a:schemeClr val="accent2"/>
                </a:buClr>
              </a:pPr>
              <a:r>
                <a:rPr lang="zh-CN" altLang="en-US" sz="2600" dirty="0">
                  <a:latin typeface="宋体" panose="02010600030101010101" pitchFamily="2" charset="-122"/>
                  <a:ea typeface="宋体" panose="02010600030101010101" pitchFamily="2" charset="-122"/>
                </a:rPr>
                <a:t>正弦信号</a:t>
              </a:r>
              <a:r>
                <a:rPr lang="zh-CN" altLang="en-US" sz="2600" dirty="0">
                  <a:latin typeface="Verdana" panose="020B0604030504040204" pitchFamily="34" charset="0"/>
                  <a:ea typeface="宋体" panose="02010600030101010101" pitchFamily="2" charset="-122"/>
                </a:rPr>
                <a:t> </a:t>
              </a:r>
            </a:p>
          </p:txBody>
        </p:sp>
        <p:sp>
          <p:nvSpPr>
            <p:cNvPr id="64518" name="Rectangle 8"/>
            <p:cNvSpPr/>
            <p:nvPr/>
          </p:nvSpPr>
          <p:spPr>
            <a:xfrm>
              <a:off x="4119" y="1749"/>
              <a:ext cx="1488" cy="472"/>
            </a:xfrm>
            <a:prstGeom prst="rect">
              <a:avLst/>
            </a:prstGeom>
            <a:noFill/>
            <a:ln w="22225">
              <a:noFill/>
            </a:ln>
          </p:spPr>
          <p:txBody>
            <a:bodyPr anchor="ctr" anchorCtr="0"/>
            <a:lstStyle/>
            <a:p>
              <a:pPr algn="ctr">
                <a:spcBef>
                  <a:spcPct val="20000"/>
                </a:spcBef>
                <a:buClr>
                  <a:schemeClr val="accent2"/>
                </a:buClr>
              </a:pPr>
              <a:r>
                <a:rPr lang="en-US" altLang="zh-CN" sz="2600" dirty="0">
                  <a:latin typeface="Verdana" panose="020B0604030504040204" pitchFamily="34" charset="0"/>
                  <a:ea typeface="宋体" panose="02010600030101010101" pitchFamily="2" charset="-122"/>
                </a:rPr>
                <a:t>1</a:t>
              </a:r>
            </a:p>
          </p:txBody>
        </p:sp>
        <p:sp>
          <p:nvSpPr>
            <p:cNvPr id="64519" name="Rectangle 9"/>
            <p:cNvSpPr/>
            <p:nvPr/>
          </p:nvSpPr>
          <p:spPr>
            <a:xfrm>
              <a:off x="2803" y="1778"/>
              <a:ext cx="1344" cy="472"/>
            </a:xfrm>
            <a:prstGeom prst="rect">
              <a:avLst/>
            </a:prstGeom>
            <a:noFill/>
            <a:ln w="22225">
              <a:noFill/>
            </a:ln>
          </p:spPr>
          <p:txBody>
            <a:bodyPr anchor="ctr" anchorCtr="0"/>
            <a:lstStyle/>
            <a:p>
              <a:pPr>
                <a:spcBef>
                  <a:spcPct val="20000"/>
                </a:spcBef>
                <a:buClr>
                  <a:schemeClr val="accent2"/>
                </a:buClr>
              </a:pPr>
              <a:r>
                <a:rPr lang="en-US" altLang="zh-CN" sz="2600" i="1" dirty="0">
                  <a:latin typeface="Verdana" panose="020B0604030504040204" pitchFamily="34" charset="0"/>
                  <a:ea typeface="宋体" panose="02010600030101010101" pitchFamily="2" charset="-122"/>
                  <a:sym typeface="Symbol" panose="05050102010706020507" pitchFamily="18" charset="2"/>
                </a:rPr>
                <a:t></a:t>
              </a:r>
              <a:r>
                <a:rPr lang="en-US" altLang="zh-CN" sz="2600" dirty="0">
                  <a:latin typeface="Verdana" panose="020B0604030504040204" pitchFamily="34" charset="0"/>
                  <a:ea typeface="宋体" panose="02010600030101010101" pitchFamily="2" charset="-122"/>
                </a:rPr>
                <a:t>(</a:t>
              </a:r>
              <a:r>
                <a:rPr lang="en-US" altLang="zh-CN" sz="2600" i="1" dirty="0">
                  <a:latin typeface="Verdana" panose="020B0604030504040204" pitchFamily="34" charset="0"/>
                  <a:ea typeface="宋体" panose="02010600030101010101" pitchFamily="2" charset="-122"/>
                </a:rPr>
                <a:t>t</a:t>
              </a:r>
              <a:r>
                <a:rPr lang="en-US" altLang="zh-CN" sz="2600" dirty="0">
                  <a:latin typeface="Verdana" panose="020B0604030504040204" pitchFamily="34"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a:t>
              </a:r>
              <a:r>
                <a:rPr lang="en-US" altLang="zh-CN" sz="2600" i="1" dirty="0">
                  <a:latin typeface="Verdana" panose="020B0604030504040204" pitchFamily="34" charset="0"/>
                  <a:ea typeface="宋体" panose="02010600030101010101" pitchFamily="2" charset="-122"/>
                </a:rPr>
                <a:t>t</a:t>
              </a:r>
              <a:r>
                <a:rPr lang="en-US" altLang="zh-CN" sz="2600" dirty="0">
                  <a:latin typeface="Verdana" panose="020B0604030504040204" pitchFamily="34" charset="0"/>
                  <a:ea typeface="宋体" panose="02010600030101010101" pitchFamily="2" charset="-122"/>
                </a:rPr>
                <a:t>=0 </a:t>
              </a:r>
            </a:p>
          </p:txBody>
        </p:sp>
        <p:sp>
          <p:nvSpPr>
            <p:cNvPr id="64520" name="Rectangle 10"/>
            <p:cNvSpPr/>
            <p:nvPr/>
          </p:nvSpPr>
          <p:spPr>
            <a:xfrm>
              <a:off x="672" y="3184"/>
              <a:ext cx="2112" cy="472"/>
            </a:xfrm>
            <a:prstGeom prst="rect">
              <a:avLst/>
            </a:prstGeom>
            <a:noFill/>
            <a:ln w="22225">
              <a:noFill/>
            </a:ln>
          </p:spPr>
          <p:txBody>
            <a:bodyPr anchor="ctr" anchorCtr="0"/>
            <a:lstStyle/>
            <a:p>
              <a:pPr>
                <a:spcBef>
                  <a:spcPct val="20000"/>
                </a:spcBef>
                <a:buClr>
                  <a:schemeClr val="accent2"/>
                </a:buClr>
              </a:pPr>
              <a:r>
                <a:rPr lang="zh-CN" altLang="en-US" sz="2600" dirty="0">
                  <a:latin typeface="宋体" panose="02010600030101010101" pitchFamily="2" charset="-122"/>
                  <a:sym typeface="+mn-ea"/>
                </a:rPr>
                <a:t>单位加速度信号</a:t>
              </a:r>
              <a:r>
                <a:rPr lang="zh-CN" altLang="en-US" sz="2600" dirty="0">
                  <a:sym typeface="+mn-ea"/>
                </a:rPr>
                <a:t> </a:t>
              </a:r>
              <a:endParaRPr lang="zh-CN" altLang="en-US" sz="2600" dirty="0">
                <a:latin typeface="Verdana" panose="020B0604030504040204" pitchFamily="34" charset="0"/>
                <a:ea typeface="宋体" panose="02010600030101010101" pitchFamily="2" charset="-122"/>
              </a:endParaRPr>
            </a:p>
          </p:txBody>
        </p:sp>
        <p:sp>
          <p:nvSpPr>
            <p:cNvPr id="64521" name="Rectangle 11"/>
            <p:cNvSpPr/>
            <p:nvPr/>
          </p:nvSpPr>
          <p:spPr>
            <a:xfrm>
              <a:off x="4128" y="2712"/>
              <a:ext cx="1488" cy="472"/>
            </a:xfrm>
            <a:prstGeom prst="rect">
              <a:avLst/>
            </a:prstGeom>
            <a:noFill/>
            <a:ln w="22225">
              <a:noFill/>
            </a:ln>
          </p:spPr>
          <p:txBody>
            <a:bodyPr anchor="ctr" anchorCtr="0"/>
            <a:lstStyle/>
            <a:p>
              <a:pPr>
                <a:spcBef>
                  <a:spcPct val="20000"/>
                </a:spcBef>
                <a:buClr>
                  <a:schemeClr val="accent2"/>
                </a:buClr>
              </a:pPr>
              <a:endParaRPr lang="zh-CN" altLang="zh-CN" sz="2600" dirty="0">
                <a:latin typeface="Verdana" panose="020B0604030504040204" pitchFamily="34" charset="0"/>
                <a:ea typeface="宋体" panose="02010600030101010101" pitchFamily="2" charset="-122"/>
              </a:endParaRPr>
            </a:p>
          </p:txBody>
        </p:sp>
        <p:sp>
          <p:nvSpPr>
            <p:cNvPr id="64522" name="Rectangle 12"/>
            <p:cNvSpPr/>
            <p:nvPr/>
          </p:nvSpPr>
          <p:spPr>
            <a:xfrm>
              <a:off x="2784" y="2712"/>
              <a:ext cx="1344" cy="472"/>
            </a:xfrm>
            <a:prstGeom prst="rect">
              <a:avLst/>
            </a:prstGeom>
            <a:noFill/>
            <a:ln w="22225">
              <a:noFill/>
            </a:ln>
          </p:spPr>
          <p:txBody>
            <a:bodyPr anchor="ctr" anchorCtr="0"/>
            <a:lstStyle/>
            <a:p>
              <a:pPr>
                <a:spcBef>
                  <a:spcPct val="20000"/>
                </a:spcBef>
                <a:buClr>
                  <a:schemeClr val="accent2"/>
                </a:buClr>
              </a:pPr>
              <a:r>
                <a:rPr lang="en-US" altLang="zh-CN" sz="2600" dirty="0">
                  <a:latin typeface="宋体" panose="02010600030101010101" pitchFamily="2" charset="-122"/>
                  <a:ea typeface="宋体" panose="02010600030101010101" pitchFamily="2" charset="-122"/>
                </a:rPr>
                <a:t>    </a:t>
              </a:r>
              <a:endParaRPr lang="en-US" altLang="zh-CN" sz="2600" dirty="0">
                <a:latin typeface="Verdana" panose="020B0604030504040204" pitchFamily="34" charset="0"/>
                <a:ea typeface="宋体" panose="02010600030101010101" pitchFamily="2" charset="-122"/>
              </a:endParaRPr>
            </a:p>
          </p:txBody>
        </p:sp>
        <p:sp>
          <p:nvSpPr>
            <p:cNvPr id="64523" name="Rectangle 13"/>
            <p:cNvSpPr/>
            <p:nvPr/>
          </p:nvSpPr>
          <p:spPr>
            <a:xfrm>
              <a:off x="672" y="2712"/>
              <a:ext cx="2112" cy="472"/>
            </a:xfrm>
            <a:prstGeom prst="rect">
              <a:avLst/>
            </a:prstGeom>
            <a:noFill/>
            <a:ln w="22225">
              <a:noFill/>
            </a:ln>
          </p:spPr>
          <p:txBody>
            <a:bodyPr anchor="ctr" anchorCtr="0"/>
            <a:lstStyle/>
            <a:p>
              <a:pPr>
                <a:spcBef>
                  <a:spcPct val="20000"/>
                </a:spcBef>
                <a:buClr>
                  <a:schemeClr val="accent2"/>
                </a:buClr>
              </a:pPr>
              <a:r>
                <a:rPr lang="zh-CN" altLang="en-US" sz="2600" dirty="0">
                  <a:latin typeface="宋体" panose="02010600030101010101" pitchFamily="2" charset="-122"/>
                  <a:sym typeface="+mn-ea"/>
                </a:rPr>
                <a:t>单位速度</a:t>
              </a:r>
              <a:r>
                <a:rPr lang="en-US" altLang="zh-CN" sz="2600" dirty="0">
                  <a:sym typeface="+mn-ea"/>
                </a:rPr>
                <a:t>(</a:t>
              </a:r>
              <a:r>
                <a:rPr lang="zh-CN" altLang="en-US" sz="2600" dirty="0">
                  <a:latin typeface="宋体" panose="02010600030101010101" pitchFamily="2" charset="-122"/>
                  <a:sym typeface="+mn-ea"/>
                </a:rPr>
                <a:t>斜坡</a:t>
              </a:r>
              <a:r>
                <a:rPr lang="en-US" altLang="zh-CN" sz="2600" dirty="0">
                  <a:sym typeface="+mn-ea"/>
                </a:rPr>
                <a:t>)</a:t>
              </a:r>
              <a:r>
                <a:rPr lang="zh-CN" altLang="en-US" sz="2600" dirty="0">
                  <a:latin typeface="宋体" panose="02010600030101010101" pitchFamily="2" charset="-122"/>
                  <a:sym typeface="+mn-ea"/>
                </a:rPr>
                <a:t>信号</a:t>
              </a:r>
              <a:endParaRPr lang="zh-CN" altLang="en-US" sz="2600" dirty="0">
                <a:latin typeface="Verdana" panose="020B0604030504040204" pitchFamily="34" charset="0"/>
                <a:ea typeface="宋体" panose="02010600030101010101" pitchFamily="2" charset="-122"/>
              </a:endParaRPr>
            </a:p>
          </p:txBody>
        </p:sp>
        <p:sp>
          <p:nvSpPr>
            <p:cNvPr id="64524" name="Rectangle 14"/>
            <p:cNvSpPr/>
            <p:nvPr/>
          </p:nvSpPr>
          <p:spPr>
            <a:xfrm>
              <a:off x="4128" y="2240"/>
              <a:ext cx="1488" cy="472"/>
            </a:xfrm>
            <a:prstGeom prst="rect">
              <a:avLst/>
            </a:prstGeom>
            <a:noFill/>
            <a:ln w="22225">
              <a:noFill/>
            </a:ln>
          </p:spPr>
          <p:txBody>
            <a:bodyPr anchor="ctr" anchorCtr="0"/>
            <a:lstStyle/>
            <a:p>
              <a:pPr>
                <a:spcBef>
                  <a:spcPct val="20000"/>
                </a:spcBef>
                <a:buClr>
                  <a:schemeClr val="accent2"/>
                </a:buClr>
              </a:pPr>
              <a:endParaRPr lang="zh-CN" altLang="zh-CN" sz="2600" dirty="0">
                <a:latin typeface="Verdana" panose="020B0604030504040204" pitchFamily="34" charset="0"/>
                <a:ea typeface="宋体" panose="02010600030101010101" pitchFamily="2" charset="-122"/>
              </a:endParaRPr>
            </a:p>
          </p:txBody>
        </p:sp>
        <p:sp>
          <p:nvSpPr>
            <p:cNvPr id="64525" name="Rectangle 15"/>
            <p:cNvSpPr/>
            <p:nvPr/>
          </p:nvSpPr>
          <p:spPr>
            <a:xfrm>
              <a:off x="2784" y="2720"/>
              <a:ext cx="1344" cy="472"/>
            </a:xfrm>
            <a:prstGeom prst="rect">
              <a:avLst/>
            </a:prstGeom>
            <a:noFill/>
            <a:ln w="22225">
              <a:noFill/>
            </a:ln>
          </p:spPr>
          <p:txBody>
            <a:bodyPr anchor="ctr" anchorCtr="0"/>
            <a:lstStyle/>
            <a:p>
              <a:pPr>
                <a:spcBef>
                  <a:spcPct val="20000"/>
                </a:spcBef>
                <a:buClr>
                  <a:schemeClr val="accent2"/>
                </a:buClr>
              </a:pPr>
              <a:r>
                <a:rPr lang="en-US" altLang="zh-CN" sz="2600" i="1" dirty="0">
                  <a:latin typeface="Verdana" panose="020B0604030504040204" pitchFamily="34" charset="0"/>
                  <a:ea typeface="宋体" panose="02010600030101010101" pitchFamily="2" charset="-122"/>
                </a:rPr>
                <a:t> t</a:t>
              </a:r>
              <a:r>
                <a:rPr lang="zh-CN" altLang="en-US" sz="2600" dirty="0">
                  <a:latin typeface="宋体" panose="02010600030101010101" pitchFamily="2" charset="-122"/>
                  <a:ea typeface="宋体" panose="02010600030101010101" pitchFamily="2" charset="-122"/>
                </a:rPr>
                <a:t>，</a:t>
              </a:r>
              <a:r>
                <a:rPr lang="zh-CN" altLang="en-US" sz="2600" dirty="0">
                  <a:latin typeface="Verdana" panose="020B0604030504040204" pitchFamily="34" charset="0"/>
                  <a:ea typeface="宋体" panose="02010600030101010101" pitchFamily="2" charset="-122"/>
                </a:rPr>
                <a:t>  </a:t>
              </a:r>
              <a:r>
                <a:rPr lang="en-US" altLang="zh-CN" sz="2600" i="1" dirty="0">
                  <a:latin typeface="Verdana" panose="020B0604030504040204" pitchFamily="34" charset="0"/>
                  <a:ea typeface="宋体" panose="02010600030101010101" pitchFamily="2" charset="-122"/>
                </a:rPr>
                <a:t>t</a:t>
              </a:r>
              <a:r>
                <a:rPr lang="en-US" altLang="zh-CN" sz="2600" dirty="0">
                  <a:latin typeface="Verdana" panose="020B0604030504040204" pitchFamily="34" charset="0"/>
                  <a:ea typeface="宋体" panose="02010600030101010101" pitchFamily="2" charset="-122"/>
                  <a:sym typeface="Symbol" panose="05050102010706020507" pitchFamily="18" charset="2"/>
                </a:rPr>
                <a:t></a:t>
              </a:r>
              <a:r>
                <a:rPr lang="en-US" altLang="zh-CN" sz="2600" dirty="0">
                  <a:latin typeface="Verdana" panose="020B0604030504040204" pitchFamily="34" charset="0"/>
                  <a:ea typeface="宋体" panose="02010600030101010101" pitchFamily="2" charset="-122"/>
                </a:rPr>
                <a:t>0 </a:t>
              </a:r>
            </a:p>
          </p:txBody>
        </p:sp>
        <p:sp>
          <p:nvSpPr>
            <p:cNvPr id="64526" name="Rectangle 16"/>
            <p:cNvSpPr/>
            <p:nvPr/>
          </p:nvSpPr>
          <p:spPr>
            <a:xfrm>
              <a:off x="672" y="2240"/>
              <a:ext cx="2112" cy="472"/>
            </a:xfrm>
            <a:prstGeom prst="rect">
              <a:avLst/>
            </a:prstGeom>
            <a:noFill/>
            <a:ln w="22225">
              <a:noFill/>
            </a:ln>
          </p:spPr>
          <p:txBody>
            <a:bodyPr anchor="ctr" anchorCtr="0"/>
            <a:lstStyle/>
            <a:p>
              <a:pPr algn="l">
                <a:spcBef>
                  <a:spcPct val="20000"/>
                </a:spcBef>
                <a:buClr>
                  <a:schemeClr val="accent2"/>
                </a:buClr>
                <a:buSzTx/>
                <a:buFontTx/>
              </a:pPr>
              <a:r>
                <a:rPr lang="zh-CN" altLang="en-US" sz="2600" dirty="0">
                  <a:latin typeface="宋体" panose="02010600030101010101" pitchFamily="2" charset="-122"/>
                  <a:sym typeface="+mn-ea"/>
                </a:rPr>
                <a:t>单位阶跃信号 </a:t>
              </a:r>
              <a:endParaRPr lang="zh-CN" altLang="en-US" sz="2600" dirty="0">
                <a:latin typeface="宋体" panose="02010600030101010101" pitchFamily="2" charset="-122"/>
                <a:ea typeface="宋体" panose="02010600030101010101" pitchFamily="2" charset="-122"/>
              </a:endParaRPr>
            </a:p>
          </p:txBody>
        </p:sp>
        <p:sp>
          <p:nvSpPr>
            <p:cNvPr id="64527" name="Rectangle 17"/>
            <p:cNvSpPr/>
            <p:nvPr/>
          </p:nvSpPr>
          <p:spPr>
            <a:xfrm>
              <a:off x="4128" y="1768"/>
              <a:ext cx="1488" cy="472"/>
            </a:xfrm>
            <a:prstGeom prst="rect">
              <a:avLst/>
            </a:prstGeom>
            <a:noFill/>
            <a:ln w="22225">
              <a:noFill/>
            </a:ln>
          </p:spPr>
          <p:txBody>
            <a:bodyPr anchor="ctr" anchorCtr="0"/>
            <a:lstStyle/>
            <a:p>
              <a:pPr>
                <a:spcBef>
                  <a:spcPct val="20000"/>
                </a:spcBef>
                <a:buClr>
                  <a:schemeClr val="accent2"/>
                </a:buClr>
              </a:pPr>
              <a:endParaRPr lang="zh-CN" altLang="zh-CN" sz="2600" dirty="0">
                <a:latin typeface="Verdana" panose="020B0604030504040204" pitchFamily="34" charset="0"/>
                <a:ea typeface="宋体" panose="02010600030101010101" pitchFamily="2" charset="-122"/>
              </a:endParaRPr>
            </a:p>
          </p:txBody>
        </p:sp>
        <p:sp>
          <p:nvSpPr>
            <p:cNvPr id="64528" name="Rectangle 18"/>
            <p:cNvSpPr/>
            <p:nvPr/>
          </p:nvSpPr>
          <p:spPr>
            <a:xfrm>
              <a:off x="2784" y="2240"/>
              <a:ext cx="1344" cy="472"/>
            </a:xfrm>
            <a:prstGeom prst="rect">
              <a:avLst/>
            </a:prstGeom>
            <a:noFill/>
            <a:ln w="22225">
              <a:noFill/>
            </a:ln>
          </p:spPr>
          <p:txBody>
            <a:bodyPr anchor="ctr" anchorCtr="0"/>
            <a:lstStyle/>
            <a:p>
              <a:pPr>
                <a:spcBef>
                  <a:spcPct val="20000"/>
                </a:spcBef>
                <a:buClr>
                  <a:schemeClr val="accent2"/>
                </a:buClr>
              </a:pPr>
              <a:r>
                <a:rPr lang="en-US" altLang="zh-CN" sz="2600" dirty="0">
                  <a:latin typeface="Verdana" panose="020B0604030504040204" pitchFamily="34" charset="0"/>
                  <a:ea typeface="宋体" panose="02010600030101010101" pitchFamily="2" charset="-122"/>
                </a:rPr>
                <a:t>1(</a:t>
              </a:r>
              <a:r>
                <a:rPr lang="en-US" altLang="zh-CN" sz="2600" i="1" dirty="0">
                  <a:latin typeface="Verdana" panose="020B0604030504040204" pitchFamily="34" charset="0"/>
                  <a:ea typeface="宋体" panose="02010600030101010101" pitchFamily="2" charset="-122"/>
                </a:rPr>
                <a:t>t</a:t>
              </a:r>
              <a:r>
                <a:rPr lang="en-US" altLang="zh-CN" sz="2600" dirty="0">
                  <a:latin typeface="Verdana" panose="020B0604030504040204" pitchFamily="34"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a:t>
              </a:r>
              <a:r>
                <a:rPr lang="en-US" altLang="zh-CN" sz="2600" i="1" dirty="0">
                  <a:latin typeface="Verdana" panose="020B0604030504040204" pitchFamily="34" charset="0"/>
                  <a:ea typeface="宋体" panose="02010600030101010101" pitchFamily="2" charset="-122"/>
                </a:rPr>
                <a:t>t</a:t>
              </a:r>
              <a:r>
                <a:rPr lang="en-US" altLang="zh-CN" sz="2600" dirty="0">
                  <a:latin typeface="Verdana" panose="020B0604030504040204" pitchFamily="34" charset="0"/>
                  <a:ea typeface="宋体" panose="02010600030101010101" pitchFamily="2" charset="-122"/>
                  <a:sym typeface="Symbol" panose="05050102010706020507" pitchFamily="18" charset="2"/>
                </a:rPr>
                <a:t></a:t>
              </a:r>
              <a:r>
                <a:rPr lang="en-US" altLang="zh-CN" sz="2600" dirty="0">
                  <a:latin typeface="Verdana" panose="020B0604030504040204" pitchFamily="34" charset="0"/>
                  <a:ea typeface="宋体" panose="02010600030101010101" pitchFamily="2" charset="-122"/>
                </a:rPr>
                <a:t>0 </a:t>
              </a:r>
            </a:p>
          </p:txBody>
        </p:sp>
        <p:sp>
          <p:nvSpPr>
            <p:cNvPr id="64529" name="Rectangle 19"/>
            <p:cNvSpPr/>
            <p:nvPr/>
          </p:nvSpPr>
          <p:spPr>
            <a:xfrm>
              <a:off x="672" y="1768"/>
              <a:ext cx="2112" cy="472"/>
            </a:xfrm>
            <a:prstGeom prst="rect">
              <a:avLst/>
            </a:prstGeom>
            <a:noFill/>
            <a:ln w="22225">
              <a:noFill/>
            </a:ln>
          </p:spPr>
          <p:txBody>
            <a:bodyPr anchor="ctr" anchorCtr="0"/>
            <a:lstStyle/>
            <a:p>
              <a:pPr>
                <a:spcBef>
                  <a:spcPct val="20000"/>
                </a:spcBef>
                <a:buClr>
                  <a:schemeClr val="accent2"/>
                </a:buClr>
              </a:pPr>
              <a:r>
                <a:rPr lang="zh-CN" altLang="en-US" sz="2600" dirty="0">
                  <a:latin typeface="宋体" panose="02010600030101010101" pitchFamily="2" charset="-122"/>
                  <a:sym typeface="+mn-ea"/>
                </a:rPr>
                <a:t>单位脉冲信号</a:t>
              </a:r>
              <a:endParaRPr lang="zh-CN" altLang="en-US" sz="2600" dirty="0">
                <a:latin typeface="Verdana" panose="020B0604030504040204" pitchFamily="34" charset="0"/>
                <a:ea typeface="宋体" panose="02010600030101010101" pitchFamily="2" charset="-122"/>
              </a:endParaRPr>
            </a:p>
          </p:txBody>
        </p:sp>
        <p:sp>
          <p:nvSpPr>
            <p:cNvPr id="64530" name="Rectangle 20"/>
            <p:cNvSpPr/>
            <p:nvPr/>
          </p:nvSpPr>
          <p:spPr>
            <a:xfrm>
              <a:off x="4128" y="1296"/>
              <a:ext cx="1488" cy="472"/>
            </a:xfrm>
            <a:prstGeom prst="rect">
              <a:avLst/>
            </a:prstGeom>
            <a:noFill/>
            <a:ln w="22225">
              <a:noFill/>
            </a:ln>
          </p:spPr>
          <p:txBody>
            <a:bodyPr anchor="ctr" anchorCtr="0"/>
            <a:lstStyle/>
            <a:p>
              <a:pPr algn="ctr">
                <a:spcBef>
                  <a:spcPct val="20000"/>
                </a:spcBef>
                <a:buClr>
                  <a:schemeClr val="accent2"/>
                </a:buClr>
              </a:pPr>
              <a:r>
                <a:rPr lang="zh-CN" altLang="en-US" sz="2600" dirty="0">
                  <a:latin typeface="宋体" panose="02010600030101010101" pitchFamily="2" charset="-122"/>
                  <a:ea typeface="宋体" panose="02010600030101010101" pitchFamily="2" charset="-122"/>
                </a:rPr>
                <a:t>复数域表达式</a:t>
              </a:r>
              <a:r>
                <a:rPr lang="zh-CN" altLang="en-US" sz="2600" dirty="0">
                  <a:latin typeface="Verdana" panose="020B0604030504040204" pitchFamily="34" charset="0"/>
                  <a:ea typeface="宋体" panose="02010600030101010101" pitchFamily="2" charset="-122"/>
                </a:rPr>
                <a:t> </a:t>
              </a:r>
            </a:p>
          </p:txBody>
        </p:sp>
        <p:sp>
          <p:nvSpPr>
            <p:cNvPr id="64531" name="Rectangle 21"/>
            <p:cNvSpPr/>
            <p:nvPr/>
          </p:nvSpPr>
          <p:spPr>
            <a:xfrm>
              <a:off x="2784" y="1296"/>
              <a:ext cx="1344" cy="472"/>
            </a:xfrm>
            <a:prstGeom prst="rect">
              <a:avLst/>
            </a:prstGeom>
            <a:noFill/>
            <a:ln w="22225">
              <a:noFill/>
            </a:ln>
          </p:spPr>
          <p:txBody>
            <a:bodyPr anchor="ctr" anchorCtr="0"/>
            <a:lstStyle/>
            <a:p>
              <a:pPr algn="ctr">
                <a:spcBef>
                  <a:spcPct val="20000"/>
                </a:spcBef>
                <a:buClr>
                  <a:schemeClr val="accent2"/>
                </a:buClr>
              </a:pPr>
              <a:r>
                <a:rPr lang="zh-CN" altLang="en-US" sz="2600" dirty="0">
                  <a:latin typeface="宋体" panose="02010600030101010101" pitchFamily="2" charset="-122"/>
                  <a:ea typeface="宋体" panose="02010600030101010101" pitchFamily="2" charset="-122"/>
                </a:rPr>
                <a:t>时域表达式</a:t>
              </a:r>
              <a:r>
                <a:rPr lang="zh-CN" altLang="en-US" sz="2600" dirty="0">
                  <a:latin typeface="Verdana" panose="020B0604030504040204" pitchFamily="34" charset="0"/>
                  <a:ea typeface="宋体" panose="02010600030101010101" pitchFamily="2" charset="-122"/>
                </a:rPr>
                <a:t> </a:t>
              </a:r>
            </a:p>
          </p:txBody>
        </p:sp>
        <p:sp>
          <p:nvSpPr>
            <p:cNvPr id="64532" name="Rectangle 22"/>
            <p:cNvSpPr/>
            <p:nvPr/>
          </p:nvSpPr>
          <p:spPr>
            <a:xfrm>
              <a:off x="672" y="1296"/>
              <a:ext cx="2112" cy="472"/>
            </a:xfrm>
            <a:prstGeom prst="rect">
              <a:avLst/>
            </a:prstGeom>
            <a:noFill/>
            <a:ln w="22225">
              <a:noFill/>
            </a:ln>
          </p:spPr>
          <p:txBody>
            <a:bodyPr anchor="ctr" anchorCtr="0"/>
            <a:lstStyle/>
            <a:p>
              <a:pPr algn="ctr">
                <a:spcBef>
                  <a:spcPct val="20000"/>
                </a:spcBef>
                <a:buClr>
                  <a:schemeClr val="accent2"/>
                </a:buClr>
              </a:pPr>
              <a:r>
                <a:rPr lang="zh-CN" altLang="en-US" sz="2600" dirty="0">
                  <a:latin typeface="宋体" panose="02010600030101010101" pitchFamily="2" charset="-122"/>
                  <a:ea typeface="宋体" panose="02010600030101010101" pitchFamily="2" charset="-122"/>
                </a:rPr>
                <a:t>名</a:t>
              </a:r>
              <a:r>
                <a:rPr lang="zh-CN" altLang="en-US" sz="2600" dirty="0">
                  <a:latin typeface="Verdana" panose="020B0604030504040204" pitchFamily="34" charset="0"/>
                  <a:ea typeface="宋体" panose="02010600030101010101" pitchFamily="2" charset="-122"/>
                </a:rPr>
                <a:t>            </a:t>
              </a:r>
              <a:r>
                <a:rPr lang="zh-CN" altLang="en-US" sz="2600" dirty="0">
                  <a:latin typeface="宋体" panose="02010600030101010101" pitchFamily="2" charset="-122"/>
                  <a:ea typeface="宋体" panose="02010600030101010101" pitchFamily="2" charset="-122"/>
                </a:rPr>
                <a:t>称</a:t>
              </a:r>
              <a:r>
                <a:rPr lang="zh-CN" altLang="en-US" sz="2600" dirty="0">
                  <a:latin typeface="Verdana" panose="020B0604030504040204" pitchFamily="34" charset="0"/>
                  <a:ea typeface="宋体" panose="02010600030101010101" pitchFamily="2" charset="-122"/>
                </a:rPr>
                <a:t> </a:t>
              </a:r>
            </a:p>
          </p:txBody>
        </p:sp>
        <p:sp>
          <p:nvSpPr>
            <p:cNvPr id="64533" name="Line 23"/>
            <p:cNvSpPr/>
            <p:nvPr/>
          </p:nvSpPr>
          <p:spPr>
            <a:xfrm>
              <a:off x="672" y="1296"/>
              <a:ext cx="4944" cy="0"/>
            </a:xfrm>
            <a:prstGeom prst="line">
              <a:avLst/>
            </a:prstGeom>
            <a:ln w="28575" cap="sq" cmpd="sng">
              <a:solidFill>
                <a:schemeClr val="tx1"/>
              </a:solidFill>
              <a:prstDash val="solid"/>
              <a:miter/>
              <a:headEnd type="none" w="med" len="med"/>
              <a:tailEnd type="none" w="med" len="med"/>
            </a:ln>
          </p:spPr>
        </p:sp>
        <p:sp>
          <p:nvSpPr>
            <p:cNvPr id="64534" name="Line 24"/>
            <p:cNvSpPr/>
            <p:nvPr/>
          </p:nvSpPr>
          <p:spPr>
            <a:xfrm>
              <a:off x="672" y="1768"/>
              <a:ext cx="4944" cy="0"/>
            </a:xfrm>
            <a:prstGeom prst="line">
              <a:avLst/>
            </a:prstGeom>
            <a:ln w="12700" cap="flat" cmpd="sng">
              <a:solidFill>
                <a:schemeClr val="tx1"/>
              </a:solidFill>
              <a:prstDash val="solid"/>
              <a:miter/>
              <a:headEnd type="none" w="med" len="med"/>
              <a:tailEnd type="none" w="med" len="med"/>
            </a:ln>
          </p:spPr>
        </p:sp>
        <p:sp>
          <p:nvSpPr>
            <p:cNvPr id="64535" name="Line 25"/>
            <p:cNvSpPr/>
            <p:nvPr/>
          </p:nvSpPr>
          <p:spPr>
            <a:xfrm>
              <a:off x="672" y="2240"/>
              <a:ext cx="4944" cy="0"/>
            </a:xfrm>
            <a:prstGeom prst="line">
              <a:avLst/>
            </a:prstGeom>
            <a:ln w="12700" cap="flat" cmpd="sng">
              <a:solidFill>
                <a:schemeClr val="tx1"/>
              </a:solidFill>
              <a:prstDash val="solid"/>
              <a:miter/>
              <a:headEnd type="none" w="med" len="med"/>
              <a:tailEnd type="none" w="med" len="med"/>
            </a:ln>
          </p:spPr>
        </p:sp>
        <p:sp>
          <p:nvSpPr>
            <p:cNvPr id="64536" name="Line 26"/>
            <p:cNvSpPr/>
            <p:nvPr/>
          </p:nvSpPr>
          <p:spPr>
            <a:xfrm>
              <a:off x="672" y="2712"/>
              <a:ext cx="4944" cy="0"/>
            </a:xfrm>
            <a:prstGeom prst="line">
              <a:avLst/>
            </a:prstGeom>
            <a:ln w="12700" cap="flat" cmpd="sng">
              <a:solidFill>
                <a:schemeClr val="tx1"/>
              </a:solidFill>
              <a:prstDash val="solid"/>
              <a:miter/>
              <a:headEnd type="none" w="med" len="med"/>
              <a:tailEnd type="none" w="med" len="med"/>
            </a:ln>
          </p:spPr>
        </p:sp>
        <p:sp>
          <p:nvSpPr>
            <p:cNvPr id="64537" name="Line 27"/>
            <p:cNvSpPr/>
            <p:nvPr/>
          </p:nvSpPr>
          <p:spPr>
            <a:xfrm>
              <a:off x="672" y="3184"/>
              <a:ext cx="4944" cy="0"/>
            </a:xfrm>
            <a:prstGeom prst="line">
              <a:avLst/>
            </a:prstGeom>
            <a:ln w="12700" cap="flat" cmpd="sng">
              <a:solidFill>
                <a:schemeClr val="tx1"/>
              </a:solidFill>
              <a:prstDash val="solid"/>
              <a:miter/>
              <a:headEnd type="none" w="med" len="med"/>
              <a:tailEnd type="none" w="med" len="med"/>
            </a:ln>
          </p:spPr>
        </p:sp>
        <p:sp>
          <p:nvSpPr>
            <p:cNvPr id="64538" name="Line 28"/>
            <p:cNvSpPr/>
            <p:nvPr/>
          </p:nvSpPr>
          <p:spPr>
            <a:xfrm>
              <a:off x="672" y="3656"/>
              <a:ext cx="4944" cy="0"/>
            </a:xfrm>
            <a:prstGeom prst="line">
              <a:avLst/>
            </a:prstGeom>
            <a:ln w="12700" cap="flat" cmpd="sng">
              <a:solidFill>
                <a:schemeClr val="tx1"/>
              </a:solidFill>
              <a:prstDash val="solid"/>
              <a:miter/>
              <a:headEnd type="none" w="med" len="med"/>
              <a:tailEnd type="none" w="med" len="med"/>
            </a:ln>
          </p:spPr>
        </p:sp>
        <p:sp>
          <p:nvSpPr>
            <p:cNvPr id="64539" name="Line 29"/>
            <p:cNvSpPr/>
            <p:nvPr/>
          </p:nvSpPr>
          <p:spPr>
            <a:xfrm>
              <a:off x="672" y="4128"/>
              <a:ext cx="4944" cy="0"/>
            </a:xfrm>
            <a:prstGeom prst="line">
              <a:avLst/>
            </a:prstGeom>
            <a:ln w="28575" cap="sq" cmpd="sng">
              <a:solidFill>
                <a:schemeClr val="tx1"/>
              </a:solidFill>
              <a:prstDash val="solid"/>
              <a:miter/>
              <a:headEnd type="none" w="med" len="med"/>
              <a:tailEnd type="none" w="med" len="med"/>
            </a:ln>
          </p:spPr>
        </p:sp>
        <p:sp>
          <p:nvSpPr>
            <p:cNvPr id="64540" name="Line 30"/>
            <p:cNvSpPr/>
            <p:nvPr/>
          </p:nvSpPr>
          <p:spPr>
            <a:xfrm>
              <a:off x="672" y="1296"/>
              <a:ext cx="0" cy="2832"/>
            </a:xfrm>
            <a:prstGeom prst="line">
              <a:avLst/>
            </a:prstGeom>
            <a:ln w="28575" cap="sq" cmpd="sng">
              <a:solidFill>
                <a:schemeClr val="tx1"/>
              </a:solidFill>
              <a:prstDash val="solid"/>
              <a:miter/>
              <a:headEnd type="none" w="med" len="med"/>
              <a:tailEnd type="none" w="med" len="med"/>
            </a:ln>
          </p:spPr>
        </p:sp>
        <p:sp>
          <p:nvSpPr>
            <p:cNvPr id="64541" name="Line 31"/>
            <p:cNvSpPr/>
            <p:nvPr/>
          </p:nvSpPr>
          <p:spPr>
            <a:xfrm>
              <a:off x="2784" y="1296"/>
              <a:ext cx="0" cy="2832"/>
            </a:xfrm>
            <a:prstGeom prst="line">
              <a:avLst/>
            </a:prstGeom>
            <a:ln w="12700" cap="flat" cmpd="sng">
              <a:solidFill>
                <a:schemeClr val="tx1"/>
              </a:solidFill>
              <a:prstDash val="solid"/>
              <a:miter/>
              <a:headEnd type="none" w="med" len="med"/>
              <a:tailEnd type="none" w="med" len="med"/>
            </a:ln>
          </p:spPr>
        </p:sp>
        <p:sp>
          <p:nvSpPr>
            <p:cNvPr id="64542" name="Line 32"/>
            <p:cNvSpPr/>
            <p:nvPr/>
          </p:nvSpPr>
          <p:spPr>
            <a:xfrm>
              <a:off x="4128" y="1296"/>
              <a:ext cx="0" cy="2832"/>
            </a:xfrm>
            <a:prstGeom prst="line">
              <a:avLst/>
            </a:prstGeom>
            <a:ln w="12700" cap="flat" cmpd="sng">
              <a:solidFill>
                <a:schemeClr val="tx1"/>
              </a:solidFill>
              <a:prstDash val="solid"/>
              <a:miter/>
              <a:headEnd type="none" w="med" len="med"/>
              <a:tailEnd type="none" w="med" len="med"/>
            </a:ln>
          </p:spPr>
        </p:sp>
        <p:sp>
          <p:nvSpPr>
            <p:cNvPr id="64543" name="Line 33"/>
            <p:cNvSpPr/>
            <p:nvPr/>
          </p:nvSpPr>
          <p:spPr>
            <a:xfrm>
              <a:off x="5616" y="1296"/>
              <a:ext cx="0" cy="2832"/>
            </a:xfrm>
            <a:prstGeom prst="line">
              <a:avLst/>
            </a:prstGeom>
            <a:ln w="28575" cap="sq" cmpd="sng">
              <a:solidFill>
                <a:schemeClr val="tx1"/>
              </a:solidFill>
              <a:prstDash val="solid"/>
              <a:miter/>
              <a:headEnd type="none" w="med" len="med"/>
              <a:tailEnd type="none" w="med" len="med"/>
            </a:ln>
          </p:spPr>
        </p:sp>
        <p:graphicFrame>
          <p:nvGraphicFramePr>
            <p:cNvPr id="64544" name="Object 34"/>
            <p:cNvGraphicFramePr>
              <a:graphicFrameLocks noChangeAspect="1"/>
            </p:cNvGraphicFramePr>
            <p:nvPr/>
          </p:nvGraphicFramePr>
          <p:xfrm>
            <a:off x="4792" y="2238"/>
            <a:ext cx="158" cy="474"/>
          </p:xfrm>
          <a:graphic>
            <a:graphicData uri="http://schemas.openxmlformats.org/presentationml/2006/ole">
              <mc:AlternateContent xmlns:mc="http://schemas.openxmlformats.org/markup-compatibility/2006">
                <mc:Choice xmlns:v="urn:schemas-microsoft-com:vml" Requires="v">
                  <p:oleObj spid="_x0000_s26660" r:id="rId4" imgW="152400" imgH="457200" progId="Equation.3">
                    <p:embed/>
                  </p:oleObj>
                </mc:Choice>
                <mc:Fallback>
                  <p:oleObj r:id="rId4" imgW="152400" imgH="457200" progId="Equation.3">
                    <p:embed/>
                    <p:pic>
                      <p:nvPicPr>
                        <p:cNvPr id="0" name="图片 3113"/>
                        <p:cNvPicPr/>
                        <p:nvPr/>
                      </p:nvPicPr>
                      <p:blipFill>
                        <a:blip r:embed="rId5"/>
                        <a:stretch>
                          <a:fillRect/>
                        </a:stretch>
                      </p:blipFill>
                      <p:spPr>
                        <a:xfrm>
                          <a:off x="4792" y="2238"/>
                          <a:ext cx="158" cy="474"/>
                        </a:xfrm>
                        <a:prstGeom prst="rect">
                          <a:avLst/>
                        </a:prstGeom>
                        <a:noFill/>
                        <a:ln w="38100">
                          <a:noFill/>
                          <a:miter/>
                        </a:ln>
                      </p:spPr>
                    </p:pic>
                  </p:oleObj>
                </mc:Fallback>
              </mc:AlternateContent>
            </a:graphicData>
          </a:graphic>
        </p:graphicFrame>
        <p:graphicFrame>
          <p:nvGraphicFramePr>
            <p:cNvPr id="64545" name="Object 35"/>
            <p:cNvGraphicFramePr>
              <a:graphicFrameLocks noChangeAspect="1"/>
            </p:cNvGraphicFramePr>
            <p:nvPr/>
          </p:nvGraphicFramePr>
          <p:xfrm>
            <a:off x="4738" y="2680"/>
            <a:ext cx="267" cy="504"/>
          </p:xfrm>
          <a:graphic>
            <a:graphicData uri="http://schemas.openxmlformats.org/presentationml/2006/ole">
              <mc:AlternateContent xmlns:mc="http://schemas.openxmlformats.org/markup-compatibility/2006">
                <mc:Choice xmlns:v="urn:schemas-microsoft-com:vml" Requires="v">
                  <p:oleObj spid="_x0000_s26661" r:id="rId6" imgW="254000" imgH="482600" progId="Equation.3">
                    <p:embed/>
                  </p:oleObj>
                </mc:Choice>
                <mc:Fallback>
                  <p:oleObj r:id="rId6" imgW="254000" imgH="482600" progId="Equation.3">
                    <p:embed/>
                    <p:pic>
                      <p:nvPicPr>
                        <p:cNvPr id="0" name="图片 3114"/>
                        <p:cNvPicPr/>
                        <p:nvPr/>
                      </p:nvPicPr>
                      <p:blipFill>
                        <a:blip r:embed="rId7"/>
                        <a:stretch>
                          <a:fillRect/>
                        </a:stretch>
                      </p:blipFill>
                      <p:spPr>
                        <a:xfrm>
                          <a:off x="4738" y="2680"/>
                          <a:ext cx="267" cy="504"/>
                        </a:xfrm>
                        <a:prstGeom prst="rect">
                          <a:avLst/>
                        </a:prstGeom>
                        <a:noFill/>
                        <a:ln w="38100">
                          <a:noFill/>
                          <a:miter/>
                        </a:ln>
                      </p:spPr>
                    </p:pic>
                  </p:oleObj>
                </mc:Fallback>
              </mc:AlternateContent>
            </a:graphicData>
          </a:graphic>
        </p:graphicFrame>
        <p:graphicFrame>
          <p:nvGraphicFramePr>
            <p:cNvPr id="64546" name="Object 36"/>
            <p:cNvGraphicFramePr>
              <a:graphicFrameLocks noChangeAspect="1"/>
            </p:cNvGraphicFramePr>
            <p:nvPr/>
          </p:nvGraphicFramePr>
          <p:xfrm>
            <a:off x="4792" y="3152"/>
            <a:ext cx="247" cy="504"/>
          </p:xfrm>
          <a:graphic>
            <a:graphicData uri="http://schemas.openxmlformats.org/presentationml/2006/ole">
              <mc:AlternateContent xmlns:mc="http://schemas.openxmlformats.org/markup-compatibility/2006">
                <mc:Choice xmlns:v="urn:schemas-microsoft-com:vml" Requires="v">
                  <p:oleObj spid="_x0000_s26662" r:id="rId8" imgW="241300" imgH="482600" progId="Equation.3">
                    <p:embed/>
                  </p:oleObj>
                </mc:Choice>
                <mc:Fallback>
                  <p:oleObj r:id="rId8" imgW="241300" imgH="482600" progId="Equation.3">
                    <p:embed/>
                    <p:pic>
                      <p:nvPicPr>
                        <p:cNvPr id="0" name="图片 3115"/>
                        <p:cNvPicPr/>
                        <p:nvPr/>
                      </p:nvPicPr>
                      <p:blipFill>
                        <a:blip r:embed="rId9"/>
                        <a:stretch>
                          <a:fillRect/>
                        </a:stretch>
                      </p:blipFill>
                      <p:spPr>
                        <a:xfrm>
                          <a:off x="4792" y="3152"/>
                          <a:ext cx="247" cy="504"/>
                        </a:xfrm>
                        <a:prstGeom prst="rect">
                          <a:avLst/>
                        </a:prstGeom>
                        <a:noFill/>
                        <a:ln w="38100">
                          <a:noFill/>
                          <a:miter/>
                        </a:ln>
                      </p:spPr>
                    </p:pic>
                  </p:oleObj>
                </mc:Fallback>
              </mc:AlternateContent>
            </a:graphicData>
          </a:graphic>
        </p:graphicFrame>
        <p:graphicFrame>
          <p:nvGraphicFramePr>
            <p:cNvPr id="64547" name="Object 37"/>
            <p:cNvGraphicFramePr>
              <a:graphicFrameLocks noChangeAspect="1"/>
            </p:cNvGraphicFramePr>
            <p:nvPr/>
          </p:nvGraphicFramePr>
          <p:xfrm>
            <a:off x="4608" y="3624"/>
            <a:ext cx="672" cy="504"/>
          </p:xfrm>
          <a:graphic>
            <a:graphicData uri="http://schemas.openxmlformats.org/presentationml/2006/ole">
              <mc:AlternateContent xmlns:mc="http://schemas.openxmlformats.org/markup-compatibility/2006">
                <mc:Choice xmlns:v="urn:schemas-microsoft-com:vml" Requires="v">
                  <p:oleObj spid="_x0000_s26663" r:id="rId10" imgW="647700" imgH="482600" progId="Equation.3">
                    <p:embed/>
                  </p:oleObj>
                </mc:Choice>
                <mc:Fallback>
                  <p:oleObj r:id="rId10" imgW="647700" imgH="482600" progId="Equation.3">
                    <p:embed/>
                    <p:pic>
                      <p:nvPicPr>
                        <p:cNvPr id="0" name="图片 3116"/>
                        <p:cNvPicPr/>
                        <p:nvPr/>
                      </p:nvPicPr>
                      <p:blipFill>
                        <a:blip r:embed="rId11"/>
                        <a:stretch>
                          <a:fillRect/>
                        </a:stretch>
                      </p:blipFill>
                      <p:spPr>
                        <a:xfrm>
                          <a:off x="4608" y="3624"/>
                          <a:ext cx="672" cy="504"/>
                        </a:xfrm>
                        <a:prstGeom prst="rect">
                          <a:avLst/>
                        </a:prstGeom>
                        <a:noFill/>
                        <a:ln w="38100">
                          <a:noFill/>
                          <a:miter/>
                        </a:ln>
                      </p:spPr>
                    </p:pic>
                  </p:oleObj>
                </mc:Fallback>
              </mc:AlternateContent>
            </a:graphicData>
          </a:graphic>
        </p:graphicFrame>
        <p:graphicFrame>
          <p:nvGraphicFramePr>
            <p:cNvPr id="64548" name="Object 38"/>
            <p:cNvGraphicFramePr>
              <a:graphicFrameLocks noChangeAspect="1"/>
            </p:cNvGraphicFramePr>
            <p:nvPr/>
          </p:nvGraphicFramePr>
          <p:xfrm>
            <a:off x="2803" y="3201"/>
            <a:ext cx="1180" cy="517"/>
          </p:xfrm>
          <a:graphic>
            <a:graphicData uri="http://schemas.openxmlformats.org/presentationml/2006/ole">
              <mc:AlternateContent xmlns:mc="http://schemas.openxmlformats.org/markup-compatibility/2006">
                <mc:Choice xmlns:v="urn:schemas-microsoft-com:vml" Requires="v">
                  <p:oleObj spid="_x0000_s26664" r:id="rId12" imgW="748665" imgH="393700" progId="Equation.3">
                    <p:embed/>
                  </p:oleObj>
                </mc:Choice>
                <mc:Fallback>
                  <p:oleObj r:id="rId12" imgW="748665" imgH="393700" progId="Equation.3">
                    <p:embed/>
                    <p:pic>
                      <p:nvPicPr>
                        <p:cNvPr id="0" name="图片 3117"/>
                        <p:cNvPicPr/>
                        <p:nvPr/>
                      </p:nvPicPr>
                      <p:blipFill>
                        <a:blip r:embed="rId13"/>
                        <a:stretch>
                          <a:fillRect/>
                        </a:stretch>
                      </p:blipFill>
                      <p:spPr>
                        <a:xfrm>
                          <a:off x="2803" y="3201"/>
                          <a:ext cx="1180" cy="517"/>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F49A225D-F65E-46D7-958C-7BD89B352A73}" type="datetime1">
              <a:rPr lang="zh-CN" altLang="en-US" sz="1200" smtClean="0"/>
              <a:pPr>
                <a:spcBef>
                  <a:spcPct val="0"/>
                </a:spcBef>
                <a:buClrTx/>
                <a:buFontTx/>
                <a:buNone/>
              </a:pPr>
              <a:t>2025/9/2</a:t>
            </a:fld>
            <a:endParaRPr lang="zh-CN" altLang="en-US" sz="1200" smtClean="0"/>
          </a:p>
        </p:txBody>
      </p:sp>
      <p:sp>
        <p:nvSpPr>
          <p:cNvPr id="921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3D4BC3CA-6C3C-4E47-A991-DA058A2A3E73}" type="slidenum">
              <a:rPr altLang="zh-CN" sz="1200" smtClean="0"/>
              <a:pPr>
                <a:spcBef>
                  <a:spcPct val="0"/>
                </a:spcBef>
                <a:buClrTx/>
                <a:buFontTx/>
                <a:buNone/>
              </a:pPr>
              <a:t>39</a:t>
            </a:fld>
            <a:endParaRPr lang="zh-CN" altLang="zh-CN" sz="1200" smtClean="0"/>
          </a:p>
        </p:txBody>
      </p:sp>
      <p:sp>
        <p:nvSpPr>
          <p:cNvPr id="9220" name="Rectangle 2"/>
          <p:cNvSpPr>
            <a:spLocks noChangeArrowheads="1"/>
          </p:cNvSpPr>
          <p:nvPr/>
        </p:nvSpPr>
        <p:spPr bwMode="auto">
          <a:xfrm>
            <a:off x="684213" y="981075"/>
            <a:ext cx="4778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l"/>
            </a:pPr>
            <a:r>
              <a:rPr lang="en-US" altLang="zh-CN" sz="2800" b="1">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拉氏变换的主要运算定理   </a:t>
            </a:r>
          </a:p>
        </p:txBody>
      </p:sp>
      <p:sp>
        <p:nvSpPr>
          <p:cNvPr id="69635" name="Rectangle 3"/>
          <p:cNvSpPr>
            <a:spLocks noChangeArrowheads="1"/>
          </p:cNvSpPr>
          <p:nvPr/>
        </p:nvSpPr>
        <p:spPr bwMode="auto">
          <a:xfrm>
            <a:off x="1119188" y="1844675"/>
            <a:ext cx="434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叠加定理</a:t>
            </a:r>
            <a:r>
              <a:rPr lang="zh-CN" altLang="en-US" sz="2800">
                <a:latin typeface="Times New Roman" panose="02020603050405020304" pitchFamily="18" charset="0"/>
              </a:rPr>
              <a:t> </a:t>
            </a:r>
          </a:p>
        </p:txBody>
      </p:sp>
      <p:sp>
        <p:nvSpPr>
          <p:cNvPr id="69636" name="Rectangle 4"/>
          <p:cNvSpPr>
            <a:spLocks noChangeArrowheads="1"/>
          </p:cNvSpPr>
          <p:nvPr/>
        </p:nvSpPr>
        <p:spPr bwMode="auto">
          <a:xfrm>
            <a:off x="1303338" y="3429000"/>
            <a:ext cx="6267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q"/>
            </a:pPr>
            <a:r>
              <a:rPr lang="en-US" altLang="zh-CN" sz="2800">
                <a:latin typeface="Times New Roman" panose="02020603050405020304" pitchFamily="18" charset="0"/>
              </a:rPr>
              <a:t> </a:t>
            </a:r>
            <a:r>
              <a:rPr lang="zh-CN" altLang="en-US" sz="2800">
                <a:latin typeface="Times New Roman" panose="02020603050405020304" pitchFamily="18" charset="0"/>
              </a:rPr>
              <a:t>齐次性：</a:t>
            </a:r>
            <a:r>
              <a:rPr lang="en-US" altLang="zh-CN" sz="2800" i="1">
                <a:latin typeface="Times New Roman" panose="02020603050405020304" pitchFamily="18" charset="0"/>
              </a:rPr>
              <a:t>L</a:t>
            </a:r>
            <a:r>
              <a:rPr lang="en-US" altLang="zh-CN" sz="2800">
                <a:latin typeface="Times New Roman" panose="02020603050405020304" pitchFamily="18" charset="0"/>
              </a:rPr>
              <a:t>[</a:t>
            </a:r>
            <a:r>
              <a:rPr lang="en-US" altLang="zh-CN" sz="2800" i="1">
                <a:latin typeface="Times New Roman" panose="02020603050405020304" pitchFamily="18" charset="0"/>
              </a:rPr>
              <a:t>af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aL</a:t>
            </a:r>
            <a:r>
              <a:rPr lang="en-US" altLang="zh-CN" sz="2800">
                <a:latin typeface="Times New Roman" panose="02020603050405020304" pitchFamily="18" charset="0"/>
              </a:rPr>
              <a:t>[</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a:t>
            </a:r>
            <a:r>
              <a:rPr lang="en-US" altLang="zh-CN" sz="2800" i="1">
                <a:latin typeface="Times New Roman" panose="02020603050405020304" pitchFamily="18" charset="0"/>
              </a:rPr>
              <a:t>a</a:t>
            </a:r>
            <a:r>
              <a:rPr lang="zh-CN" altLang="en-US" sz="2800">
                <a:latin typeface="Times New Roman" panose="02020603050405020304" pitchFamily="18" charset="0"/>
              </a:rPr>
              <a:t>为常数；</a:t>
            </a:r>
          </a:p>
        </p:txBody>
      </p:sp>
      <p:sp>
        <p:nvSpPr>
          <p:cNvPr id="69637" name="Rectangle 5"/>
          <p:cNvSpPr>
            <a:spLocks noChangeArrowheads="1"/>
          </p:cNvSpPr>
          <p:nvPr/>
        </p:nvSpPr>
        <p:spPr bwMode="auto">
          <a:xfrm>
            <a:off x="1331913" y="2636838"/>
            <a:ext cx="62103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latin typeface="Times New Roman" panose="02020603050405020304" pitchFamily="18" charset="0"/>
              </a:rPr>
              <a:t>叠加性：</a:t>
            </a:r>
            <a:r>
              <a:rPr lang="en-US" altLang="zh-CN" sz="2800" i="1">
                <a:latin typeface="Times New Roman" panose="02020603050405020304" pitchFamily="18" charset="0"/>
              </a:rPr>
              <a:t>L</a:t>
            </a:r>
            <a:r>
              <a:rPr lang="en-US" altLang="zh-CN" sz="2800">
                <a:latin typeface="Times New Roman" panose="02020603050405020304" pitchFamily="18" charset="0"/>
              </a:rPr>
              <a:t>[</a:t>
            </a:r>
            <a:r>
              <a:rPr lang="en-US" altLang="zh-CN" sz="2800" i="1">
                <a:latin typeface="Times New Roman" panose="02020603050405020304" pitchFamily="18" charset="0"/>
              </a:rPr>
              <a:t>f</a:t>
            </a:r>
            <a:r>
              <a:rPr lang="en-US" altLang="zh-CN" sz="2900" baseline="-3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f</a:t>
            </a:r>
            <a:r>
              <a:rPr lang="en-US" altLang="zh-CN" sz="2900" baseline="-30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L</a:t>
            </a:r>
            <a:r>
              <a:rPr lang="en-US" altLang="zh-CN" sz="2800">
                <a:latin typeface="Times New Roman" panose="02020603050405020304" pitchFamily="18" charset="0"/>
              </a:rPr>
              <a:t>[</a:t>
            </a:r>
            <a:r>
              <a:rPr lang="en-US" altLang="zh-CN" sz="2800" i="1">
                <a:latin typeface="Times New Roman" panose="02020603050405020304" pitchFamily="18" charset="0"/>
              </a:rPr>
              <a:t>f</a:t>
            </a:r>
            <a:r>
              <a:rPr lang="en-US" altLang="zh-CN" sz="2900" baseline="-30000">
                <a:latin typeface="Times New Roman" panose="02020603050405020304" pitchFamily="18" charset="0"/>
              </a:rPr>
              <a:t>1</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en-US" altLang="zh-CN" sz="2800" i="1">
                <a:latin typeface="Times New Roman" panose="02020603050405020304" pitchFamily="18" charset="0"/>
              </a:rPr>
              <a:t>L</a:t>
            </a:r>
            <a:r>
              <a:rPr lang="en-US" altLang="zh-CN" sz="2800">
                <a:latin typeface="Times New Roman" panose="02020603050405020304" pitchFamily="18" charset="0"/>
              </a:rPr>
              <a:t>[</a:t>
            </a:r>
            <a:r>
              <a:rPr lang="en-US" altLang="zh-CN" sz="2800" i="1">
                <a:latin typeface="Times New Roman" panose="02020603050405020304" pitchFamily="18" charset="0"/>
              </a:rPr>
              <a:t>f</a:t>
            </a:r>
            <a:r>
              <a:rPr lang="en-US" altLang="zh-CN" sz="2900" baseline="-30000">
                <a:latin typeface="Times New Roman" panose="02020603050405020304" pitchFamily="18" charset="0"/>
              </a:rPr>
              <a:t>2</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p>
        </p:txBody>
      </p:sp>
      <p:sp>
        <p:nvSpPr>
          <p:cNvPr id="69638" name="Rectangle 6"/>
          <p:cNvSpPr>
            <a:spLocks noChangeArrowheads="1"/>
          </p:cNvSpPr>
          <p:nvPr/>
        </p:nvSpPr>
        <p:spPr bwMode="auto">
          <a:xfrm>
            <a:off x="1276350" y="4221163"/>
            <a:ext cx="480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显然，拉氏变换为线性变换。</a:t>
            </a:r>
          </a:p>
        </p:txBody>
      </p:sp>
      <p:graphicFrame>
        <p:nvGraphicFramePr>
          <p:cNvPr id="2" name="对象 1">
            <a:hlinkClick r:id="" action="ppaction://ole?verb=0"/>
          </p:cNvPr>
          <p:cNvGraphicFramePr>
            <a:graphicFrameLocks noChangeAspect="1"/>
          </p:cNvGraphicFramePr>
          <p:nvPr/>
        </p:nvGraphicFramePr>
        <p:xfrm>
          <a:off x="1962150" y="5013325"/>
          <a:ext cx="4121150" cy="558800"/>
        </p:xfrm>
        <a:graphic>
          <a:graphicData uri="http://schemas.openxmlformats.org/presentationml/2006/ole">
            <mc:AlternateContent xmlns:mc="http://schemas.openxmlformats.org/markup-compatibility/2006">
              <mc:Choice xmlns:v="urn:schemas-microsoft-com:vml" Requires="v">
                <p:oleObj spid="_x0000_s27652" r:id="rId4" imgW="1688760" imgH="228600" progId="Equation.KSEE3">
                  <p:embed/>
                </p:oleObj>
              </mc:Choice>
              <mc:Fallback>
                <p:oleObj r:id="rId4" imgW="1688760" imgH="228600" progId="Equation.KSEE3">
                  <p:embed/>
                  <p:pic>
                    <p:nvPicPr>
                      <p:cNvPr id="2" name="对象 1">
                        <a:hlinkClick r:id="" action="ppaction://ole?verb=0"/>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2150" y="5013325"/>
                        <a:ext cx="41211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p:cNvSpPr txBox="1">
            <a:spLocks noChangeArrowheads="1"/>
          </p:cNvSpPr>
          <p:nvPr/>
        </p:nvSpPr>
        <p:spPr bwMode="auto">
          <a:xfrm>
            <a:off x="684213" y="4899025"/>
            <a:ext cx="11001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400" b="1"/>
              <a:t>例如：</a:t>
            </a:r>
          </a:p>
        </p:txBody>
      </p:sp>
      <p:graphicFrame>
        <p:nvGraphicFramePr>
          <p:cNvPr id="4" name="对象 3">
            <a:hlinkClick r:id="" action="ppaction://ole?verb=0"/>
          </p:cNvPr>
          <p:cNvGraphicFramePr>
            <a:graphicFrameLocks noChangeAspect="1"/>
          </p:cNvGraphicFramePr>
          <p:nvPr/>
        </p:nvGraphicFramePr>
        <p:xfrm>
          <a:off x="1979613" y="5734050"/>
          <a:ext cx="1208087" cy="476250"/>
        </p:xfrm>
        <a:graphic>
          <a:graphicData uri="http://schemas.openxmlformats.org/presentationml/2006/ole">
            <mc:AlternateContent xmlns:mc="http://schemas.openxmlformats.org/markup-compatibility/2006">
              <mc:Choice xmlns:v="urn:schemas-microsoft-com:vml" Requires="v">
                <p:oleObj spid="_x0000_s27653" r:id="rId6" imgW="482400" imgH="190440" progId="Equation.KSEE3">
                  <p:embed/>
                </p:oleObj>
              </mc:Choice>
              <mc:Fallback>
                <p:oleObj r:id="rId6" imgW="482400" imgH="190440" progId="Equation.KSEE3">
                  <p:embed/>
                  <p:pic>
                    <p:nvPicPr>
                      <p:cNvPr id="4" name="对象 3">
                        <a:hlinkClick r:id="" action="ppaction://ole?verb=0"/>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5734050"/>
                        <a:ext cx="12080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792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5"/>
                                        </p:tgtEl>
                                        <p:attrNameLst>
                                          <p:attrName>style.visibility</p:attrName>
                                        </p:attrNameLst>
                                      </p:cBhvr>
                                      <p:to>
                                        <p:strVal val="visible"/>
                                      </p:to>
                                    </p:set>
                                    <p:anim calcmode="lin" valueType="num">
                                      <p:cBhvr additive="base">
                                        <p:cTn id="7" dur="500" fill="hold"/>
                                        <p:tgtEl>
                                          <p:spTgt spid="69635"/>
                                        </p:tgtEl>
                                        <p:attrNameLst>
                                          <p:attrName>ppt_x</p:attrName>
                                        </p:attrNameLst>
                                      </p:cBhvr>
                                      <p:tavLst>
                                        <p:tav tm="0">
                                          <p:val>
                                            <p:strVal val="#ppt_x"/>
                                          </p:val>
                                        </p:tav>
                                        <p:tav tm="100000">
                                          <p:val>
                                            <p:strVal val="#ppt_x"/>
                                          </p:val>
                                        </p:tav>
                                      </p:tavLst>
                                    </p:anim>
                                    <p:anim calcmode="lin" valueType="num">
                                      <p:cBhvr additive="base">
                                        <p:cTn id="8" dur="500" fill="hold"/>
                                        <p:tgtEl>
                                          <p:spTgt spid="696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63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9636"/>
                                        </p:tgtEl>
                                        <p:attrNameLst>
                                          <p:attrName>style.visibility</p:attrName>
                                        </p:attrNameLst>
                                      </p:cBhvr>
                                      <p:to>
                                        <p:strVal val="visible"/>
                                      </p:to>
                                    </p:set>
                                    <p:anim calcmode="lin" valueType="num">
                                      <p:cBhvr additive="base">
                                        <p:cTn id="17" dur="500" fill="hold"/>
                                        <p:tgtEl>
                                          <p:spTgt spid="69636"/>
                                        </p:tgtEl>
                                        <p:attrNameLst>
                                          <p:attrName>ppt_x</p:attrName>
                                        </p:attrNameLst>
                                      </p:cBhvr>
                                      <p:tavLst>
                                        <p:tav tm="0">
                                          <p:val>
                                            <p:strVal val="#ppt_x"/>
                                          </p:val>
                                        </p:tav>
                                        <p:tav tm="100000">
                                          <p:val>
                                            <p:strVal val="#ppt_x"/>
                                          </p:val>
                                        </p:tav>
                                      </p:tavLst>
                                    </p:anim>
                                    <p:anim calcmode="lin" valueType="num">
                                      <p:cBhvr additive="base">
                                        <p:cTn id="18" dur="500" fill="hold"/>
                                        <p:tgtEl>
                                          <p:spTgt spid="6963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9638"/>
                                        </p:tgtEl>
                                        <p:attrNameLst>
                                          <p:attrName>style.visibility</p:attrName>
                                        </p:attrNameLst>
                                      </p:cBhvr>
                                      <p:to>
                                        <p:strVal val="visible"/>
                                      </p:to>
                                    </p:set>
                                    <p:anim calcmode="lin" valueType="num">
                                      <p:cBhvr additive="base">
                                        <p:cTn id="23" dur="500" fill="hold"/>
                                        <p:tgtEl>
                                          <p:spTgt spid="69638"/>
                                        </p:tgtEl>
                                        <p:attrNameLst>
                                          <p:attrName>ppt_x</p:attrName>
                                        </p:attrNameLst>
                                      </p:cBhvr>
                                      <p:tavLst>
                                        <p:tav tm="0">
                                          <p:val>
                                            <p:strVal val="#ppt_x"/>
                                          </p:val>
                                        </p:tav>
                                        <p:tav tm="100000">
                                          <p:val>
                                            <p:strVal val="#ppt_x"/>
                                          </p:val>
                                        </p:tav>
                                      </p:tavLst>
                                    </p:anim>
                                    <p:anim calcmode="lin" valueType="num">
                                      <p:cBhvr additive="base">
                                        <p:cTn id="24" dur="500" fill="hold"/>
                                        <p:tgtEl>
                                          <p:spTgt spid="69638"/>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p:bldP spid="69636" grpId="0"/>
      <p:bldP spid="69637" grpId="0"/>
      <p:bldP spid="69638"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D1095F35-15D0-4049-9148-5FD6DC44E6EA}" type="datetime1">
              <a:rPr lang="zh-CN" altLang="en-US" sz="1200" smtClean="0"/>
              <a:pPr>
                <a:spcBef>
                  <a:spcPct val="0"/>
                </a:spcBef>
                <a:buClrTx/>
                <a:buFontTx/>
                <a:buNone/>
              </a:pPr>
              <a:t>2025/9/2</a:t>
            </a:fld>
            <a:endParaRPr lang="zh-CN" altLang="en-US" sz="1200" smtClean="0"/>
          </a:p>
        </p:txBody>
      </p:sp>
      <p:sp>
        <p:nvSpPr>
          <p:cNvPr id="1126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6B95F6B-AD66-43A1-8BC5-D5EBBAA75E8E}" type="slidenum">
              <a:rPr altLang="zh-CN" sz="1200" smtClean="0"/>
              <a:pPr>
                <a:spcBef>
                  <a:spcPct val="0"/>
                </a:spcBef>
                <a:buClrTx/>
                <a:buFontTx/>
                <a:buNone/>
              </a:pPr>
              <a:t>40</a:t>
            </a:fld>
            <a:endParaRPr lang="zh-CN" altLang="zh-CN" sz="1200" smtClean="0"/>
          </a:p>
        </p:txBody>
      </p:sp>
      <p:sp>
        <p:nvSpPr>
          <p:cNvPr id="11268" name="Rectangle 2"/>
          <p:cNvSpPr>
            <a:spLocks noChangeArrowheads="1"/>
          </p:cNvSpPr>
          <p:nvPr/>
        </p:nvSpPr>
        <p:spPr bwMode="auto">
          <a:xfrm>
            <a:off x="1116013" y="981075"/>
            <a:ext cx="434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实</a:t>
            </a:r>
            <a:r>
              <a:rPr lang="zh-CN" altLang="en-US" sz="2800">
                <a:latin typeface="宋体" panose="02010600030101010101" pitchFamily="2" charset="-122"/>
              </a:rPr>
              <a:t>微分定理 </a:t>
            </a:r>
          </a:p>
        </p:txBody>
      </p:sp>
      <p:graphicFrame>
        <p:nvGraphicFramePr>
          <p:cNvPr id="3" name="Object 3"/>
          <p:cNvGraphicFramePr>
            <a:graphicFrameLocks noChangeAspect="1"/>
          </p:cNvGraphicFramePr>
          <p:nvPr/>
        </p:nvGraphicFramePr>
        <p:xfrm>
          <a:off x="1547813" y="1628775"/>
          <a:ext cx="5486400" cy="862013"/>
        </p:xfrm>
        <a:graphic>
          <a:graphicData uri="http://schemas.openxmlformats.org/presentationml/2006/ole">
            <mc:AlternateContent xmlns:mc="http://schemas.openxmlformats.org/markup-compatibility/2006">
              <mc:Choice xmlns:v="urn:schemas-microsoft-com:vml" Requires="v">
                <p:oleObj spid="_x0000_s28676" r:id="rId4" imgW="3149600" imgH="495300" progId="Equation.3">
                  <p:embed/>
                </p:oleObj>
              </mc:Choice>
              <mc:Fallback>
                <p:oleObj r:id="rId4" imgW="3149600" imgH="495300" progId="Equation.3">
                  <p:embed/>
                  <p:pic>
                    <p:nvPicPr>
                      <p:cNvPr id="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1628775"/>
                        <a:ext cx="54864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
          <p:cNvGrpSpPr>
            <a:grpSpLocks/>
          </p:cNvGrpSpPr>
          <p:nvPr/>
        </p:nvGrpSpPr>
        <p:grpSpPr bwMode="auto">
          <a:xfrm>
            <a:off x="1187450" y="2565400"/>
            <a:ext cx="6961188" cy="2978150"/>
            <a:chOff x="803" y="1292"/>
            <a:chExt cx="4385" cy="1876"/>
          </a:xfrm>
        </p:grpSpPr>
        <p:graphicFrame>
          <p:nvGraphicFramePr>
            <p:cNvPr id="11272" name="Object 6"/>
            <p:cNvGraphicFramePr>
              <a:graphicFrameLocks noChangeAspect="1"/>
            </p:cNvGraphicFramePr>
            <p:nvPr/>
          </p:nvGraphicFramePr>
          <p:xfrm>
            <a:off x="912" y="1713"/>
            <a:ext cx="4276" cy="1455"/>
          </p:xfrm>
          <a:graphic>
            <a:graphicData uri="http://schemas.openxmlformats.org/presentationml/2006/ole">
              <mc:AlternateContent xmlns:mc="http://schemas.openxmlformats.org/markup-compatibility/2006">
                <mc:Choice xmlns:v="urn:schemas-microsoft-com:vml" Requires="v">
                  <p:oleObj spid="_x0000_s28677" r:id="rId6" imgW="3581400" imgH="1219200" progId="Equation.3">
                    <p:embed/>
                  </p:oleObj>
                </mc:Choice>
                <mc:Fallback>
                  <p:oleObj r:id="rId6" imgW="3581400" imgH="1219200" progId="Equation.3">
                    <p:embed/>
                    <p:pic>
                      <p:nvPicPr>
                        <p:cNvPr id="1127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 y="1713"/>
                          <a:ext cx="4276" cy="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73" name="Rectangle 7"/>
            <p:cNvSpPr>
              <a:spLocks noChangeArrowheads="1"/>
            </p:cNvSpPr>
            <p:nvPr/>
          </p:nvSpPr>
          <p:spPr bwMode="auto">
            <a:xfrm>
              <a:off x="803" y="1292"/>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同样有：</a:t>
              </a:r>
            </a:p>
          </p:txBody>
        </p:sp>
      </p:grpSp>
      <p:sp>
        <p:nvSpPr>
          <p:cNvPr id="4" name="Rectangle 8"/>
          <p:cNvSpPr>
            <a:spLocks noChangeArrowheads="1"/>
          </p:cNvSpPr>
          <p:nvPr/>
        </p:nvSpPr>
        <p:spPr bwMode="auto">
          <a:xfrm>
            <a:off x="1258888" y="5445125"/>
            <a:ext cx="747077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pPr>
            <a:r>
              <a:rPr lang="zh-CN" altLang="en-US" sz="2800">
                <a:latin typeface="宋体" panose="02010600030101010101" pitchFamily="2" charset="-122"/>
              </a:rPr>
              <a:t>式中，</a:t>
            </a:r>
            <a:r>
              <a:rPr lang="en-US" altLang="zh-CN" sz="2800" i="1">
                <a:latin typeface="Times New Roman" panose="02020603050405020304" pitchFamily="18" charset="0"/>
              </a:rPr>
              <a:t>f </a:t>
            </a:r>
            <a:r>
              <a:rPr lang="en-US" altLang="zh-CN" sz="2800">
                <a:latin typeface="Times New Roman" panose="02020603050405020304" pitchFamily="18" charset="0"/>
              </a:rPr>
              <a:t>'(0)</a:t>
            </a:r>
            <a:r>
              <a:rPr lang="zh-CN" altLang="en-US" sz="2800">
                <a:latin typeface="宋体" panose="02010600030101010101" pitchFamily="2" charset="-122"/>
              </a:rPr>
              <a:t>，</a:t>
            </a:r>
            <a:r>
              <a:rPr lang="en-US" altLang="zh-CN" sz="2800" i="1">
                <a:latin typeface="Times New Roman" panose="02020603050405020304" pitchFamily="18" charset="0"/>
              </a:rPr>
              <a:t>f </a:t>
            </a:r>
            <a:r>
              <a:rPr lang="en-US" altLang="zh-CN" sz="2800">
                <a:latin typeface="Times New Roman" panose="02020603050405020304" pitchFamily="18" charset="0"/>
              </a:rPr>
              <a:t>''(0)</a:t>
            </a:r>
            <a:r>
              <a:rPr lang="zh-CN" altLang="en-US" sz="2800">
                <a:latin typeface="宋体" panose="02010600030101010101" pitchFamily="2" charset="-122"/>
              </a:rPr>
              <a:t>，</a:t>
            </a:r>
            <a:r>
              <a:rPr lang="en-US" altLang="zh-CN" sz="2800">
                <a:latin typeface="Times New Roman" panose="02020603050405020304" pitchFamily="18" charset="0"/>
              </a:rPr>
              <a:t>……</a:t>
            </a:r>
            <a:r>
              <a:rPr lang="zh-CN" altLang="en-US" sz="2800">
                <a:latin typeface="宋体" panose="02010600030101010101" pitchFamily="2" charset="-122"/>
              </a:rPr>
              <a:t>为函数</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宋体" panose="02010600030101010101" pitchFamily="2" charset="-122"/>
              </a:rPr>
              <a:t>的各阶导数在</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宋体" panose="02010600030101010101" pitchFamily="2" charset="-122"/>
              </a:rPr>
              <a:t>时的值。</a:t>
            </a:r>
          </a:p>
        </p:txBody>
      </p:sp>
    </p:spTree>
    <p:extLst>
      <p:ext uri="{BB962C8B-B14F-4D97-AF65-F5344CB8AC3E}">
        <p14:creationId xmlns:p14="http://schemas.microsoft.com/office/powerpoint/2010/main" val="1350836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DD472CD7-E981-43F9-B439-B08E1841DC9D}" type="datetime1">
              <a:rPr lang="zh-CN" altLang="en-US" sz="1200" smtClean="0"/>
              <a:pPr>
                <a:spcBef>
                  <a:spcPct val="0"/>
                </a:spcBef>
                <a:buClrTx/>
                <a:buFontTx/>
                <a:buNone/>
              </a:pPr>
              <a:t>2025/9/2</a:t>
            </a:fld>
            <a:endParaRPr lang="zh-CN" altLang="en-US" sz="1200" smtClean="0"/>
          </a:p>
        </p:txBody>
      </p:sp>
      <p:sp>
        <p:nvSpPr>
          <p:cNvPr id="133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B5E0B176-4560-418C-8BD7-397C97EC5D93}" type="slidenum">
              <a:rPr altLang="zh-CN" sz="1200" smtClean="0"/>
              <a:pPr>
                <a:spcBef>
                  <a:spcPct val="0"/>
                </a:spcBef>
                <a:buClrTx/>
                <a:buFontTx/>
                <a:buNone/>
              </a:pPr>
              <a:t>41</a:t>
            </a:fld>
            <a:endParaRPr lang="zh-CN" altLang="zh-CN" sz="1200" smtClean="0"/>
          </a:p>
        </p:txBody>
      </p:sp>
      <p:graphicFrame>
        <p:nvGraphicFramePr>
          <p:cNvPr id="67586" name="Object 2"/>
          <p:cNvGraphicFramePr>
            <a:graphicFrameLocks noChangeAspect="1"/>
          </p:cNvGraphicFramePr>
          <p:nvPr/>
        </p:nvGraphicFramePr>
        <p:xfrm>
          <a:off x="3276600" y="2636838"/>
          <a:ext cx="2716213" cy="3276600"/>
        </p:xfrm>
        <a:graphic>
          <a:graphicData uri="http://schemas.openxmlformats.org/presentationml/2006/ole">
            <mc:AlternateContent xmlns:mc="http://schemas.openxmlformats.org/markup-compatibility/2006">
              <mc:Choice xmlns:v="urn:schemas-microsoft-com:vml" Requires="v">
                <p:oleObj spid="_x0000_s29699" r:id="rId4" imgW="1574800" imgH="1892300" progId="Equation.3">
                  <p:embed/>
                </p:oleObj>
              </mc:Choice>
              <mc:Fallback>
                <p:oleObj r:id="rId4" imgW="1574800" imgH="1892300" progId="Equation.3">
                  <p:embed/>
                  <p:pic>
                    <p:nvPicPr>
                      <p:cNvPr id="6758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636838"/>
                        <a:ext cx="271621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7" name="Rectangle 3"/>
          <p:cNvSpPr>
            <a:spLocks noChangeArrowheads="1"/>
          </p:cNvSpPr>
          <p:nvPr/>
        </p:nvSpPr>
        <p:spPr bwMode="auto">
          <a:xfrm>
            <a:off x="971550" y="1700213"/>
            <a:ext cx="7696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及其各阶导数在</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Times New Roman" panose="02020603050405020304" pitchFamily="18" charset="0"/>
              </a:rPr>
              <a:t>时刻的值均为零时（零初始条件）：</a:t>
            </a:r>
          </a:p>
        </p:txBody>
      </p:sp>
    </p:spTree>
    <p:extLst>
      <p:ext uri="{BB962C8B-B14F-4D97-AF65-F5344CB8AC3E}">
        <p14:creationId xmlns:p14="http://schemas.microsoft.com/office/powerpoint/2010/main" val="3078906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7586"/>
                                        </p:tgtEl>
                                        <p:attrNameLst>
                                          <p:attrName>style.visibility</p:attrName>
                                        </p:attrNameLst>
                                      </p:cBhvr>
                                      <p:to>
                                        <p:strVal val="visible"/>
                                      </p:to>
                                    </p:set>
                                    <p:anim calcmode="lin" valueType="num">
                                      <p:cBhvr additive="base">
                                        <p:cTn id="7" dur="500" fill="hold"/>
                                        <p:tgtEl>
                                          <p:spTgt spid="67586"/>
                                        </p:tgtEl>
                                        <p:attrNameLst>
                                          <p:attrName>ppt_x</p:attrName>
                                        </p:attrNameLst>
                                      </p:cBhvr>
                                      <p:tavLst>
                                        <p:tav tm="0">
                                          <p:val>
                                            <p:strVal val="#ppt_x"/>
                                          </p:val>
                                        </p:tav>
                                        <p:tav tm="100000">
                                          <p:val>
                                            <p:strVal val="#ppt_x"/>
                                          </p:val>
                                        </p:tav>
                                      </p:tavLst>
                                    </p:anim>
                                    <p:anim calcmode="lin" valueType="num">
                                      <p:cBhvr additive="base">
                                        <p:cTn id="8" dur="500" fill="hold"/>
                                        <p:tgtEl>
                                          <p:spTgt spid="675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2057D168-DA9F-4FBB-A905-5BAAF2213A7F}" type="datetime1">
              <a:rPr lang="zh-CN" altLang="en-US" sz="1200" smtClean="0"/>
              <a:pPr>
                <a:spcBef>
                  <a:spcPct val="0"/>
                </a:spcBef>
                <a:buClrTx/>
                <a:buFontTx/>
                <a:buNone/>
              </a:pPr>
              <a:t>2025/9/2</a:t>
            </a:fld>
            <a:endParaRPr lang="zh-CN" altLang="en-US" sz="1200" smtClean="0"/>
          </a:p>
        </p:txBody>
      </p:sp>
      <p:sp>
        <p:nvSpPr>
          <p:cNvPr id="1536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fld id="{460CA63E-C509-4AA6-9597-1ED3378CA832}" type="slidenum">
              <a:rPr altLang="zh-CN" sz="1200" smtClean="0"/>
              <a:pPr>
                <a:spcBef>
                  <a:spcPct val="0"/>
                </a:spcBef>
                <a:buClrTx/>
                <a:buFontTx/>
                <a:buNone/>
              </a:pPr>
              <a:t>42</a:t>
            </a:fld>
            <a:endParaRPr lang="zh-CN" altLang="zh-CN" sz="1200" smtClean="0"/>
          </a:p>
        </p:txBody>
      </p:sp>
      <p:sp>
        <p:nvSpPr>
          <p:cNvPr id="15364" name="Rectangle 2"/>
          <p:cNvSpPr>
            <a:spLocks noChangeArrowheads="1"/>
          </p:cNvSpPr>
          <p:nvPr/>
        </p:nvSpPr>
        <p:spPr bwMode="auto">
          <a:xfrm>
            <a:off x="900113" y="908050"/>
            <a:ext cx="434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积分定理 </a:t>
            </a:r>
          </a:p>
        </p:txBody>
      </p:sp>
      <p:graphicFrame>
        <p:nvGraphicFramePr>
          <p:cNvPr id="3" name="Object 3"/>
          <p:cNvGraphicFramePr>
            <a:graphicFrameLocks noChangeAspect="1"/>
          </p:cNvGraphicFramePr>
          <p:nvPr/>
        </p:nvGraphicFramePr>
        <p:xfrm>
          <a:off x="1547813" y="1628775"/>
          <a:ext cx="6553200" cy="781050"/>
        </p:xfrm>
        <a:graphic>
          <a:graphicData uri="http://schemas.openxmlformats.org/presentationml/2006/ole">
            <mc:AlternateContent xmlns:mc="http://schemas.openxmlformats.org/markup-compatibility/2006">
              <mc:Choice xmlns:v="urn:schemas-microsoft-com:vml" Requires="v">
                <p:oleObj spid="_x0000_s30726" r:id="rId4" imgW="3911600" imgH="469900" progId="Equation.3">
                  <p:embed/>
                </p:oleObj>
              </mc:Choice>
              <mc:Fallback>
                <p:oleObj r:id="rId4" imgW="3911600" imgH="469900" progId="Equation.3">
                  <p:embed/>
                  <p:pic>
                    <p:nvPicPr>
                      <p:cNvPr id="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1628775"/>
                        <a:ext cx="65532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4"/>
          <p:cNvGrpSpPr>
            <a:grpSpLocks/>
          </p:cNvGrpSpPr>
          <p:nvPr/>
        </p:nvGrpSpPr>
        <p:grpSpPr bwMode="auto">
          <a:xfrm>
            <a:off x="755650" y="2492375"/>
            <a:ext cx="6051550" cy="841375"/>
            <a:chOff x="940" y="1824"/>
            <a:chExt cx="3812" cy="530"/>
          </a:xfrm>
        </p:grpSpPr>
        <p:graphicFrame>
          <p:nvGraphicFramePr>
            <p:cNvPr id="15371" name="Object 5"/>
            <p:cNvGraphicFramePr>
              <a:graphicFrameLocks noChangeAspect="1"/>
            </p:cNvGraphicFramePr>
            <p:nvPr/>
          </p:nvGraphicFramePr>
          <p:xfrm>
            <a:off x="3072" y="1824"/>
            <a:ext cx="1680" cy="530"/>
          </p:xfrm>
          <a:graphic>
            <a:graphicData uri="http://schemas.openxmlformats.org/presentationml/2006/ole">
              <mc:AlternateContent xmlns:mc="http://schemas.openxmlformats.org/markup-compatibility/2006">
                <mc:Choice xmlns:v="urn:schemas-microsoft-com:vml" Requires="v">
                  <p:oleObj spid="_x0000_s30727" r:id="rId6" imgW="1422400" imgH="444500" progId="Equation.3">
                    <p:embed/>
                  </p:oleObj>
                </mc:Choice>
                <mc:Fallback>
                  <p:oleObj r:id="rId6" imgW="1422400" imgH="444500" progId="Equation.3">
                    <p:embed/>
                    <p:pic>
                      <p:nvPicPr>
                        <p:cNvPr id="1537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2" y="1824"/>
                          <a:ext cx="1680" cy="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72" name="Rectangle 6"/>
            <p:cNvSpPr>
              <a:spLocks noChangeArrowheads="1"/>
            </p:cNvSpPr>
            <p:nvPr/>
          </p:nvSpPr>
          <p:spPr bwMode="auto">
            <a:xfrm>
              <a:off x="940" y="1929"/>
              <a:ext cx="21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当初始条件为零时：</a:t>
              </a:r>
            </a:p>
          </p:txBody>
        </p:sp>
      </p:grpSp>
      <p:graphicFrame>
        <p:nvGraphicFramePr>
          <p:cNvPr id="66568" name="Object 8"/>
          <p:cNvGraphicFramePr>
            <a:graphicFrameLocks noChangeAspect="1"/>
          </p:cNvGraphicFramePr>
          <p:nvPr/>
        </p:nvGraphicFramePr>
        <p:xfrm>
          <a:off x="4211638" y="5229225"/>
          <a:ext cx="2971800" cy="1057275"/>
        </p:xfrm>
        <a:graphic>
          <a:graphicData uri="http://schemas.openxmlformats.org/presentationml/2006/ole">
            <mc:AlternateContent xmlns:mc="http://schemas.openxmlformats.org/markup-compatibility/2006">
              <mc:Choice xmlns:v="urn:schemas-microsoft-com:vml" Requires="v">
                <p:oleObj spid="_x0000_s30728" r:id="rId8" imgW="1816100" imgH="647700" progId="Equation.3">
                  <p:embed/>
                </p:oleObj>
              </mc:Choice>
              <mc:Fallback>
                <p:oleObj r:id="rId8" imgW="1816100" imgH="647700" progId="Equation.3">
                  <p:embed/>
                  <p:pic>
                    <p:nvPicPr>
                      <p:cNvPr id="6656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638" y="5229225"/>
                        <a:ext cx="29718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6" name="Object 10"/>
          <p:cNvGraphicFramePr>
            <a:graphicFrameLocks noChangeAspect="1"/>
          </p:cNvGraphicFramePr>
          <p:nvPr/>
        </p:nvGraphicFramePr>
        <p:xfrm>
          <a:off x="1930400" y="3990975"/>
          <a:ext cx="5665788" cy="1023938"/>
        </p:xfrm>
        <a:graphic>
          <a:graphicData uri="http://schemas.openxmlformats.org/presentationml/2006/ole">
            <mc:AlternateContent xmlns:mc="http://schemas.openxmlformats.org/markup-compatibility/2006">
              <mc:Choice xmlns:v="urn:schemas-microsoft-com:vml" Requires="v">
                <p:oleObj spid="_x0000_s30729" r:id="rId10" imgW="3378200" imgH="609600" progId="Equation.3">
                  <p:embed/>
                </p:oleObj>
              </mc:Choice>
              <mc:Fallback>
                <p:oleObj r:id="rId10" imgW="3378200" imgH="609600" progId="Equation.3">
                  <p:embed/>
                  <p:pic>
                    <p:nvPicPr>
                      <p:cNvPr id="13316"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0400" y="3990975"/>
                        <a:ext cx="5665788"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23" name="Rectangle 11"/>
          <p:cNvSpPr>
            <a:spLocks noChangeArrowheads="1"/>
          </p:cNvSpPr>
          <p:nvPr/>
        </p:nvSpPr>
        <p:spPr bwMode="auto">
          <a:xfrm>
            <a:off x="1258888" y="3284538"/>
            <a:ext cx="1250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同样：</a:t>
            </a:r>
          </a:p>
        </p:txBody>
      </p:sp>
      <p:sp>
        <p:nvSpPr>
          <p:cNvPr id="4" name="Rectangle 12"/>
          <p:cNvSpPr>
            <a:spLocks noChangeArrowheads="1"/>
          </p:cNvSpPr>
          <p:nvPr/>
        </p:nvSpPr>
        <p:spPr bwMode="auto">
          <a:xfrm>
            <a:off x="827088" y="530066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Times New Roman" panose="02020603050405020304" pitchFamily="18" charset="0"/>
              </a:rPr>
              <a:t>当初始条件为零时：</a:t>
            </a:r>
          </a:p>
        </p:txBody>
      </p:sp>
    </p:spTree>
    <p:extLst>
      <p:ext uri="{BB962C8B-B14F-4D97-AF65-F5344CB8AC3E}">
        <p14:creationId xmlns:p14="http://schemas.microsoft.com/office/powerpoint/2010/main" val="28593930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3323"/>
                                        </p:tgtEl>
                                        <p:attrNameLst>
                                          <p:attrName>style.visibility</p:attrName>
                                        </p:attrNameLst>
                                      </p:cBhvr>
                                      <p:to>
                                        <p:strVal val="visible"/>
                                      </p:to>
                                    </p:set>
                                    <p:animEffect transition="in" filter="blinds(horizontal)">
                                      <p:cBhvr>
                                        <p:cTn id="19" dur="500"/>
                                        <p:tgtEl>
                                          <p:spTgt spid="13323"/>
                                        </p:tgtEl>
                                      </p:cBhvr>
                                    </p:animEffect>
                                  </p:childTnLst>
                                </p:cTn>
                              </p:par>
                              <p:par>
                                <p:cTn id="20" presetID="3" presetClass="entr" presetSubtype="10" fill="hold" nodeType="withEffect">
                                  <p:stCondLst>
                                    <p:cond delay="0"/>
                                  </p:stCondLst>
                                  <p:childTnLst>
                                    <p:set>
                                      <p:cBhvr>
                                        <p:cTn id="21" dur="1" fill="hold">
                                          <p:stCondLst>
                                            <p:cond delay="0"/>
                                          </p:stCondLst>
                                        </p:cTn>
                                        <p:tgtEl>
                                          <p:spTgt spid="13316"/>
                                        </p:tgtEl>
                                        <p:attrNameLst>
                                          <p:attrName>style.visibility</p:attrName>
                                        </p:attrNameLst>
                                      </p:cBhvr>
                                      <p:to>
                                        <p:strVal val="visible"/>
                                      </p:to>
                                    </p:set>
                                    <p:animEffect transition="in" filter="blinds(horizontal)">
                                      <p:cBhvr>
                                        <p:cTn id="22" dur="500"/>
                                        <p:tgtEl>
                                          <p:spTgt spid="133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66568"/>
                                        </p:tgtEl>
                                        <p:attrNameLst>
                                          <p:attrName>style.visibility</p:attrName>
                                        </p:attrNameLst>
                                      </p:cBhvr>
                                      <p:to>
                                        <p:strVal val="visible"/>
                                      </p:to>
                                    </p:set>
                                    <p:anim calcmode="lin" valueType="num">
                                      <p:cBhvr additive="base">
                                        <p:cTn id="33" dur="500" fill="hold"/>
                                        <p:tgtEl>
                                          <p:spTgt spid="66568"/>
                                        </p:tgtEl>
                                        <p:attrNameLst>
                                          <p:attrName>ppt_x</p:attrName>
                                        </p:attrNameLst>
                                      </p:cBhvr>
                                      <p:tavLst>
                                        <p:tav tm="0">
                                          <p:val>
                                            <p:strVal val="#ppt_x"/>
                                          </p:val>
                                        </p:tav>
                                        <p:tav tm="100000">
                                          <p:val>
                                            <p:strVal val="#ppt_x"/>
                                          </p:val>
                                        </p:tav>
                                      </p:tavLst>
                                    </p:anim>
                                    <p:anim calcmode="lin" valueType="num">
                                      <p:cBhvr additive="base">
                                        <p:cTn id="34" dur="500" fill="hold"/>
                                        <p:tgtEl>
                                          <p:spTgt spid="665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p:cNvSpPr txBox="1">
            <a:spLocks noChangeArrowheads="1"/>
          </p:cNvSpPr>
          <p:nvPr/>
        </p:nvSpPr>
        <p:spPr bwMode="auto">
          <a:xfrm>
            <a:off x="1187450" y="908050"/>
            <a:ext cx="731520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nSpc>
                <a:spcPct val="115000"/>
              </a:lnSpc>
            </a:pPr>
            <a:r>
              <a:rPr lang="zh-CN" altLang="en-US" sz="2800" b="1">
                <a:latin typeface="Times New Roman" panose="02020603050405020304" pitchFamily="18" charset="0"/>
              </a:rPr>
              <a:t>常用的</a:t>
            </a:r>
            <a:r>
              <a:rPr lang="zh-CN" altLang="en-US" sz="2800" b="1">
                <a:latin typeface="宋体" panose="02010600030101010101" pitchFamily="2" charset="-122"/>
              </a:rPr>
              <a:t>典型输入信号时域、</a:t>
            </a:r>
            <a:r>
              <a:rPr lang="en-US" altLang="zh-CN" sz="2800" b="1">
                <a:latin typeface="宋体" panose="02010600030101010101" pitchFamily="2" charset="-122"/>
              </a:rPr>
              <a:t>s</a:t>
            </a:r>
            <a:r>
              <a:rPr lang="zh-CN" altLang="en-US" sz="2800" b="1">
                <a:latin typeface="宋体" panose="02010600030101010101" pitchFamily="2" charset="-122"/>
              </a:rPr>
              <a:t>域表达式</a:t>
            </a:r>
            <a:endParaRPr lang="zh-CN" altLang="en-US" sz="2800" b="1">
              <a:latin typeface="Times New Roman" panose="02020603050405020304" pitchFamily="18" charset="0"/>
            </a:endParaRPr>
          </a:p>
        </p:txBody>
      </p:sp>
      <p:grpSp>
        <p:nvGrpSpPr>
          <p:cNvPr id="17411" name="Group 4"/>
          <p:cNvGrpSpPr>
            <a:grpSpLocks/>
          </p:cNvGrpSpPr>
          <p:nvPr/>
        </p:nvGrpSpPr>
        <p:grpSpPr bwMode="auto">
          <a:xfrm>
            <a:off x="900113" y="1773238"/>
            <a:ext cx="7848600" cy="4495800"/>
            <a:chOff x="672" y="1296"/>
            <a:chExt cx="4944" cy="2832"/>
          </a:xfrm>
        </p:grpSpPr>
        <p:sp>
          <p:nvSpPr>
            <p:cNvPr id="17414" name="Rectangle 5"/>
            <p:cNvSpPr>
              <a:spLocks noChangeArrowheads="1"/>
            </p:cNvSpPr>
            <p:nvPr/>
          </p:nvSpPr>
          <p:spPr bwMode="auto">
            <a:xfrm>
              <a:off x="4128" y="3656"/>
              <a:ext cx="1488"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endParaRPr lang="zh-CN" altLang="zh-CN" sz="2600"/>
            </a:p>
          </p:txBody>
        </p:sp>
        <p:sp>
          <p:nvSpPr>
            <p:cNvPr id="17415" name="Rectangle 6"/>
            <p:cNvSpPr>
              <a:spLocks noChangeArrowheads="1"/>
            </p:cNvSpPr>
            <p:nvPr/>
          </p:nvSpPr>
          <p:spPr bwMode="auto">
            <a:xfrm>
              <a:off x="2784" y="3656"/>
              <a:ext cx="13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en-US" altLang="zh-CN" sz="2600" i="1"/>
                <a:t>Asin</a:t>
              </a:r>
              <a:r>
                <a:rPr lang="en-US" altLang="zh-CN" sz="2600" i="1">
                  <a:sym typeface="Symbol" panose="05050102010706020507" pitchFamily="18" charset="2"/>
                </a:rPr>
                <a:t></a:t>
              </a:r>
              <a:r>
                <a:rPr lang="en-US" altLang="zh-CN" sz="2600" i="1"/>
                <a:t>t</a:t>
              </a:r>
              <a:r>
                <a:rPr lang="en-US" altLang="zh-CN" sz="2600"/>
                <a:t> </a:t>
              </a:r>
            </a:p>
          </p:txBody>
        </p:sp>
        <p:sp>
          <p:nvSpPr>
            <p:cNvPr id="17416" name="Rectangle 7"/>
            <p:cNvSpPr>
              <a:spLocks noChangeArrowheads="1"/>
            </p:cNvSpPr>
            <p:nvPr/>
          </p:nvSpPr>
          <p:spPr bwMode="auto">
            <a:xfrm>
              <a:off x="672" y="3656"/>
              <a:ext cx="211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zh-CN" altLang="en-US" sz="2600">
                  <a:latin typeface="宋体" panose="02010600030101010101" pitchFamily="2" charset="-122"/>
                </a:rPr>
                <a:t>正弦信号</a:t>
              </a:r>
              <a:r>
                <a:rPr lang="zh-CN" altLang="en-US" sz="2600"/>
                <a:t> </a:t>
              </a:r>
            </a:p>
          </p:txBody>
        </p:sp>
        <p:sp>
          <p:nvSpPr>
            <p:cNvPr id="17417" name="Rectangle 8"/>
            <p:cNvSpPr>
              <a:spLocks noChangeArrowheads="1"/>
            </p:cNvSpPr>
            <p:nvPr/>
          </p:nvSpPr>
          <p:spPr bwMode="auto">
            <a:xfrm>
              <a:off x="4119" y="1749"/>
              <a:ext cx="1488"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20000"/>
                </a:spcBef>
                <a:buClr>
                  <a:schemeClr val="accent2"/>
                </a:buClr>
              </a:pPr>
              <a:r>
                <a:rPr lang="en-US" altLang="zh-CN" sz="2600"/>
                <a:t>1</a:t>
              </a:r>
            </a:p>
          </p:txBody>
        </p:sp>
        <p:sp>
          <p:nvSpPr>
            <p:cNvPr id="17418" name="Rectangle 9"/>
            <p:cNvSpPr>
              <a:spLocks noChangeArrowheads="1"/>
            </p:cNvSpPr>
            <p:nvPr/>
          </p:nvSpPr>
          <p:spPr bwMode="auto">
            <a:xfrm>
              <a:off x="2803" y="1778"/>
              <a:ext cx="13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en-US" altLang="zh-CN" sz="2600" i="1">
                  <a:sym typeface="Symbol" panose="05050102010706020507" pitchFamily="18" charset="2"/>
                </a:rPr>
                <a:t></a:t>
              </a:r>
              <a:r>
                <a:rPr lang="en-US" altLang="zh-CN" sz="2600"/>
                <a:t>(</a:t>
              </a:r>
              <a:r>
                <a:rPr lang="en-US" altLang="zh-CN" sz="2600" i="1"/>
                <a:t>t</a:t>
              </a:r>
              <a:r>
                <a:rPr lang="en-US" altLang="zh-CN" sz="2600"/>
                <a:t>)</a:t>
              </a:r>
              <a:r>
                <a:rPr lang="zh-CN" altLang="en-US" sz="2600">
                  <a:latin typeface="宋体" panose="02010600030101010101" pitchFamily="2" charset="-122"/>
                </a:rPr>
                <a:t>，</a:t>
              </a:r>
              <a:r>
                <a:rPr lang="en-US" altLang="zh-CN" sz="2600" i="1"/>
                <a:t>t</a:t>
              </a:r>
              <a:r>
                <a:rPr lang="en-US" altLang="zh-CN" sz="2600"/>
                <a:t>=0 </a:t>
              </a:r>
            </a:p>
          </p:txBody>
        </p:sp>
        <p:sp>
          <p:nvSpPr>
            <p:cNvPr id="17419" name="Rectangle 10"/>
            <p:cNvSpPr>
              <a:spLocks noChangeArrowheads="1"/>
            </p:cNvSpPr>
            <p:nvPr/>
          </p:nvSpPr>
          <p:spPr bwMode="auto">
            <a:xfrm>
              <a:off x="672" y="3184"/>
              <a:ext cx="211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zh-CN" altLang="en-US" sz="2600">
                  <a:latin typeface="宋体" panose="02010600030101010101" pitchFamily="2" charset="-122"/>
                  <a:sym typeface="+mn-ea"/>
                </a:rPr>
                <a:t>单位加速度信号</a:t>
              </a:r>
              <a:r>
                <a:rPr lang="zh-CN" altLang="en-US" sz="2600">
                  <a:sym typeface="+mn-ea"/>
                </a:rPr>
                <a:t> </a:t>
              </a:r>
              <a:endParaRPr lang="zh-CN" altLang="en-US" sz="2600"/>
            </a:p>
          </p:txBody>
        </p:sp>
        <p:sp>
          <p:nvSpPr>
            <p:cNvPr id="17420" name="Rectangle 11"/>
            <p:cNvSpPr>
              <a:spLocks noChangeArrowheads="1"/>
            </p:cNvSpPr>
            <p:nvPr/>
          </p:nvSpPr>
          <p:spPr bwMode="auto">
            <a:xfrm>
              <a:off x="4128" y="2712"/>
              <a:ext cx="1488"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endParaRPr lang="zh-CN" altLang="zh-CN" sz="2600"/>
            </a:p>
          </p:txBody>
        </p:sp>
        <p:sp>
          <p:nvSpPr>
            <p:cNvPr id="17421" name="Rectangle 12"/>
            <p:cNvSpPr>
              <a:spLocks noChangeArrowheads="1"/>
            </p:cNvSpPr>
            <p:nvPr/>
          </p:nvSpPr>
          <p:spPr bwMode="auto">
            <a:xfrm>
              <a:off x="2784" y="2712"/>
              <a:ext cx="13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en-US" altLang="zh-CN" sz="2600">
                  <a:latin typeface="宋体" panose="02010600030101010101" pitchFamily="2" charset="-122"/>
                </a:rPr>
                <a:t>    </a:t>
              </a:r>
              <a:endParaRPr lang="en-US" altLang="zh-CN" sz="2600"/>
            </a:p>
          </p:txBody>
        </p:sp>
        <p:sp>
          <p:nvSpPr>
            <p:cNvPr id="17422" name="Rectangle 13"/>
            <p:cNvSpPr>
              <a:spLocks noChangeArrowheads="1"/>
            </p:cNvSpPr>
            <p:nvPr/>
          </p:nvSpPr>
          <p:spPr bwMode="auto">
            <a:xfrm>
              <a:off x="672" y="2712"/>
              <a:ext cx="211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zh-CN" altLang="en-US" sz="2600">
                  <a:latin typeface="宋体" panose="02010600030101010101" pitchFamily="2" charset="-122"/>
                  <a:sym typeface="+mn-ea"/>
                </a:rPr>
                <a:t>单位速度</a:t>
              </a:r>
              <a:r>
                <a:rPr lang="en-US" altLang="zh-CN" sz="2600">
                  <a:sym typeface="+mn-ea"/>
                </a:rPr>
                <a:t>(</a:t>
              </a:r>
              <a:r>
                <a:rPr lang="zh-CN" altLang="en-US" sz="2600">
                  <a:latin typeface="宋体" panose="02010600030101010101" pitchFamily="2" charset="-122"/>
                  <a:sym typeface="+mn-ea"/>
                </a:rPr>
                <a:t>斜坡</a:t>
              </a:r>
              <a:r>
                <a:rPr lang="en-US" altLang="zh-CN" sz="2600">
                  <a:sym typeface="+mn-ea"/>
                </a:rPr>
                <a:t>)</a:t>
              </a:r>
              <a:r>
                <a:rPr lang="zh-CN" altLang="en-US" sz="2600">
                  <a:latin typeface="宋体" panose="02010600030101010101" pitchFamily="2" charset="-122"/>
                  <a:sym typeface="+mn-ea"/>
                </a:rPr>
                <a:t>信号</a:t>
              </a:r>
              <a:endParaRPr lang="zh-CN" altLang="en-US" sz="2600"/>
            </a:p>
          </p:txBody>
        </p:sp>
        <p:sp>
          <p:nvSpPr>
            <p:cNvPr id="17423" name="Rectangle 14"/>
            <p:cNvSpPr>
              <a:spLocks noChangeArrowheads="1"/>
            </p:cNvSpPr>
            <p:nvPr/>
          </p:nvSpPr>
          <p:spPr bwMode="auto">
            <a:xfrm>
              <a:off x="4128" y="2240"/>
              <a:ext cx="1488"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endParaRPr lang="zh-CN" altLang="zh-CN" sz="2600"/>
            </a:p>
          </p:txBody>
        </p:sp>
        <p:sp>
          <p:nvSpPr>
            <p:cNvPr id="17424" name="Rectangle 15"/>
            <p:cNvSpPr>
              <a:spLocks noChangeArrowheads="1"/>
            </p:cNvSpPr>
            <p:nvPr/>
          </p:nvSpPr>
          <p:spPr bwMode="auto">
            <a:xfrm>
              <a:off x="2784" y="2720"/>
              <a:ext cx="13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en-US" altLang="zh-CN" sz="2600" i="1"/>
                <a:t> t</a:t>
              </a:r>
              <a:r>
                <a:rPr lang="zh-CN" altLang="en-US" sz="2600">
                  <a:latin typeface="宋体" panose="02010600030101010101" pitchFamily="2" charset="-122"/>
                </a:rPr>
                <a:t>，</a:t>
              </a:r>
              <a:r>
                <a:rPr lang="zh-CN" altLang="en-US" sz="2600"/>
                <a:t>  </a:t>
              </a:r>
              <a:r>
                <a:rPr lang="en-US" altLang="zh-CN" sz="2600" i="1"/>
                <a:t>t</a:t>
              </a:r>
              <a:r>
                <a:rPr lang="en-US" altLang="zh-CN" sz="2600">
                  <a:sym typeface="Symbol" panose="05050102010706020507" pitchFamily="18" charset="2"/>
                </a:rPr>
                <a:t></a:t>
              </a:r>
              <a:r>
                <a:rPr lang="en-US" altLang="zh-CN" sz="2600"/>
                <a:t>0 </a:t>
              </a:r>
            </a:p>
          </p:txBody>
        </p:sp>
        <p:sp>
          <p:nvSpPr>
            <p:cNvPr id="17425" name="Rectangle 16"/>
            <p:cNvSpPr>
              <a:spLocks noChangeArrowheads="1"/>
            </p:cNvSpPr>
            <p:nvPr/>
          </p:nvSpPr>
          <p:spPr bwMode="auto">
            <a:xfrm>
              <a:off x="672" y="2240"/>
              <a:ext cx="211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zh-CN" altLang="en-US" sz="2600">
                  <a:latin typeface="宋体" panose="02010600030101010101" pitchFamily="2" charset="-122"/>
                  <a:sym typeface="+mn-ea"/>
                </a:rPr>
                <a:t>单位阶跃信号 </a:t>
              </a:r>
              <a:endParaRPr lang="zh-CN" altLang="en-US" sz="2600">
                <a:latin typeface="宋体" panose="02010600030101010101" pitchFamily="2" charset="-122"/>
              </a:endParaRPr>
            </a:p>
          </p:txBody>
        </p:sp>
        <p:sp>
          <p:nvSpPr>
            <p:cNvPr id="17426" name="Rectangle 17"/>
            <p:cNvSpPr>
              <a:spLocks noChangeArrowheads="1"/>
            </p:cNvSpPr>
            <p:nvPr/>
          </p:nvSpPr>
          <p:spPr bwMode="auto">
            <a:xfrm>
              <a:off x="4128" y="1768"/>
              <a:ext cx="1488"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endParaRPr lang="zh-CN" altLang="zh-CN" sz="2600"/>
            </a:p>
          </p:txBody>
        </p:sp>
        <p:sp>
          <p:nvSpPr>
            <p:cNvPr id="17427" name="Rectangle 18"/>
            <p:cNvSpPr>
              <a:spLocks noChangeArrowheads="1"/>
            </p:cNvSpPr>
            <p:nvPr/>
          </p:nvSpPr>
          <p:spPr bwMode="auto">
            <a:xfrm>
              <a:off x="2784" y="2240"/>
              <a:ext cx="13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en-US" altLang="zh-CN" sz="2600"/>
                <a:t>1(</a:t>
              </a:r>
              <a:r>
                <a:rPr lang="en-US" altLang="zh-CN" sz="2600" i="1"/>
                <a:t>t</a:t>
              </a:r>
              <a:r>
                <a:rPr lang="en-US" altLang="zh-CN" sz="2600"/>
                <a:t>)</a:t>
              </a:r>
              <a:r>
                <a:rPr lang="zh-CN" altLang="en-US" sz="2600">
                  <a:latin typeface="宋体" panose="02010600030101010101" pitchFamily="2" charset="-122"/>
                </a:rPr>
                <a:t>，</a:t>
              </a:r>
              <a:r>
                <a:rPr lang="en-US" altLang="zh-CN" sz="2600" i="1"/>
                <a:t>t</a:t>
              </a:r>
              <a:r>
                <a:rPr lang="en-US" altLang="zh-CN" sz="2600">
                  <a:sym typeface="Symbol" panose="05050102010706020507" pitchFamily="18" charset="2"/>
                </a:rPr>
                <a:t></a:t>
              </a:r>
              <a:r>
                <a:rPr lang="en-US" altLang="zh-CN" sz="2600"/>
                <a:t>0 </a:t>
              </a:r>
            </a:p>
          </p:txBody>
        </p:sp>
        <p:sp>
          <p:nvSpPr>
            <p:cNvPr id="17428" name="Rectangle 19"/>
            <p:cNvSpPr>
              <a:spLocks noChangeArrowheads="1"/>
            </p:cNvSpPr>
            <p:nvPr/>
          </p:nvSpPr>
          <p:spPr bwMode="auto">
            <a:xfrm>
              <a:off x="672" y="1768"/>
              <a:ext cx="211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spcBef>
                  <a:spcPct val="20000"/>
                </a:spcBef>
                <a:buClr>
                  <a:schemeClr val="accent2"/>
                </a:buClr>
              </a:pPr>
              <a:r>
                <a:rPr lang="zh-CN" altLang="en-US" sz="2600">
                  <a:latin typeface="宋体" panose="02010600030101010101" pitchFamily="2" charset="-122"/>
                  <a:sym typeface="+mn-ea"/>
                </a:rPr>
                <a:t>单位脉冲信号</a:t>
              </a:r>
              <a:endParaRPr lang="zh-CN" altLang="en-US" sz="2600"/>
            </a:p>
          </p:txBody>
        </p:sp>
        <p:sp>
          <p:nvSpPr>
            <p:cNvPr id="17429" name="Rectangle 20"/>
            <p:cNvSpPr>
              <a:spLocks noChangeArrowheads="1"/>
            </p:cNvSpPr>
            <p:nvPr/>
          </p:nvSpPr>
          <p:spPr bwMode="auto">
            <a:xfrm>
              <a:off x="4128" y="1296"/>
              <a:ext cx="1488"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20000"/>
                </a:spcBef>
                <a:buClr>
                  <a:schemeClr val="accent2"/>
                </a:buClr>
              </a:pPr>
              <a:r>
                <a:rPr lang="zh-CN" altLang="en-US" sz="2600">
                  <a:latin typeface="宋体" panose="02010600030101010101" pitchFamily="2" charset="-122"/>
                </a:rPr>
                <a:t>复数域表达式</a:t>
              </a:r>
              <a:r>
                <a:rPr lang="zh-CN" altLang="en-US" sz="2600"/>
                <a:t> </a:t>
              </a:r>
            </a:p>
          </p:txBody>
        </p:sp>
        <p:sp>
          <p:nvSpPr>
            <p:cNvPr id="17430" name="Rectangle 21"/>
            <p:cNvSpPr>
              <a:spLocks noChangeArrowheads="1"/>
            </p:cNvSpPr>
            <p:nvPr/>
          </p:nvSpPr>
          <p:spPr bwMode="auto">
            <a:xfrm>
              <a:off x="2784" y="1296"/>
              <a:ext cx="13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20000"/>
                </a:spcBef>
                <a:buClr>
                  <a:schemeClr val="accent2"/>
                </a:buClr>
              </a:pPr>
              <a:r>
                <a:rPr lang="zh-CN" altLang="en-US" sz="2600">
                  <a:latin typeface="宋体" panose="02010600030101010101" pitchFamily="2" charset="-122"/>
                </a:rPr>
                <a:t>时域表达式</a:t>
              </a:r>
              <a:r>
                <a:rPr lang="zh-CN" altLang="en-US" sz="2600"/>
                <a:t> </a:t>
              </a:r>
            </a:p>
          </p:txBody>
        </p:sp>
        <p:sp>
          <p:nvSpPr>
            <p:cNvPr id="17431" name="Rectangle 22"/>
            <p:cNvSpPr>
              <a:spLocks noChangeArrowheads="1"/>
            </p:cNvSpPr>
            <p:nvPr/>
          </p:nvSpPr>
          <p:spPr bwMode="auto">
            <a:xfrm>
              <a:off x="672" y="1296"/>
              <a:ext cx="2112"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spcBef>
                  <a:spcPct val="20000"/>
                </a:spcBef>
                <a:buClr>
                  <a:schemeClr val="accent2"/>
                </a:buClr>
              </a:pPr>
              <a:r>
                <a:rPr lang="zh-CN" altLang="en-US" sz="2600">
                  <a:latin typeface="宋体" panose="02010600030101010101" pitchFamily="2" charset="-122"/>
                </a:rPr>
                <a:t>名</a:t>
              </a:r>
              <a:r>
                <a:rPr lang="zh-CN" altLang="en-US" sz="2600"/>
                <a:t>            </a:t>
              </a:r>
              <a:r>
                <a:rPr lang="zh-CN" altLang="en-US" sz="2600">
                  <a:latin typeface="宋体" panose="02010600030101010101" pitchFamily="2" charset="-122"/>
                </a:rPr>
                <a:t>称</a:t>
              </a:r>
              <a:r>
                <a:rPr lang="zh-CN" altLang="en-US" sz="2600"/>
                <a:t> </a:t>
              </a:r>
            </a:p>
          </p:txBody>
        </p:sp>
        <p:sp>
          <p:nvSpPr>
            <p:cNvPr id="17432" name="Line 23"/>
            <p:cNvSpPr>
              <a:spLocks noChangeShapeType="1"/>
            </p:cNvSpPr>
            <p:nvPr/>
          </p:nvSpPr>
          <p:spPr bwMode="auto">
            <a:xfrm>
              <a:off x="672" y="1296"/>
              <a:ext cx="494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3" name="Line 24"/>
            <p:cNvSpPr>
              <a:spLocks noChangeShapeType="1"/>
            </p:cNvSpPr>
            <p:nvPr/>
          </p:nvSpPr>
          <p:spPr bwMode="auto">
            <a:xfrm>
              <a:off x="672" y="1768"/>
              <a:ext cx="494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4" name="Line 25"/>
            <p:cNvSpPr>
              <a:spLocks noChangeShapeType="1"/>
            </p:cNvSpPr>
            <p:nvPr/>
          </p:nvSpPr>
          <p:spPr bwMode="auto">
            <a:xfrm>
              <a:off x="672" y="2240"/>
              <a:ext cx="494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5" name="Line 26"/>
            <p:cNvSpPr>
              <a:spLocks noChangeShapeType="1"/>
            </p:cNvSpPr>
            <p:nvPr/>
          </p:nvSpPr>
          <p:spPr bwMode="auto">
            <a:xfrm>
              <a:off x="672" y="2712"/>
              <a:ext cx="494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6" name="Line 27"/>
            <p:cNvSpPr>
              <a:spLocks noChangeShapeType="1"/>
            </p:cNvSpPr>
            <p:nvPr/>
          </p:nvSpPr>
          <p:spPr bwMode="auto">
            <a:xfrm>
              <a:off x="672" y="3184"/>
              <a:ext cx="494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7" name="Line 28"/>
            <p:cNvSpPr>
              <a:spLocks noChangeShapeType="1"/>
            </p:cNvSpPr>
            <p:nvPr/>
          </p:nvSpPr>
          <p:spPr bwMode="auto">
            <a:xfrm>
              <a:off x="672" y="3656"/>
              <a:ext cx="494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8" name="Line 29"/>
            <p:cNvSpPr>
              <a:spLocks noChangeShapeType="1"/>
            </p:cNvSpPr>
            <p:nvPr/>
          </p:nvSpPr>
          <p:spPr bwMode="auto">
            <a:xfrm>
              <a:off x="672" y="4128"/>
              <a:ext cx="494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9" name="Line 30"/>
            <p:cNvSpPr>
              <a:spLocks noChangeShapeType="1"/>
            </p:cNvSpPr>
            <p:nvPr/>
          </p:nvSpPr>
          <p:spPr bwMode="auto">
            <a:xfrm>
              <a:off x="672" y="1296"/>
              <a:ext cx="0" cy="2832"/>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0" name="Line 31"/>
            <p:cNvSpPr>
              <a:spLocks noChangeShapeType="1"/>
            </p:cNvSpPr>
            <p:nvPr/>
          </p:nvSpPr>
          <p:spPr bwMode="auto">
            <a:xfrm>
              <a:off x="2784" y="1296"/>
              <a:ext cx="0" cy="283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1" name="Line 32"/>
            <p:cNvSpPr>
              <a:spLocks noChangeShapeType="1"/>
            </p:cNvSpPr>
            <p:nvPr/>
          </p:nvSpPr>
          <p:spPr bwMode="auto">
            <a:xfrm>
              <a:off x="4128" y="1296"/>
              <a:ext cx="0" cy="2832"/>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2" name="Line 33"/>
            <p:cNvSpPr>
              <a:spLocks noChangeShapeType="1"/>
            </p:cNvSpPr>
            <p:nvPr/>
          </p:nvSpPr>
          <p:spPr bwMode="auto">
            <a:xfrm>
              <a:off x="5616" y="1296"/>
              <a:ext cx="0" cy="2832"/>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43" name="Object 34"/>
            <p:cNvGraphicFramePr>
              <a:graphicFrameLocks noChangeAspect="1"/>
            </p:cNvGraphicFramePr>
            <p:nvPr/>
          </p:nvGraphicFramePr>
          <p:xfrm>
            <a:off x="4792" y="2238"/>
            <a:ext cx="158" cy="474"/>
          </p:xfrm>
          <a:graphic>
            <a:graphicData uri="http://schemas.openxmlformats.org/presentationml/2006/ole">
              <mc:AlternateContent xmlns:mc="http://schemas.openxmlformats.org/markup-compatibility/2006">
                <mc:Choice xmlns:v="urn:schemas-microsoft-com:vml" Requires="v">
                  <p:oleObj spid="_x0000_s31751" r:id="rId4" imgW="152400" imgH="457200" progId="Equation.3">
                    <p:embed/>
                  </p:oleObj>
                </mc:Choice>
                <mc:Fallback>
                  <p:oleObj r:id="rId4" imgW="152400" imgH="457200" progId="Equation.3">
                    <p:embed/>
                    <p:pic>
                      <p:nvPicPr>
                        <p:cNvPr id="17443"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2" y="2238"/>
                          <a:ext cx="158"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4" name="Object 35"/>
            <p:cNvGraphicFramePr>
              <a:graphicFrameLocks noChangeAspect="1"/>
            </p:cNvGraphicFramePr>
            <p:nvPr/>
          </p:nvGraphicFramePr>
          <p:xfrm>
            <a:off x="4738" y="2680"/>
            <a:ext cx="267" cy="504"/>
          </p:xfrm>
          <a:graphic>
            <a:graphicData uri="http://schemas.openxmlformats.org/presentationml/2006/ole">
              <mc:AlternateContent xmlns:mc="http://schemas.openxmlformats.org/markup-compatibility/2006">
                <mc:Choice xmlns:v="urn:schemas-microsoft-com:vml" Requires="v">
                  <p:oleObj spid="_x0000_s31752" r:id="rId6" imgW="253890" imgH="482391" progId="Equation.3">
                    <p:embed/>
                  </p:oleObj>
                </mc:Choice>
                <mc:Fallback>
                  <p:oleObj r:id="rId6" imgW="253890" imgH="482391" progId="Equation.3">
                    <p:embed/>
                    <p:pic>
                      <p:nvPicPr>
                        <p:cNvPr id="17444"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38" y="2680"/>
                          <a:ext cx="267"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5" name="Object 36"/>
            <p:cNvGraphicFramePr>
              <a:graphicFrameLocks noChangeAspect="1"/>
            </p:cNvGraphicFramePr>
            <p:nvPr/>
          </p:nvGraphicFramePr>
          <p:xfrm>
            <a:off x="4792" y="3152"/>
            <a:ext cx="247" cy="504"/>
          </p:xfrm>
          <a:graphic>
            <a:graphicData uri="http://schemas.openxmlformats.org/presentationml/2006/ole">
              <mc:AlternateContent xmlns:mc="http://schemas.openxmlformats.org/markup-compatibility/2006">
                <mc:Choice xmlns:v="urn:schemas-microsoft-com:vml" Requires="v">
                  <p:oleObj spid="_x0000_s31753" r:id="rId8" imgW="241195" imgH="482391" progId="Equation.3">
                    <p:embed/>
                  </p:oleObj>
                </mc:Choice>
                <mc:Fallback>
                  <p:oleObj r:id="rId8" imgW="241195" imgH="482391" progId="Equation.3">
                    <p:embed/>
                    <p:pic>
                      <p:nvPicPr>
                        <p:cNvPr id="17445"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2" y="3152"/>
                          <a:ext cx="247"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6" name="Object 37"/>
            <p:cNvGraphicFramePr>
              <a:graphicFrameLocks noChangeAspect="1"/>
            </p:cNvGraphicFramePr>
            <p:nvPr/>
          </p:nvGraphicFramePr>
          <p:xfrm>
            <a:off x="4608" y="3624"/>
            <a:ext cx="672" cy="504"/>
          </p:xfrm>
          <a:graphic>
            <a:graphicData uri="http://schemas.openxmlformats.org/presentationml/2006/ole">
              <mc:AlternateContent xmlns:mc="http://schemas.openxmlformats.org/markup-compatibility/2006">
                <mc:Choice xmlns:v="urn:schemas-microsoft-com:vml" Requires="v">
                  <p:oleObj spid="_x0000_s31754" r:id="rId10" imgW="647419" imgH="482391" progId="Equation.3">
                    <p:embed/>
                  </p:oleObj>
                </mc:Choice>
                <mc:Fallback>
                  <p:oleObj r:id="rId10" imgW="647419" imgH="482391" progId="Equation.3">
                    <p:embed/>
                    <p:pic>
                      <p:nvPicPr>
                        <p:cNvPr id="17446"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08" y="3624"/>
                          <a:ext cx="672"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47" name="Object 38"/>
            <p:cNvGraphicFramePr>
              <a:graphicFrameLocks noChangeAspect="1"/>
            </p:cNvGraphicFramePr>
            <p:nvPr/>
          </p:nvGraphicFramePr>
          <p:xfrm>
            <a:off x="2803" y="3201"/>
            <a:ext cx="1180" cy="517"/>
          </p:xfrm>
          <a:graphic>
            <a:graphicData uri="http://schemas.openxmlformats.org/presentationml/2006/ole">
              <mc:AlternateContent xmlns:mc="http://schemas.openxmlformats.org/markup-compatibility/2006">
                <mc:Choice xmlns:v="urn:schemas-microsoft-com:vml" Requires="v">
                  <p:oleObj spid="_x0000_s31755" r:id="rId12" imgW="748975" imgH="393529" progId="Equation.3">
                    <p:embed/>
                  </p:oleObj>
                </mc:Choice>
                <mc:Fallback>
                  <p:oleObj r:id="rId12" imgW="748975" imgH="393529" progId="Equation.3">
                    <p:embed/>
                    <p:pic>
                      <p:nvPicPr>
                        <p:cNvPr id="17447"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03" y="3201"/>
                          <a:ext cx="118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 name="矩形 2"/>
          <p:cNvSpPr/>
          <p:nvPr/>
        </p:nvSpPr>
        <p:spPr>
          <a:xfrm>
            <a:off x="4295775" y="2552700"/>
            <a:ext cx="1873250" cy="29813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矩形 38"/>
          <p:cNvSpPr/>
          <p:nvPr/>
        </p:nvSpPr>
        <p:spPr>
          <a:xfrm>
            <a:off x="6584950" y="2552700"/>
            <a:ext cx="1873250" cy="29813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47114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21B0539-C050-47B0-BC4C-FC60AA198821}" type="datetime1">
              <a:rPr lang="zh-CN" altLang="en-US" smtClean="0"/>
              <a:pPr/>
              <a:t>2025/9/2</a:t>
            </a:fld>
            <a:endParaRPr lang="zh-CN" altLang="en-US" smtClean="0"/>
          </a:p>
        </p:txBody>
      </p:sp>
      <p:sp>
        <p:nvSpPr>
          <p:cNvPr id="19459"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AD7CAA4-EA29-4B67-9E1A-CFC371903E01}" type="slidenum">
              <a:rPr altLang="zh-CN" smtClean="0"/>
              <a:pPr/>
              <a:t>44</a:t>
            </a:fld>
            <a:endParaRPr lang="zh-CN" altLang="zh-CN" smtClean="0"/>
          </a:p>
        </p:txBody>
      </p:sp>
      <p:sp>
        <p:nvSpPr>
          <p:cNvPr id="19460" name="Rectangle 2"/>
          <p:cNvSpPr>
            <a:spLocks noChangeArrowheads="1"/>
          </p:cNvSpPr>
          <p:nvPr/>
        </p:nvSpPr>
        <p:spPr bwMode="auto">
          <a:xfrm>
            <a:off x="1258888" y="1125538"/>
            <a:ext cx="434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位移定理   </a:t>
            </a:r>
          </a:p>
        </p:txBody>
      </p:sp>
      <p:graphicFrame>
        <p:nvGraphicFramePr>
          <p:cNvPr id="64515" name="Object 3"/>
          <p:cNvGraphicFramePr>
            <a:graphicFrameLocks noChangeAspect="1"/>
          </p:cNvGraphicFramePr>
          <p:nvPr/>
        </p:nvGraphicFramePr>
        <p:xfrm>
          <a:off x="1600200" y="2273300"/>
          <a:ext cx="3429000" cy="565150"/>
        </p:xfrm>
        <a:graphic>
          <a:graphicData uri="http://schemas.openxmlformats.org/presentationml/2006/ole">
            <mc:AlternateContent xmlns:mc="http://schemas.openxmlformats.org/markup-compatibility/2006">
              <mc:Choice xmlns:v="urn:schemas-microsoft-com:vml" Requires="v">
                <p:oleObj spid="_x0000_s32773" r:id="rId4" imgW="1562100" imgH="254000" progId="Equation.3">
                  <p:embed/>
                </p:oleObj>
              </mc:Choice>
              <mc:Fallback>
                <p:oleObj r:id="rId4" imgW="1562100" imgH="254000" progId="Equation.3">
                  <p:embed/>
                  <p:pic>
                    <p:nvPicPr>
                      <p:cNvPr id="6451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273300"/>
                        <a:ext cx="34290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4"/>
          <p:cNvGrpSpPr>
            <a:grpSpLocks/>
          </p:cNvGrpSpPr>
          <p:nvPr/>
        </p:nvGrpSpPr>
        <p:grpSpPr bwMode="auto">
          <a:xfrm>
            <a:off x="1524000" y="3074988"/>
            <a:ext cx="6477000" cy="874712"/>
            <a:chOff x="960" y="1657"/>
            <a:chExt cx="4080" cy="551"/>
          </a:xfrm>
        </p:grpSpPr>
        <p:sp>
          <p:nvSpPr>
            <p:cNvPr id="19464" name="Rectangle 5"/>
            <p:cNvSpPr>
              <a:spLocks noChangeArrowheads="1"/>
            </p:cNvSpPr>
            <p:nvPr/>
          </p:nvSpPr>
          <p:spPr bwMode="auto">
            <a:xfrm>
              <a:off x="960" y="1737"/>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例：</a:t>
              </a:r>
            </a:p>
          </p:txBody>
        </p:sp>
        <p:graphicFrame>
          <p:nvGraphicFramePr>
            <p:cNvPr id="19465" name="Object 6"/>
            <p:cNvGraphicFramePr>
              <a:graphicFrameLocks noChangeAspect="1"/>
            </p:cNvGraphicFramePr>
            <p:nvPr/>
          </p:nvGraphicFramePr>
          <p:xfrm>
            <a:off x="1405" y="1657"/>
            <a:ext cx="3635" cy="551"/>
          </p:xfrm>
          <a:graphic>
            <a:graphicData uri="http://schemas.openxmlformats.org/presentationml/2006/ole">
              <mc:AlternateContent xmlns:mc="http://schemas.openxmlformats.org/markup-compatibility/2006">
                <mc:Choice xmlns:v="urn:schemas-microsoft-com:vml" Requires="v">
                  <p:oleObj spid="_x0000_s32774" r:id="rId6" imgW="2628900" imgH="393700" progId="Equation.3">
                    <p:embed/>
                  </p:oleObj>
                </mc:Choice>
                <mc:Fallback>
                  <p:oleObj r:id="rId6" imgW="2628900" imgH="393700" progId="Equation.3">
                    <p:embed/>
                    <p:pic>
                      <p:nvPicPr>
                        <p:cNvPr id="1946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5" y="1657"/>
                          <a:ext cx="3635"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64519" name="Object 7"/>
          <p:cNvGraphicFramePr>
            <a:graphicFrameLocks noChangeAspect="1"/>
          </p:cNvGraphicFramePr>
          <p:nvPr/>
        </p:nvGraphicFramePr>
        <p:xfrm>
          <a:off x="2209800" y="4102100"/>
          <a:ext cx="3846513" cy="1917700"/>
        </p:xfrm>
        <a:graphic>
          <a:graphicData uri="http://schemas.openxmlformats.org/presentationml/2006/ole">
            <mc:AlternateContent xmlns:mc="http://schemas.openxmlformats.org/markup-compatibility/2006">
              <mc:Choice xmlns:v="urn:schemas-microsoft-com:vml" Requires="v">
                <p:oleObj spid="_x0000_s32775" r:id="rId8" imgW="1752600" imgH="863600" progId="Equation.3">
                  <p:embed/>
                </p:oleObj>
              </mc:Choice>
              <mc:Fallback>
                <p:oleObj r:id="rId8" imgW="1752600" imgH="863600" progId="Equation.3">
                  <p:embed/>
                  <p:pic>
                    <p:nvPicPr>
                      <p:cNvPr id="6451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4102100"/>
                        <a:ext cx="3846513"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2964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5"/>
                                        </p:tgtEl>
                                        <p:attrNameLst>
                                          <p:attrName>style.visibility</p:attrName>
                                        </p:attrNameLst>
                                      </p:cBhvr>
                                      <p:to>
                                        <p:strVal val="visible"/>
                                      </p:to>
                                    </p:set>
                                    <p:anim calcmode="lin" valueType="num">
                                      <p:cBhvr additive="base">
                                        <p:cTn id="7" dur="500" fill="hold"/>
                                        <p:tgtEl>
                                          <p:spTgt spid="64515"/>
                                        </p:tgtEl>
                                        <p:attrNameLst>
                                          <p:attrName>ppt_x</p:attrName>
                                        </p:attrNameLst>
                                      </p:cBhvr>
                                      <p:tavLst>
                                        <p:tav tm="0">
                                          <p:val>
                                            <p:strVal val="#ppt_x"/>
                                          </p:val>
                                        </p:tav>
                                        <p:tav tm="100000">
                                          <p:val>
                                            <p:strVal val="#ppt_x"/>
                                          </p:val>
                                        </p:tav>
                                      </p:tavLst>
                                    </p:anim>
                                    <p:anim calcmode="lin" valueType="num">
                                      <p:cBhvr additive="base">
                                        <p:cTn id="8" dur="500" fill="hold"/>
                                        <p:tgtEl>
                                          <p:spTgt spid="6451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4519"/>
                                        </p:tgtEl>
                                        <p:attrNameLst>
                                          <p:attrName>style.visibility</p:attrName>
                                        </p:attrNameLst>
                                      </p:cBhvr>
                                      <p:to>
                                        <p:strVal val="visible"/>
                                      </p:to>
                                    </p:set>
                                    <p:anim calcmode="lin" valueType="num">
                                      <p:cBhvr additive="base">
                                        <p:cTn id="19" dur="500" fill="hold"/>
                                        <p:tgtEl>
                                          <p:spTgt spid="64519"/>
                                        </p:tgtEl>
                                        <p:attrNameLst>
                                          <p:attrName>ppt_x</p:attrName>
                                        </p:attrNameLst>
                                      </p:cBhvr>
                                      <p:tavLst>
                                        <p:tav tm="0">
                                          <p:val>
                                            <p:strVal val="#ppt_x"/>
                                          </p:val>
                                        </p:tav>
                                        <p:tav tm="100000">
                                          <p:val>
                                            <p:strVal val="#ppt_x"/>
                                          </p:val>
                                        </p:tav>
                                      </p:tavLst>
                                    </p:anim>
                                    <p:anim calcmode="lin" valueType="num">
                                      <p:cBhvr additive="base">
                                        <p:cTn id="20" dur="500" fill="hold"/>
                                        <p:tgtEl>
                                          <p:spTgt spid="645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C12A796-004D-4058-9FED-969FEE14FA5E}" type="datetime1">
              <a:rPr lang="zh-CN" altLang="en-US" smtClean="0"/>
              <a:pPr/>
              <a:t>2025/9/2</a:t>
            </a:fld>
            <a:endParaRPr lang="zh-CN" altLang="en-US" smtClean="0"/>
          </a:p>
        </p:txBody>
      </p:sp>
      <p:sp>
        <p:nvSpPr>
          <p:cNvPr id="21507"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67E6810-25E0-4B55-8370-2374C8703C9A}" type="slidenum">
              <a:rPr altLang="zh-CN" smtClean="0"/>
              <a:pPr/>
              <a:t>45</a:t>
            </a:fld>
            <a:endParaRPr lang="zh-CN" altLang="zh-CN" smtClean="0"/>
          </a:p>
        </p:txBody>
      </p:sp>
      <p:sp>
        <p:nvSpPr>
          <p:cNvPr id="21508" name="Rectangle 2"/>
          <p:cNvSpPr>
            <a:spLocks noChangeArrowheads="1"/>
          </p:cNvSpPr>
          <p:nvPr/>
        </p:nvSpPr>
        <p:spPr bwMode="auto">
          <a:xfrm>
            <a:off x="1143000" y="1066800"/>
            <a:ext cx="434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延迟定理  </a:t>
            </a:r>
          </a:p>
        </p:txBody>
      </p:sp>
      <p:graphicFrame>
        <p:nvGraphicFramePr>
          <p:cNvPr id="65539" name="Object 3"/>
          <p:cNvGraphicFramePr>
            <a:graphicFrameLocks noChangeAspect="1"/>
          </p:cNvGraphicFramePr>
          <p:nvPr/>
        </p:nvGraphicFramePr>
        <p:xfrm>
          <a:off x="1995488" y="5576888"/>
          <a:ext cx="3567112" cy="550862"/>
        </p:xfrm>
        <a:graphic>
          <a:graphicData uri="http://schemas.openxmlformats.org/presentationml/2006/ole">
            <mc:AlternateContent xmlns:mc="http://schemas.openxmlformats.org/markup-compatibility/2006">
              <mc:Choice xmlns:v="urn:schemas-microsoft-com:vml" Requires="v">
                <p:oleObj spid="_x0000_s33795" r:id="rId4" imgW="1320800" imgH="228600" progId="Equation.3">
                  <p:embed/>
                </p:oleObj>
              </mc:Choice>
              <mc:Fallback>
                <p:oleObj r:id="rId4" imgW="1320800" imgH="228600" progId="Equation.3">
                  <p:embed/>
                  <p:pic>
                    <p:nvPicPr>
                      <p:cNvPr id="6553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5488" y="5576888"/>
                        <a:ext cx="3567112"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0" name="Rectangle 4"/>
          <p:cNvSpPr>
            <a:spLocks noChangeArrowheads="1"/>
          </p:cNvSpPr>
          <p:nvPr/>
        </p:nvSpPr>
        <p:spPr bwMode="auto">
          <a:xfrm>
            <a:off x="1524000" y="4870450"/>
            <a:ext cx="6269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设当</a:t>
            </a:r>
            <a:r>
              <a:rPr lang="en-US" altLang="zh-CN" sz="2800" i="1">
                <a:latin typeface="Times New Roman" panose="02020603050405020304" pitchFamily="18" charset="0"/>
              </a:rPr>
              <a:t>t</a:t>
            </a:r>
            <a:r>
              <a:rPr lang="en-US" altLang="zh-CN" sz="2800">
                <a:latin typeface="Times New Roman" panose="02020603050405020304" pitchFamily="18" charset="0"/>
              </a:rPr>
              <a:t>&lt;0</a:t>
            </a:r>
            <a:r>
              <a:rPr lang="zh-CN" altLang="en-US" sz="2800">
                <a:latin typeface="Times New Roman" panose="02020603050405020304" pitchFamily="18" charset="0"/>
              </a:rPr>
              <a:t>时，</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zh-CN" altLang="en-US" sz="2800">
                <a:latin typeface="Times New Roman" panose="02020603050405020304" pitchFamily="18" charset="0"/>
              </a:rPr>
              <a:t>，则对任意</a:t>
            </a:r>
            <a:r>
              <a:rPr lang="zh-CN" altLang="en-US"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a:t>
            </a:r>
            <a:r>
              <a:rPr lang="zh-CN" altLang="en-US" sz="2800">
                <a:latin typeface="Times New Roman" panose="02020603050405020304" pitchFamily="18" charset="0"/>
              </a:rPr>
              <a:t>，有：</a:t>
            </a:r>
          </a:p>
        </p:txBody>
      </p:sp>
      <p:grpSp>
        <p:nvGrpSpPr>
          <p:cNvPr id="2" name="Group 5"/>
          <p:cNvGrpSpPr>
            <a:grpSpLocks/>
          </p:cNvGrpSpPr>
          <p:nvPr/>
        </p:nvGrpSpPr>
        <p:grpSpPr bwMode="auto">
          <a:xfrm>
            <a:off x="2133600" y="1752600"/>
            <a:ext cx="4191000" cy="2965450"/>
            <a:chOff x="1344" y="1104"/>
            <a:chExt cx="2640" cy="1868"/>
          </a:xfrm>
        </p:grpSpPr>
        <p:sp>
          <p:nvSpPr>
            <p:cNvPr id="21512" name="Text Box 6"/>
            <p:cNvSpPr txBox="1">
              <a:spLocks noChangeArrowheads="1"/>
            </p:cNvSpPr>
            <p:nvPr/>
          </p:nvSpPr>
          <p:spPr bwMode="auto">
            <a:xfrm>
              <a:off x="2286" y="2684"/>
              <a:ext cx="9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函数 </a:t>
              </a:r>
              <a:r>
                <a:rPr lang="en-US" altLang="zh-CN" sz="2400" i="1">
                  <a:latin typeface="Times New Roman" panose="02020603050405020304" pitchFamily="18" charset="0"/>
                </a:rPr>
                <a:t>f</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r>
                <a:rPr lang="en-US" altLang="zh-CN" sz="2400">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a:t>
              </a:r>
            </a:p>
          </p:txBody>
        </p:sp>
        <p:sp>
          <p:nvSpPr>
            <p:cNvPr id="21513" name="Line 7"/>
            <p:cNvSpPr>
              <a:spLocks noChangeShapeType="1"/>
            </p:cNvSpPr>
            <p:nvPr/>
          </p:nvSpPr>
          <p:spPr bwMode="auto">
            <a:xfrm flipV="1">
              <a:off x="1740" y="2504"/>
              <a:ext cx="2208" cy="0"/>
            </a:xfrm>
            <a:prstGeom prst="line">
              <a:avLst/>
            </a:prstGeom>
            <a:noFill/>
            <a:ln w="444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4" name="Line 8"/>
            <p:cNvSpPr>
              <a:spLocks noChangeShapeType="1"/>
            </p:cNvSpPr>
            <p:nvPr/>
          </p:nvSpPr>
          <p:spPr bwMode="auto">
            <a:xfrm flipV="1">
              <a:off x="1740" y="1104"/>
              <a:ext cx="0" cy="1400"/>
            </a:xfrm>
            <a:prstGeom prst="line">
              <a:avLst/>
            </a:prstGeom>
            <a:noFill/>
            <a:ln w="444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5" name="Text Box 9"/>
            <p:cNvSpPr txBox="1">
              <a:spLocks noChangeArrowheads="1"/>
            </p:cNvSpPr>
            <p:nvPr/>
          </p:nvSpPr>
          <p:spPr bwMode="auto">
            <a:xfrm>
              <a:off x="1488" y="249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21516" name="Text Box 10"/>
            <p:cNvSpPr txBox="1">
              <a:spLocks noChangeArrowheads="1"/>
            </p:cNvSpPr>
            <p:nvPr/>
          </p:nvSpPr>
          <p:spPr bwMode="auto">
            <a:xfrm>
              <a:off x="3815" y="2524"/>
              <a:ext cx="1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t</a:t>
              </a:r>
            </a:p>
          </p:txBody>
        </p:sp>
        <p:sp>
          <p:nvSpPr>
            <p:cNvPr id="21517" name="Text Box 11"/>
            <p:cNvSpPr txBox="1">
              <a:spLocks noChangeArrowheads="1"/>
            </p:cNvSpPr>
            <p:nvPr/>
          </p:nvSpPr>
          <p:spPr bwMode="auto">
            <a:xfrm>
              <a:off x="1344" y="1104"/>
              <a:ext cx="3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f</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21518" name="Freeform 12"/>
            <p:cNvSpPr>
              <a:spLocks noChangeArrowheads="1"/>
            </p:cNvSpPr>
            <p:nvPr/>
          </p:nvSpPr>
          <p:spPr bwMode="auto">
            <a:xfrm>
              <a:off x="1740" y="1535"/>
              <a:ext cx="1617" cy="969"/>
            </a:xfrm>
            <a:custGeom>
              <a:avLst/>
              <a:gdLst>
                <a:gd name="T0" fmla="*/ 0 w 3504"/>
                <a:gd name="T1" fmla="*/ 189 h 2192"/>
                <a:gd name="T2" fmla="*/ 47 w 3504"/>
                <a:gd name="T3" fmla="*/ 173 h 2192"/>
                <a:gd name="T4" fmla="*/ 75 w 3504"/>
                <a:gd name="T5" fmla="*/ 144 h 2192"/>
                <a:gd name="T6" fmla="*/ 94 w 3504"/>
                <a:gd name="T7" fmla="*/ 65 h 2192"/>
                <a:gd name="T8" fmla="*/ 123 w 3504"/>
                <a:gd name="T9" fmla="*/ 15 h 2192"/>
                <a:gd name="T10" fmla="*/ 189 w 3504"/>
                <a:gd name="T11" fmla="*/ 7 h 2192"/>
                <a:gd name="T12" fmla="*/ 278 w 3504"/>
                <a:gd name="T13" fmla="*/ 57 h 2192"/>
                <a:gd name="T14" fmla="*/ 344 w 3504"/>
                <a:gd name="T15" fmla="*/ 57 h 2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04" h="2192">
                  <a:moveTo>
                    <a:pt x="0" y="2192"/>
                  </a:moveTo>
                  <a:cubicBezTo>
                    <a:pt x="176" y="2140"/>
                    <a:pt x="352" y="2088"/>
                    <a:pt x="480" y="2000"/>
                  </a:cubicBezTo>
                  <a:cubicBezTo>
                    <a:pt x="608" y="1912"/>
                    <a:pt x="688" y="1872"/>
                    <a:pt x="768" y="1664"/>
                  </a:cubicBezTo>
                  <a:cubicBezTo>
                    <a:pt x="848" y="1456"/>
                    <a:pt x="880" y="1000"/>
                    <a:pt x="960" y="752"/>
                  </a:cubicBezTo>
                  <a:cubicBezTo>
                    <a:pt x="1040" y="504"/>
                    <a:pt x="1088" y="288"/>
                    <a:pt x="1248" y="176"/>
                  </a:cubicBezTo>
                  <a:cubicBezTo>
                    <a:pt x="1408" y="64"/>
                    <a:pt x="1656" y="0"/>
                    <a:pt x="1920" y="80"/>
                  </a:cubicBezTo>
                  <a:cubicBezTo>
                    <a:pt x="2184" y="160"/>
                    <a:pt x="2568" y="560"/>
                    <a:pt x="2832" y="656"/>
                  </a:cubicBezTo>
                  <a:cubicBezTo>
                    <a:pt x="3096" y="752"/>
                    <a:pt x="3300" y="704"/>
                    <a:pt x="3504" y="656"/>
                  </a:cubicBezTo>
                </a:path>
              </a:pathLst>
            </a:custGeom>
            <a:noFill/>
            <a:ln w="444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9" name="Freeform 13"/>
            <p:cNvSpPr>
              <a:spLocks noChangeArrowheads="1"/>
            </p:cNvSpPr>
            <p:nvPr/>
          </p:nvSpPr>
          <p:spPr bwMode="auto">
            <a:xfrm>
              <a:off x="2183" y="1528"/>
              <a:ext cx="1617" cy="968"/>
            </a:xfrm>
            <a:custGeom>
              <a:avLst/>
              <a:gdLst>
                <a:gd name="T0" fmla="*/ 0 w 3504"/>
                <a:gd name="T1" fmla="*/ 189 h 2192"/>
                <a:gd name="T2" fmla="*/ 47 w 3504"/>
                <a:gd name="T3" fmla="*/ 172 h 2192"/>
                <a:gd name="T4" fmla="*/ 75 w 3504"/>
                <a:gd name="T5" fmla="*/ 144 h 2192"/>
                <a:gd name="T6" fmla="*/ 94 w 3504"/>
                <a:gd name="T7" fmla="*/ 65 h 2192"/>
                <a:gd name="T8" fmla="*/ 123 w 3504"/>
                <a:gd name="T9" fmla="*/ 15 h 2192"/>
                <a:gd name="T10" fmla="*/ 189 w 3504"/>
                <a:gd name="T11" fmla="*/ 7 h 2192"/>
                <a:gd name="T12" fmla="*/ 278 w 3504"/>
                <a:gd name="T13" fmla="*/ 57 h 2192"/>
                <a:gd name="T14" fmla="*/ 344 w 3504"/>
                <a:gd name="T15" fmla="*/ 57 h 2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04" h="2192">
                  <a:moveTo>
                    <a:pt x="0" y="2192"/>
                  </a:moveTo>
                  <a:cubicBezTo>
                    <a:pt x="176" y="2140"/>
                    <a:pt x="352" y="2088"/>
                    <a:pt x="480" y="2000"/>
                  </a:cubicBezTo>
                  <a:cubicBezTo>
                    <a:pt x="608" y="1912"/>
                    <a:pt x="688" y="1872"/>
                    <a:pt x="768" y="1664"/>
                  </a:cubicBezTo>
                  <a:cubicBezTo>
                    <a:pt x="848" y="1456"/>
                    <a:pt x="880" y="1000"/>
                    <a:pt x="960" y="752"/>
                  </a:cubicBezTo>
                  <a:cubicBezTo>
                    <a:pt x="1040" y="504"/>
                    <a:pt x="1088" y="288"/>
                    <a:pt x="1248" y="176"/>
                  </a:cubicBezTo>
                  <a:cubicBezTo>
                    <a:pt x="1408" y="64"/>
                    <a:pt x="1656" y="0"/>
                    <a:pt x="1920" y="80"/>
                  </a:cubicBezTo>
                  <a:cubicBezTo>
                    <a:pt x="2184" y="160"/>
                    <a:pt x="2568" y="560"/>
                    <a:pt x="2832" y="656"/>
                  </a:cubicBezTo>
                  <a:cubicBezTo>
                    <a:pt x="3096" y="752"/>
                    <a:pt x="3300" y="704"/>
                    <a:pt x="3504" y="656"/>
                  </a:cubicBezTo>
                </a:path>
              </a:pathLst>
            </a:custGeom>
            <a:noFill/>
            <a:ln w="444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20" name="Text Box 14"/>
            <p:cNvSpPr txBox="1">
              <a:spLocks noChangeArrowheads="1"/>
            </p:cNvSpPr>
            <p:nvPr/>
          </p:nvSpPr>
          <p:spPr bwMode="auto">
            <a:xfrm>
              <a:off x="2104" y="249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sym typeface="Symbol" panose="05050102010706020507" pitchFamily="18" charset="2"/>
                </a:rPr>
                <a:t></a:t>
              </a:r>
              <a:endParaRPr lang="en-US" altLang="zh-CN" sz="2400">
                <a:latin typeface="Times New Roman" panose="02020603050405020304" pitchFamily="18" charset="0"/>
              </a:endParaRPr>
            </a:p>
          </p:txBody>
        </p:sp>
        <p:sp>
          <p:nvSpPr>
            <p:cNvPr id="21521" name="Text Box 15"/>
            <p:cNvSpPr txBox="1">
              <a:spLocks noChangeArrowheads="1"/>
            </p:cNvSpPr>
            <p:nvPr/>
          </p:nvSpPr>
          <p:spPr bwMode="auto">
            <a:xfrm>
              <a:off x="2256" y="1248"/>
              <a:ext cx="3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f</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a:latin typeface="Times New Roman" panose="02020603050405020304" pitchFamily="18" charset="0"/>
                </a:rPr>
                <a:t>)</a:t>
              </a:r>
            </a:p>
          </p:txBody>
        </p:sp>
        <p:sp>
          <p:nvSpPr>
            <p:cNvPr id="21522" name="Text Box 16"/>
            <p:cNvSpPr txBox="1">
              <a:spLocks noChangeArrowheads="1"/>
            </p:cNvSpPr>
            <p:nvPr/>
          </p:nvSpPr>
          <p:spPr bwMode="auto">
            <a:xfrm>
              <a:off x="2878" y="1244"/>
              <a:ext cx="4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445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f</a:t>
              </a:r>
              <a:r>
                <a:rPr lang="en-US" altLang="zh-CN" sz="2400">
                  <a:latin typeface="Times New Roman" panose="02020603050405020304" pitchFamily="18" charset="0"/>
                </a:rPr>
                <a:t>(</a:t>
              </a:r>
              <a:r>
                <a:rPr lang="en-US" altLang="zh-CN" sz="2400" i="1">
                  <a:latin typeface="Times New Roman" panose="02020603050405020304" pitchFamily="18" charset="0"/>
                </a:rPr>
                <a:t>t-</a:t>
              </a:r>
              <a:r>
                <a:rPr lang="en-US" altLang="zh-CN" sz="2400" i="1">
                  <a:latin typeface="Times New Roman" panose="02020603050405020304" pitchFamily="18" charset="0"/>
                  <a:sym typeface="Symbol" panose="05050102010706020507" pitchFamily="18" charset="2"/>
                </a:rPr>
                <a:t></a:t>
              </a:r>
              <a:r>
                <a:rPr lang="en-US" altLang="zh-CN" sz="2400">
                  <a:latin typeface="Times New Roman" panose="02020603050405020304" pitchFamily="18" charset="0"/>
                </a:rPr>
                <a:t>)</a:t>
              </a:r>
            </a:p>
          </p:txBody>
        </p:sp>
      </p:grpSp>
    </p:spTree>
    <p:extLst>
      <p:ext uri="{BB962C8B-B14F-4D97-AF65-F5344CB8AC3E}">
        <p14:creationId xmlns:p14="http://schemas.microsoft.com/office/powerpoint/2010/main" val="2583966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540"/>
                                        </p:tgtEl>
                                        <p:attrNameLst>
                                          <p:attrName>style.visibility</p:attrName>
                                        </p:attrNameLst>
                                      </p:cBhvr>
                                      <p:to>
                                        <p:strVal val="visible"/>
                                      </p:to>
                                    </p:set>
                                    <p:anim calcmode="lin" valueType="num">
                                      <p:cBhvr additive="base">
                                        <p:cTn id="13" dur="500" fill="hold"/>
                                        <p:tgtEl>
                                          <p:spTgt spid="65540"/>
                                        </p:tgtEl>
                                        <p:attrNameLst>
                                          <p:attrName>ppt_x</p:attrName>
                                        </p:attrNameLst>
                                      </p:cBhvr>
                                      <p:tavLst>
                                        <p:tav tm="0">
                                          <p:val>
                                            <p:strVal val="#ppt_x"/>
                                          </p:val>
                                        </p:tav>
                                        <p:tav tm="100000">
                                          <p:val>
                                            <p:strVal val="#ppt_x"/>
                                          </p:val>
                                        </p:tav>
                                      </p:tavLst>
                                    </p:anim>
                                    <p:anim calcmode="lin" valueType="num">
                                      <p:cBhvr additive="base">
                                        <p:cTn id="14" dur="500" fill="hold"/>
                                        <p:tgtEl>
                                          <p:spTgt spid="655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5539"/>
                                        </p:tgtEl>
                                        <p:attrNameLst>
                                          <p:attrName>style.visibility</p:attrName>
                                        </p:attrNameLst>
                                      </p:cBhvr>
                                      <p:to>
                                        <p:strVal val="visible"/>
                                      </p:to>
                                    </p:set>
                                    <p:anim calcmode="lin" valueType="num">
                                      <p:cBhvr additive="base">
                                        <p:cTn id="19" dur="500" fill="hold"/>
                                        <p:tgtEl>
                                          <p:spTgt spid="65539"/>
                                        </p:tgtEl>
                                        <p:attrNameLst>
                                          <p:attrName>ppt_x</p:attrName>
                                        </p:attrNameLst>
                                      </p:cBhvr>
                                      <p:tavLst>
                                        <p:tav tm="0">
                                          <p:val>
                                            <p:strVal val="#ppt_x"/>
                                          </p:val>
                                        </p:tav>
                                        <p:tav tm="100000">
                                          <p:val>
                                            <p:strVal val="#ppt_x"/>
                                          </p:val>
                                        </p:tav>
                                      </p:tavLst>
                                    </p:anim>
                                    <p:anim calcmode="lin" valueType="num">
                                      <p:cBhvr additive="base">
                                        <p:cTn id="20" dur="500" fill="hold"/>
                                        <p:tgtEl>
                                          <p:spTgt spid="655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7B43004F-93BD-4BAE-BA03-03276E04806D}" type="datetime1">
              <a:rPr lang="zh-CN" altLang="en-US" smtClean="0"/>
              <a:pPr/>
              <a:t>2025/9/2</a:t>
            </a:fld>
            <a:endParaRPr lang="zh-CN" altLang="en-US" smtClean="0"/>
          </a:p>
        </p:txBody>
      </p:sp>
      <p:sp>
        <p:nvSpPr>
          <p:cNvPr id="23555" name="灯片编号占位符 5"/>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0F39749-D77B-4543-88A1-1749CE84EC3F}" type="slidenum">
              <a:rPr altLang="zh-CN" smtClean="0"/>
              <a:pPr/>
              <a:t>46</a:t>
            </a:fld>
            <a:endParaRPr lang="zh-CN" altLang="zh-CN" smtClean="0"/>
          </a:p>
        </p:txBody>
      </p:sp>
      <p:sp>
        <p:nvSpPr>
          <p:cNvPr id="23556" name="Rectangle 2"/>
          <p:cNvSpPr>
            <a:spLocks noChangeArrowheads="1"/>
          </p:cNvSpPr>
          <p:nvPr/>
        </p:nvSpPr>
        <p:spPr bwMode="auto">
          <a:xfrm>
            <a:off x="611188" y="1052513"/>
            <a:ext cx="434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初值定理   </a:t>
            </a:r>
          </a:p>
        </p:txBody>
      </p:sp>
      <p:graphicFrame>
        <p:nvGraphicFramePr>
          <p:cNvPr id="63491" name="Object 3"/>
          <p:cNvGraphicFramePr>
            <a:graphicFrameLocks noChangeAspect="1"/>
          </p:cNvGraphicFramePr>
          <p:nvPr/>
        </p:nvGraphicFramePr>
        <p:xfrm>
          <a:off x="2098675" y="1744663"/>
          <a:ext cx="3206750" cy="528637"/>
        </p:xfrm>
        <a:graphic>
          <a:graphicData uri="http://schemas.openxmlformats.org/presentationml/2006/ole">
            <mc:AlternateContent xmlns:mc="http://schemas.openxmlformats.org/markup-compatibility/2006">
              <mc:Choice xmlns:v="urn:schemas-microsoft-com:vml" Requires="v">
                <p:oleObj spid="_x0000_s34821" r:id="rId4" imgW="1777229" imgH="291973" progId="Equation.3">
                  <p:embed/>
                </p:oleObj>
              </mc:Choice>
              <mc:Fallback>
                <p:oleObj r:id="rId4" imgW="1777229" imgH="291973" progId="Equation.3">
                  <p:embed/>
                  <p:pic>
                    <p:nvPicPr>
                      <p:cNvPr id="6349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8675" y="1744663"/>
                        <a:ext cx="320675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2" name="Rectangle 4"/>
          <p:cNvSpPr>
            <a:spLocks noChangeArrowheads="1"/>
          </p:cNvSpPr>
          <p:nvPr/>
        </p:nvSpPr>
        <p:spPr bwMode="auto">
          <a:xfrm>
            <a:off x="971550" y="2276475"/>
            <a:ext cx="7162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Times New Roman" panose="02020603050405020304" pitchFamily="18" charset="0"/>
              </a:rPr>
              <a:t>     </a:t>
            </a:r>
            <a:r>
              <a:rPr lang="zh-CN" altLang="en-US" sz="2800">
                <a:latin typeface="Times New Roman" panose="02020603050405020304" pitchFamily="18" charset="0"/>
              </a:rPr>
              <a:t>初值定理建立了函数</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宋体" panose="02010600030101010101" pitchFamily="2" charset="-122"/>
              </a:rPr>
              <a:t>在</a:t>
            </a:r>
            <a:r>
              <a:rPr lang="en-US" altLang="zh-CN" sz="2800" i="1">
                <a:latin typeface="Times New Roman" panose="02020603050405020304" pitchFamily="18" charset="0"/>
              </a:rPr>
              <a:t>t</a:t>
            </a:r>
            <a:r>
              <a:rPr lang="en-US" altLang="zh-CN" sz="2800">
                <a:latin typeface="Times New Roman" panose="02020603050405020304" pitchFamily="18" charset="0"/>
              </a:rPr>
              <a:t>=0</a:t>
            </a:r>
            <a:r>
              <a:rPr lang="en-US" altLang="zh-CN" sz="2900" baseline="30000">
                <a:latin typeface="Times New Roman" panose="02020603050405020304" pitchFamily="18" charset="0"/>
              </a:rPr>
              <a:t>+</a:t>
            </a:r>
            <a:r>
              <a:rPr lang="zh-CN" altLang="en-US" sz="2800">
                <a:latin typeface="宋体" panose="02010600030101010101" pitchFamily="2" charset="-122"/>
              </a:rPr>
              <a:t>处的初值与函数</a:t>
            </a:r>
            <a:r>
              <a:rPr lang="en-US" altLang="zh-CN" sz="2800" i="1">
                <a:latin typeface="Times New Roman" panose="02020603050405020304" pitchFamily="18" charset="0"/>
              </a:rPr>
              <a:t>sF</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宋体" panose="02010600030101010101" pitchFamily="2" charset="-122"/>
              </a:rPr>
              <a:t>在</a:t>
            </a:r>
            <a:r>
              <a:rPr lang="en-US" altLang="zh-CN" sz="2800" i="1">
                <a:latin typeface="Times New Roman" panose="02020603050405020304" pitchFamily="18" charset="0"/>
              </a:rPr>
              <a:t>s</a:t>
            </a:r>
            <a:r>
              <a:rPr lang="zh-CN" altLang="en-US" sz="2800">
                <a:latin typeface="宋体" panose="02010600030101010101" pitchFamily="2" charset="-122"/>
              </a:rPr>
              <a:t>趋于无穷远处的终值间的关系。</a:t>
            </a:r>
            <a:r>
              <a:rPr lang="zh-CN" altLang="en-US" sz="2800">
                <a:latin typeface="Times New Roman" panose="02020603050405020304" pitchFamily="18" charset="0"/>
              </a:rPr>
              <a:t> </a:t>
            </a:r>
          </a:p>
        </p:txBody>
      </p:sp>
      <p:sp>
        <p:nvSpPr>
          <p:cNvPr id="63494" name="Rectangle 6"/>
          <p:cNvSpPr>
            <a:spLocks noChangeArrowheads="1"/>
          </p:cNvSpPr>
          <p:nvPr/>
        </p:nvSpPr>
        <p:spPr bwMode="auto">
          <a:xfrm>
            <a:off x="611188" y="3500438"/>
            <a:ext cx="434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终值定理   </a:t>
            </a:r>
          </a:p>
        </p:txBody>
      </p:sp>
      <p:graphicFrame>
        <p:nvGraphicFramePr>
          <p:cNvPr id="63495" name="Object 7"/>
          <p:cNvGraphicFramePr>
            <a:graphicFrameLocks noChangeAspect="1"/>
          </p:cNvGraphicFramePr>
          <p:nvPr/>
        </p:nvGraphicFramePr>
        <p:xfrm>
          <a:off x="2225675" y="4683125"/>
          <a:ext cx="4038600" cy="612775"/>
        </p:xfrm>
        <a:graphic>
          <a:graphicData uri="http://schemas.openxmlformats.org/presentationml/2006/ole">
            <mc:AlternateContent xmlns:mc="http://schemas.openxmlformats.org/markup-compatibility/2006">
              <mc:Choice xmlns:v="urn:schemas-microsoft-com:vml" Requires="v">
                <p:oleObj spid="_x0000_s34822" r:id="rId6" imgW="2005729" imgH="304668" progId="Equation.3">
                  <p:embed/>
                </p:oleObj>
              </mc:Choice>
              <mc:Fallback>
                <p:oleObj r:id="rId6" imgW="2005729" imgH="304668" progId="Equation.3">
                  <p:embed/>
                  <p:pic>
                    <p:nvPicPr>
                      <p:cNvPr id="63495"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5675" y="4683125"/>
                        <a:ext cx="40386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8"/>
          <p:cNvGrpSpPr>
            <a:grpSpLocks/>
          </p:cNvGrpSpPr>
          <p:nvPr/>
        </p:nvGrpSpPr>
        <p:grpSpPr bwMode="auto">
          <a:xfrm>
            <a:off x="987425" y="3954463"/>
            <a:ext cx="7162800" cy="661987"/>
            <a:chOff x="622" y="2717"/>
            <a:chExt cx="4512" cy="417"/>
          </a:xfrm>
        </p:grpSpPr>
        <p:sp>
          <p:nvSpPr>
            <p:cNvPr id="23563" name="Rectangle 9"/>
            <p:cNvSpPr>
              <a:spLocks noChangeArrowheads="1"/>
            </p:cNvSpPr>
            <p:nvPr/>
          </p:nvSpPr>
          <p:spPr bwMode="auto">
            <a:xfrm>
              <a:off x="622" y="2758"/>
              <a:ext cx="451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若</a:t>
              </a:r>
              <a:r>
                <a:rPr lang="en-US" altLang="zh-CN" sz="2800">
                  <a:latin typeface="Times New Roman" panose="02020603050405020304" pitchFamily="18" charset="0"/>
                </a:rPr>
                <a:t>L[f(t)]=F(s),</a:t>
              </a:r>
              <a:r>
                <a:rPr lang="zh-CN" altLang="en-US" sz="2800">
                  <a:latin typeface="Times New Roman" panose="02020603050405020304" pitchFamily="18" charset="0"/>
                </a:rPr>
                <a:t>且</a:t>
              </a:r>
            </a:p>
          </p:txBody>
        </p:sp>
        <p:graphicFrame>
          <p:nvGraphicFramePr>
            <p:cNvPr id="23564" name="Object 10"/>
            <p:cNvGraphicFramePr>
              <a:graphicFrameLocks noChangeAspect="1"/>
            </p:cNvGraphicFramePr>
            <p:nvPr/>
          </p:nvGraphicFramePr>
          <p:xfrm>
            <a:off x="2314" y="2758"/>
            <a:ext cx="720" cy="376"/>
          </p:xfrm>
          <a:graphic>
            <a:graphicData uri="http://schemas.openxmlformats.org/presentationml/2006/ole">
              <mc:AlternateContent xmlns:mc="http://schemas.openxmlformats.org/markup-compatibility/2006">
                <mc:Choice xmlns:v="urn:schemas-microsoft-com:vml" Requires="v">
                  <p:oleObj spid="_x0000_s34823" r:id="rId8" imgW="533169" imgH="279279" progId="Equation.3">
                    <p:embed/>
                  </p:oleObj>
                </mc:Choice>
                <mc:Fallback>
                  <p:oleObj r:id="rId8" imgW="533169" imgH="279279" progId="Equation.3">
                    <p:embed/>
                    <p:pic>
                      <p:nvPicPr>
                        <p:cNvPr id="23564"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4" y="2758"/>
                          <a:ext cx="720"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65" name="Rectangle 11"/>
            <p:cNvSpPr>
              <a:spLocks noChangeArrowheads="1"/>
            </p:cNvSpPr>
            <p:nvPr/>
          </p:nvSpPr>
          <p:spPr bwMode="auto">
            <a:xfrm>
              <a:off x="3027" y="2717"/>
              <a:ext cx="12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存在。则：</a:t>
              </a:r>
            </a:p>
          </p:txBody>
        </p:sp>
      </p:grpSp>
      <p:sp>
        <p:nvSpPr>
          <p:cNvPr id="63500" name="Rectangle 12"/>
          <p:cNvSpPr>
            <a:spLocks noChangeArrowheads="1"/>
          </p:cNvSpPr>
          <p:nvPr/>
        </p:nvSpPr>
        <p:spPr bwMode="auto">
          <a:xfrm>
            <a:off x="857250" y="5233988"/>
            <a:ext cx="7391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en-US" altLang="zh-CN" sz="2800">
                <a:latin typeface="Times New Roman" panose="02020603050405020304" pitchFamily="18" charset="0"/>
              </a:rPr>
              <a:t>        </a:t>
            </a:r>
            <a:r>
              <a:rPr lang="zh-CN" altLang="en-US" sz="2800">
                <a:latin typeface="Times New Roman" panose="02020603050405020304" pitchFamily="18" charset="0"/>
              </a:rPr>
              <a:t>终值定理说明</a:t>
            </a:r>
            <a:r>
              <a:rPr lang="en-US" altLang="zh-CN" sz="2800" i="1">
                <a:latin typeface="Times New Roman" panose="02020603050405020304" pitchFamily="18" charset="0"/>
              </a:rPr>
              <a:t>f</a:t>
            </a:r>
            <a:r>
              <a:rPr lang="en-US" altLang="zh-CN" sz="2800">
                <a:latin typeface="Times New Roman" panose="02020603050405020304" pitchFamily="18" charset="0"/>
              </a:rPr>
              <a:t>(</a:t>
            </a:r>
            <a:r>
              <a:rPr lang="en-US" altLang="zh-CN" sz="2800" i="1">
                <a:latin typeface="Times New Roman" panose="02020603050405020304" pitchFamily="18" charset="0"/>
              </a:rPr>
              <a:t>t</a:t>
            </a:r>
            <a:r>
              <a:rPr lang="en-US" altLang="zh-CN" sz="2800">
                <a:latin typeface="Times New Roman" panose="02020603050405020304" pitchFamily="18" charset="0"/>
              </a:rPr>
              <a:t>)</a:t>
            </a:r>
            <a:r>
              <a:rPr lang="zh-CN" altLang="en-US" sz="2800">
                <a:latin typeface="Times New Roman" panose="02020603050405020304" pitchFamily="18" charset="0"/>
              </a:rPr>
              <a:t>稳定值与</a:t>
            </a:r>
            <a:r>
              <a:rPr lang="en-US" altLang="zh-CN" sz="2800" i="1">
                <a:latin typeface="Times New Roman" panose="02020603050405020304" pitchFamily="18" charset="0"/>
              </a:rPr>
              <a:t>sF</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在</a:t>
            </a:r>
            <a:r>
              <a:rPr lang="en-US" altLang="zh-CN" sz="2800">
                <a:latin typeface="Times New Roman" panose="02020603050405020304" pitchFamily="18" charset="0"/>
              </a:rPr>
              <a:t>s=0</a:t>
            </a:r>
            <a:r>
              <a:rPr lang="zh-CN" altLang="en-US" sz="2800">
                <a:latin typeface="Times New Roman" panose="02020603050405020304" pitchFamily="18" charset="0"/>
              </a:rPr>
              <a:t>时的初值相同。</a:t>
            </a:r>
          </a:p>
        </p:txBody>
      </p:sp>
    </p:spTree>
    <p:extLst>
      <p:ext uri="{BB962C8B-B14F-4D97-AF65-F5344CB8AC3E}">
        <p14:creationId xmlns:p14="http://schemas.microsoft.com/office/powerpoint/2010/main" val="2528326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additive="base">
                                        <p:cTn id="7" dur="500" fill="hold"/>
                                        <p:tgtEl>
                                          <p:spTgt spid="63491"/>
                                        </p:tgtEl>
                                        <p:attrNameLst>
                                          <p:attrName>ppt_x</p:attrName>
                                        </p:attrNameLst>
                                      </p:cBhvr>
                                      <p:tavLst>
                                        <p:tav tm="0">
                                          <p:val>
                                            <p:strVal val="#ppt_x"/>
                                          </p:val>
                                        </p:tav>
                                        <p:tav tm="100000">
                                          <p:val>
                                            <p:strVal val="#ppt_x"/>
                                          </p:val>
                                        </p:tav>
                                      </p:tavLst>
                                    </p:anim>
                                    <p:anim calcmode="lin" valueType="num">
                                      <p:cBhvr additive="base">
                                        <p:cTn id="8"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492"/>
                                        </p:tgtEl>
                                        <p:attrNameLst>
                                          <p:attrName>style.visibility</p:attrName>
                                        </p:attrNameLst>
                                      </p:cBhvr>
                                      <p:to>
                                        <p:strVal val="visible"/>
                                      </p:to>
                                    </p:set>
                                    <p:anim calcmode="lin" valueType="num">
                                      <p:cBhvr additive="base">
                                        <p:cTn id="13" dur="500" fill="hold"/>
                                        <p:tgtEl>
                                          <p:spTgt spid="63492"/>
                                        </p:tgtEl>
                                        <p:attrNameLst>
                                          <p:attrName>ppt_x</p:attrName>
                                        </p:attrNameLst>
                                      </p:cBhvr>
                                      <p:tavLst>
                                        <p:tav tm="0">
                                          <p:val>
                                            <p:strVal val="#ppt_x"/>
                                          </p:val>
                                        </p:tav>
                                        <p:tav tm="100000">
                                          <p:val>
                                            <p:strVal val="#ppt_x"/>
                                          </p:val>
                                        </p:tav>
                                      </p:tavLst>
                                    </p:anim>
                                    <p:anim calcmode="lin" valueType="num">
                                      <p:cBhvr additive="base">
                                        <p:cTn id="14" dur="500" fill="hold"/>
                                        <p:tgtEl>
                                          <p:spTgt spid="6349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49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3495"/>
                                        </p:tgtEl>
                                        <p:attrNameLst>
                                          <p:attrName>style.visibility</p:attrName>
                                        </p:attrNameLst>
                                      </p:cBhvr>
                                      <p:to>
                                        <p:strVal val="visible"/>
                                      </p:to>
                                    </p:set>
                                    <p:anim calcmode="lin" valueType="num">
                                      <p:cBhvr additive="base">
                                        <p:cTn id="25" dur="500" fill="hold"/>
                                        <p:tgtEl>
                                          <p:spTgt spid="63495"/>
                                        </p:tgtEl>
                                        <p:attrNameLst>
                                          <p:attrName>ppt_x</p:attrName>
                                        </p:attrNameLst>
                                      </p:cBhvr>
                                      <p:tavLst>
                                        <p:tav tm="0">
                                          <p:val>
                                            <p:strVal val="#ppt_x"/>
                                          </p:val>
                                        </p:tav>
                                        <p:tav tm="100000">
                                          <p:val>
                                            <p:strVal val="#ppt_x"/>
                                          </p:val>
                                        </p:tav>
                                      </p:tavLst>
                                    </p:anim>
                                    <p:anim calcmode="lin" valueType="num">
                                      <p:cBhvr additive="base">
                                        <p:cTn id="26" dur="500" fill="hold"/>
                                        <p:tgtEl>
                                          <p:spTgt spid="6349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500"/>
                                        </p:tgtEl>
                                        <p:attrNameLst>
                                          <p:attrName>style.visibility</p:attrName>
                                        </p:attrNameLst>
                                      </p:cBhvr>
                                      <p:to>
                                        <p:strVal val="visible"/>
                                      </p:to>
                                    </p:set>
                                    <p:anim calcmode="lin" valueType="num">
                                      <p:cBhvr additive="base">
                                        <p:cTn id="31" dur="500" fill="hold"/>
                                        <p:tgtEl>
                                          <p:spTgt spid="63500"/>
                                        </p:tgtEl>
                                        <p:attrNameLst>
                                          <p:attrName>ppt_x</p:attrName>
                                        </p:attrNameLst>
                                      </p:cBhvr>
                                      <p:tavLst>
                                        <p:tav tm="0">
                                          <p:val>
                                            <p:strVal val="#ppt_x"/>
                                          </p:val>
                                        </p:tav>
                                        <p:tav tm="100000">
                                          <p:val>
                                            <p:strVal val="#ppt_x"/>
                                          </p:val>
                                        </p:tav>
                                      </p:tavLst>
                                    </p:anim>
                                    <p:anim calcmode="lin" valueType="num">
                                      <p:cBhvr additive="base">
                                        <p:cTn id="32" dur="500" fill="hold"/>
                                        <p:tgtEl>
                                          <p:spTgt spid="635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p:bldP spid="63494" grpId="0"/>
      <p:bldP spid="6350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buSzTx/>
            </a:pPr>
            <a:fld id="{BB962C8B-B14F-4D97-AF65-F5344CB8AC3E}" type="datetime1">
              <a:rPr lang="zh-CN" altLang="en-US" sz="1200" dirty="0"/>
              <a:t>2025/9/2</a:t>
            </a:fld>
            <a:endParaRPr lang="zh-CN" altLang="en-US" sz="1200" dirty="0"/>
          </a:p>
        </p:txBody>
      </p:sp>
      <p:sp>
        <p:nvSpPr>
          <p:cNvPr id="80898" name="灯片编号占位符 5"/>
          <p:cNvSpPr>
            <a:spLocks noGrp="1"/>
          </p:cNvSpPr>
          <p:nvPr>
            <p:ph type="sldNum" sz="quarter" idx="12"/>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200" dirty="0"/>
              <a:t>47</a:t>
            </a:fld>
            <a:endParaRPr lang="en-US" altLang="zh-CN" sz="1200" dirty="0"/>
          </a:p>
        </p:txBody>
      </p:sp>
      <p:sp>
        <p:nvSpPr>
          <p:cNvPr id="80899" name="Text Box 3"/>
          <p:cNvSpPr txBox="1"/>
          <p:nvPr/>
        </p:nvSpPr>
        <p:spPr>
          <a:xfrm>
            <a:off x="558800" y="838200"/>
            <a:ext cx="2032000" cy="646113"/>
          </a:xfrm>
          <a:prstGeom prst="rect">
            <a:avLst/>
          </a:prstGeom>
          <a:noFill/>
          <a:ln w="9525">
            <a:noFill/>
          </a:ln>
        </p:spPr>
        <p:txBody>
          <a:bodyPr wrap="none" anchor="t" anchorCtr="0">
            <a:spAutoFit/>
          </a:bodyPr>
          <a:lstStyle/>
          <a:p>
            <a:r>
              <a:rPr lang="zh-CN" altLang="en-US" sz="3600" dirty="0">
                <a:latin typeface="Times New Roman" panose="02020603050405020304" pitchFamily="18" charset="0"/>
                <a:ea typeface="华文新魏" panose="02010800040101010101" pitchFamily="2" charset="-122"/>
              </a:rPr>
              <a:t>内容回顾</a:t>
            </a:r>
          </a:p>
        </p:txBody>
      </p:sp>
      <p:sp>
        <p:nvSpPr>
          <p:cNvPr id="80900" name="Rectangle 4"/>
          <p:cNvSpPr/>
          <p:nvPr/>
        </p:nvSpPr>
        <p:spPr>
          <a:xfrm>
            <a:off x="2009775" y="4010025"/>
            <a:ext cx="2698175" cy="674031"/>
          </a:xfrm>
          <a:prstGeom prst="rect">
            <a:avLst/>
          </a:prstGeom>
          <a:noFill/>
          <a:ln w="22225">
            <a:noFill/>
          </a:ln>
        </p:spPr>
        <p:txBody>
          <a:bodyPr wrap="none" anchor="t" anchorCtr="0">
            <a:spAutoFit/>
          </a:bodyPr>
          <a:lstStyle/>
          <a:p>
            <a:pPr>
              <a:lnSpc>
                <a:spcPct val="135000"/>
              </a:lnSpc>
            </a:pPr>
            <a:r>
              <a:rPr lang="zh-CN" altLang="en-US" sz="2800" dirty="0">
                <a:latin typeface="Times New Roman" panose="02020603050405020304" pitchFamily="18" charset="0"/>
                <a:ea typeface="黑体" panose="02010609060101010101" pitchFamily="49" charset="-122"/>
              </a:rPr>
              <a:t>拉氏变换的</a:t>
            </a:r>
            <a:r>
              <a:rPr lang="zh-CN" altLang="en-US" sz="2800" dirty="0" smtClean="0">
                <a:latin typeface="Times New Roman" panose="02020603050405020304" pitchFamily="18" charset="0"/>
                <a:ea typeface="黑体" panose="02010609060101010101" pitchFamily="49" charset="-122"/>
              </a:rPr>
              <a:t>概念</a:t>
            </a:r>
            <a:endParaRPr lang="zh-CN" altLang="en-US" sz="2800" dirty="0">
              <a:latin typeface="Times New Roman" panose="02020603050405020304" pitchFamily="18" charset="0"/>
              <a:ea typeface="黑体" panose="02010609060101010101" pitchFamily="49" charset="-122"/>
            </a:endParaRPr>
          </a:p>
        </p:txBody>
      </p:sp>
      <p:sp>
        <p:nvSpPr>
          <p:cNvPr id="80901" name="Rectangle 6"/>
          <p:cNvSpPr/>
          <p:nvPr/>
        </p:nvSpPr>
        <p:spPr>
          <a:xfrm>
            <a:off x="2009775" y="3286125"/>
            <a:ext cx="4133850" cy="522288"/>
          </a:xfrm>
          <a:prstGeom prst="rect">
            <a:avLst/>
          </a:prstGeom>
          <a:noFill/>
          <a:ln w="22225">
            <a:noFill/>
          </a:ln>
        </p:spPr>
        <p:txBody>
          <a:bodyPr wrap="none" anchor="t" anchorCtr="0">
            <a:spAutoFit/>
          </a:bodyPr>
          <a:lstStyle/>
          <a:p>
            <a:r>
              <a:rPr lang="zh-CN" altLang="en-US" sz="2800" dirty="0">
                <a:latin typeface="Times New Roman" panose="02020603050405020304" pitchFamily="18" charset="0"/>
                <a:ea typeface="黑体" panose="02010609060101010101" pitchFamily="49" charset="-122"/>
              </a:rPr>
              <a:t>物理系统的运动微分方程</a:t>
            </a:r>
          </a:p>
        </p:txBody>
      </p:sp>
      <p:sp>
        <p:nvSpPr>
          <p:cNvPr id="80902" name="Rectangle 11"/>
          <p:cNvSpPr/>
          <p:nvPr/>
        </p:nvSpPr>
        <p:spPr>
          <a:xfrm>
            <a:off x="2009775" y="2441575"/>
            <a:ext cx="4073525" cy="612775"/>
          </a:xfrm>
          <a:prstGeom prst="rect">
            <a:avLst/>
          </a:prstGeom>
          <a:noFill/>
          <a:ln w="22225">
            <a:noFill/>
          </a:ln>
        </p:spPr>
        <p:txBody>
          <a:bodyPr anchor="t" anchorCtr="0">
            <a:spAutoFit/>
          </a:bodyPr>
          <a:lstStyle/>
          <a:p>
            <a:pPr>
              <a:lnSpc>
                <a:spcPct val="135000"/>
              </a:lnSpc>
            </a:pPr>
            <a:r>
              <a:rPr lang="zh-CN" altLang="en-US" sz="2800" dirty="0">
                <a:latin typeface="Times New Roman" panose="02020603050405020304" pitchFamily="18" charset="0"/>
                <a:ea typeface="黑体" panose="02010609060101010101" pitchFamily="49" charset="-122"/>
              </a:rPr>
              <a:t>典型输入信号</a:t>
            </a:r>
          </a:p>
        </p:txBody>
      </p:sp>
      <p:sp>
        <p:nvSpPr>
          <p:cNvPr id="80903" name="Rectangle 4"/>
          <p:cNvSpPr/>
          <p:nvPr/>
        </p:nvSpPr>
        <p:spPr>
          <a:xfrm>
            <a:off x="2011363" y="4791075"/>
            <a:ext cx="3416300" cy="608013"/>
          </a:xfrm>
          <a:prstGeom prst="rect">
            <a:avLst/>
          </a:prstGeom>
          <a:noFill/>
          <a:ln w="22225">
            <a:noFill/>
          </a:ln>
        </p:spPr>
        <p:txBody>
          <a:bodyPr wrap="none" anchor="t" anchorCtr="0">
            <a:spAutoFit/>
          </a:bodyPr>
          <a:lstStyle/>
          <a:p>
            <a:pPr>
              <a:lnSpc>
                <a:spcPct val="135000"/>
              </a:lnSpc>
            </a:pPr>
            <a:r>
              <a:rPr lang="zh-CN" altLang="en-US" sz="2800" dirty="0">
                <a:latin typeface="Times New Roman" panose="02020603050405020304" pitchFamily="18" charset="0"/>
                <a:ea typeface="黑体" panose="02010609060101010101" pitchFamily="49" charset="-122"/>
              </a:rPr>
              <a:t>常用函数的拉氏变换</a:t>
            </a:r>
          </a:p>
        </p:txBody>
      </p:sp>
      <p:sp>
        <p:nvSpPr>
          <p:cNvPr id="9" name="Rectangle 4"/>
          <p:cNvSpPr/>
          <p:nvPr/>
        </p:nvSpPr>
        <p:spPr>
          <a:xfrm>
            <a:off x="2026616" y="5408143"/>
            <a:ext cx="2698175" cy="674031"/>
          </a:xfrm>
          <a:prstGeom prst="rect">
            <a:avLst/>
          </a:prstGeom>
          <a:noFill/>
          <a:ln w="22225">
            <a:noFill/>
          </a:ln>
        </p:spPr>
        <p:txBody>
          <a:bodyPr wrap="none" anchor="t" anchorCtr="0">
            <a:spAutoFit/>
          </a:bodyPr>
          <a:lstStyle/>
          <a:p>
            <a:pPr>
              <a:lnSpc>
                <a:spcPct val="135000"/>
              </a:lnSpc>
            </a:pPr>
            <a:r>
              <a:rPr lang="zh-CN" altLang="en-US" sz="2800" dirty="0" smtClean="0">
                <a:latin typeface="Times New Roman" panose="02020603050405020304" pitchFamily="18" charset="0"/>
                <a:ea typeface="黑体" panose="02010609060101010101" pitchFamily="49" charset="-122"/>
              </a:rPr>
              <a:t>拉</a:t>
            </a:r>
            <a:r>
              <a:rPr lang="zh-CN" altLang="en-US" sz="2800" dirty="0">
                <a:latin typeface="Times New Roman" panose="02020603050405020304" pitchFamily="18" charset="0"/>
                <a:ea typeface="黑体" panose="02010609060101010101" pitchFamily="49" charset="-122"/>
              </a:rPr>
              <a:t>氏</a:t>
            </a:r>
            <a:r>
              <a:rPr lang="zh-CN" altLang="en-US" sz="2800" dirty="0" smtClean="0">
                <a:latin typeface="Times New Roman" panose="02020603050405020304" pitchFamily="18" charset="0"/>
                <a:ea typeface="黑体" panose="02010609060101010101" pitchFamily="49" charset="-122"/>
              </a:rPr>
              <a:t>变换的性质</a:t>
            </a:r>
            <a:endParaRPr lang="zh-CN" altLang="en-US" sz="2800" dirty="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1"/>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fld id="{BB962C8B-B14F-4D97-AF65-F5344CB8AC3E}" type="datetime10">
              <a:rPr lang="zh-CN" altLang="en-US" sz="1200" dirty="0"/>
              <a:t>14:15</a:t>
            </a:fld>
            <a:endParaRPr lang="zh-CN" altLang="en-US" sz="1200" dirty="0"/>
          </a:p>
        </p:txBody>
      </p:sp>
      <p:sp>
        <p:nvSpPr>
          <p:cNvPr id="86019" name="灯片编号占位符 2"/>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t>48</a:t>
            </a:fld>
            <a:endParaRPr lang="en-US" altLang="zh-CN" sz="1200" dirty="0"/>
          </a:p>
        </p:txBody>
      </p:sp>
      <p:pic>
        <p:nvPicPr>
          <p:cNvPr id="86020" name="Picture 4" descr="sp111"/>
          <p:cNvPicPr>
            <a:picLocks noChangeAspect="1"/>
          </p:cNvPicPr>
          <p:nvPr/>
        </p:nvPicPr>
        <p:blipFill>
          <a:blip r:embed="rId2">
            <a:clrChange>
              <a:clrFrom>
                <a:srgbClr val="CBCEC5"/>
              </a:clrFrom>
              <a:clrTo>
                <a:srgbClr val="CBCEC5">
                  <a:alpha val="0"/>
                </a:srgbClr>
              </a:clrTo>
            </a:clrChange>
            <a:lum contrast="48000"/>
          </a:blip>
          <a:srcRect b="7922"/>
          <a:stretch>
            <a:fillRect/>
          </a:stretch>
        </p:blipFill>
        <p:spPr>
          <a:xfrm>
            <a:off x="250825" y="1931988"/>
            <a:ext cx="7491413" cy="3671887"/>
          </a:xfrm>
          <a:prstGeom prst="rect">
            <a:avLst/>
          </a:prstGeom>
          <a:noFill/>
          <a:ln w="9525">
            <a:noFill/>
          </a:ln>
        </p:spPr>
      </p:pic>
      <p:sp>
        <p:nvSpPr>
          <p:cNvPr id="86021" name="文本框 1"/>
          <p:cNvSpPr txBox="1"/>
          <p:nvPr/>
        </p:nvSpPr>
        <p:spPr>
          <a:xfrm>
            <a:off x="609600" y="476250"/>
            <a:ext cx="7778750" cy="831850"/>
          </a:xfrm>
          <a:prstGeom prst="rect">
            <a:avLst/>
          </a:prstGeom>
          <a:noFill/>
          <a:ln w="9525">
            <a:noFill/>
          </a:ln>
        </p:spPr>
        <p:txBody>
          <a:bodyPr>
            <a:spAutoFit/>
          </a:bodyPr>
          <a:lstStyle/>
          <a:p>
            <a:r>
              <a:rPr lang="zh-CN" altLang="en-US" sz="2400" dirty="0">
                <a:latin typeface="Verdana" panose="020B0604030504040204" pitchFamily="34" charset="0"/>
              </a:rPr>
              <a:t>例：图示系统为瓦特</a:t>
            </a:r>
            <a:r>
              <a:rPr lang="en-US" altLang="zh-CN" sz="2400" dirty="0">
                <a:latin typeface="Verdana" panose="020B0604030504040204" pitchFamily="34" charset="0"/>
              </a:rPr>
              <a:t>1769</a:t>
            </a:r>
            <a:r>
              <a:rPr lang="zh-CN" altLang="en-US" sz="2400" dirty="0">
                <a:latin typeface="Verdana" panose="020B0604030504040204" pitchFamily="34" charset="0"/>
              </a:rPr>
              <a:t>年发明的速度控制系统，用于调节蒸汽轮机的运动速度，试绘制方框图。</a:t>
            </a:r>
          </a:p>
        </p:txBody>
      </p:sp>
      <p:sp>
        <p:nvSpPr>
          <p:cNvPr id="3" name="文本框 2"/>
          <p:cNvSpPr txBox="1"/>
          <p:nvPr/>
        </p:nvSpPr>
        <p:spPr>
          <a:xfrm>
            <a:off x="6415088" y="1563688"/>
            <a:ext cx="1724025" cy="461962"/>
          </a:xfrm>
          <a:prstGeom prst="rect">
            <a:avLst/>
          </a:prstGeom>
          <a:noFill/>
          <a:ln w="9525">
            <a:noFill/>
          </a:ln>
        </p:spPr>
        <p:txBody>
          <a:bodyPr wrap="none">
            <a:spAutoFit/>
          </a:bodyPr>
          <a:lstStyle/>
          <a:p>
            <a:r>
              <a:rPr lang="zh-CN" altLang="en-US" sz="2400" dirty="0">
                <a:solidFill>
                  <a:srgbClr val="FF0000"/>
                </a:solidFill>
                <a:latin typeface="Verdana" panose="020B0604030504040204" pitchFamily="34" charset="0"/>
              </a:rPr>
              <a:t>工作原理？</a:t>
            </a:r>
          </a:p>
        </p:txBody>
      </p:sp>
      <p:sp>
        <p:nvSpPr>
          <p:cNvPr id="4" name="文本框 3"/>
          <p:cNvSpPr txBox="1"/>
          <p:nvPr/>
        </p:nvSpPr>
        <p:spPr>
          <a:xfrm>
            <a:off x="5911850" y="2009775"/>
            <a:ext cx="3263900" cy="461963"/>
          </a:xfrm>
          <a:prstGeom prst="rect">
            <a:avLst/>
          </a:prstGeom>
          <a:noFill/>
          <a:ln w="9525">
            <a:noFill/>
          </a:ln>
        </p:spPr>
        <p:txBody>
          <a:bodyPr wrap="none">
            <a:spAutoFit/>
          </a:bodyPr>
          <a:lstStyle/>
          <a:p>
            <a:r>
              <a:rPr lang="zh-CN" altLang="en-US" sz="2400" dirty="0">
                <a:solidFill>
                  <a:srgbClr val="FF0000"/>
                </a:solidFill>
                <a:latin typeface="Verdana" panose="020B0604030504040204" pitchFamily="34" charset="0"/>
              </a:rPr>
              <a:t>被控对象、输出信号？</a:t>
            </a:r>
          </a:p>
        </p:txBody>
      </p:sp>
      <p:sp>
        <p:nvSpPr>
          <p:cNvPr id="9" name="文本框 8"/>
          <p:cNvSpPr txBox="1"/>
          <p:nvPr/>
        </p:nvSpPr>
        <p:spPr>
          <a:xfrm>
            <a:off x="5940425" y="2487613"/>
            <a:ext cx="3262313" cy="461962"/>
          </a:xfrm>
          <a:prstGeom prst="rect">
            <a:avLst/>
          </a:prstGeom>
          <a:noFill/>
          <a:ln w="9525">
            <a:noFill/>
          </a:ln>
        </p:spPr>
        <p:txBody>
          <a:bodyPr wrap="none">
            <a:spAutoFit/>
          </a:bodyPr>
          <a:lstStyle/>
          <a:p>
            <a:r>
              <a:rPr lang="zh-CN" altLang="en-US" sz="2400" dirty="0">
                <a:solidFill>
                  <a:srgbClr val="FF0000"/>
                </a:solidFill>
                <a:latin typeface="Verdana" panose="020B0604030504040204" pitchFamily="34" charset="0"/>
              </a:rPr>
              <a:t>输入信号、给定元件？</a:t>
            </a:r>
          </a:p>
        </p:txBody>
      </p:sp>
      <p:sp>
        <p:nvSpPr>
          <p:cNvPr id="5" name="文本框 4"/>
          <p:cNvSpPr txBox="1"/>
          <p:nvPr/>
        </p:nvSpPr>
        <p:spPr>
          <a:xfrm>
            <a:off x="5940425" y="2959100"/>
            <a:ext cx="3262313" cy="460375"/>
          </a:xfrm>
          <a:prstGeom prst="rect">
            <a:avLst/>
          </a:prstGeom>
          <a:noFill/>
          <a:ln w="9525">
            <a:noFill/>
          </a:ln>
        </p:spPr>
        <p:txBody>
          <a:bodyPr wrap="none">
            <a:spAutoFit/>
          </a:bodyPr>
          <a:lstStyle/>
          <a:p>
            <a:r>
              <a:rPr lang="zh-CN" altLang="en-US" sz="2400" dirty="0">
                <a:solidFill>
                  <a:srgbClr val="FF0000"/>
                </a:solidFill>
                <a:latin typeface="Verdana" panose="020B0604030504040204" pitchFamily="34" charset="0"/>
              </a:rPr>
              <a:t>反馈元件、比较元件？</a:t>
            </a:r>
          </a:p>
        </p:txBody>
      </p:sp>
      <p:sp>
        <p:nvSpPr>
          <p:cNvPr id="11" name="文本框 10"/>
          <p:cNvSpPr txBox="1"/>
          <p:nvPr/>
        </p:nvSpPr>
        <p:spPr>
          <a:xfrm>
            <a:off x="5940425" y="3429000"/>
            <a:ext cx="3262313" cy="461963"/>
          </a:xfrm>
          <a:prstGeom prst="rect">
            <a:avLst/>
          </a:prstGeom>
          <a:noFill/>
          <a:ln w="9525">
            <a:noFill/>
          </a:ln>
        </p:spPr>
        <p:txBody>
          <a:bodyPr wrap="none">
            <a:spAutoFit/>
          </a:bodyPr>
          <a:lstStyle/>
          <a:p>
            <a:r>
              <a:rPr lang="zh-CN" altLang="en-US" sz="2400" dirty="0">
                <a:solidFill>
                  <a:srgbClr val="FF0000"/>
                </a:solidFill>
                <a:latin typeface="Verdana" panose="020B0604030504040204" pitchFamily="34" charset="0"/>
              </a:rPr>
              <a:t>放大元件、执行元件？</a:t>
            </a:r>
          </a:p>
        </p:txBody>
      </p:sp>
      <p:sp>
        <p:nvSpPr>
          <p:cNvPr id="2" name="文本框 1"/>
          <p:cNvSpPr txBox="1"/>
          <p:nvPr/>
        </p:nvSpPr>
        <p:spPr>
          <a:xfrm>
            <a:off x="0" y="-27305"/>
            <a:ext cx="885179" cy="461665"/>
          </a:xfrm>
          <a:prstGeom prst="rect">
            <a:avLst/>
          </a:prstGeom>
          <a:noFill/>
        </p:spPr>
        <p:txBody>
          <a:bodyPr wrap="none" rtlCol="0" anchor="t">
            <a:spAutoFit/>
          </a:bodyPr>
          <a:lstStyle/>
          <a:p>
            <a:r>
              <a:rPr lang="zh-CN" altLang="en-US" sz="2400" dirty="0" smtClean="0">
                <a:latin typeface="Times New Roman" panose="02020603050405020304" pitchFamily="18" charset="0"/>
                <a:ea typeface="黑体" panose="02010609060101010101" pitchFamily="49" charset="-122"/>
                <a:sym typeface="+mn-ea"/>
              </a:rPr>
              <a:t>补充</a:t>
            </a:r>
            <a:r>
              <a:rPr lang="en-US" altLang="zh-CN" sz="2400" dirty="0" smtClean="0">
                <a:latin typeface="Times New Roman" panose="02020603050405020304" pitchFamily="18" charset="0"/>
                <a:ea typeface="黑体" panose="02010609060101010101" pitchFamily="49" charset="-122"/>
                <a:sym typeface="+mn-ea"/>
              </a:rPr>
              <a:t>:</a:t>
            </a:r>
            <a:endParaRPr lang="en-US" altLang="zh-CN" sz="2400" dirty="0">
              <a:latin typeface="Times New Roman" panose="02020603050405020304" pitchFamily="18" charset="0"/>
              <a:ea typeface="黑体" panose="02010609060101010101" pitchFamily="49" charset="-122"/>
              <a:sym typeface="+mn-ea"/>
            </a:endParaRPr>
          </a:p>
        </p:txBody>
      </p:sp>
    </p:spTree>
    <p:extLst>
      <p:ext uri="{BB962C8B-B14F-4D97-AF65-F5344CB8AC3E}">
        <p14:creationId xmlns:p14="http://schemas.microsoft.com/office/powerpoint/2010/main" val="10165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5" grpId="0"/>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1"/>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fld id="{BB962C8B-B14F-4D97-AF65-F5344CB8AC3E}" type="datetime10">
              <a:rPr lang="zh-CN" altLang="en-US" sz="1200" dirty="0"/>
              <a:t>14:15</a:t>
            </a:fld>
            <a:endParaRPr lang="zh-CN" altLang="en-US" sz="1200" dirty="0"/>
          </a:p>
        </p:txBody>
      </p:sp>
      <p:sp>
        <p:nvSpPr>
          <p:cNvPr id="87043" name="Text Box 7"/>
          <p:cNvSpPr txBox="1"/>
          <p:nvPr/>
        </p:nvSpPr>
        <p:spPr>
          <a:xfrm>
            <a:off x="644525" y="1854200"/>
            <a:ext cx="1214438" cy="461963"/>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400" b="1" dirty="0">
                <a:latin typeface="Times New Roman" panose="02020603050405020304" pitchFamily="18" charset="0"/>
              </a:rPr>
              <a:t>方框图</a:t>
            </a:r>
            <a:r>
              <a:rPr lang="en-US" altLang="zh-CN" sz="2400" b="1" dirty="0">
                <a:latin typeface="Times New Roman" panose="02020603050405020304" pitchFamily="18" charset="0"/>
              </a:rPr>
              <a:t>:</a:t>
            </a:r>
          </a:p>
        </p:txBody>
      </p:sp>
      <p:sp>
        <p:nvSpPr>
          <p:cNvPr id="87044" name="Line 8"/>
          <p:cNvSpPr/>
          <p:nvPr/>
        </p:nvSpPr>
        <p:spPr>
          <a:xfrm>
            <a:off x="1376363" y="2951163"/>
            <a:ext cx="685800" cy="0"/>
          </a:xfrm>
          <a:prstGeom prst="line">
            <a:avLst/>
          </a:prstGeom>
          <a:ln w="9525" cap="flat" cmpd="sng">
            <a:solidFill>
              <a:schemeClr val="tx1"/>
            </a:solidFill>
            <a:prstDash val="solid"/>
            <a:miter/>
            <a:headEnd type="none" w="med" len="med"/>
            <a:tailEnd type="triangle" w="med" len="med"/>
          </a:ln>
        </p:spPr>
      </p:sp>
      <p:sp>
        <p:nvSpPr>
          <p:cNvPr id="87045" name="Text Box 9"/>
          <p:cNvSpPr txBox="1"/>
          <p:nvPr/>
        </p:nvSpPr>
        <p:spPr>
          <a:xfrm>
            <a:off x="935038" y="2546350"/>
            <a:ext cx="855662" cy="368300"/>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en-US" altLang="zh-CN" sz="1800" dirty="0">
                <a:latin typeface="Times New Roman" panose="02020603050405020304" pitchFamily="18" charset="0"/>
                <a:cs typeface="Times New Roman" panose="02020603050405020304" pitchFamily="18" charset="0"/>
              </a:rPr>
              <a:t>ω</a:t>
            </a:r>
            <a:r>
              <a:rPr lang="en-US" altLang="zh-CN" sz="1800" baseline="-25000" dirty="0">
                <a:latin typeface="Times New Roman" panose="02020603050405020304" pitchFamily="18" charset="0"/>
                <a:cs typeface="Times New Roman" panose="02020603050405020304" pitchFamily="18" charset="0"/>
              </a:rPr>
              <a:t>g</a:t>
            </a:r>
            <a:r>
              <a:rPr lang="en-US" altLang="zh-CN" sz="1800" dirty="0">
                <a:latin typeface="Times New Roman" panose="02020603050405020304" pitchFamily="18" charset="0"/>
                <a:cs typeface="Times New Roman" panose="02020603050405020304" pitchFamily="18" charset="0"/>
              </a:rPr>
              <a:t>=ω</a:t>
            </a:r>
            <a:r>
              <a:rPr lang="en-US" altLang="zh-CN" sz="1800" baseline="-25000" dirty="0">
                <a:latin typeface="Times New Roman" panose="02020603050405020304" pitchFamily="18" charset="0"/>
                <a:cs typeface="Times New Roman" panose="02020603050405020304" pitchFamily="18" charset="0"/>
              </a:rPr>
              <a:t>d</a:t>
            </a:r>
            <a:endParaRPr lang="en-US" altLang="zh-CN" sz="1800" baseline="-25000" dirty="0">
              <a:latin typeface="Times New Roman" panose="02020603050405020304" pitchFamily="18" charset="0"/>
            </a:endParaRPr>
          </a:p>
        </p:txBody>
      </p:sp>
      <p:sp>
        <p:nvSpPr>
          <p:cNvPr id="87046" name="AutoShape 10"/>
          <p:cNvSpPr/>
          <p:nvPr/>
        </p:nvSpPr>
        <p:spPr>
          <a:xfrm>
            <a:off x="2062163" y="2798763"/>
            <a:ext cx="304800" cy="304800"/>
          </a:xfrm>
          <a:prstGeom prst="flowChartSummingJunction">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latin typeface="Times New Roman" panose="02020603050405020304" pitchFamily="18" charset="0"/>
            </a:endParaRPr>
          </a:p>
        </p:txBody>
      </p:sp>
      <p:sp>
        <p:nvSpPr>
          <p:cNvPr id="87047" name="Line 11"/>
          <p:cNvSpPr/>
          <p:nvPr/>
        </p:nvSpPr>
        <p:spPr>
          <a:xfrm flipV="1">
            <a:off x="2214563" y="3103563"/>
            <a:ext cx="0" cy="914400"/>
          </a:xfrm>
          <a:prstGeom prst="line">
            <a:avLst/>
          </a:prstGeom>
          <a:ln w="9525" cap="flat" cmpd="sng">
            <a:solidFill>
              <a:schemeClr val="tx1"/>
            </a:solidFill>
            <a:prstDash val="solid"/>
            <a:miter/>
            <a:headEnd type="none" w="med" len="med"/>
            <a:tailEnd type="triangle" w="med" len="med"/>
          </a:ln>
        </p:spPr>
      </p:sp>
      <p:sp>
        <p:nvSpPr>
          <p:cNvPr id="87048" name="Text Box 12"/>
          <p:cNvSpPr txBox="1"/>
          <p:nvPr/>
        </p:nvSpPr>
        <p:spPr>
          <a:xfrm>
            <a:off x="1547813" y="3532188"/>
            <a:ext cx="649287" cy="3968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en-US" altLang="zh-CN" sz="1800" dirty="0">
                <a:latin typeface="Times New Roman" panose="02020603050405020304" pitchFamily="18" charset="0"/>
                <a:cs typeface="Times New Roman" panose="02020603050405020304" pitchFamily="18" charset="0"/>
              </a:rPr>
              <a:t>ω</a:t>
            </a:r>
            <a:r>
              <a:rPr lang="en-US" altLang="zh-CN" sz="1800" baseline="-25000" dirty="0">
                <a:latin typeface="Times New Roman" panose="02020603050405020304" pitchFamily="18" charset="0"/>
                <a:cs typeface="Times New Roman" panose="02020603050405020304" pitchFamily="18" charset="0"/>
              </a:rPr>
              <a:t>g</a:t>
            </a:r>
            <a:endParaRPr lang="en-US" altLang="zh-CN" sz="1800" baseline="-25000" dirty="0">
              <a:latin typeface="Times New Roman" panose="02020603050405020304" pitchFamily="18" charset="0"/>
            </a:endParaRPr>
          </a:p>
        </p:txBody>
      </p:sp>
      <p:sp>
        <p:nvSpPr>
          <p:cNvPr id="87049" name="Line 13"/>
          <p:cNvSpPr/>
          <p:nvPr/>
        </p:nvSpPr>
        <p:spPr>
          <a:xfrm>
            <a:off x="2366963" y="2951163"/>
            <a:ext cx="609600" cy="0"/>
          </a:xfrm>
          <a:prstGeom prst="line">
            <a:avLst/>
          </a:prstGeom>
          <a:ln w="9525" cap="flat" cmpd="sng">
            <a:solidFill>
              <a:schemeClr val="tx1"/>
            </a:solidFill>
            <a:prstDash val="solid"/>
            <a:miter/>
            <a:headEnd type="none" w="med" len="med"/>
            <a:tailEnd type="triangle" w="med" len="med"/>
          </a:ln>
        </p:spPr>
      </p:sp>
      <p:sp>
        <p:nvSpPr>
          <p:cNvPr id="87050" name="Text Box 14"/>
          <p:cNvSpPr txBox="1"/>
          <p:nvPr/>
        </p:nvSpPr>
        <p:spPr>
          <a:xfrm>
            <a:off x="2595563" y="2646363"/>
            <a:ext cx="311150" cy="3968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en-US" altLang="zh-CN" sz="1800" dirty="0">
                <a:latin typeface="Times New Roman" panose="02020603050405020304" pitchFamily="18" charset="0"/>
              </a:rPr>
              <a:t>x</a:t>
            </a:r>
          </a:p>
        </p:txBody>
      </p:sp>
      <p:sp>
        <p:nvSpPr>
          <p:cNvPr id="87051" name="Rectangle 15"/>
          <p:cNvSpPr/>
          <p:nvPr/>
        </p:nvSpPr>
        <p:spPr>
          <a:xfrm>
            <a:off x="2976563" y="2722563"/>
            <a:ext cx="1295400" cy="4572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dirty="0">
                <a:latin typeface="Times New Roman" panose="02020603050405020304" pitchFamily="18" charset="0"/>
              </a:rPr>
              <a:t>连杆机构</a:t>
            </a:r>
            <a:endParaRPr lang="en-US" altLang="zh-CN" sz="2000" dirty="0">
              <a:latin typeface="Times New Roman" panose="02020603050405020304" pitchFamily="18" charset="0"/>
            </a:endParaRPr>
          </a:p>
        </p:txBody>
      </p:sp>
      <p:sp>
        <p:nvSpPr>
          <p:cNvPr id="87052" name="Line 16"/>
          <p:cNvSpPr/>
          <p:nvPr/>
        </p:nvSpPr>
        <p:spPr>
          <a:xfrm>
            <a:off x="4271963" y="2951163"/>
            <a:ext cx="457200" cy="0"/>
          </a:xfrm>
          <a:prstGeom prst="line">
            <a:avLst/>
          </a:prstGeom>
          <a:ln w="9525" cap="flat" cmpd="sng">
            <a:solidFill>
              <a:schemeClr val="tx1"/>
            </a:solidFill>
            <a:prstDash val="solid"/>
            <a:miter/>
            <a:headEnd type="none" w="med" len="med"/>
            <a:tailEnd type="triangle" w="med" len="med"/>
          </a:ln>
        </p:spPr>
      </p:sp>
      <p:sp>
        <p:nvSpPr>
          <p:cNvPr id="87053" name="Rectangle 17"/>
          <p:cNvSpPr/>
          <p:nvPr/>
        </p:nvSpPr>
        <p:spPr>
          <a:xfrm>
            <a:off x="4729163" y="2722563"/>
            <a:ext cx="1219200" cy="4572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dirty="0">
                <a:latin typeface="Times New Roman" panose="02020603050405020304" pitchFamily="18" charset="0"/>
              </a:rPr>
              <a:t>蒸汽阀</a:t>
            </a:r>
            <a:endParaRPr lang="en-US" altLang="zh-CN" sz="2000" dirty="0">
              <a:latin typeface="Times New Roman" panose="02020603050405020304" pitchFamily="18" charset="0"/>
            </a:endParaRPr>
          </a:p>
        </p:txBody>
      </p:sp>
      <p:sp>
        <p:nvSpPr>
          <p:cNvPr id="87054" name="Line 18"/>
          <p:cNvSpPr/>
          <p:nvPr/>
        </p:nvSpPr>
        <p:spPr>
          <a:xfrm>
            <a:off x="5948363" y="2951163"/>
            <a:ext cx="457200" cy="0"/>
          </a:xfrm>
          <a:prstGeom prst="line">
            <a:avLst/>
          </a:prstGeom>
          <a:ln w="9525" cap="flat" cmpd="sng">
            <a:solidFill>
              <a:schemeClr val="tx1"/>
            </a:solidFill>
            <a:prstDash val="solid"/>
            <a:miter/>
            <a:headEnd type="none" w="med" len="med"/>
            <a:tailEnd type="triangle" w="med" len="med"/>
          </a:ln>
        </p:spPr>
      </p:sp>
      <p:sp>
        <p:nvSpPr>
          <p:cNvPr id="87055" name="Rectangle 19"/>
          <p:cNvSpPr/>
          <p:nvPr/>
        </p:nvSpPr>
        <p:spPr>
          <a:xfrm>
            <a:off x="6405563" y="2668588"/>
            <a:ext cx="1047750" cy="71913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dirty="0">
                <a:latin typeface="Times New Roman" panose="02020603050405020304" pitchFamily="18" charset="0"/>
              </a:rPr>
              <a:t>蒸汽</a:t>
            </a:r>
            <a:endParaRPr lang="en-US" altLang="zh-CN" sz="2000" dirty="0">
              <a:latin typeface="Times New Roman" panose="02020603050405020304" pitchFamily="18" charset="0"/>
            </a:endParaRPr>
          </a:p>
          <a:p>
            <a:pPr marL="0" lvl="0" indent="0" algn="ctr" eaLnBrk="1" hangingPunct="1">
              <a:spcBef>
                <a:spcPct val="0"/>
              </a:spcBef>
              <a:buClrTx/>
              <a:buFontTx/>
              <a:buNone/>
            </a:pPr>
            <a:r>
              <a:rPr lang="zh-CN" altLang="en-US" sz="2000" dirty="0">
                <a:latin typeface="Times New Roman" panose="02020603050405020304" pitchFamily="18" charset="0"/>
              </a:rPr>
              <a:t>轮机</a:t>
            </a:r>
            <a:endParaRPr lang="en-US" altLang="zh-CN" sz="2000" dirty="0">
              <a:latin typeface="Times New Roman" panose="02020603050405020304" pitchFamily="18" charset="0"/>
            </a:endParaRPr>
          </a:p>
        </p:txBody>
      </p:sp>
      <p:sp>
        <p:nvSpPr>
          <p:cNvPr id="87056" name="Line 20"/>
          <p:cNvSpPr/>
          <p:nvPr/>
        </p:nvSpPr>
        <p:spPr>
          <a:xfrm>
            <a:off x="7396163" y="2951163"/>
            <a:ext cx="609600" cy="0"/>
          </a:xfrm>
          <a:prstGeom prst="line">
            <a:avLst/>
          </a:prstGeom>
          <a:ln w="9525" cap="flat" cmpd="sng">
            <a:solidFill>
              <a:schemeClr val="tx1"/>
            </a:solidFill>
            <a:prstDash val="solid"/>
            <a:miter/>
            <a:headEnd type="none" w="med" len="med"/>
            <a:tailEnd type="triangle" w="med" len="med"/>
          </a:ln>
        </p:spPr>
      </p:sp>
      <p:sp>
        <p:nvSpPr>
          <p:cNvPr id="87057" name="Line 21"/>
          <p:cNvSpPr/>
          <p:nvPr/>
        </p:nvSpPr>
        <p:spPr>
          <a:xfrm>
            <a:off x="7700963" y="2951163"/>
            <a:ext cx="0" cy="1066800"/>
          </a:xfrm>
          <a:prstGeom prst="line">
            <a:avLst/>
          </a:prstGeom>
          <a:ln w="9525" cap="flat" cmpd="sng">
            <a:solidFill>
              <a:schemeClr val="tx1"/>
            </a:solidFill>
            <a:prstDash val="solid"/>
            <a:miter/>
            <a:headEnd type="none" w="med" len="med"/>
            <a:tailEnd type="none" w="med" len="med"/>
          </a:ln>
        </p:spPr>
      </p:sp>
      <p:sp>
        <p:nvSpPr>
          <p:cNvPr id="87058" name="Line 22"/>
          <p:cNvSpPr/>
          <p:nvPr/>
        </p:nvSpPr>
        <p:spPr>
          <a:xfrm flipH="1">
            <a:off x="6024563" y="4017963"/>
            <a:ext cx="1676400" cy="0"/>
          </a:xfrm>
          <a:prstGeom prst="line">
            <a:avLst/>
          </a:prstGeom>
          <a:ln w="9525" cap="flat" cmpd="sng">
            <a:solidFill>
              <a:schemeClr val="tx1"/>
            </a:solidFill>
            <a:prstDash val="solid"/>
            <a:miter/>
            <a:headEnd type="none" w="med" len="med"/>
            <a:tailEnd type="triangle" w="med" len="med"/>
          </a:ln>
        </p:spPr>
      </p:sp>
      <p:sp>
        <p:nvSpPr>
          <p:cNvPr id="87059" name="Rectangle 23"/>
          <p:cNvSpPr/>
          <p:nvPr/>
        </p:nvSpPr>
        <p:spPr>
          <a:xfrm>
            <a:off x="4500563" y="3789363"/>
            <a:ext cx="1524000" cy="4572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dirty="0">
                <a:latin typeface="Times New Roman" panose="02020603050405020304" pitchFamily="18" charset="0"/>
              </a:rPr>
              <a:t>齿轮箱</a:t>
            </a:r>
            <a:endParaRPr lang="en-US" altLang="zh-CN" sz="2000" dirty="0">
              <a:latin typeface="Times New Roman" panose="02020603050405020304" pitchFamily="18" charset="0"/>
            </a:endParaRPr>
          </a:p>
        </p:txBody>
      </p:sp>
      <p:sp>
        <p:nvSpPr>
          <p:cNvPr id="87060" name="Line 24"/>
          <p:cNvSpPr/>
          <p:nvPr/>
        </p:nvSpPr>
        <p:spPr>
          <a:xfrm flipH="1">
            <a:off x="2214563" y="4017963"/>
            <a:ext cx="2286000" cy="0"/>
          </a:xfrm>
          <a:prstGeom prst="line">
            <a:avLst/>
          </a:prstGeom>
          <a:ln w="9525" cap="flat" cmpd="sng">
            <a:solidFill>
              <a:schemeClr val="tx1"/>
            </a:solidFill>
            <a:prstDash val="solid"/>
            <a:miter/>
            <a:headEnd type="none" w="med" len="med"/>
            <a:tailEnd type="none" w="med" len="med"/>
          </a:ln>
        </p:spPr>
      </p:sp>
      <p:sp>
        <p:nvSpPr>
          <p:cNvPr id="87061" name="Text Box 25"/>
          <p:cNvSpPr txBox="1"/>
          <p:nvPr/>
        </p:nvSpPr>
        <p:spPr>
          <a:xfrm>
            <a:off x="4348163" y="2570163"/>
            <a:ext cx="311150" cy="3968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en-US" altLang="zh-CN" sz="1800" dirty="0">
                <a:latin typeface="Times New Roman" panose="02020603050405020304" pitchFamily="18" charset="0"/>
              </a:rPr>
              <a:t>y</a:t>
            </a:r>
          </a:p>
        </p:txBody>
      </p:sp>
      <p:sp>
        <p:nvSpPr>
          <p:cNvPr id="87062" name="Text Box 26"/>
          <p:cNvSpPr txBox="1"/>
          <p:nvPr/>
        </p:nvSpPr>
        <p:spPr>
          <a:xfrm>
            <a:off x="5948363" y="2570163"/>
            <a:ext cx="368300" cy="3968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en-US" altLang="zh-CN" sz="1800" dirty="0">
                <a:latin typeface="Times New Roman" panose="02020603050405020304" pitchFamily="18" charset="0"/>
              </a:rPr>
              <a:t>Q</a:t>
            </a:r>
          </a:p>
        </p:txBody>
      </p:sp>
      <p:sp>
        <p:nvSpPr>
          <p:cNvPr id="87063" name="Text Box 27"/>
          <p:cNvSpPr txBox="1"/>
          <p:nvPr/>
        </p:nvSpPr>
        <p:spPr>
          <a:xfrm>
            <a:off x="7548563" y="2570163"/>
            <a:ext cx="438150" cy="3968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en-US" altLang="zh-CN" sz="1800" dirty="0">
                <a:latin typeface="Times New Roman" panose="02020603050405020304" pitchFamily="18" charset="0"/>
                <a:cs typeface="Times New Roman" panose="02020603050405020304" pitchFamily="18" charset="0"/>
              </a:rPr>
              <a:t>ω</a:t>
            </a:r>
            <a:endParaRPr lang="en-US" altLang="zh-CN" sz="1800" dirty="0">
              <a:latin typeface="Times New Roman" panose="02020603050405020304" pitchFamily="18" charset="0"/>
            </a:endParaRPr>
          </a:p>
        </p:txBody>
      </p:sp>
      <p:sp>
        <p:nvSpPr>
          <p:cNvPr id="87064" name="Text Box 28"/>
          <p:cNvSpPr txBox="1"/>
          <p:nvPr/>
        </p:nvSpPr>
        <p:spPr>
          <a:xfrm>
            <a:off x="1833563" y="3103563"/>
            <a:ext cx="438150" cy="396875"/>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1800" dirty="0">
                <a:latin typeface="Times New Roman" panose="02020603050405020304" pitchFamily="18" charset="0"/>
              </a:rPr>
              <a:t>－</a:t>
            </a:r>
          </a:p>
        </p:txBody>
      </p:sp>
      <p:sp>
        <p:nvSpPr>
          <p:cNvPr id="87065" name="Rectangle 31"/>
          <p:cNvSpPr/>
          <p:nvPr/>
        </p:nvSpPr>
        <p:spPr>
          <a:xfrm>
            <a:off x="8029575" y="2668588"/>
            <a:ext cx="574675" cy="50323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FontTx/>
              <a:buNone/>
            </a:pPr>
            <a:r>
              <a:rPr lang="zh-CN" altLang="en-US" sz="2000" dirty="0">
                <a:latin typeface="Times New Roman" panose="02020603050405020304" pitchFamily="18" charset="0"/>
              </a:rPr>
              <a:t>负载</a:t>
            </a:r>
            <a:endParaRPr lang="en-US" altLang="zh-CN" sz="2000" dirty="0">
              <a:latin typeface="Times New Roman" panose="02020603050405020304" pitchFamily="18" charset="0"/>
            </a:endParaRPr>
          </a:p>
        </p:txBody>
      </p:sp>
      <p:sp>
        <p:nvSpPr>
          <p:cNvPr id="87066" name="Rectangle 32"/>
          <p:cNvSpPr/>
          <p:nvPr/>
        </p:nvSpPr>
        <p:spPr>
          <a:xfrm>
            <a:off x="1692275" y="2452688"/>
            <a:ext cx="1008063" cy="1079500"/>
          </a:xfrm>
          <a:prstGeom prst="rect">
            <a:avLst/>
          </a:prstGeom>
          <a:noFill/>
          <a:ln w="9525" cap="flat" cmpd="sng">
            <a:solidFill>
              <a:schemeClr val="tx1"/>
            </a:solidFill>
            <a:prstDash val="dash"/>
            <a:miter/>
            <a:headEnd type="none" w="med" len="med"/>
            <a:tailEnd type="none" w="med" len="med"/>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endParaRPr lang="zh-CN" altLang="en-US" sz="1800" dirty="0">
              <a:latin typeface="Times New Roman" panose="02020603050405020304" pitchFamily="18" charset="0"/>
            </a:endParaRPr>
          </a:p>
        </p:txBody>
      </p:sp>
      <p:sp>
        <p:nvSpPr>
          <p:cNvPr id="87067" name="Line 33"/>
          <p:cNvSpPr/>
          <p:nvPr/>
        </p:nvSpPr>
        <p:spPr>
          <a:xfrm flipV="1">
            <a:off x="1271588" y="3460750"/>
            <a:ext cx="492125" cy="498475"/>
          </a:xfrm>
          <a:prstGeom prst="line">
            <a:avLst/>
          </a:prstGeom>
          <a:ln w="9525" cap="flat" cmpd="sng">
            <a:solidFill>
              <a:schemeClr val="tx1"/>
            </a:solidFill>
            <a:prstDash val="solid"/>
            <a:miter/>
            <a:headEnd type="none" w="med" len="med"/>
            <a:tailEnd type="triangle" w="med" len="med"/>
          </a:ln>
        </p:spPr>
      </p:sp>
      <p:sp>
        <p:nvSpPr>
          <p:cNvPr id="87068" name="Text Box 34"/>
          <p:cNvSpPr txBox="1"/>
          <p:nvPr/>
        </p:nvSpPr>
        <p:spPr>
          <a:xfrm>
            <a:off x="495300" y="3959225"/>
            <a:ext cx="1466850" cy="400050"/>
          </a:xfrm>
          <a:prstGeom prst="rect">
            <a:avLst/>
          </a:prstGeom>
          <a:noFill/>
          <a:ln w="9525">
            <a:noFill/>
          </a:ln>
        </p:spPr>
        <p:txBody>
          <a:bodyPr wrap="non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FontTx/>
              <a:buNone/>
            </a:pPr>
            <a:r>
              <a:rPr lang="zh-CN" altLang="en-US" sz="2000" dirty="0">
                <a:latin typeface="Times New Roman" panose="02020603050405020304" pitchFamily="18" charset="0"/>
              </a:rPr>
              <a:t>飞球调节器</a:t>
            </a:r>
            <a:endParaRPr lang="en-US" altLang="zh-CN" sz="2000" dirty="0">
              <a:latin typeface="Times New Roman" panose="02020603050405020304" pitchFamily="18" charset="0"/>
            </a:endParaRPr>
          </a:p>
        </p:txBody>
      </p:sp>
    </p:spTree>
    <p:extLst>
      <p:ext uri="{BB962C8B-B14F-4D97-AF65-F5344CB8AC3E}">
        <p14:creationId xmlns:p14="http://schemas.microsoft.com/office/powerpoint/2010/main" val="2796252110"/>
      </p:ext>
    </p:extLst>
  </p:cSld>
  <p:clrMapOvr>
    <a:masterClrMapping/>
  </p:clrMapOvr>
  <p:timing>
    <p:tnLst>
      <p:par>
        <p:cTn id="1" dur="indefinite" restart="never" nodeType="tmRoot"/>
      </p:par>
    </p:tn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393</TotalTime>
  <Words>2222</Words>
  <Application>Microsoft Office PowerPoint</Application>
  <PresentationFormat>全屏显示(4:3)</PresentationFormat>
  <Paragraphs>476</Paragraphs>
  <Slides>49</Slides>
  <Notes>31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60" baseType="lpstr">
      <vt:lpstr>黑体</vt:lpstr>
      <vt:lpstr>华文新魏</vt:lpstr>
      <vt:lpstr>宋体</vt:lpstr>
      <vt:lpstr>Arial</vt:lpstr>
      <vt:lpstr>Symbol</vt:lpstr>
      <vt:lpstr>Times New Roman</vt:lpstr>
      <vt:lpstr>Verdana</vt:lpstr>
      <vt:lpstr>Wingdings</vt:lpstr>
      <vt:lpstr>Profile</vt:lpstr>
      <vt:lpstr>Equation.3</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Lujx</cp:lastModifiedBy>
  <cp:revision>157</cp:revision>
  <dcterms:created xsi:type="dcterms:W3CDTF">2011-07-27T09:01:00Z</dcterms:created>
  <dcterms:modified xsi:type="dcterms:W3CDTF">2025-09-02T08:49:19Z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