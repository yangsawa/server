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handoutMasterIdLst>
    <p:handoutMasterId r:id="rId55"/>
  </p:handoutMasterIdLst>
  <p:sldIdLst>
    <p:sldId id="451" r:id="rId2"/>
    <p:sldId id="273" r:id="rId3"/>
    <p:sldId id="279" r:id="rId4"/>
    <p:sldId id="448" r:id="rId5"/>
    <p:sldId id="449" r:id="rId6"/>
    <p:sldId id="317" r:id="rId7"/>
    <p:sldId id="289" r:id="rId8"/>
    <p:sldId id="290" r:id="rId9"/>
    <p:sldId id="292" r:id="rId10"/>
    <p:sldId id="293" r:id="rId11"/>
    <p:sldId id="294" r:id="rId12"/>
    <p:sldId id="533" r:id="rId13"/>
    <p:sldId id="531" r:id="rId14"/>
    <p:sldId id="532" r:id="rId15"/>
    <p:sldId id="530" r:id="rId16"/>
    <p:sldId id="514" r:id="rId17"/>
    <p:sldId id="515" r:id="rId18"/>
    <p:sldId id="516" r:id="rId19"/>
    <p:sldId id="517" r:id="rId20"/>
    <p:sldId id="518" r:id="rId21"/>
    <p:sldId id="519" r:id="rId22"/>
    <p:sldId id="520" r:id="rId23"/>
    <p:sldId id="521" r:id="rId24"/>
    <p:sldId id="522" r:id="rId25"/>
    <p:sldId id="523" r:id="rId26"/>
    <p:sldId id="524" r:id="rId27"/>
    <p:sldId id="525" r:id="rId28"/>
    <p:sldId id="526" r:id="rId29"/>
    <p:sldId id="527" r:id="rId30"/>
    <p:sldId id="528" r:id="rId31"/>
    <p:sldId id="529" r:id="rId32"/>
    <p:sldId id="413" r:id="rId33"/>
    <p:sldId id="414" r:id="rId34"/>
    <p:sldId id="415" r:id="rId35"/>
    <p:sldId id="416" r:id="rId36"/>
    <p:sldId id="417" r:id="rId37"/>
    <p:sldId id="418" r:id="rId38"/>
    <p:sldId id="419" r:id="rId39"/>
    <p:sldId id="421" r:id="rId40"/>
    <p:sldId id="422" r:id="rId41"/>
    <p:sldId id="510" r:id="rId42"/>
    <p:sldId id="423" r:id="rId43"/>
    <p:sldId id="424" r:id="rId44"/>
    <p:sldId id="511" r:id="rId45"/>
    <p:sldId id="426" r:id="rId46"/>
    <p:sldId id="427" r:id="rId47"/>
    <p:sldId id="425" r:id="rId48"/>
    <p:sldId id="428" r:id="rId49"/>
    <p:sldId id="468" r:id="rId50"/>
    <p:sldId id="469" r:id="rId51"/>
    <p:sldId id="512" r:id="rId52"/>
    <p:sldId id="467" r:id="rId5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0" autoAdjust="0"/>
    <p:restoredTop sz="94660" autoAdjust="0"/>
  </p:normalViewPr>
  <p:slideViewPr>
    <p:cSldViewPr>
      <p:cViewPr varScale="1">
        <p:scale>
          <a:sx n="41" d="100"/>
          <a:sy n="41" d="100"/>
        </p:scale>
        <p:origin x="984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/>
            </a:lvl1pPr>
          </a:lstStyle>
          <a:p>
            <a:pPr>
              <a:defRPr/>
            </a:pPr>
            <a:fld id="{F01DA146-7DF9-444B-B891-58042E6EF0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/>
            </a:lvl1pPr>
          </a:lstStyle>
          <a:p>
            <a:pPr>
              <a:defRPr/>
            </a:pPr>
            <a:fld id="{C96E33E0-9CBB-4FE8-BAF4-10AC6743D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41BC07-46DA-4D7B-BB93-225A5522DE40}" type="slidenum">
              <a:rPr altLang="zh-CN" smtClean="0"/>
              <a:pPr/>
              <a:t>1</a:t>
            </a:fld>
            <a:endParaRPr lang="zh-CN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</a:t>
            </a:fld>
            <a:endParaRPr lang="en-US" altLang="zh-CN" sz="1200" dirty="0"/>
          </a:p>
        </p:txBody>
      </p:sp>
      <p:sp>
        <p:nvSpPr>
          <p:cNvPr id="1269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3</a:t>
            </a:fld>
            <a:endParaRPr lang="en-US" altLang="zh-CN" sz="1200" dirty="0"/>
          </a:p>
        </p:txBody>
      </p:sp>
      <p:sp>
        <p:nvSpPr>
          <p:cNvPr id="1320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4</a:t>
            </a:fld>
            <a:endParaRPr lang="en-US" altLang="zh-CN" sz="1200" dirty="0"/>
          </a:p>
        </p:txBody>
      </p:sp>
      <p:sp>
        <p:nvSpPr>
          <p:cNvPr id="1351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5</a:t>
            </a:fld>
            <a:endParaRPr lang="en-US" altLang="zh-CN" sz="1200" dirty="0"/>
          </a:p>
        </p:txBody>
      </p:sp>
      <p:sp>
        <p:nvSpPr>
          <p:cNvPr id="136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6</a:t>
            </a:fld>
            <a:endParaRPr lang="en-US" altLang="zh-CN" sz="1200" dirty="0"/>
          </a:p>
        </p:txBody>
      </p:sp>
      <p:sp>
        <p:nvSpPr>
          <p:cNvPr id="140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7</a:t>
            </a:fld>
            <a:endParaRPr lang="en-US" altLang="zh-CN" sz="1200" dirty="0"/>
          </a:p>
        </p:txBody>
      </p:sp>
      <p:sp>
        <p:nvSpPr>
          <p:cNvPr id="1423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8</a:t>
            </a:fld>
            <a:endParaRPr lang="en-US" altLang="zh-CN" sz="1200" dirty="0"/>
          </a:p>
        </p:txBody>
      </p:sp>
      <p:sp>
        <p:nvSpPr>
          <p:cNvPr id="1433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9</a:t>
            </a:fld>
            <a:endParaRPr lang="en-US" altLang="zh-CN" sz="1200" dirty="0"/>
          </a:p>
        </p:txBody>
      </p:sp>
      <p:sp>
        <p:nvSpPr>
          <p:cNvPr id="1443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10</a:t>
            </a:fld>
            <a:endParaRPr lang="en-US" altLang="zh-CN" sz="1200" dirty="0"/>
          </a:p>
        </p:txBody>
      </p:sp>
      <p:sp>
        <p:nvSpPr>
          <p:cNvPr id="1454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11</a:t>
            </a:fld>
            <a:endParaRPr lang="en-US" altLang="zh-CN" sz="1200" dirty="0"/>
          </a:p>
        </p:txBody>
      </p:sp>
      <p:sp>
        <p:nvSpPr>
          <p:cNvPr id="14643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2295-5475-1130-EE7C-DCADE5D0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469CAE3-6761-F7BA-4976-0C5508B611E1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12</a:t>
            </a:fld>
            <a:endParaRPr lang="en-US" altLang="zh-CN" sz="1200" dirty="0"/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8E372AA3-81E4-A6F0-AA72-831D4E3552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0B42D91F-8D53-03AC-A26B-7AEE6FABC414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32421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15</a:t>
            </a:fld>
            <a:endParaRPr lang="en-US" altLang="zh-CN" sz="1200" dirty="0"/>
          </a:p>
        </p:txBody>
      </p:sp>
      <p:sp>
        <p:nvSpPr>
          <p:cNvPr id="1474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27C1DD-79B8-4EFF-B419-790D7F02B5A1}" type="slidenum">
              <a:rPr altLang="zh-CN" smtClean="0"/>
              <a:pPr/>
              <a:t>16</a:t>
            </a:fld>
            <a:endParaRPr lang="zh-CN" altLang="zh-CN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1944AF-12E3-44CE-B452-26C0D7B0779F}" type="slidenum">
              <a:rPr altLang="zh-CN" smtClean="0"/>
              <a:pPr/>
              <a:t>17</a:t>
            </a:fld>
            <a:endParaRPr lang="zh-CN" altLang="zh-CN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CE29A0-1E6B-4848-AA7B-09E80B23422B}" type="slidenum">
              <a:rPr altLang="zh-CN" smtClean="0"/>
              <a:pPr/>
              <a:t>18</a:t>
            </a:fld>
            <a:endParaRPr lang="zh-CN" altLang="zh-CN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9451FD7-2BF6-4F7A-99CE-EDF50913281D}" type="slidenum">
              <a:rPr altLang="zh-CN" smtClean="0"/>
              <a:pPr/>
              <a:t>19</a:t>
            </a:fld>
            <a:endParaRPr lang="zh-CN" altLang="zh-CN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574C67-8160-49A7-B01C-F4FD10DDA934}" type="slidenum">
              <a:rPr altLang="zh-CN" smtClean="0"/>
              <a:pPr/>
              <a:t>21</a:t>
            </a:fld>
            <a:endParaRPr lang="zh-CN" altLang="zh-CN"/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E8E06A-B559-4A2C-95D1-0DFAAFE725EF}" type="slidenum">
              <a:rPr altLang="zh-CN" smtClean="0"/>
              <a:pPr/>
              <a:t>22</a:t>
            </a:fld>
            <a:endParaRPr lang="zh-CN" altLang="zh-CN"/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7217BF-8F09-4DC5-AC08-AD9DE7FE3E35}" type="slidenum">
              <a:rPr altLang="zh-CN" smtClean="0"/>
              <a:pPr/>
              <a:t>23</a:t>
            </a:fld>
            <a:endParaRPr lang="zh-CN" altLang="zh-CN"/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EC57D0-F5EC-4DB3-81E3-D824166E2074}" type="slidenum">
              <a:rPr altLang="zh-CN" smtClean="0"/>
              <a:pPr/>
              <a:t>24</a:t>
            </a:fld>
            <a:endParaRPr lang="zh-CN" altLang="zh-CN"/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596C6A-BC89-441C-8F66-47E10A8CDA90}" type="slidenum">
              <a:rPr altLang="zh-CN" smtClean="0"/>
              <a:pPr/>
              <a:t>25</a:t>
            </a:fld>
            <a:endParaRPr lang="zh-CN" altLang="zh-CN"/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374785-FDAF-4FD1-8236-9491FE3CDBBB}" type="slidenum">
              <a:rPr altLang="zh-CN" smtClean="0"/>
              <a:pPr/>
              <a:t>26</a:t>
            </a:fld>
            <a:endParaRPr lang="zh-CN" altLang="zh-CN"/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48EC82-F156-4566-950A-FC87644346D2}" type="slidenum">
              <a:rPr altLang="zh-CN" smtClean="0"/>
              <a:pPr/>
              <a:t>27</a:t>
            </a:fld>
            <a:endParaRPr lang="zh-CN" altLang="zh-CN"/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C2F05E-2D40-45EC-BE70-97A904C31F6B}" type="slidenum">
              <a:rPr altLang="zh-CN" smtClean="0"/>
              <a:pPr/>
              <a:t>28</a:t>
            </a:fld>
            <a:endParaRPr lang="zh-CN" altLang="zh-CN"/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406EDA-9EF6-4450-9FEB-1F9D6E9211D2}" type="slidenum">
              <a:rPr altLang="zh-CN" smtClean="0"/>
              <a:pPr/>
              <a:t>29</a:t>
            </a:fld>
            <a:endParaRPr lang="zh-CN" altLang="zh-CN"/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E9885DE-CF31-4006-85DD-01A33D856984}" type="slidenum">
              <a:rPr altLang="zh-CN" smtClean="0"/>
              <a:pPr/>
              <a:t>30</a:t>
            </a:fld>
            <a:endParaRPr lang="zh-CN" altLang="zh-CN"/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1ACF41-1D16-4F0E-AF4C-287F8AFCBCF6}" type="slidenum">
              <a:rPr altLang="zh-CN" smtClean="0"/>
              <a:pPr/>
              <a:t>31</a:t>
            </a:fld>
            <a:endParaRPr lang="zh-CN" altLang="zh-CN"/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BD074C-98E7-4950-973D-5AF076DE3603}" type="slidenum">
              <a:rPr altLang="zh-CN" smtClean="0"/>
              <a:pPr/>
              <a:t>32</a:t>
            </a:fld>
            <a:endParaRPr lang="zh-CN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8B8BFFB-3663-42DE-9E54-50858F9BCADE}" type="slidenum">
              <a:rPr altLang="zh-CN" smtClean="0"/>
              <a:pPr/>
              <a:t>33</a:t>
            </a:fld>
            <a:endParaRPr lang="zh-CN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CD9617-146D-4864-B0BB-FB6A994263A7}" type="slidenum">
              <a:rPr altLang="zh-CN" smtClean="0"/>
              <a:pPr/>
              <a:t>34</a:t>
            </a:fld>
            <a:endParaRPr lang="zh-CN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E348BE-977C-4FF7-BF8C-0B210FF79B83}" type="slidenum">
              <a:rPr altLang="zh-CN" smtClean="0"/>
              <a:pPr/>
              <a:t>35</a:t>
            </a:fld>
            <a:endParaRPr lang="zh-CN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D4EC5B-D626-461A-ABEF-99EC96E55AE6}" type="slidenum">
              <a:rPr altLang="zh-CN" smtClean="0"/>
              <a:pPr/>
              <a:t>36</a:t>
            </a:fld>
            <a:endParaRPr lang="zh-CN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462724-5C6E-4474-8469-FEDB865B8483}" type="slidenum">
              <a:rPr altLang="zh-CN" smtClean="0"/>
              <a:pPr/>
              <a:t>37</a:t>
            </a:fld>
            <a:endParaRPr lang="zh-CN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00F45F-CF5A-4E33-8576-84C0DAB60AFF}" type="slidenum">
              <a:rPr altLang="zh-CN" smtClean="0"/>
              <a:pPr/>
              <a:t>38</a:t>
            </a:fld>
            <a:endParaRPr lang="zh-CN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A827C8-CDF1-4E2A-9FD1-F7D7D33A0F25}" type="slidenum">
              <a:rPr altLang="zh-CN" smtClean="0"/>
              <a:pPr/>
              <a:t>39</a:t>
            </a:fld>
            <a:endParaRPr lang="zh-CN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AA1316-1063-4C99-BB91-322D07FC0F54}" type="slidenum">
              <a:rPr altLang="zh-CN" smtClean="0"/>
              <a:pPr/>
              <a:t>40</a:t>
            </a:fld>
            <a:endParaRPr lang="zh-CN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A317DF-4954-4E00-9400-6982F05D2F24}" type="slidenum">
              <a:rPr altLang="zh-CN" smtClean="0"/>
              <a:pPr/>
              <a:t>42</a:t>
            </a:fld>
            <a:endParaRPr lang="zh-CN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8A607C-9B85-4D17-AF88-57E5DE9A0814}" type="slidenum">
              <a:rPr altLang="zh-CN" smtClean="0"/>
              <a:pPr/>
              <a:t>43</a:t>
            </a:fld>
            <a:endParaRPr lang="zh-CN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02D95B-2145-4C2A-B3BE-9BBFB82B624E}" type="slidenum">
              <a:rPr altLang="zh-CN" smtClean="0"/>
              <a:pPr/>
              <a:t>45</a:t>
            </a:fld>
            <a:endParaRPr lang="zh-CN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5EF05B-9575-451D-AE66-4CEC7E7C6C62}" type="slidenum">
              <a:rPr altLang="zh-CN" smtClean="0"/>
              <a:pPr/>
              <a:t>46</a:t>
            </a:fld>
            <a:endParaRPr lang="zh-CN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5ACB74-545C-4C3D-9464-31B195066E21}" type="slidenum">
              <a:rPr altLang="zh-CN" smtClean="0"/>
              <a:pPr/>
              <a:t>47</a:t>
            </a:fld>
            <a:endParaRPr lang="zh-CN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577EC9E-7F3A-45DD-B90D-E5D641D59A9D}" type="slidenum">
              <a:rPr altLang="zh-CN" smtClean="0"/>
              <a:pPr/>
              <a:t>48</a:t>
            </a:fld>
            <a:endParaRPr lang="zh-CN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AED909-7ACD-45D9-A3FE-C317B2C3E550}" type="slidenum">
              <a:rPr altLang="zh-CN" smtClean="0"/>
              <a:pPr/>
              <a:t>52</a:t>
            </a:fld>
            <a:endParaRPr lang="zh-CN" altLang="zh-CN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FA787B9B-2852-45F3-8F60-CAF6E7AEE5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71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0F4AD-650A-4098-8DD5-8BA03C7E71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806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83BAF-05EB-4C1E-92F6-7FAE2365F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456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DA337-83D8-4F84-A52A-B164509D35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885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C637E-E617-4C98-8474-7981FC824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267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BE265-B545-4C10-83E8-F281F84C6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32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A63E7-3F03-4FB0-8935-A326606FA4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795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2319D-029B-43A2-AFD9-509B167A6A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13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B870D-EC88-414E-A894-158DDCA826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82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52D1D-9862-4F5C-BF51-145F5F6CD5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35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640E2-07F2-487C-9209-B38A8FA5CD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554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Garamond" pitchFamily="18" charset="0"/>
              </a:defRPr>
            </a:lvl1pPr>
          </a:lstStyle>
          <a:p>
            <a:pPr>
              <a:defRPr/>
            </a:pPr>
            <a:fld id="{993B1EFE-C2FE-4709-9B86-535C497E90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609600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jpeg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4.jpeg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9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6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3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60.png"/><Relationship Id="rId7" Type="http://schemas.openxmlformats.org/officeDocument/2006/relationships/image" Target="../media/image62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7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6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2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74.png"/><Relationship Id="rId7" Type="http://schemas.openxmlformats.org/officeDocument/2006/relationships/image" Target="../media/image76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8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1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0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9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1331913" y="981075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5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控制系统的设计和校正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1560513" y="2357438"/>
            <a:ext cx="55626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5.2   PID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控制规律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1560513" y="3025775"/>
            <a:ext cx="7583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5.3   PID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控制规律的实现</a:t>
            </a: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1560513" y="3424238"/>
            <a:ext cx="533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频率法设计和校正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1560513" y="3957638"/>
            <a:ext cx="5410200" cy="6746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5.5  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并联校正和复合校正（自学）</a:t>
            </a:r>
          </a:p>
        </p:txBody>
      </p:sp>
      <p:sp>
        <p:nvSpPr>
          <p:cNvPr id="5127" name="Rectangle 10"/>
          <p:cNvSpPr>
            <a:spLocks noChangeArrowheads="1"/>
          </p:cNvSpPr>
          <p:nvPr/>
        </p:nvSpPr>
        <p:spPr bwMode="auto">
          <a:xfrm>
            <a:off x="1560513" y="1841500"/>
            <a:ext cx="46482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系统设计概述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/>
          <p:nvPr/>
        </p:nvSpPr>
        <p:spPr>
          <a:xfrm>
            <a:off x="683568" y="1419597"/>
            <a:ext cx="2612851" cy="52322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PID</a:t>
            </a:r>
            <a:r>
              <a:rPr lang="zh-CN" altLang="en-US" sz="2800" b="1" dirty="0">
                <a:latin typeface="宋体" panose="02010600030101010101" pitchFamily="2" charset="-122"/>
              </a:rPr>
              <a:t>控制规律</a:t>
            </a: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918013"/>
              </p:ext>
            </p:extLst>
          </p:nvPr>
        </p:nvGraphicFramePr>
        <p:xfrm>
          <a:off x="1057300" y="2705943"/>
          <a:ext cx="5257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01900" imgH="482600" progId="Equation.3">
                  <p:embed/>
                </p:oleObj>
              </mc:Choice>
              <mc:Fallback>
                <p:oleObj r:id="rId3" imgW="2501900" imgH="482600" progId="Equation.3">
                  <p:embed/>
                  <p:pic>
                    <p:nvPicPr>
                      <p:cNvPr id="23559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7300" y="2705943"/>
                        <a:ext cx="525780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1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345" y="357760"/>
            <a:ext cx="4997379" cy="2064841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B02E63C1-C009-E1F7-280B-06FC4E5384DA}"/>
              </a:ext>
            </a:extLst>
          </p:cNvPr>
          <p:cNvGrpSpPr/>
          <p:nvPr/>
        </p:nvGrpSpPr>
        <p:grpSpPr>
          <a:xfrm>
            <a:off x="1028700" y="4459518"/>
            <a:ext cx="7086600" cy="1692275"/>
            <a:chOff x="960" y="2582"/>
            <a:chExt cx="4464" cy="1066"/>
          </a:xfrm>
        </p:grpSpPr>
        <p:sp>
          <p:nvSpPr>
            <p:cNvPr id="3" name="Text Box 10">
              <a:extLst>
                <a:ext uri="{FF2B5EF4-FFF2-40B4-BE49-F238E27FC236}">
                  <a16:creationId xmlns:a16="http://schemas.microsoft.com/office/drawing/2014/main" id="{B3C71B7E-D5BA-BD08-B3E5-B870BCE05FB7}"/>
                </a:ext>
              </a:extLst>
            </p:cNvPr>
            <p:cNvSpPr txBox="1"/>
            <p:nvPr/>
          </p:nvSpPr>
          <p:spPr>
            <a:xfrm>
              <a:off x="960" y="2582"/>
              <a:ext cx="4464" cy="367"/>
            </a:xfrm>
            <a:prstGeom prst="rect">
              <a:avLst/>
            </a:prstGeom>
            <a:noFill/>
            <a:ln w="222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PID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控制的传递函数：</a:t>
              </a:r>
            </a:p>
          </p:txBody>
        </p:sp>
        <p:graphicFrame>
          <p:nvGraphicFramePr>
            <p:cNvPr id="4" name="Object 11">
              <a:extLst>
                <a:ext uri="{FF2B5EF4-FFF2-40B4-BE49-F238E27FC236}">
                  <a16:creationId xmlns:a16="http://schemas.microsoft.com/office/drawing/2014/main" id="{020FCA0F-DB37-7CB7-1A68-D45AD58C45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2" y="3014"/>
            <a:ext cx="2724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082800" imgH="482600" progId="Equation.3">
                    <p:embed/>
                  </p:oleObj>
                </mc:Choice>
                <mc:Fallback>
                  <p:oleObj r:id="rId6" imgW="2082800" imgH="482600" progId="Equation.3">
                    <p:embed/>
                    <p:pic>
                      <p:nvPicPr>
                        <p:cNvPr id="17415" name="Object 1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212" y="3014"/>
                          <a:ext cx="2724" cy="6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/>
          <p:nvPr/>
        </p:nvSpPr>
        <p:spPr>
          <a:xfrm>
            <a:off x="762000" y="2590005"/>
            <a:ext cx="7620000" cy="5619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开环增益加大，稳态误差减小；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/>
          <p:nvPr/>
        </p:nvSpPr>
        <p:spPr>
          <a:xfrm>
            <a:off x="608013" y="1862931"/>
            <a:ext cx="2133600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&gt;1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762000" y="3199605"/>
            <a:ext cx="7620000" cy="5619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幅值穿越频率增大，过渡过程时间缩短；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9702" name="Rectangle 6"/>
          <p:cNvSpPr/>
          <p:nvPr/>
        </p:nvSpPr>
        <p:spPr>
          <a:xfrm>
            <a:off x="762000" y="3809205"/>
            <a:ext cx="7620000" cy="10318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系统稳定程度变差。只有原系统稳定裕量充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   分大时才采用比例控制。</a:t>
            </a:r>
          </a:p>
        </p:txBody>
      </p:sp>
      <p:sp>
        <p:nvSpPr>
          <p:cNvPr id="29703" name="Rectangle 7"/>
          <p:cNvSpPr/>
          <p:nvPr/>
        </p:nvSpPr>
        <p:spPr>
          <a:xfrm>
            <a:off x="684213" y="5472906"/>
            <a:ext cx="7162800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&gt;1</a:t>
            </a:r>
            <a:r>
              <a:rPr lang="zh-CN" altLang="en-US" sz="2800" dirty="0">
                <a:latin typeface="Times New Roman" panose="02020603050405020304" pitchFamily="18" charset="0"/>
              </a:rPr>
              <a:t>时，</a:t>
            </a:r>
            <a:r>
              <a:rPr lang="zh-CN" altLang="en-US" sz="2800" dirty="0">
                <a:latin typeface="宋体" panose="02010600030101010101" pitchFamily="2" charset="-122"/>
              </a:rPr>
              <a:t>对系统性能的影响正好相反。</a:t>
            </a:r>
          </a:p>
        </p:txBody>
      </p:sp>
      <p:sp>
        <p:nvSpPr>
          <p:cNvPr id="21511" name="Rectangle 8"/>
          <p:cNvSpPr/>
          <p:nvPr/>
        </p:nvSpPr>
        <p:spPr>
          <a:xfrm>
            <a:off x="684213" y="1125538"/>
            <a:ext cx="4294187" cy="519112"/>
          </a:xfrm>
          <a:prstGeom prst="rect">
            <a:avLst/>
          </a:prstGeom>
          <a:noFill/>
          <a:ln w="222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</a:rPr>
              <a:t>控制对系统性能的影响：</a:t>
            </a:r>
          </a:p>
        </p:txBody>
      </p:sp>
      <p:sp>
        <p:nvSpPr>
          <p:cNvPr id="29705" name="Rectangle 9"/>
          <p:cNvSpPr/>
          <p:nvPr/>
        </p:nvSpPr>
        <p:spPr>
          <a:xfrm>
            <a:off x="608013" y="4863306"/>
            <a:ext cx="2133600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&lt;1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pic>
        <p:nvPicPr>
          <p:cNvPr id="21513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404813"/>
            <a:ext cx="3778250" cy="238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4519D1BE-9D39-516E-E988-9C85D2ED3855}"/>
              </a:ext>
            </a:extLst>
          </p:cNvPr>
          <p:cNvSpPr/>
          <p:nvPr/>
        </p:nvSpPr>
        <p:spPr>
          <a:xfrm>
            <a:off x="467544" y="425450"/>
            <a:ext cx="4892675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zh-CN" altLang="en-US" sz="2800" b="1" dirty="0">
                <a:latin typeface="宋体" panose="02010600030101010101" pitchFamily="2" charset="-122"/>
              </a:rPr>
              <a:t>控制（比例控制）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1042988" y="1125538"/>
            <a:ext cx="7081837" cy="3879850"/>
            <a:chOff x="814" y="1056"/>
            <a:chExt cx="4461" cy="2445"/>
          </a:xfrm>
        </p:grpSpPr>
        <p:sp>
          <p:nvSpPr>
            <p:cNvPr id="24583" name="Line 4"/>
            <p:cNvSpPr/>
            <p:nvPr/>
          </p:nvSpPr>
          <p:spPr>
            <a:xfrm>
              <a:off x="1479" y="1704"/>
              <a:ext cx="363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4" name="Line 5"/>
            <p:cNvSpPr/>
            <p:nvPr/>
          </p:nvSpPr>
          <p:spPr>
            <a:xfrm flipV="1">
              <a:off x="1479" y="1102"/>
              <a:ext cx="0" cy="1097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5" name="Text Box 6"/>
            <p:cNvSpPr txBox="1"/>
            <p:nvPr/>
          </p:nvSpPr>
          <p:spPr>
            <a:xfrm>
              <a:off x="1275" y="163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586" name="Line 7"/>
            <p:cNvSpPr/>
            <p:nvPr/>
          </p:nvSpPr>
          <p:spPr>
            <a:xfrm flipH="1">
              <a:off x="3373" y="1704"/>
              <a:ext cx="0" cy="106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587" name="Text Box 8"/>
            <p:cNvSpPr txBox="1"/>
            <p:nvPr/>
          </p:nvSpPr>
          <p:spPr>
            <a:xfrm rot="-5400000">
              <a:off x="582" y="1388"/>
              <a:ext cx="7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24588" name="Text Box 9"/>
            <p:cNvSpPr txBox="1"/>
            <p:nvPr/>
          </p:nvSpPr>
          <p:spPr>
            <a:xfrm>
              <a:off x="1516" y="126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589" name="Text Box 10"/>
            <p:cNvSpPr txBox="1"/>
            <p:nvPr/>
          </p:nvSpPr>
          <p:spPr>
            <a:xfrm>
              <a:off x="2802" y="1374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24590" name="Text Box 11"/>
            <p:cNvSpPr txBox="1"/>
            <p:nvPr/>
          </p:nvSpPr>
          <p:spPr>
            <a:xfrm>
              <a:off x="4360" y="178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24591" name="Text Box 12"/>
            <p:cNvSpPr txBox="1"/>
            <p:nvPr/>
          </p:nvSpPr>
          <p:spPr>
            <a:xfrm>
              <a:off x="1846" y="1056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4592" name="Text Box 13"/>
            <p:cNvSpPr txBox="1"/>
            <p:nvPr/>
          </p:nvSpPr>
          <p:spPr>
            <a:xfrm>
              <a:off x="1575" y="1964"/>
              <a:ext cx="17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PI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校正装置：</a:t>
              </a:r>
              <a:r>
                <a:rPr lang="en-US" altLang="zh-CN" sz="2400" i="1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400" i="1" baseline="-18000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p</a:t>
              </a:r>
              <a:r>
                <a:rPr lang="zh-CN" altLang="en-US" sz="2400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400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593" name="Text Box 14"/>
            <p:cNvSpPr txBox="1"/>
            <p:nvPr/>
          </p:nvSpPr>
          <p:spPr>
            <a:xfrm>
              <a:off x="2471" y="1147"/>
              <a:ext cx="692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grpSp>
          <p:nvGrpSpPr>
            <p:cNvPr id="24594" name="Group 15"/>
            <p:cNvGrpSpPr/>
            <p:nvPr/>
          </p:nvGrpSpPr>
          <p:grpSpPr>
            <a:xfrm>
              <a:off x="1479" y="1496"/>
              <a:ext cx="3555" cy="744"/>
              <a:chOff x="960" y="912"/>
              <a:chExt cx="4176" cy="1008"/>
            </a:xfrm>
          </p:grpSpPr>
          <p:sp>
            <p:nvSpPr>
              <p:cNvPr id="24625" name="Line 16"/>
              <p:cNvSpPr/>
              <p:nvPr/>
            </p:nvSpPr>
            <p:spPr>
              <a:xfrm>
                <a:off x="960" y="912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26" name="Line 17"/>
              <p:cNvSpPr/>
              <p:nvPr/>
            </p:nvSpPr>
            <p:spPr>
              <a:xfrm>
                <a:off x="2016" y="912"/>
                <a:ext cx="2016" cy="48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27" name="Line 18"/>
              <p:cNvSpPr/>
              <p:nvPr/>
            </p:nvSpPr>
            <p:spPr>
              <a:xfrm>
                <a:off x="4032" y="1392"/>
                <a:ext cx="1104" cy="52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595" name="Group 19"/>
            <p:cNvGrpSpPr/>
            <p:nvPr/>
          </p:nvGrpSpPr>
          <p:grpSpPr>
            <a:xfrm>
              <a:off x="1479" y="1314"/>
              <a:ext cx="3555" cy="920"/>
              <a:chOff x="960" y="672"/>
              <a:chExt cx="4176" cy="1248"/>
            </a:xfrm>
          </p:grpSpPr>
          <p:sp>
            <p:nvSpPr>
              <p:cNvPr id="24623" name="Line 20"/>
              <p:cNvSpPr/>
              <p:nvPr/>
            </p:nvSpPr>
            <p:spPr>
              <a:xfrm>
                <a:off x="960" y="672"/>
                <a:ext cx="3072" cy="72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4" name="Line 21"/>
              <p:cNvSpPr/>
              <p:nvPr/>
            </p:nvSpPr>
            <p:spPr>
              <a:xfrm>
                <a:off x="4032" y="1392"/>
                <a:ext cx="1104" cy="52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24596" name="Group 22"/>
            <p:cNvGrpSpPr/>
            <p:nvPr/>
          </p:nvGrpSpPr>
          <p:grpSpPr>
            <a:xfrm>
              <a:off x="1479" y="1526"/>
              <a:ext cx="3555" cy="178"/>
              <a:chOff x="960" y="960"/>
              <a:chExt cx="4176" cy="240"/>
            </a:xfrm>
          </p:grpSpPr>
          <p:sp>
            <p:nvSpPr>
              <p:cNvPr id="24621" name="Line 23"/>
              <p:cNvSpPr/>
              <p:nvPr/>
            </p:nvSpPr>
            <p:spPr>
              <a:xfrm>
                <a:off x="960" y="960"/>
                <a:ext cx="1056" cy="24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24622" name="Line 24"/>
              <p:cNvSpPr/>
              <p:nvPr/>
            </p:nvSpPr>
            <p:spPr>
              <a:xfrm>
                <a:off x="2016" y="1200"/>
                <a:ext cx="3120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</p:grpSp>
        <p:sp>
          <p:nvSpPr>
            <p:cNvPr id="24597" name="Rectangle 25"/>
            <p:cNvSpPr/>
            <p:nvPr/>
          </p:nvSpPr>
          <p:spPr>
            <a:xfrm>
              <a:off x="3227" y="1419"/>
              <a:ext cx="3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4598" name="Line 26"/>
            <p:cNvSpPr/>
            <p:nvPr/>
          </p:nvSpPr>
          <p:spPr>
            <a:xfrm flipV="1">
              <a:off x="1810" y="1615"/>
              <a:ext cx="119" cy="393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99" name="Line 27"/>
            <p:cNvSpPr/>
            <p:nvPr/>
          </p:nvSpPr>
          <p:spPr>
            <a:xfrm flipH="1">
              <a:off x="1683" y="1278"/>
              <a:ext cx="205" cy="71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0" name="Line 28"/>
            <p:cNvSpPr/>
            <p:nvPr/>
          </p:nvSpPr>
          <p:spPr>
            <a:xfrm flipV="1">
              <a:off x="2011" y="1314"/>
              <a:ext cx="490" cy="177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4601" name="Line 29"/>
            <p:cNvSpPr/>
            <p:nvPr/>
          </p:nvSpPr>
          <p:spPr>
            <a:xfrm>
              <a:off x="2378" y="1491"/>
              <a:ext cx="0" cy="213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02" name="Text Box 30"/>
            <p:cNvSpPr txBox="1"/>
            <p:nvPr/>
          </p:nvSpPr>
          <p:spPr>
            <a:xfrm>
              <a:off x="2192" y="1661"/>
              <a:ext cx="539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1/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4603" name="Line 31"/>
            <p:cNvSpPr/>
            <p:nvPr/>
          </p:nvSpPr>
          <p:spPr>
            <a:xfrm flipV="1">
              <a:off x="1479" y="2234"/>
              <a:ext cx="0" cy="114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4" name="Line 32"/>
            <p:cNvSpPr/>
            <p:nvPr/>
          </p:nvSpPr>
          <p:spPr>
            <a:xfrm>
              <a:off x="1479" y="3215"/>
              <a:ext cx="3596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5" name="Text Box 33"/>
            <p:cNvSpPr txBox="1"/>
            <p:nvPr/>
          </p:nvSpPr>
          <p:spPr>
            <a:xfrm>
              <a:off x="976" y="3079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-180°</a:t>
              </a:r>
            </a:p>
          </p:txBody>
        </p:sp>
        <p:sp>
          <p:nvSpPr>
            <p:cNvPr id="24606" name="Text Box 34"/>
            <p:cNvSpPr txBox="1"/>
            <p:nvPr/>
          </p:nvSpPr>
          <p:spPr>
            <a:xfrm>
              <a:off x="1059" y="2645"/>
              <a:ext cx="5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-90°</a:t>
              </a:r>
            </a:p>
          </p:txBody>
        </p:sp>
        <p:sp>
          <p:nvSpPr>
            <p:cNvPr id="24607" name="Text Box 35"/>
            <p:cNvSpPr txBox="1"/>
            <p:nvPr/>
          </p:nvSpPr>
          <p:spPr>
            <a:xfrm>
              <a:off x="1194" y="2236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0°</a:t>
              </a:r>
            </a:p>
          </p:txBody>
        </p:sp>
        <p:sp>
          <p:nvSpPr>
            <p:cNvPr id="24608" name="Line 36"/>
            <p:cNvSpPr/>
            <p:nvPr/>
          </p:nvSpPr>
          <p:spPr>
            <a:xfrm flipH="1">
              <a:off x="3373" y="2810"/>
              <a:ext cx="0" cy="401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4609" name="Line 37"/>
            <p:cNvSpPr/>
            <p:nvPr/>
          </p:nvSpPr>
          <p:spPr>
            <a:xfrm>
              <a:off x="3373" y="2643"/>
              <a:ext cx="0" cy="136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0" name="Line 38"/>
            <p:cNvSpPr/>
            <p:nvPr/>
          </p:nvSpPr>
          <p:spPr>
            <a:xfrm flipV="1">
              <a:off x="3369" y="3208"/>
              <a:ext cx="4" cy="200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1" name="Text Box 39"/>
            <p:cNvSpPr txBox="1"/>
            <p:nvPr/>
          </p:nvSpPr>
          <p:spPr>
            <a:xfrm rot="-5400000">
              <a:off x="712" y="2581"/>
              <a:ext cx="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12" name="Freeform 40"/>
            <p:cNvSpPr/>
            <p:nvPr/>
          </p:nvSpPr>
          <p:spPr>
            <a:xfrm>
              <a:off x="1479" y="2367"/>
              <a:ext cx="3523" cy="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" y="9"/>
                </a:cxn>
                <a:cxn ang="0">
                  <a:pos x="145" y="16"/>
                </a:cxn>
                <a:cxn ang="0">
                  <a:pos x="217" y="24"/>
                </a:cxn>
                <a:cxn ang="0">
                  <a:pos x="289" y="32"/>
                </a:cxn>
                <a:cxn ang="0">
                  <a:pos x="362" y="44"/>
                </a:cxn>
                <a:cxn ang="0">
                  <a:pos x="434" y="57"/>
                </a:cxn>
                <a:cxn ang="0">
                  <a:pos x="506" y="73"/>
                </a:cxn>
                <a:cxn ang="0">
                  <a:pos x="579" y="93"/>
                </a:cxn>
                <a:cxn ang="0">
                  <a:pos x="651" y="113"/>
                </a:cxn>
                <a:cxn ang="0">
                  <a:pos x="718" y="133"/>
                </a:cxn>
                <a:cxn ang="0">
                  <a:pos x="790" y="157"/>
                </a:cxn>
                <a:cxn ang="0">
                  <a:pos x="862" y="185"/>
                </a:cxn>
                <a:cxn ang="0">
                  <a:pos x="935" y="210"/>
                </a:cxn>
                <a:cxn ang="0">
                  <a:pos x="1007" y="238"/>
                </a:cxn>
                <a:cxn ang="0">
                  <a:pos x="1079" y="262"/>
                </a:cxn>
                <a:cxn ang="0">
                  <a:pos x="1152" y="282"/>
                </a:cxn>
                <a:cxn ang="0">
                  <a:pos x="1224" y="302"/>
                </a:cxn>
                <a:cxn ang="0">
                  <a:pos x="1296" y="322"/>
                </a:cxn>
                <a:cxn ang="0">
                  <a:pos x="1369" y="335"/>
                </a:cxn>
                <a:cxn ang="0">
                  <a:pos x="1435" y="351"/>
                </a:cxn>
                <a:cxn ang="0">
                  <a:pos x="1507" y="363"/>
                </a:cxn>
                <a:cxn ang="0">
                  <a:pos x="1581" y="375"/>
                </a:cxn>
                <a:cxn ang="0">
                  <a:pos x="1653" y="383"/>
                </a:cxn>
                <a:cxn ang="0">
                  <a:pos x="1725" y="395"/>
                </a:cxn>
                <a:cxn ang="0">
                  <a:pos x="1798" y="403"/>
                </a:cxn>
                <a:cxn ang="0">
                  <a:pos x="1870" y="411"/>
                </a:cxn>
                <a:cxn ang="0">
                  <a:pos x="1942" y="423"/>
                </a:cxn>
                <a:cxn ang="0">
                  <a:pos x="2015" y="431"/>
                </a:cxn>
                <a:cxn ang="0">
                  <a:pos x="2087" y="443"/>
                </a:cxn>
                <a:cxn ang="0">
                  <a:pos x="2153" y="455"/>
                </a:cxn>
                <a:cxn ang="0">
                  <a:pos x="2226" y="472"/>
                </a:cxn>
                <a:cxn ang="0">
                  <a:pos x="2298" y="488"/>
                </a:cxn>
                <a:cxn ang="0">
                  <a:pos x="2371" y="504"/>
                </a:cxn>
                <a:cxn ang="0">
                  <a:pos x="2443" y="524"/>
                </a:cxn>
                <a:cxn ang="0">
                  <a:pos x="2515" y="548"/>
                </a:cxn>
                <a:cxn ang="0">
                  <a:pos x="2588" y="572"/>
                </a:cxn>
                <a:cxn ang="0">
                  <a:pos x="2660" y="596"/>
                </a:cxn>
                <a:cxn ang="0">
                  <a:pos x="2732" y="621"/>
                </a:cxn>
                <a:cxn ang="0">
                  <a:pos x="2805" y="649"/>
                </a:cxn>
                <a:cxn ang="0">
                  <a:pos x="2871" y="673"/>
                </a:cxn>
                <a:cxn ang="0">
                  <a:pos x="2943" y="697"/>
                </a:cxn>
                <a:cxn ang="0">
                  <a:pos x="3016" y="717"/>
                </a:cxn>
                <a:cxn ang="0">
                  <a:pos x="3088" y="733"/>
                </a:cxn>
                <a:cxn ang="0">
                  <a:pos x="3160" y="750"/>
                </a:cxn>
                <a:cxn ang="0">
                  <a:pos x="3233" y="762"/>
                </a:cxn>
                <a:cxn ang="0">
                  <a:pos x="3305" y="774"/>
                </a:cxn>
                <a:cxn ang="0">
                  <a:pos x="3378" y="785"/>
                </a:cxn>
                <a:cxn ang="0">
                  <a:pos x="3451" y="793"/>
                </a:cxn>
                <a:cxn ang="0">
                  <a:pos x="3523" y="798"/>
                </a:cxn>
              </a:cxnLst>
              <a:rect l="0" t="0" r="0" b="0"/>
              <a:pathLst>
                <a:path w="4139" h="1404">
                  <a:moveTo>
                    <a:pt x="0" y="0"/>
                  </a:moveTo>
                  <a:lnTo>
                    <a:pt x="85" y="15"/>
                  </a:lnTo>
                  <a:lnTo>
                    <a:pt x="170" y="29"/>
                  </a:lnTo>
                  <a:lnTo>
                    <a:pt x="255" y="43"/>
                  </a:lnTo>
                  <a:lnTo>
                    <a:pt x="340" y="57"/>
                  </a:lnTo>
                  <a:lnTo>
                    <a:pt x="425" y="78"/>
                  </a:lnTo>
                  <a:lnTo>
                    <a:pt x="510" y="100"/>
                  </a:lnTo>
                  <a:lnTo>
                    <a:pt x="595" y="128"/>
                  </a:lnTo>
                  <a:lnTo>
                    <a:pt x="680" y="163"/>
                  </a:lnTo>
                  <a:lnTo>
                    <a:pt x="765" y="199"/>
                  </a:lnTo>
                  <a:lnTo>
                    <a:pt x="843" y="234"/>
                  </a:lnTo>
                  <a:lnTo>
                    <a:pt x="928" y="277"/>
                  </a:lnTo>
                  <a:lnTo>
                    <a:pt x="1013" y="326"/>
                  </a:lnTo>
                  <a:lnTo>
                    <a:pt x="1098" y="369"/>
                  </a:lnTo>
                  <a:lnTo>
                    <a:pt x="1183" y="419"/>
                  </a:lnTo>
                  <a:lnTo>
                    <a:pt x="1268" y="461"/>
                  </a:lnTo>
                  <a:lnTo>
                    <a:pt x="1353" y="496"/>
                  </a:lnTo>
                  <a:lnTo>
                    <a:pt x="1438" y="532"/>
                  </a:lnTo>
                  <a:lnTo>
                    <a:pt x="1523" y="567"/>
                  </a:lnTo>
                  <a:lnTo>
                    <a:pt x="1608" y="589"/>
                  </a:lnTo>
                  <a:lnTo>
                    <a:pt x="1686" y="617"/>
                  </a:lnTo>
                  <a:lnTo>
                    <a:pt x="1771" y="638"/>
                  </a:lnTo>
                  <a:lnTo>
                    <a:pt x="1857" y="659"/>
                  </a:lnTo>
                  <a:lnTo>
                    <a:pt x="1942" y="674"/>
                  </a:lnTo>
                  <a:lnTo>
                    <a:pt x="2027" y="695"/>
                  </a:lnTo>
                  <a:lnTo>
                    <a:pt x="2112" y="709"/>
                  </a:lnTo>
                  <a:lnTo>
                    <a:pt x="2197" y="723"/>
                  </a:lnTo>
                  <a:lnTo>
                    <a:pt x="2282" y="745"/>
                  </a:lnTo>
                  <a:lnTo>
                    <a:pt x="2367" y="759"/>
                  </a:lnTo>
                  <a:lnTo>
                    <a:pt x="2452" y="780"/>
                  </a:lnTo>
                  <a:lnTo>
                    <a:pt x="2530" y="801"/>
                  </a:lnTo>
                  <a:lnTo>
                    <a:pt x="2615" y="830"/>
                  </a:lnTo>
                  <a:lnTo>
                    <a:pt x="2700" y="858"/>
                  </a:lnTo>
                  <a:lnTo>
                    <a:pt x="2785" y="886"/>
                  </a:lnTo>
                  <a:lnTo>
                    <a:pt x="2870" y="922"/>
                  </a:lnTo>
                  <a:lnTo>
                    <a:pt x="2955" y="964"/>
                  </a:lnTo>
                  <a:lnTo>
                    <a:pt x="3040" y="1007"/>
                  </a:lnTo>
                  <a:lnTo>
                    <a:pt x="3125" y="1049"/>
                  </a:lnTo>
                  <a:lnTo>
                    <a:pt x="3210" y="1092"/>
                  </a:lnTo>
                  <a:lnTo>
                    <a:pt x="3295" y="1141"/>
                  </a:lnTo>
                  <a:lnTo>
                    <a:pt x="3373" y="1184"/>
                  </a:lnTo>
                  <a:lnTo>
                    <a:pt x="3458" y="1226"/>
                  </a:lnTo>
                  <a:lnTo>
                    <a:pt x="3543" y="1262"/>
                  </a:lnTo>
                  <a:lnTo>
                    <a:pt x="3628" y="1290"/>
                  </a:lnTo>
                  <a:lnTo>
                    <a:pt x="3713" y="1319"/>
                  </a:lnTo>
                  <a:lnTo>
                    <a:pt x="3798" y="1340"/>
                  </a:lnTo>
                  <a:lnTo>
                    <a:pt x="3883" y="1361"/>
                  </a:lnTo>
                  <a:lnTo>
                    <a:pt x="3969" y="1382"/>
                  </a:lnTo>
                  <a:lnTo>
                    <a:pt x="4054" y="1396"/>
                  </a:lnTo>
                  <a:lnTo>
                    <a:pt x="4139" y="1404"/>
                  </a:ln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Freeform 41"/>
            <p:cNvSpPr/>
            <p:nvPr/>
          </p:nvSpPr>
          <p:spPr>
            <a:xfrm>
              <a:off x="1479" y="2342"/>
              <a:ext cx="3523" cy="399"/>
            </a:xfrm>
            <a:custGeom>
              <a:avLst/>
              <a:gdLst/>
              <a:ahLst/>
              <a:cxnLst>
                <a:cxn ang="0">
                  <a:pos x="0" y="399"/>
                </a:cxn>
                <a:cxn ang="0">
                  <a:pos x="72" y="395"/>
                </a:cxn>
                <a:cxn ang="0">
                  <a:pos x="145" y="387"/>
                </a:cxn>
                <a:cxn ang="0">
                  <a:pos x="217" y="379"/>
                </a:cxn>
                <a:cxn ang="0">
                  <a:pos x="289" y="371"/>
                </a:cxn>
                <a:cxn ang="0">
                  <a:pos x="362" y="359"/>
                </a:cxn>
                <a:cxn ang="0">
                  <a:pos x="434" y="347"/>
                </a:cxn>
                <a:cxn ang="0">
                  <a:pos x="506" y="331"/>
                </a:cxn>
                <a:cxn ang="0">
                  <a:pos x="579" y="311"/>
                </a:cxn>
                <a:cxn ang="0">
                  <a:pos x="651" y="290"/>
                </a:cxn>
                <a:cxn ang="0">
                  <a:pos x="718" y="270"/>
                </a:cxn>
                <a:cxn ang="0">
                  <a:pos x="790" y="246"/>
                </a:cxn>
                <a:cxn ang="0">
                  <a:pos x="862" y="218"/>
                </a:cxn>
                <a:cxn ang="0">
                  <a:pos x="935" y="194"/>
                </a:cxn>
                <a:cxn ang="0">
                  <a:pos x="1007" y="170"/>
                </a:cxn>
                <a:cxn ang="0">
                  <a:pos x="1079" y="145"/>
                </a:cxn>
                <a:cxn ang="0">
                  <a:pos x="1152" y="125"/>
                </a:cxn>
                <a:cxn ang="0">
                  <a:pos x="1224" y="105"/>
                </a:cxn>
                <a:cxn ang="0">
                  <a:pos x="1296" y="89"/>
                </a:cxn>
                <a:cxn ang="0">
                  <a:pos x="1369" y="72"/>
                </a:cxn>
                <a:cxn ang="0">
                  <a:pos x="1435" y="60"/>
                </a:cxn>
                <a:cxn ang="0">
                  <a:pos x="1507" y="52"/>
                </a:cxn>
                <a:cxn ang="0">
                  <a:pos x="1581" y="40"/>
                </a:cxn>
                <a:cxn ang="0">
                  <a:pos x="1653" y="36"/>
                </a:cxn>
                <a:cxn ang="0">
                  <a:pos x="1725" y="28"/>
                </a:cxn>
                <a:cxn ang="0">
                  <a:pos x="1798" y="24"/>
                </a:cxn>
                <a:cxn ang="0">
                  <a:pos x="1870" y="20"/>
                </a:cxn>
                <a:cxn ang="0">
                  <a:pos x="1942" y="16"/>
                </a:cxn>
                <a:cxn ang="0">
                  <a:pos x="2015" y="12"/>
                </a:cxn>
                <a:cxn ang="0">
                  <a:pos x="2087" y="12"/>
                </a:cxn>
                <a:cxn ang="0">
                  <a:pos x="2153" y="8"/>
                </a:cxn>
                <a:cxn ang="0">
                  <a:pos x="2226" y="8"/>
                </a:cxn>
                <a:cxn ang="0">
                  <a:pos x="2298" y="4"/>
                </a:cxn>
                <a:cxn ang="0">
                  <a:pos x="2371" y="4"/>
                </a:cxn>
                <a:cxn ang="0">
                  <a:pos x="2443" y="4"/>
                </a:cxn>
                <a:cxn ang="0">
                  <a:pos x="2515" y="4"/>
                </a:cxn>
                <a:cxn ang="0">
                  <a:pos x="2588" y="0"/>
                </a:cxn>
                <a:cxn ang="0">
                  <a:pos x="2660" y="0"/>
                </a:cxn>
                <a:cxn ang="0">
                  <a:pos x="2732" y="0"/>
                </a:cxn>
                <a:cxn ang="0">
                  <a:pos x="2805" y="0"/>
                </a:cxn>
                <a:cxn ang="0">
                  <a:pos x="2871" y="0"/>
                </a:cxn>
                <a:cxn ang="0">
                  <a:pos x="2943" y="0"/>
                </a:cxn>
                <a:cxn ang="0">
                  <a:pos x="3016" y="0"/>
                </a:cxn>
                <a:cxn ang="0">
                  <a:pos x="3088" y="0"/>
                </a:cxn>
                <a:cxn ang="0">
                  <a:pos x="3160" y="0"/>
                </a:cxn>
                <a:cxn ang="0">
                  <a:pos x="3233" y="0"/>
                </a:cxn>
                <a:cxn ang="0">
                  <a:pos x="3305" y="0"/>
                </a:cxn>
                <a:cxn ang="0">
                  <a:pos x="3378" y="0"/>
                </a:cxn>
                <a:cxn ang="0">
                  <a:pos x="3451" y="0"/>
                </a:cxn>
                <a:cxn ang="0">
                  <a:pos x="3523" y="0"/>
                </a:cxn>
              </a:cxnLst>
              <a:rect l="0" t="0" r="0" b="0"/>
              <a:pathLst>
                <a:path w="4139" h="701">
                  <a:moveTo>
                    <a:pt x="0" y="701"/>
                  </a:moveTo>
                  <a:lnTo>
                    <a:pt x="85" y="694"/>
                  </a:lnTo>
                  <a:lnTo>
                    <a:pt x="170" y="680"/>
                  </a:lnTo>
                  <a:lnTo>
                    <a:pt x="255" y="666"/>
                  </a:lnTo>
                  <a:lnTo>
                    <a:pt x="340" y="652"/>
                  </a:lnTo>
                  <a:lnTo>
                    <a:pt x="425" y="631"/>
                  </a:lnTo>
                  <a:lnTo>
                    <a:pt x="510" y="609"/>
                  </a:lnTo>
                  <a:lnTo>
                    <a:pt x="595" y="581"/>
                  </a:lnTo>
                  <a:lnTo>
                    <a:pt x="680" y="546"/>
                  </a:lnTo>
                  <a:lnTo>
                    <a:pt x="765" y="510"/>
                  </a:lnTo>
                  <a:lnTo>
                    <a:pt x="843" y="475"/>
                  </a:lnTo>
                  <a:lnTo>
                    <a:pt x="928" y="432"/>
                  </a:lnTo>
                  <a:lnTo>
                    <a:pt x="1013" y="383"/>
                  </a:lnTo>
                  <a:lnTo>
                    <a:pt x="1098" y="340"/>
                  </a:lnTo>
                  <a:lnTo>
                    <a:pt x="1183" y="298"/>
                  </a:lnTo>
                  <a:lnTo>
                    <a:pt x="1268" y="255"/>
                  </a:lnTo>
                  <a:lnTo>
                    <a:pt x="1353" y="220"/>
                  </a:lnTo>
                  <a:lnTo>
                    <a:pt x="1438" y="184"/>
                  </a:lnTo>
                  <a:lnTo>
                    <a:pt x="1523" y="156"/>
                  </a:lnTo>
                  <a:lnTo>
                    <a:pt x="1608" y="127"/>
                  </a:lnTo>
                  <a:lnTo>
                    <a:pt x="1686" y="106"/>
                  </a:lnTo>
                  <a:lnTo>
                    <a:pt x="1771" y="92"/>
                  </a:lnTo>
                  <a:lnTo>
                    <a:pt x="1857" y="71"/>
                  </a:lnTo>
                  <a:lnTo>
                    <a:pt x="1942" y="64"/>
                  </a:lnTo>
                  <a:lnTo>
                    <a:pt x="2027" y="49"/>
                  </a:lnTo>
                  <a:lnTo>
                    <a:pt x="2112" y="42"/>
                  </a:lnTo>
                  <a:lnTo>
                    <a:pt x="2197" y="35"/>
                  </a:lnTo>
                  <a:lnTo>
                    <a:pt x="2282" y="28"/>
                  </a:lnTo>
                  <a:lnTo>
                    <a:pt x="2367" y="21"/>
                  </a:lnTo>
                  <a:lnTo>
                    <a:pt x="2452" y="21"/>
                  </a:lnTo>
                  <a:lnTo>
                    <a:pt x="2530" y="14"/>
                  </a:lnTo>
                  <a:lnTo>
                    <a:pt x="2615" y="14"/>
                  </a:lnTo>
                  <a:lnTo>
                    <a:pt x="2700" y="7"/>
                  </a:lnTo>
                  <a:lnTo>
                    <a:pt x="2785" y="7"/>
                  </a:lnTo>
                  <a:lnTo>
                    <a:pt x="2870" y="7"/>
                  </a:lnTo>
                  <a:lnTo>
                    <a:pt x="2955" y="7"/>
                  </a:lnTo>
                  <a:lnTo>
                    <a:pt x="3040" y="0"/>
                  </a:lnTo>
                  <a:lnTo>
                    <a:pt x="3125" y="0"/>
                  </a:lnTo>
                  <a:lnTo>
                    <a:pt x="3210" y="0"/>
                  </a:lnTo>
                  <a:lnTo>
                    <a:pt x="3295" y="0"/>
                  </a:lnTo>
                  <a:lnTo>
                    <a:pt x="3373" y="0"/>
                  </a:lnTo>
                  <a:lnTo>
                    <a:pt x="3458" y="0"/>
                  </a:lnTo>
                  <a:lnTo>
                    <a:pt x="3543" y="0"/>
                  </a:lnTo>
                  <a:lnTo>
                    <a:pt x="3628" y="0"/>
                  </a:lnTo>
                  <a:lnTo>
                    <a:pt x="3713" y="0"/>
                  </a:lnTo>
                  <a:lnTo>
                    <a:pt x="3798" y="0"/>
                  </a:lnTo>
                  <a:lnTo>
                    <a:pt x="3883" y="0"/>
                  </a:lnTo>
                  <a:lnTo>
                    <a:pt x="3969" y="0"/>
                  </a:lnTo>
                  <a:lnTo>
                    <a:pt x="4054" y="0"/>
                  </a:lnTo>
                  <a:lnTo>
                    <a:pt x="4139" y="0"/>
                  </a:ln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Freeform 42"/>
            <p:cNvSpPr/>
            <p:nvPr/>
          </p:nvSpPr>
          <p:spPr>
            <a:xfrm>
              <a:off x="1479" y="2773"/>
              <a:ext cx="3523" cy="3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" y="0"/>
                </a:cxn>
                <a:cxn ang="0">
                  <a:pos x="145" y="0"/>
                </a:cxn>
                <a:cxn ang="0">
                  <a:pos x="217" y="0"/>
                </a:cxn>
                <a:cxn ang="0">
                  <a:pos x="289" y="0"/>
                </a:cxn>
                <a:cxn ang="0">
                  <a:pos x="362" y="0"/>
                </a:cxn>
                <a:cxn ang="0">
                  <a:pos x="434" y="0"/>
                </a:cxn>
                <a:cxn ang="0">
                  <a:pos x="506" y="0"/>
                </a:cxn>
                <a:cxn ang="0">
                  <a:pos x="579" y="0"/>
                </a:cxn>
                <a:cxn ang="0">
                  <a:pos x="651" y="0"/>
                </a:cxn>
                <a:cxn ang="0">
                  <a:pos x="718" y="0"/>
                </a:cxn>
                <a:cxn ang="0">
                  <a:pos x="790" y="0"/>
                </a:cxn>
                <a:cxn ang="0">
                  <a:pos x="862" y="4"/>
                </a:cxn>
                <a:cxn ang="0">
                  <a:pos x="935" y="4"/>
                </a:cxn>
                <a:cxn ang="0">
                  <a:pos x="1007" y="4"/>
                </a:cxn>
                <a:cxn ang="0">
                  <a:pos x="1079" y="4"/>
                </a:cxn>
                <a:cxn ang="0">
                  <a:pos x="1152" y="4"/>
                </a:cxn>
                <a:cxn ang="0">
                  <a:pos x="1224" y="4"/>
                </a:cxn>
                <a:cxn ang="0">
                  <a:pos x="1296" y="8"/>
                </a:cxn>
                <a:cxn ang="0">
                  <a:pos x="1369" y="8"/>
                </a:cxn>
                <a:cxn ang="0">
                  <a:pos x="1435" y="8"/>
                </a:cxn>
                <a:cxn ang="0">
                  <a:pos x="1507" y="12"/>
                </a:cxn>
                <a:cxn ang="0">
                  <a:pos x="1581" y="16"/>
                </a:cxn>
                <a:cxn ang="0">
                  <a:pos x="1653" y="16"/>
                </a:cxn>
                <a:cxn ang="0">
                  <a:pos x="1725" y="20"/>
                </a:cxn>
                <a:cxn ang="0">
                  <a:pos x="1798" y="24"/>
                </a:cxn>
                <a:cxn ang="0">
                  <a:pos x="1870" y="28"/>
                </a:cxn>
                <a:cxn ang="0">
                  <a:pos x="1942" y="36"/>
                </a:cxn>
                <a:cxn ang="0">
                  <a:pos x="2015" y="44"/>
                </a:cxn>
                <a:cxn ang="0">
                  <a:pos x="2087" y="52"/>
                </a:cxn>
                <a:cxn ang="0">
                  <a:pos x="2153" y="64"/>
                </a:cxn>
                <a:cxn ang="0">
                  <a:pos x="2226" y="77"/>
                </a:cxn>
                <a:cxn ang="0">
                  <a:pos x="2298" y="89"/>
                </a:cxn>
                <a:cxn ang="0">
                  <a:pos x="2371" y="105"/>
                </a:cxn>
                <a:cxn ang="0">
                  <a:pos x="2443" y="125"/>
                </a:cxn>
                <a:cxn ang="0">
                  <a:pos x="2515" y="149"/>
                </a:cxn>
                <a:cxn ang="0">
                  <a:pos x="2588" y="169"/>
                </a:cxn>
                <a:cxn ang="0">
                  <a:pos x="2660" y="197"/>
                </a:cxn>
                <a:cxn ang="0">
                  <a:pos x="2732" y="222"/>
                </a:cxn>
                <a:cxn ang="0">
                  <a:pos x="2805" y="246"/>
                </a:cxn>
                <a:cxn ang="0">
                  <a:pos x="2871" y="270"/>
                </a:cxn>
                <a:cxn ang="0">
                  <a:pos x="2943" y="294"/>
                </a:cxn>
                <a:cxn ang="0">
                  <a:pos x="3016" y="314"/>
                </a:cxn>
                <a:cxn ang="0">
                  <a:pos x="3088" y="330"/>
                </a:cxn>
                <a:cxn ang="0">
                  <a:pos x="3160" y="347"/>
                </a:cxn>
                <a:cxn ang="0">
                  <a:pos x="3233" y="359"/>
                </a:cxn>
                <a:cxn ang="0">
                  <a:pos x="3305" y="371"/>
                </a:cxn>
                <a:cxn ang="0">
                  <a:pos x="3378" y="382"/>
                </a:cxn>
                <a:cxn ang="0">
                  <a:pos x="3451" y="390"/>
                </a:cxn>
                <a:cxn ang="0">
                  <a:pos x="3523" y="395"/>
                </a:cxn>
              </a:cxnLst>
              <a:rect l="0" t="0" r="0" b="0"/>
              <a:pathLst>
                <a:path w="4139" h="695">
                  <a:moveTo>
                    <a:pt x="0" y="0"/>
                  </a:moveTo>
                  <a:lnTo>
                    <a:pt x="85" y="0"/>
                  </a:lnTo>
                  <a:lnTo>
                    <a:pt x="170" y="0"/>
                  </a:lnTo>
                  <a:lnTo>
                    <a:pt x="255" y="0"/>
                  </a:lnTo>
                  <a:lnTo>
                    <a:pt x="340" y="0"/>
                  </a:lnTo>
                  <a:lnTo>
                    <a:pt x="425" y="0"/>
                  </a:lnTo>
                  <a:lnTo>
                    <a:pt x="510" y="0"/>
                  </a:lnTo>
                  <a:lnTo>
                    <a:pt x="595" y="0"/>
                  </a:lnTo>
                  <a:lnTo>
                    <a:pt x="680" y="0"/>
                  </a:lnTo>
                  <a:lnTo>
                    <a:pt x="765" y="0"/>
                  </a:lnTo>
                  <a:lnTo>
                    <a:pt x="843" y="0"/>
                  </a:lnTo>
                  <a:lnTo>
                    <a:pt x="928" y="0"/>
                  </a:lnTo>
                  <a:lnTo>
                    <a:pt x="1013" y="7"/>
                  </a:lnTo>
                  <a:lnTo>
                    <a:pt x="1098" y="7"/>
                  </a:lnTo>
                  <a:lnTo>
                    <a:pt x="1183" y="7"/>
                  </a:lnTo>
                  <a:lnTo>
                    <a:pt x="1268" y="7"/>
                  </a:lnTo>
                  <a:lnTo>
                    <a:pt x="1353" y="7"/>
                  </a:lnTo>
                  <a:lnTo>
                    <a:pt x="1438" y="7"/>
                  </a:lnTo>
                  <a:lnTo>
                    <a:pt x="1523" y="14"/>
                  </a:lnTo>
                  <a:lnTo>
                    <a:pt x="1608" y="14"/>
                  </a:lnTo>
                  <a:lnTo>
                    <a:pt x="1686" y="14"/>
                  </a:lnTo>
                  <a:lnTo>
                    <a:pt x="1771" y="21"/>
                  </a:lnTo>
                  <a:lnTo>
                    <a:pt x="1857" y="28"/>
                  </a:lnTo>
                  <a:lnTo>
                    <a:pt x="1942" y="28"/>
                  </a:lnTo>
                  <a:lnTo>
                    <a:pt x="2027" y="36"/>
                  </a:lnTo>
                  <a:lnTo>
                    <a:pt x="2112" y="43"/>
                  </a:lnTo>
                  <a:lnTo>
                    <a:pt x="2197" y="50"/>
                  </a:lnTo>
                  <a:lnTo>
                    <a:pt x="2282" y="64"/>
                  </a:lnTo>
                  <a:lnTo>
                    <a:pt x="2367" y="78"/>
                  </a:lnTo>
                  <a:lnTo>
                    <a:pt x="2452" y="92"/>
                  </a:lnTo>
                  <a:lnTo>
                    <a:pt x="2530" y="113"/>
                  </a:lnTo>
                  <a:lnTo>
                    <a:pt x="2615" y="135"/>
                  </a:lnTo>
                  <a:lnTo>
                    <a:pt x="2700" y="156"/>
                  </a:lnTo>
                  <a:lnTo>
                    <a:pt x="2785" y="184"/>
                  </a:lnTo>
                  <a:lnTo>
                    <a:pt x="2870" y="220"/>
                  </a:lnTo>
                  <a:lnTo>
                    <a:pt x="2955" y="262"/>
                  </a:lnTo>
                  <a:lnTo>
                    <a:pt x="3040" y="298"/>
                  </a:lnTo>
                  <a:lnTo>
                    <a:pt x="3125" y="347"/>
                  </a:lnTo>
                  <a:lnTo>
                    <a:pt x="3210" y="390"/>
                  </a:lnTo>
                  <a:lnTo>
                    <a:pt x="3295" y="432"/>
                  </a:lnTo>
                  <a:lnTo>
                    <a:pt x="3373" y="475"/>
                  </a:lnTo>
                  <a:lnTo>
                    <a:pt x="3458" y="517"/>
                  </a:lnTo>
                  <a:lnTo>
                    <a:pt x="3543" y="553"/>
                  </a:lnTo>
                  <a:lnTo>
                    <a:pt x="3628" y="581"/>
                  </a:lnTo>
                  <a:lnTo>
                    <a:pt x="3713" y="610"/>
                  </a:lnTo>
                  <a:lnTo>
                    <a:pt x="3798" y="631"/>
                  </a:lnTo>
                  <a:lnTo>
                    <a:pt x="3883" y="652"/>
                  </a:lnTo>
                  <a:lnTo>
                    <a:pt x="3969" y="673"/>
                  </a:lnTo>
                  <a:lnTo>
                    <a:pt x="4054" y="687"/>
                  </a:lnTo>
                  <a:lnTo>
                    <a:pt x="4139" y="695"/>
                  </a:ln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Rectangle 43"/>
            <p:cNvSpPr/>
            <p:nvPr/>
          </p:nvSpPr>
          <p:spPr>
            <a:xfrm>
              <a:off x="3358" y="2508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16" name="Rectangle 44"/>
            <p:cNvSpPr/>
            <p:nvPr/>
          </p:nvSpPr>
          <p:spPr>
            <a:xfrm>
              <a:off x="3358" y="291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17" name="Text Box 45"/>
            <p:cNvSpPr txBox="1"/>
            <p:nvPr/>
          </p:nvSpPr>
          <p:spPr>
            <a:xfrm>
              <a:off x="2613" y="2417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24618" name="Text Box 46"/>
            <p:cNvSpPr txBox="1"/>
            <p:nvPr/>
          </p:nvSpPr>
          <p:spPr>
            <a:xfrm>
              <a:off x="1846" y="2760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4619" name="Line 47"/>
            <p:cNvSpPr/>
            <p:nvPr/>
          </p:nvSpPr>
          <p:spPr>
            <a:xfrm>
              <a:off x="2377" y="2236"/>
              <a:ext cx="288" cy="217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20" name="Rectangle 48"/>
            <p:cNvSpPr/>
            <p:nvPr/>
          </p:nvSpPr>
          <p:spPr>
            <a:xfrm>
              <a:off x="4408" y="3213"/>
              <a:ext cx="867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rad/s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2817" name="Rectangle 49"/>
          <p:cNvSpPr/>
          <p:nvPr/>
        </p:nvSpPr>
        <p:spPr>
          <a:xfrm>
            <a:off x="1774825" y="5071916"/>
            <a:ext cx="7086600" cy="58420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系统型次提高，稳态性能改善。</a:t>
            </a:r>
            <a:endParaRPr lang="zh-CN" altLang="en-US" sz="2400" i="1" baseline="-18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8" name="Rectangle 50"/>
          <p:cNvSpPr/>
          <p:nvPr/>
        </p:nvSpPr>
        <p:spPr>
          <a:xfrm>
            <a:off x="1802301" y="5532786"/>
            <a:ext cx="6869112" cy="58102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相位裕量减小，稳定程度变差。</a:t>
            </a:r>
            <a:endParaRPr lang="zh-CN" altLang="en-US" sz="2400" i="1" baseline="-18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Rectangle 51"/>
          <p:cNvSpPr/>
          <p:nvPr/>
        </p:nvSpPr>
        <p:spPr>
          <a:xfrm>
            <a:off x="212725" y="4901017"/>
            <a:ext cx="2209800" cy="52070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CN" sz="2800" i="1" dirty="0">
                <a:latin typeface="Times New Roman" panose="02020603050405020304" pitchFamily="18" charset="0"/>
              </a:rPr>
              <a:t> 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256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72458"/>
              </p:ext>
            </p:extLst>
          </p:nvPr>
        </p:nvGraphicFramePr>
        <p:xfrm>
          <a:off x="5461787" y="195266"/>
          <a:ext cx="3419055" cy="93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69365" imgH="482600" progId="Equation.3">
                  <p:embed/>
                </p:oleObj>
              </mc:Choice>
              <mc:Fallback>
                <p:oleObj r:id="rId3" imgW="1269365" imgH="482600" progId="Equation.3">
                  <p:embed/>
                  <p:pic>
                    <p:nvPicPr>
                      <p:cNvPr id="22565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1787" y="195266"/>
                        <a:ext cx="3419055" cy="93027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CEA1FC2-ECD0-746C-6162-F3F99513BB71}"/>
              </a:ext>
            </a:extLst>
          </p:cNvPr>
          <p:cNvSpPr/>
          <p:nvPr/>
        </p:nvSpPr>
        <p:spPr>
          <a:xfrm>
            <a:off x="611188" y="404812"/>
            <a:ext cx="5022850" cy="52322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PI</a:t>
            </a:r>
            <a:r>
              <a:rPr lang="zh-CN" altLang="en-US" sz="2800" b="1" dirty="0">
                <a:latin typeface="宋体" panose="02010600030101010101" pitchFamily="2" charset="-122"/>
              </a:rPr>
              <a:t>控制（比例加积分控制）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/>
          <p:nvPr/>
        </p:nvSpPr>
        <p:spPr>
          <a:xfrm>
            <a:off x="1098550" y="584200"/>
            <a:ext cx="7010400" cy="519113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CN" sz="2800" i="1" dirty="0">
                <a:latin typeface="Times New Roman" panose="02020603050405020304" pitchFamily="18" charset="0"/>
              </a:rPr>
              <a:t> 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&lt; 1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1244601" y="1377950"/>
            <a:ext cx="7551738" cy="4824413"/>
            <a:chOff x="908" y="1004"/>
            <a:chExt cx="4757" cy="3039"/>
          </a:xfrm>
        </p:grpSpPr>
        <p:sp>
          <p:nvSpPr>
            <p:cNvPr id="25605" name="Line 5"/>
            <p:cNvSpPr/>
            <p:nvPr/>
          </p:nvSpPr>
          <p:spPr>
            <a:xfrm>
              <a:off x="1460" y="1778"/>
              <a:ext cx="38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06" name="Line 6"/>
            <p:cNvSpPr/>
            <p:nvPr/>
          </p:nvSpPr>
          <p:spPr>
            <a:xfrm flipV="1">
              <a:off x="1460" y="1004"/>
              <a:ext cx="0" cy="1209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07" name="Line 7"/>
            <p:cNvSpPr/>
            <p:nvPr/>
          </p:nvSpPr>
          <p:spPr>
            <a:xfrm flipV="1">
              <a:off x="1460" y="2255"/>
              <a:ext cx="0" cy="175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08" name="Line 8"/>
            <p:cNvSpPr/>
            <p:nvPr/>
          </p:nvSpPr>
          <p:spPr>
            <a:xfrm>
              <a:off x="1460" y="3422"/>
              <a:ext cx="377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09" name="Text Box 9"/>
            <p:cNvSpPr txBox="1"/>
            <p:nvPr/>
          </p:nvSpPr>
          <p:spPr>
            <a:xfrm>
              <a:off x="1245" y="154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610" name="Text Box 10"/>
            <p:cNvSpPr txBox="1"/>
            <p:nvPr/>
          </p:nvSpPr>
          <p:spPr>
            <a:xfrm>
              <a:off x="940" y="3755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-270°</a:t>
              </a:r>
            </a:p>
          </p:txBody>
        </p:sp>
        <p:sp>
          <p:nvSpPr>
            <p:cNvPr id="25611" name="Text Box 11"/>
            <p:cNvSpPr txBox="1"/>
            <p:nvPr/>
          </p:nvSpPr>
          <p:spPr>
            <a:xfrm>
              <a:off x="1025" y="2882"/>
              <a:ext cx="5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-90°</a:t>
              </a:r>
            </a:p>
          </p:txBody>
        </p:sp>
        <p:sp>
          <p:nvSpPr>
            <p:cNvPr id="25612" name="Text Box 12"/>
            <p:cNvSpPr txBox="1"/>
            <p:nvPr/>
          </p:nvSpPr>
          <p:spPr>
            <a:xfrm>
              <a:off x="1155" y="2379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0°</a:t>
              </a:r>
            </a:p>
          </p:txBody>
        </p:sp>
        <p:sp>
          <p:nvSpPr>
            <p:cNvPr id="25613" name="Text Box 13"/>
            <p:cNvSpPr txBox="1"/>
            <p:nvPr/>
          </p:nvSpPr>
          <p:spPr>
            <a:xfrm rot="16200000">
              <a:off x="694" y="1349"/>
              <a:ext cx="7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25614" name="Text Box 14"/>
            <p:cNvSpPr txBox="1"/>
            <p:nvPr/>
          </p:nvSpPr>
          <p:spPr>
            <a:xfrm rot="16200000">
              <a:off x="806" y="2510"/>
              <a:ext cx="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5615" name="Text Box 15"/>
            <p:cNvSpPr txBox="1"/>
            <p:nvPr/>
          </p:nvSpPr>
          <p:spPr>
            <a:xfrm>
              <a:off x="2592" y="1200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25616" name="Text Box 16"/>
            <p:cNvSpPr txBox="1"/>
            <p:nvPr/>
          </p:nvSpPr>
          <p:spPr>
            <a:xfrm>
              <a:off x="3936" y="1464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25617" name="Text Box 17"/>
            <p:cNvSpPr txBox="1"/>
            <p:nvPr/>
          </p:nvSpPr>
          <p:spPr>
            <a:xfrm>
              <a:off x="1975" y="1013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5618" name="Text Box 18"/>
            <p:cNvSpPr txBox="1"/>
            <p:nvPr/>
          </p:nvSpPr>
          <p:spPr>
            <a:xfrm>
              <a:off x="3202" y="1128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25619" name="Rectangle 19"/>
            <p:cNvSpPr/>
            <p:nvPr/>
          </p:nvSpPr>
          <p:spPr>
            <a:xfrm>
              <a:off x="4235" y="1513"/>
              <a:ext cx="3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620" name="Rectangle 20"/>
            <p:cNvSpPr/>
            <p:nvPr/>
          </p:nvSpPr>
          <p:spPr>
            <a:xfrm>
              <a:off x="4320" y="3130"/>
              <a:ext cx="5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5621" name="Rectangle 21"/>
            <p:cNvSpPr/>
            <p:nvPr/>
          </p:nvSpPr>
          <p:spPr>
            <a:xfrm>
              <a:off x="2640" y="3089"/>
              <a:ext cx="5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5622" name="Text Box 22"/>
            <p:cNvSpPr txBox="1"/>
            <p:nvPr/>
          </p:nvSpPr>
          <p:spPr>
            <a:xfrm>
              <a:off x="2577" y="2679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25623" name="Text Box 23"/>
            <p:cNvSpPr txBox="1"/>
            <p:nvPr/>
          </p:nvSpPr>
          <p:spPr>
            <a:xfrm>
              <a:off x="1528" y="2971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5624" name="Line 24"/>
            <p:cNvSpPr/>
            <p:nvPr/>
          </p:nvSpPr>
          <p:spPr>
            <a:xfrm>
              <a:off x="2533" y="2463"/>
              <a:ext cx="173" cy="126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5" name="Text Box 25"/>
            <p:cNvSpPr txBox="1"/>
            <p:nvPr/>
          </p:nvSpPr>
          <p:spPr>
            <a:xfrm>
              <a:off x="940" y="3339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-180°</a:t>
              </a:r>
            </a:p>
          </p:txBody>
        </p:sp>
        <p:sp>
          <p:nvSpPr>
            <p:cNvPr id="25626" name="Line 26"/>
            <p:cNvSpPr/>
            <p:nvPr/>
          </p:nvSpPr>
          <p:spPr>
            <a:xfrm>
              <a:off x="1460" y="3880"/>
              <a:ext cx="4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7" name="Line 27"/>
            <p:cNvSpPr/>
            <p:nvPr/>
          </p:nvSpPr>
          <p:spPr>
            <a:xfrm>
              <a:off x="1460" y="2987"/>
              <a:ext cx="4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8" name="Line 28"/>
            <p:cNvSpPr/>
            <p:nvPr/>
          </p:nvSpPr>
          <p:spPr>
            <a:xfrm>
              <a:off x="1460" y="2505"/>
              <a:ext cx="4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5629" name="Group 29"/>
            <p:cNvGrpSpPr/>
            <p:nvPr/>
          </p:nvGrpSpPr>
          <p:grpSpPr>
            <a:xfrm>
              <a:off x="1460" y="1879"/>
              <a:ext cx="3691" cy="126"/>
              <a:chOff x="816" y="1344"/>
              <a:chExt cx="4128" cy="144"/>
            </a:xfrm>
          </p:grpSpPr>
          <p:sp>
            <p:nvSpPr>
              <p:cNvPr id="25663" name="Line 30"/>
              <p:cNvSpPr/>
              <p:nvPr/>
            </p:nvSpPr>
            <p:spPr>
              <a:xfrm flipH="1">
                <a:off x="1728" y="1488"/>
                <a:ext cx="3216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25664" name="Line 31"/>
              <p:cNvSpPr/>
              <p:nvPr/>
            </p:nvSpPr>
            <p:spPr>
              <a:xfrm>
                <a:off x="816" y="1344"/>
                <a:ext cx="912" cy="144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</p:grpSp>
        <p:sp>
          <p:nvSpPr>
            <p:cNvPr id="25630" name="Text Box 32"/>
            <p:cNvSpPr txBox="1"/>
            <p:nvPr/>
          </p:nvSpPr>
          <p:spPr>
            <a:xfrm>
              <a:off x="4808" y="1765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-60</a:t>
              </a:r>
            </a:p>
          </p:txBody>
        </p:sp>
        <p:sp>
          <p:nvSpPr>
            <p:cNvPr id="25631" name="Text Box 33"/>
            <p:cNvSpPr txBox="1"/>
            <p:nvPr/>
          </p:nvSpPr>
          <p:spPr>
            <a:xfrm>
              <a:off x="4620" y="2160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-60</a:t>
              </a:r>
            </a:p>
          </p:txBody>
        </p:sp>
        <p:sp>
          <p:nvSpPr>
            <p:cNvPr id="25632" name="Text Box 34"/>
            <p:cNvSpPr txBox="1"/>
            <p:nvPr/>
          </p:nvSpPr>
          <p:spPr>
            <a:xfrm>
              <a:off x="3952" y="171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grpSp>
          <p:nvGrpSpPr>
            <p:cNvPr id="25633" name="Group 35"/>
            <p:cNvGrpSpPr/>
            <p:nvPr/>
          </p:nvGrpSpPr>
          <p:grpSpPr>
            <a:xfrm>
              <a:off x="1460" y="1272"/>
              <a:ext cx="3691" cy="850"/>
              <a:chOff x="1460" y="1272"/>
              <a:chExt cx="3691" cy="850"/>
            </a:xfrm>
          </p:grpSpPr>
          <p:sp>
            <p:nvSpPr>
              <p:cNvPr id="25660" name="Line 36"/>
              <p:cNvSpPr/>
              <p:nvPr/>
            </p:nvSpPr>
            <p:spPr>
              <a:xfrm>
                <a:off x="1460" y="1272"/>
                <a:ext cx="2361" cy="349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1" name="Line 37"/>
              <p:cNvSpPr/>
              <p:nvPr/>
            </p:nvSpPr>
            <p:spPr>
              <a:xfrm>
                <a:off x="3821" y="1621"/>
                <a:ext cx="815" cy="251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2" name="Line 38"/>
              <p:cNvSpPr/>
              <p:nvPr/>
            </p:nvSpPr>
            <p:spPr>
              <a:xfrm>
                <a:off x="4636" y="1872"/>
                <a:ext cx="515" cy="25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34" name="Group 39"/>
            <p:cNvGrpSpPr/>
            <p:nvPr/>
          </p:nvGrpSpPr>
          <p:grpSpPr>
            <a:xfrm>
              <a:off x="1460" y="1421"/>
              <a:ext cx="3691" cy="933"/>
              <a:chOff x="816" y="816"/>
              <a:chExt cx="4128" cy="1074"/>
            </a:xfrm>
          </p:grpSpPr>
          <p:sp>
            <p:nvSpPr>
              <p:cNvPr id="25656" name="Line 40"/>
              <p:cNvSpPr/>
              <p:nvPr/>
            </p:nvSpPr>
            <p:spPr>
              <a:xfrm>
                <a:off x="1680" y="1056"/>
                <a:ext cx="1776" cy="25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5657" name="Line 41"/>
              <p:cNvSpPr/>
              <p:nvPr/>
            </p:nvSpPr>
            <p:spPr>
              <a:xfrm flipH="1" flipV="1">
                <a:off x="816" y="816"/>
                <a:ext cx="864" cy="249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5658" name="Line 42"/>
              <p:cNvSpPr/>
              <p:nvPr/>
            </p:nvSpPr>
            <p:spPr>
              <a:xfrm>
                <a:off x="3456" y="1314"/>
                <a:ext cx="912" cy="2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5659" name="Line 43"/>
              <p:cNvSpPr/>
              <p:nvPr/>
            </p:nvSpPr>
            <p:spPr>
              <a:xfrm>
                <a:off x="4368" y="1602"/>
                <a:ext cx="576" cy="2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25635" name="Freeform 44"/>
            <p:cNvSpPr/>
            <p:nvPr/>
          </p:nvSpPr>
          <p:spPr>
            <a:xfrm>
              <a:off x="1451" y="2983"/>
              <a:ext cx="3700" cy="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6" y="0"/>
                </a:cxn>
                <a:cxn ang="0">
                  <a:pos x="152" y="0"/>
                </a:cxn>
                <a:cxn ang="0">
                  <a:pos x="228" y="0"/>
                </a:cxn>
                <a:cxn ang="0">
                  <a:pos x="304" y="0"/>
                </a:cxn>
                <a:cxn ang="0">
                  <a:pos x="380" y="0"/>
                </a:cxn>
                <a:cxn ang="0">
                  <a:pos x="456" y="0"/>
                </a:cxn>
                <a:cxn ang="0">
                  <a:pos x="532" y="0"/>
                </a:cxn>
                <a:cxn ang="0">
                  <a:pos x="608" y="0"/>
                </a:cxn>
                <a:cxn ang="0">
                  <a:pos x="684" y="0"/>
                </a:cxn>
                <a:cxn ang="0">
                  <a:pos x="754" y="6"/>
                </a:cxn>
                <a:cxn ang="0">
                  <a:pos x="830" y="6"/>
                </a:cxn>
                <a:cxn ang="0">
                  <a:pos x="906" y="6"/>
                </a:cxn>
                <a:cxn ang="0">
                  <a:pos x="982" y="6"/>
                </a:cxn>
                <a:cxn ang="0">
                  <a:pos x="1058" y="12"/>
                </a:cxn>
                <a:cxn ang="0">
                  <a:pos x="1134" y="12"/>
                </a:cxn>
                <a:cxn ang="0">
                  <a:pos x="1209" y="18"/>
                </a:cxn>
                <a:cxn ang="0">
                  <a:pos x="1285" y="24"/>
                </a:cxn>
                <a:cxn ang="0">
                  <a:pos x="1361" y="24"/>
                </a:cxn>
                <a:cxn ang="0">
                  <a:pos x="1437" y="30"/>
                </a:cxn>
                <a:cxn ang="0">
                  <a:pos x="1507" y="43"/>
                </a:cxn>
                <a:cxn ang="0">
                  <a:pos x="1583" y="50"/>
                </a:cxn>
                <a:cxn ang="0">
                  <a:pos x="1660" y="62"/>
                </a:cxn>
                <a:cxn ang="0">
                  <a:pos x="1736" y="74"/>
                </a:cxn>
                <a:cxn ang="0">
                  <a:pos x="1812" y="86"/>
                </a:cxn>
                <a:cxn ang="0">
                  <a:pos x="1888" y="105"/>
                </a:cxn>
                <a:cxn ang="0">
                  <a:pos x="1964" y="129"/>
                </a:cxn>
                <a:cxn ang="0">
                  <a:pos x="2040" y="148"/>
                </a:cxn>
                <a:cxn ang="0">
                  <a:pos x="2116" y="179"/>
                </a:cxn>
                <a:cxn ang="0">
                  <a:pos x="2192" y="209"/>
                </a:cxn>
                <a:cxn ang="0">
                  <a:pos x="2262" y="240"/>
                </a:cxn>
                <a:cxn ang="0">
                  <a:pos x="2338" y="277"/>
                </a:cxn>
                <a:cxn ang="0">
                  <a:pos x="2414" y="307"/>
                </a:cxn>
                <a:cxn ang="0">
                  <a:pos x="2490" y="345"/>
                </a:cxn>
                <a:cxn ang="0">
                  <a:pos x="2566" y="381"/>
                </a:cxn>
                <a:cxn ang="0">
                  <a:pos x="2642" y="419"/>
                </a:cxn>
                <a:cxn ang="0">
                  <a:pos x="2718" y="455"/>
                </a:cxn>
                <a:cxn ang="0">
                  <a:pos x="2794" y="492"/>
                </a:cxn>
                <a:cxn ang="0">
                  <a:pos x="2870" y="529"/>
                </a:cxn>
                <a:cxn ang="0">
                  <a:pos x="2946" y="566"/>
                </a:cxn>
                <a:cxn ang="0">
                  <a:pos x="3015" y="604"/>
                </a:cxn>
                <a:cxn ang="0">
                  <a:pos x="3091" y="634"/>
                </a:cxn>
                <a:cxn ang="0">
                  <a:pos x="3167" y="664"/>
                </a:cxn>
                <a:cxn ang="0">
                  <a:pos x="3243" y="696"/>
                </a:cxn>
                <a:cxn ang="0">
                  <a:pos x="3319" y="720"/>
                </a:cxn>
                <a:cxn ang="0">
                  <a:pos x="3395" y="745"/>
                </a:cxn>
                <a:cxn ang="0">
                  <a:pos x="3471" y="763"/>
                </a:cxn>
                <a:cxn ang="0">
                  <a:pos x="3548" y="782"/>
                </a:cxn>
                <a:cxn ang="0">
                  <a:pos x="3624" y="794"/>
                </a:cxn>
                <a:cxn ang="0">
                  <a:pos x="3700" y="806"/>
                </a:cxn>
              </a:cxnLst>
              <a:rect l="0" t="0" r="0" b="0"/>
              <a:pathLst>
                <a:path w="4139" h="928">
                  <a:moveTo>
                    <a:pt x="0" y="0"/>
                  </a:moveTo>
                  <a:lnTo>
                    <a:pt x="85" y="0"/>
                  </a:lnTo>
                  <a:lnTo>
                    <a:pt x="170" y="0"/>
                  </a:lnTo>
                  <a:lnTo>
                    <a:pt x="255" y="0"/>
                  </a:lnTo>
                  <a:lnTo>
                    <a:pt x="340" y="0"/>
                  </a:lnTo>
                  <a:lnTo>
                    <a:pt x="425" y="0"/>
                  </a:lnTo>
                  <a:lnTo>
                    <a:pt x="510" y="0"/>
                  </a:lnTo>
                  <a:lnTo>
                    <a:pt x="595" y="0"/>
                  </a:lnTo>
                  <a:lnTo>
                    <a:pt x="680" y="0"/>
                  </a:lnTo>
                  <a:lnTo>
                    <a:pt x="765" y="0"/>
                  </a:lnTo>
                  <a:lnTo>
                    <a:pt x="843" y="7"/>
                  </a:lnTo>
                  <a:lnTo>
                    <a:pt x="928" y="7"/>
                  </a:lnTo>
                  <a:lnTo>
                    <a:pt x="1013" y="7"/>
                  </a:lnTo>
                  <a:lnTo>
                    <a:pt x="1098" y="7"/>
                  </a:lnTo>
                  <a:lnTo>
                    <a:pt x="1183" y="14"/>
                  </a:lnTo>
                  <a:lnTo>
                    <a:pt x="1268" y="14"/>
                  </a:lnTo>
                  <a:lnTo>
                    <a:pt x="1353" y="21"/>
                  </a:lnTo>
                  <a:lnTo>
                    <a:pt x="1438" y="28"/>
                  </a:lnTo>
                  <a:lnTo>
                    <a:pt x="1523" y="28"/>
                  </a:lnTo>
                  <a:lnTo>
                    <a:pt x="1608" y="35"/>
                  </a:lnTo>
                  <a:lnTo>
                    <a:pt x="1686" y="50"/>
                  </a:lnTo>
                  <a:lnTo>
                    <a:pt x="1771" y="57"/>
                  </a:lnTo>
                  <a:lnTo>
                    <a:pt x="1857" y="71"/>
                  </a:lnTo>
                  <a:lnTo>
                    <a:pt x="1942" y="85"/>
                  </a:lnTo>
                  <a:lnTo>
                    <a:pt x="2027" y="99"/>
                  </a:lnTo>
                  <a:lnTo>
                    <a:pt x="2112" y="121"/>
                  </a:lnTo>
                  <a:lnTo>
                    <a:pt x="2197" y="149"/>
                  </a:lnTo>
                  <a:lnTo>
                    <a:pt x="2282" y="170"/>
                  </a:lnTo>
                  <a:lnTo>
                    <a:pt x="2367" y="206"/>
                  </a:lnTo>
                  <a:lnTo>
                    <a:pt x="2452" y="241"/>
                  </a:lnTo>
                  <a:lnTo>
                    <a:pt x="2530" y="276"/>
                  </a:lnTo>
                  <a:lnTo>
                    <a:pt x="2615" y="319"/>
                  </a:lnTo>
                  <a:lnTo>
                    <a:pt x="2700" y="354"/>
                  </a:lnTo>
                  <a:lnTo>
                    <a:pt x="2785" y="397"/>
                  </a:lnTo>
                  <a:lnTo>
                    <a:pt x="2870" y="439"/>
                  </a:lnTo>
                  <a:lnTo>
                    <a:pt x="2955" y="482"/>
                  </a:lnTo>
                  <a:lnTo>
                    <a:pt x="3040" y="524"/>
                  </a:lnTo>
                  <a:lnTo>
                    <a:pt x="3125" y="567"/>
                  </a:lnTo>
                  <a:lnTo>
                    <a:pt x="3210" y="609"/>
                  </a:lnTo>
                  <a:lnTo>
                    <a:pt x="3295" y="652"/>
                  </a:lnTo>
                  <a:lnTo>
                    <a:pt x="3373" y="695"/>
                  </a:lnTo>
                  <a:lnTo>
                    <a:pt x="3458" y="730"/>
                  </a:lnTo>
                  <a:lnTo>
                    <a:pt x="3543" y="765"/>
                  </a:lnTo>
                  <a:lnTo>
                    <a:pt x="3628" y="801"/>
                  </a:lnTo>
                  <a:lnTo>
                    <a:pt x="3713" y="829"/>
                  </a:lnTo>
                  <a:lnTo>
                    <a:pt x="3798" y="858"/>
                  </a:lnTo>
                  <a:lnTo>
                    <a:pt x="3883" y="879"/>
                  </a:lnTo>
                  <a:lnTo>
                    <a:pt x="3969" y="900"/>
                  </a:lnTo>
                  <a:lnTo>
                    <a:pt x="4054" y="914"/>
                  </a:lnTo>
                  <a:lnTo>
                    <a:pt x="4139" y="928"/>
                  </a:ln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Freeform 45"/>
            <p:cNvSpPr/>
            <p:nvPr/>
          </p:nvSpPr>
          <p:spPr>
            <a:xfrm>
              <a:off x="1451" y="2546"/>
              <a:ext cx="3700" cy="388"/>
            </a:xfrm>
            <a:custGeom>
              <a:avLst/>
              <a:gdLst/>
              <a:ahLst/>
              <a:cxnLst>
                <a:cxn ang="0">
                  <a:pos x="0" y="388"/>
                </a:cxn>
                <a:cxn ang="0">
                  <a:pos x="76" y="382"/>
                </a:cxn>
                <a:cxn ang="0">
                  <a:pos x="152" y="370"/>
                </a:cxn>
                <a:cxn ang="0">
                  <a:pos x="228" y="358"/>
                </a:cxn>
                <a:cxn ang="0">
                  <a:pos x="304" y="345"/>
                </a:cxn>
                <a:cxn ang="0">
                  <a:pos x="380" y="326"/>
                </a:cxn>
                <a:cxn ang="0">
                  <a:pos x="456" y="308"/>
                </a:cxn>
                <a:cxn ang="0">
                  <a:pos x="532" y="284"/>
                </a:cxn>
                <a:cxn ang="0">
                  <a:pos x="608" y="265"/>
                </a:cxn>
                <a:cxn ang="0">
                  <a:pos x="684" y="240"/>
                </a:cxn>
                <a:cxn ang="0">
                  <a:pos x="754" y="210"/>
                </a:cxn>
                <a:cxn ang="0">
                  <a:pos x="830" y="184"/>
                </a:cxn>
                <a:cxn ang="0">
                  <a:pos x="906" y="160"/>
                </a:cxn>
                <a:cxn ang="0">
                  <a:pos x="982" y="136"/>
                </a:cxn>
                <a:cxn ang="0">
                  <a:pos x="1058" y="117"/>
                </a:cxn>
                <a:cxn ang="0">
                  <a:pos x="1134" y="98"/>
                </a:cxn>
                <a:cxn ang="0">
                  <a:pos x="1209" y="80"/>
                </a:cxn>
                <a:cxn ang="0">
                  <a:pos x="1285" y="68"/>
                </a:cxn>
                <a:cxn ang="0">
                  <a:pos x="1361" y="56"/>
                </a:cxn>
                <a:cxn ang="0">
                  <a:pos x="1437" y="50"/>
                </a:cxn>
                <a:cxn ang="0">
                  <a:pos x="1507" y="37"/>
                </a:cxn>
                <a:cxn ang="0">
                  <a:pos x="1583" y="30"/>
                </a:cxn>
                <a:cxn ang="0">
                  <a:pos x="1660" y="24"/>
                </a:cxn>
                <a:cxn ang="0">
                  <a:pos x="1736" y="18"/>
                </a:cxn>
                <a:cxn ang="0">
                  <a:pos x="1812" y="18"/>
                </a:cxn>
                <a:cxn ang="0">
                  <a:pos x="1888" y="12"/>
                </a:cxn>
                <a:cxn ang="0">
                  <a:pos x="1964" y="12"/>
                </a:cxn>
                <a:cxn ang="0">
                  <a:pos x="2040" y="6"/>
                </a:cxn>
                <a:cxn ang="0">
                  <a:pos x="2116" y="6"/>
                </a:cxn>
                <a:cxn ang="0">
                  <a:pos x="2192" y="6"/>
                </a:cxn>
                <a:cxn ang="0">
                  <a:pos x="2262" y="6"/>
                </a:cxn>
                <a:cxn ang="0">
                  <a:pos x="2338" y="0"/>
                </a:cxn>
                <a:cxn ang="0">
                  <a:pos x="2414" y="0"/>
                </a:cxn>
                <a:cxn ang="0">
                  <a:pos x="2490" y="0"/>
                </a:cxn>
                <a:cxn ang="0">
                  <a:pos x="2566" y="0"/>
                </a:cxn>
                <a:cxn ang="0">
                  <a:pos x="2642" y="0"/>
                </a:cxn>
                <a:cxn ang="0">
                  <a:pos x="2718" y="0"/>
                </a:cxn>
                <a:cxn ang="0">
                  <a:pos x="2794" y="0"/>
                </a:cxn>
                <a:cxn ang="0">
                  <a:pos x="2870" y="0"/>
                </a:cxn>
                <a:cxn ang="0">
                  <a:pos x="2946" y="0"/>
                </a:cxn>
                <a:cxn ang="0">
                  <a:pos x="3015" y="0"/>
                </a:cxn>
                <a:cxn ang="0">
                  <a:pos x="3091" y="0"/>
                </a:cxn>
                <a:cxn ang="0">
                  <a:pos x="3167" y="0"/>
                </a:cxn>
                <a:cxn ang="0">
                  <a:pos x="3243" y="0"/>
                </a:cxn>
                <a:cxn ang="0">
                  <a:pos x="3319" y="0"/>
                </a:cxn>
                <a:cxn ang="0">
                  <a:pos x="3395" y="0"/>
                </a:cxn>
                <a:cxn ang="0">
                  <a:pos x="3471" y="0"/>
                </a:cxn>
                <a:cxn ang="0">
                  <a:pos x="3548" y="0"/>
                </a:cxn>
                <a:cxn ang="0">
                  <a:pos x="3624" y="0"/>
                </a:cxn>
                <a:cxn ang="0">
                  <a:pos x="3700" y="0"/>
                </a:cxn>
              </a:cxnLst>
              <a:rect l="0" t="0" r="0" b="0"/>
              <a:pathLst>
                <a:path w="4139" h="446">
                  <a:moveTo>
                    <a:pt x="0" y="446"/>
                  </a:moveTo>
                  <a:lnTo>
                    <a:pt x="85" y="439"/>
                  </a:lnTo>
                  <a:lnTo>
                    <a:pt x="170" y="425"/>
                  </a:lnTo>
                  <a:lnTo>
                    <a:pt x="255" y="411"/>
                  </a:lnTo>
                  <a:lnTo>
                    <a:pt x="340" y="397"/>
                  </a:lnTo>
                  <a:lnTo>
                    <a:pt x="425" y="375"/>
                  </a:lnTo>
                  <a:lnTo>
                    <a:pt x="510" y="354"/>
                  </a:lnTo>
                  <a:lnTo>
                    <a:pt x="595" y="326"/>
                  </a:lnTo>
                  <a:lnTo>
                    <a:pt x="680" y="305"/>
                  </a:lnTo>
                  <a:lnTo>
                    <a:pt x="765" y="276"/>
                  </a:lnTo>
                  <a:lnTo>
                    <a:pt x="843" y="241"/>
                  </a:lnTo>
                  <a:lnTo>
                    <a:pt x="928" y="212"/>
                  </a:lnTo>
                  <a:lnTo>
                    <a:pt x="1013" y="184"/>
                  </a:lnTo>
                  <a:lnTo>
                    <a:pt x="1098" y="156"/>
                  </a:lnTo>
                  <a:lnTo>
                    <a:pt x="1183" y="135"/>
                  </a:lnTo>
                  <a:lnTo>
                    <a:pt x="1268" y="113"/>
                  </a:lnTo>
                  <a:lnTo>
                    <a:pt x="1353" y="92"/>
                  </a:lnTo>
                  <a:lnTo>
                    <a:pt x="1438" y="78"/>
                  </a:lnTo>
                  <a:lnTo>
                    <a:pt x="1523" y="64"/>
                  </a:lnTo>
                  <a:lnTo>
                    <a:pt x="1608" y="57"/>
                  </a:lnTo>
                  <a:lnTo>
                    <a:pt x="1686" y="42"/>
                  </a:lnTo>
                  <a:lnTo>
                    <a:pt x="1771" y="35"/>
                  </a:lnTo>
                  <a:lnTo>
                    <a:pt x="1857" y="28"/>
                  </a:lnTo>
                  <a:lnTo>
                    <a:pt x="1942" y="21"/>
                  </a:lnTo>
                  <a:lnTo>
                    <a:pt x="2027" y="21"/>
                  </a:lnTo>
                  <a:lnTo>
                    <a:pt x="2112" y="14"/>
                  </a:lnTo>
                  <a:lnTo>
                    <a:pt x="2197" y="14"/>
                  </a:lnTo>
                  <a:lnTo>
                    <a:pt x="2282" y="7"/>
                  </a:lnTo>
                  <a:lnTo>
                    <a:pt x="2367" y="7"/>
                  </a:lnTo>
                  <a:lnTo>
                    <a:pt x="2452" y="7"/>
                  </a:lnTo>
                  <a:lnTo>
                    <a:pt x="2530" y="7"/>
                  </a:lnTo>
                  <a:lnTo>
                    <a:pt x="2615" y="0"/>
                  </a:lnTo>
                  <a:lnTo>
                    <a:pt x="2700" y="0"/>
                  </a:lnTo>
                  <a:lnTo>
                    <a:pt x="2785" y="0"/>
                  </a:lnTo>
                  <a:lnTo>
                    <a:pt x="2870" y="0"/>
                  </a:lnTo>
                  <a:lnTo>
                    <a:pt x="2955" y="0"/>
                  </a:lnTo>
                  <a:lnTo>
                    <a:pt x="3040" y="0"/>
                  </a:lnTo>
                  <a:lnTo>
                    <a:pt x="3125" y="0"/>
                  </a:lnTo>
                  <a:lnTo>
                    <a:pt x="3210" y="0"/>
                  </a:lnTo>
                  <a:lnTo>
                    <a:pt x="3295" y="0"/>
                  </a:lnTo>
                  <a:lnTo>
                    <a:pt x="3373" y="0"/>
                  </a:lnTo>
                  <a:lnTo>
                    <a:pt x="3458" y="0"/>
                  </a:lnTo>
                  <a:lnTo>
                    <a:pt x="3543" y="0"/>
                  </a:lnTo>
                  <a:lnTo>
                    <a:pt x="3628" y="0"/>
                  </a:lnTo>
                  <a:lnTo>
                    <a:pt x="3713" y="0"/>
                  </a:lnTo>
                  <a:lnTo>
                    <a:pt x="3798" y="0"/>
                  </a:lnTo>
                  <a:lnTo>
                    <a:pt x="3883" y="0"/>
                  </a:lnTo>
                  <a:lnTo>
                    <a:pt x="3969" y="0"/>
                  </a:lnTo>
                  <a:lnTo>
                    <a:pt x="4054" y="0"/>
                  </a:lnTo>
                  <a:lnTo>
                    <a:pt x="4139" y="0"/>
                  </a:ln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Freeform 46"/>
            <p:cNvSpPr/>
            <p:nvPr/>
          </p:nvSpPr>
          <p:spPr>
            <a:xfrm>
              <a:off x="1451" y="3063"/>
              <a:ext cx="3700" cy="732"/>
            </a:xfrm>
            <a:custGeom>
              <a:avLst/>
              <a:gdLst/>
              <a:ahLst/>
              <a:cxnLst>
                <a:cxn ang="0">
                  <a:pos x="0" y="314"/>
                </a:cxn>
                <a:cxn ang="0">
                  <a:pos x="76" y="301"/>
                </a:cxn>
                <a:cxn ang="0">
                  <a:pos x="152" y="289"/>
                </a:cxn>
                <a:cxn ang="0">
                  <a:pos x="228" y="283"/>
                </a:cxn>
                <a:cxn ang="0">
                  <a:pos x="304" y="265"/>
                </a:cxn>
                <a:cxn ang="0">
                  <a:pos x="380" y="253"/>
                </a:cxn>
                <a:cxn ang="0">
                  <a:pos x="456" y="228"/>
                </a:cxn>
                <a:cxn ang="0">
                  <a:pos x="532" y="209"/>
                </a:cxn>
                <a:cxn ang="0">
                  <a:pos x="608" y="185"/>
                </a:cxn>
                <a:cxn ang="0">
                  <a:pos x="684" y="160"/>
                </a:cxn>
                <a:cxn ang="0">
                  <a:pos x="754" y="135"/>
                </a:cxn>
                <a:cxn ang="0">
                  <a:pos x="830" y="111"/>
                </a:cxn>
                <a:cxn ang="0">
                  <a:pos x="906" y="92"/>
                </a:cxn>
                <a:cxn ang="0">
                  <a:pos x="982" y="68"/>
                </a:cxn>
                <a:cxn ang="0">
                  <a:pos x="1058" y="49"/>
                </a:cxn>
                <a:cxn ang="0">
                  <a:pos x="1134" y="37"/>
                </a:cxn>
                <a:cxn ang="0">
                  <a:pos x="1209" y="25"/>
                </a:cxn>
                <a:cxn ang="0">
                  <a:pos x="1285" y="12"/>
                </a:cxn>
                <a:cxn ang="0">
                  <a:pos x="1361" y="6"/>
                </a:cxn>
                <a:cxn ang="0">
                  <a:pos x="1437" y="0"/>
                </a:cxn>
                <a:cxn ang="0">
                  <a:pos x="1507" y="0"/>
                </a:cxn>
                <a:cxn ang="0">
                  <a:pos x="1583" y="6"/>
                </a:cxn>
                <a:cxn ang="0">
                  <a:pos x="1660" y="6"/>
                </a:cxn>
                <a:cxn ang="0">
                  <a:pos x="1736" y="18"/>
                </a:cxn>
                <a:cxn ang="0">
                  <a:pos x="1812" y="25"/>
                </a:cxn>
                <a:cxn ang="0">
                  <a:pos x="1888" y="43"/>
                </a:cxn>
                <a:cxn ang="0">
                  <a:pos x="1964" y="62"/>
                </a:cxn>
                <a:cxn ang="0">
                  <a:pos x="2040" y="80"/>
                </a:cxn>
                <a:cxn ang="0">
                  <a:pos x="2116" y="105"/>
                </a:cxn>
                <a:cxn ang="0">
                  <a:pos x="2192" y="135"/>
                </a:cxn>
                <a:cxn ang="0">
                  <a:pos x="2262" y="167"/>
                </a:cxn>
                <a:cxn ang="0">
                  <a:pos x="2338" y="197"/>
                </a:cxn>
                <a:cxn ang="0">
                  <a:pos x="2414" y="234"/>
                </a:cxn>
                <a:cxn ang="0">
                  <a:pos x="2490" y="271"/>
                </a:cxn>
                <a:cxn ang="0">
                  <a:pos x="2566" y="308"/>
                </a:cxn>
                <a:cxn ang="0">
                  <a:pos x="2642" y="345"/>
                </a:cxn>
                <a:cxn ang="0">
                  <a:pos x="2718" y="375"/>
                </a:cxn>
                <a:cxn ang="0">
                  <a:pos x="2794" y="412"/>
                </a:cxn>
                <a:cxn ang="0">
                  <a:pos x="2870" y="449"/>
                </a:cxn>
                <a:cxn ang="0">
                  <a:pos x="2946" y="486"/>
                </a:cxn>
                <a:cxn ang="0">
                  <a:pos x="3015" y="524"/>
                </a:cxn>
                <a:cxn ang="0">
                  <a:pos x="3091" y="554"/>
                </a:cxn>
                <a:cxn ang="0">
                  <a:pos x="3167" y="584"/>
                </a:cxn>
                <a:cxn ang="0">
                  <a:pos x="3243" y="616"/>
                </a:cxn>
                <a:cxn ang="0">
                  <a:pos x="3319" y="640"/>
                </a:cxn>
                <a:cxn ang="0">
                  <a:pos x="3395" y="665"/>
                </a:cxn>
                <a:cxn ang="0">
                  <a:pos x="3471" y="683"/>
                </a:cxn>
                <a:cxn ang="0">
                  <a:pos x="3548" y="702"/>
                </a:cxn>
                <a:cxn ang="0">
                  <a:pos x="3624" y="720"/>
                </a:cxn>
                <a:cxn ang="0">
                  <a:pos x="3700" y="732"/>
                </a:cxn>
              </a:cxnLst>
              <a:rect l="0" t="0" r="0" b="0"/>
              <a:pathLst>
                <a:path w="4139" h="843">
                  <a:moveTo>
                    <a:pt x="0" y="362"/>
                  </a:moveTo>
                  <a:lnTo>
                    <a:pt x="85" y="347"/>
                  </a:lnTo>
                  <a:lnTo>
                    <a:pt x="170" y="333"/>
                  </a:lnTo>
                  <a:lnTo>
                    <a:pt x="255" y="326"/>
                  </a:lnTo>
                  <a:lnTo>
                    <a:pt x="340" y="305"/>
                  </a:lnTo>
                  <a:lnTo>
                    <a:pt x="425" y="291"/>
                  </a:lnTo>
                  <a:lnTo>
                    <a:pt x="510" y="262"/>
                  </a:lnTo>
                  <a:lnTo>
                    <a:pt x="595" y="241"/>
                  </a:lnTo>
                  <a:lnTo>
                    <a:pt x="680" y="213"/>
                  </a:lnTo>
                  <a:lnTo>
                    <a:pt x="765" y="184"/>
                  </a:lnTo>
                  <a:lnTo>
                    <a:pt x="843" y="156"/>
                  </a:lnTo>
                  <a:lnTo>
                    <a:pt x="928" y="128"/>
                  </a:lnTo>
                  <a:lnTo>
                    <a:pt x="1013" y="106"/>
                  </a:lnTo>
                  <a:lnTo>
                    <a:pt x="1098" y="78"/>
                  </a:lnTo>
                  <a:lnTo>
                    <a:pt x="1183" y="57"/>
                  </a:lnTo>
                  <a:lnTo>
                    <a:pt x="1268" y="43"/>
                  </a:lnTo>
                  <a:lnTo>
                    <a:pt x="1353" y="29"/>
                  </a:lnTo>
                  <a:lnTo>
                    <a:pt x="1438" y="14"/>
                  </a:lnTo>
                  <a:lnTo>
                    <a:pt x="1523" y="7"/>
                  </a:lnTo>
                  <a:lnTo>
                    <a:pt x="1608" y="0"/>
                  </a:lnTo>
                  <a:lnTo>
                    <a:pt x="1686" y="0"/>
                  </a:lnTo>
                  <a:lnTo>
                    <a:pt x="1771" y="7"/>
                  </a:lnTo>
                  <a:lnTo>
                    <a:pt x="1857" y="7"/>
                  </a:lnTo>
                  <a:lnTo>
                    <a:pt x="1942" y="21"/>
                  </a:lnTo>
                  <a:lnTo>
                    <a:pt x="2027" y="29"/>
                  </a:lnTo>
                  <a:lnTo>
                    <a:pt x="2112" y="50"/>
                  </a:lnTo>
                  <a:lnTo>
                    <a:pt x="2197" y="71"/>
                  </a:lnTo>
                  <a:lnTo>
                    <a:pt x="2282" y="92"/>
                  </a:lnTo>
                  <a:lnTo>
                    <a:pt x="2367" y="121"/>
                  </a:lnTo>
                  <a:lnTo>
                    <a:pt x="2452" y="156"/>
                  </a:lnTo>
                  <a:lnTo>
                    <a:pt x="2530" y="192"/>
                  </a:lnTo>
                  <a:lnTo>
                    <a:pt x="2615" y="227"/>
                  </a:lnTo>
                  <a:lnTo>
                    <a:pt x="2700" y="269"/>
                  </a:lnTo>
                  <a:lnTo>
                    <a:pt x="2785" y="312"/>
                  </a:lnTo>
                  <a:lnTo>
                    <a:pt x="2870" y="355"/>
                  </a:lnTo>
                  <a:lnTo>
                    <a:pt x="2955" y="397"/>
                  </a:lnTo>
                  <a:lnTo>
                    <a:pt x="3040" y="432"/>
                  </a:lnTo>
                  <a:lnTo>
                    <a:pt x="3125" y="475"/>
                  </a:lnTo>
                  <a:lnTo>
                    <a:pt x="3210" y="517"/>
                  </a:lnTo>
                  <a:lnTo>
                    <a:pt x="3295" y="560"/>
                  </a:lnTo>
                  <a:lnTo>
                    <a:pt x="3373" y="603"/>
                  </a:lnTo>
                  <a:lnTo>
                    <a:pt x="3458" y="638"/>
                  </a:lnTo>
                  <a:lnTo>
                    <a:pt x="3543" y="673"/>
                  </a:lnTo>
                  <a:lnTo>
                    <a:pt x="3628" y="709"/>
                  </a:lnTo>
                  <a:lnTo>
                    <a:pt x="3713" y="737"/>
                  </a:lnTo>
                  <a:lnTo>
                    <a:pt x="3798" y="766"/>
                  </a:lnTo>
                  <a:lnTo>
                    <a:pt x="3883" y="787"/>
                  </a:lnTo>
                  <a:lnTo>
                    <a:pt x="3969" y="808"/>
                  </a:lnTo>
                  <a:lnTo>
                    <a:pt x="4054" y="829"/>
                  </a:lnTo>
                  <a:lnTo>
                    <a:pt x="4139" y="843"/>
                  </a:ln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Text Box 47"/>
            <p:cNvSpPr txBox="1"/>
            <p:nvPr/>
          </p:nvSpPr>
          <p:spPr>
            <a:xfrm>
              <a:off x="2664" y="147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25639" name="Text Box 48"/>
            <p:cNvSpPr txBox="1"/>
            <p:nvPr/>
          </p:nvSpPr>
          <p:spPr>
            <a:xfrm>
              <a:off x="1853" y="1343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25640" name="Line 49"/>
            <p:cNvSpPr/>
            <p:nvPr/>
          </p:nvSpPr>
          <p:spPr>
            <a:xfrm flipH="1">
              <a:off x="2244" y="1379"/>
              <a:ext cx="0" cy="6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1" name="Line 50"/>
            <p:cNvSpPr/>
            <p:nvPr/>
          </p:nvSpPr>
          <p:spPr>
            <a:xfrm>
              <a:off x="3848" y="1629"/>
              <a:ext cx="0" cy="3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2" name="Line 51"/>
            <p:cNvSpPr/>
            <p:nvPr/>
          </p:nvSpPr>
          <p:spPr>
            <a:xfrm>
              <a:off x="4652" y="1773"/>
              <a:ext cx="0" cy="333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3" name="Line 52"/>
            <p:cNvSpPr/>
            <p:nvPr/>
          </p:nvSpPr>
          <p:spPr>
            <a:xfrm flipV="1">
              <a:off x="2533" y="2005"/>
              <a:ext cx="86" cy="208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4" name="Line 53"/>
            <p:cNvSpPr/>
            <p:nvPr/>
          </p:nvSpPr>
          <p:spPr>
            <a:xfrm flipH="1">
              <a:off x="3091" y="1338"/>
              <a:ext cx="172" cy="166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5" name="Line 54"/>
            <p:cNvSpPr/>
            <p:nvPr/>
          </p:nvSpPr>
          <p:spPr>
            <a:xfrm flipH="1">
              <a:off x="4309" y="1773"/>
              <a:ext cx="0" cy="154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6" name="Line 55"/>
            <p:cNvSpPr/>
            <p:nvPr/>
          </p:nvSpPr>
          <p:spPr>
            <a:xfrm>
              <a:off x="4309" y="3213"/>
              <a:ext cx="0" cy="209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7" name="Line 56"/>
            <p:cNvSpPr/>
            <p:nvPr/>
          </p:nvSpPr>
          <p:spPr>
            <a:xfrm flipV="1">
              <a:off x="4309" y="3505"/>
              <a:ext cx="0" cy="209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8" name="Line 57"/>
            <p:cNvSpPr/>
            <p:nvPr/>
          </p:nvSpPr>
          <p:spPr>
            <a:xfrm>
              <a:off x="3220" y="1770"/>
              <a:ext cx="0" cy="1334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9" name="Line 58"/>
            <p:cNvSpPr/>
            <p:nvPr/>
          </p:nvSpPr>
          <p:spPr>
            <a:xfrm flipV="1">
              <a:off x="3212" y="3081"/>
              <a:ext cx="0" cy="333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5650" name="Line 59"/>
            <p:cNvSpPr/>
            <p:nvPr/>
          </p:nvSpPr>
          <p:spPr>
            <a:xfrm flipH="1">
              <a:off x="2448" y="2838"/>
              <a:ext cx="171" cy="125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51" name="Line 60"/>
            <p:cNvSpPr/>
            <p:nvPr/>
          </p:nvSpPr>
          <p:spPr>
            <a:xfrm flipH="1">
              <a:off x="1675" y="1189"/>
              <a:ext cx="300" cy="292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52" name="Rectangle 61"/>
            <p:cNvSpPr/>
            <p:nvPr/>
          </p:nvSpPr>
          <p:spPr>
            <a:xfrm>
              <a:off x="3078" y="1504"/>
              <a:ext cx="34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653" name="Text Box 62"/>
            <p:cNvSpPr txBox="1"/>
            <p:nvPr/>
          </p:nvSpPr>
          <p:spPr>
            <a:xfrm>
              <a:off x="2213" y="1716"/>
              <a:ext cx="408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1/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5654" name="Rectangle 63"/>
            <p:cNvSpPr/>
            <p:nvPr/>
          </p:nvSpPr>
          <p:spPr>
            <a:xfrm>
              <a:off x="4798" y="3471"/>
              <a:ext cx="867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rad/s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 useBgFill="1">
          <p:nvSpPr>
            <p:cNvPr id="25655" name="Text Box 64"/>
            <p:cNvSpPr txBox="1"/>
            <p:nvPr/>
          </p:nvSpPr>
          <p:spPr>
            <a:xfrm>
              <a:off x="2245" y="2214"/>
              <a:ext cx="1787" cy="288"/>
            </a:xfrm>
            <a:prstGeom prst="rect">
              <a:avLst/>
            </a:prstGeom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PI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校正装置：</a:t>
              </a:r>
              <a:r>
                <a:rPr lang="en-US" altLang="zh-CN" sz="2400" i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400" i="1" baseline="-180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&lt; 1</a:t>
              </a:r>
            </a:p>
          </p:txBody>
        </p:sp>
      </p:grpSp>
      <p:graphicFrame>
        <p:nvGraphicFramePr>
          <p:cNvPr id="25604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33680"/>
              </p:ext>
            </p:extLst>
          </p:nvPr>
        </p:nvGraphicFramePr>
        <p:xfrm>
          <a:off x="2995487" y="338932"/>
          <a:ext cx="26733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71600" imgH="431800" progId="Equation.3">
                  <p:embed/>
                </p:oleObj>
              </mc:Choice>
              <mc:Fallback>
                <p:oleObj r:id="rId3" imgW="1371600" imgH="431800" progId="Equation.3">
                  <p:embed/>
                  <p:pic>
                    <p:nvPicPr>
                      <p:cNvPr id="25604" name="Object 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5487" y="338932"/>
                        <a:ext cx="267335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80BE8F6E-998C-6BA6-0033-8B841A1E4A74}"/>
              </a:ext>
            </a:extLst>
          </p:cNvPr>
          <p:cNvSpPr/>
          <p:nvPr/>
        </p:nvSpPr>
        <p:spPr>
          <a:xfrm>
            <a:off x="24209" y="1319090"/>
            <a:ext cx="1520031" cy="252582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系统型次提高，稳态性能改善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3B2C29E-D001-C7BA-A504-13377FBC56BD}"/>
              </a:ext>
            </a:extLst>
          </p:cNvPr>
          <p:cNvSpPr/>
          <p:nvPr/>
        </p:nvSpPr>
        <p:spPr>
          <a:xfrm>
            <a:off x="2849563" y="5978525"/>
            <a:ext cx="4338638" cy="543739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系统从不稳定变为稳定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5D2C12-D7FD-AA2B-1516-076ADDEFFED5}"/>
              </a:ext>
            </a:extLst>
          </p:cNvPr>
          <p:cNvSpPr/>
          <p:nvPr/>
        </p:nvSpPr>
        <p:spPr>
          <a:xfrm>
            <a:off x="5060950" y="1139503"/>
            <a:ext cx="4072927" cy="543739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减小，快速性变差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3"/>
          <p:cNvGrpSpPr/>
          <p:nvPr/>
        </p:nvGrpSpPr>
        <p:grpSpPr>
          <a:xfrm>
            <a:off x="755650" y="1052513"/>
            <a:ext cx="7481888" cy="5181600"/>
            <a:chOff x="528" y="912"/>
            <a:chExt cx="4713" cy="3264"/>
          </a:xfrm>
        </p:grpSpPr>
        <p:sp>
          <p:nvSpPr>
            <p:cNvPr id="29699" name="Line 4"/>
            <p:cNvSpPr/>
            <p:nvPr/>
          </p:nvSpPr>
          <p:spPr>
            <a:xfrm>
              <a:off x="1179" y="1654"/>
              <a:ext cx="3866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0" name="Line 5"/>
            <p:cNvSpPr/>
            <p:nvPr/>
          </p:nvSpPr>
          <p:spPr>
            <a:xfrm flipV="1">
              <a:off x="1179" y="964"/>
              <a:ext cx="0" cy="130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1" name="Line 6"/>
            <p:cNvSpPr/>
            <p:nvPr/>
          </p:nvSpPr>
          <p:spPr>
            <a:xfrm flipV="1">
              <a:off x="1179" y="2345"/>
              <a:ext cx="0" cy="166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2" name="Line 7"/>
            <p:cNvSpPr/>
            <p:nvPr/>
          </p:nvSpPr>
          <p:spPr>
            <a:xfrm>
              <a:off x="1179" y="3604"/>
              <a:ext cx="382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3" name="Text Box 8"/>
            <p:cNvSpPr txBox="1"/>
            <p:nvPr/>
          </p:nvSpPr>
          <p:spPr>
            <a:xfrm>
              <a:off x="962" y="14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704" name="Text Box 9"/>
            <p:cNvSpPr txBox="1"/>
            <p:nvPr/>
          </p:nvSpPr>
          <p:spPr>
            <a:xfrm>
              <a:off x="672" y="3456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-180°</a:t>
              </a:r>
            </a:p>
          </p:txBody>
        </p:sp>
        <p:sp>
          <p:nvSpPr>
            <p:cNvPr id="29705" name="Text Box 10"/>
            <p:cNvSpPr txBox="1"/>
            <p:nvPr/>
          </p:nvSpPr>
          <p:spPr>
            <a:xfrm>
              <a:off x="889" y="2832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0°</a:t>
              </a:r>
            </a:p>
          </p:txBody>
        </p:sp>
        <p:sp>
          <p:nvSpPr>
            <p:cNvPr id="29706" name="Text Box 11"/>
            <p:cNvSpPr txBox="1"/>
            <p:nvPr/>
          </p:nvSpPr>
          <p:spPr>
            <a:xfrm>
              <a:off x="802" y="2507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90°</a:t>
              </a:r>
            </a:p>
          </p:txBody>
        </p:sp>
        <p:sp>
          <p:nvSpPr>
            <p:cNvPr id="29707" name="Line 12"/>
            <p:cNvSpPr/>
            <p:nvPr/>
          </p:nvSpPr>
          <p:spPr>
            <a:xfrm flipH="1">
              <a:off x="2976" y="1649"/>
              <a:ext cx="0" cy="1787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08" name="Line 13"/>
            <p:cNvSpPr/>
            <p:nvPr/>
          </p:nvSpPr>
          <p:spPr>
            <a:xfrm>
              <a:off x="2976" y="3352"/>
              <a:ext cx="0" cy="203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9" name="Line 14"/>
            <p:cNvSpPr/>
            <p:nvPr/>
          </p:nvSpPr>
          <p:spPr>
            <a:xfrm flipV="1">
              <a:off x="2976" y="3588"/>
              <a:ext cx="0" cy="206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0" name="Text Box 15"/>
            <p:cNvSpPr txBox="1"/>
            <p:nvPr/>
          </p:nvSpPr>
          <p:spPr>
            <a:xfrm rot="-5400000">
              <a:off x="292" y="1414"/>
              <a:ext cx="7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29711" name="Text Box 16"/>
            <p:cNvSpPr txBox="1"/>
            <p:nvPr/>
          </p:nvSpPr>
          <p:spPr>
            <a:xfrm rot="-5400000">
              <a:off x="426" y="2939"/>
              <a:ext cx="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9712" name="Text Box 17"/>
            <p:cNvSpPr txBox="1"/>
            <p:nvPr/>
          </p:nvSpPr>
          <p:spPr>
            <a:xfrm>
              <a:off x="1628" y="140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713" name="Text Box 18"/>
            <p:cNvSpPr txBox="1"/>
            <p:nvPr/>
          </p:nvSpPr>
          <p:spPr>
            <a:xfrm>
              <a:off x="2091" y="1217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29714" name="Text Box 19"/>
            <p:cNvSpPr txBox="1"/>
            <p:nvPr/>
          </p:nvSpPr>
          <p:spPr>
            <a:xfrm>
              <a:off x="3525" y="1640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29715" name="Text Box 20"/>
            <p:cNvSpPr txBox="1"/>
            <p:nvPr/>
          </p:nvSpPr>
          <p:spPr>
            <a:xfrm>
              <a:off x="4549" y="1632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9716" name="Text Box 21"/>
            <p:cNvSpPr txBox="1"/>
            <p:nvPr/>
          </p:nvSpPr>
          <p:spPr>
            <a:xfrm>
              <a:off x="2688" y="912"/>
              <a:ext cx="11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PD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</a:t>
              </a:r>
            </a:p>
          </p:txBody>
        </p:sp>
        <p:sp>
          <p:nvSpPr>
            <p:cNvPr id="29717" name="Text Box 22"/>
            <p:cNvSpPr txBox="1"/>
            <p:nvPr/>
          </p:nvSpPr>
          <p:spPr>
            <a:xfrm>
              <a:off x="3772" y="2160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29718" name="Rectangle 23"/>
            <p:cNvSpPr/>
            <p:nvPr/>
          </p:nvSpPr>
          <p:spPr>
            <a:xfrm>
              <a:off x="2699" y="1573"/>
              <a:ext cx="3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719" name="Rectangle 24"/>
            <p:cNvSpPr/>
            <p:nvPr/>
          </p:nvSpPr>
          <p:spPr>
            <a:xfrm>
              <a:off x="2400" y="3563"/>
              <a:ext cx="5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9720" name="Rectangle 25"/>
            <p:cNvSpPr/>
            <p:nvPr/>
          </p:nvSpPr>
          <p:spPr>
            <a:xfrm>
              <a:off x="3456" y="3024"/>
              <a:ext cx="6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9721" name="Text Box 26"/>
            <p:cNvSpPr txBox="1"/>
            <p:nvPr/>
          </p:nvSpPr>
          <p:spPr>
            <a:xfrm>
              <a:off x="3120" y="3648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29722" name="Text Box 27"/>
            <p:cNvSpPr txBox="1"/>
            <p:nvPr/>
          </p:nvSpPr>
          <p:spPr>
            <a:xfrm>
              <a:off x="4012" y="3205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29723" name="Text Box 28"/>
            <p:cNvSpPr txBox="1"/>
            <p:nvPr/>
          </p:nvSpPr>
          <p:spPr>
            <a:xfrm>
              <a:off x="1680" y="2352"/>
              <a:ext cx="11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PD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</a:t>
              </a:r>
            </a:p>
          </p:txBody>
        </p:sp>
        <p:sp>
          <p:nvSpPr>
            <p:cNvPr id="29724" name="Line 29"/>
            <p:cNvSpPr/>
            <p:nvPr/>
          </p:nvSpPr>
          <p:spPr>
            <a:xfrm>
              <a:off x="2308" y="2628"/>
              <a:ext cx="87" cy="164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5" name="Line 30"/>
            <p:cNvSpPr/>
            <p:nvPr/>
          </p:nvSpPr>
          <p:spPr>
            <a:xfrm>
              <a:off x="3792" y="1152"/>
              <a:ext cx="427" cy="218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6" name="Line 31"/>
            <p:cNvSpPr/>
            <p:nvPr/>
          </p:nvSpPr>
          <p:spPr>
            <a:xfrm flipH="1">
              <a:off x="4480" y="1776"/>
              <a:ext cx="130" cy="122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7" name="Line 32"/>
            <p:cNvSpPr/>
            <p:nvPr/>
          </p:nvSpPr>
          <p:spPr>
            <a:xfrm>
              <a:off x="4002" y="1979"/>
              <a:ext cx="44" cy="203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9728" name="Text Box 33"/>
            <p:cNvSpPr txBox="1"/>
            <p:nvPr/>
          </p:nvSpPr>
          <p:spPr>
            <a:xfrm>
              <a:off x="2309" y="1623"/>
              <a:ext cx="43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1/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29" name="Freeform 34"/>
            <p:cNvSpPr/>
            <p:nvPr/>
          </p:nvSpPr>
          <p:spPr>
            <a:xfrm>
              <a:off x="1179" y="3277"/>
              <a:ext cx="3745" cy="6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" y="0"/>
                </a:cxn>
                <a:cxn ang="0">
                  <a:pos x="154" y="6"/>
                </a:cxn>
                <a:cxn ang="0">
                  <a:pos x="231" y="6"/>
                </a:cxn>
                <a:cxn ang="0">
                  <a:pos x="308" y="12"/>
                </a:cxn>
                <a:cxn ang="0">
                  <a:pos x="385" y="12"/>
                </a:cxn>
                <a:cxn ang="0">
                  <a:pos x="461" y="19"/>
                </a:cxn>
                <a:cxn ang="0">
                  <a:pos x="538" y="25"/>
                </a:cxn>
                <a:cxn ang="0">
                  <a:pos x="615" y="36"/>
                </a:cxn>
                <a:cxn ang="0">
                  <a:pos x="692" y="42"/>
                </a:cxn>
                <a:cxn ang="0">
                  <a:pos x="763" y="54"/>
                </a:cxn>
                <a:cxn ang="0">
                  <a:pos x="840" y="66"/>
                </a:cxn>
                <a:cxn ang="0">
                  <a:pos x="917" y="78"/>
                </a:cxn>
                <a:cxn ang="0">
                  <a:pos x="993" y="96"/>
                </a:cxn>
                <a:cxn ang="0">
                  <a:pos x="1070" y="114"/>
                </a:cxn>
                <a:cxn ang="0">
                  <a:pos x="1147" y="132"/>
                </a:cxn>
                <a:cxn ang="0">
                  <a:pos x="1224" y="156"/>
                </a:cxn>
                <a:cxn ang="0">
                  <a:pos x="1301" y="174"/>
                </a:cxn>
                <a:cxn ang="0">
                  <a:pos x="1378" y="192"/>
                </a:cxn>
                <a:cxn ang="0">
                  <a:pos x="1455" y="210"/>
                </a:cxn>
                <a:cxn ang="0">
                  <a:pos x="1526" y="228"/>
                </a:cxn>
                <a:cxn ang="0">
                  <a:pos x="1602" y="246"/>
                </a:cxn>
                <a:cxn ang="0">
                  <a:pos x="1680" y="258"/>
                </a:cxn>
                <a:cxn ang="0">
                  <a:pos x="1757" y="275"/>
                </a:cxn>
                <a:cxn ang="0">
                  <a:pos x="1834" y="287"/>
                </a:cxn>
                <a:cxn ang="0">
                  <a:pos x="1911" y="300"/>
                </a:cxn>
                <a:cxn ang="0">
                  <a:pos x="1988" y="312"/>
                </a:cxn>
                <a:cxn ang="0">
                  <a:pos x="2065" y="324"/>
                </a:cxn>
                <a:cxn ang="0">
                  <a:pos x="2142" y="336"/>
                </a:cxn>
                <a:cxn ang="0">
                  <a:pos x="2219" y="347"/>
                </a:cxn>
                <a:cxn ang="0">
                  <a:pos x="2289" y="359"/>
                </a:cxn>
                <a:cxn ang="0">
                  <a:pos x="2366" y="378"/>
                </a:cxn>
                <a:cxn ang="0">
                  <a:pos x="2443" y="396"/>
                </a:cxn>
                <a:cxn ang="0">
                  <a:pos x="2520" y="413"/>
                </a:cxn>
                <a:cxn ang="0">
                  <a:pos x="2597" y="431"/>
                </a:cxn>
                <a:cxn ang="0">
                  <a:pos x="2674" y="450"/>
                </a:cxn>
                <a:cxn ang="0">
                  <a:pos x="2751" y="467"/>
                </a:cxn>
                <a:cxn ang="0">
                  <a:pos x="2828" y="491"/>
                </a:cxn>
                <a:cxn ang="0">
                  <a:pos x="2904" y="510"/>
                </a:cxn>
                <a:cxn ang="0">
                  <a:pos x="2981" y="527"/>
                </a:cxn>
                <a:cxn ang="0">
                  <a:pos x="3052" y="539"/>
                </a:cxn>
                <a:cxn ang="0">
                  <a:pos x="3129" y="551"/>
                </a:cxn>
                <a:cxn ang="0">
                  <a:pos x="3206" y="563"/>
                </a:cxn>
                <a:cxn ang="0">
                  <a:pos x="3283" y="576"/>
                </a:cxn>
                <a:cxn ang="0">
                  <a:pos x="3360" y="581"/>
                </a:cxn>
                <a:cxn ang="0">
                  <a:pos x="3436" y="593"/>
                </a:cxn>
                <a:cxn ang="0">
                  <a:pos x="3513" y="599"/>
                </a:cxn>
                <a:cxn ang="0">
                  <a:pos x="3591" y="599"/>
                </a:cxn>
                <a:cxn ang="0">
                  <a:pos x="3668" y="605"/>
                </a:cxn>
                <a:cxn ang="0">
                  <a:pos x="3745" y="611"/>
                </a:cxn>
              </a:cxnLst>
              <a:rect l="0" t="0" r="0" b="0"/>
              <a:pathLst>
                <a:path w="4139" h="723">
                  <a:moveTo>
                    <a:pt x="0" y="0"/>
                  </a:moveTo>
                  <a:lnTo>
                    <a:pt x="85" y="0"/>
                  </a:lnTo>
                  <a:lnTo>
                    <a:pt x="170" y="7"/>
                  </a:lnTo>
                  <a:lnTo>
                    <a:pt x="255" y="7"/>
                  </a:lnTo>
                  <a:lnTo>
                    <a:pt x="340" y="14"/>
                  </a:lnTo>
                  <a:lnTo>
                    <a:pt x="425" y="14"/>
                  </a:lnTo>
                  <a:lnTo>
                    <a:pt x="510" y="22"/>
                  </a:lnTo>
                  <a:lnTo>
                    <a:pt x="595" y="29"/>
                  </a:lnTo>
                  <a:lnTo>
                    <a:pt x="680" y="43"/>
                  </a:lnTo>
                  <a:lnTo>
                    <a:pt x="765" y="50"/>
                  </a:lnTo>
                  <a:lnTo>
                    <a:pt x="843" y="64"/>
                  </a:lnTo>
                  <a:lnTo>
                    <a:pt x="928" y="78"/>
                  </a:lnTo>
                  <a:lnTo>
                    <a:pt x="1013" y="92"/>
                  </a:lnTo>
                  <a:lnTo>
                    <a:pt x="1098" y="114"/>
                  </a:lnTo>
                  <a:lnTo>
                    <a:pt x="1183" y="135"/>
                  </a:lnTo>
                  <a:lnTo>
                    <a:pt x="1268" y="156"/>
                  </a:lnTo>
                  <a:lnTo>
                    <a:pt x="1353" y="185"/>
                  </a:lnTo>
                  <a:lnTo>
                    <a:pt x="1438" y="206"/>
                  </a:lnTo>
                  <a:lnTo>
                    <a:pt x="1523" y="227"/>
                  </a:lnTo>
                  <a:lnTo>
                    <a:pt x="1608" y="248"/>
                  </a:lnTo>
                  <a:lnTo>
                    <a:pt x="1686" y="270"/>
                  </a:lnTo>
                  <a:lnTo>
                    <a:pt x="1771" y="291"/>
                  </a:lnTo>
                  <a:lnTo>
                    <a:pt x="1857" y="305"/>
                  </a:lnTo>
                  <a:lnTo>
                    <a:pt x="1942" y="326"/>
                  </a:lnTo>
                  <a:lnTo>
                    <a:pt x="2027" y="340"/>
                  </a:lnTo>
                  <a:lnTo>
                    <a:pt x="2112" y="355"/>
                  </a:lnTo>
                  <a:lnTo>
                    <a:pt x="2197" y="369"/>
                  </a:lnTo>
                  <a:lnTo>
                    <a:pt x="2282" y="383"/>
                  </a:lnTo>
                  <a:lnTo>
                    <a:pt x="2367" y="397"/>
                  </a:lnTo>
                  <a:lnTo>
                    <a:pt x="2452" y="411"/>
                  </a:lnTo>
                  <a:lnTo>
                    <a:pt x="2530" y="425"/>
                  </a:lnTo>
                  <a:lnTo>
                    <a:pt x="2615" y="447"/>
                  </a:lnTo>
                  <a:lnTo>
                    <a:pt x="2700" y="468"/>
                  </a:lnTo>
                  <a:lnTo>
                    <a:pt x="2785" y="489"/>
                  </a:lnTo>
                  <a:lnTo>
                    <a:pt x="2870" y="510"/>
                  </a:lnTo>
                  <a:lnTo>
                    <a:pt x="2955" y="532"/>
                  </a:lnTo>
                  <a:lnTo>
                    <a:pt x="3040" y="553"/>
                  </a:lnTo>
                  <a:lnTo>
                    <a:pt x="3125" y="581"/>
                  </a:lnTo>
                  <a:lnTo>
                    <a:pt x="3210" y="603"/>
                  </a:lnTo>
                  <a:lnTo>
                    <a:pt x="3295" y="624"/>
                  </a:lnTo>
                  <a:lnTo>
                    <a:pt x="3373" y="638"/>
                  </a:lnTo>
                  <a:lnTo>
                    <a:pt x="3458" y="652"/>
                  </a:lnTo>
                  <a:lnTo>
                    <a:pt x="3543" y="666"/>
                  </a:lnTo>
                  <a:lnTo>
                    <a:pt x="3628" y="681"/>
                  </a:lnTo>
                  <a:lnTo>
                    <a:pt x="3713" y="688"/>
                  </a:lnTo>
                  <a:lnTo>
                    <a:pt x="3798" y="702"/>
                  </a:lnTo>
                  <a:lnTo>
                    <a:pt x="3883" y="709"/>
                  </a:lnTo>
                  <a:lnTo>
                    <a:pt x="3969" y="709"/>
                  </a:lnTo>
                  <a:lnTo>
                    <a:pt x="4054" y="716"/>
                  </a:lnTo>
                  <a:lnTo>
                    <a:pt x="4139" y="723"/>
                  </a:ln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Freeform 35"/>
            <p:cNvSpPr/>
            <p:nvPr/>
          </p:nvSpPr>
          <p:spPr>
            <a:xfrm>
              <a:off x="1179" y="2629"/>
              <a:ext cx="3745" cy="306"/>
            </a:xfrm>
            <a:custGeom>
              <a:avLst/>
              <a:gdLst/>
              <a:ahLst/>
              <a:cxnLst>
                <a:cxn ang="0">
                  <a:pos x="0" y="306"/>
                </a:cxn>
                <a:cxn ang="0">
                  <a:pos x="77" y="306"/>
                </a:cxn>
                <a:cxn ang="0">
                  <a:pos x="154" y="300"/>
                </a:cxn>
                <a:cxn ang="0">
                  <a:pos x="231" y="300"/>
                </a:cxn>
                <a:cxn ang="0">
                  <a:pos x="308" y="294"/>
                </a:cxn>
                <a:cxn ang="0">
                  <a:pos x="385" y="294"/>
                </a:cxn>
                <a:cxn ang="0">
                  <a:pos x="461" y="288"/>
                </a:cxn>
                <a:cxn ang="0">
                  <a:pos x="538" y="282"/>
                </a:cxn>
                <a:cxn ang="0">
                  <a:pos x="615" y="270"/>
                </a:cxn>
                <a:cxn ang="0">
                  <a:pos x="692" y="264"/>
                </a:cxn>
                <a:cxn ang="0">
                  <a:pos x="763" y="253"/>
                </a:cxn>
                <a:cxn ang="0">
                  <a:pos x="840" y="240"/>
                </a:cxn>
                <a:cxn ang="0">
                  <a:pos x="917" y="228"/>
                </a:cxn>
                <a:cxn ang="0">
                  <a:pos x="993" y="210"/>
                </a:cxn>
                <a:cxn ang="0">
                  <a:pos x="1070" y="192"/>
                </a:cxn>
                <a:cxn ang="0">
                  <a:pos x="1147" y="174"/>
                </a:cxn>
                <a:cxn ang="0">
                  <a:pos x="1224" y="156"/>
                </a:cxn>
                <a:cxn ang="0">
                  <a:pos x="1301" y="138"/>
                </a:cxn>
                <a:cxn ang="0">
                  <a:pos x="1378" y="120"/>
                </a:cxn>
                <a:cxn ang="0">
                  <a:pos x="1455" y="102"/>
                </a:cxn>
                <a:cxn ang="0">
                  <a:pos x="1526" y="84"/>
                </a:cxn>
                <a:cxn ang="0">
                  <a:pos x="1602" y="72"/>
                </a:cxn>
                <a:cxn ang="0">
                  <a:pos x="1680" y="60"/>
                </a:cxn>
                <a:cxn ang="0">
                  <a:pos x="1757" y="48"/>
                </a:cxn>
                <a:cxn ang="0">
                  <a:pos x="1834" y="42"/>
                </a:cxn>
                <a:cxn ang="0">
                  <a:pos x="1911" y="36"/>
                </a:cxn>
                <a:cxn ang="0">
                  <a:pos x="1988" y="30"/>
                </a:cxn>
                <a:cxn ang="0">
                  <a:pos x="2065" y="24"/>
                </a:cxn>
                <a:cxn ang="0">
                  <a:pos x="2142" y="18"/>
                </a:cxn>
                <a:cxn ang="0">
                  <a:pos x="2219" y="18"/>
                </a:cxn>
                <a:cxn ang="0">
                  <a:pos x="2289" y="12"/>
                </a:cxn>
                <a:cxn ang="0">
                  <a:pos x="2366" y="12"/>
                </a:cxn>
                <a:cxn ang="0">
                  <a:pos x="2443" y="6"/>
                </a:cxn>
                <a:cxn ang="0">
                  <a:pos x="2520" y="6"/>
                </a:cxn>
                <a:cxn ang="0">
                  <a:pos x="2597" y="6"/>
                </a:cxn>
                <a:cxn ang="0">
                  <a:pos x="2674" y="6"/>
                </a:cxn>
                <a:cxn ang="0">
                  <a:pos x="2751" y="0"/>
                </a:cxn>
                <a:cxn ang="0">
                  <a:pos x="2828" y="0"/>
                </a:cxn>
                <a:cxn ang="0">
                  <a:pos x="2904" y="0"/>
                </a:cxn>
                <a:cxn ang="0">
                  <a:pos x="2981" y="0"/>
                </a:cxn>
                <a:cxn ang="0">
                  <a:pos x="3052" y="0"/>
                </a:cxn>
                <a:cxn ang="0">
                  <a:pos x="3129" y="0"/>
                </a:cxn>
                <a:cxn ang="0">
                  <a:pos x="3206" y="0"/>
                </a:cxn>
                <a:cxn ang="0">
                  <a:pos x="3283" y="0"/>
                </a:cxn>
                <a:cxn ang="0">
                  <a:pos x="3360" y="0"/>
                </a:cxn>
                <a:cxn ang="0">
                  <a:pos x="3436" y="0"/>
                </a:cxn>
                <a:cxn ang="0">
                  <a:pos x="3513" y="0"/>
                </a:cxn>
                <a:cxn ang="0">
                  <a:pos x="3591" y="0"/>
                </a:cxn>
                <a:cxn ang="0">
                  <a:pos x="3668" y="0"/>
                </a:cxn>
                <a:cxn ang="0">
                  <a:pos x="3745" y="0"/>
                </a:cxn>
              </a:cxnLst>
              <a:rect l="0" t="0" r="0" b="0"/>
              <a:pathLst>
                <a:path w="4139" h="361">
                  <a:moveTo>
                    <a:pt x="0" y="361"/>
                  </a:moveTo>
                  <a:lnTo>
                    <a:pt x="85" y="361"/>
                  </a:lnTo>
                  <a:lnTo>
                    <a:pt x="170" y="354"/>
                  </a:lnTo>
                  <a:lnTo>
                    <a:pt x="255" y="354"/>
                  </a:lnTo>
                  <a:lnTo>
                    <a:pt x="340" y="347"/>
                  </a:lnTo>
                  <a:lnTo>
                    <a:pt x="425" y="347"/>
                  </a:lnTo>
                  <a:lnTo>
                    <a:pt x="510" y="340"/>
                  </a:lnTo>
                  <a:lnTo>
                    <a:pt x="595" y="333"/>
                  </a:lnTo>
                  <a:lnTo>
                    <a:pt x="680" y="319"/>
                  </a:lnTo>
                  <a:lnTo>
                    <a:pt x="765" y="312"/>
                  </a:lnTo>
                  <a:lnTo>
                    <a:pt x="843" y="298"/>
                  </a:lnTo>
                  <a:lnTo>
                    <a:pt x="928" y="283"/>
                  </a:lnTo>
                  <a:lnTo>
                    <a:pt x="1013" y="269"/>
                  </a:lnTo>
                  <a:lnTo>
                    <a:pt x="1098" y="248"/>
                  </a:lnTo>
                  <a:lnTo>
                    <a:pt x="1183" y="227"/>
                  </a:lnTo>
                  <a:lnTo>
                    <a:pt x="1268" y="205"/>
                  </a:lnTo>
                  <a:lnTo>
                    <a:pt x="1353" y="184"/>
                  </a:lnTo>
                  <a:lnTo>
                    <a:pt x="1438" y="163"/>
                  </a:lnTo>
                  <a:lnTo>
                    <a:pt x="1523" y="142"/>
                  </a:lnTo>
                  <a:lnTo>
                    <a:pt x="1608" y="120"/>
                  </a:lnTo>
                  <a:lnTo>
                    <a:pt x="1686" y="99"/>
                  </a:lnTo>
                  <a:lnTo>
                    <a:pt x="1771" y="85"/>
                  </a:lnTo>
                  <a:lnTo>
                    <a:pt x="1857" y="71"/>
                  </a:lnTo>
                  <a:lnTo>
                    <a:pt x="1942" y="57"/>
                  </a:lnTo>
                  <a:lnTo>
                    <a:pt x="2027" y="49"/>
                  </a:lnTo>
                  <a:lnTo>
                    <a:pt x="2112" y="42"/>
                  </a:lnTo>
                  <a:lnTo>
                    <a:pt x="2197" y="35"/>
                  </a:lnTo>
                  <a:lnTo>
                    <a:pt x="2282" y="28"/>
                  </a:lnTo>
                  <a:lnTo>
                    <a:pt x="2367" y="21"/>
                  </a:lnTo>
                  <a:lnTo>
                    <a:pt x="2452" y="21"/>
                  </a:lnTo>
                  <a:lnTo>
                    <a:pt x="2530" y="14"/>
                  </a:lnTo>
                  <a:lnTo>
                    <a:pt x="2615" y="14"/>
                  </a:lnTo>
                  <a:lnTo>
                    <a:pt x="2700" y="7"/>
                  </a:lnTo>
                  <a:lnTo>
                    <a:pt x="2785" y="7"/>
                  </a:lnTo>
                  <a:lnTo>
                    <a:pt x="2870" y="7"/>
                  </a:lnTo>
                  <a:lnTo>
                    <a:pt x="2955" y="7"/>
                  </a:lnTo>
                  <a:lnTo>
                    <a:pt x="3040" y="0"/>
                  </a:lnTo>
                  <a:lnTo>
                    <a:pt x="3125" y="0"/>
                  </a:lnTo>
                  <a:lnTo>
                    <a:pt x="3210" y="0"/>
                  </a:lnTo>
                  <a:lnTo>
                    <a:pt x="3295" y="0"/>
                  </a:lnTo>
                  <a:lnTo>
                    <a:pt x="3373" y="0"/>
                  </a:lnTo>
                  <a:lnTo>
                    <a:pt x="3458" y="0"/>
                  </a:lnTo>
                  <a:lnTo>
                    <a:pt x="3543" y="0"/>
                  </a:lnTo>
                  <a:lnTo>
                    <a:pt x="3628" y="0"/>
                  </a:lnTo>
                  <a:lnTo>
                    <a:pt x="3713" y="0"/>
                  </a:lnTo>
                  <a:lnTo>
                    <a:pt x="3798" y="0"/>
                  </a:lnTo>
                  <a:lnTo>
                    <a:pt x="3883" y="0"/>
                  </a:lnTo>
                  <a:lnTo>
                    <a:pt x="3969" y="0"/>
                  </a:lnTo>
                  <a:lnTo>
                    <a:pt x="4054" y="0"/>
                  </a:lnTo>
                  <a:lnTo>
                    <a:pt x="4139" y="0"/>
                  </a:ln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Freeform 36"/>
            <p:cNvSpPr/>
            <p:nvPr/>
          </p:nvSpPr>
          <p:spPr>
            <a:xfrm>
              <a:off x="1179" y="3265"/>
              <a:ext cx="3745" cy="2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" y="0"/>
                </a:cxn>
                <a:cxn ang="0">
                  <a:pos x="154" y="0"/>
                </a:cxn>
                <a:cxn ang="0">
                  <a:pos x="231" y="0"/>
                </a:cxn>
                <a:cxn ang="0">
                  <a:pos x="308" y="0"/>
                </a:cxn>
                <a:cxn ang="0">
                  <a:pos x="385" y="0"/>
                </a:cxn>
                <a:cxn ang="0">
                  <a:pos x="461" y="0"/>
                </a:cxn>
                <a:cxn ang="0">
                  <a:pos x="538" y="0"/>
                </a:cxn>
                <a:cxn ang="0">
                  <a:pos x="615" y="0"/>
                </a:cxn>
                <a:cxn ang="0">
                  <a:pos x="692" y="0"/>
                </a:cxn>
                <a:cxn ang="0">
                  <a:pos x="763" y="0"/>
                </a:cxn>
                <a:cxn ang="0">
                  <a:pos x="840" y="0"/>
                </a:cxn>
                <a:cxn ang="0">
                  <a:pos x="917" y="0"/>
                </a:cxn>
                <a:cxn ang="0">
                  <a:pos x="993" y="0"/>
                </a:cxn>
                <a:cxn ang="0">
                  <a:pos x="1070" y="6"/>
                </a:cxn>
                <a:cxn ang="0">
                  <a:pos x="1147" y="6"/>
                </a:cxn>
                <a:cxn ang="0">
                  <a:pos x="1224" y="6"/>
                </a:cxn>
                <a:cxn ang="0">
                  <a:pos x="1301" y="6"/>
                </a:cxn>
                <a:cxn ang="0">
                  <a:pos x="1378" y="6"/>
                </a:cxn>
                <a:cxn ang="0">
                  <a:pos x="1455" y="12"/>
                </a:cxn>
                <a:cxn ang="0">
                  <a:pos x="1526" y="12"/>
                </a:cxn>
                <a:cxn ang="0">
                  <a:pos x="1602" y="12"/>
                </a:cxn>
                <a:cxn ang="0">
                  <a:pos x="1680" y="18"/>
                </a:cxn>
                <a:cxn ang="0">
                  <a:pos x="1757" y="18"/>
                </a:cxn>
                <a:cxn ang="0">
                  <a:pos x="1834" y="24"/>
                </a:cxn>
                <a:cxn ang="0">
                  <a:pos x="1911" y="30"/>
                </a:cxn>
                <a:cxn ang="0">
                  <a:pos x="1988" y="36"/>
                </a:cxn>
                <a:cxn ang="0">
                  <a:pos x="2065" y="42"/>
                </a:cxn>
                <a:cxn ang="0">
                  <a:pos x="2142" y="48"/>
                </a:cxn>
                <a:cxn ang="0">
                  <a:pos x="2219" y="60"/>
                </a:cxn>
                <a:cxn ang="0">
                  <a:pos x="2289" y="66"/>
                </a:cxn>
                <a:cxn ang="0">
                  <a:pos x="2366" y="84"/>
                </a:cxn>
                <a:cxn ang="0">
                  <a:pos x="2443" y="95"/>
                </a:cxn>
                <a:cxn ang="0">
                  <a:pos x="2520" y="114"/>
                </a:cxn>
                <a:cxn ang="0">
                  <a:pos x="2597" y="132"/>
                </a:cxn>
                <a:cxn ang="0">
                  <a:pos x="2674" y="150"/>
                </a:cxn>
                <a:cxn ang="0">
                  <a:pos x="2751" y="168"/>
                </a:cxn>
                <a:cxn ang="0">
                  <a:pos x="2828" y="186"/>
                </a:cxn>
                <a:cxn ang="0">
                  <a:pos x="2904" y="204"/>
                </a:cxn>
                <a:cxn ang="0">
                  <a:pos x="2981" y="221"/>
                </a:cxn>
                <a:cxn ang="0">
                  <a:pos x="3052" y="233"/>
                </a:cxn>
                <a:cxn ang="0">
                  <a:pos x="3129" y="246"/>
                </a:cxn>
                <a:cxn ang="0">
                  <a:pos x="3206" y="258"/>
                </a:cxn>
                <a:cxn ang="0">
                  <a:pos x="3283" y="269"/>
                </a:cxn>
                <a:cxn ang="0">
                  <a:pos x="3360" y="275"/>
                </a:cxn>
                <a:cxn ang="0">
                  <a:pos x="3436" y="281"/>
                </a:cxn>
                <a:cxn ang="0">
                  <a:pos x="3513" y="287"/>
                </a:cxn>
                <a:cxn ang="0">
                  <a:pos x="3591" y="293"/>
                </a:cxn>
                <a:cxn ang="0">
                  <a:pos x="3668" y="299"/>
                </a:cxn>
                <a:cxn ang="0">
                  <a:pos x="3745" y="299"/>
                </a:cxn>
              </a:cxnLst>
              <a:rect l="0" t="0" r="0" b="0"/>
              <a:pathLst>
                <a:path w="4139" h="354">
                  <a:moveTo>
                    <a:pt x="0" y="0"/>
                  </a:moveTo>
                  <a:lnTo>
                    <a:pt x="85" y="0"/>
                  </a:lnTo>
                  <a:lnTo>
                    <a:pt x="170" y="0"/>
                  </a:lnTo>
                  <a:lnTo>
                    <a:pt x="255" y="0"/>
                  </a:lnTo>
                  <a:lnTo>
                    <a:pt x="340" y="0"/>
                  </a:lnTo>
                  <a:lnTo>
                    <a:pt x="425" y="0"/>
                  </a:lnTo>
                  <a:lnTo>
                    <a:pt x="510" y="0"/>
                  </a:lnTo>
                  <a:lnTo>
                    <a:pt x="595" y="0"/>
                  </a:lnTo>
                  <a:lnTo>
                    <a:pt x="680" y="0"/>
                  </a:lnTo>
                  <a:lnTo>
                    <a:pt x="765" y="0"/>
                  </a:lnTo>
                  <a:lnTo>
                    <a:pt x="843" y="0"/>
                  </a:lnTo>
                  <a:lnTo>
                    <a:pt x="928" y="0"/>
                  </a:lnTo>
                  <a:lnTo>
                    <a:pt x="1013" y="0"/>
                  </a:lnTo>
                  <a:lnTo>
                    <a:pt x="1098" y="0"/>
                  </a:lnTo>
                  <a:lnTo>
                    <a:pt x="1183" y="7"/>
                  </a:lnTo>
                  <a:lnTo>
                    <a:pt x="1268" y="7"/>
                  </a:lnTo>
                  <a:lnTo>
                    <a:pt x="1353" y="7"/>
                  </a:lnTo>
                  <a:lnTo>
                    <a:pt x="1438" y="7"/>
                  </a:lnTo>
                  <a:lnTo>
                    <a:pt x="1523" y="7"/>
                  </a:lnTo>
                  <a:lnTo>
                    <a:pt x="1608" y="14"/>
                  </a:lnTo>
                  <a:lnTo>
                    <a:pt x="1686" y="14"/>
                  </a:lnTo>
                  <a:lnTo>
                    <a:pt x="1771" y="14"/>
                  </a:lnTo>
                  <a:lnTo>
                    <a:pt x="1857" y="21"/>
                  </a:lnTo>
                  <a:lnTo>
                    <a:pt x="1942" y="21"/>
                  </a:lnTo>
                  <a:lnTo>
                    <a:pt x="2027" y="28"/>
                  </a:lnTo>
                  <a:lnTo>
                    <a:pt x="2112" y="36"/>
                  </a:lnTo>
                  <a:lnTo>
                    <a:pt x="2197" y="43"/>
                  </a:lnTo>
                  <a:lnTo>
                    <a:pt x="2282" y="50"/>
                  </a:lnTo>
                  <a:lnTo>
                    <a:pt x="2367" y="57"/>
                  </a:lnTo>
                  <a:lnTo>
                    <a:pt x="2452" y="71"/>
                  </a:lnTo>
                  <a:lnTo>
                    <a:pt x="2530" y="78"/>
                  </a:lnTo>
                  <a:lnTo>
                    <a:pt x="2615" y="99"/>
                  </a:lnTo>
                  <a:lnTo>
                    <a:pt x="2700" y="113"/>
                  </a:lnTo>
                  <a:lnTo>
                    <a:pt x="2785" y="135"/>
                  </a:lnTo>
                  <a:lnTo>
                    <a:pt x="2870" y="156"/>
                  </a:lnTo>
                  <a:lnTo>
                    <a:pt x="2955" y="177"/>
                  </a:lnTo>
                  <a:lnTo>
                    <a:pt x="3040" y="199"/>
                  </a:lnTo>
                  <a:lnTo>
                    <a:pt x="3125" y="220"/>
                  </a:lnTo>
                  <a:lnTo>
                    <a:pt x="3210" y="241"/>
                  </a:lnTo>
                  <a:lnTo>
                    <a:pt x="3295" y="262"/>
                  </a:lnTo>
                  <a:lnTo>
                    <a:pt x="3373" y="276"/>
                  </a:lnTo>
                  <a:lnTo>
                    <a:pt x="3458" y="291"/>
                  </a:lnTo>
                  <a:lnTo>
                    <a:pt x="3543" y="305"/>
                  </a:lnTo>
                  <a:lnTo>
                    <a:pt x="3628" y="319"/>
                  </a:lnTo>
                  <a:lnTo>
                    <a:pt x="3713" y="326"/>
                  </a:lnTo>
                  <a:lnTo>
                    <a:pt x="3798" y="333"/>
                  </a:lnTo>
                  <a:lnTo>
                    <a:pt x="3883" y="340"/>
                  </a:lnTo>
                  <a:lnTo>
                    <a:pt x="3969" y="347"/>
                  </a:lnTo>
                  <a:lnTo>
                    <a:pt x="4054" y="354"/>
                  </a:lnTo>
                  <a:lnTo>
                    <a:pt x="4139" y="354"/>
                  </a:ln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Text Box 37"/>
            <p:cNvSpPr txBox="1"/>
            <p:nvPr/>
          </p:nvSpPr>
          <p:spPr>
            <a:xfrm>
              <a:off x="759" y="3117"/>
              <a:ext cx="5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-90°</a:t>
              </a:r>
            </a:p>
          </p:txBody>
        </p:sp>
        <p:sp>
          <p:nvSpPr>
            <p:cNvPr id="29733" name="Line 38"/>
            <p:cNvSpPr/>
            <p:nvPr/>
          </p:nvSpPr>
          <p:spPr>
            <a:xfrm>
              <a:off x="1179" y="2954"/>
              <a:ext cx="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4" name="Line 39"/>
            <p:cNvSpPr/>
            <p:nvPr/>
          </p:nvSpPr>
          <p:spPr>
            <a:xfrm>
              <a:off x="1179" y="2629"/>
              <a:ext cx="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5" name="Line 40"/>
            <p:cNvSpPr/>
            <p:nvPr/>
          </p:nvSpPr>
          <p:spPr>
            <a:xfrm>
              <a:off x="1179" y="3929"/>
              <a:ext cx="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Text Box 41"/>
            <p:cNvSpPr txBox="1"/>
            <p:nvPr/>
          </p:nvSpPr>
          <p:spPr>
            <a:xfrm>
              <a:off x="672" y="3766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-270°</a:t>
              </a:r>
            </a:p>
          </p:txBody>
        </p:sp>
        <p:grpSp>
          <p:nvGrpSpPr>
            <p:cNvPr id="29737" name="Group 42"/>
            <p:cNvGrpSpPr/>
            <p:nvPr/>
          </p:nvGrpSpPr>
          <p:grpSpPr>
            <a:xfrm>
              <a:off x="1179" y="1289"/>
              <a:ext cx="3779" cy="1137"/>
              <a:chOff x="816" y="576"/>
              <a:chExt cx="4176" cy="1344"/>
            </a:xfrm>
          </p:grpSpPr>
          <p:sp>
            <p:nvSpPr>
              <p:cNvPr id="29752" name="Line 43"/>
              <p:cNvSpPr/>
              <p:nvPr/>
            </p:nvSpPr>
            <p:spPr>
              <a:xfrm>
                <a:off x="816" y="576"/>
                <a:ext cx="1440" cy="24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3" name="Line 44"/>
              <p:cNvSpPr/>
              <p:nvPr/>
            </p:nvSpPr>
            <p:spPr>
              <a:xfrm>
                <a:off x="2256" y="816"/>
                <a:ext cx="1680" cy="576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4" name="Line 45"/>
              <p:cNvSpPr/>
              <p:nvPr/>
            </p:nvSpPr>
            <p:spPr>
              <a:xfrm>
                <a:off x="3936" y="1392"/>
                <a:ext cx="1056" cy="52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38" name="Group 46"/>
            <p:cNvGrpSpPr/>
            <p:nvPr/>
          </p:nvGrpSpPr>
          <p:grpSpPr>
            <a:xfrm>
              <a:off x="1179" y="1246"/>
              <a:ext cx="3779" cy="406"/>
              <a:chOff x="816" y="528"/>
              <a:chExt cx="4176" cy="480"/>
            </a:xfrm>
          </p:grpSpPr>
          <p:sp>
            <p:nvSpPr>
              <p:cNvPr id="29750" name="Line 47"/>
              <p:cNvSpPr/>
              <p:nvPr/>
            </p:nvSpPr>
            <p:spPr>
              <a:xfrm flipV="1">
                <a:off x="2256" y="528"/>
                <a:ext cx="2736" cy="48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29751" name="Line 48"/>
              <p:cNvSpPr/>
              <p:nvPr/>
            </p:nvSpPr>
            <p:spPr>
              <a:xfrm flipH="1">
                <a:off x="816" y="1008"/>
                <a:ext cx="1440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lgDashDot"/>
                <a:headEnd type="none" w="med" len="med"/>
                <a:tailEnd type="none" w="med" len="med"/>
              </a:ln>
            </p:spPr>
          </p:sp>
        </p:grpSp>
        <p:sp>
          <p:nvSpPr>
            <p:cNvPr id="29739" name="Line 49"/>
            <p:cNvSpPr/>
            <p:nvPr/>
          </p:nvSpPr>
          <p:spPr>
            <a:xfrm>
              <a:off x="1179" y="1289"/>
              <a:ext cx="2823" cy="44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0" name="Line 50"/>
            <p:cNvSpPr>
              <a:spLocks noChangeAspect="1"/>
            </p:cNvSpPr>
            <p:nvPr/>
          </p:nvSpPr>
          <p:spPr>
            <a:xfrm>
              <a:off x="4002" y="1736"/>
              <a:ext cx="958" cy="31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1" name="Text Box 51"/>
            <p:cNvSpPr txBox="1"/>
            <p:nvPr/>
          </p:nvSpPr>
          <p:spPr>
            <a:xfrm>
              <a:off x="4399" y="1981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-60</a:t>
              </a:r>
            </a:p>
          </p:txBody>
        </p:sp>
        <p:sp>
          <p:nvSpPr>
            <p:cNvPr id="29742" name="Text Box 52"/>
            <p:cNvSpPr txBox="1"/>
            <p:nvPr/>
          </p:nvSpPr>
          <p:spPr>
            <a:xfrm>
              <a:off x="4219" y="1623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29743" name="Text Box 53"/>
            <p:cNvSpPr txBox="1"/>
            <p:nvPr/>
          </p:nvSpPr>
          <p:spPr>
            <a:xfrm>
              <a:off x="3426" y="1207"/>
              <a:ext cx="4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+20</a:t>
              </a:r>
            </a:p>
          </p:txBody>
        </p:sp>
        <p:sp>
          <p:nvSpPr>
            <p:cNvPr id="29744" name="Rectangle 54"/>
            <p:cNvSpPr/>
            <p:nvPr/>
          </p:nvSpPr>
          <p:spPr>
            <a:xfrm>
              <a:off x="3403" y="1392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745" name="Line 55"/>
            <p:cNvSpPr/>
            <p:nvPr/>
          </p:nvSpPr>
          <p:spPr>
            <a:xfrm>
              <a:off x="4002" y="1654"/>
              <a:ext cx="0" cy="32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6" name="Line 56"/>
            <p:cNvSpPr/>
            <p:nvPr/>
          </p:nvSpPr>
          <p:spPr>
            <a:xfrm flipV="1">
              <a:off x="2501" y="1492"/>
              <a:ext cx="0" cy="16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7" name="Line 57"/>
            <p:cNvSpPr/>
            <p:nvPr/>
          </p:nvSpPr>
          <p:spPr>
            <a:xfrm>
              <a:off x="3476" y="1654"/>
              <a:ext cx="0" cy="166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48" name="Line 58"/>
            <p:cNvSpPr/>
            <p:nvPr/>
          </p:nvSpPr>
          <p:spPr>
            <a:xfrm>
              <a:off x="3470" y="3320"/>
              <a:ext cx="0" cy="284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9749" name="Rectangle 59"/>
            <p:cNvSpPr/>
            <p:nvPr/>
          </p:nvSpPr>
          <p:spPr>
            <a:xfrm>
              <a:off x="2697" y="3888"/>
              <a:ext cx="867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rad/s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A3BC5B98-E31F-9947-204C-77E18E027C3E}"/>
              </a:ext>
            </a:extLst>
          </p:cNvPr>
          <p:cNvSpPr/>
          <p:nvPr/>
        </p:nvSpPr>
        <p:spPr>
          <a:xfrm>
            <a:off x="652463" y="417702"/>
            <a:ext cx="5253037" cy="52322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PD</a:t>
            </a:r>
            <a:r>
              <a:rPr lang="zh-CN" altLang="en-US" sz="2800" b="1" dirty="0">
                <a:latin typeface="宋体" panose="02010600030101010101" pitchFamily="2" charset="-122"/>
              </a:rPr>
              <a:t>控制（</a:t>
            </a:r>
            <a:r>
              <a:rPr lang="zh-CN" altLang="en-US" sz="2800" b="1" dirty="0">
                <a:latin typeface="Times New Roman" panose="02020603050405020304" pitchFamily="18" charset="0"/>
              </a:rPr>
              <a:t>比例加微分控制</a:t>
            </a:r>
            <a:r>
              <a:rPr lang="zh-CN" altLang="en-US" sz="2800" b="1" dirty="0">
                <a:latin typeface="宋体" panose="02010600030101010101" pitchFamily="2" charset="-122"/>
              </a:rPr>
              <a:t>） 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A1FBED3D-B5EC-6AE4-D678-F4A36DAB3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29954"/>
              </p:ext>
            </p:extLst>
          </p:nvPr>
        </p:nvGraphicFramePr>
        <p:xfrm>
          <a:off x="5840412" y="323058"/>
          <a:ext cx="25844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419100" progId="Equation.3">
                  <p:embed/>
                </p:oleObj>
              </mc:Choice>
              <mc:Fallback>
                <p:oleObj r:id="rId3" imgW="1193800" imgH="419100" progId="Equation.3">
                  <p:embed/>
                  <p:pic>
                    <p:nvPicPr>
                      <p:cNvPr id="27678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0412" y="323058"/>
                        <a:ext cx="2584450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AE54D2D-4A1F-B839-D689-A5A83ABD6A0B}"/>
              </a:ext>
            </a:extLst>
          </p:cNvPr>
          <p:cNvSpPr/>
          <p:nvPr/>
        </p:nvSpPr>
        <p:spPr>
          <a:xfrm>
            <a:off x="1779588" y="6172201"/>
            <a:ext cx="7467600" cy="543739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相位裕量增加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因为</a:t>
            </a:r>
            <a:r>
              <a:rPr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900" i="1" baseline="-180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)&gt;0)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，稳定性提高；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D1396-4637-B555-D62F-273FFB6228D4}"/>
              </a:ext>
            </a:extLst>
          </p:cNvPr>
          <p:cNvSpPr/>
          <p:nvPr/>
        </p:nvSpPr>
        <p:spPr>
          <a:xfrm>
            <a:off x="2203450" y="2738926"/>
            <a:ext cx="7467600" cy="543739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增大，快速性提高；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B9DF52-61DF-E37E-AA88-484ECA84189B}"/>
              </a:ext>
            </a:extLst>
          </p:cNvPr>
          <p:cNvSpPr/>
          <p:nvPr/>
        </p:nvSpPr>
        <p:spPr>
          <a:xfrm>
            <a:off x="7945438" y="2666634"/>
            <a:ext cx="1226039" cy="302134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系统抗干扰的能力下降。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/>
          <p:nvPr/>
        </p:nvSpPr>
        <p:spPr>
          <a:xfrm>
            <a:off x="539750" y="333375"/>
            <a:ext cx="5926138" cy="523220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PID</a:t>
            </a:r>
            <a:r>
              <a:rPr lang="zh-CN" altLang="en-US" sz="2800" b="1" dirty="0">
                <a:latin typeface="宋体" panose="02010600030101010101" pitchFamily="2" charset="-122"/>
              </a:rPr>
              <a:t>控制（</a:t>
            </a:r>
            <a:r>
              <a:rPr lang="zh-CN" altLang="en-US" sz="2800" b="1" dirty="0">
                <a:latin typeface="Times New Roman" panose="02020603050405020304" pitchFamily="18" charset="0"/>
              </a:rPr>
              <a:t>比例积分微分控制</a:t>
            </a:r>
            <a:r>
              <a:rPr lang="zh-CN" altLang="en-US" sz="2800" b="1" dirty="0">
                <a:latin typeface="宋体" panose="02010600030101010101" pitchFamily="2" charset="-122"/>
              </a:rPr>
              <a:t>） 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1116013" y="1268413"/>
          <a:ext cx="52101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54300" imgH="457200" progId="Equation.3">
                  <p:embed/>
                </p:oleObj>
              </mc:Choice>
              <mc:Fallback>
                <p:oleObj r:id="rId3" imgW="2654300" imgH="457200" progId="Equation.3">
                  <p:embed/>
                  <p:pic>
                    <p:nvPicPr>
                      <p:cNvPr id="3994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268413"/>
                        <a:ext cx="5210175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1130300" y="2259013"/>
          <a:ext cx="3124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37665" imgH="482600" progId="Equation.3">
                  <p:embed/>
                </p:oleObj>
              </mc:Choice>
              <mc:Fallback>
                <p:oleObj r:id="rId5" imgW="1637665" imgH="482600" progId="Equation.3">
                  <p:embed/>
                  <p:pic>
                    <p:nvPicPr>
                      <p:cNvPr id="39941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0300" y="2259013"/>
                        <a:ext cx="3124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1116013" y="3500438"/>
            <a:ext cx="6553200" cy="2308225"/>
            <a:chOff x="1008" y="2482"/>
            <a:chExt cx="4128" cy="1454"/>
          </a:xfrm>
        </p:grpSpPr>
        <p:sp>
          <p:nvSpPr>
            <p:cNvPr id="31750" name="Line 7"/>
            <p:cNvSpPr/>
            <p:nvPr/>
          </p:nvSpPr>
          <p:spPr>
            <a:xfrm>
              <a:off x="3445" y="3680"/>
              <a:ext cx="1691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51" name="Line 8"/>
            <p:cNvSpPr/>
            <p:nvPr/>
          </p:nvSpPr>
          <p:spPr>
            <a:xfrm flipV="1">
              <a:off x="3445" y="2585"/>
              <a:ext cx="0" cy="109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52" name="Text Box 9"/>
            <p:cNvSpPr txBox="1"/>
            <p:nvPr/>
          </p:nvSpPr>
          <p:spPr>
            <a:xfrm>
              <a:off x="4968" y="3648"/>
              <a:ext cx="168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1753" name="Text Box 10"/>
            <p:cNvSpPr txBox="1"/>
            <p:nvPr/>
          </p:nvSpPr>
          <p:spPr>
            <a:xfrm>
              <a:off x="3063" y="2496"/>
              <a:ext cx="393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1754" name="Line 11"/>
            <p:cNvSpPr/>
            <p:nvPr/>
          </p:nvSpPr>
          <p:spPr>
            <a:xfrm flipH="1" flipV="1">
              <a:off x="4222" y="3289"/>
              <a:ext cx="311" cy="156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55" name="Text Box 12"/>
            <p:cNvSpPr txBox="1"/>
            <p:nvPr/>
          </p:nvSpPr>
          <p:spPr>
            <a:xfrm>
              <a:off x="4032" y="3409"/>
              <a:ext cx="992" cy="28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</a:rPr>
                <a:t>只有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控制</a:t>
              </a:r>
            </a:p>
          </p:txBody>
        </p:sp>
        <p:sp>
          <p:nvSpPr>
            <p:cNvPr id="31756" name="Text Box 13"/>
            <p:cNvSpPr txBox="1"/>
            <p:nvPr/>
          </p:nvSpPr>
          <p:spPr>
            <a:xfrm>
              <a:off x="4378" y="2509"/>
              <a:ext cx="747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PD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控制</a:t>
              </a:r>
            </a:p>
          </p:txBody>
        </p:sp>
        <p:sp>
          <p:nvSpPr>
            <p:cNvPr id="31757" name="Line 14"/>
            <p:cNvSpPr/>
            <p:nvPr/>
          </p:nvSpPr>
          <p:spPr>
            <a:xfrm flipH="1">
              <a:off x="4300" y="2742"/>
              <a:ext cx="156" cy="312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58" name="Text Box 15"/>
            <p:cNvSpPr txBox="1"/>
            <p:nvPr/>
          </p:nvSpPr>
          <p:spPr>
            <a:xfrm>
              <a:off x="3244" y="3600"/>
              <a:ext cx="21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1759" name="Line 16"/>
            <p:cNvSpPr/>
            <p:nvPr/>
          </p:nvSpPr>
          <p:spPr>
            <a:xfrm>
              <a:off x="1428" y="3685"/>
              <a:ext cx="147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60" name="Line 17"/>
            <p:cNvSpPr/>
            <p:nvPr/>
          </p:nvSpPr>
          <p:spPr>
            <a:xfrm flipH="1" flipV="1">
              <a:off x="1428" y="2585"/>
              <a:ext cx="0" cy="109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61" name="Text Box 18"/>
            <p:cNvSpPr txBox="1"/>
            <p:nvPr/>
          </p:nvSpPr>
          <p:spPr>
            <a:xfrm>
              <a:off x="2736" y="3648"/>
              <a:ext cx="169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1762" name="Text Box 19"/>
            <p:cNvSpPr txBox="1"/>
            <p:nvPr/>
          </p:nvSpPr>
          <p:spPr>
            <a:xfrm>
              <a:off x="1227" y="3600"/>
              <a:ext cx="213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1763" name="Text Box 20"/>
            <p:cNvSpPr txBox="1"/>
            <p:nvPr/>
          </p:nvSpPr>
          <p:spPr>
            <a:xfrm>
              <a:off x="1008" y="2482"/>
              <a:ext cx="429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1764" name="Rectangle 21"/>
            <p:cNvSpPr/>
            <p:nvPr/>
          </p:nvSpPr>
          <p:spPr>
            <a:xfrm>
              <a:off x="1515" y="2698"/>
              <a:ext cx="501" cy="51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</a:rPr>
                <a:t>速度</a:t>
              </a:r>
            </a:p>
            <a:p>
              <a:r>
                <a:rPr lang="zh-CN" altLang="en-US" sz="2400" dirty="0">
                  <a:latin typeface="Times New Roman" panose="02020603050405020304" pitchFamily="18" charset="0"/>
                </a:rPr>
                <a:t>信号</a:t>
              </a:r>
            </a:p>
          </p:txBody>
        </p:sp>
        <p:sp>
          <p:nvSpPr>
            <p:cNvPr id="31765" name="Line 22"/>
            <p:cNvSpPr/>
            <p:nvPr/>
          </p:nvSpPr>
          <p:spPr>
            <a:xfrm>
              <a:off x="1968" y="3077"/>
              <a:ext cx="233" cy="23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66" name="Freeform 23"/>
            <p:cNvSpPr>
              <a:spLocks noChangeAspect="1"/>
            </p:cNvSpPr>
            <p:nvPr/>
          </p:nvSpPr>
          <p:spPr>
            <a:xfrm>
              <a:off x="3453" y="2663"/>
              <a:ext cx="925" cy="769"/>
            </a:xfrm>
            <a:custGeom>
              <a:avLst/>
              <a:gdLst/>
              <a:ahLst/>
              <a:cxnLst>
                <a:cxn ang="0">
                  <a:pos x="12" y="762"/>
                </a:cxn>
                <a:cxn ang="0">
                  <a:pos x="34" y="751"/>
                </a:cxn>
                <a:cxn ang="0">
                  <a:pos x="56" y="740"/>
                </a:cxn>
                <a:cxn ang="0">
                  <a:pos x="79" y="729"/>
                </a:cxn>
                <a:cxn ang="0">
                  <a:pos x="100" y="715"/>
                </a:cxn>
                <a:cxn ang="0">
                  <a:pos x="123" y="705"/>
                </a:cxn>
                <a:cxn ang="0">
                  <a:pos x="145" y="693"/>
                </a:cxn>
                <a:cxn ang="0">
                  <a:pos x="167" y="679"/>
                </a:cxn>
                <a:cxn ang="0">
                  <a:pos x="189" y="665"/>
                </a:cxn>
                <a:cxn ang="0">
                  <a:pos x="211" y="654"/>
                </a:cxn>
                <a:cxn ang="0">
                  <a:pos x="233" y="640"/>
                </a:cxn>
                <a:cxn ang="0">
                  <a:pos x="255" y="625"/>
                </a:cxn>
                <a:cxn ang="0">
                  <a:pos x="277" y="611"/>
                </a:cxn>
                <a:cxn ang="0">
                  <a:pos x="297" y="593"/>
                </a:cxn>
                <a:cxn ang="0">
                  <a:pos x="319" y="578"/>
                </a:cxn>
                <a:cxn ang="0">
                  <a:pos x="341" y="564"/>
                </a:cxn>
                <a:cxn ang="0">
                  <a:pos x="363" y="546"/>
                </a:cxn>
                <a:cxn ang="0">
                  <a:pos x="385" y="528"/>
                </a:cxn>
                <a:cxn ang="0">
                  <a:pos x="407" y="514"/>
                </a:cxn>
                <a:cxn ang="0">
                  <a:pos x="429" y="496"/>
                </a:cxn>
                <a:cxn ang="0">
                  <a:pos x="451" y="478"/>
                </a:cxn>
                <a:cxn ang="0">
                  <a:pos x="474" y="460"/>
                </a:cxn>
                <a:cxn ang="0">
                  <a:pos x="495" y="442"/>
                </a:cxn>
                <a:cxn ang="0">
                  <a:pos x="518" y="421"/>
                </a:cxn>
                <a:cxn ang="0">
                  <a:pos x="540" y="402"/>
                </a:cxn>
                <a:cxn ang="0">
                  <a:pos x="562" y="385"/>
                </a:cxn>
                <a:cxn ang="0">
                  <a:pos x="584" y="363"/>
                </a:cxn>
                <a:cxn ang="0">
                  <a:pos x="603" y="341"/>
                </a:cxn>
                <a:cxn ang="0">
                  <a:pos x="626" y="323"/>
                </a:cxn>
                <a:cxn ang="0">
                  <a:pos x="648" y="302"/>
                </a:cxn>
                <a:cxn ang="0">
                  <a:pos x="670" y="280"/>
                </a:cxn>
                <a:cxn ang="0">
                  <a:pos x="692" y="255"/>
                </a:cxn>
                <a:cxn ang="0">
                  <a:pos x="714" y="233"/>
                </a:cxn>
                <a:cxn ang="0">
                  <a:pos x="736" y="212"/>
                </a:cxn>
                <a:cxn ang="0">
                  <a:pos x="758" y="187"/>
                </a:cxn>
                <a:cxn ang="0">
                  <a:pos x="780" y="165"/>
                </a:cxn>
                <a:cxn ang="0">
                  <a:pos x="802" y="140"/>
                </a:cxn>
                <a:cxn ang="0">
                  <a:pos x="824" y="118"/>
                </a:cxn>
                <a:cxn ang="0">
                  <a:pos x="846" y="93"/>
                </a:cxn>
                <a:cxn ang="0">
                  <a:pos x="869" y="68"/>
                </a:cxn>
                <a:cxn ang="0">
                  <a:pos x="888" y="43"/>
                </a:cxn>
                <a:cxn ang="0">
                  <a:pos x="910" y="18"/>
                </a:cxn>
              </a:cxnLst>
              <a:rect l="0" t="0" r="0" b="0"/>
              <a:pathLst>
                <a:path w="2672" h="1516">
                  <a:moveTo>
                    <a:pt x="0" y="1516"/>
                  </a:moveTo>
                  <a:lnTo>
                    <a:pt x="14" y="1509"/>
                  </a:lnTo>
                  <a:lnTo>
                    <a:pt x="35" y="1502"/>
                  </a:lnTo>
                  <a:lnTo>
                    <a:pt x="56" y="1495"/>
                  </a:lnTo>
                  <a:lnTo>
                    <a:pt x="78" y="1488"/>
                  </a:lnTo>
                  <a:lnTo>
                    <a:pt x="99" y="1481"/>
                  </a:lnTo>
                  <a:lnTo>
                    <a:pt x="120" y="1474"/>
                  </a:lnTo>
                  <a:lnTo>
                    <a:pt x="141" y="1466"/>
                  </a:lnTo>
                  <a:lnTo>
                    <a:pt x="163" y="1459"/>
                  </a:lnTo>
                  <a:lnTo>
                    <a:pt x="184" y="1452"/>
                  </a:lnTo>
                  <a:lnTo>
                    <a:pt x="205" y="1445"/>
                  </a:lnTo>
                  <a:lnTo>
                    <a:pt x="227" y="1438"/>
                  </a:lnTo>
                  <a:lnTo>
                    <a:pt x="248" y="1431"/>
                  </a:lnTo>
                  <a:lnTo>
                    <a:pt x="269" y="1424"/>
                  </a:lnTo>
                  <a:lnTo>
                    <a:pt x="290" y="1410"/>
                  </a:lnTo>
                  <a:lnTo>
                    <a:pt x="312" y="1403"/>
                  </a:lnTo>
                  <a:lnTo>
                    <a:pt x="333" y="1396"/>
                  </a:lnTo>
                  <a:lnTo>
                    <a:pt x="354" y="1389"/>
                  </a:lnTo>
                  <a:lnTo>
                    <a:pt x="375" y="1381"/>
                  </a:lnTo>
                  <a:lnTo>
                    <a:pt x="397" y="1374"/>
                  </a:lnTo>
                  <a:lnTo>
                    <a:pt x="418" y="1367"/>
                  </a:lnTo>
                  <a:lnTo>
                    <a:pt x="439" y="1353"/>
                  </a:lnTo>
                  <a:lnTo>
                    <a:pt x="460" y="1346"/>
                  </a:lnTo>
                  <a:lnTo>
                    <a:pt x="482" y="1339"/>
                  </a:lnTo>
                  <a:lnTo>
                    <a:pt x="503" y="1332"/>
                  </a:lnTo>
                  <a:lnTo>
                    <a:pt x="524" y="1325"/>
                  </a:lnTo>
                  <a:lnTo>
                    <a:pt x="545" y="1311"/>
                  </a:lnTo>
                  <a:lnTo>
                    <a:pt x="567" y="1303"/>
                  </a:lnTo>
                  <a:lnTo>
                    <a:pt x="588" y="1296"/>
                  </a:lnTo>
                  <a:lnTo>
                    <a:pt x="609" y="1289"/>
                  </a:lnTo>
                  <a:lnTo>
                    <a:pt x="630" y="1275"/>
                  </a:lnTo>
                  <a:lnTo>
                    <a:pt x="652" y="1268"/>
                  </a:lnTo>
                  <a:lnTo>
                    <a:pt x="673" y="1261"/>
                  </a:lnTo>
                  <a:lnTo>
                    <a:pt x="694" y="1247"/>
                  </a:lnTo>
                  <a:lnTo>
                    <a:pt x="716" y="1240"/>
                  </a:lnTo>
                  <a:lnTo>
                    <a:pt x="737" y="1233"/>
                  </a:lnTo>
                  <a:lnTo>
                    <a:pt x="758" y="1218"/>
                  </a:lnTo>
                  <a:lnTo>
                    <a:pt x="779" y="1211"/>
                  </a:lnTo>
                  <a:lnTo>
                    <a:pt x="801" y="1204"/>
                  </a:lnTo>
                  <a:lnTo>
                    <a:pt x="822" y="1190"/>
                  </a:lnTo>
                  <a:lnTo>
                    <a:pt x="843" y="1183"/>
                  </a:lnTo>
                  <a:lnTo>
                    <a:pt x="857" y="1169"/>
                  </a:lnTo>
                  <a:lnTo>
                    <a:pt x="879" y="1162"/>
                  </a:lnTo>
                  <a:lnTo>
                    <a:pt x="900" y="1155"/>
                  </a:lnTo>
                  <a:lnTo>
                    <a:pt x="921" y="1140"/>
                  </a:lnTo>
                  <a:lnTo>
                    <a:pt x="942" y="1133"/>
                  </a:lnTo>
                  <a:lnTo>
                    <a:pt x="964" y="1119"/>
                  </a:lnTo>
                  <a:lnTo>
                    <a:pt x="985" y="1112"/>
                  </a:lnTo>
                  <a:lnTo>
                    <a:pt x="1006" y="1098"/>
                  </a:lnTo>
                  <a:lnTo>
                    <a:pt x="1027" y="1091"/>
                  </a:lnTo>
                  <a:lnTo>
                    <a:pt x="1049" y="1077"/>
                  </a:lnTo>
                  <a:lnTo>
                    <a:pt x="1070" y="1070"/>
                  </a:lnTo>
                  <a:lnTo>
                    <a:pt x="1091" y="1055"/>
                  </a:lnTo>
                  <a:lnTo>
                    <a:pt x="1112" y="1041"/>
                  </a:lnTo>
                  <a:lnTo>
                    <a:pt x="1134" y="1034"/>
                  </a:lnTo>
                  <a:lnTo>
                    <a:pt x="1155" y="1020"/>
                  </a:lnTo>
                  <a:lnTo>
                    <a:pt x="1176" y="1013"/>
                  </a:lnTo>
                  <a:lnTo>
                    <a:pt x="1197" y="999"/>
                  </a:lnTo>
                  <a:lnTo>
                    <a:pt x="1219" y="992"/>
                  </a:lnTo>
                  <a:lnTo>
                    <a:pt x="1240" y="978"/>
                  </a:lnTo>
                  <a:lnTo>
                    <a:pt x="1261" y="963"/>
                  </a:lnTo>
                  <a:lnTo>
                    <a:pt x="1283" y="956"/>
                  </a:lnTo>
                  <a:lnTo>
                    <a:pt x="1304" y="942"/>
                  </a:lnTo>
                  <a:lnTo>
                    <a:pt x="1325" y="928"/>
                  </a:lnTo>
                  <a:lnTo>
                    <a:pt x="1346" y="921"/>
                  </a:lnTo>
                  <a:lnTo>
                    <a:pt x="1368" y="907"/>
                  </a:lnTo>
                  <a:lnTo>
                    <a:pt x="1389" y="892"/>
                  </a:lnTo>
                  <a:lnTo>
                    <a:pt x="1410" y="878"/>
                  </a:lnTo>
                  <a:lnTo>
                    <a:pt x="1431" y="871"/>
                  </a:lnTo>
                  <a:lnTo>
                    <a:pt x="1453" y="857"/>
                  </a:lnTo>
                  <a:lnTo>
                    <a:pt x="1474" y="843"/>
                  </a:lnTo>
                  <a:lnTo>
                    <a:pt x="1495" y="829"/>
                  </a:lnTo>
                  <a:lnTo>
                    <a:pt x="1516" y="822"/>
                  </a:lnTo>
                  <a:lnTo>
                    <a:pt x="1538" y="807"/>
                  </a:lnTo>
                  <a:lnTo>
                    <a:pt x="1559" y="793"/>
                  </a:lnTo>
                  <a:lnTo>
                    <a:pt x="1580" y="779"/>
                  </a:lnTo>
                  <a:lnTo>
                    <a:pt x="1601" y="765"/>
                  </a:lnTo>
                  <a:lnTo>
                    <a:pt x="1623" y="758"/>
                  </a:lnTo>
                  <a:lnTo>
                    <a:pt x="1644" y="744"/>
                  </a:lnTo>
                  <a:lnTo>
                    <a:pt x="1665" y="729"/>
                  </a:lnTo>
                  <a:lnTo>
                    <a:pt x="1686" y="715"/>
                  </a:lnTo>
                  <a:lnTo>
                    <a:pt x="1701" y="701"/>
                  </a:lnTo>
                  <a:lnTo>
                    <a:pt x="1722" y="687"/>
                  </a:lnTo>
                  <a:lnTo>
                    <a:pt x="1743" y="673"/>
                  </a:lnTo>
                  <a:lnTo>
                    <a:pt x="1764" y="659"/>
                  </a:lnTo>
                  <a:lnTo>
                    <a:pt x="1786" y="644"/>
                  </a:lnTo>
                  <a:lnTo>
                    <a:pt x="1807" y="637"/>
                  </a:lnTo>
                  <a:lnTo>
                    <a:pt x="1828" y="623"/>
                  </a:lnTo>
                  <a:lnTo>
                    <a:pt x="1849" y="609"/>
                  </a:lnTo>
                  <a:lnTo>
                    <a:pt x="1871" y="595"/>
                  </a:lnTo>
                  <a:lnTo>
                    <a:pt x="1892" y="581"/>
                  </a:lnTo>
                  <a:lnTo>
                    <a:pt x="1913" y="566"/>
                  </a:lnTo>
                  <a:lnTo>
                    <a:pt x="1935" y="552"/>
                  </a:lnTo>
                  <a:lnTo>
                    <a:pt x="1956" y="538"/>
                  </a:lnTo>
                  <a:lnTo>
                    <a:pt x="1977" y="524"/>
                  </a:lnTo>
                  <a:lnTo>
                    <a:pt x="1998" y="503"/>
                  </a:lnTo>
                  <a:lnTo>
                    <a:pt x="2020" y="489"/>
                  </a:lnTo>
                  <a:lnTo>
                    <a:pt x="2041" y="474"/>
                  </a:lnTo>
                  <a:lnTo>
                    <a:pt x="2062" y="460"/>
                  </a:lnTo>
                  <a:lnTo>
                    <a:pt x="2083" y="446"/>
                  </a:lnTo>
                  <a:lnTo>
                    <a:pt x="2105" y="432"/>
                  </a:lnTo>
                  <a:lnTo>
                    <a:pt x="2126" y="418"/>
                  </a:lnTo>
                  <a:lnTo>
                    <a:pt x="2147" y="403"/>
                  </a:lnTo>
                  <a:lnTo>
                    <a:pt x="2168" y="389"/>
                  </a:lnTo>
                  <a:lnTo>
                    <a:pt x="2190" y="368"/>
                  </a:lnTo>
                  <a:lnTo>
                    <a:pt x="2211" y="354"/>
                  </a:lnTo>
                  <a:lnTo>
                    <a:pt x="2232" y="340"/>
                  </a:lnTo>
                  <a:lnTo>
                    <a:pt x="2253" y="326"/>
                  </a:lnTo>
                  <a:lnTo>
                    <a:pt x="2275" y="311"/>
                  </a:lnTo>
                  <a:lnTo>
                    <a:pt x="2296" y="297"/>
                  </a:lnTo>
                  <a:lnTo>
                    <a:pt x="2317" y="276"/>
                  </a:lnTo>
                  <a:lnTo>
                    <a:pt x="2339" y="262"/>
                  </a:lnTo>
                  <a:lnTo>
                    <a:pt x="2360" y="248"/>
                  </a:lnTo>
                  <a:lnTo>
                    <a:pt x="2381" y="233"/>
                  </a:lnTo>
                  <a:lnTo>
                    <a:pt x="2402" y="212"/>
                  </a:lnTo>
                  <a:lnTo>
                    <a:pt x="2424" y="198"/>
                  </a:lnTo>
                  <a:lnTo>
                    <a:pt x="2445" y="184"/>
                  </a:lnTo>
                  <a:lnTo>
                    <a:pt x="2466" y="163"/>
                  </a:lnTo>
                  <a:lnTo>
                    <a:pt x="2487" y="148"/>
                  </a:lnTo>
                  <a:lnTo>
                    <a:pt x="2509" y="134"/>
                  </a:lnTo>
                  <a:lnTo>
                    <a:pt x="2530" y="113"/>
                  </a:lnTo>
                  <a:lnTo>
                    <a:pt x="2544" y="99"/>
                  </a:lnTo>
                  <a:lnTo>
                    <a:pt x="2565" y="85"/>
                  </a:lnTo>
                  <a:lnTo>
                    <a:pt x="2587" y="63"/>
                  </a:lnTo>
                  <a:lnTo>
                    <a:pt x="2608" y="49"/>
                  </a:lnTo>
                  <a:lnTo>
                    <a:pt x="2629" y="35"/>
                  </a:lnTo>
                  <a:lnTo>
                    <a:pt x="2650" y="14"/>
                  </a:lnTo>
                  <a:lnTo>
                    <a:pt x="2672" y="0"/>
                  </a:lnTo>
                </a:path>
              </a:pathLst>
            </a:custGeom>
            <a:noFill/>
            <a:ln w="22225" cap="flat" cmpd="sng">
              <a:solidFill>
                <a:srgbClr val="99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7" name="Line 24"/>
            <p:cNvSpPr/>
            <p:nvPr/>
          </p:nvSpPr>
          <p:spPr>
            <a:xfrm flipV="1">
              <a:off x="1423" y="3132"/>
              <a:ext cx="1167" cy="54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Line 25"/>
            <p:cNvSpPr/>
            <p:nvPr/>
          </p:nvSpPr>
          <p:spPr>
            <a:xfrm flipV="1">
              <a:off x="3445" y="2898"/>
              <a:ext cx="1166" cy="547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69" name="Line 26"/>
            <p:cNvSpPr/>
            <p:nvPr/>
          </p:nvSpPr>
          <p:spPr>
            <a:xfrm flipV="1">
              <a:off x="3445" y="3132"/>
              <a:ext cx="1166" cy="548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70" name="Line 27"/>
            <p:cNvSpPr/>
            <p:nvPr/>
          </p:nvSpPr>
          <p:spPr>
            <a:xfrm>
              <a:off x="3834" y="2820"/>
              <a:ext cx="233" cy="156"/>
            </a:xfrm>
            <a:prstGeom prst="line">
              <a:avLst/>
            </a:prstGeom>
            <a:ln w="22225" cap="flat" cmpd="sng">
              <a:solidFill>
                <a:srgbClr val="99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1771" name="Text Box 28"/>
            <p:cNvSpPr txBox="1"/>
            <p:nvPr/>
          </p:nvSpPr>
          <p:spPr>
            <a:xfrm>
              <a:off x="3463" y="2544"/>
              <a:ext cx="810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PID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控制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0" name="Rectangle 10"/>
          <p:cNvSpPr/>
          <p:nvPr/>
        </p:nvSpPr>
        <p:spPr>
          <a:xfrm>
            <a:off x="827088" y="3716338"/>
            <a:ext cx="7467600" cy="205422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通常，</a:t>
            </a:r>
            <a:r>
              <a:rPr lang="en-US" altLang="zh-CN" sz="2800" dirty="0">
                <a:latin typeface="Times New Roman" panose="02020603050405020304" pitchFamily="18" charset="0"/>
              </a:rPr>
              <a:t>PID </a:t>
            </a:r>
            <a:r>
              <a:rPr lang="zh-CN" altLang="en-US" sz="2800" dirty="0">
                <a:latin typeface="宋体" panose="02010600030101010101" pitchFamily="2" charset="-122"/>
              </a:rPr>
              <a:t>控制器中积分控制作用发生在系统的低频段，以提高系统的稳态性能；而微分控制作用处于系统的中频段，以改善系统的动态性能，因此，有</a:t>
            </a:r>
            <a:r>
              <a:rPr lang="zh-CN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</a:rPr>
              <a:t>&lt;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宋体" panose="02010600030101010101" pitchFamily="2" charset="-122"/>
              </a:rPr>
              <a:t>（即</a:t>
            </a:r>
            <a:r>
              <a:rPr lang="en-US" altLang="zh-CN" sz="2800" i="1" dirty="0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</a:rPr>
              <a:t>&gt; </a:t>
            </a:r>
            <a:r>
              <a:rPr lang="en-US" altLang="zh-CN" sz="2800" i="1" dirty="0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）。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1500188" y="1755775"/>
          <a:ext cx="315753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51000" imgH="431800" progId="Equation.3">
                  <p:embed/>
                </p:oleObj>
              </mc:Choice>
              <mc:Fallback>
                <p:oleObj r:id="rId3" imgW="1651000" imgH="431800" progId="Equation.3">
                  <p:embed/>
                  <p:pic>
                    <p:nvPicPr>
                      <p:cNvPr id="40971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0188" y="1755775"/>
                        <a:ext cx="3157537" cy="820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12"/>
          <p:cNvSpPr/>
          <p:nvPr/>
        </p:nvSpPr>
        <p:spPr>
          <a:xfrm>
            <a:off x="1042988" y="1052513"/>
            <a:ext cx="6629400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当取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900" i="1" baseline="-18000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</a:rPr>
              <a:t>PID</a:t>
            </a:r>
            <a:r>
              <a:rPr lang="zh-CN" altLang="en-US" sz="2800" dirty="0">
                <a:latin typeface="Times New Roman" panose="02020603050405020304" pitchFamily="18" charset="0"/>
              </a:rPr>
              <a:t>控制器的频率特性为：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1042988" y="2652713"/>
            <a:ext cx="3505200" cy="815975"/>
            <a:chOff x="864" y="2174"/>
            <a:chExt cx="2208" cy="514"/>
          </a:xfrm>
        </p:grpSpPr>
        <p:graphicFrame>
          <p:nvGraphicFramePr>
            <p:cNvPr id="32774" name="Object 14"/>
            <p:cNvGraphicFramePr>
              <a:graphicFrameLocks noChangeAspect="1"/>
            </p:cNvGraphicFramePr>
            <p:nvPr/>
          </p:nvGraphicFramePr>
          <p:xfrm>
            <a:off x="1344" y="2175"/>
            <a:ext cx="605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08000" imgH="431800" progId="Equation.3">
                    <p:embed/>
                  </p:oleObj>
                </mc:Choice>
                <mc:Fallback>
                  <p:oleObj r:id="rId5" imgW="508000" imgH="431800" progId="Equation.3">
                    <p:embed/>
                    <p:pic>
                      <p:nvPicPr>
                        <p:cNvPr id="32774" name="Object 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44" y="2175"/>
                          <a:ext cx="605" cy="5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Object 15"/>
            <p:cNvGraphicFramePr>
              <a:graphicFrameLocks noChangeAspect="1"/>
            </p:cNvGraphicFramePr>
            <p:nvPr/>
          </p:nvGraphicFramePr>
          <p:xfrm>
            <a:off x="2387" y="2174"/>
            <a:ext cx="685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71500" imgH="431800" progId="Equation.3">
                    <p:embed/>
                  </p:oleObj>
                </mc:Choice>
                <mc:Fallback>
                  <p:oleObj r:id="rId7" imgW="571500" imgH="431800" progId="Equation.3">
                    <p:embed/>
                    <p:pic>
                      <p:nvPicPr>
                        <p:cNvPr id="32775" name="Object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87" y="2174"/>
                          <a:ext cx="685" cy="5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6" name="Rectangle 16"/>
            <p:cNvSpPr/>
            <p:nvPr/>
          </p:nvSpPr>
          <p:spPr>
            <a:xfrm>
              <a:off x="864" y="2231"/>
              <a:ext cx="1460" cy="32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</a:rPr>
                <a:t>令：            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447800" y="2133600"/>
          <a:ext cx="4367213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60600" imgH="1143000" progId="Equation.3">
                  <p:embed/>
                </p:oleObj>
              </mc:Choice>
              <mc:Fallback>
                <p:oleObj r:id="rId3" imgW="2260600" imgH="1143000" progId="Equation.3">
                  <p:embed/>
                  <p:pic>
                    <p:nvPicPr>
                      <p:cNvPr id="43011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2133600"/>
                        <a:ext cx="4367213" cy="221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447800" y="4572000"/>
          <a:ext cx="3590925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54200" imgH="812800" progId="Equation.3">
                  <p:embed/>
                </p:oleObj>
              </mc:Choice>
              <mc:Fallback>
                <p:oleObj r:id="rId5" imgW="1854200" imgH="812800" progId="Equation.3">
                  <p:embed/>
                  <p:pic>
                    <p:nvPicPr>
                      <p:cNvPr id="43012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7800" y="4572000"/>
                        <a:ext cx="3590925" cy="156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5"/>
          <p:cNvSpPr/>
          <p:nvPr/>
        </p:nvSpPr>
        <p:spPr>
          <a:xfrm>
            <a:off x="395288" y="620713"/>
            <a:ext cx="2971800" cy="5191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于是，近似有：</a:t>
            </a:r>
          </a:p>
        </p:txBody>
      </p:sp>
      <p:graphicFrame>
        <p:nvGraphicFramePr>
          <p:cNvPr id="33797" name="Object 6"/>
          <p:cNvGraphicFramePr>
            <a:graphicFrameLocks noChangeAspect="1"/>
          </p:cNvGraphicFramePr>
          <p:nvPr/>
        </p:nvGraphicFramePr>
        <p:xfrm>
          <a:off x="1835150" y="1125538"/>
          <a:ext cx="565943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959100" imgH="431800" progId="Equation.DSMT4">
                  <p:embed/>
                </p:oleObj>
              </mc:Choice>
              <mc:Fallback>
                <p:oleObj r:id="rId7" imgW="2959100" imgH="431800" progId="Equation.DSMT4">
                  <p:embed/>
                  <p:pic>
                    <p:nvPicPr>
                      <p:cNvPr id="33797" name="Object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150" y="1125538"/>
                        <a:ext cx="5659438" cy="820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3"/>
          <p:cNvGrpSpPr/>
          <p:nvPr/>
        </p:nvGrpSpPr>
        <p:grpSpPr>
          <a:xfrm>
            <a:off x="539750" y="620713"/>
            <a:ext cx="8001000" cy="5462587"/>
            <a:chOff x="432" y="687"/>
            <a:chExt cx="5040" cy="3441"/>
          </a:xfrm>
        </p:grpSpPr>
        <p:sp>
          <p:nvSpPr>
            <p:cNvPr id="34819" name="Line 4"/>
            <p:cNvSpPr/>
            <p:nvPr/>
          </p:nvSpPr>
          <p:spPr>
            <a:xfrm>
              <a:off x="1152" y="1632"/>
              <a:ext cx="4320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20" name="Line 5"/>
            <p:cNvSpPr/>
            <p:nvPr/>
          </p:nvSpPr>
          <p:spPr>
            <a:xfrm>
              <a:off x="1152" y="3630"/>
              <a:ext cx="4320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21" name="Line 6"/>
            <p:cNvSpPr/>
            <p:nvPr/>
          </p:nvSpPr>
          <p:spPr>
            <a:xfrm flipV="1">
              <a:off x="1152" y="720"/>
              <a:ext cx="0" cy="15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22" name="Line 7"/>
            <p:cNvSpPr/>
            <p:nvPr/>
          </p:nvSpPr>
          <p:spPr>
            <a:xfrm flipV="1">
              <a:off x="1152" y="2400"/>
              <a:ext cx="1" cy="16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23" name="Line 8"/>
            <p:cNvSpPr/>
            <p:nvPr/>
          </p:nvSpPr>
          <p:spPr>
            <a:xfrm>
              <a:off x="1152" y="2544"/>
              <a:ext cx="48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4" name="Line 9"/>
            <p:cNvSpPr/>
            <p:nvPr/>
          </p:nvSpPr>
          <p:spPr>
            <a:xfrm>
              <a:off x="1152" y="2907"/>
              <a:ext cx="48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5" name="Line 10"/>
            <p:cNvSpPr/>
            <p:nvPr/>
          </p:nvSpPr>
          <p:spPr>
            <a:xfrm>
              <a:off x="1152" y="3264"/>
              <a:ext cx="48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6" name="Line 11"/>
            <p:cNvSpPr/>
            <p:nvPr/>
          </p:nvSpPr>
          <p:spPr>
            <a:xfrm>
              <a:off x="1152" y="3996"/>
              <a:ext cx="48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4827" name="Group 12"/>
            <p:cNvGrpSpPr/>
            <p:nvPr/>
          </p:nvGrpSpPr>
          <p:grpSpPr>
            <a:xfrm>
              <a:off x="1152" y="1068"/>
              <a:ext cx="4098" cy="921"/>
              <a:chOff x="960" y="780"/>
              <a:chExt cx="4098" cy="921"/>
            </a:xfrm>
          </p:grpSpPr>
          <p:sp>
            <p:nvSpPr>
              <p:cNvPr id="34887" name="Line 13"/>
              <p:cNvSpPr/>
              <p:nvPr/>
            </p:nvSpPr>
            <p:spPr>
              <a:xfrm>
                <a:off x="960" y="780"/>
                <a:ext cx="2592" cy="384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88" name="Line 14"/>
              <p:cNvSpPr/>
              <p:nvPr/>
            </p:nvSpPr>
            <p:spPr>
              <a:xfrm>
                <a:off x="3552" y="1158"/>
                <a:ext cx="912" cy="282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89" name="Line 15"/>
              <p:cNvSpPr/>
              <p:nvPr/>
            </p:nvSpPr>
            <p:spPr>
              <a:xfrm>
                <a:off x="4464" y="1440"/>
                <a:ext cx="594" cy="261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4828" name="Freeform 16"/>
            <p:cNvSpPr/>
            <p:nvPr/>
          </p:nvSpPr>
          <p:spPr>
            <a:xfrm>
              <a:off x="1151" y="3268"/>
              <a:ext cx="4111" cy="6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" y="0"/>
                </a:cxn>
                <a:cxn ang="0">
                  <a:pos x="170" y="0"/>
                </a:cxn>
                <a:cxn ang="0">
                  <a:pos x="255" y="0"/>
                </a:cxn>
                <a:cxn ang="0">
                  <a:pos x="340" y="0"/>
                </a:cxn>
                <a:cxn ang="0">
                  <a:pos x="425" y="0"/>
                </a:cxn>
                <a:cxn ang="0">
                  <a:pos x="503" y="0"/>
                </a:cxn>
                <a:cxn ang="0">
                  <a:pos x="588" y="0"/>
                </a:cxn>
                <a:cxn ang="0">
                  <a:pos x="673" y="7"/>
                </a:cxn>
                <a:cxn ang="0">
                  <a:pos x="758" y="7"/>
                </a:cxn>
                <a:cxn ang="0">
                  <a:pos x="843" y="7"/>
                </a:cxn>
                <a:cxn ang="0">
                  <a:pos x="921" y="7"/>
                </a:cxn>
                <a:cxn ang="0">
                  <a:pos x="1006" y="7"/>
                </a:cxn>
                <a:cxn ang="0">
                  <a:pos x="1091" y="7"/>
                </a:cxn>
                <a:cxn ang="0">
                  <a:pos x="1177" y="15"/>
                </a:cxn>
                <a:cxn ang="0">
                  <a:pos x="1262" y="15"/>
                </a:cxn>
                <a:cxn ang="0">
                  <a:pos x="1347" y="15"/>
                </a:cxn>
                <a:cxn ang="0">
                  <a:pos x="1425" y="22"/>
                </a:cxn>
                <a:cxn ang="0">
                  <a:pos x="1510" y="29"/>
                </a:cxn>
                <a:cxn ang="0">
                  <a:pos x="1595" y="29"/>
                </a:cxn>
                <a:cxn ang="0">
                  <a:pos x="1680" y="36"/>
                </a:cxn>
                <a:cxn ang="0">
                  <a:pos x="1765" y="43"/>
                </a:cxn>
                <a:cxn ang="0">
                  <a:pos x="1843" y="57"/>
                </a:cxn>
                <a:cxn ang="0">
                  <a:pos x="1928" y="64"/>
                </a:cxn>
                <a:cxn ang="0">
                  <a:pos x="2013" y="78"/>
                </a:cxn>
                <a:cxn ang="0">
                  <a:pos x="2098" y="92"/>
                </a:cxn>
                <a:cxn ang="0">
                  <a:pos x="2183" y="107"/>
                </a:cxn>
                <a:cxn ang="0">
                  <a:pos x="2268" y="128"/>
                </a:cxn>
                <a:cxn ang="0">
                  <a:pos x="2346" y="149"/>
                </a:cxn>
                <a:cxn ang="0">
                  <a:pos x="2431" y="178"/>
                </a:cxn>
                <a:cxn ang="0">
                  <a:pos x="2516" y="206"/>
                </a:cxn>
                <a:cxn ang="0">
                  <a:pos x="2601" y="234"/>
                </a:cxn>
                <a:cxn ang="0">
                  <a:pos x="2686" y="263"/>
                </a:cxn>
                <a:cxn ang="0">
                  <a:pos x="2764" y="291"/>
                </a:cxn>
                <a:cxn ang="0">
                  <a:pos x="2849" y="326"/>
                </a:cxn>
                <a:cxn ang="0">
                  <a:pos x="2934" y="355"/>
                </a:cxn>
                <a:cxn ang="0">
                  <a:pos x="3019" y="383"/>
                </a:cxn>
                <a:cxn ang="0">
                  <a:pos x="3104" y="418"/>
                </a:cxn>
                <a:cxn ang="0">
                  <a:pos x="3189" y="447"/>
                </a:cxn>
                <a:cxn ang="0">
                  <a:pos x="3267" y="475"/>
                </a:cxn>
                <a:cxn ang="0">
                  <a:pos x="3352" y="503"/>
                </a:cxn>
                <a:cxn ang="0">
                  <a:pos x="3437" y="539"/>
                </a:cxn>
                <a:cxn ang="0">
                  <a:pos x="3522" y="560"/>
                </a:cxn>
                <a:cxn ang="0">
                  <a:pos x="3607" y="589"/>
                </a:cxn>
                <a:cxn ang="0">
                  <a:pos x="3685" y="610"/>
                </a:cxn>
                <a:cxn ang="0">
                  <a:pos x="3770" y="631"/>
                </a:cxn>
                <a:cxn ang="0">
                  <a:pos x="3855" y="645"/>
                </a:cxn>
                <a:cxn ang="0">
                  <a:pos x="3941" y="659"/>
                </a:cxn>
                <a:cxn ang="0">
                  <a:pos x="4026" y="674"/>
                </a:cxn>
                <a:cxn ang="0">
                  <a:pos x="4111" y="681"/>
                </a:cxn>
              </a:cxnLst>
              <a:rect l="0" t="0" r="0" b="0"/>
              <a:pathLst>
                <a:path w="4111" h="681">
                  <a:moveTo>
                    <a:pt x="0" y="0"/>
                  </a:moveTo>
                  <a:lnTo>
                    <a:pt x="85" y="0"/>
                  </a:lnTo>
                  <a:lnTo>
                    <a:pt x="170" y="0"/>
                  </a:lnTo>
                  <a:lnTo>
                    <a:pt x="255" y="0"/>
                  </a:lnTo>
                  <a:lnTo>
                    <a:pt x="340" y="0"/>
                  </a:lnTo>
                  <a:lnTo>
                    <a:pt x="425" y="0"/>
                  </a:lnTo>
                  <a:lnTo>
                    <a:pt x="503" y="0"/>
                  </a:lnTo>
                  <a:lnTo>
                    <a:pt x="588" y="0"/>
                  </a:lnTo>
                  <a:lnTo>
                    <a:pt x="673" y="7"/>
                  </a:lnTo>
                  <a:lnTo>
                    <a:pt x="758" y="7"/>
                  </a:lnTo>
                  <a:lnTo>
                    <a:pt x="843" y="7"/>
                  </a:lnTo>
                  <a:lnTo>
                    <a:pt x="921" y="7"/>
                  </a:lnTo>
                  <a:lnTo>
                    <a:pt x="1006" y="7"/>
                  </a:lnTo>
                  <a:lnTo>
                    <a:pt x="1091" y="7"/>
                  </a:lnTo>
                  <a:lnTo>
                    <a:pt x="1177" y="15"/>
                  </a:lnTo>
                  <a:lnTo>
                    <a:pt x="1262" y="15"/>
                  </a:lnTo>
                  <a:lnTo>
                    <a:pt x="1347" y="15"/>
                  </a:lnTo>
                  <a:lnTo>
                    <a:pt x="1425" y="22"/>
                  </a:lnTo>
                  <a:lnTo>
                    <a:pt x="1510" y="29"/>
                  </a:lnTo>
                  <a:lnTo>
                    <a:pt x="1595" y="29"/>
                  </a:lnTo>
                  <a:lnTo>
                    <a:pt x="1680" y="36"/>
                  </a:lnTo>
                  <a:lnTo>
                    <a:pt x="1765" y="43"/>
                  </a:lnTo>
                  <a:lnTo>
                    <a:pt x="1843" y="57"/>
                  </a:lnTo>
                  <a:lnTo>
                    <a:pt x="1928" y="64"/>
                  </a:lnTo>
                  <a:lnTo>
                    <a:pt x="2013" y="78"/>
                  </a:lnTo>
                  <a:lnTo>
                    <a:pt x="2098" y="92"/>
                  </a:lnTo>
                  <a:lnTo>
                    <a:pt x="2183" y="107"/>
                  </a:lnTo>
                  <a:lnTo>
                    <a:pt x="2268" y="128"/>
                  </a:lnTo>
                  <a:lnTo>
                    <a:pt x="2346" y="149"/>
                  </a:lnTo>
                  <a:lnTo>
                    <a:pt x="2431" y="178"/>
                  </a:lnTo>
                  <a:lnTo>
                    <a:pt x="2516" y="206"/>
                  </a:lnTo>
                  <a:lnTo>
                    <a:pt x="2601" y="234"/>
                  </a:lnTo>
                  <a:lnTo>
                    <a:pt x="2686" y="263"/>
                  </a:lnTo>
                  <a:lnTo>
                    <a:pt x="2764" y="291"/>
                  </a:lnTo>
                  <a:lnTo>
                    <a:pt x="2849" y="326"/>
                  </a:lnTo>
                  <a:lnTo>
                    <a:pt x="2934" y="355"/>
                  </a:lnTo>
                  <a:lnTo>
                    <a:pt x="3019" y="383"/>
                  </a:lnTo>
                  <a:lnTo>
                    <a:pt x="3104" y="418"/>
                  </a:lnTo>
                  <a:lnTo>
                    <a:pt x="3189" y="447"/>
                  </a:lnTo>
                  <a:lnTo>
                    <a:pt x="3267" y="475"/>
                  </a:lnTo>
                  <a:lnTo>
                    <a:pt x="3352" y="503"/>
                  </a:lnTo>
                  <a:lnTo>
                    <a:pt x="3437" y="539"/>
                  </a:lnTo>
                  <a:lnTo>
                    <a:pt x="3522" y="560"/>
                  </a:lnTo>
                  <a:lnTo>
                    <a:pt x="3607" y="589"/>
                  </a:lnTo>
                  <a:lnTo>
                    <a:pt x="3685" y="610"/>
                  </a:lnTo>
                  <a:lnTo>
                    <a:pt x="3770" y="631"/>
                  </a:lnTo>
                  <a:lnTo>
                    <a:pt x="3855" y="645"/>
                  </a:lnTo>
                  <a:lnTo>
                    <a:pt x="3941" y="659"/>
                  </a:lnTo>
                  <a:lnTo>
                    <a:pt x="4026" y="674"/>
                  </a:lnTo>
                  <a:lnTo>
                    <a:pt x="4111" y="681"/>
                  </a:lnTo>
                </a:path>
              </a:pathLst>
            </a:custGeom>
            <a:noFill/>
            <a:ln w="222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Freeform 17"/>
            <p:cNvSpPr/>
            <p:nvPr/>
          </p:nvSpPr>
          <p:spPr>
            <a:xfrm>
              <a:off x="1151" y="2553"/>
              <a:ext cx="4111" cy="680"/>
            </a:xfrm>
            <a:custGeom>
              <a:avLst/>
              <a:gdLst/>
              <a:ahLst/>
              <a:cxnLst>
                <a:cxn ang="0">
                  <a:pos x="0" y="680"/>
                </a:cxn>
                <a:cxn ang="0">
                  <a:pos x="85" y="673"/>
                </a:cxn>
                <a:cxn ang="0">
                  <a:pos x="170" y="666"/>
                </a:cxn>
                <a:cxn ang="0">
                  <a:pos x="255" y="652"/>
                </a:cxn>
                <a:cxn ang="0">
                  <a:pos x="340" y="637"/>
                </a:cxn>
                <a:cxn ang="0">
                  <a:pos x="425" y="623"/>
                </a:cxn>
                <a:cxn ang="0">
                  <a:pos x="503" y="609"/>
                </a:cxn>
                <a:cxn ang="0">
                  <a:pos x="588" y="588"/>
                </a:cxn>
                <a:cxn ang="0">
                  <a:pos x="673" y="574"/>
                </a:cxn>
                <a:cxn ang="0">
                  <a:pos x="758" y="552"/>
                </a:cxn>
                <a:cxn ang="0">
                  <a:pos x="843" y="524"/>
                </a:cxn>
                <a:cxn ang="0">
                  <a:pos x="921" y="503"/>
                </a:cxn>
                <a:cxn ang="0">
                  <a:pos x="1006" y="481"/>
                </a:cxn>
                <a:cxn ang="0">
                  <a:pos x="1091" y="460"/>
                </a:cxn>
                <a:cxn ang="0">
                  <a:pos x="1177" y="446"/>
                </a:cxn>
                <a:cxn ang="0">
                  <a:pos x="1262" y="425"/>
                </a:cxn>
                <a:cxn ang="0">
                  <a:pos x="1347" y="411"/>
                </a:cxn>
                <a:cxn ang="0">
                  <a:pos x="1425" y="396"/>
                </a:cxn>
                <a:cxn ang="0">
                  <a:pos x="1510" y="389"/>
                </a:cxn>
                <a:cxn ang="0">
                  <a:pos x="1595" y="375"/>
                </a:cxn>
                <a:cxn ang="0">
                  <a:pos x="1680" y="368"/>
                </a:cxn>
                <a:cxn ang="0">
                  <a:pos x="1765" y="361"/>
                </a:cxn>
                <a:cxn ang="0">
                  <a:pos x="1843" y="347"/>
                </a:cxn>
                <a:cxn ang="0">
                  <a:pos x="1928" y="340"/>
                </a:cxn>
                <a:cxn ang="0">
                  <a:pos x="2013" y="333"/>
                </a:cxn>
                <a:cxn ang="0">
                  <a:pos x="2098" y="318"/>
                </a:cxn>
                <a:cxn ang="0">
                  <a:pos x="2183" y="311"/>
                </a:cxn>
                <a:cxn ang="0">
                  <a:pos x="2268" y="297"/>
                </a:cxn>
                <a:cxn ang="0">
                  <a:pos x="2346" y="290"/>
                </a:cxn>
                <a:cxn ang="0">
                  <a:pos x="2431" y="269"/>
                </a:cxn>
                <a:cxn ang="0">
                  <a:pos x="2516" y="255"/>
                </a:cxn>
                <a:cxn ang="0">
                  <a:pos x="2601" y="241"/>
                </a:cxn>
                <a:cxn ang="0">
                  <a:pos x="2686" y="219"/>
                </a:cxn>
                <a:cxn ang="0">
                  <a:pos x="2764" y="198"/>
                </a:cxn>
                <a:cxn ang="0">
                  <a:pos x="2849" y="177"/>
                </a:cxn>
                <a:cxn ang="0">
                  <a:pos x="2934" y="148"/>
                </a:cxn>
                <a:cxn ang="0">
                  <a:pos x="3019" y="127"/>
                </a:cxn>
                <a:cxn ang="0">
                  <a:pos x="3104" y="106"/>
                </a:cxn>
                <a:cxn ang="0">
                  <a:pos x="3189" y="92"/>
                </a:cxn>
                <a:cxn ang="0">
                  <a:pos x="3267" y="78"/>
                </a:cxn>
                <a:cxn ang="0">
                  <a:pos x="3352" y="56"/>
                </a:cxn>
                <a:cxn ang="0">
                  <a:pos x="3437" y="49"/>
                </a:cxn>
                <a:cxn ang="0">
                  <a:pos x="3522" y="35"/>
                </a:cxn>
                <a:cxn ang="0">
                  <a:pos x="3607" y="28"/>
                </a:cxn>
                <a:cxn ang="0">
                  <a:pos x="3685" y="21"/>
                </a:cxn>
                <a:cxn ang="0">
                  <a:pos x="3770" y="14"/>
                </a:cxn>
                <a:cxn ang="0">
                  <a:pos x="3855" y="7"/>
                </a:cxn>
                <a:cxn ang="0">
                  <a:pos x="3941" y="7"/>
                </a:cxn>
                <a:cxn ang="0">
                  <a:pos x="4026" y="0"/>
                </a:cxn>
                <a:cxn ang="0">
                  <a:pos x="4111" y="0"/>
                </a:cxn>
              </a:cxnLst>
              <a:rect l="0" t="0" r="0" b="0"/>
              <a:pathLst>
                <a:path w="4111" h="680">
                  <a:moveTo>
                    <a:pt x="0" y="680"/>
                  </a:moveTo>
                  <a:lnTo>
                    <a:pt x="85" y="673"/>
                  </a:lnTo>
                  <a:lnTo>
                    <a:pt x="170" y="666"/>
                  </a:lnTo>
                  <a:lnTo>
                    <a:pt x="255" y="652"/>
                  </a:lnTo>
                  <a:lnTo>
                    <a:pt x="340" y="637"/>
                  </a:lnTo>
                  <a:lnTo>
                    <a:pt x="425" y="623"/>
                  </a:lnTo>
                  <a:lnTo>
                    <a:pt x="503" y="609"/>
                  </a:lnTo>
                  <a:lnTo>
                    <a:pt x="588" y="588"/>
                  </a:lnTo>
                  <a:lnTo>
                    <a:pt x="673" y="574"/>
                  </a:lnTo>
                  <a:lnTo>
                    <a:pt x="758" y="552"/>
                  </a:lnTo>
                  <a:lnTo>
                    <a:pt x="843" y="524"/>
                  </a:lnTo>
                  <a:lnTo>
                    <a:pt x="921" y="503"/>
                  </a:lnTo>
                  <a:lnTo>
                    <a:pt x="1006" y="481"/>
                  </a:lnTo>
                  <a:lnTo>
                    <a:pt x="1091" y="460"/>
                  </a:lnTo>
                  <a:lnTo>
                    <a:pt x="1177" y="446"/>
                  </a:lnTo>
                  <a:lnTo>
                    <a:pt x="1262" y="425"/>
                  </a:lnTo>
                  <a:lnTo>
                    <a:pt x="1347" y="411"/>
                  </a:lnTo>
                  <a:lnTo>
                    <a:pt x="1425" y="396"/>
                  </a:lnTo>
                  <a:lnTo>
                    <a:pt x="1510" y="389"/>
                  </a:lnTo>
                  <a:lnTo>
                    <a:pt x="1595" y="375"/>
                  </a:lnTo>
                  <a:lnTo>
                    <a:pt x="1680" y="368"/>
                  </a:lnTo>
                  <a:lnTo>
                    <a:pt x="1765" y="361"/>
                  </a:lnTo>
                  <a:lnTo>
                    <a:pt x="1843" y="347"/>
                  </a:lnTo>
                  <a:lnTo>
                    <a:pt x="1928" y="340"/>
                  </a:lnTo>
                  <a:lnTo>
                    <a:pt x="2013" y="333"/>
                  </a:lnTo>
                  <a:lnTo>
                    <a:pt x="2098" y="318"/>
                  </a:lnTo>
                  <a:lnTo>
                    <a:pt x="2183" y="311"/>
                  </a:lnTo>
                  <a:lnTo>
                    <a:pt x="2268" y="297"/>
                  </a:lnTo>
                  <a:lnTo>
                    <a:pt x="2346" y="290"/>
                  </a:lnTo>
                  <a:lnTo>
                    <a:pt x="2431" y="269"/>
                  </a:lnTo>
                  <a:lnTo>
                    <a:pt x="2516" y="255"/>
                  </a:lnTo>
                  <a:lnTo>
                    <a:pt x="2601" y="241"/>
                  </a:lnTo>
                  <a:lnTo>
                    <a:pt x="2686" y="219"/>
                  </a:lnTo>
                  <a:lnTo>
                    <a:pt x="2764" y="198"/>
                  </a:lnTo>
                  <a:lnTo>
                    <a:pt x="2849" y="177"/>
                  </a:lnTo>
                  <a:lnTo>
                    <a:pt x="2934" y="148"/>
                  </a:lnTo>
                  <a:lnTo>
                    <a:pt x="3019" y="127"/>
                  </a:lnTo>
                  <a:lnTo>
                    <a:pt x="3104" y="106"/>
                  </a:lnTo>
                  <a:lnTo>
                    <a:pt x="3189" y="92"/>
                  </a:lnTo>
                  <a:lnTo>
                    <a:pt x="3267" y="78"/>
                  </a:lnTo>
                  <a:lnTo>
                    <a:pt x="3352" y="56"/>
                  </a:lnTo>
                  <a:lnTo>
                    <a:pt x="3437" y="49"/>
                  </a:lnTo>
                  <a:lnTo>
                    <a:pt x="3522" y="35"/>
                  </a:lnTo>
                  <a:lnTo>
                    <a:pt x="3607" y="28"/>
                  </a:lnTo>
                  <a:lnTo>
                    <a:pt x="3685" y="21"/>
                  </a:lnTo>
                  <a:lnTo>
                    <a:pt x="3770" y="14"/>
                  </a:lnTo>
                  <a:lnTo>
                    <a:pt x="3855" y="7"/>
                  </a:lnTo>
                  <a:lnTo>
                    <a:pt x="3941" y="7"/>
                  </a:lnTo>
                  <a:lnTo>
                    <a:pt x="4026" y="0"/>
                  </a:lnTo>
                  <a:lnTo>
                    <a:pt x="4111" y="0"/>
                  </a:lnTo>
                </a:path>
              </a:pathLst>
            </a:custGeom>
            <a:noFill/>
            <a:ln w="22225" cap="flat" cmpd="sng">
              <a:solidFill>
                <a:srgbClr val="00A5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Freeform 18"/>
            <p:cNvSpPr/>
            <p:nvPr/>
          </p:nvSpPr>
          <p:spPr>
            <a:xfrm>
              <a:off x="1151" y="3325"/>
              <a:ext cx="4111" cy="276"/>
            </a:xfrm>
            <a:custGeom>
              <a:avLst/>
              <a:gdLst/>
              <a:ahLst/>
              <a:cxnLst>
                <a:cxn ang="0">
                  <a:pos x="0" y="276"/>
                </a:cxn>
                <a:cxn ang="0">
                  <a:pos x="85" y="269"/>
                </a:cxn>
                <a:cxn ang="0">
                  <a:pos x="170" y="255"/>
                </a:cxn>
                <a:cxn ang="0">
                  <a:pos x="255" y="248"/>
                </a:cxn>
                <a:cxn ang="0">
                  <a:pos x="340" y="234"/>
                </a:cxn>
                <a:cxn ang="0">
                  <a:pos x="425" y="220"/>
                </a:cxn>
                <a:cxn ang="0">
                  <a:pos x="503" y="206"/>
                </a:cxn>
                <a:cxn ang="0">
                  <a:pos x="588" y="191"/>
                </a:cxn>
                <a:cxn ang="0">
                  <a:pos x="673" y="170"/>
                </a:cxn>
                <a:cxn ang="0">
                  <a:pos x="758" y="149"/>
                </a:cxn>
                <a:cxn ang="0">
                  <a:pos x="843" y="128"/>
                </a:cxn>
                <a:cxn ang="0">
                  <a:pos x="921" y="106"/>
                </a:cxn>
                <a:cxn ang="0">
                  <a:pos x="1006" y="85"/>
                </a:cxn>
                <a:cxn ang="0">
                  <a:pos x="1091" y="64"/>
                </a:cxn>
                <a:cxn ang="0">
                  <a:pos x="1177" y="50"/>
                </a:cxn>
                <a:cxn ang="0">
                  <a:pos x="1262" y="35"/>
                </a:cxn>
                <a:cxn ang="0">
                  <a:pos x="1347" y="21"/>
                </a:cxn>
                <a:cxn ang="0">
                  <a:pos x="1425" y="14"/>
                </a:cxn>
                <a:cxn ang="0">
                  <a:pos x="1510" y="7"/>
                </a:cxn>
                <a:cxn ang="0">
                  <a:pos x="1595" y="0"/>
                </a:cxn>
                <a:cxn ang="0">
                  <a:pos x="1680" y="0"/>
                </a:cxn>
                <a:cxn ang="0">
                  <a:pos x="1765" y="0"/>
                </a:cxn>
                <a:cxn ang="0">
                  <a:pos x="1843" y="0"/>
                </a:cxn>
                <a:cxn ang="0">
                  <a:pos x="1928" y="0"/>
                </a:cxn>
                <a:cxn ang="0">
                  <a:pos x="2013" y="0"/>
                </a:cxn>
                <a:cxn ang="0">
                  <a:pos x="2098" y="7"/>
                </a:cxn>
                <a:cxn ang="0">
                  <a:pos x="2183" y="14"/>
                </a:cxn>
                <a:cxn ang="0">
                  <a:pos x="2268" y="21"/>
                </a:cxn>
                <a:cxn ang="0">
                  <a:pos x="2346" y="35"/>
                </a:cxn>
                <a:cxn ang="0">
                  <a:pos x="2431" y="43"/>
                </a:cxn>
                <a:cxn ang="0">
                  <a:pos x="2516" y="57"/>
                </a:cxn>
                <a:cxn ang="0">
                  <a:pos x="2601" y="64"/>
                </a:cxn>
                <a:cxn ang="0">
                  <a:pos x="2686" y="78"/>
                </a:cxn>
                <a:cxn ang="0">
                  <a:pos x="2764" y="85"/>
                </a:cxn>
                <a:cxn ang="0">
                  <a:pos x="2849" y="92"/>
                </a:cxn>
                <a:cxn ang="0">
                  <a:pos x="2934" y="99"/>
                </a:cxn>
                <a:cxn ang="0">
                  <a:pos x="3019" y="106"/>
                </a:cxn>
                <a:cxn ang="0">
                  <a:pos x="3104" y="121"/>
                </a:cxn>
                <a:cxn ang="0">
                  <a:pos x="3189" y="135"/>
                </a:cxn>
                <a:cxn ang="0">
                  <a:pos x="3267" y="149"/>
                </a:cxn>
                <a:cxn ang="0">
                  <a:pos x="3352" y="163"/>
                </a:cxn>
                <a:cxn ang="0">
                  <a:pos x="3437" y="177"/>
                </a:cxn>
                <a:cxn ang="0">
                  <a:pos x="3522" y="191"/>
                </a:cxn>
                <a:cxn ang="0">
                  <a:pos x="3607" y="206"/>
                </a:cxn>
                <a:cxn ang="0">
                  <a:pos x="3685" y="220"/>
                </a:cxn>
                <a:cxn ang="0">
                  <a:pos x="3770" y="234"/>
                </a:cxn>
                <a:cxn ang="0">
                  <a:pos x="3855" y="248"/>
                </a:cxn>
                <a:cxn ang="0">
                  <a:pos x="3941" y="255"/>
                </a:cxn>
                <a:cxn ang="0">
                  <a:pos x="4026" y="269"/>
                </a:cxn>
                <a:cxn ang="0">
                  <a:pos x="4111" y="276"/>
                </a:cxn>
              </a:cxnLst>
              <a:rect l="0" t="0" r="0" b="0"/>
              <a:pathLst>
                <a:path w="4111" h="276">
                  <a:moveTo>
                    <a:pt x="0" y="276"/>
                  </a:moveTo>
                  <a:lnTo>
                    <a:pt x="85" y="269"/>
                  </a:lnTo>
                  <a:lnTo>
                    <a:pt x="170" y="255"/>
                  </a:lnTo>
                  <a:lnTo>
                    <a:pt x="255" y="248"/>
                  </a:lnTo>
                  <a:lnTo>
                    <a:pt x="340" y="234"/>
                  </a:lnTo>
                  <a:lnTo>
                    <a:pt x="425" y="220"/>
                  </a:lnTo>
                  <a:lnTo>
                    <a:pt x="503" y="206"/>
                  </a:lnTo>
                  <a:lnTo>
                    <a:pt x="588" y="191"/>
                  </a:lnTo>
                  <a:lnTo>
                    <a:pt x="673" y="170"/>
                  </a:lnTo>
                  <a:lnTo>
                    <a:pt x="758" y="149"/>
                  </a:lnTo>
                  <a:lnTo>
                    <a:pt x="843" y="128"/>
                  </a:lnTo>
                  <a:lnTo>
                    <a:pt x="921" y="106"/>
                  </a:lnTo>
                  <a:lnTo>
                    <a:pt x="1006" y="85"/>
                  </a:lnTo>
                  <a:lnTo>
                    <a:pt x="1091" y="64"/>
                  </a:lnTo>
                  <a:lnTo>
                    <a:pt x="1177" y="50"/>
                  </a:lnTo>
                  <a:lnTo>
                    <a:pt x="1262" y="35"/>
                  </a:lnTo>
                  <a:lnTo>
                    <a:pt x="1347" y="21"/>
                  </a:lnTo>
                  <a:lnTo>
                    <a:pt x="1425" y="14"/>
                  </a:lnTo>
                  <a:lnTo>
                    <a:pt x="1510" y="7"/>
                  </a:lnTo>
                  <a:lnTo>
                    <a:pt x="1595" y="0"/>
                  </a:lnTo>
                  <a:lnTo>
                    <a:pt x="1680" y="0"/>
                  </a:lnTo>
                  <a:lnTo>
                    <a:pt x="1765" y="0"/>
                  </a:lnTo>
                  <a:lnTo>
                    <a:pt x="1843" y="0"/>
                  </a:lnTo>
                  <a:lnTo>
                    <a:pt x="1928" y="0"/>
                  </a:lnTo>
                  <a:lnTo>
                    <a:pt x="2013" y="0"/>
                  </a:lnTo>
                  <a:lnTo>
                    <a:pt x="2098" y="7"/>
                  </a:lnTo>
                  <a:lnTo>
                    <a:pt x="2183" y="14"/>
                  </a:lnTo>
                  <a:lnTo>
                    <a:pt x="2268" y="21"/>
                  </a:lnTo>
                  <a:lnTo>
                    <a:pt x="2346" y="35"/>
                  </a:lnTo>
                  <a:lnTo>
                    <a:pt x="2431" y="43"/>
                  </a:lnTo>
                  <a:lnTo>
                    <a:pt x="2516" y="57"/>
                  </a:lnTo>
                  <a:lnTo>
                    <a:pt x="2601" y="64"/>
                  </a:lnTo>
                  <a:lnTo>
                    <a:pt x="2686" y="78"/>
                  </a:lnTo>
                  <a:lnTo>
                    <a:pt x="2764" y="85"/>
                  </a:lnTo>
                  <a:lnTo>
                    <a:pt x="2849" y="92"/>
                  </a:lnTo>
                  <a:lnTo>
                    <a:pt x="2934" y="99"/>
                  </a:lnTo>
                  <a:lnTo>
                    <a:pt x="3019" y="106"/>
                  </a:lnTo>
                  <a:lnTo>
                    <a:pt x="3104" y="121"/>
                  </a:lnTo>
                  <a:lnTo>
                    <a:pt x="3189" y="135"/>
                  </a:lnTo>
                  <a:lnTo>
                    <a:pt x="3267" y="149"/>
                  </a:lnTo>
                  <a:lnTo>
                    <a:pt x="3352" y="163"/>
                  </a:lnTo>
                  <a:lnTo>
                    <a:pt x="3437" y="177"/>
                  </a:lnTo>
                  <a:lnTo>
                    <a:pt x="3522" y="191"/>
                  </a:lnTo>
                  <a:lnTo>
                    <a:pt x="3607" y="206"/>
                  </a:lnTo>
                  <a:lnTo>
                    <a:pt x="3685" y="220"/>
                  </a:lnTo>
                  <a:lnTo>
                    <a:pt x="3770" y="234"/>
                  </a:lnTo>
                  <a:lnTo>
                    <a:pt x="3855" y="248"/>
                  </a:lnTo>
                  <a:lnTo>
                    <a:pt x="3941" y="255"/>
                  </a:lnTo>
                  <a:lnTo>
                    <a:pt x="4026" y="269"/>
                  </a:lnTo>
                  <a:lnTo>
                    <a:pt x="4111" y="276"/>
                  </a:lnTo>
                </a:path>
              </a:pathLst>
            </a:custGeom>
            <a:noFill/>
            <a:ln w="222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Line 19"/>
            <p:cNvSpPr/>
            <p:nvPr/>
          </p:nvSpPr>
          <p:spPr>
            <a:xfrm>
              <a:off x="4032" y="1536"/>
              <a:ext cx="1" cy="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34832" name="Group 20"/>
            <p:cNvGrpSpPr/>
            <p:nvPr/>
          </p:nvGrpSpPr>
          <p:grpSpPr>
            <a:xfrm>
              <a:off x="1152" y="1440"/>
              <a:ext cx="4128" cy="192"/>
              <a:chOff x="960" y="1152"/>
              <a:chExt cx="4128" cy="192"/>
            </a:xfrm>
          </p:grpSpPr>
          <p:sp>
            <p:nvSpPr>
              <p:cNvPr id="34884" name="Line 21"/>
              <p:cNvSpPr/>
              <p:nvPr/>
            </p:nvSpPr>
            <p:spPr>
              <a:xfrm>
                <a:off x="960" y="1200"/>
                <a:ext cx="816" cy="144"/>
              </a:xfrm>
              <a:prstGeom prst="line">
                <a:avLst/>
              </a:prstGeom>
              <a:ln w="2222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85" name="Line 22"/>
              <p:cNvSpPr/>
              <p:nvPr/>
            </p:nvSpPr>
            <p:spPr>
              <a:xfrm>
                <a:off x="1776" y="1344"/>
                <a:ext cx="2064" cy="0"/>
              </a:xfrm>
              <a:prstGeom prst="line">
                <a:avLst/>
              </a:prstGeom>
              <a:ln w="2222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86" name="Line 23"/>
              <p:cNvSpPr/>
              <p:nvPr/>
            </p:nvSpPr>
            <p:spPr>
              <a:xfrm flipV="1">
                <a:off x="3840" y="1152"/>
                <a:ext cx="1248" cy="192"/>
              </a:xfrm>
              <a:prstGeom prst="line">
                <a:avLst/>
              </a:prstGeom>
              <a:ln w="22225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4833" name="Line 24"/>
            <p:cNvSpPr/>
            <p:nvPr/>
          </p:nvSpPr>
          <p:spPr>
            <a:xfrm flipV="1">
              <a:off x="1946" y="1200"/>
              <a:ext cx="0" cy="4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834" name="Line 25"/>
            <p:cNvSpPr/>
            <p:nvPr/>
          </p:nvSpPr>
          <p:spPr>
            <a:xfrm flipH="1" flipV="1">
              <a:off x="3744" y="1444"/>
              <a:ext cx="0" cy="19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835" name="Line 26"/>
            <p:cNvSpPr/>
            <p:nvPr/>
          </p:nvSpPr>
          <p:spPr>
            <a:xfrm flipV="1">
              <a:off x="4638" y="1632"/>
              <a:ext cx="0" cy="17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836" name="Text Box 27"/>
            <p:cNvSpPr txBox="1"/>
            <p:nvPr/>
          </p:nvSpPr>
          <p:spPr>
            <a:xfrm>
              <a:off x="912" y="14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4837" name="Text Box 28"/>
            <p:cNvSpPr txBox="1"/>
            <p:nvPr/>
          </p:nvSpPr>
          <p:spPr>
            <a:xfrm>
              <a:off x="624" y="3840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-270°</a:t>
              </a:r>
            </a:p>
          </p:txBody>
        </p:sp>
        <p:sp>
          <p:nvSpPr>
            <p:cNvPr id="34838" name="Text Box 29"/>
            <p:cNvSpPr txBox="1"/>
            <p:nvPr/>
          </p:nvSpPr>
          <p:spPr>
            <a:xfrm>
              <a:off x="720" y="3120"/>
              <a:ext cx="5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-90°</a:t>
              </a:r>
            </a:p>
          </p:txBody>
        </p:sp>
        <p:sp>
          <p:nvSpPr>
            <p:cNvPr id="34839" name="Text Box 30"/>
            <p:cNvSpPr txBox="1"/>
            <p:nvPr/>
          </p:nvSpPr>
          <p:spPr>
            <a:xfrm>
              <a:off x="863" y="2736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0°</a:t>
              </a:r>
            </a:p>
          </p:txBody>
        </p:sp>
        <p:sp>
          <p:nvSpPr>
            <p:cNvPr id="34840" name="Text Box 31"/>
            <p:cNvSpPr txBox="1"/>
            <p:nvPr/>
          </p:nvSpPr>
          <p:spPr>
            <a:xfrm rot="-5400000">
              <a:off x="196" y="1300"/>
              <a:ext cx="7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34841" name="Text Box 32"/>
            <p:cNvSpPr txBox="1"/>
            <p:nvPr/>
          </p:nvSpPr>
          <p:spPr>
            <a:xfrm rot="-5400000">
              <a:off x="330" y="2970"/>
              <a:ext cx="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4842" name="Text Box 33"/>
            <p:cNvSpPr txBox="1"/>
            <p:nvPr/>
          </p:nvSpPr>
          <p:spPr>
            <a:xfrm>
              <a:off x="624" y="3456"/>
              <a:ext cx="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-180°</a:t>
              </a:r>
            </a:p>
          </p:txBody>
        </p:sp>
        <p:sp>
          <p:nvSpPr>
            <p:cNvPr id="34843" name="Rectangle 34"/>
            <p:cNvSpPr/>
            <p:nvPr/>
          </p:nvSpPr>
          <p:spPr>
            <a:xfrm>
              <a:off x="2685" y="3840"/>
              <a:ext cx="867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rad/s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4844" name="Text Box 35"/>
            <p:cNvSpPr txBox="1"/>
            <p:nvPr/>
          </p:nvSpPr>
          <p:spPr>
            <a:xfrm>
              <a:off x="767" y="240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90°</a:t>
              </a:r>
            </a:p>
          </p:txBody>
        </p:sp>
        <p:sp>
          <p:nvSpPr>
            <p:cNvPr id="34845" name="Text Box 36"/>
            <p:cNvSpPr txBox="1"/>
            <p:nvPr/>
          </p:nvSpPr>
          <p:spPr>
            <a:xfrm>
              <a:off x="2604" y="1056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34846" name="Text Box 37"/>
            <p:cNvSpPr txBox="1"/>
            <p:nvPr/>
          </p:nvSpPr>
          <p:spPr>
            <a:xfrm>
              <a:off x="1612" y="687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 useBgFill="1">
          <p:nvSpPr>
            <p:cNvPr id="34847" name="Text Box 38"/>
            <p:cNvSpPr txBox="1"/>
            <p:nvPr/>
          </p:nvSpPr>
          <p:spPr>
            <a:xfrm>
              <a:off x="4368" y="2064"/>
              <a:ext cx="692" cy="288"/>
            </a:xfrm>
            <a:prstGeom prst="rect">
              <a:avLst/>
            </a:prstGeom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34848" name="Rectangle 39"/>
            <p:cNvSpPr/>
            <p:nvPr/>
          </p:nvSpPr>
          <p:spPr>
            <a:xfrm>
              <a:off x="4284" y="1537"/>
              <a:ext cx="3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4849" name="Rectangle 40"/>
            <p:cNvSpPr/>
            <p:nvPr/>
          </p:nvSpPr>
          <p:spPr>
            <a:xfrm>
              <a:off x="3792" y="3634"/>
              <a:ext cx="5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4850" name="Rectangle 41"/>
            <p:cNvSpPr/>
            <p:nvPr/>
          </p:nvSpPr>
          <p:spPr>
            <a:xfrm>
              <a:off x="4620" y="3216"/>
              <a:ext cx="5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r>
                <a:rPr lang="en-US" altLang="zh-CN" sz="2400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4851" name="Text Box 42"/>
            <p:cNvSpPr txBox="1"/>
            <p:nvPr/>
          </p:nvSpPr>
          <p:spPr>
            <a:xfrm>
              <a:off x="2428" y="2943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未校正</a:t>
              </a:r>
            </a:p>
          </p:txBody>
        </p:sp>
        <p:sp>
          <p:nvSpPr>
            <p:cNvPr id="34852" name="Text Box 43"/>
            <p:cNvSpPr txBox="1"/>
            <p:nvPr/>
          </p:nvSpPr>
          <p:spPr>
            <a:xfrm>
              <a:off x="3628" y="2981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已校正</a:t>
              </a:r>
            </a:p>
          </p:txBody>
        </p:sp>
        <p:sp>
          <p:nvSpPr>
            <p:cNvPr id="34853" name="Text Box 44"/>
            <p:cNvSpPr txBox="1"/>
            <p:nvPr/>
          </p:nvSpPr>
          <p:spPr>
            <a:xfrm>
              <a:off x="1488" y="1841"/>
              <a:ext cx="1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PID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</a:t>
              </a:r>
            </a:p>
          </p:txBody>
        </p:sp>
        <p:sp>
          <p:nvSpPr>
            <p:cNvPr id="34854" name="Text Box 45"/>
            <p:cNvSpPr txBox="1"/>
            <p:nvPr/>
          </p:nvSpPr>
          <p:spPr>
            <a:xfrm>
              <a:off x="3804" y="1265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34855" name="Text Box 46"/>
            <p:cNvSpPr txBox="1"/>
            <p:nvPr/>
          </p:nvSpPr>
          <p:spPr>
            <a:xfrm>
              <a:off x="4848" y="187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-60</a:t>
              </a:r>
            </a:p>
          </p:txBody>
        </p:sp>
        <p:sp>
          <p:nvSpPr>
            <p:cNvPr id="34856" name="Text Box 47"/>
            <p:cNvSpPr txBox="1"/>
            <p:nvPr/>
          </p:nvSpPr>
          <p:spPr>
            <a:xfrm>
              <a:off x="1344" y="1303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34857" name="Text Box 48"/>
            <p:cNvSpPr txBox="1"/>
            <p:nvPr/>
          </p:nvSpPr>
          <p:spPr>
            <a:xfrm>
              <a:off x="1344" y="785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34858" name="Rectangle 49"/>
            <p:cNvSpPr/>
            <p:nvPr/>
          </p:nvSpPr>
          <p:spPr>
            <a:xfrm>
              <a:off x="4578" y="1345"/>
              <a:ext cx="346" cy="288"/>
            </a:xfrm>
            <a:prstGeom prst="rect">
              <a:avLst/>
            </a:prstGeom>
            <a:solidFill>
              <a:schemeClr val="bg1"/>
            </a:solidFill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4859" name="Text Box 50"/>
            <p:cNvSpPr txBox="1"/>
            <p:nvPr/>
          </p:nvSpPr>
          <p:spPr>
            <a:xfrm>
              <a:off x="1779" y="1584"/>
              <a:ext cx="408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1/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4860" name="Text Box 51"/>
            <p:cNvSpPr txBox="1"/>
            <p:nvPr/>
          </p:nvSpPr>
          <p:spPr>
            <a:xfrm>
              <a:off x="3792" y="1584"/>
              <a:ext cx="43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1/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i="1" baseline="-18000" dirty="0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34861" name="Group 52"/>
            <p:cNvGrpSpPr/>
            <p:nvPr/>
          </p:nvGrpSpPr>
          <p:grpSpPr>
            <a:xfrm>
              <a:off x="1152" y="952"/>
              <a:ext cx="4128" cy="872"/>
              <a:chOff x="960" y="664"/>
              <a:chExt cx="4128" cy="872"/>
            </a:xfrm>
          </p:grpSpPr>
          <p:sp>
            <p:nvSpPr>
              <p:cNvPr id="34879" name="Line 53"/>
              <p:cNvSpPr/>
              <p:nvPr/>
            </p:nvSpPr>
            <p:spPr>
              <a:xfrm flipH="1" flipV="1">
                <a:off x="960" y="664"/>
                <a:ext cx="816" cy="24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4880" name="Line 54"/>
              <p:cNvSpPr/>
              <p:nvPr/>
            </p:nvSpPr>
            <p:spPr>
              <a:xfrm>
                <a:off x="3552" y="1160"/>
                <a:ext cx="288" cy="88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4881" name="Line 55"/>
              <p:cNvSpPr/>
              <p:nvPr/>
            </p:nvSpPr>
            <p:spPr>
              <a:xfrm>
                <a:off x="3840" y="1248"/>
                <a:ext cx="624" cy="9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4882" name="Line 56"/>
              <p:cNvSpPr/>
              <p:nvPr/>
            </p:nvSpPr>
            <p:spPr>
              <a:xfrm>
                <a:off x="4464" y="1344"/>
                <a:ext cx="624" cy="192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4883" name="Line 57"/>
              <p:cNvSpPr>
                <a:spLocks noChangeAspect="1"/>
              </p:cNvSpPr>
              <p:nvPr/>
            </p:nvSpPr>
            <p:spPr>
              <a:xfrm>
                <a:off x="1759" y="899"/>
                <a:ext cx="1793" cy="265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34862" name="Line 58"/>
            <p:cNvSpPr/>
            <p:nvPr/>
          </p:nvSpPr>
          <p:spPr>
            <a:xfrm flipH="1">
              <a:off x="1632" y="960"/>
              <a:ext cx="192" cy="144"/>
            </a:xfrm>
            <a:prstGeom prst="line">
              <a:avLst/>
            </a:prstGeom>
            <a:ln w="222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63" name="Text Box 59"/>
            <p:cNvSpPr txBox="1"/>
            <p:nvPr/>
          </p:nvSpPr>
          <p:spPr>
            <a:xfrm>
              <a:off x="4135" y="1328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34864" name="Text Box 60"/>
            <p:cNvSpPr txBox="1"/>
            <p:nvPr/>
          </p:nvSpPr>
          <p:spPr>
            <a:xfrm>
              <a:off x="4795" y="1250"/>
              <a:ext cx="4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+20</a:t>
              </a:r>
            </a:p>
          </p:txBody>
        </p:sp>
        <p:sp>
          <p:nvSpPr>
            <p:cNvPr id="34865" name="Text Box 61"/>
            <p:cNvSpPr txBox="1"/>
            <p:nvPr/>
          </p:nvSpPr>
          <p:spPr>
            <a:xfrm>
              <a:off x="5016" y="1557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34866" name="Line 62"/>
            <p:cNvSpPr/>
            <p:nvPr/>
          </p:nvSpPr>
          <p:spPr>
            <a:xfrm flipV="1">
              <a:off x="4752" y="1776"/>
              <a:ext cx="48" cy="288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67" name="Line 63"/>
            <p:cNvSpPr/>
            <p:nvPr/>
          </p:nvSpPr>
          <p:spPr>
            <a:xfrm flipH="1" flipV="1">
              <a:off x="1488" y="1536"/>
              <a:ext cx="192" cy="384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68" name="Line 64"/>
            <p:cNvSpPr/>
            <p:nvPr/>
          </p:nvSpPr>
          <p:spPr>
            <a:xfrm flipV="1">
              <a:off x="4338" y="1632"/>
              <a:ext cx="0" cy="192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34869" name="Group 65"/>
            <p:cNvGrpSpPr/>
            <p:nvPr/>
          </p:nvGrpSpPr>
          <p:grpSpPr>
            <a:xfrm>
              <a:off x="4338" y="3438"/>
              <a:ext cx="0" cy="456"/>
              <a:chOff x="4128" y="3144"/>
              <a:chExt cx="0" cy="456"/>
            </a:xfrm>
          </p:grpSpPr>
          <p:sp>
            <p:nvSpPr>
              <p:cNvPr id="34877" name="Line 66"/>
              <p:cNvSpPr/>
              <p:nvPr/>
            </p:nvSpPr>
            <p:spPr>
              <a:xfrm>
                <a:off x="4128" y="3144"/>
                <a:ext cx="0" cy="192"/>
              </a:xfrm>
              <a:prstGeom prst="line">
                <a:avLst/>
              </a:prstGeom>
              <a:ln w="222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8" name="Line 67"/>
              <p:cNvSpPr/>
              <p:nvPr/>
            </p:nvSpPr>
            <p:spPr>
              <a:xfrm flipV="1">
                <a:off x="4128" y="3408"/>
                <a:ext cx="0" cy="192"/>
              </a:xfrm>
              <a:prstGeom prst="line">
                <a:avLst/>
              </a:prstGeom>
              <a:ln w="222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34870" name="Group 68"/>
            <p:cNvGrpSpPr/>
            <p:nvPr/>
          </p:nvGrpSpPr>
          <p:grpSpPr>
            <a:xfrm>
              <a:off x="4638" y="3318"/>
              <a:ext cx="0" cy="498"/>
              <a:chOff x="4464" y="3030"/>
              <a:chExt cx="0" cy="498"/>
            </a:xfrm>
          </p:grpSpPr>
          <p:sp>
            <p:nvSpPr>
              <p:cNvPr id="34875" name="Line 69"/>
              <p:cNvSpPr/>
              <p:nvPr/>
            </p:nvSpPr>
            <p:spPr>
              <a:xfrm>
                <a:off x="4464" y="3030"/>
                <a:ext cx="0" cy="192"/>
              </a:xfrm>
              <a:prstGeom prst="line">
                <a:avLst/>
              </a:prstGeom>
              <a:ln w="222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6" name="Line 70"/>
              <p:cNvSpPr/>
              <p:nvPr/>
            </p:nvSpPr>
            <p:spPr>
              <a:xfrm flipV="1">
                <a:off x="4464" y="3336"/>
                <a:ext cx="0" cy="192"/>
              </a:xfrm>
              <a:prstGeom prst="line">
                <a:avLst/>
              </a:prstGeom>
              <a:ln w="222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4871" name="Line 71"/>
            <p:cNvSpPr/>
            <p:nvPr/>
          </p:nvSpPr>
          <p:spPr>
            <a:xfrm flipH="1">
              <a:off x="2286" y="3132"/>
              <a:ext cx="192" cy="144"/>
            </a:xfrm>
            <a:prstGeom prst="line">
              <a:avLst/>
            </a:prstGeom>
            <a:ln w="222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2" name="Line 72"/>
            <p:cNvSpPr/>
            <p:nvPr/>
          </p:nvSpPr>
          <p:spPr>
            <a:xfrm flipH="1">
              <a:off x="3696" y="3240"/>
              <a:ext cx="96" cy="144"/>
            </a:xfrm>
            <a:prstGeom prst="line">
              <a:avLst/>
            </a:prstGeom>
            <a:ln w="222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3" name="Text Box 73"/>
            <p:cNvSpPr txBox="1"/>
            <p:nvPr/>
          </p:nvSpPr>
          <p:spPr>
            <a:xfrm>
              <a:off x="2490" y="2477"/>
              <a:ext cx="1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PID</a:t>
              </a:r>
              <a:r>
                <a:rPr lang="zh-CN" altLang="en-US" sz="24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校正装置</a:t>
              </a:r>
            </a:p>
          </p:txBody>
        </p:sp>
        <p:sp>
          <p:nvSpPr>
            <p:cNvPr id="34874" name="Line 74"/>
            <p:cNvSpPr/>
            <p:nvPr/>
          </p:nvSpPr>
          <p:spPr>
            <a:xfrm flipH="1">
              <a:off x="2880" y="2736"/>
              <a:ext cx="96" cy="192"/>
            </a:xfrm>
            <a:prstGeom prst="line">
              <a:avLst/>
            </a:prstGeom>
            <a:ln w="2222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/>
          <p:nvPr/>
        </p:nvSpPr>
        <p:spPr>
          <a:xfrm>
            <a:off x="990600" y="1981200"/>
            <a:ext cx="7620000" cy="107315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PID</a:t>
            </a:r>
            <a:r>
              <a:rPr lang="zh-CN" altLang="en-US" sz="2800" dirty="0">
                <a:latin typeface="宋体" panose="02010600030101010101" pitchFamily="2" charset="-122"/>
              </a:rPr>
              <a:t>控制器综合了比例控制、积分控制和微分控制各自的优点：</a:t>
            </a:r>
          </a:p>
        </p:txBody>
      </p:sp>
      <p:sp>
        <p:nvSpPr>
          <p:cNvPr id="45060" name="Rectangle 4"/>
          <p:cNvSpPr/>
          <p:nvPr/>
        </p:nvSpPr>
        <p:spPr>
          <a:xfrm>
            <a:off x="990600" y="3117850"/>
            <a:ext cx="7620000" cy="107315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在低频段，</a:t>
            </a:r>
            <a:r>
              <a:rPr lang="en-US" altLang="zh-CN" sz="2800" dirty="0">
                <a:latin typeface="Times New Roman" panose="02020603050405020304" pitchFamily="18" charset="0"/>
              </a:rPr>
              <a:t>PID</a:t>
            </a:r>
            <a:r>
              <a:rPr lang="zh-CN" altLang="en-US" sz="2800" dirty="0">
                <a:latin typeface="宋体" panose="02010600030101010101" pitchFamily="2" charset="-122"/>
              </a:rPr>
              <a:t>控制器通过积分控制作用改善了系统的稳态性能；</a:t>
            </a:r>
          </a:p>
        </p:txBody>
      </p:sp>
      <p:sp>
        <p:nvSpPr>
          <p:cNvPr id="45061" name="Rectangle 5"/>
          <p:cNvSpPr/>
          <p:nvPr/>
        </p:nvSpPr>
        <p:spPr>
          <a:xfrm>
            <a:off x="990600" y="4191000"/>
            <a:ext cx="7620000" cy="107315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在中频段，</a:t>
            </a:r>
            <a:r>
              <a:rPr lang="en-US" altLang="zh-CN" sz="2800" dirty="0">
                <a:latin typeface="Times New Roman" panose="02020603050405020304" pitchFamily="18" charset="0"/>
              </a:rPr>
              <a:t>PID</a:t>
            </a:r>
            <a:r>
              <a:rPr lang="zh-CN" altLang="en-US" sz="2800" dirty="0">
                <a:latin typeface="宋体" panose="02010600030101010101" pitchFamily="2" charset="-122"/>
              </a:rPr>
              <a:t>控制器通过微分控制作用，有效地提高了系统的动态性能。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CF18-6F1C-081B-1C2C-F89D0047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>
            <a:extLst>
              <a:ext uri="{FF2B5EF4-FFF2-40B4-BE49-F238E27FC236}">
                <a16:creationId xmlns:a16="http://schemas.microsoft.com/office/drawing/2014/main" id="{CD6685DF-4458-83C7-0154-7506684DB1AF}"/>
              </a:ext>
            </a:extLst>
          </p:cNvPr>
          <p:cNvSpPr txBox="1"/>
          <p:nvPr/>
        </p:nvSpPr>
        <p:spPr>
          <a:xfrm>
            <a:off x="1331913" y="981075"/>
            <a:ext cx="6705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5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控制系统的设计和校正</a:t>
            </a: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40E65844-3790-9563-B989-2B67508E55DE}"/>
              </a:ext>
            </a:extLst>
          </p:cNvPr>
          <p:cNvSpPr/>
          <p:nvPr/>
        </p:nvSpPr>
        <p:spPr>
          <a:xfrm>
            <a:off x="1560513" y="2357438"/>
            <a:ext cx="5562600" cy="6080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5.2   PID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控制规律</a:t>
            </a: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6CB9EF0A-C44F-2B19-C2E1-C9A98C23683A}"/>
              </a:ext>
            </a:extLst>
          </p:cNvPr>
          <p:cNvSpPr/>
          <p:nvPr/>
        </p:nvSpPr>
        <p:spPr>
          <a:xfrm>
            <a:off x="1560513" y="3025775"/>
            <a:ext cx="7583487" cy="5238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5.3   PID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控制规律的实现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B5CF5B9B-BA65-FE25-17A7-8DBBBD4E2375}"/>
              </a:ext>
            </a:extLst>
          </p:cNvPr>
          <p:cNvSpPr/>
          <p:nvPr/>
        </p:nvSpPr>
        <p:spPr>
          <a:xfrm>
            <a:off x="1560513" y="3424238"/>
            <a:ext cx="5334000" cy="6080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5.4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频率法设计和校正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BB9FD1AC-1085-60F6-5311-405E7BB1C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3957638"/>
            <a:ext cx="5410200" cy="674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5.5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并联校正和复合校正（自学）</a:t>
            </a:r>
          </a:p>
        </p:txBody>
      </p:sp>
      <p:sp>
        <p:nvSpPr>
          <p:cNvPr id="36871" name="Rectangle 10">
            <a:extLst>
              <a:ext uri="{FF2B5EF4-FFF2-40B4-BE49-F238E27FC236}">
                <a16:creationId xmlns:a16="http://schemas.microsoft.com/office/drawing/2014/main" id="{84631E35-64F7-2941-0358-7097710C4466}"/>
              </a:ext>
            </a:extLst>
          </p:cNvPr>
          <p:cNvSpPr/>
          <p:nvPr/>
        </p:nvSpPr>
        <p:spPr>
          <a:xfrm>
            <a:off x="1560513" y="1841500"/>
            <a:ext cx="4648200" cy="608013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5.1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系统设计概述</a:t>
            </a:r>
          </a:p>
        </p:txBody>
      </p:sp>
    </p:spTree>
    <p:extLst>
      <p:ext uri="{BB962C8B-B14F-4D97-AF65-F5344CB8AC3E}">
        <p14:creationId xmlns:p14="http://schemas.microsoft.com/office/powerpoint/2010/main" val="365980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文本框 1"/>
          <p:cNvSpPr txBox="1">
            <a:spLocks noChangeArrowheads="1"/>
          </p:cNvSpPr>
          <p:nvPr/>
        </p:nvSpPr>
        <p:spPr bwMode="auto">
          <a:xfrm>
            <a:off x="536575" y="2749550"/>
            <a:ext cx="203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关于考试</a:t>
            </a:r>
            <a:endParaRPr lang="zh-CN" altLang="en-US" sz="3200"/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042988" y="1001713"/>
            <a:ext cx="62722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作业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zh-CN" altLang="en-US" sz="2800" b="1">
                <a:latin typeface="Times New Roman" panose="02020603050405020304" pitchFamily="18" charset="0"/>
              </a:rPr>
              <a:t>实验环节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zh-CN" altLang="en-US" sz="2800" b="1">
                <a:latin typeface="Times New Roman" panose="02020603050405020304" pitchFamily="18" charset="0"/>
              </a:rPr>
              <a:t>考勤及课堂表现   </a:t>
            </a:r>
            <a:r>
              <a:rPr lang="en-US" altLang="zh-CN" sz="2800" b="1">
                <a:latin typeface="Times New Roman" panose="02020603050405020304" pitchFamily="18" charset="0"/>
              </a:rPr>
              <a:t>30%</a:t>
            </a:r>
          </a:p>
        </p:txBody>
      </p:sp>
      <p:sp>
        <p:nvSpPr>
          <p:cNvPr id="71684" name="Text Box 5"/>
          <p:cNvSpPr txBox="1">
            <a:spLocks noChangeArrowheads="1"/>
          </p:cNvSpPr>
          <p:nvPr/>
        </p:nvSpPr>
        <p:spPr bwMode="auto">
          <a:xfrm>
            <a:off x="1050925" y="1544638"/>
            <a:ext cx="303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期末测验        </a:t>
            </a:r>
            <a:r>
              <a:rPr lang="en-US" altLang="zh-CN" sz="2800" b="1">
                <a:latin typeface="Times New Roman" panose="02020603050405020304" pitchFamily="18" charset="0"/>
              </a:rPr>
              <a:t>70%</a:t>
            </a:r>
          </a:p>
        </p:txBody>
      </p:sp>
      <p:sp>
        <p:nvSpPr>
          <p:cNvPr id="71685" name="Text Box 6"/>
          <p:cNvSpPr txBox="1">
            <a:spLocks noChangeArrowheads="1"/>
          </p:cNvSpPr>
          <p:nvPr/>
        </p:nvSpPr>
        <p:spPr bwMode="auto">
          <a:xfrm>
            <a:off x="398463" y="355600"/>
            <a:ext cx="2663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最终评价</a:t>
            </a:r>
          </a:p>
        </p:txBody>
      </p:sp>
      <p:sp>
        <p:nvSpPr>
          <p:cNvPr id="135174" name="文本框 5"/>
          <p:cNvSpPr txBox="1">
            <a:spLocks noChangeArrowheads="1"/>
          </p:cNvSpPr>
          <p:nvPr/>
        </p:nvSpPr>
        <p:spPr bwMode="auto">
          <a:xfrm>
            <a:off x="2916238" y="2452688"/>
            <a:ext cx="30670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</a:rPr>
              <a:t>简答题：</a:t>
            </a:r>
            <a:r>
              <a:rPr lang="en-US" altLang="zh-CN" sz="2800" b="1">
                <a:latin typeface="Times New Roman" panose="02020603050405020304" pitchFamily="18" charset="0"/>
              </a:rPr>
              <a:t>30% 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选择题：</a:t>
            </a:r>
            <a:r>
              <a:rPr lang="en-US" altLang="zh-CN" sz="2800" b="1">
                <a:latin typeface="Times New Roman" panose="02020603050405020304" pitchFamily="18" charset="0"/>
              </a:rPr>
              <a:t>20%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分析计算题：</a:t>
            </a:r>
            <a:r>
              <a:rPr lang="en-US" altLang="zh-CN" sz="2800" b="1">
                <a:latin typeface="Times New Roman" panose="02020603050405020304" pitchFamily="18" charset="0"/>
              </a:rPr>
              <a:t>50%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35175" name="文本框 6"/>
          <p:cNvSpPr txBox="1">
            <a:spLocks noChangeArrowheads="1"/>
          </p:cNvSpPr>
          <p:nvPr/>
        </p:nvSpPr>
        <p:spPr bwMode="auto">
          <a:xfrm>
            <a:off x="398463" y="4729163"/>
            <a:ext cx="29543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考试内容分布</a:t>
            </a:r>
          </a:p>
        </p:txBody>
      </p:sp>
      <p:sp>
        <p:nvSpPr>
          <p:cNvPr id="135176" name="文本框 7"/>
          <p:cNvSpPr txBox="1">
            <a:spLocks noChangeArrowheads="1"/>
          </p:cNvSpPr>
          <p:nvPr/>
        </p:nvSpPr>
        <p:spPr bwMode="auto">
          <a:xfrm>
            <a:off x="3563938" y="4360863"/>
            <a:ext cx="255390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</a:rPr>
              <a:t>1-2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章：</a:t>
            </a:r>
            <a:r>
              <a:rPr lang="en-US" altLang="zh-CN" sz="2800" b="1" dirty="0">
                <a:latin typeface="Times New Roman" panose="02020603050405020304" pitchFamily="18" charset="0"/>
              </a:rPr>
              <a:t>25% 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章：</a:t>
            </a:r>
            <a:r>
              <a:rPr lang="en-US" altLang="zh-CN" sz="2800" b="1" dirty="0">
                <a:latin typeface="Times New Roman" panose="02020603050405020304" pitchFamily="18" charset="0"/>
              </a:rPr>
              <a:t>30%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章：</a:t>
            </a:r>
            <a:r>
              <a:rPr lang="en-US" altLang="zh-CN" sz="2800" b="1" dirty="0">
                <a:latin typeface="Times New Roman" panose="02020603050405020304" pitchFamily="18" charset="0"/>
              </a:rPr>
              <a:t>35%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章：</a:t>
            </a:r>
            <a:r>
              <a:rPr lang="en-US" altLang="zh-CN" sz="2800" b="1" dirty="0">
                <a:latin typeface="Times New Roman" panose="02020603050405020304" pitchFamily="18" charset="0"/>
              </a:rPr>
              <a:t>10%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E85870-E6EA-7C5C-72B2-650D4C8C7541}"/>
              </a:ext>
            </a:extLst>
          </p:cNvPr>
          <p:cNvSpPr txBox="1"/>
          <p:nvPr/>
        </p:nvSpPr>
        <p:spPr>
          <a:xfrm>
            <a:off x="5983288" y="331488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建模、时频域分析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/>
      <p:bldP spid="135174" grpId="0"/>
      <p:bldP spid="135175" grpId="0"/>
      <p:bldP spid="135176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文本框 1"/>
          <p:cNvSpPr txBox="1">
            <a:spLocks noChangeArrowheads="1"/>
          </p:cNvSpPr>
          <p:nvPr/>
        </p:nvSpPr>
        <p:spPr bwMode="auto">
          <a:xfrm>
            <a:off x="1476374" y="1341438"/>
            <a:ext cx="712807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/>
              <a:t>考试时间：第</a:t>
            </a:r>
            <a:r>
              <a:rPr lang="en-US" altLang="zh-CN" sz="3200" dirty="0"/>
              <a:t>13</a:t>
            </a:r>
            <a:r>
              <a:rPr lang="zh-CN" altLang="en-US" sz="3200" dirty="0"/>
              <a:t>周周二（</a:t>
            </a:r>
            <a:r>
              <a:rPr lang="en-US" altLang="zh-CN" sz="3200" dirty="0"/>
              <a:t>11</a:t>
            </a:r>
            <a:r>
              <a:rPr lang="zh-CN" altLang="en-US" sz="3200" dirty="0"/>
              <a:t>月</a:t>
            </a:r>
            <a:r>
              <a:rPr lang="en-US" altLang="zh-CN" sz="3200" dirty="0"/>
              <a:t>18</a:t>
            </a:r>
            <a:r>
              <a:rPr lang="zh-CN" altLang="en-US" sz="3200" dirty="0"/>
              <a:t>日）</a:t>
            </a:r>
          </a:p>
          <a:p>
            <a:r>
              <a:rPr lang="zh-CN" altLang="en-US" sz="3200" dirty="0"/>
              <a:t>                 下午</a:t>
            </a:r>
            <a:r>
              <a:rPr lang="en-US" altLang="zh-CN" sz="3200" dirty="0"/>
              <a:t>1:30-3:10</a:t>
            </a:r>
          </a:p>
          <a:p>
            <a:r>
              <a:rPr lang="en-US" altLang="zh-CN" sz="3200" dirty="0"/>
              <a:t>                   </a:t>
            </a:r>
            <a:endParaRPr lang="zh-CN" altLang="en-US" sz="3200" dirty="0"/>
          </a:p>
        </p:txBody>
      </p:sp>
      <p:sp>
        <p:nvSpPr>
          <p:cNvPr id="72707" name="文本框 2"/>
          <p:cNvSpPr txBox="1">
            <a:spLocks noChangeArrowheads="1"/>
          </p:cNvSpPr>
          <p:nvPr/>
        </p:nvSpPr>
        <p:spPr bwMode="auto">
          <a:xfrm>
            <a:off x="1692275" y="3167063"/>
            <a:ext cx="525336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考前答疑时间：</a:t>
            </a:r>
            <a:r>
              <a:rPr lang="en-US" altLang="zh-CN" sz="2800" dirty="0"/>
              <a:t>12</a:t>
            </a:r>
            <a:r>
              <a:rPr lang="zh-CN" altLang="en-US" sz="2800" dirty="0"/>
              <a:t>周周一至周四</a:t>
            </a:r>
          </a:p>
          <a:p>
            <a:r>
              <a:rPr lang="zh-CN" altLang="en-US" sz="2800" dirty="0"/>
              <a:t>   上午</a:t>
            </a:r>
            <a:r>
              <a:rPr lang="en-US" altLang="zh-CN" sz="2800" dirty="0"/>
              <a:t>9:00-11:00</a:t>
            </a:r>
          </a:p>
        </p:txBody>
      </p:sp>
      <p:sp>
        <p:nvSpPr>
          <p:cNvPr id="72708" name="文本框 3"/>
          <p:cNvSpPr txBox="1">
            <a:spLocks noChangeArrowheads="1"/>
          </p:cNvSpPr>
          <p:nvPr/>
        </p:nvSpPr>
        <p:spPr bwMode="auto">
          <a:xfrm>
            <a:off x="1692275" y="4653136"/>
            <a:ext cx="3657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答疑地点：机电楼</a:t>
            </a:r>
            <a:r>
              <a:rPr lang="en-US" altLang="zh-CN" sz="2800" dirty="0"/>
              <a:t>404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/>
          <p:nvPr/>
        </p:nvSpPr>
        <p:spPr>
          <a:xfrm>
            <a:off x="1331913" y="981075"/>
            <a:ext cx="6705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5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控制系统的设计和校正</a:t>
            </a:r>
          </a:p>
        </p:txBody>
      </p:sp>
      <p:sp>
        <p:nvSpPr>
          <p:cNvPr id="36867" name="Rectangle 5"/>
          <p:cNvSpPr/>
          <p:nvPr/>
        </p:nvSpPr>
        <p:spPr>
          <a:xfrm>
            <a:off x="1560513" y="2357438"/>
            <a:ext cx="5562600" cy="6080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5.2   PID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控制规律</a:t>
            </a:r>
          </a:p>
        </p:txBody>
      </p:sp>
      <p:sp>
        <p:nvSpPr>
          <p:cNvPr id="36868" name="Rectangle 6"/>
          <p:cNvSpPr/>
          <p:nvPr/>
        </p:nvSpPr>
        <p:spPr>
          <a:xfrm>
            <a:off x="1560513" y="3025775"/>
            <a:ext cx="7583487" cy="5238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5.3   PID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控制规律的实现</a:t>
            </a:r>
          </a:p>
        </p:txBody>
      </p:sp>
      <p:sp>
        <p:nvSpPr>
          <p:cNvPr id="36869" name="Rectangle 7"/>
          <p:cNvSpPr/>
          <p:nvPr/>
        </p:nvSpPr>
        <p:spPr>
          <a:xfrm>
            <a:off x="1560513" y="3424238"/>
            <a:ext cx="5334000" cy="60801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5.4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频率法设计和校正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1560513" y="3957638"/>
            <a:ext cx="5410200" cy="674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5.5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并联校正和复合校正（自学）</a:t>
            </a:r>
          </a:p>
        </p:txBody>
      </p:sp>
      <p:sp>
        <p:nvSpPr>
          <p:cNvPr id="36871" name="Rectangle 10"/>
          <p:cNvSpPr/>
          <p:nvPr/>
        </p:nvSpPr>
        <p:spPr>
          <a:xfrm>
            <a:off x="1560513" y="1841500"/>
            <a:ext cx="4648200" cy="608013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5.1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系统设计概述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755650" y="1052513"/>
            <a:ext cx="4892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控制规律的实现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1063625" y="169545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grpSp>
        <p:nvGrpSpPr>
          <p:cNvPr id="7172" name="Group 6"/>
          <p:cNvGrpSpPr>
            <a:grpSpLocks/>
          </p:cNvGrpSpPr>
          <p:nvPr/>
        </p:nvGrpSpPr>
        <p:grpSpPr bwMode="auto">
          <a:xfrm>
            <a:off x="2733675" y="1916113"/>
            <a:ext cx="5781675" cy="2667000"/>
            <a:chOff x="71" y="48"/>
            <a:chExt cx="3642" cy="1680"/>
          </a:xfrm>
        </p:grpSpPr>
        <p:grpSp>
          <p:nvGrpSpPr>
            <p:cNvPr id="7179" name="Group 7"/>
            <p:cNvGrpSpPr>
              <a:grpSpLocks/>
            </p:cNvGrpSpPr>
            <p:nvPr/>
          </p:nvGrpSpPr>
          <p:grpSpPr bwMode="auto">
            <a:xfrm>
              <a:off x="1728" y="816"/>
              <a:ext cx="912" cy="768"/>
              <a:chOff x="1728" y="816"/>
              <a:chExt cx="912" cy="768"/>
            </a:xfrm>
          </p:grpSpPr>
          <p:sp>
            <p:nvSpPr>
              <p:cNvPr id="7209" name="AutoShape 8"/>
              <p:cNvSpPr>
                <a:spLocks noChangeArrowheads="1"/>
              </p:cNvSpPr>
              <p:nvPr/>
            </p:nvSpPr>
            <p:spPr bwMode="auto">
              <a:xfrm rot="5400000">
                <a:off x="1800" y="744"/>
                <a:ext cx="768" cy="912"/>
              </a:xfrm>
              <a:prstGeom prst="triangle">
                <a:avLst>
                  <a:gd name="adj" fmla="val 50000"/>
                </a:avLst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7210" name="Line 9"/>
              <p:cNvSpPr>
                <a:spLocks noChangeShapeType="1"/>
              </p:cNvSpPr>
              <p:nvPr/>
            </p:nvSpPr>
            <p:spPr bwMode="auto">
              <a:xfrm>
                <a:off x="1776" y="100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11" name="Group 10"/>
              <p:cNvGrpSpPr>
                <a:grpSpLocks/>
              </p:cNvGrpSpPr>
              <p:nvPr/>
            </p:nvGrpSpPr>
            <p:grpSpPr bwMode="auto">
              <a:xfrm>
                <a:off x="1776" y="1296"/>
                <a:ext cx="144" cy="144"/>
                <a:chOff x="1872" y="1653"/>
                <a:chExt cx="144" cy="144"/>
              </a:xfrm>
            </p:grpSpPr>
            <p:sp>
              <p:nvSpPr>
                <p:cNvPr id="7212" name="Line 11"/>
                <p:cNvSpPr>
                  <a:spLocks noChangeShapeType="1"/>
                </p:cNvSpPr>
                <p:nvPr/>
              </p:nvSpPr>
              <p:spPr bwMode="auto">
                <a:xfrm>
                  <a:off x="1872" y="1728"/>
                  <a:ext cx="144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3" name="Line 12"/>
                <p:cNvSpPr>
                  <a:spLocks noChangeShapeType="1"/>
                </p:cNvSpPr>
                <p:nvPr/>
              </p:nvSpPr>
              <p:spPr bwMode="auto">
                <a:xfrm>
                  <a:off x="1938" y="1653"/>
                  <a:ext cx="0" cy="14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180" name="Line 13"/>
            <p:cNvSpPr>
              <a:spLocks noChangeShapeType="1"/>
            </p:cNvSpPr>
            <p:nvPr/>
          </p:nvSpPr>
          <p:spPr bwMode="auto">
            <a:xfrm flipH="1">
              <a:off x="1248" y="10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Rectangle 14"/>
            <p:cNvSpPr>
              <a:spLocks noChangeArrowheads="1"/>
            </p:cNvSpPr>
            <p:nvPr/>
          </p:nvSpPr>
          <p:spPr bwMode="auto">
            <a:xfrm>
              <a:off x="768" y="912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2" name="Line 15"/>
            <p:cNvSpPr>
              <a:spLocks noChangeShapeType="1"/>
            </p:cNvSpPr>
            <p:nvPr/>
          </p:nvSpPr>
          <p:spPr bwMode="auto">
            <a:xfrm flipH="1">
              <a:off x="288" y="10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" name="Line 16"/>
            <p:cNvSpPr>
              <a:spLocks noChangeShapeType="1"/>
            </p:cNvSpPr>
            <p:nvPr/>
          </p:nvSpPr>
          <p:spPr bwMode="auto">
            <a:xfrm>
              <a:off x="960" y="33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" name="Line 17"/>
            <p:cNvSpPr>
              <a:spLocks noChangeShapeType="1"/>
            </p:cNvSpPr>
            <p:nvPr/>
          </p:nvSpPr>
          <p:spPr bwMode="auto">
            <a:xfrm>
              <a:off x="1056" y="33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" name="Line 18"/>
            <p:cNvSpPr>
              <a:spLocks noChangeShapeType="1"/>
            </p:cNvSpPr>
            <p:nvPr/>
          </p:nvSpPr>
          <p:spPr bwMode="auto">
            <a:xfrm flipH="1">
              <a:off x="576" y="480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" name="Line 19"/>
            <p:cNvSpPr>
              <a:spLocks noChangeShapeType="1"/>
            </p:cNvSpPr>
            <p:nvPr/>
          </p:nvSpPr>
          <p:spPr bwMode="auto">
            <a:xfrm>
              <a:off x="1056" y="480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Line 20"/>
            <p:cNvSpPr>
              <a:spLocks noChangeShapeType="1"/>
            </p:cNvSpPr>
            <p:nvPr/>
          </p:nvSpPr>
          <p:spPr bwMode="auto">
            <a:xfrm>
              <a:off x="576" y="480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" name="Line 21"/>
            <p:cNvSpPr>
              <a:spLocks noChangeShapeType="1"/>
            </p:cNvSpPr>
            <p:nvPr/>
          </p:nvSpPr>
          <p:spPr bwMode="auto">
            <a:xfrm>
              <a:off x="1488" y="480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" name="Line 22"/>
            <p:cNvSpPr>
              <a:spLocks noChangeShapeType="1"/>
            </p:cNvSpPr>
            <p:nvPr/>
          </p:nvSpPr>
          <p:spPr bwMode="auto">
            <a:xfrm flipH="1">
              <a:off x="2448" y="480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" name="Rectangle 23"/>
            <p:cNvSpPr>
              <a:spLocks noChangeArrowheads="1"/>
            </p:cNvSpPr>
            <p:nvPr/>
          </p:nvSpPr>
          <p:spPr bwMode="auto">
            <a:xfrm>
              <a:off x="1968" y="384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1" name="Line 24"/>
            <p:cNvSpPr>
              <a:spLocks noChangeShapeType="1"/>
            </p:cNvSpPr>
            <p:nvPr/>
          </p:nvSpPr>
          <p:spPr bwMode="auto">
            <a:xfrm flipH="1">
              <a:off x="1488" y="480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" name="Line 25"/>
            <p:cNvSpPr>
              <a:spLocks noChangeShapeType="1"/>
            </p:cNvSpPr>
            <p:nvPr/>
          </p:nvSpPr>
          <p:spPr bwMode="auto">
            <a:xfrm>
              <a:off x="2928" y="480"/>
              <a:ext cx="0" cy="72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Line 26"/>
            <p:cNvSpPr>
              <a:spLocks noChangeShapeType="1"/>
            </p:cNvSpPr>
            <p:nvPr/>
          </p:nvSpPr>
          <p:spPr bwMode="auto">
            <a:xfrm>
              <a:off x="2640" y="1200"/>
              <a:ext cx="67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" name="Line 27"/>
            <p:cNvSpPr>
              <a:spLocks noChangeShapeType="1"/>
            </p:cNvSpPr>
            <p:nvPr/>
          </p:nvSpPr>
          <p:spPr bwMode="auto">
            <a:xfrm flipH="1">
              <a:off x="1488" y="1392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" name="Line 28"/>
            <p:cNvSpPr>
              <a:spLocks noChangeShapeType="1"/>
            </p:cNvSpPr>
            <p:nvPr/>
          </p:nvSpPr>
          <p:spPr bwMode="auto">
            <a:xfrm>
              <a:off x="1488" y="1392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" name="AutoShape 29" descr="深色横线"/>
            <p:cNvSpPr>
              <a:spLocks noChangeArrowheads="1"/>
            </p:cNvSpPr>
            <p:nvPr/>
          </p:nvSpPr>
          <p:spPr bwMode="auto">
            <a:xfrm flipV="1">
              <a:off x="1371" y="1584"/>
              <a:ext cx="240" cy="144"/>
            </a:xfrm>
            <a:prstGeom prst="triangle">
              <a:avLst>
                <a:gd name="adj" fmla="val 49477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7" name="Oval 30"/>
            <p:cNvSpPr>
              <a:spLocks noChangeArrowheads="1"/>
            </p:cNvSpPr>
            <p:nvPr/>
          </p:nvSpPr>
          <p:spPr bwMode="auto">
            <a:xfrm>
              <a:off x="192" y="960"/>
              <a:ext cx="96" cy="9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8" name="Oval 31"/>
            <p:cNvSpPr>
              <a:spLocks noChangeArrowheads="1"/>
            </p:cNvSpPr>
            <p:nvPr/>
          </p:nvSpPr>
          <p:spPr bwMode="auto">
            <a:xfrm>
              <a:off x="3312" y="1152"/>
              <a:ext cx="96" cy="9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9" name="Oval 32"/>
            <p:cNvSpPr>
              <a:spLocks noChangeArrowheads="1"/>
            </p:cNvSpPr>
            <p:nvPr/>
          </p:nvSpPr>
          <p:spPr bwMode="auto">
            <a:xfrm>
              <a:off x="546" y="978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0" name="Oval 33"/>
            <p:cNvSpPr>
              <a:spLocks noChangeArrowheads="1"/>
            </p:cNvSpPr>
            <p:nvPr/>
          </p:nvSpPr>
          <p:spPr bwMode="auto">
            <a:xfrm>
              <a:off x="1461" y="978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1" name="Oval 34"/>
            <p:cNvSpPr>
              <a:spLocks noChangeArrowheads="1"/>
            </p:cNvSpPr>
            <p:nvPr/>
          </p:nvSpPr>
          <p:spPr bwMode="auto">
            <a:xfrm>
              <a:off x="1467" y="453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2" name="Oval 35"/>
            <p:cNvSpPr>
              <a:spLocks noChangeArrowheads="1"/>
            </p:cNvSpPr>
            <p:nvPr/>
          </p:nvSpPr>
          <p:spPr bwMode="auto">
            <a:xfrm>
              <a:off x="2898" y="1173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3" name="Text Box 36"/>
            <p:cNvSpPr txBox="1">
              <a:spLocks noChangeArrowheads="1"/>
            </p:cNvSpPr>
            <p:nvPr/>
          </p:nvSpPr>
          <p:spPr bwMode="auto">
            <a:xfrm>
              <a:off x="864" y="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04" name="Text Box 37"/>
            <p:cNvSpPr txBox="1">
              <a:spLocks noChangeArrowheads="1"/>
            </p:cNvSpPr>
            <p:nvPr/>
          </p:nvSpPr>
          <p:spPr bwMode="auto">
            <a:xfrm>
              <a:off x="864" y="105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05" name="Text Box 38"/>
            <p:cNvSpPr txBox="1">
              <a:spLocks noChangeArrowheads="1"/>
            </p:cNvSpPr>
            <p:nvPr/>
          </p:nvSpPr>
          <p:spPr bwMode="auto">
            <a:xfrm>
              <a:off x="2064" y="48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206" name="Text Box 39"/>
            <p:cNvSpPr txBox="1">
              <a:spLocks noChangeArrowheads="1"/>
            </p:cNvSpPr>
            <p:nvPr/>
          </p:nvSpPr>
          <p:spPr bwMode="auto">
            <a:xfrm>
              <a:off x="1372" y="96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207" name="Text Box 40"/>
            <p:cNvSpPr txBox="1">
              <a:spLocks noChangeArrowheads="1"/>
            </p:cNvSpPr>
            <p:nvPr/>
          </p:nvSpPr>
          <p:spPr bwMode="auto">
            <a:xfrm>
              <a:off x="3256" y="864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208" name="Text Box 41"/>
            <p:cNvSpPr txBox="1">
              <a:spLocks noChangeArrowheads="1"/>
            </p:cNvSpPr>
            <p:nvPr/>
          </p:nvSpPr>
          <p:spPr bwMode="auto">
            <a:xfrm>
              <a:off x="71" y="672"/>
              <a:ext cx="4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graphicFrame>
        <p:nvGraphicFramePr>
          <p:cNvPr id="7173" name="Object 2"/>
          <p:cNvGraphicFramePr>
            <a:graphicFrameLocks noChangeAspect="1"/>
          </p:cNvGraphicFramePr>
          <p:nvPr/>
        </p:nvGraphicFramePr>
        <p:xfrm>
          <a:off x="1581150" y="4719638"/>
          <a:ext cx="44196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11400" imgH="444500" progId="Equation.3">
                  <p:embed/>
                </p:oleObj>
              </mc:Choice>
              <mc:Fallback>
                <p:oleObj r:id="rId3" imgW="23114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4719638"/>
                        <a:ext cx="44196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4" name="Group 43"/>
          <p:cNvGrpSpPr>
            <a:grpSpLocks/>
          </p:cNvGrpSpPr>
          <p:nvPr/>
        </p:nvGrpSpPr>
        <p:grpSpPr bwMode="auto">
          <a:xfrm>
            <a:off x="1581150" y="5726113"/>
            <a:ext cx="6324600" cy="476250"/>
            <a:chOff x="1008" y="3696"/>
            <a:chExt cx="3984" cy="300"/>
          </a:xfrm>
        </p:grpSpPr>
        <p:graphicFrame>
          <p:nvGraphicFramePr>
            <p:cNvPr id="7176" name="Object 3"/>
            <p:cNvGraphicFramePr>
              <a:graphicFrameLocks noChangeAspect="1"/>
            </p:cNvGraphicFramePr>
            <p:nvPr/>
          </p:nvGraphicFramePr>
          <p:xfrm>
            <a:off x="1008" y="3698"/>
            <a:ext cx="151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06500" imgH="241300" progId="Equation.3">
                    <p:embed/>
                  </p:oleObj>
                </mc:Choice>
                <mc:Fallback>
                  <p:oleObj r:id="rId5" imgW="1206500" imgH="241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3698"/>
                          <a:ext cx="1514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4"/>
            <p:cNvGraphicFramePr>
              <a:graphicFrameLocks noChangeAspect="1"/>
            </p:cNvGraphicFramePr>
            <p:nvPr/>
          </p:nvGraphicFramePr>
          <p:xfrm>
            <a:off x="2784" y="3696"/>
            <a:ext cx="75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96641" imgH="215806" progId="Equation.3">
                    <p:embed/>
                  </p:oleObj>
                </mc:Choice>
                <mc:Fallback>
                  <p:oleObj r:id="rId7" imgW="596641" imgH="215806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696"/>
                          <a:ext cx="750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8" name="Object 5"/>
            <p:cNvGraphicFramePr>
              <a:graphicFrameLocks noChangeAspect="1"/>
            </p:cNvGraphicFramePr>
            <p:nvPr/>
          </p:nvGraphicFramePr>
          <p:xfrm>
            <a:off x="3811" y="3696"/>
            <a:ext cx="1181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939392" imgH="241195" progId="Equation.3">
                    <p:embed/>
                  </p:oleObj>
                </mc:Choice>
                <mc:Fallback>
                  <p:oleObj r:id="rId9" imgW="939392" imgH="2411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3696"/>
                          <a:ext cx="1181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5" name="Rectangle 3"/>
          <p:cNvSpPr>
            <a:spLocks noChangeArrowheads="1"/>
          </p:cNvSpPr>
          <p:nvPr/>
        </p:nvSpPr>
        <p:spPr bwMode="auto">
          <a:xfrm>
            <a:off x="468313" y="260350"/>
            <a:ext cx="675322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5.3  PID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控制规律的实现（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校正装置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827088" y="54927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1188" y="2205038"/>
            <a:ext cx="3692525" cy="2971800"/>
            <a:chOff x="2330" y="1296"/>
            <a:chExt cx="2326" cy="1872"/>
          </a:xfrm>
        </p:grpSpPr>
        <p:sp>
          <p:nvSpPr>
            <p:cNvPr id="9231" name="Line 5"/>
            <p:cNvSpPr>
              <a:spLocks noChangeShapeType="1"/>
            </p:cNvSpPr>
            <p:nvPr/>
          </p:nvSpPr>
          <p:spPr bwMode="auto">
            <a:xfrm flipH="1">
              <a:off x="3489" y="2256"/>
              <a:ext cx="9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Rectangle 6"/>
            <p:cNvSpPr>
              <a:spLocks noChangeArrowheads="1"/>
            </p:cNvSpPr>
            <p:nvPr/>
          </p:nvSpPr>
          <p:spPr bwMode="auto">
            <a:xfrm>
              <a:off x="3009" y="2160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3" name="Line 7"/>
            <p:cNvSpPr>
              <a:spLocks noChangeShapeType="1"/>
            </p:cNvSpPr>
            <p:nvPr/>
          </p:nvSpPr>
          <p:spPr bwMode="auto">
            <a:xfrm flipH="1">
              <a:off x="2529" y="2256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4" name="Line 8"/>
            <p:cNvSpPr>
              <a:spLocks noChangeShapeType="1"/>
            </p:cNvSpPr>
            <p:nvPr/>
          </p:nvSpPr>
          <p:spPr bwMode="auto">
            <a:xfrm>
              <a:off x="3201" y="1584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Line 9"/>
            <p:cNvSpPr>
              <a:spLocks noChangeShapeType="1"/>
            </p:cNvSpPr>
            <p:nvPr/>
          </p:nvSpPr>
          <p:spPr bwMode="auto">
            <a:xfrm>
              <a:off x="3297" y="1584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Line 10"/>
            <p:cNvSpPr>
              <a:spLocks noChangeShapeType="1"/>
            </p:cNvSpPr>
            <p:nvPr/>
          </p:nvSpPr>
          <p:spPr bwMode="auto">
            <a:xfrm flipH="1">
              <a:off x="2817" y="1728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11"/>
            <p:cNvSpPr>
              <a:spLocks noChangeShapeType="1"/>
            </p:cNvSpPr>
            <p:nvPr/>
          </p:nvSpPr>
          <p:spPr bwMode="auto">
            <a:xfrm>
              <a:off x="3297" y="1728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12"/>
            <p:cNvSpPr>
              <a:spLocks noChangeShapeType="1"/>
            </p:cNvSpPr>
            <p:nvPr/>
          </p:nvSpPr>
          <p:spPr bwMode="auto">
            <a:xfrm>
              <a:off x="2817" y="1728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Line 13"/>
            <p:cNvSpPr>
              <a:spLocks noChangeShapeType="1"/>
            </p:cNvSpPr>
            <p:nvPr/>
          </p:nvSpPr>
          <p:spPr bwMode="auto">
            <a:xfrm>
              <a:off x="3729" y="1728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Oval 14"/>
            <p:cNvSpPr>
              <a:spLocks noChangeArrowheads="1"/>
            </p:cNvSpPr>
            <p:nvPr/>
          </p:nvSpPr>
          <p:spPr bwMode="auto">
            <a:xfrm>
              <a:off x="2433" y="2208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1" name="Oval 15"/>
            <p:cNvSpPr>
              <a:spLocks noChangeArrowheads="1"/>
            </p:cNvSpPr>
            <p:nvPr/>
          </p:nvSpPr>
          <p:spPr bwMode="auto">
            <a:xfrm>
              <a:off x="4439" y="2208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2" name="Oval 16"/>
            <p:cNvSpPr>
              <a:spLocks noChangeArrowheads="1"/>
            </p:cNvSpPr>
            <p:nvPr/>
          </p:nvSpPr>
          <p:spPr bwMode="auto">
            <a:xfrm>
              <a:off x="2787" y="22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3" name="Oval 17"/>
            <p:cNvSpPr>
              <a:spLocks noChangeArrowheads="1"/>
            </p:cNvSpPr>
            <p:nvPr/>
          </p:nvSpPr>
          <p:spPr bwMode="auto">
            <a:xfrm>
              <a:off x="3702" y="22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4" name="Oval 18"/>
            <p:cNvSpPr>
              <a:spLocks noChangeArrowheads="1"/>
            </p:cNvSpPr>
            <p:nvPr/>
          </p:nvSpPr>
          <p:spPr bwMode="auto">
            <a:xfrm>
              <a:off x="3983" y="22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5" name="Oval 19"/>
            <p:cNvSpPr>
              <a:spLocks noChangeArrowheads="1"/>
            </p:cNvSpPr>
            <p:nvPr/>
          </p:nvSpPr>
          <p:spPr bwMode="auto">
            <a:xfrm>
              <a:off x="3983" y="3090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6" name="Text Box 20"/>
            <p:cNvSpPr txBox="1">
              <a:spLocks noChangeArrowheads="1"/>
            </p:cNvSpPr>
            <p:nvPr/>
          </p:nvSpPr>
          <p:spPr bwMode="auto">
            <a:xfrm>
              <a:off x="3105" y="129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47" name="Text Box 21"/>
            <p:cNvSpPr txBox="1">
              <a:spLocks noChangeArrowheads="1"/>
            </p:cNvSpPr>
            <p:nvPr/>
          </p:nvSpPr>
          <p:spPr bwMode="auto">
            <a:xfrm>
              <a:off x="3105" y="2304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48" name="Text Box 22"/>
            <p:cNvSpPr txBox="1">
              <a:spLocks noChangeArrowheads="1"/>
            </p:cNvSpPr>
            <p:nvPr/>
          </p:nvSpPr>
          <p:spPr bwMode="auto">
            <a:xfrm>
              <a:off x="3623" y="2544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249" name="Text Box 23"/>
            <p:cNvSpPr txBox="1">
              <a:spLocks noChangeArrowheads="1"/>
            </p:cNvSpPr>
            <p:nvPr/>
          </p:nvSpPr>
          <p:spPr bwMode="auto">
            <a:xfrm>
              <a:off x="4199" y="2544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250" name="Text Box 24"/>
            <p:cNvSpPr txBox="1">
              <a:spLocks noChangeArrowheads="1"/>
            </p:cNvSpPr>
            <p:nvPr/>
          </p:nvSpPr>
          <p:spPr bwMode="auto">
            <a:xfrm>
              <a:off x="2330" y="2544"/>
              <a:ext cx="4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251" name="Line 25"/>
            <p:cNvSpPr>
              <a:spLocks noChangeShapeType="1"/>
            </p:cNvSpPr>
            <p:nvPr/>
          </p:nvSpPr>
          <p:spPr bwMode="auto">
            <a:xfrm>
              <a:off x="4007" y="2256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Rectangle 26"/>
            <p:cNvSpPr>
              <a:spLocks noChangeArrowheads="1"/>
            </p:cNvSpPr>
            <p:nvPr/>
          </p:nvSpPr>
          <p:spPr bwMode="auto">
            <a:xfrm rot="5400000">
              <a:off x="3767" y="2592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3" name="Line 27"/>
            <p:cNvSpPr>
              <a:spLocks noChangeShapeType="1"/>
            </p:cNvSpPr>
            <p:nvPr/>
          </p:nvSpPr>
          <p:spPr bwMode="auto">
            <a:xfrm>
              <a:off x="4007" y="2928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28"/>
            <p:cNvSpPr>
              <a:spLocks noChangeShapeType="1"/>
            </p:cNvSpPr>
            <p:nvPr/>
          </p:nvSpPr>
          <p:spPr bwMode="auto">
            <a:xfrm>
              <a:off x="2519" y="3120"/>
              <a:ext cx="19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Oval 29"/>
            <p:cNvSpPr>
              <a:spLocks noChangeArrowheads="1"/>
            </p:cNvSpPr>
            <p:nvPr/>
          </p:nvSpPr>
          <p:spPr bwMode="auto">
            <a:xfrm>
              <a:off x="2435" y="307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6" name="Oval 30"/>
            <p:cNvSpPr>
              <a:spLocks noChangeArrowheads="1"/>
            </p:cNvSpPr>
            <p:nvPr/>
          </p:nvSpPr>
          <p:spPr bwMode="auto">
            <a:xfrm>
              <a:off x="4439" y="307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1116013" y="119697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无源阻容网络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320" name="Object 2"/>
          <p:cNvGraphicFramePr>
            <a:graphicFrameLocks noChangeAspect="1"/>
          </p:cNvGraphicFramePr>
          <p:nvPr/>
        </p:nvGraphicFramePr>
        <p:xfrm>
          <a:off x="4953000" y="2265363"/>
          <a:ext cx="350520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27200" imgH="647700" progId="Equation.3">
                  <p:embed/>
                </p:oleObj>
              </mc:Choice>
              <mc:Fallback>
                <p:oleObj r:id="rId3" imgW="1727200" imgH="647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65363"/>
                        <a:ext cx="3505200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3"/>
          <p:cNvGraphicFramePr>
            <a:graphicFrameLocks noChangeAspect="1"/>
          </p:cNvGraphicFramePr>
          <p:nvPr/>
        </p:nvGraphicFramePr>
        <p:xfrm>
          <a:off x="5054600" y="5299075"/>
          <a:ext cx="237013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67893" imgH="431613" progId="Equation.3">
                  <p:embed/>
                </p:oleObj>
              </mc:Choice>
              <mc:Fallback>
                <p:oleObj r:id="rId5" imgW="1167893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5299075"/>
                        <a:ext cx="237013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4953000" y="4648200"/>
            <a:ext cx="3581400" cy="520700"/>
            <a:chOff x="3120" y="2744"/>
            <a:chExt cx="2256" cy="328"/>
          </a:xfrm>
        </p:grpSpPr>
        <p:graphicFrame>
          <p:nvGraphicFramePr>
            <p:cNvPr id="9229" name="Object 6"/>
            <p:cNvGraphicFramePr>
              <a:graphicFrameLocks noChangeAspect="1"/>
            </p:cNvGraphicFramePr>
            <p:nvPr/>
          </p:nvGraphicFramePr>
          <p:xfrm>
            <a:off x="3576" y="2744"/>
            <a:ext cx="84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60113" imgH="253890" progId="Equation.3">
                    <p:embed/>
                  </p:oleObj>
                </mc:Choice>
                <mc:Fallback>
                  <p:oleObj r:id="rId7" imgW="660113" imgH="25389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6" y="2744"/>
                          <a:ext cx="84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Rectangle 36"/>
            <p:cNvSpPr>
              <a:spLocks noChangeArrowheads="1"/>
            </p:cNvSpPr>
            <p:nvPr/>
          </p:nvSpPr>
          <p:spPr bwMode="auto">
            <a:xfrm>
              <a:off x="3120" y="2744"/>
              <a:ext cx="22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若：</a:t>
              </a:r>
              <a:r>
                <a:rPr lang="zh-CN" altLang="en-US" sz="2800">
                  <a:latin typeface="Times New Roman" panose="02020603050405020304" pitchFamily="18" charset="0"/>
                </a:rPr>
                <a:t>               ，则</a:t>
              </a:r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5029200" y="3587750"/>
            <a:ext cx="3581400" cy="908050"/>
            <a:chOff x="3168" y="2260"/>
            <a:chExt cx="2256" cy="572"/>
          </a:xfrm>
        </p:grpSpPr>
        <p:graphicFrame>
          <p:nvGraphicFramePr>
            <p:cNvPr id="9226" name="Object 4"/>
            <p:cNvGraphicFramePr>
              <a:graphicFrameLocks noChangeAspect="1"/>
            </p:cNvGraphicFramePr>
            <p:nvPr/>
          </p:nvGraphicFramePr>
          <p:xfrm>
            <a:off x="4656" y="2368"/>
            <a:ext cx="76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96641" imgH="215806" progId="Equation.3">
                    <p:embed/>
                  </p:oleObj>
                </mc:Choice>
                <mc:Fallback>
                  <p:oleObj r:id="rId9" imgW="596641" imgH="215806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368"/>
                          <a:ext cx="76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5"/>
            <p:cNvGraphicFramePr>
              <a:graphicFrameLocks noChangeAspect="1"/>
            </p:cNvGraphicFramePr>
            <p:nvPr/>
          </p:nvGraphicFramePr>
          <p:xfrm>
            <a:off x="3168" y="2260"/>
            <a:ext cx="1352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054100" imgH="444500" progId="Equation.3">
                    <p:embed/>
                  </p:oleObj>
                </mc:Choice>
                <mc:Fallback>
                  <p:oleObj r:id="rId11" imgW="1054100" imgH="444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260"/>
                          <a:ext cx="1352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Text Box 40"/>
            <p:cNvSpPr txBox="1">
              <a:spLocks noChangeArrowheads="1"/>
            </p:cNvSpPr>
            <p:nvPr/>
          </p:nvSpPr>
          <p:spPr bwMode="auto">
            <a:xfrm>
              <a:off x="4464" y="232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，</a:t>
              </a: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113" y="349250"/>
            <a:ext cx="3051175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147763" y="2243138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机械网络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76363" y="3106738"/>
            <a:ext cx="2438400" cy="2854325"/>
            <a:chOff x="864" y="1322"/>
            <a:chExt cx="1536" cy="1798"/>
          </a:xfrm>
        </p:grpSpPr>
        <p:sp>
          <p:nvSpPr>
            <p:cNvPr id="11272" name="Rectangle 5" descr="宽上对角线"/>
            <p:cNvSpPr>
              <a:spLocks noChangeArrowheads="1"/>
            </p:cNvSpPr>
            <p:nvPr/>
          </p:nvSpPr>
          <p:spPr bwMode="auto">
            <a:xfrm>
              <a:off x="1488" y="3050"/>
              <a:ext cx="384" cy="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1273" name="Group 6"/>
            <p:cNvGrpSpPr>
              <a:grpSpLocks/>
            </p:cNvGrpSpPr>
            <p:nvPr/>
          </p:nvGrpSpPr>
          <p:grpSpPr bwMode="auto">
            <a:xfrm>
              <a:off x="1624" y="1610"/>
              <a:ext cx="104" cy="720"/>
              <a:chOff x="3258" y="384"/>
              <a:chExt cx="104" cy="720"/>
            </a:xfrm>
          </p:grpSpPr>
          <p:sp>
            <p:nvSpPr>
              <p:cNvPr id="11300" name="Freeform 7"/>
              <p:cNvSpPr>
                <a:spLocks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2"/>
                  <a:gd name="T31" fmla="*/ 0 h 432"/>
                  <a:gd name="T32" fmla="*/ 112 w 112"/>
                  <a:gd name="T33" fmla="*/ 432 h 4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Line 8"/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Line 9"/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4" name="Group 10"/>
            <p:cNvGrpSpPr>
              <a:grpSpLocks/>
            </p:cNvGrpSpPr>
            <p:nvPr/>
          </p:nvGrpSpPr>
          <p:grpSpPr bwMode="auto">
            <a:xfrm>
              <a:off x="1624" y="2330"/>
              <a:ext cx="104" cy="720"/>
              <a:chOff x="3258" y="384"/>
              <a:chExt cx="104" cy="720"/>
            </a:xfrm>
          </p:grpSpPr>
          <p:sp>
            <p:nvSpPr>
              <p:cNvPr id="11297" name="Freeform 11"/>
              <p:cNvSpPr>
                <a:spLocks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2"/>
                  <a:gd name="T31" fmla="*/ 0 h 432"/>
                  <a:gd name="T32" fmla="*/ 112 w 112"/>
                  <a:gd name="T33" fmla="*/ 432 h 4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8" name="Line 12"/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9" name="Line 13"/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5" name="Line 14"/>
            <p:cNvSpPr>
              <a:spLocks noChangeShapeType="1"/>
            </p:cNvSpPr>
            <p:nvPr/>
          </p:nvSpPr>
          <p:spPr bwMode="auto">
            <a:xfrm flipH="1">
              <a:off x="1248" y="2330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15"/>
            <p:cNvSpPr>
              <a:spLocks noChangeShapeType="1"/>
            </p:cNvSpPr>
            <p:nvPr/>
          </p:nvSpPr>
          <p:spPr bwMode="auto">
            <a:xfrm flipV="1">
              <a:off x="1248" y="2090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6"/>
            <p:cNvSpPr>
              <a:spLocks noChangeShapeType="1"/>
            </p:cNvSpPr>
            <p:nvPr/>
          </p:nvSpPr>
          <p:spPr bwMode="auto">
            <a:xfrm>
              <a:off x="1152" y="2090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Line 17"/>
            <p:cNvSpPr>
              <a:spLocks noChangeShapeType="1"/>
            </p:cNvSpPr>
            <p:nvPr/>
          </p:nvSpPr>
          <p:spPr bwMode="auto">
            <a:xfrm flipV="1">
              <a:off x="1152" y="1946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Line 18"/>
            <p:cNvSpPr>
              <a:spLocks noChangeShapeType="1"/>
            </p:cNvSpPr>
            <p:nvPr/>
          </p:nvSpPr>
          <p:spPr bwMode="auto">
            <a:xfrm flipV="1">
              <a:off x="1344" y="1946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19"/>
            <p:cNvSpPr>
              <a:spLocks noChangeShapeType="1"/>
            </p:cNvSpPr>
            <p:nvPr/>
          </p:nvSpPr>
          <p:spPr bwMode="auto">
            <a:xfrm>
              <a:off x="1200" y="199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20"/>
            <p:cNvSpPr>
              <a:spLocks noChangeShapeType="1"/>
            </p:cNvSpPr>
            <p:nvPr/>
          </p:nvSpPr>
          <p:spPr bwMode="auto">
            <a:xfrm flipV="1">
              <a:off x="1248" y="1610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21"/>
            <p:cNvSpPr>
              <a:spLocks noChangeShapeType="1"/>
            </p:cNvSpPr>
            <p:nvPr/>
          </p:nvSpPr>
          <p:spPr bwMode="auto">
            <a:xfrm>
              <a:off x="1248" y="1610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22"/>
            <p:cNvSpPr>
              <a:spLocks noChangeShapeType="1"/>
            </p:cNvSpPr>
            <p:nvPr/>
          </p:nvSpPr>
          <p:spPr bwMode="auto">
            <a:xfrm flipV="1">
              <a:off x="1680" y="1418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Line 23"/>
            <p:cNvSpPr>
              <a:spLocks noChangeShapeType="1"/>
            </p:cNvSpPr>
            <p:nvPr/>
          </p:nvSpPr>
          <p:spPr bwMode="auto">
            <a:xfrm>
              <a:off x="1488" y="3050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Oval 24"/>
            <p:cNvSpPr>
              <a:spLocks noChangeArrowheads="1"/>
            </p:cNvSpPr>
            <p:nvPr/>
          </p:nvSpPr>
          <p:spPr bwMode="auto">
            <a:xfrm>
              <a:off x="1648" y="230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6" name="Oval 25"/>
            <p:cNvSpPr>
              <a:spLocks noChangeArrowheads="1"/>
            </p:cNvSpPr>
            <p:nvPr/>
          </p:nvSpPr>
          <p:spPr bwMode="auto">
            <a:xfrm>
              <a:off x="1648" y="1580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7" name="Oval 26"/>
            <p:cNvSpPr>
              <a:spLocks noChangeArrowheads="1"/>
            </p:cNvSpPr>
            <p:nvPr/>
          </p:nvSpPr>
          <p:spPr bwMode="auto">
            <a:xfrm>
              <a:off x="1632" y="132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8" name="Line 27"/>
            <p:cNvSpPr>
              <a:spLocks noChangeShapeType="1"/>
            </p:cNvSpPr>
            <p:nvPr/>
          </p:nvSpPr>
          <p:spPr bwMode="auto">
            <a:xfrm>
              <a:off x="1728" y="1370"/>
              <a:ext cx="2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28"/>
            <p:cNvSpPr>
              <a:spLocks noChangeShapeType="1"/>
            </p:cNvSpPr>
            <p:nvPr/>
          </p:nvSpPr>
          <p:spPr bwMode="auto">
            <a:xfrm>
              <a:off x="1968" y="137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29"/>
            <p:cNvSpPr>
              <a:spLocks noChangeShapeType="1"/>
            </p:cNvSpPr>
            <p:nvPr/>
          </p:nvSpPr>
          <p:spPr bwMode="auto">
            <a:xfrm>
              <a:off x="1680" y="2330"/>
              <a:ext cx="3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30"/>
            <p:cNvSpPr>
              <a:spLocks noChangeShapeType="1"/>
            </p:cNvSpPr>
            <p:nvPr/>
          </p:nvSpPr>
          <p:spPr bwMode="auto">
            <a:xfrm>
              <a:off x="1968" y="233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Text Box 31"/>
            <p:cNvSpPr txBox="1">
              <a:spLocks noChangeArrowheads="1"/>
            </p:cNvSpPr>
            <p:nvPr/>
          </p:nvSpPr>
          <p:spPr bwMode="auto">
            <a:xfrm>
              <a:off x="1954" y="2330"/>
              <a:ext cx="4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293" name="Text Box 32"/>
            <p:cNvSpPr txBox="1">
              <a:spLocks noChangeArrowheads="1"/>
            </p:cNvSpPr>
            <p:nvPr/>
          </p:nvSpPr>
          <p:spPr bwMode="auto">
            <a:xfrm>
              <a:off x="1954" y="1370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294" name="Text Box 33"/>
            <p:cNvSpPr txBox="1">
              <a:spLocks noChangeArrowheads="1"/>
            </p:cNvSpPr>
            <p:nvPr/>
          </p:nvSpPr>
          <p:spPr bwMode="auto">
            <a:xfrm>
              <a:off x="1708" y="180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295" name="Text Box 34"/>
            <p:cNvSpPr txBox="1">
              <a:spLocks noChangeArrowheads="1"/>
            </p:cNvSpPr>
            <p:nvPr/>
          </p:nvSpPr>
          <p:spPr bwMode="auto">
            <a:xfrm>
              <a:off x="1344" y="252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96" name="Text Box 35"/>
            <p:cNvSpPr txBox="1">
              <a:spLocks noChangeArrowheads="1"/>
            </p:cNvSpPr>
            <p:nvPr/>
          </p:nvSpPr>
          <p:spPr bwMode="auto">
            <a:xfrm>
              <a:off x="864" y="185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14372" name="Object 2"/>
          <p:cNvGraphicFramePr>
            <a:graphicFrameLocks noChangeAspect="1"/>
          </p:cNvGraphicFramePr>
          <p:nvPr/>
        </p:nvGraphicFramePr>
        <p:xfrm>
          <a:off x="4576763" y="5275263"/>
          <a:ext cx="101917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5863" imgH="444307" progId="Equation.3">
                  <p:embed/>
                </p:oleObj>
              </mc:Choice>
              <mc:Fallback>
                <p:oleObj r:id="rId3" imgW="545863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5275263"/>
                        <a:ext cx="1019175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3" name="Object 3"/>
          <p:cNvGraphicFramePr>
            <a:graphicFrameLocks noChangeAspect="1"/>
          </p:cNvGraphicFramePr>
          <p:nvPr/>
        </p:nvGraphicFramePr>
        <p:xfrm>
          <a:off x="4576763" y="4360863"/>
          <a:ext cx="20574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91726" imgH="444307" progId="Equation.3">
                  <p:embed/>
                </p:oleObj>
              </mc:Choice>
              <mc:Fallback>
                <p:oleObj r:id="rId5" imgW="1091726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4360863"/>
                        <a:ext cx="20574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4" name="Object 4"/>
          <p:cNvGraphicFramePr>
            <a:graphicFrameLocks noChangeAspect="1"/>
          </p:cNvGraphicFramePr>
          <p:nvPr/>
        </p:nvGraphicFramePr>
        <p:xfrm>
          <a:off x="4500563" y="3141663"/>
          <a:ext cx="3478212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14500" imgH="622300" progId="Equation.3">
                  <p:embed/>
                </p:oleObj>
              </mc:Choice>
              <mc:Fallback>
                <p:oleObj r:id="rId7" imgW="1714500" imgH="622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141663"/>
                        <a:ext cx="3478212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39"/>
          <p:cNvSpPr>
            <a:spLocks noChangeArrowheads="1"/>
          </p:cNvSpPr>
          <p:nvPr/>
        </p:nvSpPr>
        <p:spPr bwMode="auto">
          <a:xfrm>
            <a:off x="755650" y="908050"/>
            <a:ext cx="80279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一般取</a:t>
            </a:r>
            <a:r>
              <a:rPr lang="zh-CN" altLang="en-US" sz="2800" i="1">
                <a:sym typeface="Symbol" panose="05050102010706020507" pitchFamily="18" charset="2"/>
              </a:rPr>
              <a:t></a:t>
            </a:r>
            <a:r>
              <a:rPr lang="en-US" altLang="zh-CN" sz="2800" i="1" baseline="-25000"/>
              <a:t>i </a:t>
            </a:r>
            <a:r>
              <a:rPr lang="en-US" altLang="zh-CN" sz="2800">
                <a:sym typeface="Symbol" panose="05050102010706020507" pitchFamily="18" charset="2"/>
              </a:rPr>
              <a:t></a:t>
            </a:r>
            <a:r>
              <a:rPr lang="en-US" altLang="zh-CN" sz="2800"/>
              <a:t> 20</a:t>
            </a:r>
            <a:r>
              <a:rPr lang="zh-CN" altLang="en-US" sz="2800"/>
              <a:t>。该阻容网络只能近似地实现</a:t>
            </a:r>
            <a:r>
              <a:rPr lang="en-US" altLang="zh-CN" sz="2800"/>
              <a:t>PD</a:t>
            </a:r>
            <a:r>
              <a:rPr lang="zh-CN" altLang="en-US" sz="2800"/>
              <a:t>控制。该网络通常也被称为</a:t>
            </a:r>
            <a:r>
              <a:rPr lang="zh-CN" altLang="en-US" sz="2800">
                <a:solidFill>
                  <a:srgbClr val="FF0000"/>
                </a:solidFill>
              </a:rPr>
              <a:t>实用微分校正电路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827088" y="47625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校正装置的特性 </a:t>
            </a:r>
          </a:p>
        </p:txBody>
      </p:sp>
      <p:graphicFrame>
        <p:nvGraphicFramePr>
          <p:cNvPr id="15364" name="Object 2"/>
          <p:cNvGraphicFramePr>
            <a:graphicFrameLocks noChangeAspect="1"/>
          </p:cNvGraphicFramePr>
          <p:nvPr/>
        </p:nvGraphicFramePr>
        <p:xfrm>
          <a:off x="1582738" y="1149350"/>
          <a:ext cx="267176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22400" imgH="622300" progId="Equation.3">
                  <p:embed/>
                </p:oleObj>
              </mc:Choice>
              <mc:Fallback>
                <p:oleObj r:id="rId3" imgW="1422400" imgH="622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1149350"/>
                        <a:ext cx="267176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042988" y="2411413"/>
            <a:ext cx="75438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采用近似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校正装置进行串联校正时，整个系统的开环增益将下降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latin typeface="Times New Roman" panose="02020603050405020304" pitchFamily="18" charset="0"/>
              </a:rPr>
              <a:t>倍。为满足稳态精度的要求，必须提高放大器的增益予以补偿。若该增益衰减量已通过放大器进行了补偿，则近似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校正装置的频率特性可写为：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493838" y="4956175"/>
            <a:ext cx="6934200" cy="1225550"/>
            <a:chOff x="960" y="3360"/>
            <a:chExt cx="4368" cy="772"/>
          </a:xfrm>
        </p:grpSpPr>
        <p:graphicFrame>
          <p:nvGraphicFramePr>
            <p:cNvPr id="13318" name="Object 3"/>
            <p:cNvGraphicFramePr>
              <a:graphicFrameLocks noChangeAspect="1"/>
            </p:cNvGraphicFramePr>
            <p:nvPr/>
          </p:nvGraphicFramePr>
          <p:xfrm>
            <a:off x="960" y="3360"/>
            <a:ext cx="1680" cy="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409700" imgH="647700" progId="Equation.3">
                    <p:embed/>
                  </p:oleObj>
                </mc:Choice>
                <mc:Fallback>
                  <p:oleObj r:id="rId5" imgW="1409700" imgH="6477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360"/>
                          <a:ext cx="1680" cy="7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9" name="Rectangle 8"/>
            <p:cNvSpPr>
              <a:spLocks noChangeArrowheads="1"/>
            </p:cNvSpPr>
            <p:nvPr/>
          </p:nvSpPr>
          <p:spPr bwMode="auto">
            <a:xfrm>
              <a:off x="2688" y="3465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转折频率：      </a:t>
              </a:r>
              <a:r>
                <a:rPr lang="en-US" altLang="zh-CN" sz="2800">
                  <a:latin typeface="宋体" panose="02010600030101010101" pitchFamily="2" charset="-122"/>
                </a:rPr>
                <a:t>,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20" name="Object 4"/>
            <p:cNvGraphicFramePr>
              <a:graphicFrameLocks noChangeAspect="1"/>
            </p:cNvGraphicFramePr>
            <p:nvPr/>
          </p:nvGraphicFramePr>
          <p:xfrm>
            <a:off x="3792" y="3408"/>
            <a:ext cx="672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20474" imgH="431613" progId="Equation.3">
                    <p:embed/>
                  </p:oleObj>
                </mc:Choice>
                <mc:Fallback>
                  <p:oleObj r:id="rId7" imgW="520474" imgH="431613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408"/>
                          <a:ext cx="672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1" name="Object 5"/>
            <p:cNvGraphicFramePr>
              <a:graphicFrameLocks noChangeAspect="1"/>
            </p:cNvGraphicFramePr>
            <p:nvPr/>
          </p:nvGraphicFramePr>
          <p:xfrm>
            <a:off x="4608" y="3379"/>
            <a:ext cx="720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58558" imgH="444307" progId="Equation.3">
                    <p:embed/>
                  </p:oleObj>
                </mc:Choice>
                <mc:Fallback>
                  <p:oleObj r:id="rId9" imgW="558558" imgH="44430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379"/>
                          <a:ext cx="720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484438" y="5734050"/>
            <a:ext cx="4006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补偿增益后近似</a:t>
            </a:r>
            <a:r>
              <a:rPr lang="en-US" altLang="zh-CN"/>
              <a:t>PD</a:t>
            </a:r>
            <a:r>
              <a:rPr lang="zh-CN" altLang="en-US"/>
              <a:t>校正装置的</a:t>
            </a:r>
            <a:r>
              <a:rPr lang="en-US" altLang="zh-CN"/>
              <a:t>Bode</a:t>
            </a:r>
            <a:r>
              <a:rPr lang="zh-CN" altLang="en-US"/>
              <a:t>图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 flipH="1">
            <a:off x="2555875" y="2060575"/>
            <a:ext cx="266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33375"/>
            <a:ext cx="6985000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3563938" y="476250"/>
            <a:ext cx="576262" cy="779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/>
          </a:p>
          <a:p>
            <a:pPr eaLnBrk="1" hangingPunct="1">
              <a:spcBef>
                <a:spcPct val="50000"/>
              </a:spcBef>
            </a:pPr>
            <a:r>
              <a:rPr lang="en-US" altLang="zh-CN"/>
              <a:t>1/T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084888" y="549275"/>
            <a:ext cx="576262" cy="779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/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ym typeface="Symbol" panose="05050102010706020507" pitchFamily="18" charset="2"/>
              </a:rPr>
              <a:t></a:t>
            </a:r>
            <a:r>
              <a:rPr lang="en-US" altLang="zh-CN"/>
              <a:t>/T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563938" y="476250"/>
            <a:ext cx="576262" cy="779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/>
          </a:p>
          <a:p>
            <a:pPr eaLnBrk="1" hangingPunct="1">
              <a:spcBef>
                <a:spcPct val="50000"/>
              </a:spcBef>
            </a:pPr>
            <a:r>
              <a:rPr lang="en-US" altLang="zh-CN"/>
              <a:t>1/T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6084888" y="549275"/>
            <a:ext cx="576262" cy="779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/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ym typeface="Symbol" panose="05050102010706020507" pitchFamily="18" charset="2"/>
              </a:rPr>
              <a:t></a:t>
            </a:r>
            <a:r>
              <a:rPr lang="en-US" altLang="zh-CN"/>
              <a:t>/T</a:t>
            </a:r>
          </a:p>
        </p:txBody>
      </p:sp>
      <p:grpSp>
        <p:nvGrpSpPr>
          <p:cNvPr id="15369" name="Group 12"/>
          <p:cNvGrpSpPr>
            <a:grpSpLocks/>
          </p:cNvGrpSpPr>
          <p:nvPr/>
        </p:nvGrpSpPr>
        <p:grpSpPr bwMode="auto">
          <a:xfrm>
            <a:off x="1042988" y="333375"/>
            <a:ext cx="6985000" cy="5210175"/>
            <a:chOff x="657" y="210"/>
            <a:chExt cx="4400" cy="3282"/>
          </a:xfrm>
        </p:grpSpPr>
        <p:pic>
          <p:nvPicPr>
            <p:cNvPr id="1537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" y="210"/>
              <a:ext cx="4400" cy="3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1" name="Text Box 10"/>
            <p:cNvSpPr txBox="1">
              <a:spLocks noChangeArrowheads="1"/>
            </p:cNvSpPr>
            <p:nvPr/>
          </p:nvSpPr>
          <p:spPr bwMode="auto">
            <a:xfrm>
              <a:off x="2245" y="300"/>
              <a:ext cx="363" cy="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1/T</a:t>
              </a:r>
            </a:p>
          </p:txBody>
        </p:sp>
        <p:sp>
          <p:nvSpPr>
            <p:cNvPr id="15372" name="Text Box 11"/>
            <p:cNvSpPr txBox="1">
              <a:spLocks noChangeArrowheads="1"/>
            </p:cNvSpPr>
            <p:nvPr/>
          </p:nvSpPr>
          <p:spPr bwMode="auto">
            <a:xfrm>
              <a:off x="3833" y="346"/>
              <a:ext cx="363" cy="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ym typeface="Symbol" panose="05050102010706020507" pitchFamily="18" charset="2"/>
                </a:rPr>
                <a:t></a:t>
              </a:r>
              <a:r>
                <a:rPr lang="en-US" altLang="zh-CN"/>
                <a:t>/T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900113" y="908050"/>
            <a:ext cx="75438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从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</a:rPr>
              <a:t>图可见，近似</a:t>
            </a:r>
            <a:r>
              <a:rPr lang="en-US" altLang="zh-CN" sz="2800">
                <a:latin typeface="Times New Roman" panose="02020603050405020304" pitchFamily="18" charset="0"/>
              </a:rPr>
              <a:t>PD</a:t>
            </a:r>
            <a:r>
              <a:rPr lang="zh-CN" altLang="en-US" sz="2800">
                <a:latin typeface="Times New Roman" panose="02020603050405020304" pitchFamily="18" charset="0"/>
              </a:rPr>
              <a:t>校正装置在整个频率范围内都产生相位超前，故也称之为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相位超前校正</a:t>
            </a:r>
            <a:r>
              <a:rPr lang="zh-CN" altLang="en-US" sz="2800">
                <a:latin typeface="Times New Roman" panose="02020603050405020304" pitchFamily="18" charset="0"/>
              </a:rPr>
              <a:t>。其超前的相位角为：            </a:t>
            </a:r>
          </a:p>
        </p:txBody>
      </p:sp>
      <p:graphicFrame>
        <p:nvGraphicFramePr>
          <p:cNvPr id="17412" name="Object 2"/>
          <p:cNvGraphicFramePr>
            <a:graphicFrameLocks noChangeAspect="1"/>
          </p:cNvGraphicFramePr>
          <p:nvPr/>
        </p:nvGraphicFramePr>
        <p:xfrm>
          <a:off x="1763713" y="2924175"/>
          <a:ext cx="3657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05000" imgH="444500" progId="Equation.3">
                  <p:embed/>
                </p:oleObj>
              </mc:Choice>
              <mc:Fallback>
                <p:oleObj r:id="rId3" imgW="19050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24175"/>
                        <a:ext cx="36576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01713" y="3887788"/>
            <a:ext cx="2362200" cy="712787"/>
            <a:chOff x="672" y="2719"/>
            <a:chExt cx="1488" cy="449"/>
          </a:xfrm>
        </p:grpSpPr>
        <p:graphicFrame>
          <p:nvGraphicFramePr>
            <p:cNvPr id="16392" name="Object 4"/>
            <p:cNvGraphicFramePr>
              <a:graphicFrameLocks noChangeAspect="1"/>
            </p:cNvGraphicFramePr>
            <p:nvPr/>
          </p:nvGraphicFramePr>
          <p:xfrm>
            <a:off x="1152" y="2719"/>
            <a:ext cx="1008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75920" imgH="393529" progId="Equation.3">
                    <p:embed/>
                  </p:oleObj>
                </mc:Choice>
                <mc:Fallback>
                  <p:oleObj r:id="rId5" imgW="875920" imgH="39352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719"/>
                          <a:ext cx="1008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3" name="Rectangle 7"/>
            <p:cNvSpPr>
              <a:spLocks noChangeArrowheads="1"/>
            </p:cNvSpPr>
            <p:nvPr/>
          </p:nvSpPr>
          <p:spPr bwMode="auto">
            <a:xfrm>
              <a:off x="672" y="2745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令：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001713" y="4543425"/>
            <a:ext cx="6781800" cy="971550"/>
            <a:chOff x="672" y="3168"/>
            <a:chExt cx="4272" cy="612"/>
          </a:xfrm>
        </p:grpSpPr>
        <p:graphicFrame>
          <p:nvGraphicFramePr>
            <p:cNvPr id="16390" name="Object 3"/>
            <p:cNvGraphicFramePr>
              <a:graphicFrameLocks noChangeAspect="1"/>
            </p:cNvGraphicFramePr>
            <p:nvPr/>
          </p:nvGraphicFramePr>
          <p:xfrm>
            <a:off x="4080" y="3168"/>
            <a:ext cx="864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85800" imgH="482600" progId="Equation.3">
                    <p:embed/>
                  </p:oleObj>
                </mc:Choice>
                <mc:Fallback>
                  <p:oleObj r:id="rId7" imgW="685800" imgH="482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168"/>
                          <a:ext cx="864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1" name="Rectangle 10"/>
            <p:cNvSpPr>
              <a:spLocks noChangeArrowheads="1"/>
            </p:cNvSpPr>
            <p:nvPr/>
          </p:nvSpPr>
          <p:spPr bwMode="auto">
            <a:xfrm>
              <a:off x="672" y="3321"/>
              <a:ext cx="38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可求出最大超前相角对应的频率：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2478088" y="1062038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10891" imgH="241195" progId="Equation.3">
                  <p:embed/>
                </p:oleObj>
              </mc:Choice>
              <mc:Fallback>
                <p:oleObj r:id="rId3" imgW="710891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1062038"/>
                        <a:ext cx="1524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258888" y="1036638"/>
            <a:ext cx="2124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易见：</a:t>
            </a:r>
          </a:p>
        </p:txBody>
      </p:sp>
      <p:graphicFrame>
        <p:nvGraphicFramePr>
          <p:cNvPr id="18437" name="Object 3"/>
          <p:cNvGraphicFramePr>
            <a:graphicFrameLocks noChangeAspect="1"/>
          </p:cNvGraphicFramePr>
          <p:nvPr/>
        </p:nvGraphicFramePr>
        <p:xfrm>
          <a:off x="2014538" y="4830763"/>
          <a:ext cx="19812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087" imgH="444307" progId="Equation.3">
                  <p:embed/>
                </p:oleObj>
              </mc:Choice>
              <mc:Fallback>
                <p:oleObj r:id="rId5" imgW="952087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4830763"/>
                        <a:ext cx="19812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258888" y="1628775"/>
            <a:ext cx="6699250" cy="703263"/>
            <a:chOff x="960" y="1824"/>
            <a:chExt cx="3984" cy="443"/>
          </a:xfrm>
        </p:grpSpPr>
        <p:graphicFrame>
          <p:nvGraphicFramePr>
            <p:cNvPr id="18442" name="Object 5"/>
            <p:cNvGraphicFramePr>
              <a:graphicFrameLocks noChangeAspect="1"/>
            </p:cNvGraphicFramePr>
            <p:nvPr/>
          </p:nvGraphicFramePr>
          <p:xfrm>
            <a:off x="3216" y="1824"/>
            <a:ext cx="1728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24000" imgH="393700" progId="Equation.3">
                    <p:embed/>
                  </p:oleObj>
                </mc:Choice>
                <mc:Fallback>
                  <p:oleObj r:id="rId7" imgW="1524000" imgH="3937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824"/>
                          <a:ext cx="1728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3" name="Rectangle 8"/>
            <p:cNvSpPr>
              <a:spLocks noChangeArrowheads="1"/>
            </p:cNvSpPr>
            <p:nvPr/>
          </p:nvSpPr>
          <p:spPr bwMode="auto">
            <a:xfrm>
              <a:off x="960" y="1881"/>
              <a:ext cx="32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在对数坐标中，则有：</a:t>
              </a:r>
            </a:p>
          </p:txBody>
        </p:sp>
      </p:grp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1252538" y="2408238"/>
            <a:ext cx="702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即：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是两个转折频率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的几何中心。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252538" y="3094038"/>
            <a:ext cx="4130675" cy="1600200"/>
            <a:chOff x="864" y="2208"/>
            <a:chExt cx="2602" cy="1008"/>
          </a:xfrm>
        </p:grpSpPr>
        <p:graphicFrame>
          <p:nvGraphicFramePr>
            <p:cNvPr id="18440" name="Object 4"/>
            <p:cNvGraphicFramePr>
              <a:graphicFrameLocks noChangeAspect="1"/>
            </p:cNvGraphicFramePr>
            <p:nvPr/>
          </p:nvGraphicFramePr>
          <p:xfrm>
            <a:off x="1312" y="2621"/>
            <a:ext cx="1520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43000" imgH="444500" progId="Equation.3">
                    <p:embed/>
                  </p:oleObj>
                </mc:Choice>
                <mc:Fallback>
                  <p:oleObj r:id="rId9" imgW="1143000" imgH="444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2621"/>
                          <a:ext cx="1520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12"/>
            <p:cNvSpPr>
              <a:spLocks noChangeArrowheads="1"/>
            </p:cNvSpPr>
            <p:nvPr/>
          </p:nvSpPr>
          <p:spPr bwMode="auto">
            <a:xfrm>
              <a:off x="864" y="2208"/>
              <a:ext cx="2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最大超前相角：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3"/>
          <p:cNvGrpSpPr>
            <a:grpSpLocks/>
          </p:cNvGrpSpPr>
          <p:nvPr/>
        </p:nvGrpSpPr>
        <p:grpSpPr bwMode="auto">
          <a:xfrm>
            <a:off x="258763" y="1420813"/>
            <a:ext cx="6172200" cy="4343400"/>
            <a:chOff x="336" y="1344"/>
            <a:chExt cx="3888" cy="2736"/>
          </a:xfrm>
        </p:grpSpPr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918" y="1441"/>
              <a:ext cx="3223" cy="2199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85" name="Freeform 5"/>
            <p:cNvSpPr>
              <a:spLocks/>
            </p:cNvSpPr>
            <p:nvPr/>
          </p:nvSpPr>
          <p:spPr bwMode="auto">
            <a:xfrm>
              <a:off x="108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" name="Freeform 6"/>
            <p:cNvSpPr>
              <a:spLocks/>
            </p:cNvSpPr>
            <p:nvPr/>
          </p:nvSpPr>
          <p:spPr bwMode="auto">
            <a:xfrm>
              <a:off x="142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Freeform 7"/>
            <p:cNvSpPr>
              <a:spLocks/>
            </p:cNvSpPr>
            <p:nvPr/>
          </p:nvSpPr>
          <p:spPr bwMode="auto">
            <a:xfrm>
              <a:off x="176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Freeform 8"/>
            <p:cNvSpPr>
              <a:spLocks/>
            </p:cNvSpPr>
            <p:nvPr/>
          </p:nvSpPr>
          <p:spPr bwMode="auto">
            <a:xfrm>
              <a:off x="2104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Freeform 9"/>
            <p:cNvSpPr>
              <a:spLocks/>
            </p:cNvSpPr>
            <p:nvPr/>
          </p:nvSpPr>
          <p:spPr bwMode="auto">
            <a:xfrm>
              <a:off x="243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Freeform 10"/>
            <p:cNvSpPr>
              <a:spLocks/>
            </p:cNvSpPr>
            <p:nvPr/>
          </p:nvSpPr>
          <p:spPr bwMode="auto">
            <a:xfrm>
              <a:off x="278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Freeform 11"/>
            <p:cNvSpPr>
              <a:spLocks/>
            </p:cNvSpPr>
            <p:nvPr/>
          </p:nvSpPr>
          <p:spPr bwMode="auto">
            <a:xfrm>
              <a:off x="312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Freeform 12"/>
            <p:cNvSpPr>
              <a:spLocks/>
            </p:cNvSpPr>
            <p:nvPr/>
          </p:nvSpPr>
          <p:spPr bwMode="auto">
            <a:xfrm>
              <a:off x="345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Freeform 13"/>
            <p:cNvSpPr>
              <a:spLocks/>
            </p:cNvSpPr>
            <p:nvPr/>
          </p:nvSpPr>
          <p:spPr bwMode="auto">
            <a:xfrm>
              <a:off x="379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Freeform 14"/>
            <p:cNvSpPr>
              <a:spLocks/>
            </p:cNvSpPr>
            <p:nvPr/>
          </p:nvSpPr>
          <p:spPr bwMode="auto">
            <a:xfrm>
              <a:off x="4141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Freeform 15"/>
            <p:cNvSpPr>
              <a:spLocks/>
            </p:cNvSpPr>
            <p:nvPr/>
          </p:nvSpPr>
          <p:spPr bwMode="auto">
            <a:xfrm>
              <a:off x="918" y="3640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Freeform 16"/>
            <p:cNvSpPr>
              <a:spLocks/>
            </p:cNvSpPr>
            <p:nvPr/>
          </p:nvSpPr>
          <p:spPr bwMode="auto">
            <a:xfrm>
              <a:off x="918" y="332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Freeform 17"/>
            <p:cNvSpPr>
              <a:spLocks/>
            </p:cNvSpPr>
            <p:nvPr/>
          </p:nvSpPr>
          <p:spPr bwMode="auto">
            <a:xfrm>
              <a:off x="918" y="300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918" y="2695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918" y="238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Freeform 20"/>
            <p:cNvSpPr>
              <a:spLocks/>
            </p:cNvSpPr>
            <p:nvPr/>
          </p:nvSpPr>
          <p:spPr bwMode="auto">
            <a:xfrm>
              <a:off x="918" y="2068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Freeform 21"/>
            <p:cNvSpPr>
              <a:spLocks/>
            </p:cNvSpPr>
            <p:nvPr/>
          </p:nvSpPr>
          <p:spPr bwMode="auto">
            <a:xfrm>
              <a:off x="918" y="1755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Freeform 22"/>
            <p:cNvSpPr>
              <a:spLocks/>
            </p:cNvSpPr>
            <p:nvPr/>
          </p:nvSpPr>
          <p:spPr bwMode="auto">
            <a:xfrm>
              <a:off x="918" y="144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23"/>
            <p:cNvSpPr>
              <a:spLocks noChangeShapeType="1"/>
            </p:cNvSpPr>
            <p:nvPr/>
          </p:nvSpPr>
          <p:spPr bwMode="auto">
            <a:xfrm>
              <a:off x="918" y="1441"/>
              <a:ext cx="32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Freeform 24"/>
            <p:cNvSpPr>
              <a:spLocks/>
            </p:cNvSpPr>
            <p:nvPr/>
          </p:nvSpPr>
          <p:spPr bwMode="auto">
            <a:xfrm>
              <a:off x="918" y="1441"/>
              <a:ext cx="3223" cy="2199"/>
            </a:xfrm>
            <a:custGeom>
              <a:avLst/>
              <a:gdLst>
                <a:gd name="T0" fmla="*/ 0 w 595"/>
                <a:gd name="T1" fmla="*/ 2199 h 470"/>
                <a:gd name="T2" fmla="*/ 3223 w 595"/>
                <a:gd name="T3" fmla="*/ 2199 h 470"/>
                <a:gd name="T4" fmla="*/ 3223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25"/>
            <p:cNvSpPr>
              <a:spLocks noChangeShapeType="1"/>
            </p:cNvSpPr>
            <p:nvPr/>
          </p:nvSpPr>
          <p:spPr bwMode="auto">
            <a:xfrm flipV="1">
              <a:off x="918" y="1441"/>
              <a:ext cx="0" cy="219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26"/>
            <p:cNvSpPr>
              <a:spLocks noChangeShapeType="1"/>
            </p:cNvSpPr>
            <p:nvPr/>
          </p:nvSpPr>
          <p:spPr bwMode="auto">
            <a:xfrm>
              <a:off x="918" y="3640"/>
              <a:ext cx="322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27"/>
            <p:cNvSpPr>
              <a:spLocks noChangeShapeType="1"/>
            </p:cNvSpPr>
            <p:nvPr/>
          </p:nvSpPr>
          <p:spPr bwMode="auto">
            <a:xfrm flipV="1">
              <a:off x="918" y="1441"/>
              <a:ext cx="0" cy="219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Freeform 28"/>
            <p:cNvSpPr>
              <a:spLocks/>
            </p:cNvSpPr>
            <p:nvPr/>
          </p:nvSpPr>
          <p:spPr bwMode="auto">
            <a:xfrm>
              <a:off x="999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Freeform 29"/>
            <p:cNvSpPr>
              <a:spLocks/>
            </p:cNvSpPr>
            <p:nvPr/>
          </p:nvSpPr>
          <p:spPr bwMode="auto">
            <a:xfrm>
              <a:off x="918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Line 30"/>
            <p:cNvSpPr>
              <a:spLocks noChangeShapeType="1"/>
            </p:cNvSpPr>
            <p:nvPr/>
          </p:nvSpPr>
          <p:spPr bwMode="auto">
            <a:xfrm flipV="1">
              <a:off x="1085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31"/>
            <p:cNvSpPr>
              <a:spLocks noChangeShapeType="1"/>
            </p:cNvSpPr>
            <p:nvPr/>
          </p:nvSpPr>
          <p:spPr bwMode="auto">
            <a:xfrm>
              <a:off x="1085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Rectangle 32"/>
            <p:cNvSpPr>
              <a:spLocks noChangeArrowheads="1"/>
            </p:cNvSpPr>
            <p:nvPr/>
          </p:nvSpPr>
          <p:spPr bwMode="auto">
            <a:xfrm>
              <a:off x="1030" y="365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3" name="Freeform 33"/>
            <p:cNvSpPr>
              <a:spLocks/>
            </p:cNvSpPr>
            <p:nvPr/>
          </p:nvSpPr>
          <p:spPr bwMode="auto">
            <a:xfrm>
              <a:off x="1167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Freeform 34"/>
            <p:cNvSpPr>
              <a:spLocks/>
            </p:cNvSpPr>
            <p:nvPr/>
          </p:nvSpPr>
          <p:spPr bwMode="auto">
            <a:xfrm>
              <a:off x="1253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Freeform 35"/>
            <p:cNvSpPr>
              <a:spLocks/>
            </p:cNvSpPr>
            <p:nvPr/>
          </p:nvSpPr>
          <p:spPr bwMode="auto">
            <a:xfrm>
              <a:off x="1340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Freeform 36"/>
            <p:cNvSpPr>
              <a:spLocks/>
            </p:cNvSpPr>
            <p:nvPr/>
          </p:nvSpPr>
          <p:spPr bwMode="auto">
            <a:xfrm>
              <a:off x="142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Freeform 37"/>
            <p:cNvSpPr>
              <a:spLocks/>
            </p:cNvSpPr>
            <p:nvPr/>
          </p:nvSpPr>
          <p:spPr bwMode="auto">
            <a:xfrm>
              <a:off x="1508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Freeform 38"/>
            <p:cNvSpPr>
              <a:spLocks/>
            </p:cNvSpPr>
            <p:nvPr/>
          </p:nvSpPr>
          <p:spPr bwMode="auto">
            <a:xfrm>
              <a:off x="1595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Freeform 39"/>
            <p:cNvSpPr>
              <a:spLocks/>
            </p:cNvSpPr>
            <p:nvPr/>
          </p:nvSpPr>
          <p:spPr bwMode="auto">
            <a:xfrm>
              <a:off x="167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40"/>
            <p:cNvSpPr>
              <a:spLocks/>
            </p:cNvSpPr>
            <p:nvPr/>
          </p:nvSpPr>
          <p:spPr bwMode="auto">
            <a:xfrm>
              <a:off x="176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41"/>
            <p:cNvSpPr>
              <a:spLocks/>
            </p:cNvSpPr>
            <p:nvPr/>
          </p:nvSpPr>
          <p:spPr bwMode="auto">
            <a:xfrm>
              <a:off x="184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42"/>
            <p:cNvSpPr>
              <a:spLocks noChangeShapeType="1"/>
            </p:cNvSpPr>
            <p:nvPr/>
          </p:nvSpPr>
          <p:spPr bwMode="auto">
            <a:xfrm flipV="1">
              <a:off x="1421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43"/>
            <p:cNvSpPr>
              <a:spLocks noChangeShapeType="1"/>
            </p:cNvSpPr>
            <p:nvPr/>
          </p:nvSpPr>
          <p:spPr bwMode="auto">
            <a:xfrm>
              <a:off x="1421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1366" y="365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25" name="Freeform 45"/>
            <p:cNvSpPr>
              <a:spLocks/>
            </p:cNvSpPr>
            <p:nvPr/>
          </p:nvSpPr>
          <p:spPr bwMode="auto">
            <a:xfrm>
              <a:off x="1508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Freeform 46"/>
            <p:cNvSpPr>
              <a:spLocks/>
            </p:cNvSpPr>
            <p:nvPr/>
          </p:nvSpPr>
          <p:spPr bwMode="auto">
            <a:xfrm>
              <a:off x="1595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Freeform 47"/>
            <p:cNvSpPr>
              <a:spLocks/>
            </p:cNvSpPr>
            <p:nvPr/>
          </p:nvSpPr>
          <p:spPr bwMode="auto">
            <a:xfrm>
              <a:off x="167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Freeform 48"/>
            <p:cNvSpPr>
              <a:spLocks/>
            </p:cNvSpPr>
            <p:nvPr/>
          </p:nvSpPr>
          <p:spPr bwMode="auto">
            <a:xfrm>
              <a:off x="176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9" name="Freeform 49"/>
            <p:cNvSpPr>
              <a:spLocks/>
            </p:cNvSpPr>
            <p:nvPr/>
          </p:nvSpPr>
          <p:spPr bwMode="auto">
            <a:xfrm>
              <a:off x="184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Freeform 50"/>
            <p:cNvSpPr>
              <a:spLocks/>
            </p:cNvSpPr>
            <p:nvPr/>
          </p:nvSpPr>
          <p:spPr bwMode="auto">
            <a:xfrm>
              <a:off x="1930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Freeform 51"/>
            <p:cNvSpPr>
              <a:spLocks/>
            </p:cNvSpPr>
            <p:nvPr/>
          </p:nvSpPr>
          <p:spPr bwMode="auto">
            <a:xfrm>
              <a:off x="2017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Freeform 52"/>
            <p:cNvSpPr>
              <a:spLocks/>
            </p:cNvSpPr>
            <p:nvPr/>
          </p:nvSpPr>
          <p:spPr bwMode="auto">
            <a:xfrm>
              <a:off x="2104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Freeform 53"/>
            <p:cNvSpPr>
              <a:spLocks/>
            </p:cNvSpPr>
            <p:nvPr/>
          </p:nvSpPr>
          <p:spPr bwMode="auto">
            <a:xfrm>
              <a:off x="218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Line 54"/>
            <p:cNvSpPr>
              <a:spLocks noChangeShapeType="1"/>
            </p:cNvSpPr>
            <p:nvPr/>
          </p:nvSpPr>
          <p:spPr bwMode="auto">
            <a:xfrm flipV="1">
              <a:off x="1762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Line 55"/>
            <p:cNvSpPr>
              <a:spLocks noChangeShapeType="1"/>
            </p:cNvSpPr>
            <p:nvPr/>
          </p:nvSpPr>
          <p:spPr bwMode="auto">
            <a:xfrm>
              <a:off x="1762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Rectangle 56"/>
            <p:cNvSpPr>
              <a:spLocks noChangeArrowheads="1"/>
            </p:cNvSpPr>
            <p:nvPr/>
          </p:nvSpPr>
          <p:spPr bwMode="auto">
            <a:xfrm>
              <a:off x="1707" y="365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37" name="Freeform 57"/>
            <p:cNvSpPr>
              <a:spLocks/>
            </p:cNvSpPr>
            <p:nvPr/>
          </p:nvSpPr>
          <p:spPr bwMode="auto">
            <a:xfrm>
              <a:off x="184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Freeform 58"/>
            <p:cNvSpPr>
              <a:spLocks/>
            </p:cNvSpPr>
            <p:nvPr/>
          </p:nvSpPr>
          <p:spPr bwMode="auto">
            <a:xfrm>
              <a:off x="1930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Freeform 59"/>
            <p:cNvSpPr>
              <a:spLocks/>
            </p:cNvSpPr>
            <p:nvPr/>
          </p:nvSpPr>
          <p:spPr bwMode="auto">
            <a:xfrm>
              <a:off x="2017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Freeform 60"/>
            <p:cNvSpPr>
              <a:spLocks/>
            </p:cNvSpPr>
            <p:nvPr/>
          </p:nvSpPr>
          <p:spPr bwMode="auto">
            <a:xfrm>
              <a:off x="2104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Freeform 61"/>
            <p:cNvSpPr>
              <a:spLocks/>
            </p:cNvSpPr>
            <p:nvPr/>
          </p:nvSpPr>
          <p:spPr bwMode="auto">
            <a:xfrm>
              <a:off x="218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Freeform 62"/>
            <p:cNvSpPr>
              <a:spLocks/>
            </p:cNvSpPr>
            <p:nvPr/>
          </p:nvSpPr>
          <p:spPr bwMode="auto">
            <a:xfrm>
              <a:off x="227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3" name="Freeform 63"/>
            <p:cNvSpPr>
              <a:spLocks/>
            </p:cNvSpPr>
            <p:nvPr/>
          </p:nvSpPr>
          <p:spPr bwMode="auto">
            <a:xfrm>
              <a:off x="235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4" name="Freeform 64"/>
            <p:cNvSpPr>
              <a:spLocks/>
            </p:cNvSpPr>
            <p:nvPr/>
          </p:nvSpPr>
          <p:spPr bwMode="auto">
            <a:xfrm>
              <a:off x="243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5" name="Freeform 65"/>
            <p:cNvSpPr>
              <a:spLocks/>
            </p:cNvSpPr>
            <p:nvPr/>
          </p:nvSpPr>
          <p:spPr bwMode="auto">
            <a:xfrm>
              <a:off x="252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Line 66"/>
            <p:cNvSpPr>
              <a:spLocks noChangeShapeType="1"/>
            </p:cNvSpPr>
            <p:nvPr/>
          </p:nvSpPr>
          <p:spPr bwMode="auto">
            <a:xfrm flipV="1">
              <a:off x="2104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Line 67"/>
            <p:cNvSpPr>
              <a:spLocks noChangeShapeType="1"/>
            </p:cNvSpPr>
            <p:nvPr/>
          </p:nvSpPr>
          <p:spPr bwMode="auto">
            <a:xfrm>
              <a:off x="2104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8" name="Rectangle 68"/>
            <p:cNvSpPr>
              <a:spLocks noChangeArrowheads="1"/>
            </p:cNvSpPr>
            <p:nvPr/>
          </p:nvSpPr>
          <p:spPr bwMode="auto">
            <a:xfrm>
              <a:off x="2049" y="365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49" name="Freeform 69"/>
            <p:cNvSpPr>
              <a:spLocks/>
            </p:cNvSpPr>
            <p:nvPr/>
          </p:nvSpPr>
          <p:spPr bwMode="auto">
            <a:xfrm>
              <a:off x="218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Freeform 70"/>
            <p:cNvSpPr>
              <a:spLocks/>
            </p:cNvSpPr>
            <p:nvPr/>
          </p:nvSpPr>
          <p:spPr bwMode="auto">
            <a:xfrm>
              <a:off x="227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1" name="Freeform 71"/>
            <p:cNvSpPr>
              <a:spLocks/>
            </p:cNvSpPr>
            <p:nvPr/>
          </p:nvSpPr>
          <p:spPr bwMode="auto">
            <a:xfrm>
              <a:off x="235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2" name="Freeform 72"/>
            <p:cNvSpPr>
              <a:spLocks/>
            </p:cNvSpPr>
            <p:nvPr/>
          </p:nvSpPr>
          <p:spPr bwMode="auto">
            <a:xfrm>
              <a:off x="243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3" name="Freeform 73"/>
            <p:cNvSpPr>
              <a:spLocks/>
            </p:cNvSpPr>
            <p:nvPr/>
          </p:nvSpPr>
          <p:spPr bwMode="auto">
            <a:xfrm>
              <a:off x="252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4" name="Freeform 74"/>
            <p:cNvSpPr>
              <a:spLocks/>
            </p:cNvSpPr>
            <p:nvPr/>
          </p:nvSpPr>
          <p:spPr bwMode="auto">
            <a:xfrm>
              <a:off x="2613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5" name="Freeform 75"/>
            <p:cNvSpPr>
              <a:spLocks/>
            </p:cNvSpPr>
            <p:nvPr/>
          </p:nvSpPr>
          <p:spPr bwMode="auto">
            <a:xfrm>
              <a:off x="2694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6" name="Freeform 76"/>
            <p:cNvSpPr>
              <a:spLocks/>
            </p:cNvSpPr>
            <p:nvPr/>
          </p:nvSpPr>
          <p:spPr bwMode="auto">
            <a:xfrm>
              <a:off x="278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7" name="Freeform 77"/>
            <p:cNvSpPr>
              <a:spLocks/>
            </p:cNvSpPr>
            <p:nvPr/>
          </p:nvSpPr>
          <p:spPr bwMode="auto">
            <a:xfrm>
              <a:off x="2867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8" name="Line 78"/>
            <p:cNvSpPr>
              <a:spLocks noChangeShapeType="1"/>
            </p:cNvSpPr>
            <p:nvPr/>
          </p:nvSpPr>
          <p:spPr bwMode="auto">
            <a:xfrm flipV="1">
              <a:off x="2439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9" name="Line 79"/>
            <p:cNvSpPr>
              <a:spLocks noChangeShapeType="1"/>
            </p:cNvSpPr>
            <p:nvPr/>
          </p:nvSpPr>
          <p:spPr bwMode="auto">
            <a:xfrm>
              <a:off x="2439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0" name="Rectangle 80"/>
            <p:cNvSpPr>
              <a:spLocks noChangeArrowheads="1"/>
            </p:cNvSpPr>
            <p:nvPr/>
          </p:nvSpPr>
          <p:spPr bwMode="auto">
            <a:xfrm>
              <a:off x="2363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61" name="Freeform 81"/>
            <p:cNvSpPr>
              <a:spLocks/>
            </p:cNvSpPr>
            <p:nvPr/>
          </p:nvSpPr>
          <p:spPr bwMode="auto">
            <a:xfrm>
              <a:off x="252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2" name="Freeform 82"/>
            <p:cNvSpPr>
              <a:spLocks/>
            </p:cNvSpPr>
            <p:nvPr/>
          </p:nvSpPr>
          <p:spPr bwMode="auto">
            <a:xfrm>
              <a:off x="2613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3" name="Freeform 83"/>
            <p:cNvSpPr>
              <a:spLocks/>
            </p:cNvSpPr>
            <p:nvPr/>
          </p:nvSpPr>
          <p:spPr bwMode="auto">
            <a:xfrm>
              <a:off x="2694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4" name="Freeform 84"/>
            <p:cNvSpPr>
              <a:spLocks/>
            </p:cNvSpPr>
            <p:nvPr/>
          </p:nvSpPr>
          <p:spPr bwMode="auto">
            <a:xfrm>
              <a:off x="278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5" name="Freeform 85"/>
            <p:cNvSpPr>
              <a:spLocks/>
            </p:cNvSpPr>
            <p:nvPr/>
          </p:nvSpPr>
          <p:spPr bwMode="auto">
            <a:xfrm>
              <a:off x="2867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6" name="Freeform 86"/>
            <p:cNvSpPr>
              <a:spLocks/>
            </p:cNvSpPr>
            <p:nvPr/>
          </p:nvSpPr>
          <p:spPr bwMode="auto">
            <a:xfrm>
              <a:off x="294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7" name="Freeform 87"/>
            <p:cNvSpPr>
              <a:spLocks/>
            </p:cNvSpPr>
            <p:nvPr/>
          </p:nvSpPr>
          <p:spPr bwMode="auto">
            <a:xfrm>
              <a:off x="303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8" name="Freeform 88"/>
            <p:cNvSpPr>
              <a:spLocks/>
            </p:cNvSpPr>
            <p:nvPr/>
          </p:nvSpPr>
          <p:spPr bwMode="auto">
            <a:xfrm>
              <a:off x="312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9" name="Freeform 89"/>
            <p:cNvSpPr>
              <a:spLocks/>
            </p:cNvSpPr>
            <p:nvPr/>
          </p:nvSpPr>
          <p:spPr bwMode="auto">
            <a:xfrm>
              <a:off x="3204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0" name="Line 90"/>
            <p:cNvSpPr>
              <a:spLocks noChangeShapeType="1"/>
            </p:cNvSpPr>
            <p:nvPr/>
          </p:nvSpPr>
          <p:spPr bwMode="auto">
            <a:xfrm flipV="1">
              <a:off x="2781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1" name="Line 91"/>
            <p:cNvSpPr>
              <a:spLocks noChangeShapeType="1"/>
            </p:cNvSpPr>
            <p:nvPr/>
          </p:nvSpPr>
          <p:spPr bwMode="auto">
            <a:xfrm>
              <a:off x="2781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2" name="Rectangle 92"/>
            <p:cNvSpPr>
              <a:spLocks noChangeArrowheads="1"/>
            </p:cNvSpPr>
            <p:nvPr/>
          </p:nvSpPr>
          <p:spPr bwMode="auto">
            <a:xfrm>
              <a:off x="2703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73" name="Freeform 93"/>
            <p:cNvSpPr>
              <a:spLocks/>
            </p:cNvSpPr>
            <p:nvPr/>
          </p:nvSpPr>
          <p:spPr bwMode="auto">
            <a:xfrm>
              <a:off x="2867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4" name="Freeform 94"/>
            <p:cNvSpPr>
              <a:spLocks/>
            </p:cNvSpPr>
            <p:nvPr/>
          </p:nvSpPr>
          <p:spPr bwMode="auto">
            <a:xfrm>
              <a:off x="294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5" name="Freeform 95"/>
            <p:cNvSpPr>
              <a:spLocks/>
            </p:cNvSpPr>
            <p:nvPr/>
          </p:nvSpPr>
          <p:spPr bwMode="auto">
            <a:xfrm>
              <a:off x="3035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6" name="Freeform 96"/>
            <p:cNvSpPr>
              <a:spLocks/>
            </p:cNvSpPr>
            <p:nvPr/>
          </p:nvSpPr>
          <p:spPr bwMode="auto">
            <a:xfrm>
              <a:off x="3122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7" name="Freeform 97"/>
            <p:cNvSpPr>
              <a:spLocks/>
            </p:cNvSpPr>
            <p:nvPr/>
          </p:nvSpPr>
          <p:spPr bwMode="auto">
            <a:xfrm>
              <a:off x="3204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8" name="Freeform 98"/>
            <p:cNvSpPr>
              <a:spLocks/>
            </p:cNvSpPr>
            <p:nvPr/>
          </p:nvSpPr>
          <p:spPr bwMode="auto">
            <a:xfrm>
              <a:off x="3290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9" name="Freeform 99"/>
            <p:cNvSpPr>
              <a:spLocks/>
            </p:cNvSpPr>
            <p:nvPr/>
          </p:nvSpPr>
          <p:spPr bwMode="auto">
            <a:xfrm>
              <a:off x="337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0" name="Freeform 100"/>
            <p:cNvSpPr>
              <a:spLocks/>
            </p:cNvSpPr>
            <p:nvPr/>
          </p:nvSpPr>
          <p:spPr bwMode="auto">
            <a:xfrm>
              <a:off x="345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1" name="Freeform 101"/>
            <p:cNvSpPr>
              <a:spLocks/>
            </p:cNvSpPr>
            <p:nvPr/>
          </p:nvSpPr>
          <p:spPr bwMode="auto">
            <a:xfrm>
              <a:off x="3545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2" name="Line 102"/>
            <p:cNvSpPr>
              <a:spLocks noChangeShapeType="1"/>
            </p:cNvSpPr>
            <p:nvPr/>
          </p:nvSpPr>
          <p:spPr bwMode="auto">
            <a:xfrm flipV="1">
              <a:off x="3122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3" name="Line 103"/>
            <p:cNvSpPr>
              <a:spLocks noChangeShapeType="1"/>
            </p:cNvSpPr>
            <p:nvPr/>
          </p:nvSpPr>
          <p:spPr bwMode="auto">
            <a:xfrm>
              <a:off x="3122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" name="Rectangle 104"/>
            <p:cNvSpPr>
              <a:spLocks noChangeArrowheads="1"/>
            </p:cNvSpPr>
            <p:nvPr/>
          </p:nvSpPr>
          <p:spPr bwMode="auto">
            <a:xfrm>
              <a:off x="3046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85" name="Freeform 105"/>
            <p:cNvSpPr>
              <a:spLocks/>
            </p:cNvSpPr>
            <p:nvPr/>
          </p:nvSpPr>
          <p:spPr bwMode="auto">
            <a:xfrm>
              <a:off x="3204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6" name="Freeform 106"/>
            <p:cNvSpPr>
              <a:spLocks/>
            </p:cNvSpPr>
            <p:nvPr/>
          </p:nvSpPr>
          <p:spPr bwMode="auto">
            <a:xfrm>
              <a:off x="3290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" name="Freeform 107"/>
            <p:cNvSpPr>
              <a:spLocks/>
            </p:cNvSpPr>
            <p:nvPr/>
          </p:nvSpPr>
          <p:spPr bwMode="auto">
            <a:xfrm>
              <a:off x="337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8" name="Freeform 108"/>
            <p:cNvSpPr>
              <a:spLocks/>
            </p:cNvSpPr>
            <p:nvPr/>
          </p:nvSpPr>
          <p:spPr bwMode="auto">
            <a:xfrm>
              <a:off x="3458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9" name="Freeform 109"/>
            <p:cNvSpPr>
              <a:spLocks/>
            </p:cNvSpPr>
            <p:nvPr/>
          </p:nvSpPr>
          <p:spPr bwMode="auto">
            <a:xfrm>
              <a:off x="3545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" name="Freeform 110"/>
            <p:cNvSpPr>
              <a:spLocks/>
            </p:cNvSpPr>
            <p:nvPr/>
          </p:nvSpPr>
          <p:spPr bwMode="auto">
            <a:xfrm>
              <a:off x="363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1" name="Freeform 111"/>
            <p:cNvSpPr>
              <a:spLocks/>
            </p:cNvSpPr>
            <p:nvPr/>
          </p:nvSpPr>
          <p:spPr bwMode="auto">
            <a:xfrm>
              <a:off x="3713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2" name="Freeform 112"/>
            <p:cNvSpPr>
              <a:spLocks/>
            </p:cNvSpPr>
            <p:nvPr/>
          </p:nvSpPr>
          <p:spPr bwMode="auto">
            <a:xfrm>
              <a:off x="379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3" name="Freeform 113"/>
            <p:cNvSpPr>
              <a:spLocks/>
            </p:cNvSpPr>
            <p:nvPr/>
          </p:nvSpPr>
          <p:spPr bwMode="auto">
            <a:xfrm>
              <a:off x="388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4" name="Line 114"/>
            <p:cNvSpPr>
              <a:spLocks noChangeShapeType="1"/>
            </p:cNvSpPr>
            <p:nvPr/>
          </p:nvSpPr>
          <p:spPr bwMode="auto">
            <a:xfrm flipV="1">
              <a:off x="3458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5" name="Line 115"/>
            <p:cNvSpPr>
              <a:spLocks noChangeShapeType="1"/>
            </p:cNvSpPr>
            <p:nvPr/>
          </p:nvSpPr>
          <p:spPr bwMode="auto">
            <a:xfrm>
              <a:off x="3458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6" name="Rectangle 116"/>
            <p:cNvSpPr>
              <a:spLocks noChangeArrowheads="1"/>
            </p:cNvSpPr>
            <p:nvPr/>
          </p:nvSpPr>
          <p:spPr bwMode="auto">
            <a:xfrm>
              <a:off x="3380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97" name="Freeform 117"/>
            <p:cNvSpPr>
              <a:spLocks/>
            </p:cNvSpPr>
            <p:nvPr/>
          </p:nvSpPr>
          <p:spPr bwMode="auto">
            <a:xfrm>
              <a:off x="3545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8" name="Freeform 118"/>
            <p:cNvSpPr>
              <a:spLocks/>
            </p:cNvSpPr>
            <p:nvPr/>
          </p:nvSpPr>
          <p:spPr bwMode="auto">
            <a:xfrm>
              <a:off x="3631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9" name="Freeform 119"/>
            <p:cNvSpPr>
              <a:spLocks/>
            </p:cNvSpPr>
            <p:nvPr/>
          </p:nvSpPr>
          <p:spPr bwMode="auto">
            <a:xfrm>
              <a:off x="3713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0" name="Freeform 120"/>
            <p:cNvSpPr>
              <a:spLocks/>
            </p:cNvSpPr>
            <p:nvPr/>
          </p:nvSpPr>
          <p:spPr bwMode="auto">
            <a:xfrm>
              <a:off x="3799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1" name="Freeform 121"/>
            <p:cNvSpPr>
              <a:spLocks/>
            </p:cNvSpPr>
            <p:nvPr/>
          </p:nvSpPr>
          <p:spPr bwMode="auto">
            <a:xfrm>
              <a:off x="388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2" name="Freeform 122"/>
            <p:cNvSpPr>
              <a:spLocks/>
            </p:cNvSpPr>
            <p:nvPr/>
          </p:nvSpPr>
          <p:spPr bwMode="auto">
            <a:xfrm>
              <a:off x="3967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3" name="Freeform 123"/>
            <p:cNvSpPr>
              <a:spLocks/>
            </p:cNvSpPr>
            <p:nvPr/>
          </p:nvSpPr>
          <p:spPr bwMode="auto">
            <a:xfrm>
              <a:off x="4054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4" name="Freeform 124"/>
            <p:cNvSpPr>
              <a:spLocks/>
            </p:cNvSpPr>
            <p:nvPr/>
          </p:nvSpPr>
          <p:spPr bwMode="auto">
            <a:xfrm>
              <a:off x="4141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5" name="Line 125"/>
            <p:cNvSpPr>
              <a:spLocks noChangeShapeType="1"/>
            </p:cNvSpPr>
            <p:nvPr/>
          </p:nvSpPr>
          <p:spPr bwMode="auto">
            <a:xfrm flipV="1">
              <a:off x="3799" y="3611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6" name="Line 126"/>
            <p:cNvSpPr>
              <a:spLocks noChangeShapeType="1"/>
            </p:cNvSpPr>
            <p:nvPr/>
          </p:nvSpPr>
          <p:spPr bwMode="auto">
            <a:xfrm>
              <a:off x="3799" y="1441"/>
              <a:ext cx="1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7" name="Rectangle 127"/>
            <p:cNvSpPr>
              <a:spLocks noChangeArrowheads="1"/>
            </p:cNvSpPr>
            <p:nvPr/>
          </p:nvSpPr>
          <p:spPr bwMode="auto">
            <a:xfrm>
              <a:off x="3723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08" name="Freeform 128"/>
            <p:cNvSpPr>
              <a:spLocks/>
            </p:cNvSpPr>
            <p:nvPr/>
          </p:nvSpPr>
          <p:spPr bwMode="auto">
            <a:xfrm>
              <a:off x="3886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9" name="Freeform 129"/>
            <p:cNvSpPr>
              <a:spLocks/>
            </p:cNvSpPr>
            <p:nvPr/>
          </p:nvSpPr>
          <p:spPr bwMode="auto">
            <a:xfrm>
              <a:off x="3967" y="1441"/>
              <a:ext cx="1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0" name="Freeform 130"/>
            <p:cNvSpPr>
              <a:spLocks/>
            </p:cNvSpPr>
            <p:nvPr/>
          </p:nvSpPr>
          <p:spPr bwMode="auto">
            <a:xfrm>
              <a:off x="4054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1" name="Freeform 131"/>
            <p:cNvSpPr>
              <a:spLocks/>
            </p:cNvSpPr>
            <p:nvPr/>
          </p:nvSpPr>
          <p:spPr bwMode="auto">
            <a:xfrm>
              <a:off x="4141" y="1441"/>
              <a:ext cx="0" cy="2199"/>
            </a:xfrm>
            <a:custGeom>
              <a:avLst/>
              <a:gdLst>
                <a:gd name="T0" fmla="*/ 0 w 1"/>
                <a:gd name="T1" fmla="*/ 219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2" name="Line 132"/>
            <p:cNvSpPr>
              <a:spLocks noChangeShapeType="1"/>
            </p:cNvSpPr>
            <p:nvPr/>
          </p:nvSpPr>
          <p:spPr bwMode="auto">
            <a:xfrm flipV="1">
              <a:off x="4141" y="3611"/>
              <a:ext cx="0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3" name="Line 133"/>
            <p:cNvSpPr>
              <a:spLocks noChangeShapeType="1"/>
            </p:cNvSpPr>
            <p:nvPr/>
          </p:nvSpPr>
          <p:spPr bwMode="auto">
            <a:xfrm>
              <a:off x="4141" y="1441"/>
              <a:ext cx="0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4" name="Rectangle 134"/>
            <p:cNvSpPr>
              <a:spLocks noChangeArrowheads="1"/>
            </p:cNvSpPr>
            <p:nvPr/>
          </p:nvSpPr>
          <p:spPr bwMode="auto">
            <a:xfrm>
              <a:off x="4064" y="365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15" name="Line 135"/>
            <p:cNvSpPr>
              <a:spLocks noChangeShapeType="1"/>
            </p:cNvSpPr>
            <p:nvPr/>
          </p:nvSpPr>
          <p:spPr bwMode="auto">
            <a:xfrm>
              <a:off x="918" y="3640"/>
              <a:ext cx="2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6" name="Line 136"/>
            <p:cNvSpPr>
              <a:spLocks noChangeShapeType="1"/>
            </p:cNvSpPr>
            <p:nvPr/>
          </p:nvSpPr>
          <p:spPr bwMode="auto">
            <a:xfrm flipH="1">
              <a:off x="4108" y="3640"/>
              <a:ext cx="3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7" name="Rectangle 137"/>
            <p:cNvSpPr>
              <a:spLocks noChangeArrowheads="1"/>
            </p:cNvSpPr>
            <p:nvPr/>
          </p:nvSpPr>
          <p:spPr bwMode="auto">
            <a:xfrm>
              <a:off x="759" y="354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18" name="Freeform 138"/>
            <p:cNvSpPr>
              <a:spLocks/>
            </p:cNvSpPr>
            <p:nvPr/>
          </p:nvSpPr>
          <p:spPr bwMode="auto">
            <a:xfrm>
              <a:off x="918" y="3574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9" name="Freeform 139"/>
            <p:cNvSpPr>
              <a:spLocks/>
            </p:cNvSpPr>
            <p:nvPr/>
          </p:nvSpPr>
          <p:spPr bwMode="auto">
            <a:xfrm>
              <a:off x="918" y="3513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0" name="Freeform 140"/>
            <p:cNvSpPr>
              <a:spLocks/>
            </p:cNvSpPr>
            <p:nvPr/>
          </p:nvSpPr>
          <p:spPr bwMode="auto">
            <a:xfrm>
              <a:off x="918" y="3448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1" name="Freeform 141"/>
            <p:cNvSpPr>
              <a:spLocks/>
            </p:cNvSpPr>
            <p:nvPr/>
          </p:nvSpPr>
          <p:spPr bwMode="auto">
            <a:xfrm>
              <a:off x="918" y="3387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2" name="Freeform 142"/>
            <p:cNvSpPr>
              <a:spLocks/>
            </p:cNvSpPr>
            <p:nvPr/>
          </p:nvSpPr>
          <p:spPr bwMode="auto">
            <a:xfrm>
              <a:off x="918" y="332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3" name="Freeform 143"/>
            <p:cNvSpPr>
              <a:spLocks/>
            </p:cNvSpPr>
            <p:nvPr/>
          </p:nvSpPr>
          <p:spPr bwMode="auto">
            <a:xfrm>
              <a:off x="918" y="326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4" name="Freeform 144"/>
            <p:cNvSpPr>
              <a:spLocks/>
            </p:cNvSpPr>
            <p:nvPr/>
          </p:nvSpPr>
          <p:spPr bwMode="auto">
            <a:xfrm>
              <a:off x="918" y="3200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5" name="Freeform 145"/>
            <p:cNvSpPr>
              <a:spLocks/>
            </p:cNvSpPr>
            <p:nvPr/>
          </p:nvSpPr>
          <p:spPr bwMode="auto">
            <a:xfrm>
              <a:off x="918" y="3134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6" name="Freeform 146"/>
            <p:cNvSpPr>
              <a:spLocks/>
            </p:cNvSpPr>
            <p:nvPr/>
          </p:nvSpPr>
          <p:spPr bwMode="auto">
            <a:xfrm>
              <a:off x="918" y="3074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7" name="Line 147"/>
            <p:cNvSpPr>
              <a:spLocks noChangeShapeType="1"/>
            </p:cNvSpPr>
            <p:nvPr/>
          </p:nvSpPr>
          <p:spPr bwMode="auto">
            <a:xfrm>
              <a:off x="918" y="3322"/>
              <a:ext cx="2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8" name="Line 148"/>
            <p:cNvSpPr>
              <a:spLocks noChangeShapeType="1"/>
            </p:cNvSpPr>
            <p:nvPr/>
          </p:nvSpPr>
          <p:spPr bwMode="auto">
            <a:xfrm flipH="1">
              <a:off x="4108" y="3322"/>
              <a:ext cx="3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9" name="Rectangle 149"/>
            <p:cNvSpPr>
              <a:spLocks noChangeArrowheads="1"/>
            </p:cNvSpPr>
            <p:nvPr/>
          </p:nvSpPr>
          <p:spPr bwMode="auto">
            <a:xfrm>
              <a:off x="720" y="322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30" name="Freeform 150"/>
            <p:cNvSpPr>
              <a:spLocks/>
            </p:cNvSpPr>
            <p:nvPr/>
          </p:nvSpPr>
          <p:spPr bwMode="auto">
            <a:xfrm>
              <a:off x="918" y="326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1" name="Freeform 151"/>
            <p:cNvSpPr>
              <a:spLocks/>
            </p:cNvSpPr>
            <p:nvPr/>
          </p:nvSpPr>
          <p:spPr bwMode="auto">
            <a:xfrm>
              <a:off x="918" y="3200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2" name="Freeform 152"/>
            <p:cNvSpPr>
              <a:spLocks/>
            </p:cNvSpPr>
            <p:nvPr/>
          </p:nvSpPr>
          <p:spPr bwMode="auto">
            <a:xfrm>
              <a:off x="918" y="3134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3" name="Freeform 153"/>
            <p:cNvSpPr>
              <a:spLocks/>
            </p:cNvSpPr>
            <p:nvPr/>
          </p:nvSpPr>
          <p:spPr bwMode="auto">
            <a:xfrm>
              <a:off x="918" y="3074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4" name="Freeform 154"/>
            <p:cNvSpPr>
              <a:spLocks/>
            </p:cNvSpPr>
            <p:nvPr/>
          </p:nvSpPr>
          <p:spPr bwMode="auto">
            <a:xfrm>
              <a:off x="918" y="300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5" name="Freeform 155"/>
            <p:cNvSpPr>
              <a:spLocks/>
            </p:cNvSpPr>
            <p:nvPr/>
          </p:nvSpPr>
          <p:spPr bwMode="auto">
            <a:xfrm>
              <a:off x="918" y="2948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6" name="Freeform 156"/>
            <p:cNvSpPr>
              <a:spLocks/>
            </p:cNvSpPr>
            <p:nvPr/>
          </p:nvSpPr>
          <p:spPr bwMode="auto">
            <a:xfrm>
              <a:off x="918" y="288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7" name="Freeform 157"/>
            <p:cNvSpPr>
              <a:spLocks/>
            </p:cNvSpPr>
            <p:nvPr/>
          </p:nvSpPr>
          <p:spPr bwMode="auto">
            <a:xfrm>
              <a:off x="918" y="2821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8" name="Freeform 158"/>
            <p:cNvSpPr>
              <a:spLocks/>
            </p:cNvSpPr>
            <p:nvPr/>
          </p:nvSpPr>
          <p:spPr bwMode="auto">
            <a:xfrm>
              <a:off x="918" y="2760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9" name="Line 159"/>
            <p:cNvSpPr>
              <a:spLocks noChangeShapeType="1"/>
            </p:cNvSpPr>
            <p:nvPr/>
          </p:nvSpPr>
          <p:spPr bwMode="auto">
            <a:xfrm>
              <a:off x="918" y="3008"/>
              <a:ext cx="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0" name="Line 160"/>
            <p:cNvSpPr>
              <a:spLocks noChangeShapeType="1"/>
            </p:cNvSpPr>
            <p:nvPr/>
          </p:nvSpPr>
          <p:spPr bwMode="auto">
            <a:xfrm flipH="1">
              <a:off x="4108" y="3008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1" name="Rectangle 161"/>
            <p:cNvSpPr>
              <a:spLocks noChangeArrowheads="1"/>
            </p:cNvSpPr>
            <p:nvPr/>
          </p:nvSpPr>
          <p:spPr bwMode="auto">
            <a:xfrm>
              <a:off x="720" y="2911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42" name="Freeform 162"/>
            <p:cNvSpPr>
              <a:spLocks/>
            </p:cNvSpPr>
            <p:nvPr/>
          </p:nvSpPr>
          <p:spPr bwMode="auto">
            <a:xfrm>
              <a:off x="918" y="2948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3" name="Freeform 163"/>
            <p:cNvSpPr>
              <a:spLocks/>
            </p:cNvSpPr>
            <p:nvPr/>
          </p:nvSpPr>
          <p:spPr bwMode="auto">
            <a:xfrm>
              <a:off x="918" y="288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4" name="Freeform 164"/>
            <p:cNvSpPr>
              <a:spLocks/>
            </p:cNvSpPr>
            <p:nvPr/>
          </p:nvSpPr>
          <p:spPr bwMode="auto">
            <a:xfrm>
              <a:off x="918" y="2821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5" name="Freeform 165"/>
            <p:cNvSpPr>
              <a:spLocks/>
            </p:cNvSpPr>
            <p:nvPr/>
          </p:nvSpPr>
          <p:spPr bwMode="auto">
            <a:xfrm>
              <a:off x="918" y="2760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6" name="Freeform 166"/>
            <p:cNvSpPr>
              <a:spLocks/>
            </p:cNvSpPr>
            <p:nvPr/>
          </p:nvSpPr>
          <p:spPr bwMode="auto">
            <a:xfrm>
              <a:off x="918" y="2695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7" name="Freeform 167"/>
            <p:cNvSpPr>
              <a:spLocks/>
            </p:cNvSpPr>
            <p:nvPr/>
          </p:nvSpPr>
          <p:spPr bwMode="auto">
            <a:xfrm>
              <a:off x="918" y="2634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8" name="Freeform 168"/>
            <p:cNvSpPr>
              <a:spLocks/>
            </p:cNvSpPr>
            <p:nvPr/>
          </p:nvSpPr>
          <p:spPr bwMode="auto">
            <a:xfrm>
              <a:off x="918" y="2569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9" name="Freeform 169"/>
            <p:cNvSpPr>
              <a:spLocks/>
            </p:cNvSpPr>
            <p:nvPr/>
          </p:nvSpPr>
          <p:spPr bwMode="auto">
            <a:xfrm>
              <a:off x="918" y="250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0" name="Freeform 170"/>
            <p:cNvSpPr>
              <a:spLocks/>
            </p:cNvSpPr>
            <p:nvPr/>
          </p:nvSpPr>
          <p:spPr bwMode="auto">
            <a:xfrm>
              <a:off x="918" y="244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1" name="Line 171"/>
            <p:cNvSpPr>
              <a:spLocks noChangeShapeType="1"/>
            </p:cNvSpPr>
            <p:nvPr/>
          </p:nvSpPr>
          <p:spPr bwMode="auto">
            <a:xfrm>
              <a:off x="918" y="2695"/>
              <a:ext cx="2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2" name="Line 172"/>
            <p:cNvSpPr>
              <a:spLocks noChangeShapeType="1"/>
            </p:cNvSpPr>
            <p:nvPr/>
          </p:nvSpPr>
          <p:spPr bwMode="auto">
            <a:xfrm flipH="1">
              <a:off x="4108" y="2695"/>
              <a:ext cx="3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3" name="Rectangle 173"/>
            <p:cNvSpPr>
              <a:spLocks noChangeArrowheads="1"/>
            </p:cNvSpPr>
            <p:nvPr/>
          </p:nvSpPr>
          <p:spPr bwMode="auto">
            <a:xfrm>
              <a:off x="720" y="2597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30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54" name="Freeform 174"/>
            <p:cNvSpPr>
              <a:spLocks/>
            </p:cNvSpPr>
            <p:nvPr/>
          </p:nvSpPr>
          <p:spPr bwMode="auto">
            <a:xfrm>
              <a:off x="918" y="2634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5" name="Freeform 175"/>
            <p:cNvSpPr>
              <a:spLocks/>
            </p:cNvSpPr>
            <p:nvPr/>
          </p:nvSpPr>
          <p:spPr bwMode="auto">
            <a:xfrm>
              <a:off x="918" y="2569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6" name="Freeform 176"/>
            <p:cNvSpPr>
              <a:spLocks/>
            </p:cNvSpPr>
            <p:nvPr/>
          </p:nvSpPr>
          <p:spPr bwMode="auto">
            <a:xfrm>
              <a:off x="918" y="250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7" name="Freeform 177"/>
            <p:cNvSpPr>
              <a:spLocks/>
            </p:cNvSpPr>
            <p:nvPr/>
          </p:nvSpPr>
          <p:spPr bwMode="auto">
            <a:xfrm>
              <a:off x="918" y="244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8" name="Freeform 178"/>
            <p:cNvSpPr>
              <a:spLocks/>
            </p:cNvSpPr>
            <p:nvPr/>
          </p:nvSpPr>
          <p:spPr bwMode="auto">
            <a:xfrm>
              <a:off x="918" y="238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9" name="Freeform 179"/>
            <p:cNvSpPr>
              <a:spLocks/>
            </p:cNvSpPr>
            <p:nvPr/>
          </p:nvSpPr>
          <p:spPr bwMode="auto">
            <a:xfrm>
              <a:off x="918" y="2321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0" name="Freeform 180"/>
            <p:cNvSpPr>
              <a:spLocks/>
            </p:cNvSpPr>
            <p:nvPr/>
          </p:nvSpPr>
          <p:spPr bwMode="auto">
            <a:xfrm>
              <a:off x="918" y="2255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1" name="Freeform 181"/>
            <p:cNvSpPr>
              <a:spLocks/>
            </p:cNvSpPr>
            <p:nvPr/>
          </p:nvSpPr>
          <p:spPr bwMode="auto">
            <a:xfrm>
              <a:off x="918" y="2195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2" name="Freeform 182"/>
            <p:cNvSpPr>
              <a:spLocks/>
            </p:cNvSpPr>
            <p:nvPr/>
          </p:nvSpPr>
          <p:spPr bwMode="auto">
            <a:xfrm>
              <a:off x="918" y="2129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3" name="Line 183"/>
            <p:cNvSpPr>
              <a:spLocks noChangeShapeType="1"/>
            </p:cNvSpPr>
            <p:nvPr/>
          </p:nvSpPr>
          <p:spPr bwMode="auto">
            <a:xfrm>
              <a:off x="918" y="2381"/>
              <a:ext cx="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4" name="Line 184"/>
            <p:cNvSpPr>
              <a:spLocks noChangeShapeType="1"/>
            </p:cNvSpPr>
            <p:nvPr/>
          </p:nvSpPr>
          <p:spPr bwMode="auto">
            <a:xfrm flipH="1">
              <a:off x="4108" y="238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5" name="Rectangle 185"/>
            <p:cNvSpPr>
              <a:spLocks noChangeArrowheads="1"/>
            </p:cNvSpPr>
            <p:nvPr/>
          </p:nvSpPr>
          <p:spPr bwMode="auto">
            <a:xfrm>
              <a:off x="720" y="228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66" name="Freeform 186"/>
            <p:cNvSpPr>
              <a:spLocks/>
            </p:cNvSpPr>
            <p:nvPr/>
          </p:nvSpPr>
          <p:spPr bwMode="auto">
            <a:xfrm>
              <a:off x="918" y="2321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7" name="Freeform 187"/>
            <p:cNvSpPr>
              <a:spLocks/>
            </p:cNvSpPr>
            <p:nvPr/>
          </p:nvSpPr>
          <p:spPr bwMode="auto">
            <a:xfrm>
              <a:off x="918" y="2255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8" name="Freeform 188"/>
            <p:cNvSpPr>
              <a:spLocks/>
            </p:cNvSpPr>
            <p:nvPr/>
          </p:nvSpPr>
          <p:spPr bwMode="auto">
            <a:xfrm>
              <a:off x="918" y="2195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9" name="Freeform 189"/>
            <p:cNvSpPr>
              <a:spLocks/>
            </p:cNvSpPr>
            <p:nvPr/>
          </p:nvSpPr>
          <p:spPr bwMode="auto">
            <a:xfrm>
              <a:off x="918" y="2129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0" name="Freeform 190"/>
            <p:cNvSpPr>
              <a:spLocks/>
            </p:cNvSpPr>
            <p:nvPr/>
          </p:nvSpPr>
          <p:spPr bwMode="auto">
            <a:xfrm>
              <a:off x="918" y="2068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1" name="Freeform 191"/>
            <p:cNvSpPr>
              <a:spLocks/>
            </p:cNvSpPr>
            <p:nvPr/>
          </p:nvSpPr>
          <p:spPr bwMode="auto">
            <a:xfrm>
              <a:off x="918" y="200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2" name="Freeform 192"/>
            <p:cNvSpPr>
              <a:spLocks/>
            </p:cNvSpPr>
            <p:nvPr/>
          </p:nvSpPr>
          <p:spPr bwMode="auto">
            <a:xfrm>
              <a:off x="918" y="194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3" name="Freeform 193"/>
            <p:cNvSpPr>
              <a:spLocks/>
            </p:cNvSpPr>
            <p:nvPr/>
          </p:nvSpPr>
          <p:spPr bwMode="auto">
            <a:xfrm>
              <a:off x="918" y="188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4" name="Freeform 194"/>
            <p:cNvSpPr>
              <a:spLocks/>
            </p:cNvSpPr>
            <p:nvPr/>
          </p:nvSpPr>
          <p:spPr bwMode="auto">
            <a:xfrm>
              <a:off x="918" y="1816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5" name="Line 195"/>
            <p:cNvSpPr>
              <a:spLocks noChangeShapeType="1"/>
            </p:cNvSpPr>
            <p:nvPr/>
          </p:nvSpPr>
          <p:spPr bwMode="auto">
            <a:xfrm>
              <a:off x="918" y="2068"/>
              <a:ext cx="2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6" name="Line 196"/>
            <p:cNvSpPr>
              <a:spLocks noChangeShapeType="1"/>
            </p:cNvSpPr>
            <p:nvPr/>
          </p:nvSpPr>
          <p:spPr bwMode="auto">
            <a:xfrm flipH="1">
              <a:off x="4108" y="2068"/>
              <a:ext cx="3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7" name="Rectangle 197"/>
            <p:cNvSpPr>
              <a:spLocks noChangeArrowheads="1"/>
            </p:cNvSpPr>
            <p:nvPr/>
          </p:nvSpPr>
          <p:spPr bwMode="auto">
            <a:xfrm>
              <a:off x="720" y="1970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50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78" name="Freeform 198"/>
            <p:cNvSpPr>
              <a:spLocks/>
            </p:cNvSpPr>
            <p:nvPr/>
          </p:nvSpPr>
          <p:spPr bwMode="auto">
            <a:xfrm>
              <a:off x="918" y="200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9" name="Freeform 199"/>
            <p:cNvSpPr>
              <a:spLocks/>
            </p:cNvSpPr>
            <p:nvPr/>
          </p:nvSpPr>
          <p:spPr bwMode="auto">
            <a:xfrm>
              <a:off x="918" y="1942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0" name="Freeform 200"/>
            <p:cNvSpPr>
              <a:spLocks/>
            </p:cNvSpPr>
            <p:nvPr/>
          </p:nvSpPr>
          <p:spPr bwMode="auto">
            <a:xfrm>
              <a:off x="918" y="188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1" name="Freeform 201"/>
            <p:cNvSpPr>
              <a:spLocks/>
            </p:cNvSpPr>
            <p:nvPr/>
          </p:nvSpPr>
          <p:spPr bwMode="auto">
            <a:xfrm>
              <a:off x="918" y="1816"/>
              <a:ext cx="3223" cy="0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2" name="Freeform 202"/>
            <p:cNvSpPr>
              <a:spLocks/>
            </p:cNvSpPr>
            <p:nvPr/>
          </p:nvSpPr>
          <p:spPr bwMode="auto">
            <a:xfrm>
              <a:off x="918" y="1755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3" name="Freeform 203"/>
            <p:cNvSpPr>
              <a:spLocks/>
            </p:cNvSpPr>
            <p:nvPr/>
          </p:nvSpPr>
          <p:spPr bwMode="auto">
            <a:xfrm>
              <a:off x="918" y="1689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4" name="Freeform 204"/>
            <p:cNvSpPr>
              <a:spLocks/>
            </p:cNvSpPr>
            <p:nvPr/>
          </p:nvSpPr>
          <p:spPr bwMode="auto">
            <a:xfrm>
              <a:off x="918" y="162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" name="Freeform 205"/>
            <p:cNvSpPr>
              <a:spLocks/>
            </p:cNvSpPr>
            <p:nvPr/>
          </p:nvSpPr>
          <p:spPr bwMode="auto">
            <a:xfrm>
              <a:off x="918" y="1563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6" name="Freeform 206"/>
            <p:cNvSpPr>
              <a:spLocks/>
            </p:cNvSpPr>
            <p:nvPr/>
          </p:nvSpPr>
          <p:spPr bwMode="auto">
            <a:xfrm>
              <a:off x="918" y="150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" name="Line 207"/>
            <p:cNvSpPr>
              <a:spLocks noChangeShapeType="1"/>
            </p:cNvSpPr>
            <p:nvPr/>
          </p:nvSpPr>
          <p:spPr bwMode="auto">
            <a:xfrm>
              <a:off x="918" y="1755"/>
              <a:ext cx="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" name="Line 208"/>
            <p:cNvSpPr>
              <a:spLocks noChangeShapeType="1"/>
            </p:cNvSpPr>
            <p:nvPr/>
          </p:nvSpPr>
          <p:spPr bwMode="auto">
            <a:xfrm flipH="1">
              <a:off x="4108" y="1755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9" name="Rectangle 209"/>
            <p:cNvSpPr>
              <a:spLocks noChangeArrowheads="1"/>
            </p:cNvSpPr>
            <p:nvPr/>
          </p:nvSpPr>
          <p:spPr bwMode="auto">
            <a:xfrm>
              <a:off x="720" y="1657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90" name="Freeform 210"/>
            <p:cNvSpPr>
              <a:spLocks/>
            </p:cNvSpPr>
            <p:nvPr/>
          </p:nvSpPr>
          <p:spPr bwMode="auto">
            <a:xfrm>
              <a:off x="918" y="1689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1" name="Freeform 211"/>
            <p:cNvSpPr>
              <a:spLocks/>
            </p:cNvSpPr>
            <p:nvPr/>
          </p:nvSpPr>
          <p:spPr bwMode="auto">
            <a:xfrm>
              <a:off x="918" y="1628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2" name="Freeform 212"/>
            <p:cNvSpPr>
              <a:spLocks/>
            </p:cNvSpPr>
            <p:nvPr/>
          </p:nvSpPr>
          <p:spPr bwMode="auto">
            <a:xfrm>
              <a:off x="918" y="1563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3" name="Freeform 213"/>
            <p:cNvSpPr>
              <a:spLocks/>
            </p:cNvSpPr>
            <p:nvPr/>
          </p:nvSpPr>
          <p:spPr bwMode="auto">
            <a:xfrm>
              <a:off x="918" y="1502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4" name="Freeform 214"/>
            <p:cNvSpPr>
              <a:spLocks/>
            </p:cNvSpPr>
            <p:nvPr/>
          </p:nvSpPr>
          <p:spPr bwMode="auto">
            <a:xfrm>
              <a:off x="918" y="1441"/>
              <a:ext cx="3223" cy="1"/>
            </a:xfrm>
            <a:custGeom>
              <a:avLst/>
              <a:gdLst>
                <a:gd name="T0" fmla="*/ 0 w 595"/>
                <a:gd name="T1" fmla="*/ 0 h 1"/>
                <a:gd name="T2" fmla="*/ 3223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5" name="Line 215"/>
            <p:cNvSpPr>
              <a:spLocks noChangeShapeType="1"/>
            </p:cNvSpPr>
            <p:nvPr/>
          </p:nvSpPr>
          <p:spPr bwMode="auto">
            <a:xfrm>
              <a:off x="918" y="1441"/>
              <a:ext cx="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6" name="Line 216"/>
            <p:cNvSpPr>
              <a:spLocks noChangeShapeType="1"/>
            </p:cNvSpPr>
            <p:nvPr/>
          </p:nvSpPr>
          <p:spPr bwMode="auto">
            <a:xfrm flipH="1">
              <a:off x="4108" y="144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7" name="Rectangle 217"/>
            <p:cNvSpPr>
              <a:spLocks noChangeArrowheads="1"/>
            </p:cNvSpPr>
            <p:nvPr/>
          </p:nvSpPr>
          <p:spPr bwMode="auto">
            <a:xfrm>
              <a:off x="720" y="134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70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698" name="Line 218"/>
            <p:cNvSpPr>
              <a:spLocks noChangeShapeType="1"/>
            </p:cNvSpPr>
            <p:nvPr/>
          </p:nvSpPr>
          <p:spPr bwMode="auto">
            <a:xfrm>
              <a:off x="918" y="1441"/>
              <a:ext cx="322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9" name="Freeform 219"/>
            <p:cNvSpPr>
              <a:spLocks/>
            </p:cNvSpPr>
            <p:nvPr/>
          </p:nvSpPr>
          <p:spPr bwMode="auto">
            <a:xfrm>
              <a:off x="918" y="1441"/>
              <a:ext cx="3223" cy="2199"/>
            </a:xfrm>
            <a:custGeom>
              <a:avLst/>
              <a:gdLst>
                <a:gd name="T0" fmla="*/ 0 w 595"/>
                <a:gd name="T1" fmla="*/ 2199 h 470"/>
                <a:gd name="T2" fmla="*/ 3223 w 595"/>
                <a:gd name="T3" fmla="*/ 2199 h 470"/>
                <a:gd name="T4" fmla="*/ 3223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0" name="Line 220"/>
            <p:cNvSpPr>
              <a:spLocks noChangeShapeType="1"/>
            </p:cNvSpPr>
            <p:nvPr/>
          </p:nvSpPr>
          <p:spPr bwMode="auto">
            <a:xfrm flipV="1">
              <a:off x="918" y="1441"/>
              <a:ext cx="0" cy="219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701" name="Group 221"/>
            <p:cNvGrpSpPr>
              <a:grpSpLocks/>
            </p:cNvGrpSpPr>
            <p:nvPr/>
          </p:nvGrpSpPr>
          <p:grpSpPr bwMode="auto">
            <a:xfrm>
              <a:off x="918" y="1601"/>
              <a:ext cx="3223" cy="2039"/>
              <a:chOff x="867" y="667"/>
              <a:chExt cx="4217" cy="3090"/>
            </a:xfrm>
          </p:grpSpPr>
          <p:sp>
            <p:nvSpPr>
              <p:cNvPr id="20704" name="Freeform 222"/>
              <p:cNvSpPr>
                <a:spLocks/>
              </p:cNvSpPr>
              <p:nvPr/>
            </p:nvSpPr>
            <p:spPr bwMode="auto">
              <a:xfrm>
                <a:off x="867" y="908"/>
                <a:ext cx="2813" cy="2849"/>
              </a:xfrm>
              <a:custGeom>
                <a:avLst/>
                <a:gdLst>
                  <a:gd name="T0" fmla="*/ 42 w 2813"/>
                  <a:gd name="T1" fmla="*/ 2593 h 2849"/>
                  <a:gd name="T2" fmla="*/ 106 w 2813"/>
                  <a:gd name="T3" fmla="*/ 2296 h 2849"/>
                  <a:gd name="T4" fmla="*/ 177 w 2813"/>
                  <a:gd name="T5" fmla="*/ 2055 h 2849"/>
                  <a:gd name="T6" fmla="*/ 241 w 2813"/>
                  <a:gd name="T7" fmla="*/ 1856 h 2849"/>
                  <a:gd name="T8" fmla="*/ 304 w 2813"/>
                  <a:gd name="T9" fmla="*/ 1686 h 2849"/>
                  <a:gd name="T10" fmla="*/ 375 w 2813"/>
                  <a:gd name="T11" fmla="*/ 1545 h 2849"/>
                  <a:gd name="T12" fmla="*/ 439 w 2813"/>
                  <a:gd name="T13" fmla="*/ 1417 h 2849"/>
                  <a:gd name="T14" fmla="*/ 510 w 2813"/>
                  <a:gd name="T15" fmla="*/ 1304 h 2849"/>
                  <a:gd name="T16" fmla="*/ 574 w 2813"/>
                  <a:gd name="T17" fmla="*/ 1204 h 2849"/>
                  <a:gd name="T18" fmla="*/ 638 w 2813"/>
                  <a:gd name="T19" fmla="*/ 1119 h 2849"/>
                  <a:gd name="T20" fmla="*/ 708 w 2813"/>
                  <a:gd name="T21" fmla="*/ 1034 h 2849"/>
                  <a:gd name="T22" fmla="*/ 772 w 2813"/>
                  <a:gd name="T23" fmla="*/ 963 h 2849"/>
                  <a:gd name="T24" fmla="*/ 843 w 2813"/>
                  <a:gd name="T25" fmla="*/ 900 h 2849"/>
                  <a:gd name="T26" fmla="*/ 907 w 2813"/>
                  <a:gd name="T27" fmla="*/ 836 h 2849"/>
                  <a:gd name="T28" fmla="*/ 971 w 2813"/>
                  <a:gd name="T29" fmla="*/ 779 h 2849"/>
                  <a:gd name="T30" fmla="*/ 1042 w 2813"/>
                  <a:gd name="T31" fmla="*/ 722 h 2849"/>
                  <a:gd name="T32" fmla="*/ 1105 w 2813"/>
                  <a:gd name="T33" fmla="*/ 673 h 2849"/>
                  <a:gd name="T34" fmla="*/ 1169 w 2813"/>
                  <a:gd name="T35" fmla="*/ 630 h 2849"/>
                  <a:gd name="T36" fmla="*/ 1240 w 2813"/>
                  <a:gd name="T37" fmla="*/ 588 h 2849"/>
                  <a:gd name="T38" fmla="*/ 1304 w 2813"/>
                  <a:gd name="T39" fmla="*/ 545 h 2849"/>
                  <a:gd name="T40" fmla="*/ 1375 w 2813"/>
                  <a:gd name="T41" fmla="*/ 510 h 2849"/>
                  <a:gd name="T42" fmla="*/ 1438 w 2813"/>
                  <a:gd name="T43" fmla="*/ 474 h 2849"/>
                  <a:gd name="T44" fmla="*/ 1502 w 2813"/>
                  <a:gd name="T45" fmla="*/ 439 h 2849"/>
                  <a:gd name="T46" fmla="*/ 1573 w 2813"/>
                  <a:gd name="T47" fmla="*/ 404 h 2849"/>
                  <a:gd name="T48" fmla="*/ 1637 w 2813"/>
                  <a:gd name="T49" fmla="*/ 375 h 2849"/>
                  <a:gd name="T50" fmla="*/ 1708 w 2813"/>
                  <a:gd name="T51" fmla="*/ 347 h 2849"/>
                  <a:gd name="T52" fmla="*/ 1772 w 2813"/>
                  <a:gd name="T53" fmla="*/ 319 h 2849"/>
                  <a:gd name="T54" fmla="*/ 1835 w 2813"/>
                  <a:gd name="T55" fmla="*/ 290 h 2849"/>
                  <a:gd name="T56" fmla="*/ 1906 w 2813"/>
                  <a:gd name="T57" fmla="*/ 262 h 2849"/>
                  <a:gd name="T58" fmla="*/ 1970 w 2813"/>
                  <a:gd name="T59" fmla="*/ 241 h 2849"/>
                  <a:gd name="T60" fmla="*/ 2041 w 2813"/>
                  <a:gd name="T61" fmla="*/ 219 h 2849"/>
                  <a:gd name="T62" fmla="*/ 2105 w 2813"/>
                  <a:gd name="T63" fmla="*/ 198 h 2849"/>
                  <a:gd name="T64" fmla="*/ 2168 w 2813"/>
                  <a:gd name="T65" fmla="*/ 170 h 2849"/>
                  <a:gd name="T66" fmla="*/ 2239 w 2813"/>
                  <a:gd name="T67" fmla="*/ 156 h 2849"/>
                  <a:gd name="T68" fmla="*/ 2303 w 2813"/>
                  <a:gd name="T69" fmla="*/ 134 h 2849"/>
                  <a:gd name="T70" fmla="*/ 2374 w 2813"/>
                  <a:gd name="T71" fmla="*/ 113 h 2849"/>
                  <a:gd name="T72" fmla="*/ 2438 w 2813"/>
                  <a:gd name="T73" fmla="*/ 92 h 2849"/>
                  <a:gd name="T74" fmla="*/ 2502 w 2813"/>
                  <a:gd name="T75" fmla="*/ 78 h 2849"/>
                  <a:gd name="T76" fmla="*/ 2572 w 2813"/>
                  <a:gd name="T77" fmla="*/ 56 h 2849"/>
                  <a:gd name="T78" fmla="*/ 2636 w 2813"/>
                  <a:gd name="T79" fmla="*/ 42 h 2849"/>
                  <a:gd name="T80" fmla="*/ 2707 w 2813"/>
                  <a:gd name="T81" fmla="*/ 28 h 2849"/>
                  <a:gd name="T82" fmla="*/ 2771 w 2813"/>
                  <a:gd name="T83" fmla="*/ 14 h 28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13"/>
                  <a:gd name="T127" fmla="*/ 0 h 2849"/>
                  <a:gd name="T128" fmla="*/ 2813 w 2813"/>
                  <a:gd name="T129" fmla="*/ 2849 h 28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13" h="2849">
                    <a:moveTo>
                      <a:pt x="0" y="2849"/>
                    </a:moveTo>
                    <a:lnTo>
                      <a:pt x="21" y="2714"/>
                    </a:lnTo>
                    <a:lnTo>
                      <a:pt x="42" y="2593"/>
                    </a:lnTo>
                    <a:lnTo>
                      <a:pt x="64" y="2487"/>
                    </a:lnTo>
                    <a:lnTo>
                      <a:pt x="85" y="2388"/>
                    </a:lnTo>
                    <a:lnTo>
                      <a:pt x="106" y="2296"/>
                    </a:lnTo>
                    <a:lnTo>
                      <a:pt x="127" y="2211"/>
                    </a:lnTo>
                    <a:lnTo>
                      <a:pt x="149" y="2133"/>
                    </a:lnTo>
                    <a:lnTo>
                      <a:pt x="177" y="2055"/>
                    </a:lnTo>
                    <a:lnTo>
                      <a:pt x="198" y="1984"/>
                    </a:lnTo>
                    <a:lnTo>
                      <a:pt x="219" y="1920"/>
                    </a:lnTo>
                    <a:lnTo>
                      <a:pt x="241" y="1856"/>
                    </a:lnTo>
                    <a:lnTo>
                      <a:pt x="262" y="1800"/>
                    </a:lnTo>
                    <a:lnTo>
                      <a:pt x="283" y="1743"/>
                    </a:lnTo>
                    <a:lnTo>
                      <a:pt x="304" y="1686"/>
                    </a:lnTo>
                    <a:lnTo>
                      <a:pt x="326" y="1637"/>
                    </a:lnTo>
                    <a:lnTo>
                      <a:pt x="354" y="1587"/>
                    </a:lnTo>
                    <a:lnTo>
                      <a:pt x="375" y="1545"/>
                    </a:lnTo>
                    <a:lnTo>
                      <a:pt x="397" y="1502"/>
                    </a:lnTo>
                    <a:lnTo>
                      <a:pt x="418" y="1460"/>
                    </a:lnTo>
                    <a:lnTo>
                      <a:pt x="439" y="1417"/>
                    </a:lnTo>
                    <a:lnTo>
                      <a:pt x="460" y="1382"/>
                    </a:lnTo>
                    <a:lnTo>
                      <a:pt x="482" y="1339"/>
                    </a:lnTo>
                    <a:lnTo>
                      <a:pt x="510" y="1304"/>
                    </a:lnTo>
                    <a:lnTo>
                      <a:pt x="531" y="1275"/>
                    </a:lnTo>
                    <a:lnTo>
                      <a:pt x="553" y="1240"/>
                    </a:lnTo>
                    <a:lnTo>
                      <a:pt x="574" y="1204"/>
                    </a:lnTo>
                    <a:lnTo>
                      <a:pt x="595" y="1176"/>
                    </a:lnTo>
                    <a:lnTo>
                      <a:pt x="616" y="1148"/>
                    </a:lnTo>
                    <a:lnTo>
                      <a:pt x="638" y="1119"/>
                    </a:lnTo>
                    <a:lnTo>
                      <a:pt x="659" y="1091"/>
                    </a:lnTo>
                    <a:lnTo>
                      <a:pt x="687" y="1063"/>
                    </a:lnTo>
                    <a:lnTo>
                      <a:pt x="708" y="1034"/>
                    </a:lnTo>
                    <a:lnTo>
                      <a:pt x="730" y="1013"/>
                    </a:lnTo>
                    <a:lnTo>
                      <a:pt x="751" y="985"/>
                    </a:lnTo>
                    <a:lnTo>
                      <a:pt x="772" y="963"/>
                    </a:lnTo>
                    <a:lnTo>
                      <a:pt x="793" y="942"/>
                    </a:lnTo>
                    <a:lnTo>
                      <a:pt x="815" y="921"/>
                    </a:lnTo>
                    <a:lnTo>
                      <a:pt x="843" y="900"/>
                    </a:lnTo>
                    <a:lnTo>
                      <a:pt x="864" y="878"/>
                    </a:lnTo>
                    <a:lnTo>
                      <a:pt x="886" y="857"/>
                    </a:lnTo>
                    <a:lnTo>
                      <a:pt x="907" y="836"/>
                    </a:lnTo>
                    <a:lnTo>
                      <a:pt x="928" y="815"/>
                    </a:lnTo>
                    <a:lnTo>
                      <a:pt x="949" y="800"/>
                    </a:lnTo>
                    <a:lnTo>
                      <a:pt x="971" y="779"/>
                    </a:lnTo>
                    <a:lnTo>
                      <a:pt x="992" y="758"/>
                    </a:lnTo>
                    <a:lnTo>
                      <a:pt x="1020" y="744"/>
                    </a:lnTo>
                    <a:lnTo>
                      <a:pt x="1042" y="722"/>
                    </a:lnTo>
                    <a:lnTo>
                      <a:pt x="1063" y="708"/>
                    </a:lnTo>
                    <a:lnTo>
                      <a:pt x="1084" y="694"/>
                    </a:lnTo>
                    <a:lnTo>
                      <a:pt x="1105" y="673"/>
                    </a:lnTo>
                    <a:lnTo>
                      <a:pt x="1127" y="659"/>
                    </a:lnTo>
                    <a:lnTo>
                      <a:pt x="1148" y="645"/>
                    </a:lnTo>
                    <a:lnTo>
                      <a:pt x="1169" y="630"/>
                    </a:lnTo>
                    <a:lnTo>
                      <a:pt x="1197" y="616"/>
                    </a:lnTo>
                    <a:lnTo>
                      <a:pt x="1219" y="602"/>
                    </a:lnTo>
                    <a:lnTo>
                      <a:pt x="1240" y="588"/>
                    </a:lnTo>
                    <a:lnTo>
                      <a:pt x="1261" y="574"/>
                    </a:lnTo>
                    <a:lnTo>
                      <a:pt x="1283" y="559"/>
                    </a:lnTo>
                    <a:lnTo>
                      <a:pt x="1304" y="545"/>
                    </a:lnTo>
                    <a:lnTo>
                      <a:pt x="1325" y="531"/>
                    </a:lnTo>
                    <a:lnTo>
                      <a:pt x="1353" y="517"/>
                    </a:lnTo>
                    <a:lnTo>
                      <a:pt x="1375" y="510"/>
                    </a:lnTo>
                    <a:lnTo>
                      <a:pt x="1396" y="496"/>
                    </a:lnTo>
                    <a:lnTo>
                      <a:pt x="1417" y="482"/>
                    </a:lnTo>
                    <a:lnTo>
                      <a:pt x="1438" y="474"/>
                    </a:lnTo>
                    <a:lnTo>
                      <a:pt x="1460" y="460"/>
                    </a:lnTo>
                    <a:lnTo>
                      <a:pt x="1481" y="446"/>
                    </a:lnTo>
                    <a:lnTo>
                      <a:pt x="1502" y="439"/>
                    </a:lnTo>
                    <a:lnTo>
                      <a:pt x="1531" y="425"/>
                    </a:lnTo>
                    <a:lnTo>
                      <a:pt x="1552" y="418"/>
                    </a:lnTo>
                    <a:lnTo>
                      <a:pt x="1573" y="404"/>
                    </a:lnTo>
                    <a:lnTo>
                      <a:pt x="1594" y="396"/>
                    </a:lnTo>
                    <a:lnTo>
                      <a:pt x="1616" y="382"/>
                    </a:lnTo>
                    <a:lnTo>
                      <a:pt x="1637" y="375"/>
                    </a:lnTo>
                    <a:lnTo>
                      <a:pt x="1658" y="361"/>
                    </a:lnTo>
                    <a:lnTo>
                      <a:pt x="1686" y="354"/>
                    </a:lnTo>
                    <a:lnTo>
                      <a:pt x="1708" y="347"/>
                    </a:lnTo>
                    <a:lnTo>
                      <a:pt x="1729" y="333"/>
                    </a:lnTo>
                    <a:lnTo>
                      <a:pt x="1750" y="326"/>
                    </a:lnTo>
                    <a:lnTo>
                      <a:pt x="1772" y="319"/>
                    </a:lnTo>
                    <a:lnTo>
                      <a:pt x="1793" y="304"/>
                    </a:lnTo>
                    <a:lnTo>
                      <a:pt x="1814" y="297"/>
                    </a:lnTo>
                    <a:lnTo>
                      <a:pt x="1835" y="290"/>
                    </a:lnTo>
                    <a:lnTo>
                      <a:pt x="1864" y="283"/>
                    </a:lnTo>
                    <a:lnTo>
                      <a:pt x="1885" y="276"/>
                    </a:lnTo>
                    <a:lnTo>
                      <a:pt x="1906" y="262"/>
                    </a:lnTo>
                    <a:lnTo>
                      <a:pt x="1927" y="255"/>
                    </a:lnTo>
                    <a:lnTo>
                      <a:pt x="1949" y="248"/>
                    </a:lnTo>
                    <a:lnTo>
                      <a:pt x="1970" y="241"/>
                    </a:lnTo>
                    <a:lnTo>
                      <a:pt x="1991" y="234"/>
                    </a:lnTo>
                    <a:lnTo>
                      <a:pt x="2013" y="226"/>
                    </a:lnTo>
                    <a:lnTo>
                      <a:pt x="2041" y="219"/>
                    </a:lnTo>
                    <a:lnTo>
                      <a:pt x="2062" y="212"/>
                    </a:lnTo>
                    <a:lnTo>
                      <a:pt x="2083" y="205"/>
                    </a:lnTo>
                    <a:lnTo>
                      <a:pt x="2105" y="198"/>
                    </a:lnTo>
                    <a:lnTo>
                      <a:pt x="2126" y="184"/>
                    </a:lnTo>
                    <a:lnTo>
                      <a:pt x="2147" y="177"/>
                    </a:lnTo>
                    <a:lnTo>
                      <a:pt x="2168" y="170"/>
                    </a:lnTo>
                    <a:lnTo>
                      <a:pt x="2197" y="170"/>
                    </a:lnTo>
                    <a:lnTo>
                      <a:pt x="2218" y="163"/>
                    </a:lnTo>
                    <a:lnTo>
                      <a:pt x="2239" y="156"/>
                    </a:lnTo>
                    <a:lnTo>
                      <a:pt x="2261" y="148"/>
                    </a:lnTo>
                    <a:lnTo>
                      <a:pt x="2282" y="141"/>
                    </a:lnTo>
                    <a:lnTo>
                      <a:pt x="2303" y="134"/>
                    </a:lnTo>
                    <a:lnTo>
                      <a:pt x="2324" y="127"/>
                    </a:lnTo>
                    <a:lnTo>
                      <a:pt x="2346" y="120"/>
                    </a:lnTo>
                    <a:lnTo>
                      <a:pt x="2374" y="113"/>
                    </a:lnTo>
                    <a:lnTo>
                      <a:pt x="2395" y="106"/>
                    </a:lnTo>
                    <a:lnTo>
                      <a:pt x="2416" y="99"/>
                    </a:lnTo>
                    <a:lnTo>
                      <a:pt x="2438" y="92"/>
                    </a:lnTo>
                    <a:lnTo>
                      <a:pt x="2459" y="92"/>
                    </a:lnTo>
                    <a:lnTo>
                      <a:pt x="2480" y="85"/>
                    </a:lnTo>
                    <a:lnTo>
                      <a:pt x="2502" y="78"/>
                    </a:lnTo>
                    <a:lnTo>
                      <a:pt x="2523" y="71"/>
                    </a:lnTo>
                    <a:lnTo>
                      <a:pt x="2551" y="63"/>
                    </a:lnTo>
                    <a:lnTo>
                      <a:pt x="2572" y="56"/>
                    </a:lnTo>
                    <a:lnTo>
                      <a:pt x="2594" y="56"/>
                    </a:lnTo>
                    <a:lnTo>
                      <a:pt x="2615" y="49"/>
                    </a:lnTo>
                    <a:lnTo>
                      <a:pt x="2636" y="42"/>
                    </a:lnTo>
                    <a:lnTo>
                      <a:pt x="2657" y="35"/>
                    </a:lnTo>
                    <a:lnTo>
                      <a:pt x="2679" y="35"/>
                    </a:lnTo>
                    <a:lnTo>
                      <a:pt x="2707" y="28"/>
                    </a:lnTo>
                    <a:lnTo>
                      <a:pt x="2728" y="21"/>
                    </a:lnTo>
                    <a:lnTo>
                      <a:pt x="2750" y="14"/>
                    </a:lnTo>
                    <a:lnTo>
                      <a:pt x="2771" y="14"/>
                    </a:lnTo>
                    <a:lnTo>
                      <a:pt x="2792" y="7"/>
                    </a:lnTo>
                    <a:lnTo>
                      <a:pt x="2813" y="0"/>
                    </a:lnTo>
                  </a:path>
                </a:pathLst>
              </a:custGeom>
              <a:noFill/>
              <a:ln w="222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05" name="Freeform 223"/>
              <p:cNvSpPr>
                <a:spLocks/>
              </p:cNvSpPr>
              <p:nvPr/>
            </p:nvSpPr>
            <p:spPr bwMode="auto">
              <a:xfrm>
                <a:off x="3680" y="667"/>
                <a:ext cx="1404" cy="241"/>
              </a:xfrm>
              <a:custGeom>
                <a:avLst/>
                <a:gdLst>
                  <a:gd name="T0" fmla="*/ 22 w 1404"/>
                  <a:gd name="T1" fmla="*/ 241 h 241"/>
                  <a:gd name="T2" fmla="*/ 71 w 1404"/>
                  <a:gd name="T3" fmla="*/ 226 h 241"/>
                  <a:gd name="T4" fmla="*/ 114 w 1404"/>
                  <a:gd name="T5" fmla="*/ 219 h 241"/>
                  <a:gd name="T6" fmla="*/ 156 w 1404"/>
                  <a:gd name="T7" fmla="*/ 205 h 241"/>
                  <a:gd name="T8" fmla="*/ 199 w 1404"/>
                  <a:gd name="T9" fmla="*/ 198 h 241"/>
                  <a:gd name="T10" fmla="*/ 248 w 1404"/>
                  <a:gd name="T11" fmla="*/ 191 h 241"/>
                  <a:gd name="T12" fmla="*/ 291 w 1404"/>
                  <a:gd name="T13" fmla="*/ 184 h 241"/>
                  <a:gd name="T14" fmla="*/ 333 w 1404"/>
                  <a:gd name="T15" fmla="*/ 170 h 241"/>
                  <a:gd name="T16" fmla="*/ 376 w 1404"/>
                  <a:gd name="T17" fmla="*/ 163 h 241"/>
                  <a:gd name="T18" fmla="*/ 426 w 1404"/>
                  <a:gd name="T19" fmla="*/ 156 h 241"/>
                  <a:gd name="T20" fmla="*/ 468 w 1404"/>
                  <a:gd name="T21" fmla="*/ 149 h 241"/>
                  <a:gd name="T22" fmla="*/ 511 w 1404"/>
                  <a:gd name="T23" fmla="*/ 141 h 241"/>
                  <a:gd name="T24" fmla="*/ 560 w 1404"/>
                  <a:gd name="T25" fmla="*/ 134 h 241"/>
                  <a:gd name="T26" fmla="*/ 603 w 1404"/>
                  <a:gd name="T27" fmla="*/ 120 h 241"/>
                  <a:gd name="T28" fmla="*/ 645 w 1404"/>
                  <a:gd name="T29" fmla="*/ 113 h 241"/>
                  <a:gd name="T30" fmla="*/ 688 w 1404"/>
                  <a:gd name="T31" fmla="*/ 106 h 241"/>
                  <a:gd name="T32" fmla="*/ 737 w 1404"/>
                  <a:gd name="T33" fmla="*/ 99 h 241"/>
                  <a:gd name="T34" fmla="*/ 780 w 1404"/>
                  <a:gd name="T35" fmla="*/ 92 h 241"/>
                  <a:gd name="T36" fmla="*/ 822 w 1404"/>
                  <a:gd name="T37" fmla="*/ 85 h 241"/>
                  <a:gd name="T38" fmla="*/ 865 w 1404"/>
                  <a:gd name="T39" fmla="*/ 78 h 241"/>
                  <a:gd name="T40" fmla="*/ 915 w 1404"/>
                  <a:gd name="T41" fmla="*/ 71 h 241"/>
                  <a:gd name="T42" fmla="*/ 957 w 1404"/>
                  <a:gd name="T43" fmla="*/ 63 h 241"/>
                  <a:gd name="T44" fmla="*/ 1000 w 1404"/>
                  <a:gd name="T45" fmla="*/ 56 h 241"/>
                  <a:gd name="T46" fmla="*/ 1042 w 1404"/>
                  <a:gd name="T47" fmla="*/ 49 h 241"/>
                  <a:gd name="T48" fmla="*/ 1092 w 1404"/>
                  <a:gd name="T49" fmla="*/ 49 h 241"/>
                  <a:gd name="T50" fmla="*/ 1134 w 1404"/>
                  <a:gd name="T51" fmla="*/ 42 h 241"/>
                  <a:gd name="T52" fmla="*/ 1177 w 1404"/>
                  <a:gd name="T53" fmla="*/ 35 h 241"/>
                  <a:gd name="T54" fmla="*/ 1219 w 1404"/>
                  <a:gd name="T55" fmla="*/ 28 h 241"/>
                  <a:gd name="T56" fmla="*/ 1269 w 1404"/>
                  <a:gd name="T57" fmla="*/ 21 h 241"/>
                  <a:gd name="T58" fmla="*/ 1311 w 1404"/>
                  <a:gd name="T59" fmla="*/ 14 h 241"/>
                  <a:gd name="T60" fmla="*/ 1354 w 1404"/>
                  <a:gd name="T61" fmla="*/ 7 h 241"/>
                  <a:gd name="T62" fmla="*/ 1404 w 1404"/>
                  <a:gd name="T63" fmla="*/ 0 h 24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404"/>
                  <a:gd name="T97" fmla="*/ 0 h 241"/>
                  <a:gd name="T98" fmla="*/ 1404 w 1404"/>
                  <a:gd name="T99" fmla="*/ 241 h 24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404" h="241">
                    <a:moveTo>
                      <a:pt x="0" y="241"/>
                    </a:moveTo>
                    <a:lnTo>
                      <a:pt x="22" y="241"/>
                    </a:lnTo>
                    <a:lnTo>
                      <a:pt x="43" y="234"/>
                    </a:lnTo>
                    <a:lnTo>
                      <a:pt x="71" y="226"/>
                    </a:lnTo>
                    <a:lnTo>
                      <a:pt x="92" y="219"/>
                    </a:lnTo>
                    <a:lnTo>
                      <a:pt x="114" y="219"/>
                    </a:lnTo>
                    <a:lnTo>
                      <a:pt x="135" y="212"/>
                    </a:lnTo>
                    <a:lnTo>
                      <a:pt x="156" y="205"/>
                    </a:lnTo>
                    <a:lnTo>
                      <a:pt x="178" y="205"/>
                    </a:lnTo>
                    <a:lnTo>
                      <a:pt x="199" y="198"/>
                    </a:lnTo>
                    <a:lnTo>
                      <a:pt x="227" y="198"/>
                    </a:lnTo>
                    <a:lnTo>
                      <a:pt x="248" y="191"/>
                    </a:lnTo>
                    <a:lnTo>
                      <a:pt x="270" y="184"/>
                    </a:lnTo>
                    <a:lnTo>
                      <a:pt x="291" y="184"/>
                    </a:lnTo>
                    <a:lnTo>
                      <a:pt x="312" y="177"/>
                    </a:lnTo>
                    <a:lnTo>
                      <a:pt x="333" y="170"/>
                    </a:lnTo>
                    <a:lnTo>
                      <a:pt x="355" y="170"/>
                    </a:lnTo>
                    <a:lnTo>
                      <a:pt x="376" y="163"/>
                    </a:lnTo>
                    <a:lnTo>
                      <a:pt x="404" y="163"/>
                    </a:lnTo>
                    <a:lnTo>
                      <a:pt x="426" y="156"/>
                    </a:lnTo>
                    <a:lnTo>
                      <a:pt x="447" y="149"/>
                    </a:lnTo>
                    <a:lnTo>
                      <a:pt x="468" y="149"/>
                    </a:lnTo>
                    <a:lnTo>
                      <a:pt x="489" y="141"/>
                    </a:lnTo>
                    <a:lnTo>
                      <a:pt x="511" y="141"/>
                    </a:lnTo>
                    <a:lnTo>
                      <a:pt x="532" y="134"/>
                    </a:lnTo>
                    <a:lnTo>
                      <a:pt x="560" y="134"/>
                    </a:lnTo>
                    <a:lnTo>
                      <a:pt x="582" y="127"/>
                    </a:lnTo>
                    <a:lnTo>
                      <a:pt x="603" y="120"/>
                    </a:lnTo>
                    <a:lnTo>
                      <a:pt x="624" y="120"/>
                    </a:lnTo>
                    <a:lnTo>
                      <a:pt x="645" y="113"/>
                    </a:lnTo>
                    <a:lnTo>
                      <a:pt x="667" y="113"/>
                    </a:lnTo>
                    <a:lnTo>
                      <a:pt x="688" y="106"/>
                    </a:lnTo>
                    <a:lnTo>
                      <a:pt x="709" y="106"/>
                    </a:lnTo>
                    <a:lnTo>
                      <a:pt x="737" y="99"/>
                    </a:lnTo>
                    <a:lnTo>
                      <a:pt x="759" y="99"/>
                    </a:lnTo>
                    <a:lnTo>
                      <a:pt x="780" y="92"/>
                    </a:lnTo>
                    <a:lnTo>
                      <a:pt x="801" y="92"/>
                    </a:lnTo>
                    <a:lnTo>
                      <a:pt x="822" y="85"/>
                    </a:lnTo>
                    <a:lnTo>
                      <a:pt x="844" y="85"/>
                    </a:lnTo>
                    <a:lnTo>
                      <a:pt x="865" y="78"/>
                    </a:lnTo>
                    <a:lnTo>
                      <a:pt x="886" y="78"/>
                    </a:lnTo>
                    <a:lnTo>
                      <a:pt x="915" y="71"/>
                    </a:lnTo>
                    <a:lnTo>
                      <a:pt x="936" y="71"/>
                    </a:lnTo>
                    <a:lnTo>
                      <a:pt x="957" y="63"/>
                    </a:lnTo>
                    <a:lnTo>
                      <a:pt x="978" y="63"/>
                    </a:lnTo>
                    <a:lnTo>
                      <a:pt x="1000" y="56"/>
                    </a:lnTo>
                    <a:lnTo>
                      <a:pt x="1021" y="56"/>
                    </a:lnTo>
                    <a:lnTo>
                      <a:pt x="1042" y="49"/>
                    </a:lnTo>
                    <a:lnTo>
                      <a:pt x="1071" y="49"/>
                    </a:lnTo>
                    <a:lnTo>
                      <a:pt x="1092" y="49"/>
                    </a:lnTo>
                    <a:lnTo>
                      <a:pt x="1113" y="42"/>
                    </a:lnTo>
                    <a:lnTo>
                      <a:pt x="1134" y="42"/>
                    </a:lnTo>
                    <a:lnTo>
                      <a:pt x="1156" y="35"/>
                    </a:lnTo>
                    <a:lnTo>
                      <a:pt x="1177" y="35"/>
                    </a:lnTo>
                    <a:lnTo>
                      <a:pt x="1198" y="28"/>
                    </a:lnTo>
                    <a:lnTo>
                      <a:pt x="1219" y="28"/>
                    </a:lnTo>
                    <a:lnTo>
                      <a:pt x="1248" y="21"/>
                    </a:lnTo>
                    <a:lnTo>
                      <a:pt x="1269" y="21"/>
                    </a:lnTo>
                    <a:lnTo>
                      <a:pt x="1290" y="21"/>
                    </a:lnTo>
                    <a:lnTo>
                      <a:pt x="1311" y="14"/>
                    </a:lnTo>
                    <a:lnTo>
                      <a:pt x="1333" y="14"/>
                    </a:lnTo>
                    <a:lnTo>
                      <a:pt x="1354" y="7"/>
                    </a:lnTo>
                    <a:lnTo>
                      <a:pt x="1375" y="7"/>
                    </a:lnTo>
                    <a:lnTo>
                      <a:pt x="1404" y="0"/>
                    </a:lnTo>
                  </a:path>
                </a:pathLst>
              </a:custGeom>
              <a:noFill/>
              <a:ln w="222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702" name="Text Box 224"/>
            <p:cNvSpPr txBox="1">
              <a:spLocks noChangeArrowheads="1"/>
            </p:cNvSpPr>
            <p:nvPr/>
          </p:nvSpPr>
          <p:spPr bwMode="auto">
            <a:xfrm>
              <a:off x="2256" y="3792"/>
              <a:ext cx="2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703" name="Text Box 225"/>
            <p:cNvSpPr txBox="1">
              <a:spLocks noChangeArrowheads="1"/>
            </p:cNvSpPr>
            <p:nvPr/>
          </p:nvSpPr>
          <p:spPr bwMode="auto">
            <a:xfrm>
              <a:off x="336" y="2332"/>
              <a:ext cx="5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m</a:t>
              </a:r>
              <a:r>
                <a:rPr lang="en-US" altLang="zh-CN" sz="2400" i="1">
                  <a:latin typeface="Times New Roman" panose="02020603050405020304" pitchFamily="18" charset="0"/>
                </a:rPr>
                <a:t>°</a:t>
              </a:r>
            </a:p>
          </p:txBody>
        </p:sp>
      </p:grpSp>
      <p:sp>
        <p:nvSpPr>
          <p:cNvPr id="19682" name="Rectangle 226"/>
          <p:cNvSpPr>
            <a:spLocks noChangeArrowheads="1"/>
          </p:cNvSpPr>
          <p:nvPr/>
        </p:nvSpPr>
        <p:spPr bwMode="auto">
          <a:xfrm>
            <a:off x="6659563" y="1268413"/>
            <a:ext cx="1981200" cy="450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由图可见，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宋体" panose="02010600030101010101" pitchFamily="2" charset="-122"/>
              </a:rPr>
              <a:t>越大，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宋体" panose="02010600030101010101" pitchFamily="2" charset="-122"/>
              </a:rPr>
              <a:t>就越大，即相位超前越多。当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宋体" panose="02010600030101010101" pitchFamily="2" charset="-122"/>
              </a:rPr>
              <a:t>等于</a:t>
            </a:r>
            <a:r>
              <a:rPr lang="en-US" altLang="zh-CN" sz="2800">
                <a:latin typeface="Times New Roman" panose="02020603050405020304" pitchFamily="18" charset="0"/>
              </a:rPr>
              <a:t>20</a:t>
            </a:r>
            <a:r>
              <a:rPr lang="zh-CN" altLang="en-US" sz="2800">
                <a:latin typeface="宋体" panose="02010600030101010101" pitchFamily="2" charset="-122"/>
              </a:rPr>
              <a:t>时，所能获得的最大超前角约为</a:t>
            </a:r>
            <a:r>
              <a:rPr lang="en-US" altLang="zh-CN" sz="2800">
                <a:latin typeface="Times New Roman" panose="02020603050405020304" pitchFamily="18" charset="0"/>
              </a:rPr>
              <a:t>65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1143000" y="2089150"/>
            <a:ext cx="73152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相位超前校正装置具有高通滤波特性，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latin typeface="宋体" panose="02010600030101010101" pitchFamily="2" charset="-122"/>
              </a:rPr>
              <a:t>值过大对抑制系统高频噪声不利，因此，在选择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宋体" panose="02010600030101010101" pitchFamily="2" charset="-122"/>
              </a:rPr>
              <a:t>值时，还需要考虑系统高频噪声的问题。为了保持较高的系统信噪比，通常选择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宋体" panose="02010600030101010101" pitchFamily="2" charset="-122"/>
              </a:rPr>
              <a:t>＝</a:t>
            </a:r>
            <a:r>
              <a:rPr lang="en-US" altLang="zh-CN" sz="2800">
                <a:latin typeface="宋体" panose="02010600030101010101" pitchFamily="2" charset="-122"/>
              </a:rPr>
              <a:t>10</a:t>
            </a:r>
            <a:r>
              <a:rPr lang="zh-CN" altLang="en-US" sz="2800">
                <a:latin typeface="宋体" panose="02010600030101010101" pitchFamily="2" charset="-122"/>
              </a:rPr>
              <a:t>左右较为适宜，此时，所能获得的最大相位超前角约为</a:t>
            </a:r>
            <a:r>
              <a:rPr lang="en-US" altLang="zh-CN" sz="2800">
                <a:latin typeface="Times New Roman" panose="02020603050405020304" pitchFamily="18" charset="0"/>
              </a:rPr>
              <a:t>55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85800" y="117475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PI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08175" y="1268413"/>
            <a:ext cx="5781675" cy="2667000"/>
            <a:chOff x="96" y="48"/>
            <a:chExt cx="3642" cy="1680"/>
          </a:xfrm>
        </p:grpSpPr>
        <p:grpSp>
          <p:nvGrpSpPr>
            <p:cNvPr id="24586" name="Group 6"/>
            <p:cNvGrpSpPr>
              <a:grpSpLocks/>
            </p:cNvGrpSpPr>
            <p:nvPr/>
          </p:nvGrpSpPr>
          <p:grpSpPr bwMode="auto">
            <a:xfrm>
              <a:off x="1753" y="816"/>
              <a:ext cx="912" cy="768"/>
              <a:chOff x="1728" y="816"/>
              <a:chExt cx="912" cy="768"/>
            </a:xfrm>
          </p:grpSpPr>
          <p:sp>
            <p:nvSpPr>
              <p:cNvPr id="24611" name="AutoShape 7"/>
              <p:cNvSpPr>
                <a:spLocks noChangeArrowheads="1"/>
              </p:cNvSpPr>
              <p:nvPr/>
            </p:nvSpPr>
            <p:spPr bwMode="auto">
              <a:xfrm rot="5400000">
                <a:off x="1800" y="744"/>
                <a:ext cx="768" cy="912"/>
              </a:xfrm>
              <a:prstGeom prst="triangle">
                <a:avLst>
                  <a:gd name="adj" fmla="val 50000"/>
                </a:avLst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4612" name="Line 8"/>
              <p:cNvSpPr>
                <a:spLocks noChangeShapeType="1"/>
              </p:cNvSpPr>
              <p:nvPr/>
            </p:nvSpPr>
            <p:spPr bwMode="auto">
              <a:xfrm>
                <a:off x="1776" y="100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613" name="Group 9"/>
              <p:cNvGrpSpPr>
                <a:grpSpLocks/>
              </p:cNvGrpSpPr>
              <p:nvPr/>
            </p:nvGrpSpPr>
            <p:grpSpPr bwMode="auto">
              <a:xfrm>
                <a:off x="1776" y="1296"/>
                <a:ext cx="144" cy="144"/>
                <a:chOff x="1872" y="1653"/>
                <a:chExt cx="144" cy="144"/>
              </a:xfrm>
            </p:grpSpPr>
            <p:sp>
              <p:nvSpPr>
                <p:cNvPr id="24614" name="Line 10"/>
                <p:cNvSpPr>
                  <a:spLocks noChangeShapeType="1"/>
                </p:cNvSpPr>
                <p:nvPr/>
              </p:nvSpPr>
              <p:spPr bwMode="auto">
                <a:xfrm>
                  <a:off x="1872" y="1728"/>
                  <a:ext cx="144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5" name="Line 11"/>
                <p:cNvSpPr>
                  <a:spLocks noChangeShapeType="1"/>
                </p:cNvSpPr>
                <p:nvPr/>
              </p:nvSpPr>
              <p:spPr bwMode="auto">
                <a:xfrm>
                  <a:off x="1938" y="1653"/>
                  <a:ext cx="0" cy="14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587" name="Line 12"/>
            <p:cNvSpPr>
              <a:spLocks noChangeShapeType="1"/>
            </p:cNvSpPr>
            <p:nvPr/>
          </p:nvSpPr>
          <p:spPr bwMode="auto">
            <a:xfrm flipH="1">
              <a:off x="1273" y="10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Rectangle 13"/>
            <p:cNvSpPr>
              <a:spLocks noChangeArrowheads="1"/>
            </p:cNvSpPr>
            <p:nvPr/>
          </p:nvSpPr>
          <p:spPr bwMode="auto">
            <a:xfrm>
              <a:off x="793" y="912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89" name="Line 14"/>
            <p:cNvSpPr>
              <a:spLocks noChangeShapeType="1"/>
            </p:cNvSpPr>
            <p:nvPr/>
          </p:nvSpPr>
          <p:spPr bwMode="auto">
            <a:xfrm flipH="1">
              <a:off x="313" y="10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Line 15"/>
            <p:cNvSpPr>
              <a:spLocks noChangeShapeType="1"/>
            </p:cNvSpPr>
            <p:nvPr/>
          </p:nvSpPr>
          <p:spPr bwMode="auto">
            <a:xfrm>
              <a:off x="2655" y="33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16"/>
            <p:cNvSpPr>
              <a:spLocks noChangeShapeType="1"/>
            </p:cNvSpPr>
            <p:nvPr/>
          </p:nvSpPr>
          <p:spPr bwMode="auto">
            <a:xfrm>
              <a:off x="2751" y="33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17"/>
            <p:cNvSpPr>
              <a:spLocks noChangeShapeType="1"/>
            </p:cNvSpPr>
            <p:nvPr/>
          </p:nvSpPr>
          <p:spPr bwMode="auto">
            <a:xfrm>
              <a:off x="1513" y="480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18"/>
            <p:cNvSpPr>
              <a:spLocks noChangeShapeType="1"/>
            </p:cNvSpPr>
            <p:nvPr/>
          </p:nvSpPr>
          <p:spPr bwMode="auto">
            <a:xfrm flipH="1">
              <a:off x="2319" y="480"/>
              <a:ext cx="3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Rectangle 19"/>
            <p:cNvSpPr>
              <a:spLocks noChangeArrowheads="1"/>
            </p:cNvSpPr>
            <p:nvPr/>
          </p:nvSpPr>
          <p:spPr bwMode="auto">
            <a:xfrm>
              <a:off x="1839" y="384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5" name="Line 20"/>
            <p:cNvSpPr>
              <a:spLocks noChangeShapeType="1"/>
            </p:cNvSpPr>
            <p:nvPr/>
          </p:nvSpPr>
          <p:spPr bwMode="auto">
            <a:xfrm flipH="1">
              <a:off x="1513" y="480"/>
              <a:ext cx="32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21"/>
            <p:cNvSpPr>
              <a:spLocks noChangeShapeType="1"/>
            </p:cNvSpPr>
            <p:nvPr/>
          </p:nvSpPr>
          <p:spPr bwMode="auto">
            <a:xfrm>
              <a:off x="3021" y="480"/>
              <a:ext cx="0" cy="72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22"/>
            <p:cNvSpPr>
              <a:spLocks noChangeShapeType="1"/>
            </p:cNvSpPr>
            <p:nvPr/>
          </p:nvSpPr>
          <p:spPr bwMode="auto">
            <a:xfrm>
              <a:off x="2665" y="1200"/>
              <a:ext cx="67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8" name="Line 23"/>
            <p:cNvSpPr>
              <a:spLocks noChangeShapeType="1"/>
            </p:cNvSpPr>
            <p:nvPr/>
          </p:nvSpPr>
          <p:spPr bwMode="auto">
            <a:xfrm flipH="1">
              <a:off x="1513" y="1392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9" name="Line 24"/>
            <p:cNvSpPr>
              <a:spLocks noChangeShapeType="1"/>
            </p:cNvSpPr>
            <p:nvPr/>
          </p:nvSpPr>
          <p:spPr bwMode="auto">
            <a:xfrm>
              <a:off x="1513" y="1392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AutoShape 25" descr="深色横线"/>
            <p:cNvSpPr>
              <a:spLocks noChangeArrowheads="1"/>
            </p:cNvSpPr>
            <p:nvPr/>
          </p:nvSpPr>
          <p:spPr bwMode="auto">
            <a:xfrm flipV="1">
              <a:off x="1396" y="1584"/>
              <a:ext cx="240" cy="144"/>
            </a:xfrm>
            <a:prstGeom prst="triangle">
              <a:avLst>
                <a:gd name="adj" fmla="val 49477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1" name="Oval 26"/>
            <p:cNvSpPr>
              <a:spLocks noChangeArrowheads="1"/>
            </p:cNvSpPr>
            <p:nvPr/>
          </p:nvSpPr>
          <p:spPr bwMode="auto">
            <a:xfrm>
              <a:off x="217" y="960"/>
              <a:ext cx="96" cy="9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2" name="Oval 27"/>
            <p:cNvSpPr>
              <a:spLocks noChangeArrowheads="1"/>
            </p:cNvSpPr>
            <p:nvPr/>
          </p:nvSpPr>
          <p:spPr bwMode="auto">
            <a:xfrm>
              <a:off x="3337" y="1152"/>
              <a:ext cx="96" cy="9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3" name="Oval 28"/>
            <p:cNvSpPr>
              <a:spLocks noChangeArrowheads="1"/>
            </p:cNvSpPr>
            <p:nvPr/>
          </p:nvSpPr>
          <p:spPr bwMode="auto">
            <a:xfrm>
              <a:off x="1486" y="978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4" name="Oval 29"/>
            <p:cNvSpPr>
              <a:spLocks noChangeArrowheads="1"/>
            </p:cNvSpPr>
            <p:nvPr/>
          </p:nvSpPr>
          <p:spPr bwMode="auto">
            <a:xfrm>
              <a:off x="2991" y="1173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5" name="Text Box 30"/>
            <p:cNvSpPr txBox="1">
              <a:spLocks noChangeArrowheads="1"/>
            </p:cNvSpPr>
            <p:nvPr/>
          </p:nvSpPr>
          <p:spPr bwMode="auto">
            <a:xfrm>
              <a:off x="2539" y="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06" name="Text Box 31"/>
            <p:cNvSpPr txBox="1">
              <a:spLocks noChangeArrowheads="1"/>
            </p:cNvSpPr>
            <p:nvPr/>
          </p:nvSpPr>
          <p:spPr bwMode="auto">
            <a:xfrm>
              <a:off x="889" y="105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07" name="Text Box 32"/>
            <p:cNvSpPr txBox="1">
              <a:spLocks noChangeArrowheads="1"/>
            </p:cNvSpPr>
            <p:nvPr/>
          </p:nvSpPr>
          <p:spPr bwMode="auto">
            <a:xfrm>
              <a:off x="1935" y="48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08" name="Text Box 33"/>
            <p:cNvSpPr txBox="1">
              <a:spLocks noChangeArrowheads="1"/>
            </p:cNvSpPr>
            <p:nvPr/>
          </p:nvSpPr>
          <p:spPr bwMode="auto">
            <a:xfrm>
              <a:off x="3281" y="864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09" name="Text Box 34"/>
            <p:cNvSpPr txBox="1">
              <a:spLocks noChangeArrowheads="1"/>
            </p:cNvSpPr>
            <p:nvPr/>
          </p:nvSpPr>
          <p:spPr bwMode="auto">
            <a:xfrm>
              <a:off x="96" y="672"/>
              <a:ext cx="4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10" name="Line 35"/>
            <p:cNvSpPr>
              <a:spLocks noChangeShapeType="1"/>
            </p:cNvSpPr>
            <p:nvPr/>
          </p:nvSpPr>
          <p:spPr bwMode="auto">
            <a:xfrm>
              <a:off x="2751" y="480"/>
              <a:ext cx="2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540" name="Object 2"/>
          <p:cNvGraphicFramePr>
            <a:graphicFrameLocks noChangeAspect="1"/>
          </p:cNvGraphicFramePr>
          <p:nvPr/>
        </p:nvGraphicFramePr>
        <p:xfrm>
          <a:off x="1374775" y="4164013"/>
          <a:ext cx="61483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14700" imgH="482600" progId="Equation.3">
                  <p:embed/>
                </p:oleObj>
              </mc:Choice>
              <mc:Fallback>
                <p:oleObj r:id="rId3" imgW="33147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4164013"/>
                        <a:ext cx="614838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374775" y="5162550"/>
            <a:ext cx="4495800" cy="830263"/>
            <a:chOff x="864" y="3552"/>
            <a:chExt cx="2832" cy="523"/>
          </a:xfrm>
        </p:grpSpPr>
        <p:graphicFrame>
          <p:nvGraphicFramePr>
            <p:cNvPr id="24583" name="Object 3"/>
            <p:cNvGraphicFramePr>
              <a:graphicFrameLocks noChangeAspect="1"/>
            </p:cNvGraphicFramePr>
            <p:nvPr/>
          </p:nvGraphicFramePr>
          <p:xfrm>
            <a:off x="2928" y="3696"/>
            <a:ext cx="7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60113" imgH="215806" progId="Equation.3">
                    <p:embed/>
                  </p:oleObj>
                </mc:Choice>
                <mc:Fallback>
                  <p:oleObj r:id="rId5" imgW="660113" imgH="215806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696"/>
                          <a:ext cx="76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4" name="Object 4"/>
            <p:cNvGraphicFramePr>
              <a:graphicFrameLocks noChangeAspect="1"/>
            </p:cNvGraphicFramePr>
            <p:nvPr/>
          </p:nvGraphicFramePr>
          <p:xfrm>
            <a:off x="1920" y="3680"/>
            <a:ext cx="66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71252" imgH="215806" progId="Equation.3">
                    <p:embed/>
                  </p:oleObj>
                </mc:Choice>
                <mc:Fallback>
                  <p:oleObj r:id="rId7" imgW="571252" imgH="215806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80"/>
                          <a:ext cx="66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5" name="Object 5"/>
            <p:cNvGraphicFramePr>
              <a:graphicFrameLocks noChangeAspect="1"/>
            </p:cNvGraphicFramePr>
            <p:nvPr/>
          </p:nvGraphicFramePr>
          <p:xfrm>
            <a:off x="864" y="3552"/>
            <a:ext cx="701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96641" imgH="444307" progId="Equation.3">
                    <p:embed/>
                  </p:oleObj>
                </mc:Choice>
                <mc:Fallback>
                  <p:oleObj r:id="rId9" imgW="596641" imgH="44430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552"/>
                          <a:ext cx="701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544513" y="458788"/>
            <a:ext cx="4892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PI</a:t>
            </a:r>
            <a:r>
              <a:rPr lang="zh-CN" altLang="en-US" sz="2800">
                <a:latin typeface="Times New Roman" panose="02020603050405020304" pitchFamily="18" charset="0"/>
              </a:rPr>
              <a:t>控制规律的实现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1171575" y="712788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PI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79550" y="1470025"/>
            <a:ext cx="6813550" cy="2114550"/>
            <a:chOff x="962" y="1158"/>
            <a:chExt cx="4292" cy="1332"/>
          </a:xfrm>
        </p:grpSpPr>
        <p:grpSp>
          <p:nvGrpSpPr>
            <p:cNvPr id="26639" name="Group 5"/>
            <p:cNvGrpSpPr>
              <a:grpSpLocks/>
            </p:cNvGrpSpPr>
            <p:nvPr/>
          </p:nvGrpSpPr>
          <p:grpSpPr bwMode="auto">
            <a:xfrm>
              <a:off x="962" y="1158"/>
              <a:ext cx="1936" cy="1146"/>
              <a:chOff x="962" y="1206"/>
              <a:chExt cx="1936" cy="1146"/>
            </a:xfrm>
          </p:grpSpPr>
          <p:sp>
            <p:nvSpPr>
              <p:cNvPr id="26672" name="Line 6"/>
              <p:cNvSpPr>
                <a:spLocks noChangeShapeType="1"/>
              </p:cNvSpPr>
              <p:nvPr/>
            </p:nvSpPr>
            <p:spPr bwMode="auto">
              <a:xfrm flipH="1">
                <a:off x="1879" y="1280"/>
                <a:ext cx="753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3" name="Rectangle 7"/>
              <p:cNvSpPr>
                <a:spLocks noChangeArrowheads="1"/>
              </p:cNvSpPr>
              <p:nvPr/>
            </p:nvSpPr>
            <p:spPr bwMode="auto">
              <a:xfrm>
                <a:off x="1500" y="1206"/>
                <a:ext cx="379" cy="149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74" name="Line 8"/>
              <p:cNvSpPr>
                <a:spLocks noChangeShapeType="1"/>
              </p:cNvSpPr>
              <p:nvPr/>
            </p:nvSpPr>
            <p:spPr bwMode="auto">
              <a:xfrm flipH="1">
                <a:off x="1120" y="1280"/>
                <a:ext cx="38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5" name="Oval 9"/>
              <p:cNvSpPr>
                <a:spLocks noChangeArrowheads="1"/>
              </p:cNvSpPr>
              <p:nvPr/>
            </p:nvSpPr>
            <p:spPr bwMode="auto">
              <a:xfrm>
                <a:off x="1043" y="1243"/>
                <a:ext cx="77" cy="75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76" name="Oval 10"/>
              <p:cNvSpPr>
                <a:spLocks noChangeArrowheads="1"/>
              </p:cNvSpPr>
              <p:nvPr/>
            </p:nvSpPr>
            <p:spPr bwMode="auto">
              <a:xfrm>
                <a:off x="2632" y="1243"/>
                <a:ext cx="76" cy="75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77" name="Oval 11"/>
              <p:cNvSpPr>
                <a:spLocks noChangeArrowheads="1"/>
              </p:cNvSpPr>
              <p:nvPr/>
            </p:nvSpPr>
            <p:spPr bwMode="auto">
              <a:xfrm>
                <a:off x="2173" y="1257"/>
                <a:ext cx="38" cy="37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78" name="Oval 12"/>
              <p:cNvSpPr>
                <a:spLocks noChangeArrowheads="1"/>
              </p:cNvSpPr>
              <p:nvPr/>
            </p:nvSpPr>
            <p:spPr bwMode="auto">
              <a:xfrm>
                <a:off x="2173" y="2291"/>
                <a:ext cx="38" cy="37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79" name="Text Box 13"/>
              <p:cNvSpPr txBox="1">
                <a:spLocks noChangeArrowheads="1"/>
              </p:cNvSpPr>
              <p:nvPr/>
            </p:nvSpPr>
            <p:spPr bwMode="auto">
              <a:xfrm>
                <a:off x="1824" y="185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0" name="Text Box 14"/>
              <p:cNvSpPr txBox="1">
                <a:spLocks noChangeArrowheads="1"/>
              </p:cNvSpPr>
              <p:nvPr/>
            </p:nvSpPr>
            <p:spPr bwMode="auto">
              <a:xfrm>
                <a:off x="1536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81" name="Text Box 15"/>
              <p:cNvSpPr txBox="1">
                <a:spLocks noChangeArrowheads="1"/>
              </p:cNvSpPr>
              <p:nvPr/>
            </p:nvSpPr>
            <p:spPr bwMode="auto">
              <a:xfrm>
                <a:off x="1840" y="1440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2" name="Text Box 16"/>
              <p:cNvSpPr txBox="1">
                <a:spLocks noChangeArrowheads="1"/>
              </p:cNvSpPr>
              <p:nvPr/>
            </p:nvSpPr>
            <p:spPr bwMode="auto">
              <a:xfrm>
                <a:off x="2442" y="1656"/>
                <a:ext cx="4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o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6683" name="Text Box 17"/>
              <p:cNvSpPr txBox="1">
                <a:spLocks noChangeArrowheads="1"/>
              </p:cNvSpPr>
              <p:nvPr/>
            </p:nvSpPr>
            <p:spPr bwMode="auto">
              <a:xfrm>
                <a:off x="962" y="1656"/>
                <a:ext cx="4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6684" name="Line 18"/>
              <p:cNvSpPr>
                <a:spLocks noChangeShapeType="1"/>
              </p:cNvSpPr>
              <p:nvPr/>
            </p:nvSpPr>
            <p:spPr bwMode="auto">
              <a:xfrm>
                <a:off x="2192" y="1280"/>
                <a:ext cx="0" cy="15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5" name="Rectangle 19"/>
              <p:cNvSpPr>
                <a:spLocks noChangeArrowheads="1"/>
              </p:cNvSpPr>
              <p:nvPr/>
            </p:nvSpPr>
            <p:spPr bwMode="auto">
              <a:xfrm rot="5400000">
                <a:off x="2004" y="1542"/>
                <a:ext cx="376" cy="152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86" name="Line 20"/>
              <p:cNvSpPr>
                <a:spLocks noChangeShapeType="1"/>
              </p:cNvSpPr>
              <p:nvPr/>
            </p:nvSpPr>
            <p:spPr bwMode="auto">
              <a:xfrm>
                <a:off x="2192" y="2069"/>
                <a:ext cx="0" cy="24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7" name="Line 21"/>
              <p:cNvSpPr>
                <a:spLocks noChangeShapeType="1"/>
              </p:cNvSpPr>
              <p:nvPr/>
            </p:nvSpPr>
            <p:spPr bwMode="auto">
              <a:xfrm>
                <a:off x="1111" y="2315"/>
                <a:ext cx="1521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8" name="Oval 22"/>
              <p:cNvSpPr>
                <a:spLocks noChangeArrowheads="1"/>
              </p:cNvSpPr>
              <p:nvPr/>
            </p:nvSpPr>
            <p:spPr bwMode="auto">
              <a:xfrm>
                <a:off x="1045" y="2277"/>
                <a:ext cx="76" cy="75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89" name="Oval 23"/>
              <p:cNvSpPr>
                <a:spLocks noChangeArrowheads="1"/>
              </p:cNvSpPr>
              <p:nvPr/>
            </p:nvSpPr>
            <p:spPr bwMode="auto">
              <a:xfrm>
                <a:off x="2632" y="2277"/>
                <a:ext cx="76" cy="75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90" name="Line 24"/>
              <p:cNvSpPr>
                <a:spLocks noChangeShapeType="1"/>
              </p:cNvSpPr>
              <p:nvPr/>
            </p:nvSpPr>
            <p:spPr bwMode="auto">
              <a:xfrm>
                <a:off x="2092" y="1994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91" name="Line 25"/>
              <p:cNvSpPr>
                <a:spLocks noChangeShapeType="1"/>
              </p:cNvSpPr>
              <p:nvPr/>
            </p:nvSpPr>
            <p:spPr bwMode="auto">
              <a:xfrm>
                <a:off x="2092" y="2069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92" name="Line 26"/>
              <p:cNvSpPr>
                <a:spLocks noChangeShapeType="1"/>
              </p:cNvSpPr>
              <p:nvPr/>
            </p:nvSpPr>
            <p:spPr bwMode="auto">
              <a:xfrm flipV="1">
                <a:off x="2192" y="1806"/>
                <a:ext cx="0" cy="18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640" name="Group 27"/>
            <p:cNvGrpSpPr>
              <a:grpSpLocks/>
            </p:cNvGrpSpPr>
            <p:nvPr/>
          </p:nvGrpSpPr>
          <p:grpSpPr bwMode="auto">
            <a:xfrm>
              <a:off x="3456" y="1194"/>
              <a:ext cx="1798" cy="1296"/>
              <a:chOff x="3504" y="1968"/>
              <a:chExt cx="1798" cy="1296"/>
            </a:xfrm>
          </p:grpSpPr>
          <p:sp>
            <p:nvSpPr>
              <p:cNvPr id="26641" name="Rectangle 28" descr="宽上对角线"/>
              <p:cNvSpPr>
                <a:spLocks noChangeArrowheads="1"/>
              </p:cNvSpPr>
              <p:nvPr/>
            </p:nvSpPr>
            <p:spPr bwMode="auto">
              <a:xfrm rot="-5400000">
                <a:off x="5075" y="2509"/>
                <a:ext cx="384" cy="7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6642" name="Group 29"/>
              <p:cNvGrpSpPr>
                <a:grpSpLocks/>
              </p:cNvGrpSpPr>
              <p:nvPr/>
            </p:nvGrpSpPr>
            <p:grpSpPr bwMode="auto">
              <a:xfrm rot="-5400000">
                <a:off x="4100" y="2572"/>
                <a:ext cx="104" cy="720"/>
                <a:chOff x="3258" y="384"/>
                <a:chExt cx="104" cy="720"/>
              </a:xfrm>
            </p:grpSpPr>
            <p:sp>
              <p:nvSpPr>
                <p:cNvPr id="26669" name="Freeform 30"/>
                <p:cNvSpPr>
                  <a:spLocks/>
                </p:cNvSpPr>
                <p:nvPr/>
              </p:nvSpPr>
              <p:spPr bwMode="auto">
                <a:xfrm>
                  <a:off x="3258" y="570"/>
                  <a:ext cx="104" cy="345"/>
                </a:xfrm>
                <a:custGeom>
                  <a:avLst/>
                  <a:gdLst>
                    <a:gd name="T0" fmla="*/ 52 w 112"/>
                    <a:gd name="T1" fmla="*/ 0 h 432"/>
                    <a:gd name="T2" fmla="*/ 97 w 112"/>
                    <a:gd name="T3" fmla="*/ 38 h 432"/>
                    <a:gd name="T4" fmla="*/ 7 w 112"/>
                    <a:gd name="T5" fmla="*/ 77 h 432"/>
                    <a:gd name="T6" fmla="*/ 97 w 112"/>
                    <a:gd name="T7" fmla="*/ 115 h 432"/>
                    <a:gd name="T8" fmla="*/ 7 w 112"/>
                    <a:gd name="T9" fmla="*/ 153 h 432"/>
                    <a:gd name="T10" fmla="*/ 97 w 112"/>
                    <a:gd name="T11" fmla="*/ 192 h 432"/>
                    <a:gd name="T12" fmla="*/ 7 w 112"/>
                    <a:gd name="T13" fmla="*/ 230 h 432"/>
                    <a:gd name="T14" fmla="*/ 97 w 112"/>
                    <a:gd name="T15" fmla="*/ 268 h 432"/>
                    <a:gd name="T16" fmla="*/ 7 w 112"/>
                    <a:gd name="T17" fmla="*/ 307 h 432"/>
                    <a:gd name="T18" fmla="*/ 52 w 112"/>
                    <a:gd name="T19" fmla="*/ 345 h 43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2"/>
                    <a:gd name="T31" fmla="*/ 0 h 432"/>
                    <a:gd name="T32" fmla="*/ 112 w 112"/>
                    <a:gd name="T33" fmla="*/ 432 h 43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2" h="432">
                      <a:moveTo>
                        <a:pt x="56" y="0"/>
                      </a:moveTo>
                      <a:cubicBezTo>
                        <a:pt x="84" y="16"/>
                        <a:pt x="112" y="32"/>
                        <a:pt x="104" y="48"/>
                      </a:cubicBezTo>
                      <a:cubicBezTo>
                        <a:pt x="96" y="64"/>
                        <a:pt x="8" y="80"/>
                        <a:pt x="8" y="96"/>
                      </a:cubicBezTo>
                      <a:cubicBezTo>
                        <a:pt x="8" y="112"/>
                        <a:pt x="104" y="128"/>
                        <a:pt x="104" y="144"/>
                      </a:cubicBezTo>
                      <a:cubicBezTo>
                        <a:pt x="104" y="160"/>
                        <a:pt x="8" y="176"/>
                        <a:pt x="8" y="192"/>
                      </a:cubicBezTo>
                      <a:cubicBezTo>
                        <a:pt x="8" y="208"/>
                        <a:pt x="104" y="224"/>
                        <a:pt x="104" y="240"/>
                      </a:cubicBezTo>
                      <a:cubicBezTo>
                        <a:pt x="104" y="256"/>
                        <a:pt x="8" y="272"/>
                        <a:pt x="8" y="288"/>
                      </a:cubicBezTo>
                      <a:cubicBezTo>
                        <a:pt x="8" y="304"/>
                        <a:pt x="104" y="320"/>
                        <a:pt x="104" y="336"/>
                      </a:cubicBezTo>
                      <a:cubicBezTo>
                        <a:pt x="104" y="352"/>
                        <a:pt x="16" y="368"/>
                        <a:pt x="8" y="384"/>
                      </a:cubicBezTo>
                      <a:cubicBezTo>
                        <a:pt x="0" y="400"/>
                        <a:pt x="28" y="416"/>
                        <a:pt x="56" y="432"/>
                      </a:cubicBezTo>
                    </a:path>
                  </a:pathLst>
                </a:custGeom>
                <a:noFill/>
                <a:ln w="222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0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3312" y="384"/>
                  <a:ext cx="0" cy="19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1" name="Line 32"/>
                <p:cNvSpPr>
                  <a:spLocks noChangeShapeType="1"/>
                </p:cNvSpPr>
                <p:nvPr/>
              </p:nvSpPr>
              <p:spPr bwMode="auto">
                <a:xfrm>
                  <a:off x="3312" y="912"/>
                  <a:ext cx="0" cy="19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643" name="Line 33"/>
              <p:cNvSpPr>
                <a:spLocks noChangeShapeType="1"/>
              </p:cNvSpPr>
              <p:nvPr/>
            </p:nvSpPr>
            <p:spPr bwMode="auto">
              <a:xfrm rot="-5400000">
                <a:off x="5040" y="2544"/>
                <a:ext cx="38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Oval 34"/>
              <p:cNvSpPr>
                <a:spLocks noChangeArrowheads="1"/>
              </p:cNvSpPr>
              <p:nvPr/>
            </p:nvSpPr>
            <p:spPr bwMode="auto">
              <a:xfrm>
                <a:off x="3768" y="25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45" name="Oval 35"/>
              <p:cNvSpPr>
                <a:spLocks noChangeArrowheads="1"/>
              </p:cNvSpPr>
              <p:nvPr/>
            </p:nvSpPr>
            <p:spPr bwMode="auto">
              <a:xfrm>
                <a:off x="3504" y="249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46" name="Line 36"/>
              <p:cNvSpPr>
                <a:spLocks noChangeShapeType="1"/>
              </p:cNvSpPr>
              <p:nvPr/>
            </p:nvSpPr>
            <p:spPr bwMode="auto">
              <a:xfrm rot="5400000" flipV="1">
                <a:off x="3408" y="2352"/>
                <a:ext cx="28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7" name="Line 37"/>
              <p:cNvSpPr>
                <a:spLocks noChangeShapeType="1"/>
              </p:cNvSpPr>
              <p:nvPr/>
            </p:nvSpPr>
            <p:spPr bwMode="auto">
              <a:xfrm rot="5400000" flipV="1">
                <a:off x="3720" y="2088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38"/>
              <p:cNvSpPr>
                <a:spLocks noChangeShapeType="1"/>
              </p:cNvSpPr>
              <p:nvPr/>
            </p:nvSpPr>
            <p:spPr bwMode="auto">
              <a:xfrm rot="-5400000">
                <a:off x="4680" y="2088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Text Box 39"/>
              <p:cNvSpPr txBox="1">
                <a:spLocks noChangeArrowheads="1"/>
              </p:cNvSpPr>
              <p:nvPr/>
            </p:nvSpPr>
            <p:spPr bwMode="auto">
              <a:xfrm>
                <a:off x="4512" y="1968"/>
                <a:ext cx="45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6650" name="Text Box 40"/>
              <p:cNvSpPr txBox="1">
                <a:spLocks noChangeArrowheads="1"/>
              </p:cNvSpPr>
              <p:nvPr/>
            </p:nvSpPr>
            <p:spPr bwMode="auto">
              <a:xfrm>
                <a:off x="3552" y="1968"/>
                <a:ext cx="45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6651" name="Text Box 41"/>
              <p:cNvSpPr txBox="1">
                <a:spLocks noChangeArrowheads="1"/>
              </p:cNvSpPr>
              <p:nvPr/>
            </p:nvSpPr>
            <p:spPr bwMode="auto">
              <a:xfrm>
                <a:off x="4012" y="297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52" name="Text Box 42"/>
              <p:cNvSpPr txBox="1">
                <a:spLocks noChangeArrowheads="1"/>
              </p:cNvSpPr>
              <p:nvPr/>
            </p:nvSpPr>
            <p:spPr bwMode="auto">
              <a:xfrm>
                <a:off x="4732" y="259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53" name="Line 43"/>
              <p:cNvSpPr>
                <a:spLocks noChangeShapeType="1"/>
              </p:cNvSpPr>
              <p:nvPr/>
            </p:nvSpPr>
            <p:spPr bwMode="auto">
              <a:xfrm>
                <a:off x="3600" y="2544"/>
                <a:ext cx="57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4" name="Line 44"/>
              <p:cNvSpPr>
                <a:spLocks noChangeShapeType="1"/>
              </p:cNvSpPr>
              <p:nvPr/>
            </p:nvSpPr>
            <p:spPr bwMode="auto">
              <a:xfrm>
                <a:off x="4176" y="249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5" name="Line 45"/>
              <p:cNvSpPr>
                <a:spLocks noChangeShapeType="1"/>
              </p:cNvSpPr>
              <p:nvPr/>
            </p:nvSpPr>
            <p:spPr bwMode="auto">
              <a:xfrm>
                <a:off x="4128" y="244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6" name="Line 46"/>
              <p:cNvSpPr>
                <a:spLocks noChangeShapeType="1"/>
              </p:cNvSpPr>
              <p:nvPr/>
            </p:nvSpPr>
            <p:spPr bwMode="auto">
              <a:xfrm>
                <a:off x="4272" y="2448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7" name="Line 47"/>
              <p:cNvSpPr>
                <a:spLocks noChangeShapeType="1"/>
              </p:cNvSpPr>
              <p:nvPr/>
            </p:nvSpPr>
            <p:spPr bwMode="auto">
              <a:xfrm>
                <a:off x="4128" y="2640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8" name="Line 48"/>
              <p:cNvSpPr>
                <a:spLocks noChangeShapeType="1"/>
              </p:cNvSpPr>
              <p:nvPr/>
            </p:nvSpPr>
            <p:spPr bwMode="auto">
              <a:xfrm>
                <a:off x="4272" y="2544"/>
                <a:ext cx="57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9" name="Line 49"/>
              <p:cNvSpPr>
                <a:spLocks noChangeShapeType="1"/>
              </p:cNvSpPr>
              <p:nvPr/>
            </p:nvSpPr>
            <p:spPr bwMode="auto">
              <a:xfrm>
                <a:off x="4848" y="249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0" name="Line 50"/>
              <p:cNvSpPr>
                <a:spLocks noChangeShapeType="1"/>
              </p:cNvSpPr>
              <p:nvPr/>
            </p:nvSpPr>
            <p:spPr bwMode="auto">
              <a:xfrm>
                <a:off x="4800" y="244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1" name="Line 51"/>
              <p:cNvSpPr>
                <a:spLocks noChangeShapeType="1"/>
              </p:cNvSpPr>
              <p:nvPr/>
            </p:nvSpPr>
            <p:spPr bwMode="auto">
              <a:xfrm>
                <a:off x="4944" y="2448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2" name="Line 52"/>
              <p:cNvSpPr>
                <a:spLocks noChangeShapeType="1"/>
              </p:cNvSpPr>
              <p:nvPr/>
            </p:nvSpPr>
            <p:spPr bwMode="auto">
              <a:xfrm>
                <a:off x="4800" y="2640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3" name="Line 53"/>
              <p:cNvSpPr>
                <a:spLocks noChangeShapeType="1"/>
              </p:cNvSpPr>
              <p:nvPr/>
            </p:nvSpPr>
            <p:spPr bwMode="auto">
              <a:xfrm>
                <a:off x="4944" y="2544"/>
                <a:ext cx="28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4" name="Line 54"/>
              <p:cNvSpPr>
                <a:spLocks noChangeShapeType="1"/>
              </p:cNvSpPr>
              <p:nvPr/>
            </p:nvSpPr>
            <p:spPr bwMode="auto">
              <a:xfrm>
                <a:off x="3792" y="2544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5" name="Line 55"/>
              <p:cNvSpPr>
                <a:spLocks noChangeShapeType="1"/>
              </p:cNvSpPr>
              <p:nvPr/>
            </p:nvSpPr>
            <p:spPr bwMode="auto">
              <a:xfrm flipV="1">
                <a:off x="4512" y="2544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6" name="Oval 56"/>
              <p:cNvSpPr>
                <a:spLocks noChangeArrowheads="1"/>
              </p:cNvSpPr>
              <p:nvPr/>
            </p:nvSpPr>
            <p:spPr bwMode="auto">
              <a:xfrm>
                <a:off x="4488" y="25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67" name="Line 57"/>
              <p:cNvSpPr>
                <a:spLocks noChangeShapeType="1"/>
              </p:cNvSpPr>
              <p:nvPr/>
            </p:nvSpPr>
            <p:spPr bwMode="auto">
              <a:xfrm flipV="1">
                <a:off x="4512" y="2208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8" name="Text Box 58"/>
              <p:cNvSpPr txBox="1">
                <a:spLocks noChangeArrowheads="1"/>
              </p:cNvSpPr>
              <p:nvPr/>
            </p:nvSpPr>
            <p:spPr bwMode="auto">
              <a:xfrm>
                <a:off x="4032" y="216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aphicFrame>
        <p:nvGraphicFramePr>
          <p:cNvPr id="22587" name="Object 2"/>
          <p:cNvGraphicFramePr>
            <a:graphicFrameLocks noChangeAspect="1"/>
          </p:cNvGraphicFramePr>
          <p:nvPr/>
        </p:nvGraphicFramePr>
        <p:xfrm>
          <a:off x="1552575" y="3594100"/>
          <a:ext cx="40386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71700" imgH="457200" progId="Equation.3">
                  <p:embed/>
                </p:oleObj>
              </mc:Choice>
              <mc:Fallback>
                <p:oleObj r:id="rId3" imgW="21717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594100"/>
                        <a:ext cx="40386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1476375" y="4508500"/>
            <a:ext cx="5486400" cy="827088"/>
            <a:chOff x="960" y="3216"/>
            <a:chExt cx="3456" cy="521"/>
          </a:xfrm>
        </p:grpSpPr>
        <p:sp>
          <p:nvSpPr>
            <p:cNvPr id="26635" name="Rectangle 61"/>
            <p:cNvSpPr>
              <a:spLocks noChangeArrowheads="1"/>
            </p:cNvSpPr>
            <p:nvPr/>
          </p:nvSpPr>
          <p:spPr bwMode="auto">
            <a:xfrm>
              <a:off x="960" y="3264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latin typeface="Times New Roman" panose="02020603050405020304" pitchFamily="18" charset="0"/>
                </a:rPr>
                <a:t>对阻容网络：</a:t>
              </a:r>
            </a:p>
          </p:txBody>
        </p:sp>
        <p:grpSp>
          <p:nvGrpSpPr>
            <p:cNvPr id="26636" name="Group 62"/>
            <p:cNvGrpSpPr>
              <a:grpSpLocks/>
            </p:cNvGrpSpPr>
            <p:nvPr/>
          </p:nvGrpSpPr>
          <p:grpSpPr bwMode="auto">
            <a:xfrm>
              <a:off x="2496" y="3216"/>
              <a:ext cx="1920" cy="521"/>
              <a:chOff x="1008" y="3216"/>
              <a:chExt cx="1920" cy="521"/>
            </a:xfrm>
          </p:grpSpPr>
          <p:graphicFrame>
            <p:nvGraphicFramePr>
              <p:cNvPr id="26637" name="Object 5"/>
              <p:cNvGraphicFramePr>
                <a:graphicFrameLocks noChangeAspect="1"/>
              </p:cNvGraphicFramePr>
              <p:nvPr/>
            </p:nvGraphicFramePr>
            <p:xfrm>
              <a:off x="2163" y="3344"/>
              <a:ext cx="765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660113" imgH="215806" progId="Equation.3">
                      <p:embed/>
                    </p:oleObj>
                  </mc:Choice>
                  <mc:Fallback>
                    <p:oleObj r:id="rId5" imgW="660113" imgH="215806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3" y="3344"/>
                            <a:ext cx="765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8" name="Object 6"/>
              <p:cNvGraphicFramePr>
                <a:graphicFrameLocks noChangeAspect="1"/>
              </p:cNvGraphicFramePr>
              <p:nvPr/>
            </p:nvGraphicFramePr>
            <p:xfrm>
              <a:off x="1008" y="3216"/>
              <a:ext cx="1008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863225" imgH="444307" progId="Equation.3">
                      <p:embed/>
                    </p:oleObj>
                  </mc:Choice>
                  <mc:Fallback>
                    <p:oleObj r:id="rId7" imgW="863225" imgH="444307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216"/>
                            <a:ext cx="1008" cy="5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8" name="Group 65"/>
          <p:cNvGrpSpPr>
            <a:grpSpLocks/>
          </p:cNvGrpSpPr>
          <p:nvPr/>
        </p:nvGrpSpPr>
        <p:grpSpPr bwMode="auto">
          <a:xfrm>
            <a:off x="1476375" y="5357813"/>
            <a:ext cx="5340350" cy="827087"/>
            <a:chOff x="960" y="3703"/>
            <a:chExt cx="3364" cy="521"/>
          </a:xfrm>
        </p:grpSpPr>
        <p:grpSp>
          <p:nvGrpSpPr>
            <p:cNvPr id="26631" name="Group 66"/>
            <p:cNvGrpSpPr>
              <a:grpSpLocks/>
            </p:cNvGrpSpPr>
            <p:nvPr/>
          </p:nvGrpSpPr>
          <p:grpSpPr bwMode="auto">
            <a:xfrm>
              <a:off x="2448" y="3703"/>
              <a:ext cx="1876" cy="521"/>
              <a:chOff x="2448" y="3703"/>
              <a:chExt cx="1876" cy="521"/>
            </a:xfrm>
          </p:grpSpPr>
          <p:graphicFrame>
            <p:nvGraphicFramePr>
              <p:cNvPr id="26633" name="Object 3"/>
              <p:cNvGraphicFramePr>
                <a:graphicFrameLocks noChangeAspect="1"/>
              </p:cNvGraphicFramePr>
              <p:nvPr/>
            </p:nvGraphicFramePr>
            <p:xfrm>
              <a:off x="3648" y="3703"/>
              <a:ext cx="676" cy="5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583947" imgH="444307" progId="Equation.3">
                      <p:embed/>
                    </p:oleObj>
                  </mc:Choice>
                  <mc:Fallback>
                    <p:oleObj r:id="rId9" imgW="583947" imgH="444307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3703"/>
                            <a:ext cx="676" cy="5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4" name="Object 4"/>
              <p:cNvGraphicFramePr>
                <a:graphicFrameLocks noChangeAspect="1"/>
              </p:cNvGraphicFramePr>
              <p:nvPr/>
            </p:nvGraphicFramePr>
            <p:xfrm>
              <a:off x="2448" y="3703"/>
              <a:ext cx="1053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901309" imgH="444307" progId="Equation.3">
                      <p:embed/>
                    </p:oleObj>
                  </mc:Choice>
                  <mc:Fallback>
                    <p:oleObj r:id="rId11" imgW="901309" imgH="444307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3703"/>
                            <a:ext cx="1053" cy="5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32" name="Rectangle 69"/>
            <p:cNvSpPr>
              <a:spLocks noChangeArrowheads="1"/>
            </p:cNvSpPr>
            <p:nvPr/>
          </p:nvSpPr>
          <p:spPr bwMode="auto">
            <a:xfrm>
              <a:off x="960" y="3792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latin typeface="Times New Roman" panose="02020603050405020304" pitchFamily="18" charset="0"/>
                </a:rPr>
                <a:t>对机械网络：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1619250" y="1038225"/>
            <a:ext cx="2454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j </a:t>
            </a:r>
            <a:r>
              <a:rPr lang="en-US" altLang="zh-CN" sz="2800">
                <a:latin typeface="Times New Roman" panose="02020603050405020304" pitchFamily="18" charset="0"/>
              </a:rPr>
              <a:t>&gt;&gt; 1</a:t>
            </a:r>
            <a:r>
              <a:rPr lang="zh-CN" altLang="en-US" sz="2800">
                <a:latin typeface="Times New Roman" panose="02020603050405020304" pitchFamily="18" charset="0"/>
              </a:rPr>
              <a:t>时</a:t>
            </a: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1965325" y="1717675"/>
          <a:ext cx="54451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33700" imgH="495300" progId="Equation.3">
                  <p:embed/>
                </p:oleObj>
              </mc:Choice>
              <mc:Fallback>
                <p:oleObj r:id="rId3" imgW="2933700" imgH="495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1717675"/>
                        <a:ext cx="54451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162050" y="3552825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PI</a:t>
            </a:r>
            <a:r>
              <a:rPr lang="zh-CN" altLang="en-US" sz="2800">
                <a:latin typeface="Times New Roman" panose="02020603050405020304" pitchFamily="18" charset="0"/>
              </a:rPr>
              <a:t>校正装置的特性 </a:t>
            </a:r>
          </a:p>
        </p:txBody>
      </p:sp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2000250" y="4224338"/>
          <a:ext cx="26670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58900" imgH="457200" progId="Equation.3">
                  <p:embed/>
                </p:oleObj>
              </mc:Choice>
              <mc:Fallback>
                <p:oleObj r:id="rId5" imgW="1358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4224338"/>
                        <a:ext cx="26670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619250" y="2787650"/>
            <a:ext cx="2644775" cy="536575"/>
            <a:chOff x="864" y="2073"/>
            <a:chExt cx="1666" cy="338"/>
          </a:xfrm>
        </p:grpSpPr>
        <p:graphicFrame>
          <p:nvGraphicFramePr>
            <p:cNvPr id="28683" name="Object 6"/>
            <p:cNvGraphicFramePr>
              <a:graphicFrameLocks noChangeAspect="1"/>
            </p:cNvGraphicFramePr>
            <p:nvPr/>
          </p:nvGraphicFramePr>
          <p:xfrm>
            <a:off x="1680" y="2112"/>
            <a:ext cx="85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85800" imgH="241300" progId="Equation.3">
                    <p:embed/>
                  </p:oleObj>
                </mc:Choice>
                <mc:Fallback>
                  <p:oleObj r:id="rId7" imgW="6858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12"/>
                          <a:ext cx="85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4" name="Rectangle 9"/>
            <p:cNvSpPr>
              <a:spLocks noChangeArrowheads="1"/>
            </p:cNvSpPr>
            <p:nvPr/>
          </p:nvSpPr>
          <p:spPr bwMode="auto">
            <a:xfrm>
              <a:off x="864" y="2073"/>
              <a:ext cx="15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其中，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619250" y="5229225"/>
            <a:ext cx="6324600" cy="879475"/>
            <a:chOff x="1056" y="3648"/>
            <a:chExt cx="3984" cy="554"/>
          </a:xfrm>
        </p:grpSpPr>
        <p:sp>
          <p:nvSpPr>
            <p:cNvPr id="28680" name="Rectangle 11"/>
            <p:cNvSpPr>
              <a:spLocks noChangeArrowheads="1"/>
            </p:cNvSpPr>
            <p:nvPr/>
          </p:nvSpPr>
          <p:spPr bwMode="auto">
            <a:xfrm>
              <a:off x="1056" y="3705"/>
              <a:ext cx="3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转折频率：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681" name="Object 4"/>
            <p:cNvGraphicFramePr>
              <a:graphicFrameLocks noChangeAspect="1"/>
            </p:cNvGraphicFramePr>
            <p:nvPr/>
          </p:nvGraphicFramePr>
          <p:xfrm>
            <a:off x="2304" y="3648"/>
            <a:ext cx="848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85502" imgH="444307" progId="Equation.3">
                    <p:embed/>
                  </p:oleObj>
                </mc:Choice>
                <mc:Fallback>
                  <p:oleObj r:id="rId9" imgW="685502" imgH="44430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648"/>
                          <a:ext cx="848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5"/>
            <p:cNvGraphicFramePr>
              <a:graphicFrameLocks noChangeAspect="1"/>
            </p:cNvGraphicFramePr>
            <p:nvPr/>
          </p:nvGraphicFramePr>
          <p:xfrm>
            <a:off x="3504" y="3648"/>
            <a:ext cx="672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545863" imgH="431613" progId="Equation.3">
                    <p:embed/>
                  </p:oleObj>
                </mc:Choice>
                <mc:Fallback>
                  <p:oleObj r:id="rId11" imgW="545863" imgH="431613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648"/>
                          <a:ext cx="672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3"/>
          <p:cNvGrpSpPr>
            <a:grpSpLocks/>
          </p:cNvGrpSpPr>
          <p:nvPr/>
        </p:nvGrpSpPr>
        <p:grpSpPr bwMode="auto">
          <a:xfrm>
            <a:off x="900113" y="1125538"/>
            <a:ext cx="6935787" cy="4876800"/>
            <a:chOff x="576" y="1152"/>
            <a:chExt cx="4369" cy="3072"/>
          </a:xfrm>
        </p:grpSpPr>
        <p:sp>
          <p:nvSpPr>
            <p:cNvPr id="30723" name="Text Box 4"/>
            <p:cNvSpPr txBox="1">
              <a:spLocks noChangeArrowheads="1"/>
            </p:cNvSpPr>
            <p:nvPr/>
          </p:nvSpPr>
          <p:spPr bwMode="auto">
            <a:xfrm rot="-5400000">
              <a:off x="358" y="1633"/>
              <a:ext cx="8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L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c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30724" name="Text Box 5"/>
            <p:cNvSpPr txBox="1">
              <a:spLocks noChangeArrowheads="1"/>
            </p:cNvSpPr>
            <p:nvPr/>
          </p:nvSpPr>
          <p:spPr bwMode="auto">
            <a:xfrm rot="-5400000">
              <a:off x="444" y="3001"/>
              <a:ext cx="5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c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25" name="Rectangle 6"/>
            <p:cNvSpPr>
              <a:spLocks noChangeArrowheads="1"/>
            </p:cNvSpPr>
            <p:nvPr/>
          </p:nvSpPr>
          <p:spPr bwMode="auto">
            <a:xfrm>
              <a:off x="2734" y="3936"/>
              <a:ext cx="8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>
                  <a:latin typeface="Times New Roman" panose="02020603050405020304" pitchFamily="18" charset="0"/>
                </a:rPr>
                <a:t>  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rad/s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26" name="Rectangle 7"/>
            <p:cNvSpPr>
              <a:spLocks noChangeArrowheads="1"/>
            </p:cNvSpPr>
            <p:nvPr/>
          </p:nvSpPr>
          <p:spPr bwMode="auto">
            <a:xfrm>
              <a:off x="1054" y="2490"/>
              <a:ext cx="28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30727" name="Rectangle 8"/>
            <p:cNvSpPr>
              <a:spLocks noChangeArrowheads="1"/>
            </p:cNvSpPr>
            <p:nvPr/>
          </p:nvSpPr>
          <p:spPr bwMode="auto">
            <a:xfrm>
              <a:off x="921" y="3074"/>
              <a:ext cx="4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-40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30728" name="Rectangle 9"/>
            <p:cNvSpPr>
              <a:spLocks noChangeArrowheads="1"/>
            </p:cNvSpPr>
            <p:nvPr/>
          </p:nvSpPr>
          <p:spPr bwMode="auto">
            <a:xfrm>
              <a:off x="921" y="3354"/>
              <a:ext cx="44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-60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729" name="Rectangle 10"/>
            <p:cNvSpPr>
              <a:spLocks noChangeArrowheads="1"/>
            </p:cNvSpPr>
            <p:nvPr/>
          </p:nvSpPr>
          <p:spPr bwMode="auto">
            <a:xfrm>
              <a:off x="921" y="2774"/>
              <a:ext cx="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-20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30730" name="Rectangle 11"/>
            <p:cNvSpPr>
              <a:spLocks noChangeArrowheads="1"/>
            </p:cNvSpPr>
            <p:nvPr/>
          </p:nvSpPr>
          <p:spPr bwMode="auto">
            <a:xfrm>
              <a:off x="2785" y="2831"/>
              <a:ext cx="36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31" name="Rectangle 12"/>
            <p:cNvSpPr>
              <a:spLocks noChangeArrowheads="1"/>
            </p:cNvSpPr>
            <p:nvPr/>
          </p:nvSpPr>
          <p:spPr bwMode="auto">
            <a:xfrm>
              <a:off x="1920" y="3703"/>
              <a:ext cx="10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baseline="-16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=1</a:t>
              </a:r>
              <a:r>
                <a:rPr lang="en-US" altLang="zh-CN" sz="2400" i="1">
                  <a:latin typeface="Times New Roman" panose="02020603050405020304" pitchFamily="18" charset="0"/>
                </a:rPr>
                <a:t>/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16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32" name="Rectangle 13"/>
            <p:cNvSpPr>
              <a:spLocks noChangeArrowheads="1"/>
            </p:cNvSpPr>
            <p:nvPr/>
          </p:nvSpPr>
          <p:spPr bwMode="auto">
            <a:xfrm>
              <a:off x="3397" y="3700"/>
              <a:ext cx="772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baseline="-16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=1</a:t>
              </a:r>
              <a:r>
                <a:rPr lang="en-US" altLang="zh-CN" sz="2400" i="1" baseline="-16000">
                  <a:latin typeface="Times New Roman" panose="02020603050405020304" pitchFamily="18" charset="0"/>
                </a:rPr>
                <a:t> </a:t>
              </a:r>
              <a:r>
                <a:rPr lang="en-US" altLang="zh-CN" sz="2400" i="1">
                  <a:latin typeface="Times New Roman" panose="02020603050405020304" pitchFamily="18" charset="0"/>
                </a:rPr>
                <a:t>/T</a:t>
              </a:r>
              <a:r>
                <a:rPr lang="en-US" altLang="zh-CN" sz="2400" baseline="-16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733" name="Rectangle 14"/>
            <p:cNvSpPr>
              <a:spLocks noChangeArrowheads="1"/>
            </p:cNvSpPr>
            <p:nvPr/>
          </p:nvSpPr>
          <p:spPr bwMode="auto">
            <a:xfrm>
              <a:off x="2980" y="3700"/>
              <a:ext cx="34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6000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0734" name="Rectangle 15"/>
            <p:cNvSpPr>
              <a:spLocks noChangeArrowheads="1"/>
            </p:cNvSpPr>
            <p:nvPr/>
          </p:nvSpPr>
          <p:spPr bwMode="auto">
            <a:xfrm>
              <a:off x="3121" y="1788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30735" name="Rectangle 16"/>
            <p:cNvSpPr>
              <a:spLocks noChangeArrowheads="1"/>
            </p:cNvSpPr>
            <p:nvPr/>
          </p:nvSpPr>
          <p:spPr bwMode="auto">
            <a:xfrm>
              <a:off x="1284" y="1262"/>
              <a:ext cx="3658" cy="117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36" name="Freeform 17"/>
            <p:cNvSpPr>
              <a:spLocks/>
            </p:cNvSpPr>
            <p:nvPr/>
          </p:nvSpPr>
          <p:spPr bwMode="auto">
            <a:xfrm>
              <a:off x="1284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Freeform 18"/>
            <p:cNvSpPr>
              <a:spLocks/>
            </p:cNvSpPr>
            <p:nvPr/>
          </p:nvSpPr>
          <p:spPr bwMode="auto">
            <a:xfrm>
              <a:off x="2501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Freeform 19"/>
            <p:cNvSpPr>
              <a:spLocks/>
            </p:cNvSpPr>
            <p:nvPr/>
          </p:nvSpPr>
          <p:spPr bwMode="auto">
            <a:xfrm>
              <a:off x="3718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Freeform 20"/>
            <p:cNvSpPr>
              <a:spLocks/>
            </p:cNvSpPr>
            <p:nvPr/>
          </p:nvSpPr>
          <p:spPr bwMode="auto">
            <a:xfrm>
              <a:off x="1284" y="2042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Freeform 21"/>
            <p:cNvSpPr>
              <a:spLocks/>
            </p:cNvSpPr>
            <p:nvPr/>
          </p:nvSpPr>
          <p:spPr bwMode="auto">
            <a:xfrm>
              <a:off x="1284" y="1651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Freeform 22"/>
            <p:cNvSpPr>
              <a:spLocks/>
            </p:cNvSpPr>
            <p:nvPr/>
          </p:nvSpPr>
          <p:spPr bwMode="auto">
            <a:xfrm>
              <a:off x="1284" y="1262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23"/>
            <p:cNvSpPr>
              <a:spLocks noChangeShapeType="1"/>
            </p:cNvSpPr>
            <p:nvPr/>
          </p:nvSpPr>
          <p:spPr bwMode="auto">
            <a:xfrm>
              <a:off x="1284" y="1262"/>
              <a:ext cx="365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Freeform 24"/>
            <p:cNvSpPr>
              <a:spLocks/>
            </p:cNvSpPr>
            <p:nvPr/>
          </p:nvSpPr>
          <p:spPr bwMode="auto">
            <a:xfrm>
              <a:off x="1284" y="1262"/>
              <a:ext cx="3658" cy="1170"/>
            </a:xfrm>
            <a:custGeom>
              <a:avLst/>
              <a:gdLst>
                <a:gd name="T0" fmla="*/ 0 w 595"/>
                <a:gd name="T1" fmla="*/ 1170 h 198"/>
                <a:gd name="T2" fmla="*/ 3658 w 595"/>
                <a:gd name="T3" fmla="*/ 1170 h 198"/>
                <a:gd name="T4" fmla="*/ 3658 w 595"/>
                <a:gd name="T5" fmla="*/ 0 h 198"/>
                <a:gd name="T6" fmla="*/ 0 60000 65536"/>
                <a:gd name="T7" fmla="*/ 0 60000 65536"/>
                <a:gd name="T8" fmla="*/ 0 60000 65536"/>
                <a:gd name="T9" fmla="*/ 0 w 595"/>
                <a:gd name="T10" fmla="*/ 0 h 198"/>
                <a:gd name="T11" fmla="*/ 595 w 595"/>
                <a:gd name="T12" fmla="*/ 198 h 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25"/>
            <p:cNvSpPr>
              <a:spLocks noChangeShapeType="1"/>
            </p:cNvSpPr>
            <p:nvPr/>
          </p:nvSpPr>
          <p:spPr bwMode="auto">
            <a:xfrm flipV="1">
              <a:off x="1284" y="1262"/>
              <a:ext cx="1" cy="117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26"/>
            <p:cNvSpPr>
              <a:spLocks noChangeShapeType="1"/>
            </p:cNvSpPr>
            <p:nvPr/>
          </p:nvSpPr>
          <p:spPr bwMode="auto">
            <a:xfrm flipV="1">
              <a:off x="1284" y="1262"/>
              <a:ext cx="1" cy="117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27"/>
            <p:cNvSpPr>
              <a:spLocks noChangeShapeType="1"/>
            </p:cNvSpPr>
            <p:nvPr/>
          </p:nvSpPr>
          <p:spPr bwMode="auto">
            <a:xfrm flipV="1">
              <a:off x="1284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28"/>
            <p:cNvSpPr>
              <a:spLocks noChangeShapeType="1"/>
            </p:cNvSpPr>
            <p:nvPr/>
          </p:nvSpPr>
          <p:spPr bwMode="auto">
            <a:xfrm>
              <a:off x="1284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Freeform 29"/>
            <p:cNvSpPr>
              <a:spLocks/>
            </p:cNvSpPr>
            <p:nvPr/>
          </p:nvSpPr>
          <p:spPr bwMode="auto">
            <a:xfrm>
              <a:off x="1284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Line 30"/>
            <p:cNvSpPr>
              <a:spLocks noChangeShapeType="1"/>
            </p:cNvSpPr>
            <p:nvPr/>
          </p:nvSpPr>
          <p:spPr bwMode="auto">
            <a:xfrm flipV="1">
              <a:off x="1284" y="2397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31"/>
            <p:cNvSpPr>
              <a:spLocks noChangeShapeType="1"/>
            </p:cNvSpPr>
            <p:nvPr/>
          </p:nvSpPr>
          <p:spPr bwMode="auto">
            <a:xfrm>
              <a:off x="1284" y="1262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Line 32"/>
            <p:cNvSpPr>
              <a:spLocks noChangeShapeType="1"/>
            </p:cNvSpPr>
            <p:nvPr/>
          </p:nvSpPr>
          <p:spPr bwMode="auto">
            <a:xfrm flipV="1">
              <a:off x="1646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33"/>
            <p:cNvSpPr>
              <a:spLocks noChangeShapeType="1"/>
            </p:cNvSpPr>
            <p:nvPr/>
          </p:nvSpPr>
          <p:spPr bwMode="auto">
            <a:xfrm>
              <a:off x="1646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Line 34"/>
            <p:cNvSpPr>
              <a:spLocks noChangeShapeType="1"/>
            </p:cNvSpPr>
            <p:nvPr/>
          </p:nvSpPr>
          <p:spPr bwMode="auto">
            <a:xfrm flipV="1">
              <a:off x="1861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5"/>
            <p:cNvSpPr>
              <a:spLocks noChangeShapeType="1"/>
            </p:cNvSpPr>
            <p:nvPr/>
          </p:nvSpPr>
          <p:spPr bwMode="auto">
            <a:xfrm>
              <a:off x="1861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Line 36"/>
            <p:cNvSpPr>
              <a:spLocks noChangeShapeType="1"/>
            </p:cNvSpPr>
            <p:nvPr/>
          </p:nvSpPr>
          <p:spPr bwMode="auto">
            <a:xfrm flipV="1">
              <a:off x="2015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Line 37"/>
            <p:cNvSpPr>
              <a:spLocks noChangeShapeType="1"/>
            </p:cNvSpPr>
            <p:nvPr/>
          </p:nvSpPr>
          <p:spPr bwMode="auto">
            <a:xfrm>
              <a:off x="2015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Line 38"/>
            <p:cNvSpPr>
              <a:spLocks noChangeShapeType="1"/>
            </p:cNvSpPr>
            <p:nvPr/>
          </p:nvSpPr>
          <p:spPr bwMode="auto">
            <a:xfrm flipV="1">
              <a:off x="2132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Line 39"/>
            <p:cNvSpPr>
              <a:spLocks noChangeShapeType="1"/>
            </p:cNvSpPr>
            <p:nvPr/>
          </p:nvSpPr>
          <p:spPr bwMode="auto">
            <a:xfrm>
              <a:off x="2132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Line 40"/>
            <p:cNvSpPr>
              <a:spLocks noChangeShapeType="1"/>
            </p:cNvSpPr>
            <p:nvPr/>
          </p:nvSpPr>
          <p:spPr bwMode="auto">
            <a:xfrm flipV="1">
              <a:off x="2230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41"/>
            <p:cNvSpPr>
              <a:spLocks noChangeShapeType="1"/>
            </p:cNvSpPr>
            <p:nvPr/>
          </p:nvSpPr>
          <p:spPr bwMode="auto">
            <a:xfrm>
              <a:off x="2230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Line 42"/>
            <p:cNvSpPr>
              <a:spLocks noChangeShapeType="1"/>
            </p:cNvSpPr>
            <p:nvPr/>
          </p:nvSpPr>
          <p:spPr bwMode="auto">
            <a:xfrm flipV="1">
              <a:off x="2310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Line 43"/>
            <p:cNvSpPr>
              <a:spLocks noChangeShapeType="1"/>
            </p:cNvSpPr>
            <p:nvPr/>
          </p:nvSpPr>
          <p:spPr bwMode="auto">
            <a:xfrm>
              <a:off x="2310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Line 44"/>
            <p:cNvSpPr>
              <a:spLocks noChangeShapeType="1"/>
            </p:cNvSpPr>
            <p:nvPr/>
          </p:nvSpPr>
          <p:spPr bwMode="auto">
            <a:xfrm flipV="1">
              <a:off x="2384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4" name="Line 45"/>
            <p:cNvSpPr>
              <a:spLocks noChangeShapeType="1"/>
            </p:cNvSpPr>
            <p:nvPr/>
          </p:nvSpPr>
          <p:spPr bwMode="auto">
            <a:xfrm>
              <a:off x="2384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5" name="Line 46"/>
            <p:cNvSpPr>
              <a:spLocks noChangeShapeType="1"/>
            </p:cNvSpPr>
            <p:nvPr/>
          </p:nvSpPr>
          <p:spPr bwMode="auto">
            <a:xfrm flipV="1">
              <a:off x="2445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Line 47"/>
            <p:cNvSpPr>
              <a:spLocks noChangeShapeType="1"/>
            </p:cNvSpPr>
            <p:nvPr/>
          </p:nvSpPr>
          <p:spPr bwMode="auto">
            <a:xfrm>
              <a:off x="2445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Line 48"/>
            <p:cNvSpPr>
              <a:spLocks noChangeShapeType="1"/>
            </p:cNvSpPr>
            <p:nvPr/>
          </p:nvSpPr>
          <p:spPr bwMode="auto">
            <a:xfrm flipV="1">
              <a:off x="2501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Line 49"/>
            <p:cNvSpPr>
              <a:spLocks noChangeShapeType="1"/>
            </p:cNvSpPr>
            <p:nvPr/>
          </p:nvSpPr>
          <p:spPr bwMode="auto">
            <a:xfrm>
              <a:off x="2501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Freeform 50"/>
            <p:cNvSpPr>
              <a:spLocks/>
            </p:cNvSpPr>
            <p:nvPr/>
          </p:nvSpPr>
          <p:spPr bwMode="auto">
            <a:xfrm>
              <a:off x="2501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Line 51"/>
            <p:cNvSpPr>
              <a:spLocks noChangeShapeType="1"/>
            </p:cNvSpPr>
            <p:nvPr/>
          </p:nvSpPr>
          <p:spPr bwMode="auto">
            <a:xfrm flipV="1">
              <a:off x="2501" y="2397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52"/>
            <p:cNvSpPr>
              <a:spLocks noChangeShapeType="1"/>
            </p:cNvSpPr>
            <p:nvPr/>
          </p:nvSpPr>
          <p:spPr bwMode="auto">
            <a:xfrm>
              <a:off x="2501" y="1262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Line 53"/>
            <p:cNvSpPr>
              <a:spLocks noChangeShapeType="1"/>
            </p:cNvSpPr>
            <p:nvPr/>
          </p:nvSpPr>
          <p:spPr bwMode="auto">
            <a:xfrm flipV="1">
              <a:off x="2869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3" name="Line 54"/>
            <p:cNvSpPr>
              <a:spLocks noChangeShapeType="1"/>
            </p:cNvSpPr>
            <p:nvPr/>
          </p:nvSpPr>
          <p:spPr bwMode="auto">
            <a:xfrm>
              <a:off x="2869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4" name="Line 55"/>
            <p:cNvSpPr>
              <a:spLocks noChangeShapeType="1"/>
            </p:cNvSpPr>
            <p:nvPr/>
          </p:nvSpPr>
          <p:spPr bwMode="auto">
            <a:xfrm flipV="1">
              <a:off x="3078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5" name="Line 56"/>
            <p:cNvSpPr>
              <a:spLocks noChangeShapeType="1"/>
            </p:cNvSpPr>
            <p:nvPr/>
          </p:nvSpPr>
          <p:spPr bwMode="auto">
            <a:xfrm>
              <a:off x="3078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6" name="Line 57"/>
            <p:cNvSpPr>
              <a:spLocks noChangeShapeType="1"/>
            </p:cNvSpPr>
            <p:nvPr/>
          </p:nvSpPr>
          <p:spPr bwMode="auto">
            <a:xfrm flipV="1">
              <a:off x="3232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7" name="Line 58"/>
            <p:cNvSpPr>
              <a:spLocks noChangeShapeType="1"/>
            </p:cNvSpPr>
            <p:nvPr/>
          </p:nvSpPr>
          <p:spPr bwMode="auto">
            <a:xfrm>
              <a:off x="3232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Line 59"/>
            <p:cNvSpPr>
              <a:spLocks noChangeShapeType="1"/>
            </p:cNvSpPr>
            <p:nvPr/>
          </p:nvSpPr>
          <p:spPr bwMode="auto">
            <a:xfrm flipV="1">
              <a:off x="3349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9" name="Line 60"/>
            <p:cNvSpPr>
              <a:spLocks noChangeShapeType="1"/>
            </p:cNvSpPr>
            <p:nvPr/>
          </p:nvSpPr>
          <p:spPr bwMode="auto">
            <a:xfrm>
              <a:off x="3349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0" name="Line 61"/>
            <p:cNvSpPr>
              <a:spLocks noChangeShapeType="1"/>
            </p:cNvSpPr>
            <p:nvPr/>
          </p:nvSpPr>
          <p:spPr bwMode="auto">
            <a:xfrm flipV="1">
              <a:off x="3447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1" name="Line 62"/>
            <p:cNvSpPr>
              <a:spLocks noChangeShapeType="1"/>
            </p:cNvSpPr>
            <p:nvPr/>
          </p:nvSpPr>
          <p:spPr bwMode="auto">
            <a:xfrm>
              <a:off x="3447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2" name="Line 63"/>
            <p:cNvSpPr>
              <a:spLocks noChangeShapeType="1"/>
            </p:cNvSpPr>
            <p:nvPr/>
          </p:nvSpPr>
          <p:spPr bwMode="auto">
            <a:xfrm flipV="1">
              <a:off x="3528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3" name="Line 64"/>
            <p:cNvSpPr>
              <a:spLocks noChangeShapeType="1"/>
            </p:cNvSpPr>
            <p:nvPr/>
          </p:nvSpPr>
          <p:spPr bwMode="auto">
            <a:xfrm>
              <a:off x="3528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4" name="Line 65"/>
            <p:cNvSpPr>
              <a:spLocks noChangeShapeType="1"/>
            </p:cNvSpPr>
            <p:nvPr/>
          </p:nvSpPr>
          <p:spPr bwMode="auto">
            <a:xfrm flipV="1">
              <a:off x="3601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5" name="Line 66"/>
            <p:cNvSpPr>
              <a:spLocks noChangeShapeType="1"/>
            </p:cNvSpPr>
            <p:nvPr/>
          </p:nvSpPr>
          <p:spPr bwMode="auto">
            <a:xfrm>
              <a:off x="3601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6" name="Line 67"/>
            <p:cNvSpPr>
              <a:spLocks noChangeShapeType="1"/>
            </p:cNvSpPr>
            <p:nvPr/>
          </p:nvSpPr>
          <p:spPr bwMode="auto">
            <a:xfrm flipV="1">
              <a:off x="3662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Line 68"/>
            <p:cNvSpPr>
              <a:spLocks noChangeShapeType="1"/>
            </p:cNvSpPr>
            <p:nvPr/>
          </p:nvSpPr>
          <p:spPr bwMode="auto">
            <a:xfrm>
              <a:off x="3662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Line 69"/>
            <p:cNvSpPr>
              <a:spLocks noChangeShapeType="1"/>
            </p:cNvSpPr>
            <p:nvPr/>
          </p:nvSpPr>
          <p:spPr bwMode="auto">
            <a:xfrm flipV="1">
              <a:off x="3718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70"/>
            <p:cNvSpPr>
              <a:spLocks noChangeShapeType="1"/>
            </p:cNvSpPr>
            <p:nvPr/>
          </p:nvSpPr>
          <p:spPr bwMode="auto">
            <a:xfrm>
              <a:off x="3718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Freeform 71"/>
            <p:cNvSpPr>
              <a:spLocks/>
            </p:cNvSpPr>
            <p:nvPr/>
          </p:nvSpPr>
          <p:spPr bwMode="auto">
            <a:xfrm>
              <a:off x="3718" y="1262"/>
              <a:ext cx="1" cy="1170"/>
            </a:xfrm>
            <a:custGeom>
              <a:avLst/>
              <a:gdLst>
                <a:gd name="T0" fmla="*/ 0 w 1"/>
                <a:gd name="T1" fmla="*/ 1170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Line 72"/>
            <p:cNvSpPr>
              <a:spLocks noChangeShapeType="1"/>
            </p:cNvSpPr>
            <p:nvPr/>
          </p:nvSpPr>
          <p:spPr bwMode="auto">
            <a:xfrm flipV="1">
              <a:off x="3718" y="2397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2" name="Line 73"/>
            <p:cNvSpPr>
              <a:spLocks noChangeShapeType="1"/>
            </p:cNvSpPr>
            <p:nvPr/>
          </p:nvSpPr>
          <p:spPr bwMode="auto">
            <a:xfrm>
              <a:off x="3718" y="1262"/>
              <a:ext cx="1" cy="2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3" name="Line 74"/>
            <p:cNvSpPr>
              <a:spLocks noChangeShapeType="1"/>
            </p:cNvSpPr>
            <p:nvPr/>
          </p:nvSpPr>
          <p:spPr bwMode="auto">
            <a:xfrm flipV="1">
              <a:off x="4087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4" name="Line 75"/>
            <p:cNvSpPr>
              <a:spLocks noChangeShapeType="1"/>
            </p:cNvSpPr>
            <p:nvPr/>
          </p:nvSpPr>
          <p:spPr bwMode="auto">
            <a:xfrm>
              <a:off x="4087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5" name="Line 76"/>
            <p:cNvSpPr>
              <a:spLocks noChangeShapeType="1"/>
            </p:cNvSpPr>
            <p:nvPr/>
          </p:nvSpPr>
          <p:spPr bwMode="auto">
            <a:xfrm flipV="1">
              <a:off x="4302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6" name="Line 77"/>
            <p:cNvSpPr>
              <a:spLocks noChangeShapeType="1"/>
            </p:cNvSpPr>
            <p:nvPr/>
          </p:nvSpPr>
          <p:spPr bwMode="auto">
            <a:xfrm>
              <a:off x="4302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7" name="Line 78"/>
            <p:cNvSpPr>
              <a:spLocks noChangeShapeType="1"/>
            </p:cNvSpPr>
            <p:nvPr/>
          </p:nvSpPr>
          <p:spPr bwMode="auto">
            <a:xfrm flipV="1">
              <a:off x="4456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8" name="Line 79"/>
            <p:cNvSpPr>
              <a:spLocks noChangeShapeType="1"/>
            </p:cNvSpPr>
            <p:nvPr/>
          </p:nvSpPr>
          <p:spPr bwMode="auto">
            <a:xfrm>
              <a:off x="4456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9" name="Line 80"/>
            <p:cNvSpPr>
              <a:spLocks noChangeShapeType="1"/>
            </p:cNvSpPr>
            <p:nvPr/>
          </p:nvSpPr>
          <p:spPr bwMode="auto">
            <a:xfrm flipV="1">
              <a:off x="4572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0" name="Line 81"/>
            <p:cNvSpPr>
              <a:spLocks noChangeShapeType="1"/>
            </p:cNvSpPr>
            <p:nvPr/>
          </p:nvSpPr>
          <p:spPr bwMode="auto">
            <a:xfrm>
              <a:off x="4572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1" name="Line 82"/>
            <p:cNvSpPr>
              <a:spLocks noChangeShapeType="1"/>
            </p:cNvSpPr>
            <p:nvPr/>
          </p:nvSpPr>
          <p:spPr bwMode="auto">
            <a:xfrm flipV="1">
              <a:off x="4665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2" name="Line 83"/>
            <p:cNvSpPr>
              <a:spLocks noChangeShapeType="1"/>
            </p:cNvSpPr>
            <p:nvPr/>
          </p:nvSpPr>
          <p:spPr bwMode="auto">
            <a:xfrm>
              <a:off x="4665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3" name="Line 84"/>
            <p:cNvSpPr>
              <a:spLocks noChangeShapeType="1"/>
            </p:cNvSpPr>
            <p:nvPr/>
          </p:nvSpPr>
          <p:spPr bwMode="auto">
            <a:xfrm flipV="1">
              <a:off x="4751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4" name="Line 85"/>
            <p:cNvSpPr>
              <a:spLocks noChangeShapeType="1"/>
            </p:cNvSpPr>
            <p:nvPr/>
          </p:nvSpPr>
          <p:spPr bwMode="auto">
            <a:xfrm>
              <a:off x="4751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5" name="Line 86"/>
            <p:cNvSpPr>
              <a:spLocks noChangeShapeType="1"/>
            </p:cNvSpPr>
            <p:nvPr/>
          </p:nvSpPr>
          <p:spPr bwMode="auto">
            <a:xfrm flipV="1">
              <a:off x="4818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6" name="Line 87"/>
            <p:cNvSpPr>
              <a:spLocks noChangeShapeType="1"/>
            </p:cNvSpPr>
            <p:nvPr/>
          </p:nvSpPr>
          <p:spPr bwMode="auto">
            <a:xfrm>
              <a:off x="4818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7" name="Line 88"/>
            <p:cNvSpPr>
              <a:spLocks noChangeShapeType="1"/>
            </p:cNvSpPr>
            <p:nvPr/>
          </p:nvSpPr>
          <p:spPr bwMode="auto">
            <a:xfrm flipV="1">
              <a:off x="4880" y="2415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8" name="Line 89"/>
            <p:cNvSpPr>
              <a:spLocks noChangeShapeType="1"/>
            </p:cNvSpPr>
            <p:nvPr/>
          </p:nvSpPr>
          <p:spPr bwMode="auto">
            <a:xfrm>
              <a:off x="4880" y="12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9" name="Rectangle 90"/>
            <p:cNvSpPr>
              <a:spLocks noChangeArrowheads="1"/>
            </p:cNvSpPr>
            <p:nvPr/>
          </p:nvSpPr>
          <p:spPr bwMode="auto">
            <a:xfrm>
              <a:off x="993" y="2301"/>
              <a:ext cx="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-30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810" name="Line 91"/>
            <p:cNvSpPr>
              <a:spLocks noChangeShapeType="1"/>
            </p:cNvSpPr>
            <p:nvPr/>
          </p:nvSpPr>
          <p:spPr bwMode="auto">
            <a:xfrm>
              <a:off x="1284" y="2238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1" name="Line 92"/>
            <p:cNvSpPr>
              <a:spLocks noChangeShapeType="1"/>
            </p:cNvSpPr>
            <p:nvPr/>
          </p:nvSpPr>
          <p:spPr bwMode="auto">
            <a:xfrm flipH="1">
              <a:off x="4904" y="2238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2" name="Line 93"/>
            <p:cNvSpPr>
              <a:spLocks noChangeShapeType="1"/>
            </p:cNvSpPr>
            <p:nvPr/>
          </p:nvSpPr>
          <p:spPr bwMode="auto">
            <a:xfrm>
              <a:off x="1284" y="2042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3" name="Line 94"/>
            <p:cNvSpPr>
              <a:spLocks noChangeShapeType="1"/>
            </p:cNvSpPr>
            <p:nvPr/>
          </p:nvSpPr>
          <p:spPr bwMode="auto">
            <a:xfrm flipH="1">
              <a:off x="4904" y="2042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4" name="Rectangle 95"/>
            <p:cNvSpPr>
              <a:spLocks noChangeArrowheads="1"/>
            </p:cNvSpPr>
            <p:nvPr/>
          </p:nvSpPr>
          <p:spPr bwMode="auto">
            <a:xfrm>
              <a:off x="993" y="1919"/>
              <a:ext cx="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-20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815" name="Line 96"/>
            <p:cNvSpPr>
              <a:spLocks noChangeShapeType="1"/>
            </p:cNvSpPr>
            <p:nvPr/>
          </p:nvSpPr>
          <p:spPr bwMode="auto">
            <a:xfrm>
              <a:off x="1284" y="1847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6" name="Line 97"/>
            <p:cNvSpPr>
              <a:spLocks noChangeShapeType="1"/>
            </p:cNvSpPr>
            <p:nvPr/>
          </p:nvSpPr>
          <p:spPr bwMode="auto">
            <a:xfrm flipH="1">
              <a:off x="4904" y="1847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7" name="Line 98"/>
            <p:cNvSpPr>
              <a:spLocks noChangeShapeType="1"/>
            </p:cNvSpPr>
            <p:nvPr/>
          </p:nvSpPr>
          <p:spPr bwMode="auto">
            <a:xfrm>
              <a:off x="1284" y="1651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8" name="Line 99"/>
            <p:cNvSpPr>
              <a:spLocks noChangeShapeType="1"/>
            </p:cNvSpPr>
            <p:nvPr/>
          </p:nvSpPr>
          <p:spPr bwMode="auto">
            <a:xfrm flipH="1">
              <a:off x="4904" y="1651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9" name="Rectangle 100"/>
            <p:cNvSpPr>
              <a:spLocks noChangeArrowheads="1"/>
            </p:cNvSpPr>
            <p:nvPr/>
          </p:nvSpPr>
          <p:spPr bwMode="auto">
            <a:xfrm>
              <a:off x="993" y="1529"/>
              <a:ext cx="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820" name="Line 101"/>
            <p:cNvSpPr>
              <a:spLocks noChangeShapeType="1"/>
            </p:cNvSpPr>
            <p:nvPr/>
          </p:nvSpPr>
          <p:spPr bwMode="auto">
            <a:xfrm>
              <a:off x="1284" y="1457"/>
              <a:ext cx="3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1" name="Line 102"/>
            <p:cNvSpPr>
              <a:spLocks noChangeShapeType="1"/>
            </p:cNvSpPr>
            <p:nvPr/>
          </p:nvSpPr>
          <p:spPr bwMode="auto">
            <a:xfrm flipH="1">
              <a:off x="4904" y="1457"/>
              <a:ext cx="3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2" name="Line 103"/>
            <p:cNvSpPr>
              <a:spLocks noChangeShapeType="1"/>
            </p:cNvSpPr>
            <p:nvPr/>
          </p:nvSpPr>
          <p:spPr bwMode="auto">
            <a:xfrm>
              <a:off x="1284" y="1262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3" name="Line 104"/>
            <p:cNvSpPr>
              <a:spLocks noChangeShapeType="1"/>
            </p:cNvSpPr>
            <p:nvPr/>
          </p:nvSpPr>
          <p:spPr bwMode="auto">
            <a:xfrm flipH="1">
              <a:off x="4904" y="1262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4" name="Rectangle 105"/>
            <p:cNvSpPr>
              <a:spLocks noChangeArrowheads="1"/>
            </p:cNvSpPr>
            <p:nvPr/>
          </p:nvSpPr>
          <p:spPr bwMode="auto">
            <a:xfrm>
              <a:off x="1126" y="115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825" name="Line 106"/>
            <p:cNvSpPr>
              <a:spLocks noChangeShapeType="1"/>
            </p:cNvSpPr>
            <p:nvPr/>
          </p:nvSpPr>
          <p:spPr bwMode="auto">
            <a:xfrm>
              <a:off x="1284" y="1262"/>
              <a:ext cx="3658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6" name="Freeform 107"/>
            <p:cNvSpPr>
              <a:spLocks/>
            </p:cNvSpPr>
            <p:nvPr/>
          </p:nvSpPr>
          <p:spPr bwMode="auto">
            <a:xfrm>
              <a:off x="1284" y="1262"/>
              <a:ext cx="3658" cy="1170"/>
            </a:xfrm>
            <a:custGeom>
              <a:avLst/>
              <a:gdLst>
                <a:gd name="T0" fmla="*/ 0 w 595"/>
                <a:gd name="T1" fmla="*/ 1170 h 198"/>
                <a:gd name="T2" fmla="*/ 3658 w 595"/>
                <a:gd name="T3" fmla="*/ 1170 h 198"/>
                <a:gd name="T4" fmla="*/ 3658 w 595"/>
                <a:gd name="T5" fmla="*/ 0 h 198"/>
                <a:gd name="T6" fmla="*/ 0 60000 65536"/>
                <a:gd name="T7" fmla="*/ 0 60000 65536"/>
                <a:gd name="T8" fmla="*/ 0 60000 65536"/>
                <a:gd name="T9" fmla="*/ 0 w 595"/>
                <a:gd name="T10" fmla="*/ 0 h 198"/>
                <a:gd name="T11" fmla="*/ 595 w 595"/>
                <a:gd name="T12" fmla="*/ 198 h 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7" name="Line 108"/>
            <p:cNvSpPr>
              <a:spLocks noChangeShapeType="1"/>
            </p:cNvSpPr>
            <p:nvPr/>
          </p:nvSpPr>
          <p:spPr bwMode="auto">
            <a:xfrm flipV="1">
              <a:off x="1284" y="1262"/>
              <a:ext cx="1" cy="117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8" name="Rectangle 109"/>
            <p:cNvSpPr>
              <a:spLocks noChangeArrowheads="1"/>
            </p:cNvSpPr>
            <p:nvPr/>
          </p:nvSpPr>
          <p:spPr bwMode="auto">
            <a:xfrm>
              <a:off x="1284" y="2582"/>
              <a:ext cx="3658" cy="1172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829" name="Freeform 110"/>
            <p:cNvSpPr>
              <a:spLocks/>
            </p:cNvSpPr>
            <p:nvPr/>
          </p:nvSpPr>
          <p:spPr bwMode="auto">
            <a:xfrm>
              <a:off x="1284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0" name="Freeform 111"/>
            <p:cNvSpPr>
              <a:spLocks/>
            </p:cNvSpPr>
            <p:nvPr/>
          </p:nvSpPr>
          <p:spPr bwMode="auto">
            <a:xfrm>
              <a:off x="2501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1" name="Freeform 112"/>
            <p:cNvSpPr>
              <a:spLocks/>
            </p:cNvSpPr>
            <p:nvPr/>
          </p:nvSpPr>
          <p:spPr bwMode="auto">
            <a:xfrm>
              <a:off x="3718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2" name="Freeform 113"/>
            <p:cNvSpPr>
              <a:spLocks/>
            </p:cNvSpPr>
            <p:nvPr/>
          </p:nvSpPr>
          <p:spPr bwMode="auto">
            <a:xfrm>
              <a:off x="1284" y="3457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3" name="Freeform 114"/>
            <p:cNvSpPr>
              <a:spLocks/>
            </p:cNvSpPr>
            <p:nvPr/>
          </p:nvSpPr>
          <p:spPr bwMode="auto">
            <a:xfrm>
              <a:off x="1284" y="3167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4" name="Freeform 115"/>
            <p:cNvSpPr>
              <a:spLocks/>
            </p:cNvSpPr>
            <p:nvPr/>
          </p:nvSpPr>
          <p:spPr bwMode="auto">
            <a:xfrm>
              <a:off x="1284" y="2873"/>
              <a:ext cx="3658" cy="0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5" name="Freeform 116"/>
            <p:cNvSpPr>
              <a:spLocks/>
            </p:cNvSpPr>
            <p:nvPr/>
          </p:nvSpPr>
          <p:spPr bwMode="auto">
            <a:xfrm>
              <a:off x="1284" y="2582"/>
              <a:ext cx="3658" cy="1"/>
            </a:xfrm>
            <a:custGeom>
              <a:avLst/>
              <a:gdLst>
                <a:gd name="T0" fmla="*/ 0 w 595"/>
                <a:gd name="T1" fmla="*/ 0 h 1"/>
                <a:gd name="T2" fmla="*/ 3658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6" name="Line 117"/>
            <p:cNvSpPr>
              <a:spLocks noChangeShapeType="1"/>
            </p:cNvSpPr>
            <p:nvPr/>
          </p:nvSpPr>
          <p:spPr bwMode="auto">
            <a:xfrm>
              <a:off x="1284" y="2582"/>
              <a:ext cx="365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7" name="Freeform 118"/>
            <p:cNvSpPr>
              <a:spLocks/>
            </p:cNvSpPr>
            <p:nvPr/>
          </p:nvSpPr>
          <p:spPr bwMode="auto">
            <a:xfrm>
              <a:off x="1284" y="2582"/>
              <a:ext cx="3658" cy="1172"/>
            </a:xfrm>
            <a:custGeom>
              <a:avLst/>
              <a:gdLst>
                <a:gd name="T0" fmla="*/ 0 w 595"/>
                <a:gd name="T1" fmla="*/ 1172 h 198"/>
                <a:gd name="T2" fmla="*/ 3658 w 595"/>
                <a:gd name="T3" fmla="*/ 1172 h 198"/>
                <a:gd name="T4" fmla="*/ 3658 w 595"/>
                <a:gd name="T5" fmla="*/ 0 h 198"/>
                <a:gd name="T6" fmla="*/ 0 60000 65536"/>
                <a:gd name="T7" fmla="*/ 0 60000 65536"/>
                <a:gd name="T8" fmla="*/ 0 60000 65536"/>
                <a:gd name="T9" fmla="*/ 0 w 595"/>
                <a:gd name="T10" fmla="*/ 0 h 198"/>
                <a:gd name="T11" fmla="*/ 595 w 595"/>
                <a:gd name="T12" fmla="*/ 198 h 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8" name="Line 119"/>
            <p:cNvSpPr>
              <a:spLocks noChangeShapeType="1"/>
            </p:cNvSpPr>
            <p:nvPr/>
          </p:nvSpPr>
          <p:spPr bwMode="auto">
            <a:xfrm flipV="1">
              <a:off x="1284" y="2582"/>
              <a:ext cx="1" cy="11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9" name="Line 120"/>
            <p:cNvSpPr>
              <a:spLocks noChangeShapeType="1"/>
            </p:cNvSpPr>
            <p:nvPr/>
          </p:nvSpPr>
          <p:spPr bwMode="auto">
            <a:xfrm flipV="1">
              <a:off x="1284" y="2582"/>
              <a:ext cx="1" cy="11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0" name="Line 121"/>
            <p:cNvSpPr>
              <a:spLocks noChangeShapeType="1"/>
            </p:cNvSpPr>
            <p:nvPr/>
          </p:nvSpPr>
          <p:spPr bwMode="auto">
            <a:xfrm flipV="1">
              <a:off x="1284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1" name="Line 122"/>
            <p:cNvSpPr>
              <a:spLocks noChangeShapeType="1"/>
            </p:cNvSpPr>
            <p:nvPr/>
          </p:nvSpPr>
          <p:spPr bwMode="auto">
            <a:xfrm>
              <a:off x="1284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2" name="Freeform 123"/>
            <p:cNvSpPr>
              <a:spLocks/>
            </p:cNvSpPr>
            <p:nvPr/>
          </p:nvSpPr>
          <p:spPr bwMode="auto">
            <a:xfrm>
              <a:off x="1284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3" name="Line 124"/>
            <p:cNvSpPr>
              <a:spLocks noChangeShapeType="1"/>
            </p:cNvSpPr>
            <p:nvPr/>
          </p:nvSpPr>
          <p:spPr bwMode="auto">
            <a:xfrm flipV="1">
              <a:off x="1284" y="371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4" name="Line 125"/>
            <p:cNvSpPr>
              <a:spLocks noChangeShapeType="1"/>
            </p:cNvSpPr>
            <p:nvPr/>
          </p:nvSpPr>
          <p:spPr bwMode="auto">
            <a:xfrm>
              <a:off x="1284" y="2582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5" name="Line 126"/>
            <p:cNvSpPr>
              <a:spLocks noChangeShapeType="1"/>
            </p:cNvSpPr>
            <p:nvPr/>
          </p:nvSpPr>
          <p:spPr bwMode="auto">
            <a:xfrm flipV="1">
              <a:off x="1646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6" name="Line 127"/>
            <p:cNvSpPr>
              <a:spLocks noChangeShapeType="1"/>
            </p:cNvSpPr>
            <p:nvPr/>
          </p:nvSpPr>
          <p:spPr bwMode="auto">
            <a:xfrm>
              <a:off x="1646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7" name="Line 128"/>
            <p:cNvSpPr>
              <a:spLocks noChangeShapeType="1"/>
            </p:cNvSpPr>
            <p:nvPr/>
          </p:nvSpPr>
          <p:spPr bwMode="auto">
            <a:xfrm flipV="1">
              <a:off x="1861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8" name="Line 129"/>
            <p:cNvSpPr>
              <a:spLocks noChangeShapeType="1"/>
            </p:cNvSpPr>
            <p:nvPr/>
          </p:nvSpPr>
          <p:spPr bwMode="auto">
            <a:xfrm>
              <a:off x="1861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9" name="Line 130"/>
            <p:cNvSpPr>
              <a:spLocks noChangeShapeType="1"/>
            </p:cNvSpPr>
            <p:nvPr/>
          </p:nvSpPr>
          <p:spPr bwMode="auto">
            <a:xfrm flipV="1">
              <a:off x="2015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0" name="Line 131"/>
            <p:cNvSpPr>
              <a:spLocks noChangeShapeType="1"/>
            </p:cNvSpPr>
            <p:nvPr/>
          </p:nvSpPr>
          <p:spPr bwMode="auto">
            <a:xfrm>
              <a:off x="2015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1" name="Line 132"/>
            <p:cNvSpPr>
              <a:spLocks noChangeShapeType="1"/>
            </p:cNvSpPr>
            <p:nvPr/>
          </p:nvSpPr>
          <p:spPr bwMode="auto">
            <a:xfrm flipV="1">
              <a:off x="2132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2" name="Line 133"/>
            <p:cNvSpPr>
              <a:spLocks noChangeShapeType="1"/>
            </p:cNvSpPr>
            <p:nvPr/>
          </p:nvSpPr>
          <p:spPr bwMode="auto">
            <a:xfrm>
              <a:off x="2132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3" name="Line 134"/>
            <p:cNvSpPr>
              <a:spLocks noChangeShapeType="1"/>
            </p:cNvSpPr>
            <p:nvPr/>
          </p:nvSpPr>
          <p:spPr bwMode="auto">
            <a:xfrm flipV="1">
              <a:off x="2230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4" name="Line 135"/>
            <p:cNvSpPr>
              <a:spLocks noChangeShapeType="1"/>
            </p:cNvSpPr>
            <p:nvPr/>
          </p:nvSpPr>
          <p:spPr bwMode="auto">
            <a:xfrm>
              <a:off x="2230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5" name="Line 136"/>
            <p:cNvSpPr>
              <a:spLocks noChangeShapeType="1"/>
            </p:cNvSpPr>
            <p:nvPr/>
          </p:nvSpPr>
          <p:spPr bwMode="auto">
            <a:xfrm flipV="1">
              <a:off x="2310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6" name="Line 137"/>
            <p:cNvSpPr>
              <a:spLocks noChangeShapeType="1"/>
            </p:cNvSpPr>
            <p:nvPr/>
          </p:nvSpPr>
          <p:spPr bwMode="auto">
            <a:xfrm>
              <a:off x="2310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7" name="Line 138"/>
            <p:cNvSpPr>
              <a:spLocks noChangeShapeType="1"/>
            </p:cNvSpPr>
            <p:nvPr/>
          </p:nvSpPr>
          <p:spPr bwMode="auto">
            <a:xfrm flipV="1">
              <a:off x="2384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8" name="Line 139"/>
            <p:cNvSpPr>
              <a:spLocks noChangeShapeType="1"/>
            </p:cNvSpPr>
            <p:nvPr/>
          </p:nvSpPr>
          <p:spPr bwMode="auto">
            <a:xfrm>
              <a:off x="2384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9" name="Line 140"/>
            <p:cNvSpPr>
              <a:spLocks noChangeShapeType="1"/>
            </p:cNvSpPr>
            <p:nvPr/>
          </p:nvSpPr>
          <p:spPr bwMode="auto">
            <a:xfrm flipV="1">
              <a:off x="2445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0" name="Line 141"/>
            <p:cNvSpPr>
              <a:spLocks noChangeShapeType="1"/>
            </p:cNvSpPr>
            <p:nvPr/>
          </p:nvSpPr>
          <p:spPr bwMode="auto">
            <a:xfrm>
              <a:off x="2445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1" name="Line 142"/>
            <p:cNvSpPr>
              <a:spLocks noChangeShapeType="1"/>
            </p:cNvSpPr>
            <p:nvPr/>
          </p:nvSpPr>
          <p:spPr bwMode="auto">
            <a:xfrm flipV="1">
              <a:off x="2501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2" name="Line 143"/>
            <p:cNvSpPr>
              <a:spLocks noChangeShapeType="1"/>
            </p:cNvSpPr>
            <p:nvPr/>
          </p:nvSpPr>
          <p:spPr bwMode="auto">
            <a:xfrm>
              <a:off x="2501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3" name="Freeform 144"/>
            <p:cNvSpPr>
              <a:spLocks/>
            </p:cNvSpPr>
            <p:nvPr/>
          </p:nvSpPr>
          <p:spPr bwMode="auto">
            <a:xfrm>
              <a:off x="2501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4" name="Line 145"/>
            <p:cNvSpPr>
              <a:spLocks noChangeShapeType="1"/>
            </p:cNvSpPr>
            <p:nvPr/>
          </p:nvSpPr>
          <p:spPr bwMode="auto">
            <a:xfrm flipV="1">
              <a:off x="2501" y="371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5" name="Line 146"/>
            <p:cNvSpPr>
              <a:spLocks noChangeShapeType="1"/>
            </p:cNvSpPr>
            <p:nvPr/>
          </p:nvSpPr>
          <p:spPr bwMode="auto">
            <a:xfrm>
              <a:off x="2501" y="2582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6" name="Line 147"/>
            <p:cNvSpPr>
              <a:spLocks noChangeShapeType="1"/>
            </p:cNvSpPr>
            <p:nvPr/>
          </p:nvSpPr>
          <p:spPr bwMode="auto">
            <a:xfrm flipV="1">
              <a:off x="2869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7" name="Line 148"/>
            <p:cNvSpPr>
              <a:spLocks noChangeShapeType="1"/>
            </p:cNvSpPr>
            <p:nvPr/>
          </p:nvSpPr>
          <p:spPr bwMode="auto">
            <a:xfrm>
              <a:off x="2869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8" name="Line 149"/>
            <p:cNvSpPr>
              <a:spLocks noChangeShapeType="1"/>
            </p:cNvSpPr>
            <p:nvPr/>
          </p:nvSpPr>
          <p:spPr bwMode="auto">
            <a:xfrm flipV="1">
              <a:off x="3078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9" name="Line 150"/>
            <p:cNvSpPr>
              <a:spLocks noChangeShapeType="1"/>
            </p:cNvSpPr>
            <p:nvPr/>
          </p:nvSpPr>
          <p:spPr bwMode="auto">
            <a:xfrm flipV="1">
              <a:off x="3232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0" name="Line 151"/>
            <p:cNvSpPr>
              <a:spLocks noChangeShapeType="1"/>
            </p:cNvSpPr>
            <p:nvPr/>
          </p:nvSpPr>
          <p:spPr bwMode="auto">
            <a:xfrm flipV="1">
              <a:off x="3349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1" name="Line 152"/>
            <p:cNvSpPr>
              <a:spLocks noChangeShapeType="1"/>
            </p:cNvSpPr>
            <p:nvPr/>
          </p:nvSpPr>
          <p:spPr bwMode="auto">
            <a:xfrm>
              <a:off x="3349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2" name="Line 153"/>
            <p:cNvSpPr>
              <a:spLocks noChangeShapeType="1"/>
            </p:cNvSpPr>
            <p:nvPr/>
          </p:nvSpPr>
          <p:spPr bwMode="auto">
            <a:xfrm flipV="1">
              <a:off x="3447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3" name="Line 154"/>
            <p:cNvSpPr>
              <a:spLocks noChangeShapeType="1"/>
            </p:cNvSpPr>
            <p:nvPr/>
          </p:nvSpPr>
          <p:spPr bwMode="auto">
            <a:xfrm>
              <a:off x="3447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4" name="Line 155"/>
            <p:cNvSpPr>
              <a:spLocks noChangeShapeType="1"/>
            </p:cNvSpPr>
            <p:nvPr/>
          </p:nvSpPr>
          <p:spPr bwMode="auto">
            <a:xfrm flipV="1">
              <a:off x="3528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5" name="Line 156"/>
            <p:cNvSpPr>
              <a:spLocks noChangeShapeType="1"/>
            </p:cNvSpPr>
            <p:nvPr/>
          </p:nvSpPr>
          <p:spPr bwMode="auto">
            <a:xfrm>
              <a:off x="3528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6" name="Line 157"/>
            <p:cNvSpPr>
              <a:spLocks noChangeShapeType="1"/>
            </p:cNvSpPr>
            <p:nvPr/>
          </p:nvSpPr>
          <p:spPr bwMode="auto">
            <a:xfrm flipV="1">
              <a:off x="3601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7" name="Line 158"/>
            <p:cNvSpPr>
              <a:spLocks noChangeShapeType="1"/>
            </p:cNvSpPr>
            <p:nvPr/>
          </p:nvSpPr>
          <p:spPr bwMode="auto">
            <a:xfrm>
              <a:off x="3601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8" name="Line 159"/>
            <p:cNvSpPr>
              <a:spLocks noChangeShapeType="1"/>
            </p:cNvSpPr>
            <p:nvPr/>
          </p:nvSpPr>
          <p:spPr bwMode="auto">
            <a:xfrm flipV="1">
              <a:off x="3662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9" name="Line 160"/>
            <p:cNvSpPr>
              <a:spLocks noChangeShapeType="1"/>
            </p:cNvSpPr>
            <p:nvPr/>
          </p:nvSpPr>
          <p:spPr bwMode="auto">
            <a:xfrm>
              <a:off x="3662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0" name="Line 161"/>
            <p:cNvSpPr>
              <a:spLocks noChangeShapeType="1"/>
            </p:cNvSpPr>
            <p:nvPr/>
          </p:nvSpPr>
          <p:spPr bwMode="auto">
            <a:xfrm flipV="1">
              <a:off x="3718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1" name="Line 162"/>
            <p:cNvSpPr>
              <a:spLocks noChangeShapeType="1"/>
            </p:cNvSpPr>
            <p:nvPr/>
          </p:nvSpPr>
          <p:spPr bwMode="auto">
            <a:xfrm>
              <a:off x="3718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2" name="Freeform 163"/>
            <p:cNvSpPr>
              <a:spLocks/>
            </p:cNvSpPr>
            <p:nvPr/>
          </p:nvSpPr>
          <p:spPr bwMode="auto">
            <a:xfrm>
              <a:off x="3718" y="2582"/>
              <a:ext cx="1" cy="1172"/>
            </a:xfrm>
            <a:custGeom>
              <a:avLst/>
              <a:gdLst>
                <a:gd name="T0" fmla="*/ 0 w 1"/>
                <a:gd name="T1" fmla="*/ 1172 h 198"/>
                <a:gd name="T2" fmla="*/ 0 w 1"/>
                <a:gd name="T3" fmla="*/ 0 h 198"/>
                <a:gd name="T4" fmla="*/ 0 60000 65536"/>
                <a:gd name="T5" fmla="*/ 0 60000 65536"/>
                <a:gd name="T6" fmla="*/ 0 w 1"/>
                <a:gd name="T7" fmla="*/ 0 h 198"/>
                <a:gd name="T8" fmla="*/ 1 w 1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3" name="Line 164"/>
            <p:cNvSpPr>
              <a:spLocks noChangeShapeType="1"/>
            </p:cNvSpPr>
            <p:nvPr/>
          </p:nvSpPr>
          <p:spPr bwMode="auto">
            <a:xfrm flipV="1">
              <a:off x="3718" y="371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4" name="Line 165"/>
            <p:cNvSpPr>
              <a:spLocks noChangeShapeType="1"/>
            </p:cNvSpPr>
            <p:nvPr/>
          </p:nvSpPr>
          <p:spPr bwMode="auto">
            <a:xfrm>
              <a:off x="3718" y="2582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5" name="Line 166"/>
            <p:cNvSpPr>
              <a:spLocks noChangeShapeType="1"/>
            </p:cNvSpPr>
            <p:nvPr/>
          </p:nvSpPr>
          <p:spPr bwMode="auto">
            <a:xfrm flipV="1">
              <a:off x="4087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6" name="Line 167"/>
            <p:cNvSpPr>
              <a:spLocks noChangeShapeType="1"/>
            </p:cNvSpPr>
            <p:nvPr/>
          </p:nvSpPr>
          <p:spPr bwMode="auto">
            <a:xfrm>
              <a:off x="4087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7" name="Line 168"/>
            <p:cNvSpPr>
              <a:spLocks noChangeShapeType="1"/>
            </p:cNvSpPr>
            <p:nvPr/>
          </p:nvSpPr>
          <p:spPr bwMode="auto">
            <a:xfrm flipV="1">
              <a:off x="4302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8" name="Line 169"/>
            <p:cNvSpPr>
              <a:spLocks noChangeShapeType="1"/>
            </p:cNvSpPr>
            <p:nvPr/>
          </p:nvSpPr>
          <p:spPr bwMode="auto">
            <a:xfrm>
              <a:off x="4302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9" name="Line 170"/>
            <p:cNvSpPr>
              <a:spLocks noChangeShapeType="1"/>
            </p:cNvSpPr>
            <p:nvPr/>
          </p:nvSpPr>
          <p:spPr bwMode="auto">
            <a:xfrm flipV="1">
              <a:off x="4456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0" name="Line 171"/>
            <p:cNvSpPr>
              <a:spLocks noChangeShapeType="1"/>
            </p:cNvSpPr>
            <p:nvPr/>
          </p:nvSpPr>
          <p:spPr bwMode="auto">
            <a:xfrm>
              <a:off x="4456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1" name="Line 172"/>
            <p:cNvSpPr>
              <a:spLocks noChangeShapeType="1"/>
            </p:cNvSpPr>
            <p:nvPr/>
          </p:nvSpPr>
          <p:spPr bwMode="auto">
            <a:xfrm flipV="1">
              <a:off x="4572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2" name="Line 173"/>
            <p:cNvSpPr>
              <a:spLocks noChangeShapeType="1"/>
            </p:cNvSpPr>
            <p:nvPr/>
          </p:nvSpPr>
          <p:spPr bwMode="auto">
            <a:xfrm>
              <a:off x="4572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3" name="Line 174"/>
            <p:cNvSpPr>
              <a:spLocks noChangeShapeType="1"/>
            </p:cNvSpPr>
            <p:nvPr/>
          </p:nvSpPr>
          <p:spPr bwMode="auto">
            <a:xfrm flipV="1">
              <a:off x="4665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4" name="Line 175"/>
            <p:cNvSpPr>
              <a:spLocks noChangeShapeType="1"/>
            </p:cNvSpPr>
            <p:nvPr/>
          </p:nvSpPr>
          <p:spPr bwMode="auto">
            <a:xfrm>
              <a:off x="4665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5" name="Line 176"/>
            <p:cNvSpPr>
              <a:spLocks noChangeShapeType="1"/>
            </p:cNvSpPr>
            <p:nvPr/>
          </p:nvSpPr>
          <p:spPr bwMode="auto">
            <a:xfrm flipV="1">
              <a:off x="4751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6" name="Line 177"/>
            <p:cNvSpPr>
              <a:spLocks noChangeShapeType="1"/>
            </p:cNvSpPr>
            <p:nvPr/>
          </p:nvSpPr>
          <p:spPr bwMode="auto">
            <a:xfrm>
              <a:off x="4751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7" name="Line 178"/>
            <p:cNvSpPr>
              <a:spLocks noChangeShapeType="1"/>
            </p:cNvSpPr>
            <p:nvPr/>
          </p:nvSpPr>
          <p:spPr bwMode="auto">
            <a:xfrm flipV="1">
              <a:off x="4818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8" name="Line 179"/>
            <p:cNvSpPr>
              <a:spLocks noChangeShapeType="1"/>
            </p:cNvSpPr>
            <p:nvPr/>
          </p:nvSpPr>
          <p:spPr bwMode="auto">
            <a:xfrm>
              <a:off x="4818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9" name="Line 180"/>
            <p:cNvSpPr>
              <a:spLocks noChangeShapeType="1"/>
            </p:cNvSpPr>
            <p:nvPr/>
          </p:nvSpPr>
          <p:spPr bwMode="auto">
            <a:xfrm flipV="1">
              <a:off x="4880" y="3735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0" name="Line 181"/>
            <p:cNvSpPr>
              <a:spLocks noChangeShapeType="1"/>
            </p:cNvSpPr>
            <p:nvPr/>
          </p:nvSpPr>
          <p:spPr bwMode="auto">
            <a:xfrm>
              <a:off x="4880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1" name="Line 182"/>
            <p:cNvSpPr>
              <a:spLocks noChangeShapeType="1"/>
            </p:cNvSpPr>
            <p:nvPr/>
          </p:nvSpPr>
          <p:spPr bwMode="auto">
            <a:xfrm>
              <a:off x="1284" y="3457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2" name="Line 183"/>
            <p:cNvSpPr>
              <a:spLocks noChangeShapeType="1"/>
            </p:cNvSpPr>
            <p:nvPr/>
          </p:nvSpPr>
          <p:spPr bwMode="auto">
            <a:xfrm flipH="1">
              <a:off x="4904" y="3457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3" name="Line 184"/>
            <p:cNvSpPr>
              <a:spLocks noChangeShapeType="1"/>
            </p:cNvSpPr>
            <p:nvPr/>
          </p:nvSpPr>
          <p:spPr bwMode="auto">
            <a:xfrm>
              <a:off x="1284" y="3167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4" name="Line 185"/>
            <p:cNvSpPr>
              <a:spLocks noChangeShapeType="1"/>
            </p:cNvSpPr>
            <p:nvPr/>
          </p:nvSpPr>
          <p:spPr bwMode="auto">
            <a:xfrm flipH="1">
              <a:off x="4904" y="3167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5" name="Line 186"/>
            <p:cNvSpPr>
              <a:spLocks noChangeShapeType="1"/>
            </p:cNvSpPr>
            <p:nvPr/>
          </p:nvSpPr>
          <p:spPr bwMode="auto">
            <a:xfrm>
              <a:off x="1284" y="2873"/>
              <a:ext cx="3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6" name="Line 187"/>
            <p:cNvSpPr>
              <a:spLocks noChangeShapeType="1"/>
            </p:cNvSpPr>
            <p:nvPr/>
          </p:nvSpPr>
          <p:spPr bwMode="auto">
            <a:xfrm flipH="1">
              <a:off x="4904" y="2873"/>
              <a:ext cx="3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7" name="Line 188"/>
            <p:cNvSpPr>
              <a:spLocks noChangeShapeType="1"/>
            </p:cNvSpPr>
            <p:nvPr/>
          </p:nvSpPr>
          <p:spPr bwMode="auto">
            <a:xfrm>
              <a:off x="1284" y="2582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8" name="Line 189"/>
            <p:cNvSpPr>
              <a:spLocks noChangeShapeType="1"/>
            </p:cNvSpPr>
            <p:nvPr/>
          </p:nvSpPr>
          <p:spPr bwMode="auto">
            <a:xfrm flipH="1">
              <a:off x="4904" y="2582"/>
              <a:ext cx="3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9" name="Line 190"/>
            <p:cNvSpPr>
              <a:spLocks noChangeShapeType="1"/>
            </p:cNvSpPr>
            <p:nvPr/>
          </p:nvSpPr>
          <p:spPr bwMode="auto">
            <a:xfrm>
              <a:off x="1284" y="2582"/>
              <a:ext cx="3658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0" name="Freeform 191"/>
            <p:cNvSpPr>
              <a:spLocks/>
            </p:cNvSpPr>
            <p:nvPr/>
          </p:nvSpPr>
          <p:spPr bwMode="auto">
            <a:xfrm>
              <a:off x="1284" y="2582"/>
              <a:ext cx="3658" cy="1172"/>
            </a:xfrm>
            <a:custGeom>
              <a:avLst/>
              <a:gdLst>
                <a:gd name="T0" fmla="*/ 0 w 595"/>
                <a:gd name="T1" fmla="*/ 1172 h 198"/>
                <a:gd name="T2" fmla="*/ 3658 w 595"/>
                <a:gd name="T3" fmla="*/ 1172 h 198"/>
                <a:gd name="T4" fmla="*/ 3658 w 595"/>
                <a:gd name="T5" fmla="*/ 0 h 198"/>
                <a:gd name="T6" fmla="*/ 0 60000 65536"/>
                <a:gd name="T7" fmla="*/ 0 60000 65536"/>
                <a:gd name="T8" fmla="*/ 0 60000 65536"/>
                <a:gd name="T9" fmla="*/ 0 w 595"/>
                <a:gd name="T10" fmla="*/ 0 h 198"/>
                <a:gd name="T11" fmla="*/ 595 w 595"/>
                <a:gd name="T12" fmla="*/ 198 h 1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1" name="Line 192"/>
            <p:cNvSpPr>
              <a:spLocks noChangeShapeType="1"/>
            </p:cNvSpPr>
            <p:nvPr/>
          </p:nvSpPr>
          <p:spPr bwMode="auto">
            <a:xfrm flipV="1">
              <a:off x="1284" y="2582"/>
              <a:ext cx="1" cy="117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2" name="Freeform 193"/>
            <p:cNvSpPr>
              <a:spLocks/>
            </p:cNvSpPr>
            <p:nvPr/>
          </p:nvSpPr>
          <p:spPr bwMode="auto">
            <a:xfrm>
              <a:off x="1284" y="2659"/>
              <a:ext cx="3658" cy="869"/>
            </a:xfrm>
            <a:custGeom>
              <a:avLst/>
              <a:gdLst>
                <a:gd name="T0" fmla="*/ 0 w 4217"/>
                <a:gd name="T1" fmla="*/ 0 h 1042"/>
                <a:gd name="T2" fmla="*/ 86 w 4217"/>
                <a:gd name="T3" fmla="*/ 13 h 1042"/>
                <a:gd name="T4" fmla="*/ 178 w 4217"/>
                <a:gd name="T5" fmla="*/ 30 h 1042"/>
                <a:gd name="T6" fmla="*/ 264 w 4217"/>
                <a:gd name="T7" fmla="*/ 53 h 1042"/>
                <a:gd name="T8" fmla="*/ 357 w 4217"/>
                <a:gd name="T9" fmla="*/ 78 h 1042"/>
                <a:gd name="T10" fmla="*/ 442 w 4217"/>
                <a:gd name="T11" fmla="*/ 101 h 1042"/>
                <a:gd name="T12" fmla="*/ 534 w 4217"/>
                <a:gd name="T13" fmla="*/ 136 h 1042"/>
                <a:gd name="T14" fmla="*/ 621 w 4217"/>
                <a:gd name="T15" fmla="*/ 172 h 1042"/>
                <a:gd name="T16" fmla="*/ 713 w 4217"/>
                <a:gd name="T17" fmla="*/ 213 h 1042"/>
                <a:gd name="T18" fmla="*/ 799 w 4217"/>
                <a:gd name="T19" fmla="*/ 260 h 1042"/>
                <a:gd name="T20" fmla="*/ 891 w 4217"/>
                <a:gd name="T21" fmla="*/ 314 h 1042"/>
                <a:gd name="T22" fmla="*/ 978 w 4217"/>
                <a:gd name="T23" fmla="*/ 373 h 1042"/>
                <a:gd name="T24" fmla="*/ 1070 w 4217"/>
                <a:gd name="T25" fmla="*/ 432 h 1042"/>
                <a:gd name="T26" fmla="*/ 1155 w 4217"/>
                <a:gd name="T27" fmla="*/ 497 h 1042"/>
                <a:gd name="T28" fmla="*/ 1247 w 4217"/>
                <a:gd name="T29" fmla="*/ 556 h 1042"/>
                <a:gd name="T30" fmla="*/ 1334 w 4217"/>
                <a:gd name="T31" fmla="*/ 621 h 1042"/>
                <a:gd name="T32" fmla="*/ 1426 w 4217"/>
                <a:gd name="T33" fmla="*/ 680 h 1042"/>
                <a:gd name="T34" fmla="*/ 1512 w 4217"/>
                <a:gd name="T35" fmla="*/ 727 h 1042"/>
                <a:gd name="T36" fmla="*/ 1604 w 4217"/>
                <a:gd name="T37" fmla="*/ 775 h 1042"/>
                <a:gd name="T38" fmla="*/ 1691 w 4217"/>
                <a:gd name="T39" fmla="*/ 810 h 1042"/>
                <a:gd name="T40" fmla="*/ 1783 w 4217"/>
                <a:gd name="T41" fmla="*/ 840 h 1042"/>
                <a:gd name="T42" fmla="*/ 1868 w 4217"/>
                <a:gd name="T43" fmla="*/ 857 h 1042"/>
                <a:gd name="T44" fmla="*/ 1961 w 4217"/>
                <a:gd name="T45" fmla="*/ 869 h 1042"/>
                <a:gd name="T46" fmla="*/ 2010 w 4217"/>
                <a:gd name="T47" fmla="*/ 869 h 1042"/>
                <a:gd name="T48" fmla="*/ 2047 w 4217"/>
                <a:gd name="T49" fmla="*/ 869 h 1042"/>
                <a:gd name="T50" fmla="*/ 2139 w 4217"/>
                <a:gd name="T51" fmla="*/ 857 h 1042"/>
                <a:gd name="T52" fmla="*/ 2225 w 4217"/>
                <a:gd name="T53" fmla="*/ 840 h 1042"/>
                <a:gd name="T54" fmla="*/ 2318 w 4217"/>
                <a:gd name="T55" fmla="*/ 816 h 1042"/>
                <a:gd name="T56" fmla="*/ 2404 w 4217"/>
                <a:gd name="T57" fmla="*/ 781 h 1042"/>
                <a:gd name="T58" fmla="*/ 2496 w 4217"/>
                <a:gd name="T59" fmla="*/ 733 h 1042"/>
                <a:gd name="T60" fmla="*/ 2582 w 4217"/>
                <a:gd name="T61" fmla="*/ 686 h 1042"/>
                <a:gd name="T62" fmla="*/ 2674 w 4217"/>
                <a:gd name="T63" fmla="*/ 627 h 1042"/>
                <a:gd name="T64" fmla="*/ 2760 w 4217"/>
                <a:gd name="T65" fmla="*/ 568 h 1042"/>
                <a:gd name="T66" fmla="*/ 2852 w 4217"/>
                <a:gd name="T67" fmla="*/ 503 h 1042"/>
                <a:gd name="T68" fmla="*/ 2938 w 4217"/>
                <a:gd name="T69" fmla="*/ 438 h 1042"/>
                <a:gd name="T70" fmla="*/ 3031 w 4217"/>
                <a:gd name="T71" fmla="*/ 379 h 1042"/>
                <a:gd name="T72" fmla="*/ 3117 w 4217"/>
                <a:gd name="T73" fmla="*/ 319 h 1042"/>
                <a:gd name="T74" fmla="*/ 3209 w 4217"/>
                <a:gd name="T75" fmla="*/ 266 h 1042"/>
                <a:gd name="T76" fmla="*/ 3295 w 4217"/>
                <a:gd name="T77" fmla="*/ 219 h 1042"/>
                <a:gd name="T78" fmla="*/ 3387 w 4217"/>
                <a:gd name="T79" fmla="*/ 178 h 1042"/>
                <a:gd name="T80" fmla="*/ 3473 w 4217"/>
                <a:gd name="T81" fmla="*/ 136 h 1042"/>
                <a:gd name="T82" fmla="*/ 3565 w 4217"/>
                <a:gd name="T83" fmla="*/ 107 h 1042"/>
                <a:gd name="T84" fmla="*/ 3658 w 4217"/>
                <a:gd name="T85" fmla="*/ 78 h 104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217"/>
                <a:gd name="T130" fmla="*/ 0 h 1042"/>
                <a:gd name="T131" fmla="*/ 4217 w 4217"/>
                <a:gd name="T132" fmla="*/ 1042 h 104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217" h="1042">
                  <a:moveTo>
                    <a:pt x="0" y="0"/>
                  </a:moveTo>
                  <a:lnTo>
                    <a:pt x="99" y="15"/>
                  </a:lnTo>
                  <a:lnTo>
                    <a:pt x="205" y="36"/>
                  </a:lnTo>
                  <a:lnTo>
                    <a:pt x="304" y="64"/>
                  </a:lnTo>
                  <a:lnTo>
                    <a:pt x="411" y="93"/>
                  </a:lnTo>
                  <a:lnTo>
                    <a:pt x="510" y="121"/>
                  </a:lnTo>
                  <a:lnTo>
                    <a:pt x="616" y="163"/>
                  </a:lnTo>
                  <a:lnTo>
                    <a:pt x="716" y="206"/>
                  </a:lnTo>
                  <a:lnTo>
                    <a:pt x="822" y="256"/>
                  </a:lnTo>
                  <a:lnTo>
                    <a:pt x="921" y="312"/>
                  </a:lnTo>
                  <a:lnTo>
                    <a:pt x="1027" y="376"/>
                  </a:lnTo>
                  <a:lnTo>
                    <a:pt x="1127" y="447"/>
                  </a:lnTo>
                  <a:lnTo>
                    <a:pt x="1233" y="518"/>
                  </a:lnTo>
                  <a:lnTo>
                    <a:pt x="1332" y="596"/>
                  </a:lnTo>
                  <a:lnTo>
                    <a:pt x="1438" y="667"/>
                  </a:lnTo>
                  <a:lnTo>
                    <a:pt x="1538" y="745"/>
                  </a:lnTo>
                  <a:lnTo>
                    <a:pt x="1644" y="815"/>
                  </a:lnTo>
                  <a:lnTo>
                    <a:pt x="1743" y="872"/>
                  </a:lnTo>
                  <a:lnTo>
                    <a:pt x="1849" y="929"/>
                  </a:lnTo>
                  <a:lnTo>
                    <a:pt x="1949" y="971"/>
                  </a:lnTo>
                  <a:lnTo>
                    <a:pt x="2055" y="1007"/>
                  </a:lnTo>
                  <a:lnTo>
                    <a:pt x="2154" y="1028"/>
                  </a:lnTo>
                  <a:lnTo>
                    <a:pt x="2261" y="1042"/>
                  </a:lnTo>
                  <a:lnTo>
                    <a:pt x="2317" y="1042"/>
                  </a:lnTo>
                  <a:lnTo>
                    <a:pt x="2360" y="1042"/>
                  </a:lnTo>
                  <a:lnTo>
                    <a:pt x="2466" y="1028"/>
                  </a:lnTo>
                  <a:lnTo>
                    <a:pt x="2565" y="1007"/>
                  </a:lnTo>
                  <a:lnTo>
                    <a:pt x="2672" y="978"/>
                  </a:lnTo>
                  <a:lnTo>
                    <a:pt x="2771" y="936"/>
                  </a:lnTo>
                  <a:lnTo>
                    <a:pt x="2877" y="879"/>
                  </a:lnTo>
                  <a:lnTo>
                    <a:pt x="2976" y="823"/>
                  </a:lnTo>
                  <a:lnTo>
                    <a:pt x="3083" y="752"/>
                  </a:lnTo>
                  <a:lnTo>
                    <a:pt x="3182" y="681"/>
                  </a:lnTo>
                  <a:lnTo>
                    <a:pt x="3288" y="603"/>
                  </a:lnTo>
                  <a:lnTo>
                    <a:pt x="3387" y="525"/>
                  </a:lnTo>
                  <a:lnTo>
                    <a:pt x="3494" y="454"/>
                  </a:lnTo>
                  <a:lnTo>
                    <a:pt x="3593" y="383"/>
                  </a:lnTo>
                  <a:lnTo>
                    <a:pt x="3699" y="319"/>
                  </a:lnTo>
                  <a:lnTo>
                    <a:pt x="3798" y="263"/>
                  </a:lnTo>
                  <a:lnTo>
                    <a:pt x="3905" y="213"/>
                  </a:lnTo>
                  <a:lnTo>
                    <a:pt x="4004" y="163"/>
                  </a:lnTo>
                  <a:lnTo>
                    <a:pt x="4110" y="128"/>
                  </a:lnTo>
                  <a:lnTo>
                    <a:pt x="4217" y="93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3" name="Freeform 194"/>
            <p:cNvSpPr>
              <a:spLocks/>
            </p:cNvSpPr>
            <p:nvPr/>
          </p:nvSpPr>
          <p:spPr bwMode="auto">
            <a:xfrm>
              <a:off x="1284" y="2653"/>
              <a:ext cx="3658" cy="728"/>
            </a:xfrm>
            <a:custGeom>
              <a:avLst/>
              <a:gdLst>
                <a:gd name="T0" fmla="*/ 0 w 4217"/>
                <a:gd name="T1" fmla="*/ 0 h 872"/>
                <a:gd name="T2" fmla="*/ 86 w 4217"/>
                <a:gd name="T3" fmla="*/ 18 h 872"/>
                <a:gd name="T4" fmla="*/ 178 w 4217"/>
                <a:gd name="T5" fmla="*/ 30 h 872"/>
                <a:gd name="T6" fmla="*/ 264 w 4217"/>
                <a:gd name="T7" fmla="*/ 48 h 872"/>
                <a:gd name="T8" fmla="*/ 357 w 4217"/>
                <a:gd name="T9" fmla="*/ 71 h 872"/>
                <a:gd name="T10" fmla="*/ 442 w 4217"/>
                <a:gd name="T11" fmla="*/ 101 h 872"/>
                <a:gd name="T12" fmla="*/ 534 w 4217"/>
                <a:gd name="T13" fmla="*/ 130 h 872"/>
                <a:gd name="T14" fmla="*/ 621 w 4217"/>
                <a:gd name="T15" fmla="*/ 160 h 872"/>
                <a:gd name="T16" fmla="*/ 713 w 4217"/>
                <a:gd name="T17" fmla="*/ 201 h 872"/>
                <a:gd name="T18" fmla="*/ 799 w 4217"/>
                <a:gd name="T19" fmla="*/ 249 h 872"/>
                <a:gd name="T20" fmla="*/ 891 w 4217"/>
                <a:gd name="T21" fmla="*/ 296 h 872"/>
                <a:gd name="T22" fmla="*/ 978 w 4217"/>
                <a:gd name="T23" fmla="*/ 350 h 872"/>
                <a:gd name="T24" fmla="*/ 1070 w 4217"/>
                <a:gd name="T25" fmla="*/ 408 h 872"/>
                <a:gd name="T26" fmla="*/ 1155 w 4217"/>
                <a:gd name="T27" fmla="*/ 462 h 872"/>
                <a:gd name="T28" fmla="*/ 1247 w 4217"/>
                <a:gd name="T29" fmla="*/ 521 h 872"/>
                <a:gd name="T30" fmla="*/ 1334 w 4217"/>
                <a:gd name="T31" fmla="*/ 574 h 872"/>
                <a:gd name="T32" fmla="*/ 1426 w 4217"/>
                <a:gd name="T33" fmla="*/ 622 h 872"/>
                <a:gd name="T34" fmla="*/ 1512 w 4217"/>
                <a:gd name="T35" fmla="*/ 663 h 872"/>
                <a:gd name="T36" fmla="*/ 1604 w 4217"/>
                <a:gd name="T37" fmla="*/ 699 h 872"/>
                <a:gd name="T38" fmla="*/ 1691 w 4217"/>
                <a:gd name="T39" fmla="*/ 716 h 872"/>
                <a:gd name="T40" fmla="*/ 1783 w 4217"/>
                <a:gd name="T41" fmla="*/ 728 h 872"/>
                <a:gd name="T42" fmla="*/ 1868 w 4217"/>
                <a:gd name="T43" fmla="*/ 728 h 872"/>
                <a:gd name="T44" fmla="*/ 1961 w 4217"/>
                <a:gd name="T45" fmla="*/ 716 h 872"/>
                <a:gd name="T46" fmla="*/ 2010 w 4217"/>
                <a:gd name="T47" fmla="*/ 705 h 872"/>
                <a:gd name="T48" fmla="*/ 2047 w 4217"/>
                <a:gd name="T49" fmla="*/ 699 h 872"/>
                <a:gd name="T50" fmla="*/ 2139 w 4217"/>
                <a:gd name="T51" fmla="*/ 663 h 872"/>
                <a:gd name="T52" fmla="*/ 2225 w 4217"/>
                <a:gd name="T53" fmla="*/ 622 h 872"/>
                <a:gd name="T54" fmla="*/ 2318 w 4217"/>
                <a:gd name="T55" fmla="*/ 574 h 872"/>
                <a:gd name="T56" fmla="*/ 2404 w 4217"/>
                <a:gd name="T57" fmla="*/ 521 h 872"/>
                <a:gd name="T58" fmla="*/ 2496 w 4217"/>
                <a:gd name="T59" fmla="*/ 462 h 872"/>
                <a:gd name="T60" fmla="*/ 2582 w 4217"/>
                <a:gd name="T61" fmla="*/ 408 h 872"/>
                <a:gd name="T62" fmla="*/ 2674 w 4217"/>
                <a:gd name="T63" fmla="*/ 350 h 872"/>
                <a:gd name="T64" fmla="*/ 2760 w 4217"/>
                <a:gd name="T65" fmla="*/ 296 h 872"/>
                <a:gd name="T66" fmla="*/ 2852 w 4217"/>
                <a:gd name="T67" fmla="*/ 249 h 872"/>
                <a:gd name="T68" fmla="*/ 2938 w 4217"/>
                <a:gd name="T69" fmla="*/ 201 h 872"/>
                <a:gd name="T70" fmla="*/ 3031 w 4217"/>
                <a:gd name="T71" fmla="*/ 160 h 872"/>
                <a:gd name="T72" fmla="*/ 3117 w 4217"/>
                <a:gd name="T73" fmla="*/ 130 h 872"/>
                <a:gd name="T74" fmla="*/ 3209 w 4217"/>
                <a:gd name="T75" fmla="*/ 101 h 872"/>
                <a:gd name="T76" fmla="*/ 3295 w 4217"/>
                <a:gd name="T77" fmla="*/ 71 h 872"/>
                <a:gd name="T78" fmla="*/ 3387 w 4217"/>
                <a:gd name="T79" fmla="*/ 48 h 872"/>
                <a:gd name="T80" fmla="*/ 3473 w 4217"/>
                <a:gd name="T81" fmla="*/ 30 h 872"/>
                <a:gd name="T82" fmla="*/ 3565 w 4217"/>
                <a:gd name="T83" fmla="*/ 18 h 872"/>
                <a:gd name="T84" fmla="*/ 3658 w 4217"/>
                <a:gd name="T85" fmla="*/ 0 h 87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217"/>
                <a:gd name="T130" fmla="*/ 0 h 872"/>
                <a:gd name="T131" fmla="*/ 4217 w 4217"/>
                <a:gd name="T132" fmla="*/ 872 h 87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217" h="872">
                  <a:moveTo>
                    <a:pt x="0" y="0"/>
                  </a:moveTo>
                  <a:lnTo>
                    <a:pt x="99" y="22"/>
                  </a:lnTo>
                  <a:lnTo>
                    <a:pt x="205" y="36"/>
                  </a:lnTo>
                  <a:lnTo>
                    <a:pt x="304" y="57"/>
                  </a:lnTo>
                  <a:lnTo>
                    <a:pt x="411" y="85"/>
                  </a:lnTo>
                  <a:lnTo>
                    <a:pt x="510" y="121"/>
                  </a:lnTo>
                  <a:lnTo>
                    <a:pt x="616" y="156"/>
                  </a:lnTo>
                  <a:lnTo>
                    <a:pt x="716" y="192"/>
                  </a:lnTo>
                  <a:lnTo>
                    <a:pt x="822" y="241"/>
                  </a:lnTo>
                  <a:lnTo>
                    <a:pt x="921" y="298"/>
                  </a:lnTo>
                  <a:lnTo>
                    <a:pt x="1027" y="355"/>
                  </a:lnTo>
                  <a:lnTo>
                    <a:pt x="1127" y="419"/>
                  </a:lnTo>
                  <a:lnTo>
                    <a:pt x="1233" y="489"/>
                  </a:lnTo>
                  <a:lnTo>
                    <a:pt x="1332" y="553"/>
                  </a:lnTo>
                  <a:lnTo>
                    <a:pt x="1438" y="624"/>
                  </a:lnTo>
                  <a:lnTo>
                    <a:pt x="1538" y="688"/>
                  </a:lnTo>
                  <a:lnTo>
                    <a:pt x="1644" y="745"/>
                  </a:lnTo>
                  <a:lnTo>
                    <a:pt x="1743" y="794"/>
                  </a:lnTo>
                  <a:lnTo>
                    <a:pt x="1849" y="837"/>
                  </a:lnTo>
                  <a:lnTo>
                    <a:pt x="1949" y="858"/>
                  </a:lnTo>
                  <a:lnTo>
                    <a:pt x="2055" y="872"/>
                  </a:lnTo>
                  <a:lnTo>
                    <a:pt x="2154" y="872"/>
                  </a:lnTo>
                  <a:lnTo>
                    <a:pt x="2261" y="858"/>
                  </a:lnTo>
                  <a:lnTo>
                    <a:pt x="2317" y="844"/>
                  </a:lnTo>
                  <a:lnTo>
                    <a:pt x="2360" y="837"/>
                  </a:lnTo>
                  <a:lnTo>
                    <a:pt x="2466" y="794"/>
                  </a:lnTo>
                  <a:lnTo>
                    <a:pt x="2565" y="745"/>
                  </a:lnTo>
                  <a:lnTo>
                    <a:pt x="2672" y="688"/>
                  </a:lnTo>
                  <a:lnTo>
                    <a:pt x="2771" y="624"/>
                  </a:lnTo>
                  <a:lnTo>
                    <a:pt x="2877" y="553"/>
                  </a:lnTo>
                  <a:lnTo>
                    <a:pt x="2976" y="489"/>
                  </a:lnTo>
                  <a:lnTo>
                    <a:pt x="3083" y="419"/>
                  </a:lnTo>
                  <a:lnTo>
                    <a:pt x="3182" y="355"/>
                  </a:lnTo>
                  <a:lnTo>
                    <a:pt x="3288" y="298"/>
                  </a:lnTo>
                  <a:lnTo>
                    <a:pt x="3387" y="241"/>
                  </a:lnTo>
                  <a:lnTo>
                    <a:pt x="3494" y="192"/>
                  </a:lnTo>
                  <a:lnTo>
                    <a:pt x="3593" y="156"/>
                  </a:lnTo>
                  <a:lnTo>
                    <a:pt x="3699" y="121"/>
                  </a:lnTo>
                  <a:lnTo>
                    <a:pt x="3798" y="85"/>
                  </a:lnTo>
                  <a:lnTo>
                    <a:pt x="3905" y="57"/>
                  </a:lnTo>
                  <a:lnTo>
                    <a:pt x="4004" y="36"/>
                  </a:lnTo>
                  <a:lnTo>
                    <a:pt x="4110" y="22"/>
                  </a:lnTo>
                  <a:lnTo>
                    <a:pt x="421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4" name="Rectangle 195"/>
            <p:cNvSpPr>
              <a:spLocks noChangeArrowheads="1"/>
            </p:cNvSpPr>
            <p:nvPr/>
          </p:nvSpPr>
          <p:spPr bwMode="auto">
            <a:xfrm>
              <a:off x="921" y="3648"/>
              <a:ext cx="4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-80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915" name="Freeform 196"/>
            <p:cNvSpPr>
              <a:spLocks/>
            </p:cNvSpPr>
            <p:nvPr/>
          </p:nvSpPr>
          <p:spPr bwMode="auto">
            <a:xfrm>
              <a:off x="1287" y="1261"/>
              <a:ext cx="3658" cy="780"/>
            </a:xfrm>
            <a:custGeom>
              <a:avLst/>
              <a:gdLst>
                <a:gd name="T0" fmla="*/ 0 w 4217"/>
                <a:gd name="T1" fmla="*/ 0 h 1119"/>
                <a:gd name="T2" fmla="*/ 1217 w 4217"/>
                <a:gd name="T3" fmla="*/ 0 h 1119"/>
                <a:gd name="T4" fmla="*/ 2434 w 4217"/>
                <a:gd name="T5" fmla="*/ 780 h 1119"/>
                <a:gd name="T6" fmla="*/ 3658 w 4217"/>
                <a:gd name="T7" fmla="*/ 780 h 11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17"/>
                <a:gd name="T13" fmla="*/ 0 h 1119"/>
                <a:gd name="T14" fmla="*/ 4217 w 4217"/>
                <a:gd name="T15" fmla="*/ 1119 h 11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17" h="1119">
                  <a:moveTo>
                    <a:pt x="0" y="0"/>
                  </a:moveTo>
                  <a:lnTo>
                    <a:pt x="1403" y="0"/>
                  </a:lnTo>
                  <a:lnTo>
                    <a:pt x="2806" y="1119"/>
                  </a:lnTo>
                  <a:lnTo>
                    <a:pt x="4217" y="1119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6" name="Freeform 197"/>
            <p:cNvSpPr>
              <a:spLocks/>
            </p:cNvSpPr>
            <p:nvPr/>
          </p:nvSpPr>
          <p:spPr bwMode="auto">
            <a:xfrm>
              <a:off x="1286" y="1261"/>
              <a:ext cx="3658" cy="1017"/>
            </a:xfrm>
            <a:custGeom>
              <a:avLst/>
              <a:gdLst>
                <a:gd name="T0" fmla="*/ 0 w 4217"/>
                <a:gd name="T1" fmla="*/ 0 h 1219"/>
                <a:gd name="T2" fmla="*/ 1217 w 4217"/>
                <a:gd name="T3" fmla="*/ 0 h 1219"/>
                <a:gd name="T4" fmla="*/ 2804 w 4217"/>
                <a:gd name="T5" fmla="*/ 1017 h 1219"/>
                <a:gd name="T6" fmla="*/ 3658 w 4217"/>
                <a:gd name="T7" fmla="*/ 1017 h 1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17"/>
                <a:gd name="T13" fmla="*/ 0 h 1219"/>
                <a:gd name="T14" fmla="*/ 4217 w 4217"/>
                <a:gd name="T15" fmla="*/ 1219 h 1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17" h="1219">
                  <a:moveTo>
                    <a:pt x="0" y="0"/>
                  </a:moveTo>
                  <a:lnTo>
                    <a:pt x="1403" y="0"/>
                  </a:lnTo>
                  <a:lnTo>
                    <a:pt x="3232" y="1219"/>
                  </a:lnTo>
                  <a:lnTo>
                    <a:pt x="4217" y="1219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7" name="Line 198"/>
            <p:cNvSpPr>
              <a:spLocks noChangeShapeType="1"/>
            </p:cNvSpPr>
            <p:nvPr/>
          </p:nvSpPr>
          <p:spPr bwMode="auto">
            <a:xfrm flipH="1">
              <a:off x="2855" y="1494"/>
              <a:ext cx="2082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8" name="Text Box 199"/>
            <p:cNvSpPr txBox="1">
              <a:spLocks noChangeArrowheads="1"/>
            </p:cNvSpPr>
            <p:nvPr/>
          </p:nvSpPr>
          <p:spPr bwMode="auto">
            <a:xfrm>
              <a:off x="1307" y="1478"/>
              <a:ext cx="61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20lg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0919" name="Rectangle 200"/>
            <p:cNvSpPr>
              <a:spLocks noChangeArrowheads="1"/>
            </p:cNvSpPr>
            <p:nvPr/>
          </p:nvSpPr>
          <p:spPr bwMode="auto">
            <a:xfrm>
              <a:off x="4248" y="1214"/>
              <a:ext cx="5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8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8000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800000"/>
                  </a:solidFill>
                  <a:latin typeface="Times New Roman" panose="02020603050405020304" pitchFamily="18" charset="0"/>
                </a:rPr>
                <a:t>= 2</a:t>
              </a:r>
            </a:p>
          </p:txBody>
        </p:sp>
        <p:sp>
          <p:nvSpPr>
            <p:cNvPr id="30920" name="Text Box 201"/>
            <p:cNvSpPr txBox="1">
              <a:spLocks noChangeArrowheads="1"/>
            </p:cNvSpPr>
            <p:nvPr/>
          </p:nvSpPr>
          <p:spPr bwMode="auto">
            <a:xfrm>
              <a:off x="1843" y="1292"/>
              <a:ext cx="61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10lg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0921" name="Line 202"/>
            <p:cNvSpPr>
              <a:spLocks noChangeShapeType="1"/>
            </p:cNvSpPr>
            <p:nvPr/>
          </p:nvSpPr>
          <p:spPr bwMode="auto">
            <a:xfrm flipV="1">
              <a:off x="2418" y="1254"/>
              <a:ext cx="0" cy="40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922" name="Rectangle 203"/>
            <p:cNvSpPr>
              <a:spLocks noChangeArrowheads="1"/>
            </p:cNvSpPr>
            <p:nvPr/>
          </p:nvSpPr>
          <p:spPr bwMode="auto">
            <a:xfrm>
              <a:off x="4257" y="1523"/>
              <a:ext cx="557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0066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</a:rPr>
                <a:t>= 5</a:t>
              </a:r>
            </a:p>
          </p:txBody>
        </p:sp>
        <p:sp>
          <p:nvSpPr>
            <p:cNvPr id="30923" name="Rectangle 204"/>
            <p:cNvSpPr>
              <a:spLocks noChangeArrowheads="1"/>
            </p:cNvSpPr>
            <p:nvPr/>
          </p:nvSpPr>
          <p:spPr bwMode="auto">
            <a:xfrm>
              <a:off x="4239" y="1760"/>
              <a:ext cx="6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= 10</a:t>
              </a:r>
            </a:p>
          </p:txBody>
        </p:sp>
        <p:sp>
          <p:nvSpPr>
            <p:cNvPr id="30924" name="Rectangle 205"/>
            <p:cNvSpPr>
              <a:spLocks noChangeArrowheads="1"/>
            </p:cNvSpPr>
            <p:nvPr/>
          </p:nvSpPr>
          <p:spPr bwMode="auto">
            <a:xfrm>
              <a:off x="4247" y="2004"/>
              <a:ext cx="6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20</a:t>
              </a:r>
            </a:p>
          </p:txBody>
        </p:sp>
        <p:sp>
          <p:nvSpPr>
            <p:cNvPr id="30925" name="Rectangle 206"/>
            <p:cNvSpPr>
              <a:spLocks noChangeArrowheads="1"/>
            </p:cNvSpPr>
            <p:nvPr/>
          </p:nvSpPr>
          <p:spPr bwMode="auto">
            <a:xfrm>
              <a:off x="2449" y="2565"/>
              <a:ext cx="55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8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8000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800000"/>
                  </a:solidFill>
                  <a:latin typeface="Times New Roman" panose="02020603050405020304" pitchFamily="18" charset="0"/>
                </a:rPr>
                <a:t>= 2</a:t>
              </a:r>
            </a:p>
          </p:txBody>
        </p:sp>
        <p:sp useBgFill="1">
          <p:nvSpPr>
            <p:cNvPr id="30926" name="Rectangle 207"/>
            <p:cNvSpPr>
              <a:spLocks noChangeArrowheads="1"/>
            </p:cNvSpPr>
            <p:nvPr/>
          </p:nvSpPr>
          <p:spPr bwMode="auto">
            <a:xfrm>
              <a:off x="3113" y="2726"/>
              <a:ext cx="557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0066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</a:rPr>
                <a:t>= 5</a:t>
              </a:r>
            </a:p>
          </p:txBody>
        </p:sp>
        <p:sp>
          <p:nvSpPr>
            <p:cNvPr id="30927" name="Rectangle 208"/>
            <p:cNvSpPr>
              <a:spLocks noChangeArrowheads="1"/>
            </p:cNvSpPr>
            <p:nvPr/>
          </p:nvSpPr>
          <p:spPr bwMode="auto">
            <a:xfrm>
              <a:off x="2468" y="3424"/>
              <a:ext cx="6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20</a:t>
              </a:r>
            </a:p>
          </p:txBody>
        </p:sp>
        <p:sp>
          <p:nvSpPr>
            <p:cNvPr id="30928" name="Line 209"/>
            <p:cNvSpPr>
              <a:spLocks noChangeShapeType="1"/>
            </p:cNvSpPr>
            <p:nvPr/>
          </p:nvSpPr>
          <p:spPr bwMode="auto">
            <a:xfrm flipH="1">
              <a:off x="2371" y="1656"/>
              <a:ext cx="749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9" name="Line 210"/>
            <p:cNvSpPr>
              <a:spLocks noChangeShapeType="1"/>
            </p:cNvSpPr>
            <p:nvPr/>
          </p:nvSpPr>
          <p:spPr bwMode="auto">
            <a:xfrm flipH="1" flipV="1">
              <a:off x="1777" y="2036"/>
              <a:ext cx="1940" cy="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0" name="Line 211"/>
            <p:cNvSpPr>
              <a:spLocks noChangeShapeType="1"/>
            </p:cNvSpPr>
            <p:nvPr/>
          </p:nvSpPr>
          <p:spPr bwMode="auto">
            <a:xfrm flipV="1">
              <a:off x="1873" y="1254"/>
              <a:ext cx="0" cy="78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1" name="Freeform 212"/>
            <p:cNvSpPr>
              <a:spLocks/>
            </p:cNvSpPr>
            <p:nvPr/>
          </p:nvSpPr>
          <p:spPr bwMode="auto">
            <a:xfrm>
              <a:off x="1284" y="2612"/>
              <a:ext cx="3658" cy="580"/>
            </a:xfrm>
            <a:custGeom>
              <a:avLst/>
              <a:gdLst>
                <a:gd name="T0" fmla="*/ 0 w 4217"/>
                <a:gd name="T1" fmla="*/ 35 h 694"/>
                <a:gd name="T2" fmla="*/ 86 w 4217"/>
                <a:gd name="T3" fmla="*/ 47 h 694"/>
                <a:gd name="T4" fmla="*/ 178 w 4217"/>
                <a:gd name="T5" fmla="*/ 59 h 694"/>
                <a:gd name="T6" fmla="*/ 264 w 4217"/>
                <a:gd name="T7" fmla="*/ 77 h 694"/>
                <a:gd name="T8" fmla="*/ 357 w 4217"/>
                <a:gd name="T9" fmla="*/ 94 h 694"/>
                <a:gd name="T10" fmla="*/ 442 w 4217"/>
                <a:gd name="T11" fmla="*/ 119 h 694"/>
                <a:gd name="T12" fmla="*/ 534 w 4217"/>
                <a:gd name="T13" fmla="*/ 148 h 694"/>
                <a:gd name="T14" fmla="*/ 621 w 4217"/>
                <a:gd name="T15" fmla="*/ 177 h 694"/>
                <a:gd name="T16" fmla="*/ 713 w 4217"/>
                <a:gd name="T17" fmla="*/ 213 h 694"/>
                <a:gd name="T18" fmla="*/ 799 w 4217"/>
                <a:gd name="T19" fmla="*/ 248 h 694"/>
                <a:gd name="T20" fmla="*/ 891 w 4217"/>
                <a:gd name="T21" fmla="*/ 290 h 694"/>
                <a:gd name="T22" fmla="*/ 978 w 4217"/>
                <a:gd name="T23" fmla="*/ 338 h 694"/>
                <a:gd name="T24" fmla="*/ 1070 w 4217"/>
                <a:gd name="T25" fmla="*/ 384 h 694"/>
                <a:gd name="T26" fmla="*/ 1155 w 4217"/>
                <a:gd name="T27" fmla="*/ 432 h 694"/>
                <a:gd name="T28" fmla="*/ 1247 w 4217"/>
                <a:gd name="T29" fmla="*/ 474 h 694"/>
                <a:gd name="T30" fmla="*/ 1334 w 4217"/>
                <a:gd name="T31" fmla="*/ 515 h 694"/>
                <a:gd name="T32" fmla="*/ 1426 w 4217"/>
                <a:gd name="T33" fmla="*/ 545 h 694"/>
                <a:gd name="T34" fmla="*/ 1512 w 4217"/>
                <a:gd name="T35" fmla="*/ 568 h 694"/>
                <a:gd name="T36" fmla="*/ 1604 w 4217"/>
                <a:gd name="T37" fmla="*/ 580 h 694"/>
                <a:gd name="T38" fmla="*/ 1691 w 4217"/>
                <a:gd name="T39" fmla="*/ 580 h 694"/>
                <a:gd name="T40" fmla="*/ 1783 w 4217"/>
                <a:gd name="T41" fmla="*/ 568 h 694"/>
                <a:gd name="T42" fmla="*/ 1868 w 4217"/>
                <a:gd name="T43" fmla="*/ 545 h 694"/>
                <a:gd name="T44" fmla="*/ 1961 w 4217"/>
                <a:gd name="T45" fmla="*/ 509 h 694"/>
                <a:gd name="T46" fmla="*/ 2010 w 4217"/>
                <a:gd name="T47" fmla="*/ 491 h 694"/>
                <a:gd name="T48" fmla="*/ 2047 w 4217"/>
                <a:gd name="T49" fmla="*/ 468 h 694"/>
                <a:gd name="T50" fmla="*/ 2139 w 4217"/>
                <a:gd name="T51" fmla="*/ 426 h 694"/>
                <a:gd name="T52" fmla="*/ 2225 w 4217"/>
                <a:gd name="T53" fmla="*/ 379 h 694"/>
                <a:gd name="T54" fmla="*/ 2318 w 4217"/>
                <a:gd name="T55" fmla="*/ 332 h 694"/>
                <a:gd name="T56" fmla="*/ 2404 w 4217"/>
                <a:gd name="T57" fmla="*/ 290 h 694"/>
                <a:gd name="T58" fmla="*/ 2496 w 4217"/>
                <a:gd name="T59" fmla="*/ 242 h 694"/>
                <a:gd name="T60" fmla="*/ 2582 w 4217"/>
                <a:gd name="T61" fmla="*/ 207 h 694"/>
                <a:gd name="T62" fmla="*/ 2674 w 4217"/>
                <a:gd name="T63" fmla="*/ 171 h 694"/>
                <a:gd name="T64" fmla="*/ 2760 w 4217"/>
                <a:gd name="T65" fmla="*/ 142 h 694"/>
                <a:gd name="T66" fmla="*/ 2852 w 4217"/>
                <a:gd name="T67" fmla="*/ 119 h 694"/>
                <a:gd name="T68" fmla="*/ 2938 w 4217"/>
                <a:gd name="T69" fmla="*/ 94 h 694"/>
                <a:gd name="T70" fmla="*/ 3031 w 4217"/>
                <a:gd name="T71" fmla="*/ 77 h 694"/>
                <a:gd name="T72" fmla="*/ 3117 w 4217"/>
                <a:gd name="T73" fmla="*/ 59 h 694"/>
                <a:gd name="T74" fmla="*/ 3209 w 4217"/>
                <a:gd name="T75" fmla="*/ 47 h 694"/>
                <a:gd name="T76" fmla="*/ 3295 w 4217"/>
                <a:gd name="T77" fmla="*/ 35 h 694"/>
                <a:gd name="T78" fmla="*/ 3387 w 4217"/>
                <a:gd name="T79" fmla="*/ 23 h 694"/>
                <a:gd name="T80" fmla="*/ 3473 w 4217"/>
                <a:gd name="T81" fmla="*/ 12 h 694"/>
                <a:gd name="T82" fmla="*/ 3565 w 4217"/>
                <a:gd name="T83" fmla="*/ 6 h 694"/>
                <a:gd name="T84" fmla="*/ 3658 w 4217"/>
                <a:gd name="T85" fmla="*/ 0 h 69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217"/>
                <a:gd name="T130" fmla="*/ 0 h 694"/>
                <a:gd name="T131" fmla="*/ 4217 w 4217"/>
                <a:gd name="T132" fmla="*/ 694 h 69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217" h="694">
                  <a:moveTo>
                    <a:pt x="0" y="42"/>
                  </a:moveTo>
                  <a:lnTo>
                    <a:pt x="99" y="56"/>
                  </a:lnTo>
                  <a:lnTo>
                    <a:pt x="205" y="71"/>
                  </a:lnTo>
                  <a:lnTo>
                    <a:pt x="304" y="92"/>
                  </a:lnTo>
                  <a:lnTo>
                    <a:pt x="411" y="113"/>
                  </a:lnTo>
                  <a:lnTo>
                    <a:pt x="510" y="142"/>
                  </a:lnTo>
                  <a:lnTo>
                    <a:pt x="616" y="177"/>
                  </a:lnTo>
                  <a:lnTo>
                    <a:pt x="716" y="212"/>
                  </a:lnTo>
                  <a:lnTo>
                    <a:pt x="822" y="255"/>
                  </a:lnTo>
                  <a:lnTo>
                    <a:pt x="921" y="297"/>
                  </a:lnTo>
                  <a:lnTo>
                    <a:pt x="1027" y="347"/>
                  </a:lnTo>
                  <a:lnTo>
                    <a:pt x="1127" y="404"/>
                  </a:lnTo>
                  <a:lnTo>
                    <a:pt x="1233" y="460"/>
                  </a:lnTo>
                  <a:lnTo>
                    <a:pt x="1332" y="517"/>
                  </a:lnTo>
                  <a:lnTo>
                    <a:pt x="1438" y="567"/>
                  </a:lnTo>
                  <a:lnTo>
                    <a:pt x="1538" y="616"/>
                  </a:lnTo>
                  <a:lnTo>
                    <a:pt x="1644" y="652"/>
                  </a:lnTo>
                  <a:lnTo>
                    <a:pt x="1743" y="680"/>
                  </a:lnTo>
                  <a:lnTo>
                    <a:pt x="1849" y="694"/>
                  </a:lnTo>
                  <a:lnTo>
                    <a:pt x="1949" y="694"/>
                  </a:lnTo>
                  <a:lnTo>
                    <a:pt x="2055" y="680"/>
                  </a:lnTo>
                  <a:lnTo>
                    <a:pt x="2154" y="652"/>
                  </a:lnTo>
                  <a:lnTo>
                    <a:pt x="2261" y="609"/>
                  </a:lnTo>
                  <a:lnTo>
                    <a:pt x="2317" y="588"/>
                  </a:lnTo>
                  <a:lnTo>
                    <a:pt x="2360" y="560"/>
                  </a:lnTo>
                  <a:lnTo>
                    <a:pt x="2466" y="510"/>
                  </a:lnTo>
                  <a:lnTo>
                    <a:pt x="2565" y="453"/>
                  </a:lnTo>
                  <a:lnTo>
                    <a:pt x="2672" y="397"/>
                  </a:lnTo>
                  <a:lnTo>
                    <a:pt x="2771" y="347"/>
                  </a:lnTo>
                  <a:lnTo>
                    <a:pt x="2877" y="290"/>
                  </a:lnTo>
                  <a:lnTo>
                    <a:pt x="2976" y="248"/>
                  </a:lnTo>
                  <a:lnTo>
                    <a:pt x="3083" y="205"/>
                  </a:lnTo>
                  <a:lnTo>
                    <a:pt x="3182" y="170"/>
                  </a:lnTo>
                  <a:lnTo>
                    <a:pt x="3288" y="142"/>
                  </a:lnTo>
                  <a:lnTo>
                    <a:pt x="3387" y="113"/>
                  </a:lnTo>
                  <a:lnTo>
                    <a:pt x="3494" y="92"/>
                  </a:lnTo>
                  <a:lnTo>
                    <a:pt x="3593" y="71"/>
                  </a:lnTo>
                  <a:lnTo>
                    <a:pt x="3699" y="56"/>
                  </a:lnTo>
                  <a:lnTo>
                    <a:pt x="3798" y="42"/>
                  </a:lnTo>
                  <a:lnTo>
                    <a:pt x="3905" y="28"/>
                  </a:lnTo>
                  <a:lnTo>
                    <a:pt x="4004" y="14"/>
                  </a:lnTo>
                  <a:lnTo>
                    <a:pt x="4110" y="7"/>
                  </a:lnTo>
                  <a:lnTo>
                    <a:pt x="4217" y="0"/>
                  </a:ln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2" name="Rectangle 213"/>
            <p:cNvSpPr>
              <a:spLocks noChangeArrowheads="1"/>
            </p:cNvSpPr>
            <p:nvPr/>
          </p:nvSpPr>
          <p:spPr bwMode="auto">
            <a:xfrm>
              <a:off x="4196" y="3191"/>
              <a:ext cx="65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= 10</a:t>
              </a:r>
            </a:p>
          </p:txBody>
        </p:sp>
        <p:sp>
          <p:nvSpPr>
            <p:cNvPr id="30933" name="Freeform 214"/>
            <p:cNvSpPr>
              <a:spLocks/>
            </p:cNvSpPr>
            <p:nvPr/>
          </p:nvSpPr>
          <p:spPr bwMode="auto">
            <a:xfrm>
              <a:off x="1284" y="2588"/>
              <a:ext cx="3658" cy="279"/>
            </a:xfrm>
            <a:custGeom>
              <a:avLst/>
              <a:gdLst>
                <a:gd name="T0" fmla="*/ 0 w 4217"/>
                <a:gd name="T1" fmla="*/ 36 h 334"/>
                <a:gd name="T2" fmla="*/ 86 w 4217"/>
                <a:gd name="T3" fmla="*/ 42 h 334"/>
                <a:gd name="T4" fmla="*/ 178 w 4217"/>
                <a:gd name="T5" fmla="*/ 48 h 334"/>
                <a:gd name="T6" fmla="*/ 264 w 4217"/>
                <a:gd name="T7" fmla="*/ 59 h 334"/>
                <a:gd name="T8" fmla="*/ 357 w 4217"/>
                <a:gd name="T9" fmla="*/ 71 h 334"/>
                <a:gd name="T10" fmla="*/ 442 w 4217"/>
                <a:gd name="T11" fmla="*/ 84 h 334"/>
                <a:gd name="T12" fmla="*/ 534 w 4217"/>
                <a:gd name="T13" fmla="*/ 101 h 334"/>
                <a:gd name="T14" fmla="*/ 621 w 4217"/>
                <a:gd name="T15" fmla="*/ 119 h 334"/>
                <a:gd name="T16" fmla="*/ 713 w 4217"/>
                <a:gd name="T17" fmla="*/ 143 h 334"/>
                <a:gd name="T18" fmla="*/ 799 w 4217"/>
                <a:gd name="T19" fmla="*/ 160 h 334"/>
                <a:gd name="T20" fmla="*/ 891 w 4217"/>
                <a:gd name="T21" fmla="*/ 184 h 334"/>
                <a:gd name="T22" fmla="*/ 978 w 4217"/>
                <a:gd name="T23" fmla="*/ 207 h 334"/>
                <a:gd name="T24" fmla="*/ 1070 w 4217"/>
                <a:gd name="T25" fmla="*/ 231 h 334"/>
                <a:gd name="T26" fmla="*/ 1155 w 4217"/>
                <a:gd name="T27" fmla="*/ 249 h 334"/>
                <a:gd name="T28" fmla="*/ 1247 w 4217"/>
                <a:gd name="T29" fmla="*/ 266 h 334"/>
                <a:gd name="T30" fmla="*/ 1334 w 4217"/>
                <a:gd name="T31" fmla="*/ 272 h 334"/>
                <a:gd name="T32" fmla="*/ 1426 w 4217"/>
                <a:gd name="T33" fmla="*/ 279 h 334"/>
                <a:gd name="T34" fmla="*/ 1512 w 4217"/>
                <a:gd name="T35" fmla="*/ 272 h 334"/>
                <a:gd name="T36" fmla="*/ 1604 w 4217"/>
                <a:gd name="T37" fmla="*/ 261 h 334"/>
                <a:gd name="T38" fmla="*/ 1691 w 4217"/>
                <a:gd name="T39" fmla="*/ 243 h 334"/>
                <a:gd name="T40" fmla="*/ 1783 w 4217"/>
                <a:gd name="T41" fmla="*/ 220 h 334"/>
                <a:gd name="T42" fmla="*/ 1868 w 4217"/>
                <a:gd name="T43" fmla="*/ 195 h 334"/>
                <a:gd name="T44" fmla="*/ 1961 w 4217"/>
                <a:gd name="T45" fmla="*/ 172 h 334"/>
                <a:gd name="T46" fmla="*/ 2010 w 4217"/>
                <a:gd name="T47" fmla="*/ 160 h 334"/>
                <a:gd name="T48" fmla="*/ 2047 w 4217"/>
                <a:gd name="T49" fmla="*/ 149 h 334"/>
                <a:gd name="T50" fmla="*/ 2139 w 4217"/>
                <a:gd name="T51" fmla="*/ 130 h 334"/>
                <a:gd name="T52" fmla="*/ 2225 w 4217"/>
                <a:gd name="T53" fmla="*/ 107 h 334"/>
                <a:gd name="T54" fmla="*/ 2318 w 4217"/>
                <a:gd name="T55" fmla="*/ 95 h 334"/>
                <a:gd name="T56" fmla="*/ 2404 w 4217"/>
                <a:gd name="T57" fmla="*/ 78 h 334"/>
                <a:gd name="T58" fmla="*/ 2496 w 4217"/>
                <a:gd name="T59" fmla="*/ 65 h 334"/>
                <a:gd name="T60" fmla="*/ 2582 w 4217"/>
                <a:gd name="T61" fmla="*/ 53 h 334"/>
                <a:gd name="T62" fmla="*/ 2674 w 4217"/>
                <a:gd name="T63" fmla="*/ 42 h 334"/>
                <a:gd name="T64" fmla="*/ 2760 w 4217"/>
                <a:gd name="T65" fmla="*/ 36 h 334"/>
                <a:gd name="T66" fmla="*/ 2852 w 4217"/>
                <a:gd name="T67" fmla="*/ 30 h 334"/>
                <a:gd name="T68" fmla="*/ 2938 w 4217"/>
                <a:gd name="T69" fmla="*/ 24 h 334"/>
                <a:gd name="T70" fmla="*/ 3031 w 4217"/>
                <a:gd name="T71" fmla="*/ 18 h 334"/>
                <a:gd name="T72" fmla="*/ 3117 w 4217"/>
                <a:gd name="T73" fmla="*/ 13 h 334"/>
                <a:gd name="T74" fmla="*/ 3209 w 4217"/>
                <a:gd name="T75" fmla="*/ 13 h 334"/>
                <a:gd name="T76" fmla="*/ 3295 w 4217"/>
                <a:gd name="T77" fmla="*/ 7 h 334"/>
                <a:gd name="T78" fmla="*/ 3387 w 4217"/>
                <a:gd name="T79" fmla="*/ 7 h 334"/>
                <a:gd name="T80" fmla="*/ 3473 w 4217"/>
                <a:gd name="T81" fmla="*/ 0 h 334"/>
                <a:gd name="T82" fmla="*/ 3565 w 4217"/>
                <a:gd name="T83" fmla="*/ 0 h 334"/>
                <a:gd name="T84" fmla="*/ 3658 w 4217"/>
                <a:gd name="T85" fmla="*/ 0 h 3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217"/>
                <a:gd name="T130" fmla="*/ 0 h 334"/>
                <a:gd name="T131" fmla="*/ 4217 w 4217"/>
                <a:gd name="T132" fmla="*/ 334 h 33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217" h="334">
                  <a:moveTo>
                    <a:pt x="0" y="43"/>
                  </a:moveTo>
                  <a:lnTo>
                    <a:pt x="99" y="50"/>
                  </a:lnTo>
                  <a:lnTo>
                    <a:pt x="205" y="57"/>
                  </a:lnTo>
                  <a:lnTo>
                    <a:pt x="304" y="71"/>
                  </a:lnTo>
                  <a:lnTo>
                    <a:pt x="411" y="85"/>
                  </a:lnTo>
                  <a:lnTo>
                    <a:pt x="510" y="100"/>
                  </a:lnTo>
                  <a:lnTo>
                    <a:pt x="616" y="121"/>
                  </a:lnTo>
                  <a:lnTo>
                    <a:pt x="716" y="142"/>
                  </a:lnTo>
                  <a:lnTo>
                    <a:pt x="822" y="171"/>
                  </a:lnTo>
                  <a:lnTo>
                    <a:pt x="921" y="192"/>
                  </a:lnTo>
                  <a:lnTo>
                    <a:pt x="1027" y="220"/>
                  </a:lnTo>
                  <a:lnTo>
                    <a:pt x="1127" y="248"/>
                  </a:lnTo>
                  <a:lnTo>
                    <a:pt x="1233" y="277"/>
                  </a:lnTo>
                  <a:lnTo>
                    <a:pt x="1332" y="298"/>
                  </a:lnTo>
                  <a:lnTo>
                    <a:pt x="1438" y="319"/>
                  </a:lnTo>
                  <a:lnTo>
                    <a:pt x="1538" y="326"/>
                  </a:lnTo>
                  <a:lnTo>
                    <a:pt x="1644" y="334"/>
                  </a:lnTo>
                  <a:lnTo>
                    <a:pt x="1743" y="326"/>
                  </a:lnTo>
                  <a:lnTo>
                    <a:pt x="1849" y="312"/>
                  </a:lnTo>
                  <a:lnTo>
                    <a:pt x="1949" y="291"/>
                  </a:lnTo>
                  <a:lnTo>
                    <a:pt x="2055" y="263"/>
                  </a:lnTo>
                  <a:lnTo>
                    <a:pt x="2154" y="234"/>
                  </a:lnTo>
                  <a:lnTo>
                    <a:pt x="2261" y="206"/>
                  </a:lnTo>
                  <a:lnTo>
                    <a:pt x="2317" y="192"/>
                  </a:lnTo>
                  <a:lnTo>
                    <a:pt x="2360" y="178"/>
                  </a:lnTo>
                  <a:lnTo>
                    <a:pt x="2466" y="156"/>
                  </a:lnTo>
                  <a:lnTo>
                    <a:pt x="2565" y="128"/>
                  </a:lnTo>
                  <a:lnTo>
                    <a:pt x="2672" y="114"/>
                  </a:lnTo>
                  <a:lnTo>
                    <a:pt x="2771" y="93"/>
                  </a:lnTo>
                  <a:lnTo>
                    <a:pt x="2877" y="78"/>
                  </a:lnTo>
                  <a:lnTo>
                    <a:pt x="2976" y="64"/>
                  </a:lnTo>
                  <a:lnTo>
                    <a:pt x="3083" y="50"/>
                  </a:lnTo>
                  <a:lnTo>
                    <a:pt x="3182" y="43"/>
                  </a:lnTo>
                  <a:lnTo>
                    <a:pt x="3288" y="36"/>
                  </a:lnTo>
                  <a:lnTo>
                    <a:pt x="3387" y="29"/>
                  </a:lnTo>
                  <a:lnTo>
                    <a:pt x="3494" y="22"/>
                  </a:lnTo>
                  <a:lnTo>
                    <a:pt x="3593" y="15"/>
                  </a:lnTo>
                  <a:lnTo>
                    <a:pt x="3699" y="15"/>
                  </a:lnTo>
                  <a:lnTo>
                    <a:pt x="3798" y="8"/>
                  </a:lnTo>
                  <a:lnTo>
                    <a:pt x="3905" y="8"/>
                  </a:lnTo>
                  <a:lnTo>
                    <a:pt x="4004" y="0"/>
                  </a:lnTo>
                  <a:lnTo>
                    <a:pt x="4110" y="0"/>
                  </a:lnTo>
                  <a:lnTo>
                    <a:pt x="4217" y="0"/>
                  </a:ln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4" name="Line 215"/>
            <p:cNvSpPr>
              <a:spLocks noChangeShapeType="1"/>
            </p:cNvSpPr>
            <p:nvPr/>
          </p:nvSpPr>
          <p:spPr bwMode="auto">
            <a:xfrm>
              <a:off x="3121" y="2587"/>
              <a:ext cx="0" cy="80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5" name="Line 216"/>
            <p:cNvSpPr>
              <a:spLocks noChangeShapeType="1"/>
            </p:cNvSpPr>
            <p:nvPr/>
          </p:nvSpPr>
          <p:spPr bwMode="auto">
            <a:xfrm>
              <a:off x="3078" y="2587"/>
              <a:ext cx="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6" name="Line 217"/>
            <p:cNvSpPr>
              <a:spLocks noChangeShapeType="1"/>
            </p:cNvSpPr>
            <p:nvPr/>
          </p:nvSpPr>
          <p:spPr bwMode="auto">
            <a:xfrm>
              <a:off x="3232" y="258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7" name="Line 218"/>
            <p:cNvSpPr>
              <a:spLocks noChangeShapeType="1"/>
            </p:cNvSpPr>
            <p:nvPr/>
          </p:nvSpPr>
          <p:spPr bwMode="auto">
            <a:xfrm>
              <a:off x="3119" y="1655"/>
              <a:ext cx="0" cy="209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8" name="Line 219"/>
            <p:cNvSpPr>
              <a:spLocks noChangeShapeType="1"/>
            </p:cNvSpPr>
            <p:nvPr/>
          </p:nvSpPr>
          <p:spPr bwMode="auto">
            <a:xfrm flipH="1" flipV="1">
              <a:off x="3841" y="3052"/>
              <a:ext cx="384" cy="27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9" name="Line 220"/>
            <p:cNvSpPr>
              <a:spLocks noChangeShapeType="1"/>
            </p:cNvSpPr>
            <p:nvPr/>
          </p:nvSpPr>
          <p:spPr bwMode="auto">
            <a:xfrm flipH="1">
              <a:off x="3355" y="1815"/>
              <a:ext cx="1582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Object 2"/>
          <p:cNvGraphicFramePr>
            <a:graphicFrameLocks noChangeAspect="1"/>
          </p:cNvGraphicFramePr>
          <p:nvPr/>
        </p:nvGraphicFramePr>
        <p:xfrm>
          <a:off x="1573213" y="2646363"/>
          <a:ext cx="42672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06600" imgH="241300" progId="Equation.3">
                  <p:embed/>
                </p:oleObj>
              </mc:Choice>
              <mc:Fallback>
                <p:oleObj r:id="rId3" imgW="2006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646363"/>
                        <a:ext cx="42672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3"/>
          <p:cNvGraphicFramePr>
            <a:graphicFrameLocks noChangeAspect="1"/>
          </p:cNvGraphicFramePr>
          <p:nvPr/>
        </p:nvGraphicFramePr>
        <p:xfrm>
          <a:off x="1649413" y="4464050"/>
          <a:ext cx="27432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482600" progId="Equation.3">
                  <p:embed/>
                </p:oleObj>
              </mc:Choice>
              <mc:Fallback>
                <p:oleObj r:id="rId5" imgW="14351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4464050"/>
                        <a:ext cx="27432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1116013" y="1196975"/>
            <a:ext cx="70262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由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</a:rPr>
              <a:t>图可见，该校正装置在整个频率范围内相位都滞后，故近似</a:t>
            </a:r>
            <a:r>
              <a:rPr lang="en-US" altLang="zh-CN" sz="2800">
                <a:latin typeface="Times New Roman" panose="02020603050405020304" pitchFamily="18" charset="0"/>
              </a:rPr>
              <a:t>PI </a:t>
            </a:r>
            <a:r>
              <a:rPr lang="zh-CN" altLang="en-US" sz="2800">
                <a:latin typeface="Times New Roman" panose="02020603050405020304" pitchFamily="18" charset="0"/>
              </a:rPr>
              <a:t>校正也称为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相位滞后校正</a:t>
            </a:r>
            <a:r>
              <a:rPr lang="zh-CN" altLang="en-US" sz="2800">
                <a:latin typeface="Times New Roman" panose="02020603050405020304" pitchFamily="18" charset="0"/>
              </a:rPr>
              <a:t>。其滞后的相角为：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116013" y="3128963"/>
            <a:ext cx="2362200" cy="736600"/>
            <a:chOff x="864" y="2512"/>
            <a:chExt cx="1488" cy="464"/>
          </a:xfrm>
        </p:grpSpPr>
        <p:graphicFrame>
          <p:nvGraphicFramePr>
            <p:cNvPr id="32776" name="Object 4"/>
            <p:cNvGraphicFramePr>
              <a:graphicFrameLocks noChangeAspect="1"/>
            </p:cNvGraphicFramePr>
            <p:nvPr/>
          </p:nvGraphicFramePr>
          <p:xfrm>
            <a:off x="1344" y="2512"/>
            <a:ext cx="1008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50531" imgH="393529" progId="Equation.3">
                    <p:embed/>
                  </p:oleObj>
                </mc:Choice>
                <mc:Fallback>
                  <p:oleObj r:id="rId7" imgW="850531" imgH="39352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512"/>
                          <a:ext cx="1008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7" name="Rectangle 8"/>
            <p:cNvSpPr>
              <a:spLocks noChangeArrowheads="1"/>
            </p:cNvSpPr>
            <p:nvPr/>
          </p:nvSpPr>
          <p:spPr bwMode="auto">
            <a:xfrm>
              <a:off x="864" y="2553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令：</a:t>
              </a:r>
            </a:p>
          </p:txBody>
        </p:sp>
      </p:grp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1116013" y="3941763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可求出最大滞后相角对应的频率为：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1116013" y="5389563"/>
            <a:ext cx="702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即：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m</a:t>
            </a:r>
            <a:r>
              <a:rPr lang="zh-CN" altLang="en-US" sz="2800">
                <a:latin typeface="Times New Roman" panose="02020603050405020304" pitchFamily="18" charset="0"/>
              </a:rPr>
              <a:t>是两个转折频率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的几何中心。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/>
      <p:bldP spid="256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7" name="Object 2"/>
          <p:cNvGraphicFramePr>
            <a:graphicFrameLocks noChangeAspect="1"/>
          </p:cNvGraphicFramePr>
          <p:nvPr/>
        </p:nvGraphicFramePr>
        <p:xfrm>
          <a:off x="1981200" y="1828800"/>
          <a:ext cx="2057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43000" imgH="444500" progId="Equation.3">
                  <p:embed/>
                </p:oleObj>
              </mc:Choice>
              <mc:Fallback>
                <p:oleObj r:id="rId3" imgW="11430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828800"/>
                        <a:ext cx="2057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19" name="Group 4"/>
          <p:cNvGrpSpPr>
            <a:grpSpLocks/>
          </p:cNvGrpSpPr>
          <p:nvPr/>
        </p:nvGrpSpPr>
        <p:grpSpPr bwMode="auto">
          <a:xfrm>
            <a:off x="838200" y="990600"/>
            <a:ext cx="4953000" cy="869950"/>
            <a:chOff x="720" y="720"/>
            <a:chExt cx="3120" cy="548"/>
          </a:xfrm>
        </p:grpSpPr>
        <p:graphicFrame>
          <p:nvGraphicFramePr>
            <p:cNvPr id="35044" name="Object 3"/>
            <p:cNvGraphicFramePr>
              <a:graphicFrameLocks noChangeAspect="1"/>
            </p:cNvGraphicFramePr>
            <p:nvPr/>
          </p:nvGraphicFramePr>
          <p:xfrm>
            <a:off x="2352" y="720"/>
            <a:ext cx="148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69449" imgH="469696" progId="Equation.3">
                    <p:embed/>
                  </p:oleObj>
                </mc:Choice>
                <mc:Fallback>
                  <p:oleObj r:id="rId5" imgW="1269449" imgH="469696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720"/>
                          <a:ext cx="148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045" name="Rectangle 6"/>
            <p:cNvSpPr>
              <a:spLocks noChangeArrowheads="1"/>
            </p:cNvSpPr>
            <p:nvPr/>
          </p:nvSpPr>
          <p:spPr bwMode="auto">
            <a:xfrm>
              <a:off x="720" y="788"/>
              <a:ext cx="22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最大滞后相角：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04800" y="2743200"/>
            <a:ext cx="5503863" cy="3783013"/>
            <a:chOff x="288" y="1344"/>
            <a:chExt cx="3467" cy="2675"/>
          </a:xfrm>
        </p:grpSpPr>
        <p:sp>
          <p:nvSpPr>
            <p:cNvPr id="34822" name="Text Box 8"/>
            <p:cNvSpPr txBox="1">
              <a:spLocks noChangeArrowheads="1"/>
            </p:cNvSpPr>
            <p:nvPr/>
          </p:nvSpPr>
          <p:spPr bwMode="auto">
            <a:xfrm>
              <a:off x="2208" y="3696"/>
              <a:ext cx="27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4823" name="Text Box 9"/>
            <p:cNvSpPr txBox="1">
              <a:spLocks noChangeArrowheads="1"/>
            </p:cNvSpPr>
            <p:nvPr/>
          </p:nvSpPr>
          <p:spPr bwMode="auto">
            <a:xfrm>
              <a:off x="288" y="2367"/>
              <a:ext cx="557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400" i="1">
                  <a:latin typeface="Times New Roman" panose="02020603050405020304" pitchFamily="18" charset="0"/>
                </a:rPr>
                <a:t>'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m</a:t>
              </a:r>
              <a:r>
                <a:rPr lang="en-US" altLang="zh-CN" sz="2400" i="1">
                  <a:latin typeface="Times New Roman" panose="02020603050405020304" pitchFamily="18" charset="0"/>
                </a:rPr>
                <a:t>°</a:t>
              </a:r>
            </a:p>
          </p:txBody>
        </p:sp>
        <p:sp>
          <p:nvSpPr>
            <p:cNvPr id="34824" name="Rectangle 10"/>
            <p:cNvSpPr>
              <a:spLocks noChangeArrowheads="1"/>
            </p:cNvSpPr>
            <p:nvPr/>
          </p:nvSpPr>
          <p:spPr bwMode="auto">
            <a:xfrm>
              <a:off x="965" y="1439"/>
              <a:ext cx="2697" cy="2159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5" name="Freeform 11"/>
            <p:cNvSpPr>
              <a:spLocks/>
            </p:cNvSpPr>
            <p:nvPr/>
          </p:nvSpPr>
          <p:spPr bwMode="auto">
            <a:xfrm>
              <a:off x="110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Freeform 12"/>
            <p:cNvSpPr>
              <a:spLocks/>
            </p:cNvSpPr>
            <p:nvPr/>
          </p:nvSpPr>
          <p:spPr bwMode="auto">
            <a:xfrm>
              <a:off x="138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Freeform 13"/>
            <p:cNvSpPr>
              <a:spLocks/>
            </p:cNvSpPr>
            <p:nvPr/>
          </p:nvSpPr>
          <p:spPr bwMode="auto">
            <a:xfrm>
              <a:off x="167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Freeform 14"/>
            <p:cNvSpPr>
              <a:spLocks/>
            </p:cNvSpPr>
            <p:nvPr/>
          </p:nvSpPr>
          <p:spPr bwMode="auto">
            <a:xfrm>
              <a:off x="195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Freeform 15"/>
            <p:cNvSpPr>
              <a:spLocks/>
            </p:cNvSpPr>
            <p:nvPr/>
          </p:nvSpPr>
          <p:spPr bwMode="auto">
            <a:xfrm>
              <a:off x="2239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Freeform 16"/>
            <p:cNvSpPr>
              <a:spLocks/>
            </p:cNvSpPr>
            <p:nvPr/>
          </p:nvSpPr>
          <p:spPr bwMode="auto">
            <a:xfrm>
              <a:off x="2525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Freeform 17"/>
            <p:cNvSpPr>
              <a:spLocks/>
            </p:cNvSpPr>
            <p:nvPr/>
          </p:nvSpPr>
          <p:spPr bwMode="auto">
            <a:xfrm>
              <a:off x="2810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Freeform 18"/>
            <p:cNvSpPr>
              <a:spLocks/>
            </p:cNvSpPr>
            <p:nvPr/>
          </p:nvSpPr>
          <p:spPr bwMode="auto">
            <a:xfrm>
              <a:off x="3091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Freeform 19"/>
            <p:cNvSpPr>
              <a:spLocks/>
            </p:cNvSpPr>
            <p:nvPr/>
          </p:nvSpPr>
          <p:spPr bwMode="auto">
            <a:xfrm>
              <a:off x="3376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Freeform 20"/>
            <p:cNvSpPr>
              <a:spLocks/>
            </p:cNvSpPr>
            <p:nvPr/>
          </p:nvSpPr>
          <p:spPr bwMode="auto">
            <a:xfrm>
              <a:off x="366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Freeform 21"/>
            <p:cNvSpPr>
              <a:spLocks/>
            </p:cNvSpPr>
            <p:nvPr/>
          </p:nvSpPr>
          <p:spPr bwMode="auto">
            <a:xfrm>
              <a:off x="965" y="359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Freeform 22"/>
            <p:cNvSpPr>
              <a:spLocks/>
            </p:cNvSpPr>
            <p:nvPr/>
          </p:nvSpPr>
          <p:spPr bwMode="auto">
            <a:xfrm>
              <a:off x="965" y="3286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Freeform 23"/>
            <p:cNvSpPr>
              <a:spLocks/>
            </p:cNvSpPr>
            <p:nvPr/>
          </p:nvSpPr>
          <p:spPr bwMode="auto">
            <a:xfrm>
              <a:off x="965" y="297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Freeform 24"/>
            <p:cNvSpPr>
              <a:spLocks/>
            </p:cNvSpPr>
            <p:nvPr/>
          </p:nvSpPr>
          <p:spPr bwMode="auto">
            <a:xfrm>
              <a:off x="965" y="267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Freeform 25"/>
            <p:cNvSpPr>
              <a:spLocks/>
            </p:cNvSpPr>
            <p:nvPr/>
          </p:nvSpPr>
          <p:spPr bwMode="auto">
            <a:xfrm>
              <a:off x="965" y="236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Freeform 26"/>
            <p:cNvSpPr>
              <a:spLocks/>
            </p:cNvSpPr>
            <p:nvPr/>
          </p:nvSpPr>
          <p:spPr bwMode="auto">
            <a:xfrm>
              <a:off x="965" y="205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Freeform 27"/>
            <p:cNvSpPr>
              <a:spLocks/>
            </p:cNvSpPr>
            <p:nvPr/>
          </p:nvSpPr>
          <p:spPr bwMode="auto">
            <a:xfrm>
              <a:off x="965" y="1747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Freeform 28"/>
            <p:cNvSpPr>
              <a:spLocks/>
            </p:cNvSpPr>
            <p:nvPr/>
          </p:nvSpPr>
          <p:spPr bwMode="auto">
            <a:xfrm>
              <a:off x="965" y="1439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29"/>
            <p:cNvSpPr>
              <a:spLocks noChangeShapeType="1"/>
            </p:cNvSpPr>
            <p:nvPr/>
          </p:nvSpPr>
          <p:spPr bwMode="auto">
            <a:xfrm>
              <a:off x="965" y="1439"/>
              <a:ext cx="26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Freeform 30"/>
            <p:cNvSpPr>
              <a:spLocks/>
            </p:cNvSpPr>
            <p:nvPr/>
          </p:nvSpPr>
          <p:spPr bwMode="auto">
            <a:xfrm>
              <a:off x="965" y="1439"/>
              <a:ext cx="2697" cy="2159"/>
            </a:xfrm>
            <a:custGeom>
              <a:avLst/>
              <a:gdLst>
                <a:gd name="T0" fmla="*/ 0 w 595"/>
                <a:gd name="T1" fmla="*/ 2159 h 470"/>
                <a:gd name="T2" fmla="*/ 2697 w 595"/>
                <a:gd name="T3" fmla="*/ 2159 h 470"/>
                <a:gd name="T4" fmla="*/ 2697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Line 31"/>
            <p:cNvSpPr>
              <a:spLocks noChangeShapeType="1"/>
            </p:cNvSpPr>
            <p:nvPr/>
          </p:nvSpPr>
          <p:spPr bwMode="auto">
            <a:xfrm flipV="1">
              <a:off x="965" y="1439"/>
              <a:ext cx="1" cy="21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Line 32"/>
            <p:cNvSpPr>
              <a:spLocks noChangeShapeType="1"/>
            </p:cNvSpPr>
            <p:nvPr/>
          </p:nvSpPr>
          <p:spPr bwMode="auto">
            <a:xfrm>
              <a:off x="965" y="3598"/>
              <a:ext cx="26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Line 33"/>
            <p:cNvSpPr>
              <a:spLocks noChangeShapeType="1"/>
            </p:cNvSpPr>
            <p:nvPr/>
          </p:nvSpPr>
          <p:spPr bwMode="auto">
            <a:xfrm flipV="1">
              <a:off x="965" y="1439"/>
              <a:ext cx="1" cy="21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Freeform 34"/>
            <p:cNvSpPr>
              <a:spLocks/>
            </p:cNvSpPr>
            <p:nvPr/>
          </p:nvSpPr>
          <p:spPr bwMode="auto">
            <a:xfrm>
              <a:off x="1033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Freeform 35"/>
            <p:cNvSpPr>
              <a:spLocks/>
            </p:cNvSpPr>
            <p:nvPr/>
          </p:nvSpPr>
          <p:spPr bwMode="auto">
            <a:xfrm>
              <a:off x="96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Line 36"/>
            <p:cNvSpPr>
              <a:spLocks noChangeShapeType="1"/>
            </p:cNvSpPr>
            <p:nvPr/>
          </p:nvSpPr>
          <p:spPr bwMode="auto">
            <a:xfrm flipV="1">
              <a:off x="1106" y="3570"/>
              <a:ext cx="0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Line 37"/>
            <p:cNvSpPr>
              <a:spLocks noChangeShapeType="1"/>
            </p:cNvSpPr>
            <p:nvPr/>
          </p:nvSpPr>
          <p:spPr bwMode="auto">
            <a:xfrm>
              <a:off x="1106" y="1439"/>
              <a:ext cx="0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Rectangle 38"/>
            <p:cNvSpPr>
              <a:spLocks noChangeArrowheads="1"/>
            </p:cNvSpPr>
            <p:nvPr/>
          </p:nvSpPr>
          <p:spPr bwMode="auto">
            <a:xfrm>
              <a:off x="1056" y="3600"/>
              <a:ext cx="8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53" name="Freeform 39"/>
            <p:cNvSpPr>
              <a:spLocks/>
            </p:cNvSpPr>
            <p:nvPr/>
          </p:nvSpPr>
          <p:spPr bwMode="auto">
            <a:xfrm>
              <a:off x="1174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4" name="Freeform 40"/>
            <p:cNvSpPr>
              <a:spLocks/>
            </p:cNvSpPr>
            <p:nvPr/>
          </p:nvSpPr>
          <p:spPr bwMode="auto">
            <a:xfrm>
              <a:off x="1246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5" name="Freeform 41"/>
            <p:cNvSpPr>
              <a:spLocks/>
            </p:cNvSpPr>
            <p:nvPr/>
          </p:nvSpPr>
          <p:spPr bwMode="auto">
            <a:xfrm>
              <a:off x="131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6" name="Freeform 42"/>
            <p:cNvSpPr>
              <a:spLocks/>
            </p:cNvSpPr>
            <p:nvPr/>
          </p:nvSpPr>
          <p:spPr bwMode="auto">
            <a:xfrm>
              <a:off x="138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7" name="Freeform 43"/>
            <p:cNvSpPr>
              <a:spLocks/>
            </p:cNvSpPr>
            <p:nvPr/>
          </p:nvSpPr>
          <p:spPr bwMode="auto">
            <a:xfrm>
              <a:off x="145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8" name="Freeform 44"/>
            <p:cNvSpPr>
              <a:spLocks/>
            </p:cNvSpPr>
            <p:nvPr/>
          </p:nvSpPr>
          <p:spPr bwMode="auto">
            <a:xfrm>
              <a:off x="153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9" name="Freeform 45"/>
            <p:cNvSpPr>
              <a:spLocks/>
            </p:cNvSpPr>
            <p:nvPr/>
          </p:nvSpPr>
          <p:spPr bwMode="auto">
            <a:xfrm>
              <a:off x="1600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0" name="Freeform 46"/>
            <p:cNvSpPr>
              <a:spLocks/>
            </p:cNvSpPr>
            <p:nvPr/>
          </p:nvSpPr>
          <p:spPr bwMode="auto">
            <a:xfrm>
              <a:off x="167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1" name="Freeform 47"/>
            <p:cNvSpPr>
              <a:spLocks/>
            </p:cNvSpPr>
            <p:nvPr/>
          </p:nvSpPr>
          <p:spPr bwMode="auto">
            <a:xfrm>
              <a:off x="174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2" name="Line 48"/>
            <p:cNvSpPr>
              <a:spLocks noChangeShapeType="1"/>
            </p:cNvSpPr>
            <p:nvPr/>
          </p:nvSpPr>
          <p:spPr bwMode="auto">
            <a:xfrm flipV="1">
              <a:off x="1387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3" name="Line 49"/>
            <p:cNvSpPr>
              <a:spLocks noChangeShapeType="1"/>
            </p:cNvSpPr>
            <p:nvPr/>
          </p:nvSpPr>
          <p:spPr bwMode="auto">
            <a:xfrm>
              <a:off x="1387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Rectangle 50"/>
            <p:cNvSpPr>
              <a:spLocks noChangeArrowheads="1"/>
            </p:cNvSpPr>
            <p:nvPr/>
          </p:nvSpPr>
          <p:spPr bwMode="auto">
            <a:xfrm>
              <a:off x="1338" y="3600"/>
              <a:ext cx="8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65" name="Freeform 51"/>
            <p:cNvSpPr>
              <a:spLocks/>
            </p:cNvSpPr>
            <p:nvPr/>
          </p:nvSpPr>
          <p:spPr bwMode="auto">
            <a:xfrm>
              <a:off x="145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6" name="Freeform 52"/>
            <p:cNvSpPr>
              <a:spLocks/>
            </p:cNvSpPr>
            <p:nvPr/>
          </p:nvSpPr>
          <p:spPr bwMode="auto">
            <a:xfrm>
              <a:off x="153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7" name="Freeform 53"/>
            <p:cNvSpPr>
              <a:spLocks/>
            </p:cNvSpPr>
            <p:nvPr/>
          </p:nvSpPr>
          <p:spPr bwMode="auto">
            <a:xfrm>
              <a:off x="1600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8" name="Freeform 54"/>
            <p:cNvSpPr>
              <a:spLocks/>
            </p:cNvSpPr>
            <p:nvPr/>
          </p:nvSpPr>
          <p:spPr bwMode="auto">
            <a:xfrm>
              <a:off x="167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9" name="Freeform 55"/>
            <p:cNvSpPr>
              <a:spLocks/>
            </p:cNvSpPr>
            <p:nvPr/>
          </p:nvSpPr>
          <p:spPr bwMode="auto">
            <a:xfrm>
              <a:off x="174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0" name="Freeform 56"/>
            <p:cNvSpPr>
              <a:spLocks/>
            </p:cNvSpPr>
            <p:nvPr/>
          </p:nvSpPr>
          <p:spPr bwMode="auto">
            <a:xfrm>
              <a:off x="1813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1" name="Freeform 57"/>
            <p:cNvSpPr>
              <a:spLocks/>
            </p:cNvSpPr>
            <p:nvPr/>
          </p:nvSpPr>
          <p:spPr bwMode="auto">
            <a:xfrm>
              <a:off x="188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2" name="Freeform 58"/>
            <p:cNvSpPr>
              <a:spLocks/>
            </p:cNvSpPr>
            <p:nvPr/>
          </p:nvSpPr>
          <p:spPr bwMode="auto">
            <a:xfrm>
              <a:off x="195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3" name="Freeform 59"/>
            <p:cNvSpPr>
              <a:spLocks/>
            </p:cNvSpPr>
            <p:nvPr/>
          </p:nvSpPr>
          <p:spPr bwMode="auto">
            <a:xfrm>
              <a:off x="202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4" name="Line 60"/>
            <p:cNvSpPr>
              <a:spLocks noChangeShapeType="1"/>
            </p:cNvSpPr>
            <p:nvPr/>
          </p:nvSpPr>
          <p:spPr bwMode="auto">
            <a:xfrm flipV="1">
              <a:off x="1672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5" name="Line 61"/>
            <p:cNvSpPr>
              <a:spLocks noChangeShapeType="1"/>
            </p:cNvSpPr>
            <p:nvPr/>
          </p:nvSpPr>
          <p:spPr bwMode="auto">
            <a:xfrm>
              <a:off x="1672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6" name="Rectangle 62"/>
            <p:cNvSpPr>
              <a:spLocks noChangeArrowheads="1"/>
            </p:cNvSpPr>
            <p:nvPr/>
          </p:nvSpPr>
          <p:spPr bwMode="auto">
            <a:xfrm>
              <a:off x="1623" y="3600"/>
              <a:ext cx="8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77" name="Freeform 63"/>
            <p:cNvSpPr>
              <a:spLocks/>
            </p:cNvSpPr>
            <p:nvPr/>
          </p:nvSpPr>
          <p:spPr bwMode="auto">
            <a:xfrm>
              <a:off x="174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8" name="Freeform 64"/>
            <p:cNvSpPr>
              <a:spLocks/>
            </p:cNvSpPr>
            <p:nvPr/>
          </p:nvSpPr>
          <p:spPr bwMode="auto">
            <a:xfrm>
              <a:off x="1813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9" name="Freeform 65"/>
            <p:cNvSpPr>
              <a:spLocks/>
            </p:cNvSpPr>
            <p:nvPr/>
          </p:nvSpPr>
          <p:spPr bwMode="auto">
            <a:xfrm>
              <a:off x="1885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0" name="Freeform 66"/>
            <p:cNvSpPr>
              <a:spLocks/>
            </p:cNvSpPr>
            <p:nvPr/>
          </p:nvSpPr>
          <p:spPr bwMode="auto">
            <a:xfrm>
              <a:off x="195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1" name="Freeform 67"/>
            <p:cNvSpPr>
              <a:spLocks/>
            </p:cNvSpPr>
            <p:nvPr/>
          </p:nvSpPr>
          <p:spPr bwMode="auto">
            <a:xfrm>
              <a:off x="202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2" name="Freeform 68"/>
            <p:cNvSpPr>
              <a:spLocks/>
            </p:cNvSpPr>
            <p:nvPr/>
          </p:nvSpPr>
          <p:spPr bwMode="auto">
            <a:xfrm>
              <a:off x="2099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3" name="Freeform 69"/>
            <p:cNvSpPr>
              <a:spLocks/>
            </p:cNvSpPr>
            <p:nvPr/>
          </p:nvSpPr>
          <p:spPr bwMode="auto">
            <a:xfrm>
              <a:off x="2171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4" name="Freeform 70"/>
            <p:cNvSpPr>
              <a:spLocks/>
            </p:cNvSpPr>
            <p:nvPr/>
          </p:nvSpPr>
          <p:spPr bwMode="auto">
            <a:xfrm>
              <a:off x="2239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5" name="Freeform 71"/>
            <p:cNvSpPr>
              <a:spLocks/>
            </p:cNvSpPr>
            <p:nvPr/>
          </p:nvSpPr>
          <p:spPr bwMode="auto">
            <a:xfrm>
              <a:off x="2312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6" name="Line 72"/>
            <p:cNvSpPr>
              <a:spLocks noChangeShapeType="1"/>
            </p:cNvSpPr>
            <p:nvPr/>
          </p:nvSpPr>
          <p:spPr bwMode="auto">
            <a:xfrm flipV="1">
              <a:off x="1958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7" name="Line 73"/>
            <p:cNvSpPr>
              <a:spLocks noChangeShapeType="1"/>
            </p:cNvSpPr>
            <p:nvPr/>
          </p:nvSpPr>
          <p:spPr bwMode="auto">
            <a:xfrm>
              <a:off x="1958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8" name="Rectangle 74"/>
            <p:cNvSpPr>
              <a:spLocks noChangeArrowheads="1"/>
            </p:cNvSpPr>
            <p:nvPr/>
          </p:nvSpPr>
          <p:spPr bwMode="auto">
            <a:xfrm>
              <a:off x="1909" y="3600"/>
              <a:ext cx="8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89" name="Freeform 75"/>
            <p:cNvSpPr>
              <a:spLocks/>
            </p:cNvSpPr>
            <p:nvPr/>
          </p:nvSpPr>
          <p:spPr bwMode="auto">
            <a:xfrm>
              <a:off x="202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0" name="Freeform 76"/>
            <p:cNvSpPr>
              <a:spLocks/>
            </p:cNvSpPr>
            <p:nvPr/>
          </p:nvSpPr>
          <p:spPr bwMode="auto">
            <a:xfrm>
              <a:off x="2099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1" name="Freeform 77"/>
            <p:cNvSpPr>
              <a:spLocks/>
            </p:cNvSpPr>
            <p:nvPr/>
          </p:nvSpPr>
          <p:spPr bwMode="auto">
            <a:xfrm>
              <a:off x="2171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2" name="Freeform 78"/>
            <p:cNvSpPr>
              <a:spLocks/>
            </p:cNvSpPr>
            <p:nvPr/>
          </p:nvSpPr>
          <p:spPr bwMode="auto">
            <a:xfrm>
              <a:off x="2239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3" name="Freeform 79"/>
            <p:cNvSpPr>
              <a:spLocks/>
            </p:cNvSpPr>
            <p:nvPr/>
          </p:nvSpPr>
          <p:spPr bwMode="auto">
            <a:xfrm>
              <a:off x="2312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4" name="Freeform 80"/>
            <p:cNvSpPr>
              <a:spLocks/>
            </p:cNvSpPr>
            <p:nvPr/>
          </p:nvSpPr>
          <p:spPr bwMode="auto">
            <a:xfrm>
              <a:off x="2384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5" name="Freeform 81"/>
            <p:cNvSpPr>
              <a:spLocks/>
            </p:cNvSpPr>
            <p:nvPr/>
          </p:nvSpPr>
          <p:spPr bwMode="auto">
            <a:xfrm>
              <a:off x="2452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6" name="Freeform 82"/>
            <p:cNvSpPr>
              <a:spLocks/>
            </p:cNvSpPr>
            <p:nvPr/>
          </p:nvSpPr>
          <p:spPr bwMode="auto">
            <a:xfrm>
              <a:off x="2525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7" name="Freeform 83"/>
            <p:cNvSpPr>
              <a:spLocks/>
            </p:cNvSpPr>
            <p:nvPr/>
          </p:nvSpPr>
          <p:spPr bwMode="auto">
            <a:xfrm>
              <a:off x="2597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8" name="Line 84"/>
            <p:cNvSpPr>
              <a:spLocks noChangeShapeType="1"/>
            </p:cNvSpPr>
            <p:nvPr/>
          </p:nvSpPr>
          <p:spPr bwMode="auto">
            <a:xfrm flipV="1">
              <a:off x="2239" y="3570"/>
              <a:ext cx="0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9" name="Line 85"/>
            <p:cNvSpPr>
              <a:spLocks noChangeShapeType="1"/>
            </p:cNvSpPr>
            <p:nvPr/>
          </p:nvSpPr>
          <p:spPr bwMode="auto">
            <a:xfrm>
              <a:off x="2239" y="1439"/>
              <a:ext cx="0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0" name="Rectangle 86"/>
            <p:cNvSpPr>
              <a:spLocks noChangeArrowheads="1"/>
            </p:cNvSpPr>
            <p:nvPr/>
          </p:nvSpPr>
          <p:spPr bwMode="auto">
            <a:xfrm>
              <a:off x="2172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01" name="Freeform 87"/>
            <p:cNvSpPr>
              <a:spLocks/>
            </p:cNvSpPr>
            <p:nvPr/>
          </p:nvSpPr>
          <p:spPr bwMode="auto">
            <a:xfrm>
              <a:off x="2312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2" name="Freeform 88"/>
            <p:cNvSpPr>
              <a:spLocks/>
            </p:cNvSpPr>
            <p:nvPr/>
          </p:nvSpPr>
          <p:spPr bwMode="auto">
            <a:xfrm>
              <a:off x="2384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3" name="Freeform 89"/>
            <p:cNvSpPr>
              <a:spLocks/>
            </p:cNvSpPr>
            <p:nvPr/>
          </p:nvSpPr>
          <p:spPr bwMode="auto">
            <a:xfrm>
              <a:off x="2452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4" name="Freeform 90"/>
            <p:cNvSpPr>
              <a:spLocks/>
            </p:cNvSpPr>
            <p:nvPr/>
          </p:nvSpPr>
          <p:spPr bwMode="auto">
            <a:xfrm>
              <a:off x="2525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5" name="Freeform 91"/>
            <p:cNvSpPr>
              <a:spLocks/>
            </p:cNvSpPr>
            <p:nvPr/>
          </p:nvSpPr>
          <p:spPr bwMode="auto">
            <a:xfrm>
              <a:off x="2597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6" name="Freeform 92"/>
            <p:cNvSpPr>
              <a:spLocks/>
            </p:cNvSpPr>
            <p:nvPr/>
          </p:nvSpPr>
          <p:spPr bwMode="auto">
            <a:xfrm>
              <a:off x="2665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7" name="Freeform 93"/>
            <p:cNvSpPr>
              <a:spLocks/>
            </p:cNvSpPr>
            <p:nvPr/>
          </p:nvSpPr>
          <p:spPr bwMode="auto">
            <a:xfrm>
              <a:off x="273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8" name="Freeform 94"/>
            <p:cNvSpPr>
              <a:spLocks/>
            </p:cNvSpPr>
            <p:nvPr/>
          </p:nvSpPr>
          <p:spPr bwMode="auto">
            <a:xfrm>
              <a:off x="2810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9" name="Freeform 95"/>
            <p:cNvSpPr>
              <a:spLocks/>
            </p:cNvSpPr>
            <p:nvPr/>
          </p:nvSpPr>
          <p:spPr bwMode="auto">
            <a:xfrm>
              <a:off x="287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0" name="Line 96"/>
            <p:cNvSpPr>
              <a:spLocks noChangeShapeType="1"/>
            </p:cNvSpPr>
            <p:nvPr/>
          </p:nvSpPr>
          <p:spPr bwMode="auto">
            <a:xfrm flipV="1">
              <a:off x="2525" y="3570"/>
              <a:ext cx="0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1" name="Line 97"/>
            <p:cNvSpPr>
              <a:spLocks noChangeShapeType="1"/>
            </p:cNvSpPr>
            <p:nvPr/>
          </p:nvSpPr>
          <p:spPr bwMode="auto">
            <a:xfrm>
              <a:off x="2525" y="1439"/>
              <a:ext cx="0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2" name="Rectangle 98"/>
            <p:cNvSpPr>
              <a:spLocks noChangeArrowheads="1"/>
            </p:cNvSpPr>
            <p:nvPr/>
          </p:nvSpPr>
          <p:spPr bwMode="auto">
            <a:xfrm>
              <a:off x="2457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13" name="Freeform 99"/>
            <p:cNvSpPr>
              <a:spLocks/>
            </p:cNvSpPr>
            <p:nvPr/>
          </p:nvSpPr>
          <p:spPr bwMode="auto">
            <a:xfrm>
              <a:off x="2597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4" name="Freeform 100"/>
            <p:cNvSpPr>
              <a:spLocks/>
            </p:cNvSpPr>
            <p:nvPr/>
          </p:nvSpPr>
          <p:spPr bwMode="auto">
            <a:xfrm>
              <a:off x="2665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5" name="Freeform 101"/>
            <p:cNvSpPr>
              <a:spLocks/>
            </p:cNvSpPr>
            <p:nvPr/>
          </p:nvSpPr>
          <p:spPr bwMode="auto">
            <a:xfrm>
              <a:off x="273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6" name="Freeform 102"/>
            <p:cNvSpPr>
              <a:spLocks/>
            </p:cNvSpPr>
            <p:nvPr/>
          </p:nvSpPr>
          <p:spPr bwMode="auto">
            <a:xfrm>
              <a:off x="2810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7" name="Freeform 103"/>
            <p:cNvSpPr>
              <a:spLocks/>
            </p:cNvSpPr>
            <p:nvPr/>
          </p:nvSpPr>
          <p:spPr bwMode="auto">
            <a:xfrm>
              <a:off x="287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8" name="Freeform 104"/>
            <p:cNvSpPr>
              <a:spLocks/>
            </p:cNvSpPr>
            <p:nvPr/>
          </p:nvSpPr>
          <p:spPr bwMode="auto">
            <a:xfrm>
              <a:off x="2950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9" name="Freeform 105"/>
            <p:cNvSpPr>
              <a:spLocks/>
            </p:cNvSpPr>
            <p:nvPr/>
          </p:nvSpPr>
          <p:spPr bwMode="auto">
            <a:xfrm>
              <a:off x="3023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0" name="Freeform 106"/>
            <p:cNvSpPr>
              <a:spLocks/>
            </p:cNvSpPr>
            <p:nvPr/>
          </p:nvSpPr>
          <p:spPr bwMode="auto">
            <a:xfrm>
              <a:off x="3091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1" name="Freeform 107"/>
            <p:cNvSpPr>
              <a:spLocks/>
            </p:cNvSpPr>
            <p:nvPr/>
          </p:nvSpPr>
          <p:spPr bwMode="auto">
            <a:xfrm>
              <a:off x="3163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2" name="Line 108"/>
            <p:cNvSpPr>
              <a:spLocks noChangeShapeType="1"/>
            </p:cNvSpPr>
            <p:nvPr/>
          </p:nvSpPr>
          <p:spPr bwMode="auto">
            <a:xfrm flipV="1">
              <a:off x="2810" y="3570"/>
              <a:ext cx="0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3" name="Line 109"/>
            <p:cNvSpPr>
              <a:spLocks noChangeShapeType="1"/>
            </p:cNvSpPr>
            <p:nvPr/>
          </p:nvSpPr>
          <p:spPr bwMode="auto">
            <a:xfrm>
              <a:off x="2810" y="1439"/>
              <a:ext cx="0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4" name="Rectangle 110"/>
            <p:cNvSpPr>
              <a:spLocks noChangeArrowheads="1"/>
            </p:cNvSpPr>
            <p:nvPr/>
          </p:nvSpPr>
          <p:spPr bwMode="auto">
            <a:xfrm>
              <a:off x="2743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25" name="Freeform 111"/>
            <p:cNvSpPr>
              <a:spLocks/>
            </p:cNvSpPr>
            <p:nvPr/>
          </p:nvSpPr>
          <p:spPr bwMode="auto">
            <a:xfrm>
              <a:off x="2878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6" name="Freeform 112"/>
            <p:cNvSpPr>
              <a:spLocks/>
            </p:cNvSpPr>
            <p:nvPr/>
          </p:nvSpPr>
          <p:spPr bwMode="auto">
            <a:xfrm>
              <a:off x="2950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7" name="Freeform 113"/>
            <p:cNvSpPr>
              <a:spLocks/>
            </p:cNvSpPr>
            <p:nvPr/>
          </p:nvSpPr>
          <p:spPr bwMode="auto">
            <a:xfrm>
              <a:off x="3023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8" name="Freeform 114"/>
            <p:cNvSpPr>
              <a:spLocks/>
            </p:cNvSpPr>
            <p:nvPr/>
          </p:nvSpPr>
          <p:spPr bwMode="auto">
            <a:xfrm>
              <a:off x="3091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9" name="Freeform 115"/>
            <p:cNvSpPr>
              <a:spLocks/>
            </p:cNvSpPr>
            <p:nvPr/>
          </p:nvSpPr>
          <p:spPr bwMode="auto">
            <a:xfrm>
              <a:off x="3163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0" name="Freeform 116"/>
            <p:cNvSpPr>
              <a:spLocks/>
            </p:cNvSpPr>
            <p:nvPr/>
          </p:nvSpPr>
          <p:spPr bwMode="auto">
            <a:xfrm>
              <a:off x="323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1" name="Freeform 117"/>
            <p:cNvSpPr>
              <a:spLocks/>
            </p:cNvSpPr>
            <p:nvPr/>
          </p:nvSpPr>
          <p:spPr bwMode="auto">
            <a:xfrm>
              <a:off x="3304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2" name="Freeform 118"/>
            <p:cNvSpPr>
              <a:spLocks/>
            </p:cNvSpPr>
            <p:nvPr/>
          </p:nvSpPr>
          <p:spPr bwMode="auto">
            <a:xfrm>
              <a:off x="3376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3" name="Freeform 119"/>
            <p:cNvSpPr>
              <a:spLocks/>
            </p:cNvSpPr>
            <p:nvPr/>
          </p:nvSpPr>
          <p:spPr bwMode="auto">
            <a:xfrm>
              <a:off x="344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4" name="Line 120"/>
            <p:cNvSpPr>
              <a:spLocks noChangeShapeType="1"/>
            </p:cNvSpPr>
            <p:nvPr/>
          </p:nvSpPr>
          <p:spPr bwMode="auto">
            <a:xfrm flipV="1">
              <a:off x="3091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5" name="Line 121"/>
            <p:cNvSpPr>
              <a:spLocks noChangeShapeType="1"/>
            </p:cNvSpPr>
            <p:nvPr/>
          </p:nvSpPr>
          <p:spPr bwMode="auto">
            <a:xfrm>
              <a:off x="3091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6" name="Rectangle 122"/>
            <p:cNvSpPr>
              <a:spLocks noChangeArrowheads="1"/>
            </p:cNvSpPr>
            <p:nvPr/>
          </p:nvSpPr>
          <p:spPr bwMode="auto">
            <a:xfrm>
              <a:off x="3023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37" name="Freeform 123"/>
            <p:cNvSpPr>
              <a:spLocks/>
            </p:cNvSpPr>
            <p:nvPr/>
          </p:nvSpPr>
          <p:spPr bwMode="auto">
            <a:xfrm>
              <a:off x="3163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8" name="Freeform 124"/>
            <p:cNvSpPr>
              <a:spLocks/>
            </p:cNvSpPr>
            <p:nvPr/>
          </p:nvSpPr>
          <p:spPr bwMode="auto">
            <a:xfrm>
              <a:off x="3236" y="1439"/>
              <a:ext cx="0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9" name="Freeform 125"/>
            <p:cNvSpPr>
              <a:spLocks/>
            </p:cNvSpPr>
            <p:nvPr/>
          </p:nvSpPr>
          <p:spPr bwMode="auto">
            <a:xfrm>
              <a:off x="3304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0" name="Freeform 126"/>
            <p:cNvSpPr>
              <a:spLocks/>
            </p:cNvSpPr>
            <p:nvPr/>
          </p:nvSpPr>
          <p:spPr bwMode="auto">
            <a:xfrm>
              <a:off x="3376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1" name="Freeform 127"/>
            <p:cNvSpPr>
              <a:spLocks/>
            </p:cNvSpPr>
            <p:nvPr/>
          </p:nvSpPr>
          <p:spPr bwMode="auto">
            <a:xfrm>
              <a:off x="344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2" name="Freeform 128"/>
            <p:cNvSpPr>
              <a:spLocks/>
            </p:cNvSpPr>
            <p:nvPr/>
          </p:nvSpPr>
          <p:spPr bwMode="auto">
            <a:xfrm>
              <a:off x="351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3" name="Freeform 129"/>
            <p:cNvSpPr>
              <a:spLocks/>
            </p:cNvSpPr>
            <p:nvPr/>
          </p:nvSpPr>
          <p:spPr bwMode="auto">
            <a:xfrm>
              <a:off x="358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4" name="Freeform 130"/>
            <p:cNvSpPr>
              <a:spLocks/>
            </p:cNvSpPr>
            <p:nvPr/>
          </p:nvSpPr>
          <p:spPr bwMode="auto">
            <a:xfrm>
              <a:off x="366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5" name="Line 131"/>
            <p:cNvSpPr>
              <a:spLocks noChangeShapeType="1"/>
            </p:cNvSpPr>
            <p:nvPr/>
          </p:nvSpPr>
          <p:spPr bwMode="auto">
            <a:xfrm flipV="1">
              <a:off x="3376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6" name="Line 132"/>
            <p:cNvSpPr>
              <a:spLocks noChangeShapeType="1"/>
            </p:cNvSpPr>
            <p:nvPr/>
          </p:nvSpPr>
          <p:spPr bwMode="auto">
            <a:xfrm>
              <a:off x="3376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7" name="Rectangle 133"/>
            <p:cNvSpPr>
              <a:spLocks noChangeArrowheads="1"/>
            </p:cNvSpPr>
            <p:nvPr/>
          </p:nvSpPr>
          <p:spPr bwMode="auto">
            <a:xfrm>
              <a:off x="3310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48" name="Freeform 134"/>
            <p:cNvSpPr>
              <a:spLocks/>
            </p:cNvSpPr>
            <p:nvPr/>
          </p:nvSpPr>
          <p:spPr bwMode="auto">
            <a:xfrm>
              <a:off x="344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9" name="Freeform 135"/>
            <p:cNvSpPr>
              <a:spLocks/>
            </p:cNvSpPr>
            <p:nvPr/>
          </p:nvSpPr>
          <p:spPr bwMode="auto">
            <a:xfrm>
              <a:off x="3517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0" name="Freeform 136"/>
            <p:cNvSpPr>
              <a:spLocks/>
            </p:cNvSpPr>
            <p:nvPr/>
          </p:nvSpPr>
          <p:spPr bwMode="auto">
            <a:xfrm>
              <a:off x="3589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1" name="Freeform 137"/>
            <p:cNvSpPr>
              <a:spLocks/>
            </p:cNvSpPr>
            <p:nvPr/>
          </p:nvSpPr>
          <p:spPr bwMode="auto">
            <a:xfrm>
              <a:off x="3662" y="1439"/>
              <a:ext cx="1" cy="2159"/>
            </a:xfrm>
            <a:custGeom>
              <a:avLst/>
              <a:gdLst>
                <a:gd name="T0" fmla="*/ 0 w 1"/>
                <a:gd name="T1" fmla="*/ 2159 h 470"/>
                <a:gd name="T2" fmla="*/ 0 w 1"/>
                <a:gd name="T3" fmla="*/ 0 h 470"/>
                <a:gd name="T4" fmla="*/ 0 60000 65536"/>
                <a:gd name="T5" fmla="*/ 0 60000 65536"/>
                <a:gd name="T6" fmla="*/ 0 w 1"/>
                <a:gd name="T7" fmla="*/ 0 h 470"/>
                <a:gd name="T8" fmla="*/ 1 w 1"/>
                <a:gd name="T9" fmla="*/ 470 h 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0">
                  <a:moveTo>
                    <a:pt x="0" y="470"/>
                  </a:moveTo>
                  <a:lnTo>
                    <a:pt x="0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2" name="Line 138"/>
            <p:cNvSpPr>
              <a:spLocks noChangeShapeType="1"/>
            </p:cNvSpPr>
            <p:nvPr/>
          </p:nvSpPr>
          <p:spPr bwMode="auto">
            <a:xfrm flipV="1">
              <a:off x="3662" y="357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3" name="Line 139"/>
            <p:cNvSpPr>
              <a:spLocks noChangeShapeType="1"/>
            </p:cNvSpPr>
            <p:nvPr/>
          </p:nvSpPr>
          <p:spPr bwMode="auto">
            <a:xfrm>
              <a:off x="3662" y="14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4" name="Rectangle 140"/>
            <p:cNvSpPr>
              <a:spLocks noChangeArrowheads="1"/>
            </p:cNvSpPr>
            <p:nvPr/>
          </p:nvSpPr>
          <p:spPr bwMode="auto">
            <a:xfrm>
              <a:off x="3595" y="3600"/>
              <a:ext cx="16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55" name="Line 141"/>
            <p:cNvSpPr>
              <a:spLocks noChangeShapeType="1"/>
            </p:cNvSpPr>
            <p:nvPr/>
          </p:nvSpPr>
          <p:spPr bwMode="auto">
            <a:xfrm>
              <a:off x="965" y="3598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6" name="Line 142"/>
            <p:cNvSpPr>
              <a:spLocks noChangeShapeType="1"/>
            </p:cNvSpPr>
            <p:nvPr/>
          </p:nvSpPr>
          <p:spPr bwMode="auto">
            <a:xfrm flipH="1">
              <a:off x="3635" y="3598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7" name="Rectangle 143"/>
            <p:cNvSpPr>
              <a:spLocks noChangeArrowheads="1"/>
            </p:cNvSpPr>
            <p:nvPr/>
          </p:nvSpPr>
          <p:spPr bwMode="auto">
            <a:xfrm>
              <a:off x="720" y="3502"/>
              <a:ext cx="21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-70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58" name="Freeform 144"/>
            <p:cNvSpPr>
              <a:spLocks/>
            </p:cNvSpPr>
            <p:nvPr/>
          </p:nvSpPr>
          <p:spPr bwMode="auto">
            <a:xfrm>
              <a:off x="965" y="3533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59" name="Freeform 145"/>
            <p:cNvSpPr>
              <a:spLocks/>
            </p:cNvSpPr>
            <p:nvPr/>
          </p:nvSpPr>
          <p:spPr bwMode="auto">
            <a:xfrm>
              <a:off x="965" y="3474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0" name="Freeform 146"/>
            <p:cNvSpPr>
              <a:spLocks/>
            </p:cNvSpPr>
            <p:nvPr/>
          </p:nvSpPr>
          <p:spPr bwMode="auto">
            <a:xfrm>
              <a:off x="965" y="3409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1" name="Freeform 147"/>
            <p:cNvSpPr>
              <a:spLocks/>
            </p:cNvSpPr>
            <p:nvPr/>
          </p:nvSpPr>
          <p:spPr bwMode="auto">
            <a:xfrm>
              <a:off x="965" y="335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2" name="Freeform 148"/>
            <p:cNvSpPr>
              <a:spLocks/>
            </p:cNvSpPr>
            <p:nvPr/>
          </p:nvSpPr>
          <p:spPr bwMode="auto">
            <a:xfrm>
              <a:off x="965" y="3286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3" name="Freeform 149"/>
            <p:cNvSpPr>
              <a:spLocks/>
            </p:cNvSpPr>
            <p:nvPr/>
          </p:nvSpPr>
          <p:spPr bwMode="auto">
            <a:xfrm>
              <a:off x="965" y="3226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4" name="Freeform 150"/>
            <p:cNvSpPr>
              <a:spLocks/>
            </p:cNvSpPr>
            <p:nvPr/>
          </p:nvSpPr>
          <p:spPr bwMode="auto">
            <a:xfrm>
              <a:off x="965" y="3166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5" name="Freeform 151"/>
            <p:cNvSpPr>
              <a:spLocks/>
            </p:cNvSpPr>
            <p:nvPr/>
          </p:nvSpPr>
          <p:spPr bwMode="auto">
            <a:xfrm>
              <a:off x="965" y="3102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6" name="Freeform 152"/>
            <p:cNvSpPr>
              <a:spLocks/>
            </p:cNvSpPr>
            <p:nvPr/>
          </p:nvSpPr>
          <p:spPr bwMode="auto">
            <a:xfrm>
              <a:off x="965" y="304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7" name="Line 153"/>
            <p:cNvSpPr>
              <a:spLocks noChangeShapeType="1"/>
            </p:cNvSpPr>
            <p:nvPr/>
          </p:nvSpPr>
          <p:spPr bwMode="auto">
            <a:xfrm>
              <a:off x="965" y="3286"/>
              <a:ext cx="2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8" name="Line 154"/>
            <p:cNvSpPr>
              <a:spLocks noChangeShapeType="1"/>
            </p:cNvSpPr>
            <p:nvPr/>
          </p:nvSpPr>
          <p:spPr bwMode="auto">
            <a:xfrm flipH="1">
              <a:off x="3635" y="3286"/>
              <a:ext cx="27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69" name="Rectangle 155"/>
            <p:cNvSpPr>
              <a:spLocks noChangeArrowheads="1"/>
            </p:cNvSpPr>
            <p:nvPr/>
          </p:nvSpPr>
          <p:spPr bwMode="auto">
            <a:xfrm>
              <a:off x="720" y="3192"/>
              <a:ext cx="2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70" name="Freeform 156"/>
            <p:cNvSpPr>
              <a:spLocks/>
            </p:cNvSpPr>
            <p:nvPr/>
          </p:nvSpPr>
          <p:spPr bwMode="auto">
            <a:xfrm>
              <a:off x="965" y="3226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1" name="Freeform 157"/>
            <p:cNvSpPr>
              <a:spLocks/>
            </p:cNvSpPr>
            <p:nvPr/>
          </p:nvSpPr>
          <p:spPr bwMode="auto">
            <a:xfrm>
              <a:off x="965" y="3166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2" name="Freeform 158"/>
            <p:cNvSpPr>
              <a:spLocks/>
            </p:cNvSpPr>
            <p:nvPr/>
          </p:nvSpPr>
          <p:spPr bwMode="auto">
            <a:xfrm>
              <a:off x="965" y="3102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3" name="Freeform 159"/>
            <p:cNvSpPr>
              <a:spLocks/>
            </p:cNvSpPr>
            <p:nvPr/>
          </p:nvSpPr>
          <p:spPr bwMode="auto">
            <a:xfrm>
              <a:off x="965" y="304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4" name="Freeform 160"/>
            <p:cNvSpPr>
              <a:spLocks/>
            </p:cNvSpPr>
            <p:nvPr/>
          </p:nvSpPr>
          <p:spPr bwMode="auto">
            <a:xfrm>
              <a:off x="965" y="297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5" name="Freeform 161"/>
            <p:cNvSpPr>
              <a:spLocks/>
            </p:cNvSpPr>
            <p:nvPr/>
          </p:nvSpPr>
          <p:spPr bwMode="auto">
            <a:xfrm>
              <a:off x="965" y="291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6" name="Freeform 162"/>
            <p:cNvSpPr>
              <a:spLocks/>
            </p:cNvSpPr>
            <p:nvPr/>
          </p:nvSpPr>
          <p:spPr bwMode="auto">
            <a:xfrm>
              <a:off x="965" y="2853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7" name="Freeform 163"/>
            <p:cNvSpPr>
              <a:spLocks/>
            </p:cNvSpPr>
            <p:nvPr/>
          </p:nvSpPr>
          <p:spPr bwMode="auto">
            <a:xfrm>
              <a:off x="965" y="2794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8" name="Freeform 164"/>
            <p:cNvSpPr>
              <a:spLocks/>
            </p:cNvSpPr>
            <p:nvPr/>
          </p:nvSpPr>
          <p:spPr bwMode="auto">
            <a:xfrm>
              <a:off x="965" y="273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79" name="Line 165"/>
            <p:cNvSpPr>
              <a:spLocks noChangeShapeType="1"/>
            </p:cNvSpPr>
            <p:nvPr/>
          </p:nvSpPr>
          <p:spPr bwMode="auto">
            <a:xfrm>
              <a:off x="965" y="2978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0" name="Line 166"/>
            <p:cNvSpPr>
              <a:spLocks noChangeShapeType="1"/>
            </p:cNvSpPr>
            <p:nvPr/>
          </p:nvSpPr>
          <p:spPr bwMode="auto">
            <a:xfrm flipH="1">
              <a:off x="3635" y="2978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1" name="Rectangle 167"/>
            <p:cNvSpPr>
              <a:spLocks noChangeArrowheads="1"/>
            </p:cNvSpPr>
            <p:nvPr/>
          </p:nvSpPr>
          <p:spPr bwMode="auto">
            <a:xfrm>
              <a:off x="720" y="2883"/>
              <a:ext cx="2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-50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82" name="Freeform 168"/>
            <p:cNvSpPr>
              <a:spLocks/>
            </p:cNvSpPr>
            <p:nvPr/>
          </p:nvSpPr>
          <p:spPr bwMode="auto">
            <a:xfrm>
              <a:off x="965" y="291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3" name="Freeform 169"/>
            <p:cNvSpPr>
              <a:spLocks/>
            </p:cNvSpPr>
            <p:nvPr/>
          </p:nvSpPr>
          <p:spPr bwMode="auto">
            <a:xfrm>
              <a:off x="965" y="2853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4" name="Freeform 170"/>
            <p:cNvSpPr>
              <a:spLocks/>
            </p:cNvSpPr>
            <p:nvPr/>
          </p:nvSpPr>
          <p:spPr bwMode="auto">
            <a:xfrm>
              <a:off x="965" y="2794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5" name="Freeform 171"/>
            <p:cNvSpPr>
              <a:spLocks/>
            </p:cNvSpPr>
            <p:nvPr/>
          </p:nvSpPr>
          <p:spPr bwMode="auto">
            <a:xfrm>
              <a:off x="965" y="273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6" name="Freeform 172"/>
            <p:cNvSpPr>
              <a:spLocks/>
            </p:cNvSpPr>
            <p:nvPr/>
          </p:nvSpPr>
          <p:spPr bwMode="auto">
            <a:xfrm>
              <a:off x="965" y="267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7" name="Freeform 173"/>
            <p:cNvSpPr>
              <a:spLocks/>
            </p:cNvSpPr>
            <p:nvPr/>
          </p:nvSpPr>
          <p:spPr bwMode="auto">
            <a:xfrm>
              <a:off x="965" y="261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8" name="Freeform 174"/>
            <p:cNvSpPr>
              <a:spLocks/>
            </p:cNvSpPr>
            <p:nvPr/>
          </p:nvSpPr>
          <p:spPr bwMode="auto">
            <a:xfrm>
              <a:off x="965" y="2546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89" name="Freeform 175"/>
            <p:cNvSpPr>
              <a:spLocks/>
            </p:cNvSpPr>
            <p:nvPr/>
          </p:nvSpPr>
          <p:spPr bwMode="auto">
            <a:xfrm>
              <a:off x="965" y="2487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0" name="Freeform 176"/>
            <p:cNvSpPr>
              <a:spLocks/>
            </p:cNvSpPr>
            <p:nvPr/>
          </p:nvSpPr>
          <p:spPr bwMode="auto">
            <a:xfrm>
              <a:off x="965" y="2422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1" name="Line 177"/>
            <p:cNvSpPr>
              <a:spLocks noChangeShapeType="1"/>
            </p:cNvSpPr>
            <p:nvPr/>
          </p:nvSpPr>
          <p:spPr bwMode="auto">
            <a:xfrm>
              <a:off x="965" y="2670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2" name="Line 178"/>
            <p:cNvSpPr>
              <a:spLocks noChangeShapeType="1"/>
            </p:cNvSpPr>
            <p:nvPr/>
          </p:nvSpPr>
          <p:spPr bwMode="auto">
            <a:xfrm flipH="1">
              <a:off x="3635" y="2670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3" name="Rectangle 179"/>
            <p:cNvSpPr>
              <a:spLocks noChangeArrowheads="1"/>
            </p:cNvSpPr>
            <p:nvPr/>
          </p:nvSpPr>
          <p:spPr bwMode="auto">
            <a:xfrm>
              <a:off x="720" y="2574"/>
              <a:ext cx="21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994" name="Freeform 180"/>
            <p:cNvSpPr>
              <a:spLocks/>
            </p:cNvSpPr>
            <p:nvPr/>
          </p:nvSpPr>
          <p:spPr bwMode="auto">
            <a:xfrm>
              <a:off x="965" y="261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5" name="Freeform 181"/>
            <p:cNvSpPr>
              <a:spLocks/>
            </p:cNvSpPr>
            <p:nvPr/>
          </p:nvSpPr>
          <p:spPr bwMode="auto">
            <a:xfrm>
              <a:off x="965" y="2546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6" name="Freeform 182"/>
            <p:cNvSpPr>
              <a:spLocks/>
            </p:cNvSpPr>
            <p:nvPr/>
          </p:nvSpPr>
          <p:spPr bwMode="auto">
            <a:xfrm>
              <a:off x="965" y="2487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7" name="Freeform 183"/>
            <p:cNvSpPr>
              <a:spLocks/>
            </p:cNvSpPr>
            <p:nvPr/>
          </p:nvSpPr>
          <p:spPr bwMode="auto">
            <a:xfrm>
              <a:off x="965" y="2422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8" name="Freeform 184"/>
            <p:cNvSpPr>
              <a:spLocks/>
            </p:cNvSpPr>
            <p:nvPr/>
          </p:nvSpPr>
          <p:spPr bwMode="auto">
            <a:xfrm>
              <a:off x="965" y="236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99" name="Freeform 185"/>
            <p:cNvSpPr>
              <a:spLocks/>
            </p:cNvSpPr>
            <p:nvPr/>
          </p:nvSpPr>
          <p:spPr bwMode="auto">
            <a:xfrm>
              <a:off x="965" y="2303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0" name="Freeform 186"/>
            <p:cNvSpPr>
              <a:spLocks/>
            </p:cNvSpPr>
            <p:nvPr/>
          </p:nvSpPr>
          <p:spPr bwMode="auto">
            <a:xfrm>
              <a:off x="965" y="223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1" name="Freeform 187"/>
            <p:cNvSpPr>
              <a:spLocks/>
            </p:cNvSpPr>
            <p:nvPr/>
          </p:nvSpPr>
          <p:spPr bwMode="auto">
            <a:xfrm>
              <a:off x="965" y="2179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2" name="Freeform 188"/>
            <p:cNvSpPr>
              <a:spLocks/>
            </p:cNvSpPr>
            <p:nvPr/>
          </p:nvSpPr>
          <p:spPr bwMode="auto">
            <a:xfrm>
              <a:off x="965" y="211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3" name="Line 189"/>
            <p:cNvSpPr>
              <a:spLocks noChangeShapeType="1"/>
            </p:cNvSpPr>
            <p:nvPr/>
          </p:nvSpPr>
          <p:spPr bwMode="auto">
            <a:xfrm>
              <a:off x="965" y="2362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4" name="Line 190"/>
            <p:cNvSpPr>
              <a:spLocks noChangeShapeType="1"/>
            </p:cNvSpPr>
            <p:nvPr/>
          </p:nvSpPr>
          <p:spPr bwMode="auto">
            <a:xfrm flipH="1">
              <a:off x="3635" y="2362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5" name="Rectangle 191"/>
            <p:cNvSpPr>
              <a:spLocks noChangeArrowheads="1"/>
            </p:cNvSpPr>
            <p:nvPr/>
          </p:nvSpPr>
          <p:spPr bwMode="auto">
            <a:xfrm>
              <a:off x="720" y="2267"/>
              <a:ext cx="2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-30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006" name="Freeform 192"/>
            <p:cNvSpPr>
              <a:spLocks/>
            </p:cNvSpPr>
            <p:nvPr/>
          </p:nvSpPr>
          <p:spPr bwMode="auto">
            <a:xfrm>
              <a:off x="965" y="2303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7" name="Freeform 193"/>
            <p:cNvSpPr>
              <a:spLocks/>
            </p:cNvSpPr>
            <p:nvPr/>
          </p:nvSpPr>
          <p:spPr bwMode="auto">
            <a:xfrm>
              <a:off x="965" y="2238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8" name="Freeform 194"/>
            <p:cNvSpPr>
              <a:spLocks/>
            </p:cNvSpPr>
            <p:nvPr/>
          </p:nvSpPr>
          <p:spPr bwMode="auto">
            <a:xfrm>
              <a:off x="965" y="2179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09" name="Freeform 195"/>
            <p:cNvSpPr>
              <a:spLocks/>
            </p:cNvSpPr>
            <p:nvPr/>
          </p:nvSpPr>
          <p:spPr bwMode="auto">
            <a:xfrm>
              <a:off x="965" y="211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0" name="Freeform 196"/>
            <p:cNvSpPr>
              <a:spLocks/>
            </p:cNvSpPr>
            <p:nvPr/>
          </p:nvSpPr>
          <p:spPr bwMode="auto">
            <a:xfrm>
              <a:off x="965" y="2054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1" name="Freeform 197"/>
            <p:cNvSpPr>
              <a:spLocks/>
            </p:cNvSpPr>
            <p:nvPr/>
          </p:nvSpPr>
          <p:spPr bwMode="auto">
            <a:xfrm>
              <a:off x="965" y="199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2" name="Freeform 198"/>
            <p:cNvSpPr>
              <a:spLocks/>
            </p:cNvSpPr>
            <p:nvPr/>
          </p:nvSpPr>
          <p:spPr bwMode="auto">
            <a:xfrm>
              <a:off x="965" y="1931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3" name="Freeform 199"/>
            <p:cNvSpPr>
              <a:spLocks/>
            </p:cNvSpPr>
            <p:nvPr/>
          </p:nvSpPr>
          <p:spPr bwMode="auto">
            <a:xfrm>
              <a:off x="965" y="1871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4" name="Freeform 200"/>
            <p:cNvSpPr>
              <a:spLocks/>
            </p:cNvSpPr>
            <p:nvPr/>
          </p:nvSpPr>
          <p:spPr bwMode="auto">
            <a:xfrm>
              <a:off x="965" y="1807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5" name="Line 201"/>
            <p:cNvSpPr>
              <a:spLocks noChangeShapeType="1"/>
            </p:cNvSpPr>
            <p:nvPr/>
          </p:nvSpPr>
          <p:spPr bwMode="auto">
            <a:xfrm>
              <a:off x="965" y="205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6" name="Line 202"/>
            <p:cNvSpPr>
              <a:spLocks noChangeShapeType="1"/>
            </p:cNvSpPr>
            <p:nvPr/>
          </p:nvSpPr>
          <p:spPr bwMode="auto">
            <a:xfrm flipH="1">
              <a:off x="3635" y="2054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7" name="Rectangle 203"/>
            <p:cNvSpPr>
              <a:spLocks noChangeArrowheads="1"/>
            </p:cNvSpPr>
            <p:nvPr/>
          </p:nvSpPr>
          <p:spPr bwMode="auto">
            <a:xfrm>
              <a:off x="720" y="1960"/>
              <a:ext cx="21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018" name="Freeform 204"/>
            <p:cNvSpPr>
              <a:spLocks/>
            </p:cNvSpPr>
            <p:nvPr/>
          </p:nvSpPr>
          <p:spPr bwMode="auto">
            <a:xfrm>
              <a:off x="965" y="1990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19" name="Freeform 205"/>
            <p:cNvSpPr>
              <a:spLocks/>
            </p:cNvSpPr>
            <p:nvPr/>
          </p:nvSpPr>
          <p:spPr bwMode="auto">
            <a:xfrm>
              <a:off x="965" y="1931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0" name="Freeform 206"/>
            <p:cNvSpPr>
              <a:spLocks/>
            </p:cNvSpPr>
            <p:nvPr/>
          </p:nvSpPr>
          <p:spPr bwMode="auto">
            <a:xfrm>
              <a:off x="965" y="1871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1" name="Freeform 207"/>
            <p:cNvSpPr>
              <a:spLocks/>
            </p:cNvSpPr>
            <p:nvPr/>
          </p:nvSpPr>
          <p:spPr bwMode="auto">
            <a:xfrm>
              <a:off x="965" y="1807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2" name="Freeform 208"/>
            <p:cNvSpPr>
              <a:spLocks/>
            </p:cNvSpPr>
            <p:nvPr/>
          </p:nvSpPr>
          <p:spPr bwMode="auto">
            <a:xfrm>
              <a:off x="965" y="1747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3" name="Freeform 209"/>
            <p:cNvSpPr>
              <a:spLocks/>
            </p:cNvSpPr>
            <p:nvPr/>
          </p:nvSpPr>
          <p:spPr bwMode="auto">
            <a:xfrm>
              <a:off x="965" y="168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4" name="Freeform 210"/>
            <p:cNvSpPr>
              <a:spLocks/>
            </p:cNvSpPr>
            <p:nvPr/>
          </p:nvSpPr>
          <p:spPr bwMode="auto">
            <a:xfrm>
              <a:off x="965" y="1623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5" name="Freeform 211"/>
            <p:cNvSpPr>
              <a:spLocks/>
            </p:cNvSpPr>
            <p:nvPr/>
          </p:nvSpPr>
          <p:spPr bwMode="auto">
            <a:xfrm>
              <a:off x="965" y="1559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6" name="Freeform 212"/>
            <p:cNvSpPr>
              <a:spLocks/>
            </p:cNvSpPr>
            <p:nvPr/>
          </p:nvSpPr>
          <p:spPr bwMode="auto">
            <a:xfrm>
              <a:off x="965" y="1499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7" name="Line 213"/>
            <p:cNvSpPr>
              <a:spLocks noChangeShapeType="1"/>
            </p:cNvSpPr>
            <p:nvPr/>
          </p:nvSpPr>
          <p:spPr bwMode="auto">
            <a:xfrm>
              <a:off x="965" y="174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8" name="Line 214"/>
            <p:cNvSpPr>
              <a:spLocks noChangeShapeType="1"/>
            </p:cNvSpPr>
            <p:nvPr/>
          </p:nvSpPr>
          <p:spPr bwMode="auto">
            <a:xfrm flipH="1">
              <a:off x="3635" y="1747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9" name="Rectangle 215"/>
            <p:cNvSpPr>
              <a:spLocks noChangeArrowheads="1"/>
            </p:cNvSpPr>
            <p:nvPr/>
          </p:nvSpPr>
          <p:spPr bwMode="auto">
            <a:xfrm>
              <a:off x="720" y="1652"/>
              <a:ext cx="2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030" name="Freeform 216"/>
            <p:cNvSpPr>
              <a:spLocks/>
            </p:cNvSpPr>
            <p:nvPr/>
          </p:nvSpPr>
          <p:spPr bwMode="auto">
            <a:xfrm>
              <a:off x="965" y="1682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1" name="Freeform 217"/>
            <p:cNvSpPr>
              <a:spLocks/>
            </p:cNvSpPr>
            <p:nvPr/>
          </p:nvSpPr>
          <p:spPr bwMode="auto">
            <a:xfrm>
              <a:off x="965" y="1623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2" name="Freeform 218"/>
            <p:cNvSpPr>
              <a:spLocks/>
            </p:cNvSpPr>
            <p:nvPr/>
          </p:nvSpPr>
          <p:spPr bwMode="auto">
            <a:xfrm>
              <a:off x="965" y="1559"/>
              <a:ext cx="2697" cy="0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3" name="Freeform 219"/>
            <p:cNvSpPr>
              <a:spLocks/>
            </p:cNvSpPr>
            <p:nvPr/>
          </p:nvSpPr>
          <p:spPr bwMode="auto">
            <a:xfrm>
              <a:off x="965" y="1499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4" name="Freeform 220"/>
            <p:cNvSpPr>
              <a:spLocks/>
            </p:cNvSpPr>
            <p:nvPr/>
          </p:nvSpPr>
          <p:spPr bwMode="auto">
            <a:xfrm>
              <a:off x="965" y="1439"/>
              <a:ext cx="2697" cy="1"/>
            </a:xfrm>
            <a:custGeom>
              <a:avLst/>
              <a:gdLst>
                <a:gd name="T0" fmla="*/ 0 w 595"/>
                <a:gd name="T1" fmla="*/ 0 h 1"/>
                <a:gd name="T2" fmla="*/ 2697 w 595"/>
                <a:gd name="T3" fmla="*/ 0 h 1"/>
                <a:gd name="T4" fmla="*/ 0 60000 65536"/>
                <a:gd name="T5" fmla="*/ 0 60000 65536"/>
                <a:gd name="T6" fmla="*/ 0 w 595"/>
                <a:gd name="T7" fmla="*/ 0 h 1"/>
                <a:gd name="T8" fmla="*/ 595 w 5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5" name="Line 221"/>
            <p:cNvSpPr>
              <a:spLocks noChangeShapeType="1"/>
            </p:cNvSpPr>
            <p:nvPr/>
          </p:nvSpPr>
          <p:spPr bwMode="auto">
            <a:xfrm>
              <a:off x="965" y="1439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6" name="Line 222"/>
            <p:cNvSpPr>
              <a:spLocks noChangeShapeType="1"/>
            </p:cNvSpPr>
            <p:nvPr/>
          </p:nvSpPr>
          <p:spPr bwMode="auto">
            <a:xfrm flipH="1">
              <a:off x="3635" y="1439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7" name="Rectangle 223"/>
            <p:cNvSpPr>
              <a:spLocks noChangeArrowheads="1"/>
            </p:cNvSpPr>
            <p:nvPr/>
          </p:nvSpPr>
          <p:spPr bwMode="auto">
            <a:xfrm>
              <a:off x="832" y="1344"/>
              <a:ext cx="8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038" name="Line 224"/>
            <p:cNvSpPr>
              <a:spLocks noChangeShapeType="1"/>
            </p:cNvSpPr>
            <p:nvPr/>
          </p:nvSpPr>
          <p:spPr bwMode="auto">
            <a:xfrm>
              <a:off x="965" y="1439"/>
              <a:ext cx="269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39" name="Freeform 225"/>
            <p:cNvSpPr>
              <a:spLocks/>
            </p:cNvSpPr>
            <p:nvPr/>
          </p:nvSpPr>
          <p:spPr bwMode="auto">
            <a:xfrm>
              <a:off x="965" y="1439"/>
              <a:ext cx="2697" cy="2159"/>
            </a:xfrm>
            <a:custGeom>
              <a:avLst/>
              <a:gdLst>
                <a:gd name="T0" fmla="*/ 0 w 595"/>
                <a:gd name="T1" fmla="*/ 2159 h 470"/>
                <a:gd name="T2" fmla="*/ 2697 w 595"/>
                <a:gd name="T3" fmla="*/ 2159 h 470"/>
                <a:gd name="T4" fmla="*/ 2697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40" name="Line 226"/>
            <p:cNvSpPr>
              <a:spLocks noChangeShapeType="1"/>
            </p:cNvSpPr>
            <p:nvPr/>
          </p:nvSpPr>
          <p:spPr bwMode="auto">
            <a:xfrm flipV="1">
              <a:off x="965" y="1439"/>
              <a:ext cx="1" cy="215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041" name="Group 227"/>
            <p:cNvGrpSpPr>
              <a:grpSpLocks/>
            </p:cNvGrpSpPr>
            <p:nvPr/>
          </p:nvGrpSpPr>
          <p:grpSpPr bwMode="auto">
            <a:xfrm>
              <a:off x="965" y="1439"/>
              <a:ext cx="2697" cy="1998"/>
              <a:chOff x="657" y="153"/>
              <a:chExt cx="4217" cy="3082"/>
            </a:xfrm>
          </p:grpSpPr>
          <p:sp>
            <p:nvSpPr>
              <p:cNvPr id="35042" name="Freeform 228"/>
              <p:cNvSpPr>
                <a:spLocks/>
              </p:cNvSpPr>
              <p:nvPr/>
            </p:nvSpPr>
            <p:spPr bwMode="auto">
              <a:xfrm>
                <a:off x="657" y="153"/>
                <a:ext cx="2813" cy="2842"/>
              </a:xfrm>
              <a:custGeom>
                <a:avLst/>
                <a:gdLst>
                  <a:gd name="T0" fmla="*/ 42 w 2813"/>
                  <a:gd name="T1" fmla="*/ 248 h 2842"/>
                  <a:gd name="T2" fmla="*/ 106 w 2813"/>
                  <a:gd name="T3" fmla="*/ 545 h 2842"/>
                  <a:gd name="T4" fmla="*/ 177 w 2813"/>
                  <a:gd name="T5" fmla="*/ 786 h 2842"/>
                  <a:gd name="T6" fmla="*/ 241 w 2813"/>
                  <a:gd name="T7" fmla="*/ 985 h 2842"/>
                  <a:gd name="T8" fmla="*/ 304 w 2813"/>
                  <a:gd name="T9" fmla="*/ 1155 h 2842"/>
                  <a:gd name="T10" fmla="*/ 375 w 2813"/>
                  <a:gd name="T11" fmla="*/ 1297 h 2842"/>
                  <a:gd name="T12" fmla="*/ 439 w 2813"/>
                  <a:gd name="T13" fmla="*/ 1424 h 2842"/>
                  <a:gd name="T14" fmla="*/ 510 w 2813"/>
                  <a:gd name="T15" fmla="*/ 1538 h 2842"/>
                  <a:gd name="T16" fmla="*/ 574 w 2813"/>
                  <a:gd name="T17" fmla="*/ 1637 h 2842"/>
                  <a:gd name="T18" fmla="*/ 638 w 2813"/>
                  <a:gd name="T19" fmla="*/ 1722 h 2842"/>
                  <a:gd name="T20" fmla="*/ 708 w 2813"/>
                  <a:gd name="T21" fmla="*/ 1807 h 2842"/>
                  <a:gd name="T22" fmla="*/ 772 w 2813"/>
                  <a:gd name="T23" fmla="*/ 1878 h 2842"/>
                  <a:gd name="T24" fmla="*/ 843 w 2813"/>
                  <a:gd name="T25" fmla="*/ 1942 h 2842"/>
                  <a:gd name="T26" fmla="*/ 907 w 2813"/>
                  <a:gd name="T27" fmla="*/ 2005 h 2842"/>
                  <a:gd name="T28" fmla="*/ 971 w 2813"/>
                  <a:gd name="T29" fmla="*/ 2062 h 2842"/>
                  <a:gd name="T30" fmla="*/ 1042 w 2813"/>
                  <a:gd name="T31" fmla="*/ 2119 h 2842"/>
                  <a:gd name="T32" fmla="*/ 1105 w 2813"/>
                  <a:gd name="T33" fmla="*/ 2168 h 2842"/>
                  <a:gd name="T34" fmla="*/ 1169 w 2813"/>
                  <a:gd name="T35" fmla="*/ 2211 h 2842"/>
                  <a:gd name="T36" fmla="*/ 1240 w 2813"/>
                  <a:gd name="T37" fmla="*/ 2253 h 2842"/>
                  <a:gd name="T38" fmla="*/ 1304 w 2813"/>
                  <a:gd name="T39" fmla="*/ 2296 h 2842"/>
                  <a:gd name="T40" fmla="*/ 1375 w 2813"/>
                  <a:gd name="T41" fmla="*/ 2331 h 2842"/>
                  <a:gd name="T42" fmla="*/ 1438 w 2813"/>
                  <a:gd name="T43" fmla="*/ 2367 h 2842"/>
                  <a:gd name="T44" fmla="*/ 1502 w 2813"/>
                  <a:gd name="T45" fmla="*/ 2402 h 2842"/>
                  <a:gd name="T46" fmla="*/ 1573 w 2813"/>
                  <a:gd name="T47" fmla="*/ 2438 h 2842"/>
                  <a:gd name="T48" fmla="*/ 1637 w 2813"/>
                  <a:gd name="T49" fmla="*/ 2466 h 2842"/>
                  <a:gd name="T50" fmla="*/ 1708 w 2813"/>
                  <a:gd name="T51" fmla="*/ 2494 h 2842"/>
                  <a:gd name="T52" fmla="*/ 1772 w 2813"/>
                  <a:gd name="T53" fmla="*/ 2523 h 2842"/>
                  <a:gd name="T54" fmla="*/ 1835 w 2813"/>
                  <a:gd name="T55" fmla="*/ 2551 h 2842"/>
                  <a:gd name="T56" fmla="*/ 1906 w 2813"/>
                  <a:gd name="T57" fmla="*/ 2579 h 2842"/>
                  <a:gd name="T58" fmla="*/ 1970 w 2813"/>
                  <a:gd name="T59" fmla="*/ 2601 h 2842"/>
                  <a:gd name="T60" fmla="*/ 2041 w 2813"/>
                  <a:gd name="T61" fmla="*/ 2622 h 2842"/>
                  <a:gd name="T62" fmla="*/ 2105 w 2813"/>
                  <a:gd name="T63" fmla="*/ 2643 h 2842"/>
                  <a:gd name="T64" fmla="*/ 2168 w 2813"/>
                  <a:gd name="T65" fmla="*/ 2671 h 2842"/>
                  <a:gd name="T66" fmla="*/ 2239 w 2813"/>
                  <a:gd name="T67" fmla="*/ 2686 h 2842"/>
                  <a:gd name="T68" fmla="*/ 2303 w 2813"/>
                  <a:gd name="T69" fmla="*/ 2707 h 2842"/>
                  <a:gd name="T70" fmla="*/ 2374 w 2813"/>
                  <a:gd name="T71" fmla="*/ 2728 h 2842"/>
                  <a:gd name="T72" fmla="*/ 2438 w 2813"/>
                  <a:gd name="T73" fmla="*/ 2749 h 2842"/>
                  <a:gd name="T74" fmla="*/ 2502 w 2813"/>
                  <a:gd name="T75" fmla="*/ 2764 h 2842"/>
                  <a:gd name="T76" fmla="*/ 2572 w 2813"/>
                  <a:gd name="T77" fmla="*/ 2785 h 2842"/>
                  <a:gd name="T78" fmla="*/ 2636 w 2813"/>
                  <a:gd name="T79" fmla="*/ 2799 h 2842"/>
                  <a:gd name="T80" fmla="*/ 2707 w 2813"/>
                  <a:gd name="T81" fmla="*/ 2813 h 2842"/>
                  <a:gd name="T82" fmla="*/ 2771 w 2813"/>
                  <a:gd name="T83" fmla="*/ 2827 h 284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13"/>
                  <a:gd name="T127" fmla="*/ 0 h 2842"/>
                  <a:gd name="T128" fmla="*/ 2813 w 2813"/>
                  <a:gd name="T129" fmla="*/ 2842 h 284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13" h="2842">
                    <a:moveTo>
                      <a:pt x="0" y="0"/>
                    </a:moveTo>
                    <a:lnTo>
                      <a:pt x="21" y="127"/>
                    </a:lnTo>
                    <a:lnTo>
                      <a:pt x="42" y="248"/>
                    </a:lnTo>
                    <a:lnTo>
                      <a:pt x="64" y="354"/>
                    </a:lnTo>
                    <a:lnTo>
                      <a:pt x="85" y="453"/>
                    </a:lnTo>
                    <a:lnTo>
                      <a:pt x="106" y="545"/>
                    </a:lnTo>
                    <a:lnTo>
                      <a:pt x="127" y="630"/>
                    </a:lnTo>
                    <a:lnTo>
                      <a:pt x="149" y="708"/>
                    </a:lnTo>
                    <a:lnTo>
                      <a:pt x="177" y="786"/>
                    </a:lnTo>
                    <a:lnTo>
                      <a:pt x="198" y="857"/>
                    </a:lnTo>
                    <a:lnTo>
                      <a:pt x="219" y="921"/>
                    </a:lnTo>
                    <a:lnTo>
                      <a:pt x="241" y="985"/>
                    </a:lnTo>
                    <a:lnTo>
                      <a:pt x="262" y="1041"/>
                    </a:lnTo>
                    <a:lnTo>
                      <a:pt x="283" y="1098"/>
                    </a:lnTo>
                    <a:lnTo>
                      <a:pt x="304" y="1155"/>
                    </a:lnTo>
                    <a:lnTo>
                      <a:pt x="326" y="1204"/>
                    </a:lnTo>
                    <a:lnTo>
                      <a:pt x="354" y="1254"/>
                    </a:lnTo>
                    <a:lnTo>
                      <a:pt x="375" y="1297"/>
                    </a:lnTo>
                    <a:lnTo>
                      <a:pt x="397" y="1339"/>
                    </a:lnTo>
                    <a:lnTo>
                      <a:pt x="418" y="1382"/>
                    </a:lnTo>
                    <a:lnTo>
                      <a:pt x="439" y="1424"/>
                    </a:lnTo>
                    <a:lnTo>
                      <a:pt x="460" y="1460"/>
                    </a:lnTo>
                    <a:lnTo>
                      <a:pt x="482" y="1502"/>
                    </a:lnTo>
                    <a:lnTo>
                      <a:pt x="510" y="1538"/>
                    </a:lnTo>
                    <a:lnTo>
                      <a:pt x="531" y="1566"/>
                    </a:lnTo>
                    <a:lnTo>
                      <a:pt x="553" y="1601"/>
                    </a:lnTo>
                    <a:lnTo>
                      <a:pt x="574" y="1637"/>
                    </a:lnTo>
                    <a:lnTo>
                      <a:pt x="595" y="1665"/>
                    </a:lnTo>
                    <a:lnTo>
                      <a:pt x="616" y="1693"/>
                    </a:lnTo>
                    <a:lnTo>
                      <a:pt x="638" y="1722"/>
                    </a:lnTo>
                    <a:lnTo>
                      <a:pt x="659" y="1750"/>
                    </a:lnTo>
                    <a:lnTo>
                      <a:pt x="687" y="1779"/>
                    </a:lnTo>
                    <a:lnTo>
                      <a:pt x="708" y="1807"/>
                    </a:lnTo>
                    <a:lnTo>
                      <a:pt x="730" y="1828"/>
                    </a:lnTo>
                    <a:lnTo>
                      <a:pt x="751" y="1856"/>
                    </a:lnTo>
                    <a:lnTo>
                      <a:pt x="772" y="1878"/>
                    </a:lnTo>
                    <a:lnTo>
                      <a:pt x="793" y="1899"/>
                    </a:lnTo>
                    <a:lnTo>
                      <a:pt x="815" y="1920"/>
                    </a:lnTo>
                    <a:lnTo>
                      <a:pt x="843" y="1942"/>
                    </a:lnTo>
                    <a:lnTo>
                      <a:pt x="864" y="1963"/>
                    </a:lnTo>
                    <a:lnTo>
                      <a:pt x="886" y="1984"/>
                    </a:lnTo>
                    <a:lnTo>
                      <a:pt x="907" y="2005"/>
                    </a:lnTo>
                    <a:lnTo>
                      <a:pt x="928" y="2027"/>
                    </a:lnTo>
                    <a:lnTo>
                      <a:pt x="949" y="2041"/>
                    </a:lnTo>
                    <a:lnTo>
                      <a:pt x="971" y="2062"/>
                    </a:lnTo>
                    <a:lnTo>
                      <a:pt x="992" y="2083"/>
                    </a:lnTo>
                    <a:lnTo>
                      <a:pt x="1020" y="2097"/>
                    </a:lnTo>
                    <a:lnTo>
                      <a:pt x="1042" y="2119"/>
                    </a:lnTo>
                    <a:lnTo>
                      <a:pt x="1063" y="2133"/>
                    </a:lnTo>
                    <a:lnTo>
                      <a:pt x="1084" y="2147"/>
                    </a:lnTo>
                    <a:lnTo>
                      <a:pt x="1105" y="2168"/>
                    </a:lnTo>
                    <a:lnTo>
                      <a:pt x="1127" y="2182"/>
                    </a:lnTo>
                    <a:lnTo>
                      <a:pt x="1148" y="2197"/>
                    </a:lnTo>
                    <a:lnTo>
                      <a:pt x="1169" y="2211"/>
                    </a:lnTo>
                    <a:lnTo>
                      <a:pt x="1197" y="2225"/>
                    </a:lnTo>
                    <a:lnTo>
                      <a:pt x="1219" y="2239"/>
                    </a:lnTo>
                    <a:lnTo>
                      <a:pt x="1240" y="2253"/>
                    </a:lnTo>
                    <a:lnTo>
                      <a:pt x="1261" y="2268"/>
                    </a:lnTo>
                    <a:lnTo>
                      <a:pt x="1283" y="2282"/>
                    </a:lnTo>
                    <a:lnTo>
                      <a:pt x="1304" y="2296"/>
                    </a:lnTo>
                    <a:lnTo>
                      <a:pt x="1325" y="2310"/>
                    </a:lnTo>
                    <a:lnTo>
                      <a:pt x="1353" y="2324"/>
                    </a:lnTo>
                    <a:lnTo>
                      <a:pt x="1375" y="2331"/>
                    </a:lnTo>
                    <a:lnTo>
                      <a:pt x="1396" y="2345"/>
                    </a:lnTo>
                    <a:lnTo>
                      <a:pt x="1417" y="2360"/>
                    </a:lnTo>
                    <a:lnTo>
                      <a:pt x="1438" y="2367"/>
                    </a:lnTo>
                    <a:lnTo>
                      <a:pt x="1460" y="2381"/>
                    </a:lnTo>
                    <a:lnTo>
                      <a:pt x="1481" y="2395"/>
                    </a:lnTo>
                    <a:lnTo>
                      <a:pt x="1502" y="2402"/>
                    </a:lnTo>
                    <a:lnTo>
                      <a:pt x="1531" y="2416"/>
                    </a:lnTo>
                    <a:lnTo>
                      <a:pt x="1552" y="2423"/>
                    </a:lnTo>
                    <a:lnTo>
                      <a:pt x="1573" y="2438"/>
                    </a:lnTo>
                    <a:lnTo>
                      <a:pt x="1594" y="2445"/>
                    </a:lnTo>
                    <a:lnTo>
                      <a:pt x="1616" y="2459"/>
                    </a:lnTo>
                    <a:lnTo>
                      <a:pt x="1637" y="2466"/>
                    </a:lnTo>
                    <a:lnTo>
                      <a:pt x="1658" y="2480"/>
                    </a:lnTo>
                    <a:lnTo>
                      <a:pt x="1686" y="2487"/>
                    </a:lnTo>
                    <a:lnTo>
                      <a:pt x="1708" y="2494"/>
                    </a:lnTo>
                    <a:lnTo>
                      <a:pt x="1729" y="2508"/>
                    </a:lnTo>
                    <a:lnTo>
                      <a:pt x="1750" y="2516"/>
                    </a:lnTo>
                    <a:lnTo>
                      <a:pt x="1772" y="2523"/>
                    </a:lnTo>
                    <a:lnTo>
                      <a:pt x="1793" y="2537"/>
                    </a:lnTo>
                    <a:lnTo>
                      <a:pt x="1814" y="2544"/>
                    </a:lnTo>
                    <a:lnTo>
                      <a:pt x="1835" y="2551"/>
                    </a:lnTo>
                    <a:lnTo>
                      <a:pt x="1864" y="2558"/>
                    </a:lnTo>
                    <a:lnTo>
                      <a:pt x="1885" y="2565"/>
                    </a:lnTo>
                    <a:lnTo>
                      <a:pt x="1906" y="2579"/>
                    </a:lnTo>
                    <a:lnTo>
                      <a:pt x="1927" y="2586"/>
                    </a:lnTo>
                    <a:lnTo>
                      <a:pt x="1949" y="2594"/>
                    </a:lnTo>
                    <a:lnTo>
                      <a:pt x="1970" y="2601"/>
                    </a:lnTo>
                    <a:lnTo>
                      <a:pt x="1991" y="2608"/>
                    </a:lnTo>
                    <a:lnTo>
                      <a:pt x="2013" y="2615"/>
                    </a:lnTo>
                    <a:lnTo>
                      <a:pt x="2041" y="2622"/>
                    </a:lnTo>
                    <a:lnTo>
                      <a:pt x="2062" y="2629"/>
                    </a:lnTo>
                    <a:lnTo>
                      <a:pt x="2083" y="2636"/>
                    </a:lnTo>
                    <a:lnTo>
                      <a:pt x="2105" y="2643"/>
                    </a:lnTo>
                    <a:lnTo>
                      <a:pt x="2126" y="2657"/>
                    </a:lnTo>
                    <a:lnTo>
                      <a:pt x="2147" y="2664"/>
                    </a:lnTo>
                    <a:lnTo>
                      <a:pt x="2168" y="2671"/>
                    </a:lnTo>
                    <a:lnTo>
                      <a:pt x="2197" y="2671"/>
                    </a:lnTo>
                    <a:lnTo>
                      <a:pt x="2218" y="2679"/>
                    </a:lnTo>
                    <a:lnTo>
                      <a:pt x="2239" y="2686"/>
                    </a:lnTo>
                    <a:lnTo>
                      <a:pt x="2261" y="2693"/>
                    </a:lnTo>
                    <a:lnTo>
                      <a:pt x="2282" y="2700"/>
                    </a:lnTo>
                    <a:lnTo>
                      <a:pt x="2303" y="2707"/>
                    </a:lnTo>
                    <a:lnTo>
                      <a:pt x="2324" y="2714"/>
                    </a:lnTo>
                    <a:lnTo>
                      <a:pt x="2346" y="2721"/>
                    </a:lnTo>
                    <a:lnTo>
                      <a:pt x="2374" y="2728"/>
                    </a:lnTo>
                    <a:lnTo>
                      <a:pt x="2395" y="2735"/>
                    </a:lnTo>
                    <a:lnTo>
                      <a:pt x="2416" y="2742"/>
                    </a:lnTo>
                    <a:lnTo>
                      <a:pt x="2438" y="2749"/>
                    </a:lnTo>
                    <a:lnTo>
                      <a:pt x="2459" y="2749"/>
                    </a:lnTo>
                    <a:lnTo>
                      <a:pt x="2480" y="2757"/>
                    </a:lnTo>
                    <a:lnTo>
                      <a:pt x="2502" y="2764"/>
                    </a:lnTo>
                    <a:lnTo>
                      <a:pt x="2523" y="2771"/>
                    </a:lnTo>
                    <a:lnTo>
                      <a:pt x="2551" y="2778"/>
                    </a:lnTo>
                    <a:lnTo>
                      <a:pt x="2572" y="2785"/>
                    </a:lnTo>
                    <a:lnTo>
                      <a:pt x="2594" y="2785"/>
                    </a:lnTo>
                    <a:lnTo>
                      <a:pt x="2615" y="2792"/>
                    </a:lnTo>
                    <a:lnTo>
                      <a:pt x="2636" y="2799"/>
                    </a:lnTo>
                    <a:lnTo>
                      <a:pt x="2657" y="2806"/>
                    </a:lnTo>
                    <a:lnTo>
                      <a:pt x="2679" y="2806"/>
                    </a:lnTo>
                    <a:lnTo>
                      <a:pt x="2707" y="2813"/>
                    </a:lnTo>
                    <a:lnTo>
                      <a:pt x="2728" y="2820"/>
                    </a:lnTo>
                    <a:lnTo>
                      <a:pt x="2750" y="2827"/>
                    </a:lnTo>
                    <a:lnTo>
                      <a:pt x="2771" y="2827"/>
                    </a:lnTo>
                    <a:lnTo>
                      <a:pt x="2792" y="2834"/>
                    </a:lnTo>
                    <a:lnTo>
                      <a:pt x="2813" y="2842"/>
                    </a:lnTo>
                  </a:path>
                </a:pathLst>
              </a:custGeom>
              <a:noFill/>
              <a:ln w="222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43" name="Freeform 229"/>
              <p:cNvSpPr>
                <a:spLocks/>
              </p:cNvSpPr>
              <p:nvPr/>
            </p:nvSpPr>
            <p:spPr bwMode="auto">
              <a:xfrm>
                <a:off x="3470" y="2995"/>
                <a:ext cx="1404" cy="240"/>
              </a:xfrm>
              <a:custGeom>
                <a:avLst/>
                <a:gdLst>
                  <a:gd name="T0" fmla="*/ 22 w 1404"/>
                  <a:gd name="T1" fmla="*/ 0 h 240"/>
                  <a:gd name="T2" fmla="*/ 71 w 1404"/>
                  <a:gd name="T3" fmla="*/ 14 h 240"/>
                  <a:gd name="T4" fmla="*/ 114 w 1404"/>
                  <a:gd name="T5" fmla="*/ 21 h 240"/>
                  <a:gd name="T6" fmla="*/ 156 w 1404"/>
                  <a:gd name="T7" fmla="*/ 35 h 240"/>
                  <a:gd name="T8" fmla="*/ 199 w 1404"/>
                  <a:gd name="T9" fmla="*/ 42 h 240"/>
                  <a:gd name="T10" fmla="*/ 248 w 1404"/>
                  <a:gd name="T11" fmla="*/ 49 h 240"/>
                  <a:gd name="T12" fmla="*/ 291 w 1404"/>
                  <a:gd name="T13" fmla="*/ 56 h 240"/>
                  <a:gd name="T14" fmla="*/ 333 w 1404"/>
                  <a:gd name="T15" fmla="*/ 70 h 240"/>
                  <a:gd name="T16" fmla="*/ 376 w 1404"/>
                  <a:gd name="T17" fmla="*/ 77 h 240"/>
                  <a:gd name="T18" fmla="*/ 426 w 1404"/>
                  <a:gd name="T19" fmla="*/ 85 h 240"/>
                  <a:gd name="T20" fmla="*/ 468 w 1404"/>
                  <a:gd name="T21" fmla="*/ 92 h 240"/>
                  <a:gd name="T22" fmla="*/ 511 w 1404"/>
                  <a:gd name="T23" fmla="*/ 99 h 240"/>
                  <a:gd name="T24" fmla="*/ 560 w 1404"/>
                  <a:gd name="T25" fmla="*/ 106 h 240"/>
                  <a:gd name="T26" fmla="*/ 603 w 1404"/>
                  <a:gd name="T27" fmla="*/ 120 h 240"/>
                  <a:gd name="T28" fmla="*/ 645 w 1404"/>
                  <a:gd name="T29" fmla="*/ 127 h 240"/>
                  <a:gd name="T30" fmla="*/ 688 w 1404"/>
                  <a:gd name="T31" fmla="*/ 134 h 240"/>
                  <a:gd name="T32" fmla="*/ 737 w 1404"/>
                  <a:gd name="T33" fmla="*/ 141 h 240"/>
                  <a:gd name="T34" fmla="*/ 780 w 1404"/>
                  <a:gd name="T35" fmla="*/ 148 h 240"/>
                  <a:gd name="T36" fmla="*/ 822 w 1404"/>
                  <a:gd name="T37" fmla="*/ 155 h 240"/>
                  <a:gd name="T38" fmla="*/ 865 w 1404"/>
                  <a:gd name="T39" fmla="*/ 163 h 240"/>
                  <a:gd name="T40" fmla="*/ 915 w 1404"/>
                  <a:gd name="T41" fmla="*/ 170 h 240"/>
                  <a:gd name="T42" fmla="*/ 957 w 1404"/>
                  <a:gd name="T43" fmla="*/ 177 h 240"/>
                  <a:gd name="T44" fmla="*/ 1000 w 1404"/>
                  <a:gd name="T45" fmla="*/ 184 h 240"/>
                  <a:gd name="T46" fmla="*/ 1042 w 1404"/>
                  <a:gd name="T47" fmla="*/ 191 h 240"/>
                  <a:gd name="T48" fmla="*/ 1092 w 1404"/>
                  <a:gd name="T49" fmla="*/ 191 h 240"/>
                  <a:gd name="T50" fmla="*/ 1134 w 1404"/>
                  <a:gd name="T51" fmla="*/ 198 h 240"/>
                  <a:gd name="T52" fmla="*/ 1177 w 1404"/>
                  <a:gd name="T53" fmla="*/ 205 h 240"/>
                  <a:gd name="T54" fmla="*/ 1219 w 1404"/>
                  <a:gd name="T55" fmla="*/ 212 h 240"/>
                  <a:gd name="T56" fmla="*/ 1269 w 1404"/>
                  <a:gd name="T57" fmla="*/ 219 h 240"/>
                  <a:gd name="T58" fmla="*/ 1311 w 1404"/>
                  <a:gd name="T59" fmla="*/ 226 h 240"/>
                  <a:gd name="T60" fmla="*/ 1354 w 1404"/>
                  <a:gd name="T61" fmla="*/ 233 h 240"/>
                  <a:gd name="T62" fmla="*/ 1404 w 1404"/>
                  <a:gd name="T63" fmla="*/ 240 h 24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404"/>
                  <a:gd name="T97" fmla="*/ 0 h 240"/>
                  <a:gd name="T98" fmla="*/ 1404 w 1404"/>
                  <a:gd name="T99" fmla="*/ 240 h 24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404" h="240">
                    <a:moveTo>
                      <a:pt x="0" y="0"/>
                    </a:moveTo>
                    <a:lnTo>
                      <a:pt x="22" y="0"/>
                    </a:lnTo>
                    <a:lnTo>
                      <a:pt x="43" y="7"/>
                    </a:lnTo>
                    <a:lnTo>
                      <a:pt x="71" y="14"/>
                    </a:lnTo>
                    <a:lnTo>
                      <a:pt x="92" y="21"/>
                    </a:lnTo>
                    <a:lnTo>
                      <a:pt x="114" y="21"/>
                    </a:lnTo>
                    <a:lnTo>
                      <a:pt x="135" y="28"/>
                    </a:lnTo>
                    <a:lnTo>
                      <a:pt x="156" y="35"/>
                    </a:lnTo>
                    <a:lnTo>
                      <a:pt x="178" y="35"/>
                    </a:lnTo>
                    <a:lnTo>
                      <a:pt x="199" y="42"/>
                    </a:lnTo>
                    <a:lnTo>
                      <a:pt x="227" y="42"/>
                    </a:lnTo>
                    <a:lnTo>
                      <a:pt x="248" y="49"/>
                    </a:lnTo>
                    <a:lnTo>
                      <a:pt x="270" y="56"/>
                    </a:lnTo>
                    <a:lnTo>
                      <a:pt x="291" y="56"/>
                    </a:lnTo>
                    <a:lnTo>
                      <a:pt x="312" y="63"/>
                    </a:lnTo>
                    <a:lnTo>
                      <a:pt x="333" y="70"/>
                    </a:lnTo>
                    <a:lnTo>
                      <a:pt x="355" y="70"/>
                    </a:lnTo>
                    <a:lnTo>
                      <a:pt x="376" y="77"/>
                    </a:lnTo>
                    <a:lnTo>
                      <a:pt x="404" y="77"/>
                    </a:lnTo>
                    <a:lnTo>
                      <a:pt x="426" y="85"/>
                    </a:lnTo>
                    <a:lnTo>
                      <a:pt x="447" y="92"/>
                    </a:lnTo>
                    <a:lnTo>
                      <a:pt x="468" y="92"/>
                    </a:lnTo>
                    <a:lnTo>
                      <a:pt x="489" y="99"/>
                    </a:lnTo>
                    <a:lnTo>
                      <a:pt x="511" y="99"/>
                    </a:lnTo>
                    <a:lnTo>
                      <a:pt x="532" y="106"/>
                    </a:lnTo>
                    <a:lnTo>
                      <a:pt x="560" y="106"/>
                    </a:lnTo>
                    <a:lnTo>
                      <a:pt x="582" y="113"/>
                    </a:lnTo>
                    <a:lnTo>
                      <a:pt x="603" y="120"/>
                    </a:lnTo>
                    <a:lnTo>
                      <a:pt x="624" y="120"/>
                    </a:lnTo>
                    <a:lnTo>
                      <a:pt x="645" y="127"/>
                    </a:lnTo>
                    <a:lnTo>
                      <a:pt x="667" y="127"/>
                    </a:lnTo>
                    <a:lnTo>
                      <a:pt x="688" y="134"/>
                    </a:lnTo>
                    <a:lnTo>
                      <a:pt x="709" y="134"/>
                    </a:lnTo>
                    <a:lnTo>
                      <a:pt x="737" y="141"/>
                    </a:lnTo>
                    <a:lnTo>
                      <a:pt x="759" y="141"/>
                    </a:lnTo>
                    <a:lnTo>
                      <a:pt x="780" y="148"/>
                    </a:lnTo>
                    <a:lnTo>
                      <a:pt x="801" y="148"/>
                    </a:lnTo>
                    <a:lnTo>
                      <a:pt x="822" y="155"/>
                    </a:lnTo>
                    <a:lnTo>
                      <a:pt x="844" y="155"/>
                    </a:lnTo>
                    <a:lnTo>
                      <a:pt x="865" y="163"/>
                    </a:lnTo>
                    <a:lnTo>
                      <a:pt x="886" y="163"/>
                    </a:lnTo>
                    <a:lnTo>
                      <a:pt x="915" y="170"/>
                    </a:lnTo>
                    <a:lnTo>
                      <a:pt x="936" y="170"/>
                    </a:lnTo>
                    <a:lnTo>
                      <a:pt x="957" y="177"/>
                    </a:lnTo>
                    <a:lnTo>
                      <a:pt x="978" y="177"/>
                    </a:lnTo>
                    <a:lnTo>
                      <a:pt x="1000" y="184"/>
                    </a:lnTo>
                    <a:lnTo>
                      <a:pt x="1021" y="184"/>
                    </a:lnTo>
                    <a:lnTo>
                      <a:pt x="1042" y="191"/>
                    </a:lnTo>
                    <a:lnTo>
                      <a:pt x="1071" y="191"/>
                    </a:lnTo>
                    <a:lnTo>
                      <a:pt x="1092" y="191"/>
                    </a:lnTo>
                    <a:lnTo>
                      <a:pt x="1113" y="198"/>
                    </a:lnTo>
                    <a:lnTo>
                      <a:pt x="1134" y="198"/>
                    </a:lnTo>
                    <a:lnTo>
                      <a:pt x="1156" y="205"/>
                    </a:lnTo>
                    <a:lnTo>
                      <a:pt x="1177" y="205"/>
                    </a:lnTo>
                    <a:lnTo>
                      <a:pt x="1198" y="212"/>
                    </a:lnTo>
                    <a:lnTo>
                      <a:pt x="1219" y="212"/>
                    </a:lnTo>
                    <a:lnTo>
                      <a:pt x="1248" y="219"/>
                    </a:lnTo>
                    <a:lnTo>
                      <a:pt x="1269" y="219"/>
                    </a:lnTo>
                    <a:lnTo>
                      <a:pt x="1290" y="219"/>
                    </a:lnTo>
                    <a:lnTo>
                      <a:pt x="1311" y="226"/>
                    </a:lnTo>
                    <a:lnTo>
                      <a:pt x="1333" y="226"/>
                    </a:lnTo>
                    <a:lnTo>
                      <a:pt x="1354" y="233"/>
                    </a:lnTo>
                    <a:lnTo>
                      <a:pt x="1375" y="233"/>
                    </a:lnTo>
                    <a:lnTo>
                      <a:pt x="1404" y="240"/>
                    </a:lnTo>
                  </a:path>
                </a:pathLst>
              </a:custGeom>
              <a:noFill/>
              <a:ln w="222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6854" name="Rectangle 230"/>
          <p:cNvSpPr>
            <a:spLocks noChangeArrowheads="1"/>
          </p:cNvSpPr>
          <p:nvPr/>
        </p:nvSpPr>
        <p:spPr bwMode="auto">
          <a:xfrm>
            <a:off x="5940425" y="2205038"/>
            <a:ext cx="2819400" cy="370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400" b="1" i="1" baseline="-18000">
                <a:latin typeface="楷体_GB2312" pitchFamily="49" charset="-122"/>
                <a:ea typeface="楷体_GB2312" pitchFamily="49" charset="-122"/>
              </a:rPr>
              <a:t>j 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越大，相位滞后越严重。显然，应尽量使产生最大滞后相角的频率</a:t>
            </a:r>
            <a:r>
              <a:rPr lang="zh-CN" altLang="en-US" sz="2400" b="1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400" b="1" i="1" baseline="-18000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远离校正后系统的幅值穿越频率</a:t>
            </a:r>
            <a:r>
              <a:rPr lang="zh-CN" altLang="en-US" sz="2400" b="1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400" b="1" i="1" baseline="-1800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，否则会对系统的动态性能产生不利影响。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3"/>
          <p:cNvGrpSpPr>
            <a:grpSpLocks/>
          </p:cNvGrpSpPr>
          <p:nvPr/>
        </p:nvGrpSpPr>
        <p:grpSpPr bwMode="auto">
          <a:xfrm>
            <a:off x="1295400" y="1681163"/>
            <a:ext cx="3200400" cy="1509712"/>
            <a:chOff x="816" y="1059"/>
            <a:chExt cx="2016" cy="951"/>
          </a:xfrm>
        </p:grpSpPr>
        <p:graphicFrame>
          <p:nvGraphicFramePr>
            <p:cNvPr id="36868" name="Object 2"/>
            <p:cNvGraphicFramePr>
              <a:graphicFrameLocks noChangeAspect="1"/>
            </p:cNvGraphicFramePr>
            <p:nvPr/>
          </p:nvGraphicFramePr>
          <p:xfrm>
            <a:off x="1344" y="1484"/>
            <a:ext cx="1488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69449" imgH="444307" progId="Equation.3">
                    <p:embed/>
                  </p:oleObj>
                </mc:Choice>
                <mc:Fallback>
                  <p:oleObj r:id="rId3" imgW="1269449" imgH="444307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484"/>
                          <a:ext cx="1488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69" name="Rectangle 5"/>
            <p:cNvSpPr>
              <a:spLocks noChangeArrowheads="1"/>
            </p:cNvSpPr>
            <p:nvPr/>
          </p:nvSpPr>
          <p:spPr bwMode="auto">
            <a:xfrm>
              <a:off x="816" y="1059"/>
              <a:ext cx="15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一般可取：</a:t>
              </a:r>
            </a:p>
          </p:txBody>
        </p:sp>
      </p:grp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1295400" y="3267075"/>
            <a:ext cx="72390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此外，滞后校正装置实质上是一个低通滤波器，它对低频信号基本上无衰减作用，但能削弱高频噪声，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j </a:t>
            </a:r>
            <a:r>
              <a:rPr lang="zh-CN" altLang="en-US" sz="2800">
                <a:latin typeface="Times New Roman" panose="02020603050405020304" pitchFamily="18" charset="0"/>
              </a:rPr>
              <a:t>越大，抑制噪声能力越强。通常选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j  </a:t>
            </a:r>
            <a:r>
              <a:rPr lang="en-US" altLang="zh-CN" sz="2800">
                <a:latin typeface="Times New Roman" panose="02020603050405020304" pitchFamily="18" charset="0"/>
              </a:rPr>
              <a:t>= 10</a:t>
            </a:r>
            <a:r>
              <a:rPr lang="zh-CN" altLang="en-US" sz="2800">
                <a:latin typeface="Times New Roman" panose="02020603050405020304" pitchFamily="18" charset="0"/>
              </a:rPr>
              <a:t>左右为宜。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19125" y="1046163"/>
            <a:ext cx="7010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32038" y="1482725"/>
            <a:ext cx="5781675" cy="2667000"/>
            <a:chOff x="1776" y="1344"/>
            <a:chExt cx="3642" cy="1680"/>
          </a:xfrm>
        </p:grpSpPr>
        <p:grpSp>
          <p:nvGrpSpPr>
            <p:cNvPr id="38922" name="Group 6"/>
            <p:cNvGrpSpPr>
              <a:grpSpLocks/>
            </p:cNvGrpSpPr>
            <p:nvPr/>
          </p:nvGrpSpPr>
          <p:grpSpPr bwMode="auto">
            <a:xfrm>
              <a:off x="1776" y="1344"/>
              <a:ext cx="3642" cy="1680"/>
              <a:chOff x="96" y="48"/>
              <a:chExt cx="3642" cy="1680"/>
            </a:xfrm>
          </p:grpSpPr>
          <p:grpSp>
            <p:nvGrpSpPr>
              <p:cNvPr id="38931" name="Group 7"/>
              <p:cNvGrpSpPr>
                <a:grpSpLocks/>
              </p:cNvGrpSpPr>
              <p:nvPr/>
            </p:nvGrpSpPr>
            <p:grpSpPr bwMode="auto">
              <a:xfrm>
                <a:off x="1753" y="816"/>
                <a:ext cx="912" cy="768"/>
                <a:chOff x="1728" y="816"/>
                <a:chExt cx="912" cy="768"/>
              </a:xfrm>
            </p:grpSpPr>
            <p:sp>
              <p:nvSpPr>
                <p:cNvPr id="38956" name="AutoShape 8"/>
                <p:cNvSpPr>
                  <a:spLocks noChangeArrowheads="1"/>
                </p:cNvSpPr>
                <p:nvPr/>
              </p:nvSpPr>
              <p:spPr bwMode="auto">
                <a:xfrm rot="5400000">
                  <a:off x="1800" y="744"/>
                  <a:ext cx="768" cy="912"/>
                </a:xfrm>
                <a:prstGeom prst="triangle">
                  <a:avLst>
                    <a:gd name="adj" fmla="val 50000"/>
                  </a:avLst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  </a:t>
                  </a:r>
                  <a:r>
                    <a:rPr lang="en-US" altLang="zh-CN" sz="2400" i="1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38957" name="Line 9"/>
                <p:cNvSpPr>
                  <a:spLocks noChangeShapeType="1"/>
                </p:cNvSpPr>
                <p:nvPr/>
              </p:nvSpPr>
              <p:spPr bwMode="auto">
                <a:xfrm>
                  <a:off x="1776" y="1008"/>
                  <a:ext cx="144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8958" name="Group 10"/>
                <p:cNvGrpSpPr>
                  <a:grpSpLocks/>
                </p:cNvGrpSpPr>
                <p:nvPr/>
              </p:nvGrpSpPr>
              <p:grpSpPr bwMode="auto">
                <a:xfrm>
                  <a:off x="1776" y="1296"/>
                  <a:ext cx="144" cy="144"/>
                  <a:chOff x="1872" y="1653"/>
                  <a:chExt cx="144" cy="144"/>
                </a:xfrm>
              </p:grpSpPr>
              <p:sp>
                <p:nvSpPr>
                  <p:cNvPr id="3895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1728"/>
                    <a:ext cx="144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6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938" y="1653"/>
                    <a:ext cx="0" cy="144"/>
                  </a:xfrm>
                  <a:prstGeom prst="line">
                    <a:avLst/>
                  </a:prstGeom>
                  <a:noFill/>
                  <a:ln w="222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8932" name="Line 13"/>
              <p:cNvSpPr>
                <a:spLocks noChangeShapeType="1"/>
              </p:cNvSpPr>
              <p:nvPr/>
            </p:nvSpPr>
            <p:spPr bwMode="auto">
              <a:xfrm flipH="1">
                <a:off x="1273" y="1008"/>
                <a:ext cx="48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3" name="Rectangle 14"/>
              <p:cNvSpPr>
                <a:spLocks noChangeArrowheads="1"/>
              </p:cNvSpPr>
              <p:nvPr/>
            </p:nvSpPr>
            <p:spPr bwMode="auto">
              <a:xfrm>
                <a:off x="793" y="912"/>
                <a:ext cx="480" cy="192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34" name="Line 15"/>
              <p:cNvSpPr>
                <a:spLocks noChangeShapeType="1"/>
              </p:cNvSpPr>
              <p:nvPr/>
            </p:nvSpPr>
            <p:spPr bwMode="auto">
              <a:xfrm flipH="1">
                <a:off x="313" y="1008"/>
                <a:ext cx="48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5" name="Line 16"/>
              <p:cNvSpPr>
                <a:spLocks noChangeShapeType="1"/>
              </p:cNvSpPr>
              <p:nvPr/>
            </p:nvSpPr>
            <p:spPr bwMode="auto">
              <a:xfrm>
                <a:off x="2655" y="336"/>
                <a:ext cx="0" cy="28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6" name="Line 17"/>
              <p:cNvSpPr>
                <a:spLocks noChangeShapeType="1"/>
              </p:cNvSpPr>
              <p:nvPr/>
            </p:nvSpPr>
            <p:spPr bwMode="auto">
              <a:xfrm>
                <a:off x="2751" y="336"/>
                <a:ext cx="0" cy="28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7" name="Line 18"/>
              <p:cNvSpPr>
                <a:spLocks noChangeShapeType="1"/>
              </p:cNvSpPr>
              <p:nvPr/>
            </p:nvSpPr>
            <p:spPr bwMode="auto">
              <a:xfrm>
                <a:off x="1513" y="480"/>
                <a:ext cx="0" cy="52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8" name="Line 19"/>
              <p:cNvSpPr>
                <a:spLocks noChangeShapeType="1"/>
              </p:cNvSpPr>
              <p:nvPr/>
            </p:nvSpPr>
            <p:spPr bwMode="auto">
              <a:xfrm flipH="1">
                <a:off x="2319" y="480"/>
                <a:ext cx="33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9" name="Rectangle 20"/>
              <p:cNvSpPr>
                <a:spLocks noChangeArrowheads="1"/>
              </p:cNvSpPr>
              <p:nvPr/>
            </p:nvSpPr>
            <p:spPr bwMode="auto">
              <a:xfrm>
                <a:off x="1839" y="384"/>
                <a:ext cx="480" cy="192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40" name="Line 21"/>
              <p:cNvSpPr>
                <a:spLocks noChangeShapeType="1"/>
              </p:cNvSpPr>
              <p:nvPr/>
            </p:nvSpPr>
            <p:spPr bwMode="auto">
              <a:xfrm flipH="1">
                <a:off x="1513" y="480"/>
                <a:ext cx="32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1" name="Line 22"/>
              <p:cNvSpPr>
                <a:spLocks noChangeShapeType="1"/>
              </p:cNvSpPr>
              <p:nvPr/>
            </p:nvSpPr>
            <p:spPr bwMode="auto">
              <a:xfrm>
                <a:off x="3021" y="480"/>
                <a:ext cx="0" cy="72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2" name="Line 23"/>
              <p:cNvSpPr>
                <a:spLocks noChangeShapeType="1"/>
              </p:cNvSpPr>
              <p:nvPr/>
            </p:nvSpPr>
            <p:spPr bwMode="auto">
              <a:xfrm>
                <a:off x="2665" y="1200"/>
                <a:ext cx="67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3" name="Line 24"/>
              <p:cNvSpPr>
                <a:spLocks noChangeShapeType="1"/>
              </p:cNvSpPr>
              <p:nvPr/>
            </p:nvSpPr>
            <p:spPr bwMode="auto">
              <a:xfrm flipH="1">
                <a:off x="1513" y="1392"/>
                <a:ext cx="24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4" name="Line 25"/>
              <p:cNvSpPr>
                <a:spLocks noChangeShapeType="1"/>
              </p:cNvSpPr>
              <p:nvPr/>
            </p:nvSpPr>
            <p:spPr bwMode="auto">
              <a:xfrm>
                <a:off x="1513" y="139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5" name="AutoShape 26" descr="深色横线"/>
              <p:cNvSpPr>
                <a:spLocks noChangeArrowheads="1"/>
              </p:cNvSpPr>
              <p:nvPr/>
            </p:nvSpPr>
            <p:spPr bwMode="auto">
              <a:xfrm flipV="1">
                <a:off x="1396" y="1584"/>
                <a:ext cx="240" cy="144"/>
              </a:xfrm>
              <a:prstGeom prst="triangle">
                <a:avLst>
                  <a:gd name="adj" fmla="val 49477"/>
                </a:avLst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46" name="Oval 27"/>
              <p:cNvSpPr>
                <a:spLocks noChangeArrowheads="1"/>
              </p:cNvSpPr>
              <p:nvPr/>
            </p:nvSpPr>
            <p:spPr bwMode="auto">
              <a:xfrm>
                <a:off x="217" y="960"/>
                <a:ext cx="96" cy="96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47" name="Oval 28"/>
              <p:cNvSpPr>
                <a:spLocks noChangeArrowheads="1"/>
              </p:cNvSpPr>
              <p:nvPr/>
            </p:nvSpPr>
            <p:spPr bwMode="auto">
              <a:xfrm>
                <a:off x="3337" y="1152"/>
                <a:ext cx="96" cy="96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48" name="Oval 29"/>
              <p:cNvSpPr>
                <a:spLocks noChangeArrowheads="1"/>
              </p:cNvSpPr>
              <p:nvPr/>
            </p:nvSpPr>
            <p:spPr bwMode="auto">
              <a:xfrm>
                <a:off x="1486" y="97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49" name="Oval 30"/>
              <p:cNvSpPr>
                <a:spLocks noChangeArrowheads="1"/>
              </p:cNvSpPr>
              <p:nvPr/>
            </p:nvSpPr>
            <p:spPr bwMode="auto">
              <a:xfrm>
                <a:off x="2991" y="117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50" name="Text Box 31"/>
              <p:cNvSpPr txBox="1">
                <a:spLocks noChangeArrowheads="1"/>
              </p:cNvSpPr>
              <p:nvPr/>
            </p:nvSpPr>
            <p:spPr bwMode="auto">
              <a:xfrm>
                <a:off x="2539" y="4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51" name="Text Box 32"/>
              <p:cNvSpPr txBox="1">
                <a:spLocks noChangeArrowheads="1"/>
              </p:cNvSpPr>
              <p:nvPr/>
            </p:nvSpPr>
            <p:spPr bwMode="auto">
              <a:xfrm>
                <a:off x="889" y="105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52" name="Text Box 33"/>
              <p:cNvSpPr txBox="1">
                <a:spLocks noChangeArrowheads="1"/>
              </p:cNvSpPr>
              <p:nvPr/>
            </p:nvSpPr>
            <p:spPr bwMode="auto">
              <a:xfrm>
                <a:off x="1935" y="48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53" name="Text Box 34"/>
              <p:cNvSpPr txBox="1">
                <a:spLocks noChangeArrowheads="1"/>
              </p:cNvSpPr>
              <p:nvPr/>
            </p:nvSpPr>
            <p:spPr bwMode="auto">
              <a:xfrm>
                <a:off x="3281" y="864"/>
                <a:ext cx="4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o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8954" name="Text Box 35"/>
              <p:cNvSpPr txBox="1">
                <a:spLocks noChangeArrowheads="1"/>
              </p:cNvSpPr>
              <p:nvPr/>
            </p:nvSpPr>
            <p:spPr bwMode="auto">
              <a:xfrm>
                <a:off x="96" y="672"/>
                <a:ext cx="4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8955" name="Line 36"/>
              <p:cNvSpPr>
                <a:spLocks noChangeShapeType="1"/>
              </p:cNvSpPr>
              <p:nvPr/>
            </p:nvSpPr>
            <p:spPr bwMode="auto">
              <a:xfrm>
                <a:off x="2751" y="480"/>
                <a:ext cx="28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923" name="Line 37"/>
            <p:cNvSpPr>
              <a:spLocks noChangeShapeType="1"/>
            </p:cNvSpPr>
            <p:nvPr/>
          </p:nvSpPr>
          <p:spPr bwMode="auto">
            <a:xfrm>
              <a:off x="2661" y="1632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Line 38"/>
            <p:cNvSpPr>
              <a:spLocks noChangeShapeType="1"/>
            </p:cNvSpPr>
            <p:nvPr/>
          </p:nvSpPr>
          <p:spPr bwMode="auto">
            <a:xfrm>
              <a:off x="2757" y="1632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Line 39"/>
            <p:cNvSpPr>
              <a:spLocks noChangeShapeType="1"/>
            </p:cNvSpPr>
            <p:nvPr/>
          </p:nvSpPr>
          <p:spPr bwMode="auto">
            <a:xfrm flipH="1">
              <a:off x="2277" y="1776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Line 40"/>
            <p:cNvSpPr>
              <a:spLocks noChangeShapeType="1"/>
            </p:cNvSpPr>
            <p:nvPr/>
          </p:nvSpPr>
          <p:spPr bwMode="auto">
            <a:xfrm>
              <a:off x="2757" y="177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41"/>
            <p:cNvSpPr>
              <a:spLocks noChangeShapeType="1"/>
            </p:cNvSpPr>
            <p:nvPr/>
          </p:nvSpPr>
          <p:spPr bwMode="auto">
            <a:xfrm>
              <a:off x="2277" y="1776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Oval 42"/>
            <p:cNvSpPr>
              <a:spLocks noChangeArrowheads="1"/>
            </p:cNvSpPr>
            <p:nvPr/>
          </p:nvSpPr>
          <p:spPr bwMode="auto">
            <a:xfrm>
              <a:off x="2247" y="2274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29" name="Oval 43"/>
            <p:cNvSpPr>
              <a:spLocks noChangeArrowheads="1"/>
            </p:cNvSpPr>
            <p:nvPr/>
          </p:nvSpPr>
          <p:spPr bwMode="auto">
            <a:xfrm>
              <a:off x="3168" y="1749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30" name="Text Box 44"/>
            <p:cNvSpPr txBox="1">
              <a:spLocks noChangeArrowheads="1"/>
            </p:cNvSpPr>
            <p:nvPr/>
          </p:nvSpPr>
          <p:spPr bwMode="auto">
            <a:xfrm>
              <a:off x="2565" y="134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8717" name="Object 2"/>
          <p:cNvGraphicFramePr>
            <a:graphicFrameLocks noChangeAspect="1"/>
          </p:cNvGraphicFramePr>
          <p:nvPr/>
        </p:nvGraphicFramePr>
        <p:xfrm>
          <a:off x="1417638" y="4265613"/>
          <a:ext cx="4781550" cy="178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27300" imgH="939800" progId="Equation.3">
                  <p:embed/>
                </p:oleObj>
              </mc:Choice>
              <mc:Fallback>
                <p:oleObj r:id="rId4" imgW="2527300" imgH="93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4265613"/>
                        <a:ext cx="4781550" cy="178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6827838" y="4454525"/>
            <a:ext cx="1247775" cy="1493838"/>
            <a:chOff x="4320" y="3072"/>
            <a:chExt cx="786" cy="941"/>
          </a:xfrm>
        </p:grpSpPr>
        <p:graphicFrame>
          <p:nvGraphicFramePr>
            <p:cNvPr id="38919" name="Object 3"/>
            <p:cNvGraphicFramePr>
              <a:graphicFrameLocks noChangeAspect="1"/>
            </p:cNvGraphicFramePr>
            <p:nvPr/>
          </p:nvGraphicFramePr>
          <p:xfrm>
            <a:off x="4358" y="3072"/>
            <a:ext cx="730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09336" imgH="215806" progId="Equation.3">
                    <p:embed/>
                  </p:oleObj>
                </mc:Choice>
                <mc:Fallback>
                  <p:oleObj r:id="rId6" imgW="609336" imgH="215806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8" y="3072"/>
                          <a:ext cx="730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0" name="Object 4"/>
            <p:cNvGraphicFramePr>
              <a:graphicFrameLocks noChangeAspect="1"/>
            </p:cNvGraphicFramePr>
            <p:nvPr/>
          </p:nvGraphicFramePr>
          <p:xfrm>
            <a:off x="4320" y="3408"/>
            <a:ext cx="78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660113" imgH="215806" progId="Equation.3">
                    <p:embed/>
                  </p:oleObj>
                </mc:Choice>
                <mc:Fallback>
                  <p:oleObj r:id="rId8" imgW="660113" imgH="215806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408"/>
                          <a:ext cx="786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1" name="Object 5"/>
            <p:cNvGraphicFramePr>
              <a:graphicFrameLocks noChangeAspect="1"/>
            </p:cNvGraphicFramePr>
            <p:nvPr/>
          </p:nvGraphicFramePr>
          <p:xfrm>
            <a:off x="4368" y="3744"/>
            <a:ext cx="68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71252" imgH="215806" progId="Equation.3">
                    <p:embed/>
                  </p:oleObj>
                </mc:Choice>
                <mc:Fallback>
                  <p:oleObj r:id="rId10" imgW="571252" imgH="215806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744"/>
                          <a:ext cx="68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18" name="Rectangle 4"/>
          <p:cNvSpPr>
            <a:spLocks noChangeArrowheads="1"/>
          </p:cNvSpPr>
          <p:nvPr/>
        </p:nvSpPr>
        <p:spPr bwMode="auto">
          <a:xfrm>
            <a:off x="381000" y="382588"/>
            <a:ext cx="4892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Times New Roman" panose="02020603050405020304" pitchFamily="18" charset="0"/>
              </a:rPr>
              <a:t>控制规律的实现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ChangeArrowheads="1"/>
          </p:cNvSpPr>
          <p:nvPr/>
        </p:nvSpPr>
        <p:spPr bwMode="auto">
          <a:xfrm>
            <a:off x="827088" y="54927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Times New Roman" panose="02020603050405020304" pitchFamily="18" charset="0"/>
              </a:rPr>
              <a:t>校正装置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119188" y="1446213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无源阻容网络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1725" y="2284413"/>
            <a:ext cx="3598863" cy="3124200"/>
            <a:chOff x="96" y="0"/>
            <a:chExt cx="2341" cy="2160"/>
          </a:xfrm>
        </p:grpSpPr>
        <p:sp>
          <p:nvSpPr>
            <p:cNvPr id="40971" name="Line 6"/>
            <p:cNvSpPr>
              <a:spLocks noChangeShapeType="1"/>
            </p:cNvSpPr>
            <p:nvPr/>
          </p:nvSpPr>
          <p:spPr bwMode="auto">
            <a:xfrm flipH="1">
              <a:off x="1255" y="790"/>
              <a:ext cx="9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Rectangle 7"/>
            <p:cNvSpPr>
              <a:spLocks noChangeArrowheads="1"/>
            </p:cNvSpPr>
            <p:nvPr/>
          </p:nvSpPr>
          <p:spPr bwMode="auto">
            <a:xfrm>
              <a:off x="775" y="694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73" name="Line 8"/>
            <p:cNvSpPr>
              <a:spLocks noChangeShapeType="1"/>
            </p:cNvSpPr>
            <p:nvPr/>
          </p:nvSpPr>
          <p:spPr bwMode="auto">
            <a:xfrm flipH="1">
              <a:off x="295" y="790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Oval 9"/>
            <p:cNvSpPr>
              <a:spLocks noChangeArrowheads="1"/>
            </p:cNvSpPr>
            <p:nvPr/>
          </p:nvSpPr>
          <p:spPr bwMode="auto">
            <a:xfrm>
              <a:off x="199" y="74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75" name="Oval 10"/>
            <p:cNvSpPr>
              <a:spLocks noChangeArrowheads="1"/>
            </p:cNvSpPr>
            <p:nvPr/>
          </p:nvSpPr>
          <p:spPr bwMode="auto">
            <a:xfrm>
              <a:off x="2205" y="74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76" name="Oval 11"/>
            <p:cNvSpPr>
              <a:spLocks noChangeArrowheads="1"/>
            </p:cNvSpPr>
            <p:nvPr/>
          </p:nvSpPr>
          <p:spPr bwMode="auto">
            <a:xfrm>
              <a:off x="1625" y="760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77" name="Oval 12"/>
            <p:cNvSpPr>
              <a:spLocks noChangeArrowheads="1"/>
            </p:cNvSpPr>
            <p:nvPr/>
          </p:nvSpPr>
          <p:spPr bwMode="auto">
            <a:xfrm>
              <a:off x="1625" y="2082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78" name="Text Box 13"/>
            <p:cNvSpPr txBox="1">
              <a:spLocks noChangeArrowheads="1"/>
            </p:cNvSpPr>
            <p:nvPr/>
          </p:nvSpPr>
          <p:spPr bwMode="auto">
            <a:xfrm>
              <a:off x="1245" y="1607"/>
              <a:ext cx="318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979" name="Text Box 14"/>
            <p:cNvSpPr txBox="1">
              <a:spLocks noChangeArrowheads="1"/>
            </p:cNvSpPr>
            <p:nvPr/>
          </p:nvSpPr>
          <p:spPr bwMode="auto">
            <a:xfrm>
              <a:off x="872" y="864"/>
              <a:ext cx="30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980" name="Text Box 15"/>
            <p:cNvSpPr txBox="1">
              <a:spLocks noChangeArrowheads="1"/>
            </p:cNvSpPr>
            <p:nvPr/>
          </p:nvSpPr>
          <p:spPr bwMode="auto">
            <a:xfrm>
              <a:off x="1265" y="1078"/>
              <a:ext cx="30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981" name="Text Box 16"/>
            <p:cNvSpPr txBox="1">
              <a:spLocks noChangeArrowheads="1"/>
            </p:cNvSpPr>
            <p:nvPr/>
          </p:nvSpPr>
          <p:spPr bwMode="auto">
            <a:xfrm>
              <a:off x="1965" y="1270"/>
              <a:ext cx="472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0982" name="Text Box 17"/>
            <p:cNvSpPr txBox="1">
              <a:spLocks noChangeArrowheads="1"/>
            </p:cNvSpPr>
            <p:nvPr/>
          </p:nvSpPr>
          <p:spPr bwMode="auto">
            <a:xfrm>
              <a:off x="96" y="1270"/>
              <a:ext cx="443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0983" name="Line 18"/>
            <p:cNvSpPr>
              <a:spLocks noChangeShapeType="1"/>
            </p:cNvSpPr>
            <p:nvPr/>
          </p:nvSpPr>
          <p:spPr bwMode="auto">
            <a:xfrm>
              <a:off x="1649" y="790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Rectangle 19"/>
            <p:cNvSpPr>
              <a:spLocks noChangeArrowheads="1"/>
            </p:cNvSpPr>
            <p:nvPr/>
          </p:nvSpPr>
          <p:spPr bwMode="auto">
            <a:xfrm rot="5400000">
              <a:off x="1409" y="1126"/>
              <a:ext cx="480" cy="19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5" name="Line 20"/>
            <p:cNvSpPr>
              <a:spLocks noChangeShapeType="1"/>
            </p:cNvSpPr>
            <p:nvPr/>
          </p:nvSpPr>
          <p:spPr bwMode="auto">
            <a:xfrm>
              <a:off x="1649" y="1798"/>
              <a:ext cx="0" cy="31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Line 21"/>
            <p:cNvSpPr>
              <a:spLocks noChangeShapeType="1"/>
            </p:cNvSpPr>
            <p:nvPr/>
          </p:nvSpPr>
          <p:spPr bwMode="auto">
            <a:xfrm>
              <a:off x="285" y="2112"/>
              <a:ext cx="19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7" name="Oval 22"/>
            <p:cNvSpPr>
              <a:spLocks noChangeArrowheads="1"/>
            </p:cNvSpPr>
            <p:nvPr/>
          </p:nvSpPr>
          <p:spPr bwMode="auto">
            <a:xfrm>
              <a:off x="201" y="2064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8" name="Oval 23"/>
            <p:cNvSpPr>
              <a:spLocks noChangeArrowheads="1"/>
            </p:cNvSpPr>
            <p:nvPr/>
          </p:nvSpPr>
          <p:spPr bwMode="auto">
            <a:xfrm>
              <a:off x="2205" y="2064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9" name="Line 24"/>
            <p:cNvSpPr>
              <a:spLocks noChangeShapeType="1"/>
            </p:cNvSpPr>
            <p:nvPr/>
          </p:nvSpPr>
          <p:spPr bwMode="auto">
            <a:xfrm>
              <a:off x="1523" y="170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Line 25"/>
            <p:cNvSpPr>
              <a:spLocks noChangeShapeType="1"/>
            </p:cNvSpPr>
            <p:nvPr/>
          </p:nvSpPr>
          <p:spPr bwMode="auto">
            <a:xfrm>
              <a:off x="1523" y="179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Line 26"/>
            <p:cNvSpPr>
              <a:spLocks noChangeShapeType="1"/>
            </p:cNvSpPr>
            <p:nvPr/>
          </p:nvSpPr>
          <p:spPr bwMode="auto">
            <a:xfrm flipV="1">
              <a:off x="1649" y="1462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Line 27"/>
            <p:cNvSpPr>
              <a:spLocks noChangeShapeType="1"/>
            </p:cNvSpPr>
            <p:nvPr/>
          </p:nvSpPr>
          <p:spPr bwMode="auto">
            <a:xfrm>
              <a:off x="967" y="288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3" name="Line 28"/>
            <p:cNvSpPr>
              <a:spLocks noChangeShapeType="1"/>
            </p:cNvSpPr>
            <p:nvPr/>
          </p:nvSpPr>
          <p:spPr bwMode="auto">
            <a:xfrm>
              <a:off x="1063" y="288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Line 29"/>
            <p:cNvSpPr>
              <a:spLocks noChangeShapeType="1"/>
            </p:cNvSpPr>
            <p:nvPr/>
          </p:nvSpPr>
          <p:spPr bwMode="auto">
            <a:xfrm flipH="1">
              <a:off x="583" y="432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5" name="Line 30"/>
            <p:cNvSpPr>
              <a:spLocks noChangeShapeType="1"/>
            </p:cNvSpPr>
            <p:nvPr/>
          </p:nvSpPr>
          <p:spPr bwMode="auto">
            <a:xfrm>
              <a:off x="1063" y="432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6" name="Line 31"/>
            <p:cNvSpPr>
              <a:spLocks noChangeShapeType="1"/>
            </p:cNvSpPr>
            <p:nvPr/>
          </p:nvSpPr>
          <p:spPr bwMode="auto">
            <a:xfrm>
              <a:off x="576" y="432"/>
              <a:ext cx="7" cy="36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7" name="Line 32"/>
            <p:cNvSpPr>
              <a:spLocks noChangeShapeType="1"/>
            </p:cNvSpPr>
            <p:nvPr/>
          </p:nvSpPr>
          <p:spPr bwMode="auto">
            <a:xfrm>
              <a:off x="1488" y="432"/>
              <a:ext cx="7" cy="36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Oval 33"/>
            <p:cNvSpPr>
              <a:spLocks noChangeArrowheads="1"/>
            </p:cNvSpPr>
            <p:nvPr/>
          </p:nvSpPr>
          <p:spPr bwMode="auto">
            <a:xfrm>
              <a:off x="553" y="768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99" name="Oval 34"/>
            <p:cNvSpPr>
              <a:spLocks noChangeArrowheads="1"/>
            </p:cNvSpPr>
            <p:nvPr/>
          </p:nvSpPr>
          <p:spPr bwMode="auto">
            <a:xfrm>
              <a:off x="1468" y="768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00" name="Text Box 35"/>
            <p:cNvSpPr txBox="1">
              <a:spLocks noChangeArrowheads="1"/>
            </p:cNvSpPr>
            <p:nvPr/>
          </p:nvSpPr>
          <p:spPr bwMode="auto">
            <a:xfrm>
              <a:off x="872" y="0"/>
              <a:ext cx="318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9732" name="Object 2"/>
          <p:cNvGraphicFramePr>
            <a:graphicFrameLocks noChangeAspect="1"/>
          </p:cNvGraphicFramePr>
          <p:nvPr/>
        </p:nvGraphicFramePr>
        <p:xfrm>
          <a:off x="5076825" y="1989138"/>
          <a:ext cx="356393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30400" imgH="889000" progId="Equation.3">
                  <p:embed/>
                </p:oleObj>
              </mc:Choice>
              <mc:Fallback>
                <p:oleObj r:id="rId3" imgW="1930400" imgH="889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989138"/>
                        <a:ext cx="356393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5081588" y="3808413"/>
            <a:ext cx="3581400" cy="2286000"/>
            <a:chOff x="3216" y="2592"/>
            <a:chExt cx="2256" cy="1440"/>
          </a:xfrm>
        </p:grpSpPr>
        <p:graphicFrame>
          <p:nvGraphicFramePr>
            <p:cNvPr id="40967" name="Object 3"/>
            <p:cNvGraphicFramePr>
              <a:graphicFrameLocks noChangeAspect="1"/>
            </p:cNvGraphicFramePr>
            <p:nvPr/>
          </p:nvGraphicFramePr>
          <p:xfrm>
            <a:off x="3216" y="2592"/>
            <a:ext cx="70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09336" imgH="215806" progId="Equation.3">
                    <p:embed/>
                  </p:oleObj>
                </mc:Choice>
                <mc:Fallback>
                  <p:oleObj r:id="rId5" imgW="609336" imgH="215806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592"/>
                          <a:ext cx="70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8" name="Object 4"/>
            <p:cNvGraphicFramePr>
              <a:graphicFrameLocks noChangeAspect="1"/>
            </p:cNvGraphicFramePr>
            <p:nvPr/>
          </p:nvGraphicFramePr>
          <p:xfrm>
            <a:off x="3216" y="2913"/>
            <a:ext cx="76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60113" imgH="215806" progId="Equation.3">
                    <p:embed/>
                  </p:oleObj>
                </mc:Choice>
                <mc:Fallback>
                  <p:oleObj r:id="rId7" imgW="660113" imgH="215806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913"/>
                          <a:ext cx="76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9" name="Object 5"/>
            <p:cNvGraphicFramePr>
              <a:graphicFrameLocks noChangeAspect="1"/>
            </p:cNvGraphicFramePr>
            <p:nvPr/>
          </p:nvGraphicFramePr>
          <p:xfrm>
            <a:off x="3216" y="3216"/>
            <a:ext cx="225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916868" imgH="215806" progId="Equation.3">
                    <p:embed/>
                  </p:oleObj>
                </mc:Choice>
                <mc:Fallback>
                  <p:oleObj r:id="rId9" imgW="1916868" imgH="215806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216"/>
                          <a:ext cx="225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0" name="Object 6"/>
            <p:cNvGraphicFramePr>
              <a:graphicFrameLocks noChangeAspect="1"/>
            </p:cNvGraphicFramePr>
            <p:nvPr/>
          </p:nvGraphicFramePr>
          <p:xfrm>
            <a:off x="3216" y="3518"/>
            <a:ext cx="909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787058" imgH="444307" progId="Equation.3">
                    <p:embed/>
                  </p:oleObj>
                </mc:Choice>
                <mc:Fallback>
                  <p:oleObj r:id="rId11" imgW="787058" imgH="44430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518"/>
                          <a:ext cx="909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3" name="Object 2"/>
          <p:cNvGraphicFramePr>
            <a:graphicFrameLocks noChangeAspect="1"/>
          </p:cNvGraphicFramePr>
          <p:nvPr/>
        </p:nvGraphicFramePr>
        <p:xfrm>
          <a:off x="1339850" y="1584325"/>
          <a:ext cx="74676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13200" imgH="482600" progId="Equation.3">
                  <p:embed/>
                </p:oleObj>
              </mc:Choice>
              <mc:Fallback>
                <p:oleObj r:id="rId3" imgW="40132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584325"/>
                        <a:ext cx="7467600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1" name="Group 4"/>
          <p:cNvGrpSpPr>
            <a:grpSpLocks/>
          </p:cNvGrpSpPr>
          <p:nvPr/>
        </p:nvGrpSpPr>
        <p:grpSpPr bwMode="auto">
          <a:xfrm>
            <a:off x="1187450" y="908050"/>
            <a:ext cx="4537075" cy="523875"/>
            <a:chOff x="864" y="816"/>
            <a:chExt cx="2858" cy="330"/>
          </a:xfrm>
        </p:grpSpPr>
        <p:graphicFrame>
          <p:nvGraphicFramePr>
            <p:cNvPr id="43020" name="Object 6"/>
            <p:cNvGraphicFramePr>
              <a:graphicFrameLocks noChangeAspect="1"/>
            </p:cNvGraphicFramePr>
            <p:nvPr/>
          </p:nvGraphicFramePr>
          <p:xfrm>
            <a:off x="1296" y="864"/>
            <a:ext cx="5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57002" imgH="215806" progId="Equation.3">
                    <p:embed/>
                  </p:oleObj>
                </mc:Choice>
                <mc:Fallback>
                  <p:oleObj r:id="rId5" imgW="457002" imgH="215806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864"/>
                          <a:ext cx="5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1" name="Object 7"/>
            <p:cNvGraphicFramePr>
              <a:graphicFrameLocks noChangeAspect="1"/>
            </p:cNvGraphicFramePr>
            <p:nvPr/>
          </p:nvGraphicFramePr>
          <p:xfrm>
            <a:off x="2112" y="871"/>
            <a:ext cx="576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44114" imgH="177646" progId="Equation.3">
                    <p:embed/>
                  </p:oleObj>
                </mc:Choice>
                <mc:Fallback>
                  <p:oleObj r:id="rId7" imgW="444114" imgH="17764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871"/>
                          <a:ext cx="576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2" name="Rectangle 7"/>
            <p:cNvSpPr>
              <a:spLocks noChangeArrowheads="1"/>
            </p:cNvSpPr>
            <p:nvPr/>
          </p:nvSpPr>
          <p:spPr bwMode="auto">
            <a:xfrm>
              <a:off x="864" y="816"/>
              <a:ext cx="2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令：          ，           </a:t>
              </a:r>
            </a:p>
          </p:txBody>
        </p:sp>
        <p:sp>
          <p:nvSpPr>
            <p:cNvPr id="43023" name="Rectangle 8"/>
            <p:cNvSpPr>
              <a:spLocks noChangeArrowheads="1"/>
            </p:cNvSpPr>
            <p:nvPr/>
          </p:nvSpPr>
          <p:spPr bwMode="auto">
            <a:xfrm>
              <a:off x="2640" y="816"/>
              <a:ext cx="108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，则：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187450" y="2543175"/>
            <a:ext cx="3886200" cy="793750"/>
            <a:chOff x="768" y="1900"/>
            <a:chExt cx="2448" cy="500"/>
          </a:xfrm>
        </p:grpSpPr>
        <p:graphicFrame>
          <p:nvGraphicFramePr>
            <p:cNvPr id="43018" name="Object 5"/>
            <p:cNvGraphicFramePr>
              <a:graphicFrameLocks noChangeAspect="1"/>
            </p:cNvGraphicFramePr>
            <p:nvPr/>
          </p:nvGraphicFramePr>
          <p:xfrm>
            <a:off x="1728" y="1900"/>
            <a:ext cx="1488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18671" imgH="406224" progId="Equation.3">
                    <p:embed/>
                  </p:oleObj>
                </mc:Choice>
                <mc:Fallback>
                  <p:oleObj r:id="rId9" imgW="1218671" imgH="406224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900"/>
                          <a:ext cx="1488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9" name="Rectangle 11"/>
            <p:cNvSpPr>
              <a:spLocks noChangeArrowheads="1"/>
            </p:cNvSpPr>
            <p:nvPr/>
          </p:nvSpPr>
          <p:spPr bwMode="auto">
            <a:xfrm>
              <a:off x="768" y="1948"/>
              <a:ext cx="13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注意到：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187450" y="3357563"/>
            <a:ext cx="4419600" cy="1125537"/>
            <a:chOff x="768" y="2496"/>
            <a:chExt cx="2784" cy="709"/>
          </a:xfrm>
        </p:grpSpPr>
        <p:graphicFrame>
          <p:nvGraphicFramePr>
            <p:cNvPr id="43016" name="Object 4"/>
            <p:cNvGraphicFramePr>
              <a:graphicFrameLocks noChangeAspect="1"/>
            </p:cNvGraphicFramePr>
            <p:nvPr/>
          </p:nvGraphicFramePr>
          <p:xfrm>
            <a:off x="1680" y="2496"/>
            <a:ext cx="1872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12900" imgH="609600" progId="Equation.3">
                    <p:embed/>
                  </p:oleObj>
                </mc:Choice>
                <mc:Fallback>
                  <p:oleObj r:id="rId11" imgW="1612900" imgH="609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496"/>
                          <a:ext cx="1872" cy="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7" name="Rectangle 14"/>
            <p:cNvSpPr>
              <a:spLocks noChangeArrowheads="1"/>
            </p:cNvSpPr>
            <p:nvPr/>
          </p:nvSpPr>
          <p:spPr bwMode="auto">
            <a:xfrm>
              <a:off x="768" y="2553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从而：</a:t>
              </a:r>
            </a:p>
          </p:txBody>
        </p:sp>
      </p:grp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1171575" y="4479925"/>
            <a:ext cx="74072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上式右边第一项是超前校正的传递函数；第二项为滞后校正的传递函数。故近似 </a:t>
            </a:r>
            <a:r>
              <a:rPr lang="en-US" altLang="zh-CN" sz="2800">
                <a:latin typeface="Times New Roman" panose="02020603050405020304" pitchFamily="18" charset="0"/>
              </a:rPr>
              <a:t>PID </a:t>
            </a:r>
            <a:r>
              <a:rPr lang="zh-CN" altLang="en-US" sz="2800">
                <a:latin typeface="Times New Roman" panose="02020603050405020304" pitchFamily="18" charset="0"/>
              </a:rPr>
              <a:t>校正装置又称为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滞后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超前校正装置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43015" name="Object 3"/>
          <p:cNvGraphicFramePr>
            <a:graphicFrameLocks noChangeAspect="1"/>
          </p:cNvGraphicFramePr>
          <p:nvPr/>
        </p:nvGraphicFramePr>
        <p:xfrm>
          <a:off x="5795963" y="260350"/>
          <a:ext cx="2870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54200" imgH="431800" progId="Equation.3">
                  <p:embed/>
                </p:oleObj>
              </mc:Choice>
              <mc:Fallback>
                <p:oleObj r:id="rId13" imgW="18542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60350"/>
                        <a:ext cx="2870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ChangeArrowheads="1"/>
          </p:cNvSpPr>
          <p:nvPr/>
        </p:nvSpPr>
        <p:spPr bwMode="auto">
          <a:xfrm>
            <a:off x="1116013" y="692150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机械网络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49413" y="1377950"/>
            <a:ext cx="3540125" cy="2057400"/>
            <a:chOff x="2666" y="480"/>
            <a:chExt cx="2230" cy="1296"/>
          </a:xfrm>
        </p:grpSpPr>
        <p:sp>
          <p:nvSpPr>
            <p:cNvPr id="45068" name="Rectangle 5" descr="宽上对角线"/>
            <p:cNvSpPr>
              <a:spLocks noChangeArrowheads="1"/>
            </p:cNvSpPr>
            <p:nvPr/>
          </p:nvSpPr>
          <p:spPr bwMode="auto">
            <a:xfrm rot="-5400000">
              <a:off x="4669" y="1021"/>
              <a:ext cx="384" cy="7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5069" name="Group 6"/>
            <p:cNvGrpSpPr>
              <a:grpSpLocks/>
            </p:cNvGrpSpPr>
            <p:nvPr/>
          </p:nvGrpSpPr>
          <p:grpSpPr bwMode="auto">
            <a:xfrm rot="-5400000">
              <a:off x="3262" y="1084"/>
              <a:ext cx="104" cy="720"/>
              <a:chOff x="3258" y="384"/>
              <a:chExt cx="104" cy="720"/>
            </a:xfrm>
          </p:grpSpPr>
          <p:sp>
            <p:nvSpPr>
              <p:cNvPr id="45100" name="Freeform 7"/>
              <p:cNvSpPr>
                <a:spLocks noChangeArrowheads="1"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1" name="Line 8"/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2" name="Line 9"/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70" name="Line 10"/>
            <p:cNvSpPr>
              <a:spLocks noChangeShapeType="1"/>
            </p:cNvSpPr>
            <p:nvPr/>
          </p:nvSpPr>
          <p:spPr bwMode="auto">
            <a:xfrm rot="-5400000">
              <a:off x="4634" y="1056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Oval 11"/>
            <p:cNvSpPr>
              <a:spLocks noChangeArrowheads="1"/>
            </p:cNvSpPr>
            <p:nvPr/>
          </p:nvSpPr>
          <p:spPr bwMode="auto">
            <a:xfrm>
              <a:off x="2930" y="10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72" name="Oval 12"/>
            <p:cNvSpPr>
              <a:spLocks noChangeArrowheads="1"/>
            </p:cNvSpPr>
            <p:nvPr/>
          </p:nvSpPr>
          <p:spPr bwMode="auto">
            <a:xfrm>
              <a:off x="2666" y="1008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73" name="Line 13"/>
            <p:cNvSpPr>
              <a:spLocks noChangeShapeType="1"/>
            </p:cNvSpPr>
            <p:nvPr/>
          </p:nvSpPr>
          <p:spPr bwMode="auto">
            <a:xfrm rot="5400000" flipV="1">
              <a:off x="2570" y="864"/>
              <a:ext cx="2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4" name="Line 14"/>
            <p:cNvSpPr>
              <a:spLocks noChangeShapeType="1"/>
            </p:cNvSpPr>
            <p:nvPr/>
          </p:nvSpPr>
          <p:spPr bwMode="auto">
            <a:xfrm rot="5400000" flipV="1">
              <a:off x="2882" y="60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Line 15"/>
            <p:cNvSpPr>
              <a:spLocks noChangeShapeType="1"/>
            </p:cNvSpPr>
            <p:nvPr/>
          </p:nvSpPr>
          <p:spPr bwMode="auto">
            <a:xfrm rot="-5400000">
              <a:off x="3842" y="60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Text Box 16"/>
            <p:cNvSpPr txBox="1">
              <a:spLocks noChangeArrowheads="1"/>
            </p:cNvSpPr>
            <p:nvPr/>
          </p:nvSpPr>
          <p:spPr bwMode="auto">
            <a:xfrm>
              <a:off x="3674" y="480"/>
              <a:ext cx="4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5077" name="Text Box 17"/>
            <p:cNvSpPr txBox="1">
              <a:spLocks noChangeArrowheads="1"/>
            </p:cNvSpPr>
            <p:nvPr/>
          </p:nvSpPr>
          <p:spPr bwMode="auto">
            <a:xfrm>
              <a:off x="2714" y="480"/>
              <a:ext cx="4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5078" name="Text Box 18"/>
            <p:cNvSpPr txBox="1">
              <a:spLocks noChangeArrowheads="1"/>
            </p:cNvSpPr>
            <p:nvPr/>
          </p:nvSpPr>
          <p:spPr bwMode="auto">
            <a:xfrm>
              <a:off x="3174" y="148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5079" name="Text Box 19"/>
            <p:cNvSpPr txBox="1">
              <a:spLocks noChangeArrowheads="1"/>
            </p:cNvSpPr>
            <p:nvPr/>
          </p:nvSpPr>
          <p:spPr bwMode="auto">
            <a:xfrm>
              <a:off x="3894" y="110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5080" name="Line 20"/>
            <p:cNvSpPr>
              <a:spLocks noChangeShapeType="1"/>
            </p:cNvSpPr>
            <p:nvPr/>
          </p:nvSpPr>
          <p:spPr bwMode="auto">
            <a:xfrm>
              <a:off x="2762" y="1056"/>
              <a:ext cx="5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Line 21"/>
            <p:cNvSpPr>
              <a:spLocks noChangeShapeType="1"/>
            </p:cNvSpPr>
            <p:nvPr/>
          </p:nvSpPr>
          <p:spPr bwMode="auto">
            <a:xfrm>
              <a:off x="3338" y="10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22"/>
            <p:cNvSpPr>
              <a:spLocks noChangeShapeType="1"/>
            </p:cNvSpPr>
            <p:nvPr/>
          </p:nvSpPr>
          <p:spPr bwMode="auto">
            <a:xfrm>
              <a:off x="3290" y="960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Line 23"/>
            <p:cNvSpPr>
              <a:spLocks noChangeShapeType="1"/>
            </p:cNvSpPr>
            <p:nvPr/>
          </p:nvSpPr>
          <p:spPr bwMode="auto">
            <a:xfrm>
              <a:off x="3434" y="960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Line 24"/>
            <p:cNvSpPr>
              <a:spLocks noChangeShapeType="1"/>
            </p:cNvSpPr>
            <p:nvPr/>
          </p:nvSpPr>
          <p:spPr bwMode="auto">
            <a:xfrm>
              <a:off x="3290" y="1152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Line 25"/>
            <p:cNvSpPr>
              <a:spLocks noChangeShapeType="1"/>
            </p:cNvSpPr>
            <p:nvPr/>
          </p:nvSpPr>
          <p:spPr bwMode="auto">
            <a:xfrm>
              <a:off x="3434" y="1056"/>
              <a:ext cx="5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Line 26"/>
            <p:cNvSpPr>
              <a:spLocks noChangeShapeType="1"/>
            </p:cNvSpPr>
            <p:nvPr/>
          </p:nvSpPr>
          <p:spPr bwMode="auto">
            <a:xfrm>
              <a:off x="4010" y="10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27"/>
            <p:cNvSpPr>
              <a:spLocks noChangeShapeType="1"/>
            </p:cNvSpPr>
            <p:nvPr/>
          </p:nvSpPr>
          <p:spPr bwMode="auto">
            <a:xfrm>
              <a:off x="3962" y="960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Line 28"/>
            <p:cNvSpPr>
              <a:spLocks noChangeShapeType="1"/>
            </p:cNvSpPr>
            <p:nvPr/>
          </p:nvSpPr>
          <p:spPr bwMode="auto">
            <a:xfrm>
              <a:off x="4106" y="960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Line 29"/>
            <p:cNvSpPr>
              <a:spLocks noChangeShapeType="1"/>
            </p:cNvSpPr>
            <p:nvPr/>
          </p:nvSpPr>
          <p:spPr bwMode="auto">
            <a:xfrm>
              <a:off x="3962" y="1152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Line 30"/>
            <p:cNvSpPr>
              <a:spLocks noChangeShapeType="1"/>
            </p:cNvSpPr>
            <p:nvPr/>
          </p:nvSpPr>
          <p:spPr bwMode="auto">
            <a:xfrm>
              <a:off x="2954" y="1056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Line 31"/>
            <p:cNvSpPr>
              <a:spLocks noChangeShapeType="1"/>
            </p:cNvSpPr>
            <p:nvPr/>
          </p:nvSpPr>
          <p:spPr bwMode="auto">
            <a:xfrm flipV="1">
              <a:off x="3674" y="1056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Oval 32"/>
            <p:cNvSpPr>
              <a:spLocks noChangeArrowheads="1"/>
            </p:cNvSpPr>
            <p:nvPr/>
          </p:nvSpPr>
          <p:spPr bwMode="auto">
            <a:xfrm>
              <a:off x="3650" y="10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93" name="Line 33"/>
            <p:cNvSpPr>
              <a:spLocks noChangeShapeType="1"/>
            </p:cNvSpPr>
            <p:nvPr/>
          </p:nvSpPr>
          <p:spPr bwMode="auto">
            <a:xfrm flipV="1">
              <a:off x="3674" y="72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Text Box 34"/>
            <p:cNvSpPr txBox="1">
              <a:spLocks noChangeArrowheads="1"/>
            </p:cNvSpPr>
            <p:nvPr/>
          </p:nvSpPr>
          <p:spPr bwMode="auto">
            <a:xfrm>
              <a:off x="3194" y="67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45095" name="Group 35"/>
            <p:cNvGrpSpPr>
              <a:grpSpLocks/>
            </p:cNvGrpSpPr>
            <p:nvPr/>
          </p:nvGrpSpPr>
          <p:grpSpPr bwMode="auto">
            <a:xfrm rot="-5400000">
              <a:off x="4414" y="700"/>
              <a:ext cx="104" cy="720"/>
              <a:chOff x="3258" y="384"/>
              <a:chExt cx="104" cy="720"/>
            </a:xfrm>
          </p:grpSpPr>
          <p:sp>
            <p:nvSpPr>
              <p:cNvPr id="45097" name="Freeform 36"/>
              <p:cNvSpPr>
                <a:spLocks noChangeArrowheads="1"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8" name="Line 37"/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9" name="Line 38"/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96" name="Text Box 39"/>
            <p:cNvSpPr txBox="1">
              <a:spLocks noChangeArrowheads="1"/>
            </p:cNvSpPr>
            <p:nvPr/>
          </p:nvSpPr>
          <p:spPr bwMode="auto">
            <a:xfrm>
              <a:off x="4298" y="110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31784" name="Object 2"/>
          <p:cNvGraphicFramePr>
            <a:graphicFrameLocks noChangeAspect="1"/>
          </p:cNvGraphicFramePr>
          <p:nvPr/>
        </p:nvGraphicFramePr>
        <p:xfrm>
          <a:off x="1836738" y="3598863"/>
          <a:ext cx="518636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06700" imgH="431800" progId="Equation.3">
                  <p:embed/>
                </p:oleObj>
              </mc:Choice>
              <mc:Fallback>
                <p:oleObj r:id="rId4" imgW="2806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598863"/>
                        <a:ext cx="518636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1531938" y="4578350"/>
            <a:ext cx="5353050" cy="857250"/>
            <a:chOff x="982" y="3168"/>
            <a:chExt cx="3372" cy="540"/>
          </a:xfrm>
        </p:grpSpPr>
        <p:grpSp>
          <p:nvGrpSpPr>
            <p:cNvPr id="45063" name="Group 42"/>
            <p:cNvGrpSpPr>
              <a:grpSpLocks/>
            </p:cNvGrpSpPr>
            <p:nvPr/>
          </p:nvGrpSpPr>
          <p:grpSpPr bwMode="auto">
            <a:xfrm>
              <a:off x="1488" y="3168"/>
              <a:ext cx="2866" cy="540"/>
              <a:chOff x="1536" y="3072"/>
              <a:chExt cx="2866" cy="540"/>
            </a:xfrm>
          </p:grpSpPr>
          <p:graphicFrame>
            <p:nvGraphicFramePr>
              <p:cNvPr id="45065" name="Object 3"/>
              <p:cNvGraphicFramePr>
                <a:graphicFrameLocks noChangeAspect="1"/>
              </p:cNvGraphicFramePr>
              <p:nvPr/>
            </p:nvGraphicFramePr>
            <p:xfrm>
              <a:off x="1536" y="3072"/>
              <a:ext cx="655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545863" imgH="444307" progId="Equation.3">
                      <p:embed/>
                    </p:oleObj>
                  </mc:Choice>
                  <mc:Fallback>
                    <p:oleObj r:id="rId6" imgW="545863" imgH="444307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3072"/>
                            <a:ext cx="655" cy="5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66" name="Object 4"/>
              <p:cNvGraphicFramePr>
                <a:graphicFrameLocks noChangeAspect="1"/>
              </p:cNvGraphicFramePr>
              <p:nvPr/>
            </p:nvGraphicFramePr>
            <p:xfrm>
              <a:off x="2496" y="3072"/>
              <a:ext cx="701" cy="5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583947" imgH="444307" progId="Equation.3">
                      <p:embed/>
                    </p:oleObj>
                  </mc:Choice>
                  <mc:Fallback>
                    <p:oleObj r:id="rId8" imgW="583947" imgH="444307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072"/>
                            <a:ext cx="701" cy="5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67" name="Object 5"/>
              <p:cNvGraphicFramePr>
                <a:graphicFrameLocks noChangeAspect="1"/>
              </p:cNvGraphicFramePr>
              <p:nvPr/>
            </p:nvGraphicFramePr>
            <p:xfrm>
              <a:off x="3408" y="3079"/>
              <a:ext cx="994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825500" imgH="431800" progId="Equation.3">
                      <p:embed/>
                    </p:oleObj>
                  </mc:Choice>
                  <mc:Fallback>
                    <p:oleObj r:id="rId10" imgW="825500" imgH="4318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079"/>
                            <a:ext cx="994" cy="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5064" name="Rectangle 46"/>
            <p:cNvSpPr>
              <a:spLocks noChangeArrowheads="1"/>
            </p:cNvSpPr>
            <p:nvPr/>
          </p:nvSpPr>
          <p:spPr bwMode="auto">
            <a:xfrm>
              <a:off x="982" y="3225"/>
              <a:ext cx="7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令：</a:t>
              </a:r>
            </a:p>
          </p:txBody>
        </p:sp>
      </p:grpSp>
      <p:sp>
        <p:nvSpPr>
          <p:cNvPr id="31791" name="Rectangle 47"/>
          <p:cNvSpPr>
            <a:spLocks noChangeArrowheads="1"/>
          </p:cNvSpPr>
          <p:nvPr/>
        </p:nvSpPr>
        <p:spPr bwMode="auto">
          <a:xfrm>
            <a:off x="1531938" y="5507038"/>
            <a:ext cx="7204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则其传递函数与无源阻容近似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宋体" panose="02010600030101010101" pitchFamily="2" charset="-122"/>
              </a:rPr>
              <a:t>网络相同。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ChangeArrowheads="1"/>
          </p:cNvSpPr>
          <p:nvPr/>
        </p:nvSpPr>
        <p:spPr bwMode="auto">
          <a:xfrm>
            <a:off x="971550" y="1052513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近似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Times New Roman" panose="02020603050405020304" pitchFamily="18" charset="0"/>
              </a:rPr>
              <a:t>校正装置的特性 </a:t>
            </a:r>
          </a:p>
        </p:txBody>
      </p:sp>
      <p:graphicFrame>
        <p:nvGraphicFramePr>
          <p:cNvPr id="32772" name="Object 2"/>
          <p:cNvGraphicFramePr>
            <a:graphicFrameLocks noChangeAspect="1"/>
          </p:cNvGraphicFramePr>
          <p:nvPr/>
        </p:nvGraphicFramePr>
        <p:xfrm>
          <a:off x="1692275" y="2133600"/>
          <a:ext cx="3429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05000" imgH="609600" progId="Equation.3">
                  <p:embed/>
                </p:oleObj>
              </mc:Choice>
              <mc:Fallback>
                <p:oleObj r:id="rId3" imgW="1905000" imgH="60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133600"/>
                        <a:ext cx="34290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39875" y="3382963"/>
            <a:ext cx="6324600" cy="1798637"/>
            <a:chOff x="1008" y="2134"/>
            <a:chExt cx="3984" cy="1133"/>
          </a:xfrm>
        </p:grpSpPr>
        <p:sp>
          <p:nvSpPr>
            <p:cNvPr id="47109" name="Rectangle 6"/>
            <p:cNvSpPr>
              <a:spLocks noChangeArrowheads="1"/>
            </p:cNvSpPr>
            <p:nvPr/>
          </p:nvSpPr>
          <p:spPr bwMode="auto">
            <a:xfrm>
              <a:off x="1008" y="2191"/>
              <a:ext cx="3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转折频率：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7110" name="Object 3"/>
            <p:cNvGraphicFramePr>
              <a:graphicFrameLocks noChangeAspect="1"/>
            </p:cNvGraphicFramePr>
            <p:nvPr/>
          </p:nvGraphicFramePr>
          <p:xfrm>
            <a:off x="2256" y="2134"/>
            <a:ext cx="848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85502" imgH="444307" progId="Equation.3">
                    <p:embed/>
                  </p:oleObj>
                </mc:Choice>
                <mc:Fallback>
                  <p:oleObj r:id="rId5" imgW="685502" imgH="444307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134"/>
                          <a:ext cx="848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1" name="Object 4"/>
            <p:cNvGraphicFramePr>
              <a:graphicFrameLocks noChangeAspect="1"/>
            </p:cNvGraphicFramePr>
            <p:nvPr/>
          </p:nvGraphicFramePr>
          <p:xfrm>
            <a:off x="3456" y="2134"/>
            <a:ext cx="672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45863" imgH="431613" progId="Equation.3">
                    <p:embed/>
                  </p:oleObj>
                </mc:Choice>
                <mc:Fallback>
                  <p:oleObj r:id="rId7" imgW="545863" imgH="431613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134"/>
                          <a:ext cx="672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2" name="Object 5"/>
            <p:cNvGraphicFramePr>
              <a:graphicFrameLocks noChangeAspect="1"/>
            </p:cNvGraphicFramePr>
            <p:nvPr/>
          </p:nvGraphicFramePr>
          <p:xfrm>
            <a:off x="2252" y="2725"/>
            <a:ext cx="628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08000" imgH="431800" progId="Equation.3">
                    <p:embed/>
                  </p:oleObj>
                </mc:Choice>
                <mc:Fallback>
                  <p:oleObj r:id="rId9" imgW="508000" imgH="431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2725"/>
                          <a:ext cx="628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3" name="Object 6"/>
            <p:cNvGraphicFramePr>
              <a:graphicFrameLocks noChangeAspect="1"/>
            </p:cNvGraphicFramePr>
            <p:nvPr/>
          </p:nvGraphicFramePr>
          <p:xfrm>
            <a:off x="3456" y="2736"/>
            <a:ext cx="641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520474" imgH="431613" progId="Equation.3">
                    <p:embed/>
                  </p:oleObj>
                </mc:Choice>
                <mc:Fallback>
                  <p:oleObj r:id="rId11" imgW="520474" imgH="431613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736"/>
                          <a:ext cx="641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3"/>
          <p:cNvGrpSpPr>
            <a:grpSpLocks/>
          </p:cNvGrpSpPr>
          <p:nvPr/>
        </p:nvGrpSpPr>
        <p:grpSpPr bwMode="auto">
          <a:xfrm>
            <a:off x="1042988" y="1268413"/>
            <a:ext cx="7145337" cy="4805362"/>
            <a:chOff x="624" y="1200"/>
            <a:chExt cx="4501" cy="3027"/>
          </a:xfrm>
        </p:grpSpPr>
        <p:sp>
          <p:nvSpPr>
            <p:cNvPr id="49155" name="Freeform 4"/>
            <p:cNvSpPr>
              <a:spLocks noChangeArrowheads="1"/>
            </p:cNvSpPr>
            <p:nvPr/>
          </p:nvSpPr>
          <p:spPr bwMode="auto">
            <a:xfrm>
              <a:off x="1209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6" name="Freeform 5"/>
            <p:cNvSpPr>
              <a:spLocks noChangeArrowheads="1"/>
            </p:cNvSpPr>
            <p:nvPr/>
          </p:nvSpPr>
          <p:spPr bwMode="auto">
            <a:xfrm>
              <a:off x="1860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" name="Freeform 6"/>
            <p:cNvSpPr>
              <a:spLocks noChangeArrowheads="1"/>
            </p:cNvSpPr>
            <p:nvPr/>
          </p:nvSpPr>
          <p:spPr bwMode="auto">
            <a:xfrm>
              <a:off x="2511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8" name="Freeform 7"/>
            <p:cNvSpPr>
              <a:spLocks noChangeArrowheads="1"/>
            </p:cNvSpPr>
            <p:nvPr/>
          </p:nvSpPr>
          <p:spPr bwMode="auto">
            <a:xfrm>
              <a:off x="3163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9" name="Freeform 8"/>
            <p:cNvSpPr>
              <a:spLocks noChangeArrowheads="1"/>
            </p:cNvSpPr>
            <p:nvPr/>
          </p:nvSpPr>
          <p:spPr bwMode="auto">
            <a:xfrm>
              <a:off x="3814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0" name="Freeform 9"/>
            <p:cNvSpPr>
              <a:spLocks noChangeArrowheads="1"/>
            </p:cNvSpPr>
            <p:nvPr/>
          </p:nvSpPr>
          <p:spPr bwMode="auto">
            <a:xfrm>
              <a:off x="4466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1" name="Freeform 10"/>
            <p:cNvSpPr>
              <a:spLocks noChangeArrowheads="1"/>
            </p:cNvSpPr>
            <p:nvPr/>
          </p:nvSpPr>
          <p:spPr bwMode="auto">
            <a:xfrm>
              <a:off x="5124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Freeform 11"/>
            <p:cNvSpPr>
              <a:spLocks noChangeArrowheads="1"/>
            </p:cNvSpPr>
            <p:nvPr/>
          </p:nvSpPr>
          <p:spPr bwMode="auto">
            <a:xfrm>
              <a:off x="1209" y="2497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3" name="Freeform 12"/>
            <p:cNvSpPr>
              <a:spLocks noChangeArrowheads="1"/>
            </p:cNvSpPr>
            <p:nvPr/>
          </p:nvSpPr>
          <p:spPr bwMode="auto">
            <a:xfrm>
              <a:off x="1209" y="2095"/>
              <a:ext cx="3915" cy="0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Freeform 13"/>
            <p:cNvSpPr>
              <a:spLocks noChangeArrowheads="1"/>
            </p:cNvSpPr>
            <p:nvPr/>
          </p:nvSpPr>
          <p:spPr bwMode="auto">
            <a:xfrm>
              <a:off x="1209" y="1692"/>
              <a:ext cx="3915" cy="0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Freeform 14"/>
            <p:cNvSpPr>
              <a:spLocks noChangeArrowheads="1"/>
            </p:cNvSpPr>
            <p:nvPr/>
          </p:nvSpPr>
          <p:spPr bwMode="auto">
            <a:xfrm>
              <a:off x="1209" y="1290"/>
              <a:ext cx="3915" cy="0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6" name="Freeform 15"/>
            <p:cNvSpPr>
              <a:spLocks noChangeArrowheads="1"/>
            </p:cNvSpPr>
            <p:nvPr/>
          </p:nvSpPr>
          <p:spPr bwMode="auto">
            <a:xfrm>
              <a:off x="1209" y="1290"/>
              <a:ext cx="3915" cy="1207"/>
            </a:xfrm>
            <a:custGeom>
              <a:avLst/>
              <a:gdLst>
                <a:gd name="T0" fmla="*/ 0 w 595"/>
                <a:gd name="T1" fmla="*/ 1207 h 198"/>
                <a:gd name="T2" fmla="*/ 3915 w 595"/>
                <a:gd name="T3" fmla="*/ 1207 h 198"/>
                <a:gd name="T4" fmla="*/ 3915 w 595"/>
                <a:gd name="T5" fmla="*/ 0 h 1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7" name="Line 16"/>
            <p:cNvSpPr>
              <a:spLocks noChangeShapeType="1"/>
            </p:cNvSpPr>
            <p:nvPr/>
          </p:nvSpPr>
          <p:spPr bwMode="auto">
            <a:xfrm flipV="1">
              <a:off x="1209" y="1290"/>
              <a:ext cx="1" cy="1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8" name="Line 17"/>
            <p:cNvSpPr>
              <a:spLocks noChangeShapeType="1"/>
            </p:cNvSpPr>
            <p:nvPr/>
          </p:nvSpPr>
          <p:spPr bwMode="auto">
            <a:xfrm>
              <a:off x="1209" y="2497"/>
              <a:ext cx="39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9" name="Line 18"/>
            <p:cNvSpPr>
              <a:spLocks noChangeShapeType="1"/>
            </p:cNvSpPr>
            <p:nvPr/>
          </p:nvSpPr>
          <p:spPr bwMode="auto">
            <a:xfrm flipV="1">
              <a:off x="1209" y="1290"/>
              <a:ext cx="1" cy="12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0" name="Line 19"/>
            <p:cNvSpPr>
              <a:spLocks noChangeShapeType="1"/>
            </p:cNvSpPr>
            <p:nvPr/>
          </p:nvSpPr>
          <p:spPr bwMode="auto">
            <a:xfrm flipV="1">
              <a:off x="120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20"/>
            <p:cNvSpPr>
              <a:spLocks noChangeShapeType="1"/>
            </p:cNvSpPr>
            <p:nvPr/>
          </p:nvSpPr>
          <p:spPr bwMode="auto">
            <a:xfrm>
              <a:off x="120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2" name="Freeform 21"/>
            <p:cNvSpPr>
              <a:spLocks noChangeArrowheads="1"/>
            </p:cNvSpPr>
            <p:nvPr/>
          </p:nvSpPr>
          <p:spPr bwMode="auto">
            <a:xfrm>
              <a:off x="1209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Line 22"/>
            <p:cNvSpPr>
              <a:spLocks noChangeShapeType="1"/>
            </p:cNvSpPr>
            <p:nvPr/>
          </p:nvSpPr>
          <p:spPr bwMode="auto">
            <a:xfrm flipV="1">
              <a:off x="1209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4" name="Line 23"/>
            <p:cNvSpPr>
              <a:spLocks noChangeShapeType="1"/>
            </p:cNvSpPr>
            <p:nvPr/>
          </p:nvSpPr>
          <p:spPr bwMode="auto">
            <a:xfrm>
              <a:off x="1209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Line 24"/>
            <p:cNvSpPr>
              <a:spLocks noChangeShapeType="1"/>
            </p:cNvSpPr>
            <p:nvPr/>
          </p:nvSpPr>
          <p:spPr bwMode="auto">
            <a:xfrm flipV="1">
              <a:off x="139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6" name="Line 25"/>
            <p:cNvSpPr>
              <a:spLocks noChangeShapeType="1"/>
            </p:cNvSpPr>
            <p:nvPr/>
          </p:nvSpPr>
          <p:spPr bwMode="auto">
            <a:xfrm>
              <a:off x="139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7" name="Line 26"/>
            <p:cNvSpPr>
              <a:spLocks noChangeShapeType="1"/>
            </p:cNvSpPr>
            <p:nvPr/>
          </p:nvSpPr>
          <p:spPr bwMode="auto">
            <a:xfrm flipV="1">
              <a:off x="151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8" name="Line 27"/>
            <p:cNvSpPr>
              <a:spLocks noChangeShapeType="1"/>
            </p:cNvSpPr>
            <p:nvPr/>
          </p:nvSpPr>
          <p:spPr bwMode="auto">
            <a:xfrm>
              <a:off x="151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9" name="Line 28"/>
            <p:cNvSpPr>
              <a:spLocks noChangeShapeType="1"/>
            </p:cNvSpPr>
            <p:nvPr/>
          </p:nvSpPr>
          <p:spPr bwMode="auto">
            <a:xfrm flipV="1">
              <a:off x="159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0" name="Line 29"/>
            <p:cNvSpPr>
              <a:spLocks noChangeShapeType="1"/>
            </p:cNvSpPr>
            <p:nvPr/>
          </p:nvSpPr>
          <p:spPr bwMode="auto">
            <a:xfrm>
              <a:off x="159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1" name="Line 30"/>
            <p:cNvSpPr>
              <a:spLocks noChangeShapeType="1"/>
            </p:cNvSpPr>
            <p:nvPr/>
          </p:nvSpPr>
          <p:spPr bwMode="auto">
            <a:xfrm flipV="1">
              <a:off x="1663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2" name="Line 31"/>
            <p:cNvSpPr>
              <a:spLocks noChangeShapeType="1"/>
            </p:cNvSpPr>
            <p:nvPr/>
          </p:nvSpPr>
          <p:spPr bwMode="auto">
            <a:xfrm>
              <a:off x="1663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3" name="Line 32"/>
            <p:cNvSpPr>
              <a:spLocks noChangeShapeType="1"/>
            </p:cNvSpPr>
            <p:nvPr/>
          </p:nvSpPr>
          <p:spPr bwMode="auto">
            <a:xfrm flipV="1">
              <a:off x="1715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4" name="Line 33"/>
            <p:cNvSpPr>
              <a:spLocks noChangeShapeType="1"/>
            </p:cNvSpPr>
            <p:nvPr/>
          </p:nvSpPr>
          <p:spPr bwMode="auto">
            <a:xfrm>
              <a:off x="1715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5" name="Line 34"/>
            <p:cNvSpPr>
              <a:spLocks noChangeShapeType="1"/>
            </p:cNvSpPr>
            <p:nvPr/>
          </p:nvSpPr>
          <p:spPr bwMode="auto">
            <a:xfrm flipV="1">
              <a:off x="1755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6" name="Line 35"/>
            <p:cNvSpPr>
              <a:spLocks noChangeShapeType="1"/>
            </p:cNvSpPr>
            <p:nvPr/>
          </p:nvSpPr>
          <p:spPr bwMode="auto">
            <a:xfrm>
              <a:off x="1755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7" name="Line 36"/>
            <p:cNvSpPr>
              <a:spLocks noChangeShapeType="1"/>
            </p:cNvSpPr>
            <p:nvPr/>
          </p:nvSpPr>
          <p:spPr bwMode="auto">
            <a:xfrm flipV="1">
              <a:off x="1794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8" name="Line 37"/>
            <p:cNvSpPr>
              <a:spLocks noChangeShapeType="1"/>
            </p:cNvSpPr>
            <p:nvPr/>
          </p:nvSpPr>
          <p:spPr bwMode="auto">
            <a:xfrm>
              <a:off x="1794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Line 38"/>
            <p:cNvSpPr>
              <a:spLocks noChangeShapeType="1"/>
            </p:cNvSpPr>
            <p:nvPr/>
          </p:nvSpPr>
          <p:spPr bwMode="auto">
            <a:xfrm flipV="1">
              <a:off x="182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0" name="Line 39"/>
            <p:cNvSpPr>
              <a:spLocks noChangeShapeType="1"/>
            </p:cNvSpPr>
            <p:nvPr/>
          </p:nvSpPr>
          <p:spPr bwMode="auto">
            <a:xfrm>
              <a:off x="182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1" name="Line 40"/>
            <p:cNvSpPr>
              <a:spLocks noChangeShapeType="1"/>
            </p:cNvSpPr>
            <p:nvPr/>
          </p:nvSpPr>
          <p:spPr bwMode="auto">
            <a:xfrm flipV="1">
              <a:off x="1860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2" name="Line 41"/>
            <p:cNvSpPr>
              <a:spLocks noChangeShapeType="1"/>
            </p:cNvSpPr>
            <p:nvPr/>
          </p:nvSpPr>
          <p:spPr bwMode="auto">
            <a:xfrm>
              <a:off x="1860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3" name="Freeform 42"/>
            <p:cNvSpPr>
              <a:spLocks noChangeArrowheads="1"/>
            </p:cNvSpPr>
            <p:nvPr/>
          </p:nvSpPr>
          <p:spPr bwMode="auto">
            <a:xfrm>
              <a:off x="1860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4" name="Line 43"/>
            <p:cNvSpPr>
              <a:spLocks noChangeShapeType="1"/>
            </p:cNvSpPr>
            <p:nvPr/>
          </p:nvSpPr>
          <p:spPr bwMode="auto">
            <a:xfrm flipV="1">
              <a:off x="1860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5" name="Line 44"/>
            <p:cNvSpPr>
              <a:spLocks noChangeShapeType="1"/>
            </p:cNvSpPr>
            <p:nvPr/>
          </p:nvSpPr>
          <p:spPr bwMode="auto">
            <a:xfrm>
              <a:off x="1860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6" name="Line 45"/>
            <p:cNvSpPr>
              <a:spLocks noChangeShapeType="1"/>
            </p:cNvSpPr>
            <p:nvPr/>
          </p:nvSpPr>
          <p:spPr bwMode="auto">
            <a:xfrm flipV="1">
              <a:off x="205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7" name="Line 46"/>
            <p:cNvSpPr>
              <a:spLocks noChangeShapeType="1"/>
            </p:cNvSpPr>
            <p:nvPr/>
          </p:nvSpPr>
          <p:spPr bwMode="auto">
            <a:xfrm>
              <a:off x="205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Line 47"/>
            <p:cNvSpPr>
              <a:spLocks noChangeShapeType="1"/>
            </p:cNvSpPr>
            <p:nvPr/>
          </p:nvSpPr>
          <p:spPr bwMode="auto">
            <a:xfrm flipV="1">
              <a:off x="216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9" name="Line 48"/>
            <p:cNvSpPr>
              <a:spLocks noChangeShapeType="1"/>
            </p:cNvSpPr>
            <p:nvPr/>
          </p:nvSpPr>
          <p:spPr bwMode="auto">
            <a:xfrm>
              <a:off x="216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0" name="Line 49"/>
            <p:cNvSpPr>
              <a:spLocks noChangeShapeType="1"/>
            </p:cNvSpPr>
            <p:nvPr/>
          </p:nvSpPr>
          <p:spPr bwMode="auto">
            <a:xfrm flipV="1">
              <a:off x="224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1" name="Line 50"/>
            <p:cNvSpPr>
              <a:spLocks noChangeShapeType="1"/>
            </p:cNvSpPr>
            <p:nvPr/>
          </p:nvSpPr>
          <p:spPr bwMode="auto">
            <a:xfrm>
              <a:off x="224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2" name="Line 51"/>
            <p:cNvSpPr>
              <a:spLocks noChangeShapeType="1"/>
            </p:cNvSpPr>
            <p:nvPr/>
          </p:nvSpPr>
          <p:spPr bwMode="auto">
            <a:xfrm flipV="1">
              <a:off x="2314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3" name="Line 52"/>
            <p:cNvSpPr>
              <a:spLocks noChangeShapeType="1"/>
            </p:cNvSpPr>
            <p:nvPr/>
          </p:nvSpPr>
          <p:spPr bwMode="auto">
            <a:xfrm>
              <a:off x="2314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4" name="Line 53"/>
            <p:cNvSpPr>
              <a:spLocks noChangeShapeType="1"/>
            </p:cNvSpPr>
            <p:nvPr/>
          </p:nvSpPr>
          <p:spPr bwMode="auto">
            <a:xfrm flipV="1">
              <a:off x="236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5" name="Line 54"/>
            <p:cNvSpPr>
              <a:spLocks noChangeShapeType="1"/>
            </p:cNvSpPr>
            <p:nvPr/>
          </p:nvSpPr>
          <p:spPr bwMode="auto">
            <a:xfrm>
              <a:off x="236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6" name="Line 55"/>
            <p:cNvSpPr>
              <a:spLocks noChangeShapeType="1"/>
            </p:cNvSpPr>
            <p:nvPr/>
          </p:nvSpPr>
          <p:spPr bwMode="auto">
            <a:xfrm flipV="1">
              <a:off x="240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7" name="Line 56"/>
            <p:cNvSpPr>
              <a:spLocks noChangeShapeType="1"/>
            </p:cNvSpPr>
            <p:nvPr/>
          </p:nvSpPr>
          <p:spPr bwMode="auto">
            <a:xfrm>
              <a:off x="240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8" name="Line 57"/>
            <p:cNvSpPr>
              <a:spLocks noChangeShapeType="1"/>
            </p:cNvSpPr>
            <p:nvPr/>
          </p:nvSpPr>
          <p:spPr bwMode="auto">
            <a:xfrm flipV="1">
              <a:off x="2445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9" name="Line 58"/>
            <p:cNvSpPr>
              <a:spLocks noChangeShapeType="1"/>
            </p:cNvSpPr>
            <p:nvPr/>
          </p:nvSpPr>
          <p:spPr bwMode="auto">
            <a:xfrm>
              <a:off x="2445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0" name="Line 59"/>
            <p:cNvSpPr>
              <a:spLocks noChangeShapeType="1"/>
            </p:cNvSpPr>
            <p:nvPr/>
          </p:nvSpPr>
          <p:spPr bwMode="auto">
            <a:xfrm flipV="1">
              <a:off x="247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1" name="Line 60"/>
            <p:cNvSpPr>
              <a:spLocks noChangeShapeType="1"/>
            </p:cNvSpPr>
            <p:nvPr/>
          </p:nvSpPr>
          <p:spPr bwMode="auto">
            <a:xfrm>
              <a:off x="247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2" name="Line 61"/>
            <p:cNvSpPr>
              <a:spLocks noChangeShapeType="1"/>
            </p:cNvSpPr>
            <p:nvPr/>
          </p:nvSpPr>
          <p:spPr bwMode="auto">
            <a:xfrm flipV="1">
              <a:off x="2511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3" name="Line 62"/>
            <p:cNvSpPr>
              <a:spLocks noChangeShapeType="1"/>
            </p:cNvSpPr>
            <p:nvPr/>
          </p:nvSpPr>
          <p:spPr bwMode="auto">
            <a:xfrm>
              <a:off x="2511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4" name="Freeform 63"/>
            <p:cNvSpPr>
              <a:spLocks noChangeArrowheads="1"/>
            </p:cNvSpPr>
            <p:nvPr/>
          </p:nvSpPr>
          <p:spPr bwMode="auto">
            <a:xfrm>
              <a:off x="2511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5" name="Line 64"/>
            <p:cNvSpPr>
              <a:spLocks noChangeShapeType="1"/>
            </p:cNvSpPr>
            <p:nvPr/>
          </p:nvSpPr>
          <p:spPr bwMode="auto">
            <a:xfrm flipV="1">
              <a:off x="2511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6" name="Line 65"/>
            <p:cNvSpPr>
              <a:spLocks noChangeShapeType="1"/>
            </p:cNvSpPr>
            <p:nvPr/>
          </p:nvSpPr>
          <p:spPr bwMode="auto">
            <a:xfrm>
              <a:off x="2511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7" name="Line 66"/>
            <p:cNvSpPr>
              <a:spLocks noChangeShapeType="1"/>
            </p:cNvSpPr>
            <p:nvPr/>
          </p:nvSpPr>
          <p:spPr bwMode="auto">
            <a:xfrm flipV="1">
              <a:off x="270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8" name="Line 67"/>
            <p:cNvSpPr>
              <a:spLocks noChangeShapeType="1"/>
            </p:cNvSpPr>
            <p:nvPr/>
          </p:nvSpPr>
          <p:spPr bwMode="auto">
            <a:xfrm>
              <a:off x="270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19" name="Line 68"/>
            <p:cNvSpPr>
              <a:spLocks noChangeShapeType="1"/>
            </p:cNvSpPr>
            <p:nvPr/>
          </p:nvSpPr>
          <p:spPr bwMode="auto">
            <a:xfrm flipV="1">
              <a:off x="2821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0" name="Line 69"/>
            <p:cNvSpPr>
              <a:spLocks noChangeShapeType="1"/>
            </p:cNvSpPr>
            <p:nvPr/>
          </p:nvSpPr>
          <p:spPr bwMode="auto">
            <a:xfrm>
              <a:off x="2821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1" name="Line 70"/>
            <p:cNvSpPr>
              <a:spLocks noChangeShapeType="1"/>
            </p:cNvSpPr>
            <p:nvPr/>
          </p:nvSpPr>
          <p:spPr bwMode="auto">
            <a:xfrm flipV="1">
              <a:off x="290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2" name="Line 71"/>
            <p:cNvSpPr>
              <a:spLocks noChangeShapeType="1"/>
            </p:cNvSpPr>
            <p:nvPr/>
          </p:nvSpPr>
          <p:spPr bwMode="auto">
            <a:xfrm>
              <a:off x="290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3" name="Line 72"/>
            <p:cNvSpPr>
              <a:spLocks noChangeShapeType="1"/>
            </p:cNvSpPr>
            <p:nvPr/>
          </p:nvSpPr>
          <p:spPr bwMode="auto">
            <a:xfrm flipV="1">
              <a:off x="2965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4" name="Line 73"/>
            <p:cNvSpPr>
              <a:spLocks noChangeShapeType="1"/>
            </p:cNvSpPr>
            <p:nvPr/>
          </p:nvSpPr>
          <p:spPr bwMode="auto">
            <a:xfrm>
              <a:off x="2965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5" name="Line 74"/>
            <p:cNvSpPr>
              <a:spLocks noChangeShapeType="1"/>
            </p:cNvSpPr>
            <p:nvPr/>
          </p:nvSpPr>
          <p:spPr bwMode="auto">
            <a:xfrm flipV="1">
              <a:off x="301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6" name="Line 75"/>
            <p:cNvSpPr>
              <a:spLocks noChangeShapeType="1"/>
            </p:cNvSpPr>
            <p:nvPr/>
          </p:nvSpPr>
          <p:spPr bwMode="auto">
            <a:xfrm>
              <a:off x="301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7" name="Line 76"/>
            <p:cNvSpPr>
              <a:spLocks noChangeShapeType="1"/>
            </p:cNvSpPr>
            <p:nvPr/>
          </p:nvSpPr>
          <p:spPr bwMode="auto">
            <a:xfrm flipV="1">
              <a:off x="3064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8" name="Line 77"/>
            <p:cNvSpPr>
              <a:spLocks noChangeShapeType="1"/>
            </p:cNvSpPr>
            <p:nvPr/>
          </p:nvSpPr>
          <p:spPr bwMode="auto">
            <a:xfrm>
              <a:off x="3064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9" name="Line 78"/>
            <p:cNvSpPr>
              <a:spLocks noChangeShapeType="1"/>
            </p:cNvSpPr>
            <p:nvPr/>
          </p:nvSpPr>
          <p:spPr bwMode="auto">
            <a:xfrm flipV="1">
              <a:off x="309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0" name="Line 79"/>
            <p:cNvSpPr>
              <a:spLocks noChangeShapeType="1"/>
            </p:cNvSpPr>
            <p:nvPr/>
          </p:nvSpPr>
          <p:spPr bwMode="auto">
            <a:xfrm>
              <a:off x="309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1" name="Line 80"/>
            <p:cNvSpPr>
              <a:spLocks noChangeShapeType="1"/>
            </p:cNvSpPr>
            <p:nvPr/>
          </p:nvSpPr>
          <p:spPr bwMode="auto">
            <a:xfrm flipV="1">
              <a:off x="3130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2" name="Line 81"/>
            <p:cNvSpPr>
              <a:spLocks noChangeShapeType="1"/>
            </p:cNvSpPr>
            <p:nvPr/>
          </p:nvSpPr>
          <p:spPr bwMode="auto">
            <a:xfrm>
              <a:off x="3130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3" name="Line 82"/>
            <p:cNvSpPr>
              <a:spLocks noChangeShapeType="1"/>
            </p:cNvSpPr>
            <p:nvPr/>
          </p:nvSpPr>
          <p:spPr bwMode="auto">
            <a:xfrm flipV="1">
              <a:off x="3163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4" name="Line 83"/>
            <p:cNvSpPr>
              <a:spLocks noChangeShapeType="1"/>
            </p:cNvSpPr>
            <p:nvPr/>
          </p:nvSpPr>
          <p:spPr bwMode="auto">
            <a:xfrm>
              <a:off x="3163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5" name="Freeform 84"/>
            <p:cNvSpPr>
              <a:spLocks noChangeArrowheads="1"/>
            </p:cNvSpPr>
            <p:nvPr/>
          </p:nvSpPr>
          <p:spPr bwMode="auto">
            <a:xfrm>
              <a:off x="3163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6" name="Line 85"/>
            <p:cNvSpPr>
              <a:spLocks noChangeShapeType="1"/>
            </p:cNvSpPr>
            <p:nvPr/>
          </p:nvSpPr>
          <p:spPr bwMode="auto">
            <a:xfrm flipV="1">
              <a:off x="3163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7" name="Line 86"/>
            <p:cNvSpPr>
              <a:spLocks noChangeShapeType="1"/>
            </p:cNvSpPr>
            <p:nvPr/>
          </p:nvSpPr>
          <p:spPr bwMode="auto">
            <a:xfrm>
              <a:off x="3163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8" name="Line 87"/>
            <p:cNvSpPr>
              <a:spLocks noChangeShapeType="1"/>
            </p:cNvSpPr>
            <p:nvPr/>
          </p:nvSpPr>
          <p:spPr bwMode="auto">
            <a:xfrm flipV="1">
              <a:off x="3360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39" name="Line 88"/>
            <p:cNvSpPr>
              <a:spLocks noChangeShapeType="1"/>
            </p:cNvSpPr>
            <p:nvPr/>
          </p:nvSpPr>
          <p:spPr bwMode="auto">
            <a:xfrm>
              <a:off x="3360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0" name="Line 89"/>
            <p:cNvSpPr>
              <a:spLocks noChangeShapeType="1"/>
            </p:cNvSpPr>
            <p:nvPr/>
          </p:nvSpPr>
          <p:spPr bwMode="auto">
            <a:xfrm flipV="1">
              <a:off x="3472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1" name="Line 90"/>
            <p:cNvSpPr>
              <a:spLocks noChangeShapeType="1"/>
            </p:cNvSpPr>
            <p:nvPr/>
          </p:nvSpPr>
          <p:spPr bwMode="auto">
            <a:xfrm>
              <a:off x="3472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2" name="Line 91"/>
            <p:cNvSpPr>
              <a:spLocks noChangeShapeType="1"/>
            </p:cNvSpPr>
            <p:nvPr/>
          </p:nvSpPr>
          <p:spPr bwMode="auto">
            <a:xfrm flipV="1">
              <a:off x="355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3" name="Line 92"/>
            <p:cNvSpPr>
              <a:spLocks noChangeShapeType="1"/>
            </p:cNvSpPr>
            <p:nvPr/>
          </p:nvSpPr>
          <p:spPr bwMode="auto">
            <a:xfrm>
              <a:off x="355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4" name="Line 93"/>
            <p:cNvSpPr>
              <a:spLocks noChangeShapeType="1"/>
            </p:cNvSpPr>
            <p:nvPr/>
          </p:nvSpPr>
          <p:spPr bwMode="auto">
            <a:xfrm flipV="1">
              <a:off x="361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5" name="Line 94"/>
            <p:cNvSpPr>
              <a:spLocks noChangeShapeType="1"/>
            </p:cNvSpPr>
            <p:nvPr/>
          </p:nvSpPr>
          <p:spPr bwMode="auto">
            <a:xfrm>
              <a:off x="361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6" name="Line 95"/>
            <p:cNvSpPr>
              <a:spLocks noChangeShapeType="1"/>
            </p:cNvSpPr>
            <p:nvPr/>
          </p:nvSpPr>
          <p:spPr bwMode="auto">
            <a:xfrm flipV="1">
              <a:off x="3669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7" name="Line 96"/>
            <p:cNvSpPr>
              <a:spLocks noChangeShapeType="1"/>
            </p:cNvSpPr>
            <p:nvPr/>
          </p:nvSpPr>
          <p:spPr bwMode="auto">
            <a:xfrm>
              <a:off x="3669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8" name="Line 97"/>
            <p:cNvSpPr>
              <a:spLocks noChangeShapeType="1"/>
            </p:cNvSpPr>
            <p:nvPr/>
          </p:nvSpPr>
          <p:spPr bwMode="auto">
            <a:xfrm flipV="1">
              <a:off x="371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49" name="Line 98"/>
            <p:cNvSpPr>
              <a:spLocks noChangeShapeType="1"/>
            </p:cNvSpPr>
            <p:nvPr/>
          </p:nvSpPr>
          <p:spPr bwMode="auto">
            <a:xfrm>
              <a:off x="371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0" name="Line 99"/>
            <p:cNvSpPr>
              <a:spLocks noChangeShapeType="1"/>
            </p:cNvSpPr>
            <p:nvPr/>
          </p:nvSpPr>
          <p:spPr bwMode="auto">
            <a:xfrm flipV="1">
              <a:off x="3755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1" name="Line 100"/>
            <p:cNvSpPr>
              <a:spLocks noChangeShapeType="1"/>
            </p:cNvSpPr>
            <p:nvPr/>
          </p:nvSpPr>
          <p:spPr bwMode="auto">
            <a:xfrm>
              <a:off x="3755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2" name="Line 101"/>
            <p:cNvSpPr>
              <a:spLocks noChangeShapeType="1"/>
            </p:cNvSpPr>
            <p:nvPr/>
          </p:nvSpPr>
          <p:spPr bwMode="auto">
            <a:xfrm flipV="1">
              <a:off x="378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3" name="Line 102"/>
            <p:cNvSpPr>
              <a:spLocks noChangeShapeType="1"/>
            </p:cNvSpPr>
            <p:nvPr/>
          </p:nvSpPr>
          <p:spPr bwMode="auto">
            <a:xfrm>
              <a:off x="378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4" name="Line 103"/>
            <p:cNvSpPr>
              <a:spLocks noChangeShapeType="1"/>
            </p:cNvSpPr>
            <p:nvPr/>
          </p:nvSpPr>
          <p:spPr bwMode="auto">
            <a:xfrm flipV="1">
              <a:off x="3814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5" name="Line 104"/>
            <p:cNvSpPr>
              <a:spLocks noChangeShapeType="1"/>
            </p:cNvSpPr>
            <p:nvPr/>
          </p:nvSpPr>
          <p:spPr bwMode="auto">
            <a:xfrm>
              <a:off x="3814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6" name="Freeform 105"/>
            <p:cNvSpPr>
              <a:spLocks noChangeArrowheads="1"/>
            </p:cNvSpPr>
            <p:nvPr/>
          </p:nvSpPr>
          <p:spPr bwMode="auto">
            <a:xfrm>
              <a:off x="3814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7" name="Line 106"/>
            <p:cNvSpPr>
              <a:spLocks noChangeShapeType="1"/>
            </p:cNvSpPr>
            <p:nvPr/>
          </p:nvSpPr>
          <p:spPr bwMode="auto">
            <a:xfrm flipV="1">
              <a:off x="3814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8" name="Line 107"/>
            <p:cNvSpPr>
              <a:spLocks noChangeShapeType="1"/>
            </p:cNvSpPr>
            <p:nvPr/>
          </p:nvSpPr>
          <p:spPr bwMode="auto">
            <a:xfrm>
              <a:off x="3814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59" name="Line 108"/>
            <p:cNvSpPr>
              <a:spLocks noChangeShapeType="1"/>
            </p:cNvSpPr>
            <p:nvPr/>
          </p:nvSpPr>
          <p:spPr bwMode="auto">
            <a:xfrm flipV="1">
              <a:off x="4012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0" name="Line 109"/>
            <p:cNvSpPr>
              <a:spLocks noChangeShapeType="1"/>
            </p:cNvSpPr>
            <p:nvPr/>
          </p:nvSpPr>
          <p:spPr bwMode="auto">
            <a:xfrm>
              <a:off x="4012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1" name="Line 110"/>
            <p:cNvSpPr>
              <a:spLocks noChangeShapeType="1"/>
            </p:cNvSpPr>
            <p:nvPr/>
          </p:nvSpPr>
          <p:spPr bwMode="auto">
            <a:xfrm flipV="1">
              <a:off x="4123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2" name="Line 111"/>
            <p:cNvSpPr>
              <a:spLocks noChangeShapeType="1"/>
            </p:cNvSpPr>
            <p:nvPr/>
          </p:nvSpPr>
          <p:spPr bwMode="auto">
            <a:xfrm>
              <a:off x="4123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3" name="Line 112"/>
            <p:cNvSpPr>
              <a:spLocks noChangeShapeType="1"/>
            </p:cNvSpPr>
            <p:nvPr/>
          </p:nvSpPr>
          <p:spPr bwMode="auto">
            <a:xfrm flipV="1">
              <a:off x="4210" y="2479"/>
              <a:ext cx="0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4" name="Line 113"/>
            <p:cNvSpPr>
              <a:spLocks noChangeShapeType="1"/>
            </p:cNvSpPr>
            <p:nvPr/>
          </p:nvSpPr>
          <p:spPr bwMode="auto">
            <a:xfrm>
              <a:off x="4210" y="1290"/>
              <a:ext cx="0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5" name="Line 114"/>
            <p:cNvSpPr>
              <a:spLocks noChangeShapeType="1"/>
            </p:cNvSpPr>
            <p:nvPr/>
          </p:nvSpPr>
          <p:spPr bwMode="auto">
            <a:xfrm flipV="1">
              <a:off x="426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6" name="Line 115"/>
            <p:cNvSpPr>
              <a:spLocks noChangeShapeType="1"/>
            </p:cNvSpPr>
            <p:nvPr/>
          </p:nvSpPr>
          <p:spPr bwMode="auto">
            <a:xfrm>
              <a:off x="426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7" name="Line 116"/>
            <p:cNvSpPr>
              <a:spLocks noChangeShapeType="1"/>
            </p:cNvSpPr>
            <p:nvPr/>
          </p:nvSpPr>
          <p:spPr bwMode="auto">
            <a:xfrm flipV="1">
              <a:off x="4321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8" name="Line 117"/>
            <p:cNvSpPr>
              <a:spLocks noChangeShapeType="1"/>
            </p:cNvSpPr>
            <p:nvPr/>
          </p:nvSpPr>
          <p:spPr bwMode="auto">
            <a:xfrm>
              <a:off x="4321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9" name="Line 118"/>
            <p:cNvSpPr>
              <a:spLocks noChangeShapeType="1"/>
            </p:cNvSpPr>
            <p:nvPr/>
          </p:nvSpPr>
          <p:spPr bwMode="auto">
            <a:xfrm flipV="1">
              <a:off x="4367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0" name="Line 119"/>
            <p:cNvSpPr>
              <a:spLocks noChangeShapeType="1"/>
            </p:cNvSpPr>
            <p:nvPr/>
          </p:nvSpPr>
          <p:spPr bwMode="auto">
            <a:xfrm>
              <a:off x="4367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1" name="Line 120"/>
            <p:cNvSpPr>
              <a:spLocks noChangeShapeType="1"/>
            </p:cNvSpPr>
            <p:nvPr/>
          </p:nvSpPr>
          <p:spPr bwMode="auto">
            <a:xfrm flipV="1">
              <a:off x="440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2" name="Line 121"/>
            <p:cNvSpPr>
              <a:spLocks noChangeShapeType="1"/>
            </p:cNvSpPr>
            <p:nvPr/>
          </p:nvSpPr>
          <p:spPr bwMode="auto">
            <a:xfrm>
              <a:off x="440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3" name="Line 122"/>
            <p:cNvSpPr>
              <a:spLocks noChangeShapeType="1"/>
            </p:cNvSpPr>
            <p:nvPr/>
          </p:nvSpPr>
          <p:spPr bwMode="auto">
            <a:xfrm flipV="1">
              <a:off x="4440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4" name="Line 123"/>
            <p:cNvSpPr>
              <a:spLocks noChangeShapeType="1"/>
            </p:cNvSpPr>
            <p:nvPr/>
          </p:nvSpPr>
          <p:spPr bwMode="auto">
            <a:xfrm>
              <a:off x="4440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5" name="Line 124"/>
            <p:cNvSpPr>
              <a:spLocks noChangeShapeType="1"/>
            </p:cNvSpPr>
            <p:nvPr/>
          </p:nvSpPr>
          <p:spPr bwMode="auto">
            <a:xfrm flipV="1">
              <a:off x="446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6" name="Line 125"/>
            <p:cNvSpPr>
              <a:spLocks noChangeShapeType="1"/>
            </p:cNvSpPr>
            <p:nvPr/>
          </p:nvSpPr>
          <p:spPr bwMode="auto">
            <a:xfrm>
              <a:off x="446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7" name="Freeform 126"/>
            <p:cNvSpPr>
              <a:spLocks noChangeArrowheads="1"/>
            </p:cNvSpPr>
            <p:nvPr/>
          </p:nvSpPr>
          <p:spPr bwMode="auto">
            <a:xfrm>
              <a:off x="4466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8" name="Line 127"/>
            <p:cNvSpPr>
              <a:spLocks noChangeShapeType="1"/>
            </p:cNvSpPr>
            <p:nvPr/>
          </p:nvSpPr>
          <p:spPr bwMode="auto">
            <a:xfrm flipV="1">
              <a:off x="4466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9" name="Line 128"/>
            <p:cNvSpPr>
              <a:spLocks noChangeShapeType="1"/>
            </p:cNvSpPr>
            <p:nvPr/>
          </p:nvSpPr>
          <p:spPr bwMode="auto">
            <a:xfrm>
              <a:off x="4466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0" name="Line 129"/>
            <p:cNvSpPr>
              <a:spLocks noChangeShapeType="1"/>
            </p:cNvSpPr>
            <p:nvPr/>
          </p:nvSpPr>
          <p:spPr bwMode="auto">
            <a:xfrm flipV="1">
              <a:off x="4664" y="2479"/>
              <a:ext cx="0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1" name="Line 130"/>
            <p:cNvSpPr>
              <a:spLocks noChangeShapeType="1"/>
            </p:cNvSpPr>
            <p:nvPr/>
          </p:nvSpPr>
          <p:spPr bwMode="auto">
            <a:xfrm>
              <a:off x="4664" y="1290"/>
              <a:ext cx="0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2" name="Line 131"/>
            <p:cNvSpPr>
              <a:spLocks noChangeShapeType="1"/>
            </p:cNvSpPr>
            <p:nvPr/>
          </p:nvSpPr>
          <p:spPr bwMode="auto">
            <a:xfrm flipV="1">
              <a:off x="4781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3" name="Line 132"/>
            <p:cNvSpPr>
              <a:spLocks noChangeShapeType="1"/>
            </p:cNvSpPr>
            <p:nvPr/>
          </p:nvSpPr>
          <p:spPr bwMode="auto">
            <a:xfrm>
              <a:off x="4781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4" name="Line 133"/>
            <p:cNvSpPr>
              <a:spLocks noChangeShapeType="1"/>
            </p:cNvSpPr>
            <p:nvPr/>
          </p:nvSpPr>
          <p:spPr bwMode="auto">
            <a:xfrm flipV="1">
              <a:off x="4860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5" name="Line 134"/>
            <p:cNvSpPr>
              <a:spLocks noChangeShapeType="1"/>
            </p:cNvSpPr>
            <p:nvPr/>
          </p:nvSpPr>
          <p:spPr bwMode="auto">
            <a:xfrm>
              <a:off x="4860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6" name="Line 135"/>
            <p:cNvSpPr>
              <a:spLocks noChangeShapeType="1"/>
            </p:cNvSpPr>
            <p:nvPr/>
          </p:nvSpPr>
          <p:spPr bwMode="auto">
            <a:xfrm flipV="1">
              <a:off x="4926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7" name="Line 136"/>
            <p:cNvSpPr>
              <a:spLocks noChangeShapeType="1"/>
            </p:cNvSpPr>
            <p:nvPr/>
          </p:nvSpPr>
          <p:spPr bwMode="auto">
            <a:xfrm>
              <a:off x="4926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8" name="Line 137"/>
            <p:cNvSpPr>
              <a:spLocks noChangeShapeType="1"/>
            </p:cNvSpPr>
            <p:nvPr/>
          </p:nvSpPr>
          <p:spPr bwMode="auto">
            <a:xfrm flipV="1">
              <a:off x="4973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9" name="Line 138"/>
            <p:cNvSpPr>
              <a:spLocks noChangeShapeType="1"/>
            </p:cNvSpPr>
            <p:nvPr/>
          </p:nvSpPr>
          <p:spPr bwMode="auto">
            <a:xfrm>
              <a:off x="4973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0" name="Line 139"/>
            <p:cNvSpPr>
              <a:spLocks noChangeShapeType="1"/>
            </p:cNvSpPr>
            <p:nvPr/>
          </p:nvSpPr>
          <p:spPr bwMode="auto">
            <a:xfrm flipV="1">
              <a:off x="501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1" name="Line 140"/>
            <p:cNvSpPr>
              <a:spLocks noChangeShapeType="1"/>
            </p:cNvSpPr>
            <p:nvPr/>
          </p:nvSpPr>
          <p:spPr bwMode="auto">
            <a:xfrm>
              <a:off x="501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2" name="Line 141"/>
            <p:cNvSpPr>
              <a:spLocks noChangeShapeType="1"/>
            </p:cNvSpPr>
            <p:nvPr/>
          </p:nvSpPr>
          <p:spPr bwMode="auto">
            <a:xfrm flipV="1">
              <a:off x="5058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3" name="Line 142"/>
            <p:cNvSpPr>
              <a:spLocks noChangeShapeType="1"/>
            </p:cNvSpPr>
            <p:nvPr/>
          </p:nvSpPr>
          <p:spPr bwMode="auto">
            <a:xfrm>
              <a:off x="5058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4" name="Line 143"/>
            <p:cNvSpPr>
              <a:spLocks noChangeShapeType="1"/>
            </p:cNvSpPr>
            <p:nvPr/>
          </p:nvSpPr>
          <p:spPr bwMode="auto">
            <a:xfrm flipV="1">
              <a:off x="5091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5" name="Line 144"/>
            <p:cNvSpPr>
              <a:spLocks noChangeShapeType="1"/>
            </p:cNvSpPr>
            <p:nvPr/>
          </p:nvSpPr>
          <p:spPr bwMode="auto">
            <a:xfrm>
              <a:off x="5091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6" name="Line 145"/>
            <p:cNvSpPr>
              <a:spLocks noChangeShapeType="1"/>
            </p:cNvSpPr>
            <p:nvPr/>
          </p:nvSpPr>
          <p:spPr bwMode="auto">
            <a:xfrm flipV="1">
              <a:off x="5124" y="247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7" name="Line 146"/>
            <p:cNvSpPr>
              <a:spLocks noChangeShapeType="1"/>
            </p:cNvSpPr>
            <p:nvPr/>
          </p:nvSpPr>
          <p:spPr bwMode="auto">
            <a:xfrm>
              <a:off x="5124" y="1290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8" name="Freeform 147"/>
            <p:cNvSpPr>
              <a:spLocks noChangeArrowheads="1"/>
            </p:cNvSpPr>
            <p:nvPr/>
          </p:nvSpPr>
          <p:spPr bwMode="auto">
            <a:xfrm>
              <a:off x="5124" y="1290"/>
              <a:ext cx="1" cy="1207"/>
            </a:xfrm>
            <a:custGeom>
              <a:avLst/>
              <a:gdLst>
                <a:gd name="T0" fmla="*/ 0 w 1"/>
                <a:gd name="T1" fmla="*/ 1207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99" name="Line 148"/>
            <p:cNvSpPr>
              <a:spLocks noChangeShapeType="1"/>
            </p:cNvSpPr>
            <p:nvPr/>
          </p:nvSpPr>
          <p:spPr bwMode="auto">
            <a:xfrm flipV="1">
              <a:off x="5124" y="2460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0" name="Line 149"/>
            <p:cNvSpPr>
              <a:spLocks noChangeShapeType="1"/>
            </p:cNvSpPr>
            <p:nvPr/>
          </p:nvSpPr>
          <p:spPr bwMode="auto">
            <a:xfrm>
              <a:off x="5124" y="1290"/>
              <a:ext cx="1" cy="3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1" name="Line 150"/>
            <p:cNvSpPr>
              <a:spLocks noChangeShapeType="1"/>
            </p:cNvSpPr>
            <p:nvPr/>
          </p:nvSpPr>
          <p:spPr bwMode="auto">
            <a:xfrm>
              <a:off x="1209" y="2497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2" name="Line 151"/>
            <p:cNvSpPr>
              <a:spLocks noChangeShapeType="1"/>
            </p:cNvSpPr>
            <p:nvPr/>
          </p:nvSpPr>
          <p:spPr bwMode="auto">
            <a:xfrm flipH="1">
              <a:off x="5084" y="2497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3" name="Rectangle 152"/>
            <p:cNvSpPr>
              <a:spLocks noChangeArrowheads="1"/>
            </p:cNvSpPr>
            <p:nvPr/>
          </p:nvSpPr>
          <p:spPr bwMode="auto">
            <a:xfrm>
              <a:off x="960" y="239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-30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9304" name="Line 153"/>
            <p:cNvSpPr>
              <a:spLocks noChangeShapeType="1"/>
            </p:cNvSpPr>
            <p:nvPr/>
          </p:nvSpPr>
          <p:spPr bwMode="auto">
            <a:xfrm>
              <a:off x="1209" y="2296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5" name="Line 154"/>
            <p:cNvSpPr>
              <a:spLocks noChangeShapeType="1"/>
            </p:cNvSpPr>
            <p:nvPr/>
          </p:nvSpPr>
          <p:spPr bwMode="auto">
            <a:xfrm flipH="1">
              <a:off x="5084" y="2296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6" name="Line 155"/>
            <p:cNvSpPr>
              <a:spLocks noChangeShapeType="1"/>
            </p:cNvSpPr>
            <p:nvPr/>
          </p:nvSpPr>
          <p:spPr bwMode="auto">
            <a:xfrm>
              <a:off x="1209" y="2095"/>
              <a:ext cx="3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7" name="Line 156"/>
            <p:cNvSpPr>
              <a:spLocks noChangeShapeType="1"/>
            </p:cNvSpPr>
            <p:nvPr/>
          </p:nvSpPr>
          <p:spPr bwMode="auto">
            <a:xfrm flipH="1">
              <a:off x="5084" y="2095"/>
              <a:ext cx="4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08" name="Rectangle 157"/>
            <p:cNvSpPr>
              <a:spLocks noChangeArrowheads="1"/>
            </p:cNvSpPr>
            <p:nvPr/>
          </p:nvSpPr>
          <p:spPr bwMode="auto">
            <a:xfrm>
              <a:off x="960" y="2005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9309" name="Line 158"/>
            <p:cNvSpPr>
              <a:spLocks noChangeShapeType="1"/>
            </p:cNvSpPr>
            <p:nvPr/>
          </p:nvSpPr>
          <p:spPr bwMode="auto">
            <a:xfrm>
              <a:off x="1209" y="1893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0" name="Line 159"/>
            <p:cNvSpPr>
              <a:spLocks noChangeShapeType="1"/>
            </p:cNvSpPr>
            <p:nvPr/>
          </p:nvSpPr>
          <p:spPr bwMode="auto">
            <a:xfrm flipH="1">
              <a:off x="5084" y="1893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1" name="Line 160"/>
            <p:cNvSpPr>
              <a:spLocks noChangeShapeType="1"/>
            </p:cNvSpPr>
            <p:nvPr/>
          </p:nvSpPr>
          <p:spPr bwMode="auto">
            <a:xfrm>
              <a:off x="1209" y="1692"/>
              <a:ext cx="3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2" name="Line 161"/>
            <p:cNvSpPr>
              <a:spLocks noChangeShapeType="1"/>
            </p:cNvSpPr>
            <p:nvPr/>
          </p:nvSpPr>
          <p:spPr bwMode="auto">
            <a:xfrm flipH="1">
              <a:off x="5084" y="1692"/>
              <a:ext cx="4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3" name="Rectangle 162"/>
            <p:cNvSpPr>
              <a:spLocks noChangeArrowheads="1"/>
            </p:cNvSpPr>
            <p:nvPr/>
          </p:nvSpPr>
          <p:spPr bwMode="auto">
            <a:xfrm>
              <a:off x="960" y="1603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9314" name="Line 163"/>
            <p:cNvSpPr>
              <a:spLocks noChangeShapeType="1"/>
            </p:cNvSpPr>
            <p:nvPr/>
          </p:nvSpPr>
          <p:spPr bwMode="auto">
            <a:xfrm>
              <a:off x="1209" y="1491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5" name="Line 164"/>
            <p:cNvSpPr>
              <a:spLocks noChangeShapeType="1"/>
            </p:cNvSpPr>
            <p:nvPr/>
          </p:nvSpPr>
          <p:spPr bwMode="auto">
            <a:xfrm flipH="1">
              <a:off x="5084" y="1491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6" name="Line 165"/>
            <p:cNvSpPr>
              <a:spLocks noChangeShapeType="1"/>
            </p:cNvSpPr>
            <p:nvPr/>
          </p:nvSpPr>
          <p:spPr bwMode="auto">
            <a:xfrm>
              <a:off x="1209" y="1290"/>
              <a:ext cx="3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7" name="Line 166"/>
            <p:cNvSpPr>
              <a:spLocks noChangeShapeType="1"/>
            </p:cNvSpPr>
            <p:nvPr/>
          </p:nvSpPr>
          <p:spPr bwMode="auto">
            <a:xfrm flipH="1">
              <a:off x="5084" y="1290"/>
              <a:ext cx="4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18" name="Rectangle 167"/>
            <p:cNvSpPr>
              <a:spLocks noChangeArrowheads="1"/>
            </p:cNvSpPr>
            <p:nvPr/>
          </p:nvSpPr>
          <p:spPr bwMode="auto">
            <a:xfrm>
              <a:off x="1071" y="1200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9319" name="Freeform 168"/>
            <p:cNvSpPr>
              <a:spLocks noChangeArrowheads="1"/>
            </p:cNvSpPr>
            <p:nvPr/>
          </p:nvSpPr>
          <p:spPr bwMode="auto">
            <a:xfrm>
              <a:off x="1209" y="1290"/>
              <a:ext cx="3915" cy="1207"/>
            </a:xfrm>
            <a:custGeom>
              <a:avLst/>
              <a:gdLst>
                <a:gd name="T0" fmla="*/ 0 w 595"/>
                <a:gd name="T1" fmla="*/ 1207 h 198"/>
                <a:gd name="T2" fmla="*/ 3915 w 595"/>
                <a:gd name="T3" fmla="*/ 1207 h 198"/>
                <a:gd name="T4" fmla="*/ 3915 w 595"/>
                <a:gd name="T5" fmla="*/ 0 h 1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0" name="Line 169"/>
            <p:cNvSpPr>
              <a:spLocks noChangeShapeType="1"/>
            </p:cNvSpPr>
            <p:nvPr/>
          </p:nvSpPr>
          <p:spPr bwMode="auto">
            <a:xfrm flipV="1">
              <a:off x="1209" y="1290"/>
              <a:ext cx="1" cy="120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1" name="Rectangle 170"/>
            <p:cNvSpPr>
              <a:spLocks noChangeArrowheads="1"/>
            </p:cNvSpPr>
            <p:nvPr/>
          </p:nvSpPr>
          <p:spPr bwMode="auto">
            <a:xfrm>
              <a:off x="1209" y="2652"/>
              <a:ext cx="3915" cy="1209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322" name="Freeform 171"/>
            <p:cNvSpPr>
              <a:spLocks noChangeArrowheads="1"/>
            </p:cNvSpPr>
            <p:nvPr/>
          </p:nvSpPr>
          <p:spPr bwMode="auto">
            <a:xfrm>
              <a:off x="1209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3" name="Freeform 172"/>
            <p:cNvSpPr>
              <a:spLocks noChangeArrowheads="1"/>
            </p:cNvSpPr>
            <p:nvPr/>
          </p:nvSpPr>
          <p:spPr bwMode="auto">
            <a:xfrm>
              <a:off x="1860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4" name="Freeform 173"/>
            <p:cNvSpPr>
              <a:spLocks noChangeArrowheads="1"/>
            </p:cNvSpPr>
            <p:nvPr/>
          </p:nvSpPr>
          <p:spPr bwMode="auto">
            <a:xfrm>
              <a:off x="2511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5" name="Freeform 174"/>
            <p:cNvSpPr>
              <a:spLocks noChangeArrowheads="1"/>
            </p:cNvSpPr>
            <p:nvPr/>
          </p:nvSpPr>
          <p:spPr bwMode="auto">
            <a:xfrm>
              <a:off x="3163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6" name="Freeform 175"/>
            <p:cNvSpPr>
              <a:spLocks noChangeArrowheads="1"/>
            </p:cNvSpPr>
            <p:nvPr/>
          </p:nvSpPr>
          <p:spPr bwMode="auto">
            <a:xfrm>
              <a:off x="3814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7" name="Freeform 176"/>
            <p:cNvSpPr>
              <a:spLocks noChangeArrowheads="1"/>
            </p:cNvSpPr>
            <p:nvPr/>
          </p:nvSpPr>
          <p:spPr bwMode="auto">
            <a:xfrm>
              <a:off x="4466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8" name="Freeform 177"/>
            <p:cNvSpPr>
              <a:spLocks noChangeArrowheads="1"/>
            </p:cNvSpPr>
            <p:nvPr/>
          </p:nvSpPr>
          <p:spPr bwMode="auto">
            <a:xfrm>
              <a:off x="5124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29" name="Freeform 178"/>
            <p:cNvSpPr>
              <a:spLocks noChangeArrowheads="1"/>
            </p:cNvSpPr>
            <p:nvPr/>
          </p:nvSpPr>
          <p:spPr bwMode="auto">
            <a:xfrm>
              <a:off x="1209" y="3861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0" name="Freeform 179"/>
            <p:cNvSpPr>
              <a:spLocks noChangeArrowheads="1"/>
            </p:cNvSpPr>
            <p:nvPr/>
          </p:nvSpPr>
          <p:spPr bwMode="auto">
            <a:xfrm>
              <a:off x="1209" y="3555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1" name="Freeform 180"/>
            <p:cNvSpPr>
              <a:spLocks noChangeArrowheads="1"/>
            </p:cNvSpPr>
            <p:nvPr/>
          </p:nvSpPr>
          <p:spPr bwMode="auto">
            <a:xfrm>
              <a:off x="1209" y="3257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2" name="Freeform 181"/>
            <p:cNvSpPr>
              <a:spLocks noChangeArrowheads="1"/>
            </p:cNvSpPr>
            <p:nvPr/>
          </p:nvSpPr>
          <p:spPr bwMode="auto">
            <a:xfrm>
              <a:off x="1209" y="2952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3" name="Freeform 182"/>
            <p:cNvSpPr>
              <a:spLocks noChangeArrowheads="1"/>
            </p:cNvSpPr>
            <p:nvPr/>
          </p:nvSpPr>
          <p:spPr bwMode="auto">
            <a:xfrm>
              <a:off x="1209" y="2652"/>
              <a:ext cx="3915" cy="1"/>
            </a:xfrm>
            <a:custGeom>
              <a:avLst/>
              <a:gdLst>
                <a:gd name="T0" fmla="*/ 0 w 595"/>
                <a:gd name="T1" fmla="*/ 0 h 1"/>
                <a:gd name="T2" fmla="*/ 3915 w 59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5" h="1">
                  <a:moveTo>
                    <a:pt x="0" y="0"/>
                  </a:move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4" name="Line 183"/>
            <p:cNvSpPr>
              <a:spLocks noChangeShapeType="1"/>
            </p:cNvSpPr>
            <p:nvPr/>
          </p:nvSpPr>
          <p:spPr bwMode="auto">
            <a:xfrm>
              <a:off x="1209" y="2652"/>
              <a:ext cx="39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5" name="Freeform 184"/>
            <p:cNvSpPr>
              <a:spLocks noChangeArrowheads="1"/>
            </p:cNvSpPr>
            <p:nvPr/>
          </p:nvSpPr>
          <p:spPr bwMode="auto">
            <a:xfrm>
              <a:off x="1209" y="2652"/>
              <a:ext cx="3915" cy="1209"/>
            </a:xfrm>
            <a:custGeom>
              <a:avLst/>
              <a:gdLst>
                <a:gd name="T0" fmla="*/ 0 w 595"/>
                <a:gd name="T1" fmla="*/ 1209 h 198"/>
                <a:gd name="T2" fmla="*/ 3915 w 595"/>
                <a:gd name="T3" fmla="*/ 1209 h 198"/>
                <a:gd name="T4" fmla="*/ 3915 w 595"/>
                <a:gd name="T5" fmla="*/ 0 h 1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6" name="Line 185"/>
            <p:cNvSpPr>
              <a:spLocks noChangeShapeType="1"/>
            </p:cNvSpPr>
            <p:nvPr/>
          </p:nvSpPr>
          <p:spPr bwMode="auto">
            <a:xfrm flipV="1">
              <a:off x="1209" y="2652"/>
              <a:ext cx="1" cy="12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7" name="Line 186"/>
            <p:cNvSpPr>
              <a:spLocks noChangeShapeType="1"/>
            </p:cNvSpPr>
            <p:nvPr/>
          </p:nvSpPr>
          <p:spPr bwMode="auto">
            <a:xfrm>
              <a:off x="1209" y="3861"/>
              <a:ext cx="39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8" name="Line 187"/>
            <p:cNvSpPr>
              <a:spLocks noChangeShapeType="1"/>
            </p:cNvSpPr>
            <p:nvPr/>
          </p:nvSpPr>
          <p:spPr bwMode="auto">
            <a:xfrm flipV="1">
              <a:off x="1209" y="2652"/>
              <a:ext cx="1" cy="12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39" name="Line 188"/>
            <p:cNvSpPr>
              <a:spLocks noChangeShapeType="1"/>
            </p:cNvSpPr>
            <p:nvPr/>
          </p:nvSpPr>
          <p:spPr bwMode="auto">
            <a:xfrm flipV="1">
              <a:off x="120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0" name="Line 189"/>
            <p:cNvSpPr>
              <a:spLocks noChangeShapeType="1"/>
            </p:cNvSpPr>
            <p:nvPr/>
          </p:nvSpPr>
          <p:spPr bwMode="auto">
            <a:xfrm>
              <a:off x="120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1" name="Freeform 190"/>
            <p:cNvSpPr>
              <a:spLocks noChangeArrowheads="1"/>
            </p:cNvSpPr>
            <p:nvPr/>
          </p:nvSpPr>
          <p:spPr bwMode="auto">
            <a:xfrm>
              <a:off x="1209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2" name="Line 191"/>
            <p:cNvSpPr>
              <a:spLocks noChangeShapeType="1"/>
            </p:cNvSpPr>
            <p:nvPr/>
          </p:nvSpPr>
          <p:spPr bwMode="auto">
            <a:xfrm flipV="1">
              <a:off x="1209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3" name="Line 192"/>
            <p:cNvSpPr>
              <a:spLocks noChangeShapeType="1"/>
            </p:cNvSpPr>
            <p:nvPr/>
          </p:nvSpPr>
          <p:spPr bwMode="auto">
            <a:xfrm>
              <a:off x="1209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4" name="Line 193"/>
            <p:cNvSpPr>
              <a:spLocks noChangeShapeType="1"/>
            </p:cNvSpPr>
            <p:nvPr/>
          </p:nvSpPr>
          <p:spPr bwMode="auto">
            <a:xfrm flipV="1">
              <a:off x="139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5" name="Line 194"/>
            <p:cNvSpPr>
              <a:spLocks noChangeShapeType="1"/>
            </p:cNvSpPr>
            <p:nvPr/>
          </p:nvSpPr>
          <p:spPr bwMode="auto">
            <a:xfrm>
              <a:off x="139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6" name="Line 195"/>
            <p:cNvSpPr>
              <a:spLocks noChangeShapeType="1"/>
            </p:cNvSpPr>
            <p:nvPr/>
          </p:nvSpPr>
          <p:spPr bwMode="auto">
            <a:xfrm flipV="1">
              <a:off x="151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7" name="Line 196"/>
            <p:cNvSpPr>
              <a:spLocks noChangeShapeType="1"/>
            </p:cNvSpPr>
            <p:nvPr/>
          </p:nvSpPr>
          <p:spPr bwMode="auto">
            <a:xfrm>
              <a:off x="151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8" name="Line 197"/>
            <p:cNvSpPr>
              <a:spLocks noChangeShapeType="1"/>
            </p:cNvSpPr>
            <p:nvPr/>
          </p:nvSpPr>
          <p:spPr bwMode="auto">
            <a:xfrm flipV="1">
              <a:off x="159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49" name="Line 198"/>
            <p:cNvSpPr>
              <a:spLocks noChangeShapeType="1"/>
            </p:cNvSpPr>
            <p:nvPr/>
          </p:nvSpPr>
          <p:spPr bwMode="auto">
            <a:xfrm>
              <a:off x="159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0" name="Line 199"/>
            <p:cNvSpPr>
              <a:spLocks noChangeShapeType="1"/>
            </p:cNvSpPr>
            <p:nvPr/>
          </p:nvSpPr>
          <p:spPr bwMode="auto">
            <a:xfrm flipV="1">
              <a:off x="1663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1" name="Line 200"/>
            <p:cNvSpPr>
              <a:spLocks noChangeShapeType="1"/>
            </p:cNvSpPr>
            <p:nvPr/>
          </p:nvSpPr>
          <p:spPr bwMode="auto">
            <a:xfrm>
              <a:off x="1663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2" name="Line 201"/>
            <p:cNvSpPr>
              <a:spLocks noChangeShapeType="1"/>
            </p:cNvSpPr>
            <p:nvPr/>
          </p:nvSpPr>
          <p:spPr bwMode="auto">
            <a:xfrm flipV="1">
              <a:off x="1715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3" name="Line 202"/>
            <p:cNvSpPr>
              <a:spLocks noChangeShapeType="1"/>
            </p:cNvSpPr>
            <p:nvPr/>
          </p:nvSpPr>
          <p:spPr bwMode="auto">
            <a:xfrm>
              <a:off x="1715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4" name="Line 203"/>
            <p:cNvSpPr>
              <a:spLocks noChangeShapeType="1"/>
            </p:cNvSpPr>
            <p:nvPr/>
          </p:nvSpPr>
          <p:spPr bwMode="auto">
            <a:xfrm flipV="1">
              <a:off x="1755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5" name="Line 204"/>
            <p:cNvSpPr>
              <a:spLocks noChangeShapeType="1"/>
            </p:cNvSpPr>
            <p:nvPr/>
          </p:nvSpPr>
          <p:spPr bwMode="auto">
            <a:xfrm>
              <a:off x="1755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6" name="Line 205"/>
            <p:cNvSpPr>
              <a:spLocks noChangeShapeType="1"/>
            </p:cNvSpPr>
            <p:nvPr/>
          </p:nvSpPr>
          <p:spPr bwMode="auto">
            <a:xfrm flipV="1">
              <a:off x="1794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7" name="Line 206"/>
            <p:cNvSpPr>
              <a:spLocks noChangeShapeType="1"/>
            </p:cNvSpPr>
            <p:nvPr/>
          </p:nvSpPr>
          <p:spPr bwMode="auto">
            <a:xfrm>
              <a:off x="1794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8" name="Line 207"/>
            <p:cNvSpPr>
              <a:spLocks noChangeShapeType="1"/>
            </p:cNvSpPr>
            <p:nvPr/>
          </p:nvSpPr>
          <p:spPr bwMode="auto">
            <a:xfrm flipV="1">
              <a:off x="182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59" name="Line 208"/>
            <p:cNvSpPr>
              <a:spLocks noChangeShapeType="1"/>
            </p:cNvSpPr>
            <p:nvPr/>
          </p:nvSpPr>
          <p:spPr bwMode="auto">
            <a:xfrm>
              <a:off x="182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0" name="Line 209"/>
            <p:cNvSpPr>
              <a:spLocks noChangeShapeType="1"/>
            </p:cNvSpPr>
            <p:nvPr/>
          </p:nvSpPr>
          <p:spPr bwMode="auto">
            <a:xfrm flipV="1">
              <a:off x="1860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1" name="Line 210"/>
            <p:cNvSpPr>
              <a:spLocks noChangeShapeType="1"/>
            </p:cNvSpPr>
            <p:nvPr/>
          </p:nvSpPr>
          <p:spPr bwMode="auto">
            <a:xfrm>
              <a:off x="1860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2" name="Freeform 211"/>
            <p:cNvSpPr>
              <a:spLocks noChangeArrowheads="1"/>
            </p:cNvSpPr>
            <p:nvPr/>
          </p:nvSpPr>
          <p:spPr bwMode="auto">
            <a:xfrm>
              <a:off x="1860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3" name="Line 212"/>
            <p:cNvSpPr>
              <a:spLocks noChangeShapeType="1"/>
            </p:cNvSpPr>
            <p:nvPr/>
          </p:nvSpPr>
          <p:spPr bwMode="auto">
            <a:xfrm flipV="1">
              <a:off x="1860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4" name="Line 213"/>
            <p:cNvSpPr>
              <a:spLocks noChangeShapeType="1"/>
            </p:cNvSpPr>
            <p:nvPr/>
          </p:nvSpPr>
          <p:spPr bwMode="auto">
            <a:xfrm>
              <a:off x="1860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5" name="Line 214"/>
            <p:cNvSpPr>
              <a:spLocks noChangeShapeType="1"/>
            </p:cNvSpPr>
            <p:nvPr/>
          </p:nvSpPr>
          <p:spPr bwMode="auto">
            <a:xfrm flipV="1">
              <a:off x="205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6" name="Line 215"/>
            <p:cNvSpPr>
              <a:spLocks noChangeShapeType="1"/>
            </p:cNvSpPr>
            <p:nvPr/>
          </p:nvSpPr>
          <p:spPr bwMode="auto">
            <a:xfrm>
              <a:off x="205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7" name="Line 216"/>
            <p:cNvSpPr>
              <a:spLocks noChangeShapeType="1"/>
            </p:cNvSpPr>
            <p:nvPr/>
          </p:nvSpPr>
          <p:spPr bwMode="auto">
            <a:xfrm flipV="1">
              <a:off x="216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8" name="Line 217"/>
            <p:cNvSpPr>
              <a:spLocks noChangeShapeType="1"/>
            </p:cNvSpPr>
            <p:nvPr/>
          </p:nvSpPr>
          <p:spPr bwMode="auto">
            <a:xfrm>
              <a:off x="216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69" name="Line 218"/>
            <p:cNvSpPr>
              <a:spLocks noChangeShapeType="1"/>
            </p:cNvSpPr>
            <p:nvPr/>
          </p:nvSpPr>
          <p:spPr bwMode="auto">
            <a:xfrm flipV="1">
              <a:off x="224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0" name="Line 219"/>
            <p:cNvSpPr>
              <a:spLocks noChangeShapeType="1"/>
            </p:cNvSpPr>
            <p:nvPr/>
          </p:nvSpPr>
          <p:spPr bwMode="auto">
            <a:xfrm>
              <a:off x="224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1" name="Line 220"/>
            <p:cNvSpPr>
              <a:spLocks noChangeShapeType="1"/>
            </p:cNvSpPr>
            <p:nvPr/>
          </p:nvSpPr>
          <p:spPr bwMode="auto">
            <a:xfrm flipV="1">
              <a:off x="2314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2" name="Line 221"/>
            <p:cNvSpPr>
              <a:spLocks noChangeShapeType="1"/>
            </p:cNvSpPr>
            <p:nvPr/>
          </p:nvSpPr>
          <p:spPr bwMode="auto">
            <a:xfrm>
              <a:off x="2314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3" name="Line 222"/>
            <p:cNvSpPr>
              <a:spLocks noChangeShapeType="1"/>
            </p:cNvSpPr>
            <p:nvPr/>
          </p:nvSpPr>
          <p:spPr bwMode="auto">
            <a:xfrm flipV="1">
              <a:off x="236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4" name="Line 223"/>
            <p:cNvSpPr>
              <a:spLocks noChangeShapeType="1"/>
            </p:cNvSpPr>
            <p:nvPr/>
          </p:nvSpPr>
          <p:spPr bwMode="auto">
            <a:xfrm>
              <a:off x="236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5" name="Line 224"/>
            <p:cNvSpPr>
              <a:spLocks noChangeShapeType="1"/>
            </p:cNvSpPr>
            <p:nvPr/>
          </p:nvSpPr>
          <p:spPr bwMode="auto">
            <a:xfrm flipV="1">
              <a:off x="240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6" name="Line 225"/>
            <p:cNvSpPr>
              <a:spLocks noChangeShapeType="1"/>
            </p:cNvSpPr>
            <p:nvPr/>
          </p:nvSpPr>
          <p:spPr bwMode="auto">
            <a:xfrm>
              <a:off x="240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7" name="Line 226"/>
            <p:cNvSpPr>
              <a:spLocks noChangeShapeType="1"/>
            </p:cNvSpPr>
            <p:nvPr/>
          </p:nvSpPr>
          <p:spPr bwMode="auto">
            <a:xfrm flipV="1">
              <a:off x="2445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8" name="Line 227"/>
            <p:cNvSpPr>
              <a:spLocks noChangeShapeType="1"/>
            </p:cNvSpPr>
            <p:nvPr/>
          </p:nvSpPr>
          <p:spPr bwMode="auto">
            <a:xfrm>
              <a:off x="2445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79" name="Line 228"/>
            <p:cNvSpPr>
              <a:spLocks noChangeShapeType="1"/>
            </p:cNvSpPr>
            <p:nvPr/>
          </p:nvSpPr>
          <p:spPr bwMode="auto">
            <a:xfrm flipV="1">
              <a:off x="247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0" name="Line 229"/>
            <p:cNvSpPr>
              <a:spLocks noChangeShapeType="1"/>
            </p:cNvSpPr>
            <p:nvPr/>
          </p:nvSpPr>
          <p:spPr bwMode="auto">
            <a:xfrm>
              <a:off x="247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1" name="Line 230"/>
            <p:cNvSpPr>
              <a:spLocks noChangeShapeType="1"/>
            </p:cNvSpPr>
            <p:nvPr/>
          </p:nvSpPr>
          <p:spPr bwMode="auto">
            <a:xfrm flipV="1">
              <a:off x="2511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2" name="Line 231"/>
            <p:cNvSpPr>
              <a:spLocks noChangeShapeType="1"/>
            </p:cNvSpPr>
            <p:nvPr/>
          </p:nvSpPr>
          <p:spPr bwMode="auto">
            <a:xfrm>
              <a:off x="2511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3" name="Freeform 232"/>
            <p:cNvSpPr>
              <a:spLocks noChangeArrowheads="1"/>
            </p:cNvSpPr>
            <p:nvPr/>
          </p:nvSpPr>
          <p:spPr bwMode="auto">
            <a:xfrm>
              <a:off x="2511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4" name="Line 233"/>
            <p:cNvSpPr>
              <a:spLocks noChangeShapeType="1"/>
            </p:cNvSpPr>
            <p:nvPr/>
          </p:nvSpPr>
          <p:spPr bwMode="auto">
            <a:xfrm flipV="1">
              <a:off x="2511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5" name="Line 234"/>
            <p:cNvSpPr>
              <a:spLocks noChangeShapeType="1"/>
            </p:cNvSpPr>
            <p:nvPr/>
          </p:nvSpPr>
          <p:spPr bwMode="auto">
            <a:xfrm>
              <a:off x="2511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6" name="Line 235"/>
            <p:cNvSpPr>
              <a:spLocks noChangeShapeType="1"/>
            </p:cNvSpPr>
            <p:nvPr/>
          </p:nvSpPr>
          <p:spPr bwMode="auto">
            <a:xfrm flipV="1">
              <a:off x="270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7" name="Line 236"/>
            <p:cNvSpPr>
              <a:spLocks noChangeShapeType="1"/>
            </p:cNvSpPr>
            <p:nvPr/>
          </p:nvSpPr>
          <p:spPr bwMode="auto">
            <a:xfrm>
              <a:off x="270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8" name="Line 237"/>
            <p:cNvSpPr>
              <a:spLocks noChangeShapeType="1"/>
            </p:cNvSpPr>
            <p:nvPr/>
          </p:nvSpPr>
          <p:spPr bwMode="auto">
            <a:xfrm flipV="1">
              <a:off x="2821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89" name="Line 238"/>
            <p:cNvSpPr>
              <a:spLocks noChangeShapeType="1"/>
            </p:cNvSpPr>
            <p:nvPr/>
          </p:nvSpPr>
          <p:spPr bwMode="auto">
            <a:xfrm>
              <a:off x="2821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0" name="Line 239"/>
            <p:cNvSpPr>
              <a:spLocks noChangeShapeType="1"/>
            </p:cNvSpPr>
            <p:nvPr/>
          </p:nvSpPr>
          <p:spPr bwMode="auto">
            <a:xfrm flipV="1">
              <a:off x="290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1" name="Line 240"/>
            <p:cNvSpPr>
              <a:spLocks noChangeShapeType="1"/>
            </p:cNvSpPr>
            <p:nvPr/>
          </p:nvSpPr>
          <p:spPr bwMode="auto">
            <a:xfrm>
              <a:off x="290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2" name="Line 241"/>
            <p:cNvSpPr>
              <a:spLocks noChangeShapeType="1"/>
            </p:cNvSpPr>
            <p:nvPr/>
          </p:nvSpPr>
          <p:spPr bwMode="auto">
            <a:xfrm flipV="1">
              <a:off x="2965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3" name="Line 242"/>
            <p:cNvSpPr>
              <a:spLocks noChangeShapeType="1"/>
            </p:cNvSpPr>
            <p:nvPr/>
          </p:nvSpPr>
          <p:spPr bwMode="auto">
            <a:xfrm>
              <a:off x="2965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4" name="Line 243"/>
            <p:cNvSpPr>
              <a:spLocks noChangeShapeType="1"/>
            </p:cNvSpPr>
            <p:nvPr/>
          </p:nvSpPr>
          <p:spPr bwMode="auto">
            <a:xfrm flipV="1">
              <a:off x="301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5" name="Line 244"/>
            <p:cNvSpPr>
              <a:spLocks noChangeShapeType="1"/>
            </p:cNvSpPr>
            <p:nvPr/>
          </p:nvSpPr>
          <p:spPr bwMode="auto">
            <a:xfrm>
              <a:off x="301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6" name="Line 245"/>
            <p:cNvSpPr>
              <a:spLocks noChangeShapeType="1"/>
            </p:cNvSpPr>
            <p:nvPr/>
          </p:nvSpPr>
          <p:spPr bwMode="auto">
            <a:xfrm flipV="1">
              <a:off x="3064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7" name="Line 246"/>
            <p:cNvSpPr>
              <a:spLocks noChangeShapeType="1"/>
            </p:cNvSpPr>
            <p:nvPr/>
          </p:nvSpPr>
          <p:spPr bwMode="auto">
            <a:xfrm>
              <a:off x="3064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8" name="Line 247"/>
            <p:cNvSpPr>
              <a:spLocks noChangeShapeType="1"/>
            </p:cNvSpPr>
            <p:nvPr/>
          </p:nvSpPr>
          <p:spPr bwMode="auto">
            <a:xfrm flipV="1">
              <a:off x="309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99" name="Line 248"/>
            <p:cNvSpPr>
              <a:spLocks noChangeShapeType="1"/>
            </p:cNvSpPr>
            <p:nvPr/>
          </p:nvSpPr>
          <p:spPr bwMode="auto">
            <a:xfrm>
              <a:off x="309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0" name="Line 249"/>
            <p:cNvSpPr>
              <a:spLocks noChangeShapeType="1"/>
            </p:cNvSpPr>
            <p:nvPr/>
          </p:nvSpPr>
          <p:spPr bwMode="auto">
            <a:xfrm flipV="1">
              <a:off x="3130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1" name="Line 250"/>
            <p:cNvSpPr>
              <a:spLocks noChangeShapeType="1"/>
            </p:cNvSpPr>
            <p:nvPr/>
          </p:nvSpPr>
          <p:spPr bwMode="auto">
            <a:xfrm>
              <a:off x="3130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2" name="Line 251"/>
            <p:cNvSpPr>
              <a:spLocks noChangeShapeType="1"/>
            </p:cNvSpPr>
            <p:nvPr/>
          </p:nvSpPr>
          <p:spPr bwMode="auto">
            <a:xfrm flipV="1">
              <a:off x="3163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3" name="Line 252"/>
            <p:cNvSpPr>
              <a:spLocks noChangeShapeType="1"/>
            </p:cNvSpPr>
            <p:nvPr/>
          </p:nvSpPr>
          <p:spPr bwMode="auto">
            <a:xfrm>
              <a:off x="3163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4" name="Freeform 253"/>
            <p:cNvSpPr>
              <a:spLocks noChangeArrowheads="1"/>
            </p:cNvSpPr>
            <p:nvPr/>
          </p:nvSpPr>
          <p:spPr bwMode="auto">
            <a:xfrm>
              <a:off x="3163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5" name="Line 254"/>
            <p:cNvSpPr>
              <a:spLocks noChangeShapeType="1"/>
            </p:cNvSpPr>
            <p:nvPr/>
          </p:nvSpPr>
          <p:spPr bwMode="auto">
            <a:xfrm flipV="1">
              <a:off x="3163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6" name="Line 255"/>
            <p:cNvSpPr>
              <a:spLocks noChangeShapeType="1"/>
            </p:cNvSpPr>
            <p:nvPr/>
          </p:nvSpPr>
          <p:spPr bwMode="auto">
            <a:xfrm>
              <a:off x="3163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7" name="Line 256"/>
            <p:cNvSpPr>
              <a:spLocks noChangeShapeType="1"/>
            </p:cNvSpPr>
            <p:nvPr/>
          </p:nvSpPr>
          <p:spPr bwMode="auto">
            <a:xfrm flipV="1">
              <a:off x="3360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8" name="Line 257"/>
            <p:cNvSpPr>
              <a:spLocks noChangeShapeType="1"/>
            </p:cNvSpPr>
            <p:nvPr/>
          </p:nvSpPr>
          <p:spPr bwMode="auto">
            <a:xfrm>
              <a:off x="3360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09" name="Line 258"/>
            <p:cNvSpPr>
              <a:spLocks noChangeShapeType="1"/>
            </p:cNvSpPr>
            <p:nvPr/>
          </p:nvSpPr>
          <p:spPr bwMode="auto">
            <a:xfrm flipV="1">
              <a:off x="3472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0" name="Line 259"/>
            <p:cNvSpPr>
              <a:spLocks noChangeShapeType="1"/>
            </p:cNvSpPr>
            <p:nvPr/>
          </p:nvSpPr>
          <p:spPr bwMode="auto">
            <a:xfrm>
              <a:off x="3472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1" name="Line 260"/>
            <p:cNvSpPr>
              <a:spLocks noChangeShapeType="1"/>
            </p:cNvSpPr>
            <p:nvPr/>
          </p:nvSpPr>
          <p:spPr bwMode="auto">
            <a:xfrm flipV="1">
              <a:off x="355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2" name="Line 261"/>
            <p:cNvSpPr>
              <a:spLocks noChangeShapeType="1"/>
            </p:cNvSpPr>
            <p:nvPr/>
          </p:nvSpPr>
          <p:spPr bwMode="auto">
            <a:xfrm>
              <a:off x="355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3" name="Line 262"/>
            <p:cNvSpPr>
              <a:spLocks noChangeShapeType="1"/>
            </p:cNvSpPr>
            <p:nvPr/>
          </p:nvSpPr>
          <p:spPr bwMode="auto">
            <a:xfrm flipV="1">
              <a:off x="361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4" name="Line 263"/>
            <p:cNvSpPr>
              <a:spLocks noChangeShapeType="1"/>
            </p:cNvSpPr>
            <p:nvPr/>
          </p:nvSpPr>
          <p:spPr bwMode="auto">
            <a:xfrm>
              <a:off x="361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5" name="Line 264"/>
            <p:cNvSpPr>
              <a:spLocks noChangeShapeType="1"/>
            </p:cNvSpPr>
            <p:nvPr/>
          </p:nvSpPr>
          <p:spPr bwMode="auto">
            <a:xfrm flipV="1">
              <a:off x="3669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6" name="Line 265"/>
            <p:cNvSpPr>
              <a:spLocks noChangeShapeType="1"/>
            </p:cNvSpPr>
            <p:nvPr/>
          </p:nvSpPr>
          <p:spPr bwMode="auto">
            <a:xfrm>
              <a:off x="3669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7" name="Line 266"/>
            <p:cNvSpPr>
              <a:spLocks noChangeShapeType="1"/>
            </p:cNvSpPr>
            <p:nvPr/>
          </p:nvSpPr>
          <p:spPr bwMode="auto">
            <a:xfrm flipV="1">
              <a:off x="371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8" name="Line 267"/>
            <p:cNvSpPr>
              <a:spLocks noChangeShapeType="1"/>
            </p:cNvSpPr>
            <p:nvPr/>
          </p:nvSpPr>
          <p:spPr bwMode="auto">
            <a:xfrm>
              <a:off x="371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19" name="Line 268"/>
            <p:cNvSpPr>
              <a:spLocks noChangeShapeType="1"/>
            </p:cNvSpPr>
            <p:nvPr/>
          </p:nvSpPr>
          <p:spPr bwMode="auto">
            <a:xfrm flipV="1">
              <a:off x="3755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0" name="Line 269"/>
            <p:cNvSpPr>
              <a:spLocks noChangeShapeType="1"/>
            </p:cNvSpPr>
            <p:nvPr/>
          </p:nvSpPr>
          <p:spPr bwMode="auto">
            <a:xfrm>
              <a:off x="3755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1" name="Line 270"/>
            <p:cNvSpPr>
              <a:spLocks noChangeShapeType="1"/>
            </p:cNvSpPr>
            <p:nvPr/>
          </p:nvSpPr>
          <p:spPr bwMode="auto">
            <a:xfrm flipV="1">
              <a:off x="378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2" name="Line 271"/>
            <p:cNvSpPr>
              <a:spLocks noChangeShapeType="1"/>
            </p:cNvSpPr>
            <p:nvPr/>
          </p:nvSpPr>
          <p:spPr bwMode="auto">
            <a:xfrm>
              <a:off x="378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3" name="Line 272"/>
            <p:cNvSpPr>
              <a:spLocks noChangeShapeType="1"/>
            </p:cNvSpPr>
            <p:nvPr/>
          </p:nvSpPr>
          <p:spPr bwMode="auto">
            <a:xfrm flipV="1">
              <a:off x="3814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4" name="Line 273"/>
            <p:cNvSpPr>
              <a:spLocks noChangeShapeType="1"/>
            </p:cNvSpPr>
            <p:nvPr/>
          </p:nvSpPr>
          <p:spPr bwMode="auto">
            <a:xfrm>
              <a:off x="3814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5" name="Freeform 274"/>
            <p:cNvSpPr>
              <a:spLocks noChangeArrowheads="1"/>
            </p:cNvSpPr>
            <p:nvPr/>
          </p:nvSpPr>
          <p:spPr bwMode="auto">
            <a:xfrm>
              <a:off x="3814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6" name="Line 275"/>
            <p:cNvSpPr>
              <a:spLocks noChangeShapeType="1"/>
            </p:cNvSpPr>
            <p:nvPr/>
          </p:nvSpPr>
          <p:spPr bwMode="auto">
            <a:xfrm flipV="1">
              <a:off x="3814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7" name="Line 276"/>
            <p:cNvSpPr>
              <a:spLocks noChangeShapeType="1"/>
            </p:cNvSpPr>
            <p:nvPr/>
          </p:nvSpPr>
          <p:spPr bwMode="auto">
            <a:xfrm>
              <a:off x="3814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8" name="Line 277"/>
            <p:cNvSpPr>
              <a:spLocks noChangeShapeType="1"/>
            </p:cNvSpPr>
            <p:nvPr/>
          </p:nvSpPr>
          <p:spPr bwMode="auto">
            <a:xfrm flipV="1">
              <a:off x="4012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29" name="Line 278"/>
            <p:cNvSpPr>
              <a:spLocks noChangeShapeType="1"/>
            </p:cNvSpPr>
            <p:nvPr/>
          </p:nvSpPr>
          <p:spPr bwMode="auto">
            <a:xfrm>
              <a:off x="4012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0" name="Line 279"/>
            <p:cNvSpPr>
              <a:spLocks noChangeShapeType="1"/>
            </p:cNvSpPr>
            <p:nvPr/>
          </p:nvSpPr>
          <p:spPr bwMode="auto">
            <a:xfrm flipV="1">
              <a:off x="4123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1" name="Line 280"/>
            <p:cNvSpPr>
              <a:spLocks noChangeShapeType="1"/>
            </p:cNvSpPr>
            <p:nvPr/>
          </p:nvSpPr>
          <p:spPr bwMode="auto">
            <a:xfrm>
              <a:off x="4123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2" name="Line 281"/>
            <p:cNvSpPr>
              <a:spLocks noChangeShapeType="1"/>
            </p:cNvSpPr>
            <p:nvPr/>
          </p:nvSpPr>
          <p:spPr bwMode="auto">
            <a:xfrm flipV="1">
              <a:off x="4210" y="3842"/>
              <a:ext cx="0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3" name="Line 282"/>
            <p:cNvSpPr>
              <a:spLocks noChangeShapeType="1"/>
            </p:cNvSpPr>
            <p:nvPr/>
          </p:nvSpPr>
          <p:spPr bwMode="auto">
            <a:xfrm>
              <a:off x="4210" y="2652"/>
              <a:ext cx="0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4" name="Line 283"/>
            <p:cNvSpPr>
              <a:spLocks noChangeShapeType="1"/>
            </p:cNvSpPr>
            <p:nvPr/>
          </p:nvSpPr>
          <p:spPr bwMode="auto">
            <a:xfrm flipV="1">
              <a:off x="426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5" name="Line 284"/>
            <p:cNvSpPr>
              <a:spLocks noChangeShapeType="1"/>
            </p:cNvSpPr>
            <p:nvPr/>
          </p:nvSpPr>
          <p:spPr bwMode="auto">
            <a:xfrm>
              <a:off x="426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6" name="Line 285"/>
            <p:cNvSpPr>
              <a:spLocks noChangeShapeType="1"/>
            </p:cNvSpPr>
            <p:nvPr/>
          </p:nvSpPr>
          <p:spPr bwMode="auto">
            <a:xfrm flipV="1">
              <a:off x="4321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7" name="Line 286"/>
            <p:cNvSpPr>
              <a:spLocks noChangeShapeType="1"/>
            </p:cNvSpPr>
            <p:nvPr/>
          </p:nvSpPr>
          <p:spPr bwMode="auto">
            <a:xfrm>
              <a:off x="4321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8" name="Line 287"/>
            <p:cNvSpPr>
              <a:spLocks noChangeShapeType="1"/>
            </p:cNvSpPr>
            <p:nvPr/>
          </p:nvSpPr>
          <p:spPr bwMode="auto">
            <a:xfrm flipV="1">
              <a:off x="4367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39" name="Line 288"/>
            <p:cNvSpPr>
              <a:spLocks noChangeShapeType="1"/>
            </p:cNvSpPr>
            <p:nvPr/>
          </p:nvSpPr>
          <p:spPr bwMode="auto">
            <a:xfrm>
              <a:off x="4367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0" name="Line 289"/>
            <p:cNvSpPr>
              <a:spLocks noChangeShapeType="1"/>
            </p:cNvSpPr>
            <p:nvPr/>
          </p:nvSpPr>
          <p:spPr bwMode="auto">
            <a:xfrm flipV="1">
              <a:off x="440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1" name="Line 290"/>
            <p:cNvSpPr>
              <a:spLocks noChangeShapeType="1"/>
            </p:cNvSpPr>
            <p:nvPr/>
          </p:nvSpPr>
          <p:spPr bwMode="auto">
            <a:xfrm>
              <a:off x="440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2" name="Line 291"/>
            <p:cNvSpPr>
              <a:spLocks noChangeShapeType="1"/>
            </p:cNvSpPr>
            <p:nvPr/>
          </p:nvSpPr>
          <p:spPr bwMode="auto">
            <a:xfrm flipV="1">
              <a:off x="4440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3" name="Line 292"/>
            <p:cNvSpPr>
              <a:spLocks noChangeShapeType="1"/>
            </p:cNvSpPr>
            <p:nvPr/>
          </p:nvSpPr>
          <p:spPr bwMode="auto">
            <a:xfrm>
              <a:off x="4440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4" name="Line 293"/>
            <p:cNvSpPr>
              <a:spLocks noChangeShapeType="1"/>
            </p:cNvSpPr>
            <p:nvPr/>
          </p:nvSpPr>
          <p:spPr bwMode="auto">
            <a:xfrm flipV="1">
              <a:off x="446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5" name="Line 294"/>
            <p:cNvSpPr>
              <a:spLocks noChangeShapeType="1"/>
            </p:cNvSpPr>
            <p:nvPr/>
          </p:nvSpPr>
          <p:spPr bwMode="auto">
            <a:xfrm>
              <a:off x="446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6" name="Freeform 295"/>
            <p:cNvSpPr>
              <a:spLocks noChangeArrowheads="1"/>
            </p:cNvSpPr>
            <p:nvPr/>
          </p:nvSpPr>
          <p:spPr bwMode="auto">
            <a:xfrm>
              <a:off x="4466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7" name="Line 296"/>
            <p:cNvSpPr>
              <a:spLocks noChangeShapeType="1"/>
            </p:cNvSpPr>
            <p:nvPr/>
          </p:nvSpPr>
          <p:spPr bwMode="auto">
            <a:xfrm flipV="1">
              <a:off x="4466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8" name="Line 297"/>
            <p:cNvSpPr>
              <a:spLocks noChangeShapeType="1"/>
            </p:cNvSpPr>
            <p:nvPr/>
          </p:nvSpPr>
          <p:spPr bwMode="auto">
            <a:xfrm>
              <a:off x="4466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49" name="Line 298"/>
            <p:cNvSpPr>
              <a:spLocks noChangeShapeType="1"/>
            </p:cNvSpPr>
            <p:nvPr/>
          </p:nvSpPr>
          <p:spPr bwMode="auto">
            <a:xfrm flipV="1">
              <a:off x="4664" y="3842"/>
              <a:ext cx="0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0" name="Line 299"/>
            <p:cNvSpPr>
              <a:spLocks noChangeShapeType="1"/>
            </p:cNvSpPr>
            <p:nvPr/>
          </p:nvSpPr>
          <p:spPr bwMode="auto">
            <a:xfrm>
              <a:off x="4664" y="2652"/>
              <a:ext cx="0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1" name="Line 300"/>
            <p:cNvSpPr>
              <a:spLocks noChangeShapeType="1"/>
            </p:cNvSpPr>
            <p:nvPr/>
          </p:nvSpPr>
          <p:spPr bwMode="auto">
            <a:xfrm flipV="1">
              <a:off x="4781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2" name="Line 301"/>
            <p:cNvSpPr>
              <a:spLocks noChangeShapeType="1"/>
            </p:cNvSpPr>
            <p:nvPr/>
          </p:nvSpPr>
          <p:spPr bwMode="auto">
            <a:xfrm>
              <a:off x="4781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3" name="Line 302"/>
            <p:cNvSpPr>
              <a:spLocks noChangeShapeType="1"/>
            </p:cNvSpPr>
            <p:nvPr/>
          </p:nvSpPr>
          <p:spPr bwMode="auto">
            <a:xfrm flipV="1">
              <a:off x="4860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4" name="Line 303"/>
            <p:cNvSpPr>
              <a:spLocks noChangeShapeType="1"/>
            </p:cNvSpPr>
            <p:nvPr/>
          </p:nvSpPr>
          <p:spPr bwMode="auto">
            <a:xfrm>
              <a:off x="4860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5" name="Line 304"/>
            <p:cNvSpPr>
              <a:spLocks noChangeShapeType="1"/>
            </p:cNvSpPr>
            <p:nvPr/>
          </p:nvSpPr>
          <p:spPr bwMode="auto">
            <a:xfrm flipV="1">
              <a:off x="4926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6" name="Line 305"/>
            <p:cNvSpPr>
              <a:spLocks noChangeShapeType="1"/>
            </p:cNvSpPr>
            <p:nvPr/>
          </p:nvSpPr>
          <p:spPr bwMode="auto">
            <a:xfrm>
              <a:off x="4926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7" name="Line 306"/>
            <p:cNvSpPr>
              <a:spLocks noChangeShapeType="1"/>
            </p:cNvSpPr>
            <p:nvPr/>
          </p:nvSpPr>
          <p:spPr bwMode="auto">
            <a:xfrm flipV="1">
              <a:off x="4973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8" name="Line 307"/>
            <p:cNvSpPr>
              <a:spLocks noChangeShapeType="1"/>
            </p:cNvSpPr>
            <p:nvPr/>
          </p:nvSpPr>
          <p:spPr bwMode="auto">
            <a:xfrm>
              <a:off x="4973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59" name="Line 308"/>
            <p:cNvSpPr>
              <a:spLocks noChangeShapeType="1"/>
            </p:cNvSpPr>
            <p:nvPr/>
          </p:nvSpPr>
          <p:spPr bwMode="auto">
            <a:xfrm flipV="1">
              <a:off x="501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0" name="Line 309"/>
            <p:cNvSpPr>
              <a:spLocks noChangeShapeType="1"/>
            </p:cNvSpPr>
            <p:nvPr/>
          </p:nvSpPr>
          <p:spPr bwMode="auto">
            <a:xfrm>
              <a:off x="501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1" name="Line 310"/>
            <p:cNvSpPr>
              <a:spLocks noChangeShapeType="1"/>
            </p:cNvSpPr>
            <p:nvPr/>
          </p:nvSpPr>
          <p:spPr bwMode="auto">
            <a:xfrm flipV="1">
              <a:off x="5058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2" name="Line 311"/>
            <p:cNvSpPr>
              <a:spLocks noChangeShapeType="1"/>
            </p:cNvSpPr>
            <p:nvPr/>
          </p:nvSpPr>
          <p:spPr bwMode="auto">
            <a:xfrm>
              <a:off x="5058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3" name="Line 312"/>
            <p:cNvSpPr>
              <a:spLocks noChangeShapeType="1"/>
            </p:cNvSpPr>
            <p:nvPr/>
          </p:nvSpPr>
          <p:spPr bwMode="auto">
            <a:xfrm flipV="1">
              <a:off x="5091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4" name="Line 313"/>
            <p:cNvSpPr>
              <a:spLocks noChangeShapeType="1"/>
            </p:cNvSpPr>
            <p:nvPr/>
          </p:nvSpPr>
          <p:spPr bwMode="auto">
            <a:xfrm>
              <a:off x="5091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5" name="Line 314"/>
            <p:cNvSpPr>
              <a:spLocks noChangeShapeType="1"/>
            </p:cNvSpPr>
            <p:nvPr/>
          </p:nvSpPr>
          <p:spPr bwMode="auto">
            <a:xfrm flipV="1">
              <a:off x="5124" y="3842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6" name="Line 315"/>
            <p:cNvSpPr>
              <a:spLocks noChangeShapeType="1"/>
            </p:cNvSpPr>
            <p:nvPr/>
          </p:nvSpPr>
          <p:spPr bwMode="auto">
            <a:xfrm>
              <a:off x="5124" y="2652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7" name="Freeform 316"/>
            <p:cNvSpPr>
              <a:spLocks noChangeArrowheads="1"/>
            </p:cNvSpPr>
            <p:nvPr/>
          </p:nvSpPr>
          <p:spPr bwMode="auto">
            <a:xfrm>
              <a:off x="5124" y="2652"/>
              <a:ext cx="1" cy="1209"/>
            </a:xfrm>
            <a:custGeom>
              <a:avLst/>
              <a:gdLst>
                <a:gd name="T0" fmla="*/ 0 w 1"/>
                <a:gd name="T1" fmla="*/ 1209 h 198"/>
                <a:gd name="T2" fmla="*/ 0 w 1"/>
                <a:gd name="T3" fmla="*/ 0 h 1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8">
                  <a:moveTo>
                    <a:pt x="0" y="19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8" name="Line 317"/>
            <p:cNvSpPr>
              <a:spLocks noChangeShapeType="1"/>
            </p:cNvSpPr>
            <p:nvPr/>
          </p:nvSpPr>
          <p:spPr bwMode="auto">
            <a:xfrm flipV="1">
              <a:off x="5124" y="3824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69" name="Line 318"/>
            <p:cNvSpPr>
              <a:spLocks noChangeShapeType="1"/>
            </p:cNvSpPr>
            <p:nvPr/>
          </p:nvSpPr>
          <p:spPr bwMode="auto">
            <a:xfrm>
              <a:off x="5124" y="2652"/>
              <a:ext cx="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0" name="Line 319"/>
            <p:cNvSpPr>
              <a:spLocks noChangeShapeType="1"/>
            </p:cNvSpPr>
            <p:nvPr/>
          </p:nvSpPr>
          <p:spPr bwMode="auto">
            <a:xfrm>
              <a:off x="1209" y="3861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1" name="Line 320"/>
            <p:cNvSpPr>
              <a:spLocks noChangeShapeType="1"/>
            </p:cNvSpPr>
            <p:nvPr/>
          </p:nvSpPr>
          <p:spPr bwMode="auto">
            <a:xfrm flipH="1">
              <a:off x="5084" y="3861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2" name="Rectangle 321"/>
            <p:cNvSpPr>
              <a:spLocks noChangeArrowheads="1"/>
            </p:cNvSpPr>
            <p:nvPr/>
          </p:nvSpPr>
          <p:spPr bwMode="auto">
            <a:xfrm>
              <a:off x="912" y="3752"/>
              <a:ext cx="3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-80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9473" name="Rectangle 322"/>
            <p:cNvSpPr>
              <a:spLocks noChangeArrowheads="1"/>
            </p:cNvSpPr>
            <p:nvPr/>
          </p:nvSpPr>
          <p:spPr bwMode="auto">
            <a:xfrm>
              <a:off x="912" y="3447"/>
              <a:ext cx="3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-40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49474" name="Line 323"/>
            <p:cNvSpPr>
              <a:spLocks noChangeShapeType="1"/>
            </p:cNvSpPr>
            <p:nvPr/>
          </p:nvSpPr>
          <p:spPr bwMode="auto">
            <a:xfrm>
              <a:off x="1209" y="3257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5" name="Line 324"/>
            <p:cNvSpPr>
              <a:spLocks noChangeShapeType="1"/>
            </p:cNvSpPr>
            <p:nvPr/>
          </p:nvSpPr>
          <p:spPr bwMode="auto">
            <a:xfrm flipH="1">
              <a:off x="5084" y="3257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6" name="Rectangle 325"/>
            <p:cNvSpPr>
              <a:spLocks noChangeArrowheads="1"/>
            </p:cNvSpPr>
            <p:nvPr/>
          </p:nvSpPr>
          <p:spPr bwMode="auto">
            <a:xfrm>
              <a:off x="1007" y="3148"/>
              <a:ext cx="2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49477" name="Line 326"/>
            <p:cNvSpPr>
              <a:spLocks noChangeShapeType="1"/>
            </p:cNvSpPr>
            <p:nvPr/>
          </p:nvSpPr>
          <p:spPr bwMode="auto">
            <a:xfrm>
              <a:off x="1209" y="2952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8" name="Line 327"/>
            <p:cNvSpPr>
              <a:spLocks noChangeShapeType="1"/>
            </p:cNvSpPr>
            <p:nvPr/>
          </p:nvSpPr>
          <p:spPr bwMode="auto">
            <a:xfrm flipH="1">
              <a:off x="5084" y="2952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79" name="Rectangle 328"/>
            <p:cNvSpPr>
              <a:spLocks noChangeArrowheads="1"/>
            </p:cNvSpPr>
            <p:nvPr/>
          </p:nvSpPr>
          <p:spPr bwMode="auto">
            <a:xfrm>
              <a:off x="960" y="2843"/>
              <a:ext cx="32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49480" name="Line 329"/>
            <p:cNvSpPr>
              <a:spLocks noChangeShapeType="1"/>
            </p:cNvSpPr>
            <p:nvPr/>
          </p:nvSpPr>
          <p:spPr bwMode="auto">
            <a:xfrm>
              <a:off x="1209" y="2652"/>
              <a:ext cx="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1" name="Line 330"/>
            <p:cNvSpPr>
              <a:spLocks noChangeShapeType="1"/>
            </p:cNvSpPr>
            <p:nvPr/>
          </p:nvSpPr>
          <p:spPr bwMode="auto">
            <a:xfrm flipH="1">
              <a:off x="5084" y="2652"/>
              <a:ext cx="4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2" name="Rectangle 331"/>
            <p:cNvSpPr>
              <a:spLocks noChangeArrowheads="1"/>
            </p:cNvSpPr>
            <p:nvPr/>
          </p:nvSpPr>
          <p:spPr bwMode="auto">
            <a:xfrm>
              <a:off x="960" y="2544"/>
              <a:ext cx="32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80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49483" name="Line 332"/>
            <p:cNvSpPr>
              <a:spLocks noChangeShapeType="1"/>
            </p:cNvSpPr>
            <p:nvPr/>
          </p:nvSpPr>
          <p:spPr bwMode="auto">
            <a:xfrm>
              <a:off x="1209" y="2652"/>
              <a:ext cx="391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4" name="Freeform 333"/>
            <p:cNvSpPr>
              <a:spLocks noChangeArrowheads="1"/>
            </p:cNvSpPr>
            <p:nvPr/>
          </p:nvSpPr>
          <p:spPr bwMode="auto">
            <a:xfrm>
              <a:off x="1209" y="2652"/>
              <a:ext cx="3915" cy="1209"/>
            </a:xfrm>
            <a:custGeom>
              <a:avLst/>
              <a:gdLst>
                <a:gd name="T0" fmla="*/ 0 w 595"/>
                <a:gd name="T1" fmla="*/ 1209 h 198"/>
                <a:gd name="T2" fmla="*/ 3915 w 595"/>
                <a:gd name="T3" fmla="*/ 1209 h 198"/>
                <a:gd name="T4" fmla="*/ 3915 w 595"/>
                <a:gd name="T5" fmla="*/ 0 h 1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5" h="198">
                  <a:moveTo>
                    <a:pt x="0" y="198"/>
                  </a:moveTo>
                  <a:lnTo>
                    <a:pt x="595" y="198"/>
                  </a:lnTo>
                  <a:lnTo>
                    <a:pt x="59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5" name="Line 334"/>
            <p:cNvSpPr>
              <a:spLocks noChangeShapeType="1"/>
            </p:cNvSpPr>
            <p:nvPr/>
          </p:nvSpPr>
          <p:spPr bwMode="auto">
            <a:xfrm flipV="1">
              <a:off x="1209" y="2652"/>
              <a:ext cx="1" cy="120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6" name="Freeform 335"/>
            <p:cNvSpPr>
              <a:spLocks noChangeArrowheads="1"/>
            </p:cNvSpPr>
            <p:nvPr/>
          </p:nvSpPr>
          <p:spPr bwMode="auto">
            <a:xfrm>
              <a:off x="1209" y="2769"/>
              <a:ext cx="3915" cy="970"/>
            </a:xfrm>
            <a:custGeom>
              <a:avLst/>
              <a:gdLst>
                <a:gd name="T0" fmla="*/ 0 w 4217"/>
                <a:gd name="T1" fmla="*/ 524 h 1127"/>
                <a:gd name="T2" fmla="*/ 92 w 4217"/>
                <a:gd name="T3" fmla="*/ 543 h 1127"/>
                <a:gd name="T4" fmla="*/ 190 w 4217"/>
                <a:gd name="T5" fmla="*/ 567 h 1127"/>
                <a:gd name="T6" fmla="*/ 282 w 4217"/>
                <a:gd name="T7" fmla="*/ 598 h 1127"/>
                <a:gd name="T8" fmla="*/ 382 w 4217"/>
                <a:gd name="T9" fmla="*/ 634 h 1127"/>
                <a:gd name="T10" fmla="*/ 473 w 4217"/>
                <a:gd name="T11" fmla="*/ 689 h 1127"/>
                <a:gd name="T12" fmla="*/ 572 w 4217"/>
                <a:gd name="T13" fmla="*/ 751 h 1127"/>
                <a:gd name="T14" fmla="*/ 665 w 4217"/>
                <a:gd name="T15" fmla="*/ 812 h 1127"/>
                <a:gd name="T16" fmla="*/ 763 w 4217"/>
                <a:gd name="T17" fmla="*/ 872 h 1127"/>
                <a:gd name="T18" fmla="*/ 855 w 4217"/>
                <a:gd name="T19" fmla="*/ 921 h 1127"/>
                <a:gd name="T20" fmla="*/ 953 w 4217"/>
                <a:gd name="T21" fmla="*/ 958 h 1127"/>
                <a:gd name="T22" fmla="*/ 1046 w 4217"/>
                <a:gd name="T23" fmla="*/ 970 h 1127"/>
                <a:gd name="T24" fmla="*/ 1066 w 4217"/>
                <a:gd name="T25" fmla="*/ 970 h 1127"/>
                <a:gd name="T26" fmla="*/ 1145 w 4217"/>
                <a:gd name="T27" fmla="*/ 964 h 1127"/>
                <a:gd name="T28" fmla="*/ 1237 w 4217"/>
                <a:gd name="T29" fmla="*/ 939 h 1127"/>
                <a:gd name="T30" fmla="*/ 1335 w 4217"/>
                <a:gd name="T31" fmla="*/ 897 h 1127"/>
                <a:gd name="T32" fmla="*/ 1428 w 4217"/>
                <a:gd name="T33" fmla="*/ 836 h 1127"/>
                <a:gd name="T34" fmla="*/ 1526 w 4217"/>
                <a:gd name="T35" fmla="*/ 769 h 1127"/>
                <a:gd name="T36" fmla="*/ 1618 w 4217"/>
                <a:gd name="T37" fmla="*/ 695 h 1127"/>
                <a:gd name="T38" fmla="*/ 1717 w 4217"/>
                <a:gd name="T39" fmla="*/ 628 h 1127"/>
                <a:gd name="T40" fmla="*/ 1809 w 4217"/>
                <a:gd name="T41" fmla="*/ 567 h 1127"/>
                <a:gd name="T42" fmla="*/ 1908 w 4217"/>
                <a:gd name="T43" fmla="*/ 512 h 1127"/>
                <a:gd name="T44" fmla="*/ 2000 w 4217"/>
                <a:gd name="T45" fmla="*/ 458 h 1127"/>
                <a:gd name="T46" fmla="*/ 2099 w 4217"/>
                <a:gd name="T47" fmla="*/ 403 h 1127"/>
                <a:gd name="T48" fmla="*/ 2191 w 4217"/>
                <a:gd name="T49" fmla="*/ 342 h 1127"/>
                <a:gd name="T50" fmla="*/ 2289 w 4217"/>
                <a:gd name="T51" fmla="*/ 275 h 1127"/>
                <a:gd name="T52" fmla="*/ 2381 w 4217"/>
                <a:gd name="T53" fmla="*/ 201 h 1127"/>
                <a:gd name="T54" fmla="*/ 2481 w 4217"/>
                <a:gd name="T55" fmla="*/ 134 h 1127"/>
                <a:gd name="T56" fmla="*/ 2573 w 4217"/>
                <a:gd name="T57" fmla="*/ 73 h 1127"/>
                <a:gd name="T58" fmla="*/ 2671 w 4217"/>
                <a:gd name="T59" fmla="*/ 30 h 1127"/>
                <a:gd name="T60" fmla="*/ 2763 w 4217"/>
                <a:gd name="T61" fmla="*/ 6 h 1127"/>
                <a:gd name="T62" fmla="*/ 2842 w 4217"/>
                <a:gd name="T63" fmla="*/ 0 h 1127"/>
                <a:gd name="T64" fmla="*/ 2862 w 4217"/>
                <a:gd name="T65" fmla="*/ 0 h 1127"/>
                <a:gd name="T66" fmla="*/ 2954 w 4217"/>
                <a:gd name="T67" fmla="*/ 12 h 1127"/>
                <a:gd name="T68" fmla="*/ 3053 w 4217"/>
                <a:gd name="T69" fmla="*/ 49 h 1127"/>
                <a:gd name="T70" fmla="*/ 3144 w 4217"/>
                <a:gd name="T71" fmla="*/ 97 h 1127"/>
                <a:gd name="T72" fmla="*/ 3244 w 4217"/>
                <a:gd name="T73" fmla="*/ 158 h 1127"/>
                <a:gd name="T74" fmla="*/ 3336 w 4217"/>
                <a:gd name="T75" fmla="*/ 219 h 1127"/>
                <a:gd name="T76" fmla="*/ 3434 w 4217"/>
                <a:gd name="T77" fmla="*/ 281 h 1127"/>
                <a:gd name="T78" fmla="*/ 3526 w 4217"/>
                <a:gd name="T79" fmla="*/ 336 h 1127"/>
                <a:gd name="T80" fmla="*/ 3625 w 4217"/>
                <a:gd name="T81" fmla="*/ 372 h 1127"/>
                <a:gd name="T82" fmla="*/ 3717 w 4217"/>
                <a:gd name="T83" fmla="*/ 403 h 1127"/>
                <a:gd name="T84" fmla="*/ 3816 w 4217"/>
                <a:gd name="T85" fmla="*/ 427 h 1127"/>
                <a:gd name="T86" fmla="*/ 3915 w 4217"/>
                <a:gd name="T87" fmla="*/ 445 h 11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217" h="1127">
                  <a:moveTo>
                    <a:pt x="0" y="609"/>
                  </a:moveTo>
                  <a:lnTo>
                    <a:pt x="99" y="631"/>
                  </a:lnTo>
                  <a:lnTo>
                    <a:pt x="205" y="659"/>
                  </a:lnTo>
                  <a:lnTo>
                    <a:pt x="304" y="695"/>
                  </a:lnTo>
                  <a:lnTo>
                    <a:pt x="411" y="737"/>
                  </a:lnTo>
                  <a:lnTo>
                    <a:pt x="510" y="801"/>
                  </a:lnTo>
                  <a:lnTo>
                    <a:pt x="616" y="872"/>
                  </a:lnTo>
                  <a:lnTo>
                    <a:pt x="716" y="943"/>
                  </a:lnTo>
                  <a:lnTo>
                    <a:pt x="822" y="1013"/>
                  </a:lnTo>
                  <a:lnTo>
                    <a:pt x="921" y="1070"/>
                  </a:lnTo>
                  <a:lnTo>
                    <a:pt x="1027" y="1113"/>
                  </a:lnTo>
                  <a:lnTo>
                    <a:pt x="1127" y="1127"/>
                  </a:lnTo>
                  <a:lnTo>
                    <a:pt x="1148" y="1127"/>
                  </a:lnTo>
                  <a:lnTo>
                    <a:pt x="1233" y="1120"/>
                  </a:lnTo>
                  <a:lnTo>
                    <a:pt x="1332" y="1091"/>
                  </a:lnTo>
                  <a:lnTo>
                    <a:pt x="1438" y="1042"/>
                  </a:lnTo>
                  <a:lnTo>
                    <a:pt x="1538" y="971"/>
                  </a:lnTo>
                  <a:lnTo>
                    <a:pt x="1644" y="893"/>
                  </a:lnTo>
                  <a:lnTo>
                    <a:pt x="1743" y="808"/>
                  </a:lnTo>
                  <a:lnTo>
                    <a:pt x="1849" y="730"/>
                  </a:lnTo>
                  <a:lnTo>
                    <a:pt x="1949" y="659"/>
                  </a:lnTo>
                  <a:lnTo>
                    <a:pt x="2055" y="595"/>
                  </a:lnTo>
                  <a:lnTo>
                    <a:pt x="2154" y="532"/>
                  </a:lnTo>
                  <a:lnTo>
                    <a:pt x="2261" y="468"/>
                  </a:lnTo>
                  <a:lnTo>
                    <a:pt x="2360" y="397"/>
                  </a:lnTo>
                  <a:lnTo>
                    <a:pt x="2466" y="319"/>
                  </a:lnTo>
                  <a:lnTo>
                    <a:pt x="2565" y="234"/>
                  </a:lnTo>
                  <a:lnTo>
                    <a:pt x="2672" y="156"/>
                  </a:lnTo>
                  <a:lnTo>
                    <a:pt x="2771" y="85"/>
                  </a:lnTo>
                  <a:lnTo>
                    <a:pt x="2877" y="35"/>
                  </a:lnTo>
                  <a:lnTo>
                    <a:pt x="2976" y="7"/>
                  </a:lnTo>
                  <a:lnTo>
                    <a:pt x="3061" y="0"/>
                  </a:lnTo>
                  <a:lnTo>
                    <a:pt x="3083" y="0"/>
                  </a:lnTo>
                  <a:lnTo>
                    <a:pt x="3182" y="14"/>
                  </a:lnTo>
                  <a:lnTo>
                    <a:pt x="3288" y="57"/>
                  </a:lnTo>
                  <a:lnTo>
                    <a:pt x="3387" y="113"/>
                  </a:lnTo>
                  <a:lnTo>
                    <a:pt x="3494" y="184"/>
                  </a:lnTo>
                  <a:lnTo>
                    <a:pt x="3593" y="255"/>
                  </a:lnTo>
                  <a:lnTo>
                    <a:pt x="3699" y="326"/>
                  </a:lnTo>
                  <a:lnTo>
                    <a:pt x="3798" y="390"/>
                  </a:lnTo>
                  <a:lnTo>
                    <a:pt x="3905" y="432"/>
                  </a:lnTo>
                  <a:lnTo>
                    <a:pt x="4004" y="468"/>
                  </a:lnTo>
                  <a:lnTo>
                    <a:pt x="4110" y="496"/>
                  </a:lnTo>
                  <a:lnTo>
                    <a:pt x="4217" y="51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7" name="Freeform 336"/>
            <p:cNvSpPr>
              <a:spLocks noChangeArrowheads="1"/>
            </p:cNvSpPr>
            <p:nvPr/>
          </p:nvSpPr>
          <p:spPr bwMode="auto">
            <a:xfrm>
              <a:off x="1209" y="2842"/>
              <a:ext cx="3915" cy="824"/>
            </a:xfrm>
            <a:custGeom>
              <a:avLst/>
              <a:gdLst>
                <a:gd name="T0" fmla="*/ 0 w 4217"/>
                <a:gd name="T1" fmla="*/ 451 h 957"/>
                <a:gd name="T2" fmla="*/ 92 w 4217"/>
                <a:gd name="T3" fmla="*/ 464 h 957"/>
                <a:gd name="T4" fmla="*/ 190 w 4217"/>
                <a:gd name="T5" fmla="*/ 488 h 957"/>
                <a:gd name="T6" fmla="*/ 282 w 4217"/>
                <a:gd name="T7" fmla="*/ 518 h 957"/>
                <a:gd name="T8" fmla="*/ 382 w 4217"/>
                <a:gd name="T9" fmla="*/ 555 h 957"/>
                <a:gd name="T10" fmla="*/ 473 w 4217"/>
                <a:gd name="T11" fmla="*/ 604 h 957"/>
                <a:gd name="T12" fmla="*/ 572 w 4217"/>
                <a:gd name="T13" fmla="*/ 659 h 957"/>
                <a:gd name="T14" fmla="*/ 665 w 4217"/>
                <a:gd name="T15" fmla="*/ 720 h 957"/>
                <a:gd name="T16" fmla="*/ 763 w 4217"/>
                <a:gd name="T17" fmla="*/ 769 h 957"/>
                <a:gd name="T18" fmla="*/ 855 w 4217"/>
                <a:gd name="T19" fmla="*/ 805 h 957"/>
                <a:gd name="T20" fmla="*/ 953 w 4217"/>
                <a:gd name="T21" fmla="*/ 824 h 957"/>
                <a:gd name="T22" fmla="*/ 1046 w 4217"/>
                <a:gd name="T23" fmla="*/ 818 h 957"/>
                <a:gd name="T24" fmla="*/ 1066 w 4217"/>
                <a:gd name="T25" fmla="*/ 812 h 957"/>
                <a:gd name="T26" fmla="*/ 1145 w 4217"/>
                <a:gd name="T27" fmla="*/ 787 h 957"/>
                <a:gd name="T28" fmla="*/ 1237 w 4217"/>
                <a:gd name="T29" fmla="*/ 745 h 957"/>
                <a:gd name="T30" fmla="*/ 1335 w 4217"/>
                <a:gd name="T31" fmla="*/ 684 h 957"/>
                <a:gd name="T32" fmla="*/ 1428 w 4217"/>
                <a:gd name="T33" fmla="*/ 623 h 957"/>
                <a:gd name="T34" fmla="*/ 1526 w 4217"/>
                <a:gd name="T35" fmla="*/ 567 h 957"/>
                <a:gd name="T36" fmla="*/ 1618 w 4217"/>
                <a:gd name="T37" fmla="*/ 525 h 957"/>
                <a:gd name="T38" fmla="*/ 1717 w 4217"/>
                <a:gd name="T39" fmla="*/ 482 h 957"/>
                <a:gd name="T40" fmla="*/ 1809 w 4217"/>
                <a:gd name="T41" fmla="*/ 451 h 957"/>
                <a:gd name="T42" fmla="*/ 1908 w 4217"/>
                <a:gd name="T43" fmla="*/ 427 h 957"/>
                <a:gd name="T44" fmla="*/ 2000 w 4217"/>
                <a:gd name="T45" fmla="*/ 397 h 957"/>
                <a:gd name="T46" fmla="*/ 2099 w 4217"/>
                <a:gd name="T47" fmla="*/ 372 h 957"/>
                <a:gd name="T48" fmla="*/ 2191 w 4217"/>
                <a:gd name="T49" fmla="*/ 342 h 957"/>
                <a:gd name="T50" fmla="*/ 2289 w 4217"/>
                <a:gd name="T51" fmla="*/ 299 h 957"/>
                <a:gd name="T52" fmla="*/ 2381 w 4217"/>
                <a:gd name="T53" fmla="*/ 257 h 957"/>
                <a:gd name="T54" fmla="*/ 2481 w 4217"/>
                <a:gd name="T55" fmla="*/ 201 h 957"/>
                <a:gd name="T56" fmla="*/ 2573 w 4217"/>
                <a:gd name="T57" fmla="*/ 140 h 957"/>
                <a:gd name="T58" fmla="*/ 2671 w 4217"/>
                <a:gd name="T59" fmla="*/ 79 h 957"/>
                <a:gd name="T60" fmla="*/ 2763 w 4217"/>
                <a:gd name="T61" fmla="*/ 37 h 957"/>
                <a:gd name="T62" fmla="*/ 2842 w 4217"/>
                <a:gd name="T63" fmla="*/ 12 h 957"/>
                <a:gd name="T64" fmla="*/ 2862 w 4217"/>
                <a:gd name="T65" fmla="*/ 6 h 957"/>
                <a:gd name="T66" fmla="*/ 2954 w 4217"/>
                <a:gd name="T67" fmla="*/ 0 h 957"/>
                <a:gd name="T68" fmla="*/ 3053 w 4217"/>
                <a:gd name="T69" fmla="*/ 18 h 957"/>
                <a:gd name="T70" fmla="*/ 3144 w 4217"/>
                <a:gd name="T71" fmla="*/ 55 h 957"/>
                <a:gd name="T72" fmla="*/ 3244 w 4217"/>
                <a:gd name="T73" fmla="*/ 104 h 957"/>
                <a:gd name="T74" fmla="*/ 3336 w 4217"/>
                <a:gd name="T75" fmla="*/ 164 h 957"/>
                <a:gd name="T76" fmla="*/ 3434 w 4217"/>
                <a:gd name="T77" fmla="*/ 220 h 957"/>
                <a:gd name="T78" fmla="*/ 3526 w 4217"/>
                <a:gd name="T79" fmla="*/ 269 h 957"/>
                <a:gd name="T80" fmla="*/ 3625 w 4217"/>
                <a:gd name="T81" fmla="*/ 305 h 957"/>
                <a:gd name="T82" fmla="*/ 3717 w 4217"/>
                <a:gd name="T83" fmla="*/ 336 h 957"/>
                <a:gd name="T84" fmla="*/ 3816 w 4217"/>
                <a:gd name="T85" fmla="*/ 360 h 957"/>
                <a:gd name="T86" fmla="*/ 3915 w 4217"/>
                <a:gd name="T87" fmla="*/ 372 h 95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217" h="957">
                  <a:moveTo>
                    <a:pt x="0" y="524"/>
                  </a:moveTo>
                  <a:lnTo>
                    <a:pt x="99" y="539"/>
                  </a:lnTo>
                  <a:lnTo>
                    <a:pt x="205" y="567"/>
                  </a:lnTo>
                  <a:lnTo>
                    <a:pt x="304" y="602"/>
                  </a:lnTo>
                  <a:lnTo>
                    <a:pt x="411" y="645"/>
                  </a:lnTo>
                  <a:lnTo>
                    <a:pt x="510" y="702"/>
                  </a:lnTo>
                  <a:lnTo>
                    <a:pt x="616" y="765"/>
                  </a:lnTo>
                  <a:lnTo>
                    <a:pt x="716" y="836"/>
                  </a:lnTo>
                  <a:lnTo>
                    <a:pt x="822" y="893"/>
                  </a:lnTo>
                  <a:lnTo>
                    <a:pt x="921" y="935"/>
                  </a:lnTo>
                  <a:lnTo>
                    <a:pt x="1027" y="957"/>
                  </a:lnTo>
                  <a:lnTo>
                    <a:pt x="1127" y="950"/>
                  </a:lnTo>
                  <a:lnTo>
                    <a:pt x="1148" y="943"/>
                  </a:lnTo>
                  <a:lnTo>
                    <a:pt x="1233" y="914"/>
                  </a:lnTo>
                  <a:lnTo>
                    <a:pt x="1332" y="865"/>
                  </a:lnTo>
                  <a:lnTo>
                    <a:pt x="1438" y="794"/>
                  </a:lnTo>
                  <a:lnTo>
                    <a:pt x="1538" y="723"/>
                  </a:lnTo>
                  <a:lnTo>
                    <a:pt x="1644" y="659"/>
                  </a:lnTo>
                  <a:lnTo>
                    <a:pt x="1743" y="610"/>
                  </a:lnTo>
                  <a:lnTo>
                    <a:pt x="1849" y="560"/>
                  </a:lnTo>
                  <a:lnTo>
                    <a:pt x="1949" y="524"/>
                  </a:lnTo>
                  <a:lnTo>
                    <a:pt x="2055" y="496"/>
                  </a:lnTo>
                  <a:lnTo>
                    <a:pt x="2154" y="461"/>
                  </a:lnTo>
                  <a:lnTo>
                    <a:pt x="2261" y="432"/>
                  </a:lnTo>
                  <a:lnTo>
                    <a:pt x="2360" y="397"/>
                  </a:lnTo>
                  <a:lnTo>
                    <a:pt x="2466" y="347"/>
                  </a:lnTo>
                  <a:lnTo>
                    <a:pt x="2565" y="298"/>
                  </a:lnTo>
                  <a:lnTo>
                    <a:pt x="2672" y="234"/>
                  </a:lnTo>
                  <a:lnTo>
                    <a:pt x="2771" y="163"/>
                  </a:lnTo>
                  <a:lnTo>
                    <a:pt x="2877" y="92"/>
                  </a:lnTo>
                  <a:lnTo>
                    <a:pt x="2976" y="43"/>
                  </a:lnTo>
                  <a:lnTo>
                    <a:pt x="3061" y="14"/>
                  </a:lnTo>
                  <a:lnTo>
                    <a:pt x="3083" y="7"/>
                  </a:lnTo>
                  <a:lnTo>
                    <a:pt x="3182" y="0"/>
                  </a:lnTo>
                  <a:lnTo>
                    <a:pt x="3288" y="21"/>
                  </a:lnTo>
                  <a:lnTo>
                    <a:pt x="3387" y="64"/>
                  </a:lnTo>
                  <a:lnTo>
                    <a:pt x="3494" y="121"/>
                  </a:lnTo>
                  <a:lnTo>
                    <a:pt x="3593" y="191"/>
                  </a:lnTo>
                  <a:lnTo>
                    <a:pt x="3699" y="255"/>
                  </a:lnTo>
                  <a:lnTo>
                    <a:pt x="3798" y="312"/>
                  </a:lnTo>
                  <a:lnTo>
                    <a:pt x="3905" y="354"/>
                  </a:lnTo>
                  <a:lnTo>
                    <a:pt x="4004" y="390"/>
                  </a:lnTo>
                  <a:lnTo>
                    <a:pt x="4110" y="418"/>
                  </a:lnTo>
                  <a:lnTo>
                    <a:pt x="4217" y="43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8" name="Freeform 337"/>
            <p:cNvSpPr>
              <a:spLocks noChangeArrowheads="1"/>
            </p:cNvSpPr>
            <p:nvPr/>
          </p:nvSpPr>
          <p:spPr bwMode="auto">
            <a:xfrm>
              <a:off x="1209" y="2939"/>
              <a:ext cx="3915" cy="629"/>
            </a:xfrm>
            <a:custGeom>
              <a:avLst/>
              <a:gdLst>
                <a:gd name="T0" fmla="*/ 0 w 4217"/>
                <a:gd name="T1" fmla="*/ 348 h 730"/>
                <a:gd name="T2" fmla="*/ 92 w 4217"/>
                <a:gd name="T3" fmla="*/ 361 h 730"/>
                <a:gd name="T4" fmla="*/ 190 w 4217"/>
                <a:gd name="T5" fmla="*/ 379 h 730"/>
                <a:gd name="T6" fmla="*/ 282 w 4217"/>
                <a:gd name="T7" fmla="*/ 409 h 730"/>
                <a:gd name="T8" fmla="*/ 382 w 4217"/>
                <a:gd name="T9" fmla="*/ 440 h 730"/>
                <a:gd name="T10" fmla="*/ 473 w 4217"/>
                <a:gd name="T11" fmla="*/ 483 h 730"/>
                <a:gd name="T12" fmla="*/ 572 w 4217"/>
                <a:gd name="T13" fmla="*/ 532 h 730"/>
                <a:gd name="T14" fmla="*/ 665 w 4217"/>
                <a:gd name="T15" fmla="*/ 575 h 730"/>
                <a:gd name="T16" fmla="*/ 763 w 4217"/>
                <a:gd name="T17" fmla="*/ 611 h 730"/>
                <a:gd name="T18" fmla="*/ 855 w 4217"/>
                <a:gd name="T19" fmla="*/ 629 h 730"/>
                <a:gd name="T20" fmla="*/ 953 w 4217"/>
                <a:gd name="T21" fmla="*/ 623 h 730"/>
                <a:gd name="T22" fmla="*/ 1046 w 4217"/>
                <a:gd name="T23" fmla="*/ 593 h 730"/>
                <a:gd name="T24" fmla="*/ 1066 w 4217"/>
                <a:gd name="T25" fmla="*/ 587 h 730"/>
                <a:gd name="T26" fmla="*/ 1145 w 4217"/>
                <a:gd name="T27" fmla="*/ 550 h 730"/>
                <a:gd name="T28" fmla="*/ 1237 w 4217"/>
                <a:gd name="T29" fmla="*/ 501 h 730"/>
                <a:gd name="T30" fmla="*/ 1335 w 4217"/>
                <a:gd name="T31" fmla="*/ 458 h 730"/>
                <a:gd name="T32" fmla="*/ 1428 w 4217"/>
                <a:gd name="T33" fmla="*/ 415 h 730"/>
                <a:gd name="T34" fmla="*/ 1526 w 4217"/>
                <a:gd name="T35" fmla="*/ 391 h 730"/>
                <a:gd name="T36" fmla="*/ 1618 w 4217"/>
                <a:gd name="T37" fmla="*/ 367 h 730"/>
                <a:gd name="T38" fmla="*/ 1717 w 4217"/>
                <a:gd name="T39" fmla="*/ 348 h 730"/>
                <a:gd name="T40" fmla="*/ 1809 w 4217"/>
                <a:gd name="T41" fmla="*/ 330 h 730"/>
                <a:gd name="T42" fmla="*/ 1908 w 4217"/>
                <a:gd name="T43" fmla="*/ 318 h 730"/>
                <a:gd name="T44" fmla="*/ 2000 w 4217"/>
                <a:gd name="T45" fmla="*/ 312 h 730"/>
                <a:gd name="T46" fmla="*/ 2099 w 4217"/>
                <a:gd name="T47" fmla="*/ 300 h 730"/>
                <a:gd name="T48" fmla="*/ 2191 w 4217"/>
                <a:gd name="T49" fmla="*/ 281 h 730"/>
                <a:gd name="T50" fmla="*/ 2289 w 4217"/>
                <a:gd name="T51" fmla="*/ 263 h 730"/>
                <a:gd name="T52" fmla="*/ 2381 w 4217"/>
                <a:gd name="T53" fmla="*/ 239 h 730"/>
                <a:gd name="T54" fmla="*/ 2481 w 4217"/>
                <a:gd name="T55" fmla="*/ 214 h 730"/>
                <a:gd name="T56" fmla="*/ 2573 w 4217"/>
                <a:gd name="T57" fmla="*/ 171 h 730"/>
                <a:gd name="T58" fmla="*/ 2671 w 4217"/>
                <a:gd name="T59" fmla="*/ 128 h 730"/>
                <a:gd name="T60" fmla="*/ 2763 w 4217"/>
                <a:gd name="T61" fmla="*/ 80 h 730"/>
                <a:gd name="T62" fmla="*/ 2842 w 4217"/>
                <a:gd name="T63" fmla="*/ 43 h 730"/>
                <a:gd name="T64" fmla="*/ 2862 w 4217"/>
                <a:gd name="T65" fmla="*/ 37 h 730"/>
                <a:gd name="T66" fmla="*/ 2954 w 4217"/>
                <a:gd name="T67" fmla="*/ 7 h 730"/>
                <a:gd name="T68" fmla="*/ 3053 w 4217"/>
                <a:gd name="T69" fmla="*/ 0 h 730"/>
                <a:gd name="T70" fmla="*/ 3144 w 4217"/>
                <a:gd name="T71" fmla="*/ 19 h 730"/>
                <a:gd name="T72" fmla="*/ 3244 w 4217"/>
                <a:gd name="T73" fmla="*/ 55 h 730"/>
                <a:gd name="T74" fmla="*/ 3336 w 4217"/>
                <a:gd name="T75" fmla="*/ 98 h 730"/>
                <a:gd name="T76" fmla="*/ 3434 w 4217"/>
                <a:gd name="T77" fmla="*/ 147 h 730"/>
                <a:gd name="T78" fmla="*/ 3526 w 4217"/>
                <a:gd name="T79" fmla="*/ 190 h 730"/>
                <a:gd name="T80" fmla="*/ 3625 w 4217"/>
                <a:gd name="T81" fmla="*/ 221 h 730"/>
                <a:gd name="T82" fmla="*/ 3717 w 4217"/>
                <a:gd name="T83" fmla="*/ 251 h 730"/>
                <a:gd name="T84" fmla="*/ 3816 w 4217"/>
                <a:gd name="T85" fmla="*/ 269 h 730"/>
                <a:gd name="T86" fmla="*/ 3915 w 4217"/>
                <a:gd name="T87" fmla="*/ 281 h 73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217" h="730">
                  <a:moveTo>
                    <a:pt x="0" y="404"/>
                  </a:moveTo>
                  <a:lnTo>
                    <a:pt x="99" y="419"/>
                  </a:lnTo>
                  <a:lnTo>
                    <a:pt x="205" y="440"/>
                  </a:lnTo>
                  <a:lnTo>
                    <a:pt x="304" y="475"/>
                  </a:lnTo>
                  <a:lnTo>
                    <a:pt x="411" y="511"/>
                  </a:lnTo>
                  <a:lnTo>
                    <a:pt x="510" y="560"/>
                  </a:lnTo>
                  <a:lnTo>
                    <a:pt x="616" y="617"/>
                  </a:lnTo>
                  <a:lnTo>
                    <a:pt x="716" y="667"/>
                  </a:lnTo>
                  <a:lnTo>
                    <a:pt x="822" y="709"/>
                  </a:lnTo>
                  <a:lnTo>
                    <a:pt x="921" y="730"/>
                  </a:lnTo>
                  <a:lnTo>
                    <a:pt x="1027" y="723"/>
                  </a:lnTo>
                  <a:lnTo>
                    <a:pt x="1127" y="688"/>
                  </a:lnTo>
                  <a:lnTo>
                    <a:pt x="1148" y="681"/>
                  </a:lnTo>
                  <a:lnTo>
                    <a:pt x="1233" y="638"/>
                  </a:lnTo>
                  <a:lnTo>
                    <a:pt x="1332" y="582"/>
                  </a:lnTo>
                  <a:lnTo>
                    <a:pt x="1438" y="532"/>
                  </a:lnTo>
                  <a:lnTo>
                    <a:pt x="1538" y="482"/>
                  </a:lnTo>
                  <a:lnTo>
                    <a:pt x="1644" y="454"/>
                  </a:lnTo>
                  <a:lnTo>
                    <a:pt x="1743" y="426"/>
                  </a:lnTo>
                  <a:lnTo>
                    <a:pt x="1849" y="404"/>
                  </a:lnTo>
                  <a:lnTo>
                    <a:pt x="1949" y="383"/>
                  </a:lnTo>
                  <a:lnTo>
                    <a:pt x="2055" y="369"/>
                  </a:lnTo>
                  <a:lnTo>
                    <a:pt x="2154" y="362"/>
                  </a:lnTo>
                  <a:lnTo>
                    <a:pt x="2261" y="348"/>
                  </a:lnTo>
                  <a:lnTo>
                    <a:pt x="2360" y="326"/>
                  </a:lnTo>
                  <a:lnTo>
                    <a:pt x="2466" y="305"/>
                  </a:lnTo>
                  <a:lnTo>
                    <a:pt x="2565" y="277"/>
                  </a:lnTo>
                  <a:lnTo>
                    <a:pt x="2672" y="248"/>
                  </a:lnTo>
                  <a:lnTo>
                    <a:pt x="2771" y="199"/>
                  </a:lnTo>
                  <a:lnTo>
                    <a:pt x="2877" y="149"/>
                  </a:lnTo>
                  <a:lnTo>
                    <a:pt x="2976" y="93"/>
                  </a:lnTo>
                  <a:lnTo>
                    <a:pt x="3061" y="50"/>
                  </a:lnTo>
                  <a:lnTo>
                    <a:pt x="3083" y="43"/>
                  </a:lnTo>
                  <a:lnTo>
                    <a:pt x="3182" y="8"/>
                  </a:lnTo>
                  <a:lnTo>
                    <a:pt x="3288" y="0"/>
                  </a:lnTo>
                  <a:lnTo>
                    <a:pt x="3387" y="22"/>
                  </a:lnTo>
                  <a:lnTo>
                    <a:pt x="3494" y="64"/>
                  </a:lnTo>
                  <a:lnTo>
                    <a:pt x="3593" y="114"/>
                  </a:lnTo>
                  <a:lnTo>
                    <a:pt x="3699" y="171"/>
                  </a:lnTo>
                  <a:lnTo>
                    <a:pt x="3798" y="220"/>
                  </a:lnTo>
                  <a:lnTo>
                    <a:pt x="3905" y="256"/>
                  </a:lnTo>
                  <a:lnTo>
                    <a:pt x="4004" y="291"/>
                  </a:lnTo>
                  <a:lnTo>
                    <a:pt x="4110" y="312"/>
                  </a:lnTo>
                  <a:lnTo>
                    <a:pt x="4217" y="326"/>
                  </a:lnTo>
                </a:path>
              </a:pathLst>
            </a:custGeom>
            <a:noFill/>
            <a:ln w="2857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89" name="Freeform 338"/>
            <p:cNvSpPr>
              <a:spLocks noChangeArrowheads="1"/>
            </p:cNvSpPr>
            <p:nvPr/>
          </p:nvSpPr>
          <p:spPr bwMode="auto">
            <a:xfrm>
              <a:off x="1209" y="3104"/>
              <a:ext cx="3915" cy="299"/>
            </a:xfrm>
            <a:custGeom>
              <a:avLst/>
              <a:gdLst>
                <a:gd name="T0" fmla="*/ 0 w 4217"/>
                <a:gd name="T1" fmla="*/ 171 h 347"/>
                <a:gd name="T2" fmla="*/ 92 w 4217"/>
                <a:gd name="T3" fmla="*/ 177 h 347"/>
                <a:gd name="T4" fmla="*/ 190 w 4217"/>
                <a:gd name="T5" fmla="*/ 189 h 347"/>
                <a:gd name="T6" fmla="*/ 282 w 4217"/>
                <a:gd name="T7" fmla="*/ 208 h 347"/>
                <a:gd name="T8" fmla="*/ 382 w 4217"/>
                <a:gd name="T9" fmla="*/ 226 h 347"/>
                <a:gd name="T10" fmla="*/ 473 w 4217"/>
                <a:gd name="T11" fmla="*/ 250 h 347"/>
                <a:gd name="T12" fmla="*/ 572 w 4217"/>
                <a:gd name="T13" fmla="*/ 275 h 347"/>
                <a:gd name="T14" fmla="*/ 665 w 4217"/>
                <a:gd name="T15" fmla="*/ 293 h 347"/>
                <a:gd name="T16" fmla="*/ 763 w 4217"/>
                <a:gd name="T17" fmla="*/ 299 h 347"/>
                <a:gd name="T18" fmla="*/ 855 w 4217"/>
                <a:gd name="T19" fmla="*/ 287 h 347"/>
                <a:gd name="T20" fmla="*/ 953 w 4217"/>
                <a:gd name="T21" fmla="*/ 269 h 347"/>
                <a:gd name="T22" fmla="*/ 1046 w 4217"/>
                <a:gd name="T23" fmla="*/ 244 h 347"/>
                <a:gd name="T24" fmla="*/ 1066 w 4217"/>
                <a:gd name="T25" fmla="*/ 238 h 347"/>
                <a:gd name="T26" fmla="*/ 1145 w 4217"/>
                <a:gd name="T27" fmla="*/ 220 h 347"/>
                <a:gd name="T28" fmla="*/ 1237 w 4217"/>
                <a:gd name="T29" fmla="*/ 202 h 347"/>
                <a:gd name="T30" fmla="*/ 1335 w 4217"/>
                <a:gd name="T31" fmla="*/ 189 h 347"/>
                <a:gd name="T32" fmla="*/ 1428 w 4217"/>
                <a:gd name="T33" fmla="*/ 177 h 347"/>
                <a:gd name="T34" fmla="*/ 1526 w 4217"/>
                <a:gd name="T35" fmla="*/ 171 h 347"/>
                <a:gd name="T36" fmla="*/ 1618 w 4217"/>
                <a:gd name="T37" fmla="*/ 165 h 347"/>
                <a:gd name="T38" fmla="*/ 1717 w 4217"/>
                <a:gd name="T39" fmla="*/ 159 h 347"/>
                <a:gd name="T40" fmla="*/ 1809 w 4217"/>
                <a:gd name="T41" fmla="*/ 153 h 347"/>
                <a:gd name="T42" fmla="*/ 1908 w 4217"/>
                <a:gd name="T43" fmla="*/ 153 h 347"/>
                <a:gd name="T44" fmla="*/ 2000 w 4217"/>
                <a:gd name="T45" fmla="*/ 146 h 347"/>
                <a:gd name="T46" fmla="*/ 2099 w 4217"/>
                <a:gd name="T47" fmla="*/ 146 h 347"/>
                <a:gd name="T48" fmla="*/ 2191 w 4217"/>
                <a:gd name="T49" fmla="*/ 140 h 347"/>
                <a:gd name="T50" fmla="*/ 2289 w 4217"/>
                <a:gd name="T51" fmla="*/ 134 h 347"/>
                <a:gd name="T52" fmla="*/ 2381 w 4217"/>
                <a:gd name="T53" fmla="*/ 128 h 347"/>
                <a:gd name="T54" fmla="*/ 2481 w 4217"/>
                <a:gd name="T55" fmla="*/ 122 h 347"/>
                <a:gd name="T56" fmla="*/ 2573 w 4217"/>
                <a:gd name="T57" fmla="*/ 109 h 347"/>
                <a:gd name="T58" fmla="*/ 2671 w 4217"/>
                <a:gd name="T59" fmla="*/ 97 h 347"/>
                <a:gd name="T60" fmla="*/ 2763 w 4217"/>
                <a:gd name="T61" fmla="*/ 79 h 347"/>
                <a:gd name="T62" fmla="*/ 2842 w 4217"/>
                <a:gd name="T63" fmla="*/ 61 h 347"/>
                <a:gd name="T64" fmla="*/ 2862 w 4217"/>
                <a:gd name="T65" fmla="*/ 55 h 347"/>
                <a:gd name="T66" fmla="*/ 2954 w 4217"/>
                <a:gd name="T67" fmla="*/ 30 h 347"/>
                <a:gd name="T68" fmla="*/ 3053 w 4217"/>
                <a:gd name="T69" fmla="*/ 12 h 347"/>
                <a:gd name="T70" fmla="*/ 3144 w 4217"/>
                <a:gd name="T71" fmla="*/ 0 h 347"/>
                <a:gd name="T72" fmla="*/ 3244 w 4217"/>
                <a:gd name="T73" fmla="*/ 6 h 347"/>
                <a:gd name="T74" fmla="*/ 3336 w 4217"/>
                <a:gd name="T75" fmla="*/ 24 h 347"/>
                <a:gd name="T76" fmla="*/ 3434 w 4217"/>
                <a:gd name="T77" fmla="*/ 48 h 347"/>
                <a:gd name="T78" fmla="*/ 3526 w 4217"/>
                <a:gd name="T79" fmla="*/ 73 h 347"/>
                <a:gd name="T80" fmla="*/ 3625 w 4217"/>
                <a:gd name="T81" fmla="*/ 91 h 347"/>
                <a:gd name="T82" fmla="*/ 3717 w 4217"/>
                <a:gd name="T83" fmla="*/ 109 h 347"/>
                <a:gd name="T84" fmla="*/ 3816 w 4217"/>
                <a:gd name="T85" fmla="*/ 122 h 347"/>
                <a:gd name="T86" fmla="*/ 3915 w 4217"/>
                <a:gd name="T87" fmla="*/ 128 h 3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217" h="347">
                  <a:moveTo>
                    <a:pt x="0" y="198"/>
                  </a:moveTo>
                  <a:lnTo>
                    <a:pt x="99" y="205"/>
                  </a:lnTo>
                  <a:lnTo>
                    <a:pt x="205" y="219"/>
                  </a:lnTo>
                  <a:lnTo>
                    <a:pt x="304" y="241"/>
                  </a:lnTo>
                  <a:lnTo>
                    <a:pt x="411" y="262"/>
                  </a:lnTo>
                  <a:lnTo>
                    <a:pt x="510" y="290"/>
                  </a:lnTo>
                  <a:lnTo>
                    <a:pt x="616" y="319"/>
                  </a:lnTo>
                  <a:lnTo>
                    <a:pt x="716" y="340"/>
                  </a:lnTo>
                  <a:lnTo>
                    <a:pt x="822" y="347"/>
                  </a:lnTo>
                  <a:lnTo>
                    <a:pt x="921" y="333"/>
                  </a:lnTo>
                  <a:lnTo>
                    <a:pt x="1027" y="312"/>
                  </a:lnTo>
                  <a:lnTo>
                    <a:pt x="1127" y="283"/>
                  </a:lnTo>
                  <a:lnTo>
                    <a:pt x="1148" y="276"/>
                  </a:lnTo>
                  <a:lnTo>
                    <a:pt x="1233" y="255"/>
                  </a:lnTo>
                  <a:lnTo>
                    <a:pt x="1332" y="234"/>
                  </a:lnTo>
                  <a:lnTo>
                    <a:pt x="1438" y="219"/>
                  </a:lnTo>
                  <a:lnTo>
                    <a:pt x="1538" y="205"/>
                  </a:lnTo>
                  <a:lnTo>
                    <a:pt x="1644" y="198"/>
                  </a:lnTo>
                  <a:lnTo>
                    <a:pt x="1743" y="191"/>
                  </a:lnTo>
                  <a:lnTo>
                    <a:pt x="1849" y="184"/>
                  </a:lnTo>
                  <a:lnTo>
                    <a:pt x="1949" y="177"/>
                  </a:lnTo>
                  <a:lnTo>
                    <a:pt x="2055" y="177"/>
                  </a:lnTo>
                  <a:lnTo>
                    <a:pt x="2154" y="170"/>
                  </a:lnTo>
                  <a:lnTo>
                    <a:pt x="2261" y="170"/>
                  </a:lnTo>
                  <a:lnTo>
                    <a:pt x="2360" y="163"/>
                  </a:lnTo>
                  <a:lnTo>
                    <a:pt x="2466" y="156"/>
                  </a:lnTo>
                  <a:lnTo>
                    <a:pt x="2565" y="149"/>
                  </a:lnTo>
                  <a:lnTo>
                    <a:pt x="2672" y="142"/>
                  </a:lnTo>
                  <a:lnTo>
                    <a:pt x="2771" y="127"/>
                  </a:lnTo>
                  <a:lnTo>
                    <a:pt x="2877" y="113"/>
                  </a:lnTo>
                  <a:lnTo>
                    <a:pt x="2976" y="92"/>
                  </a:lnTo>
                  <a:lnTo>
                    <a:pt x="3061" y="71"/>
                  </a:lnTo>
                  <a:lnTo>
                    <a:pt x="3083" y="64"/>
                  </a:lnTo>
                  <a:lnTo>
                    <a:pt x="3182" y="35"/>
                  </a:lnTo>
                  <a:lnTo>
                    <a:pt x="3288" y="14"/>
                  </a:lnTo>
                  <a:lnTo>
                    <a:pt x="3387" y="0"/>
                  </a:lnTo>
                  <a:lnTo>
                    <a:pt x="3494" y="7"/>
                  </a:lnTo>
                  <a:lnTo>
                    <a:pt x="3593" y="28"/>
                  </a:lnTo>
                  <a:lnTo>
                    <a:pt x="3699" y="56"/>
                  </a:lnTo>
                  <a:lnTo>
                    <a:pt x="3798" y="85"/>
                  </a:lnTo>
                  <a:lnTo>
                    <a:pt x="3905" y="106"/>
                  </a:lnTo>
                  <a:lnTo>
                    <a:pt x="4004" y="127"/>
                  </a:lnTo>
                  <a:lnTo>
                    <a:pt x="4110" y="142"/>
                  </a:lnTo>
                  <a:lnTo>
                    <a:pt x="4217" y="149"/>
                  </a:lnTo>
                </a:path>
              </a:pathLst>
            </a:custGeom>
            <a:noFill/>
            <a:ln w="28575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90" name="Freeform 339"/>
            <p:cNvSpPr>
              <a:spLocks noChangeArrowheads="1"/>
            </p:cNvSpPr>
            <p:nvPr/>
          </p:nvSpPr>
          <p:spPr bwMode="auto">
            <a:xfrm>
              <a:off x="1209" y="1290"/>
              <a:ext cx="3915" cy="1049"/>
            </a:xfrm>
            <a:custGeom>
              <a:avLst/>
              <a:gdLst>
                <a:gd name="T0" fmla="*/ 0 w 4217"/>
                <a:gd name="T1" fmla="*/ 0 h 1219"/>
                <a:gd name="T2" fmla="*/ 651 w 4217"/>
                <a:gd name="T3" fmla="*/ 0 h 1219"/>
                <a:gd name="T4" fmla="*/ 1500 w 4217"/>
                <a:gd name="T5" fmla="*/ 1049 h 1219"/>
                <a:gd name="T6" fmla="*/ 2408 w 4217"/>
                <a:gd name="T7" fmla="*/ 1049 h 1219"/>
                <a:gd name="T8" fmla="*/ 3257 w 4217"/>
                <a:gd name="T9" fmla="*/ 0 h 1219"/>
                <a:gd name="T10" fmla="*/ 3915 w 4217"/>
                <a:gd name="T11" fmla="*/ 0 h 12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17" h="1219">
                  <a:moveTo>
                    <a:pt x="0" y="0"/>
                  </a:moveTo>
                  <a:lnTo>
                    <a:pt x="701" y="0"/>
                  </a:lnTo>
                  <a:lnTo>
                    <a:pt x="1616" y="1219"/>
                  </a:lnTo>
                  <a:lnTo>
                    <a:pt x="2594" y="1219"/>
                  </a:lnTo>
                  <a:lnTo>
                    <a:pt x="3508" y="0"/>
                  </a:lnTo>
                  <a:lnTo>
                    <a:pt x="4217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91" name="Line 340"/>
            <p:cNvSpPr>
              <a:spLocks noChangeShapeType="1"/>
            </p:cNvSpPr>
            <p:nvPr/>
          </p:nvSpPr>
          <p:spPr bwMode="auto">
            <a:xfrm>
              <a:off x="2498" y="2093"/>
              <a:ext cx="13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92" name="Line 341"/>
            <p:cNvSpPr>
              <a:spLocks noChangeShapeType="1"/>
            </p:cNvSpPr>
            <p:nvPr/>
          </p:nvSpPr>
          <p:spPr bwMode="auto">
            <a:xfrm>
              <a:off x="2320" y="1860"/>
              <a:ext cx="1695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93" name="Line 342"/>
            <p:cNvSpPr>
              <a:spLocks noChangeShapeType="1"/>
            </p:cNvSpPr>
            <p:nvPr/>
          </p:nvSpPr>
          <p:spPr bwMode="auto">
            <a:xfrm>
              <a:off x="2053" y="1530"/>
              <a:ext cx="2221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94" name="Text Box 343"/>
            <p:cNvSpPr txBox="1">
              <a:spLocks noChangeArrowheads="1"/>
            </p:cNvSpPr>
            <p:nvPr/>
          </p:nvSpPr>
          <p:spPr bwMode="auto">
            <a:xfrm rot="-5400000">
              <a:off x="400" y="1748"/>
              <a:ext cx="6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L</a:t>
              </a:r>
              <a:r>
                <a:rPr lang="en-US" altLang="zh-CN" sz="2000" i="1" baseline="-18000"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Times New Roman" panose="02020603050405020304" pitchFamily="18" charset="0"/>
                </a:rPr>
                <a:t>(</a:t>
              </a: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000">
                  <a:latin typeface="Times New Roman" panose="02020603050405020304" pitchFamily="18" charset="0"/>
                </a:rPr>
                <a:t>)/dB</a:t>
              </a:r>
            </a:p>
          </p:txBody>
        </p:sp>
        <p:sp>
          <p:nvSpPr>
            <p:cNvPr id="49495" name="Text Box 344"/>
            <p:cNvSpPr txBox="1">
              <a:spLocks noChangeArrowheads="1"/>
            </p:cNvSpPr>
            <p:nvPr/>
          </p:nvSpPr>
          <p:spPr bwMode="auto">
            <a:xfrm rot="-5400000">
              <a:off x="512" y="3092"/>
              <a:ext cx="4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000" i="1" baseline="-18000"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Times New Roman" panose="02020603050405020304" pitchFamily="18" charset="0"/>
                </a:rPr>
                <a:t>(</a:t>
              </a: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0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496" name="Rectangle 345"/>
            <p:cNvSpPr>
              <a:spLocks noChangeArrowheads="1"/>
            </p:cNvSpPr>
            <p:nvPr/>
          </p:nvSpPr>
          <p:spPr bwMode="auto">
            <a:xfrm>
              <a:off x="2758" y="3977"/>
              <a:ext cx="7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000" i="1"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latin typeface="Times New Roman" panose="02020603050405020304" pitchFamily="18" charset="0"/>
                </a:rPr>
                <a:t>(</a:t>
              </a:r>
              <a:r>
                <a:rPr lang="en-US" altLang="zh-CN" sz="2000" i="1">
                  <a:latin typeface="Times New Roman" panose="02020603050405020304" pitchFamily="18" charset="0"/>
                </a:rPr>
                <a:t>rad/s</a:t>
              </a:r>
              <a:r>
                <a:rPr lang="en-US" altLang="zh-CN" sz="20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497" name="Rectangle 346"/>
            <p:cNvSpPr>
              <a:spLocks noChangeArrowheads="1"/>
            </p:cNvSpPr>
            <p:nvPr/>
          </p:nvSpPr>
          <p:spPr bwMode="auto">
            <a:xfrm>
              <a:off x="1612" y="3828"/>
              <a:ext cx="5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  <a:r>
                <a:rPr lang="en-US" altLang="zh-CN" sz="2000" i="1">
                  <a:latin typeface="Times New Roman" panose="02020603050405020304" pitchFamily="18" charset="0"/>
                </a:rPr>
                <a:t>/</a:t>
              </a:r>
              <a:r>
                <a:rPr lang="en-US" altLang="zh-CN" sz="2000">
                  <a:latin typeface="Times New Roman" panose="02020603050405020304" pitchFamily="18" charset="0"/>
                </a:rPr>
                <a:t>(</a:t>
              </a:r>
              <a:r>
                <a:rPr lang="en-US" altLang="zh-CN" sz="20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498" name="Rectangle 347"/>
            <p:cNvSpPr>
              <a:spLocks noChangeArrowheads="1"/>
            </p:cNvSpPr>
            <p:nvPr/>
          </p:nvSpPr>
          <p:spPr bwMode="auto">
            <a:xfrm>
              <a:off x="2312" y="3831"/>
              <a:ext cx="4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  <a:r>
                <a:rPr lang="en-US" altLang="zh-CN" sz="2000" i="1" baseline="-1600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>
                  <a:latin typeface="Times New Roman" panose="02020603050405020304" pitchFamily="18" charset="0"/>
                </a:rPr>
                <a:t>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9499" name="Rectangle 348"/>
            <p:cNvSpPr>
              <a:spLocks noChangeArrowheads="1"/>
            </p:cNvSpPr>
            <p:nvPr/>
          </p:nvSpPr>
          <p:spPr bwMode="auto">
            <a:xfrm>
              <a:off x="3625" y="3829"/>
              <a:ext cx="4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  <a:r>
                <a:rPr lang="en-US" altLang="zh-CN" sz="2000" i="1" baseline="-1600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>
                  <a:latin typeface="Times New Roman" panose="02020603050405020304" pitchFamily="18" charset="0"/>
                </a:rPr>
                <a:t>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9500" name="Rectangle 349"/>
            <p:cNvSpPr>
              <a:spLocks noChangeArrowheads="1"/>
            </p:cNvSpPr>
            <p:nvPr/>
          </p:nvSpPr>
          <p:spPr bwMode="auto">
            <a:xfrm>
              <a:off x="4276" y="3817"/>
              <a:ext cx="4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>
                  <a:latin typeface="Times New Roman" panose="02020603050405020304" pitchFamily="18" charset="0"/>
                </a:rPr>
                <a:t>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9501" name="Rectangle 350"/>
            <p:cNvSpPr>
              <a:spLocks noChangeArrowheads="1"/>
            </p:cNvSpPr>
            <p:nvPr/>
          </p:nvSpPr>
          <p:spPr bwMode="auto">
            <a:xfrm>
              <a:off x="1964" y="1664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49502" name="Rectangle 351"/>
            <p:cNvSpPr>
              <a:spLocks noChangeArrowheads="1"/>
            </p:cNvSpPr>
            <p:nvPr/>
          </p:nvSpPr>
          <p:spPr bwMode="auto">
            <a:xfrm>
              <a:off x="4084" y="166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9503" name="Rectangle 352"/>
            <p:cNvSpPr>
              <a:spLocks noChangeArrowheads="1"/>
            </p:cNvSpPr>
            <p:nvPr/>
          </p:nvSpPr>
          <p:spPr bwMode="auto">
            <a:xfrm>
              <a:off x="3122" y="1318"/>
              <a:ext cx="4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CC00CC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CC00CC"/>
                  </a:solidFill>
                  <a:latin typeface="Times New Roman" panose="02020603050405020304" pitchFamily="18" charset="0"/>
                </a:rPr>
                <a:t>= 2</a:t>
              </a:r>
            </a:p>
          </p:txBody>
        </p:sp>
        <p:sp>
          <p:nvSpPr>
            <p:cNvPr id="49504" name="Rectangle 353"/>
            <p:cNvSpPr>
              <a:spLocks noChangeArrowheads="1"/>
            </p:cNvSpPr>
            <p:nvPr/>
          </p:nvSpPr>
          <p:spPr bwMode="auto">
            <a:xfrm>
              <a:off x="3122" y="1649"/>
              <a:ext cx="4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0066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= 5</a:t>
              </a:r>
            </a:p>
          </p:txBody>
        </p:sp>
        <p:sp>
          <p:nvSpPr>
            <p:cNvPr id="49505" name="Rectangle 354"/>
            <p:cNvSpPr>
              <a:spLocks noChangeArrowheads="1"/>
            </p:cNvSpPr>
            <p:nvPr/>
          </p:nvSpPr>
          <p:spPr bwMode="auto">
            <a:xfrm>
              <a:off x="3122" y="1873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10</a:t>
              </a:r>
            </a:p>
          </p:txBody>
        </p:sp>
        <p:sp>
          <p:nvSpPr>
            <p:cNvPr id="49506" name="Rectangle 355"/>
            <p:cNvSpPr>
              <a:spLocks noChangeArrowheads="1"/>
            </p:cNvSpPr>
            <p:nvPr/>
          </p:nvSpPr>
          <p:spPr bwMode="auto">
            <a:xfrm>
              <a:off x="3122" y="2120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20</a:t>
              </a:r>
            </a:p>
          </p:txBody>
        </p:sp>
        <p:sp>
          <p:nvSpPr>
            <p:cNvPr id="49507" name="Rectangle 356"/>
            <p:cNvSpPr>
              <a:spLocks noChangeArrowheads="1"/>
            </p:cNvSpPr>
            <p:nvPr/>
          </p:nvSpPr>
          <p:spPr bwMode="auto">
            <a:xfrm>
              <a:off x="4033" y="3056"/>
              <a:ext cx="4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CC00CC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CC00CC"/>
                  </a:solidFill>
                  <a:latin typeface="Times New Roman" panose="02020603050405020304" pitchFamily="18" charset="0"/>
                </a:rPr>
                <a:t>= 2</a:t>
              </a:r>
            </a:p>
          </p:txBody>
        </p:sp>
        <p:sp>
          <p:nvSpPr>
            <p:cNvPr id="49508" name="Rectangle 357"/>
            <p:cNvSpPr>
              <a:spLocks noChangeArrowheads="1"/>
            </p:cNvSpPr>
            <p:nvPr/>
          </p:nvSpPr>
          <p:spPr bwMode="auto">
            <a:xfrm>
              <a:off x="2543" y="3532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20</a:t>
              </a:r>
            </a:p>
          </p:txBody>
        </p:sp>
        <p:sp>
          <p:nvSpPr>
            <p:cNvPr id="49509" name="Rectangle 358"/>
            <p:cNvSpPr>
              <a:spLocks noChangeArrowheads="1"/>
            </p:cNvSpPr>
            <p:nvPr/>
          </p:nvSpPr>
          <p:spPr bwMode="auto">
            <a:xfrm>
              <a:off x="3129" y="2705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10</a:t>
              </a:r>
            </a:p>
          </p:txBody>
        </p:sp>
        <p:sp>
          <p:nvSpPr>
            <p:cNvPr id="49510" name="Rectangle 359"/>
            <p:cNvSpPr>
              <a:spLocks noChangeArrowheads="1"/>
            </p:cNvSpPr>
            <p:nvPr/>
          </p:nvSpPr>
          <p:spPr bwMode="auto">
            <a:xfrm>
              <a:off x="1854" y="3336"/>
              <a:ext cx="4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000" i="1" baseline="-16000">
                  <a:solidFill>
                    <a:srgbClr val="0066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= 5</a:t>
              </a:r>
            </a:p>
          </p:txBody>
        </p:sp>
        <p:sp>
          <p:nvSpPr>
            <p:cNvPr id="49511" name="Line 360"/>
            <p:cNvSpPr>
              <a:spLocks noChangeShapeType="1"/>
            </p:cNvSpPr>
            <p:nvPr/>
          </p:nvSpPr>
          <p:spPr bwMode="auto">
            <a:xfrm>
              <a:off x="3345" y="2878"/>
              <a:ext cx="268" cy="20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ChangeArrowheads="1"/>
          </p:cNvSpPr>
          <p:nvPr/>
        </p:nvSpPr>
        <p:spPr bwMode="auto">
          <a:xfrm>
            <a:off x="900113" y="1628775"/>
            <a:ext cx="75438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由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宋体" panose="02010600030101010101" pitchFamily="2" charset="-122"/>
              </a:rPr>
              <a:t>图可见，近似</a:t>
            </a:r>
            <a:r>
              <a:rPr lang="en-US" altLang="zh-CN" sz="2800">
                <a:latin typeface="Times New Roman" panose="02020603050405020304" pitchFamily="18" charset="0"/>
              </a:rPr>
              <a:t>PID</a:t>
            </a:r>
            <a:r>
              <a:rPr lang="zh-CN" altLang="en-US" sz="2800">
                <a:latin typeface="宋体" panose="02010600030101010101" pitchFamily="2" charset="-122"/>
              </a:rPr>
              <a:t>校正装置频率特性的前半段是相位滞后部分，由于具有使增益衰减的作用，所以允许在低频段提高增益，以改善系统的稳态性能。而频率特性的后半段是相位超前部分，可以提高系统的相位裕量，加大幅值穿越频率，改善系统的动态性能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ChangeArrowheads="1"/>
          </p:cNvSpPr>
          <p:nvPr/>
        </p:nvSpPr>
        <p:spPr bwMode="auto">
          <a:xfrm>
            <a:off x="684213" y="981075"/>
            <a:ext cx="7272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超前、滞后和滞后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>
                <a:latin typeface="宋体" panose="02010600030101010101" pitchFamily="2" charset="-122"/>
              </a:rPr>
              <a:t>超前串联校正的比较 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979488" y="1571625"/>
            <a:ext cx="7313612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超前校正利用其相位超前特性，产生校正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作用；滞后校正则通过其高频衰减特性，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获得校正效果。 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979488" y="3095625"/>
            <a:ext cx="7673975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超前校正需要一个附加的增益增量，以补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偿超前校正网络本身的衰减。即超前校正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比滞后校正需要更大的增益。一般，增益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越大，系统的体积和重量越大，成本越高。 </a:t>
            </a: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660400" y="401638"/>
            <a:ext cx="4892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小结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3686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ChangeArrowheads="1"/>
          </p:cNvSpPr>
          <p:nvPr/>
        </p:nvSpPr>
        <p:spPr bwMode="auto">
          <a:xfrm>
            <a:off x="971550" y="981075"/>
            <a:ext cx="76327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超前校正主要用于增大稳定裕量。超前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校正比滞后校正有可能提供更高的增益交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界频率。较高的增益交界频率对应着较大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的带宽，大的带宽意味着调整时间的减小。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258888" y="3429000"/>
            <a:ext cx="72009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超前校正系统的带宽，总是大于滞后校正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系统的带宽。因此，系统若需具有快速响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应特性，应采用超前校正。但是，若存在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噪声，则带宽不能过大，因为随着高频增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益的增大，系统对噪声更加敏感。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44450"/>
            <a:ext cx="6570663" cy="6845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图片 9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620713"/>
            <a:ext cx="21399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8" name="图片 100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789363"/>
            <a:ext cx="121126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图片 101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17475"/>
            <a:ext cx="1525587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ChangeArrowheads="1"/>
          </p:cNvSpPr>
          <p:nvPr/>
        </p:nvSpPr>
        <p:spPr bwMode="auto">
          <a:xfrm>
            <a:off x="900113" y="1557338"/>
            <a:ext cx="7315200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滞后校正降低了高频段的增益，但系统在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低频段的增益并未降低。采用滞后校正的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系统因带宽减小而具有较低的响应速度。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但因高频增益降低，系统的总增益可以增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大，所以低频增益可以增加，从而提高了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稳态精度。此外，系统中包含的任何高频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噪声，都可以得到衰减。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1219200" y="2179638"/>
            <a:ext cx="73152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如果既需要有快速响应特征，又要获得良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好的稳态精度，则可以采用滞后一超前校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正。滞后</a:t>
            </a: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宋体" panose="02010600030101010101" pitchFamily="2" charset="-122"/>
              </a:rPr>
              <a:t>超前校正装置，可增大低频增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益（改善了系统稳态性能），提高系统的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带宽和稳定裕量。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55675"/>
            <a:ext cx="8131175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Freeform 16"/>
          <p:cNvSpPr>
            <a:spLocks noChangeArrowheads="1"/>
          </p:cNvSpPr>
          <p:nvPr/>
        </p:nvSpPr>
        <p:spPr bwMode="auto">
          <a:xfrm>
            <a:off x="1555750" y="4872038"/>
            <a:ext cx="6386513" cy="955675"/>
          </a:xfrm>
          <a:custGeom>
            <a:avLst/>
            <a:gdLst>
              <a:gd name="T0" fmla="*/ 0 w 4023"/>
              <a:gd name="T1" fmla="*/ 0 h 602"/>
              <a:gd name="T2" fmla="*/ 423863 w 4023"/>
              <a:gd name="T3" fmla="*/ 14288 h 602"/>
              <a:gd name="T4" fmla="*/ 777875 w 4023"/>
              <a:gd name="T5" fmla="*/ 26988 h 602"/>
              <a:gd name="T6" fmla="*/ 1255713 w 4023"/>
              <a:gd name="T7" fmla="*/ 26988 h 602"/>
              <a:gd name="T8" fmla="*/ 1787525 w 4023"/>
              <a:gd name="T9" fmla="*/ 68263 h 602"/>
              <a:gd name="T10" fmla="*/ 2211388 w 4023"/>
              <a:gd name="T11" fmla="*/ 123825 h 602"/>
              <a:gd name="T12" fmla="*/ 2655888 w 4023"/>
              <a:gd name="T13" fmla="*/ 69850 h 602"/>
              <a:gd name="T14" fmla="*/ 3125788 w 4023"/>
              <a:gd name="T15" fmla="*/ 95250 h 602"/>
              <a:gd name="T16" fmla="*/ 3479800 w 4023"/>
              <a:gd name="T17" fmla="*/ 136525 h 602"/>
              <a:gd name="T18" fmla="*/ 3740150 w 4023"/>
              <a:gd name="T19" fmla="*/ 136525 h 602"/>
              <a:gd name="T20" fmla="*/ 3971925 w 4023"/>
              <a:gd name="T21" fmla="*/ 136525 h 602"/>
              <a:gd name="T22" fmla="*/ 4135438 w 4023"/>
              <a:gd name="T23" fmla="*/ 136525 h 602"/>
              <a:gd name="T24" fmla="*/ 4384675 w 4023"/>
              <a:gd name="T25" fmla="*/ 285750 h 602"/>
              <a:gd name="T26" fmla="*/ 4598988 w 4023"/>
              <a:gd name="T27" fmla="*/ 423863 h 602"/>
              <a:gd name="T28" fmla="*/ 4762500 w 4023"/>
              <a:gd name="T29" fmla="*/ 641350 h 602"/>
              <a:gd name="T30" fmla="*/ 4927600 w 4023"/>
              <a:gd name="T31" fmla="*/ 792163 h 602"/>
              <a:gd name="T32" fmla="*/ 5295900 w 4023"/>
              <a:gd name="T33" fmla="*/ 914400 h 602"/>
              <a:gd name="T34" fmla="*/ 5622925 w 4023"/>
              <a:gd name="T35" fmla="*/ 914400 h 602"/>
              <a:gd name="T36" fmla="*/ 6059488 w 4023"/>
              <a:gd name="T37" fmla="*/ 928688 h 602"/>
              <a:gd name="T38" fmla="*/ 6386513 w 4023"/>
              <a:gd name="T39" fmla="*/ 955675 h 60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023" h="602">
                <a:moveTo>
                  <a:pt x="0" y="0"/>
                </a:moveTo>
                <a:cubicBezTo>
                  <a:pt x="46" y="3"/>
                  <a:pt x="185" y="6"/>
                  <a:pt x="267" y="9"/>
                </a:cubicBezTo>
                <a:cubicBezTo>
                  <a:pt x="349" y="12"/>
                  <a:pt x="403" y="16"/>
                  <a:pt x="490" y="17"/>
                </a:cubicBezTo>
                <a:cubicBezTo>
                  <a:pt x="577" y="18"/>
                  <a:pt x="685" y="13"/>
                  <a:pt x="791" y="17"/>
                </a:cubicBezTo>
                <a:cubicBezTo>
                  <a:pt x="897" y="21"/>
                  <a:pt x="1026" y="33"/>
                  <a:pt x="1126" y="43"/>
                </a:cubicBezTo>
                <a:cubicBezTo>
                  <a:pt x="1226" y="53"/>
                  <a:pt x="1302" y="78"/>
                  <a:pt x="1393" y="78"/>
                </a:cubicBezTo>
                <a:cubicBezTo>
                  <a:pt x="1484" y="78"/>
                  <a:pt x="1577" y="47"/>
                  <a:pt x="1673" y="44"/>
                </a:cubicBezTo>
                <a:cubicBezTo>
                  <a:pt x="1769" y="41"/>
                  <a:pt x="1883" y="53"/>
                  <a:pt x="1969" y="60"/>
                </a:cubicBezTo>
                <a:cubicBezTo>
                  <a:pt x="2055" y="67"/>
                  <a:pt x="2128" y="82"/>
                  <a:pt x="2192" y="86"/>
                </a:cubicBezTo>
                <a:cubicBezTo>
                  <a:pt x="2256" y="90"/>
                  <a:pt x="2304" y="86"/>
                  <a:pt x="2356" y="86"/>
                </a:cubicBezTo>
                <a:cubicBezTo>
                  <a:pt x="2408" y="86"/>
                  <a:pt x="2461" y="86"/>
                  <a:pt x="2502" y="86"/>
                </a:cubicBezTo>
                <a:cubicBezTo>
                  <a:pt x="2543" y="86"/>
                  <a:pt x="2562" y="70"/>
                  <a:pt x="2605" y="86"/>
                </a:cubicBezTo>
                <a:cubicBezTo>
                  <a:pt x="2648" y="102"/>
                  <a:pt x="2713" y="150"/>
                  <a:pt x="2762" y="180"/>
                </a:cubicBezTo>
                <a:cubicBezTo>
                  <a:pt x="2811" y="210"/>
                  <a:pt x="2857" y="230"/>
                  <a:pt x="2897" y="267"/>
                </a:cubicBezTo>
                <a:cubicBezTo>
                  <a:pt x="2937" y="304"/>
                  <a:pt x="2966" y="365"/>
                  <a:pt x="3000" y="404"/>
                </a:cubicBezTo>
                <a:cubicBezTo>
                  <a:pt x="3034" y="443"/>
                  <a:pt x="3048" y="470"/>
                  <a:pt x="3104" y="499"/>
                </a:cubicBezTo>
                <a:cubicBezTo>
                  <a:pt x="3160" y="528"/>
                  <a:pt x="3263" y="563"/>
                  <a:pt x="3336" y="576"/>
                </a:cubicBezTo>
                <a:cubicBezTo>
                  <a:pt x="3409" y="589"/>
                  <a:pt x="3462" y="575"/>
                  <a:pt x="3542" y="576"/>
                </a:cubicBezTo>
                <a:cubicBezTo>
                  <a:pt x="3622" y="577"/>
                  <a:pt x="3737" y="581"/>
                  <a:pt x="3817" y="585"/>
                </a:cubicBezTo>
                <a:cubicBezTo>
                  <a:pt x="3897" y="589"/>
                  <a:pt x="3980" y="599"/>
                  <a:pt x="4023" y="602"/>
                </a:cubicBez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5148263" y="1993900"/>
            <a:ext cx="576262" cy="282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69" name="文本框 3"/>
          <p:cNvSpPr txBox="1">
            <a:spLocks noChangeArrowheads="1"/>
          </p:cNvSpPr>
          <p:nvPr/>
        </p:nvSpPr>
        <p:spPr bwMode="auto">
          <a:xfrm>
            <a:off x="5605463" y="1763713"/>
            <a:ext cx="172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未校正系统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5605463" y="5570538"/>
            <a:ext cx="476250" cy="568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71" name="文本框 9"/>
          <p:cNvSpPr txBox="1">
            <a:spLocks noChangeArrowheads="1"/>
          </p:cNvSpPr>
          <p:nvPr/>
        </p:nvSpPr>
        <p:spPr bwMode="auto">
          <a:xfrm>
            <a:off x="4643438" y="6069013"/>
            <a:ext cx="172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未校正系统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5448300" y="2395538"/>
            <a:ext cx="633413" cy="527050"/>
          </a:xfrm>
          <a:custGeom>
            <a:avLst/>
            <a:gdLst>
              <a:gd name="connsiteX0" fmla="*/ 0 w 605307"/>
              <a:gd name="connsiteY0" fmla="*/ 77274 h 540913"/>
              <a:gd name="connsiteX1" fmla="*/ 77274 w 605307"/>
              <a:gd name="connsiteY1" fmla="*/ 90153 h 540913"/>
              <a:gd name="connsiteX2" fmla="*/ 115910 w 605307"/>
              <a:gd name="connsiteY2" fmla="*/ 103031 h 540913"/>
              <a:gd name="connsiteX3" fmla="*/ 180305 w 605307"/>
              <a:gd name="connsiteY3" fmla="*/ 90153 h 540913"/>
              <a:gd name="connsiteX4" fmla="*/ 206062 w 605307"/>
              <a:gd name="connsiteY4" fmla="*/ 51516 h 540913"/>
              <a:gd name="connsiteX5" fmla="*/ 283336 w 605307"/>
              <a:gd name="connsiteY5" fmla="*/ 0 h 540913"/>
              <a:gd name="connsiteX6" fmla="*/ 360609 w 605307"/>
              <a:gd name="connsiteY6" fmla="*/ 25758 h 540913"/>
              <a:gd name="connsiteX7" fmla="*/ 412124 w 605307"/>
              <a:gd name="connsiteY7" fmla="*/ 103031 h 540913"/>
              <a:gd name="connsiteX8" fmla="*/ 463640 w 605307"/>
              <a:gd name="connsiteY8" fmla="*/ 257578 h 540913"/>
              <a:gd name="connsiteX9" fmla="*/ 476519 w 605307"/>
              <a:gd name="connsiteY9" fmla="*/ 296215 h 540913"/>
              <a:gd name="connsiteX10" fmla="*/ 528034 w 605307"/>
              <a:gd name="connsiteY10" fmla="*/ 373488 h 540913"/>
              <a:gd name="connsiteX11" fmla="*/ 566671 w 605307"/>
              <a:gd name="connsiteY11" fmla="*/ 476519 h 540913"/>
              <a:gd name="connsiteX12" fmla="*/ 605307 w 605307"/>
              <a:gd name="connsiteY12" fmla="*/ 540913 h 540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5307" h="540913">
                <a:moveTo>
                  <a:pt x="0" y="77274"/>
                </a:moveTo>
                <a:cubicBezTo>
                  <a:pt x="25758" y="81567"/>
                  <a:pt x="51782" y="84488"/>
                  <a:pt x="77274" y="90153"/>
                </a:cubicBezTo>
                <a:cubicBezTo>
                  <a:pt x="90526" y="93098"/>
                  <a:pt x="102335" y="103031"/>
                  <a:pt x="115910" y="103031"/>
                </a:cubicBezTo>
                <a:cubicBezTo>
                  <a:pt x="137800" y="103031"/>
                  <a:pt x="158840" y="94446"/>
                  <a:pt x="180305" y="90153"/>
                </a:cubicBezTo>
                <a:cubicBezTo>
                  <a:pt x="188891" y="77274"/>
                  <a:pt x="194413" y="61709"/>
                  <a:pt x="206062" y="51516"/>
                </a:cubicBezTo>
                <a:cubicBezTo>
                  <a:pt x="229360" y="31130"/>
                  <a:pt x="283336" y="0"/>
                  <a:pt x="283336" y="0"/>
                </a:cubicBezTo>
                <a:cubicBezTo>
                  <a:pt x="309094" y="8586"/>
                  <a:pt x="345548" y="3167"/>
                  <a:pt x="360609" y="25758"/>
                </a:cubicBezTo>
                <a:cubicBezTo>
                  <a:pt x="377781" y="51516"/>
                  <a:pt x="402335" y="73663"/>
                  <a:pt x="412124" y="103031"/>
                </a:cubicBezTo>
                <a:lnTo>
                  <a:pt x="463640" y="257578"/>
                </a:lnTo>
                <a:cubicBezTo>
                  <a:pt x="467933" y="270457"/>
                  <a:pt x="468989" y="284919"/>
                  <a:pt x="476519" y="296215"/>
                </a:cubicBezTo>
                <a:lnTo>
                  <a:pt x="528034" y="373488"/>
                </a:lnTo>
                <a:cubicBezTo>
                  <a:pt x="552881" y="497723"/>
                  <a:pt x="522454" y="388087"/>
                  <a:pt x="566671" y="476519"/>
                </a:cubicBezTo>
                <a:cubicBezTo>
                  <a:pt x="600109" y="543394"/>
                  <a:pt x="554997" y="490601"/>
                  <a:pt x="605307" y="54091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6367463" y="5524500"/>
            <a:ext cx="461962" cy="17303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/>
        </p:nvSpPr>
        <p:spPr>
          <a:xfrm>
            <a:off x="6424613" y="5386388"/>
            <a:ext cx="401637" cy="241300"/>
          </a:xfrm>
          <a:custGeom>
            <a:avLst/>
            <a:gdLst>
              <a:gd name="connsiteX0" fmla="*/ 28160 w 401648"/>
              <a:gd name="connsiteY0" fmla="*/ 125782 h 241692"/>
              <a:gd name="connsiteX1" fmla="*/ 2403 w 401648"/>
              <a:gd name="connsiteY1" fmla="*/ 190176 h 241692"/>
              <a:gd name="connsiteX2" fmla="*/ 79676 w 401648"/>
              <a:gd name="connsiteY2" fmla="*/ 241692 h 241692"/>
              <a:gd name="connsiteX3" fmla="*/ 234222 w 401648"/>
              <a:gd name="connsiteY3" fmla="*/ 203055 h 241692"/>
              <a:gd name="connsiteX4" fmla="*/ 272859 w 401648"/>
              <a:gd name="connsiteY4" fmla="*/ 177297 h 241692"/>
              <a:gd name="connsiteX5" fmla="*/ 350132 w 401648"/>
              <a:gd name="connsiteY5" fmla="*/ 151539 h 241692"/>
              <a:gd name="connsiteX6" fmla="*/ 388769 w 401648"/>
              <a:gd name="connsiteY6" fmla="*/ 138661 h 241692"/>
              <a:gd name="connsiteX7" fmla="*/ 401648 w 401648"/>
              <a:gd name="connsiteY7" fmla="*/ 100024 h 241692"/>
              <a:gd name="connsiteX8" fmla="*/ 208465 w 401648"/>
              <a:gd name="connsiteY8" fmla="*/ 22751 h 241692"/>
              <a:gd name="connsiteX9" fmla="*/ 169828 w 401648"/>
              <a:gd name="connsiteY9" fmla="*/ 35630 h 241692"/>
              <a:gd name="connsiteX10" fmla="*/ 92555 w 401648"/>
              <a:gd name="connsiteY10" fmla="*/ 87145 h 241692"/>
              <a:gd name="connsiteX11" fmla="*/ 28160 w 401648"/>
              <a:gd name="connsiteY11" fmla="*/ 125782 h 24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1648" h="241692">
                <a:moveTo>
                  <a:pt x="28160" y="125782"/>
                </a:moveTo>
                <a:cubicBezTo>
                  <a:pt x="13135" y="142954"/>
                  <a:pt x="-6986" y="169050"/>
                  <a:pt x="2403" y="190176"/>
                </a:cubicBezTo>
                <a:cubicBezTo>
                  <a:pt x="14976" y="218465"/>
                  <a:pt x="79676" y="241692"/>
                  <a:pt x="79676" y="241692"/>
                </a:cubicBezTo>
                <a:cubicBezTo>
                  <a:pt x="118301" y="235254"/>
                  <a:pt x="200206" y="225732"/>
                  <a:pt x="234222" y="203055"/>
                </a:cubicBezTo>
                <a:cubicBezTo>
                  <a:pt x="247101" y="194469"/>
                  <a:pt x="258714" y="183584"/>
                  <a:pt x="272859" y="177297"/>
                </a:cubicBezTo>
                <a:cubicBezTo>
                  <a:pt x="297670" y="166270"/>
                  <a:pt x="324374" y="160125"/>
                  <a:pt x="350132" y="151539"/>
                </a:cubicBezTo>
                <a:lnTo>
                  <a:pt x="388769" y="138661"/>
                </a:lnTo>
                <a:cubicBezTo>
                  <a:pt x="393062" y="125782"/>
                  <a:pt x="401648" y="113600"/>
                  <a:pt x="401648" y="100024"/>
                </a:cubicBezTo>
                <a:cubicBezTo>
                  <a:pt x="401648" y="-51305"/>
                  <a:pt x="376569" y="10743"/>
                  <a:pt x="208465" y="22751"/>
                </a:cubicBezTo>
                <a:cubicBezTo>
                  <a:pt x="195586" y="27044"/>
                  <a:pt x="181695" y="29037"/>
                  <a:pt x="169828" y="35630"/>
                </a:cubicBezTo>
                <a:cubicBezTo>
                  <a:pt x="142767" y="50664"/>
                  <a:pt x="92555" y="87145"/>
                  <a:pt x="92555" y="87145"/>
                </a:cubicBezTo>
                <a:cubicBezTo>
                  <a:pt x="60062" y="135885"/>
                  <a:pt x="43185" y="108610"/>
                  <a:pt x="28160" y="1257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3"/>
          <p:cNvGrpSpPr>
            <a:grpSpLocks/>
          </p:cNvGrpSpPr>
          <p:nvPr/>
        </p:nvGrpSpPr>
        <p:grpSpPr bwMode="auto">
          <a:xfrm>
            <a:off x="1865313" y="1524000"/>
            <a:ext cx="5465762" cy="4419600"/>
            <a:chOff x="1175" y="960"/>
            <a:chExt cx="3443" cy="2784"/>
          </a:xfrm>
        </p:grpSpPr>
        <p:grpSp>
          <p:nvGrpSpPr>
            <p:cNvPr id="63492" name="Group 4"/>
            <p:cNvGrpSpPr>
              <a:grpSpLocks/>
            </p:cNvGrpSpPr>
            <p:nvPr/>
          </p:nvGrpSpPr>
          <p:grpSpPr bwMode="auto">
            <a:xfrm>
              <a:off x="1175" y="960"/>
              <a:ext cx="3001" cy="2448"/>
              <a:chOff x="1175" y="1056"/>
              <a:chExt cx="3001" cy="2448"/>
            </a:xfrm>
          </p:grpSpPr>
          <p:sp>
            <p:nvSpPr>
              <p:cNvPr id="63494" name="Freeform 5"/>
              <p:cNvSpPr>
                <a:spLocks noChangeArrowheads="1"/>
              </p:cNvSpPr>
              <p:nvPr/>
            </p:nvSpPr>
            <p:spPr bwMode="auto">
              <a:xfrm>
                <a:off x="1609" y="1504"/>
                <a:ext cx="2291" cy="1760"/>
              </a:xfrm>
              <a:custGeom>
                <a:avLst/>
                <a:gdLst>
                  <a:gd name="T0" fmla="*/ 19 w 4217"/>
                  <a:gd name="T1" fmla="*/ 1743 h 2970"/>
                  <a:gd name="T2" fmla="*/ 65 w 4217"/>
                  <a:gd name="T3" fmla="*/ 1642 h 2970"/>
                  <a:gd name="T4" fmla="*/ 111 w 4217"/>
                  <a:gd name="T5" fmla="*/ 1457 h 2970"/>
                  <a:gd name="T6" fmla="*/ 158 w 4217"/>
                  <a:gd name="T7" fmla="*/ 1214 h 2970"/>
                  <a:gd name="T8" fmla="*/ 204 w 4217"/>
                  <a:gd name="T9" fmla="*/ 945 h 2970"/>
                  <a:gd name="T10" fmla="*/ 250 w 4217"/>
                  <a:gd name="T11" fmla="*/ 672 h 2970"/>
                  <a:gd name="T12" fmla="*/ 296 w 4217"/>
                  <a:gd name="T13" fmla="*/ 424 h 2970"/>
                  <a:gd name="T14" fmla="*/ 342 w 4217"/>
                  <a:gd name="T15" fmla="*/ 223 h 2970"/>
                  <a:gd name="T16" fmla="*/ 389 w 4217"/>
                  <a:gd name="T17" fmla="*/ 80 h 2970"/>
                  <a:gd name="T18" fmla="*/ 435 w 4217"/>
                  <a:gd name="T19" fmla="*/ 8 h 2970"/>
                  <a:gd name="T20" fmla="*/ 478 w 4217"/>
                  <a:gd name="T21" fmla="*/ 4 h 2970"/>
                  <a:gd name="T22" fmla="*/ 524 w 4217"/>
                  <a:gd name="T23" fmla="*/ 63 h 2970"/>
                  <a:gd name="T24" fmla="*/ 570 w 4217"/>
                  <a:gd name="T25" fmla="*/ 172 h 2970"/>
                  <a:gd name="T26" fmla="*/ 616 w 4217"/>
                  <a:gd name="T27" fmla="*/ 315 h 2970"/>
                  <a:gd name="T28" fmla="*/ 662 w 4217"/>
                  <a:gd name="T29" fmla="*/ 479 h 2970"/>
                  <a:gd name="T30" fmla="*/ 708 w 4217"/>
                  <a:gd name="T31" fmla="*/ 647 h 2970"/>
                  <a:gd name="T32" fmla="*/ 755 w 4217"/>
                  <a:gd name="T33" fmla="*/ 798 h 2970"/>
                  <a:gd name="T34" fmla="*/ 801 w 4217"/>
                  <a:gd name="T35" fmla="*/ 920 h 2970"/>
                  <a:gd name="T36" fmla="*/ 847 w 4217"/>
                  <a:gd name="T37" fmla="*/ 1008 h 2970"/>
                  <a:gd name="T38" fmla="*/ 893 w 4217"/>
                  <a:gd name="T39" fmla="*/ 1054 h 2970"/>
                  <a:gd name="T40" fmla="*/ 936 w 4217"/>
                  <a:gd name="T41" fmla="*/ 1058 h 2970"/>
                  <a:gd name="T42" fmla="*/ 982 w 4217"/>
                  <a:gd name="T43" fmla="*/ 1025 h 2970"/>
                  <a:gd name="T44" fmla="*/ 1028 w 4217"/>
                  <a:gd name="T45" fmla="*/ 962 h 2970"/>
                  <a:gd name="T46" fmla="*/ 1074 w 4217"/>
                  <a:gd name="T47" fmla="*/ 873 h 2970"/>
                  <a:gd name="T48" fmla="*/ 1120 w 4217"/>
                  <a:gd name="T49" fmla="*/ 777 h 2970"/>
                  <a:gd name="T50" fmla="*/ 1166 w 4217"/>
                  <a:gd name="T51" fmla="*/ 676 h 2970"/>
                  <a:gd name="T52" fmla="*/ 1213 w 4217"/>
                  <a:gd name="T53" fmla="*/ 584 h 2970"/>
                  <a:gd name="T54" fmla="*/ 1259 w 4217"/>
                  <a:gd name="T55" fmla="*/ 508 h 2970"/>
                  <a:gd name="T56" fmla="*/ 1305 w 4217"/>
                  <a:gd name="T57" fmla="*/ 454 h 2970"/>
                  <a:gd name="T58" fmla="*/ 1351 w 4217"/>
                  <a:gd name="T59" fmla="*/ 424 h 2970"/>
                  <a:gd name="T60" fmla="*/ 1394 w 4217"/>
                  <a:gd name="T61" fmla="*/ 420 h 2970"/>
                  <a:gd name="T62" fmla="*/ 1440 w 4217"/>
                  <a:gd name="T63" fmla="*/ 437 h 2970"/>
                  <a:gd name="T64" fmla="*/ 1486 w 4217"/>
                  <a:gd name="T65" fmla="*/ 475 h 2970"/>
                  <a:gd name="T66" fmla="*/ 1532 w 4217"/>
                  <a:gd name="T67" fmla="*/ 529 h 2970"/>
                  <a:gd name="T68" fmla="*/ 1578 w 4217"/>
                  <a:gd name="T69" fmla="*/ 588 h 2970"/>
                  <a:gd name="T70" fmla="*/ 1625 w 4217"/>
                  <a:gd name="T71" fmla="*/ 647 h 2970"/>
                  <a:gd name="T72" fmla="*/ 1671 w 4217"/>
                  <a:gd name="T73" fmla="*/ 706 h 2970"/>
                  <a:gd name="T74" fmla="*/ 1717 w 4217"/>
                  <a:gd name="T75" fmla="*/ 752 h 2970"/>
                  <a:gd name="T76" fmla="*/ 1763 w 4217"/>
                  <a:gd name="T77" fmla="*/ 785 h 2970"/>
                  <a:gd name="T78" fmla="*/ 1810 w 4217"/>
                  <a:gd name="T79" fmla="*/ 802 h 2970"/>
                  <a:gd name="T80" fmla="*/ 1852 w 4217"/>
                  <a:gd name="T81" fmla="*/ 807 h 2970"/>
                  <a:gd name="T82" fmla="*/ 1898 w 4217"/>
                  <a:gd name="T83" fmla="*/ 798 h 2970"/>
                  <a:gd name="T84" fmla="*/ 1944 w 4217"/>
                  <a:gd name="T85" fmla="*/ 773 h 2970"/>
                  <a:gd name="T86" fmla="*/ 1991 w 4217"/>
                  <a:gd name="T87" fmla="*/ 744 h 2970"/>
                  <a:gd name="T88" fmla="*/ 2037 w 4217"/>
                  <a:gd name="T89" fmla="*/ 710 h 2970"/>
                  <a:gd name="T90" fmla="*/ 2083 w 4217"/>
                  <a:gd name="T91" fmla="*/ 672 h 2970"/>
                  <a:gd name="T92" fmla="*/ 2129 w 4217"/>
                  <a:gd name="T93" fmla="*/ 638 h 2970"/>
                  <a:gd name="T94" fmla="*/ 2175 w 4217"/>
                  <a:gd name="T95" fmla="*/ 609 h 2970"/>
                  <a:gd name="T96" fmla="*/ 2221 w 4217"/>
                  <a:gd name="T97" fmla="*/ 588 h 2970"/>
                  <a:gd name="T98" fmla="*/ 2268 w 4217"/>
                  <a:gd name="T99" fmla="*/ 575 h 297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217" h="2970">
                    <a:moveTo>
                      <a:pt x="0" y="2970"/>
                    </a:moveTo>
                    <a:lnTo>
                      <a:pt x="35" y="2941"/>
                    </a:lnTo>
                    <a:lnTo>
                      <a:pt x="78" y="2877"/>
                    </a:lnTo>
                    <a:lnTo>
                      <a:pt x="120" y="2771"/>
                    </a:lnTo>
                    <a:lnTo>
                      <a:pt x="163" y="2629"/>
                    </a:lnTo>
                    <a:lnTo>
                      <a:pt x="205" y="2459"/>
                    </a:lnTo>
                    <a:lnTo>
                      <a:pt x="248" y="2268"/>
                    </a:lnTo>
                    <a:lnTo>
                      <a:pt x="290" y="2048"/>
                    </a:lnTo>
                    <a:lnTo>
                      <a:pt x="333" y="1821"/>
                    </a:lnTo>
                    <a:lnTo>
                      <a:pt x="375" y="1595"/>
                    </a:lnTo>
                    <a:lnTo>
                      <a:pt x="418" y="1361"/>
                    </a:lnTo>
                    <a:lnTo>
                      <a:pt x="460" y="1134"/>
                    </a:lnTo>
                    <a:lnTo>
                      <a:pt x="503" y="914"/>
                    </a:lnTo>
                    <a:lnTo>
                      <a:pt x="545" y="716"/>
                    </a:lnTo>
                    <a:lnTo>
                      <a:pt x="588" y="532"/>
                    </a:lnTo>
                    <a:lnTo>
                      <a:pt x="630" y="376"/>
                    </a:lnTo>
                    <a:lnTo>
                      <a:pt x="673" y="241"/>
                    </a:lnTo>
                    <a:lnTo>
                      <a:pt x="716" y="135"/>
                    </a:lnTo>
                    <a:lnTo>
                      <a:pt x="758" y="64"/>
                    </a:lnTo>
                    <a:lnTo>
                      <a:pt x="801" y="14"/>
                    </a:lnTo>
                    <a:lnTo>
                      <a:pt x="843" y="0"/>
                    </a:lnTo>
                    <a:lnTo>
                      <a:pt x="879" y="7"/>
                    </a:lnTo>
                    <a:lnTo>
                      <a:pt x="921" y="43"/>
                    </a:lnTo>
                    <a:lnTo>
                      <a:pt x="964" y="106"/>
                    </a:lnTo>
                    <a:lnTo>
                      <a:pt x="1006" y="184"/>
                    </a:lnTo>
                    <a:lnTo>
                      <a:pt x="1049" y="291"/>
                    </a:lnTo>
                    <a:lnTo>
                      <a:pt x="1091" y="404"/>
                    </a:lnTo>
                    <a:lnTo>
                      <a:pt x="1134" y="532"/>
                    </a:lnTo>
                    <a:lnTo>
                      <a:pt x="1176" y="666"/>
                    </a:lnTo>
                    <a:lnTo>
                      <a:pt x="1219" y="808"/>
                    </a:lnTo>
                    <a:lnTo>
                      <a:pt x="1261" y="950"/>
                    </a:lnTo>
                    <a:lnTo>
                      <a:pt x="1304" y="1092"/>
                    </a:lnTo>
                    <a:lnTo>
                      <a:pt x="1346" y="1219"/>
                    </a:lnTo>
                    <a:lnTo>
                      <a:pt x="1389" y="1347"/>
                    </a:lnTo>
                    <a:lnTo>
                      <a:pt x="1431" y="1453"/>
                    </a:lnTo>
                    <a:lnTo>
                      <a:pt x="1474" y="1552"/>
                    </a:lnTo>
                    <a:lnTo>
                      <a:pt x="1516" y="1637"/>
                    </a:lnTo>
                    <a:lnTo>
                      <a:pt x="1559" y="1701"/>
                    </a:lnTo>
                    <a:lnTo>
                      <a:pt x="1601" y="1751"/>
                    </a:lnTo>
                    <a:lnTo>
                      <a:pt x="1644" y="1779"/>
                    </a:lnTo>
                    <a:lnTo>
                      <a:pt x="1686" y="1793"/>
                    </a:lnTo>
                    <a:lnTo>
                      <a:pt x="1722" y="1786"/>
                    </a:lnTo>
                    <a:lnTo>
                      <a:pt x="1764" y="1765"/>
                    </a:lnTo>
                    <a:lnTo>
                      <a:pt x="1807" y="1729"/>
                    </a:lnTo>
                    <a:lnTo>
                      <a:pt x="1849" y="1680"/>
                    </a:lnTo>
                    <a:lnTo>
                      <a:pt x="1892" y="1623"/>
                    </a:lnTo>
                    <a:lnTo>
                      <a:pt x="1935" y="1552"/>
                    </a:lnTo>
                    <a:lnTo>
                      <a:pt x="1977" y="1474"/>
                    </a:lnTo>
                    <a:lnTo>
                      <a:pt x="2020" y="1396"/>
                    </a:lnTo>
                    <a:lnTo>
                      <a:pt x="2062" y="1311"/>
                    </a:lnTo>
                    <a:lnTo>
                      <a:pt x="2105" y="1226"/>
                    </a:lnTo>
                    <a:lnTo>
                      <a:pt x="2147" y="1141"/>
                    </a:lnTo>
                    <a:lnTo>
                      <a:pt x="2190" y="1063"/>
                    </a:lnTo>
                    <a:lnTo>
                      <a:pt x="2232" y="985"/>
                    </a:lnTo>
                    <a:lnTo>
                      <a:pt x="2275" y="921"/>
                    </a:lnTo>
                    <a:lnTo>
                      <a:pt x="2317" y="858"/>
                    </a:lnTo>
                    <a:lnTo>
                      <a:pt x="2360" y="808"/>
                    </a:lnTo>
                    <a:lnTo>
                      <a:pt x="2402" y="766"/>
                    </a:lnTo>
                    <a:lnTo>
                      <a:pt x="2445" y="737"/>
                    </a:lnTo>
                    <a:lnTo>
                      <a:pt x="2487" y="716"/>
                    </a:lnTo>
                    <a:lnTo>
                      <a:pt x="2530" y="709"/>
                    </a:lnTo>
                    <a:lnTo>
                      <a:pt x="2565" y="709"/>
                    </a:lnTo>
                    <a:lnTo>
                      <a:pt x="2608" y="723"/>
                    </a:lnTo>
                    <a:lnTo>
                      <a:pt x="2650" y="737"/>
                    </a:lnTo>
                    <a:lnTo>
                      <a:pt x="2693" y="766"/>
                    </a:lnTo>
                    <a:lnTo>
                      <a:pt x="2735" y="801"/>
                    </a:lnTo>
                    <a:lnTo>
                      <a:pt x="2778" y="843"/>
                    </a:lnTo>
                    <a:lnTo>
                      <a:pt x="2820" y="893"/>
                    </a:lnTo>
                    <a:lnTo>
                      <a:pt x="2863" y="943"/>
                    </a:lnTo>
                    <a:lnTo>
                      <a:pt x="2905" y="992"/>
                    </a:lnTo>
                    <a:lnTo>
                      <a:pt x="2948" y="1042"/>
                    </a:lnTo>
                    <a:lnTo>
                      <a:pt x="2991" y="1092"/>
                    </a:lnTo>
                    <a:lnTo>
                      <a:pt x="3033" y="1141"/>
                    </a:lnTo>
                    <a:lnTo>
                      <a:pt x="3076" y="1191"/>
                    </a:lnTo>
                    <a:lnTo>
                      <a:pt x="3118" y="1233"/>
                    </a:lnTo>
                    <a:lnTo>
                      <a:pt x="3161" y="1269"/>
                    </a:lnTo>
                    <a:lnTo>
                      <a:pt x="3203" y="1297"/>
                    </a:lnTo>
                    <a:lnTo>
                      <a:pt x="3246" y="1325"/>
                    </a:lnTo>
                    <a:lnTo>
                      <a:pt x="3288" y="1347"/>
                    </a:lnTo>
                    <a:lnTo>
                      <a:pt x="3331" y="1354"/>
                    </a:lnTo>
                    <a:lnTo>
                      <a:pt x="3373" y="1361"/>
                    </a:lnTo>
                    <a:lnTo>
                      <a:pt x="3409" y="1361"/>
                    </a:lnTo>
                    <a:lnTo>
                      <a:pt x="3451" y="1354"/>
                    </a:lnTo>
                    <a:lnTo>
                      <a:pt x="3494" y="1347"/>
                    </a:lnTo>
                    <a:lnTo>
                      <a:pt x="3536" y="1325"/>
                    </a:lnTo>
                    <a:lnTo>
                      <a:pt x="3579" y="1304"/>
                    </a:lnTo>
                    <a:lnTo>
                      <a:pt x="3621" y="1283"/>
                    </a:lnTo>
                    <a:lnTo>
                      <a:pt x="3664" y="1255"/>
                    </a:lnTo>
                    <a:lnTo>
                      <a:pt x="3706" y="1226"/>
                    </a:lnTo>
                    <a:lnTo>
                      <a:pt x="3749" y="1198"/>
                    </a:lnTo>
                    <a:lnTo>
                      <a:pt x="3791" y="1162"/>
                    </a:lnTo>
                    <a:lnTo>
                      <a:pt x="3834" y="1134"/>
                    </a:lnTo>
                    <a:lnTo>
                      <a:pt x="3876" y="1106"/>
                    </a:lnTo>
                    <a:lnTo>
                      <a:pt x="3919" y="1077"/>
                    </a:lnTo>
                    <a:lnTo>
                      <a:pt x="3961" y="1049"/>
                    </a:lnTo>
                    <a:lnTo>
                      <a:pt x="4004" y="1028"/>
                    </a:lnTo>
                    <a:lnTo>
                      <a:pt x="4047" y="1006"/>
                    </a:lnTo>
                    <a:lnTo>
                      <a:pt x="4089" y="992"/>
                    </a:lnTo>
                    <a:lnTo>
                      <a:pt x="4132" y="978"/>
                    </a:lnTo>
                    <a:lnTo>
                      <a:pt x="4174" y="971"/>
                    </a:lnTo>
                    <a:lnTo>
                      <a:pt x="4217" y="964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5" name="Freeform 6"/>
              <p:cNvSpPr>
                <a:spLocks noChangeArrowheads="1"/>
              </p:cNvSpPr>
              <p:nvPr/>
            </p:nvSpPr>
            <p:spPr bwMode="auto">
              <a:xfrm>
                <a:off x="1609" y="1987"/>
                <a:ext cx="2291" cy="1277"/>
              </a:xfrm>
              <a:custGeom>
                <a:avLst/>
                <a:gdLst>
                  <a:gd name="T0" fmla="*/ 19 w 4217"/>
                  <a:gd name="T1" fmla="*/ 1159 h 2155"/>
                  <a:gd name="T2" fmla="*/ 65 w 4217"/>
                  <a:gd name="T3" fmla="*/ 605 h 2155"/>
                  <a:gd name="T4" fmla="*/ 111 w 4217"/>
                  <a:gd name="T5" fmla="*/ 151 h 2155"/>
                  <a:gd name="T6" fmla="*/ 158 w 4217"/>
                  <a:gd name="T7" fmla="*/ 0 h 2155"/>
                  <a:gd name="T8" fmla="*/ 204 w 4217"/>
                  <a:gd name="T9" fmla="*/ 46 h 2155"/>
                  <a:gd name="T10" fmla="*/ 250 w 4217"/>
                  <a:gd name="T11" fmla="*/ 143 h 2155"/>
                  <a:gd name="T12" fmla="*/ 296 w 4217"/>
                  <a:gd name="T13" fmla="*/ 197 h 2155"/>
                  <a:gd name="T14" fmla="*/ 342 w 4217"/>
                  <a:gd name="T15" fmla="*/ 206 h 2155"/>
                  <a:gd name="T16" fmla="*/ 389 w 4217"/>
                  <a:gd name="T17" fmla="*/ 193 h 2155"/>
                  <a:gd name="T18" fmla="*/ 435 w 4217"/>
                  <a:gd name="T19" fmla="*/ 181 h 2155"/>
                  <a:gd name="T20" fmla="*/ 478 w 4217"/>
                  <a:gd name="T21" fmla="*/ 172 h 2155"/>
                  <a:gd name="T22" fmla="*/ 524 w 4217"/>
                  <a:gd name="T23" fmla="*/ 172 h 2155"/>
                  <a:gd name="T24" fmla="*/ 570 w 4217"/>
                  <a:gd name="T25" fmla="*/ 177 h 2155"/>
                  <a:gd name="T26" fmla="*/ 616 w 4217"/>
                  <a:gd name="T27" fmla="*/ 177 h 2155"/>
                  <a:gd name="T28" fmla="*/ 662 w 4217"/>
                  <a:gd name="T29" fmla="*/ 181 h 2155"/>
                  <a:gd name="T30" fmla="*/ 708 w 4217"/>
                  <a:gd name="T31" fmla="*/ 181 h 2155"/>
                  <a:gd name="T32" fmla="*/ 755 w 4217"/>
                  <a:gd name="T33" fmla="*/ 177 h 2155"/>
                  <a:gd name="T34" fmla="*/ 801 w 4217"/>
                  <a:gd name="T35" fmla="*/ 177 h 2155"/>
                  <a:gd name="T36" fmla="*/ 847 w 4217"/>
                  <a:gd name="T37" fmla="*/ 177 h 2155"/>
                  <a:gd name="T38" fmla="*/ 893 w 4217"/>
                  <a:gd name="T39" fmla="*/ 177 h 2155"/>
                  <a:gd name="T40" fmla="*/ 936 w 4217"/>
                  <a:gd name="T41" fmla="*/ 177 h 2155"/>
                  <a:gd name="T42" fmla="*/ 982 w 4217"/>
                  <a:gd name="T43" fmla="*/ 177 h 2155"/>
                  <a:gd name="T44" fmla="*/ 1028 w 4217"/>
                  <a:gd name="T45" fmla="*/ 177 h 2155"/>
                  <a:gd name="T46" fmla="*/ 1074 w 4217"/>
                  <a:gd name="T47" fmla="*/ 177 h 2155"/>
                  <a:gd name="T48" fmla="*/ 1120 w 4217"/>
                  <a:gd name="T49" fmla="*/ 177 h 2155"/>
                  <a:gd name="T50" fmla="*/ 1166 w 4217"/>
                  <a:gd name="T51" fmla="*/ 177 h 2155"/>
                  <a:gd name="T52" fmla="*/ 1213 w 4217"/>
                  <a:gd name="T53" fmla="*/ 177 h 2155"/>
                  <a:gd name="T54" fmla="*/ 1259 w 4217"/>
                  <a:gd name="T55" fmla="*/ 177 h 2155"/>
                  <a:gd name="T56" fmla="*/ 1305 w 4217"/>
                  <a:gd name="T57" fmla="*/ 177 h 2155"/>
                  <a:gd name="T58" fmla="*/ 1351 w 4217"/>
                  <a:gd name="T59" fmla="*/ 177 h 2155"/>
                  <a:gd name="T60" fmla="*/ 1394 w 4217"/>
                  <a:gd name="T61" fmla="*/ 177 h 2155"/>
                  <a:gd name="T62" fmla="*/ 1440 w 4217"/>
                  <a:gd name="T63" fmla="*/ 177 h 2155"/>
                  <a:gd name="T64" fmla="*/ 1486 w 4217"/>
                  <a:gd name="T65" fmla="*/ 177 h 2155"/>
                  <a:gd name="T66" fmla="*/ 1532 w 4217"/>
                  <a:gd name="T67" fmla="*/ 177 h 2155"/>
                  <a:gd name="T68" fmla="*/ 1578 w 4217"/>
                  <a:gd name="T69" fmla="*/ 177 h 2155"/>
                  <a:gd name="T70" fmla="*/ 1625 w 4217"/>
                  <a:gd name="T71" fmla="*/ 177 h 2155"/>
                  <a:gd name="T72" fmla="*/ 1671 w 4217"/>
                  <a:gd name="T73" fmla="*/ 177 h 2155"/>
                  <a:gd name="T74" fmla="*/ 1717 w 4217"/>
                  <a:gd name="T75" fmla="*/ 177 h 2155"/>
                  <a:gd name="T76" fmla="*/ 1763 w 4217"/>
                  <a:gd name="T77" fmla="*/ 177 h 2155"/>
                  <a:gd name="T78" fmla="*/ 1810 w 4217"/>
                  <a:gd name="T79" fmla="*/ 177 h 2155"/>
                  <a:gd name="T80" fmla="*/ 1852 w 4217"/>
                  <a:gd name="T81" fmla="*/ 177 h 2155"/>
                  <a:gd name="T82" fmla="*/ 1898 w 4217"/>
                  <a:gd name="T83" fmla="*/ 177 h 2155"/>
                  <a:gd name="T84" fmla="*/ 1944 w 4217"/>
                  <a:gd name="T85" fmla="*/ 177 h 2155"/>
                  <a:gd name="T86" fmla="*/ 1991 w 4217"/>
                  <a:gd name="T87" fmla="*/ 177 h 2155"/>
                  <a:gd name="T88" fmla="*/ 2037 w 4217"/>
                  <a:gd name="T89" fmla="*/ 177 h 2155"/>
                  <a:gd name="T90" fmla="*/ 2083 w 4217"/>
                  <a:gd name="T91" fmla="*/ 177 h 2155"/>
                  <a:gd name="T92" fmla="*/ 2129 w 4217"/>
                  <a:gd name="T93" fmla="*/ 177 h 2155"/>
                  <a:gd name="T94" fmla="*/ 2175 w 4217"/>
                  <a:gd name="T95" fmla="*/ 177 h 2155"/>
                  <a:gd name="T96" fmla="*/ 2221 w 4217"/>
                  <a:gd name="T97" fmla="*/ 177 h 2155"/>
                  <a:gd name="T98" fmla="*/ 2268 w 4217"/>
                  <a:gd name="T99" fmla="*/ 177 h 215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217" h="2155">
                    <a:moveTo>
                      <a:pt x="0" y="2155"/>
                    </a:moveTo>
                    <a:lnTo>
                      <a:pt x="35" y="1956"/>
                    </a:lnTo>
                    <a:lnTo>
                      <a:pt x="78" y="1524"/>
                    </a:lnTo>
                    <a:lnTo>
                      <a:pt x="120" y="1021"/>
                    </a:lnTo>
                    <a:lnTo>
                      <a:pt x="163" y="581"/>
                    </a:lnTo>
                    <a:lnTo>
                      <a:pt x="205" y="255"/>
                    </a:lnTo>
                    <a:lnTo>
                      <a:pt x="248" y="71"/>
                    </a:lnTo>
                    <a:lnTo>
                      <a:pt x="290" y="0"/>
                    </a:lnTo>
                    <a:lnTo>
                      <a:pt x="333" y="14"/>
                    </a:lnTo>
                    <a:lnTo>
                      <a:pt x="375" y="78"/>
                    </a:lnTo>
                    <a:lnTo>
                      <a:pt x="418" y="163"/>
                    </a:lnTo>
                    <a:lnTo>
                      <a:pt x="460" y="241"/>
                    </a:lnTo>
                    <a:lnTo>
                      <a:pt x="503" y="298"/>
                    </a:lnTo>
                    <a:lnTo>
                      <a:pt x="545" y="333"/>
                    </a:lnTo>
                    <a:lnTo>
                      <a:pt x="588" y="347"/>
                    </a:lnTo>
                    <a:lnTo>
                      <a:pt x="630" y="347"/>
                    </a:lnTo>
                    <a:lnTo>
                      <a:pt x="673" y="340"/>
                    </a:lnTo>
                    <a:lnTo>
                      <a:pt x="716" y="326"/>
                    </a:lnTo>
                    <a:lnTo>
                      <a:pt x="758" y="312"/>
                    </a:lnTo>
                    <a:lnTo>
                      <a:pt x="801" y="305"/>
                    </a:lnTo>
                    <a:lnTo>
                      <a:pt x="843" y="298"/>
                    </a:lnTo>
                    <a:lnTo>
                      <a:pt x="879" y="291"/>
                    </a:lnTo>
                    <a:lnTo>
                      <a:pt x="921" y="291"/>
                    </a:lnTo>
                    <a:lnTo>
                      <a:pt x="964" y="291"/>
                    </a:lnTo>
                    <a:lnTo>
                      <a:pt x="1006" y="298"/>
                    </a:lnTo>
                    <a:lnTo>
                      <a:pt x="1049" y="298"/>
                    </a:lnTo>
                    <a:lnTo>
                      <a:pt x="1091" y="298"/>
                    </a:lnTo>
                    <a:lnTo>
                      <a:pt x="1134" y="298"/>
                    </a:lnTo>
                    <a:lnTo>
                      <a:pt x="1176" y="305"/>
                    </a:lnTo>
                    <a:lnTo>
                      <a:pt x="1219" y="305"/>
                    </a:lnTo>
                    <a:lnTo>
                      <a:pt x="1261" y="305"/>
                    </a:lnTo>
                    <a:lnTo>
                      <a:pt x="1304" y="305"/>
                    </a:lnTo>
                    <a:lnTo>
                      <a:pt x="1346" y="298"/>
                    </a:lnTo>
                    <a:lnTo>
                      <a:pt x="1389" y="298"/>
                    </a:lnTo>
                    <a:lnTo>
                      <a:pt x="1431" y="298"/>
                    </a:lnTo>
                    <a:lnTo>
                      <a:pt x="1474" y="298"/>
                    </a:lnTo>
                    <a:lnTo>
                      <a:pt x="1516" y="298"/>
                    </a:lnTo>
                    <a:lnTo>
                      <a:pt x="1559" y="298"/>
                    </a:lnTo>
                    <a:lnTo>
                      <a:pt x="1601" y="298"/>
                    </a:lnTo>
                    <a:lnTo>
                      <a:pt x="1644" y="298"/>
                    </a:lnTo>
                    <a:lnTo>
                      <a:pt x="1686" y="298"/>
                    </a:lnTo>
                    <a:lnTo>
                      <a:pt x="1722" y="298"/>
                    </a:lnTo>
                    <a:lnTo>
                      <a:pt x="1764" y="298"/>
                    </a:lnTo>
                    <a:lnTo>
                      <a:pt x="1807" y="298"/>
                    </a:lnTo>
                    <a:lnTo>
                      <a:pt x="1849" y="298"/>
                    </a:lnTo>
                    <a:lnTo>
                      <a:pt x="1892" y="298"/>
                    </a:lnTo>
                    <a:lnTo>
                      <a:pt x="1935" y="298"/>
                    </a:lnTo>
                    <a:lnTo>
                      <a:pt x="1977" y="298"/>
                    </a:lnTo>
                    <a:lnTo>
                      <a:pt x="2020" y="298"/>
                    </a:lnTo>
                    <a:lnTo>
                      <a:pt x="2062" y="298"/>
                    </a:lnTo>
                    <a:lnTo>
                      <a:pt x="2105" y="298"/>
                    </a:lnTo>
                    <a:lnTo>
                      <a:pt x="2147" y="298"/>
                    </a:lnTo>
                    <a:lnTo>
                      <a:pt x="2190" y="298"/>
                    </a:lnTo>
                    <a:lnTo>
                      <a:pt x="2232" y="298"/>
                    </a:lnTo>
                    <a:lnTo>
                      <a:pt x="2275" y="298"/>
                    </a:lnTo>
                    <a:lnTo>
                      <a:pt x="2317" y="298"/>
                    </a:lnTo>
                    <a:lnTo>
                      <a:pt x="2360" y="298"/>
                    </a:lnTo>
                    <a:lnTo>
                      <a:pt x="2402" y="298"/>
                    </a:lnTo>
                    <a:lnTo>
                      <a:pt x="2445" y="298"/>
                    </a:lnTo>
                    <a:lnTo>
                      <a:pt x="2487" y="298"/>
                    </a:lnTo>
                    <a:lnTo>
                      <a:pt x="2530" y="298"/>
                    </a:lnTo>
                    <a:lnTo>
                      <a:pt x="2565" y="298"/>
                    </a:lnTo>
                    <a:lnTo>
                      <a:pt x="2608" y="298"/>
                    </a:lnTo>
                    <a:lnTo>
                      <a:pt x="2650" y="298"/>
                    </a:lnTo>
                    <a:lnTo>
                      <a:pt x="2693" y="298"/>
                    </a:lnTo>
                    <a:lnTo>
                      <a:pt x="2735" y="298"/>
                    </a:lnTo>
                    <a:lnTo>
                      <a:pt x="2778" y="298"/>
                    </a:lnTo>
                    <a:lnTo>
                      <a:pt x="2820" y="298"/>
                    </a:lnTo>
                    <a:lnTo>
                      <a:pt x="2863" y="298"/>
                    </a:lnTo>
                    <a:lnTo>
                      <a:pt x="2905" y="298"/>
                    </a:lnTo>
                    <a:lnTo>
                      <a:pt x="2948" y="298"/>
                    </a:lnTo>
                    <a:lnTo>
                      <a:pt x="2991" y="298"/>
                    </a:lnTo>
                    <a:lnTo>
                      <a:pt x="3033" y="298"/>
                    </a:lnTo>
                    <a:lnTo>
                      <a:pt x="3076" y="298"/>
                    </a:lnTo>
                    <a:lnTo>
                      <a:pt x="3118" y="298"/>
                    </a:lnTo>
                    <a:lnTo>
                      <a:pt x="3161" y="298"/>
                    </a:lnTo>
                    <a:lnTo>
                      <a:pt x="3203" y="298"/>
                    </a:lnTo>
                    <a:lnTo>
                      <a:pt x="3246" y="298"/>
                    </a:lnTo>
                    <a:lnTo>
                      <a:pt x="3288" y="298"/>
                    </a:lnTo>
                    <a:lnTo>
                      <a:pt x="3331" y="298"/>
                    </a:lnTo>
                    <a:lnTo>
                      <a:pt x="3373" y="298"/>
                    </a:lnTo>
                    <a:lnTo>
                      <a:pt x="3409" y="298"/>
                    </a:lnTo>
                    <a:lnTo>
                      <a:pt x="3451" y="298"/>
                    </a:lnTo>
                    <a:lnTo>
                      <a:pt x="3494" y="298"/>
                    </a:lnTo>
                    <a:lnTo>
                      <a:pt x="3536" y="298"/>
                    </a:lnTo>
                    <a:lnTo>
                      <a:pt x="3579" y="298"/>
                    </a:lnTo>
                    <a:lnTo>
                      <a:pt x="3621" y="298"/>
                    </a:lnTo>
                    <a:lnTo>
                      <a:pt x="3664" y="298"/>
                    </a:lnTo>
                    <a:lnTo>
                      <a:pt x="3706" y="298"/>
                    </a:lnTo>
                    <a:lnTo>
                      <a:pt x="3749" y="298"/>
                    </a:lnTo>
                    <a:lnTo>
                      <a:pt x="3791" y="298"/>
                    </a:lnTo>
                    <a:lnTo>
                      <a:pt x="3834" y="298"/>
                    </a:lnTo>
                    <a:lnTo>
                      <a:pt x="3876" y="298"/>
                    </a:lnTo>
                    <a:lnTo>
                      <a:pt x="3919" y="298"/>
                    </a:lnTo>
                    <a:lnTo>
                      <a:pt x="3961" y="298"/>
                    </a:lnTo>
                    <a:lnTo>
                      <a:pt x="4004" y="298"/>
                    </a:lnTo>
                    <a:lnTo>
                      <a:pt x="4047" y="298"/>
                    </a:lnTo>
                    <a:lnTo>
                      <a:pt x="4089" y="298"/>
                    </a:lnTo>
                    <a:lnTo>
                      <a:pt x="4132" y="298"/>
                    </a:lnTo>
                    <a:lnTo>
                      <a:pt x="4174" y="298"/>
                    </a:lnTo>
                    <a:lnTo>
                      <a:pt x="4217" y="298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6" name="Freeform 7"/>
              <p:cNvSpPr>
                <a:spLocks noChangeArrowheads="1"/>
              </p:cNvSpPr>
              <p:nvPr/>
            </p:nvSpPr>
            <p:spPr bwMode="auto">
              <a:xfrm>
                <a:off x="1609" y="1655"/>
                <a:ext cx="2291" cy="1609"/>
              </a:xfrm>
              <a:custGeom>
                <a:avLst/>
                <a:gdLst>
                  <a:gd name="T0" fmla="*/ 19 w 4217"/>
                  <a:gd name="T1" fmla="*/ 1604 h 2715"/>
                  <a:gd name="T2" fmla="*/ 65 w 4217"/>
                  <a:gd name="T3" fmla="*/ 1584 h 2715"/>
                  <a:gd name="T4" fmla="*/ 111 w 4217"/>
                  <a:gd name="T5" fmla="*/ 1541 h 2715"/>
                  <a:gd name="T6" fmla="*/ 158 w 4217"/>
                  <a:gd name="T7" fmla="*/ 1487 h 2715"/>
                  <a:gd name="T8" fmla="*/ 204 w 4217"/>
                  <a:gd name="T9" fmla="*/ 1416 h 2715"/>
                  <a:gd name="T10" fmla="*/ 250 w 4217"/>
                  <a:gd name="T11" fmla="*/ 1332 h 2715"/>
                  <a:gd name="T12" fmla="*/ 296 w 4217"/>
                  <a:gd name="T13" fmla="*/ 1239 h 2715"/>
                  <a:gd name="T14" fmla="*/ 342 w 4217"/>
                  <a:gd name="T15" fmla="*/ 1138 h 2715"/>
                  <a:gd name="T16" fmla="*/ 389 w 4217"/>
                  <a:gd name="T17" fmla="*/ 1034 h 2715"/>
                  <a:gd name="T18" fmla="*/ 435 w 4217"/>
                  <a:gd name="T19" fmla="*/ 928 h 2715"/>
                  <a:gd name="T20" fmla="*/ 478 w 4217"/>
                  <a:gd name="T21" fmla="*/ 819 h 2715"/>
                  <a:gd name="T22" fmla="*/ 524 w 4217"/>
                  <a:gd name="T23" fmla="*/ 714 h 2715"/>
                  <a:gd name="T24" fmla="*/ 570 w 4217"/>
                  <a:gd name="T25" fmla="*/ 613 h 2715"/>
                  <a:gd name="T26" fmla="*/ 616 w 4217"/>
                  <a:gd name="T27" fmla="*/ 513 h 2715"/>
                  <a:gd name="T28" fmla="*/ 662 w 4217"/>
                  <a:gd name="T29" fmla="*/ 420 h 2715"/>
                  <a:gd name="T30" fmla="*/ 708 w 4217"/>
                  <a:gd name="T31" fmla="*/ 336 h 2715"/>
                  <a:gd name="T32" fmla="*/ 755 w 4217"/>
                  <a:gd name="T33" fmla="*/ 261 h 2715"/>
                  <a:gd name="T34" fmla="*/ 801 w 4217"/>
                  <a:gd name="T35" fmla="*/ 193 h 2715"/>
                  <a:gd name="T36" fmla="*/ 847 w 4217"/>
                  <a:gd name="T37" fmla="*/ 139 h 2715"/>
                  <a:gd name="T38" fmla="*/ 893 w 4217"/>
                  <a:gd name="T39" fmla="*/ 92 h 2715"/>
                  <a:gd name="T40" fmla="*/ 936 w 4217"/>
                  <a:gd name="T41" fmla="*/ 55 h 2715"/>
                  <a:gd name="T42" fmla="*/ 982 w 4217"/>
                  <a:gd name="T43" fmla="*/ 25 h 2715"/>
                  <a:gd name="T44" fmla="*/ 1028 w 4217"/>
                  <a:gd name="T45" fmla="*/ 8 h 2715"/>
                  <a:gd name="T46" fmla="*/ 1074 w 4217"/>
                  <a:gd name="T47" fmla="*/ 0 h 2715"/>
                  <a:gd name="T48" fmla="*/ 1120 w 4217"/>
                  <a:gd name="T49" fmla="*/ 0 h 2715"/>
                  <a:gd name="T50" fmla="*/ 1166 w 4217"/>
                  <a:gd name="T51" fmla="*/ 8 h 2715"/>
                  <a:gd name="T52" fmla="*/ 1213 w 4217"/>
                  <a:gd name="T53" fmla="*/ 25 h 2715"/>
                  <a:gd name="T54" fmla="*/ 1259 w 4217"/>
                  <a:gd name="T55" fmla="*/ 46 h 2715"/>
                  <a:gd name="T56" fmla="*/ 1305 w 4217"/>
                  <a:gd name="T57" fmla="*/ 76 h 2715"/>
                  <a:gd name="T58" fmla="*/ 1351 w 4217"/>
                  <a:gd name="T59" fmla="*/ 105 h 2715"/>
                  <a:gd name="T60" fmla="*/ 1394 w 4217"/>
                  <a:gd name="T61" fmla="*/ 143 h 2715"/>
                  <a:gd name="T62" fmla="*/ 1440 w 4217"/>
                  <a:gd name="T63" fmla="*/ 181 h 2715"/>
                  <a:gd name="T64" fmla="*/ 1486 w 4217"/>
                  <a:gd name="T65" fmla="*/ 223 h 2715"/>
                  <a:gd name="T66" fmla="*/ 1532 w 4217"/>
                  <a:gd name="T67" fmla="*/ 265 h 2715"/>
                  <a:gd name="T68" fmla="*/ 1578 w 4217"/>
                  <a:gd name="T69" fmla="*/ 307 h 2715"/>
                  <a:gd name="T70" fmla="*/ 1625 w 4217"/>
                  <a:gd name="T71" fmla="*/ 348 h 2715"/>
                  <a:gd name="T72" fmla="*/ 1671 w 4217"/>
                  <a:gd name="T73" fmla="*/ 391 h 2715"/>
                  <a:gd name="T74" fmla="*/ 1717 w 4217"/>
                  <a:gd name="T75" fmla="*/ 428 h 2715"/>
                  <a:gd name="T76" fmla="*/ 1763 w 4217"/>
                  <a:gd name="T77" fmla="*/ 466 h 2715"/>
                  <a:gd name="T78" fmla="*/ 1810 w 4217"/>
                  <a:gd name="T79" fmla="*/ 500 h 2715"/>
                  <a:gd name="T80" fmla="*/ 1852 w 4217"/>
                  <a:gd name="T81" fmla="*/ 529 h 2715"/>
                  <a:gd name="T82" fmla="*/ 1898 w 4217"/>
                  <a:gd name="T83" fmla="*/ 559 h 2715"/>
                  <a:gd name="T84" fmla="*/ 1944 w 4217"/>
                  <a:gd name="T85" fmla="*/ 584 h 2715"/>
                  <a:gd name="T86" fmla="*/ 1991 w 4217"/>
                  <a:gd name="T87" fmla="*/ 601 h 2715"/>
                  <a:gd name="T88" fmla="*/ 2037 w 4217"/>
                  <a:gd name="T89" fmla="*/ 618 h 2715"/>
                  <a:gd name="T90" fmla="*/ 2083 w 4217"/>
                  <a:gd name="T91" fmla="*/ 630 h 2715"/>
                  <a:gd name="T92" fmla="*/ 2129 w 4217"/>
                  <a:gd name="T93" fmla="*/ 638 h 2715"/>
                  <a:gd name="T94" fmla="*/ 2175 w 4217"/>
                  <a:gd name="T95" fmla="*/ 643 h 2715"/>
                  <a:gd name="T96" fmla="*/ 2221 w 4217"/>
                  <a:gd name="T97" fmla="*/ 647 h 2715"/>
                  <a:gd name="T98" fmla="*/ 2268 w 4217"/>
                  <a:gd name="T99" fmla="*/ 647 h 271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217" h="2715">
                    <a:moveTo>
                      <a:pt x="0" y="2715"/>
                    </a:moveTo>
                    <a:lnTo>
                      <a:pt x="35" y="2707"/>
                    </a:lnTo>
                    <a:lnTo>
                      <a:pt x="78" y="2693"/>
                    </a:lnTo>
                    <a:lnTo>
                      <a:pt x="120" y="2672"/>
                    </a:lnTo>
                    <a:lnTo>
                      <a:pt x="163" y="2644"/>
                    </a:lnTo>
                    <a:lnTo>
                      <a:pt x="205" y="2601"/>
                    </a:lnTo>
                    <a:lnTo>
                      <a:pt x="248" y="2559"/>
                    </a:lnTo>
                    <a:lnTo>
                      <a:pt x="290" y="2509"/>
                    </a:lnTo>
                    <a:lnTo>
                      <a:pt x="333" y="2452"/>
                    </a:lnTo>
                    <a:lnTo>
                      <a:pt x="375" y="2389"/>
                    </a:lnTo>
                    <a:lnTo>
                      <a:pt x="418" y="2318"/>
                    </a:lnTo>
                    <a:lnTo>
                      <a:pt x="460" y="2247"/>
                    </a:lnTo>
                    <a:lnTo>
                      <a:pt x="503" y="2169"/>
                    </a:lnTo>
                    <a:lnTo>
                      <a:pt x="545" y="2091"/>
                    </a:lnTo>
                    <a:lnTo>
                      <a:pt x="588" y="2006"/>
                    </a:lnTo>
                    <a:lnTo>
                      <a:pt x="630" y="1921"/>
                    </a:lnTo>
                    <a:lnTo>
                      <a:pt x="673" y="1836"/>
                    </a:lnTo>
                    <a:lnTo>
                      <a:pt x="716" y="1744"/>
                    </a:lnTo>
                    <a:lnTo>
                      <a:pt x="758" y="1659"/>
                    </a:lnTo>
                    <a:lnTo>
                      <a:pt x="801" y="1566"/>
                    </a:lnTo>
                    <a:lnTo>
                      <a:pt x="843" y="1474"/>
                    </a:lnTo>
                    <a:lnTo>
                      <a:pt x="879" y="1382"/>
                    </a:lnTo>
                    <a:lnTo>
                      <a:pt x="921" y="1297"/>
                    </a:lnTo>
                    <a:lnTo>
                      <a:pt x="964" y="1205"/>
                    </a:lnTo>
                    <a:lnTo>
                      <a:pt x="1006" y="1120"/>
                    </a:lnTo>
                    <a:lnTo>
                      <a:pt x="1049" y="1035"/>
                    </a:lnTo>
                    <a:lnTo>
                      <a:pt x="1091" y="950"/>
                    </a:lnTo>
                    <a:lnTo>
                      <a:pt x="1134" y="865"/>
                    </a:lnTo>
                    <a:lnTo>
                      <a:pt x="1176" y="787"/>
                    </a:lnTo>
                    <a:lnTo>
                      <a:pt x="1219" y="709"/>
                    </a:lnTo>
                    <a:lnTo>
                      <a:pt x="1261" y="638"/>
                    </a:lnTo>
                    <a:lnTo>
                      <a:pt x="1304" y="567"/>
                    </a:lnTo>
                    <a:lnTo>
                      <a:pt x="1346" y="503"/>
                    </a:lnTo>
                    <a:lnTo>
                      <a:pt x="1389" y="440"/>
                    </a:lnTo>
                    <a:lnTo>
                      <a:pt x="1431" y="383"/>
                    </a:lnTo>
                    <a:lnTo>
                      <a:pt x="1474" y="326"/>
                    </a:lnTo>
                    <a:lnTo>
                      <a:pt x="1516" y="277"/>
                    </a:lnTo>
                    <a:lnTo>
                      <a:pt x="1559" y="234"/>
                    </a:lnTo>
                    <a:lnTo>
                      <a:pt x="1601" y="192"/>
                    </a:lnTo>
                    <a:lnTo>
                      <a:pt x="1644" y="156"/>
                    </a:lnTo>
                    <a:lnTo>
                      <a:pt x="1686" y="121"/>
                    </a:lnTo>
                    <a:lnTo>
                      <a:pt x="1722" y="92"/>
                    </a:lnTo>
                    <a:lnTo>
                      <a:pt x="1764" y="64"/>
                    </a:lnTo>
                    <a:lnTo>
                      <a:pt x="1807" y="43"/>
                    </a:lnTo>
                    <a:lnTo>
                      <a:pt x="1849" y="29"/>
                    </a:lnTo>
                    <a:lnTo>
                      <a:pt x="1892" y="14"/>
                    </a:lnTo>
                    <a:lnTo>
                      <a:pt x="1935" y="7"/>
                    </a:lnTo>
                    <a:lnTo>
                      <a:pt x="1977" y="0"/>
                    </a:lnTo>
                    <a:lnTo>
                      <a:pt x="2020" y="0"/>
                    </a:lnTo>
                    <a:lnTo>
                      <a:pt x="2062" y="0"/>
                    </a:lnTo>
                    <a:lnTo>
                      <a:pt x="2105" y="7"/>
                    </a:lnTo>
                    <a:lnTo>
                      <a:pt x="2147" y="14"/>
                    </a:lnTo>
                    <a:lnTo>
                      <a:pt x="2190" y="29"/>
                    </a:lnTo>
                    <a:lnTo>
                      <a:pt x="2232" y="43"/>
                    </a:lnTo>
                    <a:lnTo>
                      <a:pt x="2275" y="57"/>
                    </a:lnTo>
                    <a:lnTo>
                      <a:pt x="2317" y="78"/>
                    </a:lnTo>
                    <a:lnTo>
                      <a:pt x="2360" y="100"/>
                    </a:lnTo>
                    <a:lnTo>
                      <a:pt x="2402" y="128"/>
                    </a:lnTo>
                    <a:lnTo>
                      <a:pt x="2445" y="149"/>
                    </a:lnTo>
                    <a:lnTo>
                      <a:pt x="2487" y="177"/>
                    </a:lnTo>
                    <a:lnTo>
                      <a:pt x="2530" y="213"/>
                    </a:lnTo>
                    <a:lnTo>
                      <a:pt x="2565" y="241"/>
                    </a:lnTo>
                    <a:lnTo>
                      <a:pt x="2608" y="277"/>
                    </a:lnTo>
                    <a:lnTo>
                      <a:pt x="2650" y="305"/>
                    </a:lnTo>
                    <a:lnTo>
                      <a:pt x="2693" y="340"/>
                    </a:lnTo>
                    <a:lnTo>
                      <a:pt x="2735" y="376"/>
                    </a:lnTo>
                    <a:lnTo>
                      <a:pt x="2778" y="411"/>
                    </a:lnTo>
                    <a:lnTo>
                      <a:pt x="2820" y="447"/>
                    </a:lnTo>
                    <a:lnTo>
                      <a:pt x="2863" y="482"/>
                    </a:lnTo>
                    <a:lnTo>
                      <a:pt x="2905" y="518"/>
                    </a:lnTo>
                    <a:lnTo>
                      <a:pt x="2948" y="553"/>
                    </a:lnTo>
                    <a:lnTo>
                      <a:pt x="2991" y="588"/>
                    </a:lnTo>
                    <a:lnTo>
                      <a:pt x="3033" y="624"/>
                    </a:lnTo>
                    <a:lnTo>
                      <a:pt x="3076" y="659"/>
                    </a:lnTo>
                    <a:lnTo>
                      <a:pt x="3118" y="695"/>
                    </a:lnTo>
                    <a:lnTo>
                      <a:pt x="3161" y="723"/>
                    </a:lnTo>
                    <a:lnTo>
                      <a:pt x="3203" y="759"/>
                    </a:lnTo>
                    <a:lnTo>
                      <a:pt x="3246" y="787"/>
                    </a:lnTo>
                    <a:lnTo>
                      <a:pt x="3288" y="815"/>
                    </a:lnTo>
                    <a:lnTo>
                      <a:pt x="3331" y="844"/>
                    </a:lnTo>
                    <a:lnTo>
                      <a:pt x="3373" y="872"/>
                    </a:lnTo>
                    <a:lnTo>
                      <a:pt x="3409" y="893"/>
                    </a:lnTo>
                    <a:lnTo>
                      <a:pt x="3451" y="922"/>
                    </a:lnTo>
                    <a:lnTo>
                      <a:pt x="3494" y="943"/>
                    </a:lnTo>
                    <a:lnTo>
                      <a:pt x="3536" y="964"/>
                    </a:lnTo>
                    <a:lnTo>
                      <a:pt x="3579" y="985"/>
                    </a:lnTo>
                    <a:lnTo>
                      <a:pt x="3621" y="1000"/>
                    </a:lnTo>
                    <a:lnTo>
                      <a:pt x="3664" y="1014"/>
                    </a:lnTo>
                    <a:lnTo>
                      <a:pt x="3706" y="1028"/>
                    </a:lnTo>
                    <a:lnTo>
                      <a:pt x="3749" y="1042"/>
                    </a:lnTo>
                    <a:lnTo>
                      <a:pt x="3791" y="1056"/>
                    </a:lnTo>
                    <a:lnTo>
                      <a:pt x="3834" y="1063"/>
                    </a:lnTo>
                    <a:lnTo>
                      <a:pt x="3876" y="1070"/>
                    </a:lnTo>
                    <a:lnTo>
                      <a:pt x="3919" y="1077"/>
                    </a:lnTo>
                    <a:lnTo>
                      <a:pt x="3961" y="1085"/>
                    </a:lnTo>
                    <a:lnTo>
                      <a:pt x="4004" y="1085"/>
                    </a:lnTo>
                    <a:lnTo>
                      <a:pt x="4047" y="1092"/>
                    </a:lnTo>
                    <a:lnTo>
                      <a:pt x="4089" y="1092"/>
                    </a:lnTo>
                    <a:lnTo>
                      <a:pt x="4132" y="1092"/>
                    </a:lnTo>
                    <a:lnTo>
                      <a:pt x="4174" y="1092"/>
                    </a:lnTo>
                    <a:lnTo>
                      <a:pt x="4217" y="1085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7" name="Freeform 8"/>
              <p:cNvSpPr>
                <a:spLocks noChangeArrowheads="1"/>
              </p:cNvSpPr>
              <p:nvPr/>
            </p:nvSpPr>
            <p:spPr bwMode="auto">
              <a:xfrm>
                <a:off x="1609" y="1802"/>
                <a:ext cx="2291" cy="1462"/>
              </a:xfrm>
              <a:custGeom>
                <a:avLst/>
                <a:gdLst>
                  <a:gd name="T0" fmla="*/ 19 w 4217"/>
                  <a:gd name="T1" fmla="*/ 1432 h 2467"/>
                  <a:gd name="T2" fmla="*/ 65 w 4217"/>
                  <a:gd name="T3" fmla="*/ 1252 h 2467"/>
                  <a:gd name="T4" fmla="*/ 111 w 4217"/>
                  <a:gd name="T5" fmla="*/ 958 h 2467"/>
                  <a:gd name="T6" fmla="*/ 158 w 4217"/>
                  <a:gd name="T7" fmla="*/ 634 h 2467"/>
                  <a:gd name="T8" fmla="*/ 204 w 4217"/>
                  <a:gd name="T9" fmla="*/ 344 h 2467"/>
                  <a:gd name="T10" fmla="*/ 250 w 4217"/>
                  <a:gd name="T11" fmla="*/ 135 h 2467"/>
                  <a:gd name="T12" fmla="*/ 296 w 4217"/>
                  <a:gd name="T13" fmla="*/ 21 h 2467"/>
                  <a:gd name="T14" fmla="*/ 342 w 4217"/>
                  <a:gd name="T15" fmla="*/ 4 h 2467"/>
                  <a:gd name="T16" fmla="*/ 389 w 4217"/>
                  <a:gd name="T17" fmla="*/ 63 h 2467"/>
                  <a:gd name="T18" fmla="*/ 435 w 4217"/>
                  <a:gd name="T19" fmla="*/ 168 h 2467"/>
                  <a:gd name="T20" fmla="*/ 478 w 4217"/>
                  <a:gd name="T21" fmla="*/ 290 h 2467"/>
                  <a:gd name="T22" fmla="*/ 524 w 4217"/>
                  <a:gd name="T23" fmla="*/ 404 h 2467"/>
                  <a:gd name="T24" fmla="*/ 570 w 4217"/>
                  <a:gd name="T25" fmla="*/ 491 h 2467"/>
                  <a:gd name="T26" fmla="*/ 616 w 4217"/>
                  <a:gd name="T27" fmla="*/ 538 h 2467"/>
                  <a:gd name="T28" fmla="*/ 662 w 4217"/>
                  <a:gd name="T29" fmla="*/ 546 h 2467"/>
                  <a:gd name="T30" fmla="*/ 708 w 4217"/>
                  <a:gd name="T31" fmla="*/ 525 h 2467"/>
                  <a:gd name="T32" fmla="*/ 755 w 4217"/>
                  <a:gd name="T33" fmla="*/ 483 h 2467"/>
                  <a:gd name="T34" fmla="*/ 801 w 4217"/>
                  <a:gd name="T35" fmla="*/ 433 h 2467"/>
                  <a:gd name="T36" fmla="*/ 847 w 4217"/>
                  <a:gd name="T37" fmla="*/ 386 h 2467"/>
                  <a:gd name="T38" fmla="*/ 893 w 4217"/>
                  <a:gd name="T39" fmla="*/ 349 h 2467"/>
                  <a:gd name="T40" fmla="*/ 936 w 4217"/>
                  <a:gd name="T41" fmla="*/ 328 h 2467"/>
                  <a:gd name="T42" fmla="*/ 982 w 4217"/>
                  <a:gd name="T43" fmla="*/ 319 h 2467"/>
                  <a:gd name="T44" fmla="*/ 1028 w 4217"/>
                  <a:gd name="T45" fmla="*/ 324 h 2467"/>
                  <a:gd name="T46" fmla="*/ 1074 w 4217"/>
                  <a:gd name="T47" fmla="*/ 336 h 2467"/>
                  <a:gd name="T48" fmla="*/ 1120 w 4217"/>
                  <a:gd name="T49" fmla="*/ 357 h 2467"/>
                  <a:gd name="T50" fmla="*/ 1166 w 4217"/>
                  <a:gd name="T51" fmla="*/ 374 h 2467"/>
                  <a:gd name="T52" fmla="*/ 1213 w 4217"/>
                  <a:gd name="T53" fmla="*/ 386 h 2467"/>
                  <a:gd name="T54" fmla="*/ 1259 w 4217"/>
                  <a:gd name="T55" fmla="*/ 395 h 2467"/>
                  <a:gd name="T56" fmla="*/ 1305 w 4217"/>
                  <a:gd name="T57" fmla="*/ 395 h 2467"/>
                  <a:gd name="T58" fmla="*/ 1351 w 4217"/>
                  <a:gd name="T59" fmla="*/ 395 h 2467"/>
                  <a:gd name="T60" fmla="*/ 1394 w 4217"/>
                  <a:gd name="T61" fmla="*/ 386 h 2467"/>
                  <a:gd name="T62" fmla="*/ 1440 w 4217"/>
                  <a:gd name="T63" fmla="*/ 378 h 2467"/>
                  <a:gd name="T64" fmla="*/ 1486 w 4217"/>
                  <a:gd name="T65" fmla="*/ 370 h 2467"/>
                  <a:gd name="T66" fmla="*/ 1532 w 4217"/>
                  <a:gd name="T67" fmla="*/ 366 h 2467"/>
                  <a:gd name="T68" fmla="*/ 1578 w 4217"/>
                  <a:gd name="T69" fmla="*/ 361 h 2467"/>
                  <a:gd name="T70" fmla="*/ 1625 w 4217"/>
                  <a:gd name="T71" fmla="*/ 357 h 2467"/>
                  <a:gd name="T72" fmla="*/ 1671 w 4217"/>
                  <a:gd name="T73" fmla="*/ 357 h 2467"/>
                  <a:gd name="T74" fmla="*/ 1717 w 4217"/>
                  <a:gd name="T75" fmla="*/ 357 h 2467"/>
                  <a:gd name="T76" fmla="*/ 1763 w 4217"/>
                  <a:gd name="T77" fmla="*/ 361 h 2467"/>
                  <a:gd name="T78" fmla="*/ 1810 w 4217"/>
                  <a:gd name="T79" fmla="*/ 361 h 2467"/>
                  <a:gd name="T80" fmla="*/ 1852 w 4217"/>
                  <a:gd name="T81" fmla="*/ 366 h 2467"/>
                  <a:gd name="T82" fmla="*/ 1898 w 4217"/>
                  <a:gd name="T83" fmla="*/ 366 h 2467"/>
                  <a:gd name="T84" fmla="*/ 1944 w 4217"/>
                  <a:gd name="T85" fmla="*/ 366 h 2467"/>
                  <a:gd name="T86" fmla="*/ 1991 w 4217"/>
                  <a:gd name="T87" fmla="*/ 366 h 2467"/>
                  <a:gd name="T88" fmla="*/ 2037 w 4217"/>
                  <a:gd name="T89" fmla="*/ 366 h 2467"/>
                  <a:gd name="T90" fmla="*/ 2083 w 4217"/>
                  <a:gd name="T91" fmla="*/ 361 h 2467"/>
                  <a:gd name="T92" fmla="*/ 2129 w 4217"/>
                  <a:gd name="T93" fmla="*/ 361 h 2467"/>
                  <a:gd name="T94" fmla="*/ 2175 w 4217"/>
                  <a:gd name="T95" fmla="*/ 357 h 2467"/>
                  <a:gd name="T96" fmla="*/ 2221 w 4217"/>
                  <a:gd name="T97" fmla="*/ 357 h 2467"/>
                  <a:gd name="T98" fmla="*/ 2268 w 4217"/>
                  <a:gd name="T99" fmla="*/ 357 h 246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217" h="2467">
                    <a:moveTo>
                      <a:pt x="0" y="2467"/>
                    </a:moveTo>
                    <a:lnTo>
                      <a:pt x="35" y="2417"/>
                    </a:lnTo>
                    <a:lnTo>
                      <a:pt x="78" y="2296"/>
                    </a:lnTo>
                    <a:lnTo>
                      <a:pt x="120" y="2112"/>
                    </a:lnTo>
                    <a:lnTo>
                      <a:pt x="163" y="1878"/>
                    </a:lnTo>
                    <a:lnTo>
                      <a:pt x="205" y="1616"/>
                    </a:lnTo>
                    <a:lnTo>
                      <a:pt x="248" y="1340"/>
                    </a:lnTo>
                    <a:lnTo>
                      <a:pt x="290" y="1070"/>
                    </a:lnTo>
                    <a:lnTo>
                      <a:pt x="333" y="815"/>
                    </a:lnTo>
                    <a:lnTo>
                      <a:pt x="375" y="581"/>
                    </a:lnTo>
                    <a:lnTo>
                      <a:pt x="418" y="383"/>
                    </a:lnTo>
                    <a:lnTo>
                      <a:pt x="460" y="227"/>
                    </a:lnTo>
                    <a:lnTo>
                      <a:pt x="503" y="107"/>
                    </a:lnTo>
                    <a:lnTo>
                      <a:pt x="545" y="36"/>
                    </a:lnTo>
                    <a:lnTo>
                      <a:pt x="588" y="0"/>
                    </a:lnTo>
                    <a:lnTo>
                      <a:pt x="630" y="7"/>
                    </a:lnTo>
                    <a:lnTo>
                      <a:pt x="673" y="43"/>
                    </a:lnTo>
                    <a:lnTo>
                      <a:pt x="716" y="107"/>
                    </a:lnTo>
                    <a:lnTo>
                      <a:pt x="758" y="185"/>
                    </a:lnTo>
                    <a:lnTo>
                      <a:pt x="801" y="284"/>
                    </a:lnTo>
                    <a:lnTo>
                      <a:pt x="843" y="390"/>
                    </a:lnTo>
                    <a:lnTo>
                      <a:pt x="879" y="489"/>
                    </a:lnTo>
                    <a:lnTo>
                      <a:pt x="921" y="596"/>
                    </a:lnTo>
                    <a:lnTo>
                      <a:pt x="964" y="681"/>
                    </a:lnTo>
                    <a:lnTo>
                      <a:pt x="1006" y="766"/>
                    </a:lnTo>
                    <a:lnTo>
                      <a:pt x="1049" y="829"/>
                    </a:lnTo>
                    <a:lnTo>
                      <a:pt x="1091" y="872"/>
                    </a:lnTo>
                    <a:lnTo>
                      <a:pt x="1134" y="907"/>
                    </a:lnTo>
                    <a:lnTo>
                      <a:pt x="1176" y="922"/>
                    </a:lnTo>
                    <a:lnTo>
                      <a:pt x="1219" y="922"/>
                    </a:lnTo>
                    <a:lnTo>
                      <a:pt x="1261" y="915"/>
                    </a:lnTo>
                    <a:lnTo>
                      <a:pt x="1304" y="886"/>
                    </a:lnTo>
                    <a:lnTo>
                      <a:pt x="1346" y="858"/>
                    </a:lnTo>
                    <a:lnTo>
                      <a:pt x="1389" y="815"/>
                    </a:lnTo>
                    <a:lnTo>
                      <a:pt x="1431" y="773"/>
                    </a:lnTo>
                    <a:lnTo>
                      <a:pt x="1474" y="730"/>
                    </a:lnTo>
                    <a:lnTo>
                      <a:pt x="1516" y="695"/>
                    </a:lnTo>
                    <a:lnTo>
                      <a:pt x="1559" y="652"/>
                    </a:lnTo>
                    <a:lnTo>
                      <a:pt x="1601" y="617"/>
                    </a:lnTo>
                    <a:lnTo>
                      <a:pt x="1644" y="589"/>
                    </a:lnTo>
                    <a:lnTo>
                      <a:pt x="1686" y="567"/>
                    </a:lnTo>
                    <a:lnTo>
                      <a:pt x="1722" y="553"/>
                    </a:lnTo>
                    <a:lnTo>
                      <a:pt x="1764" y="546"/>
                    </a:lnTo>
                    <a:lnTo>
                      <a:pt x="1807" y="539"/>
                    </a:lnTo>
                    <a:lnTo>
                      <a:pt x="1849" y="539"/>
                    </a:lnTo>
                    <a:lnTo>
                      <a:pt x="1892" y="546"/>
                    </a:lnTo>
                    <a:lnTo>
                      <a:pt x="1935" y="560"/>
                    </a:lnTo>
                    <a:lnTo>
                      <a:pt x="1977" y="567"/>
                    </a:lnTo>
                    <a:lnTo>
                      <a:pt x="2020" y="581"/>
                    </a:lnTo>
                    <a:lnTo>
                      <a:pt x="2062" y="603"/>
                    </a:lnTo>
                    <a:lnTo>
                      <a:pt x="2105" y="617"/>
                    </a:lnTo>
                    <a:lnTo>
                      <a:pt x="2147" y="631"/>
                    </a:lnTo>
                    <a:lnTo>
                      <a:pt x="2190" y="638"/>
                    </a:lnTo>
                    <a:lnTo>
                      <a:pt x="2232" y="652"/>
                    </a:lnTo>
                    <a:lnTo>
                      <a:pt x="2275" y="659"/>
                    </a:lnTo>
                    <a:lnTo>
                      <a:pt x="2317" y="666"/>
                    </a:lnTo>
                    <a:lnTo>
                      <a:pt x="2360" y="666"/>
                    </a:lnTo>
                    <a:lnTo>
                      <a:pt x="2402" y="666"/>
                    </a:lnTo>
                    <a:lnTo>
                      <a:pt x="2445" y="666"/>
                    </a:lnTo>
                    <a:lnTo>
                      <a:pt x="2487" y="666"/>
                    </a:lnTo>
                    <a:lnTo>
                      <a:pt x="2530" y="659"/>
                    </a:lnTo>
                    <a:lnTo>
                      <a:pt x="2565" y="652"/>
                    </a:lnTo>
                    <a:lnTo>
                      <a:pt x="2608" y="645"/>
                    </a:lnTo>
                    <a:lnTo>
                      <a:pt x="2650" y="638"/>
                    </a:lnTo>
                    <a:lnTo>
                      <a:pt x="2693" y="631"/>
                    </a:lnTo>
                    <a:lnTo>
                      <a:pt x="2735" y="624"/>
                    </a:lnTo>
                    <a:lnTo>
                      <a:pt x="2778" y="624"/>
                    </a:lnTo>
                    <a:lnTo>
                      <a:pt x="2820" y="617"/>
                    </a:lnTo>
                    <a:lnTo>
                      <a:pt x="2863" y="610"/>
                    </a:lnTo>
                    <a:lnTo>
                      <a:pt x="2905" y="610"/>
                    </a:lnTo>
                    <a:lnTo>
                      <a:pt x="2948" y="603"/>
                    </a:lnTo>
                    <a:lnTo>
                      <a:pt x="2991" y="603"/>
                    </a:lnTo>
                    <a:lnTo>
                      <a:pt x="3033" y="603"/>
                    </a:lnTo>
                    <a:lnTo>
                      <a:pt x="3076" y="603"/>
                    </a:lnTo>
                    <a:lnTo>
                      <a:pt x="3118" y="603"/>
                    </a:lnTo>
                    <a:lnTo>
                      <a:pt x="3161" y="603"/>
                    </a:lnTo>
                    <a:lnTo>
                      <a:pt x="3203" y="610"/>
                    </a:lnTo>
                    <a:lnTo>
                      <a:pt x="3246" y="610"/>
                    </a:lnTo>
                    <a:lnTo>
                      <a:pt x="3288" y="610"/>
                    </a:lnTo>
                    <a:lnTo>
                      <a:pt x="3331" y="610"/>
                    </a:lnTo>
                    <a:lnTo>
                      <a:pt x="3373" y="617"/>
                    </a:lnTo>
                    <a:lnTo>
                      <a:pt x="3409" y="617"/>
                    </a:lnTo>
                    <a:lnTo>
                      <a:pt x="3451" y="617"/>
                    </a:lnTo>
                    <a:lnTo>
                      <a:pt x="3494" y="617"/>
                    </a:lnTo>
                    <a:lnTo>
                      <a:pt x="3536" y="617"/>
                    </a:lnTo>
                    <a:lnTo>
                      <a:pt x="3579" y="617"/>
                    </a:lnTo>
                    <a:lnTo>
                      <a:pt x="3621" y="617"/>
                    </a:lnTo>
                    <a:lnTo>
                      <a:pt x="3664" y="617"/>
                    </a:lnTo>
                    <a:lnTo>
                      <a:pt x="3706" y="617"/>
                    </a:lnTo>
                    <a:lnTo>
                      <a:pt x="3749" y="617"/>
                    </a:lnTo>
                    <a:lnTo>
                      <a:pt x="3791" y="610"/>
                    </a:lnTo>
                    <a:lnTo>
                      <a:pt x="3834" y="610"/>
                    </a:lnTo>
                    <a:lnTo>
                      <a:pt x="3876" y="610"/>
                    </a:lnTo>
                    <a:lnTo>
                      <a:pt x="3919" y="610"/>
                    </a:lnTo>
                    <a:lnTo>
                      <a:pt x="3961" y="610"/>
                    </a:lnTo>
                    <a:lnTo>
                      <a:pt x="4004" y="603"/>
                    </a:lnTo>
                    <a:lnTo>
                      <a:pt x="4047" y="603"/>
                    </a:lnTo>
                    <a:lnTo>
                      <a:pt x="4089" y="603"/>
                    </a:lnTo>
                    <a:lnTo>
                      <a:pt x="4132" y="603"/>
                    </a:lnTo>
                    <a:lnTo>
                      <a:pt x="4174" y="603"/>
                    </a:lnTo>
                    <a:lnTo>
                      <a:pt x="4217" y="603"/>
                    </a:lnTo>
                  </a:path>
                </a:pathLst>
              </a:custGeom>
              <a:noFill/>
              <a:ln w="22225">
                <a:solidFill>
                  <a:srgbClr val="9900FF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8" name="Line 9"/>
              <p:cNvSpPr>
                <a:spLocks noChangeShapeType="1"/>
              </p:cNvSpPr>
              <p:nvPr/>
            </p:nvSpPr>
            <p:spPr bwMode="auto">
              <a:xfrm>
                <a:off x="1607" y="3264"/>
                <a:ext cx="2569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9" name="Line 10"/>
              <p:cNvSpPr>
                <a:spLocks noChangeShapeType="1"/>
              </p:cNvSpPr>
              <p:nvPr/>
            </p:nvSpPr>
            <p:spPr bwMode="auto">
              <a:xfrm flipV="1">
                <a:off x="1607" y="1188"/>
                <a:ext cx="0" cy="207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0" name="Text Box 11"/>
              <p:cNvSpPr txBox="1">
                <a:spLocks noChangeArrowheads="1"/>
              </p:cNvSpPr>
              <p:nvPr/>
            </p:nvSpPr>
            <p:spPr bwMode="auto">
              <a:xfrm>
                <a:off x="1415" y="32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3501" name="Text Box 12"/>
              <p:cNvSpPr txBox="1">
                <a:spLocks noChangeArrowheads="1"/>
              </p:cNvSpPr>
              <p:nvPr/>
            </p:nvSpPr>
            <p:spPr bwMode="auto">
              <a:xfrm>
                <a:off x="4007" y="3216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63502" name="Text Box 13"/>
              <p:cNvSpPr txBox="1">
                <a:spLocks noChangeArrowheads="1"/>
              </p:cNvSpPr>
              <p:nvPr/>
            </p:nvSpPr>
            <p:spPr bwMode="auto">
              <a:xfrm>
                <a:off x="1175" y="1248"/>
                <a:ext cx="4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o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3503" name="Line 14"/>
              <p:cNvSpPr>
                <a:spLocks noChangeShapeType="1"/>
              </p:cNvSpPr>
              <p:nvPr/>
            </p:nvSpPr>
            <p:spPr bwMode="auto">
              <a:xfrm>
                <a:off x="1608" y="2164"/>
                <a:ext cx="225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4" name="Rectangle 15"/>
              <p:cNvSpPr>
                <a:spLocks noChangeArrowheads="1"/>
              </p:cNvSpPr>
              <p:nvPr/>
            </p:nvSpPr>
            <p:spPr bwMode="auto">
              <a:xfrm>
                <a:off x="1392" y="20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3505" name="Text Box 16"/>
              <p:cNvSpPr txBox="1">
                <a:spLocks noChangeArrowheads="1"/>
              </p:cNvSpPr>
              <p:nvPr/>
            </p:nvSpPr>
            <p:spPr bwMode="auto">
              <a:xfrm>
                <a:off x="2908" y="2496"/>
                <a:ext cx="10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未校正系统</a:t>
                </a:r>
              </a:p>
            </p:txBody>
          </p:sp>
          <p:sp>
            <p:nvSpPr>
              <p:cNvPr id="63506" name="Text Box 17"/>
              <p:cNvSpPr txBox="1">
                <a:spLocks noChangeArrowheads="1"/>
              </p:cNvSpPr>
              <p:nvPr/>
            </p:nvSpPr>
            <p:spPr bwMode="auto">
              <a:xfrm>
                <a:off x="1632" y="1104"/>
                <a:ext cx="12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超前校正系统</a:t>
                </a:r>
              </a:p>
            </p:txBody>
          </p:sp>
          <p:sp>
            <p:nvSpPr>
              <p:cNvPr id="63507" name="Text Box 18"/>
              <p:cNvSpPr txBox="1">
                <a:spLocks noChangeArrowheads="1"/>
              </p:cNvSpPr>
              <p:nvPr/>
            </p:nvSpPr>
            <p:spPr bwMode="auto">
              <a:xfrm>
                <a:off x="2812" y="1278"/>
                <a:ext cx="12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滞后校正系统</a:t>
                </a:r>
              </a:p>
            </p:txBody>
          </p:sp>
          <p:sp>
            <p:nvSpPr>
              <p:cNvPr id="63508" name="Text Box 19"/>
              <p:cNvSpPr txBox="1">
                <a:spLocks noChangeArrowheads="1"/>
              </p:cNvSpPr>
              <p:nvPr/>
            </p:nvSpPr>
            <p:spPr bwMode="auto">
              <a:xfrm>
                <a:off x="2140" y="2784"/>
                <a:ext cx="18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滞后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—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超前校正系统</a:t>
                </a:r>
              </a:p>
            </p:txBody>
          </p:sp>
          <p:sp>
            <p:nvSpPr>
              <p:cNvPr id="63509" name="Line 20"/>
              <p:cNvSpPr>
                <a:spLocks noChangeShapeType="1"/>
              </p:cNvSpPr>
              <p:nvPr/>
            </p:nvSpPr>
            <p:spPr bwMode="auto">
              <a:xfrm flipH="1">
                <a:off x="1776" y="1392"/>
                <a:ext cx="144" cy="60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0" name="Line 21"/>
              <p:cNvSpPr>
                <a:spLocks noChangeShapeType="1"/>
              </p:cNvSpPr>
              <p:nvPr/>
            </p:nvSpPr>
            <p:spPr bwMode="auto">
              <a:xfrm flipH="1">
                <a:off x="2976" y="1536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1" name="Line 22"/>
              <p:cNvSpPr>
                <a:spLocks noChangeShapeType="1"/>
              </p:cNvSpPr>
              <p:nvPr/>
            </p:nvSpPr>
            <p:spPr bwMode="auto">
              <a:xfrm flipH="1" flipV="1">
                <a:off x="2688" y="2352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2" name="Line 23"/>
              <p:cNvSpPr>
                <a:spLocks noChangeShapeType="1"/>
              </p:cNvSpPr>
              <p:nvPr/>
            </p:nvSpPr>
            <p:spPr bwMode="auto">
              <a:xfrm flipH="1" flipV="1">
                <a:off x="2256" y="2352"/>
                <a:ext cx="144" cy="43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3" name="Rectangle 24"/>
              <p:cNvSpPr>
                <a:spLocks noChangeArrowheads="1"/>
              </p:cNvSpPr>
              <p:nvPr/>
            </p:nvSpPr>
            <p:spPr bwMode="auto">
              <a:xfrm>
                <a:off x="1190" y="1056"/>
                <a:ext cx="4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63493" name="Text Box 25"/>
            <p:cNvSpPr txBox="1">
              <a:spLocks noChangeArrowheads="1"/>
            </p:cNvSpPr>
            <p:nvPr/>
          </p:nvSpPr>
          <p:spPr bwMode="auto">
            <a:xfrm>
              <a:off x="1296" y="3456"/>
              <a:ext cx="33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宋体" panose="02010600030101010101" pitchFamily="2" charset="-122"/>
                </a:rPr>
                <a:t>校正后系统的单位阶跃响应曲线对比</a:t>
              </a: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630238" y="547688"/>
            <a:ext cx="7272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从时域响应特性看校正效果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3"/>
          <p:cNvGrpSpPr>
            <a:grpSpLocks/>
          </p:cNvGrpSpPr>
          <p:nvPr/>
        </p:nvGrpSpPr>
        <p:grpSpPr bwMode="auto">
          <a:xfrm>
            <a:off x="2133600" y="1524000"/>
            <a:ext cx="6019800" cy="4419600"/>
            <a:chOff x="1344" y="960"/>
            <a:chExt cx="3792" cy="2784"/>
          </a:xfrm>
        </p:grpSpPr>
        <p:grpSp>
          <p:nvGrpSpPr>
            <p:cNvPr id="65539" name="Group 4"/>
            <p:cNvGrpSpPr>
              <a:grpSpLocks/>
            </p:cNvGrpSpPr>
            <p:nvPr/>
          </p:nvGrpSpPr>
          <p:grpSpPr bwMode="auto">
            <a:xfrm>
              <a:off x="1344" y="960"/>
              <a:ext cx="2976" cy="2448"/>
              <a:chOff x="1392" y="1008"/>
              <a:chExt cx="2976" cy="2448"/>
            </a:xfrm>
          </p:grpSpPr>
          <p:sp>
            <p:nvSpPr>
              <p:cNvPr id="65541" name="Freeform 5"/>
              <p:cNvSpPr>
                <a:spLocks noChangeArrowheads="1"/>
              </p:cNvSpPr>
              <p:nvPr/>
            </p:nvSpPr>
            <p:spPr bwMode="auto">
              <a:xfrm>
                <a:off x="1844" y="1332"/>
                <a:ext cx="2403" cy="1872"/>
              </a:xfrm>
              <a:custGeom>
                <a:avLst/>
                <a:gdLst>
                  <a:gd name="T0" fmla="*/ 20 w 2269"/>
                  <a:gd name="T1" fmla="*/ 1852 h 1792"/>
                  <a:gd name="T2" fmla="*/ 69 w 2269"/>
                  <a:gd name="T3" fmla="*/ 1812 h 1792"/>
                  <a:gd name="T4" fmla="*/ 118 w 2269"/>
                  <a:gd name="T5" fmla="*/ 1776 h 1792"/>
                  <a:gd name="T6" fmla="*/ 166 w 2269"/>
                  <a:gd name="T7" fmla="*/ 1740 h 1792"/>
                  <a:gd name="T8" fmla="*/ 214 w 2269"/>
                  <a:gd name="T9" fmla="*/ 1701 h 1792"/>
                  <a:gd name="T10" fmla="*/ 263 w 2269"/>
                  <a:gd name="T11" fmla="*/ 1665 h 1792"/>
                  <a:gd name="T12" fmla="*/ 311 w 2269"/>
                  <a:gd name="T13" fmla="*/ 1624 h 1792"/>
                  <a:gd name="T14" fmla="*/ 360 w 2269"/>
                  <a:gd name="T15" fmla="*/ 1589 h 1792"/>
                  <a:gd name="T16" fmla="*/ 408 w 2269"/>
                  <a:gd name="T17" fmla="*/ 1553 h 1792"/>
                  <a:gd name="T18" fmla="*/ 456 w 2269"/>
                  <a:gd name="T19" fmla="*/ 1514 h 1792"/>
                  <a:gd name="T20" fmla="*/ 501 w 2269"/>
                  <a:gd name="T21" fmla="*/ 1477 h 1792"/>
                  <a:gd name="T22" fmla="*/ 550 w 2269"/>
                  <a:gd name="T23" fmla="*/ 1437 h 1792"/>
                  <a:gd name="T24" fmla="*/ 598 w 2269"/>
                  <a:gd name="T25" fmla="*/ 1402 h 1792"/>
                  <a:gd name="T26" fmla="*/ 646 w 2269"/>
                  <a:gd name="T27" fmla="*/ 1366 h 1792"/>
                  <a:gd name="T28" fmla="*/ 695 w 2269"/>
                  <a:gd name="T29" fmla="*/ 1327 h 1792"/>
                  <a:gd name="T30" fmla="*/ 743 w 2269"/>
                  <a:gd name="T31" fmla="*/ 1290 h 1792"/>
                  <a:gd name="T32" fmla="*/ 792 w 2269"/>
                  <a:gd name="T33" fmla="*/ 1250 h 1792"/>
                  <a:gd name="T34" fmla="*/ 840 w 2269"/>
                  <a:gd name="T35" fmla="*/ 1215 h 1792"/>
                  <a:gd name="T36" fmla="*/ 889 w 2269"/>
                  <a:gd name="T37" fmla="*/ 1178 h 1792"/>
                  <a:gd name="T38" fmla="*/ 937 w 2269"/>
                  <a:gd name="T39" fmla="*/ 1139 h 1792"/>
                  <a:gd name="T40" fmla="*/ 982 w 2269"/>
                  <a:gd name="T41" fmla="*/ 1103 h 1792"/>
                  <a:gd name="T42" fmla="*/ 1029 w 2269"/>
                  <a:gd name="T43" fmla="*/ 1063 h 1792"/>
                  <a:gd name="T44" fmla="*/ 1078 w 2269"/>
                  <a:gd name="T45" fmla="*/ 1028 h 1792"/>
                  <a:gd name="T46" fmla="*/ 1127 w 2269"/>
                  <a:gd name="T47" fmla="*/ 991 h 1792"/>
                  <a:gd name="T48" fmla="*/ 1176 w 2269"/>
                  <a:gd name="T49" fmla="*/ 952 h 1792"/>
                  <a:gd name="T50" fmla="*/ 1223 w 2269"/>
                  <a:gd name="T51" fmla="*/ 916 h 1792"/>
                  <a:gd name="T52" fmla="*/ 1272 w 2269"/>
                  <a:gd name="T53" fmla="*/ 876 h 1792"/>
                  <a:gd name="T54" fmla="*/ 1321 w 2269"/>
                  <a:gd name="T55" fmla="*/ 840 h 1792"/>
                  <a:gd name="T56" fmla="*/ 1369 w 2269"/>
                  <a:gd name="T57" fmla="*/ 804 h 1792"/>
                  <a:gd name="T58" fmla="*/ 1417 w 2269"/>
                  <a:gd name="T59" fmla="*/ 765 h 1792"/>
                  <a:gd name="T60" fmla="*/ 1461 w 2269"/>
                  <a:gd name="T61" fmla="*/ 729 h 1792"/>
                  <a:gd name="T62" fmla="*/ 1510 w 2269"/>
                  <a:gd name="T63" fmla="*/ 689 h 1792"/>
                  <a:gd name="T64" fmla="*/ 1559 w 2269"/>
                  <a:gd name="T65" fmla="*/ 653 h 1792"/>
                  <a:gd name="T66" fmla="*/ 1608 w 2269"/>
                  <a:gd name="T67" fmla="*/ 617 h 1792"/>
                  <a:gd name="T68" fmla="*/ 1655 w 2269"/>
                  <a:gd name="T69" fmla="*/ 578 h 1792"/>
                  <a:gd name="T70" fmla="*/ 1704 w 2269"/>
                  <a:gd name="T71" fmla="*/ 541 h 1792"/>
                  <a:gd name="T72" fmla="*/ 1753 w 2269"/>
                  <a:gd name="T73" fmla="*/ 501 h 1792"/>
                  <a:gd name="T74" fmla="*/ 1801 w 2269"/>
                  <a:gd name="T75" fmla="*/ 466 h 1792"/>
                  <a:gd name="T76" fmla="*/ 1849 w 2269"/>
                  <a:gd name="T77" fmla="*/ 430 h 1792"/>
                  <a:gd name="T78" fmla="*/ 1898 w 2269"/>
                  <a:gd name="T79" fmla="*/ 391 h 1792"/>
                  <a:gd name="T80" fmla="*/ 1942 w 2269"/>
                  <a:gd name="T81" fmla="*/ 354 h 1792"/>
                  <a:gd name="T82" fmla="*/ 1991 w 2269"/>
                  <a:gd name="T83" fmla="*/ 314 h 1792"/>
                  <a:gd name="T84" fmla="*/ 2040 w 2269"/>
                  <a:gd name="T85" fmla="*/ 279 h 1792"/>
                  <a:gd name="T86" fmla="*/ 2087 w 2269"/>
                  <a:gd name="T87" fmla="*/ 243 h 1792"/>
                  <a:gd name="T88" fmla="*/ 2136 w 2269"/>
                  <a:gd name="T89" fmla="*/ 203 h 1792"/>
                  <a:gd name="T90" fmla="*/ 2185 w 2269"/>
                  <a:gd name="T91" fmla="*/ 167 h 1792"/>
                  <a:gd name="T92" fmla="*/ 2234 w 2269"/>
                  <a:gd name="T93" fmla="*/ 127 h 1792"/>
                  <a:gd name="T94" fmla="*/ 2281 w 2269"/>
                  <a:gd name="T95" fmla="*/ 92 h 1792"/>
                  <a:gd name="T96" fmla="*/ 2330 w 2269"/>
                  <a:gd name="T97" fmla="*/ 55 h 1792"/>
                  <a:gd name="T98" fmla="*/ 2379 w 2269"/>
                  <a:gd name="T99" fmla="*/ 16 h 179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269" h="1792">
                    <a:moveTo>
                      <a:pt x="0" y="1792"/>
                    </a:moveTo>
                    <a:lnTo>
                      <a:pt x="19" y="1773"/>
                    </a:lnTo>
                    <a:lnTo>
                      <a:pt x="42" y="1754"/>
                    </a:lnTo>
                    <a:lnTo>
                      <a:pt x="65" y="1735"/>
                    </a:lnTo>
                    <a:lnTo>
                      <a:pt x="88" y="1719"/>
                    </a:lnTo>
                    <a:lnTo>
                      <a:pt x="111" y="1700"/>
                    </a:lnTo>
                    <a:lnTo>
                      <a:pt x="134" y="1681"/>
                    </a:lnTo>
                    <a:lnTo>
                      <a:pt x="157" y="1666"/>
                    </a:lnTo>
                    <a:lnTo>
                      <a:pt x="179" y="1647"/>
                    </a:lnTo>
                    <a:lnTo>
                      <a:pt x="202" y="1628"/>
                    </a:lnTo>
                    <a:lnTo>
                      <a:pt x="225" y="1613"/>
                    </a:lnTo>
                    <a:lnTo>
                      <a:pt x="248" y="1594"/>
                    </a:lnTo>
                    <a:lnTo>
                      <a:pt x="271" y="1575"/>
                    </a:lnTo>
                    <a:lnTo>
                      <a:pt x="294" y="1555"/>
                    </a:lnTo>
                    <a:lnTo>
                      <a:pt x="317" y="1540"/>
                    </a:lnTo>
                    <a:lnTo>
                      <a:pt x="340" y="1521"/>
                    </a:lnTo>
                    <a:lnTo>
                      <a:pt x="362" y="1502"/>
                    </a:lnTo>
                    <a:lnTo>
                      <a:pt x="385" y="1487"/>
                    </a:lnTo>
                    <a:lnTo>
                      <a:pt x="408" y="1468"/>
                    </a:lnTo>
                    <a:lnTo>
                      <a:pt x="431" y="1449"/>
                    </a:lnTo>
                    <a:lnTo>
                      <a:pt x="454" y="1433"/>
                    </a:lnTo>
                    <a:lnTo>
                      <a:pt x="473" y="1414"/>
                    </a:lnTo>
                    <a:lnTo>
                      <a:pt x="496" y="1395"/>
                    </a:lnTo>
                    <a:lnTo>
                      <a:pt x="519" y="1376"/>
                    </a:lnTo>
                    <a:lnTo>
                      <a:pt x="542" y="1361"/>
                    </a:lnTo>
                    <a:lnTo>
                      <a:pt x="565" y="1342"/>
                    </a:lnTo>
                    <a:lnTo>
                      <a:pt x="587" y="1323"/>
                    </a:lnTo>
                    <a:lnTo>
                      <a:pt x="610" y="1308"/>
                    </a:lnTo>
                    <a:lnTo>
                      <a:pt x="633" y="1289"/>
                    </a:lnTo>
                    <a:lnTo>
                      <a:pt x="656" y="1270"/>
                    </a:lnTo>
                    <a:lnTo>
                      <a:pt x="679" y="1254"/>
                    </a:lnTo>
                    <a:lnTo>
                      <a:pt x="702" y="1235"/>
                    </a:lnTo>
                    <a:lnTo>
                      <a:pt x="725" y="1216"/>
                    </a:lnTo>
                    <a:lnTo>
                      <a:pt x="748" y="1197"/>
                    </a:lnTo>
                    <a:lnTo>
                      <a:pt x="770" y="1182"/>
                    </a:lnTo>
                    <a:lnTo>
                      <a:pt x="793" y="1163"/>
                    </a:lnTo>
                    <a:lnTo>
                      <a:pt x="816" y="1144"/>
                    </a:lnTo>
                    <a:lnTo>
                      <a:pt x="839" y="1128"/>
                    </a:lnTo>
                    <a:lnTo>
                      <a:pt x="862" y="1109"/>
                    </a:lnTo>
                    <a:lnTo>
                      <a:pt x="885" y="1090"/>
                    </a:lnTo>
                    <a:lnTo>
                      <a:pt x="908" y="1075"/>
                    </a:lnTo>
                    <a:lnTo>
                      <a:pt x="927" y="1056"/>
                    </a:lnTo>
                    <a:lnTo>
                      <a:pt x="950" y="1037"/>
                    </a:lnTo>
                    <a:lnTo>
                      <a:pt x="972" y="1018"/>
                    </a:lnTo>
                    <a:lnTo>
                      <a:pt x="995" y="1003"/>
                    </a:lnTo>
                    <a:lnTo>
                      <a:pt x="1018" y="984"/>
                    </a:lnTo>
                    <a:lnTo>
                      <a:pt x="1041" y="965"/>
                    </a:lnTo>
                    <a:lnTo>
                      <a:pt x="1064" y="949"/>
                    </a:lnTo>
                    <a:lnTo>
                      <a:pt x="1087" y="930"/>
                    </a:lnTo>
                    <a:lnTo>
                      <a:pt x="1110" y="911"/>
                    </a:lnTo>
                    <a:lnTo>
                      <a:pt x="1133" y="896"/>
                    </a:lnTo>
                    <a:lnTo>
                      <a:pt x="1155" y="877"/>
                    </a:lnTo>
                    <a:lnTo>
                      <a:pt x="1178" y="858"/>
                    </a:lnTo>
                    <a:lnTo>
                      <a:pt x="1201" y="839"/>
                    </a:lnTo>
                    <a:lnTo>
                      <a:pt x="1224" y="823"/>
                    </a:lnTo>
                    <a:lnTo>
                      <a:pt x="1247" y="804"/>
                    </a:lnTo>
                    <a:lnTo>
                      <a:pt x="1270" y="785"/>
                    </a:lnTo>
                    <a:lnTo>
                      <a:pt x="1293" y="770"/>
                    </a:lnTo>
                    <a:lnTo>
                      <a:pt x="1316" y="751"/>
                    </a:lnTo>
                    <a:lnTo>
                      <a:pt x="1338" y="732"/>
                    </a:lnTo>
                    <a:lnTo>
                      <a:pt x="1361" y="717"/>
                    </a:lnTo>
                    <a:lnTo>
                      <a:pt x="1380" y="698"/>
                    </a:lnTo>
                    <a:lnTo>
                      <a:pt x="1403" y="679"/>
                    </a:lnTo>
                    <a:lnTo>
                      <a:pt x="1426" y="660"/>
                    </a:lnTo>
                    <a:lnTo>
                      <a:pt x="1449" y="644"/>
                    </a:lnTo>
                    <a:lnTo>
                      <a:pt x="1472" y="625"/>
                    </a:lnTo>
                    <a:lnTo>
                      <a:pt x="1495" y="606"/>
                    </a:lnTo>
                    <a:lnTo>
                      <a:pt x="1518" y="591"/>
                    </a:lnTo>
                    <a:lnTo>
                      <a:pt x="1541" y="572"/>
                    </a:lnTo>
                    <a:lnTo>
                      <a:pt x="1563" y="553"/>
                    </a:lnTo>
                    <a:lnTo>
                      <a:pt x="1586" y="538"/>
                    </a:lnTo>
                    <a:lnTo>
                      <a:pt x="1609" y="518"/>
                    </a:lnTo>
                    <a:lnTo>
                      <a:pt x="1632" y="499"/>
                    </a:lnTo>
                    <a:lnTo>
                      <a:pt x="1655" y="480"/>
                    </a:lnTo>
                    <a:lnTo>
                      <a:pt x="1678" y="465"/>
                    </a:lnTo>
                    <a:lnTo>
                      <a:pt x="1701" y="446"/>
                    </a:lnTo>
                    <a:lnTo>
                      <a:pt x="1724" y="427"/>
                    </a:lnTo>
                    <a:lnTo>
                      <a:pt x="1746" y="412"/>
                    </a:lnTo>
                    <a:lnTo>
                      <a:pt x="1769" y="393"/>
                    </a:lnTo>
                    <a:lnTo>
                      <a:pt x="1792" y="374"/>
                    </a:lnTo>
                    <a:lnTo>
                      <a:pt x="1815" y="358"/>
                    </a:lnTo>
                    <a:lnTo>
                      <a:pt x="1834" y="339"/>
                    </a:lnTo>
                    <a:lnTo>
                      <a:pt x="1857" y="320"/>
                    </a:lnTo>
                    <a:lnTo>
                      <a:pt x="1880" y="301"/>
                    </a:lnTo>
                    <a:lnTo>
                      <a:pt x="1903" y="286"/>
                    </a:lnTo>
                    <a:lnTo>
                      <a:pt x="1926" y="267"/>
                    </a:lnTo>
                    <a:lnTo>
                      <a:pt x="1948" y="248"/>
                    </a:lnTo>
                    <a:lnTo>
                      <a:pt x="1971" y="233"/>
                    </a:lnTo>
                    <a:lnTo>
                      <a:pt x="1994" y="213"/>
                    </a:lnTo>
                    <a:lnTo>
                      <a:pt x="2017" y="194"/>
                    </a:lnTo>
                    <a:lnTo>
                      <a:pt x="2040" y="179"/>
                    </a:lnTo>
                    <a:lnTo>
                      <a:pt x="2063" y="160"/>
                    </a:lnTo>
                    <a:lnTo>
                      <a:pt x="2086" y="141"/>
                    </a:lnTo>
                    <a:lnTo>
                      <a:pt x="2109" y="122"/>
                    </a:lnTo>
                    <a:lnTo>
                      <a:pt x="2131" y="107"/>
                    </a:lnTo>
                    <a:lnTo>
                      <a:pt x="2154" y="88"/>
                    </a:lnTo>
                    <a:lnTo>
                      <a:pt x="2177" y="69"/>
                    </a:lnTo>
                    <a:lnTo>
                      <a:pt x="2200" y="53"/>
                    </a:lnTo>
                    <a:lnTo>
                      <a:pt x="2223" y="34"/>
                    </a:lnTo>
                    <a:lnTo>
                      <a:pt x="2246" y="15"/>
                    </a:lnTo>
                    <a:lnTo>
                      <a:pt x="226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2" name="Line 6"/>
              <p:cNvSpPr>
                <a:spLocks noChangeShapeType="1"/>
              </p:cNvSpPr>
              <p:nvPr/>
            </p:nvSpPr>
            <p:spPr bwMode="auto">
              <a:xfrm flipV="1">
                <a:off x="1847" y="1140"/>
                <a:ext cx="0" cy="206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3" name="Line 7"/>
              <p:cNvSpPr>
                <a:spLocks noChangeShapeType="1"/>
              </p:cNvSpPr>
              <p:nvPr/>
            </p:nvSpPr>
            <p:spPr bwMode="auto">
              <a:xfrm>
                <a:off x="1847" y="3204"/>
                <a:ext cx="249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4" name="Freeform 8"/>
              <p:cNvSpPr>
                <a:spLocks noChangeArrowheads="1"/>
              </p:cNvSpPr>
              <p:nvPr/>
            </p:nvSpPr>
            <p:spPr bwMode="auto">
              <a:xfrm>
                <a:off x="1991" y="1476"/>
                <a:ext cx="2256" cy="1736"/>
              </a:xfrm>
              <a:custGeom>
                <a:avLst/>
                <a:gdLst>
                  <a:gd name="T0" fmla="*/ 0 w 2256"/>
                  <a:gd name="T1" fmla="*/ 1728 h 1736"/>
                  <a:gd name="T2" fmla="*/ 336 w 2256"/>
                  <a:gd name="T3" fmla="*/ 1680 h 1736"/>
                  <a:gd name="T4" fmla="*/ 624 w 2256"/>
                  <a:gd name="T5" fmla="*/ 1392 h 1736"/>
                  <a:gd name="T6" fmla="*/ 864 w 2256"/>
                  <a:gd name="T7" fmla="*/ 1056 h 1736"/>
                  <a:gd name="T8" fmla="*/ 1344 w 2256"/>
                  <a:gd name="T9" fmla="*/ 768 h 1736"/>
                  <a:gd name="T10" fmla="*/ 1584 w 2256"/>
                  <a:gd name="T11" fmla="*/ 528 h 1736"/>
                  <a:gd name="T12" fmla="*/ 2256 w 2256"/>
                  <a:gd name="T13" fmla="*/ 0 h 17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6" h="1736">
                    <a:moveTo>
                      <a:pt x="0" y="1728"/>
                    </a:moveTo>
                    <a:cubicBezTo>
                      <a:pt x="116" y="1732"/>
                      <a:pt x="232" y="1736"/>
                      <a:pt x="336" y="1680"/>
                    </a:cubicBezTo>
                    <a:cubicBezTo>
                      <a:pt x="440" y="1624"/>
                      <a:pt x="536" y="1496"/>
                      <a:pt x="624" y="1392"/>
                    </a:cubicBezTo>
                    <a:cubicBezTo>
                      <a:pt x="712" y="1288"/>
                      <a:pt x="744" y="1160"/>
                      <a:pt x="864" y="1056"/>
                    </a:cubicBezTo>
                    <a:cubicBezTo>
                      <a:pt x="984" y="952"/>
                      <a:pt x="1224" y="856"/>
                      <a:pt x="1344" y="768"/>
                    </a:cubicBezTo>
                    <a:cubicBezTo>
                      <a:pt x="1464" y="680"/>
                      <a:pt x="1432" y="656"/>
                      <a:pt x="1584" y="528"/>
                    </a:cubicBezTo>
                    <a:cubicBezTo>
                      <a:pt x="1736" y="400"/>
                      <a:pt x="1996" y="200"/>
                      <a:pt x="2256" y="0"/>
                    </a:cubicBezTo>
                  </a:path>
                </a:pathLst>
              </a:custGeom>
              <a:noFill/>
              <a:ln w="222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5" name="Freeform 9"/>
              <p:cNvSpPr>
                <a:spLocks noChangeArrowheads="1"/>
              </p:cNvSpPr>
              <p:nvPr/>
            </p:nvSpPr>
            <p:spPr bwMode="auto">
              <a:xfrm>
                <a:off x="1991" y="1668"/>
                <a:ext cx="2256" cy="1536"/>
              </a:xfrm>
              <a:custGeom>
                <a:avLst/>
                <a:gdLst>
                  <a:gd name="T0" fmla="*/ 0 w 2256"/>
                  <a:gd name="T1" fmla="*/ 1536 h 1536"/>
                  <a:gd name="T2" fmla="*/ 384 w 2256"/>
                  <a:gd name="T3" fmla="*/ 1392 h 1536"/>
                  <a:gd name="T4" fmla="*/ 576 w 2256"/>
                  <a:gd name="T5" fmla="*/ 1104 h 1536"/>
                  <a:gd name="T6" fmla="*/ 864 w 2256"/>
                  <a:gd name="T7" fmla="*/ 1008 h 1536"/>
                  <a:gd name="T8" fmla="*/ 1056 w 2256"/>
                  <a:gd name="T9" fmla="*/ 816 h 1536"/>
                  <a:gd name="T10" fmla="*/ 1200 w 2256"/>
                  <a:gd name="T11" fmla="*/ 768 h 1536"/>
                  <a:gd name="T12" fmla="*/ 1296 w 2256"/>
                  <a:gd name="T13" fmla="*/ 672 h 1536"/>
                  <a:gd name="T14" fmla="*/ 1344 w 2256"/>
                  <a:gd name="T15" fmla="*/ 624 h 1536"/>
                  <a:gd name="T16" fmla="*/ 1488 w 2256"/>
                  <a:gd name="T17" fmla="*/ 528 h 1536"/>
                  <a:gd name="T18" fmla="*/ 2256 w 2256"/>
                  <a:gd name="T19" fmla="*/ 0 h 1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256" h="1536">
                    <a:moveTo>
                      <a:pt x="0" y="1536"/>
                    </a:moveTo>
                    <a:cubicBezTo>
                      <a:pt x="144" y="1500"/>
                      <a:pt x="288" y="1464"/>
                      <a:pt x="384" y="1392"/>
                    </a:cubicBezTo>
                    <a:cubicBezTo>
                      <a:pt x="480" y="1320"/>
                      <a:pt x="496" y="1168"/>
                      <a:pt x="576" y="1104"/>
                    </a:cubicBezTo>
                    <a:cubicBezTo>
                      <a:pt x="656" y="1040"/>
                      <a:pt x="784" y="1056"/>
                      <a:pt x="864" y="1008"/>
                    </a:cubicBezTo>
                    <a:cubicBezTo>
                      <a:pt x="944" y="960"/>
                      <a:pt x="1000" y="856"/>
                      <a:pt x="1056" y="816"/>
                    </a:cubicBezTo>
                    <a:cubicBezTo>
                      <a:pt x="1112" y="776"/>
                      <a:pt x="1160" y="792"/>
                      <a:pt x="1200" y="768"/>
                    </a:cubicBezTo>
                    <a:cubicBezTo>
                      <a:pt x="1240" y="744"/>
                      <a:pt x="1272" y="696"/>
                      <a:pt x="1296" y="672"/>
                    </a:cubicBezTo>
                    <a:cubicBezTo>
                      <a:pt x="1320" y="648"/>
                      <a:pt x="1312" y="648"/>
                      <a:pt x="1344" y="624"/>
                    </a:cubicBezTo>
                    <a:cubicBezTo>
                      <a:pt x="1376" y="600"/>
                      <a:pt x="1336" y="632"/>
                      <a:pt x="1488" y="528"/>
                    </a:cubicBezTo>
                    <a:cubicBezTo>
                      <a:pt x="1640" y="424"/>
                      <a:pt x="1948" y="212"/>
                      <a:pt x="2256" y="0"/>
                    </a:cubicBez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6" name="Freeform 10"/>
              <p:cNvSpPr>
                <a:spLocks noChangeArrowheads="1"/>
              </p:cNvSpPr>
              <p:nvPr/>
            </p:nvSpPr>
            <p:spPr bwMode="auto">
              <a:xfrm>
                <a:off x="1991" y="1668"/>
                <a:ext cx="2256" cy="1536"/>
              </a:xfrm>
              <a:custGeom>
                <a:avLst/>
                <a:gdLst>
                  <a:gd name="T0" fmla="*/ 0 w 2256"/>
                  <a:gd name="T1" fmla="*/ 1536 h 1536"/>
                  <a:gd name="T2" fmla="*/ 144 w 2256"/>
                  <a:gd name="T3" fmla="*/ 1488 h 1536"/>
                  <a:gd name="T4" fmla="*/ 192 w 2256"/>
                  <a:gd name="T5" fmla="*/ 1440 h 1536"/>
                  <a:gd name="T6" fmla="*/ 288 w 2256"/>
                  <a:gd name="T7" fmla="*/ 1392 h 1536"/>
                  <a:gd name="T8" fmla="*/ 336 w 2256"/>
                  <a:gd name="T9" fmla="*/ 1344 h 1536"/>
                  <a:gd name="T10" fmla="*/ 480 w 2256"/>
                  <a:gd name="T11" fmla="*/ 1248 h 1536"/>
                  <a:gd name="T12" fmla="*/ 624 w 2256"/>
                  <a:gd name="T13" fmla="*/ 1152 h 1536"/>
                  <a:gd name="T14" fmla="*/ 960 w 2256"/>
                  <a:gd name="T15" fmla="*/ 912 h 1536"/>
                  <a:gd name="T16" fmla="*/ 1344 w 2256"/>
                  <a:gd name="T17" fmla="*/ 624 h 1536"/>
                  <a:gd name="T18" fmla="*/ 2256 w 2256"/>
                  <a:gd name="T19" fmla="*/ 0 h 1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256" h="1536">
                    <a:moveTo>
                      <a:pt x="0" y="1536"/>
                    </a:moveTo>
                    <a:cubicBezTo>
                      <a:pt x="56" y="1520"/>
                      <a:pt x="112" y="1504"/>
                      <a:pt x="144" y="1488"/>
                    </a:cubicBezTo>
                    <a:cubicBezTo>
                      <a:pt x="176" y="1472"/>
                      <a:pt x="168" y="1456"/>
                      <a:pt x="192" y="1440"/>
                    </a:cubicBezTo>
                    <a:cubicBezTo>
                      <a:pt x="216" y="1424"/>
                      <a:pt x="264" y="1408"/>
                      <a:pt x="288" y="1392"/>
                    </a:cubicBezTo>
                    <a:cubicBezTo>
                      <a:pt x="312" y="1376"/>
                      <a:pt x="304" y="1368"/>
                      <a:pt x="336" y="1344"/>
                    </a:cubicBezTo>
                    <a:cubicBezTo>
                      <a:pt x="368" y="1320"/>
                      <a:pt x="432" y="1280"/>
                      <a:pt x="480" y="1248"/>
                    </a:cubicBezTo>
                    <a:cubicBezTo>
                      <a:pt x="528" y="1216"/>
                      <a:pt x="544" y="1208"/>
                      <a:pt x="624" y="1152"/>
                    </a:cubicBezTo>
                    <a:cubicBezTo>
                      <a:pt x="704" y="1096"/>
                      <a:pt x="840" y="1000"/>
                      <a:pt x="960" y="912"/>
                    </a:cubicBezTo>
                    <a:cubicBezTo>
                      <a:pt x="1080" y="824"/>
                      <a:pt x="1128" y="776"/>
                      <a:pt x="1344" y="624"/>
                    </a:cubicBezTo>
                    <a:cubicBezTo>
                      <a:pt x="1560" y="472"/>
                      <a:pt x="1908" y="236"/>
                      <a:pt x="2256" y="0"/>
                    </a:cubicBezTo>
                  </a:path>
                </a:pathLst>
              </a:custGeom>
              <a:noFill/>
              <a:ln w="222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7" name="Freeform 11"/>
              <p:cNvSpPr>
                <a:spLocks noChangeArrowheads="1"/>
              </p:cNvSpPr>
              <p:nvPr/>
            </p:nvSpPr>
            <p:spPr bwMode="auto">
              <a:xfrm>
                <a:off x="1991" y="1476"/>
                <a:ext cx="2256" cy="1728"/>
              </a:xfrm>
              <a:custGeom>
                <a:avLst/>
                <a:gdLst>
                  <a:gd name="T0" fmla="*/ 0 w 2256"/>
                  <a:gd name="T1" fmla="*/ 1728 h 1728"/>
                  <a:gd name="T2" fmla="*/ 240 w 2256"/>
                  <a:gd name="T3" fmla="*/ 1680 h 1728"/>
                  <a:gd name="T4" fmla="*/ 336 w 2256"/>
                  <a:gd name="T5" fmla="*/ 1584 h 1728"/>
                  <a:gd name="T6" fmla="*/ 432 w 2256"/>
                  <a:gd name="T7" fmla="*/ 1536 h 1728"/>
                  <a:gd name="T8" fmla="*/ 528 w 2256"/>
                  <a:gd name="T9" fmla="*/ 1488 h 1728"/>
                  <a:gd name="T10" fmla="*/ 672 w 2256"/>
                  <a:gd name="T11" fmla="*/ 1296 h 1728"/>
                  <a:gd name="T12" fmla="*/ 768 w 2256"/>
                  <a:gd name="T13" fmla="*/ 1200 h 1728"/>
                  <a:gd name="T14" fmla="*/ 864 w 2256"/>
                  <a:gd name="T15" fmla="*/ 1104 h 1728"/>
                  <a:gd name="T16" fmla="*/ 1200 w 2256"/>
                  <a:gd name="T17" fmla="*/ 816 h 1728"/>
                  <a:gd name="T18" fmla="*/ 1536 w 2256"/>
                  <a:gd name="T19" fmla="*/ 576 h 1728"/>
                  <a:gd name="T20" fmla="*/ 1776 w 2256"/>
                  <a:gd name="T21" fmla="*/ 384 h 1728"/>
                  <a:gd name="T22" fmla="*/ 2256 w 2256"/>
                  <a:gd name="T23" fmla="*/ 0 h 17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56" h="1728">
                    <a:moveTo>
                      <a:pt x="0" y="1728"/>
                    </a:moveTo>
                    <a:cubicBezTo>
                      <a:pt x="92" y="1716"/>
                      <a:pt x="184" y="1704"/>
                      <a:pt x="240" y="1680"/>
                    </a:cubicBezTo>
                    <a:cubicBezTo>
                      <a:pt x="296" y="1656"/>
                      <a:pt x="304" y="1608"/>
                      <a:pt x="336" y="1584"/>
                    </a:cubicBezTo>
                    <a:cubicBezTo>
                      <a:pt x="368" y="1560"/>
                      <a:pt x="400" y="1552"/>
                      <a:pt x="432" y="1536"/>
                    </a:cubicBezTo>
                    <a:cubicBezTo>
                      <a:pt x="464" y="1520"/>
                      <a:pt x="488" y="1528"/>
                      <a:pt x="528" y="1488"/>
                    </a:cubicBezTo>
                    <a:cubicBezTo>
                      <a:pt x="568" y="1448"/>
                      <a:pt x="632" y="1344"/>
                      <a:pt x="672" y="1296"/>
                    </a:cubicBezTo>
                    <a:cubicBezTo>
                      <a:pt x="712" y="1248"/>
                      <a:pt x="736" y="1232"/>
                      <a:pt x="768" y="1200"/>
                    </a:cubicBezTo>
                    <a:cubicBezTo>
                      <a:pt x="800" y="1168"/>
                      <a:pt x="792" y="1168"/>
                      <a:pt x="864" y="1104"/>
                    </a:cubicBezTo>
                    <a:cubicBezTo>
                      <a:pt x="936" y="1040"/>
                      <a:pt x="1088" y="904"/>
                      <a:pt x="1200" y="816"/>
                    </a:cubicBezTo>
                    <a:cubicBezTo>
                      <a:pt x="1312" y="728"/>
                      <a:pt x="1440" y="648"/>
                      <a:pt x="1536" y="576"/>
                    </a:cubicBezTo>
                    <a:cubicBezTo>
                      <a:pt x="1632" y="504"/>
                      <a:pt x="1656" y="480"/>
                      <a:pt x="1776" y="384"/>
                    </a:cubicBezTo>
                    <a:cubicBezTo>
                      <a:pt x="1896" y="288"/>
                      <a:pt x="2076" y="144"/>
                      <a:pt x="2256" y="0"/>
                    </a:cubicBezTo>
                  </a:path>
                </a:pathLst>
              </a:custGeom>
              <a:noFill/>
              <a:ln w="22225">
                <a:solidFill>
                  <a:srgbClr val="9900FF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8" name="Text Box 12"/>
              <p:cNvSpPr txBox="1">
                <a:spLocks noChangeArrowheads="1"/>
              </p:cNvSpPr>
              <p:nvPr/>
            </p:nvSpPr>
            <p:spPr bwMode="auto">
              <a:xfrm>
                <a:off x="1683" y="316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5549" name="Text Box 13"/>
              <p:cNvSpPr txBox="1">
                <a:spLocks noChangeArrowheads="1"/>
              </p:cNvSpPr>
              <p:nvPr/>
            </p:nvSpPr>
            <p:spPr bwMode="auto">
              <a:xfrm>
                <a:off x="4199" y="3168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65550" name="Text Box 14"/>
              <p:cNvSpPr txBox="1">
                <a:spLocks noChangeArrowheads="1"/>
              </p:cNvSpPr>
              <p:nvPr/>
            </p:nvSpPr>
            <p:spPr bwMode="auto">
              <a:xfrm>
                <a:off x="1392" y="1200"/>
                <a:ext cx="4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o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5551" name="Text Box 15"/>
              <p:cNvSpPr txBox="1">
                <a:spLocks noChangeArrowheads="1"/>
              </p:cNvSpPr>
              <p:nvPr/>
            </p:nvSpPr>
            <p:spPr bwMode="auto">
              <a:xfrm>
                <a:off x="2784" y="2718"/>
                <a:ext cx="10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未校正系统</a:t>
                </a:r>
              </a:p>
            </p:txBody>
          </p:sp>
          <p:sp>
            <p:nvSpPr>
              <p:cNvPr id="65552" name="Text Box 16"/>
              <p:cNvSpPr txBox="1">
                <a:spLocks noChangeArrowheads="1"/>
              </p:cNvSpPr>
              <p:nvPr/>
            </p:nvSpPr>
            <p:spPr bwMode="auto">
              <a:xfrm>
                <a:off x="1852" y="1968"/>
                <a:ext cx="12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超前校正系统</a:t>
                </a:r>
              </a:p>
            </p:txBody>
          </p:sp>
          <p:sp>
            <p:nvSpPr>
              <p:cNvPr id="65553" name="Text Box 17"/>
              <p:cNvSpPr txBox="1">
                <a:spLocks noChangeArrowheads="1"/>
              </p:cNvSpPr>
              <p:nvPr/>
            </p:nvSpPr>
            <p:spPr bwMode="auto">
              <a:xfrm>
                <a:off x="2648" y="2934"/>
                <a:ext cx="12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滞后校正系统</a:t>
                </a:r>
              </a:p>
            </p:txBody>
          </p:sp>
          <p:sp>
            <p:nvSpPr>
              <p:cNvPr id="65554" name="Text Box 18"/>
              <p:cNvSpPr txBox="1">
                <a:spLocks noChangeArrowheads="1"/>
              </p:cNvSpPr>
              <p:nvPr/>
            </p:nvSpPr>
            <p:spPr bwMode="auto">
              <a:xfrm>
                <a:off x="2140" y="1440"/>
                <a:ext cx="107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滞后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—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超前</a:t>
                </a:r>
              </a:p>
              <a:p>
                <a:pPr algn="ctr"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校正系统</a:t>
                </a:r>
              </a:p>
            </p:txBody>
          </p:sp>
          <p:sp>
            <p:nvSpPr>
              <p:cNvPr id="65555" name="Line 19"/>
              <p:cNvSpPr>
                <a:spLocks noChangeShapeType="1"/>
              </p:cNvSpPr>
              <p:nvPr/>
            </p:nvSpPr>
            <p:spPr bwMode="auto">
              <a:xfrm flipH="1" flipV="1">
                <a:off x="2552" y="2776"/>
                <a:ext cx="280" cy="10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6" name="Line 20"/>
              <p:cNvSpPr>
                <a:spLocks noChangeShapeType="1"/>
              </p:cNvSpPr>
              <p:nvPr/>
            </p:nvSpPr>
            <p:spPr bwMode="auto">
              <a:xfrm>
                <a:off x="2160" y="2256"/>
                <a:ext cx="184" cy="7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7" name="Line 21"/>
              <p:cNvSpPr>
                <a:spLocks noChangeShapeType="1"/>
              </p:cNvSpPr>
              <p:nvPr/>
            </p:nvSpPr>
            <p:spPr bwMode="auto">
              <a:xfrm flipH="1" flipV="1">
                <a:off x="2448" y="3072"/>
                <a:ext cx="240" cy="4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8" name="Line 22"/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192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9" name="Text Box 23"/>
              <p:cNvSpPr txBox="1">
                <a:spLocks noChangeArrowheads="1"/>
              </p:cNvSpPr>
              <p:nvPr/>
            </p:nvSpPr>
            <p:spPr bwMode="auto">
              <a:xfrm>
                <a:off x="2112" y="1104"/>
                <a:ext cx="16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单位速度输入信号</a:t>
                </a:r>
              </a:p>
            </p:txBody>
          </p:sp>
          <p:sp>
            <p:nvSpPr>
              <p:cNvPr id="65560" name="Line 24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192" cy="43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1" name="Line 25"/>
              <p:cNvSpPr>
                <a:spLocks noChangeShapeType="1"/>
              </p:cNvSpPr>
              <p:nvPr/>
            </p:nvSpPr>
            <p:spPr bwMode="auto">
              <a:xfrm>
                <a:off x="3792" y="1296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2" name="Line 26"/>
              <p:cNvSpPr>
                <a:spLocks noChangeShapeType="1"/>
              </p:cNvSpPr>
              <p:nvPr/>
            </p:nvSpPr>
            <p:spPr bwMode="auto">
              <a:xfrm flipV="1">
                <a:off x="3792" y="1968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3" name="Line 27"/>
              <p:cNvSpPr>
                <a:spLocks noChangeShapeType="1"/>
              </p:cNvSpPr>
              <p:nvPr/>
            </p:nvSpPr>
            <p:spPr bwMode="auto">
              <a:xfrm>
                <a:off x="3936" y="1200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4" name="Line 28"/>
              <p:cNvSpPr>
                <a:spLocks noChangeShapeType="1"/>
              </p:cNvSpPr>
              <p:nvPr/>
            </p:nvSpPr>
            <p:spPr bwMode="auto">
              <a:xfrm flipV="1">
                <a:off x="3936" y="1712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5" name="Rectangle 29"/>
              <p:cNvSpPr>
                <a:spLocks noChangeArrowheads="1"/>
              </p:cNvSpPr>
              <p:nvPr/>
            </p:nvSpPr>
            <p:spPr bwMode="auto">
              <a:xfrm>
                <a:off x="3763" y="2048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ss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66" name="Rectangle 30"/>
              <p:cNvSpPr>
                <a:spLocks noChangeArrowheads="1"/>
              </p:cNvSpPr>
              <p:nvPr/>
            </p:nvSpPr>
            <p:spPr bwMode="auto">
              <a:xfrm>
                <a:off x="3899" y="1808"/>
                <a:ext cx="34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e'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ss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67" name="Line 31"/>
              <p:cNvSpPr>
                <a:spLocks noChangeShapeType="1"/>
              </p:cNvSpPr>
              <p:nvPr/>
            </p:nvSpPr>
            <p:spPr bwMode="auto">
              <a:xfrm flipV="1">
                <a:off x="3792" y="1688"/>
                <a:ext cx="0" cy="28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8" name="Line 32"/>
              <p:cNvSpPr>
                <a:spLocks noChangeShapeType="1"/>
              </p:cNvSpPr>
              <p:nvPr/>
            </p:nvSpPr>
            <p:spPr bwMode="auto">
              <a:xfrm flipV="1">
                <a:off x="3936" y="1584"/>
                <a:ext cx="0" cy="14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9" name="Rectangle 33"/>
              <p:cNvSpPr>
                <a:spLocks noChangeArrowheads="1"/>
              </p:cNvSpPr>
              <p:nvPr/>
            </p:nvSpPr>
            <p:spPr bwMode="auto">
              <a:xfrm>
                <a:off x="1416" y="1008"/>
                <a:ext cx="4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i="1" baseline="-1800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65540" name="Text Box 34"/>
            <p:cNvSpPr txBox="1">
              <a:spLocks noChangeArrowheads="1"/>
            </p:cNvSpPr>
            <p:nvPr/>
          </p:nvSpPr>
          <p:spPr bwMode="auto">
            <a:xfrm>
              <a:off x="1430" y="3456"/>
              <a:ext cx="37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宋体" panose="02010600030101010101" pitchFamily="2" charset="-122"/>
                </a:rPr>
                <a:t>校正后系统的单位速度响应曲线对比</a:t>
              </a: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ChangeArrowheads="1"/>
          </p:cNvSpPr>
          <p:nvPr/>
        </p:nvSpPr>
        <p:spPr bwMode="auto">
          <a:xfrm>
            <a:off x="1219200" y="2112963"/>
            <a:ext cx="7315200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从时域响应特性看，具有超前校正装置的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系统呈现最快的响应；具有滞后校正装置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的系统响应最缓慢，但其单位速度响应却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得到了明显的改善；具有滞后</a:t>
            </a: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宋体" panose="02010600030101010101" pitchFamily="2" charset="-122"/>
              </a:rPr>
              <a:t>超前校正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装置的系统给出了折衷的响应特性，即在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稳态响应和瞬态响应两个方面都得到了适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当的改善。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ChangeArrowheads="1"/>
          </p:cNvSpPr>
          <p:nvPr/>
        </p:nvSpPr>
        <p:spPr bwMode="auto">
          <a:xfrm>
            <a:off x="971550" y="2060575"/>
            <a:ext cx="7704138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虽然应用超前、滞后和滞后</a:t>
            </a: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宋体" panose="02010600030101010101" pitchFamily="2" charset="-122"/>
              </a:rPr>
              <a:t>超前校正装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置可完成大多数系统的校正任务，但对复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杂的系统，采用由这些校正装置组成的简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单校正，可能仍得不到满意的结果。此时，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必须采用其它形式的校正装置。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文本框 1"/>
          <p:cNvSpPr txBox="1">
            <a:spLocks noChangeArrowheads="1"/>
          </p:cNvSpPr>
          <p:nvPr/>
        </p:nvSpPr>
        <p:spPr bwMode="auto">
          <a:xfrm>
            <a:off x="536575" y="2749550"/>
            <a:ext cx="203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关于考试</a:t>
            </a:r>
            <a:endParaRPr lang="zh-CN" altLang="en-US" sz="3200"/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042988" y="1001713"/>
            <a:ext cx="62722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作业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zh-CN" altLang="en-US" sz="2800" b="1">
                <a:latin typeface="Times New Roman" panose="02020603050405020304" pitchFamily="18" charset="0"/>
              </a:rPr>
              <a:t>实验环节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zh-CN" altLang="en-US" sz="2800" b="1">
                <a:latin typeface="Times New Roman" panose="02020603050405020304" pitchFamily="18" charset="0"/>
              </a:rPr>
              <a:t>考勤及课堂表现   </a:t>
            </a:r>
            <a:r>
              <a:rPr lang="en-US" altLang="zh-CN" sz="2800" b="1">
                <a:latin typeface="Times New Roman" panose="02020603050405020304" pitchFamily="18" charset="0"/>
              </a:rPr>
              <a:t>30%</a:t>
            </a:r>
          </a:p>
        </p:txBody>
      </p:sp>
      <p:sp>
        <p:nvSpPr>
          <p:cNvPr id="71684" name="Text Box 5"/>
          <p:cNvSpPr txBox="1">
            <a:spLocks noChangeArrowheads="1"/>
          </p:cNvSpPr>
          <p:nvPr/>
        </p:nvSpPr>
        <p:spPr bwMode="auto">
          <a:xfrm>
            <a:off x="1050925" y="1544638"/>
            <a:ext cx="303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期末测验        </a:t>
            </a:r>
            <a:r>
              <a:rPr lang="en-US" altLang="zh-CN" sz="2800" b="1">
                <a:latin typeface="Times New Roman" panose="02020603050405020304" pitchFamily="18" charset="0"/>
              </a:rPr>
              <a:t>70%</a:t>
            </a:r>
          </a:p>
        </p:txBody>
      </p:sp>
      <p:sp>
        <p:nvSpPr>
          <p:cNvPr id="71685" name="Text Box 6"/>
          <p:cNvSpPr txBox="1">
            <a:spLocks noChangeArrowheads="1"/>
          </p:cNvSpPr>
          <p:nvPr/>
        </p:nvSpPr>
        <p:spPr bwMode="auto">
          <a:xfrm>
            <a:off x="398463" y="355600"/>
            <a:ext cx="2663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最终评价</a:t>
            </a:r>
          </a:p>
        </p:txBody>
      </p:sp>
      <p:sp>
        <p:nvSpPr>
          <p:cNvPr id="135174" name="文本框 5"/>
          <p:cNvSpPr txBox="1">
            <a:spLocks noChangeArrowheads="1"/>
          </p:cNvSpPr>
          <p:nvPr/>
        </p:nvSpPr>
        <p:spPr bwMode="auto">
          <a:xfrm>
            <a:off x="2916238" y="2452688"/>
            <a:ext cx="30670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</a:rPr>
              <a:t>简答题：</a:t>
            </a:r>
            <a:r>
              <a:rPr lang="en-US" altLang="zh-CN" sz="2800" b="1">
                <a:latin typeface="Times New Roman" panose="02020603050405020304" pitchFamily="18" charset="0"/>
              </a:rPr>
              <a:t>30% 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选择题：</a:t>
            </a:r>
            <a:r>
              <a:rPr lang="en-US" altLang="zh-CN" sz="2800" b="1">
                <a:latin typeface="Times New Roman" panose="02020603050405020304" pitchFamily="18" charset="0"/>
              </a:rPr>
              <a:t>20%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分析计算题：</a:t>
            </a:r>
            <a:r>
              <a:rPr lang="en-US" altLang="zh-CN" sz="2800" b="1">
                <a:latin typeface="Times New Roman" panose="02020603050405020304" pitchFamily="18" charset="0"/>
              </a:rPr>
              <a:t>50%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35175" name="文本框 6"/>
          <p:cNvSpPr txBox="1">
            <a:spLocks noChangeArrowheads="1"/>
          </p:cNvSpPr>
          <p:nvPr/>
        </p:nvSpPr>
        <p:spPr bwMode="auto">
          <a:xfrm>
            <a:off x="398463" y="4729163"/>
            <a:ext cx="29543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考试内容分布</a:t>
            </a:r>
          </a:p>
        </p:txBody>
      </p:sp>
      <p:sp>
        <p:nvSpPr>
          <p:cNvPr id="135176" name="文本框 7"/>
          <p:cNvSpPr txBox="1">
            <a:spLocks noChangeArrowheads="1"/>
          </p:cNvSpPr>
          <p:nvPr/>
        </p:nvSpPr>
        <p:spPr bwMode="auto">
          <a:xfrm>
            <a:off x="3563938" y="4360863"/>
            <a:ext cx="25542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1-2</a:t>
            </a:r>
            <a:r>
              <a:rPr lang="zh-CN" altLang="en-US" sz="2800" b="1">
                <a:latin typeface="Times New Roman" panose="02020603050405020304" pitchFamily="18" charset="0"/>
              </a:rPr>
              <a:t>章：</a:t>
            </a:r>
            <a:r>
              <a:rPr lang="en-US" altLang="zh-CN" sz="2800" b="1">
                <a:latin typeface="Times New Roman" panose="02020603050405020304" pitchFamily="18" charset="0"/>
              </a:rPr>
              <a:t>15% 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章：</a:t>
            </a:r>
            <a:r>
              <a:rPr lang="en-US" altLang="zh-CN" sz="2800" b="1">
                <a:latin typeface="Times New Roman" panose="02020603050405020304" pitchFamily="18" charset="0"/>
              </a:rPr>
              <a:t>30%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章：</a:t>
            </a:r>
            <a:r>
              <a:rPr lang="en-US" altLang="zh-CN" sz="2800" b="1">
                <a:latin typeface="Times New Roman" panose="02020603050405020304" pitchFamily="18" charset="0"/>
              </a:rPr>
              <a:t>45%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zh-CN" altLang="en-US" sz="2800" b="1">
                <a:latin typeface="Times New Roman" panose="02020603050405020304" pitchFamily="18" charset="0"/>
              </a:rPr>
              <a:t>章：</a:t>
            </a:r>
            <a:r>
              <a:rPr lang="en-US" altLang="zh-CN" sz="2800" b="1">
                <a:latin typeface="Times New Roman" panose="02020603050405020304" pitchFamily="18" charset="0"/>
              </a:rPr>
              <a:t>10%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/>
      <p:bldP spid="135174" grpId="0"/>
      <p:bldP spid="135175" grpId="0"/>
      <p:bldP spid="13517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文本框 1"/>
          <p:cNvSpPr txBox="1">
            <a:spLocks noChangeArrowheads="1"/>
          </p:cNvSpPr>
          <p:nvPr/>
        </p:nvSpPr>
        <p:spPr bwMode="auto">
          <a:xfrm>
            <a:off x="1476374" y="1341438"/>
            <a:ext cx="712807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/>
              <a:t>考试时间：第</a:t>
            </a:r>
            <a:r>
              <a:rPr lang="en-US" altLang="zh-CN" sz="3200" dirty="0"/>
              <a:t>13</a:t>
            </a:r>
            <a:r>
              <a:rPr lang="zh-CN" altLang="en-US" sz="3200" dirty="0"/>
              <a:t>周周二（</a:t>
            </a:r>
            <a:r>
              <a:rPr lang="en-US" altLang="zh-CN" sz="3200" dirty="0"/>
              <a:t>11</a:t>
            </a:r>
            <a:r>
              <a:rPr lang="zh-CN" altLang="en-US" sz="3200" dirty="0"/>
              <a:t>月</a:t>
            </a:r>
            <a:r>
              <a:rPr lang="en-US" altLang="zh-CN" sz="3200" dirty="0"/>
              <a:t>18</a:t>
            </a:r>
            <a:r>
              <a:rPr lang="zh-CN" altLang="en-US" sz="3200" dirty="0"/>
              <a:t>日）</a:t>
            </a:r>
          </a:p>
          <a:p>
            <a:r>
              <a:rPr lang="zh-CN" altLang="en-US" sz="3200" dirty="0"/>
              <a:t>                 下午</a:t>
            </a:r>
            <a:r>
              <a:rPr lang="en-US" altLang="zh-CN" sz="3200" dirty="0"/>
              <a:t>1:30-3:10</a:t>
            </a:r>
          </a:p>
          <a:p>
            <a:r>
              <a:rPr lang="en-US" altLang="zh-CN" sz="3200" dirty="0"/>
              <a:t>                   </a:t>
            </a:r>
            <a:endParaRPr lang="zh-CN" altLang="en-US" sz="3200" dirty="0"/>
          </a:p>
        </p:txBody>
      </p:sp>
      <p:sp>
        <p:nvSpPr>
          <p:cNvPr id="72707" name="文本框 2"/>
          <p:cNvSpPr txBox="1">
            <a:spLocks noChangeArrowheads="1"/>
          </p:cNvSpPr>
          <p:nvPr/>
        </p:nvSpPr>
        <p:spPr bwMode="auto">
          <a:xfrm>
            <a:off x="1692275" y="3167063"/>
            <a:ext cx="525336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考前答疑时间：</a:t>
            </a:r>
            <a:r>
              <a:rPr lang="en-US" altLang="zh-CN" sz="2800" dirty="0"/>
              <a:t>12</a:t>
            </a:r>
            <a:r>
              <a:rPr lang="zh-CN" altLang="en-US" sz="2800" dirty="0"/>
              <a:t>周周一至周四</a:t>
            </a:r>
          </a:p>
          <a:p>
            <a:r>
              <a:rPr lang="zh-CN" altLang="en-US" sz="2800" dirty="0"/>
              <a:t>   上午</a:t>
            </a:r>
            <a:r>
              <a:rPr lang="en-US" altLang="zh-CN" sz="2800" dirty="0"/>
              <a:t>9:00-11:00</a:t>
            </a:r>
          </a:p>
        </p:txBody>
      </p:sp>
      <p:sp>
        <p:nvSpPr>
          <p:cNvPr id="72708" name="文本框 3"/>
          <p:cNvSpPr txBox="1">
            <a:spLocks noChangeArrowheads="1"/>
          </p:cNvSpPr>
          <p:nvPr/>
        </p:nvSpPr>
        <p:spPr bwMode="auto">
          <a:xfrm>
            <a:off x="1692275" y="4653136"/>
            <a:ext cx="3657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答疑地点：机电楼</a:t>
            </a:r>
            <a:r>
              <a:rPr lang="en-US" altLang="zh-CN" sz="2800" dirty="0"/>
              <a:t>404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文本框 1"/>
          <p:cNvSpPr txBox="1">
            <a:spLocks noChangeArrowheads="1"/>
          </p:cNvSpPr>
          <p:nvPr/>
        </p:nvSpPr>
        <p:spPr bwMode="auto">
          <a:xfrm>
            <a:off x="1187450" y="1268413"/>
            <a:ext cx="4314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600" b="1"/>
              <a:t>部分作业讲解及答疑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/>
          <p:cNvSpPr txBox="1">
            <a:spLocks noChangeArrowheads="1"/>
          </p:cNvSpPr>
          <p:nvPr/>
        </p:nvSpPr>
        <p:spPr bwMode="auto">
          <a:xfrm>
            <a:off x="1331913" y="981075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5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控制系统的设计和校正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560513" y="2357438"/>
            <a:ext cx="55626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5.2   PID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控制规律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560513" y="3025775"/>
            <a:ext cx="7583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5.3   PID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控制规律的实现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560513" y="3424238"/>
            <a:ext cx="533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频率法设计和校正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1560513" y="3957638"/>
            <a:ext cx="5410200" cy="6746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5.5  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并联校正和复合校正（自学）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560513" y="1841500"/>
            <a:ext cx="46482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系统设计概述</a:t>
            </a:r>
          </a:p>
        </p:txBody>
      </p:sp>
      <p:sp>
        <p:nvSpPr>
          <p:cNvPr id="74760" name="文本框 2"/>
          <p:cNvSpPr txBox="1">
            <a:spLocks noChangeArrowheads="1"/>
          </p:cNvSpPr>
          <p:nvPr/>
        </p:nvSpPr>
        <p:spPr bwMode="auto">
          <a:xfrm>
            <a:off x="2597150" y="4953000"/>
            <a:ext cx="32623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6000">
                <a:latin typeface="Verdana" panose="020B0604030504040204" pitchFamily="34" charset="0"/>
              </a:rPr>
              <a:t>本章结束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/>
      <p:bldP spid="7175" grpId="0"/>
      <p:bldP spid="7176" grpId="0" animBg="1"/>
      <p:bldP spid="7178" grpId="0"/>
    </p:bld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152</TotalTime>
  <Words>2580</Words>
  <Application>Microsoft Office PowerPoint</Application>
  <PresentationFormat>全屏显示(4:3)</PresentationFormat>
  <Paragraphs>527</Paragraphs>
  <Slides>52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4" baseType="lpstr">
      <vt:lpstr>华文楷体</vt:lpstr>
      <vt:lpstr>楷体_GB2312</vt:lpstr>
      <vt:lpstr>宋体</vt:lpstr>
      <vt:lpstr>Arial</vt:lpstr>
      <vt:lpstr>Garamond</vt:lpstr>
      <vt:lpstr>Symbol</vt:lpstr>
      <vt:lpstr>Times New Roman</vt:lpstr>
      <vt:lpstr>Verdana</vt:lpstr>
      <vt:lpstr>Wingdings</vt:lpstr>
      <vt:lpstr>Edge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85</cp:revision>
  <dcterms:created xsi:type="dcterms:W3CDTF">2011-07-29T02:06:31Z</dcterms:created>
  <dcterms:modified xsi:type="dcterms:W3CDTF">2025-10-28T03:04:36Z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