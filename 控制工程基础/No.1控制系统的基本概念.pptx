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9"/>
  </p:notesMasterIdLst>
  <p:handoutMasterIdLst>
    <p:handoutMasterId r:id="rId50"/>
  </p:handoutMasterIdLst>
  <p:sldIdLst>
    <p:sldId id="298" r:id="rId2"/>
    <p:sldId id="299" r:id="rId3"/>
    <p:sldId id="302" r:id="rId4"/>
    <p:sldId id="300" r:id="rId5"/>
    <p:sldId id="356" r:id="rId6"/>
    <p:sldId id="357" r:id="rId7"/>
    <p:sldId id="303" r:id="rId8"/>
    <p:sldId id="304" r:id="rId9"/>
    <p:sldId id="305" r:id="rId10"/>
    <p:sldId id="306" r:id="rId11"/>
    <p:sldId id="307" r:id="rId12"/>
    <p:sldId id="346"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54" r:id="rId27"/>
    <p:sldId id="322" r:id="rId28"/>
    <p:sldId id="323" r:id="rId29"/>
    <p:sldId id="355" r:id="rId30"/>
    <p:sldId id="324" r:id="rId31"/>
    <p:sldId id="362" r:id="rId32"/>
    <p:sldId id="348" r:id="rId33"/>
    <p:sldId id="327" r:id="rId34"/>
    <p:sldId id="328" r:id="rId35"/>
    <p:sldId id="329" r:id="rId36"/>
    <p:sldId id="349" r:id="rId37"/>
    <p:sldId id="330" r:id="rId38"/>
    <p:sldId id="350" r:id="rId39"/>
    <p:sldId id="332" r:id="rId40"/>
    <p:sldId id="333" r:id="rId41"/>
    <p:sldId id="334" r:id="rId42"/>
    <p:sldId id="289" r:id="rId43"/>
    <p:sldId id="363" r:id="rId44"/>
    <p:sldId id="340" r:id="rId45"/>
    <p:sldId id="365" r:id="rId46"/>
    <p:sldId id="366" r:id="rId47"/>
    <p:sldId id="364" r:id="rId4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41" d="100"/>
          <a:sy n="41" d="100"/>
        </p:scale>
        <p:origin x="135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4710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4710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47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5E6C433A-80B9-4417-B873-D9E742B76D00}"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4608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4608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F9AFD457-50CF-43A1-B613-0C8499F88AE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880AEAD-8EEC-4358-8B9B-534AA974A311}" type="slidenum">
              <a:rPr lang="en-US" altLang="zh-CN" smtClean="0">
                <a:latin typeface="Arial" panose="020B0604020202020204" pitchFamily="34" charset="0"/>
              </a:rPr>
              <a:pPr/>
              <a:t>1</a:t>
            </a:fld>
            <a:endParaRPr lang="en-US" altLang="zh-CN">
              <a:latin typeface="Arial" panose="020B0604020202020204" pitchFamily="34" charset="0"/>
            </a:endParaRPr>
          </a:p>
        </p:txBody>
      </p:sp>
      <p:sp>
        <p:nvSpPr>
          <p:cNvPr id="6147" name="Rectangle 2"/>
          <p:cNvSpPr>
            <a:spLocks noGrp="1" noRot="1" noChangeAspect="1" noChangeArrowheads="1" noTextEdit="1"/>
          </p:cNvSpPr>
          <p:nvPr>
            <p:ph type="sldImg" idx="4294967295"/>
          </p:nvPr>
        </p:nvSpPr>
        <p:spPr>
          <a:ln/>
        </p:spPr>
      </p:sp>
      <p:sp>
        <p:nvSpPr>
          <p:cNvPr id="614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7EC83DC-117A-4EEC-8C27-D1D38F39560E}" type="slidenum">
              <a:rPr lang="en-US" altLang="zh-CN" smtClean="0">
                <a:latin typeface="Arial" panose="020B0604020202020204" pitchFamily="34" charset="0"/>
              </a:rPr>
              <a:pPr/>
              <a:t>2</a:t>
            </a:fld>
            <a:endParaRPr lang="en-US" altLang="zh-CN">
              <a:latin typeface="Arial" panose="020B0604020202020204" pitchFamily="34" charset="0"/>
            </a:endParaRPr>
          </a:p>
        </p:txBody>
      </p:sp>
      <p:sp>
        <p:nvSpPr>
          <p:cNvPr id="8195" name="Rectangle 2"/>
          <p:cNvSpPr>
            <a:spLocks noGrp="1" noRot="1" noChangeAspect="1" noChangeArrowheads="1" noTextEdit="1"/>
          </p:cNvSpPr>
          <p:nvPr>
            <p:ph type="sldImg" idx="4294967295"/>
          </p:nvPr>
        </p:nvSpPr>
        <p:spPr>
          <a:ln/>
        </p:spPr>
      </p:sp>
      <p:sp>
        <p:nvSpPr>
          <p:cNvPr id="819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3406ACC-748B-4456-84AA-5AF36F8E8E4F}" type="slidenum">
              <a:rPr lang="en-US" altLang="zh-CN" smtClean="0">
                <a:latin typeface="Arial" panose="020B0604020202020204" pitchFamily="34" charset="0"/>
              </a:rPr>
              <a:pPr/>
              <a:t>4</a:t>
            </a:fld>
            <a:endParaRPr lang="en-US" altLang="zh-CN">
              <a:latin typeface="Arial" panose="020B0604020202020204" pitchFamily="34" charset="0"/>
            </a:endParaRPr>
          </a:p>
        </p:txBody>
      </p:sp>
      <p:sp>
        <p:nvSpPr>
          <p:cNvPr id="11267" name="Rectangle 2"/>
          <p:cNvSpPr>
            <a:spLocks noGrp="1" noRot="1" noChangeAspect="1" noChangeArrowheads="1" noTextEdit="1"/>
          </p:cNvSpPr>
          <p:nvPr>
            <p:ph type="sldImg" idx="4294967295"/>
          </p:nvPr>
        </p:nvSpPr>
        <p:spPr>
          <a:ln/>
        </p:spPr>
      </p:sp>
      <p:sp>
        <p:nvSpPr>
          <p:cNvPr id="1126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EC372CB-F9DA-4BF3-92BD-553D08A743DB}" type="slidenum">
              <a:rPr lang="en-US" altLang="zh-CN" smtClean="0">
                <a:latin typeface="Arial" panose="020B0604020202020204" pitchFamily="34" charset="0"/>
              </a:rPr>
              <a:pPr/>
              <a:t>7</a:t>
            </a:fld>
            <a:endParaRPr lang="en-US" altLang="zh-CN">
              <a:latin typeface="Arial" panose="020B0604020202020204" pitchFamily="34" charset="0"/>
            </a:endParaRPr>
          </a:p>
        </p:txBody>
      </p:sp>
      <p:sp>
        <p:nvSpPr>
          <p:cNvPr id="15363" name="Rectangle 2"/>
          <p:cNvSpPr>
            <a:spLocks noGrp="1" noRot="1" noChangeAspect="1" noChangeArrowheads="1" noTextEdit="1"/>
          </p:cNvSpPr>
          <p:nvPr>
            <p:ph type="sldImg" idx="4294967295"/>
          </p:nvPr>
        </p:nvSpPr>
        <p:spPr>
          <a:ln/>
        </p:spPr>
      </p:sp>
      <p:sp>
        <p:nvSpPr>
          <p:cNvPr id="1536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972B54F-772A-4C75-9CCE-DEBB8AB45796}" type="slidenum">
              <a:rPr lang="en-US" altLang="zh-CN" smtClean="0">
                <a:latin typeface="Arial" panose="020B0604020202020204" pitchFamily="34" charset="0"/>
              </a:rPr>
              <a:pPr/>
              <a:t>12</a:t>
            </a:fld>
            <a:endParaRPr lang="en-US" altLang="zh-CN">
              <a:latin typeface="Arial" panose="020B0604020202020204" pitchFamily="34" charset="0"/>
            </a:endParaRPr>
          </a:p>
        </p:txBody>
      </p:sp>
      <p:sp>
        <p:nvSpPr>
          <p:cNvPr id="21507" name="Rectangle 2"/>
          <p:cNvSpPr>
            <a:spLocks noGrp="1" noRot="1" noChangeAspect="1" noChangeArrowheads="1" noTextEdit="1"/>
          </p:cNvSpPr>
          <p:nvPr>
            <p:ph type="sldImg" idx="4294967295"/>
          </p:nvPr>
        </p:nvSpPr>
        <p:spPr>
          <a:ln/>
        </p:spPr>
      </p:sp>
      <p:sp>
        <p:nvSpPr>
          <p:cNvPr id="2150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B864C44-3CB0-46E2-8F0B-64D5F2E20BD4}" type="slidenum">
              <a:rPr lang="en-US" altLang="zh-CN" smtClean="0">
                <a:latin typeface="Arial" panose="020B0604020202020204" pitchFamily="34" charset="0"/>
              </a:rPr>
              <a:pPr/>
              <a:t>13</a:t>
            </a:fld>
            <a:endParaRPr lang="en-US" altLang="zh-CN">
              <a:latin typeface="Arial" panose="020B0604020202020204" pitchFamily="34" charset="0"/>
            </a:endParaRPr>
          </a:p>
        </p:txBody>
      </p:sp>
      <p:sp>
        <p:nvSpPr>
          <p:cNvPr id="23555" name="Rectangle 2"/>
          <p:cNvSpPr>
            <a:spLocks noGrp="1" noRot="1" noChangeAspect="1" noChangeArrowheads="1" noTextEdit="1"/>
          </p:cNvSpPr>
          <p:nvPr>
            <p:ph type="sldImg" idx="4294967295"/>
          </p:nvPr>
        </p:nvSpPr>
        <p:spPr>
          <a:ln/>
        </p:spPr>
      </p:sp>
      <p:sp>
        <p:nvSpPr>
          <p:cNvPr id="2355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50E907C-E78A-4362-9ED7-4F7091D54E2F}" type="slidenum">
              <a:rPr lang="en-US" altLang="zh-CN" smtClean="0">
                <a:latin typeface="Arial" panose="020B0604020202020204" pitchFamily="34" charset="0"/>
              </a:rPr>
              <a:pPr/>
              <a:t>14</a:t>
            </a:fld>
            <a:endParaRPr lang="en-US" altLang="zh-CN">
              <a:latin typeface="Arial" panose="020B0604020202020204" pitchFamily="34" charset="0"/>
            </a:endParaRPr>
          </a:p>
        </p:txBody>
      </p:sp>
      <p:sp>
        <p:nvSpPr>
          <p:cNvPr id="25603" name="Rectangle 2"/>
          <p:cNvSpPr>
            <a:spLocks noGrp="1" noRot="1" noChangeAspect="1" noChangeArrowheads="1" noTextEdit="1"/>
          </p:cNvSpPr>
          <p:nvPr>
            <p:ph type="sldImg" idx="4294967295"/>
          </p:nvPr>
        </p:nvSpPr>
        <p:spPr>
          <a:ln/>
        </p:spPr>
      </p:sp>
      <p:sp>
        <p:nvSpPr>
          <p:cNvPr id="2560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B2EA44B-E0DC-4642-A7BC-EDBB13BAA89A}" type="slidenum">
              <a:rPr lang="en-US" altLang="zh-CN" smtClean="0">
                <a:latin typeface="Arial" panose="020B0604020202020204" pitchFamily="34" charset="0"/>
              </a:rPr>
              <a:pPr/>
              <a:t>15</a:t>
            </a:fld>
            <a:endParaRPr lang="en-US" altLang="zh-CN">
              <a:latin typeface="Arial" panose="020B0604020202020204" pitchFamily="34" charset="0"/>
            </a:endParaRPr>
          </a:p>
        </p:txBody>
      </p:sp>
      <p:sp>
        <p:nvSpPr>
          <p:cNvPr id="27651" name="Rectangle 2"/>
          <p:cNvSpPr>
            <a:spLocks noGrp="1" noRot="1" noChangeAspect="1" noChangeArrowheads="1" noTextEdit="1"/>
          </p:cNvSpPr>
          <p:nvPr>
            <p:ph type="sldImg" idx="4294967295"/>
          </p:nvPr>
        </p:nvSpPr>
        <p:spPr>
          <a:ln/>
        </p:spPr>
      </p:sp>
      <p:sp>
        <p:nvSpPr>
          <p:cNvPr id="2765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36C3FC4-E223-4B41-9B77-7C76FC59D6F3}" type="slidenum">
              <a:rPr lang="en-US" altLang="zh-CN" smtClean="0">
                <a:latin typeface="Arial" panose="020B0604020202020204" pitchFamily="34" charset="0"/>
              </a:rPr>
              <a:pPr/>
              <a:t>16</a:t>
            </a:fld>
            <a:endParaRPr lang="en-US" altLang="zh-CN">
              <a:latin typeface="Arial" panose="020B0604020202020204" pitchFamily="34" charset="0"/>
            </a:endParaRPr>
          </a:p>
        </p:txBody>
      </p:sp>
      <p:sp>
        <p:nvSpPr>
          <p:cNvPr id="29699" name="Rectangle 2"/>
          <p:cNvSpPr>
            <a:spLocks noGrp="1" noRot="1" noChangeAspect="1" noChangeArrowheads="1" noTextEdit="1"/>
          </p:cNvSpPr>
          <p:nvPr>
            <p:ph type="sldImg" idx="4294967295"/>
          </p:nvPr>
        </p:nvSpPr>
        <p:spPr>
          <a:ln/>
        </p:spPr>
      </p:sp>
      <p:sp>
        <p:nvSpPr>
          <p:cNvPr id="29700"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B2EB019-917A-4FE1-9A6C-E46E31C51B41}" type="slidenum">
              <a:rPr lang="en-US" altLang="zh-CN" smtClean="0">
                <a:latin typeface="Arial" panose="020B0604020202020204" pitchFamily="34" charset="0"/>
              </a:rPr>
              <a:pPr/>
              <a:t>17</a:t>
            </a:fld>
            <a:endParaRPr lang="en-US" altLang="zh-CN">
              <a:latin typeface="Arial" panose="020B0604020202020204" pitchFamily="34" charset="0"/>
            </a:endParaRPr>
          </a:p>
        </p:txBody>
      </p:sp>
      <p:sp>
        <p:nvSpPr>
          <p:cNvPr id="31747" name="Rectangle 2"/>
          <p:cNvSpPr>
            <a:spLocks noGrp="1" noRot="1" noChangeAspect="1" noChangeArrowheads="1" noTextEdit="1"/>
          </p:cNvSpPr>
          <p:nvPr>
            <p:ph type="sldImg" idx="4294967295"/>
          </p:nvPr>
        </p:nvSpPr>
        <p:spPr>
          <a:ln/>
        </p:spPr>
      </p:sp>
      <p:sp>
        <p:nvSpPr>
          <p:cNvPr id="3174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9E4826E-94A0-4ED1-B18D-68E019A1C420}" type="slidenum">
              <a:rPr lang="en-US" altLang="zh-CN" smtClean="0">
                <a:latin typeface="Arial" panose="020B0604020202020204" pitchFamily="34" charset="0"/>
              </a:rPr>
              <a:pPr/>
              <a:t>18</a:t>
            </a:fld>
            <a:endParaRPr lang="en-US" altLang="zh-CN">
              <a:latin typeface="Arial" panose="020B0604020202020204" pitchFamily="34" charset="0"/>
            </a:endParaRPr>
          </a:p>
        </p:txBody>
      </p:sp>
      <p:sp>
        <p:nvSpPr>
          <p:cNvPr id="33795" name="Rectangle 2"/>
          <p:cNvSpPr>
            <a:spLocks noGrp="1" noRot="1" noChangeAspect="1" noChangeArrowheads="1" noTextEdit="1"/>
          </p:cNvSpPr>
          <p:nvPr>
            <p:ph type="sldImg" idx="4294967295"/>
          </p:nvPr>
        </p:nvSpPr>
        <p:spPr>
          <a:ln/>
        </p:spPr>
      </p:sp>
      <p:sp>
        <p:nvSpPr>
          <p:cNvPr id="3379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0B0B6C4-DBD2-4A2F-952E-A8F3FF681321}" type="slidenum">
              <a:rPr lang="en-US" altLang="zh-CN" smtClean="0">
                <a:latin typeface="Arial" panose="020B0604020202020204" pitchFamily="34" charset="0"/>
              </a:rPr>
              <a:pPr/>
              <a:t>19</a:t>
            </a:fld>
            <a:endParaRPr lang="en-US" altLang="zh-CN">
              <a:latin typeface="Arial" panose="020B0604020202020204" pitchFamily="34" charset="0"/>
            </a:endParaRPr>
          </a:p>
        </p:txBody>
      </p:sp>
      <p:sp>
        <p:nvSpPr>
          <p:cNvPr id="35843" name="Rectangle 2"/>
          <p:cNvSpPr>
            <a:spLocks noGrp="1" noRot="1" noChangeAspect="1" noChangeArrowheads="1" noTextEdit="1"/>
          </p:cNvSpPr>
          <p:nvPr>
            <p:ph type="sldImg" idx="4294967295"/>
          </p:nvPr>
        </p:nvSpPr>
        <p:spPr>
          <a:ln/>
        </p:spPr>
      </p:sp>
      <p:sp>
        <p:nvSpPr>
          <p:cNvPr id="3584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6CE570B-98CC-4CD8-9A86-A3596E05C1F6}" type="slidenum">
              <a:rPr lang="en-US" altLang="zh-CN" smtClean="0">
                <a:latin typeface="Arial" panose="020B0604020202020204" pitchFamily="34" charset="0"/>
              </a:rPr>
              <a:pPr/>
              <a:t>20</a:t>
            </a:fld>
            <a:endParaRPr lang="en-US" altLang="zh-CN">
              <a:latin typeface="Arial" panose="020B0604020202020204" pitchFamily="34" charset="0"/>
            </a:endParaRPr>
          </a:p>
        </p:txBody>
      </p:sp>
      <p:sp>
        <p:nvSpPr>
          <p:cNvPr id="37891" name="Rectangle 2"/>
          <p:cNvSpPr>
            <a:spLocks noGrp="1" noRot="1" noChangeAspect="1" noChangeArrowheads="1" noTextEdit="1"/>
          </p:cNvSpPr>
          <p:nvPr>
            <p:ph type="sldImg" idx="4294967295"/>
          </p:nvPr>
        </p:nvSpPr>
        <p:spPr>
          <a:ln/>
        </p:spPr>
      </p:sp>
      <p:sp>
        <p:nvSpPr>
          <p:cNvPr id="3789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E083744-A880-4522-B306-265A0DD28188}" type="slidenum">
              <a:rPr lang="en-US" altLang="zh-CN" smtClean="0">
                <a:latin typeface="Arial" panose="020B0604020202020204" pitchFamily="34" charset="0"/>
              </a:rPr>
              <a:pPr/>
              <a:t>21</a:t>
            </a:fld>
            <a:endParaRPr lang="en-US" altLang="zh-CN">
              <a:latin typeface="Arial" panose="020B0604020202020204" pitchFamily="34" charset="0"/>
            </a:endParaRPr>
          </a:p>
        </p:txBody>
      </p:sp>
      <p:sp>
        <p:nvSpPr>
          <p:cNvPr id="39939" name="Rectangle 2"/>
          <p:cNvSpPr>
            <a:spLocks noGrp="1" noRot="1" noChangeAspect="1" noChangeArrowheads="1" noTextEdit="1"/>
          </p:cNvSpPr>
          <p:nvPr>
            <p:ph type="sldImg" idx="4294967295"/>
          </p:nvPr>
        </p:nvSpPr>
        <p:spPr>
          <a:ln/>
        </p:spPr>
      </p:sp>
      <p:sp>
        <p:nvSpPr>
          <p:cNvPr id="39940"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B909769-6632-4A11-8866-7D115F193C0A}" type="slidenum">
              <a:rPr lang="en-US" altLang="zh-CN" smtClean="0">
                <a:latin typeface="Arial" panose="020B0604020202020204" pitchFamily="34" charset="0"/>
              </a:rPr>
              <a:pPr/>
              <a:t>22</a:t>
            </a:fld>
            <a:endParaRPr lang="en-US" altLang="zh-CN">
              <a:latin typeface="Arial" panose="020B0604020202020204" pitchFamily="34" charset="0"/>
            </a:endParaRPr>
          </a:p>
        </p:txBody>
      </p:sp>
      <p:sp>
        <p:nvSpPr>
          <p:cNvPr id="41987" name="Rectangle 2"/>
          <p:cNvSpPr>
            <a:spLocks noGrp="1" noRot="1" noChangeAspect="1" noChangeArrowheads="1" noTextEdit="1"/>
          </p:cNvSpPr>
          <p:nvPr>
            <p:ph type="sldImg" idx="4294967295"/>
          </p:nvPr>
        </p:nvSpPr>
        <p:spPr>
          <a:ln/>
        </p:spPr>
      </p:sp>
      <p:sp>
        <p:nvSpPr>
          <p:cNvPr id="4198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3C06B9E-4EA7-41DF-A101-69310113D427}" type="slidenum">
              <a:rPr lang="en-US" altLang="zh-CN" smtClean="0">
                <a:latin typeface="Arial" panose="020B0604020202020204" pitchFamily="34" charset="0"/>
              </a:rPr>
              <a:pPr/>
              <a:t>23</a:t>
            </a:fld>
            <a:endParaRPr lang="en-US" altLang="zh-CN">
              <a:latin typeface="Arial" panose="020B0604020202020204" pitchFamily="34" charset="0"/>
            </a:endParaRPr>
          </a:p>
        </p:txBody>
      </p:sp>
      <p:sp>
        <p:nvSpPr>
          <p:cNvPr id="44035" name="Rectangle 2"/>
          <p:cNvSpPr>
            <a:spLocks noGrp="1" noRot="1" noChangeAspect="1" noChangeArrowheads="1" noTextEdit="1"/>
          </p:cNvSpPr>
          <p:nvPr>
            <p:ph type="sldImg" idx="4294967295"/>
          </p:nvPr>
        </p:nvSpPr>
        <p:spPr>
          <a:ln/>
        </p:spPr>
      </p:sp>
      <p:sp>
        <p:nvSpPr>
          <p:cNvPr id="4403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A8A78DF-923C-4749-BC4E-342287EA10AB}" type="slidenum">
              <a:rPr lang="en-US" altLang="zh-CN" smtClean="0">
                <a:latin typeface="Arial" panose="020B0604020202020204" pitchFamily="34" charset="0"/>
              </a:rPr>
              <a:pPr/>
              <a:t>24</a:t>
            </a:fld>
            <a:endParaRPr lang="en-US" altLang="zh-CN">
              <a:latin typeface="Arial" panose="020B0604020202020204" pitchFamily="34" charset="0"/>
            </a:endParaRPr>
          </a:p>
        </p:txBody>
      </p:sp>
      <p:sp>
        <p:nvSpPr>
          <p:cNvPr id="46083" name="Rectangle 2"/>
          <p:cNvSpPr>
            <a:spLocks noGrp="1" noRot="1" noChangeAspect="1" noChangeArrowheads="1" noTextEdit="1"/>
          </p:cNvSpPr>
          <p:nvPr>
            <p:ph type="sldImg" idx="4294967295"/>
          </p:nvPr>
        </p:nvSpPr>
        <p:spPr>
          <a:ln/>
        </p:spPr>
      </p:sp>
      <p:sp>
        <p:nvSpPr>
          <p:cNvPr id="4608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FBC2C01-C001-4B92-97A6-F5600A201F28}" type="slidenum">
              <a:rPr lang="en-US" altLang="zh-CN" smtClean="0">
                <a:latin typeface="Arial" panose="020B0604020202020204" pitchFamily="34" charset="0"/>
              </a:rPr>
              <a:pPr/>
              <a:t>25</a:t>
            </a:fld>
            <a:endParaRPr lang="en-US" altLang="zh-CN">
              <a:latin typeface="Arial" panose="020B0604020202020204" pitchFamily="34" charset="0"/>
            </a:endParaRPr>
          </a:p>
        </p:txBody>
      </p:sp>
      <p:sp>
        <p:nvSpPr>
          <p:cNvPr id="48131" name="Rectangle 2"/>
          <p:cNvSpPr>
            <a:spLocks noGrp="1" noRot="1" noChangeAspect="1" noChangeArrowheads="1" noTextEdit="1"/>
          </p:cNvSpPr>
          <p:nvPr>
            <p:ph type="sldImg" idx="4294967295"/>
          </p:nvPr>
        </p:nvSpPr>
        <p:spPr>
          <a:ln/>
        </p:spPr>
      </p:sp>
      <p:sp>
        <p:nvSpPr>
          <p:cNvPr id="4813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89D791D-C9A7-467E-BB63-590B3B5AC8DF}" type="slidenum">
              <a:rPr lang="en-US" altLang="zh-CN" smtClean="0">
                <a:latin typeface="Arial" panose="020B0604020202020204" pitchFamily="34" charset="0"/>
              </a:rPr>
              <a:pPr/>
              <a:t>27</a:t>
            </a:fld>
            <a:endParaRPr lang="en-US" altLang="zh-CN">
              <a:latin typeface="Arial" panose="020B0604020202020204" pitchFamily="34" charset="0"/>
            </a:endParaRPr>
          </a:p>
        </p:txBody>
      </p:sp>
      <p:sp>
        <p:nvSpPr>
          <p:cNvPr id="51203" name="Rectangle 2"/>
          <p:cNvSpPr>
            <a:spLocks noGrp="1" noRot="1" noChangeAspect="1" noChangeArrowheads="1" noTextEdit="1"/>
          </p:cNvSpPr>
          <p:nvPr>
            <p:ph type="sldImg" idx="4294967295"/>
          </p:nvPr>
        </p:nvSpPr>
        <p:spPr>
          <a:ln/>
        </p:spPr>
      </p:sp>
      <p:sp>
        <p:nvSpPr>
          <p:cNvPr id="5120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0DF9909-CD9E-488D-9227-CC265DA9B3DB}" type="slidenum">
              <a:rPr lang="en-US" altLang="zh-CN" smtClean="0">
                <a:latin typeface="Arial" panose="020B0604020202020204" pitchFamily="34" charset="0"/>
              </a:rPr>
              <a:pPr/>
              <a:t>28</a:t>
            </a:fld>
            <a:endParaRPr lang="en-US" altLang="zh-CN">
              <a:latin typeface="Arial" panose="020B0604020202020204" pitchFamily="34" charset="0"/>
            </a:endParaRPr>
          </a:p>
        </p:txBody>
      </p:sp>
      <p:sp>
        <p:nvSpPr>
          <p:cNvPr id="53251" name="Rectangle 2"/>
          <p:cNvSpPr>
            <a:spLocks noGrp="1" noRot="1" noChangeAspect="1" noChangeArrowheads="1" noTextEdit="1"/>
          </p:cNvSpPr>
          <p:nvPr>
            <p:ph type="sldImg" idx="4294967295"/>
          </p:nvPr>
        </p:nvSpPr>
        <p:spPr>
          <a:ln/>
        </p:spPr>
      </p:sp>
      <p:sp>
        <p:nvSpPr>
          <p:cNvPr id="5325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54BEDF9-889B-44C6-9023-8F73428CFC5F}" type="slidenum">
              <a:rPr lang="en-US" altLang="zh-CN" smtClean="0">
                <a:latin typeface="Arial" panose="020B0604020202020204" pitchFamily="34" charset="0"/>
              </a:rPr>
              <a:pPr/>
              <a:t>30</a:t>
            </a:fld>
            <a:endParaRPr lang="en-US" altLang="zh-CN">
              <a:latin typeface="Arial" panose="020B0604020202020204" pitchFamily="34" charset="0"/>
            </a:endParaRPr>
          </a:p>
        </p:txBody>
      </p:sp>
      <p:sp>
        <p:nvSpPr>
          <p:cNvPr id="56323" name="Rectangle 2"/>
          <p:cNvSpPr>
            <a:spLocks noGrp="1" noRot="1" noChangeAspect="1" noChangeArrowheads="1" noTextEdit="1"/>
          </p:cNvSpPr>
          <p:nvPr>
            <p:ph type="sldImg" idx="4294967295"/>
          </p:nvPr>
        </p:nvSpPr>
        <p:spPr>
          <a:ln/>
        </p:spPr>
      </p:sp>
      <p:sp>
        <p:nvSpPr>
          <p:cNvPr id="5632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C96A2B8-50A0-4B83-9B6D-C653BD81274D}" type="slidenum">
              <a:rPr lang="en-US" altLang="zh-CN" smtClean="0">
                <a:latin typeface="Arial" panose="020B0604020202020204" pitchFamily="34" charset="0"/>
              </a:rPr>
              <a:pPr/>
              <a:t>31</a:t>
            </a:fld>
            <a:endParaRPr lang="en-US" altLang="zh-CN">
              <a:latin typeface="Arial" panose="020B0604020202020204" pitchFamily="34" charset="0"/>
            </a:endParaRPr>
          </a:p>
        </p:txBody>
      </p:sp>
      <p:sp>
        <p:nvSpPr>
          <p:cNvPr id="59395" name="Rectangle 2"/>
          <p:cNvSpPr>
            <a:spLocks noGrp="1" noRot="1" noChangeAspect="1" noChangeArrowheads="1" noTextEdit="1"/>
          </p:cNvSpPr>
          <p:nvPr>
            <p:ph type="sldImg" idx="4294967295"/>
          </p:nvPr>
        </p:nvSpPr>
        <p:spPr>
          <a:ln/>
        </p:spPr>
      </p:sp>
      <p:sp>
        <p:nvSpPr>
          <p:cNvPr id="5939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030CA72-754C-480D-AC39-CD3993347589}" type="slidenum">
              <a:rPr lang="en-US" altLang="zh-CN" smtClean="0">
                <a:latin typeface="Arial" panose="020B0604020202020204" pitchFamily="34" charset="0"/>
              </a:rPr>
              <a:pPr/>
              <a:t>32</a:t>
            </a:fld>
            <a:endParaRPr lang="en-US" altLang="zh-CN">
              <a:latin typeface="Arial" panose="020B0604020202020204" pitchFamily="34" charset="0"/>
            </a:endParaRPr>
          </a:p>
        </p:txBody>
      </p:sp>
      <p:sp>
        <p:nvSpPr>
          <p:cNvPr id="61443" name="Rectangle 2"/>
          <p:cNvSpPr>
            <a:spLocks noGrp="1" noRot="1" noChangeAspect="1" noChangeArrowheads="1" noTextEdit="1"/>
          </p:cNvSpPr>
          <p:nvPr>
            <p:ph type="sldImg" idx="4294967295"/>
          </p:nvPr>
        </p:nvSpPr>
        <p:spPr>
          <a:ln/>
        </p:spPr>
      </p:sp>
      <p:sp>
        <p:nvSpPr>
          <p:cNvPr id="6144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E8FE54C-ECD8-41AD-B58E-21F92938B34B}" type="slidenum">
              <a:rPr lang="en-US" altLang="zh-CN" smtClean="0">
                <a:latin typeface="Arial" panose="020B0604020202020204" pitchFamily="34" charset="0"/>
              </a:rPr>
              <a:pPr/>
              <a:t>33</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idx="4294967295"/>
          </p:nvPr>
        </p:nvSpPr>
        <p:spPr>
          <a:ln/>
        </p:spPr>
      </p:sp>
      <p:sp>
        <p:nvSpPr>
          <p:cNvPr id="6349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999E63A-9C74-40E9-91FB-36A0F58E66E3}" type="slidenum">
              <a:rPr lang="en-US" altLang="zh-CN" smtClean="0">
                <a:latin typeface="Arial" panose="020B0604020202020204" pitchFamily="34" charset="0"/>
              </a:rPr>
              <a:pPr/>
              <a:t>34</a:t>
            </a:fld>
            <a:endParaRPr lang="en-US" altLang="zh-CN">
              <a:latin typeface="Arial" panose="020B0604020202020204" pitchFamily="34" charset="0"/>
            </a:endParaRPr>
          </a:p>
        </p:txBody>
      </p:sp>
      <p:sp>
        <p:nvSpPr>
          <p:cNvPr id="65539" name="Rectangle 2"/>
          <p:cNvSpPr>
            <a:spLocks noGrp="1" noRot="1" noChangeAspect="1" noChangeArrowheads="1" noTextEdit="1"/>
          </p:cNvSpPr>
          <p:nvPr>
            <p:ph type="sldImg" idx="4294967295"/>
          </p:nvPr>
        </p:nvSpPr>
        <p:spPr>
          <a:ln/>
        </p:spPr>
      </p:sp>
      <p:sp>
        <p:nvSpPr>
          <p:cNvPr id="65540"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E51FB52-10E6-4D24-BEAA-9C1CB35B6D83}" type="slidenum">
              <a:rPr lang="en-US" altLang="zh-CN" smtClean="0">
                <a:latin typeface="Arial" panose="020B0604020202020204" pitchFamily="34" charset="0"/>
              </a:rPr>
              <a:pPr/>
              <a:t>35</a:t>
            </a:fld>
            <a:endParaRPr lang="en-US" altLang="zh-CN">
              <a:latin typeface="Arial" panose="020B0604020202020204" pitchFamily="34" charset="0"/>
            </a:endParaRPr>
          </a:p>
        </p:txBody>
      </p:sp>
      <p:sp>
        <p:nvSpPr>
          <p:cNvPr id="67587" name="Rectangle 2"/>
          <p:cNvSpPr>
            <a:spLocks noGrp="1" noRot="1" noChangeAspect="1" noChangeArrowheads="1" noTextEdit="1"/>
          </p:cNvSpPr>
          <p:nvPr>
            <p:ph type="sldImg" idx="4294967295"/>
          </p:nvPr>
        </p:nvSpPr>
        <p:spPr>
          <a:ln/>
        </p:spPr>
      </p:sp>
      <p:sp>
        <p:nvSpPr>
          <p:cNvPr id="6758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935229A-7C72-463C-A0D0-8A3399CD12C5}" type="slidenum">
              <a:rPr lang="en-US" altLang="zh-CN" smtClean="0">
                <a:latin typeface="Arial" panose="020B0604020202020204" pitchFamily="34" charset="0"/>
              </a:rPr>
              <a:pPr/>
              <a:t>37</a:t>
            </a:fld>
            <a:endParaRPr lang="en-US" altLang="zh-CN">
              <a:latin typeface="Arial" panose="020B0604020202020204" pitchFamily="34" charset="0"/>
            </a:endParaRPr>
          </a:p>
        </p:txBody>
      </p:sp>
      <p:sp>
        <p:nvSpPr>
          <p:cNvPr id="70659" name="Rectangle 2"/>
          <p:cNvSpPr>
            <a:spLocks noGrp="1" noRot="1" noChangeAspect="1" noChangeArrowheads="1" noTextEdit="1"/>
          </p:cNvSpPr>
          <p:nvPr>
            <p:ph type="sldImg" idx="4294967295"/>
          </p:nvPr>
        </p:nvSpPr>
        <p:spPr>
          <a:ln/>
        </p:spPr>
      </p:sp>
      <p:sp>
        <p:nvSpPr>
          <p:cNvPr id="70660"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ADB847F-49A1-4871-A528-EFECE70B920A}" type="slidenum">
              <a:rPr lang="en-US" altLang="zh-CN" smtClean="0">
                <a:latin typeface="Arial" panose="020B0604020202020204" pitchFamily="34" charset="0"/>
              </a:rPr>
              <a:pPr/>
              <a:t>38</a:t>
            </a:fld>
            <a:endParaRPr lang="en-US" altLang="zh-CN">
              <a:latin typeface="Arial" panose="020B0604020202020204" pitchFamily="34" charset="0"/>
            </a:endParaRPr>
          </a:p>
        </p:txBody>
      </p:sp>
      <p:sp>
        <p:nvSpPr>
          <p:cNvPr id="72707" name="Rectangle 2"/>
          <p:cNvSpPr>
            <a:spLocks noGrp="1" noRot="1" noChangeAspect="1" noChangeArrowheads="1" noTextEdit="1"/>
          </p:cNvSpPr>
          <p:nvPr>
            <p:ph type="sldImg" idx="4294967295"/>
          </p:nvPr>
        </p:nvSpPr>
        <p:spPr>
          <a:ln/>
        </p:spPr>
      </p:sp>
      <p:sp>
        <p:nvSpPr>
          <p:cNvPr id="7270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ACC5BCB-96C3-46A9-861D-A1F9A51D6268}" type="slidenum">
              <a:rPr lang="en-US" altLang="zh-CN" smtClean="0">
                <a:latin typeface="Arial" panose="020B0604020202020204" pitchFamily="34" charset="0"/>
              </a:rPr>
              <a:pPr/>
              <a:t>39</a:t>
            </a:fld>
            <a:endParaRPr lang="en-US" altLang="zh-CN">
              <a:latin typeface="Arial" panose="020B0604020202020204" pitchFamily="34" charset="0"/>
            </a:endParaRPr>
          </a:p>
        </p:txBody>
      </p:sp>
      <p:sp>
        <p:nvSpPr>
          <p:cNvPr id="74755" name="Rectangle 2"/>
          <p:cNvSpPr>
            <a:spLocks noGrp="1" noRot="1" noChangeAspect="1" noChangeArrowheads="1" noTextEdit="1"/>
          </p:cNvSpPr>
          <p:nvPr>
            <p:ph type="sldImg" idx="4294967295"/>
          </p:nvPr>
        </p:nvSpPr>
        <p:spPr>
          <a:ln/>
        </p:spPr>
      </p:sp>
      <p:sp>
        <p:nvSpPr>
          <p:cNvPr id="7475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C4ADAF6-7B5A-4A18-BCA6-1B8418FF9B14}" type="slidenum">
              <a:rPr lang="en-US" altLang="zh-CN" smtClean="0">
                <a:latin typeface="Arial" panose="020B0604020202020204" pitchFamily="34" charset="0"/>
              </a:rPr>
              <a:pPr/>
              <a:t>40</a:t>
            </a:fld>
            <a:endParaRPr lang="en-US" altLang="zh-CN">
              <a:latin typeface="Arial" panose="020B0604020202020204" pitchFamily="34" charset="0"/>
            </a:endParaRPr>
          </a:p>
        </p:txBody>
      </p:sp>
      <p:sp>
        <p:nvSpPr>
          <p:cNvPr id="76803" name="Rectangle 2"/>
          <p:cNvSpPr>
            <a:spLocks noGrp="1" noRot="1" noChangeAspect="1" noChangeArrowheads="1" noTextEdit="1"/>
          </p:cNvSpPr>
          <p:nvPr>
            <p:ph type="sldImg" idx="4294967295"/>
          </p:nvPr>
        </p:nvSpPr>
        <p:spPr>
          <a:ln/>
        </p:spPr>
      </p:sp>
      <p:sp>
        <p:nvSpPr>
          <p:cNvPr id="7680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71F57D2-39AC-4128-AE1D-11DBF32BD5D8}" type="slidenum">
              <a:rPr lang="en-US" altLang="zh-CN" smtClean="0">
                <a:latin typeface="Arial" panose="020B0604020202020204" pitchFamily="34" charset="0"/>
              </a:rPr>
              <a:pPr/>
              <a:t>41</a:t>
            </a:fld>
            <a:endParaRPr lang="en-US" altLang="zh-CN">
              <a:latin typeface="Arial" panose="020B0604020202020204" pitchFamily="34" charset="0"/>
            </a:endParaRPr>
          </a:p>
        </p:txBody>
      </p:sp>
      <p:sp>
        <p:nvSpPr>
          <p:cNvPr id="78851" name="Rectangle 2"/>
          <p:cNvSpPr>
            <a:spLocks noGrp="1" noRot="1" noChangeAspect="1" noChangeArrowheads="1" noTextEdit="1"/>
          </p:cNvSpPr>
          <p:nvPr>
            <p:ph type="sldImg" idx="4294967295"/>
          </p:nvPr>
        </p:nvSpPr>
        <p:spPr>
          <a:ln/>
        </p:spPr>
      </p:sp>
      <p:sp>
        <p:nvSpPr>
          <p:cNvPr id="7885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3B215F7-0C1E-4D43-9CC2-FE762E16AC95}" type="slidenum">
              <a:rPr lang="en-US" altLang="zh-CN" smtClean="0">
                <a:latin typeface="Arial" panose="020B0604020202020204" pitchFamily="34" charset="0"/>
              </a:rPr>
              <a:pPr/>
              <a:t>42</a:t>
            </a:fld>
            <a:endParaRPr lang="en-US" altLang="zh-CN">
              <a:latin typeface="Arial" panose="020B0604020202020204" pitchFamily="34" charset="0"/>
            </a:endParaRPr>
          </a:p>
        </p:txBody>
      </p:sp>
      <p:sp>
        <p:nvSpPr>
          <p:cNvPr id="80899" name="Rectangle 2"/>
          <p:cNvSpPr>
            <a:spLocks noGrp="1" noRot="1" noChangeAspect="1" noChangeArrowheads="1" noTextEdit="1"/>
          </p:cNvSpPr>
          <p:nvPr>
            <p:ph type="sldImg" idx="4294967295"/>
          </p:nvPr>
        </p:nvSpPr>
        <p:spPr>
          <a:ln/>
        </p:spPr>
      </p:sp>
      <p:sp>
        <p:nvSpPr>
          <p:cNvPr id="80900"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6505EA2-3F76-43A6-97E1-0EFF23C91C27}" type="slidenum">
              <a:rPr lang="en-US" altLang="zh-CN" smtClean="0">
                <a:latin typeface="Arial" panose="020B0604020202020204" pitchFamily="34" charset="0"/>
              </a:rPr>
              <a:pPr/>
              <a:t>43</a:t>
            </a:fld>
            <a:endParaRPr lang="en-US" altLang="zh-CN">
              <a:latin typeface="Arial" panose="020B0604020202020204" pitchFamily="34" charset="0"/>
            </a:endParaRPr>
          </a:p>
        </p:txBody>
      </p:sp>
      <p:sp>
        <p:nvSpPr>
          <p:cNvPr id="82947" name="Rectangle 2"/>
          <p:cNvSpPr>
            <a:spLocks noGrp="1" noRot="1" noChangeAspect="1" noChangeArrowheads="1" noTextEdit="1"/>
          </p:cNvSpPr>
          <p:nvPr>
            <p:ph type="sldImg" idx="4294967295"/>
          </p:nvPr>
        </p:nvSpPr>
        <p:spPr>
          <a:ln/>
        </p:spPr>
      </p:sp>
      <p:sp>
        <p:nvSpPr>
          <p:cNvPr id="8294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21794ED-ABC3-4CE9-AEBD-1FED867F84B5}" type="slidenum">
              <a:rPr lang="en-US" altLang="zh-CN" smtClean="0">
                <a:latin typeface="Arial" panose="020B0604020202020204" pitchFamily="34" charset="0"/>
              </a:rPr>
              <a:pPr/>
              <a:t>44</a:t>
            </a:fld>
            <a:endParaRPr lang="en-US" altLang="zh-CN">
              <a:latin typeface="Arial" panose="020B0604020202020204" pitchFamily="34" charset="0"/>
            </a:endParaRPr>
          </a:p>
        </p:txBody>
      </p:sp>
      <p:sp>
        <p:nvSpPr>
          <p:cNvPr id="84995" name="Rectangle 2"/>
          <p:cNvSpPr>
            <a:spLocks noGrp="1" noRot="1" noChangeAspect="1" noChangeArrowheads="1" noTextEdit="1"/>
          </p:cNvSpPr>
          <p:nvPr>
            <p:ph type="sldImg" idx="4294967295"/>
          </p:nvPr>
        </p:nvSpPr>
        <p:spPr>
          <a:ln/>
        </p:spPr>
      </p:sp>
      <p:sp>
        <p:nvSpPr>
          <p:cNvPr id="8499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1314299689 h 1000"/>
              <a:gd name="T6" fmla="*/ 0 w 1000"/>
              <a:gd name="T7" fmla="*/ 1314299689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5122" name="Rectangle 2"/>
          <p:cNvSpPr>
            <a:spLocks noGrp="1" noChangeArrowheads="1"/>
          </p:cNvSpPr>
          <p:nvPr>
            <p:ph type="ctrTitle"/>
          </p:nvPr>
        </p:nvSpPr>
        <p:spPr>
          <a:xfrm>
            <a:off x="323850" y="0"/>
            <a:ext cx="7772400" cy="538163"/>
          </a:xfrm>
        </p:spPr>
        <p:txBody>
          <a:bodyPr/>
          <a:lstStyle>
            <a:lvl1pPr>
              <a:defRPr sz="2300"/>
            </a:lvl1pPr>
          </a:lstStyle>
          <a:p>
            <a:r>
              <a:rPr lang="zh-CN" altLang="en-US" noProof="1"/>
              <a:t>单击此处编辑母版标题样式</a:t>
            </a:r>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fld id="{8541E649-97FC-45C4-A9B3-2FE5EF896E5E}" type="datetime10">
              <a:rPr lang="zh-CN" altLang="en-US"/>
              <a:pPr>
                <a:defRPr/>
              </a:pPr>
              <a:t>14:02</a:t>
            </a:fld>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pPr>
              <a:defRPr/>
            </a:pPr>
            <a:fld id="{96D25C96-A405-4D6B-913F-A971012E73C4}" type="slidenum">
              <a:rPr lang="en-US" altLang="zh-CN"/>
              <a:pPr>
                <a:defRPr/>
              </a:pPr>
              <a:t>‹#›</a:t>
            </a:fld>
            <a:endParaRPr lang="en-US" altLang="zh-CN"/>
          </a:p>
        </p:txBody>
      </p:sp>
    </p:spTree>
    <p:extLst>
      <p:ext uri="{BB962C8B-B14F-4D97-AF65-F5344CB8AC3E}">
        <p14:creationId xmlns:p14="http://schemas.microsoft.com/office/powerpoint/2010/main" val="3047866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dt" sz="half" idx="10"/>
          </p:nvPr>
        </p:nvSpPr>
        <p:spPr>
          <a:ln/>
        </p:spPr>
        <p:txBody>
          <a:bodyPr/>
          <a:lstStyle>
            <a:lvl1pPr>
              <a:defRPr/>
            </a:lvl1pPr>
          </a:lstStyle>
          <a:p>
            <a:pPr>
              <a:defRPr/>
            </a:pPr>
            <a:fld id="{342021F7-9DEE-476D-9EF7-9C8D1F9701C6}" type="datetime10">
              <a:rPr lang="zh-CN" altLang="en-US"/>
              <a:pPr>
                <a:defRPr/>
              </a:pPr>
              <a:t>14:02</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035F1CF9-7A21-45CF-A880-4E41960A12FE}" type="slidenum">
              <a:rPr lang="en-US" altLang="zh-CN"/>
              <a:pPr>
                <a:defRPr/>
              </a:pPr>
              <a:t>‹#›</a:t>
            </a:fld>
            <a:endParaRPr lang="en-US" altLang="zh-CN"/>
          </a:p>
        </p:txBody>
      </p:sp>
    </p:spTree>
    <p:extLst>
      <p:ext uri="{BB962C8B-B14F-4D97-AF65-F5344CB8AC3E}">
        <p14:creationId xmlns:p14="http://schemas.microsoft.com/office/powerpoint/2010/main" val="1358640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fld id="{1BB1D3D7-EC3E-46B9-B7B2-BDAADA4F67F6}" type="datetime10">
              <a:rPr lang="zh-CN" altLang="en-US"/>
              <a:pPr>
                <a:defRPr/>
              </a:pPr>
              <a:t>14:02</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AA61CD92-C841-40AC-B235-E9E868F112A6}" type="slidenum">
              <a:rPr lang="en-US" altLang="zh-CN"/>
              <a:pPr>
                <a:defRPr/>
              </a:pPr>
              <a:t>‹#›</a:t>
            </a:fld>
            <a:endParaRPr lang="en-US" altLang="zh-CN"/>
          </a:p>
        </p:txBody>
      </p:sp>
    </p:spTree>
    <p:extLst>
      <p:ext uri="{BB962C8B-B14F-4D97-AF65-F5344CB8AC3E}">
        <p14:creationId xmlns:p14="http://schemas.microsoft.com/office/powerpoint/2010/main" val="395596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dt" sz="half" idx="10"/>
          </p:nvPr>
        </p:nvSpPr>
        <p:spPr>
          <a:ln/>
        </p:spPr>
        <p:txBody>
          <a:bodyPr/>
          <a:lstStyle>
            <a:lvl1pPr>
              <a:defRPr/>
            </a:lvl1pPr>
          </a:lstStyle>
          <a:p>
            <a:pPr>
              <a:defRPr/>
            </a:pPr>
            <a:fld id="{CDDF1520-A04B-4CA5-ABA5-3CC870D322F2}" type="datetime10">
              <a:rPr lang="zh-CN" altLang="en-US"/>
              <a:pPr>
                <a:defRPr/>
              </a:pPr>
              <a:t>14:02</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BF51349C-4F48-4491-9E78-DDDBE6734680}" type="slidenum">
              <a:rPr lang="en-US" altLang="zh-CN"/>
              <a:pPr>
                <a:defRPr/>
              </a:pPr>
              <a:t>‹#›</a:t>
            </a:fld>
            <a:endParaRPr lang="en-US" altLang="zh-CN"/>
          </a:p>
        </p:txBody>
      </p:sp>
    </p:spTree>
    <p:extLst>
      <p:ext uri="{BB962C8B-B14F-4D97-AF65-F5344CB8AC3E}">
        <p14:creationId xmlns:p14="http://schemas.microsoft.com/office/powerpoint/2010/main" val="1946376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dt" sz="half" idx="10"/>
          </p:nvPr>
        </p:nvSpPr>
        <p:spPr>
          <a:ln/>
        </p:spPr>
        <p:txBody>
          <a:bodyPr/>
          <a:lstStyle>
            <a:lvl1pPr>
              <a:defRPr/>
            </a:lvl1pPr>
          </a:lstStyle>
          <a:p>
            <a:pPr>
              <a:defRPr/>
            </a:pPr>
            <a:fld id="{3340D1C2-F0C1-4CAD-8044-AB01918E2F49}" type="datetime10">
              <a:rPr lang="zh-CN" altLang="en-US"/>
              <a:pPr>
                <a:defRPr/>
              </a:pPr>
              <a:t>14:02</a:t>
            </a:fld>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1ABE583B-1993-41E4-898D-A3501820F148}" type="slidenum">
              <a:rPr lang="en-US" altLang="zh-CN"/>
              <a:pPr>
                <a:defRPr/>
              </a:pPr>
              <a:t>‹#›</a:t>
            </a:fld>
            <a:endParaRPr lang="en-US" altLang="zh-CN"/>
          </a:p>
        </p:txBody>
      </p:sp>
    </p:spTree>
    <p:extLst>
      <p:ext uri="{BB962C8B-B14F-4D97-AF65-F5344CB8AC3E}">
        <p14:creationId xmlns:p14="http://schemas.microsoft.com/office/powerpoint/2010/main" val="21096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dt" sz="half" idx="10"/>
          </p:nvPr>
        </p:nvSpPr>
        <p:spPr>
          <a:ln/>
        </p:spPr>
        <p:txBody>
          <a:bodyPr/>
          <a:lstStyle>
            <a:lvl1pPr>
              <a:defRPr/>
            </a:lvl1pPr>
          </a:lstStyle>
          <a:p>
            <a:pPr>
              <a:defRPr/>
            </a:pPr>
            <a:fld id="{CED3DB08-C39A-4C4F-AEE7-D7B5B06B45D5}" type="datetime10">
              <a:rPr lang="zh-CN" altLang="en-US"/>
              <a:pPr>
                <a:defRPr/>
              </a:pPr>
              <a:t>14:02</a:t>
            </a:fld>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C9E97B16-50A7-47CF-B94A-3198A39D7FC8}" type="slidenum">
              <a:rPr lang="en-US" altLang="zh-CN"/>
              <a:pPr>
                <a:defRPr/>
              </a:pPr>
              <a:t>‹#›</a:t>
            </a:fld>
            <a:endParaRPr lang="en-US" altLang="zh-CN"/>
          </a:p>
        </p:txBody>
      </p:sp>
    </p:spTree>
    <p:extLst>
      <p:ext uri="{BB962C8B-B14F-4D97-AF65-F5344CB8AC3E}">
        <p14:creationId xmlns:p14="http://schemas.microsoft.com/office/powerpoint/2010/main" val="3738871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32819CF1-9EB9-4E13-84D4-8C41BE92B9C3}" type="datetime10">
              <a:rPr lang="zh-CN" altLang="en-US"/>
              <a:pPr>
                <a:defRPr/>
              </a:pPr>
              <a:t>14:02</a:t>
            </a:fld>
            <a:endParaRPr lang="en-US" altLang="zh-CN"/>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ln/>
        </p:spPr>
        <p:txBody>
          <a:bodyPr/>
          <a:lstStyle>
            <a:lvl1pPr>
              <a:defRPr/>
            </a:lvl1pPr>
          </a:lstStyle>
          <a:p>
            <a:pPr>
              <a:defRPr/>
            </a:pPr>
            <a:fld id="{09E2CD90-9AFA-48C4-98BE-1D031A5C5C32}" type="slidenum">
              <a:rPr lang="en-US" altLang="zh-CN"/>
              <a:pPr>
                <a:defRPr/>
              </a:pPr>
              <a:t>‹#›</a:t>
            </a:fld>
            <a:endParaRPr lang="en-US" altLang="zh-CN"/>
          </a:p>
        </p:txBody>
      </p:sp>
    </p:spTree>
    <p:extLst>
      <p:ext uri="{BB962C8B-B14F-4D97-AF65-F5344CB8AC3E}">
        <p14:creationId xmlns:p14="http://schemas.microsoft.com/office/powerpoint/2010/main" val="2880689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D769CEA3-A45E-4530-8672-CCBFB6337C2E}" type="datetime10">
              <a:rPr lang="zh-CN" altLang="en-US"/>
              <a:pPr>
                <a:defRPr/>
              </a:pPr>
              <a:t>14:02</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2D77F48A-4508-40AC-8701-687653B435DC}" type="slidenum">
              <a:rPr lang="en-US" altLang="zh-CN"/>
              <a:pPr>
                <a:defRPr/>
              </a:pPr>
              <a:t>‹#›</a:t>
            </a:fld>
            <a:endParaRPr lang="en-US" altLang="zh-CN"/>
          </a:p>
        </p:txBody>
      </p:sp>
    </p:spTree>
    <p:extLst>
      <p:ext uri="{BB962C8B-B14F-4D97-AF65-F5344CB8AC3E}">
        <p14:creationId xmlns:p14="http://schemas.microsoft.com/office/powerpoint/2010/main" val="260395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6134AD20-38CD-4FD1-9C45-7BEBF7D91660}" type="datetime10">
              <a:rPr lang="zh-CN" altLang="en-US"/>
              <a:pPr>
                <a:defRPr/>
              </a:pPr>
              <a:t>14:02</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B356DE93-B02B-442E-A2DC-0E39A64EE04F}" type="slidenum">
              <a:rPr lang="en-US" altLang="zh-CN"/>
              <a:pPr>
                <a:defRPr/>
              </a:pPr>
              <a:t>‹#›</a:t>
            </a:fld>
            <a:endParaRPr lang="en-US" altLang="zh-CN"/>
          </a:p>
        </p:txBody>
      </p:sp>
    </p:spTree>
    <p:extLst>
      <p:ext uri="{BB962C8B-B14F-4D97-AF65-F5344CB8AC3E}">
        <p14:creationId xmlns:p14="http://schemas.microsoft.com/office/powerpoint/2010/main" val="2684514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dt" sz="half" idx="10"/>
          </p:nvPr>
        </p:nvSpPr>
        <p:spPr>
          <a:ln/>
        </p:spPr>
        <p:txBody>
          <a:bodyPr/>
          <a:lstStyle>
            <a:lvl1pPr>
              <a:defRPr/>
            </a:lvl1pPr>
          </a:lstStyle>
          <a:p>
            <a:pPr>
              <a:defRPr/>
            </a:pPr>
            <a:fld id="{CEB44E9B-4B51-4871-A23A-3C43ADBE8EBA}" type="datetime10">
              <a:rPr lang="zh-CN" altLang="en-US"/>
              <a:pPr>
                <a:defRPr/>
              </a:pPr>
              <a:t>14:02</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832770AD-5140-45FD-B0AE-E3D8EB5FB93D}" type="slidenum">
              <a:rPr lang="en-US" altLang="zh-CN"/>
              <a:pPr>
                <a:defRPr/>
              </a:pPr>
              <a:t>‹#›</a:t>
            </a:fld>
            <a:endParaRPr lang="en-US" altLang="zh-CN"/>
          </a:p>
        </p:txBody>
      </p:sp>
    </p:spTree>
    <p:extLst>
      <p:ext uri="{BB962C8B-B14F-4D97-AF65-F5344CB8AC3E}">
        <p14:creationId xmlns:p14="http://schemas.microsoft.com/office/powerpoint/2010/main" val="2711511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70650" y="115888"/>
            <a:ext cx="2097088" cy="59039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79388" y="115888"/>
            <a:ext cx="6138862" cy="59039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dt" sz="half" idx="10"/>
          </p:nvPr>
        </p:nvSpPr>
        <p:spPr>
          <a:ln/>
        </p:spPr>
        <p:txBody>
          <a:bodyPr/>
          <a:lstStyle>
            <a:lvl1pPr>
              <a:defRPr/>
            </a:lvl1pPr>
          </a:lstStyle>
          <a:p>
            <a:pPr>
              <a:defRPr/>
            </a:pPr>
            <a:fld id="{C1D34D85-CB63-4157-AFC8-B6CEE93235D9}" type="datetime10">
              <a:rPr lang="zh-CN" altLang="en-US"/>
              <a:pPr>
                <a:defRPr/>
              </a:pPr>
              <a:t>14:02</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019AB24C-0F29-4E87-A03B-87125F67CEC6}" type="slidenum">
              <a:rPr lang="en-US" altLang="zh-CN"/>
              <a:pPr>
                <a:defRPr/>
              </a:pPr>
              <a:t>‹#›</a:t>
            </a:fld>
            <a:endParaRPr lang="en-US" altLang="zh-CN"/>
          </a:p>
        </p:txBody>
      </p:sp>
    </p:spTree>
    <p:extLst>
      <p:ext uri="{BB962C8B-B14F-4D97-AF65-F5344CB8AC3E}">
        <p14:creationId xmlns:p14="http://schemas.microsoft.com/office/powerpoint/2010/main" val="3384949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179388" y="115888"/>
            <a:ext cx="421322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第</a:t>
            </a:r>
            <a:r>
              <a:rPr lang="en-US" altLang="zh-CN"/>
              <a:t>1</a:t>
            </a:r>
            <a:r>
              <a:rPr lang="zh-CN" altLang="en-US"/>
              <a:t>章 控制系统的基本概念</a:t>
            </a:r>
          </a:p>
        </p:txBody>
      </p:sp>
      <p:sp>
        <p:nvSpPr>
          <p:cNvPr id="1027" name="Rectangle 3"/>
          <p:cNvSpPr>
            <a:spLocks noGrp="1" noChangeArrowheads="1"/>
          </p:cNvSpPr>
          <p:nvPr>
            <p:ph type="body" idx="4294967295"/>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1314263702 h 1000"/>
              <a:gd name="T6" fmla="*/ 0 w 1000"/>
              <a:gd name="T7" fmla="*/ 1314263702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Line 5"/>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a:defRPr/>
            </a:pPr>
            <a:fld id="{CB979F71-00F9-4240-92B2-3FD05AB78240}" type="datetime10">
              <a:rPr lang="zh-CN" altLang="en-US"/>
              <a:pPr>
                <a:defRPr/>
              </a:pPr>
              <a:t>14:02</a:t>
            </a:fld>
            <a:endParaRPr lang="en-US" altLang="zh-CN"/>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a:defRPr/>
            </a:pPr>
            <a:endParaRPr lang="en-US" altLang="zh-CN"/>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fld id="{75EE9EC4-6AC4-4F98-967E-45E7031C7F3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7"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p:txStyles>
    <p:titleStyle>
      <a:lvl1pPr algn="l" rtl="0" eaLnBrk="0" fontAlgn="base" hangingPunct="0">
        <a:spcBef>
          <a:spcPct val="0"/>
        </a:spcBef>
        <a:spcAft>
          <a:spcPct val="0"/>
        </a:spcAft>
        <a:defRPr sz="2000" b="1">
          <a:solidFill>
            <a:schemeClr val="tx2"/>
          </a:solidFill>
          <a:latin typeface="+mj-lt"/>
          <a:ea typeface="+mj-ea"/>
          <a:cs typeface="+mj-cs"/>
        </a:defRPr>
      </a:lvl1pPr>
      <a:lvl2pPr algn="l" rtl="0" eaLnBrk="0" fontAlgn="base" hangingPunct="0">
        <a:spcBef>
          <a:spcPct val="0"/>
        </a:spcBef>
        <a:spcAft>
          <a:spcPct val="0"/>
        </a:spcAft>
        <a:defRPr sz="2000" b="1">
          <a:solidFill>
            <a:schemeClr val="tx2"/>
          </a:solidFill>
          <a:latin typeface="楷体_GB2312" pitchFamily="49" charset="-122"/>
          <a:ea typeface="楷体_GB2312" pitchFamily="49" charset="-122"/>
        </a:defRPr>
      </a:lvl2pPr>
      <a:lvl3pPr algn="l" rtl="0" eaLnBrk="0" fontAlgn="base" hangingPunct="0">
        <a:spcBef>
          <a:spcPct val="0"/>
        </a:spcBef>
        <a:spcAft>
          <a:spcPct val="0"/>
        </a:spcAft>
        <a:defRPr sz="2000" b="1">
          <a:solidFill>
            <a:schemeClr val="tx2"/>
          </a:solidFill>
          <a:latin typeface="楷体_GB2312" pitchFamily="49" charset="-122"/>
          <a:ea typeface="楷体_GB2312" pitchFamily="49" charset="-122"/>
        </a:defRPr>
      </a:lvl3pPr>
      <a:lvl4pPr algn="l" rtl="0" eaLnBrk="0" fontAlgn="base" hangingPunct="0">
        <a:spcBef>
          <a:spcPct val="0"/>
        </a:spcBef>
        <a:spcAft>
          <a:spcPct val="0"/>
        </a:spcAft>
        <a:defRPr sz="2000" b="1">
          <a:solidFill>
            <a:schemeClr val="tx2"/>
          </a:solidFill>
          <a:latin typeface="楷体_GB2312" pitchFamily="49" charset="-122"/>
          <a:ea typeface="楷体_GB2312" pitchFamily="49" charset="-122"/>
        </a:defRPr>
      </a:lvl4pPr>
      <a:lvl5pPr algn="l" rtl="0" eaLnBrk="0" fontAlgn="base" hangingPunct="0">
        <a:spcBef>
          <a:spcPct val="0"/>
        </a:spcBef>
        <a:spcAft>
          <a:spcPct val="0"/>
        </a:spcAft>
        <a:defRPr sz="2000" b="1">
          <a:solidFill>
            <a:schemeClr val="tx2"/>
          </a:solidFill>
          <a:latin typeface="楷体_GB2312" pitchFamily="49" charset="-122"/>
          <a:ea typeface="楷体_GB2312" pitchFamily="49" charset="-122"/>
        </a:defRPr>
      </a:lvl5pPr>
      <a:lvl6pPr marL="457200" algn="l" rtl="0" fontAlgn="base">
        <a:spcBef>
          <a:spcPct val="0"/>
        </a:spcBef>
        <a:spcAft>
          <a:spcPct val="0"/>
        </a:spcAft>
        <a:defRPr sz="2000" b="1">
          <a:solidFill>
            <a:schemeClr val="tx2"/>
          </a:solidFill>
          <a:latin typeface="楷体_GB2312" pitchFamily="49" charset="-122"/>
          <a:ea typeface="楷体_GB2312" pitchFamily="49" charset="-122"/>
        </a:defRPr>
      </a:lvl6pPr>
      <a:lvl7pPr marL="914400" algn="l" rtl="0" fontAlgn="base">
        <a:spcBef>
          <a:spcPct val="0"/>
        </a:spcBef>
        <a:spcAft>
          <a:spcPct val="0"/>
        </a:spcAft>
        <a:defRPr sz="2000" b="1">
          <a:solidFill>
            <a:schemeClr val="tx2"/>
          </a:solidFill>
          <a:latin typeface="楷体_GB2312" pitchFamily="49" charset="-122"/>
          <a:ea typeface="楷体_GB2312" pitchFamily="49" charset="-122"/>
        </a:defRPr>
      </a:lvl7pPr>
      <a:lvl8pPr marL="1371600" algn="l" rtl="0" fontAlgn="base">
        <a:spcBef>
          <a:spcPct val="0"/>
        </a:spcBef>
        <a:spcAft>
          <a:spcPct val="0"/>
        </a:spcAft>
        <a:defRPr sz="2000" b="1">
          <a:solidFill>
            <a:schemeClr val="tx2"/>
          </a:solidFill>
          <a:latin typeface="楷体_GB2312" pitchFamily="49" charset="-122"/>
          <a:ea typeface="楷体_GB2312" pitchFamily="49" charset="-122"/>
        </a:defRPr>
      </a:lvl8pPr>
      <a:lvl9pPr marL="1828800" algn="l" rtl="0" fontAlgn="base">
        <a:spcBef>
          <a:spcPct val="0"/>
        </a:spcBef>
        <a:spcAft>
          <a:spcPct val="0"/>
        </a:spcAft>
        <a:defRPr sz="2000" b="1">
          <a:solidFill>
            <a:schemeClr val="tx2"/>
          </a:solidFill>
          <a:latin typeface="楷体_GB2312" pitchFamily="49" charset="-122"/>
          <a:ea typeface="楷体_GB2312" pitchFamily="49"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DB5F92D-2DF7-420B-AABF-374BE248CFF8}" type="datetime10">
              <a:rPr lang="zh-CN" altLang="en-US" smtClean="0"/>
              <a:pPr/>
              <a:t>14:02</a:t>
            </a:fld>
            <a:endParaRPr lang="zh-CN" altLang="en-US"/>
          </a:p>
        </p:txBody>
      </p:sp>
      <p:sp>
        <p:nvSpPr>
          <p:cNvPr id="5123"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693F1D5-3726-44B2-85F5-D171BF471D31}" type="slidenum">
              <a:rPr lang="en-US" altLang="zh-CN" smtClean="0"/>
              <a:pPr/>
              <a:t>1</a:t>
            </a:fld>
            <a:endParaRPr lang="en-US" altLang="zh-CN"/>
          </a:p>
        </p:txBody>
      </p:sp>
      <p:sp>
        <p:nvSpPr>
          <p:cNvPr id="5124" name="Rectangle 2"/>
          <p:cNvSpPr>
            <a:spLocks noGrp="1" noChangeArrowheads="1"/>
          </p:cNvSpPr>
          <p:nvPr>
            <p:ph type="ctrTitle"/>
          </p:nvPr>
        </p:nvSpPr>
        <p:spPr>
          <a:xfrm>
            <a:off x="827088" y="692150"/>
            <a:ext cx="7632700" cy="1162050"/>
          </a:xfrm>
        </p:spPr>
        <p:txBody>
          <a:bodyPr/>
          <a:lstStyle/>
          <a:p>
            <a:pPr algn="ctr" eaLnBrk="1" hangingPunct="1"/>
            <a:r>
              <a:rPr lang="zh-CN" altLang="en-US" sz="6000">
                <a:latin typeface="楷体" panose="02010609060101010101" pitchFamily="49" charset="-122"/>
                <a:ea typeface="楷体" panose="02010609060101010101" pitchFamily="49" charset="-122"/>
              </a:rPr>
              <a:t>机械控制工程基础</a:t>
            </a:r>
          </a:p>
        </p:txBody>
      </p:sp>
      <p:sp>
        <p:nvSpPr>
          <p:cNvPr id="93188" name="Text Box 4"/>
          <p:cNvSpPr txBox="1">
            <a:spLocks noChangeArrowheads="1"/>
          </p:cNvSpPr>
          <p:nvPr/>
        </p:nvSpPr>
        <p:spPr bwMode="auto">
          <a:xfrm>
            <a:off x="3635375" y="4835525"/>
            <a:ext cx="266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2800">
                <a:latin typeface="华文行楷" panose="02010800040101010101" pitchFamily="2" charset="-122"/>
                <a:ea typeface="华文行楷" panose="02010800040101010101" pitchFamily="2" charset="-122"/>
              </a:rPr>
              <a:t>主讲：卢继霞</a:t>
            </a:r>
          </a:p>
        </p:txBody>
      </p:sp>
      <p:sp>
        <p:nvSpPr>
          <p:cNvPr id="93190" name="Text Box 6"/>
          <p:cNvSpPr txBox="1">
            <a:spLocks noChangeArrowheads="1"/>
          </p:cNvSpPr>
          <p:nvPr/>
        </p:nvSpPr>
        <p:spPr bwMode="auto">
          <a:xfrm>
            <a:off x="1258888" y="2708275"/>
            <a:ext cx="6186487"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lang="zh-CN" altLang="en-US" sz="3600">
                <a:latin typeface="华文行楷" panose="02010800040101010101" pitchFamily="2" charset="-122"/>
                <a:ea typeface="华文行楷" panose="02010800040101010101" pitchFamily="2" charset="-122"/>
              </a:rPr>
              <a:t>教材：</a:t>
            </a:r>
            <a:r>
              <a:rPr lang="en-US" altLang="zh-CN" sz="3600">
                <a:latin typeface="华文行楷" panose="02010800040101010101" pitchFamily="2" charset="-122"/>
                <a:ea typeface="华文行楷" panose="02010800040101010101" pitchFamily="2" charset="-122"/>
              </a:rPr>
              <a:t>《</a:t>
            </a:r>
            <a:r>
              <a:rPr lang="zh-CN" altLang="en-US" sz="3600">
                <a:latin typeface="华文行楷" panose="02010800040101010101" pitchFamily="2" charset="-122"/>
                <a:ea typeface="华文行楷" panose="02010800040101010101" pitchFamily="2" charset="-122"/>
              </a:rPr>
              <a:t>控制工程基础</a:t>
            </a:r>
            <a:r>
              <a:rPr lang="en-US" altLang="zh-CN" sz="3600">
                <a:latin typeface="华文行楷" panose="02010800040101010101" pitchFamily="2" charset="-122"/>
                <a:ea typeface="华文行楷" panose="02010800040101010101" pitchFamily="2" charset="-122"/>
              </a:rPr>
              <a:t>》 </a:t>
            </a:r>
          </a:p>
          <a:p>
            <a:pPr eaLnBrk="1" hangingPunct="1">
              <a:lnSpc>
                <a:spcPct val="130000"/>
              </a:lnSpc>
            </a:pPr>
            <a:r>
              <a:rPr lang="zh-CN" altLang="en-US" sz="3600">
                <a:latin typeface="华文行楷" panose="02010800040101010101" pitchFamily="2" charset="-122"/>
                <a:ea typeface="华文行楷" panose="02010800040101010101" pitchFamily="2" charset="-122"/>
              </a:rPr>
              <a:t>        王积伟 吴振顺 主编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90"/>
                                        </p:tgtEl>
                                        <p:attrNameLst>
                                          <p:attrName>style.visibility</p:attrName>
                                        </p:attrNameLst>
                                      </p:cBhvr>
                                      <p:to>
                                        <p:strVal val="visible"/>
                                      </p:to>
                                    </p:set>
                                    <p:animEffect transition="in" filter="blinds(horizontal)">
                                      <p:cBhvr>
                                        <p:cTn id="7" dur="500"/>
                                        <p:tgtEl>
                                          <p:spTgt spid="931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93188"/>
                                        </p:tgtEl>
                                        <p:attrNameLst>
                                          <p:attrName>style.visibility</p:attrName>
                                        </p:attrNameLst>
                                      </p:cBhvr>
                                      <p:to>
                                        <p:strVal val="visible"/>
                                      </p:to>
                                    </p:set>
                                    <p:anim calcmode="lin" valueType="num">
                                      <p:cBhvr>
                                        <p:cTn id="12" dur="1000" fill="hold"/>
                                        <p:tgtEl>
                                          <p:spTgt spid="93188"/>
                                        </p:tgtEl>
                                        <p:attrNameLst>
                                          <p:attrName>ppt_w</p:attrName>
                                        </p:attrNameLst>
                                      </p:cBhvr>
                                      <p:tavLst>
                                        <p:tav tm="0">
                                          <p:val>
                                            <p:strVal val="#ppt_w*0.70"/>
                                          </p:val>
                                        </p:tav>
                                        <p:tav tm="100000">
                                          <p:val>
                                            <p:strVal val="#ppt_w"/>
                                          </p:val>
                                        </p:tav>
                                      </p:tavLst>
                                    </p:anim>
                                    <p:anim calcmode="lin" valueType="num">
                                      <p:cBhvr>
                                        <p:cTn id="13" dur="1000" fill="hold"/>
                                        <p:tgtEl>
                                          <p:spTgt spid="93188"/>
                                        </p:tgtEl>
                                        <p:attrNameLst>
                                          <p:attrName>ppt_h</p:attrName>
                                        </p:attrNameLst>
                                      </p:cBhvr>
                                      <p:tavLst>
                                        <p:tav tm="0">
                                          <p:val>
                                            <p:strVal val="#ppt_h"/>
                                          </p:val>
                                        </p:tav>
                                        <p:tav tm="100000">
                                          <p:val>
                                            <p:strVal val="#ppt_h"/>
                                          </p:val>
                                        </p:tav>
                                      </p:tavLst>
                                    </p:anim>
                                    <p:animEffect transition="in" filter="fade">
                                      <p:cBhvr>
                                        <p:cTn id="14" dur="1000"/>
                                        <p:tgtEl>
                                          <p:spTgt spid="9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P spid="9319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B318B2D-65FC-406D-BBDD-7584BFF94772}" type="datetime10">
              <a:rPr lang="zh-CN" altLang="en-US" smtClean="0"/>
              <a:pPr/>
              <a:t>14:02</a:t>
            </a:fld>
            <a:endParaRPr lang="zh-CN" altLang="en-US"/>
          </a:p>
        </p:txBody>
      </p:sp>
      <p:sp>
        <p:nvSpPr>
          <p:cNvPr id="717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FE6DB80-FC74-4A58-8190-B4167A982273}" type="slidenum">
              <a:rPr lang="en-US" altLang="zh-CN" smtClean="0"/>
              <a:pPr/>
              <a:t>2</a:t>
            </a:fld>
            <a:endParaRPr lang="en-US" altLang="zh-CN"/>
          </a:p>
        </p:txBody>
      </p:sp>
      <p:sp>
        <p:nvSpPr>
          <p:cNvPr id="7172" name="Text Box 2"/>
          <p:cNvSpPr txBox="1">
            <a:spLocks noChangeArrowheads="1"/>
          </p:cNvSpPr>
          <p:nvPr/>
        </p:nvSpPr>
        <p:spPr bwMode="auto">
          <a:xfrm>
            <a:off x="684213" y="836613"/>
            <a:ext cx="2019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b="1">
                <a:latin typeface="华文楷体" panose="02010600040101010101" pitchFamily="2" charset="-122"/>
                <a:ea typeface="华文楷体" panose="02010600040101010101" pitchFamily="2" charset="-122"/>
              </a:rPr>
              <a:t>参考书籍</a:t>
            </a:r>
          </a:p>
        </p:txBody>
      </p:sp>
      <p:sp>
        <p:nvSpPr>
          <p:cNvPr id="7173" name="Text Box 3"/>
          <p:cNvSpPr txBox="1">
            <a:spLocks noChangeArrowheads="1"/>
          </p:cNvSpPr>
          <p:nvPr/>
        </p:nvSpPr>
        <p:spPr bwMode="auto">
          <a:xfrm>
            <a:off x="684213" y="2133600"/>
            <a:ext cx="8208962"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华文行楷" panose="02010800040101010101" pitchFamily="2" charset="-122"/>
                <a:ea typeface="华文行楷" panose="02010800040101010101" pitchFamily="2" charset="-122"/>
              </a:rPr>
              <a:t>1.  </a:t>
            </a:r>
            <a:r>
              <a:rPr lang="zh-CN" altLang="en-US" sz="3200">
                <a:latin typeface="华文行楷" panose="02010800040101010101" pitchFamily="2" charset="-122"/>
                <a:ea typeface="华文行楷" panose="02010800040101010101" pitchFamily="2" charset="-122"/>
              </a:rPr>
              <a:t>王显正，莫锦秋，王旭永 编著，控制理论基础，科学出版社。</a:t>
            </a:r>
          </a:p>
        </p:txBody>
      </p:sp>
      <p:sp>
        <p:nvSpPr>
          <p:cNvPr id="7174" name="Text Box 4"/>
          <p:cNvSpPr txBox="1">
            <a:spLocks noChangeArrowheads="1"/>
          </p:cNvSpPr>
          <p:nvPr/>
        </p:nvSpPr>
        <p:spPr bwMode="auto">
          <a:xfrm>
            <a:off x="684213" y="3644900"/>
            <a:ext cx="80851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华文行楷" panose="02010800040101010101" pitchFamily="2" charset="-122"/>
                <a:ea typeface="华文行楷" panose="02010800040101010101" pitchFamily="2" charset="-122"/>
              </a:rPr>
              <a:t>2.  </a:t>
            </a:r>
            <a:r>
              <a:rPr lang="zh-CN" altLang="en-US" sz="3200">
                <a:latin typeface="华文行楷" panose="02010800040101010101" pitchFamily="2" charset="-122"/>
                <a:ea typeface="华文行楷" panose="02010800040101010101" pitchFamily="2" charset="-122"/>
              </a:rPr>
              <a:t>胡寿松著，自动控制原理，科学出版社。</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E05A3A8-437F-41F4-A5FF-DEC157887CEB}" type="datetime10">
              <a:rPr lang="zh-CN" altLang="en-US" smtClean="0"/>
              <a:pPr/>
              <a:t>14:02</a:t>
            </a:fld>
            <a:endParaRPr lang="zh-CN" altLang="en-US"/>
          </a:p>
        </p:txBody>
      </p:sp>
      <p:sp>
        <p:nvSpPr>
          <p:cNvPr id="9219"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CAB487F-33AA-4248-858E-851F43641506}" type="slidenum">
              <a:rPr lang="en-US" altLang="zh-CN" smtClean="0"/>
              <a:pPr/>
              <a:t>3</a:t>
            </a:fld>
            <a:endParaRPr lang="en-US" altLang="zh-CN"/>
          </a:p>
        </p:txBody>
      </p:sp>
      <p:sp>
        <p:nvSpPr>
          <p:cNvPr id="9220" name="TextBox 3"/>
          <p:cNvSpPr txBox="1">
            <a:spLocks noChangeArrowheads="1"/>
          </p:cNvSpPr>
          <p:nvPr/>
        </p:nvSpPr>
        <p:spPr bwMode="auto">
          <a:xfrm>
            <a:off x="755650" y="908050"/>
            <a:ext cx="203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b="1">
                <a:latin typeface="华文楷体" panose="02010600040101010101" pitchFamily="2" charset="-122"/>
                <a:ea typeface="华文楷体" panose="02010600040101010101" pitchFamily="2" charset="-122"/>
              </a:rPr>
              <a:t>课程性质</a:t>
            </a:r>
          </a:p>
        </p:txBody>
      </p:sp>
      <p:sp>
        <p:nvSpPr>
          <p:cNvPr id="9221" name="TextBox 4"/>
          <p:cNvSpPr txBox="1">
            <a:spLocks noChangeArrowheads="1"/>
          </p:cNvSpPr>
          <p:nvPr/>
        </p:nvSpPr>
        <p:spPr bwMode="auto">
          <a:xfrm>
            <a:off x="611188" y="2565400"/>
            <a:ext cx="7705725"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50000"/>
              </a:lnSpc>
            </a:pPr>
            <a:r>
              <a:rPr lang="zh-CN" altLang="en-US" sz="2800" dirty="0">
                <a:latin typeface="华文楷体" panose="02010600040101010101" pitchFamily="2" charset="-122"/>
                <a:ea typeface="华文楷体" panose="02010600040101010101" pitchFamily="2" charset="-122"/>
              </a:rPr>
              <a:t>        机械工程及</a:t>
            </a:r>
            <a:r>
              <a:rPr lang="zh-CN" altLang="en-US" sz="2800" b="1" dirty="0">
                <a:latin typeface="华文楷体" panose="02010600040101010101" pitchFamily="2" charset="-122"/>
                <a:ea typeface="华文楷体" panose="02010600040101010101" pitchFamily="2" charset="-122"/>
              </a:rPr>
              <a:t>自动化</a:t>
            </a:r>
            <a:r>
              <a:rPr lang="zh-CN" altLang="en-US" sz="2800" dirty="0">
                <a:latin typeface="华文楷体" panose="02010600040101010101" pitchFamily="2" charset="-122"/>
                <a:ea typeface="华文楷体" panose="02010600040101010101" pitchFamily="2" charset="-122"/>
              </a:rPr>
              <a:t>专业的</a:t>
            </a:r>
            <a:r>
              <a:rPr lang="zh-CN" altLang="en-US" sz="2800" b="1" dirty="0">
                <a:latin typeface="华文楷体" panose="02010600040101010101" pitchFamily="2" charset="-122"/>
                <a:ea typeface="华文楷体" panose="02010600040101010101" pitchFamily="2" charset="-122"/>
              </a:rPr>
              <a:t>专业基础</a:t>
            </a:r>
            <a:r>
              <a:rPr lang="zh-CN" altLang="en-US" sz="2800" dirty="0">
                <a:latin typeface="华文楷体" panose="02010600040101010101" pitchFamily="2" charset="-122"/>
                <a:ea typeface="华文楷体" panose="02010600040101010101" pitchFamily="2" charset="-122"/>
              </a:rPr>
              <a:t>课，为后续的专业课程（机电一体化系统设计、数控技术）提供知识基础。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2B9EB94-B693-4C70-AEAE-69B42F4729BE}" type="datetime10">
              <a:rPr lang="zh-CN" altLang="en-US" smtClean="0"/>
              <a:pPr/>
              <a:t>14:02</a:t>
            </a:fld>
            <a:endParaRPr lang="zh-CN" altLang="en-US"/>
          </a:p>
        </p:txBody>
      </p:sp>
      <p:sp>
        <p:nvSpPr>
          <p:cNvPr id="10243"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7CC694B-172D-425B-8424-06634BF1037B}" type="slidenum">
              <a:rPr lang="en-US" altLang="zh-CN" smtClean="0"/>
              <a:pPr/>
              <a:t>4</a:t>
            </a:fld>
            <a:endParaRPr lang="en-US" altLang="zh-CN"/>
          </a:p>
        </p:txBody>
      </p:sp>
      <p:sp>
        <p:nvSpPr>
          <p:cNvPr id="10244" name="Text Box 2"/>
          <p:cNvSpPr txBox="1">
            <a:spLocks noChangeArrowheads="1"/>
          </p:cNvSpPr>
          <p:nvPr/>
        </p:nvSpPr>
        <p:spPr bwMode="auto">
          <a:xfrm>
            <a:off x="1619250" y="2565400"/>
            <a:ext cx="62722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Times New Roman" panose="02020603050405020304" pitchFamily="18" charset="0"/>
              </a:rPr>
              <a:t>作业</a:t>
            </a:r>
            <a:r>
              <a:rPr lang="en-US" altLang="zh-CN" sz="2800" b="1">
                <a:latin typeface="Times New Roman" panose="02020603050405020304" pitchFamily="18" charset="0"/>
              </a:rPr>
              <a:t>+</a:t>
            </a:r>
            <a:r>
              <a:rPr lang="zh-CN" altLang="en-US" sz="2800" b="1">
                <a:latin typeface="Times New Roman" panose="02020603050405020304" pitchFamily="18" charset="0"/>
              </a:rPr>
              <a:t>实验环节</a:t>
            </a:r>
            <a:r>
              <a:rPr lang="en-US" altLang="zh-CN" sz="2800" b="1">
                <a:latin typeface="Times New Roman" panose="02020603050405020304" pitchFamily="18" charset="0"/>
              </a:rPr>
              <a:t>+</a:t>
            </a:r>
            <a:r>
              <a:rPr lang="zh-CN" altLang="en-US" sz="2800" b="1">
                <a:latin typeface="Times New Roman" panose="02020603050405020304" pitchFamily="18" charset="0"/>
              </a:rPr>
              <a:t>考勤及课堂表现   </a:t>
            </a:r>
            <a:r>
              <a:rPr lang="en-US" altLang="zh-CN" sz="2800" b="1">
                <a:latin typeface="Times New Roman" panose="02020603050405020304" pitchFamily="18" charset="0"/>
              </a:rPr>
              <a:t>30%</a:t>
            </a:r>
          </a:p>
        </p:txBody>
      </p:sp>
      <p:sp>
        <p:nvSpPr>
          <p:cNvPr id="10245" name="Text Box 5"/>
          <p:cNvSpPr txBox="1">
            <a:spLocks noChangeArrowheads="1"/>
          </p:cNvSpPr>
          <p:nvPr/>
        </p:nvSpPr>
        <p:spPr bwMode="auto">
          <a:xfrm>
            <a:off x="2555875" y="3860800"/>
            <a:ext cx="3035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Times New Roman" panose="02020603050405020304" pitchFamily="18" charset="0"/>
              </a:rPr>
              <a:t>期末测验        </a:t>
            </a:r>
            <a:r>
              <a:rPr lang="en-US" altLang="zh-CN" sz="2800" b="1">
                <a:latin typeface="Times New Roman" panose="02020603050405020304" pitchFamily="18" charset="0"/>
              </a:rPr>
              <a:t>70%</a:t>
            </a:r>
          </a:p>
        </p:txBody>
      </p:sp>
      <p:sp>
        <p:nvSpPr>
          <p:cNvPr id="10246" name="Text Box 6"/>
          <p:cNvSpPr txBox="1">
            <a:spLocks noChangeArrowheads="1"/>
          </p:cNvSpPr>
          <p:nvPr/>
        </p:nvSpPr>
        <p:spPr bwMode="auto">
          <a:xfrm>
            <a:off x="539750" y="836613"/>
            <a:ext cx="26638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b="1">
                <a:latin typeface="华文楷体" panose="02010600040101010101" pitchFamily="2" charset="-122"/>
                <a:ea typeface="华文楷体" panose="02010600040101010101" pitchFamily="2" charset="-122"/>
              </a:rPr>
              <a:t>最终评价</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A6B2050-A5F0-4589-B201-B705E78FC03E}" type="datetime10">
              <a:rPr lang="zh-CN" altLang="en-US" smtClean="0"/>
              <a:pPr/>
              <a:t>14:02</a:t>
            </a:fld>
            <a:endParaRPr lang="zh-CN" altLang="en-US"/>
          </a:p>
        </p:txBody>
      </p:sp>
      <p:sp>
        <p:nvSpPr>
          <p:cNvPr id="12291"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4A566B1-625D-497B-91D8-DE06529EE2F4}" type="slidenum">
              <a:rPr lang="en-US" altLang="zh-CN" smtClean="0"/>
              <a:pPr/>
              <a:t>5</a:t>
            </a:fld>
            <a:endParaRPr lang="en-US" altLang="zh-CN"/>
          </a:p>
        </p:txBody>
      </p:sp>
      <p:sp>
        <p:nvSpPr>
          <p:cNvPr id="12292" name="TextBox 3"/>
          <p:cNvSpPr txBox="1">
            <a:spLocks noChangeArrowheads="1"/>
          </p:cNvSpPr>
          <p:nvPr/>
        </p:nvSpPr>
        <p:spPr bwMode="auto">
          <a:xfrm>
            <a:off x="1116013" y="2403475"/>
            <a:ext cx="7161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200">
                <a:latin typeface="楷体" panose="02010609060101010101" pitchFamily="49" charset="-122"/>
                <a:ea typeface="楷体" panose="02010609060101010101" pitchFamily="49" charset="-122"/>
              </a:rPr>
              <a:t>第</a:t>
            </a:r>
            <a:r>
              <a:rPr lang="en-US" altLang="zh-CN" sz="3200">
                <a:latin typeface="楷体" panose="02010609060101010101" pitchFamily="49" charset="-122"/>
                <a:ea typeface="楷体" panose="02010609060101010101" pitchFamily="49" charset="-122"/>
              </a:rPr>
              <a:t>1</a:t>
            </a:r>
            <a:r>
              <a:rPr lang="zh-CN" altLang="en-US" sz="3200">
                <a:latin typeface="楷体" panose="02010609060101010101" pitchFamily="49" charset="-122"/>
                <a:ea typeface="楷体" panose="02010609060101010101" pitchFamily="49" charset="-122"/>
              </a:rPr>
              <a:t>章  控制系统的基本概念（</a:t>
            </a:r>
            <a:r>
              <a:rPr lang="en-US" altLang="zh-CN" sz="3200">
                <a:latin typeface="楷体" panose="02010609060101010101" pitchFamily="49" charset="-122"/>
                <a:ea typeface="楷体" panose="02010609060101010101" pitchFamily="49" charset="-122"/>
              </a:rPr>
              <a:t>2</a:t>
            </a:r>
            <a:r>
              <a:rPr lang="zh-CN" altLang="en-US" sz="3200">
                <a:latin typeface="楷体" panose="02010609060101010101" pitchFamily="49" charset="-122"/>
                <a:ea typeface="楷体" panose="02010609060101010101" pitchFamily="49" charset="-122"/>
              </a:rPr>
              <a:t>学时）</a:t>
            </a:r>
          </a:p>
        </p:txBody>
      </p:sp>
      <p:sp>
        <p:nvSpPr>
          <p:cNvPr id="12293" name="TextBox 4"/>
          <p:cNvSpPr txBox="1">
            <a:spLocks noChangeArrowheads="1"/>
          </p:cNvSpPr>
          <p:nvPr/>
        </p:nvSpPr>
        <p:spPr bwMode="auto">
          <a:xfrm>
            <a:off x="1116013" y="2968625"/>
            <a:ext cx="5108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200">
                <a:latin typeface="楷体" panose="02010609060101010101" pitchFamily="49" charset="-122"/>
                <a:ea typeface="楷体" panose="02010609060101010101" pitchFamily="49" charset="-122"/>
              </a:rPr>
              <a:t>第</a:t>
            </a:r>
            <a:r>
              <a:rPr lang="en-US" altLang="zh-CN" sz="3200">
                <a:latin typeface="楷体" panose="02010609060101010101" pitchFamily="49" charset="-122"/>
                <a:ea typeface="楷体" panose="02010609060101010101" pitchFamily="49" charset="-122"/>
              </a:rPr>
              <a:t>2</a:t>
            </a:r>
            <a:r>
              <a:rPr lang="zh-CN" altLang="en-US" sz="3200">
                <a:latin typeface="楷体" panose="02010609060101010101" pitchFamily="49" charset="-122"/>
                <a:ea typeface="楷体" panose="02010609060101010101" pitchFamily="49" charset="-122"/>
              </a:rPr>
              <a:t>章  数学模型（</a:t>
            </a:r>
            <a:r>
              <a:rPr lang="en-US" altLang="zh-CN" sz="3200">
                <a:latin typeface="楷体" panose="02010609060101010101" pitchFamily="49" charset="-122"/>
                <a:ea typeface="楷体" panose="02010609060101010101" pitchFamily="49" charset="-122"/>
              </a:rPr>
              <a:t>8</a:t>
            </a:r>
            <a:r>
              <a:rPr lang="zh-CN" altLang="en-US" sz="3200">
                <a:latin typeface="楷体" panose="02010609060101010101" pitchFamily="49" charset="-122"/>
                <a:ea typeface="楷体" panose="02010609060101010101" pitchFamily="49" charset="-122"/>
              </a:rPr>
              <a:t>学时）</a:t>
            </a:r>
          </a:p>
        </p:txBody>
      </p:sp>
      <p:sp>
        <p:nvSpPr>
          <p:cNvPr id="12294" name="TextBox 5"/>
          <p:cNvSpPr txBox="1">
            <a:spLocks noChangeArrowheads="1"/>
          </p:cNvSpPr>
          <p:nvPr/>
        </p:nvSpPr>
        <p:spPr bwMode="auto">
          <a:xfrm>
            <a:off x="1116013" y="3533775"/>
            <a:ext cx="55197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200">
                <a:latin typeface="楷体" panose="02010609060101010101" pitchFamily="49" charset="-122"/>
                <a:ea typeface="楷体" panose="02010609060101010101" pitchFamily="49" charset="-122"/>
              </a:rPr>
              <a:t>第</a:t>
            </a:r>
            <a:r>
              <a:rPr lang="en-US" altLang="zh-CN" sz="3200">
                <a:latin typeface="楷体" panose="02010609060101010101" pitchFamily="49" charset="-122"/>
                <a:ea typeface="楷体" panose="02010609060101010101" pitchFamily="49" charset="-122"/>
              </a:rPr>
              <a:t>3</a:t>
            </a:r>
            <a:r>
              <a:rPr lang="zh-CN" altLang="en-US" sz="3200">
                <a:latin typeface="楷体" panose="02010609060101010101" pitchFamily="49" charset="-122"/>
                <a:ea typeface="楷体" panose="02010609060101010101" pitchFamily="49" charset="-122"/>
              </a:rPr>
              <a:t>章  时域分析法（</a:t>
            </a:r>
            <a:r>
              <a:rPr lang="en-US" altLang="zh-CN" sz="3200">
                <a:latin typeface="楷体" panose="02010609060101010101" pitchFamily="49" charset="-122"/>
                <a:ea typeface="楷体" panose="02010609060101010101" pitchFamily="49" charset="-122"/>
              </a:rPr>
              <a:t>8</a:t>
            </a:r>
            <a:r>
              <a:rPr lang="zh-CN" altLang="en-US" sz="3200">
                <a:latin typeface="楷体" panose="02010609060101010101" pitchFamily="49" charset="-122"/>
                <a:ea typeface="楷体" panose="02010609060101010101" pitchFamily="49" charset="-122"/>
              </a:rPr>
              <a:t>学时）</a:t>
            </a:r>
          </a:p>
        </p:txBody>
      </p:sp>
      <p:sp>
        <p:nvSpPr>
          <p:cNvPr id="12295" name="TextBox 6"/>
          <p:cNvSpPr txBox="1">
            <a:spLocks noChangeArrowheads="1"/>
          </p:cNvSpPr>
          <p:nvPr/>
        </p:nvSpPr>
        <p:spPr bwMode="auto">
          <a:xfrm>
            <a:off x="1116013" y="4100513"/>
            <a:ext cx="5724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200">
                <a:latin typeface="楷体" panose="02010609060101010101" pitchFamily="49" charset="-122"/>
                <a:ea typeface="楷体" panose="02010609060101010101" pitchFamily="49" charset="-122"/>
              </a:rPr>
              <a:t>第</a:t>
            </a:r>
            <a:r>
              <a:rPr lang="en-US" altLang="zh-CN" sz="3200">
                <a:latin typeface="楷体" panose="02010609060101010101" pitchFamily="49" charset="-122"/>
                <a:ea typeface="楷体" panose="02010609060101010101" pitchFamily="49" charset="-122"/>
              </a:rPr>
              <a:t>5</a:t>
            </a:r>
            <a:r>
              <a:rPr lang="zh-CN" altLang="en-US" sz="3200">
                <a:latin typeface="楷体" panose="02010609060101010101" pitchFamily="49" charset="-122"/>
                <a:ea typeface="楷体" panose="02010609060101010101" pitchFamily="49" charset="-122"/>
              </a:rPr>
              <a:t>章  频域分析法（</a:t>
            </a:r>
            <a:r>
              <a:rPr lang="en-US" altLang="zh-CN" sz="3200">
                <a:latin typeface="楷体" panose="02010609060101010101" pitchFamily="49" charset="-122"/>
                <a:ea typeface="楷体" panose="02010609060101010101" pitchFamily="49" charset="-122"/>
              </a:rPr>
              <a:t>10</a:t>
            </a:r>
            <a:r>
              <a:rPr lang="zh-CN" altLang="en-US" sz="3200">
                <a:latin typeface="楷体" panose="02010609060101010101" pitchFamily="49" charset="-122"/>
                <a:ea typeface="楷体" panose="02010609060101010101" pitchFamily="49" charset="-122"/>
              </a:rPr>
              <a:t>学时）</a:t>
            </a:r>
          </a:p>
        </p:txBody>
      </p:sp>
      <p:sp>
        <p:nvSpPr>
          <p:cNvPr id="12296" name="TextBox 7"/>
          <p:cNvSpPr txBox="1">
            <a:spLocks noChangeArrowheads="1"/>
          </p:cNvSpPr>
          <p:nvPr/>
        </p:nvSpPr>
        <p:spPr bwMode="auto">
          <a:xfrm>
            <a:off x="1116013" y="4665663"/>
            <a:ext cx="75707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200">
                <a:latin typeface="楷体" panose="02010609060101010101" pitchFamily="49" charset="-122"/>
                <a:ea typeface="楷体" panose="02010609060101010101" pitchFamily="49" charset="-122"/>
              </a:rPr>
              <a:t>第</a:t>
            </a:r>
            <a:r>
              <a:rPr lang="en-US" altLang="zh-CN" sz="3200">
                <a:latin typeface="楷体" panose="02010609060101010101" pitchFamily="49" charset="-122"/>
                <a:ea typeface="楷体" panose="02010609060101010101" pitchFamily="49" charset="-122"/>
              </a:rPr>
              <a:t>6</a:t>
            </a:r>
            <a:r>
              <a:rPr lang="zh-CN" altLang="en-US" sz="3200">
                <a:latin typeface="楷体" panose="02010609060101010101" pitchFamily="49" charset="-122"/>
                <a:ea typeface="楷体" panose="02010609060101010101" pitchFamily="49" charset="-122"/>
              </a:rPr>
              <a:t>章  控制系统的设计和校正（</a:t>
            </a:r>
            <a:r>
              <a:rPr lang="en-US" altLang="zh-CN" sz="3200">
                <a:latin typeface="楷体" panose="02010609060101010101" pitchFamily="49" charset="-122"/>
                <a:ea typeface="楷体" panose="02010609060101010101" pitchFamily="49" charset="-122"/>
              </a:rPr>
              <a:t>4</a:t>
            </a:r>
            <a:r>
              <a:rPr lang="zh-CN" altLang="en-US" sz="3200">
                <a:latin typeface="楷体" panose="02010609060101010101" pitchFamily="49" charset="-122"/>
                <a:ea typeface="楷体" panose="02010609060101010101" pitchFamily="49" charset="-122"/>
              </a:rPr>
              <a:t>学时）</a:t>
            </a:r>
          </a:p>
        </p:txBody>
      </p:sp>
      <p:sp>
        <p:nvSpPr>
          <p:cNvPr id="12297" name="TextBox 2"/>
          <p:cNvSpPr txBox="1">
            <a:spLocks noChangeArrowheads="1"/>
          </p:cNvSpPr>
          <p:nvPr/>
        </p:nvSpPr>
        <p:spPr bwMode="auto">
          <a:xfrm>
            <a:off x="2582863" y="804863"/>
            <a:ext cx="2838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200" b="1"/>
              <a:t>授课学时   </a:t>
            </a:r>
            <a:r>
              <a:rPr lang="en-US" altLang="zh-CN" sz="3200" b="1"/>
              <a:t>32</a:t>
            </a:r>
            <a:endParaRPr lang="zh-CN" altLang="en-US" sz="32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8F1DB64-77EF-4D74-AD68-86C5DAD8B056}" type="datetime10">
              <a:rPr lang="zh-CN" altLang="en-US" smtClean="0"/>
              <a:pPr/>
              <a:t>14:02</a:t>
            </a:fld>
            <a:endParaRPr lang="zh-CN" altLang="en-US"/>
          </a:p>
        </p:txBody>
      </p:sp>
      <p:sp>
        <p:nvSpPr>
          <p:cNvPr id="13315"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D012911-36EC-4923-AA3B-3372C819D795}" type="slidenum">
              <a:rPr lang="en-US" altLang="zh-CN" smtClean="0"/>
              <a:pPr/>
              <a:t>6</a:t>
            </a:fld>
            <a:endParaRPr lang="en-US" altLang="zh-CN"/>
          </a:p>
        </p:txBody>
      </p:sp>
      <p:graphicFrame>
        <p:nvGraphicFramePr>
          <p:cNvPr id="4" name="表格 3"/>
          <p:cNvGraphicFramePr>
            <a:graphicFrameLocks noGrp="1"/>
          </p:cNvGraphicFramePr>
          <p:nvPr/>
        </p:nvGraphicFramePr>
        <p:xfrm>
          <a:off x="684213" y="2781300"/>
          <a:ext cx="7402512" cy="2057400"/>
        </p:xfrm>
        <a:graphic>
          <a:graphicData uri="http://schemas.openxmlformats.org/drawingml/2006/table">
            <a:tbl>
              <a:tblPr firstRow="1" firstCol="1" lastRow="1" lastCol="1" bandRow="1" bandCol="1"/>
              <a:tblGrid>
                <a:gridCol w="778378">
                  <a:extLst>
                    <a:ext uri="{9D8B030D-6E8A-4147-A177-3AD203B41FA5}">
                      <a16:colId xmlns:a16="http://schemas.microsoft.com/office/drawing/2014/main" val="20000"/>
                    </a:ext>
                  </a:extLst>
                </a:gridCol>
                <a:gridCol w="3816078">
                  <a:extLst>
                    <a:ext uri="{9D8B030D-6E8A-4147-A177-3AD203B41FA5}">
                      <a16:colId xmlns:a16="http://schemas.microsoft.com/office/drawing/2014/main" val="20001"/>
                    </a:ext>
                  </a:extLst>
                </a:gridCol>
                <a:gridCol w="1440029">
                  <a:extLst>
                    <a:ext uri="{9D8B030D-6E8A-4147-A177-3AD203B41FA5}">
                      <a16:colId xmlns:a16="http://schemas.microsoft.com/office/drawing/2014/main" val="20002"/>
                    </a:ext>
                  </a:extLst>
                </a:gridCol>
                <a:gridCol w="1368027">
                  <a:extLst>
                    <a:ext uri="{9D8B030D-6E8A-4147-A177-3AD203B41FA5}">
                      <a16:colId xmlns:a16="http://schemas.microsoft.com/office/drawing/2014/main" val="20003"/>
                    </a:ext>
                  </a:extLst>
                </a:gridCol>
              </a:tblGrid>
              <a:tr h="536761">
                <a:tc>
                  <a:txBody>
                    <a:bodyPr/>
                    <a:lstStyle/>
                    <a:p>
                      <a:pPr algn="ctr">
                        <a:lnSpc>
                          <a:spcPts val="1800"/>
                        </a:lnSpc>
                        <a:spcAft>
                          <a:spcPts val="0"/>
                        </a:spcAft>
                      </a:pPr>
                      <a:r>
                        <a:rPr lang="zh-CN" sz="1800" kern="0" dirty="0">
                          <a:effectLst/>
                          <a:latin typeface="Times New Roman" panose="02020603050405020304"/>
                          <a:ea typeface="黑体" panose="02010609060101010101" pitchFamily="49" charset="-122"/>
                        </a:rPr>
                        <a:t>序号</a:t>
                      </a:r>
                      <a:endParaRPr lang="zh-CN" sz="1800" kern="100" dirty="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zh-CN" sz="1800" kern="0" dirty="0">
                          <a:effectLst/>
                          <a:latin typeface="Times New Roman" panose="02020603050405020304"/>
                          <a:ea typeface="黑体" panose="02010609060101010101" pitchFamily="49" charset="-122"/>
                        </a:rPr>
                        <a:t>实验项目名称</a:t>
                      </a:r>
                      <a:endParaRPr lang="zh-CN" sz="1800" kern="100" dirty="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400"/>
                        </a:lnSpc>
                        <a:spcAft>
                          <a:spcPts val="0"/>
                        </a:spcAft>
                      </a:pPr>
                      <a:r>
                        <a:rPr lang="zh-CN" sz="1800" kern="0">
                          <a:effectLst/>
                          <a:latin typeface="Times New Roman" panose="02020603050405020304"/>
                          <a:ea typeface="黑体" panose="02010609060101010101" pitchFamily="49" charset="-122"/>
                        </a:rPr>
                        <a:t>实验学时</a:t>
                      </a:r>
                      <a:endParaRPr lang="zh-CN" sz="1800" kern="10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400"/>
                        </a:lnSpc>
                        <a:spcAft>
                          <a:spcPts val="0"/>
                        </a:spcAft>
                      </a:pPr>
                      <a:r>
                        <a:rPr lang="zh-CN" sz="1800" kern="0" dirty="0">
                          <a:effectLst/>
                          <a:latin typeface="Times New Roman" panose="02020603050405020304"/>
                          <a:ea typeface="黑体" panose="02010609060101010101" pitchFamily="49" charset="-122"/>
                        </a:rPr>
                        <a:t>实验属性</a:t>
                      </a:r>
                      <a:endParaRPr lang="zh-CN" sz="1800" kern="100" dirty="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70611">
                <a:tc>
                  <a:txBody>
                    <a:bodyPr/>
                    <a:lstStyle/>
                    <a:p>
                      <a:pPr algn="ctr">
                        <a:lnSpc>
                          <a:spcPts val="1800"/>
                        </a:lnSpc>
                        <a:spcAft>
                          <a:spcPts val="0"/>
                        </a:spcAft>
                      </a:pPr>
                      <a:r>
                        <a:rPr lang="en-US" sz="1800" kern="0">
                          <a:effectLst/>
                          <a:latin typeface="宋体" panose="02010600030101010101" pitchFamily="2" charset="-122"/>
                          <a:ea typeface="宋体" panose="02010600030101010101" pitchFamily="2" charset="-122"/>
                        </a:rPr>
                        <a:t>1</a:t>
                      </a:r>
                      <a:endParaRPr lang="zh-CN" sz="1800" kern="10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zh-CN" sz="1800" kern="100" dirty="0">
                          <a:effectLst/>
                          <a:latin typeface="Times New Roman" panose="02020603050405020304"/>
                          <a:ea typeface="宋体" panose="02010600030101010101" pitchFamily="2" charset="-122"/>
                        </a:rPr>
                        <a:t>典型环节的单位阶跃响应</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en-US" sz="1800" kern="100">
                          <a:effectLst/>
                          <a:latin typeface="宋体" panose="02010600030101010101" pitchFamily="2" charset="-122"/>
                          <a:ea typeface="宋体" panose="02010600030101010101" pitchFamily="2" charset="-122"/>
                        </a:rPr>
                        <a:t>3</a:t>
                      </a:r>
                      <a:endParaRPr lang="zh-CN" sz="1800" kern="10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ts val="1800"/>
                        </a:lnSpc>
                        <a:spcBef>
                          <a:spcPts val="0"/>
                        </a:spcBef>
                        <a:spcAft>
                          <a:spcPts val="0"/>
                        </a:spcAft>
                        <a:buClrTx/>
                        <a:buSzTx/>
                        <a:buFontTx/>
                        <a:buNone/>
                        <a:defRPr/>
                      </a:pPr>
                      <a:r>
                        <a:rPr lang="zh-CN" altLang="zh-CN" sz="1800" kern="100" dirty="0">
                          <a:effectLst/>
                          <a:latin typeface="Times New Roman" panose="02020603050405020304"/>
                          <a:ea typeface="+mn-ea"/>
                        </a:rPr>
                        <a:t>综合</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9908">
                <a:tc>
                  <a:txBody>
                    <a:bodyPr/>
                    <a:lstStyle/>
                    <a:p>
                      <a:pPr algn="ctr">
                        <a:lnSpc>
                          <a:spcPts val="1800"/>
                        </a:lnSpc>
                        <a:spcAft>
                          <a:spcPts val="0"/>
                        </a:spcAft>
                      </a:pPr>
                      <a:r>
                        <a:rPr lang="en-US" sz="1800" kern="0">
                          <a:effectLst/>
                          <a:latin typeface="宋体" panose="02010600030101010101" pitchFamily="2" charset="-122"/>
                          <a:ea typeface="宋体" panose="02010600030101010101" pitchFamily="2" charset="-122"/>
                        </a:rPr>
                        <a:t>2</a:t>
                      </a:r>
                      <a:endParaRPr lang="zh-CN" sz="1800" kern="10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zh-CN" sz="1800" kern="100" dirty="0">
                          <a:effectLst/>
                          <a:latin typeface="Times New Roman" panose="02020603050405020304"/>
                          <a:ea typeface="宋体" panose="02010600030101010101" pitchFamily="2" charset="-122"/>
                        </a:rPr>
                        <a:t>二阶系统的频率响应</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en-US" sz="1800" kern="100" dirty="0">
                          <a:effectLst/>
                          <a:latin typeface="宋体" panose="02010600030101010101" pitchFamily="2" charset="-122"/>
                          <a:ea typeface="宋体" panose="02010600030101010101" pitchFamily="2" charset="-122"/>
                        </a:rPr>
                        <a:t>2</a:t>
                      </a:r>
                      <a:endParaRPr lang="zh-CN" sz="1800" kern="100" dirty="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ts val="1800"/>
                        </a:lnSpc>
                        <a:spcBef>
                          <a:spcPts val="0"/>
                        </a:spcBef>
                        <a:spcAft>
                          <a:spcPts val="0"/>
                        </a:spcAft>
                        <a:buClrTx/>
                        <a:buSzTx/>
                        <a:buFontTx/>
                        <a:buNone/>
                        <a:defRPr/>
                      </a:pPr>
                      <a:r>
                        <a:rPr lang="zh-CN" altLang="zh-CN" sz="1800" kern="100" dirty="0">
                          <a:effectLst/>
                          <a:latin typeface="Times New Roman" panose="02020603050405020304"/>
                          <a:ea typeface="+mn-ea"/>
                        </a:rPr>
                        <a:t>验证</a:t>
                      </a:r>
                      <a:endParaRPr lang="zh-CN" sz="1800" kern="100" dirty="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5060">
                <a:tc>
                  <a:txBody>
                    <a:bodyPr/>
                    <a:lstStyle/>
                    <a:p>
                      <a:pPr algn="ctr">
                        <a:lnSpc>
                          <a:spcPts val="1800"/>
                        </a:lnSpc>
                        <a:spcAft>
                          <a:spcPts val="0"/>
                        </a:spcAft>
                      </a:pPr>
                      <a:r>
                        <a:rPr lang="en-US" sz="1800" kern="0">
                          <a:effectLst/>
                          <a:latin typeface="宋体" panose="02010600030101010101" pitchFamily="2" charset="-122"/>
                          <a:ea typeface="宋体" panose="02010600030101010101" pitchFamily="2" charset="-122"/>
                        </a:rPr>
                        <a:t>3</a:t>
                      </a:r>
                      <a:endParaRPr lang="zh-CN" sz="1800" kern="10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zh-CN" sz="1800" kern="100" dirty="0">
                          <a:effectLst/>
                          <a:latin typeface="Times New Roman" panose="02020603050405020304"/>
                          <a:ea typeface="宋体" panose="02010600030101010101" pitchFamily="2" charset="-122"/>
                        </a:rPr>
                        <a:t>控制系统的</a:t>
                      </a:r>
                      <a:r>
                        <a:rPr lang="en-US" sz="1800" kern="100" dirty="0">
                          <a:effectLst/>
                          <a:latin typeface="Times New Roman" panose="02020603050405020304"/>
                          <a:ea typeface="宋体" panose="02010600030101010101" pitchFamily="2" charset="-122"/>
                        </a:rPr>
                        <a:t>PID</a:t>
                      </a:r>
                      <a:r>
                        <a:rPr lang="zh-CN" sz="1800" kern="100" dirty="0">
                          <a:effectLst/>
                          <a:latin typeface="Times New Roman" panose="02020603050405020304"/>
                          <a:ea typeface="宋体" panose="02010600030101010101" pitchFamily="2" charset="-122"/>
                        </a:rPr>
                        <a:t>校正</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en-US" sz="1800" kern="100" dirty="0">
                          <a:effectLst/>
                          <a:latin typeface="宋体" panose="02010600030101010101" pitchFamily="2" charset="-122"/>
                          <a:ea typeface="宋体" panose="02010600030101010101" pitchFamily="2" charset="-122"/>
                        </a:rPr>
                        <a:t>3</a:t>
                      </a:r>
                      <a:endParaRPr lang="zh-CN" sz="1800" kern="100" dirty="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zh-CN" sz="1800" kern="100" dirty="0">
                          <a:effectLst/>
                          <a:latin typeface="Times New Roman" panose="02020603050405020304"/>
                          <a:ea typeface="宋体" panose="02010600030101010101" pitchFamily="2" charset="-122"/>
                        </a:rPr>
                        <a:t>综合</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5060">
                <a:tc gridSpan="2">
                  <a:txBody>
                    <a:bodyPr/>
                    <a:lstStyle/>
                    <a:p>
                      <a:pPr algn="ctr">
                        <a:lnSpc>
                          <a:spcPts val="1800"/>
                        </a:lnSpc>
                        <a:spcAft>
                          <a:spcPts val="0"/>
                        </a:spcAft>
                      </a:pPr>
                      <a:r>
                        <a:rPr lang="zh-CN" sz="1800" kern="0">
                          <a:effectLst/>
                          <a:latin typeface="Times New Roman" panose="02020603050405020304"/>
                          <a:ea typeface="宋体" panose="02010600030101010101" pitchFamily="2" charset="-122"/>
                        </a:rPr>
                        <a:t>合</a:t>
                      </a:r>
                      <a:r>
                        <a:rPr lang="en-US" sz="1800" kern="0">
                          <a:effectLst/>
                          <a:latin typeface="Times New Roman" panose="02020603050405020304"/>
                          <a:ea typeface="宋体" panose="02010600030101010101" pitchFamily="2" charset="-122"/>
                        </a:rPr>
                        <a:t>   </a:t>
                      </a:r>
                      <a:r>
                        <a:rPr lang="zh-CN" sz="1800" kern="0">
                          <a:effectLst/>
                          <a:latin typeface="Times New Roman" panose="02020603050405020304"/>
                          <a:ea typeface="宋体" panose="02010600030101010101" pitchFamily="2" charset="-122"/>
                        </a:rPr>
                        <a:t>计</a:t>
                      </a:r>
                      <a:endParaRPr lang="zh-CN" sz="1800" kern="10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a:txBody>
                    <a:bodyPr/>
                    <a:lstStyle/>
                    <a:p>
                      <a:pPr algn="ctr">
                        <a:lnSpc>
                          <a:spcPts val="1800"/>
                        </a:lnSpc>
                        <a:spcAft>
                          <a:spcPts val="0"/>
                        </a:spcAft>
                      </a:pPr>
                      <a:r>
                        <a:rPr lang="en-US" sz="1800" kern="0">
                          <a:effectLst/>
                          <a:latin typeface="宋体" panose="02010600030101010101" pitchFamily="2" charset="-122"/>
                          <a:ea typeface="宋体" panose="02010600030101010101" pitchFamily="2" charset="-122"/>
                        </a:rPr>
                        <a:t>8</a:t>
                      </a:r>
                      <a:endParaRPr lang="zh-CN" sz="1800" kern="10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800"/>
                        </a:lnSpc>
                        <a:spcAft>
                          <a:spcPts val="0"/>
                        </a:spcAft>
                      </a:pPr>
                      <a:r>
                        <a:rPr lang="en-US" sz="1800" kern="0" dirty="0">
                          <a:effectLst/>
                          <a:latin typeface="宋体" panose="02010600030101010101" pitchFamily="2" charset="-122"/>
                          <a:ea typeface="宋体" panose="02010600030101010101" pitchFamily="2" charset="-122"/>
                        </a:rPr>
                        <a:t> </a:t>
                      </a:r>
                      <a:endParaRPr lang="zh-CN" sz="1800" kern="100" dirty="0">
                        <a:effectLst/>
                        <a:latin typeface="Times New Roman" panose="02020603050405020304"/>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347" name="TextBox 5"/>
          <p:cNvSpPr txBox="1">
            <a:spLocks noChangeArrowheads="1"/>
          </p:cNvSpPr>
          <p:nvPr/>
        </p:nvSpPr>
        <p:spPr bwMode="auto">
          <a:xfrm>
            <a:off x="2700338" y="2136775"/>
            <a:ext cx="34305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Times New Roman" panose="02020603050405020304" pitchFamily="18" charset="0"/>
              </a:rPr>
              <a:t>实验项目及学时分配</a:t>
            </a:r>
            <a:endParaRPr lang="zh-CN" altLang="en-US" sz="2800" b="1"/>
          </a:p>
        </p:txBody>
      </p:sp>
      <p:sp>
        <p:nvSpPr>
          <p:cNvPr id="13348" name="TextBox 6"/>
          <p:cNvSpPr txBox="1">
            <a:spLocks noChangeArrowheads="1"/>
          </p:cNvSpPr>
          <p:nvPr/>
        </p:nvSpPr>
        <p:spPr bwMode="auto">
          <a:xfrm>
            <a:off x="2582863" y="804863"/>
            <a:ext cx="29591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200" b="1"/>
              <a:t>实验课学时   </a:t>
            </a:r>
            <a:r>
              <a:rPr lang="en-US" altLang="zh-CN" sz="3200" b="1"/>
              <a:t>8</a:t>
            </a:r>
            <a:endParaRPr lang="zh-CN" altLang="en-US" sz="32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5794CEC-6B2F-41F9-9A4C-DC8EEB434DAE}" type="datetime10">
              <a:rPr lang="zh-CN" altLang="en-US" smtClean="0"/>
              <a:pPr/>
              <a:t>14:02</a:t>
            </a:fld>
            <a:endParaRPr lang="zh-CN" altLang="en-US"/>
          </a:p>
        </p:txBody>
      </p:sp>
      <p:sp>
        <p:nvSpPr>
          <p:cNvPr id="14339"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DD3BCC8-4FCB-407B-A10C-E842F96C7EF5}" type="slidenum">
              <a:rPr lang="en-US" altLang="zh-CN" smtClean="0"/>
              <a:pPr/>
              <a:t>7</a:t>
            </a:fld>
            <a:endParaRPr lang="en-US" altLang="zh-CN"/>
          </a:p>
        </p:txBody>
      </p:sp>
      <p:sp>
        <p:nvSpPr>
          <p:cNvPr id="14340" name="Text Box 4"/>
          <p:cNvSpPr txBox="1">
            <a:spLocks noChangeArrowheads="1"/>
          </p:cNvSpPr>
          <p:nvPr/>
        </p:nvSpPr>
        <p:spPr bwMode="auto">
          <a:xfrm>
            <a:off x="1646238" y="1384300"/>
            <a:ext cx="5724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1</a:t>
            </a:r>
            <a:r>
              <a:rPr lang="zh-CN" altLang="en-US" sz="3600">
                <a:latin typeface="Times New Roman" panose="02020603050405020304" pitchFamily="18" charset="0"/>
                <a:ea typeface="华文新魏" panose="02010800040101010101" pitchFamily="2" charset="-122"/>
              </a:rPr>
              <a:t>章  控制系统的基本概念</a:t>
            </a:r>
          </a:p>
        </p:txBody>
      </p:sp>
      <p:sp>
        <p:nvSpPr>
          <p:cNvPr id="14341" name="Rectangle 5"/>
          <p:cNvSpPr>
            <a:spLocks noChangeArrowheads="1"/>
          </p:cNvSpPr>
          <p:nvPr/>
        </p:nvSpPr>
        <p:spPr bwMode="auto">
          <a:xfrm>
            <a:off x="1419225" y="2852738"/>
            <a:ext cx="4313238"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1.1 </a:t>
            </a:r>
            <a:r>
              <a:rPr lang="zh-CN" altLang="en-US" sz="2800">
                <a:latin typeface="Times New Roman" panose="02020603050405020304" pitchFamily="18" charset="0"/>
                <a:ea typeface="黑体" panose="02010609060101010101" pitchFamily="49" charset="-122"/>
              </a:rPr>
              <a:t>自动控制及其发展概述</a:t>
            </a:r>
          </a:p>
        </p:txBody>
      </p:sp>
      <p:sp>
        <p:nvSpPr>
          <p:cNvPr id="14342" name="Rectangle 6"/>
          <p:cNvSpPr>
            <a:spLocks noChangeArrowheads="1"/>
          </p:cNvSpPr>
          <p:nvPr/>
        </p:nvSpPr>
        <p:spPr bwMode="auto">
          <a:xfrm>
            <a:off x="1419225" y="3427413"/>
            <a:ext cx="6108700"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1.2 </a:t>
            </a:r>
            <a:r>
              <a:rPr lang="zh-CN" altLang="en-US" sz="2800">
                <a:latin typeface="Times New Roman" panose="02020603050405020304" pitchFamily="18" charset="0"/>
                <a:ea typeface="黑体" panose="02010609060101010101" pitchFamily="49" charset="-122"/>
              </a:rPr>
              <a:t>控制系统的反馈工作原理及其组成</a:t>
            </a:r>
          </a:p>
        </p:txBody>
      </p:sp>
      <p:sp>
        <p:nvSpPr>
          <p:cNvPr id="14343" name="Rectangle 7"/>
          <p:cNvSpPr>
            <a:spLocks noChangeArrowheads="1"/>
          </p:cNvSpPr>
          <p:nvPr/>
        </p:nvSpPr>
        <p:spPr bwMode="auto">
          <a:xfrm>
            <a:off x="1419225" y="4156075"/>
            <a:ext cx="3954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1.3 </a:t>
            </a:r>
            <a:r>
              <a:rPr lang="zh-CN" altLang="en-US" sz="2800">
                <a:latin typeface="Times New Roman" panose="02020603050405020304" pitchFamily="18" charset="0"/>
                <a:ea typeface="黑体" panose="02010609060101010101" pitchFamily="49" charset="-122"/>
              </a:rPr>
              <a:t>控制系统的基本类型</a:t>
            </a:r>
          </a:p>
        </p:txBody>
      </p:sp>
      <p:sp>
        <p:nvSpPr>
          <p:cNvPr id="14344" name="Rectangle 8"/>
          <p:cNvSpPr>
            <a:spLocks noChangeArrowheads="1"/>
          </p:cNvSpPr>
          <p:nvPr/>
        </p:nvSpPr>
        <p:spPr bwMode="auto">
          <a:xfrm>
            <a:off x="1419225" y="4630738"/>
            <a:ext cx="35607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1.4 </a:t>
            </a:r>
            <a:r>
              <a:rPr lang="zh-CN" altLang="en-US" sz="2800">
                <a:latin typeface="Times New Roman" panose="02020603050405020304" pitchFamily="18" charset="0"/>
                <a:ea typeface="黑体" panose="02010609060101010101" pitchFamily="49" charset="-122"/>
              </a:rPr>
              <a:t>对控制系统的要求</a:t>
            </a:r>
          </a:p>
        </p:txBody>
      </p:sp>
      <p:cxnSp>
        <p:nvCxnSpPr>
          <p:cNvPr id="3" name="直接连接符 2"/>
          <p:cNvCxnSpPr/>
          <p:nvPr/>
        </p:nvCxnSpPr>
        <p:spPr>
          <a:xfrm>
            <a:off x="2123728" y="4082961"/>
            <a:ext cx="5175027"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123728" y="5289171"/>
            <a:ext cx="2736304" cy="1466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CAA6EC9-708F-4F10-BBE2-987E8203F35B}" type="datetime10">
              <a:rPr lang="zh-CN" altLang="en-US" smtClean="0"/>
              <a:pPr/>
              <a:t>14:02</a:t>
            </a:fld>
            <a:endParaRPr lang="zh-CN" altLang="en-US"/>
          </a:p>
        </p:txBody>
      </p:sp>
      <p:sp>
        <p:nvSpPr>
          <p:cNvPr id="16387" name="灯片编号占位符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E56F728-D0B3-4B06-B65B-2D6DAA2079F8}" type="slidenum">
              <a:rPr lang="en-US" altLang="zh-CN" smtClean="0"/>
              <a:pPr/>
              <a:t>8</a:t>
            </a:fld>
            <a:endParaRPr lang="en-US" altLang="zh-CN"/>
          </a:p>
        </p:txBody>
      </p:sp>
      <p:sp>
        <p:nvSpPr>
          <p:cNvPr id="16388" name="Text Box 2"/>
          <p:cNvSpPr txBox="1">
            <a:spLocks noChangeArrowheads="1"/>
          </p:cNvSpPr>
          <p:nvPr/>
        </p:nvSpPr>
        <p:spPr bwMode="auto">
          <a:xfrm>
            <a:off x="684213" y="981075"/>
            <a:ext cx="4313237"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1.1 </a:t>
            </a:r>
            <a:r>
              <a:rPr lang="zh-CN" altLang="en-US" sz="2800">
                <a:latin typeface="Times New Roman" panose="02020603050405020304" pitchFamily="18" charset="0"/>
                <a:ea typeface="黑体" panose="02010609060101010101" pitchFamily="49" charset="-122"/>
              </a:rPr>
              <a:t>自动控制及其发展概述</a:t>
            </a:r>
          </a:p>
        </p:txBody>
      </p:sp>
      <p:sp>
        <p:nvSpPr>
          <p:cNvPr id="16389" name="矩形 7"/>
          <p:cNvSpPr>
            <a:spLocks noChangeArrowheads="1"/>
          </p:cNvSpPr>
          <p:nvPr/>
        </p:nvSpPr>
        <p:spPr bwMode="auto">
          <a:xfrm>
            <a:off x="1187450" y="1916113"/>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t>自动控制</a:t>
            </a:r>
            <a:endParaRPr lang="en-US" altLang="zh-CN" sz="2800" b="1"/>
          </a:p>
        </p:txBody>
      </p:sp>
      <p:sp>
        <p:nvSpPr>
          <p:cNvPr id="16" name="Text Box 6"/>
          <p:cNvSpPr txBox="1">
            <a:spLocks noChangeArrowheads="1"/>
          </p:cNvSpPr>
          <p:nvPr/>
        </p:nvSpPr>
        <p:spPr bwMode="auto">
          <a:xfrm>
            <a:off x="1371600" y="2519363"/>
            <a:ext cx="7304088"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在没有人直接参与的情况下，利用外加的设</a:t>
            </a:r>
          </a:p>
          <a:p>
            <a:pPr eaLnBrk="1" hangingPunct="1">
              <a:lnSpc>
                <a:spcPct val="115000"/>
              </a:lnSpc>
            </a:pPr>
            <a:r>
              <a:rPr lang="zh-CN" altLang="en-US" sz="2800">
                <a:latin typeface="Times New Roman" panose="02020603050405020304" pitchFamily="18" charset="0"/>
              </a:rPr>
              <a:t>备或装置（称为</a:t>
            </a:r>
            <a:r>
              <a:rPr lang="zh-CN" altLang="en-US" sz="2800" b="1">
                <a:solidFill>
                  <a:srgbClr val="CC0000"/>
                </a:solidFill>
                <a:latin typeface="Times New Roman" panose="02020603050405020304" pitchFamily="18" charset="0"/>
              </a:rPr>
              <a:t>控制装置</a:t>
            </a:r>
            <a:r>
              <a:rPr lang="zh-CN" altLang="en-US" sz="2800">
                <a:latin typeface="Times New Roman" panose="02020603050405020304" pitchFamily="18" charset="0"/>
              </a:rPr>
              <a:t>或</a:t>
            </a:r>
            <a:r>
              <a:rPr lang="zh-CN" altLang="en-US" sz="2800" b="1">
                <a:solidFill>
                  <a:srgbClr val="CC0000"/>
                </a:solidFill>
                <a:latin typeface="Times New Roman" panose="02020603050405020304" pitchFamily="18" charset="0"/>
              </a:rPr>
              <a:t>控制器</a:t>
            </a:r>
            <a:r>
              <a:rPr lang="zh-CN" altLang="en-US" sz="2800">
                <a:latin typeface="Times New Roman" panose="02020603050405020304" pitchFamily="18" charset="0"/>
              </a:rPr>
              <a:t>），使机</a:t>
            </a:r>
          </a:p>
          <a:p>
            <a:pPr eaLnBrk="1" hangingPunct="1">
              <a:lnSpc>
                <a:spcPct val="115000"/>
              </a:lnSpc>
            </a:pPr>
            <a:r>
              <a:rPr lang="zh-CN" altLang="en-US" sz="2800">
                <a:latin typeface="Times New Roman" panose="02020603050405020304" pitchFamily="18" charset="0"/>
              </a:rPr>
              <a:t>器、设备或生产过程（通称</a:t>
            </a:r>
            <a:r>
              <a:rPr lang="zh-CN" altLang="en-US" sz="2800" b="1">
                <a:solidFill>
                  <a:srgbClr val="CC0000"/>
                </a:solidFill>
                <a:latin typeface="Times New Roman" panose="02020603050405020304" pitchFamily="18" charset="0"/>
              </a:rPr>
              <a:t>被控对象</a:t>
            </a:r>
            <a:r>
              <a:rPr lang="zh-CN" altLang="en-US" sz="2800">
                <a:latin typeface="Times New Roman" panose="02020603050405020304" pitchFamily="18" charset="0"/>
              </a:rPr>
              <a:t>）的某</a:t>
            </a:r>
          </a:p>
          <a:p>
            <a:pPr eaLnBrk="1" hangingPunct="1">
              <a:lnSpc>
                <a:spcPct val="115000"/>
              </a:lnSpc>
            </a:pPr>
            <a:r>
              <a:rPr lang="zh-CN" altLang="en-US" sz="2800">
                <a:latin typeface="Times New Roman" panose="02020603050405020304" pitchFamily="18" charset="0"/>
              </a:rPr>
              <a:t>个工作状态或参数（即</a:t>
            </a:r>
            <a:r>
              <a:rPr lang="zh-CN" altLang="en-US" sz="2800" b="1">
                <a:solidFill>
                  <a:srgbClr val="CC0000"/>
                </a:solidFill>
                <a:latin typeface="Times New Roman" panose="02020603050405020304" pitchFamily="18" charset="0"/>
              </a:rPr>
              <a:t>被控量</a:t>
            </a:r>
            <a:r>
              <a:rPr lang="zh-CN" altLang="en-US" sz="2800">
                <a:latin typeface="Times New Roman" panose="02020603050405020304" pitchFamily="18" charset="0"/>
              </a:rPr>
              <a:t>）自动地按照</a:t>
            </a:r>
          </a:p>
          <a:p>
            <a:pPr eaLnBrk="1" hangingPunct="1">
              <a:lnSpc>
                <a:spcPct val="115000"/>
              </a:lnSpc>
            </a:pPr>
            <a:r>
              <a:rPr lang="zh-CN" altLang="en-US" sz="2800">
                <a:latin typeface="Times New Roman" panose="02020603050405020304" pitchFamily="18" charset="0"/>
              </a:rPr>
              <a:t>预定的规律运行。</a:t>
            </a:r>
          </a:p>
        </p:txBody>
      </p:sp>
      <p:sp>
        <p:nvSpPr>
          <p:cNvPr id="17" name="Text Box 7"/>
          <p:cNvSpPr txBox="1">
            <a:spLocks noChangeArrowheads="1"/>
          </p:cNvSpPr>
          <p:nvPr/>
        </p:nvSpPr>
        <p:spPr bwMode="auto">
          <a:xfrm>
            <a:off x="1371600" y="5099050"/>
            <a:ext cx="7377113"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如：数控机床、工业炉温控制、船舶及飞机等的自动驾驶仪、导弹制导等。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1"/>
          <p:cNvSpPr txBox="1">
            <a:spLocks noGrp="1" noChangeArrowheads="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94450FD7-A389-46A5-BD89-8D2146F345CE}" type="datetime1">
              <a:rPr lang="zh-CN" altLang="en-US" sz="1200"/>
              <a:pPr eaLnBrk="1" hangingPunct="1"/>
              <a:t>2025/9/1</a:t>
            </a:fld>
            <a:endParaRPr lang="zh-CN" altLang="en-US" sz="1200"/>
          </a:p>
        </p:txBody>
      </p:sp>
      <p:sp>
        <p:nvSpPr>
          <p:cNvPr id="17411" name="页脚占位符 2"/>
          <p:cNvSpPr txBox="1">
            <a:spLocks noGrp="1" noChangeArrowheads="1"/>
          </p:cNvSpPr>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1200"/>
              <a:t>Lujx</a:t>
            </a:r>
          </a:p>
        </p:txBody>
      </p:sp>
      <p:sp>
        <p:nvSpPr>
          <p:cNvPr id="17412" name="灯片编号占位符 3"/>
          <p:cNvSpPr txBox="1">
            <a:spLocks noGrp="1" noChangeArrowheads="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eaLnBrk="1" hangingPunct="1"/>
            <a:fld id="{2B9B1B9B-2EF7-4D5D-8B77-8E537D5C59C4}" type="slidenum">
              <a:rPr lang="en-US" altLang="zh-CN" sz="1200"/>
              <a:pPr algn="r" eaLnBrk="1" hangingPunct="1"/>
              <a:t>9</a:t>
            </a:fld>
            <a:endParaRPr lang="en-US" altLang="zh-CN" sz="1200"/>
          </a:p>
        </p:txBody>
      </p:sp>
      <p:sp>
        <p:nvSpPr>
          <p:cNvPr id="11269" name="Rectangle 3"/>
          <p:cNvSpPr>
            <a:spLocks noChangeArrowheads="1"/>
          </p:cNvSpPr>
          <p:nvPr/>
        </p:nvSpPr>
        <p:spPr bwMode="auto">
          <a:xfrm>
            <a:off x="827088" y="1628775"/>
            <a:ext cx="7920037"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ts val="600"/>
              </a:spcBef>
              <a:buFontTx/>
              <a:buChar char="•"/>
            </a:pPr>
            <a:r>
              <a:rPr lang="en-US" altLang="zh-CN" sz="2800">
                <a:latin typeface="宋体" panose="02010600030101010101" pitchFamily="2" charset="-122"/>
              </a:rPr>
              <a:t>18</a:t>
            </a:r>
            <a:r>
              <a:rPr lang="zh-CN" altLang="en-US" sz="2800">
                <a:latin typeface="宋体" panose="02010600030101010101" pitchFamily="2" charset="-122"/>
              </a:rPr>
              <a:t>世纪，</a:t>
            </a:r>
            <a:r>
              <a:rPr lang="en-US" altLang="zh-CN" sz="2800">
                <a:latin typeface="宋体" panose="02010600030101010101" pitchFamily="2" charset="-122"/>
              </a:rPr>
              <a:t>James Watt </a:t>
            </a:r>
            <a:r>
              <a:rPr lang="zh-CN" altLang="en-US" sz="2800">
                <a:latin typeface="宋体" panose="02010600030101010101" pitchFamily="2" charset="-122"/>
              </a:rPr>
              <a:t>为控制蒸汽机速度设计的离心</a:t>
            </a:r>
            <a:r>
              <a:rPr lang="en-US" altLang="zh-CN" sz="2800">
                <a:latin typeface="宋体" panose="02010600030101010101" pitchFamily="2" charset="-122"/>
              </a:rPr>
              <a:t>/</a:t>
            </a:r>
            <a:r>
              <a:rPr lang="zh-CN" altLang="en-US" sz="2800">
                <a:latin typeface="宋体" panose="02010600030101010101" pitchFamily="2" charset="-122"/>
              </a:rPr>
              <a:t>飞球调节器，是自动控制领域的第一项重大成果。</a:t>
            </a:r>
            <a:endParaRPr lang="en-US" altLang="zh-CN" sz="2800">
              <a:latin typeface="宋体" panose="02010600030101010101" pitchFamily="2" charset="-122"/>
            </a:endParaRPr>
          </a:p>
          <a:p>
            <a:pPr eaLnBrk="1" hangingPunct="1">
              <a:spcBef>
                <a:spcPts val="600"/>
              </a:spcBef>
              <a:buFontTx/>
              <a:buChar char="•"/>
            </a:pPr>
            <a:r>
              <a:rPr lang="en-US" altLang="zh-CN" sz="2800">
                <a:latin typeface="宋体" panose="02010600030101010101" pitchFamily="2" charset="-122"/>
              </a:rPr>
              <a:t>1868</a:t>
            </a:r>
            <a:r>
              <a:rPr lang="zh-CN" altLang="en-US" sz="2800">
                <a:latin typeface="宋体" panose="02010600030101010101" pitchFamily="2" charset="-122"/>
              </a:rPr>
              <a:t>年，麦克斯韦（</a:t>
            </a:r>
            <a:r>
              <a:rPr lang="en-US" altLang="zh-CN" sz="2800">
                <a:latin typeface="宋体" panose="02010600030101010101" pitchFamily="2" charset="-122"/>
              </a:rPr>
              <a:t>J.C.Maxwell)</a:t>
            </a:r>
            <a:r>
              <a:rPr lang="zh-CN" altLang="en-US" sz="2800">
                <a:latin typeface="宋体" panose="02010600030101010101" pitchFamily="2" charset="-122"/>
              </a:rPr>
              <a:t>提出可以根据特征方程根的位置判断系统的稳定性。</a:t>
            </a:r>
          </a:p>
          <a:p>
            <a:pPr eaLnBrk="1" hangingPunct="1">
              <a:spcBef>
                <a:spcPts val="600"/>
              </a:spcBef>
              <a:buFontTx/>
              <a:buChar char="•"/>
            </a:pPr>
            <a:r>
              <a:rPr lang="en-US" altLang="zh-CN" sz="2800">
                <a:latin typeface="宋体" panose="02010600030101010101" pitchFamily="2" charset="-122"/>
              </a:rPr>
              <a:t>1877</a:t>
            </a:r>
            <a:r>
              <a:rPr lang="zh-CN" altLang="en-US" sz="2800">
                <a:latin typeface="宋体" panose="02010600030101010101" pitchFamily="2" charset="-122"/>
              </a:rPr>
              <a:t>年，劳斯（</a:t>
            </a:r>
            <a:r>
              <a:rPr lang="en-US" altLang="zh-CN" sz="2800">
                <a:latin typeface="宋体" panose="02010600030101010101" pitchFamily="2" charset="-122"/>
              </a:rPr>
              <a:t>E.J.Routh)</a:t>
            </a:r>
            <a:r>
              <a:rPr lang="zh-CN" altLang="en-US" sz="2800">
                <a:latin typeface="宋体" panose="02010600030101010101" pitchFamily="2" charset="-122"/>
              </a:rPr>
              <a:t>提出了稳定性的一种代数判据，</a:t>
            </a:r>
            <a:r>
              <a:rPr lang="en-US" altLang="zh-CN" sz="2800">
                <a:latin typeface="宋体" panose="02010600030101010101" pitchFamily="2" charset="-122"/>
              </a:rPr>
              <a:t>1895</a:t>
            </a:r>
            <a:r>
              <a:rPr lang="zh-CN" altLang="en-US" sz="2800">
                <a:latin typeface="宋体" panose="02010600030101010101" pitchFamily="2" charset="-122"/>
              </a:rPr>
              <a:t>年，赫尔维茨（</a:t>
            </a:r>
            <a:r>
              <a:rPr lang="en-US" altLang="zh-CN" sz="2800">
                <a:latin typeface="宋体" panose="02010600030101010101" pitchFamily="2" charset="-122"/>
              </a:rPr>
              <a:t>A.Hurwitz)</a:t>
            </a:r>
            <a:r>
              <a:rPr lang="zh-CN" altLang="en-US" sz="2800">
                <a:latin typeface="宋体" panose="02010600030101010101" pitchFamily="2" charset="-122"/>
              </a:rPr>
              <a:t>又提出了另一种代数判据。</a:t>
            </a:r>
            <a:endParaRPr lang="en-US" altLang="zh-CN" sz="2800">
              <a:latin typeface="宋体" panose="02010600030101010101" pitchFamily="2" charset="-122"/>
            </a:endParaRPr>
          </a:p>
          <a:p>
            <a:pPr eaLnBrk="1" hangingPunct="1">
              <a:spcBef>
                <a:spcPts val="600"/>
              </a:spcBef>
              <a:buFontTx/>
              <a:buChar char="•"/>
            </a:pPr>
            <a:r>
              <a:rPr lang="en-US" altLang="zh-CN" sz="2800">
                <a:latin typeface="宋体" panose="02010600030101010101" pitchFamily="2" charset="-122"/>
              </a:rPr>
              <a:t>1932</a:t>
            </a:r>
            <a:r>
              <a:rPr lang="zh-CN" altLang="en-US" sz="2800">
                <a:latin typeface="宋体" panose="02010600030101010101" pitchFamily="2" charset="-122"/>
              </a:rPr>
              <a:t>年，</a:t>
            </a:r>
            <a:r>
              <a:rPr lang="en-US" altLang="zh-CN" sz="2800">
                <a:latin typeface="宋体" panose="02010600030101010101" pitchFamily="2" charset="-122"/>
              </a:rPr>
              <a:t>Nyquist</a:t>
            </a:r>
            <a:r>
              <a:rPr lang="zh-CN" altLang="en-US" sz="2800">
                <a:latin typeface="宋体" panose="02010600030101010101" pitchFamily="2" charset="-122"/>
              </a:rPr>
              <a:t>提出了一种根据系统的开环频率响应</a:t>
            </a:r>
            <a:r>
              <a:rPr lang="en-US" altLang="zh-CN" sz="2800">
                <a:latin typeface="宋体" panose="02010600030101010101" pitchFamily="2" charset="-122"/>
              </a:rPr>
              <a:t>(</a:t>
            </a:r>
            <a:r>
              <a:rPr lang="zh-CN" altLang="en-US" sz="2800">
                <a:latin typeface="宋体" panose="02010600030101010101" pitchFamily="2" charset="-122"/>
              </a:rPr>
              <a:t>对稳态正弦输入</a:t>
            </a:r>
            <a:r>
              <a:rPr lang="en-US" altLang="zh-CN" sz="2800">
                <a:latin typeface="宋体" panose="02010600030101010101" pitchFamily="2" charset="-122"/>
              </a:rPr>
              <a:t>)</a:t>
            </a:r>
            <a:r>
              <a:rPr lang="zh-CN" altLang="en-US" sz="2800">
                <a:latin typeface="宋体" panose="02010600030101010101" pitchFamily="2" charset="-122"/>
              </a:rPr>
              <a:t>，确定闭环系统稳定性的方法。</a:t>
            </a:r>
          </a:p>
        </p:txBody>
      </p:sp>
      <p:sp>
        <p:nvSpPr>
          <p:cNvPr id="17414" name="Text Box 2"/>
          <p:cNvSpPr txBox="1">
            <a:spLocks noChangeArrowheads="1"/>
          </p:cNvSpPr>
          <p:nvPr/>
        </p:nvSpPr>
        <p:spPr bwMode="auto">
          <a:xfrm>
            <a:off x="755650" y="765175"/>
            <a:ext cx="1620838"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zh-CN" altLang="en-US" sz="2800" b="1"/>
              <a:t>发展概述</a:t>
            </a:r>
          </a:p>
        </p:txBody>
      </p:sp>
      <p:sp>
        <p:nvSpPr>
          <p:cNvPr id="17415" name="日期占位符 6"/>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84444FD-F7FA-452D-A563-728269ACB1C2}" type="datetime10">
              <a:rPr lang="zh-CN" altLang="en-US" smtClean="0"/>
              <a:pPr/>
              <a:t>14:02</a:t>
            </a:fld>
            <a:endParaRPr lang="zh-CN" altLang="en-US"/>
          </a:p>
        </p:txBody>
      </p:sp>
      <p:sp>
        <p:nvSpPr>
          <p:cNvPr id="17416" name="灯片编号占位符 7"/>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40A45AE-877E-4085-8772-890735CEBA4D}" type="slidenum">
              <a:rPr lang="en-US" altLang="zh-CN" smtClean="0"/>
              <a:pPr/>
              <a:t>9</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anim calcmode="lin" valueType="num">
                                      <p:cBhvr additive="base">
                                        <p:cTn id="7" dur="500" fill="hold"/>
                                        <p:tgtEl>
                                          <p:spTgt spid="1126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9">
                                            <p:txEl>
                                              <p:pRg st="1" end="1"/>
                                            </p:txEl>
                                          </p:spTgt>
                                        </p:tgtEl>
                                        <p:attrNameLst>
                                          <p:attrName>style.visibility</p:attrName>
                                        </p:attrNameLst>
                                      </p:cBhvr>
                                      <p:to>
                                        <p:strVal val="visible"/>
                                      </p:to>
                                    </p:set>
                                    <p:anim calcmode="lin" valueType="num">
                                      <p:cBhvr additive="base">
                                        <p:cTn id="13" dur="500" fill="hold"/>
                                        <p:tgtEl>
                                          <p:spTgt spid="1126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9">
                                            <p:txEl>
                                              <p:pRg st="2" end="2"/>
                                            </p:txEl>
                                          </p:spTgt>
                                        </p:tgtEl>
                                        <p:attrNameLst>
                                          <p:attrName>style.visibility</p:attrName>
                                        </p:attrNameLst>
                                      </p:cBhvr>
                                      <p:to>
                                        <p:strVal val="visible"/>
                                      </p:to>
                                    </p:set>
                                    <p:anim calcmode="lin" valueType="num">
                                      <p:cBhvr additive="base">
                                        <p:cTn id="19" dur="500" fill="hold"/>
                                        <p:tgtEl>
                                          <p:spTgt spid="1126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9">
                                            <p:txEl>
                                              <p:pRg st="3" end="3"/>
                                            </p:txEl>
                                          </p:spTgt>
                                        </p:tgtEl>
                                        <p:attrNameLst>
                                          <p:attrName>style.visibility</p:attrName>
                                        </p:attrNameLst>
                                      </p:cBhvr>
                                      <p:to>
                                        <p:strVal val="visible"/>
                                      </p:to>
                                    </p:set>
                                    <p:anim calcmode="lin" valueType="num">
                                      <p:cBhvr additive="base">
                                        <p:cTn id="25" dur="500" fill="hold"/>
                                        <p:tgtEl>
                                          <p:spTgt spid="1126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1"/>
          <p:cNvSpPr txBox="1">
            <a:spLocks noGrp="1" noChangeArrowheads="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361AF38A-372D-41B3-B073-7F8B564532D9}" type="datetime1">
              <a:rPr lang="zh-CN" altLang="en-US" sz="1200"/>
              <a:pPr eaLnBrk="1" hangingPunct="1"/>
              <a:t>2025/9/1</a:t>
            </a:fld>
            <a:endParaRPr lang="zh-CN" altLang="en-US" sz="1200"/>
          </a:p>
        </p:txBody>
      </p:sp>
      <p:sp>
        <p:nvSpPr>
          <p:cNvPr id="18435" name="灯片编号占位符 2"/>
          <p:cNvSpPr txBox="1">
            <a:spLocks noGrp="1" noChangeArrowheads="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eaLnBrk="1" hangingPunct="1"/>
            <a:fld id="{FD4B49C7-026D-4DC2-BCAA-E565F313FE59}" type="slidenum">
              <a:rPr lang="en-US" altLang="zh-CN" sz="1200"/>
              <a:pPr algn="r" eaLnBrk="1" hangingPunct="1"/>
              <a:t>10</a:t>
            </a:fld>
            <a:endParaRPr lang="en-US" altLang="zh-CN" sz="1200"/>
          </a:p>
        </p:txBody>
      </p:sp>
      <p:sp>
        <p:nvSpPr>
          <p:cNvPr id="15364" name="矩形 4"/>
          <p:cNvSpPr>
            <a:spLocks noChangeArrowheads="1"/>
          </p:cNvSpPr>
          <p:nvPr/>
        </p:nvSpPr>
        <p:spPr bwMode="auto">
          <a:xfrm>
            <a:off x="827088" y="3284538"/>
            <a:ext cx="799147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Tx/>
              <a:buChar char="•"/>
            </a:pPr>
            <a:r>
              <a:rPr lang="en-US" altLang="zh-CN" sz="2800">
                <a:latin typeface="宋体" panose="02010600030101010101" pitchFamily="2" charset="-122"/>
              </a:rPr>
              <a:t>1948</a:t>
            </a:r>
            <a:r>
              <a:rPr lang="zh-CN" altLang="en-US" sz="2800">
                <a:latin typeface="宋体" panose="02010600030101010101" pitchFamily="2" charset="-122"/>
              </a:rPr>
              <a:t>年，</a:t>
            </a:r>
            <a:r>
              <a:rPr lang="en-US" altLang="zh-CN" sz="2800">
                <a:latin typeface="宋体" panose="02010600030101010101" pitchFamily="2" charset="-122"/>
              </a:rPr>
              <a:t>N·</a:t>
            </a:r>
            <a:r>
              <a:rPr lang="zh-CN" altLang="en-US" sz="2800">
                <a:latin typeface="宋体" panose="02010600030101010101" pitchFamily="2" charset="-122"/>
              </a:rPr>
              <a:t>维那（</a:t>
            </a:r>
            <a:r>
              <a:rPr lang="en-US" altLang="zh-CN" sz="2800">
                <a:latin typeface="宋体" panose="02010600030101010101" pitchFamily="2" charset="-122"/>
              </a:rPr>
              <a:t>N.Wiener)</a:t>
            </a:r>
            <a:r>
              <a:rPr lang="zh-CN" altLang="en-US" sz="2800">
                <a:latin typeface="宋体" panose="02010600030101010101" pitchFamily="2" charset="-122"/>
              </a:rPr>
              <a:t>出版了</a:t>
            </a:r>
            <a:r>
              <a:rPr lang="en-US" altLang="zh-CN" sz="2800">
                <a:latin typeface="宋体" panose="02010600030101010101" pitchFamily="2" charset="-122"/>
              </a:rPr>
              <a:t>《</a:t>
            </a:r>
            <a:r>
              <a:rPr lang="zh-CN" altLang="en-US" sz="2800">
                <a:latin typeface="宋体" panose="02010600030101010101" pitchFamily="2" charset="-122"/>
              </a:rPr>
              <a:t>控制论</a:t>
            </a:r>
            <a:r>
              <a:rPr lang="en-US" altLang="zh-CN" sz="2800">
                <a:latin typeface="宋体" panose="02010600030101010101" pitchFamily="2" charset="-122"/>
              </a:rPr>
              <a:t>(</a:t>
            </a:r>
            <a:r>
              <a:rPr lang="zh-CN" altLang="en-US" sz="2800">
                <a:latin typeface="宋体" panose="02010600030101010101" pitchFamily="2" charset="-122"/>
              </a:rPr>
              <a:t>或关于在动物与机器中控制和通信的科学）</a:t>
            </a:r>
            <a:r>
              <a:rPr lang="en-US" altLang="zh-CN" sz="2800">
                <a:latin typeface="宋体" panose="02010600030101010101" pitchFamily="2" charset="-122"/>
              </a:rPr>
              <a:t>》</a:t>
            </a:r>
            <a:r>
              <a:rPr lang="zh-CN" altLang="en-US" sz="2800">
                <a:latin typeface="宋体" panose="02010600030101010101" pitchFamily="2" charset="-122"/>
              </a:rPr>
              <a:t>，标志着控制理论的正式诞生。</a:t>
            </a:r>
          </a:p>
        </p:txBody>
      </p:sp>
      <p:sp>
        <p:nvSpPr>
          <p:cNvPr id="18437" name="矩形 5"/>
          <p:cNvSpPr>
            <a:spLocks noChangeArrowheads="1"/>
          </p:cNvSpPr>
          <p:nvPr/>
        </p:nvSpPr>
        <p:spPr bwMode="auto">
          <a:xfrm>
            <a:off x="827088" y="1773238"/>
            <a:ext cx="76327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Tx/>
              <a:buChar char="•"/>
            </a:pPr>
            <a:r>
              <a:rPr lang="en-US" altLang="zh-CN" sz="2800">
                <a:latin typeface="宋体" panose="02010600030101010101" pitchFamily="2" charset="-122"/>
              </a:rPr>
              <a:t>1948</a:t>
            </a:r>
            <a:r>
              <a:rPr lang="zh-CN" altLang="en-US" sz="2800">
                <a:latin typeface="宋体" panose="02010600030101010101" pitchFamily="2" charset="-122"/>
              </a:rPr>
              <a:t>年， </a:t>
            </a:r>
            <a:r>
              <a:rPr lang="en-US" altLang="zh-CN" sz="2800">
                <a:latin typeface="宋体" panose="02010600030101010101" pitchFamily="2" charset="-122"/>
              </a:rPr>
              <a:t>Evans</a:t>
            </a:r>
            <a:r>
              <a:rPr lang="zh-CN" altLang="en-US" sz="2800">
                <a:latin typeface="宋体" panose="02010600030101010101" pitchFamily="2" charset="-122"/>
              </a:rPr>
              <a:t>提出了根据系统参数变化时特征方程根变化的轨迹来研究控制系统的“根轨迹”理论。</a:t>
            </a:r>
          </a:p>
        </p:txBody>
      </p:sp>
      <p:sp>
        <p:nvSpPr>
          <p:cNvPr id="15366" name="矩形 6"/>
          <p:cNvSpPr>
            <a:spLocks noChangeArrowheads="1"/>
          </p:cNvSpPr>
          <p:nvPr/>
        </p:nvSpPr>
        <p:spPr bwMode="auto">
          <a:xfrm>
            <a:off x="827088" y="4941888"/>
            <a:ext cx="64135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Char char="•"/>
            </a:pPr>
            <a:r>
              <a:rPr lang="en-US" altLang="zh-CN" sz="2800">
                <a:latin typeface="宋体" panose="02010600030101010101" pitchFamily="2" charset="-122"/>
              </a:rPr>
              <a:t>1954</a:t>
            </a:r>
            <a:r>
              <a:rPr lang="zh-CN" altLang="en-US" sz="2800">
                <a:latin typeface="宋体" panose="02010600030101010101" pitchFamily="2" charset="-122"/>
              </a:rPr>
              <a:t>年：钱学森发表</a:t>
            </a:r>
            <a:r>
              <a:rPr lang="en-US" altLang="zh-CN" sz="2800">
                <a:latin typeface="宋体" panose="02010600030101010101" pitchFamily="2" charset="-122"/>
              </a:rPr>
              <a:t>《</a:t>
            </a:r>
            <a:r>
              <a:rPr lang="zh-CN" altLang="en-US" sz="2800">
                <a:latin typeface="宋体" panose="02010600030101010101" pitchFamily="2" charset="-122"/>
              </a:rPr>
              <a:t>工程控制论</a:t>
            </a:r>
            <a:r>
              <a:rPr lang="en-US" altLang="zh-CN" sz="2800">
                <a:latin typeface="宋体" panose="02010600030101010101" pitchFamily="2" charset="-122"/>
              </a:rPr>
              <a:t>》</a:t>
            </a:r>
            <a:r>
              <a:rPr lang="zh-CN" altLang="en-US" sz="2800">
                <a:latin typeface="宋体" panose="02010600030101010101" pitchFamily="2" charset="-122"/>
              </a:rPr>
              <a:t>。</a:t>
            </a:r>
          </a:p>
        </p:txBody>
      </p:sp>
      <p:sp>
        <p:nvSpPr>
          <p:cNvPr id="18439" name="日期占位符 6"/>
          <p:cNvSpPr>
            <a:spLocks noGrp="1" noChangeArrowheads="1"/>
          </p:cNvSpPr>
          <p:nvPr>
            <p:ph type="dt" sz="quarter" idx="10"/>
          </p:nvPr>
        </p:nvSpPr>
        <p:spPr>
          <a:xfrm>
            <a:off x="2700338" y="6308725"/>
            <a:ext cx="1981200" cy="3333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736D5BC-F0C7-4D52-8EAD-82A5DF0C3D1A}" type="datetime10">
              <a:rPr lang="zh-CN" altLang="en-US" smtClean="0"/>
              <a:pPr/>
              <a:t>14:02</a:t>
            </a:fld>
            <a:endParaRPr lang="zh-CN" altLang="en-US"/>
          </a:p>
        </p:txBody>
      </p:sp>
      <p:sp>
        <p:nvSpPr>
          <p:cNvPr id="18440" name="灯片编号占位符 7"/>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F00D770-80E6-4D41-9068-6C5B6DB3E081}" type="slidenum">
              <a:rPr lang="en-US" altLang="zh-CN" smtClean="0"/>
              <a:pPr/>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P spid="1536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1"/>
          <p:cNvSpPr txBox="1">
            <a:spLocks noGrp="1" noChangeArrowheads="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0B9BB149-6A11-42FE-B1A1-23137C5B2A12}" type="datetime1">
              <a:rPr lang="zh-CN" altLang="en-US" sz="1200"/>
              <a:pPr eaLnBrk="1" hangingPunct="1"/>
              <a:t>2025/9/1</a:t>
            </a:fld>
            <a:endParaRPr lang="zh-CN" altLang="en-US" sz="1200"/>
          </a:p>
        </p:txBody>
      </p:sp>
      <p:sp>
        <p:nvSpPr>
          <p:cNvPr id="19459" name="页脚占位符 2"/>
          <p:cNvSpPr txBox="1">
            <a:spLocks noGrp="1" noChangeArrowheads="1"/>
          </p:cNvSpPr>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1200"/>
              <a:t>Lujx</a:t>
            </a:r>
          </a:p>
        </p:txBody>
      </p:sp>
      <p:sp>
        <p:nvSpPr>
          <p:cNvPr id="19460" name="灯片编号占位符 3"/>
          <p:cNvSpPr txBox="1">
            <a:spLocks noGrp="1" noChangeArrowheads="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eaLnBrk="1" hangingPunct="1"/>
            <a:fld id="{6108F45C-C340-40A1-82D5-29C216B60D5D}" type="slidenum">
              <a:rPr lang="en-US" altLang="zh-CN" sz="1200"/>
              <a:pPr algn="r" eaLnBrk="1" hangingPunct="1"/>
              <a:t>11</a:t>
            </a:fld>
            <a:endParaRPr lang="en-US" altLang="zh-CN" sz="1200"/>
          </a:p>
        </p:txBody>
      </p:sp>
      <p:sp>
        <p:nvSpPr>
          <p:cNvPr id="13317" name="Rectangle 3"/>
          <p:cNvSpPr>
            <a:spLocks noChangeArrowheads="1"/>
          </p:cNvSpPr>
          <p:nvPr/>
        </p:nvSpPr>
        <p:spPr bwMode="auto">
          <a:xfrm>
            <a:off x="755650" y="2060575"/>
            <a:ext cx="762635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Tx/>
              <a:buChar char="•"/>
            </a:pPr>
            <a:r>
              <a:rPr lang="en-US" altLang="zh-CN" sz="2800">
                <a:latin typeface="宋体" panose="02010600030101010101" pitchFamily="2" charset="-122"/>
              </a:rPr>
              <a:t>20</a:t>
            </a:r>
            <a:r>
              <a:rPr lang="zh-CN" altLang="en-US" sz="2800">
                <a:latin typeface="宋体" panose="02010600030101010101" pitchFamily="2" charset="-122"/>
              </a:rPr>
              <a:t>世纪</a:t>
            </a:r>
            <a:r>
              <a:rPr lang="en-US" altLang="zh-CN" sz="2800">
                <a:latin typeface="宋体" panose="02010600030101010101" pitchFamily="2" charset="-122"/>
              </a:rPr>
              <a:t>60</a:t>
            </a:r>
            <a:r>
              <a:rPr lang="zh-CN" altLang="en-US" sz="2800">
                <a:latin typeface="宋体" panose="02010600030101010101" pitchFamily="2" charset="-122"/>
              </a:rPr>
              <a:t>年代，数字计算机的出现为复杂系统的基于时域分析的现代控制理论提供了可能。</a:t>
            </a:r>
          </a:p>
          <a:p>
            <a:pPr eaLnBrk="1" hangingPunct="1">
              <a:spcBef>
                <a:spcPct val="50000"/>
              </a:spcBef>
              <a:buFontTx/>
              <a:buChar char="•"/>
            </a:pPr>
            <a:r>
              <a:rPr lang="zh-CN" altLang="en-US" sz="2800">
                <a:latin typeface="宋体" panose="02010600030101010101" pitchFamily="2" charset="-122"/>
              </a:rPr>
              <a:t>从</a:t>
            </a:r>
            <a:r>
              <a:rPr lang="en-US" altLang="zh-CN" sz="2800">
                <a:latin typeface="宋体" panose="02010600030101010101" pitchFamily="2" charset="-122"/>
              </a:rPr>
              <a:t>1960</a:t>
            </a:r>
            <a:r>
              <a:rPr lang="zh-CN" altLang="en-US" sz="2800">
                <a:latin typeface="宋体" panose="02010600030101010101" pitchFamily="2" charset="-122"/>
              </a:rPr>
              <a:t>年到</a:t>
            </a:r>
            <a:r>
              <a:rPr lang="en-US" altLang="zh-CN" sz="2800">
                <a:latin typeface="宋体" panose="02010600030101010101" pitchFamily="2" charset="-122"/>
              </a:rPr>
              <a:t>1980</a:t>
            </a:r>
            <a:r>
              <a:rPr lang="zh-CN" altLang="en-US" sz="2800">
                <a:latin typeface="宋体" panose="02010600030101010101" pitchFamily="2" charset="-122"/>
              </a:rPr>
              <a:t>年，确定性系统、随机系统的最佳控制，及复杂系统的自适应和学习控制，都得到充分的研究。</a:t>
            </a:r>
          </a:p>
          <a:p>
            <a:pPr eaLnBrk="1" hangingPunct="1">
              <a:spcBef>
                <a:spcPct val="50000"/>
              </a:spcBef>
              <a:buFontTx/>
              <a:buChar char="•"/>
            </a:pPr>
            <a:r>
              <a:rPr lang="zh-CN" altLang="en-US" sz="2800">
                <a:latin typeface="宋体" panose="02010600030101010101" pitchFamily="2" charset="-122"/>
              </a:rPr>
              <a:t>从</a:t>
            </a:r>
            <a:r>
              <a:rPr lang="en-US" altLang="zh-CN" sz="2800">
                <a:latin typeface="宋体" panose="02010600030101010101" pitchFamily="2" charset="-122"/>
              </a:rPr>
              <a:t>1980</a:t>
            </a:r>
            <a:r>
              <a:rPr lang="zh-CN" altLang="en-US" sz="2800">
                <a:latin typeface="宋体" panose="02010600030101010101" pitchFamily="2" charset="-122"/>
              </a:rPr>
              <a:t>年到现在，现代控制理论进展集中于鲁棒控制、神经网络控制及其相关课题。</a:t>
            </a:r>
          </a:p>
        </p:txBody>
      </p:sp>
      <p:sp>
        <p:nvSpPr>
          <p:cNvPr id="19462" name="日期占位符 5"/>
          <p:cNvSpPr>
            <a:spLocks noGrp="1" noChangeArrowheads="1"/>
          </p:cNvSpPr>
          <p:nvPr>
            <p:ph type="dt" sz="quarter" idx="10"/>
          </p:nvPr>
        </p:nvSpPr>
        <p:spPr>
          <a:xfrm>
            <a:off x="1835150" y="6308725"/>
            <a:ext cx="1981200" cy="3333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C62119A-90DB-44B4-BACA-98D870FE9C3B}" type="datetime10">
              <a:rPr lang="zh-CN" altLang="en-US" smtClean="0"/>
              <a:pPr/>
              <a:t>14:02</a:t>
            </a:fld>
            <a:endParaRPr lang="zh-CN" altLang="en-US"/>
          </a:p>
        </p:txBody>
      </p:sp>
      <p:sp>
        <p:nvSpPr>
          <p:cNvPr id="19463" name="灯片编号占位符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2E3361E-D28F-4A10-A95E-48DB38D85304}" type="slidenum">
              <a:rPr lang="en-US" altLang="zh-CN" smtClean="0"/>
              <a:pPr/>
              <a:t>11</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anim calcmode="lin" valueType="num">
                                      <p:cBhvr additive="base">
                                        <p:cTn id="7" dur="500" fill="hold"/>
                                        <p:tgtEl>
                                          <p:spTgt spid="1331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7">
                                            <p:txEl>
                                              <p:pRg st="1" end="1"/>
                                            </p:txEl>
                                          </p:spTgt>
                                        </p:tgtEl>
                                        <p:attrNameLst>
                                          <p:attrName>style.visibility</p:attrName>
                                        </p:attrNameLst>
                                      </p:cBhvr>
                                      <p:to>
                                        <p:strVal val="visible"/>
                                      </p:to>
                                    </p:set>
                                    <p:anim calcmode="lin" valueType="num">
                                      <p:cBhvr additive="base">
                                        <p:cTn id="13" dur="500" fill="hold"/>
                                        <p:tgtEl>
                                          <p:spTgt spid="1331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7">
                                            <p:txEl>
                                              <p:pRg st="2" end="2"/>
                                            </p:txEl>
                                          </p:spTgt>
                                        </p:tgtEl>
                                        <p:attrNameLst>
                                          <p:attrName>style.visibility</p:attrName>
                                        </p:attrNameLst>
                                      </p:cBhvr>
                                      <p:to>
                                        <p:strVal val="visible"/>
                                      </p:to>
                                    </p:set>
                                    <p:anim calcmode="lin" valueType="num">
                                      <p:cBhvr additive="base">
                                        <p:cTn id="19" dur="500" fill="hold"/>
                                        <p:tgtEl>
                                          <p:spTgt spid="1331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0D78566-A051-451F-931C-7A7BF7E9361F}" type="datetime10">
              <a:rPr lang="zh-CN" altLang="en-US" smtClean="0"/>
              <a:pPr/>
              <a:t>14:02</a:t>
            </a:fld>
            <a:endParaRPr lang="zh-CN" altLang="en-US"/>
          </a:p>
        </p:txBody>
      </p:sp>
      <p:sp>
        <p:nvSpPr>
          <p:cNvPr id="20483"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4CC802F-DEFC-4E65-9C17-0CC8351DE551}" type="slidenum">
              <a:rPr lang="en-US" altLang="zh-CN" smtClean="0"/>
              <a:pPr/>
              <a:t>12</a:t>
            </a:fld>
            <a:endParaRPr lang="en-US" altLang="zh-CN"/>
          </a:p>
        </p:txBody>
      </p:sp>
      <p:sp>
        <p:nvSpPr>
          <p:cNvPr id="20484" name="Text Box 4"/>
          <p:cNvSpPr txBox="1">
            <a:spLocks noChangeArrowheads="1"/>
          </p:cNvSpPr>
          <p:nvPr/>
        </p:nvSpPr>
        <p:spPr bwMode="auto">
          <a:xfrm>
            <a:off x="1501775" y="1438275"/>
            <a:ext cx="5724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1</a:t>
            </a:r>
            <a:r>
              <a:rPr lang="zh-CN" altLang="en-US" sz="3600">
                <a:latin typeface="Times New Roman" panose="02020603050405020304" pitchFamily="18" charset="0"/>
                <a:ea typeface="华文新魏" panose="02010800040101010101" pitchFamily="2" charset="-122"/>
              </a:rPr>
              <a:t>章  控制系统的基本概念</a:t>
            </a:r>
          </a:p>
        </p:txBody>
      </p:sp>
      <p:sp>
        <p:nvSpPr>
          <p:cNvPr id="20485" name="Rectangle 5"/>
          <p:cNvSpPr>
            <a:spLocks noChangeArrowheads="1"/>
          </p:cNvSpPr>
          <p:nvPr/>
        </p:nvSpPr>
        <p:spPr bwMode="auto">
          <a:xfrm>
            <a:off x="1419225" y="2852738"/>
            <a:ext cx="4313238"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1.1 </a:t>
            </a:r>
            <a:r>
              <a:rPr lang="zh-CN" altLang="en-US" sz="2800">
                <a:latin typeface="Times New Roman" panose="02020603050405020304" pitchFamily="18" charset="0"/>
                <a:ea typeface="黑体" panose="02010609060101010101" pitchFamily="49" charset="-122"/>
              </a:rPr>
              <a:t>自动控制及其发展概述</a:t>
            </a:r>
          </a:p>
        </p:txBody>
      </p:sp>
      <p:sp>
        <p:nvSpPr>
          <p:cNvPr id="20486" name="Rectangle 6"/>
          <p:cNvSpPr>
            <a:spLocks noChangeArrowheads="1"/>
          </p:cNvSpPr>
          <p:nvPr/>
        </p:nvSpPr>
        <p:spPr bwMode="auto">
          <a:xfrm>
            <a:off x="1419225" y="3427413"/>
            <a:ext cx="61087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1.2 </a:t>
            </a:r>
            <a:r>
              <a:rPr lang="zh-CN" altLang="en-US" sz="2800">
                <a:solidFill>
                  <a:srgbClr val="FF0000"/>
                </a:solidFill>
                <a:latin typeface="Times New Roman" panose="02020603050405020304" pitchFamily="18" charset="0"/>
                <a:ea typeface="黑体" panose="02010609060101010101" pitchFamily="49" charset="-122"/>
              </a:rPr>
              <a:t>控制系统的反馈工作原理及其组成</a:t>
            </a:r>
          </a:p>
        </p:txBody>
      </p:sp>
      <p:sp>
        <p:nvSpPr>
          <p:cNvPr id="20487" name="Rectangle 7"/>
          <p:cNvSpPr>
            <a:spLocks noChangeArrowheads="1"/>
          </p:cNvSpPr>
          <p:nvPr/>
        </p:nvSpPr>
        <p:spPr bwMode="auto">
          <a:xfrm>
            <a:off x="1419225" y="4156075"/>
            <a:ext cx="3954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1.3 </a:t>
            </a:r>
            <a:r>
              <a:rPr lang="zh-CN" altLang="en-US" sz="2800">
                <a:latin typeface="Times New Roman" panose="02020603050405020304" pitchFamily="18" charset="0"/>
                <a:ea typeface="黑体" panose="02010609060101010101" pitchFamily="49" charset="-122"/>
              </a:rPr>
              <a:t>控制系统的基本类型</a:t>
            </a:r>
          </a:p>
        </p:txBody>
      </p:sp>
      <p:sp>
        <p:nvSpPr>
          <p:cNvPr id="20488" name="Rectangle 8"/>
          <p:cNvSpPr>
            <a:spLocks noChangeArrowheads="1"/>
          </p:cNvSpPr>
          <p:nvPr/>
        </p:nvSpPr>
        <p:spPr bwMode="auto">
          <a:xfrm>
            <a:off x="1419225" y="4630738"/>
            <a:ext cx="35607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1.4 </a:t>
            </a:r>
            <a:r>
              <a:rPr lang="zh-CN" altLang="en-US" sz="2800">
                <a:latin typeface="Times New Roman" panose="02020603050405020304" pitchFamily="18" charset="0"/>
                <a:ea typeface="黑体" panose="02010609060101010101" pitchFamily="49" charset="-122"/>
              </a:rPr>
              <a:t>对控制系统的要求</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94AA94E-0D02-468B-B9AB-F22E5519ABE8}" type="datetime10">
              <a:rPr lang="zh-CN" altLang="en-US" smtClean="0"/>
              <a:pPr/>
              <a:t>14:02</a:t>
            </a:fld>
            <a:endParaRPr lang="zh-CN" altLang="en-US"/>
          </a:p>
        </p:txBody>
      </p:sp>
      <p:sp>
        <p:nvSpPr>
          <p:cNvPr id="2253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67EC227-70E4-4682-912F-B29F5F940943}" type="slidenum">
              <a:rPr lang="en-US" altLang="zh-CN" smtClean="0"/>
              <a:pPr/>
              <a:t>13</a:t>
            </a:fld>
            <a:endParaRPr lang="en-US" altLang="zh-CN"/>
          </a:p>
        </p:txBody>
      </p:sp>
      <p:sp>
        <p:nvSpPr>
          <p:cNvPr id="22532" name="Rectangle 4"/>
          <p:cNvSpPr>
            <a:spLocks noChangeArrowheads="1"/>
          </p:cNvSpPr>
          <p:nvPr/>
        </p:nvSpPr>
        <p:spPr bwMode="auto">
          <a:xfrm>
            <a:off x="971550" y="1052513"/>
            <a:ext cx="2952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反馈</a:t>
            </a:r>
            <a:r>
              <a:rPr lang="zh-CN" altLang="en-US" sz="2800" b="1">
                <a:latin typeface="Times New Roman" panose="02020603050405020304" pitchFamily="18" charset="0"/>
              </a:rPr>
              <a:t>工作原理</a:t>
            </a:r>
          </a:p>
        </p:txBody>
      </p:sp>
      <p:grpSp>
        <p:nvGrpSpPr>
          <p:cNvPr id="2" name="Group 5"/>
          <p:cNvGrpSpPr>
            <a:grpSpLocks/>
          </p:cNvGrpSpPr>
          <p:nvPr/>
        </p:nvGrpSpPr>
        <p:grpSpPr bwMode="auto">
          <a:xfrm>
            <a:off x="693738" y="1795463"/>
            <a:ext cx="5387975" cy="4257675"/>
            <a:chOff x="1296" y="1288"/>
            <a:chExt cx="3394" cy="2682"/>
          </a:xfrm>
        </p:grpSpPr>
        <p:graphicFrame>
          <p:nvGraphicFramePr>
            <p:cNvPr id="22540" name="Object 6"/>
            <p:cNvGraphicFramePr>
              <a:graphicFrameLocks noChangeAspect="1"/>
            </p:cNvGraphicFramePr>
            <p:nvPr/>
          </p:nvGraphicFramePr>
          <p:xfrm>
            <a:off x="2094" y="1288"/>
            <a:ext cx="1246" cy="1162"/>
          </p:xfrm>
          <a:graphic>
            <a:graphicData uri="http://schemas.openxmlformats.org/presentationml/2006/ole">
              <mc:AlternateContent xmlns:mc="http://schemas.openxmlformats.org/markup-compatibility/2006">
                <mc:Choice xmlns:v="urn:schemas-microsoft-com:vml" Requires="v">
                  <p:oleObj spid="_x0000_s1026" r:id="rId4" imgW="3040644" imgH="3260952" progId="Paint.Picture">
                    <p:embed/>
                  </p:oleObj>
                </mc:Choice>
                <mc:Fallback>
                  <p:oleObj r:id="rId4" imgW="3040644" imgH="3260952" progId="Paint.Picture">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4" y="1288"/>
                          <a:ext cx="1246"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41" name="Rectangle 7" descr="大棋盘"/>
            <p:cNvSpPr>
              <a:spLocks noChangeArrowheads="1"/>
            </p:cNvSpPr>
            <p:nvPr/>
          </p:nvSpPr>
          <p:spPr bwMode="auto">
            <a:xfrm>
              <a:off x="1344" y="1967"/>
              <a:ext cx="1281" cy="1493"/>
            </a:xfrm>
            <a:prstGeom prst="rect">
              <a:avLst/>
            </a:prstGeom>
            <a:blipFill dpi="0" rotWithShape="0">
              <a:blip r:embed="rId6"/>
              <a:srcRect/>
              <a:tile tx="0" ty="0" sx="100000" sy="100000" flip="none" algn="tl"/>
            </a:blip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542" name="Rectangle 8"/>
            <p:cNvSpPr>
              <a:spLocks noChangeArrowheads="1"/>
            </p:cNvSpPr>
            <p:nvPr/>
          </p:nvSpPr>
          <p:spPr bwMode="auto">
            <a:xfrm>
              <a:off x="1438" y="2048"/>
              <a:ext cx="1093" cy="1331"/>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543" name="Rectangle 9"/>
            <p:cNvSpPr>
              <a:spLocks noChangeArrowheads="1"/>
            </p:cNvSpPr>
            <p:nvPr/>
          </p:nvSpPr>
          <p:spPr bwMode="auto">
            <a:xfrm>
              <a:off x="1937" y="1451"/>
              <a:ext cx="94" cy="923"/>
            </a:xfrm>
            <a:prstGeom prst="rect">
              <a:avLst/>
            </a:prstGeom>
            <a:solidFill>
              <a:schemeClr val="accent1"/>
            </a:solidFill>
            <a:ln w="9525">
              <a:solidFill>
                <a:schemeClr val="accent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544" name="Oval 10"/>
            <p:cNvSpPr>
              <a:spLocks noChangeArrowheads="1"/>
            </p:cNvSpPr>
            <p:nvPr/>
          </p:nvSpPr>
          <p:spPr bwMode="auto">
            <a:xfrm>
              <a:off x="1906" y="2347"/>
              <a:ext cx="156" cy="136"/>
            </a:xfrm>
            <a:prstGeom prst="ellipse">
              <a:avLst/>
            </a:prstGeom>
            <a:solidFill>
              <a:schemeClr val="accent1"/>
            </a:solidFill>
            <a:ln w="9525">
              <a:solidFill>
                <a:schemeClr val="accent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545" name="Oval 11"/>
            <p:cNvSpPr>
              <a:spLocks noChangeArrowheads="1"/>
            </p:cNvSpPr>
            <p:nvPr/>
          </p:nvSpPr>
          <p:spPr bwMode="auto">
            <a:xfrm>
              <a:off x="1937" y="1424"/>
              <a:ext cx="94" cy="81"/>
            </a:xfrm>
            <a:prstGeom prst="ellipse">
              <a:avLst/>
            </a:prstGeom>
            <a:solidFill>
              <a:schemeClr val="accent1"/>
            </a:solidFill>
            <a:ln w="9525">
              <a:solidFill>
                <a:schemeClr val="accent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546" name="Line 12"/>
            <p:cNvSpPr>
              <a:spLocks noChangeShapeType="1"/>
            </p:cNvSpPr>
            <p:nvPr/>
          </p:nvSpPr>
          <p:spPr bwMode="auto">
            <a:xfrm>
              <a:off x="2312" y="3107"/>
              <a:ext cx="7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7" name="Line 13"/>
            <p:cNvSpPr>
              <a:spLocks noChangeShapeType="1"/>
            </p:cNvSpPr>
            <p:nvPr/>
          </p:nvSpPr>
          <p:spPr bwMode="auto">
            <a:xfrm>
              <a:off x="1563" y="3107"/>
              <a:ext cx="0" cy="1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8" name="Line 14"/>
            <p:cNvSpPr>
              <a:spLocks noChangeShapeType="1"/>
            </p:cNvSpPr>
            <p:nvPr/>
          </p:nvSpPr>
          <p:spPr bwMode="auto">
            <a:xfrm>
              <a:off x="1563" y="3297"/>
              <a:ext cx="19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9" name="Freeform 15"/>
            <p:cNvSpPr>
              <a:spLocks noChangeArrowheads="1"/>
            </p:cNvSpPr>
            <p:nvPr/>
          </p:nvSpPr>
          <p:spPr bwMode="auto">
            <a:xfrm>
              <a:off x="1563" y="3012"/>
              <a:ext cx="125" cy="95"/>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0" name="Freeform 16"/>
            <p:cNvSpPr>
              <a:spLocks noChangeArrowheads="1"/>
            </p:cNvSpPr>
            <p:nvPr/>
          </p:nvSpPr>
          <p:spPr bwMode="auto">
            <a:xfrm>
              <a:off x="1688" y="2999"/>
              <a:ext cx="125" cy="95"/>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1" name="Freeform 17"/>
            <p:cNvSpPr>
              <a:spLocks noChangeArrowheads="1"/>
            </p:cNvSpPr>
            <p:nvPr/>
          </p:nvSpPr>
          <p:spPr bwMode="auto">
            <a:xfrm>
              <a:off x="1813" y="2999"/>
              <a:ext cx="124" cy="95"/>
            </a:xfrm>
            <a:custGeom>
              <a:avLst/>
              <a:gdLst>
                <a:gd name="T0" fmla="*/ 0 w 192"/>
                <a:gd name="T1" fmla="*/ 31 h 168"/>
                <a:gd name="T2" fmla="*/ 13 w 192"/>
                <a:gd name="T3" fmla="*/ 5 h 168"/>
                <a:gd name="T4" fmla="*/ 39 w 192"/>
                <a:gd name="T5" fmla="*/ 5 h 168"/>
                <a:gd name="T6" fmla="*/ 52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2" name="Freeform 18"/>
            <p:cNvSpPr>
              <a:spLocks noChangeArrowheads="1"/>
            </p:cNvSpPr>
            <p:nvPr/>
          </p:nvSpPr>
          <p:spPr bwMode="auto">
            <a:xfrm>
              <a:off x="1937" y="2999"/>
              <a:ext cx="125" cy="95"/>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3" name="Freeform 19"/>
            <p:cNvSpPr>
              <a:spLocks noChangeArrowheads="1"/>
            </p:cNvSpPr>
            <p:nvPr/>
          </p:nvSpPr>
          <p:spPr bwMode="auto">
            <a:xfrm>
              <a:off x="2062" y="2999"/>
              <a:ext cx="125" cy="95"/>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4" name="Freeform 20"/>
            <p:cNvSpPr>
              <a:spLocks noChangeArrowheads="1"/>
            </p:cNvSpPr>
            <p:nvPr/>
          </p:nvSpPr>
          <p:spPr bwMode="auto">
            <a:xfrm>
              <a:off x="2187" y="3012"/>
              <a:ext cx="125" cy="95"/>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5" name="Text Box 21"/>
            <p:cNvSpPr txBox="1">
              <a:spLocks noChangeArrowheads="1"/>
            </p:cNvSpPr>
            <p:nvPr/>
          </p:nvSpPr>
          <p:spPr bwMode="auto">
            <a:xfrm>
              <a:off x="1474" y="2728"/>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加热电阻丝</a:t>
              </a:r>
            </a:p>
          </p:txBody>
        </p:sp>
        <p:sp>
          <p:nvSpPr>
            <p:cNvPr id="22556" name="Freeform 22"/>
            <p:cNvSpPr>
              <a:spLocks noChangeArrowheads="1"/>
            </p:cNvSpPr>
            <p:nvPr/>
          </p:nvSpPr>
          <p:spPr bwMode="auto">
            <a:xfrm>
              <a:off x="3593" y="2944"/>
              <a:ext cx="125" cy="96"/>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7" name="Freeform 23"/>
            <p:cNvSpPr>
              <a:spLocks noChangeArrowheads="1"/>
            </p:cNvSpPr>
            <p:nvPr/>
          </p:nvSpPr>
          <p:spPr bwMode="auto">
            <a:xfrm>
              <a:off x="3718" y="2944"/>
              <a:ext cx="125" cy="96"/>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8" name="Freeform 24"/>
            <p:cNvSpPr>
              <a:spLocks noChangeArrowheads="1"/>
            </p:cNvSpPr>
            <p:nvPr/>
          </p:nvSpPr>
          <p:spPr bwMode="auto">
            <a:xfrm>
              <a:off x="3843" y="2944"/>
              <a:ext cx="125" cy="96"/>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9" name="Freeform 25"/>
            <p:cNvSpPr>
              <a:spLocks noChangeArrowheads="1"/>
            </p:cNvSpPr>
            <p:nvPr/>
          </p:nvSpPr>
          <p:spPr bwMode="auto">
            <a:xfrm>
              <a:off x="3968" y="2944"/>
              <a:ext cx="125" cy="96"/>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60" name="Freeform 26"/>
            <p:cNvSpPr>
              <a:spLocks noChangeArrowheads="1"/>
            </p:cNvSpPr>
            <p:nvPr/>
          </p:nvSpPr>
          <p:spPr bwMode="auto">
            <a:xfrm>
              <a:off x="4093" y="2944"/>
              <a:ext cx="125" cy="96"/>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61" name="Freeform 27"/>
            <p:cNvSpPr>
              <a:spLocks noChangeArrowheads="1"/>
            </p:cNvSpPr>
            <p:nvPr/>
          </p:nvSpPr>
          <p:spPr bwMode="auto">
            <a:xfrm>
              <a:off x="4218" y="2944"/>
              <a:ext cx="125" cy="96"/>
            </a:xfrm>
            <a:custGeom>
              <a:avLst/>
              <a:gdLst>
                <a:gd name="T0" fmla="*/ 0 w 192"/>
                <a:gd name="T1" fmla="*/ 31 h 168"/>
                <a:gd name="T2" fmla="*/ 13 w 192"/>
                <a:gd name="T3" fmla="*/ 5 h 168"/>
                <a:gd name="T4" fmla="*/ 40 w 192"/>
                <a:gd name="T5" fmla="*/ 5 h 168"/>
                <a:gd name="T6" fmla="*/ 53 w 192"/>
                <a:gd name="T7" fmla="*/ 31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62" name="Line 28"/>
            <p:cNvSpPr>
              <a:spLocks noChangeShapeType="1"/>
            </p:cNvSpPr>
            <p:nvPr/>
          </p:nvSpPr>
          <p:spPr bwMode="auto">
            <a:xfrm>
              <a:off x="3499" y="3026"/>
              <a:ext cx="9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Line 29"/>
            <p:cNvSpPr>
              <a:spLocks noChangeShapeType="1"/>
            </p:cNvSpPr>
            <p:nvPr/>
          </p:nvSpPr>
          <p:spPr bwMode="auto">
            <a:xfrm>
              <a:off x="3499" y="3026"/>
              <a:ext cx="0" cy="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4" name="Line 30"/>
            <p:cNvSpPr>
              <a:spLocks noChangeShapeType="1"/>
            </p:cNvSpPr>
            <p:nvPr/>
          </p:nvSpPr>
          <p:spPr bwMode="auto">
            <a:xfrm>
              <a:off x="4467" y="3026"/>
              <a:ext cx="0" cy="4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5" name="Line 31"/>
            <p:cNvSpPr>
              <a:spLocks noChangeShapeType="1"/>
            </p:cNvSpPr>
            <p:nvPr/>
          </p:nvSpPr>
          <p:spPr bwMode="auto">
            <a:xfrm>
              <a:off x="4343" y="3026"/>
              <a:ext cx="1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Oval 32"/>
            <p:cNvSpPr>
              <a:spLocks noChangeArrowheads="1"/>
            </p:cNvSpPr>
            <p:nvPr/>
          </p:nvSpPr>
          <p:spPr bwMode="auto">
            <a:xfrm>
              <a:off x="3468" y="3433"/>
              <a:ext cx="62" cy="55"/>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567" name="Oval 33"/>
            <p:cNvSpPr>
              <a:spLocks noChangeArrowheads="1"/>
            </p:cNvSpPr>
            <p:nvPr/>
          </p:nvSpPr>
          <p:spPr bwMode="auto">
            <a:xfrm>
              <a:off x="4436" y="3433"/>
              <a:ext cx="63" cy="55"/>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2568" name="Line 34"/>
            <p:cNvSpPr>
              <a:spLocks noChangeShapeType="1"/>
            </p:cNvSpPr>
            <p:nvPr/>
          </p:nvSpPr>
          <p:spPr bwMode="auto">
            <a:xfrm flipV="1">
              <a:off x="3062" y="2646"/>
              <a:ext cx="0" cy="46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9" name="Line 35"/>
            <p:cNvSpPr>
              <a:spLocks noChangeShapeType="1"/>
            </p:cNvSpPr>
            <p:nvPr/>
          </p:nvSpPr>
          <p:spPr bwMode="auto">
            <a:xfrm>
              <a:off x="3062" y="2646"/>
              <a:ext cx="84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0" name="Line 36"/>
            <p:cNvSpPr>
              <a:spLocks noChangeShapeType="1"/>
            </p:cNvSpPr>
            <p:nvPr/>
          </p:nvSpPr>
          <p:spPr bwMode="auto">
            <a:xfrm>
              <a:off x="3905" y="2429"/>
              <a:ext cx="0" cy="51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1" name="Line 37"/>
            <p:cNvSpPr>
              <a:spLocks noChangeShapeType="1"/>
            </p:cNvSpPr>
            <p:nvPr/>
          </p:nvSpPr>
          <p:spPr bwMode="auto">
            <a:xfrm>
              <a:off x="3687" y="2429"/>
              <a:ext cx="406" cy="0"/>
            </a:xfrm>
            <a:prstGeom prst="line">
              <a:avLst/>
            </a:prstGeom>
            <a:noFill/>
            <a:ln w="1270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2" name="Text Box 38"/>
            <p:cNvSpPr txBox="1">
              <a:spLocks noChangeArrowheads="1"/>
            </p:cNvSpPr>
            <p:nvPr/>
          </p:nvSpPr>
          <p:spPr bwMode="auto">
            <a:xfrm>
              <a:off x="3718" y="3298"/>
              <a:ext cx="6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~220V</a:t>
              </a:r>
            </a:p>
          </p:txBody>
        </p:sp>
        <p:sp>
          <p:nvSpPr>
            <p:cNvPr id="22573" name="Text Box 39"/>
            <p:cNvSpPr txBox="1">
              <a:spLocks noChangeArrowheads="1"/>
            </p:cNvSpPr>
            <p:nvPr/>
          </p:nvSpPr>
          <p:spPr bwMode="auto">
            <a:xfrm>
              <a:off x="3998" y="2590"/>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调压器</a:t>
              </a:r>
            </a:p>
          </p:txBody>
        </p:sp>
        <p:sp>
          <p:nvSpPr>
            <p:cNvPr id="22574" name="Rectangle 40"/>
            <p:cNvSpPr>
              <a:spLocks noChangeArrowheads="1"/>
            </p:cNvSpPr>
            <p:nvPr/>
          </p:nvSpPr>
          <p:spPr bwMode="auto">
            <a:xfrm>
              <a:off x="2098" y="3682"/>
              <a:ext cx="18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宋体" panose="02010600030101010101" pitchFamily="2" charset="-122"/>
                </a:rPr>
                <a:t>人工控制的恒温箱</a:t>
              </a:r>
              <a:r>
                <a:rPr lang="zh-CN" altLang="en-US" sz="2400">
                  <a:latin typeface="Times New Roman" panose="02020603050405020304" pitchFamily="18" charset="0"/>
                </a:rPr>
                <a:t> </a:t>
              </a:r>
            </a:p>
          </p:txBody>
        </p:sp>
        <p:sp>
          <p:nvSpPr>
            <p:cNvPr id="22575" name="Text Box 41"/>
            <p:cNvSpPr txBox="1">
              <a:spLocks noChangeArrowheads="1"/>
            </p:cNvSpPr>
            <p:nvPr/>
          </p:nvSpPr>
          <p:spPr bwMode="auto">
            <a:xfrm>
              <a:off x="1296" y="1440"/>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温度计</a:t>
              </a:r>
            </a:p>
          </p:txBody>
        </p:sp>
      </p:grpSp>
      <p:sp>
        <p:nvSpPr>
          <p:cNvPr id="22534" name="Text Box 4"/>
          <p:cNvSpPr txBox="1">
            <a:spLocks noChangeArrowheads="1"/>
          </p:cNvSpPr>
          <p:nvPr/>
        </p:nvSpPr>
        <p:spPr bwMode="auto">
          <a:xfrm>
            <a:off x="684213" y="333375"/>
            <a:ext cx="61087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1.2 </a:t>
            </a:r>
            <a:r>
              <a:rPr lang="zh-CN" altLang="en-US" sz="2800">
                <a:latin typeface="Times New Roman" panose="02020603050405020304" pitchFamily="18" charset="0"/>
                <a:ea typeface="黑体" panose="02010609060101010101" pitchFamily="49" charset="-122"/>
              </a:rPr>
              <a:t>控制系统的反馈工作原理及其组成</a:t>
            </a:r>
          </a:p>
        </p:txBody>
      </p:sp>
      <p:sp>
        <p:nvSpPr>
          <p:cNvPr id="3" name="文本框 2"/>
          <p:cNvSpPr txBox="1">
            <a:spLocks noChangeArrowheads="1"/>
          </p:cNvSpPr>
          <p:nvPr/>
        </p:nvSpPr>
        <p:spPr bwMode="auto">
          <a:xfrm>
            <a:off x="5122863" y="1755775"/>
            <a:ext cx="428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000">
                <a:solidFill>
                  <a:srgbClr val="FF0000"/>
                </a:solidFill>
              </a:rPr>
              <a:t>测量</a:t>
            </a:r>
            <a:r>
              <a:rPr lang="zh-CN" altLang="en-US" sz="2000"/>
              <a:t>（被控量值）（温度计、眼睛）</a:t>
            </a:r>
          </a:p>
        </p:txBody>
      </p:sp>
      <p:sp>
        <p:nvSpPr>
          <p:cNvPr id="44" name="文本框 43"/>
          <p:cNvSpPr txBox="1">
            <a:spLocks noChangeArrowheads="1"/>
          </p:cNvSpPr>
          <p:nvPr/>
        </p:nvSpPr>
        <p:spPr bwMode="auto">
          <a:xfrm>
            <a:off x="5133975" y="2211388"/>
            <a:ext cx="403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000">
                <a:solidFill>
                  <a:srgbClr val="FF0000"/>
                </a:solidFill>
              </a:rPr>
              <a:t>比较、求偏差</a:t>
            </a:r>
            <a:r>
              <a:rPr lang="zh-CN" altLang="en-US" sz="2000"/>
              <a:t>（与给定量）（脑）</a:t>
            </a:r>
          </a:p>
        </p:txBody>
      </p:sp>
      <p:sp>
        <p:nvSpPr>
          <p:cNvPr id="45" name="文本框 44"/>
          <p:cNvSpPr txBox="1">
            <a:spLocks noChangeArrowheads="1"/>
          </p:cNvSpPr>
          <p:nvPr/>
        </p:nvSpPr>
        <p:spPr bwMode="auto">
          <a:xfrm>
            <a:off x="5133975" y="3092450"/>
            <a:ext cx="403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000">
                <a:solidFill>
                  <a:srgbClr val="FF0000"/>
                </a:solidFill>
              </a:rPr>
              <a:t>执行</a:t>
            </a:r>
            <a:r>
              <a:rPr lang="zh-CN" altLang="en-US" sz="2000"/>
              <a:t>（根据偏差纠正偏差）（手）</a:t>
            </a:r>
          </a:p>
        </p:txBody>
      </p:sp>
      <p:sp>
        <p:nvSpPr>
          <p:cNvPr id="4" name="文本框 3"/>
          <p:cNvSpPr txBox="1">
            <a:spLocks noChangeArrowheads="1"/>
          </p:cNvSpPr>
          <p:nvPr/>
        </p:nvSpPr>
        <p:spPr bwMode="auto">
          <a:xfrm>
            <a:off x="5822950" y="2646363"/>
            <a:ext cx="172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000">
                <a:solidFill>
                  <a:srgbClr val="FF0000"/>
                </a:solidFill>
              </a:rPr>
              <a:t>有大小和方向</a:t>
            </a:r>
          </a:p>
        </p:txBody>
      </p:sp>
      <p:sp>
        <p:nvSpPr>
          <p:cNvPr id="5" name="下箭头 4"/>
          <p:cNvSpPr/>
          <p:nvPr/>
        </p:nvSpPr>
        <p:spPr>
          <a:xfrm>
            <a:off x="6553200" y="2525713"/>
            <a:ext cx="46038" cy="1412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4" grpId="0"/>
      <p:bldP spid="45" grpId="0"/>
      <p:bldP spid="4" grpId="0"/>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9A3D4C9-EC9B-4DD9-B629-09802C256B2B}" type="datetime10">
              <a:rPr lang="zh-CN" altLang="en-US" smtClean="0"/>
              <a:pPr/>
              <a:t>14:02</a:t>
            </a:fld>
            <a:endParaRPr lang="zh-CN" altLang="en-US"/>
          </a:p>
        </p:txBody>
      </p:sp>
      <p:sp>
        <p:nvSpPr>
          <p:cNvPr id="2457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05F9027-2437-4EEC-9374-DE08A557F30A}" type="slidenum">
              <a:rPr lang="en-US" altLang="zh-CN" smtClean="0"/>
              <a:pPr/>
              <a:t>14</a:t>
            </a:fld>
            <a:endParaRPr lang="en-US" altLang="zh-CN"/>
          </a:p>
        </p:txBody>
      </p:sp>
      <p:sp>
        <p:nvSpPr>
          <p:cNvPr id="24580" name="Text Box 4"/>
          <p:cNvSpPr txBox="1">
            <a:spLocks noChangeArrowheads="1"/>
          </p:cNvSpPr>
          <p:nvPr/>
        </p:nvSpPr>
        <p:spPr bwMode="auto">
          <a:xfrm>
            <a:off x="766763" y="1066800"/>
            <a:ext cx="4451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人工控制恒温箱调节过程：</a:t>
            </a:r>
          </a:p>
        </p:txBody>
      </p:sp>
      <p:sp>
        <p:nvSpPr>
          <p:cNvPr id="9221" name="Text Box 5"/>
          <p:cNvSpPr txBox="1">
            <a:spLocks noChangeArrowheads="1"/>
          </p:cNvSpPr>
          <p:nvPr/>
        </p:nvSpPr>
        <p:spPr bwMode="auto">
          <a:xfrm>
            <a:off x="808038" y="1838325"/>
            <a:ext cx="58959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8925" indent="-2889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观测恒温箱内的温度（被控制量）</a:t>
            </a:r>
          </a:p>
        </p:txBody>
      </p:sp>
      <p:sp>
        <p:nvSpPr>
          <p:cNvPr id="9222" name="Rectangle 6"/>
          <p:cNvSpPr>
            <a:spLocks noChangeArrowheads="1"/>
          </p:cNvSpPr>
          <p:nvPr/>
        </p:nvSpPr>
        <p:spPr bwMode="auto">
          <a:xfrm>
            <a:off x="838200" y="2590800"/>
            <a:ext cx="798195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与要求的温度（给定值）进行比较，得到温度</a:t>
            </a:r>
          </a:p>
          <a:p>
            <a:pPr eaLnBrk="1" hangingPunct="1">
              <a:lnSpc>
                <a:spcPct val="115000"/>
              </a:lnSpc>
            </a:pPr>
            <a:r>
              <a:rPr lang="zh-CN" altLang="en-US" sz="2800">
                <a:latin typeface="Times New Roman" panose="02020603050405020304" pitchFamily="18" charset="0"/>
              </a:rPr>
              <a:t>    偏差的大小和方向</a:t>
            </a:r>
          </a:p>
        </p:txBody>
      </p:sp>
      <p:sp>
        <p:nvSpPr>
          <p:cNvPr id="9223" name="Rectangle 7"/>
          <p:cNvSpPr>
            <a:spLocks noChangeArrowheads="1"/>
          </p:cNvSpPr>
          <p:nvPr/>
        </p:nvSpPr>
        <p:spPr bwMode="auto">
          <a:xfrm>
            <a:off x="838200" y="3763963"/>
            <a:ext cx="7848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2575" indent="-2825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根据偏差大小和方向调节调压器，控制加热电</a:t>
            </a:r>
          </a:p>
          <a:p>
            <a:pPr eaLnBrk="1" hangingPunct="1">
              <a:lnSpc>
                <a:spcPct val="115000"/>
              </a:lnSpc>
            </a:pPr>
            <a:r>
              <a:rPr lang="zh-CN" altLang="en-US" sz="2800">
                <a:latin typeface="Times New Roman" panose="02020603050405020304" pitchFamily="18" charset="0"/>
              </a:rPr>
              <a:t>    阻丝的电流以调节温度回复到要求值。</a:t>
            </a:r>
          </a:p>
        </p:txBody>
      </p:sp>
      <p:sp>
        <p:nvSpPr>
          <p:cNvPr id="9224" name="Text Box 8"/>
          <p:cNvSpPr txBox="1">
            <a:spLocks noChangeArrowheads="1"/>
          </p:cNvSpPr>
          <p:nvPr/>
        </p:nvSpPr>
        <p:spPr bwMode="auto">
          <a:xfrm>
            <a:off x="757238" y="4967288"/>
            <a:ext cx="7702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人工控制过程的实质：</a:t>
            </a:r>
            <a:r>
              <a:rPr lang="zh-CN" altLang="en-US" sz="2800" b="1">
                <a:solidFill>
                  <a:srgbClr val="FF0000"/>
                </a:solidFill>
                <a:latin typeface="Times New Roman" panose="02020603050405020304" pitchFamily="18" charset="0"/>
              </a:rPr>
              <a:t>检测偏差再纠正偏差</a:t>
            </a:r>
            <a:r>
              <a:rPr lang="zh-CN" altLang="en-US" sz="280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 calcmode="lin" valueType="num">
                                      <p:cBhvr additive="base">
                                        <p:cTn id="7" dur="500" fill="hold"/>
                                        <p:tgtEl>
                                          <p:spTgt spid="9221"/>
                                        </p:tgtEl>
                                        <p:attrNameLst>
                                          <p:attrName>ppt_x</p:attrName>
                                        </p:attrNameLst>
                                      </p:cBhvr>
                                      <p:tavLst>
                                        <p:tav tm="0">
                                          <p:val>
                                            <p:strVal val="#ppt_x"/>
                                          </p:val>
                                        </p:tav>
                                        <p:tav tm="100000">
                                          <p:val>
                                            <p:strVal val="#ppt_x"/>
                                          </p:val>
                                        </p:tav>
                                      </p:tavLst>
                                    </p:anim>
                                    <p:anim calcmode="lin" valueType="num">
                                      <p:cBhvr additive="base">
                                        <p:cTn id="8"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2"/>
                                        </p:tgtEl>
                                        <p:attrNameLst>
                                          <p:attrName>style.visibility</p:attrName>
                                        </p:attrNameLst>
                                      </p:cBhvr>
                                      <p:to>
                                        <p:strVal val="visible"/>
                                      </p:to>
                                    </p:set>
                                    <p:anim calcmode="lin" valueType="num">
                                      <p:cBhvr additive="base">
                                        <p:cTn id="13" dur="500" fill="hold"/>
                                        <p:tgtEl>
                                          <p:spTgt spid="9222"/>
                                        </p:tgtEl>
                                        <p:attrNameLst>
                                          <p:attrName>ppt_x</p:attrName>
                                        </p:attrNameLst>
                                      </p:cBhvr>
                                      <p:tavLst>
                                        <p:tav tm="0">
                                          <p:val>
                                            <p:strVal val="#ppt_x"/>
                                          </p:val>
                                        </p:tav>
                                        <p:tav tm="100000">
                                          <p:val>
                                            <p:strVal val="#ppt_x"/>
                                          </p:val>
                                        </p:tav>
                                      </p:tavLst>
                                    </p:anim>
                                    <p:anim calcmode="lin" valueType="num">
                                      <p:cBhvr additive="base">
                                        <p:cTn id="14"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23"/>
                                        </p:tgtEl>
                                        <p:attrNameLst>
                                          <p:attrName>style.visibility</p:attrName>
                                        </p:attrNameLst>
                                      </p:cBhvr>
                                      <p:to>
                                        <p:strVal val="visible"/>
                                      </p:to>
                                    </p:set>
                                    <p:anim calcmode="lin" valueType="num">
                                      <p:cBhvr additive="base">
                                        <p:cTn id="19" dur="500" fill="hold"/>
                                        <p:tgtEl>
                                          <p:spTgt spid="9223"/>
                                        </p:tgtEl>
                                        <p:attrNameLst>
                                          <p:attrName>ppt_x</p:attrName>
                                        </p:attrNameLst>
                                      </p:cBhvr>
                                      <p:tavLst>
                                        <p:tav tm="0">
                                          <p:val>
                                            <p:strVal val="#ppt_x"/>
                                          </p:val>
                                        </p:tav>
                                        <p:tav tm="100000">
                                          <p:val>
                                            <p:strVal val="#ppt_x"/>
                                          </p:val>
                                        </p:tav>
                                      </p:tavLst>
                                    </p:anim>
                                    <p:anim calcmode="lin" valueType="num">
                                      <p:cBhvr additive="base">
                                        <p:cTn id="20" dur="500" fill="hold"/>
                                        <p:tgtEl>
                                          <p:spTgt spid="922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24"/>
                                        </p:tgtEl>
                                        <p:attrNameLst>
                                          <p:attrName>style.visibility</p:attrName>
                                        </p:attrNameLst>
                                      </p:cBhvr>
                                      <p:to>
                                        <p:strVal val="visible"/>
                                      </p:to>
                                    </p:set>
                                    <p:anim calcmode="lin" valueType="num">
                                      <p:cBhvr additive="base">
                                        <p:cTn id="25" dur="500" fill="hold"/>
                                        <p:tgtEl>
                                          <p:spTgt spid="9224"/>
                                        </p:tgtEl>
                                        <p:attrNameLst>
                                          <p:attrName>ppt_x</p:attrName>
                                        </p:attrNameLst>
                                      </p:cBhvr>
                                      <p:tavLst>
                                        <p:tav tm="0">
                                          <p:val>
                                            <p:strVal val="#ppt_x"/>
                                          </p:val>
                                        </p:tav>
                                        <p:tav tm="100000">
                                          <p:val>
                                            <p:strVal val="#ppt_x"/>
                                          </p:val>
                                        </p:tav>
                                      </p:tavLst>
                                    </p:anim>
                                    <p:anim calcmode="lin" valueType="num">
                                      <p:cBhvr additive="base">
                                        <p:cTn id="26" dur="500" fill="hold"/>
                                        <p:tgtEl>
                                          <p:spTgt spid="92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9222" grpId="0"/>
      <p:bldP spid="9223" grpId="0"/>
      <p:bldP spid="92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10EFCF0-6DD3-47F6-8F05-B3F8384D9C81}" type="datetime10">
              <a:rPr lang="zh-CN" altLang="en-US" smtClean="0"/>
              <a:pPr/>
              <a:t>14:02</a:t>
            </a:fld>
            <a:endParaRPr lang="zh-CN" altLang="en-US"/>
          </a:p>
        </p:txBody>
      </p:sp>
      <p:sp>
        <p:nvSpPr>
          <p:cNvPr id="26627"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365E298-3A05-463C-B495-0CAB46526EB6}" type="slidenum">
              <a:rPr lang="en-US" altLang="zh-CN" smtClean="0"/>
              <a:pPr/>
              <a:t>15</a:t>
            </a:fld>
            <a:endParaRPr lang="en-US" altLang="zh-CN"/>
          </a:p>
        </p:txBody>
      </p:sp>
      <p:grpSp>
        <p:nvGrpSpPr>
          <p:cNvPr id="26628" name="Group 4"/>
          <p:cNvGrpSpPr>
            <a:grpSpLocks/>
          </p:cNvGrpSpPr>
          <p:nvPr/>
        </p:nvGrpSpPr>
        <p:grpSpPr bwMode="auto">
          <a:xfrm>
            <a:off x="228600" y="2085975"/>
            <a:ext cx="8686800" cy="3481388"/>
            <a:chOff x="144" y="1314"/>
            <a:chExt cx="5472" cy="2193"/>
          </a:xfrm>
        </p:grpSpPr>
        <p:sp>
          <p:nvSpPr>
            <p:cNvPr id="26633" name="Rectangle 5"/>
            <p:cNvSpPr>
              <a:spLocks noChangeArrowheads="1"/>
            </p:cNvSpPr>
            <p:nvPr/>
          </p:nvSpPr>
          <p:spPr bwMode="auto">
            <a:xfrm>
              <a:off x="864" y="1391"/>
              <a:ext cx="719"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大脑</a:t>
              </a:r>
            </a:p>
          </p:txBody>
        </p:sp>
        <p:sp>
          <p:nvSpPr>
            <p:cNvPr id="26634" name="Line 6"/>
            <p:cNvSpPr>
              <a:spLocks noChangeShapeType="1"/>
            </p:cNvSpPr>
            <p:nvPr/>
          </p:nvSpPr>
          <p:spPr bwMode="auto">
            <a:xfrm>
              <a:off x="1584" y="1680"/>
              <a:ext cx="336"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5" name="Rectangle 7"/>
            <p:cNvSpPr>
              <a:spLocks noChangeArrowheads="1"/>
            </p:cNvSpPr>
            <p:nvPr/>
          </p:nvSpPr>
          <p:spPr bwMode="auto">
            <a:xfrm>
              <a:off x="1921" y="1392"/>
              <a:ext cx="719"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手</a:t>
              </a:r>
            </a:p>
          </p:txBody>
        </p:sp>
        <p:sp>
          <p:nvSpPr>
            <p:cNvPr id="26636" name="Line 8"/>
            <p:cNvSpPr>
              <a:spLocks noChangeShapeType="1"/>
            </p:cNvSpPr>
            <p:nvPr/>
          </p:nvSpPr>
          <p:spPr bwMode="auto">
            <a:xfrm>
              <a:off x="2640" y="1680"/>
              <a:ext cx="336"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7" name="Rectangle 9"/>
            <p:cNvSpPr>
              <a:spLocks noChangeArrowheads="1"/>
            </p:cNvSpPr>
            <p:nvPr/>
          </p:nvSpPr>
          <p:spPr bwMode="auto">
            <a:xfrm>
              <a:off x="2976" y="1392"/>
              <a:ext cx="719"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调压器</a:t>
              </a:r>
            </a:p>
          </p:txBody>
        </p:sp>
        <p:sp>
          <p:nvSpPr>
            <p:cNvPr id="26638" name="Rectangle 10"/>
            <p:cNvSpPr>
              <a:spLocks noChangeArrowheads="1"/>
            </p:cNvSpPr>
            <p:nvPr/>
          </p:nvSpPr>
          <p:spPr bwMode="auto">
            <a:xfrm>
              <a:off x="4032" y="1392"/>
              <a:ext cx="719"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恒温箱</a:t>
              </a:r>
            </a:p>
          </p:txBody>
        </p:sp>
        <p:sp>
          <p:nvSpPr>
            <p:cNvPr id="26639" name="Line 11"/>
            <p:cNvSpPr>
              <a:spLocks noChangeShapeType="1"/>
            </p:cNvSpPr>
            <p:nvPr/>
          </p:nvSpPr>
          <p:spPr bwMode="auto">
            <a:xfrm>
              <a:off x="3696" y="1680"/>
              <a:ext cx="336"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0" name="Line 12"/>
            <p:cNvSpPr>
              <a:spLocks noChangeShapeType="1"/>
            </p:cNvSpPr>
            <p:nvPr/>
          </p:nvSpPr>
          <p:spPr bwMode="auto">
            <a:xfrm>
              <a:off x="4752" y="1680"/>
              <a:ext cx="864"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1" name="Line 13"/>
            <p:cNvSpPr>
              <a:spLocks noChangeShapeType="1"/>
            </p:cNvSpPr>
            <p:nvPr/>
          </p:nvSpPr>
          <p:spPr bwMode="auto">
            <a:xfrm>
              <a:off x="192" y="1680"/>
              <a:ext cx="672"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2" name="Line 14"/>
            <p:cNvSpPr>
              <a:spLocks noChangeShapeType="1"/>
            </p:cNvSpPr>
            <p:nvPr/>
          </p:nvSpPr>
          <p:spPr bwMode="auto">
            <a:xfrm>
              <a:off x="5070" y="1680"/>
              <a:ext cx="0" cy="110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3" name="Line 15"/>
            <p:cNvSpPr>
              <a:spLocks noChangeShapeType="1"/>
            </p:cNvSpPr>
            <p:nvPr/>
          </p:nvSpPr>
          <p:spPr bwMode="auto">
            <a:xfrm flipH="1">
              <a:off x="4167" y="2784"/>
              <a:ext cx="912"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4" name="Rectangle 16"/>
            <p:cNvSpPr>
              <a:spLocks noChangeArrowheads="1"/>
            </p:cNvSpPr>
            <p:nvPr/>
          </p:nvSpPr>
          <p:spPr bwMode="auto">
            <a:xfrm>
              <a:off x="1968" y="2496"/>
              <a:ext cx="719"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眼睛</a:t>
              </a:r>
            </a:p>
          </p:txBody>
        </p:sp>
        <p:sp>
          <p:nvSpPr>
            <p:cNvPr id="26645" name="Line 17"/>
            <p:cNvSpPr>
              <a:spLocks noChangeShapeType="1"/>
            </p:cNvSpPr>
            <p:nvPr/>
          </p:nvSpPr>
          <p:spPr bwMode="auto">
            <a:xfrm flipH="1">
              <a:off x="1248" y="2784"/>
              <a:ext cx="720"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6" name="Line 18"/>
            <p:cNvSpPr>
              <a:spLocks noChangeShapeType="1"/>
            </p:cNvSpPr>
            <p:nvPr/>
          </p:nvSpPr>
          <p:spPr bwMode="auto">
            <a:xfrm flipV="1">
              <a:off x="1248" y="1968"/>
              <a:ext cx="0" cy="81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7" name="Text Box 19"/>
            <p:cNvSpPr txBox="1">
              <a:spLocks noChangeArrowheads="1"/>
            </p:cNvSpPr>
            <p:nvPr/>
          </p:nvSpPr>
          <p:spPr bwMode="auto">
            <a:xfrm>
              <a:off x="5088" y="1316"/>
              <a:ext cx="50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zh-CN" altLang="en-US" sz="2400">
                  <a:latin typeface="Times New Roman" panose="02020603050405020304" pitchFamily="18" charset="0"/>
                </a:rPr>
                <a:t>实际</a:t>
              </a:r>
            </a:p>
            <a:p>
              <a:pPr eaLnBrk="1" hangingPunct="1">
                <a:lnSpc>
                  <a:spcPct val="125000"/>
                </a:lnSpc>
              </a:pPr>
              <a:r>
                <a:rPr lang="zh-CN" altLang="en-US" sz="2400">
                  <a:latin typeface="Times New Roman" panose="02020603050405020304" pitchFamily="18" charset="0"/>
                </a:rPr>
                <a:t>温度</a:t>
              </a:r>
            </a:p>
          </p:txBody>
        </p:sp>
        <p:sp>
          <p:nvSpPr>
            <p:cNvPr id="26648" name="Text Box 20"/>
            <p:cNvSpPr txBox="1">
              <a:spLocks noChangeArrowheads="1"/>
            </p:cNvSpPr>
            <p:nvPr/>
          </p:nvSpPr>
          <p:spPr bwMode="auto">
            <a:xfrm>
              <a:off x="144" y="1314"/>
              <a:ext cx="50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zh-CN" altLang="en-US" sz="2400">
                  <a:latin typeface="Times New Roman" panose="02020603050405020304" pitchFamily="18" charset="0"/>
                </a:rPr>
                <a:t>期望</a:t>
              </a:r>
            </a:p>
            <a:p>
              <a:pPr eaLnBrk="1" hangingPunct="1">
                <a:lnSpc>
                  <a:spcPct val="125000"/>
                </a:lnSpc>
              </a:pPr>
              <a:r>
                <a:rPr lang="zh-CN" altLang="en-US" sz="2400">
                  <a:latin typeface="Times New Roman" panose="02020603050405020304" pitchFamily="18" charset="0"/>
                </a:rPr>
                <a:t>温度</a:t>
              </a:r>
            </a:p>
          </p:txBody>
        </p:sp>
        <p:sp>
          <p:nvSpPr>
            <p:cNvPr id="26649" name="Text Box 21"/>
            <p:cNvSpPr txBox="1">
              <a:spLocks noChangeArrowheads="1"/>
            </p:cNvSpPr>
            <p:nvPr/>
          </p:nvSpPr>
          <p:spPr bwMode="auto">
            <a:xfrm>
              <a:off x="1632" y="3216"/>
              <a:ext cx="24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人工控制恒温箱系统方框图</a:t>
              </a:r>
            </a:p>
          </p:txBody>
        </p:sp>
        <p:sp>
          <p:nvSpPr>
            <p:cNvPr id="26650" name="Rectangle 22"/>
            <p:cNvSpPr>
              <a:spLocks noChangeArrowheads="1"/>
            </p:cNvSpPr>
            <p:nvPr/>
          </p:nvSpPr>
          <p:spPr bwMode="auto">
            <a:xfrm>
              <a:off x="3457" y="2496"/>
              <a:ext cx="719"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温度计</a:t>
              </a:r>
            </a:p>
          </p:txBody>
        </p:sp>
        <p:sp>
          <p:nvSpPr>
            <p:cNvPr id="26651" name="Line 23"/>
            <p:cNvSpPr>
              <a:spLocks noChangeShapeType="1"/>
            </p:cNvSpPr>
            <p:nvPr/>
          </p:nvSpPr>
          <p:spPr bwMode="auto">
            <a:xfrm flipH="1">
              <a:off x="2688" y="2784"/>
              <a:ext cx="768"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cxnSp>
        <p:nvCxnSpPr>
          <p:cNvPr id="3" name="直接箭头连接符 2"/>
          <p:cNvCxnSpPr>
            <a:endCxn id="26648" idx="2"/>
          </p:cNvCxnSpPr>
          <p:nvPr/>
        </p:nvCxnSpPr>
        <p:spPr>
          <a:xfrm flipV="1">
            <a:off x="468313" y="3092450"/>
            <a:ext cx="157162" cy="458788"/>
          </a:xfrm>
          <a:prstGeom prst="straightConnector1">
            <a:avLst/>
          </a:prstGeom>
          <a:ln>
            <a:solidFill>
              <a:schemeClr val="tx2"/>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a:spLocks noChangeArrowheads="1"/>
          </p:cNvSpPr>
          <p:nvPr/>
        </p:nvSpPr>
        <p:spPr bwMode="auto">
          <a:xfrm>
            <a:off x="98425" y="3533775"/>
            <a:ext cx="9286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a:t>输入量给定量</a:t>
            </a:r>
          </a:p>
        </p:txBody>
      </p:sp>
      <p:sp>
        <p:nvSpPr>
          <p:cNvPr id="31" name="文本框 30"/>
          <p:cNvSpPr txBox="1">
            <a:spLocks noChangeArrowheads="1"/>
          </p:cNvSpPr>
          <p:nvPr/>
        </p:nvSpPr>
        <p:spPr bwMode="auto">
          <a:xfrm>
            <a:off x="8008938" y="1112838"/>
            <a:ext cx="9286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a:t>输出量被控量</a:t>
            </a:r>
          </a:p>
        </p:txBody>
      </p:sp>
      <p:cxnSp>
        <p:nvCxnSpPr>
          <p:cNvPr id="10" name="直接箭头连接符 9"/>
          <p:cNvCxnSpPr>
            <a:stCxn id="26647" idx="0"/>
            <a:endCxn id="31" idx="2"/>
          </p:cNvCxnSpPr>
          <p:nvPr/>
        </p:nvCxnSpPr>
        <p:spPr>
          <a:xfrm flipV="1">
            <a:off x="8474075" y="1758950"/>
            <a:ext cx="0" cy="330200"/>
          </a:xfrm>
          <a:prstGeom prst="straightConnector1">
            <a:avLst/>
          </a:prstGeom>
          <a:ln>
            <a:solidFill>
              <a:schemeClr val="tx1"/>
            </a:solidFill>
            <a:headEnd type="none" w="med" len="lg"/>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7C15034-91CC-47E4-B47F-4FCB5FFEF6D8}" type="datetime10">
              <a:rPr lang="zh-CN" altLang="en-US" smtClean="0"/>
              <a:pPr/>
              <a:t>14:02</a:t>
            </a:fld>
            <a:endParaRPr lang="zh-CN" altLang="en-US"/>
          </a:p>
        </p:txBody>
      </p:sp>
      <p:sp>
        <p:nvSpPr>
          <p:cNvPr id="2867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4EB6B5A-8E22-4319-A865-9C95DA7F7B8E}" type="slidenum">
              <a:rPr lang="en-US" altLang="zh-CN" smtClean="0"/>
              <a:pPr/>
              <a:t>16</a:t>
            </a:fld>
            <a:endParaRPr lang="en-US" altLang="zh-CN"/>
          </a:p>
        </p:txBody>
      </p:sp>
      <p:grpSp>
        <p:nvGrpSpPr>
          <p:cNvPr id="28676" name="Group 88"/>
          <p:cNvGrpSpPr>
            <a:grpSpLocks/>
          </p:cNvGrpSpPr>
          <p:nvPr/>
        </p:nvGrpSpPr>
        <p:grpSpPr bwMode="auto">
          <a:xfrm>
            <a:off x="611188" y="692150"/>
            <a:ext cx="8153400" cy="5730875"/>
            <a:chOff x="385" y="436"/>
            <a:chExt cx="5136" cy="3610"/>
          </a:xfrm>
        </p:grpSpPr>
        <p:sp>
          <p:nvSpPr>
            <p:cNvPr id="28677" name="Rectangle 3"/>
            <p:cNvSpPr>
              <a:spLocks noChangeArrowheads="1"/>
            </p:cNvSpPr>
            <p:nvPr/>
          </p:nvSpPr>
          <p:spPr bwMode="auto">
            <a:xfrm>
              <a:off x="385" y="1945"/>
              <a:ext cx="1743" cy="166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678" name="Rectangle 4"/>
            <p:cNvSpPr>
              <a:spLocks noChangeArrowheads="1"/>
            </p:cNvSpPr>
            <p:nvPr/>
          </p:nvSpPr>
          <p:spPr bwMode="auto">
            <a:xfrm>
              <a:off x="526" y="2104"/>
              <a:ext cx="1461" cy="1389"/>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679" name="Line 5"/>
            <p:cNvSpPr>
              <a:spLocks noChangeShapeType="1"/>
            </p:cNvSpPr>
            <p:nvPr/>
          </p:nvSpPr>
          <p:spPr bwMode="auto">
            <a:xfrm>
              <a:off x="1657" y="3096"/>
              <a:ext cx="193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0" name="Line 6"/>
            <p:cNvSpPr>
              <a:spLocks noChangeShapeType="1"/>
            </p:cNvSpPr>
            <p:nvPr/>
          </p:nvSpPr>
          <p:spPr bwMode="auto">
            <a:xfrm>
              <a:off x="715" y="3096"/>
              <a:ext cx="0" cy="2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1" name="Line 7"/>
            <p:cNvSpPr>
              <a:spLocks noChangeShapeType="1"/>
            </p:cNvSpPr>
            <p:nvPr/>
          </p:nvSpPr>
          <p:spPr bwMode="auto">
            <a:xfrm>
              <a:off x="715" y="3374"/>
              <a:ext cx="32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2" name="Freeform 8"/>
            <p:cNvSpPr>
              <a:spLocks noChangeArrowheads="1"/>
            </p:cNvSpPr>
            <p:nvPr/>
          </p:nvSpPr>
          <p:spPr bwMode="auto">
            <a:xfrm>
              <a:off x="715" y="2957"/>
              <a:ext cx="188" cy="139"/>
            </a:xfrm>
            <a:custGeom>
              <a:avLst/>
              <a:gdLst>
                <a:gd name="T0" fmla="*/ 0 w 192"/>
                <a:gd name="T1" fmla="*/ 95 h 168"/>
                <a:gd name="T2" fmla="*/ 45 w 192"/>
                <a:gd name="T3" fmla="*/ 14 h 168"/>
                <a:gd name="T4" fmla="*/ 135 w 192"/>
                <a:gd name="T5" fmla="*/ 14 h 168"/>
                <a:gd name="T6" fmla="*/ 180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83" name="Freeform 9"/>
            <p:cNvSpPr>
              <a:spLocks noChangeArrowheads="1"/>
            </p:cNvSpPr>
            <p:nvPr/>
          </p:nvSpPr>
          <p:spPr bwMode="auto">
            <a:xfrm>
              <a:off x="903" y="2937"/>
              <a:ext cx="189" cy="139"/>
            </a:xfrm>
            <a:custGeom>
              <a:avLst/>
              <a:gdLst>
                <a:gd name="T0" fmla="*/ 0 w 192"/>
                <a:gd name="T1" fmla="*/ 95 h 168"/>
                <a:gd name="T2" fmla="*/ 45 w 192"/>
                <a:gd name="T3" fmla="*/ 14 h 168"/>
                <a:gd name="T4" fmla="*/ 138 w 192"/>
                <a:gd name="T5" fmla="*/ 14 h 168"/>
                <a:gd name="T6" fmla="*/ 183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84" name="Freeform 10"/>
            <p:cNvSpPr>
              <a:spLocks noChangeArrowheads="1"/>
            </p:cNvSpPr>
            <p:nvPr/>
          </p:nvSpPr>
          <p:spPr bwMode="auto">
            <a:xfrm>
              <a:off x="1092" y="2937"/>
              <a:ext cx="188" cy="139"/>
            </a:xfrm>
            <a:custGeom>
              <a:avLst/>
              <a:gdLst>
                <a:gd name="T0" fmla="*/ 0 w 192"/>
                <a:gd name="T1" fmla="*/ 95 h 168"/>
                <a:gd name="T2" fmla="*/ 45 w 192"/>
                <a:gd name="T3" fmla="*/ 14 h 168"/>
                <a:gd name="T4" fmla="*/ 135 w 192"/>
                <a:gd name="T5" fmla="*/ 14 h 168"/>
                <a:gd name="T6" fmla="*/ 180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85" name="Freeform 11"/>
            <p:cNvSpPr>
              <a:spLocks noChangeArrowheads="1"/>
            </p:cNvSpPr>
            <p:nvPr/>
          </p:nvSpPr>
          <p:spPr bwMode="auto">
            <a:xfrm>
              <a:off x="1280" y="2937"/>
              <a:ext cx="189" cy="139"/>
            </a:xfrm>
            <a:custGeom>
              <a:avLst/>
              <a:gdLst>
                <a:gd name="T0" fmla="*/ 0 w 192"/>
                <a:gd name="T1" fmla="*/ 95 h 168"/>
                <a:gd name="T2" fmla="*/ 45 w 192"/>
                <a:gd name="T3" fmla="*/ 14 h 168"/>
                <a:gd name="T4" fmla="*/ 138 w 192"/>
                <a:gd name="T5" fmla="*/ 14 h 168"/>
                <a:gd name="T6" fmla="*/ 183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86" name="Freeform 12"/>
            <p:cNvSpPr>
              <a:spLocks noChangeArrowheads="1"/>
            </p:cNvSpPr>
            <p:nvPr/>
          </p:nvSpPr>
          <p:spPr bwMode="auto">
            <a:xfrm>
              <a:off x="1469" y="2937"/>
              <a:ext cx="188" cy="139"/>
            </a:xfrm>
            <a:custGeom>
              <a:avLst/>
              <a:gdLst>
                <a:gd name="T0" fmla="*/ 0 w 192"/>
                <a:gd name="T1" fmla="*/ 95 h 168"/>
                <a:gd name="T2" fmla="*/ 45 w 192"/>
                <a:gd name="T3" fmla="*/ 14 h 168"/>
                <a:gd name="T4" fmla="*/ 135 w 192"/>
                <a:gd name="T5" fmla="*/ 14 h 168"/>
                <a:gd name="T6" fmla="*/ 180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87" name="Text Box 13"/>
            <p:cNvSpPr txBox="1">
              <a:spLocks noChangeArrowheads="1"/>
            </p:cNvSpPr>
            <p:nvPr/>
          </p:nvSpPr>
          <p:spPr bwMode="auto">
            <a:xfrm>
              <a:off x="701" y="2654"/>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加热电阻丝</a:t>
              </a:r>
            </a:p>
          </p:txBody>
        </p:sp>
        <p:sp>
          <p:nvSpPr>
            <p:cNvPr id="28688" name="Freeform 14"/>
            <p:cNvSpPr>
              <a:spLocks noChangeArrowheads="1"/>
            </p:cNvSpPr>
            <p:nvPr/>
          </p:nvSpPr>
          <p:spPr bwMode="auto">
            <a:xfrm>
              <a:off x="4155" y="2858"/>
              <a:ext cx="188" cy="139"/>
            </a:xfrm>
            <a:custGeom>
              <a:avLst/>
              <a:gdLst>
                <a:gd name="T0" fmla="*/ 0 w 192"/>
                <a:gd name="T1" fmla="*/ 95 h 168"/>
                <a:gd name="T2" fmla="*/ 45 w 192"/>
                <a:gd name="T3" fmla="*/ 14 h 168"/>
                <a:gd name="T4" fmla="*/ 135 w 192"/>
                <a:gd name="T5" fmla="*/ 14 h 168"/>
                <a:gd name="T6" fmla="*/ 180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89" name="Freeform 15"/>
            <p:cNvSpPr>
              <a:spLocks noChangeArrowheads="1"/>
            </p:cNvSpPr>
            <p:nvPr/>
          </p:nvSpPr>
          <p:spPr bwMode="auto">
            <a:xfrm>
              <a:off x="4343" y="2858"/>
              <a:ext cx="188" cy="139"/>
            </a:xfrm>
            <a:custGeom>
              <a:avLst/>
              <a:gdLst>
                <a:gd name="T0" fmla="*/ 0 w 192"/>
                <a:gd name="T1" fmla="*/ 95 h 168"/>
                <a:gd name="T2" fmla="*/ 45 w 192"/>
                <a:gd name="T3" fmla="*/ 14 h 168"/>
                <a:gd name="T4" fmla="*/ 135 w 192"/>
                <a:gd name="T5" fmla="*/ 14 h 168"/>
                <a:gd name="T6" fmla="*/ 180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90" name="Freeform 16"/>
            <p:cNvSpPr>
              <a:spLocks noChangeArrowheads="1"/>
            </p:cNvSpPr>
            <p:nvPr/>
          </p:nvSpPr>
          <p:spPr bwMode="auto">
            <a:xfrm>
              <a:off x="4531" y="2858"/>
              <a:ext cx="189" cy="139"/>
            </a:xfrm>
            <a:custGeom>
              <a:avLst/>
              <a:gdLst>
                <a:gd name="T0" fmla="*/ 0 w 192"/>
                <a:gd name="T1" fmla="*/ 95 h 168"/>
                <a:gd name="T2" fmla="*/ 45 w 192"/>
                <a:gd name="T3" fmla="*/ 14 h 168"/>
                <a:gd name="T4" fmla="*/ 138 w 192"/>
                <a:gd name="T5" fmla="*/ 14 h 168"/>
                <a:gd name="T6" fmla="*/ 183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91" name="Freeform 17"/>
            <p:cNvSpPr>
              <a:spLocks noChangeArrowheads="1"/>
            </p:cNvSpPr>
            <p:nvPr/>
          </p:nvSpPr>
          <p:spPr bwMode="auto">
            <a:xfrm>
              <a:off x="4720" y="2858"/>
              <a:ext cx="188" cy="139"/>
            </a:xfrm>
            <a:custGeom>
              <a:avLst/>
              <a:gdLst>
                <a:gd name="T0" fmla="*/ 0 w 192"/>
                <a:gd name="T1" fmla="*/ 95 h 168"/>
                <a:gd name="T2" fmla="*/ 45 w 192"/>
                <a:gd name="T3" fmla="*/ 14 h 168"/>
                <a:gd name="T4" fmla="*/ 135 w 192"/>
                <a:gd name="T5" fmla="*/ 14 h 168"/>
                <a:gd name="T6" fmla="*/ 180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92" name="Freeform 18"/>
            <p:cNvSpPr>
              <a:spLocks noChangeArrowheads="1"/>
            </p:cNvSpPr>
            <p:nvPr/>
          </p:nvSpPr>
          <p:spPr bwMode="auto">
            <a:xfrm>
              <a:off x="4908" y="2858"/>
              <a:ext cx="189" cy="139"/>
            </a:xfrm>
            <a:custGeom>
              <a:avLst/>
              <a:gdLst>
                <a:gd name="T0" fmla="*/ 0 w 192"/>
                <a:gd name="T1" fmla="*/ 95 h 168"/>
                <a:gd name="T2" fmla="*/ 45 w 192"/>
                <a:gd name="T3" fmla="*/ 14 h 168"/>
                <a:gd name="T4" fmla="*/ 138 w 192"/>
                <a:gd name="T5" fmla="*/ 14 h 168"/>
                <a:gd name="T6" fmla="*/ 183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93" name="Freeform 19"/>
            <p:cNvSpPr>
              <a:spLocks noChangeArrowheads="1"/>
            </p:cNvSpPr>
            <p:nvPr/>
          </p:nvSpPr>
          <p:spPr bwMode="auto">
            <a:xfrm>
              <a:off x="5097" y="2858"/>
              <a:ext cx="188" cy="139"/>
            </a:xfrm>
            <a:custGeom>
              <a:avLst/>
              <a:gdLst>
                <a:gd name="T0" fmla="*/ 0 w 192"/>
                <a:gd name="T1" fmla="*/ 95 h 168"/>
                <a:gd name="T2" fmla="*/ 45 w 192"/>
                <a:gd name="T3" fmla="*/ 14 h 168"/>
                <a:gd name="T4" fmla="*/ 135 w 192"/>
                <a:gd name="T5" fmla="*/ 14 h 168"/>
                <a:gd name="T6" fmla="*/ 180 w 192"/>
                <a:gd name="T7" fmla="*/ 95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solidFill>
            <a:ln w="41275">
              <a:solidFill>
                <a:schemeClr val="tx1"/>
              </a:solidFill>
              <a:round/>
              <a:headEnd/>
              <a:tailEnd/>
            </a:ln>
          </p:spPr>
          <p:txBody>
            <a:bodyPr/>
            <a:lstStyle/>
            <a:p>
              <a:endParaRPr lang="zh-CN" altLang="en-US"/>
            </a:p>
          </p:txBody>
        </p:sp>
        <p:sp>
          <p:nvSpPr>
            <p:cNvPr id="28694" name="Line 20"/>
            <p:cNvSpPr>
              <a:spLocks noChangeShapeType="1"/>
            </p:cNvSpPr>
            <p:nvPr/>
          </p:nvSpPr>
          <p:spPr bwMode="auto">
            <a:xfrm>
              <a:off x="4013" y="2977"/>
              <a:ext cx="14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5" name="Line 21"/>
            <p:cNvSpPr>
              <a:spLocks noChangeShapeType="1"/>
            </p:cNvSpPr>
            <p:nvPr/>
          </p:nvSpPr>
          <p:spPr bwMode="auto">
            <a:xfrm>
              <a:off x="4013" y="2977"/>
              <a:ext cx="0" cy="5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6" name="Line 22"/>
            <p:cNvSpPr>
              <a:spLocks noChangeShapeType="1"/>
            </p:cNvSpPr>
            <p:nvPr/>
          </p:nvSpPr>
          <p:spPr bwMode="auto">
            <a:xfrm>
              <a:off x="5474" y="2977"/>
              <a:ext cx="0" cy="5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7" name="Line 23"/>
            <p:cNvSpPr>
              <a:spLocks noChangeShapeType="1"/>
            </p:cNvSpPr>
            <p:nvPr/>
          </p:nvSpPr>
          <p:spPr bwMode="auto">
            <a:xfrm>
              <a:off x="5285" y="2977"/>
              <a:ext cx="18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8" name="Oval 24"/>
            <p:cNvSpPr>
              <a:spLocks noChangeArrowheads="1"/>
            </p:cNvSpPr>
            <p:nvPr/>
          </p:nvSpPr>
          <p:spPr bwMode="auto">
            <a:xfrm>
              <a:off x="3966" y="3573"/>
              <a:ext cx="94" cy="79"/>
            </a:xfrm>
            <a:prstGeom prst="ellipse">
              <a:avLst/>
            </a:prstGeom>
            <a:solidFill>
              <a:schemeClr val="bg1"/>
            </a:solidFill>
            <a:ln w="22225">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699" name="Oval 25"/>
            <p:cNvSpPr>
              <a:spLocks noChangeArrowheads="1"/>
            </p:cNvSpPr>
            <p:nvPr/>
          </p:nvSpPr>
          <p:spPr bwMode="auto">
            <a:xfrm>
              <a:off x="5427" y="3573"/>
              <a:ext cx="94" cy="79"/>
            </a:xfrm>
            <a:prstGeom prst="ellipse">
              <a:avLst/>
            </a:prstGeom>
            <a:solidFill>
              <a:schemeClr val="bg1"/>
            </a:solidFill>
            <a:ln w="22225">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00" name="Line 26"/>
            <p:cNvSpPr>
              <a:spLocks noChangeShapeType="1"/>
            </p:cNvSpPr>
            <p:nvPr/>
          </p:nvSpPr>
          <p:spPr bwMode="auto">
            <a:xfrm flipV="1">
              <a:off x="3589" y="2421"/>
              <a:ext cx="0" cy="6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1" name="Line 27"/>
            <p:cNvSpPr>
              <a:spLocks noChangeShapeType="1"/>
            </p:cNvSpPr>
            <p:nvPr/>
          </p:nvSpPr>
          <p:spPr bwMode="auto">
            <a:xfrm>
              <a:off x="3589" y="2421"/>
              <a:ext cx="10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2" name="Line 28"/>
            <p:cNvSpPr>
              <a:spLocks noChangeShapeType="1"/>
            </p:cNvSpPr>
            <p:nvPr/>
          </p:nvSpPr>
          <p:spPr bwMode="auto">
            <a:xfrm>
              <a:off x="4626" y="2104"/>
              <a:ext cx="0" cy="75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3" name="Text Box 29"/>
            <p:cNvSpPr txBox="1">
              <a:spLocks noChangeArrowheads="1"/>
            </p:cNvSpPr>
            <p:nvPr/>
          </p:nvSpPr>
          <p:spPr bwMode="auto">
            <a:xfrm>
              <a:off x="4343" y="3374"/>
              <a:ext cx="647"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~220V</a:t>
              </a:r>
            </a:p>
          </p:txBody>
        </p:sp>
        <p:sp>
          <p:nvSpPr>
            <p:cNvPr id="28704" name="Text Box 30"/>
            <p:cNvSpPr txBox="1">
              <a:spLocks noChangeArrowheads="1"/>
            </p:cNvSpPr>
            <p:nvPr/>
          </p:nvSpPr>
          <p:spPr bwMode="auto">
            <a:xfrm>
              <a:off x="4767" y="2342"/>
              <a:ext cx="692"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调压器</a:t>
              </a:r>
            </a:p>
          </p:txBody>
        </p:sp>
        <p:sp>
          <p:nvSpPr>
            <p:cNvPr id="28705" name="Line 31"/>
            <p:cNvSpPr>
              <a:spLocks noChangeShapeType="1"/>
            </p:cNvSpPr>
            <p:nvPr/>
          </p:nvSpPr>
          <p:spPr bwMode="auto">
            <a:xfrm>
              <a:off x="1139" y="1230"/>
              <a:ext cx="0" cy="119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6" name="Line 32"/>
            <p:cNvSpPr>
              <a:spLocks noChangeShapeType="1"/>
            </p:cNvSpPr>
            <p:nvPr/>
          </p:nvSpPr>
          <p:spPr bwMode="auto">
            <a:xfrm>
              <a:off x="1139" y="2421"/>
              <a:ext cx="141" cy="15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7" name="Line 33"/>
            <p:cNvSpPr>
              <a:spLocks noChangeShapeType="1"/>
            </p:cNvSpPr>
            <p:nvPr/>
          </p:nvSpPr>
          <p:spPr bwMode="auto">
            <a:xfrm flipV="1">
              <a:off x="1375" y="1548"/>
              <a:ext cx="0" cy="91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8" name="Line 34"/>
            <p:cNvSpPr>
              <a:spLocks noChangeShapeType="1"/>
            </p:cNvSpPr>
            <p:nvPr/>
          </p:nvSpPr>
          <p:spPr bwMode="auto">
            <a:xfrm flipV="1">
              <a:off x="1280" y="2461"/>
              <a:ext cx="95" cy="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9" name="Text Box 35"/>
            <p:cNvSpPr txBox="1">
              <a:spLocks noChangeArrowheads="1"/>
            </p:cNvSpPr>
            <p:nvPr/>
          </p:nvSpPr>
          <p:spPr bwMode="auto">
            <a:xfrm>
              <a:off x="1338" y="2205"/>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热电偶</a:t>
              </a:r>
            </a:p>
          </p:txBody>
        </p:sp>
        <p:sp>
          <p:nvSpPr>
            <p:cNvPr id="28710" name="Rectangle 36"/>
            <p:cNvSpPr>
              <a:spLocks noChangeArrowheads="1"/>
            </p:cNvSpPr>
            <p:nvPr/>
          </p:nvSpPr>
          <p:spPr bwMode="auto">
            <a:xfrm>
              <a:off x="1657" y="992"/>
              <a:ext cx="377" cy="79"/>
            </a:xfrm>
            <a:prstGeom prst="rect">
              <a:avLst/>
            </a:prstGeom>
            <a:solidFill>
              <a:schemeClr val="bg1"/>
            </a:solidFill>
            <a:ln w="3810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11" name="Line 37"/>
            <p:cNvSpPr>
              <a:spLocks noChangeShapeType="1"/>
            </p:cNvSpPr>
            <p:nvPr/>
          </p:nvSpPr>
          <p:spPr bwMode="auto">
            <a:xfrm>
              <a:off x="1799" y="714"/>
              <a:ext cx="0" cy="7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2" name="Line 38"/>
            <p:cNvSpPr>
              <a:spLocks noChangeShapeType="1"/>
            </p:cNvSpPr>
            <p:nvPr/>
          </p:nvSpPr>
          <p:spPr bwMode="auto">
            <a:xfrm>
              <a:off x="1846" y="674"/>
              <a:ext cx="0" cy="15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3" name="Line 39"/>
            <p:cNvSpPr>
              <a:spLocks noChangeShapeType="1"/>
            </p:cNvSpPr>
            <p:nvPr/>
          </p:nvSpPr>
          <p:spPr bwMode="auto">
            <a:xfrm flipH="1">
              <a:off x="1469" y="754"/>
              <a:ext cx="33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4" name="Line 40"/>
            <p:cNvSpPr>
              <a:spLocks noChangeShapeType="1"/>
            </p:cNvSpPr>
            <p:nvPr/>
          </p:nvSpPr>
          <p:spPr bwMode="auto">
            <a:xfrm>
              <a:off x="1469" y="754"/>
              <a:ext cx="0" cy="27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5" name="Line 41"/>
            <p:cNvSpPr>
              <a:spLocks noChangeShapeType="1"/>
            </p:cNvSpPr>
            <p:nvPr/>
          </p:nvSpPr>
          <p:spPr bwMode="auto">
            <a:xfrm flipH="1">
              <a:off x="1469" y="1032"/>
              <a:ext cx="18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6" name="Line 42"/>
            <p:cNvSpPr>
              <a:spLocks noChangeShapeType="1"/>
            </p:cNvSpPr>
            <p:nvPr/>
          </p:nvSpPr>
          <p:spPr bwMode="auto">
            <a:xfrm>
              <a:off x="1846" y="754"/>
              <a:ext cx="37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7" name="Line 43"/>
            <p:cNvSpPr>
              <a:spLocks noChangeShapeType="1"/>
            </p:cNvSpPr>
            <p:nvPr/>
          </p:nvSpPr>
          <p:spPr bwMode="auto">
            <a:xfrm>
              <a:off x="2223" y="754"/>
              <a:ext cx="0" cy="27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8" name="Line 44"/>
            <p:cNvSpPr>
              <a:spLocks noChangeShapeType="1"/>
            </p:cNvSpPr>
            <p:nvPr/>
          </p:nvSpPr>
          <p:spPr bwMode="auto">
            <a:xfrm>
              <a:off x="2034" y="1032"/>
              <a:ext cx="18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9" name="Line 45"/>
            <p:cNvSpPr>
              <a:spLocks noChangeShapeType="1"/>
            </p:cNvSpPr>
            <p:nvPr/>
          </p:nvSpPr>
          <p:spPr bwMode="auto">
            <a:xfrm>
              <a:off x="1469" y="1032"/>
              <a:ext cx="0" cy="19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0" name="Line 46"/>
            <p:cNvSpPr>
              <a:spLocks noChangeShapeType="1"/>
            </p:cNvSpPr>
            <p:nvPr/>
          </p:nvSpPr>
          <p:spPr bwMode="auto">
            <a:xfrm flipH="1">
              <a:off x="1139" y="1230"/>
              <a:ext cx="33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1" name="Line 47"/>
            <p:cNvSpPr>
              <a:spLocks noChangeShapeType="1"/>
            </p:cNvSpPr>
            <p:nvPr/>
          </p:nvSpPr>
          <p:spPr bwMode="auto">
            <a:xfrm flipV="1">
              <a:off x="1846" y="1071"/>
              <a:ext cx="0" cy="119"/>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22" name="Line 48"/>
            <p:cNvSpPr>
              <a:spLocks noChangeShapeType="1"/>
            </p:cNvSpPr>
            <p:nvPr/>
          </p:nvSpPr>
          <p:spPr bwMode="auto">
            <a:xfrm>
              <a:off x="1846" y="1190"/>
              <a:ext cx="51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3" name="Line 49"/>
            <p:cNvSpPr>
              <a:spLocks noChangeShapeType="1"/>
            </p:cNvSpPr>
            <p:nvPr/>
          </p:nvSpPr>
          <p:spPr bwMode="auto">
            <a:xfrm>
              <a:off x="1375" y="1548"/>
              <a:ext cx="989"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4" name="Rectangle 50"/>
            <p:cNvSpPr>
              <a:spLocks noChangeArrowheads="1"/>
            </p:cNvSpPr>
            <p:nvPr/>
          </p:nvSpPr>
          <p:spPr bwMode="auto">
            <a:xfrm>
              <a:off x="2364" y="1111"/>
              <a:ext cx="424" cy="516"/>
            </a:xfrm>
            <a:prstGeom prst="rect">
              <a:avLst/>
            </a:prstGeom>
            <a:solidFill>
              <a:schemeClr val="bg1"/>
            </a:solidFill>
            <a:ln w="3810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25" name="AutoShape 51"/>
            <p:cNvSpPr>
              <a:spLocks noChangeArrowheads="1"/>
            </p:cNvSpPr>
            <p:nvPr/>
          </p:nvSpPr>
          <p:spPr bwMode="auto">
            <a:xfrm rot="5400000">
              <a:off x="2517" y="1247"/>
              <a:ext cx="160" cy="235"/>
            </a:xfrm>
            <a:prstGeom prst="triangle">
              <a:avLst>
                <a:gd name="adj" fmla="val 50000"/>
              </a:avLst>
            </a:prstGeom>
            <a:solidFill>
              <a:schemeClr val="bg1"/>
            </a:solidFill>
            <a:ln w="3175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26" name="Rectangle 52"/>
            <p:cNvSpPr>
              <a:spLocks noChangeArrowheads="1"/>
            </p:cNvSpPr>
            <p:nvPr/>
          </p:nvSpPr>
          <p:spPr bwMode="auto">
            <a:xfrm>
              <a:off x="3024" y="1111"/>
              <a:ext cx="424" cy="516"/>
            </a:xfrm>
            <a:prstGeom prst="rect">
              <a:avLst/>
            </a:prstGeom>
            <a:solidFill>
              <a:schemeClr val="bg1"/>
            </a:solidFill>
            <a:ln w="3810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27" name="AutoShape 53"/>
            <p:cNvSpPr>
              <a:spLocks noChangeArrowheads="1"/>
            </p:cNvSpPr>
            <p:nvPr/>
          </p:nvSpPr>
          <p:spPr bwMode="auto">
            <a:xfrm rot="5400000">
              <a:off x="3179" y="1250"/>
              <a:ext cx="160" cy="236"/>
            </a:xfrm>
            <a:prstGeom prst="triangle">
              <a:avLst>
                <a:gd name="adj" fmla="val 50000"/>
              </a:avLst>
            </a:prstGeom>
            <a:solidFill>
              <a:schemeClr val="bg1"/>
            </a:solidFill>
            <a:ln w="3175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28" name="Oval 54"/>
            <p:cNvSpPr>
              <a:spLocks noChangeArrowheads="1"/>
            </p:cNvSpPr>
            <p:nvPr/>
          </p:nvSpPr>
          <p:spPr bwMode="auto">
            <a:xfrm>
              <a:off x="3730" y="1230"/>
              <a:ext cx="377" cy="318"/>
            </a:xfrm>
            <a:prstGeom prst="ellipse">
              <a:avLst/>
            </a:prstGeom>
            <a:solidFill>
              <a:schemeClr val="bg1"/>
            </a:solidFill>
            <a:ln w="31750">
              <a:solidFill>
                <a:schemeClr val="tx1"/>
              </a:solidFill>
              <a:round/>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29" name="Rectangle 55"/>
            <p:cNvSpPr>
              <a:spLocks noChangeArrowheads="1"/>
            </p:cNvSpPr>
            <p:nvPr/>
          </p:nvSpPr>
          <p:spPr bwMode="auto">
            <a:xfrm>
              <a:off x="3872" y="1190"/>
              <a:ext cx="94" cy="40"/>
            </a:xfrm>
            <a:prstGeom prst="rect">
              <a:avLst/>
            </a:prstGeom>
            <a:solidFill>
              <a:schemeClr val="bg1"/>
            </a:solidFill>
            <a:ln w="3175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30" name="Rectangle 56"/>
            <p:cNvSpPr>
              <a:spLocks noChangeArrowheads="1"/>
            </p:cNvSpPr>
            <p:nvPr/>
          </p:nvSpPr>
          <p:spPr bwMode="auto">
            <a:xfrm>
              <a:off x="3872" y="1548"/>
              <a:ext cx="94" cy="39"/>
            </a:xfrm>
            <a:prstGeom prst="rect">
              <a:avLst/>
            </a:prstGeom>
            <a:solidFill>
              <a:schemeClr val="bg1"/>
            </a:solidFill>
            <a:ln w="3175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31" name="Rectangle 57"/>
            <p:cNvSpPr>
              <a:spLocks noChangeArrowheads="1"/>
            </p:cNvSpPr>
            <p:nvPr/>
          </p:nvSpPr>
          <p:spPr bwMode="auto">
            <a:xfrm>
              <a:off x="4390" y="1230"/>
              <a:ext cx="424" cy="318"/>
            </a:xfrm>
            <a:prstGeom prst="rect">
              <a:avLst/>
            </a:prstGeom>
            <a:solidFill>
              <a:schemeClr val="bg1"/>
            </a:solidFill>
            <a:ln w="3175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32" name="Line 58"/>
            <p:cNvSpPr>
              <a:spLocks noChangeShapeType="1"/>
            </p:cNvSpPr>
            <p:nvPr/>
          </p:nvSpPr>
          <p:spPr bwMode="auto">
            <a:xfrm flipH="1">
              <a:off x="4390" y="1230"/>
              <a:ext cx="424" cy="31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3" name="Line 59"/>
            <p:cNvSpPr>
              <a:spLocks noChangeShapeType="1"/>
            </p:cNvSpPr>
            <p:nvPr/>
          </p:nvSpPr>
          <p:spPr bwMode="auto">
            <a:xfrm>
              <a:off x="4390" y="1230"/>
              <a:ext cx="424" cy="31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4" name="Line 60"/>
            <p:cNvSpPr>
              <a:spLocks noChangeShapeType="1"/>
            </p:cNvSpPr>
            <p:nvPr/>
          </p:nvSpPr>
          <p:spPr bwMode="auto">
            <a:xfrm>
              <a:off x="2788" y="1190"/>
              <a:ext cx="23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5" name="Line 61"/>
            <p:cNvSpPr>
              <a:spLocks noChangeShapeType="1"/>
            </p:cNvSpPr>
            <p:nvPr/>
          </p:nvSpPr>
          <p:spPr bwMode="auto">
            <a:xfrm>
              <a:off x="2788" y="1548"/>
              <a:ext cx="23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6" name="Line 62"/>
            <p:cNvSpPr>
              <a:spLocks noChangeShapeType="1"/>
            </p:cNvSpPr>
            <p:nvPr/>
          </p:nvSpPr>
          <p:spPr bwMode="auto">
            <a:xfrm>
              <a:off x="3448" y="1190"/>
              <a:ext cx="14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7" name="Line 63"/>
            <p:cNvSpPr>
              <a:spLocks noChangeShapeType="1"/>
            </p:cNvSpPr>
            <p:nvPr/>
          </p:nvSpPr>
          <p:spPr bwMode="auto">
            <a:xfrm>
              <a:off x="3448" y="1548"/>
              <a:ext cx="14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8" name="Line 64"/>
            <p:cNvSpPr>
              <a:spLocks noChangeShapeType="1"/>
            </p:cNvSpPr>
            <p:nvPr/>
          </p:nvSpPr>
          <p:spPr bwMode="auto">
            <a:xfrm flipV="1">
              <a:off x="3589" y="1071"/>
              <a:ext cx="0"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9" name="Line 65"/>
            <p:cNvSpPr>
              <a:spLocks noChangeShapeType="1"/>
            </p:cNvSpPr>
            <p:nvPr/>
          </p:nvSpPr>
          <p:spPr bwMode="auto">
            <a:xfrm flipV="1">
              <a:off x="3589" y="1548"/>
              <a:ext cx="0" cy="15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0" name="Line 66"/>
            <p:cNvSpPr>
              <a:spLocks noChangeShapeType="1"/>
            </p:cNvSpPr>
            <p:nvPr/>
          </p:nvSpPr>
          <p:spPr bwMode="auto">
            <a:xfrm>
              <a:off x="3589" y="1071"/>
              <a:ext cx="33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1" name="Line 67"/>
            <p:cNvSpPr>
              <a:spLocks noChangeShapeType="1"/>
            </p:cNvSpPr>
            <p:nvPr/>
          </p:nvSpPr>
          <p:spPr bwMode="auto">
            <a:xfrm>
              <a:off x="3589" y="1707"/>
              <a:ext cx="33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2" name="Line 68"/>
            <p:cNvSpPr>
              <a:spLocks noChangeShapeType="1"/>
            </p:cNvSpPr>
            <p:nvPr/>
          </p:nvSpPr>
          <p:spPr bwMode="auto">
            <a:xfrm>
              <a:off x="3919" y="1071"/>
              <a:ext cx="0"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3" name="Line 69"/>
            <p:cNvSpPr>
              <a:spLocks noChangeShapeType="1"/>
            </p:cNvSpPr>
            <p:nvPr/>
          </p:nvSpPr>
          <p:spPr bwMode="auto">
            <a:xfrm>
              <a:off x="3919" y="1587"/>
              <a:ext cx="0" cy="12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4" name="Line 70"/>
            <p:cNvSpPr>
              <a:spLocks noChangeShapeType="1"/>
            </p:cNvSpPr>
            <p:nvPr/>
          </p:nvSpPr>
          <p:spPr bwMode="auto">
            <a:xfrm>
              <a:off x="3919" y="1389"/>
              <a:ext cx="471" cy="0"/>
            </a:xfrm>
            <a:prstGeom prst="line">
              <a:avLst/>
            </a:prstGeom>
            <a:noFill/>
            <a:ln w="317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5" name="Line 71"/>
            <p:cNvSpPr>
              <a:spLocks noChangeShapeType="1"/>
            </p:cNvSpPr>
            <p:nvPr/>
          </p:nvSpPr>
          <p:spPr bwMode="auto">
            <a:xfrm flipV="1">
              <a:off x="4626" y="1548"/>
              <a:ext cx="0" cy="397"/>
            </a:xfrm>
            <a:prstGeom prst="line">
              <a:avLst/>
            </a:prstGeom>
            <a:noFill/>
            <a:ln w="317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6" name="Rectangle 72"/>
            <p:cNvSpPr>
              <a:spLocks noChangeArrowheads="1"/>
            </p:cNvSpPr>
            <p:nvPr/>
          </p:nvSpPr>
          <p:spPr bwMode="auto">
            <a:xfrm>
              <a:off x="4579" y="1945"/>
              <a:ext cx="94" cy="159"/>
            </a:xfrm>
            <a:prstGeom prst="rect">
              <a:avLst/>
            </a:prstGeom>
            <a:solidFill>
              <a:schemeClr val="bg1"/>
            </a:solidFill>
            <a:ln w="31750">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8747" name="Text Box 74"/>
            <p:cNvSpPr txBox="1">
              <a:spLocks noChangeArrowheads="1"/>
            </p:cNvSpPr>
            <p:nvPr/>
          </p:nvSpPr>
          <p:spPr bwMode="auto">
            <a:xfrm>
              <a:off x="1610" y="436"/>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给定信号</a:t>
              </a:r>
            </a:p>
          </p:txBody>
        </p:sp>
        <p:sp>
          <p:nvSpPr>
            <p:cNvPr id="28748" name="Text Box 75"/>
            <p:cNvSpPr txBox="1">
              <a:spLocks noChangeArrowheads="1"/>
            </p:cNvSpPr>
            <p:nvPr/>
          </p:nvSpPr>
          <p:spPr bwMode="auto">
            <a:xfrm>
              <a:off x="799" y="685"/>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比较</a:t>
              </a:r>
            </a:p>
          </p:txBody>
        </p:sp>
        <p:sp>
          <p:nvSpPr>
            <p:cNvPr id="28749" name="Text Box 76"/>
            <p:cNvSpPr txBox="1">
              <a:spLocks noChangeArrowheads="1"/>
            </p:cNvSpPr>
            <p:nvPr/>
          </p:nvSpPr>
          <p:spPr bwMode="auto">
            <a:xfrm>
              <a:off x="2154" y="1616"/>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电压</a:t>
              </a:r>
            </a:p>
            <a:p>
              <a:pPr algn="ctr" eaLnBrk="1" hangingPunct="1"/>
              <a:r>
                <a:rPr lang="zh-CN" altLang="en-US" sz="2400">
                  <a:latin typeface="Times New Roman" panose="02020603050405020304" pitchFamily="18" charset="0"/>
                </a:rPr>
                <a:t>放大器</a:t>
              </a:r>
            </a:p>
          </p:txBody>
        </p:sp>
        <p:sp>
          <p:nvSpPr>
            <p:cNvPr id="28750" name="Line 77"/>
            <p:cNvSpPr>
              <a:spLocks noChangeShapeType="1"/>
            </p:cNvSpPr>
            <p:nvPr/>
          </p:nvSpPr>
          <p:spPr bwMode="auto">
            <a:xfrm>
              <a:off x="3919" y="1071"/>
              <a:ext cx="0"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1" name="Text Box 78"/>
            <p:cNvSpPr txBox="1">
              <a:spLocks noChangeArrowheads="1"/>
            </p:cNvSpPr>
            <p:nvPr/>
          </p:nvSpPr>
          <p:spPr bwMode="auto">
            <a:xfrm>
              <a:off x="2904" y="1685"/>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功率</a:t>
              </a:r>
            </a:p>
            <a:p>
              <a:pPr algn="ctr" eaLnBrk="1" hangingPunct="1"/>
              <a:r>
                <a:rPr lang="zh-CN" altLang="en-US" sz="2400">
                  <a:latin typeface="Times New Roman" panose="02020603050405020304" pitchFamily="18" charset="0"/>
                </a:rPr>
                <a:t>放大器</a:t>
              </a:r>
            </a:p>
          </p:txBody>
        </p:sp>
        <p:sp>
          <p:nvSpPr>
            <p:cNvPr id="28752" name="Text Box 79"/>
            <p:cNvSpPr txBox="1">
              <a:spLocks noChangeArrowheads="1"/>
            </p:cNvSpPr>
            <p:nvPr/>
          </p:nvSpPr>
          <p:spPr bwMode="auto">
            <a:xfrm>
              <a:off x="3601" y="1685"/>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执行</a:t>
              </a:r>
            </a:p>
            <a:p>
              <a:pPr algn="ctr" eaLnBrk="1" hangingPunct="1"/>
              <a:r>
                <a:rPr lang="zh-CN" altLang="en-US" sz="2400">
                  <a:latin typeface="Times New Roman" panose="02020603050405020304" pitchFamily="18" charset="0"/>
                </a:rPr>
                <a:t>电动机</a:t>
              </a:r>
            </a:p>
          </p:txBody>
        </p:sp>
        <p:sp>
          <p:nvSpPr>
            <p:cNvPr id="28753" name="Text Box 80"/>
            <p:cNvSpPr txBox="1">
              <a:spLocks noChangeArrowheads="1"/>
            </p:cNvSpPr>
            <p:nvPr/>
          </p:nvSpPr>
          <p:spPr bwMode="auto">
            <a:xfrm>
              <a:off x="4801" y="1262"/>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减速器</a:t>
              </a:r>
            </a:p>
          </p:txBody>
        </p:sp>
        <p:sp>
          <p:nvSpPr>
            <p:cNvPr id="28754" name="Text Box 81"/>
            <p:cNvSpPr txBox="1">
              <a:spLocks noChangeArrowheads="1"/>
            </p:cNvSpPr>
            <p:nvPr/>
          </p:nvSpPr>
          <p:spPr bwMode="auto">
            <a:xfrm>
              <a:off x="833" y="1667"/>
              <a:ext cx="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r>
                <a:rPr lang="en-US" altLang="zh-CN" sz="2000" baseline="-25000">
                  <a:latin typeface="Times New Roman" panose="02020603050405020304" pitchFamily="18" charset="0"/>
                </a:rPr>
                <a:t>2</a:t>
              </a:r>
              <a:endParaRPr lang="en-US" altLang="zh-CN" sz="2400">
                <a:latin typeface="Times New Roman" panose="02020603050405020304" pitchFamily="18" charset="0"/>
              </a:endParaRPr>
            </a:p>
          </p:txBody>
        </p:sp>
        <p:sp>
          <p:nvSpPr>
            <p:cNvPr id="28755" name="Text Box 82"/>
            <p:cNvSpPr txBox="1">
              <a:spLocks noChangeArrowheads="1"/>
            </p:cNvSpPr>
            <p:nvPr/>
          </p:nvSpPr>
          <p:spPr bwMode="auto">
            <a:xfrm>
              <a:off x="1655" y="754"/>
              <a:ext cx="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r>
                <a:rPr lang="en-US" altLang="zh-CN" sz="2000" baseline="-25000">
                  <a:latin typeface="Times New Roman" panose="02020603050405020304" pitchFamily="18" charset="0"/>
                </a:rPr>
                <a:t>1</a:t>
              </a:r>
              <a:endParaRPr lang="en-US" altLang="zh-CN" sz="2400">
                <a:latin typeface="Times New Roman" panose="02020603050405020304" pitchFamily="18" charset="0"/>
              </a:endParaRPr>
            </a:p>
          </p:txBody>
        </p:sp>
        <p:sp>
          <p:nvSpPr>
            <p:cNvPr id="28756" name="Text Box 83"/>
            <p:cNvSpPr txBox="1">
              <a:spLocks noChangeArrowheads="1"/>
            </p:cNvSpPr>
            <p:nvPr/>
          </p:nvSpPr>
          <p:spPr bwMode="auto">
            <a:xfrm>
              <a:off x="1655" y="981"/>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28757" name="Text Box 84"/>
            <p:cNvSpPr txBox="1">
              <a:spLocks noChangeArrowheads="1"/>
            </p:cNvSpPr>
            <p:nvPr/>
          </p:nvSpPr>
          <p:spPr bwMode="auto">
            <a:xfrm>
              <a:off x="1610" y="150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28758" name="Text Box 85"/>
            <p:cNvSpPr txBox="1">
              <a:spLocks noChangeArrowheads="1"/>
            </p:cNvSpPr>
            <p:nvPr/>
          </p:nvSpPr>
          <p:spPr bwMode="auto">
            <a:xfrm>
              <a:off x="1994" y="1270"/>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u</a:t>
              </a:r>
              <a:endParaRPr lang="en-US" altLang="zh-CN" sz="2400">
                <a:latin typeface="Times New Roman" panose="02020603050405020304" pitchFamily="18" charset="0"/>
              </a:endParaRPr>
            </a:p>
          </p:txBody>
        </p:sp>
        <p:sp>
          <p:nvSpPr>
            <p:cNvPr id="28759" name="Text Box 86"/>
            <p:cNvSpPr txBox="1">
              <a:spLocks noChangeArrowheads="1"/>
            </p:cNvSpPr>
            <p:nvPr/>
          </p:nvSpPr>
          <p:spPr bwMode="auto">
            <a:xfrm>
              <a:off x="1921" y="3758"/>
              <a:ext cx="1844" cy="288"/>
            </a:xfrm>
            <a:prstGeom prst="rect">
              <a:avLst/>
            </a:prstGeom>
            <a:solidFill>
              <a:schemeClr val="bg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solidFill>
                    <a:srgbClr val="FF0000"/>
                  </a:solidFill>
                  <a:latin typeface="Times New Roman" panose="02020603050405020304" pitchFamily="18" charset="0"/>
                </a:rPr>
                <a:t>恒温箱自动控制系统</a:t>
              </a:r>
            </a:p>
          </p:txBody>
        </p:sp>
        <p:sp>
          <p:nvSpPr>
            <p:cNvPr id="28760" name="Rectangle 73"/>
            <p:cNvSpPr>
              <a:spLocks noChangeArrowheads="1"/>
            </p:cNvSpPr>
            <p:nvPr/>
          </p:nvSpPr>
          <p:spPr bwMode="auto">
            <a:xfrm>
              <a:off x="1327" y="436"/>
              <a:ext cx="943" cy="874"/>
            </a:xfrm>
            <a:prstGeom prst="rect">
              <a:avLst/>
            </a:prstGeom>
            <a:noFill/>
            <a:ln w="25400">
              <a:solidFill>
                <a:schemeClr val="tx1"/>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0FBF2F3-62E0-42D3-B6E3-73D19A2EE4A0}" type="datetime10">
              <a:rPr lang="zh-CN" altLang="en-US" smtClean="0"/>
              <a:pPr/>
              <a:t>14:02</a:t>
            </a:fld>
            <a:endParaRPr lang="zh-CN" altLang="en-US"/>
          </a:p>
        </p:txBody>
      </p:sp>
      <p:sp>
        <p:nvSpPr>
          <p:cNvPr id="30723"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FA20D6F-22AF-4936-BF51-E1A6A08CAC1B}" type="slidenum">
              <a:rPr lang="en-US" altLang="zh-CN" smtClean="0"/>
              <a:pPr/>
              <a:t>17</a:t>
            </a:fld>
            <a:endParaRPr lang="en-US" altLang="zh-CN"/>
          </a:p>
        </p:txBody>
      </p:sp>
      <p:sp>
        <p:nvSpPr>
          <p:cNvPr id="30724" name="Rectangle 2"/>
          <p:cNvSpPr>
            <a:spLocks noChangeArrowheads="1"/>
          </p:cNvSpPr>
          <p:nvPr/>
        </p:nvSpPr>
        <p:spPr bwMode="auto">
          <a:xfrm>
            <a:off x="755650" y="1052513"/>
            <a:ext cx="51625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05000"/>
              </a:lnSpc>
            </a:pPr>
            <a:r>
              <a:rPr lang="zh-CN" altLang="en-US" sz="2800">
                <a:latin typeface="Times New Roman" panose="02020603050405020304" pitchFamily="18" charset="0"/>
              </a:rPr>
              <a:t>恒温箱自动控制系统工作原理：</a:t>
            </a:r>
          </a:p>
        </p:txBody>
      </p:sp>
      <p:sp>
        <p:nvSpPr>
          <p:cNvPr id="12291" name="Text Box 3"/>
          <p:cNvSpPr txBox="1">
            <a:spLocks noChangeArrowheads="1"/>
          </p:cNvSpPr>
          <p:nvPr/>
        </p:nvSpPr>
        <p:spPr bwMode="auto">
          <a:xfrm>
            <a:off x="838200" y="1838325"/>
            <a:ext cx="761682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8925" indent="-2889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zh-CN" altLang="en-US" sz="2800">
                <a:latin typeface="Times New Roman" panose="02020603050405020304" pitchFamily="18" charset="0"/>
              </a:rPr>
              <a:t>恒温箱实际温度由热电偶转换为对应的电压</a:t>
            </a:r>
            <a:r>
              <a:rPr lang="en-US" altLang="zh-CN" sz="2800" i="1">
                <a:latin typeface="Times New Roman" panose="02020603050405020304" pitchFamily="18" charset="0"/>
              </a:rPr>
              <a:t>u</a:t>
            </a:r>
            <a:r>
              <a:rPr lang="en-US" altLang="zh-CN" sz="2900" baseline="-18000">
                <a:latin typeface="Times New Roman" panose="02020603050405020304" pitchFamily="18" charset="0"/>
              </a:rPr>
              <a:t>2</a:t>
            </a:r>
            <a:r>
              <a:rPr lang="en-US" altLang="zh-CN" sz="2800">
                <a:latin typeface="Times New Roman" panose="02020603050405020304" pitchFamily="18" charset="0"/>
              </a:rPr>
              <a:t> </a:t>
            </a:r>
          </a:p>
        </p:txBody>
      </p:sp>
      <p:sp>
        <p:nvSpPr>
          <p:cNvPr id="12292" name="Text Box 4"/>
          <p:cNvSpPr txBox="1">
            <a:spLocks noChangeArrowheads="1"/>
          </p:cNvSpPr>
          <p:nvPr/>
        </p:nvSpPr>
        <p:spPr bwMode="auto">
          <a:xfrm>
            <a:off x="838200" y="2476500"/>
            <a:ext cx="752792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8925" indent="-2889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zh-CN" altLang="en-US" sz="2800">
                <a:latin typeface="Times New Roman" panose="02020603050405020304" pitchFamily="18" charset="0"/>
              </a:rPr>
              <a:t>恒温箱期望温度由电压</a:t>
            </a:r>
            <a:r>
              <a:rPr lang="en-US" altLang="zh-CN" sz="2800" i="1">
                <a:latin typeface="Times New Roman" panose="02020603050405020304" pitchFamily="18" charset="0"/>
              </a:rPr>
              <a:t>u</a:t>
            </a:r>
            <a:r>
              <a:rPr lang="en-US" altLang="zh-CN" sz="2900" baseline="-18000">
                <a:latin typeface="Times New Roman" panose="02020603050405020304" pitchFamily="18" charset="0"/>
              </a:rPr>
              <a:t>1</a:t>
            </a:r>
            <a:r>
              <a:rPr lang="zh-CN" altLang="en-US" sz="2800">
                <a:latin typeface="Times New Roman" panose="02020603050405020304" pitchFamily="18" charset="0"/>
              </a:rPr>
              <a:t>给定，并与实际温度</a:t>
            </a:r>
          </a:p>
          <a:p>
            <a:pPr eaLnBrk="1" hangingPunct="1">
              <a:lnSpc>
                <a:spcPct val="115000"/>
              </a:lnSpc>
            </a:pPr>
            <a:r>
              <a:rPr lang="zh-CN" altLang="en-US" sz="2800" i="1">
                <a:latin typeface="Times New Roman" panose="02020603050405020304" pitchFamily="18" charset="0"/>
              </a:rPr>
              <a:t>    </a:t>
            </a:r>
            <a:r>
              <a:rPr lang="en-US" altLang="zh-CN" sz="2800" i="1">
                <a:latin typeface="Times New Roman" panose="02020603050405020304" pitchFamily="18" charset="0"/>
              </a:rPr>
              <a:t>u</a:t>
            </a:r>
            <a:r>
              <a:rPr lang="en-US" altLang="zh-CN" sz="2900" baseline="-18000">
                <a:latin typeface="Times New Roman" panose="02020603050405020304" pitchFamily="18" charset="0"/>
              </a:rPr>
              <a:t>2</a:t>
            </a:r>
            <a:r>
              <a:rPr lang="zh-CN" altLang="en-US" sz="2800">
                <a:latin typeface="Times New Roman" panose="02020603050405020304" pitchFamily="18" charset="0"/>
              </a:rPr>
              <a:t>比较得到温度偏差信号</a:t>
            </a:r>
            <a:r>
              <a:rPr lang="zh-CN" altLang="en-US"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u</a:t>
            </a:r>
            <a:r>
              <a:rPr lang="zh-CN" altLang="en-US" sz="2800">
                <a:latin typeface="Times New Roman" panose="02020603050405020304" pitchFamily="18" charset="0"/>
              </a:rPr>
              <a:t>＝</a:t>
            </a:r>
            <a:r>
              <a:rPr lang="en-US" altLang="zh-CN" sz="2800" i="1">
                <a:latin typeface="Times New Roman" panose="02020603050405020304" pitchFamily="18" charset="0"/>
              </a:rPr>
              <a:t>u</a:t>
            </a:r>
            <a:r>
              <a:rPr lang="en-US" altLang="zh-CN" sz="2900" baseline="-18000">
                <a:latin typeface="Times New Roman" panose="02020603050405020304" pitchFamily="18" charset="0"/>
              </a:rPr>
              <a:t>1</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a:t>
            </a:r>
            <a:r>
              <a:rPr lang="en-US" altLang="zh-CN" sz="2800" i="1">
                <a:latin typeface="Times New Roman" panose="02020603050405020304" pitchFamily="18" charset="0"/>
              </a:rPr>
              <a:t>u</a:t>
            </a:r>
            <a:r>
              <a:rPr lang="en-US" altLang="zh-CN" sz="2900" baseline="-18000">
                <a:latin typeface="Times New Roman" panose="02020603050405020304" pitchFamily="18" charset="0"/>
              </a:rPr>
              <a:t>2</a:t>
            </a:r>
          </a:p>
        </p:txBody>
      </p:sp>
      <p:sp>
        <p:nvSpPr>
          <p:cNvPr id="12293" name="Text Box 5"/>
          <p:cNvSpPr txBox="1">
            <a:spLocks noChangeArrowheads="1"/>
          </p:cNvSpPr>
          <p:nvPr/>
        </p:nvSpPr>
        <p:spPr bwMode="auto">
          <a:xfrm>
            <a:off x="838200" y="3579813"/>
            <a:ext cx="7585075"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8925" indent="-2889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zh-CN" altLang="en-US" sz="2800">
                <a:latin typeface="Times New Roman" panose="02020603050405020304" pitchFamily="18" charset="0"/>
              </a:rPr>
              <a:t>温度偏差信号经电压、功率放大后，用以驱动</a:t>
            </a:r>
          </a:p>
          <a:p>
            <a:pPr eaLnBrk="1" hangingPunct="1">
              <a:lnSpc>
                <a:spcPct val="115000"/>
              </a:lnSpc>
            </a:pPr>
            <a:r>
              <a:rPr lang="zh-CN" altLang="en-US" sz="2800">
                <a:latin typeface="Times New Roman" panose="02020603050405020304" pitchFamily="18" charset="0"/>
              </a:rPr>
              <a:t>   执行电动机，并通过传动机构拖动调压器动触</a:t>
            </a:r>
          </a:p>
          <a:p>
            <a:pPr eaLnBrk="1" hangingPunct="1">
              <a:lnSpc>
                <a:spcPct val="115000"/>
              </a:lnSpc>
            </a:pPr>
            <a:r>
              <a:rPr lang="zh-CN" altLang="en-US" sz="2800">
                <a:latin typeface="Times New Roman" panose="02020603050405020304" pitchFamily="18" charset="0"/>
              </a:rPr>
              <a:t>   头。当温度偏高时，动触头向减小电流的方向</a:t>
            </a:r>
          </a:p>
          <a:p>
            <a:pPr eaLnBrk="1" hangingPunct="1">
              <a:lnSpc>
                <a:spcPct val="115000"/>
              </a:lnSpc>
            </a:pPr>
            <a:r>
              <a:rPr lang="zh-CN" altLang="en-US" sz="2800">
                <a:latin typeface="Times New Roman" panose="02020603050405020304" pitchFamily="18" charset="0"/>
              </a:rPr>
              <a:t>   运动，反之加大电流，直到温度达到给定值为</a:t>
            </a:r>
          </a:p>
          <a:p>
            <a:pPr eaLnBrk="1" hangingPunct="1">
              <a:lnSpc>
                <a:spcPct val="115000"/>
              </a:lnSpc>
            </a:pPr>
            <a:r>
              <a:rPr lang="zh-CN" altLang="en-US" sz="2800">
                <a:latin typeface="Times New Roman" panose="02020603050405020304" pitchFamily="18" charset="0"/>
              </a:rPr>
              <a:t>   止，此时，偏差</a:t>
            </a:r>
            <a:r>
              <a:rPr lang="zh-CN" altLang="en-US"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u</a:t>
            </a:r>
            <a:r>
              <a:rPr lang="zh-CN" altLang="en-US" sz="2800">
                <a:latin typeface="Times New Roman" panose="02020603050405020304" pitchFamily="18" charset="0"/>
              </a:rPr>
              <a:t>＝</a:t>
            </a:r>
            <a:r>
              <a:rPr lang="en-US" altLang="zh-CN" sz="2800">
                <a:latin typeface="Times New Roman" panose="02020603050405020304" pitchFamily="18" charset="0"/>
              </a:rPr>
              <a:t>0</a:t>
            </a:r>
            <a:r>
              <a:rPr lang="zh-CN" altLang="en-US" sz="2800">
                <a:latin typeface="Times New Roman" panose="02020603050405020304" pitchFamily="18" charset="0"/>
              </a:rPr>
              <a:t>，电机停止转动。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additive="base">
                                        <p:cTn id="7" dur="500" fill="hold"/>
                                        <p:tgtEl>
                                          <p:spTgt spid="12291"/>
                                        </p:tgtEl>
                                        <p:attrNameLst>
                                          <p:attrName>ppt_x</p:attrName>
                                        </p:attrNameLst>
                                      </p:cBhvr>
                                      <p:tavLst>
                                        <p:tav tm="0">
                                          <p:val>
                                            <p:strVal val="#ppt_x"/>
                                          </p:val>
                                        </p:tav>
                                        <p:tav tm="100000">
                                          <p:val>
                                            <p:strVal val="#ppt_x"/>
                                          </p:val>
                                        </p:tav>
                                      </p:tavLst>
                                    </p:anim>
                                    <p:anim calcmode="lin" valueType="num">
                                      <p:cBhvr additive="base">
                                        <p:cTn id="8"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2"/>
                                        </p:tgtEl>
                                        <p:attrNameLst>
                                          <p:attrName>style.visibility</p:attrName>
                                        </p:attrNameLst>
                                      </p:cBhvr>
                                      <p:to>
                                        <p:strVal val="visible"/>
                                      </p:to>
                                    </p:set>
                                    <p:anim calcmode="lin" valueType="num">
                                      <p:cBhvr additive="base">
                                        <p:cTn id="13" dur="500" fill="hold"/>
                                        <p:tgtEl>
                                          <p:spTgt spid="12292"/>
                                        </p:tgtEl>
                                        <p:attrNameLst>
                                          <p:attrName>ppt_x</p:attrName>
                                        </p:attrNameLst>
                                      </p:cBhvr>
                                      <p:tavLst>
                                        <p:tav tm="0">
                                          <p:val>
                                            <p:strVal val="#ppt_x"/>
                                          </p:val>
                                        </p:tav>
                                        <p:tav tm="100000">
                                          <p:val>
                                            <p:strVal val="#ppt_x"/>
                                          </p:val>
                                        </p:tav>
                                      </p:tavLst>
                                    </p:anim>
                                    <p:anim calcmode="lin" valueType="num">
                                      <p:cBhvr additive="base">
                                        <p:cTn id="14" dur="500" fill="hold"/>
                                        <p:tgtEl>
                                          <p:spTgt spid="1229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93"/>
                                        </p:tgtEl>
                                        <p:attrNameLst>
                                          <p:attrName>style.visibility</p:attrName>
                                        </p:attrNameLst>
                                      </p:cBhvr>
                                      <p:to>
                                        <p:strVal val="visible"/>
                                      </p:to>
                                    </p:set>
                                    <p:anim calcmode="lin" valueType="num">
                                      <p:cBhvr additive="base">
                                        <p:cTn id="19" dur="500" fill="hold"/>
                                        <p:tgtEl>
                                          <p:spTgt spid="12293"/>
                                        </p:tgtEl>
                                        <p:attrNameLst>
                                          <p:attrName>ppt_x</p:attrName>
                                        </p:attrNameLst>
                                      </p:cBhvr>
                                      <p:tavLst>
                                        <p:tav tm="0">
                                          <p:val>
                                            <p:strVal val="#ppt_x"/>
                                          </p:val>
                                        </p:tav>
                                        <p:tav tm="100000">
                                          <p:val>
                                            <p:strVal val="#ppt_x"/>
                                          </p:val>
                                        </p:tav>
                                      </p:tavLst>
                                    </p:anim>
                                    <p:anim calcmode="lin" valueType="num">
                                      <p:cBhvr additive="base">
                                        <p:cTn id="20" dur="500" fill="hold"/>
                                        <p:tgtEl>
                                          <p:spTgt spid="122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2" grpId="0"/>
      <p:bldP spid="1229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B6D5D28-39AD-4FB0-9F4E-E7A0D2DCDDA6}" type="datetime10">
              <a:rPr lang="zh-CN" altLang="en-US" smtClean="0"/>
              <a:pPr/>
              <a:t>14:02</a:t>
            </a:fld>
            <a:endParaRPr lang="zh-CN" altLang="en-US"/>
          </a:p>
        </p:txBody>
      </p:sp>
      <p:sp>
        <p:nvSpPr>
          <p:cNvPr id="3277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36F51ED-3F31-4268-A5A0-CD8E55C5C00E}" type="slidenum">
              <a:rPr lang="en-US" altLang="zh-CN" smtClean="0"/>
              <a:pPr/>
              <a:t>18</a:t>
            </a:fld>
            <a:endParaRPr lang="en-US" altLang="zh-CN"/>
          </a:p>
        </p:txBody>
      </p:sp>
      <p:grpSp>
        <p:nvGrpSpPr>
          <p:cNvPr id="32772" name="Group 2"/>
          <p:cNvGrpSpPr>
            <a:grpSpLocks/>
          </p:cNvGrpSpPr>
          <p:nvPr/>
        </p:nvGrpSpPr>
        <p:grpSpPr bwMode="auto">
          <a:xfrm>
            <a:off x="228600" y="1981200"/>
            <a:ext cx="8686800" cy="3738563"/>
            <a:chOff x="144" y="1392"/>
            <a:chExt cx="5472" cy="2355"/>
          </a:xfrm>
        </p:grpSpPr>
        <p:sp>
          <p:nvSpPr>
            <p:cNvPr id="32773" name="Rectangle 3"/>
            <p:cNvSpPr>
              <a:spLocks noChangeArrowheads="1"/>
            </p:cNvSpPr>
            <p:nvPr/>
          </p:nvSpPr>
          <p:spPr bwMode="auto">
            <a:xfrm>
              <a:off x="144" y="1776"/>
              <a:ext cx="480" cy="7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给定</a:t>
              </a:r>
            </a:p>
            <a:p>
              <a:pPr algn="ctr" eaLnBrk="1" hangingPunct="1"/>
              <a:r>
                <a:rPr lang="zh-CN" altLang="en-US" sz="2400">
                  <a:latin typeface="Times New Roman" panose="02020603050405020304" pitchFamily="18" charset="0"/>
                </a:rPr>
                <a:t>元件</a:t>
              </a:r>
            </a:p>
          </p:txBody>
        </p:sp>
        <p:sp>
          <p:nvSpPr>
            <p:cNvPr id="32774" name="Rectangle 4"/>
            <p:cNvSpPr>
              <a:spLocks noChangeArrowheads="1"/>
            </p:cNvSpPr>
            <p:nvPr/>
          </p:nvSpPr>
          <p:spPr bwMode="auto">
            <a:xfrm>
              <a:off x="1248" y="1776"/>
              <a:ext cx="624" cy="7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电压</a:t>
              </a:r>
            </a:p>
            <a:p>
              <a:pPr algn="ctr" eaLnBrk="1" hangingPunct="1"/>
              <a:r>
                <a:rPr lang="zh-CN" altLang="en-US" sz="2400">
                  <a:latin typeface="Times New Roman" panose="02020603050405020304" pitchFamily="18" charset="0"/>
                </a:rPr>
                <a:t>功率</a:t>
              </a:r>
            </a:p>
            <a:p>
              <a:pPr algn="ctr" eaLnBrk="1" hangingPunct="1"/>
              <a:r>
                <a:rPr lang="zh-CN" altLang="en-US" sz="2400">
                  <a:latin typeface="Times New Roman" panose="02020603050405020304" pitchFamily="18" charset="0"/>
                </a:rPr>
                <a:t>放大器</a:t>
              </a:r>
            </a:p>
          </p:txBody>
        </p:sp>
        <p:sp>
          <p:nvSpPr>
            <p:cNvPr id="32775" name="Rectangle 5"/>
            <p:cNvSpPr>
              <a:spLocks noChangeArrowheads="1"/>
            </p:cNvSpPr>
            <p:nvPr/>
          </p:nvSpPr>
          <p:spPr bwMode="auto">
            <a:xfrm>
              <a:off x="2160" y="1776"/>
              <a:ext cx="480" cy="7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控制</a:t>
              </a:r>
            </a:p>
            <a:p>
              <a:pPr algn="ctr" eaLnBrk="1" hangingPunct="1"/>
              <a:r>
                <a:rPr lang="zh-CN" altLang="en-US" sz="2400">
                  <a:latin typeface="Times New Roman" panose="02020603050405020304" pitchFamily="18" charset="0"/>
                </a:rPr>
                <a:t>电机</a:t>
              </a:r>
            </a:p>
          </p:txBody>
        </p:sp>
        <p:sp>
          <p:nvSpPr>
            <p:cNvPr id="32776" name="Rectangle 6"/>
            <p:cNvSpPr>
              <a:spLocks noChangeArrowheads="1"/>
            </p:cNvSpPr>
            <p:nvPr/>
          </p:nvSpPr>
          <p:spPr bwMode="auto">
            <a:xfrm>
              <a:off x="2928" y="1776"/>
              <a:ext cx="336" cy="7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减</a:t>
              </a:r>
            </a:p>
            <a:p>
              <a:pPr algn="ctr" eaLnBrk="1" hangingPunct="1"/>
              <a:r>
                <a:rPr lang="zh-CN" altLang="en-US" sz="2400">
                  <a:latin typeface="Times New Roman" panose="02020603050405020304" pitchFamily="18" charset="0"/>
                </a:rPr>
                <a:t>速</a:t>
              </a:r>
            </a:p>
            <a:p>
              <a:pPr algn="ctr" eaLnBrk="1" hangingPunct="1"/>
              <a:r>
                <a:rPr lang="zh-CN" altLang="en-US" sz="2400">
                  <a:latin typeface="Times New Roman" panose="02020603050405020304" pitchFamily="18" charset="0"/>
                </a:rPr>
                <a:t>器</a:t>
              </a:r>
            </a:p>
          </p:txBody>
        </p:sp>
        <p:sp>
          <p:nvSpPr>
            <p:cNvPr id="32777" name="Rectangle 7"/>
            <p:cNvSpPr>
              <a:spLocks noChangeArrowheads="1"/>
            </p:cNvSpPr>
            <p:nvPr/>
          </p:nvSpPr>
          <p:spPr bwMode="auto">
            <a:xfrm>
              <a:off x="3552" y="1776"/>
              <a:ext cx="336" cy="7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调</a:t>
              </a:r>
            </a:p>
            <a:p>
              <a:pPr algn="ctr" eaLnBrk="1" hangingPunct="1"/>
              <a:r>
                <a:rPr lang="zh-CN" altLang="en-US" sz="2400">
                  <a:latin typeface="Times New Roman" panose="02020603050405020304" pitchFamily="18" charset="0"/>
                </a:rPr>
                <a:t>压</a:t>
              </a:r>
            </a:p>
            <a:p>
              <a:pPr algn="ctr" eaLnBrk="1" hangingPunct="1"/>
              <a:r>
                <a:rPr lang="zh-CN" altLang="en-US" sz="2400">
                  <a:latin typeface="Times New Roman" panose="02020603050405020304" pitchFamily="18" charset="0"/>
                </a:rPr>
                <a:t>器</a:t>
              </a:r>
            </a:p>
          </p:txBody>
        </p:sp>
        <p:sp>
          <p:nvSpPr>
            <p:cNvPr id="32778" name="Rectangle 8"/>
            <p:cNvSpPr>
              <a:spLocks noChangeArrowheads="1"/>
            </p:cNvSpPr>
            <p:nvPr/>
          </p:nvSpPr>
          <p:spPr bwMode="auto">
            <a:xfrm>
              <a:off x="4176" y="1776"/>
              <a:ext cx="672" cy="76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恒温箱</a:t>
              </a:r>
            </a:p>
            <a:p>
              <a:pPr algn="ctr" eaLnBrk="1" hangingPunct="1"/>
              <a:r>
                <a:rPr lang="en-US" altLang="zh-CN" sz="2400">
                  <a:latin typeface="Times New Roman" panose="02020603050405020304" pitchFamily="18" charset="0"/>
                </a:rPr>
                <a:t>(</a:t>
              </a:r>
              <a:r>
                <a:rPr lang="zh-CN" altLang="en-US" sz="2400">
                  <a:latin typeface="Times New Roman" panose="02020603050405020304" pitchFamily="18" charset="0"/>
                </a:rPr>
                <a:t>控制</a:t>
              </a:r>
            </a:p>
            <a:p>
              <a:pPr algn="ctr" eaLnBrk="1" hangingPunct="1"/>
              <a:r>
                <a:rPr lang="zh-CN" altLang="en-US" sz="2400">
                  <a:latin typeface="Times New Roman" panose="02020603050405020304" pitchFamily="18" charset="0"/>
                </a:rPr>
                <a:t>对象</a:t>
              </a:r>
              <a:r>
                <a:rPr lang="en-US" altLang="zh-CN" sz="2400">
                  <a:latin typeface="Times New Roman" panose="02020603050405020304" pitchFamily="18" charset="0"/>
                </a:rPr>
                <a:t>)</a:t>
              </a:r>
            </a:p>
          </p:txBody>
        </p:sp>
        <p:sp>
          <p:nvSpPr>
            <p:cNvPr id="32779" name="Rectangle 9"/>
            <p:cNvSpPr>
              <a:spLocks noChangeArrowheads="1"/>
            </p:cNvSpPr>
            <p:nvPr/>
          </p:nvSpPr>
          <p:spPr bwMode="auto">
            <a:xfrm>
              <a:off x="2592" y="2801"/>
              <a:ext cx="624" cy="529"/>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热电偶</a:t>
              </a:r>
            </a:p>
          </p:txBody>
        </p:sp>
        <p:sp>
          <p:nvSpPr>
            <p:cNvPr id="32780" name="Text Box 10"/>
            <p:cNvSpPr txBox="1">
              <a:spLocks noChangeArrowheads="1"/>
            </p:cNvSpPr>
            <p:nvPr/>
          </p:nvSpPr>
          <p:spPr bwMode="auto">
            <a:xfrm>
              <a:off x="793" y="2016"/>
              <a:ext cx="2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32781" name="Line 11"/>
            <p:cNvSpPr>
              <a:spLocks noChangeShapeType="1"/>
            </p:cNvSpPr>
            <p:nvPr/>
          </p:nvSpPr>
          <p:spPr bwMode="auto">
            <a:xfrm>
              <a:off x="624" y="2160"/>
              <a:ext cx="24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2" name="Line 12"/>
            <p:cNvSpPr>
              <a:spLocks noChangeShapeType="1"/>
            </p:cNvSpPr>
            <p:nvPr/>
          </p:nvSpPr>
          <p:spPr bwMode="auto">
            <a:xfrm>
              <a:off x="1008" y="2160"/>
              <a:ext cx="24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3" name="Line 13"/>
            <p:cNvSpPr>
              <a:spLocks noChangeShapeType="1"/>
            </p:cNvSpPr>
            <p:nvPr/>
          </p:nvSpPr>
          <p:spPr bwMode="auto">
            <a:xfrm flipH="1" flipV="1">
              <a:off x="933" y="2208"/>
              <a:ext cx="0" cy="864"/>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4" name="Line 14"/>
            <p:cNvSpPr>
              <a:spLocks noChangeShapeType="1"/>
            </p:cNvSpPr>
            <p:nvPr/>
          </p:nvSpPr>
          <p:spPr bwMode="auto">
            <a:xfrm>
              <a:off x="1872" y="2160"/>
              <a:ext cx="28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5" name="Line 15"/>
            <p:cNvSpPr>
              <a:spLocks noChangeShapeType="1"/>
            </p:cNvSpPr>
            <p:nvPr/>
          </p:nvSpPr>
          <p:spPr bwMode="auto">
            <a:xfrm>
              <a:off x="2640" y="2160"/>
              <a:ext cx="28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6" name="Line 16"/>
            <p:cNvSpPr>
              <a:spLocks noChangeShapeType="1"/>
            </p:cNvSpPr>
            <p:nvPr/>
          </p:nvSpPr>
          <p:spPr bwMode="auto">
            <a:xfrm>
              <a:off x="3264" y="2160"/>
              <a:ext cx="28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7" name="Line 17"/>
            <p:cNvSpPr>
              <a:spLocks noChangeShapeType="1"/>
            </p:cNvSpPr>
            <p:nvPr/>
          </p:nvSpPr>
          <p:spPr bwMode="auto">
            <a:xfrm>
              <a:off x="3888" y="2160"/>
              <a:ext cx="28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8" name="Line 18"/>
            <p:cNvSpPr>
              <a:spLocks noChangeShapeType="1"/>
            </p:cNvSpPr>
            <p:nvPr/>
          </p:nvSpPr>
          <p:spPr bwMode="auto">
            <a:xfrm>
              <a:off x="4848" y="2160"/>
              <a:ext cx="76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9" name="Line 19"/>
            <p:cNvSpPr>
              <a:spLocks noChangeShapeType="1"/>
            </p:cNvSpPr>
            <p:nvPr/>
          </p:nvSpPr>
          <p:spPr bwMode="auto">
            <a:xfrm>
              <a:off x="921" y="3072"/>
              <a:ext cx="168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0" name="Line 20"/>
            <p:cNvSpPr>
              <a:spLocks noChangeShapeType="1"/>
            </p:cNvSpPr>
            <p:nvPr/>
          </p:nvSpPr>
          <p:spPr bwMode="auto">
            <a:xfrm>
              <a:off x="3216" y="3072"/>
              <a:ext cx="2016" cy="0"/>
            </a:xfrm>
            <a:prstGeom prst="line">
              <a:avLst/>
            </a:prstGeom>
            <a:noFill/>
            <a:ln w="317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2791" name="Line 21"/>
            <p:cNvSpPr>
              <a:spLocks noChangeShapeType="1"/>
            </p:cNvSpPr>
            <p:nvPr/>
          </p:nvSpPr>
          <p:spPr bwMode="auto">
            <a:xfrm>
              <a:off x="5232" y="2160"/>
              <a:ext cx="0" cy="912"/>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2" name="Line 22"/>
            <p:cNvSpPr>
              <a:spLocks noChangeShapeType="1"/>
            </p:cNvSpPr>
            <p:nvPr/>
          </p:nvSpPr>
          <p:spPr bwMode="auto">
            <a:xfrm>
              <a:off x="816" y="2304"/>
              <a:ext cx="96"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3" name="Text Box 23"/>
            <p:cNvSpPr txBox="1">
              <a:spLocks noChangeArrowheads="1"/>
            </p:cNvSpPr>
            <p:nvPr/>
          </p:nvSpPr>
          <p:spPr bwMode="auto">
            <a:xfrm>
              <a:off x="624" y="1824"/>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r>
                <a:rPr lang="en-US" altLang="zh-CN" sz="2400" baseline="-25000">
                  <a:latin typeface="Times New Roman" panose="02020603050405020304" pitchFamily="18" charset="0"/>
                </a:rPr>
                <a:t>1</a:t>
              </a:r>
              <a:endParaRPr lang="en-US" altLang="zh-CN" sz="2400">
                <a:latin typeface="Times New Roman" panose="02020603050405020304" pitchFamily="18" charset="0"/>
              </a:endParaRPr>
            </a:p>
          </p:txBody>
        </p:sp>
        <p:sp>
          <p:nvSpPr>
            <p:cNvPr id="32794" name="Text Box 24"/>
            <p:cNvSpPr txBox="1">
              <a:spLocks noChangeArrowheads="1"/>
            </p:cNvSpPr>
            <p:nvPr/>
          </p:nvSpPr>
          <p:spPr bwMode="auto">
            <a:xfrm>
              <a:off x="696" y="2283"/>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r>
                <a:rPr lang="en-US" altLang="zh-CN" sz="2400" baseline="-25000">
                  <a:latin typeface="Times New Roman" panose="02020603050405020304" pitchFamily="18" charset="0"/>
                </a:rPr>
                <a:t>2</a:t>
              </a:r>
              <a:endParaRPr lang="en-US" altLang="zh-CN" sz="2400">
                <a:latin typeface="Times New Roman" panose="02020603050405020304" pitchFamily="18" charset="0"/>
              </a:endParaRPr>
            </a:p>
          </p:txBody>
        </p:sp>
        <p:sp>
          <p:nvSpPr>
            <p:cNvPr id="32795" name="Text Box 25"/>
            <p:cNvSpPr txBox="1">
              <a:spLocks noChangeArrowheads="1"/>
            </p:cNvSpPr>
            <p:nvPr/>
          </p:nvSpPr>
          <p:spPr bwMode="auto">
            <a:xfrm>
              <a:off x="942" y="1872"/>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u</a:t>
              </a:r>
              <a:endParaRPr lang="en-US" altLang="zh-CN" sz="2400">
                <a:latin typeface="Times New Roman" panose="02020603050405020304" pitchFamily="18" charset="0"/>
              </a:endParaRPr>
            </a:p>
          </p:txBody>
        </p:sp>
        <p:sp>
          <p:nvSpPr>
            <p:cNvPr id="32796" name="Text Box 26"/>
            <p:cNvSpPr txBox="1">
              <a:spLocks noChangeArrowheads="1"/>
            </p:cNvSpPr>
            <p:nvPr/>
          </p:nvSpPr>
          <p:spPr bwMode="auto">
            <a:xfrm>
              <a:off x="1912" y="184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r>
                <a:rPr lang="en-US" altLang="zh-CN" sz="2400" i="1" baseline="-25000">
                  <a:latin typeface="Times New Roman" panose="02020603050405020304" pitchFamily="18" charset="0"/>
                </a:rPr>
                <a:t>a</a:t>
              </a:r>
              <a:endParaRPr lang="en-US" altLang="zh-CN" sz="2400">
                <a:latin typeface="Times New Roman" panose="02020603050405020304" pitchFamily="18" charset="0"/>
              </a:endParaRPr>
            </a:p>
          </p:txBody>
        </p:sp>
        <p:sp>
          <p:nvSpPr>
            <p:cNvPr id="32797" name="Text Box 27"/>
            <p:cNvSpPr txBox="1">
              <a:spLocks noChangeArrowheads="1"/>
            </p:cNvSpPr>
            <p:nvPr/>
          </p:nvSpPr>
          <p:spPr bwMode="auto">
            <a:xfrm>
              <a:off x="2684" y="184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n</a:t>
              </a:r>
              <a:endParaRPr lang="en-US" altLang="zh-CN" sz="2400">
                <a:latin typeface="Times New Roman" panose="02020603050405020304" pitchFamily="18" charset="0"/>
              </a:endParaRPr>
            </a:p>
          </p:txBody>
        </p:sp>
        <p:sp>
          <p:nvSpPr>
            <p:cNvPr id="32798" name="Text Box 28"/>
            <p:cNvSpPr txBox="1">
              <a:spLocks noChangeArrowheads="1"/>
            </p:cNvSpPr>
            <p:nvPr/>
          </p:nvSpPr>
          <p:spPr bwMode="auto">
            <a:xfrm>
              <a:off x="3308" y="184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v</a:t>
              </a:r>
              <a:endParaRPr lang="en-US" altLang="zh-CN" sz="2400">
                <a:latin typeface="Times New Roman" panose="02020603050405020304" pitchFamily="18" charset="0"/>
              </a:endParaRPr>
            </a:p>
          </p:txBody>
        </p:sp>
        <p:sp>
          <p:nvSpPr>
            <p:cNvPr id="32799" name="Text Box 29"/>
            <p:cNvSpPr txBox="1">
              <a:spLocks noChangeArrowheads="1"/>
            </p:cNvSpPr>
            <p:nvPr/>
          </p:nvSpPr>
          <p:spPr bwMode="auto">
            <a:xfrm>
              <a:off x="3932" y="184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u</a:t>
              </a:r>
              <a:endParaRPr lang="en-US" altLang="zh-CN" sz="2400">
                <a:latin typeface="Times New Roman" panose="02020603050405020304" pitchFamily="18" charset="0"/>
              </a:endParaRPr>
            </a:p>
          </p:txBody>
        </p:sp>
        <p:sp>
          <p:nvSpPr>
            <p:cNvPr id="32800" name="Text Box 30"/>
            <p:cNvSpPr txBox="1">
              <a:spLocks noChangeArrowheads="1"/>
            </p:cNvSpPr>
            <p:nvPr/>
          </p:nvSpPr>
          <p:spPr bwMode="auto">
            <a:xfrm>
              <a:off x="4944" y="1632"/>
              <a:ext cx="5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温度</a:t>
              </a:r>
              <a:r>
                <a:rPr lang="en-US" altLang="zh-CN" sz="2400" i="1">
                  <a:latin typeface="Times New Roman" panose="02020603050405020304" pitchFamily="18" charset="0"/>
                </a:rPr>
                <a:t>t</a:t>
              </a:r>
            </a:p>
          </p:txBody>
        </p:sp>
        <p:sp>
          <p:nvSpPr>
            <p:cNvPr id="32801" name="Text Box 31"/>
            <p:cNvSpPr txBox="1">
              <a:spLocks noChangeArrowheads="1"/>
            </p:cNvSpPr>
            <p:nvPr/>
          </p:nvSpPr>
          <p:spPr bwMode="auto">
            <a:xfrm>
              <a:off x="4848" y="187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r>
                <a:rPr lang="zh-CN" altLang="en-US" sz="2400">
                  <a:latin typeface="Times New Roman" panose="02020603050405020304" pitchFamily="18" charset="0"/>
                </a:rPr>
                <a:t>被控量</a:t>
              </a:r>
              <a:r>
                <a:rPr lang="en-US" altLang="zh-CN" sz="2400">
                  <a:latin typeface="Times New Roman" panose="02020603050405020304" pitchFamily="18" charset="0"/>
                </a:rPr>
                <a:t>)</a:t>
              </a:r>
            </a:p>
          </p:txBody>
        </p:sp>
        <p:sp>
          <p:nvSpPr>
            <p:cNvPr id="32802" name="Line 32"/>
            <p:cNvSpPr>
              <a:spLocks noChangeShapeType="1"/>
            </p:cNvSpPr>
            <p:nvPr/>
          </p:nvSpPr>
          <p:spPr bwMode="auto">
            <a:xfrm>
              <a:off x="4512" y="1440"/>
              <a:ext cx="0" cy="33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03" name="Text Box 33"/>
            <p:cNvSpPr txBox="1">
              <a:spLocks noChangeArrowheads="1"/>
            </p:cNvSpPr>
            <p:nvPr/>
          </p:nvSpPr>
          <p:spPr bwMode="auto">
            <a:xfrm>
              <a:off x="4512" y="139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扰动</a:t>
              </a:r>
            </a:p>
          </p:txBody>
        </p:sp>
        <p:sp>
          <p:nvSpPr>
            <p:cNvPr id="32804" name="Rectangle 34"/>
            <p:cNvSpPr>
              <a:spLocks noChangeArrowheads="1"/>
            </p:cNvSpPr>
            <p:nvPr/>
          </p:nvSpPr>
          <p:spPr bwMode="auto">
            <a:xfrm>
              <a:off x="1632" y="3456"/>
              <a:ext cx="24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恒温箱自动控制系统方框图</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7C1A0A5-AB23-4855-A430-25BC9703D17D}" type="datetime10">
              <a:rPr lang="zh-CN" altLang="en-US" smtClean="0"/>
              <a:pPr/>
              <a:t>14:02</a:t>
            </a:fld>
            <a:endParaRPr lang="zh-CN" altLang="en-US"/>
          </a:p>
        </p:txBody>
      </p:sp>
      <p:sp>
        <p:nvSpPr>
          <p:cNvPr id="3481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FC30295-6B7E-45AF-B3B5-F5F54F008E5E}" type="slidenum">
              <a:rPr lang="en-US" altLang="zh-CN" smtClean="0"/>
              <a:pPr/>
              <a:t>19</a:t>
            </a:fld>
            <a:endParaRPr lang="en-US" altLang="zh-CN"/>
          </a:p>
        </p:txBody>
      </p:sp>
      <p:sp>
        <p:nvSpPr>
          <p:cNvPr id="34820" name="Rectangle 2"/>
          <p:cNvSpPr>
            <a:spLocks noChangeArrowheads="1"/>
          </p:cNvSpPr>
          <p:nvPr/>
        </p:nvSpPr>
        <p:spPr bwMode="auto">
          <a:xfrm>
            <a:off x="755650" y="1052513"/>
            <a:ext cx="5518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从恒温箱控制系统功能框图可见：</a:t>
            </a:r>
          </a:p>
        </p:txBody>
      </p:sp>
      <p:sp>
        <p:nvSpPr>
          <p:cNvPr id="14339" name="Rectangle 3"/>
          <p:cNvSpPr>
            <a:spLocks noChangeArrowheads="1"/>
          </p:cNvSpPr>
          <p:nvPr/>
        </p:nvSpPr>
        <p:spPr bwMode="auto">
          <a:xfrm>
            <a:off x="755650" y="1773238"/>
            <a:ext cx="766762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给定量位于系统的输入端，称为</a:t>
            </a:r>
            <a:r>
              <a:rPr lang="zh-CN" altLang="en-US" sz="2800">
                <a:solidFill>
                  <a:srgbClr val="CC0000"/>
                </a:solidFill>
                <a:latin typeface="Times New Roman" panose="02020603050405020304" pitchFamily="18" charset="0"/>
              </a:rPr>
              <a:t>系统输入量</a:t>
            </a:r>
            <a:r>
              <a:rPr lang="zh-CN" altLang="en-US" sz="2800">
                <a:latin typeface="Times New Roman" panose="02020603050405020304" pitchFamily="18" charset="0"/>
              </a:rPr>
              <a:t>。</a:t>
            </a:r>
          </a:p>
          <a:p>
            <a:pPr eaLnBrk="1" hangingPunct="1">
              <a:lnSpc>
                <a:spcPct val="115000"/>
              </a:lnSpc>
            </a:pPr>
            <a:r>
              <a:rPr lang="zh-CN" altLang="en-US" sz="2800">
                <a:latin typeface="Times New Roman" panose="02020603050405020304" pitchFamily="18" charset="0"/>
              </a:rPr>
              <a:t>    也称为</a:t>
            </a:r>
            <a:r>
              <a:rPr lang="zh-CN" altLang="en-US" sz="2800">
                <a:solidFill>
                  <a:srgbClr val="CC0000"/>
                </a:solidFill>
                <a:latin typeface="Times New Roman" panose="02020603050405020304" pitchFamily="18" charset="0"/>
              </a:rPr>
              <a:t>参考输入量</a:t>
            </a:r>
            <a:r>
              <a:rPr lang="zh-CN" altLang="en-US" sz="2800">
                <a:latin typeface="Times New Roman" panose="02020603050405020304" pitchFamily="18" charset="0"/>
              </a:rPr>
              <a:t>（</a:t>
            </a:r>
            <a:r>
              <a:rPr lang="zh-CN" altLang="en-US" sz="2800">
                <a:solidFill>
                  <a:srgbClr val="CC0000"/>
                </a:solidFill>
                <a:latin typeface="Times New Roman" panose="02020603050405020304" pitchFamily="18" charset="0"/>
              </a:rPr>
              <a:t>信号</a:t>
            </a:r>
            <a:r>
              <a:rPr lang="zh-CN" altLang="en-US" sz="2800">
                <a:latin typeface="Times New Roman" panose="02020603050405020304" pitchFamily="18" charset="0"/>
              </a:rPr>
              <a:t>）。</a:t>
            </a:r>
          </a:p>
        </p:txBody>
      </p:sp>
      <p:sp>
        <p:nvSpPr>
          <p:cNvPr id="14340" name="Rectangle 4"/>
          <p:cNvSpPr>
            <a:spLocks noChangeArrowheads="1"/>
          </p:cNvSpPr>
          <p:nvPr/>
        </p:nvSpPr>
        <p:spPr bwMode="auto">
          <a:xfrm>
            <a:off x="755650" y="2838450"/>
            <a:ext cx="802322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被控制量位于系统的输出端，称为</a:t>
            </a:r>
            <a:r>
              <a:rPr lang="zh-CN" altLang="en-US" sz="2800">
                <a:solidFill>
                  <a:srgbClr val="CC0000"/>
                </a:solidFill>
                <a:latin typeface="Times New Roman" panose="02020603050405020304" pitchFamily="18" charset="0"/>
              </a:rPr>
              <a:t>系统输出量</a:t>
            </a:r>
            <a:r>
              <a:rPr lang="zh-CN" altLang="en-US" sz="2800">
                <a:latin typeface="Times New Roman" panose="02020603050405020304" pitchFamily="18" charset="0"/>
              </a:rPr>
              <a:t>。</a:t>
            </a:r>
          </a:p>
        </p:txBody>
      </p:sp>
      <p:sp>
        <p:nvSpPr>
          <p:cNvPr id="14341" name="Rectangle 5"/>
          <p:cNvSpPr>
            <a:spLocks noChangeArrowheads="1"/>
          </p:cNvSpPr>
          <p:nvPr/>
        </p:nvSpPr>
        <p:spPr bwMode="auto">
          <a:xfrm>
            <a:off x="755650" y="3448050"/>
            <a:ext cx="7667625"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输出量（全部或一部分）通过测量装置返回系</a:t>
            </a:r>
          </a:p>
          <a:p>
            <a:pPr eaLnBrk="1" hangingPunct="1">
              <a:lnSpc>
                <a:spcPct val="115000"/>
              </a:lnSpc>
            </a:pPr>
            <a:r>
              <a:rPr lang="zh-CN" altLang="en-US" sz="2800">
                <a:latin typeface="Times New Roman" panose="02020603050405020304" pitchFamily="18" charset="0"/>
              </a:rPr>
              <a:t>    统的输入端，使之与输入量进行比较，产生</a:t>
            </a:r>
            <a:r>
              <a:rPr lang="zh-CN" altLang="en-US" sz="2800">
                <a:solidFill>
                  <a:srgbClr val="CC0000"/>
                </a:solidFill>
                <a:latin typeface="Times New Roman" panose="02020603050405020304" pitchFamily="18" charset="0"/>
              </a:rPr>
              <a:t>偏</a:t>
            </a:r>
          </a:p>
          <a:p>
            <a:pPr eaLnBrk="1" hangingPunct="1">
              <a:lnSpc>
                <a:spcPct val="115000"/>
              </a:lnSpc>
            </a:pPr>
            <a:r>
              <a:rPr lang="zh-CN" altLang="en-US" sz="2800">
                <a:solidFill>
                  <a:srgbClr val="CC0000"/>
                </a:solidFill>
                <a:latin typeface="Times New Roman" panose="02020603050405020304" pitchFamily="18" charset="0"/>
              </a:rPr>
              <a:t>    差</a:t>
            </a:r>
            <a:r>
              <a:rPr lang="zh-CN" altLang="en-US" sz="2800">
                <a:latin typeface="Times New Roman" panose="02020603050405020304" pitchFamily="18" charset="0"/>
              </a:rPr>
              <a:t>（给定信号与返回的输出信号之差）信号。</a:t>
            </a:r>
          </a:p>
          <a:p>
            <a:pPr eaLnBrk="1" hangingPunct="1">
              <a:lnSpc>
                <a:spcPct val="115000"/>
              </a:lnSpc>
            </a:pPr>
            <a:r>
              <a:rPr lang="zh-CN" altLang="en-US" sz="2800">
                <a:latin typeface="Times New Roman" panose="02020603050405020304" pitchFamily="18" charset="0"/>
              </a:rPr>
              <a:t>    输出量的返回过程称为</a:t>
            </a:r>
            <a:r>
              <a:rPr lang="zh-CN" altLang="en-US" sz="2800">
                <a:solidFill>
                  <a:srgbClr val="CC0000"/>
                </a:solidFill>
                <a:latin typeface="Times New Roman" panose="02020603050405020304" pitchFamily="18" charset="0"/>
              </a:rPr>
              <a:t>反馈</a:t>
            </a:r>
            <a:r>
              <a:rPr lang="zh-CN" altLang="en-US" sz="2800">
                <a:latin typeface="Times New Roman" panose="02020603050405020304" pitchFamily="18" charset="0"/>
              </a:rPr>
              <a:t>。返回的全部或部</a:t>
            </a:r>
          </a:p>
          <a:p>
            <a:pPr eaLnBrk="1" hangingPunct="1">
              <a:lnSpc>
                <a:spcPct val="115000"/>
              </a:lnSpc>
            </a:pPr>
            <a:r>
              <a:rPr lang="zh-CN" altLang="en-US" sz="2800">
                <a:latin typeface="Times New Roman" panose="02020603050405020304" pitchFamily="18" charset="0"/>
              </a:rPr>
              <a:t>    分输出信号称为</a:t>
            </a:r>
            <a:r>
              <a:rPr lang="zh-CN" altLang="en-US" sz="2800">
                <a:solidFill>
                  <a:srgbClr val="CC0000"/>
                </a:solidFill>
                <a:latin typeface="Times New Roman" panose="02020603050405020304" pitchFamily="18" charset="0"/>
              </a:rPr>
              <a:t>反馈信号</a:t>
            </a:r>
            <a:r>
              <a:rPr lang="zh-CN" altLang="en-US" sz="2800">
                <a:latin typeface="Times New Roman" panose="02020603050405020304" pitchFamily="18" charset="0"/>
              </a:rPr>
              <a:t>。</a:t>
            </a:r>
          </a:p>
        </p:txBody>
      </p:sp>
      <p:pic>
        <p:nvPicPr>
          <p:cNvPr id="2356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0"/>
            <a:ext cx="8083550"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ppt_x"/>
                                          </p:val>
                                        </p:tav>
                                        <p:tav tm="100000">
                                          <p:val>
                                            <p:strVal val="#ppt_x"/>
                                          </p:val>
                                        </p:tav>
                                      </p:tavLst>
                                    </p:anim>
                                    <p:anim calcmode="lin" valueType="num">
                                      <p:cBhvr additive="base">
                                        <p:cTn id="8" dur="500" fill="hold"/>
                                        <p:tgtEl>
                                          <p:spTgt spid="143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0"/>
                                        </p:tgtEl>
                                        <p:attrNameLst>
                                          <p:attrName>style.visibility</p:attrName>
                                        </p:attrNameLst>
                                      </p:cBhvr>
                                      <p:to>
                                        <p:strVal val="visible"/>
                                      </p:to>
                                    </p:set>
                                    <p:anim calcmode="lin" valueType="num">
                                      <p:cBhvr additive="base">
                                        <p:cTn id="13" dur="500" fill="hold"/>
                                        <p:tgtEl>
                                          <p:spTgt spid="14340"/>
                                        </p:tgtEl>
                                        <p:attrNameLst>
                                          <p:attrName>ppt_x</p:attrName>
                                        </p:attrNameLst>
                                      </p:cBhvr>
                                      <p:tavLst>
                                        <p:tav tm="0">
                                          <p:val>
                                            <p:strVal val="#ppt_x"/>
                                          </p:val>
                                        </p:tav>
                                        <p:tav tm="100000">
                                          <p:val>
                                            <p:strVal val="#ppt_x"/>
                                          </p:val>
                                        </p:tav>
                                      </p:tavLst>
                                    </p:anim>
                                    <p:anim calcmode="lin" valueType="num">
                                      <p:cBhvr additive="base">
                                        <p:cTn id="14"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1"/>
                                        </p:tgtEl>
                                        <p:attrNameLst>
                                          <p:attrName>style.visibility</p:attrName>
                                        </p:attrNameLst>
                                      </p:cBhvr>
                                      <p:to>
                                        <p:strVal val="visible"/>
                                      </p:to>
                                    </p:set>
                                    <p:anim calcmode="lin" valueType="num">
                                      <p:cBhvr additive="base">
                                        <p:cTn id="19" dur="500" fill="hold"/>
                                        <p:tgtEl>
                                          <p:spTgt spid="14341"/>
                                        </p:tgtEl>
                                        <p:attrNameLst>
                                          <p:attrName>ppt_x</p:attrName>
                                        </p:attrNameLst>
                                      </p:cBhvr>
                                      <p:tavLst>
                                        <p:tav tm="0">
                                          <p:val>
                                            <p:strVal val="#ppt_x"/>
                                          </p:val>
                                        </p:tav>
                                        <p:tav tm="100000">
                                          <p:val>
                                            <p:strVal val="#ppt_x"/>
                                          </p:val>
                                        </p:tav>
                                      </p:tavLst>
                                    </p:anim>
                                    <p:anim calcmode="lin" valueType="num">
                                      <p:cBhvr additive="base">
                                        <p:cTn id="20" dur="500" fill="hold"/>
                                        <p:tgtEl>
                                          <p:spTgt spid="1434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23560"/>
                                        </p:tgtEl>
                                        <p:attrNameLst>
                                          <p:attrName>style.visibility</p:attrName>
                                        </p:attrNameLst>
                                      </p:cBhvr>
                                      <p:to>
                                        <p:strVal val="visible"/>
                                      </p:to>
                                    </p:set>
                                    <p:animEffect transition="in" filter="slide(fromBottom)">
                                      <p:cBhvr>
                                        <p:cTn id="25" dur="500"/>
                                        <p:tgtEl>
                                          <p:spTgt spid="23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P spid="14340" grpId="0"/>
      <p:bldP spid="1434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866CCC7-5974-4B0A-AA13-C3B8CDADCBD3}" type="datetime10">
              <a:rPr lang="zh-CN" altLang="en-US" smtClean="0"/>
              <a:pPr/>
              <a:t>14:02</a:t>
            </a:fld>
            <a:endParaRPr lang="zh-CN" altLang="en-US"/>
          </a:p>
        </p:txBody>
      </p:sp>
      <p:sp>
        <p:nvSpPr>
          <p:cNvPr id="36867"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48D1C55-E7CA-454B-AC5E-55DCC4FD1FE4}" type="slidenum">
              <a:rPr lang="en-US" altLang="zh-CN" smtClean="0"/>
              <a:pPr/>
              <a:t>20</a:t>
            </a:fld>
            <a:endParaRPr lang="en-US" altLang="zh-CN"/>
          </a:p>
        </p:txBody>
      </p:sp>
      <p:sp>
        <p:nvSpPr>
          <p:cNvPr id="36868" name="Rectangle 2"/>
          <p:cNvSpPr>
            <a:spLocks noChangeArrowheads="1"/>
          </p:cNvSpPr>
          <p:nvPr/>
        </p:nvSpPr>
        <p:spPr bwMode="auto">
          <a:xfrm>
            <a:off x="762000" y="1654175"/>
            <a:ext cx="551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solidFill>
                  <a:srgbClr val="CC0000"/>
                </a:solidFill>
                <a:latin typeface="Times New Roman" panose="02020603050405020304" pitchFamily="18" charset="0"/>
              </a:rPr>
              <a:t>综上所述，控制系统的工作原理：</a:t>
            </a:r>
          </a:p>
        </p:txBody>
      </p:sp>
      <p:sp>
        <p:nvSpPr>
          <p:cNvPr id="15363" name="Text Box 3"/>
          <p:cNvSpPr txBox="1">
            <a:spLocks noChangeArrowheads="1"/>
          </p:cNvSpPr>
          <p:nvPr/>
        </p:nvSpPr>
        <p:spPr bwMode="auto">
          <a:xfrm>
            <a:off x="838200" y="2360613"/>
            <a:ext cx="58070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8925" indent="-2889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05000"/>
              </a:lnSpc>
              <a:buFont typeface="Wingdings" panose="05000000000000000000" pitchFamily="2" charset="2"/>
              <a:buChar char="Ø"/>
            </a:pPr>
            <a:r>
              <a:rPr lang="zh-CN" altLang="en-US" sz="2800">
                <a:latin typeface="Times New Roman" panose="02020603050405020304" pitchFamily="18" charset="0"/>
              </a:rPr>
              <a:t>检测输出量</a:t>
            </a:r>
            <a:r>
              <a:rPr lang="zh-CN" altLang="en-US" sz="2800">
                <a:latin typeface="宋体" panose="02010600030101010101" pitchFamily="2" charset="-122"/>
              </a:rPr>
              <a:t>（被控制量）</a:t>
            </a:r>
            <a:r>
              <a:rPr lang="zh-CN" altLang="en-US" sz="2800">
                <a:latin typeface="Times New Roman" panose="02020603050405020304" pitchFamily="18" charset="0"/>
              </a:rPr>
              <a:t>的实际值</a:t>
            </a:r>
          </a:p>
        </p:txBody>
      </p:sp>
      <p:sp>
        <p:nvSpPr>
          <p:cNvPr id="15364" name="Text Box 4"/>
          <p:cNvSpPr txBox="1">
            <a:spLocks noChangeArrowheads="1"/>
          </p:cNvSpPr>
          <p:nvPr/>
        </p:nvSpPr>
        <p:spPr bwMode="auto">
          <a:xfrm>
            <a:off x="838200" y="3065463"/>
            <a:ext cx="758507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8925" indent="-2889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05000"/>
              </a:lnSpc>
              <a:buFont typeface="Wingdings" panose="05000000000000000000" pitchFamily="2" charset="2"/>
              <a:buChar char="Ø"/>
            </a:pPr>
            <a:r>
              <a:rPr lang="zh-CN" altLang="en-US" sz="2800">
                <a:latin typeface="宋体" panose="02010600030101010101" pitchFamily="2" charset="-122"/>
              </a:rPr>
              <a:t>将输出量的实际值与给定值（输入量）进行比</a:t>
            </a:r>
          </a:p>
          <a:p>
            <a:pPr eaLnBrk="1" hangingPunct="1">
              <a:lnSpc>
                <a:spcPct val="105000"/>
              </a:lnSpc>
            </a:pPr>
            <a:r>
              <a:rPr lang="zh-CN" altLang="en-US" sz="2800">
                <a:latin typeface="Times New Roman" panose="02020603050405020304" pitchFamily="18" charset="0"/>
              </a:rPr>
              <a:t>   </a:t>
            </a:r>
            <a:r>
              <a:rPr lang="zh-CN" altLang="en-US" sz="2800">
                <a:latin typeface="宋体" panose="02010600030101010101" pitchFamily="2" charset="-122"/>
              </a:rPr>
              <a:t>较得出偏差；</a:t>
            </a:r>
            <a:r>
              <a:rPr lang="zh-CN" altLang="en-US" sz="2800">
                <a:latin typeface="Times New Roman" panose="02020603050405020304" pitchFamily="18" charset="0"/>
              </a:rPr>
              <a:t> </a:t>
            </a:r>
          </a:p>
        </p:txBody>
      </p:sp>
      <p:sp>
        <p:nvSpPr>
          <p:cNvPr id="15365" name="Text Box 5"/>
          <p:cNvSpPr txBox="1">
            <a:spLocks noChangeArrowheads="1"/>
          </p:cNvSpPr>
          <p:nvPr/>
        </p:nvSpPr>
        <p:spPr bwMode="auto">
          <a:xfrm>
            <a:off x="838200" y="4194175"/>
            <a:ext cx="758507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8925" indent="-28892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05000"/>
              </a:lnSpc>
              <a:buFont typeface="Wingdings" panose="05000000000000000000" pitchFamily="2" charset="2"/>
              <a:buChar char="Ø"/>
            </a:pPr>
            <a:r>
              <a:rPr lang="zh-CN" altLang="en-US" sz="2800">
                <a:latin typeface="宋体" panose="02010600030101010101" pitchFamily="2" charset="-122"/>
              </a:rPr>
              <a:t>用偏差值产生控制调节作用去消除偏差，使得</a:t>
            </a:r>
          </a:p>
          <a:p>
            <a:pPr eaLnBrk="1" hangingPunct="1">
              <a:lnSpc>
                <a:spcPct val="105000"/>
              </a:lnSpc>
            </a:pPr>
            <a:r>
              <a:rPr lang="zh-CN" altLang="en-US" sz="2800">
                <a:latin typeface="Times New Roman" panose="02020603050405020304" pitchFamily="18" charset="0"/>
              </a:rPr>
              <a:t>   </a:t>
            </a:r>
            <a:r>
              <a:rPr lang="zh-CN" altLang="en-US" sz="2800">
                <a:latin typeface="宋体" panose="02010600030101010101" pitchFamily="2" charset="-122"/>
              </a:rPr>
              <a:t>输出量维持期望的输出。</a:t>
            </a:r>
            <a:endParaRPr lang="zh-CN" altLang="en-US"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ppt_x"/>
                                          </p:val>
                                        </p:tav>
                                        <p:tav tm="100000">
                                          <p:val>
                                            <p:strVal val="#ppt_x"/>
                                          </p:val>
                                        </p:tav>
                                      </p:tavLst>
                                    </p:anim>
                                    <p:anim calcmode="lin" valueType="num">
                                      <p:cBhvr additive="base">
                                        <p:cTn id="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4"/>
                                        </p:tgtEl>
                                        <p:attrNameLst>
                                          <p:attrName>style.visibility</p:attrName>
                                        </p:attrNameLst>
                                      </p:cBhvr>
                                      <p:to>
                                        <p:strVal val="visible"/>
                                      </p:to>
                                    </p:set>
                                    <p:anim calcmode="lin" valueType="num">
                                      <p:cBhvr additive="base">
                                        <p:cTn id="13" dur="500" fill="hold"/>
                                        <p:tgtEl>
                                          <p:spTgt spid="15364"/>
                                        </p:tgtEl>
                                        <p:attrNameLst>
                                          <p:attrName>ppt_x</p:attrName>
                                        </p:attrNameLst>
                                      </p:cBhvr>
                                      <p:tavLst>
                                        <p:tav tm="0">
                                          <p:val>
                                            <p:strVal val="#ppt_x"/>
                                          </p:val>
                                        </p:tav>
                                        <p:tav tm="100000">
                                          <p:val>
                                            <p:strVal val="#ppt_x"/>
                                          </p:val>
                                        </p:tav>
                                      </p:tavLst>
                                    </p:anim>
                                    <p:anim calcmode="lin" valueType="num">
                                      <p:cBhvr additive="base">
                                        <p:cTn id="14"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5"/>
                                        </p:tgtEl>
                                        <p:attrNameLst>
                                          <p:attrName>style.visibility</p:attrName>
                                        </p:attrNameLst>
                                      </p:cBhvr>
                                      <p:to>
                                        <p:strVal val="visible"/>
                                      </p:to>
                                    </p:set>
                                    <p:anim calcmode="lin" valueType="num">
                                      <p:cBhvr additive="base">
                                        <p:cTn id="19" dur="500" fill="hold"/>
                                        <p:tgtEl>
                                          <p:spTgt spid="15365"/>
                                        </p:tgtEl>
                                        <p:attrNameLst>
                                          <p:attrName>ppt_x</p:attrName>
                                        </p:attrNameLst>
                                      </p:cBhvr>
                                      <p:tavLst>
                                        <p:tav tm="0">
                                          <p:val>
                                            <p:strVal val="#ppt_x"/>
                                          </p:val>
                                        </p:tav>
                                        <p:tav tm="100000">
                                          <p:val>
                                            <p:strVal val="#ppt_x"/>
                                          </p:val>
                                        </p:tav>
                                      </p:tavLst>
                                    </p:anim>
                                    <p:anim calcmode="lin" valueType="num">
                                      <p:cBhvr additive="base">
                                        <p:cTn id="20"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p:bldP spid="1536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B9A26BC-6471-4BAF-91CB-9E0AE6330816}" type="datetime10">
              <a:rPr lang="zh-CN" altLang="en-US" smtClean="0"/>
              <a:pPr/>
              <a:t>14:02</a:t>
            </a:fld>
            <a:endParaRPr lang="zh-CN" altLang="en-US"/>
          </a:p>
        </p:txBody>
      </p:sp>
      <p:sp>
        <p:nvSpPr>
          <p:cNvPr id="3891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0CAD513-34C5-42B2-AC1F-003A87461CFA}" type="slidenum">
              <a:rPr lang="en-US" altLang="zh-CN" smtClean="0"/>
              <a:pPr/>
              <a:t>21</a:t>
            </a:fld>
            <a:endParaRPr lang="en-US" altLang="zh-CN"/>
          </a:p>
        </p:txBody>
      </p:sp>
      <p:sp>
        <p:nvSpPr>
          <p:cNvPr id="38916" name="Rectangle 2"/>
          <p:cNvSpPr>
            <a:spLocks noChangeArrowheads="1"/>
          </p:cNvSpPr>
          <p:nvPr/>
        </p:nvSpPr>
        <p:spPr bwMode="auto">
          <a:xfrm>
            <a:off x="762000" y="1981200"/>
            <a:ext cx="78486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由于存在输出量反馈，上述系统能在存在无法预计扰动的情况下，自动减少系统的输出量与参考输入量（或者任意变化的希望的状态）之间的偏差，故称之为</a:t>
            </a:r>
            <a:r>
              <a:rPr lang="zh-CN" altLang="en-US" sz="2800">
                <a:solidFill>
                  <a:srgbClr val="CC0000"/>
                </a:solidFill>
                <a:latin typeface="宋体" panose="02010600030101010101" pitchFamily="2" charset="-122"/>
              </a:rPr>
              <a:t>反馈控制</a:t>
            </a:r>
            <a:r>
              <a:rPr lang="zh-CN" altLang="en-US" sz="2800">
                <a:latin typeface="宋体" panose="02010600030101010101" pitchFamily="2" charset="-122"/>
              </a:rPr>
              <a:t>。</a:t>
            </a:r>
          </a:p>
        </p:txBody>
      </p:sp>
      <p:sp>
        <p:nvSpPr>
          <p:cNvPr id="16387" name="Rectangle 3"/>
          <p:cNvSpPr>
            <a:spLocks noChangeArrowheads="1"/>
          </p:cNvSpPr>
          <p:nvPr/>
        </p:nvSpPr>
        <p:spPr bwMode="auto">
          <a:xfrm>
            <a:off x="762000" y="4056063"/>
            <a:ext cx="7848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显然：</a:t>
            </a:r>
            <a:r>
              <a:rPr lang="zh-CN" altLang="en-US" sz="2800">
                <a:solidFill>
                  <a:srgbClr val="CC0000"/>
                </a:solidFill>
                <a:latin typeface="宋体" panose="02010600030101010101" pitchFamily="2" charset="-122"/>
              </a:rPr>
              <a:t>反馈控制建立在偏差基础上</a:t>
            </a:r>
            <a:r>
              <a:rPr lang="zh-CN" altLang="en-US" sz="2800">
                <a:latin typeface="宋体" panose="02010600030101010101" pitchFamily="2" charset="-122"/>
              </a:rPr>
              <a:t>，其控制方式是</a:t>
            </a:r>
            <a:r>
              <a:rPr lang="zh-CN" altLang="en-US" sz="2800">
                <a:latin typeface="Times New Roman" panose="02020603050405020304" pitchFamily="18" charset="0"/>
              </a:rPr>
              <a:t>“</a:t>
            </a:r>
            <a:r>
              <a:rPr lang="zh-CN" altLang="en-US" sz="2800">
                <a:solidFill>
                  <a:srgbClr val="CC0000"/>
                </a:solidFill>
                <a:latin typeface="宋体" panose="02010600030101010101" pitchFamily="2" charset="-122"/>
              </a:rPr>
              <a:t>检测偏差再纠正偏差</a:t>
            </a:r>
            <a:r>
              <a:rPr lang="zh-CN" altLang="en-US" sz="2800">
                <a:latin typeface="Times New Roman" panose="02020603050405020304" pitchFamily="18" charset="0"/>
              </a:rPr>
              <a:t>”</a:t>
            </a:r>
            <a:r>
              <a:rPr lang="zh-CN" altLang="en-US" sz="2800">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additive="base">
                                        <p:cTn id="7" dur="500" fill="hold"/>
                                        <p:tgtEl>
                                          <p:spTgt spid="16387"/>
                                        </p:tgtEl>
                                        <p:attrNameLst>
                                          <p:attrName>ppt_x</p:attrName>
                                        </p:attrNameLst>
                                      </p:cBhvr>
                                      <p:tavLst>
                                        <p:tav tm="0">
                                          <p:val>
                                            <p:strVal val="#ppt_x"/>
                                          </p:val>
                                        </p:tav>
                                        <p:tav tm="100000">
                                          <p:val>
                                            <p:strVal val="#ppt_x"/>
                                          </p:val>
                                        </p:tav>
                                      </p:tavLst>
                                    </p:anim>
                                    <p:anim calcmode="lin" valueType="num">
                                      <p:cBhvr additive="base">
                                        <p:cTn id="8" dur="500" fill="hold"/>
                                        <p:tgtEl>
                                          <p:spTgt spid="163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0CE5E2E-6C39-4C78-A381-0FB598904282}" type="datetime10">
              <a:rPr lang="zh-CN" altLang="en-US" smtClean="0"/>
              <a:pPr/>
              <a:t>14:02</a:t>
            </a:fld>
            <a:endParaRPr lang="zh-CN" altLang="en-US"/>
          </a:p>
        </p:txBody>
      </p:sp>
      <p:sp>
        <p:nvSpPr>
          <p:cNvPr id="40963"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E1E60A-AC11-4A54-921B-2735BBFD98AE}" type="slidenum">
              <a:rPr lang="en-US" altLang="zh-CN" smtClean="0"/>
              <a:pPr/>
              <a:t>22</a:t>
            </a:fld>
            <a:endParaRPr lang="en-US" altLang="zh-CN"/>
          </a:p>
        </p:txBody>
      </p:sp>
      <p:sp>
        <p:nvSpPr>
          <p:cNvPr id="40964" name="Rectangle 2"/>
          <p:cNvSpPr>
            <a:spLocks noChangeArrowheads="1"/>
          </p:cNvSpPr>
          <p:nvPr/>
        </p:nvSpPr>
        <p:spPr bwMode="auto">
          <a:xfrm>
            <a:off x="762000" y="1628775"/>
            <a:ext cx="78486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这种基于反馈原理，能对输出量与参考输入量进行比较，并力图保持两者之间既定关系的系统</a:t>
            </a:r>
            <a:r>
              <a:rPr lang="en-US" altLang="zh-CN" sz="2800">
                <a:latin typeface="宋体" panose="02010600030101010101" pitchFamily="2" charset="-122"/>
              </a:rPr>
              <a:t>,</a:t>
            </a:r>
            <a:r>
              <a:rPr lang="zh-CN" altLang="en-US" sz="2800">
                <a:latin typeface="宋体" panose="02010600030101010101" pitchFamily="2" charset="-122"/>
              </a:rPr>
              <a:t>称为</a:t>
            </a:r>
            <a:r>
              <a:rPr lang="zh-CN" altLang="en-US" sz="2800">
                <a:solidFill>
                  <a:srgbClr val="CC0000"/>
                </a:solidFill>
                <a:latin typeface="宋体" panose="02010600030101010101" pitchFamily="2" charset="-122"/>
              </a:rPr>
              <a:t>反馈控制系统</a:t>
            </a:r>
            <a:r>
              <a:rPr lang="zh-CN" altLang="en-US" sz="2800">
                <a:latin typeface="宋体" panose="02010600030101010101" pitchFamily="2" charset="-122"/>
              </a:rPr>
              <a:t>。反馈控制系统具备</a:t>
            </a:r>
            <a:r>
              <a:rPr lang="zh-CN" altLang="en-US" sz="2800">
                <a:solidFill>
                  <a:srgbClr val="CC0000"/>
                </a:solidFill>
                <a:latin typeface="宋体" panose="02010600030101010101" pitchFamily="2" charset="-122"/>
              </a:rPr>
              <a:t>测量</a:t>
            </a:r>
            <a:r>
              <a:rPr lang="zh-CN" altLang="en-US" sz="2800">
                <a:latin typeface="宋体" panose="02010600030101010101" pitchFamily="2" charset="-122"/>
              </a:rPr>
              <a:t>、</a:t>
            </a:r>
            <a:r>
              <a:rPr lang="zh-CN" altLang="en-US" sz="2800">
                <a:solidFill>
                  <a:srgbClr val="CC0000"/>
                </a:solidFill>
                <a:latin typeface="宋体" panose="02010600030101010101" pitchFamily="2" charset="-122"/>
              </a:rPr>
              <a:t>比较</a:t>
            </a:r>
            <a:r>
              <a:rPr lang="zh-CN" altLang="en-US" sz="2800">
                <a:latin typeface="宋体" panose="02010600030101010101" pitchFamily="2" charset="-122"/>
              </a:rPr>
              <a:t>和</a:t>
            </a:r>
            <a:r>
              <a:rPr lang="zh-CN" altLang="en-US" sz="2800">
                <a:solidFill>
                  <a:srgbClr val="CC0000"/>
                </a:solidFill>
                <a:latin typeface="宋体" panose="02010600030101010101" pitchFamily="2" charset="-122"/>
              </a:rPr>
              <a:t>执行</a:t>
            </a:r>
            <a:r>
              <a:rPr lang="zh-CN" altLang="en-US" sz="2800">
                <a:latin typeface="宋体" panose="02010600030101010101" pitchFamily="2" charset="-122"/>
              </a:rPr>
              <a:t>三个基本功能。 </a:t>
            </a:r>
          </a:p>
        </p:txBody>
      </p:sp>
      <p:sp>
        <p:nvSpPr>
          <p:cNvPr id="17411" name="Rectangle 3"/>
          <p:cNvSpPr>
            <a:spLocks noChangeArrowheads="1"/>
          </p:cNvSpPr>
          <p:nvPr/>
        </p:nvSpPr>
        <p:spPr bwMode="auto">
          <a:xfrm>
            <a:off x="768350" y="3675063"/>
            <a:ext cx="7848600" cy="257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注意：反馈控制系统中，反馈信号是与给定信号相减，抵消了输入信号作用时，称为</a:t>
            </a:r>
            <a:r>
              <a:rPr lang="zh-CN" altLang="en-US" sz="2800">
                <a:solidFill>
                  <a:srgbClr val="CC0000"/>
                </a:solidFill>
                <a:latin typeface="宋体" panose="02010600030101010101" pitchFamily="2" charset="-122"/>
              </a:rPr>
              <a:t>负反馈</a:t>
            </a:r>
            <a:r>
              <a:rPr lang="zh-CN" altLang="en-US" sz="2800">
                <a:latin typeface="宋体" panose="02010600030101010101" pitchFamily="2" charset="-122"/>
              </a:rPr>
              <a:t>。负反馈控制是实现自动控制最基本的方法。直接取自系统最终输出端的反馈为主反馈，主反馈一定是负反馈。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 calcmode="lin" valueType="num">
                                      <p:cBhvr additive="base">
                                        <p:cTn id="7" dur="500" fill="hold"/>
                                        <p:tgtEl>
                                          <p:spTgt spid="17411"/>
                                        </p:tgtEl>
                                        <p:attrNameLst>
                                          <p:attrName>ppt_x</p:attrName>
                                        </p:attrNameLst>
                                      </p:cBhvr>
                                      <p:tavLst>
                                        <p:tav tm="0">
                                          <p:val>
                                            <p:strVal val="#ppt_x"/>
                                          </p:val>
                                        </p:tav>
                                        <p:tav tm="100000">
                                          <p:val>
                                            <p:strVal val="#ppt_x"/>
                                          </p:val>
                                        </p:tav>
                                      </p:tavLst>
                                    </p:anim>
                                    <p:anim calcmode="lin" valueType="num">
                                      <p:cBhvr additive="base">
                                        <p:cTn id="8" dur="500" fill="hold"/>
                                        <p:tgtEl>
                                          <p:spTgt spid="174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1D922CE-714F-40AC-A75D-0F63541148FB}" type="datetime10">
              <a:rPr lang="zh-CN" altLang="en-US" smtClean="0"/>
              <a:pPr/>
              <a:t>14:02</a:t>
            </a:fld>
            <a:endParaRPr lang="zh-CN" altLang="en-US"/>
          </a:p>
        </p:txBody>
      </p:sp>
      <p:sp>
        <p:nvSpPr>
          <p:cNvPr id="4301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F32481B-1E76-4E0D-88D4-5D45BC2D345E}" type="slidenum">
              <a:rPr lang="en-US" altLang="zh-CN" smtClean="0"/>
              <a:pPr/>
              <a:t>23</a:t>
            </a:fld>
            <a:endParaRPr lang="en-US" altLang="zh-CN"/>
          </a:p>
        </p:txBody>
      </p:sp>
      <p:sp>
        <p:nvSpPr>
          <p:cNvPr id="43012" name="Rectangle 2"/>
          <p:cNvSpPr>
            <a:spLocks noChangeArrowheads="1"/>
          </p:cNvSpPr>
          <p:nvPr/>
        </p:nvSpPr>
        <p:spPr bwMode="auto">
          <a:xfrm>
            <a:off x="684213" y="765175"/>
            <a:ext cx="3738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开环控制与闭环控制</a:t>
            </a:r>
            <a:endParaRPr lang="zh-CN" altLang="en-US" sz="2800" b="1">
              <a:latin typeface="Times New Roman" panose="02020603050405020304" pitchFamily="18" charset="0"/>
            </a:endParaRPr>
          </a:p>
        </p:txBody>
      </p:sp>
      <p:sp>
        <p:nvSpPr>
          <p:cNvPr id="18435" name="Rectangle 3"/>
          <p:cNvSpPr>
            <a:spLocks noChangeArrowheads="1"/>
          </p:cNvSpPr>
          <p:nvPr/>
        </p:nvSpPr>
        <p:spPr bwMode="auto">
          <a:xfrm>
            <a:off x="990600" y="2298700"/>
            <a:ext cx="78486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实际的控制系统根据有无反馈作用可分为三类：</a:t>
            </a:r>
          </a:p>
        </p:txBody>
      </p:sp>
      <p:sp>
        <p:nvSpPr>
          <p:cNvPr id="18436" name="Rectangle 4"/>
          <p:cNvSpPr>
            <a:spLocks noChangeArrowheads="1"/>
          </p:cNvSpPr>
          <p:nvPr/>
        </p:nvSpPr>
        <p:spPr bwMode="auto">
          <a:xfrm>
            <a:off x="1066800" y="3016250"/>
            <a:ext cx="4267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开环控制系统</a:t>
            </a:r>
          </a:p>
        </p:txBody>
      </p:sp>
      <p:sp>
        <p:nvSpPr>
          <p:cNvPr id="18437" name="Rectangle 5"/>
          <p:cNvSpPr>
            <a:spLocks noChangeArrowheads="1"/>
          </p:cNvSpPr>
          <p:nvPr/>
        </p:nvSpPr>
        <p:spPr bwMode="auto">
          <a:xfrm>
            <a:off x="1066800" y="3738563"/>
            <a:ext cx="4267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闭环控制系统</a:t>
            </a:r>
          </a:p>
        </p:txBody>
      </p:sp>
      <p:sp>
        <p:nvSpPr>
          <p:cNvPr id="18438" name="Rectangle 6"/>
          <p:cNvSpPr>
            <a:spLocks noChangeArrowheads="1"/>
          </p:cNvSpPr>
          <p:nvPr/>
        </p:nvSpPr>
        <p:spPr bwMode="auto">
          <a:xfrm>
            <a:off x="1066800" y="4446588"/>
            <a:ext cx="4267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半</a:t>
            </a:r>
            <a:r>
              <a:rPr lang="zh-CN" altLang="en-US" sz="2800">
                <a:latin typeface="宋体" panose="02010600030101010101" pitchFamily="2" charset="-122"/>
              </a:rPr>
              <a:t>闭环控制系统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additive="base">
                                        <p:cTn id="7" dur="500" fill="hold"/>
                                        <p:tgtEl>
                                          <p:spTgt spid="18435"/>
                                        </p:tgtEl>
                                        <p:attrNameLst>
                                          <p:attrName>ppt_x</p:attrName>
                                        </p:attrNameLst>
                                      </p:cBhvr>
                                      <p:tavLst>
                                        <p:tav tm="0">
                                          <p:val>
                                            <p:strVal val="#ppt_x"/>
                                          </p:val>
                                        </p:tav>
                                        <p:tav tm="100000">
                                          <p:val>
                                            <p:strVal val="#ppt_x"/>
                                          </p:val>
                                        </p:tav>
                                      </p:tavLst>
                                    </p:anim>
                                    <p:anim calcmode="lin" valueType="num">
                                      <p:cBhvr additive="base">
                                        <p:cTn id="8" dur="500" fill="hold"/>
                                        <p:tgtEl>
                                          <p:spTgt spid="184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6"/>
                                        </p:tgtEl>
                                        <p:attrNameLst>
                                          <p:attrName>style.visibility</p:attrName>
                                        </p:attrNameLst>
                                      </p:cBhvr>
                                      <p:to>
                                        <p:strVal val="visible"/>
                                      </p:to>
                                    </p:set>
                                    <p:anim calcmode="lin" valueType="num">
                                      <p:cBhvr additive="base">
                                        <p:cTn id="13" dur="500" fill="hold"/>
                                        <p:tgtEl>
                                          <p:spTgt spid="18436"/>
                                        </p:tgtEl>
                                        <p:attrNameLst>
                                          <p:attrName>ppt_x</p:attrName>
                                        </p:attrNameLst>
                                      </p:cBhvr>
                                      <p:tavLst>
                                        <p:tav tm="0">
                                          <p:val>
                                            <p:strVal val="#ppt_x"/>
                                          </p:val>
                                        </p:tav>
                                        <p:tav tm="100000">
                                          <p:val>
                                            <p:strVal val="#ppt_x"/>
                                          </p:val>
                                        </p:tav>
                                      </p:tavLst>
                                    </p:anim>
                                    <p:anim calcmode="lin" valueType="num">
                                      <p:cBhvr additive="base">
                                        <p:cTn id="14"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7"/>
                                        </p:tgtEl>
                                        <p:attrNameLst>
                                          <p:attrName>style.visibility</p:attrName>
                                        </p:attrNameLst>
                                      </p:cBhvr>
                                      <p:to>
                                        <p:strVal val="visible"/>
                                      </p:to>
                                    </p:set>
                                    <p:anim calcmode="lin" valueType="num">
                                      <p:cBhvr additive="base">
                                        <p:cTn id="19" dur="500" fill="hold"/>
                                        <p:tgtEl>
                                          <p:spTgt spid="18437"/>
                                        </p:tgtEl>
                                        <p:attrNameLst>
                                          <p:attrName>ppt_x</p:attrName>
                                        </p:attrNameLst>
                                      </p:cBhvr>
                                      <p:tavLst>
                                        <p:tav tm="0">
                                          <p:val>
                                            <p:strVal val="#ppt_x"/>
                                          </p:val>
                                        </p:tav>
                                        <p:tav tm="100000">
                                          <p:val>
                                            <p:strVal val="#ppt_x"/>
                                          </p:val>
                                        </p:tav>
                                      </p:tavLst>
                                    </p:anim>
                                    <p:anim calcmode="lin" valueType="num">
                                      <p:cBhvr additive="base">
                                        <p:cTn id="20"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438"/>
                                        </p:tgtEl>
                                        <p:attrNameLst>
                                          <p:attrName>style.visibility</p:attrName>
                                        </p:attrNameLst>
                                      </p:cBhvr>
                                      <p:to>
                                        <p:strVal val="visible"/>
                                      </p:to>
                                    </p:set>
                                    <p:anim calcmode="lin" valueType="num">
                                      <p:cBhvr additive="base">
                                        <p:cTn id="25" dur="500" fill="hold"/>
                                        <p:tgtEl>
                                          <p:spTgt spid="18438"/>
                                        </p:tgtEl>
                                        <p:attrNameLst>
                                          <p:attrName>ppt_x</p:attrName>
                                        </p:attrNameLst>
                                      </p:cBhvr>
                                      <p:tavLst>
                                        <p:tav tm="0">
                                          <p:val>
                                            <p:strVal val="#ppt_x"/>
                                          </p:val>
                                        </p:tav>
                                        <p:tav tm="100000">
                                          <p:val>
                                            <p:strVal val="#ppt_x"/>
                                          </p:val>
                                        </p:tav>
                                      </p:tavLst>
                                    </p:anim>
                                    <p:anim calcmode="lin" valueType="num">
                                      <p:cBhvr additive="base">
                                        <p:cTn id="26" dur="500" fill="hold"/>
                                        <p:tgtEl>
                                          <p:spTgt spid="18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p:bldP spid="18436" grpId="0"/>
      <p:bldP spid="18437" grpId="0"/>
      <p:bldP spid="1843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25BDCF3-DD81-4FE0-85B9-3918BD2F88A5}" type="datetime10">
              <a:rPr lang="zh-CN" altLang="en-US" smtClean="0"/>
              <a:pPr/>
              <a:t>14:02</a:t>
            </a:fld>
            <a:endParaRPr lang="zh-CN" altLang="en-US"/>
          </a:p>
        </p:txBody>
      </p:sp>
      <p:sp>
        <p:nvSpPr>
          <p:cNvPr id="4505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B856A32-75E4-4F7A-9191-AE212330963D}" type="slidenum">
              <a:rPr lang="en-US" altLang="zh-CN" smtClean="0"/>
              <a:pPr/>
              <a:t>24</a:t>
            </a:fld>
            <a:endParaRPr lang="en-US" altLang="zh-CN"/>
          </a:p>
        </p:txBody>
      </p:sp>
      <p:sp>
        <p:nvSpPr>
          <p:cNvPr id="45060" name="Rectangle 2"/>
          <p:cNvSpPr>
            <a:spLocks noChangeArrowheads="1"/>
          </p:cNvSpPr>
          <p:nvPr/>
        </p:nvSpPr>
        <p:spPr bwMode="auto">
          <a:xfrm>
            <a:off x="1042988" y="1052513"/>
            <a:ext cx="4267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开环控制系统</a:t>
            </a:r>
          </a:p>
        </p:txBody>
      </p:sp>
      <p:sp>
        <p:nvSpPr>
          <p:cNvPr id="19459" name="Rectangle 3"/>
          <p:cNvSpPr>
            <a:spLocks noChangeArrowheads="1"/>
          </p:cNvSpPr>
          <p:nvPr/>
        </p:nvSpPr>
        <p:spPr bwMode="auto">
          <a:xfrm>
            <a:off x="827088" y="1844675"/>
            <a:ext cx="73152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solidFill>
                  <a:srgbClr val="CC0000"/>
                </a:solidFill>
                <a:latin typeface="宋体" panose="02010600030101010101" pitchFamily="2" charset="-122"/>
              </a:rPr>
              <a:t>特点</a:t>
            </a:r>
            <a:r>
              <a:rPr lang="zh-CN" altLang="en-US" sz="2800">
                <a:latin typeface="宋体" panose="02010600030101010101" pitchFamily="2" charset="-122"/>
              </a:rPr>
              <a:t>：系统仅受输入量控制；输出端和输入端</a:t>
            </a:r>
          </a:p>
          <a:p>
            <a:pPr eaLnBrk="1" hangingPunct="1">
              <a:lnSpc>
                <a:spcPct val="115000"/>
              </a:lnSpc>
            </a:pPr>
            <a:r>
              <a:rPr lang="zh-CN" altLang="en-US" sz="2800">
                <a:latin typeface="宋体" panose="02010600030101010101" pitchFamily="2" charset="-122"/>
              </a:rPr>
              <a:t>      之间不存在反馈回路；输出量在整个控</a:t>
            </a:r>
          </a:p>
          <a:p>
            <a:pPr eaLnBrk="1" hangingPunct="1">
              <a:lnSpc>
                <a:spcPct val="115000"/>
              </a:lnSpc>
            </a:pPr>
            <a:r>
              <a:rPr lang="zh-CN" altLang="en-US" sz="2800">
                <a:latin typeface="宋体" panose="02010600030101010101" pitchFamily="2" charset="-122"/>
              </a:rPr>
              <a:t>      制过程中对系统的控制不产生任何影响。</a:t>
            </a:r>
            <a:r>
              <a:rPr lang="zh-CN" altLang="en-US" sz="2800">
                <a:latin typeface="Times New Roman" panose="02020603050405020304" pitchFamily="18" charset="0"/>
              </a:rPr>
              <a:t> </a:t>
            </a:r>
          </a:p>
        </p:txBody>
      </p:sp>
      <p:pic>
        <p:nvPicPr>
          <p:cNvPr id="19476" name="Picture 2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8888" y="3644900"/>
            <a:ext cx="682625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7" name="Text Box 21"/>
          <p:cNvSpPr txBox="1">
            <a:spLocks noChangeArrowheads="1"/>
          </p:cNvSpPr>
          <p:nvPr/>
        </p:nvSpPr>
        <p:spPr bwMode="auto">
          <a:xfrm>
            <a:off x="1835150" y="5734050"/>
            <a:ext cx="51133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宋体" panose="02010600030101010101" pitchFamily="2" charset="-122"/>
              </a:rPr>
              <a:t> 数控机床</a:t>
            </a:r>
            <a:r>
              <a:rPr lang="en-US" altLang="zh-CN">
                <a:latin typeface="宋体" panose="02010600030101010101" pitchFamily="2" charset="-122"/>
              </a:rPr>
              <a:t>的开环控制系统框图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76"/>
                                        </p:tgtEl>
                                        <p:attrNameLst>
                                          <p:attrName>style.visibility</p:attrName>
                                        </p:attrNameLst>
                                      </p:cBhvr>
                                      <p:to>
                                        <p:strVal val="visible"/>
                                      </p:to>
                                    </p:set>
                                    <p:animEffect transition="in" filter="blinds(horizontal)">
                                      <p:cBhvr>
                                        <p:cTn id="7" dur="500"/>
                                        <p:tgtEl>
                                          <p:spTgt spid="1947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477"/>
                                        </p:tgtEl>
                                        <p:attrNameLst>
                                          <p:attrName>style.visibility</p:attrName>
                                        </p:attrNameLst>
                                      </p:cBhvr>
                                      <p:to>
                                        <p:strVal val="visible"/>
                                      </p:to>
                                    </p:set>
                                    <p:animEffect transition="in" filter="blinds(horizontal)">
                                      <p:cBhvr>
                                        <p:cTn id="10" dur="500"/>
                                        <p:tgtEl>
                                          <p:spTgt spid="1947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9459"/>
                                        </p:tgtEl>
                                        <p:attrNameLst>
                                          <p:attrName>style.visibility</p:attrName>
                                        </p:attrNameLst>
                                      </p:cBhvr>
                                      <p:to>
                                        <p:strVal val="visible"/>
                                      </p:to>
                                    </p:set>
                                    <p:anim calcmode="lin" valueType="num">
                                      <p:cBhvr additive="base">
                                        <p:cTn id="15" dur="500" fill="hold"/>
                                        <p:tgtEl>
                                          <p:spTgt spid="19459"/>
                                        </p:tgtEl>
                                        <p:attrNameLst>
                                          <p:attrName>ppt_x</p:attrName>
                                        </p:attrNameLst>
                                      </p:cBhvr>
                                      <p:tavLst>
                                        <p:tav tm="0">
                                          <p:val>
                                            <p:strVal val="#ppt_x"/>
                                          </p:val>
                                        </p:tav>
                                        <p:tav tm="100000">
                                          <p:val>
                                            <p:strVal val="#ppt_x"/>
                                          </p:val>
                                        </p:tav>
                                      </p:tavLst>
                                    </p:anim>
                                    <p:anim calcmode="lin" valueType="num">
                                      <p:cBhvr additive="base">
                                        <p:cTn id="16"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7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78784DF-2583-4536-BD56-3B6AB6D855E9}" type="datetime10">
              <a:rPr lang="zh-CN" altLang="en-US" smtClean="0"/>
              <a:pPr/>
              <a:t>14:02</a:t>
            </a:fld>
            <a:endParaRPr lang="zh-CN" altLang="en-US"/>
          </a:p>
        </p:txBody>
      </p:sp>
      <p:sp>
        <p:nvSpPr>
          <p:cNvPr id="47107"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9205502-EB3B-4BEE-8EE1-C01B8E70EDFC}" type="slidenum">
              <a:rPr lang="en-US" altLang="zh-CN" smtClean="0"/>
              <a:pPr/>
              <a:t>25</a:t>
            </a:fld>
            <a:endParaRPr lang="en-US" altLang="zh-CN"/>
          </a:p>
        </p:txBody>
      </p:sp>
      <p:sp>
        <p:nvSpPr>
          <p:cNvPr id="27652" name="Rectangle 2"/>
          <p:cNvSpPr>
            <a:spLocks noChangeArrowheads="1"/>
          </p:cNvSpPr>
          <p:nvPr/>
        </p:nvSpPr>
        <p:spPr bwMode="auto">
          <a:xfrm>
            <a:off x="1066800" y="1773238"/>
            <a:ext cx="73152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solidFill>
                  <a:srgbClr val="CC0000"/>
                </a:solidFill>
                <a:latin typeface="宋体" panose="02010600030101010101" pitchFamily="2" charset="-122"/>
              </a:rPr>
              <a:t>优点</a:t>
            </a:r>
            <a:r>
              <a:rPr lang="zh-CN" altLang="en-US" sz="2800">
                <a:latin typeface="宋体" panose="02010600030101010101" pitchFamily="2" charset="-122"/>
              </a:rPr>
              <a:t>：简单、稳定、可靠。若组成系统的元件</a:t>
            </a:r>
          </a:p>
          <a:p>
            <a:pPr eaLnBrk="1" hangingPunct="1">
              <a:lnSpc>
                <a:spcPct val="115000"/>
              </a:lnSpc>
            </a:pPr>
            <a:r>
              <a:rPr lang="zh-CN" altLang="en-US" sz="2800">
                <a:latin typeface="宋体" panose="02010600030101010101" pitchFamily="2" charset="-122"/>
              </a:rPr>
              <a:t>      特性和参数值比较稳定，且外界干扰较</a:t>
            </a:r>
          </a:p>
          <a:p>
            <a:pPr eaLnBrk="1" hangingPunct="1">
              <a:lnSpc>
                <a:spcPct val="115000"/>
              </a:lnSpc>
            </a:pPr>
            <a:r>
              <a:rPr lang="zh-CN" altLang="en-US" sz="2800">
                <a:latin typeface="宋体" panose="02010600030101010101" pitchFamily="2" charset="-122"/>
              </a:rPr>
              <a:t>      小，开环控制能够保持一定的精度。</a:t>
            </a:r>
          </a:p>
        </p:txBody>
      </p:sp>
      <p:sp>
        <p:nvSpPr>
          <p:cNvPr id="20483" name="Rectangle 3"/>
          <p:cNvSpPr>
            <a:spLocks noChangeArrowheads="1"/>
          </p:cNvSpPr>
          <p:nvPr/>
        </p:nvSpPr>
        <p:spPr bwMode="auto">
          <a:xfrm>
            <a:off x="1052513" y="3336925"/>
            <a:ext cx="73152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solidFill>
                  <a:srgbClr val="CC0000"/>
                </a:solidFill>
                <a:latin typeface="宋体" panose="02010600030101010101" pitchFamily="2" charset="-122"/>
              </a:rPr>
              <a:t>缺点</a:t>
            </a:r>
            <a:r>
              <a:rPr lang="zh-CN" altLang="en-US" sz="2800">
                <a:latin typeface="宋体" panose="02010600030101010101" pitchFamily="2" charset="-122"/>
              </a:rPr>
              <a:t>：有扰动时，精度不能保证，系统无自动</a:t>
            </a:r>
            <a:endParaRPr lang="en-US" altLang="zh-CN" sz="2800">
              <a:latin typeface="宋体" panose="02010600030101010101" pitchFamily="2" charset="-122"/>
            </a:endParaRPr>
          </a:p>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纠偏能力。</a:t>
            </a:r>
          </a:p>
        </p:txBody>
      </p:sp>
      <p:grpSp>
        <p:nvGrpSpPr>
          <p:cNvPr id="47110" name="Group 4"/>
          <p:cNvGrpSpPr>
            <a:grpSpLocks/>
          </p:cNvGrpSpPr>
          <p:nvPr/>
        </p:nvGrpSpPr>
        <p:grpSpPr bwMode="auto">
          <a:xfrm>
            <a:off x="1052513" y="4476750"/>
            <a:ext cx="7467600" cy="1641475"/>
            <a:chOff x="672" y="2928"/>
            <a:chExt cx="4704" cy="1034"/>
          </a:xfrm>
        </p:grpSpPr>
        <p:sp>
          <p:nvSpPr>
            <p:cNvPr id="47111" name="Rectangle 5"/>
            <p:cNvSpPr>
              <a:spLocks noChangeArrowheads="1"/>
            </p:cNvSpPr>
            <p:nvPr/>
          </p:nvSpPr>
          <p:spPr bwMode="auto">
            <a:xfrm>
              <a:off x="1632" y="2934"/>
              <a:ext cx="1152" cy="559"/>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控制器</a:t>
              </a:r>
            </a:p>
          </p:txBody>
        </p:sp>
        <p:sp>
          <p:nvSpPr>
            <p:cNvPr id="47112" name="Rectangle 6"/>
            <p:cNvSpPr>
              <a:spLocks noChangeArrowheads="1"/>
            </p:cNvSpPr>
            <p:nvPr/>
          </p:nvSpPr>
          <p:spPr bwMode="auto">
            <a:xfrm>
              <a:off x="3264" y="2928"/>
              <a:ext cx="1296" cy="559"/>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对象或过程</a:t>
              </a:r>
            </a:p>
          </p:txBody>
        </p:sp>
        <p:sp>
          <p:nvSpPr>
            <p:cNvPr id="47113" name="Line 7"/>
            <p:cNvSpPr>
              <a:spLocks noChangeShapeType="1"/>
            </p:cNvSpPr>
            <p:nvPr/>
          </p:nvSpPr>
          <p:spPr bwMode="auto">
            <a:xfrm>
              <a:off x="672" y="3205"/>
              <a:ext cx="96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4" name="Line 8"/>
            <p:cNvSpPr>
              <a:spLocks noChangeShapeType="1"/>
            </p:cNvSpPr>
            <p:nvPr/>
          </p:nvSpPr>
          <p:spPr bwMode="auto">
            <a:xfrm flipV="1">
              <a:off x="2784" y="3199"/>
              <a:ext cx="480" cy="6"/>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5" name="Line 9"/>
            <p:cNvSpPr>
              <a:spLocks noChangeShapeType="1"/>
            </p:cNvSpPr>
            <p:nvPr/>
          </p:nvSpPr>
          <p:spPr bwMode="auto">
            <a:xfrm>
              <a:off x="4560" y="3199"/>
              <a:ext cx="816"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6" name="Text Box 10"/>
            <p:cNvSpPr txBox="1">
              <a:spLocks noChangeArrowheads="1"/>
            </p:cNvSpPr>
            <p:nvPr/>
          </p:nvSpPr>
          <p:spPr bwMode="auto">
            <a:xfrm>
              <a:off x="768" y="2928"/>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输入量</a:t>
              </a:r>
            </a:p>
          </p:txBody>
        </p:sp>
        <p:sp>
          <p:nvSpPr>
            <p:cNvPr id="47117" name="Text Box 11"/>
            <p:cNvSpPr txBox="1">
              <a:spLocks noChangeArrowheads="1"/>
            </p:cNvSpPr>
            <p:nvPr/>
          </p:nvSpPr>
          <p:spPr bwMode="auto">
            <a:xfrm>
              <a:off x="4608" y="2928"/>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输出量</a:t>
              </a:r>
            </a:p>
          </p:txBody>
        </p:sp>
        <p:sp>
          <p:nvSpPr>
            <p:cNvPr id="47118" name="Text Box 12"/>
            <p:cNvSpPr txBox="1">
              <a:spLocks noChangeArrowheads="1"/>
            </p:cNvSpPr>
            <p:nvPr/>
          </p:nvSpPr>
          <p:spPr bwMode="auto">
            <a:xfrm>
              <a:off x="2140" y="3674"/>
              <a:ext cx="16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开环控制系统框图</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0483"/>
                                        </p:tgtEl>
                                        <p:attrNameLst>
                                          <p:attrName>style.visibility</p:attrName>
                                        </p:attrNameLst>
                                      </p:cBhvr>
                                      <p:to>
                                        <p:strVal val="visible"/>
                                      </p:to>
                                    </p:set>
                                    <p:anim calcmode="lin" valueType="num">
                                      <p:cBhvr additive="base">
                                        <p:cTn id="11" dur="500" fill="hold"/>
                                        <p:tgtEl>
                                          <p:spTgt spid="20483"/>
                                        </p:tgtEl>
                                        <p:attrNameLst>
                                          <p:attrName>ppt_x</p:attrName>
                                        </p:attrNameLst>
                                      </p:cBhvr>
                                      <p:tavLst>
                                        <p:tav tm="0">
                                          <p:val>
                                            <p:strVal val="#ppt_x"/>
                                          </p:val>
                                        </p:tav>
                                        <p:tav tm="100000">
                                          <p:val>
                                            <p:strVal val="#ppt_x"/>
                                          </p:val>
                                        </p:tav>
                                      </p:tavLst>
                                    </p:anim>
                                    <p:anim calcmode="lin" valueType="num">
                                      <p:cBhvr additive="base">
                                        <p:cTn id="12"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048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94C9BD9-C0DB-4E70-8D26-508877DAB27A}" type="datetime10">
              <a:rPr lang="zh-CN" altLang="en-US" smtClean="0"/>
              <a:pPr/>
              <a:t>14:02</a:t>
            </a:fld>
            <a:endParaRPr lang="zh-CN" altLang="en-US"/>
          </a:p>
        </p:txBody>
      </p:sp>
      <p:sp>
        <p:nvSpPr>
          <p:cNvPr id="49155"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3E40A9E-D264-4CE6-89EA-F46935345D0C}" type="slidenum">
              <a:rPr lang="en-US" altLang="zh-CN" smtClean="0"/>
              <a:pPr/>
              <a:t>26</a:t>
            </a:fld>
            <a:endParaRPr lang="en-US" altLang="zh-CN"/>
          </a:p>
        </p:txBody>
      </p:sp>
      <p:grpSp>
        <p:nvGrpSpPr>
          <p:cNvPr id="49156" name="组合 2"/>
          <p:cNvGrpSpPr>
            <a:grpSpLocks/>
          </p:cNvGrpSpPr>
          <p:nvPr/>
        </p:nvGrpSpPr>
        <p:grpSpPr bwMode="auto">
          <a:xfrm>
            <a:off x="0" y="488950"/>
            <a:ext cx="9144000" cy="5657850"/>
            <a:chOff x="0" y="488950"/>
            <a:chExt cx="9144000" cy="5657850"/>
          </a:xfrm>
        </p:grpSpPr>
        <p:pic>
          <p:nvPicPr>
            <p:cNvPr id="491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88950"/>
              <a:ext cx="9144000" cy="5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8" name="文本框 1"/>
            <p:cNvSpPr txBox="1">
              <a:spLocks noChangeArrowheads="1"/>
            </p:cNvSpPr>
            <p:nvPr/>
          </p:nvSpPr>
          <p:spPr bwMode="auto">
            <a:xfrm>
              <a:off x="3131840" y="5733256"/>
              <a:ext cx="8640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171CEC-0D8A-4831-BBB7-15DCE30CDEDB}" type="datetime10">
              <a:rPr lang="zh-CN" altLang="en-US" smtClean="0"/>
              <a:pPr/>
              <a:t>14:02</a:t>
            </a:fld>
            <a:endParaRPr lang="zh-CN" altLang="en-US"/>
          </a:p>
        </p:txBody>
      </p:sp>
      <p:sp>
        <p:nvSpPr>
          <p:cNvPr id="5017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8CE4A44-D0B5-43E9-BCA6-826CF2773AFF}" type="slidenum">
              <a:rPr lang="en-US" altLang="zh-CN" smtClean="0"/>
              <a:pPr/>
              <a:t>27</a:t>
            </a:fld>
            <a:endParaRPr lang="en-US" altLang="zh-CN"/>
          </a:p>
        </p:txBody>
      </p:sp>
      <p:sp>
        <p:nvSpPr>
          <p:cNvPr id="50180" name="Rectangle 2"/>
          <p:cNvSpPr>
            <a:spLocks noChangeArrowheads="1"/>
          </p:cNvSpPr>
          <p:nvPr/>
        </p:nvSpPr>
        <p:spPr bwMode="auto">
          <a:xfrm>
            <a:off x="1042988" y="1052513"/>
            <a:ext cx="4267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闭环控制系统</a:t>
            </a:r>
          </a:p>
        </p:txBody>
      </p:sp>
      <p:sp>
        <p:nvSpPr>
          <p:cNvPr id="21507" name="Rectangle 3"/>
          <p:cNvSpPr>
            <a:spLocks noChangeArrowheads="1"/>
          </p:cNvSpPr>
          <p:nvPr/>
        </p:nvSpPr>
        <p:spPr bwMode="auto">
          <a:xfrm>
            <a:off x="900113" y="1844675"/>
            <a:ext cx="73152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solidFill>
                  <a:srgbClr val="CC0000"/>
                </a:solidFill>
                <a:latin typeface="宋体" panose="02010600030101010101" pitchFamily="2" charset="-122"/>
              </a:rPr>
              <a:t>特点</a:t>
            </a:r>
            <a:r>
              <a:rPr lang="zh-CN" altLang="en-US" sz="2800">
                <a:latin typeface="宋体" panose="02010600030101010101" pitchFamily="2" charset="-122"/>
              </a:rPr>
              <a:t>：输出端和输入端之间存在反馈回路，输</a:t>
            </a:r>
          </a:p>
          <a:p>
            <a:pPr eaLnBrk="1" hangingPunct="1">
              <a:lnSpc>
                <a:spcPct val="115000"/>
              </a:lnSpc>
            </a:pPr>
            <a:r>
              <a:rPr lang="zh-CN" altLang="en-US" sz="2800">
                <a:latin typeface="宋体" panose="02010600030101010101" pitchFamily="2" charset="-122"/>
              </a:rPr>
              <a:t>      出量对控制过程有直接影响。</a:t>
            </a:r>
          </a:p>
          <a:p>
            <a:pPr eaLnBrk="1" hangingPunct="1">
              <a:lnSpc>
                <a:spcPct val="115000"/>
              </a:lnSpc>
            </a:pPr>
            <a:r>
              <a:rPr lang="zh-CN" altLang="en-US" sz="2800">
                <a:latin typeface="宋体" panose="02010600030101010101" pitchFamily="2" charset="-122"/>
              </a:rPr>
              <a:t>      闭环的作用：应用反馈，减少偏差。 </a:t>
            </a:r>
          </a:p>
        </p:txBody>
      </p:sp>
      <p:sp>
        <p:nvSpPr>
          <p:cNvPr id="21508" name="Rectangle 4"/>
          <p:cNvSpPr>
            <a:spLocks noChangeArrowheads="1"/>
          </p:cNvSpPr>
          <p:nvPr/>
        </p:nvSpPr>
        <p:spPr bwMode="auto">
          <a:xfrm>
            <a:off x="900113" y="3444875"/>
            <a:ext cx="7315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solidFill>
                  <a:srgbClr val="CC0000"/>
                </a:solidFill>
                <a:latin typeface="宋体" panose="02010600030101010101" pitchFamily="2" charset="-122"/>
              </a:rPr>
              <a:t>优点</a:t>
            </a:r>
            <a:r>
              <a:rPr lang="zh-CN" altLang="en-US" sz="2800">
                <a:latin typeface="宋体" panose="02010600030101010101" pitchFamily="2" charset="-122"/>
              </a:rPr>
              <a:t>：精度高，对外部扰动和系统参数变化不</a:t>
            </a:r>
          </a:p>
          <a:p>
            <a:pPr eaLnBrk="1" hangingPunct="1">
              <a:lnSpc>
                <a:spcPct val="115000"/>
              </a:lnSpc>
            </a:pPr>
            <a:r>
              <a:rPr lang="zh-CN" altLang="en-US" sz="2800">
                <a:latin typeface="宋体" panose="02010600030101010101" pitchFamily="2" charset="-122"/>
              </a:rPr>
              <a:t>      敏感 </a:t>
            </a:r>
          </a:p>
        </p:txBody>
      </p:sp>
      <p:sp>
        <p:nvSpPr>
          <p:cNvPr id="21509" name="Rectangle 5"/>
          <p:cNvSpPr>
            <a:spLocks noChangeArrowheads="1"/>
          </p:cNvSpPr>
          <p:nvPr/>
        </p:nvSpPr>
        <p:spPr bwMode="auto">
          <a:xfrm>
            <a:off x="900113" y="4581525"/>
            <a:ext cx="7315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solidFill>
                  <a:srgbClr val="CC0000"/>
                </a:solidFill>
                <a:latin typeface="宋体" panose="02010600030101010101" pitchFamily="2" charset="-122"/>
              </a:rPr>
              <a:t>缺点</a:t>
            </a:r>
            <a:r>
              <a:rPr lang="zh-CN" altLang="en-US" sz="2800">
                <a:latin typeface="宋体" panose="02010600030101010101" pitchFamily="2" charset="-122"/>
              </a:rPr>
              <a:t>：存在稳定、振荡、超调等问题，系统性</a:t>
            </a:r>
          </a:p>
          <a:p>
            <a:pPr eaLnBrk="1" hangingPunct="1">
              <a:lnSpc>
                <a:spcPct val="115000"/>
              </a:lnSpc>
            </a:pPr>
            <a:r>
              <a:rPr lang="zh-CN" altLang="en-US" sz="2800">
                <a:latin typeface="宋体" panose="02010600030101010101" pitchFamily="2" charset="-122"/>
              </a:rPr>
              <a:t>      能分析和设计麻烦。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ppt_x"/>
                                          </p:val>
                                        </p:tav>
                                        <p:tav tm="100000">
                                          <p:val>
                                            <p:strVal val="#ppt_x"/>
                                          </p:val>
                                        </p:tav>
                                      </p:tavLst>
                                    </p:anim>
                                    <p:anim calcmode="lin" valueType="num">
                                      <p:cBhvr additive="base">
                                        <p:cTn id="8"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8"/>
                                        </p:tgtEl>
                                        <p:attrNameLst>
                                          <p:attrName>style.visibility</p:attrName>
                                        </p:attrNameLst>
                                      </p:cBhvr>
                                      <p:to>
                                        <p:strVal val="visible"/>
                                      </p:to>
                                    </p:set>
                                    <p:anim calcmode="lin" valueType="num">
                                      <p:cBhvr additive="base">
                                        <p:cTn id="13" dur="500" fill="hold"/>
                                        <p:tgtEl>
                                          <p:spTgt spid="21508"/>
                                        </p:tgtEl>
                                        <p:attrNameLst>
                                          <p:attrName>ppt_x</p:attrName>
                                        </p:attrNameLst>
                                      </p:cBhvr>
                                      <p:tavLst>
                                        <p:tav tm="0">
                                          <p:val>
                                            <p:strVal val="#ppt_x"/>
                                          </p:val>
                                        </p:tav>
                                        <p:tav tm="100000">
                                          <p:val>
                                            <p:strVal val="#ppt_x"/>
                                          </p:val>
                                        </p:tav>
                                      </p:tavLst>
                                    </p:anim>
                                    <p:anim calcmode="lin" valueType="num">
                                      <p:cBhvr additive="base">
                                        <p:cTn id="14"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9"/>
                                        </p:tgtEl>
                                        <p:attrNameLst>
                                          <p:attrName>style.visibility</p:attrName>
                                        </p:attrNameLst>
                                      </p:cBhvr>
                                      <p:to>
                                        <p:strVal val="visible"/>
                                      </p:to>
                                    </p:set>
                                    <p:anim calcmode="lin" valueType="num">
                                      <p:cBhvr additive="base">
                                        <p:cTn id="19" dur="500" fill="hold"/>
                                        <p:tgtEl>
                                          <p:spTgt spid="21509"/>
                                        </p:tgtEl>
                                        <p:attrNameLst>
                                          <p:attrName>ppt_x</p:attrName>
                                        </p:attrNameLst>
                                      </p:cBhvr>
                                      <p:tavLst>
                                        <p:tav tm="0">
                                          <p:val>
                                            <p:strVal val="#ppt_x"/>
                                          </p:val>
                                        </p:tav>
                                        <p:tav tm="100000">
                                          <p:val>
                                            <p:strVal val="#ppt_x"/>
                                          </p:val>
                                        </p:tav>
                                      </p:tavLst>
                                    </p:anim>
                                    <p:anim calcmode="lin" valueType="num">
                                      <p:cBhvr additive="base">
                                        <p:cTn id="20"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08" grpId="0"/>
      <p:bldP spid="2150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73BFBBF-1034-4D13-977B-04B07308A5B0}" type="datetime10">
              <a:rPr lang="zh-CN" altLang="en-US" smtClean="0"/>
              <a:pPr/>
              <a:t>14:02</a:t>
            </a:fld>
            <a:endParaRPr lang="zh-CN" altLang="en-US"/>
          </a:p>
        </p:txBody>
      </p:sp>
      <p:sp>
        <p:nvSpPr>
          <p:cNvPr id="52227"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B4FA395-50AD-42C2-9232-D9629B7184CF}" type="slidenum">
              <a:rPr lang="en-US" altLang="zh-CN" smtClean="0"/>
              <a:pPr/>
              <a:t>28</a:t>
            </a:fld>
            <a:endParaRPr lang="en-US" altLang="zh-CN"/>
          </a:p>
        </p:txBody>
      </p:sp>
      <p:grpSp>
        <p:nvGrpSpPr>
          <p:cNvPr id="2" name="Group 2"/>
          <p:cNvGrpSpPr>
            <a:grpSpLocks/>
          </p:cNvGrpSpPr>
          <p:nvPr/>
        </p:nvGrpSpPr>
        <p:grpSpPr bwMode="auto">
          <a:xfrm>
            <a:off x="971550" y="3429000"/>
            <a:ext cx="7162800" cy="2613025"/>
            <a:chOff x="672" y="1248"/>
            <a:chExt cx="4512" cy="1921"/>
          </a:xfrm>
        </p:grpSpPr>
        <p:sp>
          <p:nvSpPr>
            <p:cNvPr id="52230" name="Rectangle 3"/>
            <p:cNvSpPr>
              <a:spLocks noChangeArrowheads="1"/>
            </p:cNvSpPr>
            <p:nvPr/>
          </p:nvSpPr>
          <p:spPr bwMode="auto">
            <a:xfrm>
              <a:off x="1536" y="1296"/>
              <a:ext cx="932" cy="576"/>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控制元件</a:t>
              </a:r>
            </a:p>
          </p:txBody>
        </p:sp>
        <p:sp>
          <p:nvSpPr>
            <p:cNvPr id="52231" name="Rectangle 4"/>
            <p:cNvSpPr>
              <a:spLocks noChangeArrowheads="1"/>
            </p:cNvSpPr>
            <p:nvPr/>
          </p:nvSpPr>
          <p:spPr bwMode="auto">
            <a:xfrm>
              <a:off x="3236" y="1296"/>
              <a:ext cx="1132" cy="576"/>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对象或过程</a:t>
              </a:r>
            </a:p>
          </p:txBody>
        </p:sp>
        <p:sp>
          <p:nvSpPr>
            <p:cNvPr id="52232" name="Line 5"/>
            <p:cNvSpPr>
              <a:spLocks noChangeShapeType="1"/>
            </p:cNvSpPr>
            <p:nvPr/>
          </p:nvSpPr>
          <p:spPr bwMode="auto">
            <a:xfrm>
              <a:off x="672" y="1584"/>
              <a:ext cx="864"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3" name="Line 6"/>
            <p:cNvSpPr>
              <a:spLocks noChangeShapeType="1"/>
            </p:cNvSpPr>
            <p:nvPr/>
          </p:nvSpPr>
          <p:spPr bwMode="auto">
            <a:xfrm>
              <a:off x="2468" y="1584"/>
              <a:ext cx="76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4" name="Line 7"/>
            <p:cNvSpPr>
              <a:spLocks noChangeShapeType="1"/>
            </p:cNvSpPr>
            <p:nvPr/>
          </p:nvSpPr>
          <p:spPr bwMode="auto">
            <a:xfrm>
              <a:off x="4368" y="1584"/>
              <a:ext cx="816"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5" name="Text Box 8"/>
            <p:cNvSpPr txBox="1">
              <a:spLocks noChangeArrowheads="1"/>
            </p:cNvSpPr>
            <p:nvPr/>
          </p:nvSpPr>
          <p:spPr bwMode="auto">
            <a:xfrm>
              <a:off x="748" y="1248"/>
              <a:ext cx="69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输入量</a:t>
              </a:r>
            </a:p>
          </p:txBody>
        </p:sp>
        <p:sp>
          <p:nvSpPr>
            <p:cNvPr id="52236" name="Text Box 9"/>
            <p:cNvSpPr txBox="1">
              <a:spLocks noChangeArrowheads="1"/>
            </p:cNvSpPr>
            <p:nvPr/>
          </p:nvSpPr>
          <p:spPr bwMode="auto">
            <a:xfrm>
              <a:off x="4464" y="1248"/>
              <a:ext cx="69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输出量</a:t>
              </a:r>
            </a:p>
          </p:txBody>
        </p:sp>
        <p:sp>
          <p:nvSpPr>
            <p:cNvPr id="52237" name="Rectangle 10"/>
            <p:cNvSpPr>
              <a:spLocks noChangeArrowheads="1"/>
            </p:cNvSpPr>
            <p:nvPr/>
          </p:nvSpPr>
          <p:spPr bwMode="auto">
            <a:xfrm>
              <a:off x="2784" y="2160"/>
              <a:ext cx="1008" cy="576"/>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rPr>
                <a:t>测量元件</a:t>
              </a:r>
            </a:p>
          </p:txBody>
        </p:sp>
        <p:sp>
          <p:nvSpPr>
            <p:cNvPr id="52238" name="Line 11"/>
            <p:cNvSpPr>
              <a:spLocks noChangeShapeType="1"/>
            </p:cNvSpPr>
            <p:nvPr/>
          </p:nvSpPr>
          <p:spPr bwMode="auto">
            <a:xfrm flipH="1">
              <a:off x="3792" y="2448"/>
              <a:ext cx="100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9" name="Line 12"/>
            <p:cNvSpPr>
              <a:spLocks noChangeShapeType="1"/>
            </p:cNvSpPr>
            <p:nvPr/>
          </p:nvSpPr>
          <p:spPr bwMode="auto">
            <a:xfrm flipV="1">
              <a:off x="2016" y="1872"/>
              <a:ext cx="0" cy="576"/>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0" name="Line 13"/>
            <p:cNvSpPr>
              <a:spLocks noChangeShapeType="1"/>
            </p:cNvSpPr>
            <p:nvPr/>
          </p:nvSpPr>
          <p:spPr bwMode="auto">
            <a:xfrm>
              <a:off x="2016" y="2448"/>
              <a:ext cx="76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1" name="Line 14"/>
            <p:cNvSpPr>
              <a:spLocks noChangeShapeType="1"/>
            </p:cNvSpPr>
            <p:nvPr/>
          </p:nvSpPr>
          <p:spPr bwMode="auto">
            <a:xfrm flipV="1">
              <a:off x="4800" y="1584"/>
              <a:ext cx="0" cy="86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2" name="Text Box 15"/>
            <p:cNvSpPr txBox="1">
              <a:spLocks noChangeArrowheads="1"/>
            </p:cNvSpPr>
            <p:nvPr/>
          </p:nvSpPr>
          <p:spPr bwMode="auto">
            <a:xfrm>
              <a:off x="2236" y="2833"/>
              <a:ext cx="165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闭环控制系统框图</a:t>
              </a:r>
            </a:p>
          </p:txBody>
        </p:sp>
        <p:sp>
          <p:nvSpPr>
            <p:cNvPr id="52243" name="Text Box 16"/>
            <p:cNvSpPr txBox="1">
              <a:spLocks noChangeArrowheads="1"/>
            </p:cNvSpPr>
            <p:nvPr/>
          </p:nvSpPr>
          <p:spPr bwMode="auto">
            <a:xfrm>
              <a:off x="1996" y="2016"/>
              <a:ext cx="69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反馈量</a:t>
              </a:r>
            </a:p>
          </p:txBody>
        </p:sp>
      </p:grpSp>
      <p:pic>
        <p:nvPicPr>
          <p:cNvPr id="22547"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76250"/>
            <a:ext cx="7011987"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ppt_w*0.70"/>
                                          </p:val>
                                        </p:tav>
                                        <p:tav tm="100000">
                                          <p:val>
                                            <p:strVal val="#ppt_w"/>
                                          </p:val>
                                        </p:tav>
                                      </p:tavLst>
                                    </p:anim>
                                    <p:anim calcmode="lin" valueType="num">
                                      <p:cBhvr>
                                        <p:cTn id="12" dur="1000" fill="hold"/>
                                        <p:tgtEl>
                                          <p:spTgt spid="2"/>
                                        </p:tgtEl>
                                        <p:attrNameLst>
                                          <p:attrName>ppt_h</p:attrName>
                                        </p:attrNameLst>
                                      </p:cBhvr>
                                      <p:tavLst>
                                        <p:tav tm="0">
                                          <p:val>
                                            <p:strVal val="#ppt_h"/>
                                          </p:val>
                                        </p:tav>
                                        <p:tav tm="100000">
                                          <p:val>
                                            <p:strVal val="#ppt_h"/>
                                          </p:val>
                                        </p:tav>
                                      </p:tavLst>
                                    </p:anim>
                                    <p:animEffect transition="in" filter="fade">
                                      <p:cBhvr>
                                        <p:cTn id="1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DF7D475-B1D8-4B2E-A8C1-7E3ADD82FB1E}" type="datetime10">
              <a:rPr lang="zh-CN" altLang="en-US" smtClean="0"/>
              <a:pPr/>
              <a:t>14:02</a:t>
            </a:fld>
            <a:endParaRPr lang="zh-CN" altLang="en-US"/>
          </a:p>
        </p:txBody>
      </p:sp>
      <p:sp>
        <p:nvSpPr>
          <p:cNvPr id="54275"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A433C79-B827-42EA-BA36-8726D2854B3B}" type="slidenum">
              <a:rPr lang="en-US" altLang="zh-CN" smtClean="0"/>
              <a:pPr/>
              <a:t>29</a:t>
            </a:fld>
            <a:endParaRPr lang="en-US" altLang="zh-CN"/>
          </a:p>
        </p:txBody>
      </p:sp>
      <p:grpSp>
        <p:nvGrpSpPr>
          <p:cNvPr id="54276" name="组合 2"/>
          <p:cNvGrpSpPr>
            <a:grpSpLocks/>
          </p:cNvGrpSpPr>
          <p:nvPr/>
        </p:nvGrpSpPr>
        <p:grpSpPr bwMode="auto">
          <a:xfrm>
            <a:off x="323850" y="1588"/>
            <a:ext cx="8135938" cy="6316662"/>
            <a:chOff x="323850" y="1588"/>
            <a:chExt cx="8135938" cy="6317311"/>
          </a:xfrm>
        </p:grpSpPr>
        <p:pic>
          <p:nvPicPr>
            <p:cNvPr id="5427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588"/>
              <a:ext cx="8135938" cy="624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文本框 1"/>
            <p:cNvSpPr txBox="1">
              <a:spLocks noChangeArrowheads="1"/>
            </p:cNvSpPr>
            <p:nvPr/>
          </p:nvSpPr>
          <p:spPr bwMode="auto">
            <a:xfrm>
              <a:off x="3131840" y="5949567"/>
              <a:ext cx="72008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40522A9-B27A-4B17-B7C6-7C2CA5F45C18}" type="datetime10">
              <a:rPr lang="zh-CN" altLang="en-US" smtClean="0"/>
              <a:pPr/>
              <a:t>14:02</a:t>
            </a:fld>
            <a:endParaRPr lang="zh-CN" altLang="en-US"/>
          </a:p>
        </p:txBody>
      </p:sp>
      <p:sp>
        <p:nvSpPr>
          <p:cNvPr id="5529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BE52539-F5DB-4A4A-A9C5-B9B7758D8A35}" type="slidenum">
              <a:rPr lang="en-US" altLang="zh-CN" smtClean="0"/>
              <a:pPr/>
              <a:t>30</a:t>
            </a:fld>
            <a:endParaRPr lang="en-US" altLang="zh-CN"/>
          </a:p>
        </p:txBody>
      </p:sp>
      <p:sp>
        <p:nvSpPr>
          <p:cNvPr id="101380" name="Rectangle 4"/>
          <p:cNvSpPr>
            <a:spLocks noChangeArrowheads="1"/>
          </p:cNvSpPr>
          <p:nvPr/>
        </p:nvSpPr>
        <p:spPr bwMode="auto">
          <a:xfrm>
            <a:off x="827088" y="333375"/>
            <a:ext cx="4267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半</a:t>
            </a:r>
            <a:r>
              <a:rPr lang="zh-CN" altLang="en-US" sz="2800">
                <a:latin typeface="宋体" panose="02010600030101010101" pitchFamily="2" charset="-122"/>
              </a:rPr>
              <a:t>闭环控制系统</a:t>
            </a:r>
          </a:p>
        </p:txBody>
      </p:sp>
      <p:sp>
        <p:nvSpPr>
          <p:cNvPr id="101381" name="Rectangle 5"/>
          <p:cNvSpPr>
            <a:spLocks noChangeArrowheads="1"/>
          </p:cNvSpPr>
          <p:nvPr/>
        </p:nvSpPr>
        <p:spPr bwMode="auto">
          <a:xfrm>
            <a:off x="684213" y="981075"/>
            <a:ext cx="770572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solidFill>
                  <a:srgbClr val="CC0000"/>
                </a:solidFill>
                <a:latin typeface="宋体" panose="02010600030101010101" pitchFamily="2" charset="-122"/>
              </a:rPr>
              <a:t>特点</a:t>
            </a:r>
            <a:r>
              <a:rPr lang="zh-CN" altLang="en-US" sz="2800">
                <a:latin typeface="宋体" panose="02010600030101010101" pitchFamily="2" charset="-122"/>
              </a:rPr>
              <a:t>：反馈信号通过系统内部的中间信号获得。</a:t>
            </a:r>
          </a:p>
        </p:txBody>
      </p:sp>
      <p:pic>
        <p:nvPicPr>
          <p:cNvPr id="101382"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0113" y="1628775"/>
            <a:ext cx="734377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3" name="Text Box 7"/>
          <p:cNvSpPr txBox="1">
            <a:spLocks noChangeArrowheads="1"/>
          </p:cNvSpPr>
          <p:nvPr/>
        </p:nvSpPr>
        <p:spPr bwMode="auto">
          <a:xfrm>
            <a:off x="2916238" y="4221163"/>
            <a:ext cx="36004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b="1">
                <a:latin typeface="宋体" panose="02010600030101010101" pitchFamily="2" charset="-122"/>
                <a:sym typeface="宋体" panose="02010600030101010101" pitchFamily="2" charset="-122"/>
              </a:rPr>
              <a:t>  </a:t>
            </a:r>
            <a:r>
              <a:rPr lang="zh-CN" altLang="en-US" sz="1600" b="1">
                <a:latin typeface="宋体" panose="02010600030101010101" pitchFamily="2" charset="-122"/>
                <a:sym typeface="宋体" panose="02010600030101010101" pitchFamily="2" charset="-122"/>
              </a:rPr>
              <a:t>半闭环控制系统框图</a:t>
            </a:r>
            <a:endParaRPr lang="zh-CN" altLang="en-US" sz="1600">
              <a:latin typeface="Arial" panose="020B0604020202020204" pitchFamily="34" charset="0"/>
              <a:ea typeface="华文细黑" panose="02010600040101010101" pitchFamily="2" charset="-122"/>
            </a:endParaRPr>
          </a:p>
        </p:txBody>
      </p:sp>
      <p:sp>
        <p:nvSpPr>
          <p:cNvPr id="101384" name="Rectangle 8"/>
          <p:cNvSpPr>
            <a:spLocks noChangeArrowheads="1"/>
          </p:cNvSpPr>
          <p:nvPr/>
        </p:nvSpPr>
        <p:spPr bwMode="auto">
          <a:xfrm>
            <a:off x="755650" y="4724400"/>
            <a:ext cx="7632700"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en-US" altLang="zh-CN"/>
              <a:t>    </a:t>
            </a:r>
            <a:r>
              <a:rPr lang="zh-CN" altLang="en-US"/>
              <a:t>这种控制系统不是直接测量工作台的位移量，而是通过角位移测量元件，测量伺服机构中电动机或丝杠的转角，来间接测量工作台的位移。这种系统中滚珠丝杠螺母副和工作台均在反馈环路之外，其传动误差等仍会影响工作台的位置精度，故称为半闭环控制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380"/>
                                        </p:tgtEl>
                                        <p:attrNameLst>
                                          <p:attrName>style.visibility</p:attrName>
                                        </p:attrNameLst>
                                      </p:cBhvr>
                                      <p:to>
                                        <p:strVal val="visible"/>
                                      </p:to>
                                    </p:set>
                                    <p:anim calcmode="lin" valueType="num">
                                      <p:cBhvr additive="base">
                                        <p:cTn id="7" dur="500" fill="hold"/>
                                        <p:tgtEl>
                                          <p:spTgt spid="101380"/>
                                        </p:tgtEl>
                                        <p:attrNameLst>
                                          <p:attrName>ppt_x</p:attrName>
                                        </p:attrNameLst>
                                      </p:cBhvr>
                                      <p:tavLst>
                                        <p:tav tm="0">
                                          <p:val>
                                            <p:strVal val="#ppt_x"/>
                                          </p:val>
                                        </p:tav>
                                        <p:tav tm="100000">
                                          <p:val>
                                            <p:strVal val="#ppt_x"/>
                                          </p:val>
                                        </p:tav>
                                      </p:tavLst>
                                    </p:anim>
                                    <p:anim calcmode="lin" valueType="num">
                                      <p:cBhvr additive="base">
                                        <p:cTn id="8" dur="500" fill="hold"/>
                                        <p:tgtEl>
                                          <p:spTgt spid="10138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1381"/>
                                        </p:tgtEl>
                                        <p:attrNameLst>
                                          <p:attrName>style.visibility</p:attrName>
                                        </p:attrNameLst>
                                      </p:cBhvr>
                                      <p:to>
                                        <p:strVal val="visible"/>
                                      </p:to>
                                    </p:set>
                                    <p:anim calcmode="lin" valueType="num">
                                      <p:cBhvr additive="base">
                                        <p:cTn id="13" dur="500" fill="hold"/>
                                        <p:tgtEl>
                                          <p:spTgt spid="101381"/>
                                        </p:tgtEl>
                                        <p:attrNameLst>
                                          <p:attrName>ppt_x</p:attrName>
                                        </p:attrNameLst>
                                      </p:cBhvr>
                                      <p:tavLst>
                                        <p:tav tm="0">
                                          <p:val>
                                            <p:strVal val="#ppt_x"/>
                                          </p:val>
                                        </p:tav>
                                        <p:tav tm="100000">
                                          <p:val>
                                            <p:strVal val="#ppt_x"/>
                                          </p:val>
                                        </p:tav>
                                      </p:tavLst>
                                    </p:anim>
                                    <p:anim calcmode="lin" valueType="num">
                                      <p:cBhvr additive="base">
                                        <p:cTn id="14" dur="500" fill="hold"/>
                                        <p:tgtEl>
                                          <p:spTgt spid="10138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101382"/>
                                        </p:tgtEl>
                                        <p:attrNameLst>
                                          <p:attrName>style.visibility</p:attrName>
                                        </p:attrNameLst>
                                      </p:cBhvr>
                                      <p:to>
                                        <p:strVal val="visible"/>
                                      </p:to>
                                    </p:set>
                                    <p:animEffect transition="in" filter="blinds(horizontal)">
                                      <p:cBhvr>
                                        <p:cTn id="19" dur="500"/>
                                        <p:tgtEl>
                                          <p:spTgt spid="10138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1383"/>
                                        </p:tgtEl>
                                        <p:attrNameLst>
                                          <p:attrName>style.visibility</p:attrName>
                                        </p:attrNameLst>
                                      </p:cBhvr>
                                      <p:to>
                                        <p:strVal val="visible"/>
                                      </p:to>
                                    </p:set>
                                    <p:animEffect transition="in" filter="blinds(horizontal)">
                                      <p:cBhvr>
                                        <p:cTn id="22" dur="500"/>
                                        <p:tgtEl>
                                          <p:spTgt spid="1013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101384"/>
                                        </p:tgtEl>
                                        <p:attrNameLst>
                                          <p:attrName>style.visibility</p:attrName>
                                        </p:attrNameLst>
                                      </p:cBhvr>
                                      <p:to>
                                        <p:strVal val="visible"/>
                                      </p:to>
                                    </p:set>
                                    <p:anim calcmode="lin" valueType="num">
                                      <p:cBhvr>
                                        <p:cTn id="27" dur="1000" fill="hold"/>
                                        <p:tgtEl>
                                          <p:spTgt spid="101384"/>
                                        </p:tgtEl>
                                        <p:attrNameLst>
                                          <p:attrName>ppt_w</p:attrName>
                                        </p:attrNameLst>
                                      </p:cBhvr>
                                      <p:tavLst>
                                        <p:tav tm="0">
                                          <p:val>
                                            <p:strVal val="#ppt_w*0.70"/>
                                          </p:val>
                                        </p:tav>
                                        <p:tav tm="100000">
                                          <p:val>
                                            <p:strVal val="#ppt_w"/>
                                          </p:val>
                                        </p:tav>
                                      </p:tavLst>
                                    </p:anim>
                                    <p:anim calcmode="lin" valueType="num">
                                      <p:cBhvr>
                                        <p:cTn id="28" dur="1000" fill="hold"/>
                                        <p:tgtEl>
                                          <p:spTgt spid="101384"/>
                                        </p:tgtEl>
                                        <p:attrNameLst>
                                          <p:attrName>ppt_h</p:attrName>
                                        </p:attrNameLst>
                                      </p:cBhvr>
                                      <p:tavLst>
                                        <p:tav tm="0">
                                          <p:val>
                                            <p:strVal val="#ppt_h"/>
                                          </p:val>
                                        </p:tav>
                                        <p:tav tm="100000">
                                          <p:val>
                                            <p:strVal val="#ppt_h"/>
                                          </p:val>
                                        </p:tav>
                                      </p:tavLst>
                                    </p:anim>
                                    <p:animEffect transition="in" filter="fade">
                                      <p:cBhvr>
                                        <p:cTn id="29" dur="1000"/>
                                        <p:tgtEl>
                                          <p:spTgt spid="101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p:bldP spid="101381" grpId="0"/>
      <p:bldP spid="101383" grpId="0"/>
      <p:bldP spid="10138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B06AB01-2147-4E57-816F-2A6CF81E41EC}" type="datetime10">
              <a:rPr lang="zh-CN" altLang="en-US" smtClean="0"/>
              <a:pPr/>
              <a:t>14:02</a:t>
            </a:fld>
            <a:endParaRPr lang="zh-CN" altLang="en-US"/>
          </a:p>
        </p:txBody>
      </p:sp>
      <p:sp>
        <p:nvSpPr>
          <p:cNvPr id="5837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9BB51F1-C2DD-4649-889A-D6A06D521D06}" type="slidenum">
              <a:rPr lang="en-US" altLang="zh-CN" smtClean="0"/>
              <a:pPr/>
              <a:t>31</a:t>
            </a:fld>
            <a:endParaRPr lang="en-US" altLang="zh-CN"/>
          </a:p>
        </p:txBody>
      </p:sp>
      <p:sp>
        <p:nvSpPr>
          <p:cNvPr id="58372" name="Rectangle 2"/>
          <p:cNvSpPr>
            <a:spLocks noChangeArrowheads="1"/>
          </p:cNvSpPr>
          <p:nvPr/>
        </p:nvSpPr>
        <p:spPr bwMode="auto">
          <a:xfrm>
            <a:off x="611188" y="476250"/>
            <a:ext cx="4492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反馈控制系统的基本组成</a:t>
            </a:r>
            <a:endParaRPr lang="zh-CN" altLang="en-US" sz="2800" b="1">
              <a:latin typeface="Times New Roman" panose="02020603050405020304" pitchFamily="18" charset="0"/>
            </a:endParaRPr>
          </a:p>
        </p:txBody>
      </p:sp>
      <p:grpSp>
        <p:nvGrpSpPr>
          <p:cNvPr id="2" name="Group 3"/>
          <p:cNvGrpSpPr>
            <a:grpSpLocks/>
          </p:cNvGrpSpPr>
          <p:nvPr/>
        </p:nvGrpSpPr>
        <p:grpSpPr bwMode="auto">
          <a:xfrm>
            <a:off x="250825" y="1412875"/>
            <a:ext cx="8701088" cy="4459288"/>
            <a:chOff x="183" y="1268"/>
            <a:chExt cx="5481" cy="2809"/>
          </a:xfrm>
        </p:grpSpPr>
        <p:sp>
          <p:nvSpPr>
            <p:cNvPr id="58376" name="Rectangle 4"/>
            <p:cNvSpPr>
              <a:spLocks noChangeArrowheads="1"/>
            </p:cNvSpPr>
            <p:nvPr/>
          </p:nvSpPr>
          <p:spPr bwMode="auto">
            <a:xfrm>
              <a:off x="327" y="1700"/>
              <a:ext cx="432" cy="43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rPr>
                <a:t>给定</a:t>
              </a:r>
              <a:endParaRPr lang="en-US" altLang="zh-CN">
                <a:latin typeface="Times New Roman" panose="02020603050405020304" pitchFamily="18" charset="0"/>
              </a:endParaRPr>
            </a:p>
            <a:p>
              <a:pPr algn="ctr" eaLnBrk="1" hangingPunct="1"/>
              <a:r>
                <a:rPr lang="zh-CN" altLang="en-US">
                  <a:latin typeface="Times New Roman" panose="02020603050405020304" pitchFamily="18" charset="0"/>
                </a:rPr>
                <a:t>元件</a:t>
              </a:r>
            </a:p>
          </p:txBody>
        </p:sp>
        <p:sp>
          <p:nvSpPr>
            <p:cNvPr id="58377" name="Text Box 5"/>
            <p:cNvSpPr txBox="1">
              <a:spLocks noChangeArrowheads="1"/>
            </p:cNvSpPr>
            <p:nvPr/>
          </p:nvSpPr>
          <p:spPr bwMode="auto">
            <a:xfrm>
              <a:off x="951" y="1757"/>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b="1">
                  <a:latin typeface="Times New Roman" panose="02020603050405020304" pitchFamily="18" charset="0"/>
                  <a:sym typeface="Symbol" panose="05050102010706020507" pitchFamily="18" charset="2"/>
                </a:rPr>
                <a:t></a:t>
              </a:r>
              <a:endParaRPr lang="en-US" altLang="zh-CN" sz="2800">
                <a:latin typeface="Times New Roman" panose="02020603050405020304" pitchFamily="18" charset="0"/>
              </a:endParaRPr>
            </a:p>
          </p:txBody>
        </p:sp>
        <p:sp>
          <p:nvSpPr>
            <p:cNvPr id="58378" name="Line 6"/>
            <p:cNvSpPr>
              <a:spLocks noChangeShapeType="1"/>
            </p:cNvSpPr>
            <p:nvPr/>
          </p:nvSpPr>
          <p:spPr bwMode="auto">
            <a:xfrm>
              <a:off x="759" y="1940"/>
              <a:ext cx="249"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9" name="Text Box 7"/>
            <p:cNvSpPr txBox="1">
              <a:spLocks noChangeArrowheads="1"/>
            </p:cNvSpPr>
            <p:nvPr/>
          </p:nvSpPr>
          <p:spPr bwMode="auto">
            <a:xfrm>
              <a:off x="797" y="163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58380" name="Line 8"/>
            <p:cNvSpPr>
              <a:spLocks noChangeShapeType="1"/>
            </p:cNvSpPr>
            <p:nvPr/>
          </p:nvSpPr>
          <p:spPr bwMode="auto">
            <a:xfrm>
              <a:off x="1182" y="1940"/>
              <a:ext cx="249"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1" name="Rectangle 9"/>
            <p:cNvSpPr>
              <a:spLocks noChangeArrowheads="1"/>
            </p:cNvSpPr>
            <p:nvPr/>
          </p:nvSpPr>
          <p:spPr bwMode="auto">
            <a:xfrm>
              <a:off x="1431" y="1700"/>
              <a:ext cx="720" cy="43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rPr>
                <a:t>串联校正</a:t>
              </a:r>
            </a:p>
            <a:p>
              <a:pPr algn="ctr" eaLnBrk="1" hangingPunct="1"/>
              <a:r>
                <a:rPr lang="zh-CN" altLang="en-US">
                  <a:latin typeface="Times New Roman" panose="02020603050405020304" pitchFamily="18" charset="0"/>
                </a:rPr>
                <a:t>元件</a:t>
              </a:r>
            </a:p>
          </p:txBody>
        </p:sp>
        <p:sp>
          <p:nvSpPr>
            <p:cNvPr id="58382" name="Rectangle 10"/>
            <p:cNvSpPr>
              <a:spLocks noChangeArrowheads="1"/>
            </p:cNvSpPr>
            <p:nvPr/>
          </p:nvSpPr>
          <p:spPr bwMode="auto">
            <a:xfrm>
              <a:off x="2823" y="1700"/>
              <a:ext cx="720" cy="43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rPr>
                <a:t>放大变换</a:t>
              </a:r>
            </a:p>
            <a:p>
              <a:pPr algn="ctr" eaLnBrk="1" hangingPunct="1"/>
              <a:r>
                <a:rPr lang="zh-CN" altLang="en-US">
                  <a:latin typeface="Times New Roman" panose="02020603050405020304" pitchFamily="18" charset="0"/>
                </a:rPr>
                <a:t>元件</a:t>
              </a:r>
            </a:p>
          </p:txBody>
        </p:sp>
        <p:sp>
          <p:nvSpPr>
            <p:cNvPr id="58383" name="Rectangle 11"/>
            <p:cNvSpPr>
              <a:spLocks noChangeArrowheads="1"/>
            </p:cNvSpPr>
            <p:nvPr/>
          </p:nvSpPr>
          <p:spPr bwMode="auto">
            <a:xfrm>
              <a:off x="3831" y="1700"/>
              <a:ext cx="432" cy="43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rPr>
                <a:t>执行</a:t>
              </a:r>
            </a:p>
            <a:p>
              <a:pPr algn="ctr" eaLnBrk="1" hangingPunct="1"/>
              <a:r>
                <a:rPr lang="zh-CN" altLang="en-US">
                  <a:latin typeface="Times New Roman" panose="02020603050405020304" pitchFamily="18" charset="0"/>
                </a:rPr>
                <a:t>元件</a:t>
              </a:r>
            </a:p>
          </p:txBody>
        </p:sp>
        <p:sp>
          <p:nvSpPr>
            <p:cNvPr id="58384" name="Rectangle 12"/>
            <p:cNvSpPr>
              <a:spLocks noChangeArrowheads="1"/>
            </p:cNvSpPr>
            <p:nvPr/>
          </p:nvSpPr>
          <p:spPr bwMode="auto">
            <a:xfrm>
              <a:off x="4647" y="1699"/>
              <a:ext cx="432" cy="43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rPr>
                <a:t>控制</a:t>
              </a:r>
            </a:p>
            <a:p>
              <a:pPr algn="ctr" eaLnBrk="1" hangingPunct="1"/>
              <a:r>
                <a:rPr lang="zh-CN" altLang="en-US">
                  <a:latin typeface="Times New Roman" panose="02020603050405020304" pitchFamily="18" charset="0"/>
                </a:rPr>
                <a:t>对象</a:t>
              </a:r>
            </a:p>
          </p:txBody>
        </p:sp>
        <p:sp>
          <p:nvSpPr>
            <p:cNvPr id="58385" name="Line 13"/>
            <p:cNvSpPr>
              <a:spLocks noChangeShapeType="1"/>
            </p:cNvSpPr>
            <p:nvPr/>
          </p:nvSpPr>
          <p:spPr bwMode="auto">
            <a:xfrm flipV="1">
              <a:off x="1095" y="1988"/>
              <a:ext cx="0" cy="1372"/>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6" name="Text Box 14"/>
            <p:cNvSpPr txBox="1">
              <a:spLocks noChangeArrowheads="1"/>
            </p:cNvSpPr>
            <p:nvPr/>
          </p:nvSpPr>
          <p:spPr bwMode="auto">
            <a:xfrm>
              <a:off x="1095" y="184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_</a:t>
              </a:r>
              <a:endParaRPr lang="en-US" altLang="zh-CN" sz="2400">
                <a:latin typeface="Times New Roman" panose="02020603050405020304" pitchFamily="18" charset="0"/>
              </a:endParaRPr>
            </a:p>
          </p:txBody>
        </p:sp>
        <p:sp>
          <p:nvSpPr>
            <p:cNvPr id="58387" name="Text Box 15"/>
            <p:cNvSpPr txBox="1">
              <a:spLocks noChangeArrowheads="1"/>
            </p:cNvSpPr>
            <p:nvPr/>
          </p:nvSpPr>
          <p:spPr bwMode="auto">
            <a:xfrm>
              <a:off x="2343" y="1757"/>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b="1">
                  <a:latin typeface="Times New Roman" panose="02020603050405020304" pitchFamily="18" charset="0"/>
                  <a:sym typeface="Symbol" panose="05050102010706020507" pitchFamily="18" charset="2"/>
                </a:rPr>
                <a:t></a:t>
              </a:r>
              <a:endParaRPr lang="en-US" altLang="zh-CN" sz="2800">
                <a:latin typeface="Times New Roman" panose="02020603050405020304" pitchFamily="18" charset="0"/>
              </a:endParaRPr>
            </a:p>
          </p:txBody>
        </p:sp>
        <p:sp>
          <p:nvSpPr>
            <p:cNvPr id="58388" name="Line 16"/>
            <p:cNvSpPr>
              <a:spLocks noChangeShapeType="1"/>
            </p:cNvSpPr>
            <p:nvPr/>
          </p:nvSpPr>
          <p:spPr bwMode="auto">
            <a:xfrm>
              <a:off x="2151" y="1940"/>
              <a:ext cx="249"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9" name="Text Box 17"/>
            <p:cNvSpPr txBox="1">
              <a:spLocks noChangeArrowheads="1"/>
            </p:cNvSpPr>
            <p:nvPr/>
          </p:nvSpPr>
          <p:spPr bwMode="auto">
            <a:xfrm>
              <a:off x="2189" y="1630"/>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p>
          </p:txBody>
        </p:sp>
        <p:sp>
          <p:nvSpPr>
            <p:cNvPr id="58390" name="Line 18"/>
            <p:cNvSpPr>
              <a:spLocks noChangeShapeType="1"/>
            </p:cNvSpPr>
            <p:nvPr/>
          </p:nvSpPr>
          <p:spPr bwMode="auto">
            <a:xfrm>
              <a:off x="2574" y="1940"/>
              <a:ext cx="249"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1" name="Line 19"/>
            <p:cNvSpPr>
              <a:spLocks noChangeShapeType="1"/>
            </p:cNvSpPr>
            <p:nvPr/>
          </p:nvSpPr>
          <p:spPr bwMode="auto">
            <a:xfrm flipV="1">
              <a:off x="2487" y="1988"/>
              <a:ext cx="0" cy="70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2" name="Text Box 20"/>
            <p:cNvSpPr txBox="1">
              <a:spLocks noChangeArrowheads="1"/>
            </p:cNvSpPr>
            <p:nvPr/>
          </p:nvSpPr>
          <p:spPr bwMode="auto">
            <a:xfrm>
              <a:off x="2487" y="1853"/>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_</a:t>
              </a:r>
              <a:endParaRPr lang="en-US" altLang="zh-CN" sz="2400">
                <a:latin typeface="Times New Roman" panose="02020603050405020304" pitchFamily="18" charset="0"/>
              </a:endParaRPr>
            </a:p>
          </p:txBody>
        </p:sp>
        <p:sp>
          <p:nvSpPr>
            <p:cNvPr id="58393" name="Line 21"/>
            <p:cNvSpPr>
              <a:spLocks noChangeShapeType="1"/>
            </p:cNvSpPr>
            <p:nvPr/>
          </p:nvSpPr>
          <p:spPr bwMode="auto">
            <a:xfrm>
              <a:off x="3543" y="1940"/>
              <a:ext cx="28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4" name="Line 22"/>
            <p:cNvSpPr>
              <a:spLocks noChangeShapeType="1"/>
            </p:cNvSpPr>
            <p:nvPr/>
          </p:nvSpPr>
          <p:spPr bwMode="auto">
            <a:xfrm>
              <a:off x="4263" y="1940"/>
              <a:ext cx="384"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5" name="Line 23"/>
            <p:cNvSpPr>
              <a:spLocks noChangeShapeType="1"/>
            </p:cNvSpPr>
            <p:nvPr/>
          </p:nvSpPr>
          <p:spPr bwMode="auto">
            <a:xfrm>
              <a:off x="5079" y="1940"/>
              <a:ext cx="52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6" name="Rectangle 24"/>
            <p:cNvSpPr>
              <a:spLocks noChangeArrowheads="1"/>
            </p:cNvSpPr>
            <p:nvPr/>
          </p:nvSpPr>
          <p:spPr bwMode="auto">
            <a:xfrm>
              <a:off x="3015" y="2447"/>
              <a:ext cx="720" cy="43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rPr>
                <a:t>并联校正</a:t>
              </a:r>
            </a:p>
            <a:p>
              <a:pPr algn="ctr" eaLnBrk="1" hangingPunct="1"/>
              <a:r>
                <a:rPr lang="zh-CN" altLang="en-US">
                  <a:latin typeface="Times New Roman" panose="02020603050405020304" pitchFamily="18" charset="0"/>
                </a:rPr>
                <a:t>元件</a:t>
              </a:r>
            </a:p>
          </p:txBody>
        </p:sp>
        <p:sp>
          <p:nvSpPr>
            <p:cNvPr id="58397" name="Line 25"/>
            <p:cNvSpPr>
              <a:spLocks noChangeShapeType="1"/>
            </p:cNvSpPr>
            <p:nvPr/>
          </p:nvSpPr>
          <p:spPr bwMode="auto">
            <a:xfrm>
              <a:off x="4359" y="1940"/>
              <a:ext cx="9" cy="74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8" name="Line 26"/>
            <p:cNvSpPr>
              <a:spLocks noChangeShapeType="1"/>
            </p:cNvSpPr>
            <p:nvPr/>
          </p:nvSpPr>
          <p:spPr bwMode="auto">
            <a:xfrm flipH="1">
              <a:off x="3735" y="2688"/>
              <a:ext cx="624"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9" name="Line 27"/>
            <p:cNvSpPr>
              <a:spLocks noChangeShapeType="1"/>
            </p:cNvSpPr>
            <p:nvPr/>
          </p:nvSpPr>
          <p:spPr bwMode="auto">
            <a:xfrm>
              <a:off x="2487" y="2688"/>
              <a:ext cx="52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0" name="Text Box 28"/>
            <p:cNvSpPr txBox="1">
              <a:spLocks noChangeArrowheads="1"/>
            </p:cNvSpPr>
            <p:nvPr/>
          </p:nvSpPr>
          <p:spPr bwMode="auto">
            <a:xfrm>
              <a:off x="3891" y="2257"/>
              <a:ext cx="4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局部</a:t>
              </a:r>
            </a:p>
            <a:p>
              <a:pPr eaLnBrk="1" hangingPunct="1"/>
              <a:r>
                <a:rPr lang="zh-CN" altLang="en-US">
                  <a:latin typeface="Times New Roman" panose="02020603050405020304" pitchFamily="18" charset="0"/>
                </a:rPr>
                <a:t>反馈</a:t>
              </a:r>
            </a:p>
          </p:txBody>
        </p:sp>
        <p:sp>
          <p:nvSpPr>
            <p:cNvPr id="58401" name="Rectangle 29"/>
            <p:cNvSpPr>
              <a:spLocks noChangeArrowheads="1"/>
            </p:cNvSpPr>
            <p:nvPr/>
          </p:nvSpPr>
          <p:spPr bwMode="auto">
            <a:xfrm>
              <a:off x="3015" y="3119"/>
              <a:ext cx="720" cy="43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latin typeface="Times New Roman" panose="02020603050405020304" pitchFamily="18" charset="0"/>
                </a:rPr>
                <a:t>反馈元件</a:t>
              </a:r>
            </a:p>
          </p:txBody>
        </p:sp>
        <p:sp>
          <p:nvSpPr>
            <p:cNvPr id="58402" name="Line 30"/>
            <p:cNvSpPr>
              <a:spLocks noChangeShapeType="1"/>
            </p:cNvSpPr>
            <p:nvPr/>
          </p:nvSpPr>
          <p:spPr bwMode="auto">
            <a:xfrm>
              <a:off x="1095" y="3360"/>
              <a:ext cx="192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3" name="Line 31"/>
            <p:cNvSpPr>
              <a:spLocks noChangeShapeType="1"/>
            </p:cNvSpPr>
            <p:nvPr/>
          </p:nvSpPr>
          <p:spPr bwMode="auto">
            <a:xfrm flipH="1">
              <a:off x="3735" y="3360"/>
              <a:ext cx="1488"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04" name="Line 32"/>
            <p:cNvSpPr>
              <a:spLocks noChangeShapeType="1"/>
            </p:cNvSpPr>
            <p:nvPr/>
          </p:nvSpPr>
          <p:spPr bwMode="auto">
            <a:xfrm>
              <a:off x="5223" y="1940"/>
              <a:ext cx="0" cy="142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5" name="Rectangle 33"/>
            <p:cNvSpPr>
              <a:spLocks noChangeArrowheads="1"/>
            </p:cNvSpPr>
            <p:nvPr/>
          </p:nvSpPr>
          <p:spPr bwMode="auto">
            <a:xfrm>
              <a:off x="183" y="1268"/>
              <a:ext cx="4272" cy="2428"/>
            </a:xfrm>
            <a:prstGeom prst="rect">
              <a:avLst/>
            </a:prstGeom>
            <a:noFill/>
            <a:ln w="25400">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8406" name="Text Box 34"/>
            <p:cNvSpPr txBox="1">
              <a:spLocks noChangeArrowheads="1"/>
            </p:cNvSpPr>
            <p:nvPr/>
          </p:nvSpPr>
          <p:spPr bwMode="auto">
            <a:xfrm>
              <a:off x="3783" y="3131"/>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主反馈</a:t>
              </a:r>
            </a:p>
          </p:txBody>
        </p:sp>
        <p:sp>
          <p:nvSpPr>
            <p:cNvPr id="58407" name="Text Box 35"/>
            <p:cNvSpPr txBox="1">
              <a:spLocks noChangeArrowheads="1"/>
            </p:cNvSpPr>
            <p:nvPr/>
          </p:nvSpPr>
          <p:spPr bwMode="auto">
            <a:xfrm>
              <a:off x="327" y="3375"/>
              <a:ext cx="7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000">
                  <a:latin typeface="Times New Roman" panose="02020603050405020304" pitchFamily="18" charset="0"/>
                </a:rPr>
                <a:t>控制部分</a:t>
              </a:r>
            </a:p>
          </p:txBody>
        </p:sp>
        <p:sp>
          <p:nvSpPr>
            <p:cNvPr id="58408" name="Text Box 36"/>
            <p:cNvSpPr txBox="1">
              <a:spLocks noChangeArrowheads="1"/>
            </p:cNvSpPr>
            <p:nvPr/>
          </p:nvSpPr>
          <p:spPr bwMode="auto">
            <a:xfrm>
              <a:off x="921" y="1450"/>
              <a:ext cx="4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比较</a:t>
              </a:r>
            </a:p>
            <a:p>
              <a:pPr eaLnBrk="1" hangingPunct="1"/>
              <a:r>
                <a:rPr lang="zh-CN" altLang="en-US">
                  <a:latin typeface="Times New Roman" panose="02020603050405020304" pitchFamily="18" charset="0"/>
                </a:rPr>
                <a:t>元件</a:t>
              </a:r>
            </a:p>
          </p:txBody>
        </p:sp>
        <p:sp>
          <p:nvSpPr>
            <p:cNvPr id="58409" name="Text Box 37"/>
            <p:cNvSpPr txBox="1">
              <a:spLocks noChangeArrowheads="1"/>
            </p:cNvSpPr>
            <p:nvPr/>
          </p:nvSpPr>
          <p:spPr bwMode="auto">
            <a:xfrm>
              <a:off x="2325" y="1450"/>
              <a:ext cx="4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比较</a:t>
              </a:r>
            </a:p>
            <a:p>
              <a:pPr eaLnBrk="1" hangingPunct="1"/>
              <a:r>
                <a:rPr lang="zh-CN" altLang="en-US">
                  <a:latin typeface="Times New Roman" panose="02020603050405020304" pitchFamily="18" charset="0"/>
                </a:rPr>
                <a:t>元件</a:t>
              </a:r>
            </a:p>
          </p:txBody>
        </p:sp>
        <p:sp>
          <p:nvSpPr>
            <p:cNvPr id="58410" name="Text Box 38"/>
            <p:cNvSpPr txBox="1">
              <a:spLocks noChangeArrowheads="1"/>
            </p:cNvSpPr>
            <p:nvPr/>
          </p:nvSpPr>
          <p:spPr bwMode="auto">
            <a:xfrm>
              <a:off x="183" y="2190"/>
              <a:ext cx="96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80000"/>
                </a:lnSpc>
              </a:pPr>
              <a:r>
                <a:rPr lang="zh-CN" altLang="en-US">
                  <a:latin typeface="Times New Roman" panose="02020603050405020304" pitchFamily="18" charset="0"/>
                </a:rPr>
                <a:t>输入信号</a:t>
              </a:r>
              <a:r>
                <a:rPr lang="zh-CN" altLang="en-US" sz="1600">
                  <a:latin typeface="Times New Roman" panose="02020603050405020304" pitchFamily="18" charset="0"/>
                </a:rPr>
                <a:t> </a:t>
              </a:r>
              <a:r>
                <a:rPr lang="en-US" altLang="zh-CN" sz="2400" i="1">
                  <a:latin typeface="Times New Roman" panose="02020603050405020304" pitchFamily="18" charset="0"/>
                </a:rPr>
                <a:t>x</a:t>
              </a:r>
              <a:r>
                <a:rPr lang="en-US" altLang="zh-CN" sz="2400" i="1" baseline="-25000">
                  <a:latin typeface="Times New Roman" panose="02020603050405020304" pitchFamily="18" charset="0"/>
                </a:rPr>
                <a:t>i</a:t>
              </a:r>
              <a:endParaRPr lang="en-US" altLang="zh-CN" sz="1600">
                <a:latin typeface="Times New Roman" panose="02020603050405020304" pitchFamily="18" charset="0"/>
              </a:endParaRPr>
            </a:p>
          </p:txBody>
        </p:sp>
        <p:sp>
          <p:nvSpPr>
            <p:cNvPr id="58411" name="Text Box 39"/>
            <p:cNvSpPr txBox="1">
              <a:spLocks noChangeArrowheads="1"/>
            </p:cNvSpPr>
            <p:nvPr/>
          </p:nvSpPr>
          <p:spPr bwMode="auto">
            <a:xfrm>
              <a:off x="1143" y="2164"/>
              <a:ext cx="692"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80000"/>
                </a:lnSpc>
              </a:pPr>
              <a:r>
                <a:rPr lang="zh-CN" altLang="en-US">
                  <a:latin typeface="Times New Roman" panose="02020603050405020304" pitchFamily="18" charset="0"/>
                </a:rPr>
                <a:t>偏差信号</a:t>
              </a:r>
            </a:p>
            <a:p>
              <a:pPr eaLnBrk="1" hangingPunct="1">
                <a:lnSpc>
                  <a:spcPct val="80000"/>
                </a:lnSpc>
              </a:pPr>
              <a:r>
                <a:rPr lang="zh-CN" altLang="en-US" sz="1600">
                  <a:latin typeface="Times New Roman" panose="02020603050405020304" pitchFamily="18" charset="0"/>
                </a:rPr>
                <a:t>      </a:t>
              </a:r>
              <a:r>
                <a:rPr lang="en-US" altLang="zh-CN" sz="2400" i="1">
                  <a:latin typeface="Times New Roman" panose="02020603050405020304" pitchFamily="18" charset="0"/>
                </a:rPr>
                <a:t>e</a:t>
              </a:r>
              <a:endParaRPr lang="en-US" altLang="zh-CN" sz="1600">
                <a:latin typeface="Times New Roman" panose="02020603050405020304" pitchFamily="18" charset="0"/>
              </a:endParaRPr>
            </a:p>
          </p:txBody>
        </p:sp>
        <p:sp>
          <p:nvSpPr>
            <p:cNvPr id="58412" name="Text Box 40"/>
            <p:cNvSpPr txBox="1">
              <a:spLocks noChangeArrowheads="1"/>
            </p:cNvSpPr>
            <p:nvPr/>
          </p:nvSpPr>
          <p:spPr bwMode="auto">
            <a:xfrm>
              <a:off x="1095" y="2976"/>
              <a:ext cx="10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主反馈信号</a:t>
              </a:r>
              <a:r>
                <a:rPr lang="zh-CN" altLang="en-US" sz="1600">
                  <a:latin typeface="Times New Roman" panose="02020603050405020304" pitchFamily="18" charset="0"/>
                </a:rPr>
                <a:t> </a:t>
              </a:r>
              <a:r>
                <a:rPr lang="en-US" altLang="zh-CN" sz="2400" i="1">
                  <a:latin typeface="Times New Roman" panose="02020603050405020304" pitchFamily="18" charset="0"/>
                </a:rPr>
                <a:t>x</a:t>
              </a:r>
              <a:r>
                <a:rPr lang="en-US" altLang="zh-CN" sz="2400" i="1" baseline="-25000">
                  <a:latin typeface="Times New Roman" panose="02020603050405020304" pitchFamily="18" charset="0"/>
                </a:rPr>
                <a:t>b</a:t>
              </a:r>
              <a:endParaRPr lang="en-US" altLang="zh-CN" sz="1600">
                <a:latin typeface="Times New Roman" panose="02020603050405020304" pitchFamily="18" charset="0"/>
              </a:endParaRPr>
            </a:p>
          </p:txBody>
        </p:sp>
        <p:sp>
          <p:nvSpPr>
            <p:cNvPr id="58413" name="Line 41"/>
            <p:cNvSpPr>
              <a:spLocks noChangeShapeType="1"/>
            </p:cNvSpPr>
            <p:nvPr/>
          </p:nvSpPr>
          <p:spPr bwMode="auto">
            <a:xfrm>
              <a:off x="4839" y="1508"/>
              <a:ext cx="0" cy="192"/>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14" name="Text Box 42"/>
            <p:cNvSpPr txBox="1">
              <a:spLocks noChangeArrowheads="1"/>
            </p:cNvSpPr>
            <p:nvPr/>
          </p:nvSpPr>
          <p:spPr bwMode="auto">
            <a:xfrm>
              <a:off x="4551" y="1296"/>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扰动信号</a:t>
              </a:r>
            </a:p>
          </p:txBody>
        </p:sp>
        <p:sp>
          <p:nvSpPr>
            <p:cNvPr id="58415" name="Text Box 43"/>
            <p:cNvSpPr txBox="1">
              <a:spLocks noChangeArrowheads="1"/>
            </p:cNvSpPr>
            <p:nvPr/>
          </p:nvSpPr>
          <p:spPr bwMode="auto">
            <a:xfrm>
              <a:off x="5079" y="1604"/>
              <a:ext cx="5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latin typeface="Times New Roman" panose="02020603050405020304" pitchFamily="18" charset="0"/>
                </a:rPr>
                <a:t>输出</a:t>
              </a:r>
              <a:r>
                <a:rPr lang="zh-CN" altLang="en-US" sz="1600">
                  <a:latin typeface="Times New Roman" panose="02020603050405020304" pitchFamily="18" charset="0"/>
                </a:rPr>
                <a:t> </a:t>
              </a:r>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endParaRPr lang="en-US" altLang="zh-CN" sz="1600">
                <a:latin typeface="Times New Roman" panose="02020603050405020304" pitchFamily="18" charset="0"/>
              </a:endParaRPr>
            </a:p>
          </p:txBody>
        </p:sp>
        <p:sp>
          <p:nvSpPr>
            <p:cNvPr id="58416" name="Rectangle 44"/>
            <p:cNvSpPr>
              <a:spLocks noChangeArrowheads="1"/>
            </p:cNvSpPr>
            <p:nvPr/>
          </p:nvSpPr>
          <p:spPr bwMode="auto">
            <a:xfrm>
              <a:off x="1814" y="3786"/>
              <a:ext cx="224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latin typeface="Times New Roman" panose="02020603050405020304" pitchFamily="18" charset="0"/>
                </a:rPr>
                <a:t>典型反馈控制系统方块图</a:t>
              </a:r>
            </a:p>
          </p:txBody>
        </p:sp>
      </p:grpSp>
      <p:sp>
        <p:nvSpPr>
          <p:cNvPr id="58374" name="TextBox 46"/>
          <p:cNvSpPr txBox="1">
            <a:spLocks noChangeArrowheads="1"/>
          </p:cNvSpPr>
          <p:nvPr/>
        </p:nvSpPr>
        <p:spPr bwMode="auto">
          <a:xfrm>
            <a:off x="5219700" y="26035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latin typeface="华文楷体" panose="02010600040101010101" pitchFamily="2" charset="-122"/>
                <a:ea typeface="华文楷体" panose="02010600040101010101" pitchFamily="2" charset="-122"/>
              </a:rPr>
              <a:t>组成元件</a:t>
            </a:r>
          </a:p>
        </p:txBody>
      </p:sp>
      <p:sp>
        <p:nvSpPr>
          <p:cNvPr id="58375" name="TextBox 47"/>
          <p:cNvSpPr txBox="1">
            <a:spLocks noChangeArrowheads="1"/>
          </p:cNvSpPr>
          <p:nvPr/>
        </p:nvSpPr>
        <p:spPr bwMode="auto">
          <a:xfrm>
            <a:off x="5219700" y="76517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latin typeface="华文楷体" panose="02010600040101010101" pitchFamily="2" charset="-122"/>
                <a:ea typeface="华文楷体" panose="02010600040101010101" pitchFamily="2" charset="-122"/>
              </a:rPr>
              <a:t>系统信号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277358F-AC36-42B3-BEE8-D6A9061C6A98}" type="datetime10">
              <a:rPr lang="zh-CN" altLang="en-US" smtClean="0"/>
              <a:pPr/>
              <a:t>14:02</a:t>
            </a:fld>
            <a:endParaRPr lang="zh-CN" altLang="en-US"/>
          </a:p>
        </p:txBody>
      </p:sp>
      <p:sp>
        <p:nvSpPr>
          <p:cNvPr id="60419"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343773D-CAF4-4C26-9EF8-BD0415D9AC0D}" type="slidenum">
              <a:rPr lang="en-US" altLang="zh-CN" smtClean="0"/>
              <a:pPr/>
              <a:t>32</a:t>
            </a:fld>
            <a:endParaRPr lang="en-US" altLang="zh-CN"/>
          </a:p>
        </p:txBody>
      </p:sp>
      <p:sp>
        <p:nvSpPr>
          <p:cNvPr id="60420" name="Text Box 4"/>
          <p:cNvSpPr txBox="1">
            <a:spLocks noChangeArrowheads="1"/>
          </p:cNvSpPr>
          <p:nvPr/>
        </p:nvSpPr>
        <p:spPr bwMode="auto">
          <a:xfrm>
            <a:off x="1781175" y="1455738"/>
            <a:ext cx="5724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1</a:t>
            </a:r>
            <a:r>
              <a:rPr lang="zh-CN" altLang="en-US" sz="3600">
                <a:latin typeface="Times New Roman" panose="02020603050405020304" pitchFamily="18" charset="0"/>
                <a:ea typeface="华文新魏" panose="02010800040101010101" pitchFamily="2" charset="-122"/>
              </a:rPr>
              <a:t>章  控制系统的基本概念</a:t>
            </a:r>
          </a:p>
        </p:txBody>
      </p:sp>
      <p:sp>
        <p:nvSpPr>
          <p:cNvPr id="60421" name="Rectangle 5"/>
          <p:cNvSpPr>
            <a:spLocks noChangeArrowheads="1"/>
          </p:cNvSpPr>
          <p:nvPr/>
        </p:nvSpPr>
        <p:spPr bwMode="auto">
          <a:xfrm>
            <a:off x="1419225" y="2852738"/>
            <a:ext cx="4313238"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1.1 </a:t>
            </a:r>
            <a:r>
              <a:rPr lang="zh-CN" altLang="en-US" sz="2800">
                <a:latin typeface="Times New Roman" panose="02020603050405020304" pitchFamily="18" charset="0"/>
                <a:ea typeface="黑体" panose="02010609060101010101" pitchFamily="49" charset="-122"/>
              </a:rPr>
              <a:t>自动控制及其发展概述</a:t>
            </a:r>
          </a:p>
        </p:txBody>
      </p:sp>
      <p:sp>
        <p:nvSpPr>
          <p:cNvPr id="60422" name="Rectangle 6"/>
          <p:cNvSpPr>
            <a:spLocks noChangeArrowheads="1"/>
          </p:cNvSpPr>
          <p:nvPr/>
        </p:nvSpPr>
        <p:spPr bwMode="auto">
          <a:xfrm>
            <a:off x="1419225" y="3427413"/>
            <a:ext cx="6108700"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1.2 </a:t>
            </a:r>
            <a:r>
              <a:rPr lang="zh-CN" altLang="en-US" sz="2800">
                <a:latin typeface="Times New Roman" panose="02020603050405020304" pitchFamily="18" charset="0"/>
                <a:ea typeface="黑体" panose="02010609060101010101" pitchFamily="49" charset="-122"/>
              </a:rPr>
              <a:t>控制系统的反馈工作原理及其组成</a:t>
            </a:r>
          </a:p>
        </p:txBody>
      </p:sp>
      <p:sp>
        <p:nvSpPr>
          <p:cNvPr id="60423" name="Rectangle 7"/>
          <p:cNvSpPr>
            <a:spLocks noChangeArrowheads="1"/>
          </p:cNvSpPr>
          <p:nvPr/>
        </p:nvSpPr>
        <p:spPr bwMode="auto">
          <a:xfrm>
            <a:off x="1419225" y="4156075"/>
            <a:ext cx="3954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1.3 </a:t>
            </a:r>
            <a:r>
              <a:rPr lang="zh-CN" altLang="en-US" sz="2800">
                <a:solidFill>
                  <a:srgbClr val="FF0000"/>
                </a:solidFill>
                <a:latin typeface="Times New Roman" panose="02020603050405020304" pitchFamily="18" charset="0"/>
                <a:ea typeface="黑体" panose="02010609060101010101" pitchFamily="49" charset="-122"/>
              </a:rPr>
              <a:t>控制系统的基本类型</a:t>
            </a:r>
          </a:p>
        </p:txBody>
      </p:sp>
      <p:sp>
        <p:nvSpPr>
          <p:cNvPr id="60424" name="Rectangle 8"/>
          <p:cNvSpPr>
            <a:spLocks noChangeArrowheads="1"/>
          </p:cNvSpPr>
          <p:nvPr/>
        </p:nvSpPr>
        <p:spPr bwMode="auto">
          <a:xfrm>
            <a:off x="1419225" y="4630738"/>
            <a:ext cx="35607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1.4 </a:t>
            </a:r>
            <a:r>
              <a:rPr lang="zh-CN" altLang="en-US" sz="2800">
                <a:latin typeface="Times New Roman" panose="02020603050405020304" pitchFamily="18" charset="0"/>
                <a:ea typeface="黑体" panose="02010609060101010101" pitchFamily="49" charset="-122"/>
              </a:rPr>
              <a:t>对控制系统的要求</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5735D81-E8DE-443C-8135-1BA6DF6462C0}" type="datetime10">
              <a:rPr lang="zh-CN" altLang="en-US" smtClean="0"/>
              <a:pPr/>
              <a:t>14:02</a:t>
            </a:fld>
            <a:endParaRPr lang="zh-CN" altLang="en-US"/>
          </a:p>
        </p:txBody>
      </p:sp>
      <p:sp>
        <p:nvSpPr>
          <p:cNvPr id="62467"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B1ADD54-934D-4D10-B847-12D2A1B1626A}" type="slidenum">
              <a:rPr lang="en-US" altLang="zh-CN" smtClean="0"/>
              <a:pPr/>
              <a:t>33</a:t>
            </a:fld>
            <a:endParaRPr lang="en-US" altLang="zh-CN"/>
          </a:p>
        </p:txBody>
      </p:sp>
      <p:sp>
        <p:nvSpPr>
          <p:cNvPr id="62468" name="Text Box 2"/>
          <p:cNvSpPr txBox="1">
            <a:spLocks noChangeArrowheads="1"/>
          </p:cNvSpPr>
          <p:nvPr/>
        </p:nvSpPr>
        <p:spPr bwMode="auto">
          <a:xfrm>
            <a:off x="654050" y="762000"/>
            <a:ext cx="39544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1.3 </a:t>
            </a:r>
            <a:r>
              <a:rPr lang="zh-CN" altLang="en-US" sz="2800">
                <a:latin typeface="Times New Roman" panose="02020603050405020304" pitchFamily="18" charset="0"/>
                <a:ea typeface="黑体" panose="02010609060101010101" pitchFamily="49" charset="-122"/>
              </a:rPr>
              <a:t>控制系统的基本类型</a:t>
            </a:r>
          </a:p>
        </p:txBody>
      </p:sp>
      <p:sp>
        <p:nvSpPr>
          <p:cNvPr id="27651" name="Rectangle 3"/>
          <p:cNvSpPr>
            <a:spLocks noChangeArrowheads="1"/>
          </p:cNvSpPr>
          <p:nvPr/>
        </p:nvSpPr>
        <p:spPr bwMode="auto">
          <a:xfrm>
            <a:off x="990600" y="1531938"/>
            <a:ext cx="4598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按输入量的运动规律分类 </a:t>
            </a:r>
          </a:p>
        </p:txBody>
      </p:sp>
      <p:sp>
        <p:nvSpPr>
          <p:cNvPr id="27652" name="Text Box 4"/>
          <p:cNvSpPr txBox="1">
            <a:spLocks noChangeArrowheads="1"/>
          </p:cNvSpPr>
          <p:nvPr/>
        </p:nvSpPr>
        <p:spPr bwMode="auto">
          <a:xfrm>
            <a:off x="1295400" y="2087563"/>
            <a:ext cx="73914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恒值控制系统</a:t>
            </a:r>
          </a:p>
          <a:p>
            <a:pPr eaLnBrk="1" hangingPunct="1">
              <a:lnSpc>
                <a:spcPct val="115000"/>
              </a:lnSpc>
            </a:pPr>
            <a:r>
              <a:rPr lang="zh-CN" altLang="en-US" sz="2800">
                <a:latin typeface="宋体" panose="02010600030101010101" pitchFamily="2" charset="-122"/>
              </a:rPr>
              <a:t>系统输入量为恒定值。控制任务是保证在任何扰动作用下系统的输出量为恒值。</a:t>
            </a:r>
            <a:r>
              <a:rPr lang="zh-CN" altLang="en-US" sz="2800">
                <a:latin typeface="Times New Roman" panose="02020603050405020304" pitchFamily="18" charset="0"/>
              </a:rPr>
              <a:t> </a:t>
            </a:r>
          </a:p>
        </p:txBody>
      </p:sp>
      <p:sp>
        <p:nvSpPr>
          <p:cNvPr id="27653" name="Rectangle 5"/>
          <p:cNvSpPr>
            <a:spLocks noChangeArrowheads="1"/>
          </p:cNvSpPr>
          <p:nvPr/>
        </p:nvSpPr>
        <p:spPr bwMode="auto">
          <a:xfrm>
            <a:off x="1295400" y="3595688"/>
            <a:ext cx="6940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如：恒温箱控制、电网电压、频率控制等。</a:t>
            </a:r>
          </a:p>
        </p:txBody>
      </p:sp>
      <p:sp>
        <p:nvSpPr>
          <p:cNvPr id="27654" name="Text Box 6"/>
          <p:cNvSpPr txBox="1">
            <a:spLocks noChangeArrowheads="1"/>
          </p:cNvSpPr>
          <p:nvPr/>
        </p:nvSpPr>
        <p:spPr bwMode="auto">
          <a:xfrm>
            <a:off x="1295400" y="4191000"/>
            <a:ext cx="73914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程序控制系统</a:t>
            </a:r>
          </a:p>
          <a:p>
            <a:pPr eaLnBrk="1" hangingPunct="1">
              <a:lnSpc>
                <a:spcPct val="115000"/>
              </a:lnSpc>
            </a:pPr>
            <a:r>
              <a:rPr lang="zh-CN" altLang="en-US" sz="2800">
                <a:latin typeface="宋体" panose="02010600030101010101" pitchFamily="2" charset="-122"/>
              </a:rPr>
              <a:t>输入量的变化规律预先确知，输入装置根据输入的变化规律，发出控制指令，使被控对象按照指令程序的要求而运动。如数控加工系统。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additive="base">
                                        <p:cTn id="7" dur="500" fill="hold"/>
                                        <p:tgtEl>
                                          <p:spTgt spid="27651"/>
                                        </p:tgtEl>
                                        <p:attrNameLst>
                                          <p:attrName>ppt_x</p:attrName>
                                        </p:attrNameLst>
                                      </p:cBhvr>
                                      <p:tavLst>
                                        <p:tav tm="0">
                                          <p:val>
                                            <p:strVal val="#ppt_x"/>
                                          </p:val>
                                        </p:tav>
                                        <p:tav tm="100000">
                                          <p:val>
                                            <p:strVal val="#ppt_x"/>
                                          </p:val>
                                        </p:tav>
                                      </p:tavLst>
                                    </p:anim>
                                    <p:anim calcmode="lin" valueType="num">
                                      <p:cBhvr additive="base">
                                        <p:cTn id="8" dur="500" fill="hold"/>
                                        <p:tgtEl>
                                          <p:spTgt spid="276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additive="base">
                                        <p:cTn id="13" dur="500" fill="hold"/>
                                        <p:tgtEl>
                                          <p:spTgt spid="27652"/>
                                        </p:tgtEl>
                                        <p:attrNameLst>
                                          <p:attrName>ppt_x</p:attrName>
                                        </p:attrNameLst>
                                      </p:cBhvr>
                                      <p:tavLst>
                                        <p:tav tm="0">
                                          <p:val>
                                            <p:strVal val="#ppt_x"/>
                                          </p:val>
                                        </p:tav>
                                        <p:tav tm="100000">
                                          <p:val>
                                            <p:strVal val="#ppt_x"/>
                                          </p:val>
                                        </p:tav>
                                      </p:tavLst>
                                    </p:anim>
                                    <p:anim calcmode="lin" valueType="num">
                                      <p:cBhvr additive="base">
                                        <p:cTn id="14" dur="500" fill="hold"/>
                                        <p:tgtEl>
                                          <p:spTgt spid="2765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3"/>
                                        </p:tgtEl>
                                        <p:attrNameLst>
                                          <p:attrName>style.visibility</p:attrName>
                                        </p:attrNameLst>
                                      </p:cBhvr>
                                      <p:to>
                                        <p:strVal val="visible"/>
                                      </p:to>
                                    </p:set>
                                    <p:anim calcmode="lin" valueType="num">
                                      <p:cBhvr additive="base">
                                        <p:cTn id="19" dur="500" fill="hold"/>
                                        <p:tgtEl>
                                          <p:spTgt spid="27653"/>
                                        </p:tgtEl>
                                        <p:attrNameLst>
                                          <p:attrName>ppt_x</p:attrName>
                                        </p:attrNameLst>
                                      </p:cBhvr>
                                      <p:tavLst>
                                        <p:tav tm="0">
                                          <p:val>
                                            <p:strVal val="#ppt_x"/>
                                          </p:val>
                                        </p:tav>
                                        <p:tav tm="100000">
                                          <p:val>
                                            <p:strVal val="#ppt_x"/>
                                          </p:val>
                                        </p:tav>
                                      </p:tavLst>
                                    </p:anim>
                                    <p:anim calcmode="lin" valueType="num">
                                      <p:cBhvr additive="base">
                                        <p:cTn id="20" dur="500" fill="hold"/>
                                        <p:tgtEl>
                                          <p:spTgt spid="2765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4"/>
                                        </p:tgtEl>
                                        <p:attrNameLst>
                                          <p:attrName>style.visibility</p:attrName>
                                        </p:attrNameLst>
                                      </p:cBhvr>
                                      <p:to>
                                        <p:strVal val="visible"/>
                                      </p:to>
                                    </p:set>
                                    <p:anim calcmode="lin" valueType="num">
                                      <p:cBhvr additive="base">
                                        <p:cTn id="25" dur="500" fill="hold"/>
                                        <p:tgtEl>
                                          <p:spTgt spid="27654"/>
                                        </p:tgtEl>
                                        <p:attrNameLst>
                                          <p:attrName>ppt_x</p:attrName>
                                        </p:attrNameLst>
                                      </p:cBhvr>
                                      <p:tavLst>
                                        <p:tav tm="0">
                                          <p:val>
                                            <p:strVal val="#ppt_x"/>
                                          </p:val>
                                        </p:tav>
                                        <p:tav tm="100000">
                                          <p:val>
                                            <p:strVal val="#ppt_x"/>
                                          </p:val>
                                        </p:tav>
                                      </p:tavLst>
                                    </p:anim>
                                    <p:anim calcmode="lin" valueType="num">
                                      <p:cBhvr additive="base">
                                        <p:cTn id="26" dur="500" fill="hold"/>
                                        <p:tgtEl>
                                          <p:spTgt spid="27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27652" grpId="0"/>
      <p:bldP spid="27653" grpId="0"/>
      <p:bldP spid="2765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8DE97CF-95DB-4053-9E05-9B91F64E335E}" type="datetime10">
              <a:rPr lang="zh-CN" altLang="en-US" smtClean="0"/>
              <a:pPr/>
              <a:t>14:02</a:t>
            </a:fld>
            <a:endParaRPr lang="zh-CN" altLang="en-US"/>
          </a:p>
        </p:txBody>
      </p:sp>
      <p:sp>
        <p:nvSpPr>
          <p:cNvPr id="6451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10E660D-4853-46D2-9190-0495A397D6C3}" type="slidenum">
              <a:rPr lang="en-US" altLang="zh-CN" smtClean="0"/>
              <a:pPr/>
              <a:t>34</a:t>
            </a:fld>
            <a:endParaRPr lang="en-US" altLang="zh-CN"/>
          </a:p>
        </p:txBody>
      </p:sp>
      <p:sp>
        <p:nvSpPr>
          <p:cNvPr id="64516" name="Text Box 2"/>
          <p:cNvSpPr txBox="1">
            <a:spLocks noChangeArrowheads="1"/>
          </p:cNvSpPr>
          <p:nvPr/>
        </p:nvSpPr>
        <p:spPr bwMode="auto">
          <a:xfrm>
            <a:off x="1295400" y="1676400"/>
            <a:ext cx="7391400"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随动系统（伺服系统）</a:t>
            </a:r>
          </a:p>
          <a:p>
            <a:pPr eaLnBrk="1" hangingPunct="1">
              <a:lnSpc>
                <a:spcPct val="115000"/>
              </a:lnSpc>
            </a:pPr>
            <a:r>
              <a:rPr lang="zh-CN" altLang="en-US" sz="2800">
                <a:latin typeface="宋体" panose="02010600030101010101" pitchFamily="2" charset="-122"/>
              </a:rPr>
              <a:t>输入量的变化规律不能预先确知，其控制要求是输出量迅速、平稳地跟随输入量的变化，并能排除各种干扰因素的影响，准确地复现输入信号的变化规律。 </a:t>
            </a:r>
          </a:p>
        </p:txBody>
      </p:sp>
      <p:sp>
        <p:nvSpPr>
          <p:cNvPr id="28675" name="Rectangle 3"/>
          <p:cNvSpPr>
            <a:spLocks noChangeArrowheads="1"/>
          </p:cNvSpPr>
          <p:nvPr/>
        </p:nvSpPr>
        <p:spPr bwMode="auto">
          <a:xfrm>
            <a:off x="1295400" y="4281488"/>
            <a:ext cx="6940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如：仿形加工系统、火炮自动瞄准系统等。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additive="base">
                                        <p:cTn id="7" dur="500" fill="hold"/>
                                        <p:tgtEl>
                                          <p:spTgt spid="28675"/>
                                        </p:tgtEl>
                                        <p:attrNameLst>
                                          <p:attrName>ppt_x</p:attrName>
                                        </p:attrNameLst>
                                      </p:cBhvr>
                                      <p:tavLst>
                                        <p:tav tm="0">
                                          <p:val>
                                            <p:strVal val="#ppt_x"/>
                                          </p:val>
                                        </p:tav>
                                        <p:tav tm="100000">
                                          <p:val>
                                            <p:strVal val="#ppt_x"/>
                                          </p:val>
                                        </p:tav>
                                      </p:tavLst>
                                    </p:anim>
                                    <p:anim calcmode="lin" valueType="num">
                                      <p:cBhvr additive="base">
                                        <p:cTn id="8" dur="500" fill="hold"/>
                                        <p:tgtEl>
                                          <p:spTgt spid="286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D76C98D-CC52-47CB-83DD-7F54738527A1}" type="datetime10">
              <a:rPr lang="zh-CN" altLang="en-US" smtClean="0"/>
              <a:pPr/>
              <a:t>14:02</a:t>
            </a:fld>
            <a:endParaRPr lang="zh-CN" altLang="en-US"/>
          </a:p>
        </p:txBody>
      </p:sp>
      <p:sp>
        <p:nvSpPr>
          <p:cNvPr id="66563"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878EE9A-4B69-4BA8-BF31-81C165F8752A}" type="slidenum">
              <a:rPr lang="en-US" altLang="zh-CN" smtClean="0"/>
              <a:pPr/>
              <a:t>35</a:t>
            </a:fld>
            <a:endParaRPr lang="en-US" altLang="zh-CN"/>
          </a:p>
        </p:txBody>
      </p:sp>
      <p:sp>
        <p:nvSpPr>
          <p:cNvPr id="66564" name="Rectangle 2"/>
          <p:cNvSpPr>
            <a:spLocks noChangeArrowheads="1"/>
          </p:cNvSpPr>
          <p:nvPr/>
        </p:nvSpPr>
        <p:spPr bwMode="auto">
          <a:xfrm>
            <a:off x="971550" y="1125538"/>
            <a:ext cx="53387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按系统中传递信号的性质分类  </a:t>
            </a:r>
          </a:p>
        </p:txBody>
      </p:sp>
      <p:sp>
        <p:nvSpPr>
          <p:cNvPr id="29699" name="Text Box 3"/>
          <p:cNvSpPr txBox="1">
            <a:spLocks noChangeArrowheads="1"/>
          </p:cNvSpPr>
          <p:nvPr/>
        </p:nvSpPr>
        <p:spPr bwMode="auto">
          <a:xfrm>
            <a:off x="1295400" y="1905000"/>
            <a:ext cx="73914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连续</a:t>
            </a:r>
            <a:r>
              <a:rPr lang="zh-CN" altLang="en-US" sz="2800">
                <a:latin typeface="宋体" panose="02010600030101010101" pitchFamily="2" charset="-122"/>
              </a:rPr>
              <a:t>控制系统</a:t>
            </a:r>
          </a:p>
          <a:p>
            <a:pPr eaLnBrk="1" hangingPunct="1">
              <a:lnSpc>
                <a:spcPct val="115000"/>
              </a:lnSpc>
            </a:pPr>
            <a:r>
              <a:rPr lang="zh-CN" altLang="en-US" sz="2800">
                <a:latin typeface="宋体" panose="02010600030101010101" pitchFamily="2" charset="-122"/>
              </a:rPr>
              <a:t>系统中各部分传递的信号为随时间连续变化的信号。连续控制系统通常采用微分方程描述。 </a:t>
            </a:r>
          </a:p>
        </p:txBody>
      </p:sp>
      <p:sp>
        <p:nvSpPr>
          <p:cNvPr id="29700" name="Text Box 4"/>
          <p:cNvSpPr txBox="1">
            <a:spLocks noChangeArrowheads="1"/>
          </p:cNvSpPr>
          <p:nvPr/>
        </p:nvSpPr>
        <p:spPr bwMode="auto">
          <a:xfrm>
            <a:off x="1295400" y="3581400"/>
            <a:ext cx="73914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离散（数字）控制系统</a:t>
            </a:r>
          </a:p>
          <a:p>
            <a:pPr eaLnBrk="1" hangingPunct="1">
              <a:lnSpc>
                <a:spcPct val="115000"/>
              </a:lnSpc>
            </a:pPr>
            <a:r>
              <a:rPr lang="zh-CN" altLang="en-US" sz="2800">
                <a:latin typeface="宋体" panose="02010600030101010101" pitchFamily="2" charset="-122"/>
              </a:rPr>
              <a:t>系统中某一处或多处的信号为脉冲序列或数字量传递的系统。离散控制系统通常采用差分方程描述。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ppt_x"/>
                                          </p:val>
                                        </p:tav>
                                        <p:tav tm="100000">
                                          <p:val>
                                            <p:strVal val="#ppt_x"/>
                                          </p:val>
                                        </p:tav>
                                      </p:tavLst>
                                    </p:anim>
                                    <p:anim calcmode="lin" valueType="num">
                                      <p:cBhvr additive="base">
                                        <p:cTn id="8" dur="500" fill="hold"/>
                                        <p:tgtEl>
                                          <p:spTgt spid="2969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700"/>
                                        </p:tgtEl>
                                        <p:attrNameLst>
                                          <p:attrName>style.visibility</p:attrName>
                                        </p:attrNameLst>
                                      </p:cBhvr>
                                      <p:to>
                                        <p:strVal val="visible"/>
                                      </p:to>
                                    </p:set>
                                    <p:anim calcmode="lin" valueType="num">
                                      <p:cBhvr additive="base">
                                        <p:cTn id="13" dur="500" fill="hold"/>
                                        <p:tgtEl>
                                          <p:spTgt spid="29700"/>
                                        </p:tgtEl>
                                        <p:attrNameLst>
                                          <p:attrName>ppt_x</p:attrName>
                                        </p:attrNameLst>
                                      </p:cBhvr>
                                      <p:tavLst>
                                        <p:tav tm="0">
                                          <p:val>
                                            <p:strVal val="#ppt_x"/>
                                          </p:val>
                                        </p:tav>
                                        <p:tav tm="100000">
                                          <p:val>
                                            <p:strVal val="#ppt_x"/>
                                          </p:val>
                                        </p:tav>
                                      </p:tavLst>
                                    </p:anim>
                                    <p:anim calcmode="lin" valueType="num">
                                      <p:cBhvr additive="base">
                                        <p:cTn id="14" dur="500" fill="hold"/>
                                        <p:tgtEl>
                                          <p:spTgt spid="297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22CF1C2-361E-4AAB-8DE1-72FC8D02F16C}" type="datetime10">
              <a:rPr lang="zh-CN" altLang="en-US" smtClean="0"/>
              <a:pPr/>
              <a:t>14:02</a:t>
            </a:fld>
            <a:endParaRPr lang="zh-CN" altLang="en-US"/>
          </a:p>
        </p:txBody>
      </p:sp>
      <p:sp>
        <p:nvSpPr>
          <p:cNvPr id="68611"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D18D518-00A9-4FDB-8966-F5700774CE9A}" type="slidenum">
              <a:rPr lang="en-US" altLang="zh-CN" smtClean="0"/>
              <a:pPr/>
              <a:t>36</a:t>
            </a:fld>
            <a:endParaRPr lang="en-US" altLang="zh-CN"/>
          </a:p>
        </p:txBody>
      </p:sp>
      <p:grpSp>
        <p:nvGrpSpPr>
          <p:cNvPr id="68612" name="组合 2"/>
          <p:cNvGrpSpPr>
            <a:grpSpLocks/>
          </p:cNvGrpSpPr>
          <p:nvPr/>
        </p:nvGrpSpPr>
        <p:grpSpPr bwMode="auto">
          <a:xfrm>
            <a:off x="377825" y="1552575"/>
            <a:ext cx="8518525" cy="3675063"/>
            <a:chOff x="377825" y="1552575"/>
            <a:chExt cx="8518525" cy="3675063"/>
          </a:xfrm>
        </p:grpSpPr>
        <p:pic>
          <p:nvPicPr>
            <p:cNvPr id="68613" name="Picture 5"/>
            <p:cNvPicPr>
              <a:picLocks noChangeAspect="1" noChangeArrowheads="1"/>
            </p:cNvPicPr>
            <p:nvPr/>
          </p:nvPicPr>
          <p:blipFill>
            <a:blip r:embed="rId2">
              <a:extLst>
                <a:ext uri="{28A0092B-C50C-407E-A947-70E740481C1C}">
                  <a14:useLocalDpi xmlns:a14="http://schemas.microsoft.com/office/drawing/2010/main" val="0"/>
                </a:ext>
              </a:extLst>
            </a:blip>
            <a:srcRect l="2808" r="3700"/>
            <a:stretch>
              <a:fillRect/>
            </a:stretch>
          </p:blipFill>
          <p:spPr bwMode="auto">
            <a:xfrm rot="-120000">
              <a:off x="377825" y="1552575"/>
              <a:ext cx="8518525" cy="36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4" name="文本框 1"/>
            <p:cNvSpPr txBox="1">
              <a:spLocks noChangeArrowheads="1"/>
            </p:cNvSpPr>
            <p:nvPr/>
          </p:nvSpPr>
          <p:spPr bwMode="auto">
            <a:xfrm>
              <a:off x="3491880" y="4797152"/>
              <a:ext cx="93610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477D680-6ED2-4D59-A2A0-1596E8233509}" type="datetime10">
              <a:rPr lang="zh-CN" altLang="en-US" smtClean="0"/>
              <a:pPr/>
              <a:t>14:02</a:t>
            </a:fld>
            <a:endParaRPr lang="zh-CN" altLang="en-US"/>
          </a:p>
        </p:txBody>
      </p:sp>
      <p:sp>
        <p:nvSpPr>
          <p:cNvPr id="6963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8E717D8-17BE-4593-B9C8-E6EC03D3D5FA}" type="slidenum">
              <a:rPr lang="en-US" altLang="zh-CN" smtClean="0"/>
              <a:pPr/>
              <a:t>37</a:t>
            </a:fld>
            <a:endParaRPr lang="en-US" altLang="zh-CN"/>
          </a:p>
        </p:txBody>
      </p:sp>
      <p:sp>
        <p:nvSpPr>
          <p:cNvPr id="69636" name="Rectangle 2"/>
          <p:cNvSpPr>
            <a:spLocks noChangeArrowheads="1"/>
          </p:cNvSpPr>
          <p:nvPr/>
        </p:nvSpPr>
        <p:spPr bwMode="auto">
          <a:xfrm>
            <a:off x="900113" y="836613"/>
            <a:ext cx="28495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其它分类方法  </a:t>
            </a:r>
          </a:p>
        </p:txBody>
      </p:sp>
      <p:sp>
        <p:nvSpPr>
          <p:cNvPr id="30723" name="Text Box 3"/>
          <p:cNvSpPr txBox="1">
            <a:spLocks noChangeArrowheads="1"/>
          </p:cNvSpPr>
          <p:nvPr/>
        </p:nvSpPr>
        <p:spPr bwMode="auto">
          <a:xfrm>
            <a:off x="1331913" y="1700213"/>
            <a:ext cx="73914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线性系统和非线性系统</a:t>
            </a:r>
            <a:endParaRPr lang="zh-CN" altLang="en-US" sz="2800">
              <a:latin typeface="宋体" panose="02010600030101010101" pitchFamily="2" charset="-122"/>
            </a:endParaRPr>
          </a:p>
        </p:txBody>
      </p:sp>
      <p:sp>
        <p:nvSpPr>
          <p:cNvPr id="30724" name="Text Box 4"/>
          <p:cNvSpPr txBox="1">
            <a:spLocks noChangeArrowheads="1"/>
          </p:cNvSpPr>
          <p:nvPr/>
        </p:nvSpPr>
        <p:spPr bwMode="auto">
          <a:xfrm>
            <a:off x="1295400" y="3048000"/>
            <a:ext cx="7391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定常系统和时变系统</a:t>
            </a:r>
            <a:endParaRPr lang="zh-CN" altLang="en-US" sz="2800">
              <a:latin typeface="宋体" panose="02010600030101010101" pitchFamily="2" charset="-122"/>
            </a:endParaRPr>
          </a:p>
        </p:txBody>
      </p:sp>
      <p:sp>
        <p:nvSpPr>
          <p:cNvPr id="30725" name="Text Box 5"/>
          <p:cNvSpPr txBox="1">
            <a:spLocks noChangeArrowheads="1"/>
          </p:cNvSpPr>
          <p:nvPr/>
        </p:nvSpPr>
        <p:spPr bwMode="auto">
          <a:xfrm>
            <a:off x="1295400" y="3727450"/>
            <a:ext cx="7391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机械、电气、机电、液压、气动、热力等控</a:t>
            </a:r>
          </a:p>
          <a:p>
            <a:pPr eaLnBrk="1" hangingPunct="1">
              <a:lnSpc>
                <a:spcPct val="115000"/>
              </a:lnSpc>
            </a:pPr>
            <a:r>
              <a:rPr lang="zh-CN" altLang="en-US" sz="2800">
                <a:latin typeface="Times New Roman" panose="02020603050405020304" pitchFamily="18" charset="0"/>
              </a:rPr>
              <a:t>    制系统</a:t>
            </a:r>
            <a:endParaRPr lang="zh-CN" altLang="en-US" sz="2800">
              <a:latin typeface="宋体" panose="02010600030101010101" pitchFamily="2" charset="-122"/>
            </a:endParaRPr>
          </a:p>
        </p:txBody>
      </p:sp>
      <p:sp>
        <p:nvSpPr>
          <p:cNvPr id="30726" name="Text Box 6"/>
          <p:cNvSpPr txBox="1">
            <a:spLocks noChangeArrowheads="1"/>
          </p:cNvSpPr>
          <p:nvPr/>
        </p:nvSpPr>
        <p:spPr bwMode="auto">
          <a:xfrm>
            <a:off x="1295400" y="4903788"/>
            <a:ext cx="73914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温度、压力、位置等控制系统</a:t>
            </a:r>
            <a:endParaRPr lang="zh-CN" altLang="en-US" sz="2800">
              <a:latin typeface="宋体" panose="02010600030101010101" pitchFamily="2" charset="-122"/>
            </a:endParaRPr>
          </a:p>
        </p:txBody>
      </p:sp>
      <p:sp>
        <p:nvSpPr>
          <p:cNvPr id="9" name="Text Box 3"/>
          <p:cNvSpPr txBox="1">
            <a:spLocks noChangeArrowheads="1"/>
          </p:cNvSpPr>
          <p:nvPr/>
        </p:nvSpPr>
        <p:spPr bwMode="auto">
          <a:xfrm>
            <a:off x="1331913" y="2420938"/>
            <a:ext cx="73914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单输入单输出系统和多输入多输出系统</a:t>
            </a:r>
            <a:endParaRPr lang="zh-CN" altLang="en-US" sz="280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ppt_x"/>
                                          </p:val>
                                        </p:tav>
                                        <p:tav tm="100000">
                                          <p:val>
                                            <p:strVal val="#ppt_x"/>
                                          </p:val>
                                        </p:tav>
                                      </p:tavLst>
                                    </p:anim>
                                    <p:anim calcmode="lin" valueType="num">
                                      <p:cBhvr additive="base">
                                        <p:cTn id="8" dur="500" fill="hold"/>
                                        <p:tgtEl>
                                          <p:spTgt spid="307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4"/>
                                        </p:tgtEl>
                                        <p:attrNameLst>
                                          <p:attrName>style.visibility</p:attrName>
                                        </p:attrNameLst>
                                      </p:cBhvr>
                                      <p:to>
                                        <p:strVal val="visible"/>
                                      </p:to>
                                    </p:set>
                                    <p:anim calcmode="lin" valueType="num">
                                      <p:cBhvr additive="base">
                                        <p:cTn id="19" dur="500" fill="hold"/>
                                        <p:tgtEl>
                                          <p:spTgt spid="30724"/>
                                        </p:tgtEl>
                                        <p:attrNameLst>
                                          <p:attrName>ppt_x</p:attrName>
                                        </p:attrNameLst>
                                      </p:cBhvr>
                                      <p:tavLst>
                                        <p:tav tm="0">
                                          <p:val>
                                            <p:strVal val="#ppt_x"/>
                                          </p:val>
                                        </p:tav>
                                        <p:tav tm="100000">
                                          <p:val>
                                            <p:strVal val="#ppt_x"/>
                                          </p:val>
                                        </p:tav>
                                      </p:tavLst>
                                    </p:anim>
                                    <p:anim calcmode="lin" valueType="num">
                                      <p:cBhvr additive="base">
                                        <p:cTn id="20"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25"/>
                                        </p:tgtEl>
                                        <p:attrNameLst>
                                          <p:attrName>style.visibility</p:attrName>
                                        </p:attrNameLst>
                                      </p:cBhvr>
                                      <p:to>
                                        <p:strVal val="visible"/>
                                      </p:to>
                                    </p:set>
                                    <p:anim calcmode="lin" valueType="num">
                                      <p:cBhvr additive="base">
                                        <p:cTn id="25" dur="500" fill="hold"/>
                                        <p:tgtEl>
                                          <p:spTgt spid="30725"/>
                                        </p:tgtEl>
                                        <p:attrNameLst>
                                          <p:attrName>ppt_x</p:attrName>
                                        </p:attrNameLst>
                                      </p:cBhvr>
                                      <p:tavLst>
                                        <p:tav tm="0">
                                          <p:val>
                                            <p:strVal val="#ppt_x"/>
                                          </p:val>
                                        </p:tav>
                                        <p:tav tm="100000">
                                          <p:val>
                                            <p:strVal val="#ppt_x"/>
                                          </p:val>
                                        </p:tav>
                                      </p:tavLst>
                                    </p:anim>
                                    <p:anim calcmode="lin" valueType="num">
                                      <p:cBhvr additive="base">
                                        <p:cTn id="26"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26"/>
                                        </p:tgtEl>
                                        <p:attrNameLst>
                                          <p:attrName>style.visibility</p:attrName>
                                        </p:attrNameLst>
                                      </p:cBhvr>
                                      <p:to>
                                        <p:strVal val="visible"/>
                                      </p:to>
                                    </p:set>
                                    <p:anim calcmode="lin" valueType="num">
                                      <p:cBhvr additive="base">
                                        <p:cTn id="31" dur="500" fill="hold"/>
                                        <p:tgtEl>
                                          <p:spTgt spid="30726"/>
                                        </p:tgtEl>
                                        <p:attrNameLst>
                                          <p:attrName>ppt_x</p:attrName>
                                        </p:attrNameLst>
                                      </p:cBhvr>
                                      <p:tavLst>
                                        <p:tav tm="0">
                                          <p:val>
                                            <p:strVal val="#ppt_x"/>
                                          </p:val>
                                        </p:tav>
                                        <p:tav tm="100000">
                                          <p:val>
                                            <p:strVal val="#ppt_x"/>
                                          </p:val>
                                        </p:tav>
                                      </p:tavLst>
                                    </p:anim>
                                    <p:anim calcmode="lin" valueType="num">
                                      <p:cBhvr additive="base">
                                        <p:cTn id="32" dur="500" fill="hold"/>
                                        <p:tgtEl>
                                          <p:spTgt spid="30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30724" grpId="0"/>
      <p:bldP spid="30725" grpId="0"/>
      <p:bldP spid="30726"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876DDFB-806F-403A-BA29-CCAEBAC56DDA}" type="datetime10">
              <a:rPr lang="zh-CN" altLang="en-US" smtClean="0"/>
              <a:pPr/>
              <a:t>14:02</a:t>
            </a:fld>
            <a:endParaRPr lang="zh-CN" altLang="en-US"/>
          </a:p>
        </p:txBody>
      </p:sp>
      <p:sp>
        <p:nvSpPr>
          <p:cNvPr id="71683"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5E2E065-1A37-46BA-B347-7F469996E6D7}" type="slidenum">
              <a:rPr lang="en-US" altLang="zh-CN" smtClean="0"/>
              <a:pPr/>
              <a:t>38</a:t>
            </a:fld>
            <a:endParaRPr lang="en-US" altLang="zh-CN"/>
          </a:p>
        </p:txBody>
      </p:sp>
      <p:sp>
        <p:nvSpPr>
          <p:cNvPr id="71684" name="Text Box 4"/>
          <p:cNvSpPr txBox="1">
            <a:spLocks noChangeArrowheads="1"/>
          </p:cNvSpPr>
          <p:nvPr/>
        </p:nvSpPr>
        <p:spPr bwMode="auto">
          <a:xfrm>
            <a:off x="1641475" y="1519238"/>
            <a:ext cx="57261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1</a:t>
            </a:r>
            <a:r>
              <a:rPr lang="zh-CN" altLang="en-US" sz="3600">
                <a:latin typeface="Times New Roman" panose="02020603050405020304" pitchFamily="18" charset="0"/>
                <a:ea typeface="华文新魏" panose="02010800040101010101" pitchFamily="2" charset="-122"/>
              </a:rPr>
              <a:t>章  控制系统的基本概念</a:t>
            </a:r>
          </a:p>
        </p:txBody>
      </p:sp>
      <p:sp>
        <p:nvSpPr>
          <p:cNvPr id="71685" name="Rectangle 5"/>
          <p:cNvSpPr>
            <a:spLocks noChangeArrowheads="1"/>
          </p:cNvSpPr>
          <p:nvPr/>
        </p:nvSpPr>
        <p:spPr bwMode="auto">
          <a:xfrm>
            <a:off x="1419225" y="2852738"/>
            <a:ext cx="4313238"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1.1 </a:t>
            </a:r>
            <a:r>
              <a:rPr lang="zh-CN" altLang="en-US" sz="2800">
                <a:latin typeface="Times New Roman" panose="02020603050405020304" pitchFamily="18" charset="0"/>
                <a:ea typeface="黑体" panose="02010609060101010101" pitchFamily="49" charset="-122"/>
              </a:rPr>
              <a:t>自动控制及其发展概述</a:t>
            </a:r>
          </a:p>
        </p:txBody>
      </p:sp>
      <p:sp>
        <p:nvSpPr>
          <p:cNvPr id="71686" name="Rectangle 6"/>
          <p:cNvSpPr>
            <a:spLocks noChangeArrowheads="1"/>
          </p:cNvSpPr>
          <p:nvPr/>
        </p:nvSpPr>
        <p:spPr bwMode="auto">
          <a:xfrm>
            <a:off x="1419225" y="3427413"/>
            <a:ext cx="6108700"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1.2 </a:t>
            </a:r>
            <a:r>
              <a:rPr lang="zh-CN" altLang="en-US" sz="2800">
                <a:latin typeface="Times New Roman" panose="02020603050405020304" pitchFamily="18" charset="0"/>
                <a:ea typeface="黑体" panose="02010609060101010101" pitchFamily="49" charset="-122"/>
              </a:rPr>
              <a:t>控制系统的反馈工作原理及其组成</a:t>
            </a:r>
          </a:p>
        </p:txBody>
      </p:sp>
      <p:sp>
        <p:nvSpPr>
          <p:cNvPr id="71687" name="Rectangle 7"/>
          <p:cNvSpPr>
            <a:spLocks noChangeArrowheads="1"/>
          </p:cNvSpPr>
          <p:nvPr/>
        </p:nvSpPr>
        <p:spPr bwMode="auto">
          <a:xfrm>
            <a:off x="1419225" y="4156075"/>
            <a:ext cx="3954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1.3 </a:t>
            </a:r>
            <a:r>
              <a:rPr lang="zh-CN" altLang="en-US" sz="2800">
                <a:solidFill>
                  <a:schemeClr val="tx2"/>
                </a:solidFill>
                <a:latin typeface="Times New Roman" panose="02020603050405020304" pitchFamily="18" charset="0"/>
                <a:ea typeface="黑体" panose="02010609060101010101" pitchFamily="49" charset="-122"/>
              </a:rPr>
              <a:t>控制系统的基本类型</a:t>
            </a:r>
          </a:p>
        </p:txBody>
      </p:sp>
      <p:sp>
        <p:nvSpPr>
          <p:cNvPr id="71688" name="Rectangle 8"/>
          <p:cNvSpPr>
            <a:spLocks noChangeArrowheads="1"/>
          </p:cNvSpPr>
          <p:nvPr/>
        </p:nvSpPr>
        <p:spPr bwMode="auto">
          <a:xfrm>
            <a:off x="1419225" y="4630738"/>
            <a:ext cx="35607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1.4 </a:t>
            </a:r>
            <a:r>
              <a:rPr lang="zh-CN" altLang="en-US" sz="2800">
                <a:solidFill>
                  <a:srgbClr val="FF0000"/>
                </a:solidFill>
                <a:latin typeface="Times New Roman" panose="02020603050405020304" pitchFamily="18" charset="0"/>
                <a:ea typeface="黑体" panose="02010609060101010101" pitchFamily="49" charset="-122"/>
              </a:rPr>
              <a:t>对控制系统的要求</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40CCDAF-8B57-41AA-B8F9-6F09B0F48187}" type="datetime10">
              <a:rPr lang="zh-CN" altLang="en-US" smtClean="0"/>
              <a:pPr/>
              <a:t>14:02</a:t>
            </a:fld>
            <a:endParaRPr lang="zh-CN" altLang="en-US"/>
          </a:p>
        </p:txBody>
      </p:sp>
      <p:sp>
        <p:nvSpPr>
          <p:cNvPr id="7373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57858E3-A279-4BC5-8729-712D031EA89A}" type="slidenum">
              <a:rPr lang="en-US" altLang="zh-CN" smtClean="0"/>
              <a:pPr/>
              <a:t>39</a:t>
            </a:fld>
            <a:endParaRPr lang="en-US" altLang="zh-CN"/>
          </a:p>
        </p:txBody>
      </p:sp>
      <p:sp>
        <p:nvSpPr>
          <p:cNvPr id="73732" name="Text Box 2"/>
          <p:cNvSpPr txBox="1">
            <a:spLocks noChangeArrowheads="1"/>
          </p:cNvSpPr>
          <p:nvPr/>
        </p:nvSpPr>
        <p:spPr bwMode="auto">
          <a:xfrm>
            <a:off x="539750" y="188913"/>
            <a:ext cx="35956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1.4 </a:t>
            </a:r>
            <a:r>
              <a:rPr lang="zh-CN" altLang="en-US" sz="2800">
                <a:latin typeface="Times New Roman" panose="02020603050405020304" pitchFamily="18" charset="0"/>
                <a:ea typeface="黑体" panose="02010609060101010101" pitchFamily="49" charset="-122"/>
              </a:rPr>
              <a:t>对控制系统的要求</a:t>
            </a:r>
          </a:p>
        </p:txBody>
      </p:sp>
      <p:sp>
        <p:nvSpPr>
          <p:cNvPr id="31747" name="Rectangle 3"/>
          <p:cNvSpPr>
            <a:spLocks noChangeArrowheads="1"/>
          </p:cNvSpPr>
          <p:nvPr/>
        </p:nvSpPr>
        <p:spPr bwMode="auto">
          <a:xfrm>
            <a:off x="990600" y="1720850"/>
            <a:ext cx="181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zh-CN" altLang="en-US" sz="2800" b="1">
                <a:latin typeface="Times New Roman" panose="02020603050405020304" pitchFamily="18" charset="0"/>
              </a:rPr>
              <a:t>  稳定性 </a:t>
            </a:r>
          </a:p>
        </p:txBody>
      </p:sp>
      <p:sp>
        <p:nvSpPr>
          <p:cNvPr id="31748" name="Text Box 4"/>
          <p:cNvSpPr txBox="1">
            <a:spLocks noChangeArrowheads="1"/>
          </p:cNvSpPr>
          <p:nvPr/>
        </p:nvSpPr>
        <p:spPr bwMode="auto">
          <a:xfrm>
            <a:off x="1295400" y="2276475"/>
            <a:ext cx="7391400"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    系统动态过程的振荡倾向及其恢复平衡状态的能力。稳定的系统当输出量偏离平衡状态时，其输出能随时间的增长收敛并回到初始平衡状态。稳定性是控制系统正常工作的先决条件。</a:t>
            </a:r>
            <a:r>
              <a:rPr lang="zh-CN" altLang="en-US" sz="2800">
                <a:latin typeface="Times New Roman" panose="02020603050405020304" pitchFamily="18" charset="0"/>
              </a:rPr>
              <a:t> </a:t>
            </a:r>
          </a:p>
        </p:txBody>
      </p:sp>
      <p:sp>
        <p:nvSpPr>
          <p:cNvPr id="31749" name="Text Box 5"/>
          <p:cNvSpPr txBox="1">
            <a:spLocks noChangeArrowheads="1"/>
          </p:cNvSpPr>
          <p:nvPr/>
        </p:nvSpPr>
        <p:spPr bwMode="auto">
          <a:xfrm>
            <a:off x="1187450" y="4724400"/>
            <a:ext cx="739140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    线性控制系统稳定性由系统结构所决定，与外界因素无关。</a:t>
            </a:r>
            <a:endParaRPr lang="zh-CN" altLang="en-US" sz="2800">
              <a:latin typeface="Times New Roman" panose="02020603050405020304" pitchFamily="18" charset="0"/>
            </a:endParaRPr>
          </a:p>
        </p:txBody>
      </p:sp>
      <p:sp>
        <p:nvSpPr>
          <p:cNvPr id="9" name="Rectangle 3"/>
          <p:cNvSpPr>
            <a:spLocks noChangeArrowheads="1"/>
          </p:cNvSpPr>
          <p:nvPr/>
        </p:nvSpPr>
        <p:spPr bwMode="auto">
          <a:xfrm>
            <a:off x="539750" y="981075"/>
            <a:ext cx="41322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2800">
                <a:latin typeface="Times New Roman" panose="02020603050405020304" pitchFamily="18" charset="0"/>
                <a:ea typeface="黑体" panose="02010609060101010101" pitchFamily="49" charset="-122"/>
              </a:rPr>
              <a:t>对控制系统的基本要求</a:t>
            </a:r>
            <a:r>
              <a:rPr lang="zh-CN" altLang="en-US" sz="2800" b="1">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47"/>
                                        </p:tgtEl>
                                        <p:attrNameLst>
                                          <p:attrName>style.visibility</p:attrName>
                                        </p:attrNameLst>
                                      </p:cBhvr>
                                      <p:to>
                                        <p:strVal val="visible"/>
                                      </p:to>
                                    </p:set>
                                    <p:anim calcmode="lin" valueType="num">
                                      <p:cBhvr additive="base">
                                        <p:cTn id="13" dur="500" fill="hold"/>
                                        <p:tgtEl>
                                          <p:spTgt spid="31747"/>
                                        </p:tgtEl>
                                        <p:attrNameLst>
                                          <p:attrName>ppt_x</p:attrName>
                                        </p:attrNameLst>
                                      </p:cBhvr>
                                      <p:tavLst>
                                        <p:tav tm="0">
                                          <p:val>
                                            <p:strVal val="#ppt_x"/>
                                          </p:val>
                                        </p:tav>
                                        <p:tav tm="100000">
                                          <p:val>
                                            <p:strVal val="#ppt_x"/>
                                          </p:val>
                                        </p:tav>
                                      </p:tavLst>
                                    </p:anim>
                                    <p:anim calcmode="lin" valueType="num">
                                      <p:cBhvr additive="base">
                                        <p:cTn id="14" dur="500" fill="hold"/>
                                        <p:tgtEl>
                                          <p:spTgt spid="3174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48"/>
                                        </p:tgtEl>
                                        <p:attrNameLst>
                                          <p:attrName>style.visibility</p:attrName>
                                        </p:attrNameLst>
                                      </p:cBhvr>
                                      <p:to>
                                        <p:strVal val="visible"/>
                                      </p:to>
                                    </p:set>
                                    <p:anim calcmode="lin" valueType="num">
                                      <p:cBhvr additive="base">
                                        <p:cTn id="19" dur="500" fill="hold"/>
                                        <p:tgtEl>
                                          <p:spTgt spid="31748"/>
                                        </p:tgtEl>
                                        <p:attrNameLst>
                                          <p:attrName>ppt_x</p:attrName>
                                        </p:attrNameLst>
                                      </p:cBhvr>
                                      <p:tavLst>
                                        <p:tav tm="0">
                                          <p:val>
                                            <p:strVal val="#ppt_x"/>
                                          </p:val>
                                        </p:tav>
                                        <p:tav tm="100000">
                                          <p:val>
                                            <p:strVal val="#ppt_x"/>
                                          </p:val>
                                        </p:tav>
                                      </p:tavLst>
                                    </p:anim>
                                    <p:anim calcmode="lin" valueType="num">
                                      <p:cBhvr additive="base">
                                        <p:cTn id="20" dur="500" fill="hold"/>
                                        <p:tgtEl>
                                          <p:spTgt spid="3174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749"/>
                                        </p:tgtEl>
                                        <p:attrNameLst>
                                          <p:attrName>style.visibility</p:attrName>
                                        </p:attrNameLst>
                                      </p:cBhvr>
                                      <p:to>
                                        <p:strVal val="visible"/>
                                      </p:to>
                                    </p:set>
                                    <p:anim calcmode="lin" valueType="num">
                                      <p:cBhvr additive="base">
                                        <p:cTn id="25" dur="500" fill="hold"/>
                                        <p:tgtEl>
                                          <p:spTgt spid="31749"/>
                                        </p:tgtEl>
                                        <p:attrNameLst>
                                          <p:attrName>ppt_x</p:attrName>
                                        </p:attrNameLst>
                                      </p:cBhvr>
                                      <p:tavLst>
                                        <p:tav tm="0">
                                          <p:val>
                                            <p:strVal val="#ppt_x"/>
                                          </p:val>
                                        </p:tav>
                                        <p:tav tm="100000">
                                          <p:val>
                                            <p:strVal val="#ppt_x"/>
                                          </p:val>
                                        </p:tav>
                                      </p:tavLst>
                                    </p:anim>
                                    <p:anim calcmode="lin" valueType="num">
                                      <p:cBhvr additive="base">
                                        <p:cTn id="26"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8" grpId="0"/>
      <p:bldP spid="31749"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239B173-3E13-4874-99DF-CF031640EA28}" type="datetime10">
              <a:rPr lang="zh-CN" altLang="en-US" smtClean="0"/>
              <a:pPr/>
              <a:t>14:02</a:t>
            </a:fld>
            <a:endParaRPr lang="zh-CN" altLang="en-US"/>
          </a:p>
        </p:txBody>
      </p:sp>
      <p:sp>
        <p:nvSpPr>
          <p:cNvPr id="7577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A605312-C21C-4DCC-97D4-F730253AE942}" type="slidenum">
              <a:rPr lang="en-US" altLang="zh-CN" smtClean="0"/>
              <a:pPr/>
              <a:t>40</a:t>
            </a:fld>
            <a:endParaRPr lang="en-US" altLang="zh-CN"/>
          </a:p>
        </p:txBody>
      </p:sp>
      <p:sp>
        <p:nvSpPr>
          <p:cNvPr id="75780" name="Rectangle 2"/>
          <p:cNvSpPr>
            <a:spLocks noChangeArrowheads="1"/>
          </p:cNvSpPr>
          <p:nvPr/>
        </p:nvSpPr>
        <p:spPr bwMode="auto">
          <a:xfrm>
            <a:off x="900113" y="1052513"/>
            <a:ext cx="1728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快速性 </a:t>
            </a:r>
          </a:p>
        </p:txBody>
      </p:sp>
      <p:sp>
        <p:nvSpPr>
          <p:cNvPr id="33795" name="Text Box 3"/>
          <p:cNvSpPr txBox="1">
            <a:spLocks noChangeArrowheads="1"/>
          </p:cNvSpPr>
          <p:nvPr/>
        </p:nvSpPr>
        <p:spPr bwMode="auto">
          <a:xfrm>
            <a:off x="827088" y="1700213"/>
            <a:ext cx="7704137" cy="157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宋体" panose="02010600030101010101" pitchFamily="2" charset="-122"/>
              </a:rPr>
              <a:t>    </a:t>
            </a:r>
            <a:r>
              <a:rPr lang="zh-CN" altLang="en-US" sz="2800">
                <a:latin typeface="宋体" panose="02010600030101010101" pitchFamily="2" charset="-122"/>
              </a:rPr>
              <a:t>输出量和输入量产生偏差时，系统消除这种偏差的快慢程度。快速性（快速和平稳）表征系统的动态性能。</a:t>
            </a:r>
          </a:p>
        </p:txBody>
      </p:sp>
      <p:sp>
        <p:nvSpPr>
          <p:cNvPr id="9" name="Rectangle 2"/>
          <p:cNvSpPr>
            <a:spLocks noChangeArrowheads="1"/>
          </p:cNvSpPr>
          <p:nvPr/>
        </p:nvSpPr>
        <p:spPr bwMode="auto">
          <a:xfrm>
            <a:off x="954088" y="3302000"/>
            <a:ext cx="18176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准</a:t>
            </a:r>
            <a:r>
              <a:rPr lang="zh-CN" altLang="en-US" sz="2800" b="1">
                <a:latin typeface="Times New Roman" panose="02020603050405020304" pitchFamily="18" charset="0"/>
              </a:rPr>
              <a:t>确性 </a:t>
            </a:r>
          </a:p>
        </p:txBody>
      </p:sp>
      <p:sp>
        <p:nvSpPr>
          <p:cNvPr id="10" name="Text Box 3"/>
          <p:cNvSpPr txBox="1">
            <a:spLocks noChangeArrowheads="1"/>
          </p:cNvSpPr>
          <p:nvPr/>
        </p:nvSpPr>
        <p:spPr bwMode="auto">
          <a:xfrm>
            <a:off x="1258888" y="3933825"/>
            <a:ext cx="7391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Times New Roman" panose="02020603050405020304" pitchFamily="18" charset="0"/>
              </a:rPr>
              <a:t>控制精度，以稳态误差来衡量。</a:t>
            </a:r>
            <a:endParaRPr lang="zh-CN" altLang="en-US" sz="2800">
              <a:latin typeface="宋体" panose="02010600030101010101" pitchFamily="2" charset="-122"/>
            </a:endParaRPr>
          </a:p>
        </p:txBody>
      </p:sp>
      <p:sp>
        <p:nvSpPr>
          <p:cNvPr id="11" name="Text Box 4"/>
          <p:cNvSpPr txBox="1">
            <a:spLocks noChangeArrowheads="1"/>
          </p:cNvSpPr>
          <p:nvPr/>
        </p:nvSpPr>
        <p:spPr bwMode="auto">
          <a:xfrm>
            <a:off x="1258888" y="4597400"/>
            <a:ext cx="73914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solidFill>
                  <a:srgbClr val="CC0000"/>
                </a:solidFill>
                <a:latin typeface="宋体" panose="02010600030101010101" pitchFamily="2" charset="-122"/>
              </a:rPr>
              <a:t>稳态误差</a:t>
            </a:r>
            <a:r>
              <a:rPr lang="zh-CN" altLang="en-US" sz="2800">
                <a:latin typeface="宋体" panose="02010600030101010101" pitchFamily="2" charset="-122"/>
              </a:rPr>
              <a:t>：系统的调整（过渡）过程结束而趋于稳定状态时，系统输出量的实际值与给定量之间的差值。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9"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01CD5E8-D4A7-408E-BEBA-95C94426561A}" type="datetime10">
              <a:rPr lang="zh-CN" altLang="en-US" smtClean="0"/>
              <a:pPr/>
              <a:t>14:02</a:t>
            </a:fld>
            <a:endParaRPr lang="zh-CN" altLang="en-US"/>
          </a:p>
        </p:txBody>
      </p:sp>
      <p:sp>
        <p:nvSpPr>
          <p:cNvPr id="77827"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CE6BE90-47B5-4E17-BA21-74F0C2EA2B36}" type="slidenum">
              <a:rPr lang="en-US" altLang="zh-CN" smtClean="0"/>
              <a:pPr/>
              <a:t>41</a:t>
            </a:fld>
            <a:endParaRPr lang="en-US" altLang="zh-CN"/>
          </a:p>
        </p:txBody>
      </p:sp>
      <p:sp>
        <p:nvSpPr>
          <p:cNvPr id="7" name="Text Box 4"/>
          <p:cNvSpPr txBox="1">
            <a:spLocks noChangeArrowheads="1"/>
          </p:cNvSpPr>
          <p:nvPr/>
        </p:nvSpPr>
        <p:spPr bwMode="auto">
          <a:xfrm>
            <a:off x="611188" y="1989138"/>
            <a:ext cx="77724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spcAft>
                <a:spcPct val="25000"/>
              </a:spcAft>
            </a:pPr>
            <a:r>
              <a:rPr lang="zh-CN" altLang="en-US" sz="2800">
                <a:solidFill>
                  <a:srgbClr val="CC0000"/>
                </a:solidFill>
                <a:latin typeface="宋体" panose="02010600030101010101" pitchFamily="2" charset="-122"/>
              </a:rPr>
              <a:t>注意：</a:t>
            </a:r>
          </a:p>
          <a:p>
            <a:pPr eaLnBrk="1" hangingPunct="1">
              <a:lnSpc>
                <a:spcPct val="115000"/>
              </a:lnSpc>
              <a:buFont typeface="Wingdings" panose="05000000000000000000" pitchFamily="2" charset="2"/>
              <a:buChar char="Ø"/>
            </a:pPr>
            <a:r>
              <a:rPr lang="zh-CN" altLang="en-US" sz="2800">
                <a:latin typeface="Times New Roman" panose="02020603050405020304" pitchFamily="18" charset="0"/>
              </a:rPr>
              <a:t> </a:t>
            </a:r>
            <a:r>
              <a:rPr lang="zh-CN" altLang="en-US" sz="2800">
                <a:latin typeface="宋体" panose="02010600030101010101" pitchFamily="2" charset="-122"/>
              </a:rPr>
              <a:t>不同性质的控制系统，对稳定性（相对稳定性，即平稳性）、准确性和快速性要求各有侧重。</a:t>
            </a:r>
          </a:p>
        </p:txBody>
      </p:sp>
      <p:sp>
        <p:nvSpPr>
          <p:cNvPr id="8" name="Rectangle 5"/>
          <p:cNvSpPr>
            <a:spLocks noChangeArrowheads="1"/>
          </p:cNvSpPr>
          <p:nvPr/>
        </p:nvSpPr>
        <p:spPr bwMode="auto">
          <a:xfrm>
            <a:off x="611188" y="3741738"/>
            <a:ext cx="7772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系统的稳定性、准确性、快速性相互制约，应  根据实际需求合理选择。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04AAF05-B675-481B-BCD2-2A834DF989C4}" type="datetime10">
              <a:rPr lang="zh-CN" altLang="en-US" smtClean="0"/>
              <a:pPr/>
              <a:t>14:02</a:t>
            </a:fld>
            <a:endParaRPr lang="zh-CN" altLang="en-US"/>
          </a:p>
        </p:txBody>
      </p:sp>
      <p:sp>
        <p:nvSpPr>
          <p:cNvPr id="7987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CFAE728-AE1A-4365-9E89-A62FC9C91B79}" type="slidenum">
              <a:rPr lang="en-US" altLang="zh-CN" smtClean="0"/>
              <a:pPr/>
              <a:t>42</a:t>
            </a:fld>
            <a:endParaRPr lang="en-US" altLang="zh-CN"/>
          </a:p>
        </p:txBody>
      </p:sp>
      <p:sp>
        <p:nvSpPr>
          <p:cNvPr id="79876" name="Text Box 2"/>
          <p:cNvSpPr txBox="1">
            <a:spLocks noChangeArrowheads="1"/>
          </p:cNvSpPr>
          <p:nvPr/>
        </p:nvSpPr>
        <p:spPr bwMode="auto">
          <a:xfrm>
            <a:off x="827088" y="908050"/>
            <a:ext cx="449421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zh-CN" altLang="en-US" sz="2800">
                <a:latin typeface="Times New Roman" panose="02020603050405020304" pitchFamily="18" charset="0"/>
                <a:ea typeface="黑体" panose="02010609060101010101" pitchFamily="49" charset="-122"/>
              </a:rPr>
              <a:t>本课程的任务（主要内容）</a:t>
            </a:r>
          </a:p>
        </p:txBody>
      </p:sp>
      <p:sp>
        <p:nvSpPr>
          <p:cNvPr id="40963" name="Rectangle 3"/>
          <p:cNvSpPr>
            <a:spLocks noChangeArrowheads="1"/>
          </p:cNvSpPr>
          <p:nvPr/>
        </p:nvSpPr>
        <p:spPr bwMode="auto">
          <a:xfrm>
            <a:off x="914400" y="1830388"/>
            <a:ext cx="77724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本课程的任务</a:t>
            </a:r>
            <a:endParaRPr lang="zh-CN" altLang="en-US" sz="2800" b="1">
              <a:latin typeface="宋体" panose="02010600030101010101" pitchFamily="2" charset="-122"/>
            </a:endParaRPr>
          </a:p>
        </p:txBody>
      </p:sp>
      <p:sp>
        <p:nvSpPr>
          <p:cNvPr id="40964" name="Text Box 4"/>
          <p:cNvSpPr txBox="1">
            <a:spLocks noChangeArrowheads="1"/>
          </p:cNvSpPr>
          <p:nvPr/>
        </p:nvSpPr>
        <p:spPr bwMode="auto">
          <a:xfrm>
            <a:off x="1158875" y="2522538"/>
            <a:ext cx="3435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控制系统</a:t>
            </a:r>
            <a:r>
              <a:rPr lang="zh-CN" altLang="en-US" sz="2800" b="1">
                <a:latin typeface="Times New Roman" panose="02020603050405020304" pitchFamily="18" charset="0"/>
              </a:rPr>
              <a:t>性能分析</a:t>
            </a:r>
          </a:p>
        </p:txBody>
      </p:sp>
      <p:sp>
        <p:nvSpPr>
          <p:cNvPr id="40965" name="Text Box 5"/>
          <p:cNvSpPr txBox="1">
            <a:spLocks noChangeArrowheads="1"/>
          </p:cNvSpPr>
          <p:nvPr/>
        </p:nvSpPr>
        <p:spPr bwMode="auto">
          <a:xfrm>
            <a:off x="1158875" y="3041650"/>
            <a:ext cx="6584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动态性能：过渡过程分析、稳定性分析等</a:t>
            </a:r>
          </a:p>
        </p:txBody>
      </p:sp>
      <p:sp>
        <p:nvSpPr>
          <p:cNvPr id="40966" name="Text Box 6"/>
          <p:cNvSpPr txBox="1">
            <a:spLocks noChangeArrowheads="1"/>
          </p:cNvSpPr>
          <p:nvPr/>
        </p:nvSpPr>
        <p:spPr bwMode="auto">
          <a:xfrm>
            <a:off x="1158875" y="3575050"/>
            <a:ext cx="551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稳态性能：控制精度（稳态误差）</a:t>
            </a:r>
          </a:p>
        </p:txBody>
      </p:sp>
      <p:sp>
        <p:nvSpPr>
          <p:cNvPr id="40967" name="Text Box 7"/>
          <p:cNvSpPr txBox="1">
            <a:spLocks noChangeArrowheads="1"/>
          </p:cNvSpPr>
          <p:nvPr/>
        </p:nvSpPr>
        <p:spPr bwMode="auto">
          <a:xfrm>
            <a:off x="1162050" y="4198938"/>
            <a:ext cx="2717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控制系统</a:t>
            </a:r>
            <a:r>
              <a:rPr lang="zh-CN" altLang="en-US" sz="2800" b="1">
                <a:latin typeface="Times New Roman" panose="02020603050405020304" pitchFamily="18" charset="0"/>
              </a:rPr>
              <a:t>设计</a:t>
            </a:r>
          </a:p>
        </p:txBody>
      </p:sp>
      <p:sp>
        <p:nvSpPr>
          <p:cNvPr id="40968" name="Text Box 8"/>
          <p:cNvSpPr txBox="1">
            <a:spLocks noChangeArrowheads="1"/>
          </p:cNvSpPr>
          <p:nvPr/>
        </p:nvSpPr>
        <p:spPr bwMode="auto">
          <a:xfrm>
            <a:off x="1162050" y="4641850"/>
            <a:ext cx="729615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选择适当的控制器及控制规律以改善控制系统</a:t>
            </a:r>
          </a:p>
          <a:p>
            <a:pPr eaLnBrk="1" hangingPunct="1">
              <a:lnSpc>
                <a:spcPct val="115000"/>
              </a:lnSpc>
            </a:pPr>
            <a:r>
              <a:rPr lang="zh-CN" altLang="en-US" sz="2800">
                <a:latin typeface="Times New Roman" panose="02020603050405020304" pitchFamily="18" charset="0"/>
              </a:rPr>
              <a:t>的性能使其满足控制要求。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 calcmode="lin" valueType="num">
                                      <p:cBhvr additive="base">
                                        <p:cTn id="7" dur="500" fill="hold"/>
                                        <p:tgtEl>
                                          <p:spTgt spid="40963"/>
                                        </p:tgtEl>
                                        <p:attrNameLst>
                                          <p:attrName>ppt_x</p:attrName>
                                        </p:attrNameLst>
                                      </p:cBhvr>
                                      <p:tavLst>
                                        <p:tav tm="0">
                                          <p:val>
                                            <p:strVal val="#ppt_x"/>
                                          </p:val>
                                        </p:tav>
                                        <p:tav tm="100000">
                                          <p:val>
                                            <p:strVal val="#ppt_x"/>
                                          </p:val>
                                        </p:tav>
                                      </p:tavLst>
                                    </p:anim>
                                    <p:anim calcmode="lin" valueType="num">
                                      <p:cBhvr additive="base">
                                        <p:cTn id="8" dur="500" fill="hold"/>
                                        <p:tgtEl>
                                          <p:spTgt spid="409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4"/>
                                        </p:tgtEl>
                                        <p:attrNameLst>
                                          <p:attrName>style.visibility</p:attrName>
                                        </p:attrNameLst>
                                      </p:cBhvr>
                                      <p:to>
                                        <p:strVal val="visible"/>
                                      </p:to>
                                    </p:set>
                                    <p:anim calcmode="lin" valueType="num">
                                      <p:cBhvr additive="base">
                                        <p:cTn id="13" dur="500" fill="hold"/>
                                        <p:tgtEl>
                                          <p:spTgt spid="40964"/>
                                        </p:tgtEl>
                                        <p:attrNameLst>
                                          <p:attrName>ppt_x</p:attrName>
                                        </p:attrNameLst>
                                      </p:cBhvr>
                                      <p:tavLst>
                                        <p:tav tm="0">
                                          <p:val>
                                            <p:strVal val="#ppt_x"/>
                                          </p:val>
                                        </p:tav>
                                        <p:tav tm="100000">
                                          <p:val>
                                            <p:strVal val="#ppt_x"/>
                                          </p:val>
                                        </p:tav>
                                      </p:tavLst>
                                    </p:anim>
                                    <p:anim calcmode="lin" valueType="num">
                                      <p:cBhvr additive="base">
                                        <p:cTn id="14" dur="500" fill="hold"/>
                                        <p:tgtEl>
                                          <p:spTgt spid="4096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65"/>
                                        </p:tgtEl>
                                        <p:attrNameLst>
                                          <p:attrName>style.visibility</p:attrName>
                                        </p:attrNameLst>
                                      </p:cBhvr>
                                      <p:to>
                                        <p:strVal val="visible"/>
                                      </p:to>
                                    </p:set>
                                    <p:anim calcmode="lin" valueType="num">
                                      <p:cBhvr additive="base">
                                        <p:cTn id="19" dur="500" fill="hold"/>
                                        <p:tgtEl>
                                          <p:spTgt spid="40965"/>
                                        </p:tgtEl>
                                        <p:attrNameLst>
                                          <p:attrName>ppt_x</p:attrName>
                                        </p:attrNameLst>
                                      </p:cBhvr>
                                      <p:tavLst>
                                        <p:tav tm="0">
                                          <p:val>
                                            <p:strVal val="#ppt_x"/>
                                          </p:val>
                                        </p:tav>
                                        <p:tav tm="100000">
                                          <p:val>
                                            <p:strVal val="#ppt_x"/>
                                          </p:val>
                                        </p:tav>
                                      </p:tavLst>
                                    </p:anim>
                                    <p:anim calcmode="lin" valueType="num">
                                      <p:cBhvr additive="base">
                                        <p:cTn id="20" dur="500" fill="hold"/>
                                        <p:tgtEl>
                                          <p:spTgt spid="4096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66"/>
                                        </p:tgtEl>
                                        <p:attrNameLst>
                                          <p:attrName>style.visibility</p:attrName>
                                        </p:attrNameLst>
                                      </p:cBhvr>
                                      <p:to>
                                        <p:strVal val="visible"/>
                                      </p:to>
                                    </p:set>
                                    <p:anim calcmode="lin" valueType="num">
                                      <p:cBhvr additive="base">
                                        <p:cTn id="25" dur="500" fill="hold"/>
                                        <p:tgtEl>
                                          <p:spTgt spid="40966"/>
                                        </p:tgtEl>
                                        <p:attrNameLst>
                                          <p:attrName>ppt_x</p:attrName>
                                        </p:attrNameLst>
                                      </p:cBhvr>
                                      <p:tavLst>
                                        <p:tav tm="0">
                                          <p:val>
                                            <p:strVal val="#ppt_x"/>
                                          </p:val>
                                        </p:tav>
                                        <p:tav tm="100000">
                                          <p:val>
                                            <p:strVal val="#ppt_x"/>
                                          </p:val>
                                        </p:tav>
                                      </p:tavLst>
                                    </p:anim>
                                    <p:anim calcmode="lin" valueType="num">
                                      <p:cBhvr additive="base">
                                        <p:cTn id="26" dur="500" fill="hold"/>
                                        <p:tgtEl>
                                          <p:spTgt spid="4096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0967"/>
                                        </p:tgtEl>
                                        <p:attrNameLst>
                                          <p:attrName>style.visibility</p:attrName>
                                        </p:attrNameLst>
                                      </p:cBhvr>
                                      <p:to>
                                        <p:strVal val="visible"/>
                                      </p:to>
                                    </p:set>
                                    <p:anim calcmode="lin" valueType="num">
                                      <p:cBhvr additive="base">
                                        <p:cTn id="31" dur="500" fill="hold"/>
                                        <p:tgtEl>
                                          <p:spTgt spid="40967"/>
                                        </p:tgtEl>
                                        <p:attrNameLst>
                                          <p:attrName>ppt_x</p:attrName>
                                        </p:attrNameLst>
                                      </p:cBhvr>
                                      <p:tavLst>
                                        <p:tav tm="0">
                                          <p:val>
                                            <p:strVal val="#ppt_x"/>
                                          </p:val>
                                        </p:tav>
                                        <p:tav tm="100000">
                                          <p:val>
                                            <p:strVal val="#ppt_x"/>
                                          </p:val>
                                        </p:tav>
                                      </p:tavLst>
                                    </p:anim>
                                    <p:anim calcmode="lin" valueType="num">
                                      <p:cBhvr additive="base">
                                        <p:cTn id="32"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0968"/>
                                        </p:tgtEl>
                                        <p:attrNameLst>
                                          <p:attrName>style.visibility</p:attrName>
                                        </p:attrNameLst>
                                      </p:cBhvr>
                                      <p:to>
                                        <p:strVal val="visible"/>
                                      </p:to>
                                    </p:set>
                                    <p:anim calcmode="lin" valueType="num">
                                      <p:cBhvr additive="base">
                                        <p:cTn id="37" dur="500" fill="hold"/>
                                        <p:tgtEl>
                                          <p:spTgt spid="40968"/>
                                        </p:tgtEl>
                                        <p:attrNameLst>
                                          <p:attrName>ppt_x</p:attrName>
                                        </p:attrNameLst>
                                      </p:cBhvr>
                                      <p:tavLst>
                                        <p:tav tm="0">
                                          <p:val>
                                            <p:strVal val="#ppt_x"/>
                                          </p:val>
                                        </p:tav>
                                        <p:tav tm="100000">
                                          <p:val>
                                            <p:strVal val="#ppt_x"/>
                                          </p:val>
                                        </p:tav>
                                      </p:tavLst>
                                    </p:anim>
                                    <p:anim calcmode="lin" valueType="num">
                                      <p:cBhvr additive="base">
                                        <p:cTn id="38" dur="500" fill="hold"/>
                                        <p:tgtEl>
                                          <p:spTgt spid="409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64" grpId="0"/>
      <p:bldP spid="40965" grpId="0"/>
      <p:bldP spid="40966" grpId="0"/>
      <p:bldP spid="40967" grpId="0"/>
      <p:bldP spid="4096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ED68D1E-F440-459C-9146-9AB1EBB78B1E}" type="datetime10">
              <a:rPr lang="zh-CN" altLang="en-US" smtClean="0"/>
              <a:pPr/>
              <a:t>14:02</a:t>
            </a:fld>
            <a:endParaRPr lang="zh-CN" altLang="en-US"/>
          </a:p>
        </p:txBody>
      </p:sp>
      <p:sp>
        <p:nvSpPr>
          <p:cNvPr id="81923"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B6B0734-716A-4E2E-AEAC-471DFECE0F46}" type="slidenum">
              <a:rPr lang="en-US" altLang="zh-CN" smtClean="0"/>
              <a:pPr/>
              <a:t>43</a:t>
            </a:fld>
            <a:endParaRPr lang="en-US" altLang="zh-CN"/>
          </a:p>
        </p:txBody>
      </p:sp>
      <p:sp>
        <p:nvSpPr>
          <p:cNvPr id="81924" name="Text Box 4"/>
          <p:cNvSpPr txBox="1">
            <a:spLocks noChangeArrowheads="1"/>
          </p:cNvSpPr>
          <p:nvPr/>
        </p:nvSpPr>
        <p:spPr bwMode="auto">
          <a:xfrm>
            <a:off x="1646238" y="1384300"/>
            <a:ext cx="5724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1</a:t>
            </a:r>
            <a:r>
              <a:rPr lang="zh-CN" altLang="en-US" sz="3600">
                <a:latin typeface="Times New Roman" panose="02020603050405020304" pitchFamily="18" charset="0"/>
                <a:ea typeface="华文新魏" panose="02010800040101010101" pitchFamily="2" charset="-122"/>
              </a:rPr>
              <a:t>章  控制系统的基本概念</a:t>
            </a:r>
          </a:p>
        </p:txBody>
      </p:sp>
      <p:sp>
        <p:nvSpPr>
          <p:cNvPr id="81925" name="Rectangle 5"/>
          <p:cNvSpPr>
            <a:spLocks noChangeArrowheads="1"/>
          </p:cNvSpPr>
          <p:nvPr/>
        </p:nvSpPr>
        <p:spPr bwMode="auto">
          <a:xfrm>
            <a:off x="1403350" y="2576513"/>
            <a:ext cx="431323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1.1 </a:t>
            </a:r>
            <a:r>
              <a:rPr lang="zh-CN" altLang="en-US" sz="2800">
                <a:latin typeface="Times New Roman" panose="02020603050405020304" pitchFamily="18" charset="0"/>
                <a:ea typeface="黑体" panose="02010609060101010101" pitchFamily="49" charset="-122"/>
              </a:rPr>
              <a:t>自动控制及其发展概述</a:t>
            </a:r>
          </a:p>
        </p:txBody>
      </p:sp>
      <p:sp>
        <p:nvSpPr>
          <p:cNvPr id="81926" name="Rectangle 6"/>
          <p:cNvSpPr>
            <a:spLocks noChangeArrowheads="1"/>
          </p:cNvSpPr>
          <p:nvPr/>
        </p:nvSpPr>
        <p:spPr bwMode="auto">
          <a:xfrm>
            <a:off x="1403350" y="3151188"/>
            <a:ext cx="61087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1.2 </a:t>
            </a:r>
            <a:r>
              <a:rPr lang="zh-CN" altLang="en-US" sz="2800">
                <a:latin typeface="Times New Roman" panose="02020603050405020304" pitchFamily="18" charset="0"/>
                <a:ea typeface="黑体" panose="02010609060101010101" pitchFamily="49" charset="-122"/>
              </a:rPr>
              <a:t>控制系统的反馈工作原理及其组成</a:t>
            </a:r>
          </a:p>
        </p:txBody>
      </p:sp>
      <p:sp>
        <p:nvSpPr>
          <p:cNvPr id="81927" name="Rectangle 7"/>
          <p:cNvSpPr>
            <a:spLocks noChangeArrowheads="1"/>
          </p:cNvSpPr>
          <p:nvPr/>
        </p:nvSpPr>
        <p:spPr bwMode="auto">
          <a:xfrm>
            <a:off x="1403350" y="3878263"/>
            <a:ext cx="3954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1.3 </a:t>
            </a:r>
            <a:r>
              <a:rPr lang="zh-CN" altLang="en-US" sz="2800">
                <a:latin typeface="Times New Roman" panose="02020603050405020304" pitchFamily="18" charset="0"/>
                <a:ea typeface="黑体" panose="02010609060101010101" pitchFamily="49" charset="-122"/>
              </a:rPr>
              <a:t>控制系统的基本类型</a:t>
            </a:r>
          </a:p>
        </p:txBody>
      </p:sp>
      <p:sp>
        <p:nvSpPr>
          <p:cNvPr id="81928" name="Rectangle 8"/>
          <p:cNvSpPr>
            <a:spLocks noChangeArrowheads="1"/>
          </p:cNvSpPr>
          <p:nvPr/>
        </p:nvSpPr>
        <p:spPr bwMode="auto">
          <a:xfrm>
            <a:off x="1403350" y="4354513"/>
            <a:ext cx="3595856" cy="608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dirty="0">
                <a:latin typeface="Times New Roman" panose="02020603050405020304" pitchFamily="18" charset="0"/>
                <a:ea typeface="黑体" panose="02010609060101010101" pitchFamily="49" charset="-122"/>
              </a:rPr>
              <a:t>1.4 </a:t>
            </a:r>
            <a:r>
              <a:rPr lang="zh-CN" altLang="en-US" sz="2800" dirty="0">
                <a:latin typeface="Times New Roman" panose="02020603050405020304" pitchFamily="18" charset="0"/>
                <a:ea typeface="黑体" panose="02010609060101010101" pitchFamily="49" charset="-122"/>
              </a:rPr>
              <a:t>对控制系统的</a:t>
            </a:r>
            <a:r>
              <a:rPr lang="zh-CN" altLang="en-US" sz="2800" dirty="0" smtClean="0">
                <a:latin typeface="Times New Roman" panose="02020603050405020304" pitchFamily="18" charset="0"/>
                <a:ea typeface="黑体" panose="02010609060101010101" pitchFamily="49" charset="-122"/>
              </a:rPr>
              <a:t>要求</a:t>
            </a:r>
            <a:endParaRPr lang="zh-CN" altLang="en-US" sz="2800" dirty="0">
              <a:latin typeface="Times New Roman" panose="02020603050405020304" pitchFamily="18" charset="0"/>
              <a:ea typeface="黑体" panose="02010609060101010101" pitchFamily="49" charset="-122"/>
            </a:endParaRPr>
          </a:p>
        </p:txBody>
      </p:sp>
      <p:sp>
        <p:nvSpPr>
          <p:cNvPr id="81929" name="文本框 8"/>
          <p:cNvSpPr txBox="1">
            <a:spLocks noChangeArrowheads="1"/>
          </p:cNvSpPr>
          <p:nvPr/>
        </p:nvSpPr>
        <p:spPr bwMode="auto">
          <a:xfrm>
            <a:off x="2538413" y="5232400"/>
            <a:ext cx="32623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6000"/>
              <a:t>本章结束</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678DE7C-B66E-4C08-9F95-4BDC38B8EE1B}" type="datetime10">
              <a:rPr lang="zh-CN" altLang="en-US" smtClean="0"/>
              <a:pPr/>
              <a:t>14:02</a:t>
            </a:fld>
            <a:endParaRPr lang="zh-CN" altLang="en-US"/>
          </a:p>
        </p:txBody>
      </p:sp>
      <p:sp>
        <p:nvSpPr>
          <p:cNvPr id="8397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D5DE20C-C329-4E48-BCCD-FD9E7F68D70F}" type="slidenum">
              <a:rPr lang="en-US" altLang="zh-CN" smtClean="0"/>
              <a:pPr/>
              <a:t>44</a:t>
            </a:fld>
            <a:endParaRPr lang="en-US" altLang="zh-CN"/>
          </a:p>
        </p:txBody>
      </p:sp>
      <p:sp>
        <p:nvSpPr>
          <p:cNvPr id="37891" name="Rectangle 3"/>
          <p:cNvSpPr>
            <a:spLocks noChangeArrowheads="1"/>
          </p:cNvSpPr>
          <p:nvPr/>
        </p:nvSpPr>
        <p:spPr bwMode="auto">
          <a:xfrm>
            <a:off x="915988" y="2579688"/>
            <a:ext cx="44196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zh-CN" altLang="en-US" sz="2800">
                <a:latin typeface="Times New Roman" panose="02020603050405020304" pitchFamily="18" charset="0"/>
              </a:rPr>
              <a:t>反馈控制系统的工作原理</a:t>
            </a:r>
          </a:p>
        </p:txBody>
      </p:sp>
      <p:sp>
        <p:nvSpPr>
          <p:cNvPr id="37892" name="Rectangle 4"/>
          <p:cNvSpPr>
            <a:spLocks noChangeArrowheads="1"/>
          </p:cNvSpPr>
          <p:nvPr/>
        </p:nvSpPr>
        <p:spPr bwMode="auto">
          <a:xfrm>
            <a:off x="915988" y="3100388"/>
            <a:ext cx="37020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zh-CN" altLang="en-US" sz="2800">
                <a:latin typeface="Times New Roman" panose="02020603050405020304" pitchFamily="18" charset="0"/>
              </a:rPr>
              <a:t>反馈控制系统的组成</a:t>
            </a:r>
          </a:p>
        </p:txBody>
      </p:sp>
      <p:sp>
        <p:nvSpPr>
          <p:cNvPr id="37893" name="Rectangle 5"/>
          <p:cNvSpPr>
            <a:spLocks noChangeArrowheads="1"/>
          </p:cNvSpPr>
          <p:nvPr/>
        </p:nvSpPr>
        <p:spPr bwMode="auto">
          <a:xfrm>
            <a:off x="900113" y="3646488"/>
            <a:ext cx="402272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zh-CN" altLang="en-US" sz="2800">
                <a:latin typeface="Times New Roman" panose="02020603050405020304" pitchFamily="18" charset="0"/>
              </a:rPr>
              <a:t>对控制系统的基本要求</a:t>
            </a:r>
          </a:p>
        </p:txBody>
      </p:sp>
      <p:sp>
        <p:nvSpPr>
          <p:cNvPr id="83975" name="Text Box 6"/>
          <p:cNvSpPr txBox="1">
            <a:spLocks noChangeArrowheads="1"/>
          </p:cNvSpPr>
          <p:nvPr/>
        </p:nvSpPr>
        <p:spPr bwMode="auto">
          <a:xfrm>
            <a:off x="900113" y="836613"/>
            <a:ext cx="207962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zh-CN" altLang="en-US" sz="2800">
                <a:latin typeface="Times New Roman" panose="02020603050405020304" pitchFamily="18" charset="0"/>
                <a:ea typeface="黑体" panose="02010609060101010101" pitchFamily="49" charset="-122"/>
              </a:rPr>
              <a:t>重要知识点</a:t>
            </a:r>
            <a:r>
              <a:rPr lang="en-US" altLang="zh-CN" sz="2800">
                <a:latin typeface="Times New Roman" panose="02020603050405020304" pitchFamily="18" charset="0"/>
                <a:ea typeface="黑体" panose="02010609060101010101" pitchFamily="49" charset="-122"/>
              </a:rPr>
              <a:t>:</a:t>
            </a:r>
            <a:endParaRPr lang="zh-CN" altLang="en-US" sz="2800">
              <a:latin typeface="Times New Roman" panose="02020603050405020304" pitchFamily="18" charset="0"/>
              <a:ea typeface="黑体" panose="02010609060101010101" pitchFamily="49" charset="-122"/>
            </a:endParaRPr>
          </a:p>
        </p:txBody>
      </p:sp>
      <p:sp>
        <p:nvSpPr>
          <p:cNvPr id="8" name="Rectangle 5"/>
          <p:cNvSpPr>
            <a:spLocks noChangeArrowheads="1"/>
          </p:cNvSpPr>
          <p:nvPr/>
        </p:nvSpPr>
        <p:spPr bwMode="auto">
          <a:xfrm>
            <a:off x="936625" y="3663950"/>
            <a:ext cx="46990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endParaRPr lang="zh-CN" altLang="en-US" sz="2800">
              <a:latin typeface="Times New Roman" panose="02020603050405020304" pitchFamily="18" charset="0"/>
            </a:endParaRPr>
          </a:p>
        </p:txBody>
      </p:sp>
      <p:sp>
        <p:nvSpPr>
          <p:cNvPr id="10" name="Text Box 2"/>
          <p:cNvSpPr txBox="1">
            <a:spLocks noChangeArrowheads="1"/>
          </p:cNvSpPr>
          <p:nvPr/>
        </p:nvSpPr>
        <p:spPr bwMode="auto">
          <a:xfrm>
            <a:off x="755650" y="4762500"/>
            <a:ext cx="7778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en-US" sz="3200" b="1">
                <a:latin typeface="Times New Roman" panose="02020603050405020304" pitchFamily="18" charset="0"/>
              </a:rPr>
              <a:t>本章作业：</a:t>
            </a:r>
            <a:r>
              <a:rPr lang="en-US" altLang="zh-CN" sz="3200" b="1">
                <a:latin typeface="Times New Roman" panose="02020603050405020304" pitchFamily="18" charset="0"/>
              </a:rPr>
              <a:t>1.1, </a:t>
            </a:r>
            <a:r>
              <a:rPr lang="zh-CN" altLang="en-US" sz="3200" b="1">
                <a:latin typeface="Times New Roman" panose="02020603050405020304" pitchFamily="18" charset="0"/>
              </a:rPr>
              <a:t> </a:t>
            </a:r>
            <a:r>
              <a:rPr lang="en-US" altLang="zh-CN" sz="3200" b="1">
                <a:latin typeface="Times New Roman" panose="02020603050405020304" pitchFamily="18" charset="0"/>
              </a:rPr>
              <a:t>1.3,  1.6</a:t>
            </a:r>
            <a:endParaRPr lang="en-US" altLang="zh-CN" sz="24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 calcmode="lin" valueType="num">
                                      <p:cBhvr additive="base">
                                        <p:cTn id="7" dur="500" fill="hold"/>
                                        <p:tgtEl>
                                          <p:spTgt spid="37891"/>
                                        </p:tgtEl>
                                        <p:attrNameLst>
                                          <p:attrName>ppt_x</p:attrName>
                                        </p:attrNameLst>
                                      </p:cBhvr>
                                      <p:tavLst>
                                        <p:tav tm="0">
                                          <p:val>
                                            <p:strVal val="#ppt_x"/>
                                          </p:val>
                                        </p:tav>
                                        <p:tav tm="100000">
                                          <p:val>
                                            <p:strVal val="#ppt_x"/>
                                          </p:val>
                                        </p:tav>
                                      </p:tavLst>
                                    </p:anim>
                                    <p:anim calcmode="lin" valueType="num">
                                      <p:cBhvr additive="base">
                                        <p:cTn id="8" dur="500" fill="hold"/>
                                        <p:tgtEl>
                                          <p:spTgt spid="378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2"/>
                                        </p:tgtEl>
                                        <p:attrNameLst>
                                          <p:attrName>style.visibility</p:attrName>
                                        </p:attrNameLst>
                                      </p:cBhvr>
                                      <p:to>
                                        <p:strVal val="visible"/>
                                      </p:to>
                                    </p:set>
                                    <p:anim calcmode="lin" valueType="num">
                                      <p:cBhvr additive="base">
                                        <p:cTn id="13" dur="500" fill="hold"/>
                                        <p:tgtEl>
                                          <p:spTgt spid="37892"/>
                                        </p:tgtEl>
                                        <p:attrNameLst>
                                          <p:attrName>ppt_x</p:attrName>
                                        </p:attrNameLst>
                                      </p:cBhvr>
                                      <p:tavLst>
                                        <p:tav tm="0">
                                          <p:val>
                                            <p:strVal val="#ppt_x"/>
                                          </p:val>
                                        </p:tav>
                                        <p:tav tm="100000">
                                          <p:val>
                                            <p:strVal val="#ppt_x"/>
                                          </p:val>
                                        </p:tav>
                                      </p:tavLst>
                                    </p:anim>
                                    <p:anim calcmode="lin" valueType="num">
                                      <p:cBhvr additive="base">
                                        <p:cTn id="14"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3"/>
                                        </p:tgtEl>
                                        <p:attrNameLst>
                                          <p:attrName>style.visibility</p:attrName>
                                        </p:attrNameLst>
                                      </p:cBhvr>
                                      <p:to>
                                        <p:strVal val="visible"/>
                                      </p:to>
                                    </p:set>
                                    <p:anim calcmode="lin" valueType="num">
                                      <p:cBhvr additive="base">
                                        <p:cTn id="19" dur="500" fill="hold"/>
                                        <p:tgtEl>
                                          <p:spTgt spid="37893"/>
                                        </p:tgtEl>
                                        <p:attrNameLst>
                                          <p:attrName>ppt_x</p:attrName>
                                        </p:attrNameLst>
                                      </p:cBhvr>
                                      <p:tavLst>
                                        <p:tav tm="0">
                                          <p:val>
                                            <p:strVal val="#ppt_x"/>
                                          </p:val>
                                        </p:tav>
                                        <p:tav tm="100000">
                                          <p:val>
                                            <p:strVal val="#ppt_x"/>
                                          </p:val>
                                        </p:tav>
                                      </p:tavLst>
                                    </p:anim>
                                    <p:anim calcmode="lin" valueType="num">
                                      <p:cBhvr additive="base">
                                        <p:cTn id="20"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nodePh="1">
                                  <p:stCondLst>
                                    <p:cond delay="0"/>
                                  </p:stCondLst>
                                  <p:endCondLst>
                                    <p:cond delay="0"/>
                                  </p:end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p:bldP spid="37893" grpId="0"/>
      <p:bldP spid="8" grpId="0"/>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23CE457-BAB2-41AD-AF89-1A5025A2278E}" type="datetime10">
              <a:rPr lang="zh-CN" altLang="en-US" smtClean="0"/>
              <a:pPr/>
              <a:t>14:02</a:t>
            </a:fld>
            <a:endParaRPr lang="zh-CN" altLang="en-US"/>
          </a:p>
        </p:txBody>
      </p:sp>
      <p:sp>
        <p:nvSpPr>
          <p:cNvPr id="86019"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DB0F107-42D9-4F98-9672-B4F7F4A414CE}" type="slidenum">
              <a:rPr lang="en-US" altLang="zh-CN" smtClean="0"/>
              <a:pPr/>
              <a:t>45</a:t>
            </a:fld>
            <a:endParaRPr lang="en-US" altLang="zh-CN"/>
          </a:p>
        </p:txBody>
      </p:sp>
      <p:pic>
        <p:nvPicPr>
          <p:cNvPr id="86020" name="Picture 4" descr="sp111"/>
          <p:cNvPicPr>
            <a:picLocks noChangeAspect="1" noChangeArrowheads="1"/>
          </p:cNvPicPr>
          <p:nvPr/>
        </p:nvPicPr>
        <p:blipFill>
          <a:blip r:embed="rId2">
            <a:clrChange>
              <a:clrFrom>
                <a:srgbClr val="CBCEC5"/>
              </a:clrFrom>
              <a:clrTo>
                <a:srgbClr val="CBCEC5">
                  <a:alpha val="0"/>
                </a:srgbClr>
              </a:clrTo>
            </a:clrChange>
            <a:lum contrast="48000"/>
            <a:extLst>
              <a:ext uri="{28A0092B-C50C-407E-A947-70E740481C1C}">
                <a14:useLocalDpi xmlns:a14="http://schemas.microsoft.com/office/drawing/2010/main" val="0"/>
              </a:ext>
            </a:extLst>
          </a:blip>
          <a:srcRect b="7922"/>
          <a:stretch>
            <a:fillRect/>
          </a:stretch>
        </p:blipFill>
        <p:spPr bwMode="auto">
          <a:xfrm>
            <a:off x="250825" y="1931988"/>
            <a:ext cx="7491413"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1" name="文本框 1"/>
          <p:cNvSpPr txBox="1">
            <a:spLocks noChangeArrowheads="1"/>
          </p:cNvSpPr>
          <p:nvPr/>
        </p:nvSpPr>
        <p:spPr bwMode="auto">
          <a:xfrm>
            <a:off x="609600" y="476250"/>
            <a:ext cx="7778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t>例：图示系统为瓦特</a:t>
            </a:r>
            <a:r>
              <a:rPr lang="en-US" altLang="zh-CN" sz="2400"/>
              <a:t>1769</a:t>
            </a:r>
            <a:r>
              <a:rPr lang="zh-CN" altLang="en-US" sz="2400"/>
              <a:t>年发明的速度控制系统，用于调节蒸汽轮机的运动速度，试绘制方框图。</a:t>
            </a:r>
          </a:p>
        </p:txBody>
      </p:sp>
      <p:sp>
        <p:nvSpPr>
          <p:cNvPr id="3" name="文本框 2"/>
          <p:cNvSpPr txBox="1">
            <a:spLocks noChangeArrowheads="1"/>
          </p:cNvSpPr>
          <p:nvPr/>
        </p:nvSpPr>
        <p:spPr bwMode="auto">
          <a:xfrm>
            <a:off x="6415088" y="156368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solidFill>
                  <a:srgbClr val="FF0000"/>
                </a:solidFill>
              </a:rPr>
              <a:t>工作原理？</a:t>
            </a:r>
          </a:p>
        </p:txBody>
      </p:sp>
      <p:sp>
        <p:nvSpPr>
          <p:cNvPr id="4" name="文本框 3"/>
          <p:cNvSpPr txBox="1">
            <a:spLocks noChangeArrowheads="1"/>
          </p:cNvSpPr>
          <p:nvPr/>
        </p:nvSpPr>
        <p:spPr bwMode="auto">
          <a:xfrm>
            <a:off x="5911850" y="2009775"/>
            <a:ext cx="3263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solidFill>
                  <a:srgbClr val="FF0000"/>
                </a:solidFill>
              </a:rPr>
              <a:t>被控对象、输出信号？</a:t>
            </a:r>
          </a:p>
        </p:txBody>
      </p:sp>
      <p:sp>
        <p:nvSpPr>
          <p:cNvPr id="9" name="文本框 8"/>
          <p:cNvSpPr txBox="1">
            <a:spLocks noChangeArrowheads="1"/>
          </p:cNvSpPr>
          <p:nvPr/>
        </p:nvSpPr>
        <p:spPr bwMode="auto">
          <a:xfrm>
            <a:off x="5940425" y="2487613"/>
            <a:ext cx="3262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solidFill>
                  <a:srgbClr val="FF0000"/>
                </a:solidFill>
              </a:rPr>
              <a:t>输入信号、给定元件？</a:t>
            </a:r>
          </a:p>
        </p:txBody>
      </p:sp>
      <p:sp>
        <p:nvSpPr>
          <p:cNvPr id="5" name="文本框 4"/>
          <p:cNvSpPr txBox="1">
            <a:spLocks noChangeArrowheads="1"/>
          </p:cNvSpPr>
          <p:nvPr/>
        </p:nvSpPr>
        <p:spPr bwMode="auto">
          <a:xfrm>
            <a:off x="5940425" y="2959100"/>
            <a:ext cx="32623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solidFill>
                  <a:srgbClr val="FF0000"/>
                </a:solidFill>
              </a:rPr>
              <a:t>反馈元件、比较元件？</a:t>
            </a:r>
          </a:p>
        </p:txBody>
      </p:sp>
      <p:sp>
        <p:nvSpPr>
          <p:cNvPr id="11" name="文本框 10"/>
          <p:cNvSpPr txBox="1">
            <a:spLocks noChangeArrowheads="1"/>
          </p:cNvSpPr>
          <p:nvPr/>
        </p:nvSpPr>
        <p:spPr bwMode="auto">
          <a:xfrm>
            <a:off x="5940425" y="3429000"/>
            <a:ext cx="3262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a:solidFill>
                  <a:srgbClr val="FF0000"/>
                </a:solidFill>
              </a:rPr>
              <a:t>放大元件、执行元件？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5"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06F3D58-2493-4A88-8CAB-E84A9E53F1F8}" type="datetime10">
              <a:rPr lang="zh-CN" altLang="en-US" smtClean="0"/>
              <a:pPr/>
              <a:t>14:02</a:t>
            </a:fld>
            <a:endParaRPr lang="en-US" altLang="zh-CN"/>
          </a:p>
        </p:txBody>
      </p:sp>
      <p:sp>
        <p:nvSpPr>
          <p:cNvPr id="87043" name="Text Box 7"/>
          <p:cNvSpPr txBox="1">
            <a:spLocks noChangeArrowheads="1"/>
          </p:cNvSpPr>
          <p:nvPr/>
        </p:nvSpPr>
        <p:spPr bwMode="auto">
          <a:xfrm>
            <a:off x="644525" y="1854200"/>
            <a:ext cx="1214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b="1">
                <a:latin typeface="Times New Roman" panose="02020603050405020304" pitchFamily="18" charset="0"/>
              </a:rPr>
              <a:t>方框图</a:t>
            </a:r>
            <a:r>
              <a:rPr lang="en-US" altLang="zh-CN" sz="2400" b="1">
                <a:latin typeface="Times New Roman" panose="02020603050405020304" pitchFamily="18" charset="0"/>
              </a:rPr>
              <a:t>:</a:t>
            </a:r>
          </a:p>
        </p:txBody>
      </p:sp>
      <p:sp>
        <p:nvSpPr>
          <p:cNvPr id="87044" name="Line 8"/>
          <p:cNvSpPr>
            <a:spLocks noChangeShapeType="1"/>
          </p:cNvSpPr>
          <p:nvPr/>
        </p:nvSpPr>
        <p:spPr bwMode="auto">
          <a:xfrm>
            <a:off x="1376363" y="2951163"/>
            <a:ext cx="685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45" name="Text Box 9"/>
          <p:cNvSpPr txBox="1">
            <a:spLocks noChangeArrowheads="1"/>
          </p:cNvSpPr>
          <p:nvPr/>
        </p:nvSpPr>
        <p:spPr bwMode="auto">
          <a:xfrm>
            <a:off x="935038" y="2546350"/>
            <a:ext cx="855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1800">
                <a:latin typeface="Times New Roman" panose="02020603050405020304" pitchFamily="18" charset="0"/>
                <a:cs typeface="Times New Roman" panose="02020603050405020304" pitchFamily="18" charset="0"/>
              </a:rPr>
              <a:t>ω</a:t>
            </a:r>
            <a:r>
              <a:rPr lang="en-US" altLang="zh-CN" sz="1800" baseline="-25000">
                <a:latin typeface="Times New Roman" panose="02020603050405020304" pitchFamily="18" charset="0"/>
                <a:cs typeface="Times New Roman" panose="02020603050405020304" pitchFamily="18" charset="0"/>
              </a:rPr>
              <a:t>g</a:t>
            </a:r>
            <a:r>
              <a:rPr lang="en-US" altLang="zh-CN" sz="1800">
                <a:latin typeface="Times New Roman" panose="02020603050405020304" pitchFamily="18" charset="0"/>
                <a:cs typeface="Times New Roman" panose="02020603050405020304" pitchFamily="18" charset="0"/>
              </a:rPr>
              <a:t>=ω</a:t>
            </a:r>
            <a:r>
              <a:rPr lang="en-US" altLang="zh-CN" sz="1800" baseline="-25000">
                <a:latin typeface="Times New Roman" panose="02020603050405020304" pitchFamily="18" charset="0"/>
                <a:cs typeface="Times New Roman" panose="02020603050405020304" pitchFamily="18" charset="0"/>
              </a:rPr>
              <a:t>d</a:t>
            </a:r>
            <a:endParaRPr lang="en-US" altLang="zh-CN" sz="1800" baseline="-25000">
              <a:latin typeface="Times New Roman" panose="02020603050405020304" pitchFamily="18" charset="0"/>
            </a:endParaRPr>
          </a:p>
        </p:txBody>
      </p:sp>
      <p:sp>
        <p:nvSpPr>
          <p:cNvPr id="87046" name="AutoShape 10"/>
          <p:cNvSpPr>
            <a:spLocks noChangeArrowheads="1"/>
          </p:cNvSpPr>
          <p:nvPr/>
        </p:nvSpPr>
        <p:spPr bwMode="auto">
          <a:xfrm>
            <a:off x="2062163" y="2798763"/>
            <a:ext cx="304800" cy="304800"/>
          </a:xfrm>
          <a:prstGeom prst="flowChartSummingJunction">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1800">
              <a:latin typeface="Times New Roman" panose="02020603050405020304" pitchFamily="18" charset="0"/>
            </a:endParaRPr>
          </a:p>
        </p:txBody>
      </p:sp>
      <p:sp>
        <p:nvSpPr>
          <p:cNvPr id="87047" name="Line 11"/>
          <p:cNvSpPr>
            <a:spLocks noChangeShapeType="1"/>
          </p:cNvSpPr>
          <p:nvPr/>
        </p:nvSpPr>
        <p:spPr bwMode="auto">
          <a:xfrm flipV="1">
            <a:off x="2214563" y="3103563"/>
            <a:ext cx="0" cy="914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48" name="Text Box 12"/>
          <p:cNvSpPr txBox="1">
            <a:spLocks noChangeArrowheads="1"/>
          </p:cNvSpPr>
          <p:nvPr/>
        </p:nvSpPr>
        <p:spPr bwMode="auto">
          <a:xfrm>
            <a:off x="1547813" y="3532188"/>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1800">
                <a:latin typeface="Times New Roman" panose="02020603050405020304" pitchFamily="18" charset="0"/>
                <a:cs typeface="Times New Roman" panose="02020603050405020304" pitchFamily="18" charset="0"/>
              </a:rPr>
              <a:t>ω</a:t>
            </a:r>
            <a:r>
              <a:rPr lang="en-US" altLang="zh-CN" sz="1800" baseline="-25000">
                <a:latin typeface="Times New Roman" panose="02020603050405020304" pitchFamily="18" charset="0"/>
                <a:cs typeface="Times New Roman" panose="02020603050405020304" pitchFamily="18" charset="0"/>
              </a:rPr>
              <a:t>g</a:t>
            </a:r>
            <a:endParaRPr lang="en-US" altLang="zh-CN" sz="1800" baseline="-25000">
              <a:latin typeface="Times New Roman" panose="02020603050405020304" pitchFamily="18" charset="0"/>
            </a:endParaRPr>
          </a:p>
        </p:txBody>
      </p:sp>
      <p:sp>
        <p:nvSpPr>
          <p:cNvPr id="87049" name="Line 13"/>
          <p:cNvSpPr>
            <a:spLocks noChangeShapeType="1"/>
          </p:cNvSpPr>
          <p:nvPr/>
        </p:nvSpPr>
        <p:spPr bwMode="auto">
          <a:xfrm>
            <a:off x="2366963" y="2951163"/>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0" name="Text Box 14"/>
          <p:cNvSpPr txBox="1">
            <a:spLocks noChangeArrowheads="1"/>
          </p:cNvSpPr>
          <p:nvPr/>
        </p:nvSpPr>
        <p:spPr bwMode="auto">
          <a:xfrm>
            <a:off x="2595563" y="264636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1800">
                <a:latin typeface="Times New Roman" panose="02020603050405020304" pitchFamily="18" charset="0"/>
              </a:rPr>
              <a:t>x</a:t>
            </a:r>
          </a:p>
        </p:txBody>
      </p:sp>
      <p:sp>
        <p:nvSpPr>
          <p:cNvPr id="87051" name="Rectangle 15"/>
          <p:cNvSpPr>
            <a:spLocks noChangeArrowheads="1"/>
          </p:cNvSpPr>
          <p:nvPr/>
        </p:nvSpPr>
        <p:spPr bwMode="auto">
          <a:xfrm>
            <a:off x="2976563" y="2722563"/>
            <a:ext cx="12954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latin typeface="Times New Roman" panose="02020603050405020304" pitchFamily="18" charset="0"/>
              </a:rPr>
              <a:t>连杆机构</a:t>
            </a:r>
            <a:endParaRPr lang="en-US" altLang="zh-CN" sz="2000">
              <a:latin typeface="Times New Roman" panose="02020603050405020304" pitchFamily="18" charset="0"/>
            </a:endParaRPr>
          </a:p>
        </p:txBody>
      </p:sp>
      <p:sp>
        <p:nvSpPr>
          <p:cNvPr id="87052" name="Line 16"/>
          <p:cNvSpPr>
            <a:spLocks noChangeShapeType="1"/>
          </p:cNvSpPr>
          <p:nvPr/>
        </p:nvSpPr>
        <p:spPr bwMode="auto">
          <a:xfrm>
            <a:off x="4271963" y="2951163"/>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3" name="Rectangle 17"/>
          <p:cNvSpPr>
            <a:spLocks noChangeArrowheads="1"/>
          </p:cNvSpPr>
          <p:nvPr/>
        </p:nvSpPr>
        <p:spPr bwMode="auto">
          <a:xfrm>
            <a:off x="4729163" y="2722563"/>
            <a:ext cx="1219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latin typeface="Times New Roman" panose="02020603050405020304" pitchFamily="18" charset="0"/>
              </a:rPr>
              <a:t>蒸汽阀</a:t>
            </a:r>
            <a:endParaRPr lang="en-US" altLang="zh-CN" sz="2000">
              <a:latin typeface="Times New Roman" panose="02020603050405020304" pitchFamily="18" charset="0"/>
            </a:endParaRPr>
          </a:p>
        </p:txBody>
      </p:sp>
      <p:sp>
        <p:nvSpPr>
          <p:cNvPr id="87054" name="Line 18"/>
          <p:cNvSpPr>
            <a:spLocks noChangeShapeType="1"/>
          </p:cNvSpPr>
          <p:nvPr/>
        </p:nvSpPr>
        <p:spPr bwMode="auto">
          <a:xfrm>
            <a:off x="5948363" y="2951163"/>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5" name="Rectangle 19"/>
          <p:cNvSpPr>
            <a:spLocks noChangeArrowheads="1"/>
          </p:cNvSpPr>
          <p:nvPr/>
        </p:nvSpPr>
        <p:spPr bwMode="auto">
          <a:xfrm>
            <a:off x="6405563" y="2668588"/>
            <a:ext cx="1047750" cy="719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latin typeface="Times New Roman" panose="02020603050405020304" pitchFamily="18" charset="0"/>
              </a:rPr>
              <a:t>蒸汽</a:t>
            </a:r>
            <a:endParaRPr lang="en-US" altLang="zh-CN" sz="2000">
              <a:latin typeface="Times New Roman" panose="02020603050405020304" pitchFamily="18" charset="0"/>
            </a:endParaRPr>
          </a:p>
          <a:p>
            <a:pPr algn="ctr" eaLnBrk="1" hangingPunct="1">
              <a:spcBef>
                <a:spcPct val="0"/>
              </a:spcBef>
              <a:buClrTx/>
              <a:buFontTx/>
              <a:buNone/>
            </a:pPr>
            <a:r>
              <a:rPr lang="zh-CN" altLang="en-US" sz="2000">
                <a:latin typeface="Times New Roman" panose="02020603050405020304" pitchFamily="18" charset="0"/>
              </a:rPr>
              <a:t>轮机</a:t>
            </a:r>
            <a:endParaRPr lang="en-US" altLang="zh-CN" sz="2000">
              <a:latin typeface="Times New Roman" panose="02020603050405020304" pitchFamily="18" charset="0"/>
            </a:endParaRPr>
          </a:p>
        </p:txBody>
      </p:sp>
      <p:sp>
        <p:nvSpPr>
          <p:cNvPr id="87056" name="Line 20"/>
          <p:cNvSpPr>
            <a:spLocks noChangeShapeType="1"/>
          </p:cNvSpPr>
          <p:nvPr/>
        </p:nvSpPr>
        <p:spPr bwMode="auto">
          <a:xfrm>
            <a:off x="7396163" y="2951163"/>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7" name="Line 21"/>
          <p:cNvSpPr>
            <a:spLocks noChangeShapeType="1"/>
          </p:cNvSpPr>
          <p:nvPr/>
        </p:nvSpPr>
        <p:spPr bwMode="auto">
          <a:xfrm>
            <a:off x="7700963" y="2951163"/>
            <a:ext cx="0" cy="1066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8" name="Line 22"/>
          <p:cNvSpPr>
            <a:spLocks noChangeShapeType="1"/>
          </p:cNvSpPr>
          <p:nvPr/>
        </p:nvSpPr>
        <p:spPr bwMode="auto">
          <a:xfrm flipH="1">
            <a:off x="6024563" y="4017963"/>
            <a:ext cx="1676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59" name="Rectangle 23"/>
          <p:cNvSpPr>
            <a:spLocks noChangeArrowheads="1"/>
          </p:cNvSpPr>
          <p:nvPr/>
        </p:nvSpPr>
        <p:spPr bwMode="auto">
          <a:xfrm>
            <a:off x="4500563" y="3789363"/>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latin typeface="Times New Roman" panose="02020603050405020304" pitchFamily="18" charset="0"/>
              </a:rPr>
              <a:t>齿轮箱</a:t>
            </a:r>
            <a:endParaRPr lang="en-US" altLang="zh-CN" sz="2000">
              <a:latin typeface="Times New Roman" panose="02020603050405020304" pitchFamily="18" charset="0"/>
            </a:endParaRPr>
          </a:p>
        </p:txBody>
      </p:sp>
      <p:sp>
        <p:nvSpPr>
          <p:cNvPr id="87060" name="Line 24"/>
          <p:cNvSpPr>
            <a:spLocks noChangeShapeType="1"/>
          </p:cNvSpPr>
          <p:nvPr/>
        </p:nvSpPr>
        <p:spPr bwMode="auto">
          <a:xfrm flipH="1">
            <a:off x="2214563" y="4017963"/>
            <a:ext cx="2286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1" name="Text Box 25"/>
          <p:cNvSpPr txBox="1">
            <a:spLocks noChangeArrowheads="1"/>
          </p:cNvSpPr>
          <p:nvPr/>
        </p:nvSpPr>
        <p:spPr bwMode="auto">
          <a:xfrm>
            <a:off x="4348163" y="257016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1800">
                <a:latin typeface="Times New Roman" panose="02020603050405020304" pitchFamily="18" charset="0"/>
              </a:rPr>
              <a:t>y</a:t>
            </a:r>
          </a:p>
        </p:txBody>
      </p:sp>
      <p:sp>
        <p:nvSpPr>
          <p:cNvPr id="87062" name="Text Box 26"/>
          <p:cNvSpPr txBox="1">
            <a:spLocks noChangeArrowheads="1"/>
          </p:cNvSpPr>
          <p:nvPr/>
        </p:nvSpPr>
        <p:spPr bwMode="auto">
          <a:xfrm>
            <a:off x="5948363" y="2570163"/>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1800">
                <a:latin typeface="Times New Roman" panose="02020603050405020304" pitchFamily="18" charset="0"/>
              </a:rPr>
              <a:t>Q</a:t>
            </a:r>
          </a:p>
        </p:txBody>
      </p:sp>
      <p:sp>
        <p:nvSpPr>
          <p:cNvPr id="87063" name="Text Box 27"/>
          <p:cNvSpPr txBox="1">
            <a:spLocks noChangeArrowheads="1"/>
          </p:cNvSpPr>
          <p:nvPr/>
        </p:nvSpPr>
        <p:spPr bwMode="auto">
          <a:xfrm>
            <a:off x="7548563" y="257016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1800">
                <a:latin typeface="Times New Roman" panose="02020603050405020304" pitchFamily="18" charset="0"/>
                <a:cs typeface="Times New Roman" panose="02020603050405020304" pitchFamily="18" charset="0"/>
              </a:rPr>
              <a:t>ω</a:t>
            </a:r>
            <a:endParaRPr lang="en-US" altLang="zh-CN" sz="1800">
              <a:latin typeface="Times New Roman" panose="02020603050405020304" pitchFamily="18" charset="0"/>
            </a:endParaRPr>
          </a:p>
        </p:txBody>
      </p:sp>
      <p:sp>
        <p:nvSpPr>
          <p:cNvPr id="87064" name="Text Box 28"/>
          <p:cNvSpPr txBox="1">
            <a:spLocks noChangeArrowheads="1"/>
          </p:cNvSpPr>
          <p:nvPr/>
        </p:nvSpPr>
        <p:spPr bwMode="auto">
          <a:xfrm>
            <a:off x="1833563" y="310356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1800">
                <a:latin typeface="Times New Roman" panose="02020603050405020304" pitchFamily="18" charset="0"/>
              </a:rPr>
              <a:t>－</a:t>
            </a:r>
          </a:p>
        </p:txBody>
      </p:sp>
      <p:sp>
        <p:nvSpPr>
          <p:cNvPr id="87065" name="Rectangle 31"/>
          <p:cNvSpPr>
            <a:spLocks noChangeArrowheads="1"/>
          </p:cNvSpPr>
          <p:nvPr/>
        </p:nvSpPr>
        <p:spPr bwMode="auto">
          <a:xfrm>
            <a:off x="8029575" y="2668588"/>
            <a:ext cx="574675" cy="503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latin typeface="Times New Roman" panose="02020603050405020304" pitchFamily="18" charset="0"/>
              </a:rPr>
              <a:t>负载</a:t>
            </a:r>
            <a:endParaRPr lang="en-US" altLang="zh-CN" sz="2000">
              <a:latin typeface="Times New Roman" panose="02020603050405020304" pitchFamily="18" charset="0"/>
            </a:endParaRPr>
          </a:p>
        </p:txBody>
      </p:sp>
      <p:sp>
        <p:nvSpPr>
          <p:cNvPr id="87066" name="Rectangle 32"/>
          <p:cNvSpPr>
            <a:spLocks noChangeArrowheads="1"/>
          </p:cNvSpPr>
          <p:nvPr/>
        </p:nvSpPr>
        <p:spPr bwMode="auto">
          <a:xfrm>
            <a:off x="1692275" y="2452688"/>
            <a:ext cx="1008063" cy="10795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1800">
              <a:latin typeface="Times New Roman" panose="02020603050405020304" pitchFamily="18" charset="0"/>
            </a:endParaRPr>
          </a:p>
        </p:txBody>
      </p:sp>
      <p:sp>
        <p:nvSpPr>
          <p:cNvPr id="87067" name="Line 33"/>
          <p:cNvSpPr>
            <a:spLocks noChangeShapeType="1"/>
          </p:cNvSpPr>
          <p:nvPr/>
        </p:nvSpPr>
        <p:spPr bwMode="auto">
          <a:xfrm flipV="1">
            <a:off x="1271588" y="3460750"/>
            <a:ext cx="492125" cy="49847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68" name="Text Box 34"/>
          <p:cNvSpPr txBox="1">
            <a:spLocks noChangeArrowheads="1"/>
          </p:cNvSpPr>
          <p:nvPr/>
        </p:nvSpPr>
        <p:spPr bwMode="auto">
          <a:xfrm>
            <a:off x="495300" y="39592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000">
                <a:latin typeface="Times New Roman" panose="02020603050405020304" pitchFamily="18" charset="0"/>
              </a:rPr>
              <a:t>飞球调节器</a:t>
            </a:r>
            <a:endParaRPr lang="en-US" altLang="zh-CN" sz="200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E303A20-D5F2-4772-85C9-F5C5702D08FE}" type="datetime10">
              <a:rPr lang="zh-CN" altLang="en-US" smtClean="0"/>
              <a:pPr/>
              <a:t>14:02</a:t>
            </a:fld>
            <a:endParaRPr lang="zh-CN" altLang="en-US"/>
          </a:p>
        </p:txBody>
      </p:sp>
      <p:sp>
        <p:nvSpPr>
          <p:cNvPr id="88067"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1D09325-4ADF-437F-BE5C-B3759E76DD46}" type="slidenum">
              <a:rPr lang="en-US" altLang="zh-CN" smtClean="0"/>
              <a:pPr/>
              <a:t>47</a:t>
            </a:fld>
            <a:endParaRPr lang="en-US" altLang="zh-CN"/>
          </a:p>
        </p:txBody>
      </p:sp>
      <p:pic>
        <p:nvPicPr>
          <p:cNvPr id="88068" name="图片 3"/>
          <p:cNvPicPr>
            <a:picLocks noChangeAspect="1" noChangeArrowheads="1"/>
          </p:cNvPicPr>
          <p:nvPr/>
        </p:nvPicPr>
        <p:blipFill>
          <a:blip r:embed="rId2">
            <a:extLst>
              <a:ext uri="{28A0092B-C50C-407E-A947-70E740481C1C}">
                <a14:useLocalDpi xmlns:a14="http://schemas.microsoft.com/office/drawing/2010/main" val="0"/>
              </a:ext>
            </a:extLst>
          </a:blip>
          <a:srcRect b="11015"/>
          <a:stretch>
            <a:fillRect/>
          </a:stretch>
        </p:blipFill>
        <p:spPr bwMode="auto">
          <a:xfrm>
            <a:off x="4678363" y="188913"/>
            <a:ext cx="4251325" cy="306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9" name="Picture 4" descr="sp111"/>
          <p:cNvPicPr>
            <a:picLocks noChangeAspect="1" noChangeArrowheads="1"/>
          </p:cNvPicPr>
          <p:nvPr/>
        </p:nvPicPr>
        <p:blipFill>
          <a:blip r:embed="rId3">
            <a:clrChange>
              <a:clrFrom>
                <a:srgbClr val="CBCEC5"/>
              </a:clrFrom>
              <a:clrTo>
                <a:srgbClr val="CBCEC5">
                  <a:alpha val="0"/>
                </a:srgbClr>
              </a:clrTo>
            </a:clrChange>
            <a:lum contrast="48000"/>
            <a:extLst>
              <a:ext uri="{28A0092B-C50C-407E-A947-70E740481C1C}">
                <a14:useLocalDpi xmlns:a14="http://schemas.microsoft.com/office/drawing/2010/main" val="0"/>
              </a:ext>
            </a:extLst>
          </a:blip>
          <a:srcRect b="7922"/>
          <a:stretch>
            <a:fillRect/>
          </a:stretch>
        </p:blipFill>
        <p:spPr bwMode="auto">
          <a:xfrm>
            <a:off x="179388" y="2997200"/>
            <a:ext cx="6624637"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楷体_GB2312"/>
        <a:ea typeface="楷体_GB2312"/>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875</TotalTime>
  <Words>2340</Words>
  <Application>Microsoft Office PowerPoint</Application>
  <PresentationFormat>全屏显示(4:3)</PresentationFormat>
  <Paragraphs>471</Paragraphs>
  <Slides>47</Slides>
  <Notes>34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2" baseType="lpstr">
      <vt:lpstr>黑体</vt:lpstr>
      <vt:lpstr>华文行楷</vt:lpstr>
      <vt:lpstr>华文楷体</vt:lpstr>
      <vt:lpstr>华文细黑</vt:lpstr>
      <vt:lpstr>华文新魏</vt:lpstr>
      <vt:lpstr>楷体</vt:lpstr>
      <vt:lpstr>楷体_GB2312</vt:lpstr>
      <vt:lpstr>宋体</vt:lpstr>
      <vt:lpstr>Arial</vt:lpstr>
      <vt:lpstr>Symbol</vt:lpstr>
      <vt:lpstr>Times New Roman</vt:lpstr>
      <vt:lpstr>Verdana</vt:lpstr>
      <vt:lpstr>Wingdings</vt:lpstr>
      <vt:lpstr>Profile</vt:lpstr>
      <vt:lpstr>Bitmap Image</vt:lpstr>
      <vt:lpstr>机械控制工程基础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Lujx</cp:lastModifiedBy>
  <cp:revision>101</cp:revision>
  <dcterms:created xsi:type="dcterms:W3CDTF">2011-07-27T07:56:59Z</dcterms:created>
  <dcterms:modified xsi:type="dcterms:W3CDTF">2025-09-01T06:02:37Z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