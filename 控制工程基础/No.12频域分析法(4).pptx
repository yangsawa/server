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615" r:id="rId2"/>
    <p:sldId id="597" r:id="rId3"/>
    <p:sldId id="601" r:id="rId4"/>
    <p:sldId id="602" r:id="rId5"/>
    <p:sldId id="603" r:id="rId6"/>
    <p:sldId id="604" r:id="rId7"/>
    <p:sldId id="605" r:id="rId8"/>
    <p:sldId id="606" r:id="rId9"/>
    <p:sldId id="607" r:id="rId10"/>
    <p:sldId id="608" r:id="rId11"/>
    <p:sldId id="609" r:id="rId12"/>
    <p:sldId id="610" r:id="rId13"/>
    <p:sldId id="611" r:id="rId14"/>
    <p:sldId id="612" r:id="rId15"/>
    <p:sldId id="613" r:id="rId16"/>
    <p:sldId id="616" r:id="rId17"/>
    <p:sldId id="618" r:id="rId18"/>
    <p:sldId id="617" r:id="rId19"/>
    <p:sldId id="619" r:id="rId20"/>
    <p:sldId id="620" r:id="rId21"/>
    <p:sldId id="621" r:id="rId22"/>
    <p:sldId id="482" r:id="rId23"/>
    <p:sldId id="484" r:id="rId24"/>
    <p:sldId id="519" r:id="rId25"/>
    <p:sldId id="488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497" r:id="rId34"/>
    <p:sldId id="528" r:id="rId35"/>
    <p:sldId id="529" r:id="rId36"/>
    <p:sldId id="499" r:id="rId37"/>
    <p:sldId id="500" r:id="rId38"/>
    <p:sldId id="501" r:id="rId39"/>
    <p:sldId id="530" r:id="rId40"/>
    <p:sldId id="503" r:id="rId41"/>
    <p:sldId id="504" r:id="rId42"/>
    <p:sldId id="531" r:id="rId43"/>
    <p:sldId id="532" r:id="rId44"/>
    <p:sldId id="533" r:id="rId45"/>
    <p:sldId id="534" r:id="rId46"/>
    <p:sldId id="598" r:id="rId47"/>
    <p:sldId id="535" r:id="rId48"/>
    <p:sldId id="536" r:id="rId49"/>
    <p:sldId id="537" r:id="rId5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 autoAdjust="0"/>
    <p:restoredTop sz="93866" autoAdjust="0"/>
  </p:normalViewPr>
  <p:slideViewPr>
    <p:cSldViewPr>
      <p:cViewPr varScale="1">
        <p:scale>
          <a:sx n="70" d="100"/>
          <a:sy n="70" d="100"/>
        </p:scale>
        <p:origin x="990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545FF30-D23D-4022-85D8-763B1D0395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81BD1CB-50F1-4655-AFF5-69FCA4C96F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4DB1292-6062-45EC-A69C-EFC7760D09B7}" type="slidenum">
              <a:rPr altLang="zh-CN" smtClean="0">
                <a:latin typeface="Arial" panose="020B0604020202020204" pitchFamily="34" charset="0"/>
              </a:rPr>
              <a:pPr/>
              <a:t>1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7CA363-D52D-42AD-81C3-8C76BDE5F7D5}" type="slidenum">
              <a:rPr altLang="zh-CN" smtClean="0">
                <a:latin typeface="Arial" panose="020B0604020202020204" pitchFamily="34" charset="0"/>
              </a:rPr>
              <a:pPr/>
              <a:t>3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64F70C5-BA26-4520-8643-A678977F311F}" type="slidenum">
              <a:rPr altLang="zh-CN" smtClean="0">
                <a:latin typeface="Arial" panose="020B0604020202020204" pitchFamily="34" charset="0"/>
              </a:rPr>
              <a:pPr/>
              <a:t>4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1244E1-936D-4A3F-84CC-B8D406252D54}" type="slidenum">
              <a:rPr altLang="zh-CN" smtClean="0">
                <a:latin typeface="Arial" panose="020B0604020202020204" pitchFamily="34" charset="0"/>
              </a:rPr>
              <a:pPr/>
              <a:t>6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83E9AB7-D60B-46E4-AE6D-AD58A6313A40}" type="slidenum">
              <a:rPr altLang="zh-CN" smtClean="0">
                <a:latin typeface="Arial" panose="020B0604020202020204" pitchFamily="34" charset="0"/>
              </a:rPr>
              <a:pPr/>
              <a:t>7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453F638-7E2B-42D2-87D4-A9B2FF755988}" type="slidenum">
              <a:rPr altLang="zh-CN" smtClean="0">
                <a:latin typeface="Arial" panose="020B0604020202020204" pitchFamily="34" charset="0"/>
              </a:rPr>
              <a:pPr/>
              <a:t>8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763C1E2-8F8D-4BD5-BEA8-70CB6573FD70}" type="slidenum">
              <a:rPr altLang="zh-CN" smtClean="0">
                <a:latin typeface="Arial" panose="020B0604020202020204" pitchFamily="34" charset="0"/>
              </a:rPr>
              <a:pPr/>
              <a:t>9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EE4FBED-FD2F-40BA-9690-1D126A70DF2C}" type="slidenum">
              <a:rPr altLang="zh-CN" smtClean="0">
                <a:latin typeface="Arial" panose="020B0604020202020204" pitchFamily="34" charset="0"/>
              </a:rPr>
              <a:pPr/>
              <a:t>10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BF7D293-F0C7-444B-9230-69B6784AE26A}" type="slidenum">
              <a:rPr altLang="zh-CN" smtClean="0">
                <a:latin typeface="Arial" panose="020B0604020202020204" pitchFamily="34" charset="0"/>
              </a:rPr>
              <a:pPr/>
              <a:t>11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5A80617-BC17-4168-9870-A1518D5A5B28}" type="slidenum">
              <a:rPr altLang="zh-CN" smtClean="0">
                <a:latin typeface="Arial" panose="020B0604020202020204" pitchFamily="34" charset="0"/>
              </a:rPr>
              <a:pPr/>
              <a:t>12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5DB9B2C-B70F-46E3-96CF-2CBFA94C7197}" type="slidenum">
              <a:rPr altLang="zh-CN" smtClean="0">
                <a:latin typeface="Arial" panose="020B0604020202020204" pitchFamily="34" charset="0"/>
              </a:rPr>
              <a:pPr/>
              <a:t>13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B151C6-4522-4C80-82A3-6E7A01F725AB}" type="slidenum">
              <a:rPr altLang="zh-CN" smtClean="0">
                <a:latin typeface="Arial" panose="020B0604020202020204" pitchFamily="34" charset="0"/>
              </a:rPr>
              <a:pPr/>
              <a:t>14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6F90430-76F3-4132-B5FF-6E4DCDC4439D}" type="slidenum">
              <a:rPr altLang="zh-CN" smtClean="0">
                <a:latin typeface="Arial" panose="020B0604020202020204" pitchFamily="34" charset="0"/>
              </a:rPr>
              <a:pPr/>
              <a:t>22</a:t>
            </a:fld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E83FD-B406-4A61-816C-01384038D6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08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5F59-CD51-4973-97F4-54D1FA32ED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4860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DD837-F608-4421-BE78-C05BBEE137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68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503D0-EAA7-4A0D-9C2F-A72A8F474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412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AF4CF-01BC-42AC-9F64-10E3A8A38F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574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74CCF-E024-4E2E-AB0E-D74F6AB6D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249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B0CE-F569-4813-ACED-1DAF0C1D73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9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771FF0-48CA-4B40-BC94-B4FF013887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036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12D5E-7C59-4E27-9E25-5B220EB9CE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0079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86961-C2C9-43C3-B3CF-11F8DCA0FB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07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61205-B14C-4EBA-A607-AA80AD17F5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2588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0 w 1000"/>
              <a:gd name="T11" fmla="*/ 0 h 1000"/>
              <a:gd name="T12" fmla="*/ 2147483646 w 1000"/>
              <a:gd name="T13" fmla="*/ 0 h 1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/>
            </a:lvl1pPr>
          </a:lstStyle>
          <a:p>
            <a:pPr>
              <a:defRPr/>
            </a:pPr>
            <a:fld id="{205237DD-B6D7-4564-8C84-35F088A4EF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6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52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35.bin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5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59.wmf"/><Relationship Id="rId7" Type="http://schemas.openxmlformats.org/officeDocument/2006/relationships/image" Target="../media/image5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60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43.bin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0" Type="http://schemas.openxmlformats.org/officeDocument/2006/relationships/oleObject" Target="../embeddings/oleObject42.bin"/><Relationship Id="rId4" Type="http://schemas.openxmlformats.org/officeDocument/2006/relationships/oleObject" Target="../embeddings/oleObject39.bin"/><Relationship Id="rId9" Type="http://schemas.openxmlformats.org/officeDocument/2006/relationships/image" Target="../media/image64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5123" name="Rectangle 5"/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5125" name="Rectangle 8"/>
          <p:cNvSpPr>
            <a:spLocks noChangeArrowheads="1"/>
          </p:cNvSpPr>
          <p:nvPr/>
        </p:nvSpPr>
        <p:spPr bwMode="auto">
          <a:xfrm>
            <a:off x="1403350" y="3643313"/>
            <a:ext cx="5545138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5126" name="Rectangle 9"/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5128" name="Rectangle 9"/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54088" y="736600"/>
            <a:ext cx="741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1. </a:t>
            </a:r>
            <a:r>
              <a:rPr lang="zh-CN" altLang="en-US" sz="2800">
                <a:latin typeface="Calibri" panose="020F0502020204030204" pitchFamily="34" charset="0"/>
              </a:rPr>
              <a:t>积分环节提供给系统的相位是多少？其对数幅频特性有什么特点？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919163" y="1917700"/>
            <a:ext cx="741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2. </a:t>
            </a:r>
            <a:r>
              <a:rPr lang="zh-CN" altLang="en-US" sz="2800">
                <a:latin typeface="Calibri" panose="020F0502020204030204" pitchFamily="34" charset="0"/>
              </a:rPr>
              <a:t>惯性环节的相频特性有什么特点？其对数幅频特性有什么特点？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08050" y="3100388"/>
            <a:ext cx="7416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3. </a:t>
            </a:r>
            <a:r>
              <a:rPr lang="zh-CN" altLang="en-US" sz="2800">
                <a:latin typeface="Calibri" panose="020F0502020204030204" pitchFamily="34" charset="0"/>
              </a:rPr>
              <a:t>振荡环节的相频特性有什么特点？其对数幅频特性有什么特点？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74713" y="4292600"/>
            <a:ext cx="741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>
                <a:latin typeface="Calibri" panose="020F0502020204030204" pitchFamily="34" charset="0"/>
              </a:rPr>
              <a:t>4. </a:t>
            </a:r>
            <a:r>
              <a:rPr lang="zh-CN" altLang="en-US" sz="2800">
                <a:latin typeface="Calibri" panose="020F0502020204030204" pitchFamily="34" charset="0"/>
              </a:rPr>
              <a:t>说出从低频起就对系统幅频特性有影响的环节？</a:t>
            </a:r>
          </a:p>
        </p:txBody>
      </p:sp>
      <p:sp>
        <p:nvSpPr>
          <p:cNvPr id="7174" name="文本框 1"/>
          <p:cNvSpPr txBox="1">
            <a:spLocks noChangeArrowheads="1"/>
          </p:cNvSpPr>
          <p:nvPr/>
        </p:nvSpPr>
        <p:spPr bwMode="auto">
          <a:xfrm>
            <a:off x="246063" y="152400"/>
            <a:ext cx="1416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/>
              <a:t>复习：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827088" y="1773238"/>
            <a:ext cx="7407275" cy="30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   极点和零点全部位于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左半平面的环节，与其对应的具有相同幅频特性、在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右半平面具有零点或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极点的 “不稳定” 环节相比，相频特性的绝对值最小， 因此，称其为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最小相位环节</a:t>
            </a:r>
            <a:r>
              <a:rPr lang="zh-CN" altLang="en-US" sz="2800">
                <a:latin typeface="Times New Roman" panose="02020603050405020304" pitchFamily="18" charset="0"/>
              </a:rPr>
              <a:t>，而相应的在</a:t>
            </a:r>
            <a:r>
              <a:rPr lang="en-US" altLang="zh-CN" sz="2800" i="1"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latin typeface="Times New Roman" panose="02020603050405020304" pitchFamily="18" charset="0"/>
              </a:rPr>
              <a:t>右半平面具有零点或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极点的 “不稳定” 环节称为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非最小相位环节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27088" y="981075"/>
            <a:ext cx="495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  最小相位系统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3668" name="Rectangle 2"/>
          <p:cNvSpPr>
            <a:spLocks noChangeArrowheads="1"/>
          </p:cNvSpPr>
          <p:nvPr/>
        </p:nvSpPr>
        <p:spPr bwMode="auto">
          <a:xfrm>
            <a:off x="900113" y="4941888"/>
            <a:ext cx="7118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   极点和零点全部位于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左半平面系统称为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最小相位系统</a:t>
            </a:r>
            <a:r>
              <a:rPr lang="zh-CN" altLang="en-US" sz="2800">
                <a:latin typeface="Times New Roman" panose="02020603050405020304" pitchFamily="18" charset="0"/>
              </a:rPr>
              <a:t>。反之，称为</a:t>
            </a:r>
            <a:r>
              <a:rPr lang="zh-CN" altLang="en-US" sz="2800">
                <a:solidFill>
                  <a:srgbClr val="A50021"/>
                </a:solidFill>
                <a:latin typeface="Times New Roman" panose="02020603050405020304" pitchFamily="18" charset="0"/>
              </a:rPr>
              <a:t>非最小相位系统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/>
      <p:bldP spid="4" grpId="0"/>
      <p:bldP spid="1136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3188" y="1738313"/>
            <a:ext cx="6413500" cy="3352800"/>
            <a:chOff x="912" y="1968"/>
            <a:chExt cx="4040" cy="2112"/>
          </a:xfrm>
        </p:grpSpPr>
        <p:sp>
          <p:nvSpPr>
            <p:cNvPr id="9223" name="Rectangle 3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4" name="Rectangle 4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5" name="Freeform 5"/>
            <p:cNvSpPr>
              <a:spLocks noChangeArrowheads="1"/>
            </p:cNvSpPr>
            <p:nvPr/>
          </p:nvSpPr>
          <p:spPr bwMode="auto">
            <a:xfrm>
              <a:off x="1499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" name="Freeform 6"/>
            <p:cNvSpPr>
              <a:spLocks noChangeArrowheads="1"/>
            </p:cNvSpPr>
            <p:nvPr/>
          </p:nvSpPr>
          <p:spPr bwMode="auto">
            <a:xfrm>
              <a:off x="2647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" name="Freeform 7"/>
            <p:cNvSpPr>
              <a:spLocks noChangeArrowheads="1"/>
            </p:cNvSpPr>
            <p:nvPr/>
          </p:nvSpPr>
          <p:spPr bwMode="auto">
            <a:xfrm>
              <a:off x="3796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Freeform 8"/>
            <p:cNvSpPr>
              <a:spLocks noChangeArrowheads="1"/>
            </p:cNvSpPr>
            <p:nvPr/>
          </p:nvSpPr>
          <p:spPr bwMode="auto">
            <a:xfrm>
              <a:off x="4951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" name="Freeform 9"/>
            <p:cNvSpPr>
              <a:spLocks noChangeArrowheads="1"/>
            </p:cNvSpPr>
            <p:nvPr/>
          </p:nvSpPr>
          <p:spPr bwMode="auto">
            <a:xfrm>
              <a:off x="1499" y="3668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24469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Freeform 10"/>
            <p:cNvSpPr>
              <a:spLocks noChangeArrowheads="1"/>
            </p:cNvSpPr>
            <p:nvPr/>
          </p:nvSpPr>
          <p:spPr bwMode="auto">
            <a:xfrm>
              <a:off x="1499" y="3264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24469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Freeform 11"/>
            <p:cNvSpPr>
              <a:spLocks noChangeArrowheads="1"/>
            </p:cNvSpPr>
            <p:nvPr/>
          </p:nvSpPr>
          <p:spPr bwMode="auto">
            <a:xfrm>
              <a:off x="1499" y="2861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24469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Freeform 12"/>
            <p:cNvSpPr>
              <a:spLocks noChangeArrowheads="1"/>
            </p:cNvSpPr>
            <p:nvPr/>
          </p:nvSpPr>
          <p:spPr bwMode="auto">
            <a:xfrm>
              <a:off x="1499" y="2457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24469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" name="Freeform 13"/>
            <p:cNvSpPr>
              <a:spLocks noChangeArrowheads="1"/>
            </p:cNvSpPr>
            <p:nvPr/>
          </p:nvSpPr>
          <p:spPr bwMode="auto">
            <a:xfrm>
              <a:off x="1499" y="2060"/>
              <a:ext cx="3452" cy="1"/>
            </a:xfrm>
            <a:custGeom>
              <a:avLst/>
              <a:gdLst>
                <a:gd name="T0" fmla="*/ 0 w 487"/>
                <a:gd name="T1" fmla="*/ 0 h 1"/>
                <a:gd name="T2" fmla="*/ 24469 w 48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7" h="1">
                  <a:moveTo>
                    <a:pt x="0" y="0"/>
                  </a:move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4" name="Line 14"/>
            <p:cNvSpPr>
              <a:spLocks noChangeShapeType="1"/>
            </p:cNvSpPr>
            <p:nvPr/>
          </p:nvSpPr>
          <p:spPr bwMode="auto">
            <a:xfrm>
              <a:off x="1499" y="2060"/>
              <a:ext cx="34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Freeform 15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custGeom>
              <a:avLst/>
              <a:gdLst>
                <a:gd name="T0" fmla="*/ 0 w 487"/>
                <a:gd name="T1" fmla="*/ 11391 h 227"/>
                <a:gd name="T2" fmla="*/ 24469 w 487"/>
                <a:gd name="T3" fmla="*/ 11391 h 227"/>
                <a:gd name="T4" fmla="*/ 24469 w 487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7" h="227">
                  <a:moveTo>
                    <a:pt x="0" y="227"/>
                  </a:moveTo>
                  <a:lnTo>
                    <a:pt x="487" y="227"/>
                  </a:lnTo>
                  <a:lnTo>
                    <a:pt x="48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Line 16"/>
            <p:cNvSpPr>
              <a:spLocks noChangeShapeType="1"/>
            </p:cNvSpPr>
            <p:nvPr/>
          </p:nvSpPr>
          <p:spPr bwMode="auto">
            <a:xfrm flipV="1">
              <a:off x="1499" y="2060"/>
              <a:ext cx="1" cy="16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17"/>
            <p:cNvSpPr>
              <a:spLocks noChangeShapeType="1"/>
            </p:cNvSpPr>
            <p:nvPr/>
          </p:nvSpPr>
          <p:spPr bwMode="auto">
            <a:xfrm>
              <a:off x="1499" y="3668"/>
              <a:ext cx="34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18"/>
            <p:cNvSpPr>
              <a:spLocks noChangeShapeType="1"/>
            </p:cNvSpPr>
            <p:nvPr/>
          </p:nvSpPr>
          <p:spPr bwMode="auto">
            <a:xfrm flipV="1">
              <a:off x="1499" y="2060"/>
              <a:ext cx="1" cy="160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Line 19"/>
            <p:cNvSpPr>
              <a:spLocks noChangeShapeType="1"/>
            </p:cNvSpPr>
            <p:nvPr/>
          </p:nvSpPr>
          <p:spPr bwMode="auto">
            <a:xfrm flipV="1">
              <a:off x="1499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Line 20"/>
            <p:cNvSpPr>
              <a:spLocks noChangeShapeType="1"/>
            </p:cNvSpPr>
            <p:nvPr/>
          </p:nvSpPr>
          <p:spPr bwMode="auto">
            <a:xfrm>
              <a:off x="1499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Freeform 21"/>
            <p:cNvSpPr>
              <a:spLocks noChangeArrowheads="1"/>
            </p:cNvSpPr>
            <p:nvPr/>
          </p:nvSpPr>
          <p:spPr bwMode="auto">
            <a:xfrm>
              <a:off x="1499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Line 22"/>
            <p:cNvSpPr>
              <a:spLocks noChangeShapeType="1"/>
            </p:cNvSpPr>
            <p:nvPr/>
          </p:nvSpPr>
          <p:spPr bwMode="auto">
            <a:xfrm flipV="1">
              <a:off x="1499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23"/>
            <p:cNvSpPr>
              <a:spLocks noChangeShapeType="1"/>
            </p:cNvSpPr>
            <p:nvPr/>
          </p:nvSpPr>
          <p:spPr bwMode="auto">
            <a:xfrm>
              <a:off x="1499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24"/>
            <p:cNvSpPr>
              <a:spLocks noChangeShapeType="1"/>
            </p:cNvSpPr>
            <p:nvPr/>
          </p:nvSpPr>
          <p:spPr bwMode="auto">
            <a:xfrm flipV="1">
              <a:off x="1839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25"/>
            <p:cNvSpPr>
              <a:spLocks noChangeShapeType="1"/>
            </p:cNvSpPr>
            <p:nvPr/>
          </p:nvSpPr>
          <p:spPr bwMode="auto">
            <a:xfrm>
              <a:off x="1839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Freeform 26"/>
            <p:cNvSpPr>
              <a:spLocks noChangeArrowheads="1"/>
            </p:cNvSpPr>
            <p:nvPr/>
          </p:nvSpPr>
          <p:spPr bwMode="auto">
            <a:xfrm>
              <a:off x="1839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27"/>
            <p:cNvSpPr>
              <a:spLocks noChangeShapeType="1"/>
            </p:cNvSpPr>
            <p:nvPr/>
          </p:nvSpPr>
          <p:spPr bwMode="auto">
            <a:xfrm flipV="1">
              <a:off x="2045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28"/>
            <p:cNvSpPr>
              <a:spLocks noChangeShapeType="1"/>
            </p:cNvSpPr>
            <p:nvPr/>
          </p:nvSpPr>
          <p:spPr bwMode="auto">
            <a:xfrm>
              <a:off x="2045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Freeform 29"/>
            <p:cNvSpPr>
              <a:spLocks noChangeArrowheads="1"/>
            </p:cNvSpPr>
            <p:nvPr/>
          </p:nvSpPr>
          <p:spPr bwMode="auto">
            <a:xfrm>
              <a:off x="2045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0"/>
            <p:cNvSpPr>
              <a:spLocks noChangeShapeType="1"/>
            </p:cNvSpPr>
            <p:nvPr/>
          </p:nvSpPr>
          <p:spPr bwMode="auto">
            <a:xfrm flipV="1">
              <a:off x="2187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31"/>
            <p:cNvSpPr>
              <a:spLocks noChangeShapeType="1"/>
            </p:cNvSpPr>
            <p:nvPr/>
          </p:nvSpPr>
          <p:spPr bwMode="auto">
            <a:xfrm>
              <a:off x="2187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Freeform 32"/>
            <p:cNvSpPr>
              <a:spLocks noChangeArrowheads="1"/>
            </p:cNvSpPr>
            <p:nvPr/>
          </p:nvSpPr>
          <p:spPr bwMode="auto">
            <a:xfrm>
              <a:off x="2187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33"/>
            <p:cNvSpPr>
              <a:spLocks noChangeShapeType="1"/>
            </p:cNvSpPr>
            <p:nvPr/>
          </p:nvSpPr>
          <p:spPr bwMode="auto">
            <a:xfrm flipV="1">
              <a:off x="230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34"/>
            <p:cNvSpPr>
              <a:spLocks noChangeShapeType="1"/>
            </p:cNvSpPr>
            <p:nvPr/>
          </p:nvSpPr>
          <p:spPr bwMode="auto">
            <a:xfrm>
              <a:off x="230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Freeform 35"/>
            <p:cNvSpPr>
              <a:spLocks noChangeArrowheads="1"/>
            </p:cNvSpPr>
            <p:nvPr/>
          </p:nvSpPr>
          <p:spPr bwMode="auto">
            <a:xfrm>
              <a:off x="2300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36"/>
            <p:cNvSpPr>
              <a:spLocks noChangeShapeType="1"/>
            </p:cNvSpPr>
            <p:nvPr/>
          </p:nvSpPr>
          <p:spPr bwMode="auto">
            <a:xfrm flipV="1">
              <a:off x="2392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37"/>
            <p:cNvSpPr>
              <a:spLocks noChangeShapeType="1"/>
            </p:cNvSpPr>
            <p:nvPr/>
          </p:nvSpPr>
          <p:spPr bwMode="auto">
            <a:xfrm>
              <a:off x="2392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Freeform 38"/>
            <p:cNvSpPr>
              <a:spLocks noChangeArrowheads="1"/>
            </p:cNvSpPr>
            <p:nvPr/>
          </p:nvSpPr>
          <p:spPr bwMode="auto">
            <a:xfrm>
              <a:off x="2392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Line 39"/>
            <p:cNvSpPr>
              <a:spLocks noChangeShapeType="1"/>
            </p:cNvSpPr>
            <p:nvPr/>
          </p:nvSpPr>
          <p:spPr bwMode="auto">
            <a:xfrm flipV="1">
              <a:off x="247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0" name="Line 40"/>
            <p:cNvSpPr>
              <a:spLocks noChangeShapeType="1"/>
            </p:cNvSpPr>
            <p:nvPr/>
          </p:nvSpPr>
          <p:spPr bwMode="auto">
            <a:xfrm>
              <a:off x="247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1" name="Freeform 41"/>
            <p:cNvSpPr>
              <a:spLocks noChangeArrowheads="1"/>
            </p:cNvSpPr>
            <p:nvPr/>
          </p:nvSpPr>
          <p:spPr bwMode="auto">
            <a:xfrm>
              <a:off x="2470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2" name="Line 42"/>
            <p:cNvSpPr>
              <a:spLocks noChangeShapeType="1"/>
            </p:cNvSpPr>
            <p:nvPr/>
          </p:nvSpPr>
          <p:spPr bwMode="auto">
            <a:xfrm flipV="1">
              <a:off x="2534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3" name="Line 43"/>
            <p:cNvSpPr>
              <a:spLocks noChangeShapeType="1"/>
            </p:cNvSpPr>
            <p:nvPr/>
          </p:nvSpPr>
          <p:spPr bwMode="auto">
            <a:xfrm>
              <a:off x="2534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4" name="Freeform 44"/>
            <p:cNvSpPr>
              <a:spLocks noChangeArrowheads="1"/>
            </p:cNvSpPr>
            <p:nvPr/>
          </p:nvSpPr>
          <p:spPr bwMode="auto">
            <a:xfrm>
              <a:off x="2534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Line 45"/>
            <p:cNvSpPr>
              <a:spLocks noChangeShapeType="1"/>
            </p:cNvSpPr>
            <p:nvPr/>
          </p:nvSpPr>
          <p:spPr bwMode="auto">
            <a:xfrm flipV="1">
              <a:off x="2591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6" name="Line 46"/>
            <p:cNvSpPr>
              <a:spLocks noChangeShapeType="1"/>
            </p:cNvSpPr>
            <p:nvPr/>
          </p:nvSpPr>
          <p:spPr bwMode="auto">
            <a:xfrm>
              <a:off x="2591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Freeform 47"/>
            <p:cNvSpPr>
              <a:spLocks noChangeArrowheads="1"/>
            </p:cNvSpPr>
            <p:nvPr/>
          </p:nvSpPr>
          <p:spPr bwMode="auto">
            <a:xfrm>
              <a:off x="2591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Line 48"/>
            <p:cNvSpPr>
              <a:spLocks noChangeShapeType="1"/>
            </p:cNvSpPr>
            <p:nvPr/>
          </p:nvSpPr>
          <p:spPr bwMode="auto">
            <a:xfrm flipV="1">
              <a:off x="2647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Line 49"/>
            <p:cNvSpPr>
              <a:spLocks noChangeShapeType="1"/>
            </p:cNvSpPr>
            <p:nvPr/>
          </p:nvSpPr>
          <p:spPr bwMode="auto">
            <a:xfrm>
              <a:off x="2647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Freeform 50"/>
            <p:cNvSpPr>
              <a:spLocks noChangeArrowheads="1"/>
            </p:cNvSpPr>
            <p:nvPr/>
          </p:nvSpPr>
          <p:spPr bwMode="auto">
            <a:xfrm>
              <a:off x="2647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1" name="Line 51"/>
            <p:cNvSpPr>
              <a:spLocks noChangeShapeType="1"/>
            </p:cNvSpPr>
            <p:nvPr/>
          </p:nvSpPr>
          <p:spPr bwMode="auto">
            <a:xfrm flipV="1">
              <a:off x="2647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2" name="Line 52"/>
            <p:cNvSpPr>
              <a:spLocks noChangeShapeType="1"/>
            </p:cNvSpPr>
            <p:nvPr/>
          </p:nvSpPr>
          <p:spPr bwMode="auto">
            <a:xfrm>
              <a:off x="2647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3" name="Line 53"/>
            <p:cNvSpPr>
              <a:spLocks noChangeShapeType="1"/>
            </p:cNvSpPr>
            <p:nvPr/>
          </p:nvSpPr>
          <p:spPr bwMode="auto">
            <a:xfrm flipV="1">
              <a:off x="2995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4" name="Line 54"/>
            <p:cNvSpPr>
              <a:spLocks noChangeShapeType="1"/>
            </p:cNvSpPr>
            <p:nvPr/>
          </p:nvSpPr>
          <p:spPr bwMode="auto">
            <a:xfrm>
              <a:off x="2995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Freeform 55"/>
            <p:cNvSpPr>
              <a:spLocks noChangeArrowheads="1"/>
            </p:cNvSpPr>
            <p:nvPr/>
          </p:nvSpPr>
          <p:spPr bwMode="auto">
            <a:xfrm>
              <a:off x="2995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6" name="Line 56"/>
            <p:cNvSpPr>
              <a:spLocks noChangeShapeType="1"/>
            </p:cNvSpPr>
            <p:nvPr/>
          </p:nvSpPr>
          <p:spPr bwMode="auto">
            <a:xfrm flipV="1">
              <a:off x="3193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Line 57"/>
            <p:cNvSpPr>
              <a:spLocks noChangeShapeType="1"/>
            </p:cNvSpPr>
            <p:nvPr/>
          </p:nvSpPr>
          <p:spPr bwMode="auto">
            <a:xfrm>
              <a:off x="3193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8" name="Freeform 58"/>
            <p:cNvSpPr>
              <a:spLocks noChangeArrowheads="1"/>
            </p:cNvSpPr>
            <p:nvPr/>
          </p:nvSpPr>
          <p:spPr bwMode="auto">
            <a:xfrm>
              <a:off x="3193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9" name="Line 59"/>
            <p:cNvSpPr>
              <a:spLocks noChangeShapeType="1"/>
            </p:cNvSpPr>
            <p:nvPr/>
          </p:nvSpPr>
          <p:spPr bwMode="auto">
            <a:xfrm flipV="1">
              <a:off x="3342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0" name="Line 60"/>
            <p:cNvSpPr>
              <a:spLocks noChangeShapeType="1"/>
            </p:cNvSpPr>
            <p:nvPr/>
          </p:nvSpPr>
          <p:spPr bwMode="auto">
            <a:xfrm>
              <a:off x="3342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1" name="Freeform 61"/>
            <p:cNvSpPr>
              <a:spLocks noChangeArrowheads="1"/>
            </p:cNvSpPr>
            <p:nvPr/>
          </p:nvSpPr>
          <p:spPr bwMode="auto">
            <a:xfrm>
              <a:off x="3342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2" name="Line 62"/>
            <p:cNvSpPr>
              <a:spLocks noChangeShapeType="1"/>
            </p:cNvSpPr>
            <p:nvPr/>
          </p:nvSpPr>
          <p:spPr bwMode="auto">
            <a:xfrm flipV="1">
              <a:off x="3448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3" name="Line 63"/>
            <p:cNvSpPr>
              <a:spLocks noChangeShapeType="1"/>
            </p:cNvSpPr>
            <p:nvPr/>
          </p:nvSpPr>
          <p:spPr bwMode="auto">
            <a:xfrm>
              <a:off x="3448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Freeform 64"/>
            <p:cNvSpPr>
              <a:spLocks noChangeArrowheads="1"/>
            </p:cNvSpPr>
            <p:nvPr/>
          </p:nvSpPr>
          <p:spPr bwMode="auto">
            <a:xfrm>
              <a:off x="3448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5" name="Line 65"/>
            <p:cNvSpPr>
              <a:spLocks noChangeShapeType="1"/>
            </p:cNvSpPr>
            <p:nvPr/>
          </p:nvSpPr>
          <p:spPr bwMode="auto">
            <a:xfrm flipV="1">
              <a:off x="354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6" name="Line 66"/>
            <p:cNvSpPr>
              <a:spLocks noChangeShapeType="1"/>
            </p:cNvSpPr>
            <p:nvPr/>
          </p:nvSpPr>
          <p:spPr bwMode="auto">
            <a:xfrm>
              <a:off x="354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Freeform 67"/>
            <p:cNvSpPr>
              <a:spLocks noChangeArrowheads="1"/>
            </p:cNvSpPr>
            <p:nvPr/>
          </p:nvSpPr>
          <p:spPr bwMode="auto">
            <a:xfrm>
              <a:off x="3540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8" name="Line 68"/>
            <p:cNvSpPr>
              <a:spLocks noChangeShapeType="1"/>
            </p:cNvSpPr>
            <p:nvPr/>
          </p:nvSpPr>
          <p:spPr bwMode="auto">
            <a:xfrm flipV="1">
              <a:off x="3618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9" name="Line 69"/>
            <p:cNvSpPr>
              <a:spLocks noChangeShapeType="1"/>
            </p:cNvSpPr>
            <p:nvPr/>
          </p:nvSpPr>
          <p:spPr bwMode="auto">
            <a:xfrm>
              <a:off x="3618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0" name="Freeform 70"/>
            <p:cNvSpPr>
              <a:spLocks noChangeArrowheads="1"/>
            </p:cNvSpPr>
            <p:nvPr/>
          </p:nvSpPr>
          <p:spPr bwMode="auto">
            <a:xfrm>
              <a:off x="3618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1" name="Line 71"/>
            <p:cNvSpPr>
              <a:spLocks noChangeShapeType="1"/>
            </p:cNvSpPr>
            <p:nvPr/>
          </p:nvSpPr>
          <p:spPr bwMode="auto">
            <a:xfrm flipV="1">
              <a:off x="3682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2" name="Line 72"/>
            <p:cNvSpPr>
              <a:spLocks noChangeShapeType="1"/>
            </p:cNvSpPr>
            <p:nvPr/>
          </p:nvSpPr>
          <p:spPr bwMode="auto">
            <a:xfrm>
              <a:off x="3682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3" name="Freeform 73"/>
            <p:cNvSpPr>
              <a:spLocks noChangeArrowheads="1"/>
            </p:cNvSpPr>
            <p:nvPr/>
          </p:nvSpPr>
          <p:spPr bwMode="auto">
            <a:xfrm>
              <a:off x="3682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4" name="Line 74"/>
            <p:cNvSpPr>
              <a:spLocks noChangeShapeType="1"/>
            </p:cNvSpPr>
            <p:nvPr/>
          </p:nvSpPr>
          <p:spPr bwMode="auto">
            <a:xfrm flipV="1">
              <a:off x="3746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5" name="Line 75"/>
            <p:cNvSpPr>
              <a:spLocks noChangeShapeType="1"/>
            </p:cNvSpPr>
            <p:nvPr/>
          </p:nvSpPr>
          <p:spPr bwMode="auto">
            <a:xfrm>
              <a:off x="3746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6" name="Freeform 76"/>
            <p:cNvSpPr>
              <a:spLocks noChangeArrowheads="1"/>
            </p:cNvSpPr>
            <p:nvPr/>
          </p:nvSpPr>
          <p:spPr bwMode="auto">
            <a:xfrm>
              <a:off x="3746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7" name="Line 77"/>
            <p:cNvSpPr>
              <a:spLocks noChangeShapeType="1"/>
            </p:cNvSpPr>
            <p:nvPr/>
          </p:nvSpPr>
          <p:spPr bwMode="auto">
            <a:xfrm flipV="1">
              <a:off x="3796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8" name="Line 78"/>
            <p:cNvSpPr>
              <a:spLocks noChangeShapeType="1"/>
            </p:cNvSpPr>
            <p:nvPr/>
          </p:nvSpPr>
          <p:spPr bwMode="auto">
            <a:xfrm>
              <a:off x="3796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9" name="Freeform 79"/>
            <p:cNvSpPr>
              <a:spLocks noChangeArrowheads="1"/>
            </p:cNvSpPr>
            <p:nvPr/>
          </p:nvSpPr>
          <p:spPr bwMode="auto">
            <a:xfrm>
              <a:off x="3796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0" name="Line 80"/>
            <p:cNvSpPr>
              <a:spLocks noChangeShapeType="1"/>
            </p:cNvSpPr>
            <p:nvPr/>
          </p:nvSpPr>
          <p:spPr bwMode="auto">
            <a:xfrm flipV="1">
              <a:off x="3796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1" name="Line 81"/>
            <p:cNvSpPr>
              <a:spLocks noChangeShapeType="1"/>
            </p:cNvSpPr>
            <p:nvPr/>
          </p:nvSpPr>
          <p:spPr bwMode="auto">
            <a:xfrm>
              <a:off x="3796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2" name="Line 82"/>
            <p:cNvSpPr>
              <a:spLocks noChangeShapeType="1"/>
            </p:cNvSpPr>
            <p:nvPr/>
          </p:nvSpPr>
          <p:spPr bwMode="auto">
            <a:xfrm flipV="1">
              <a:off x="4143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3" name="Line 83"/>
            <p:cNvSpPr>
              <a:spLocks noChangeShapeType="1"/>
            </p:cNvSpPr>
            <p:nvPr/>
          </p:nvSpPr>
          <p:spPr bwMode="auto">
            <a:xfrm>
              <a:off x="4143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4" name="Freeform 84"/>
            <p:cNvSpPr>
              <a:spLocks noChangeArrowheads="1"/>
            </p:cNvSpPr>
            <p:nvPr/>
          </p:nvSpPr>
          <p:spPr bwMode="auto">
            <a:xfrm>
              <a:off x="4143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5" name="Line 85"/>
            <p:cNvSpPr>
              <a:spLocks noChangeShapeType="1"/>
            </p:cNvSpPr>
            <p:nvPr/>
          </p:nvSpPr>
          <p:spPr bwMode="auto">
            <a:xfrm flipV="1">
              <a:off x="4348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6" name="Line 86"/>
            <p:cNvSpPr>
              <a:spLocks noChangeShapeType="1"/>
            </p:cNvSpPr>
            <p:nvPr/>
          </p:nvSpPr>
          <p:spPr bwMode="auto">
            <a:xfrm>
              <a:off x="4348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7" name="Freeform 87"/>
            <p:cNvSpPr>
              <a:spLocks noChangeArrowheads="1"/>
            </p:cNvSpPr>
            <p:nvPr/>
          </p:nvSpPr>
          <p:spPr bwMode="auto">
            <a:xfrm>
              <a:off x="4348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8" name="Line 88"/>
            <p:cNvSpPr>
              <a:spLocks noChangeShapeType="1"/>
            </p:cNvSpPr>
            <p:nvPr/>
          </p:nvSpPr>
          <p:spPr bwMode="auto">
            <a:xfrm flipV="1">
              <a:off x="4490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9" name="Line 89"/>
            <p:cNvSpPr>
              <a:spLocks noChangeShapeType="1"/>
            </p:cNvSpPr>
            <p:nvPr/>
          </p:nvSpPr>
          <p:spPr bwMode="auto">
            <a:xfrm>
              <a:off x="4490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0" name="Freeform 90"/>
            <p:cNvSpPr>
              <a:spLocks noChangeArrowheads="1"/>
            </p:cNvSpPr>
            <p:nvPr/>
          </p:nvSpPr>
          <p:spPr bwMode="auto">
            <a:xfrm>
              <a:off x="4490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1" name="Line 91"/>
            <p:cNvSpPr>
              <a:spLocks noChangeShapeType="1"/>
            </p:cNvSpPr>
            <p:nvPr/>
          </p:nvSpPr>
          <p:spPr bwMode="auto">
            <a:xfrm flipV="1">
              <a:off x="4603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2" name="Line 92"/>
            <p:cNvSpPr>
              <a:spLocks noChangeShapeType="1"/>
            </p:cNvSpPr>
            <p:nvPr/>
          </p:nvSpPr>
          <p:spPr bwMode="auto">
            <a:xfrm>
              <a:off x="4603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3" name="Freeform 93"/>
            <p:cNvSpPr>
              <a:spLocks noChangeArrowheads="1"/>
            </p:cNvSpPr>
            <p:nvPr/>
          </p:nvSpPr>
          <p:spPr bwMode="auto">
            <a:xfrm>
              <a:off x="4603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4" name="Line 94"/>
            <p:cNvSpPr>
              <a:spLocks noChangeShapeType="1"/>
            </p:cNvSpPr>
            <p:nvPr/>
          </p:nvSpPr>
          <p:spPr bwMode="auto">
            <a:xfrm flipV="1">
              <a:off x="4689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5" name="Line 95"/>
            <p:cNvSpPr>
              <a:spLocks noChangeShapeType="1"/>
            </p:cNvSpPr>
            <p:nvPr/>
          </p:nvSpPr>
          <p:spPr bwMode="auto">
            <a:xfrm>
              <a:off x="4689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6" name="Freeform 96"/>
            <p:cNvSpPr>
              <a:spLocks noChangeArrowheads="1"/>
            </p:cNvSpPr>
            <p:nvPr/>
          </p:nvSpPr>
          <p:spPr bwMode="auto">
            <a:xfrm>
              <a:off x="4689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7" name="Line 97"/>
            <p:cNvSpPr>
              <a:spLocks noChangeShapeType="1"/>
            </p:cNvSpPr>
            <p:nvPr/>
          </p:nvSpPr>
          <p:spPr bwMode="auto">
            <a:xfrm flipV="1">
              <a:off x="4766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8" name="Line 98"/>
            <p:cNvSpPr>
              <a:spLocks noChangeShapeType="1"/>
            </p:cNvSpPr>
            <p:nvPr/>
          </p:nvSpPr>
          <p:spPr bwMode="auto">
            <a:xfrm>
              <a:off x="4766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" name="Freeform 99"/>
            <p:cNvSpPr>
              <a:spLocks noChangeArrowheads="1"/>
            </p:cNvSpPr>
            <p:nvPr/>
          </p:nvSpPr>
          <p:spPr bwMode="auto">
            <a:xfrm>
              <a:off x="4766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" name="Line 100"/>
            <p:cNvSpPr>
              <a:spLocks noChangeShapeType="1"/>
            </p:cNvSpPr>
            <p:nvPr/>
          </p:nvSpPr>
          <p:spPr bwMode="auto">
            <a:xfrm flipV="1">
              <a:off x="4837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" name="Line 101"/>
            <p:cNvSpPr>
              <a:spLocks noChangeShapeType="1"/>
            </p:cNvSpPr>
            <p:nvPr/>
          </p:nvSpPr>
          <p:spPr bwMode="auto">
            <a:xfrm>
              <a:off x="4837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" name="Freeform 102"/>
            <p:cNvSpPr>
              <a:spLocks noChangeArrowheads="1"/>
            </p:cNvSpPr>
            <p:nvPr/>
          </p:nvSpPr>
          <p:spPr bwMode="auto">
            <a:xfrm>
              <a:off x="4837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" name="Line 103"/>
            <p:cNvSpPr>
              <a:spLocks noChangeShapeType="1"/>
            </p:cNvSpPr>
            <p:nvPr/>
          </p:nvSpPr>
          <p:spPr bwMode="auto">
            <a:xfrm flipV="1">
              <a:off x="4894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4" name="Line 104"/>
            <p:cNvSpPr>
              <a:spLocks noChangeShapeType="1"/>
            </p:cNvSpPr>
            <p:nvPr/>
          </p:nvSpPr>
          <p:spPr bwMode="auto">
            <a:xfrm>
              <a:off x="4894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" name="Freeform 105"/>
            <p:cNvSpPr>
              <a:spLocks noChangeArrowheads="1"/>
            </p:cNvSpPr>
            <p:nvPr/>
          </p:nvSpPr>
          <p:spPr bwMode="auto">
            <a:xfrm>
              <a:off x="4894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6" name="Line 106"/>
            <p:cNvSpPr>
              <a:spLocks noChangeShapeType="1"/>
            </p:cNvSpPr>
            <p:nvPr/>
          </p:nvSpPr>
          <p:spPr bwMode="auto">
            <a:xfrm flipV="1">
              <a:off x="4951" y="3647"/>
              <a:ext cx="1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" name="Line 107"/>
            <p:cNvSpPr>
              <a:spLocks noChangeShapeType="1"/>
            </p:cNvSpPr>
            <p:nvPr/>
          </p:nvSpPr>
          <p:spPr bwMode="auto">
            <a:xfrm>
              <a:off x="4951" y="2060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" name="Freeform 108"/>
            <p:cNvSpPr>
              <a:spLocks noChangeArrowheads="1"/>
            </p:cNvSpPr>
            <p:nvPr/>
          </p:nvSpPr>
          <p:spPr bwMode="auto">
            <a:xfrm>
              <a:off x="4951" y="2060"/>
              <a:ext cx="1" cy="1608"/>
            </a:xfrm>
            <a:custGeom>
              <a:avLst/>
              <a:gdLst>
                <a:gd name="T0" fmla="*/ 0 w 1"/>
                <a:gd name="T1" fmla="*/ 11391 h 227"/>
                <a:gd name="T2" fmla="*/ 0 w 1"/>
                <a:gd name="T3" fmla="*/ 0 h 2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27">
                  <a:moveTo>
                    <a:pt x="0" y="227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" name="Line 109"/>
            <p:cNvSpPr>
              <a:spLocks noChangeShapeType="1"/>
            </p:cNvSpPr>
            <p:nvPr/>
          </p:nvSpPr>
          <p:spPr bwMode="auto">
            <a:xfrm flipV="1">
              <a:off x="4951" y="3633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0" name="Line 110"/>
            <p:cNvSpPr>
              <a:spLocks noChangeShapeType="1"/>
            </p:cNvSpPr>
            <p:nvPr/>
          </p:nvSpPr>
          <p:spPr bwMode="auto">
            <a:xfrm>
              <a:off x="4951" y="2060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1" name="Line 111"/>
            <p:cNvSpPr>
              <a:spLocks noChangeShapeType="1"/>
            </p:cNvSpPr>
            <p:nvPr/>
          </p:nvSpPr>
          <p:spPr bwMode="auto">
            <a:xfrm>
              <a:off x="1499" y="3668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2" name="Line 112"/>
            <p:cNvSpPr>
              <a:spLocks noChangeShapeType="1"/>
            </p:cNvSpPr>
            <p:nvPr/>
          </p:nvSpPr>
          <p:spPr bwMode="auto">
            <a:xfrm flipH="1">
              <a:off x="4915" y="3668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3" name="Rectangle 113"/>
            <p:cNvSpPr>
              <a:spLocks noChangeArrowheads="1"/>
            </p:cNvSpPr>
            <p:nvPr/>
          </p:nvSpPr>
          <p:spPr bwMode="auto">
            <a:xfrm>
              <a:off x="1161" y="3559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-180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334" name="Line 114"/>
            <p:cNvSpPr>
              <a:spLocks noChangeShapeType="1"/>
            </p:cNvSpPr>
            <p:nvPr/>
          </p:nvSpPr>
          <p:spPr bwMode="auto">
            <a:xfrm>
              <a:off x="1499" y="3264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5" name="Line 115"/>
            <p:cNvSpPr>
              <a:spLocks noChangeShapeType="1"/>
            </p:cNvSpPr>
            <p:nvPr/>
          </p:nvSpPr>
          <p:spPr bwMode="auto">
            <a:xfrm flipH="1">
              <a:off x="4915" y="3264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6" name="Rectangle 116"/>
            <p:cNvSpPr>
              <a:spLocks noChangeArrowheads="1"/>
            </p:cNvSpPr>
            <p:nvPr/>
          </p:nvSpPr>
          <p:spPr bwMode="auto">
            <a:xfrm>
              <a:off x="1244" y="3173"/>
              <a:ext cx="23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-90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337" name="Line 117"/>
            <p:cNvSpPr>
              <a:spLocks noChangeShapeType="1"/>
            </p:cNvSpPr>
            <p:nvPr/>
          </p:nvSpPr>
          <p:spPr bwMode="auto">
            <a:xfrm>
              <a:off x="1499" y="2861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8" name="Line 118"/>
            <p:cNvSpPr>
              <a:spLocks noChangeShapeType="1"/>
            </p:cNvSpPr>
            <p:nvPr/>
          </p:nvSpPr>
          <p:spPr bwMode="auto">
            <a:xfrm flipH="1">
              <a:off x="4915" y="2861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9" name="Rectangle 119"/>
            <p:cNvSpPr>
              <a:spLocks noChangeArrowheads="1"/>
            </p:cNvSpPr>
            <p:nvPr/>
          </p:nvSpPr>
          <p:spPr bwMode="auto">
            <a:xfrm>
              <a:off x="1349" y="276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340" name="Line 120"/>
            <p:cNvSpPr>
              <a:spLocks noChangeShapeType="1"/>
            </p:cNvSpPr>
            <p:nvPr/>
          </p:nvSpPr>
          <p:spPr bwMode="auto">
            <a:xfrm>
              <a:off x="1499" y="2457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1" name="Line 121"/>
            <p:cNvSpPr>
              <a:spLocks noChangeShapeType="1"/>
            </p:cNvSpPr>
            <p:nvPr/>
          </p:nvSpPr>
          <p:spPr bwMode="auto">
            <a:xfrm flipH="1">
              <a:off x="4915" y="2457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2" name="Rectangle 122"/>
            <p:cNvSpPr>
              <a:spLocks noChangeArrowheads="1"/>
            </p:cNvSpPr>
            <p:nvPr/>
          </p:nvSpPr>
          <p:spPr bwMode="auto">
            <a:xfrm>
              <a:off x="1300" y="2365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90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343" name="Line 123"/>
            <p:cNvSpPr>
              <a:spLocks noChangeShapeType="1"/>
            </p:cNvSpPr>
            <p:nvPr/>
          </p:nvSpPr>
          <p:spPr bwMode="auto">
            <a:xfrm>
              <a:off x="1499" y="206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4" name="Line 124"/>
            <p:cNvSpPr>
              <a:spLocks noChangeShapeType="1"/>
            </p:cNvSpPr>
            <p:nvPr/>
          </p:nvSpPr>
          <p:spPr bwMode="auto">
            <a:xfrm flipH="1">
              <a:off x="4915" y="2060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5" name="Rectangle 125"/>
            <p:cNvSpPr>
              <a:spLocks noChangeArrowheads="1"/>
            </p:cNvSpPr>
            <p:nvPr/>
          </p:nvSpPr>
          <p:spPr bwMode="auto">
            <a:xfrm>
              <a:off x="1223" y="1968"/>
              <a:ext cx="26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180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9346" name="Line 126"/>
            <p:cNvSpPr>
              <a:spLocks noChangeShapeType="1"/>
            </p:cNvSpPr>
            <p:nvPr/>
          </p:nvSpPr>
          <p:spPr bwMode="auto">
            <a:xfrm>
              <a:off x="1499" y="2060"/>
              <a:ext cx="345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7" name="Freeform 127"/>
            <p:cNvSpPr>
              <a:spLocks noChangeArrowheads="1"/>
            </p:cNvSpPr>
            <p:nvPr/>
          </p:nvSpPr>
          <p:spPr bwMode="auto">
            <a:xfrm>
              <a:off x="1499" y="2060"/>
              <a:ext cx="3452" cy="1608"/>
            </a:xfrm>
            <a:custGeom>
              <a:avLst/>
              <a:gdLst>
                <a:gd name="T0" fmla="*/ 0 w 487"/>
                <a:gd name="T1" fmla="*/ 11391 h 227"/>
                <a:gd name="T2" fmla="*/ 24469 w 487"/>
                <a:gd name="T3" fmla="*/ 11391 h 227"/>
                <a:gd name="T4" fmla="*/ 24469 w 487"/>
                <a:gd name="T5" fmla="*/ 0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7" h="227">
                  <a:moveTo>
                    <a:pt x="0" y="227"/>
                  </a:moveTo>
                  <a:lnTo>
                    <a:pt x="487" y="227"/>
                  </a:lnTo>
                  <a:lnTo>
                    <a:pt x="487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8" name="Line 128"/>
            <p:cNvSpPr>
              <a:spLocks noChangeShapeType="1"/>
            </p:cNvSpPr>
            <p:nvPr/>
          </p:nvSpPr>
          <p:spPr bwMode="auto">
            <a:xfrm flipV="1">
              <a:off x="1499" y="2060"/>
              <a:ext cx="1" cy="160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9" name="Rectangle 129"/>
            <p:cNvSpPr>
              <a:spLocks noChangeArrowheads="1"/>
            </p:cNvSpPr>
            <p:nvPr/>
          </p:nvSpPr>
          <p:spPr bwMode="auto">
            <a:xfrm>
              <a:off x="3642" y="3667"/>
              <a:ext cx="39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000">
                  <a:latin typeface="Times New Roman" panose="02020603050405020304" pitchFamily="18" charset="0"/>
                </a:rPr>
                <a:t>1/T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350" name="Rectangle 130"/>
            <p:cNvSpPr>
              <a:spLocks noChangeArrowheads="1"/>
            </p:cNvSpPr>
            <p:nvPr/>
          </p:nvSpPr>
          <p:spPr bwMode="auto">
            <a:xfrm>
              <a:off x="2490" y="3667"/>
              <a:ext cx="39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000">
                  <a:latin typeface="Times New Roman" panose="02020603050405020304" pitchFamily="18" charset="0"/>
                </a:rPr>
                <a:t>1/T</a:t>
              </a:r>
              <a:r>
                <a:rPr lang="en-US" altLang="zh-CN" sz="2000" baseline="-16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351" name="Rectangle 131"/>
            <p:cNvSpPr>
              <a:spLocks noChangeArrowheads="1"/>
            </p:cNvSpPr>
            <p:nvPr/>
          </p:nvSpPr>
          <p:spPr bwMode="auto">
            <a:xfrm rot="-5400000">
              <a:off x="506" y="2608"/>
              <a:ext cx="11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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 / (deg)</a:t>
              </a:r>
            </a:p>
          </p:txBody>
        </p:sp>
        <p:sp>
          <p:nvSpPr>
            <p:cNvPr id="9352" name="Rectangle 132"/>
            <p:cNvSpPr>
              <a:spLocks noChangeArrowheads="1"/>
            </p:cNvSpPr>
            <p:nvPr/>
          </p:nvSpPr>
          <p:spPr bwMode="auto">
            <a:xfrm>
              <a:off x="3696" y="3010"/>
              <a:ext cx="522" cy="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i="1" baseline="-16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a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353" name="Rectangle 133"/>
            <p:cNvSpPr>
              <a:spLocks noChangeArrowheads="1"/>
            </p:cNvSpPr>
            <p:nvPr/>
          </p:nvSpPr>
          <p:spPr bwMode="auto">
            <a:xfrm>
              <a:off x="3318" y="2290"/>
              <a:ext cx="522" cy="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i="1" baseline="-1600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9354" name="Rectangle 134"/>
            <p:cNvSpPr>
              <a:spLocks noChangeArrowheads="1"/>
            </p:cNvSpPr>
            <p:nvPr/>
          </p:nvSpPr>
          <p:spPr bwMode="auto">
            <a:xfrm>
              <a:off x="2845" y="3264"/>
              <a:ext cx="515" cy="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</a:pPr>
              <a:r>
                <a:rPr lang="en-US" altLang="zh-CN" sz="24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 i="1" baseline="-16000">
                  <a:solidFill>
                    <a:srgbClr val="008000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>
                  <a:solidFill>
                    <a:srgbClr val="008000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solidFill>
                    <a:srgbClr val="008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grpSp>
          <p:nvGrpSpPr>
            <p:cNvPr id="9355" name="Group 135"/>
            <p:cNvGrpSpPr>
              <a:grpSpLocks/>
            </p:cNvGrpSpPr>
            <p:nvPr/>
          </p:nvGrpSpPr>
          <p:grpSpPr bwMode="auto">
            <a:xfrm>
              <a:off x="1499" y="2081"/>
              <a:ext cx="3452" cy="1559"/>
              <a:chOff x="1499" y="2081"/>
              <a:chExt cx="3452" cy="1559"/>
            </a:xfrm>
          </p:grpSpPr>
          <p:sp>
            <p:nvSpPr>
              <p:cNvPr id="9357" name="Freeform 136"/>
              <p:cNvSpPr>
                <a:spLocks noChangeArrowheads="1"/>
              </p:cNvSpPr>
              <p:nvPr/>
            </p:nvSpPr>
            <p:spPr bwMode="auto">
              <a:xfrm>
                <a:off x="1499" y="2882"/>
                <a:ext cx="3452" cy="227"/>
              </a:xfrm>
              <a:custGeom>
                <a:avLst/>
                <a:gdLst>
                  <a:gd name="T0" fmla="*/ 0 w 3452"/>
                  <a:gd name="T1" fmla="*/ 0 h 227"/>
                  <a:gd name="T2" fmla="*/ 78 w 3452"/>
                  <a:gd name="T3" fmla="*/ 7 h 227"/>
                  <a:gd name="T4" fmla="*/ 163 w 3452"/>
                  <a:gd name="T5" fmla="*/ 14 h 227"/>
                  <a:gd name="T6" fmla="*/ 248 w 3452"/>
                  <a:gd name="T7" fmla="*/ 14 h 227"/>
                  <a:gd name="T8" fmla="*/ 333 w 3452"/>
                  <a:gd name="T9" fmla="*/ 21 h 227"/>
                  <a:gd name="T10" fmla="*/ 418 w 3452"/>
                  <a:gd name="T11" fmla="*/ 28 h 227"/>
                  <a:gd name="T12" fmla="*/ 503 w 3452"/>
                  <a:gd name="T13" fmla="*/ 42 h 227"/>
                  <a:gd name="T14" fmla="*/ 588 w 3452"/>
                  <a:gd name="T15" fmla="*/ 49 h 227"/>
                  <a:gd name="T16" fmla="*/ 673 w 3452"/>
                  <a:gd name="T17" fmla="*/ 64 h 227"/>
                  <a:gd name="T18" fmla="*/ 751 w 3452"/>
                  <a:gd name="T19" fmla="*/ 78 h 227"/>
                  <a:gd name="T20" fmla="*/ 836 w 3452"/>
                  <a:gd name="T21" fmla="*/ 92 h 227"/>
                  <a:gd name="T22" fmla="*/ 922 w 3452"/>
                  <a:gd name="T23" fmla="*/ 106 h 227"/>
                  <a:gd name="T24" fmla="*/ 1007 w 3452"/>
                  <a:gd name="T25" fmla="*/ 127 h 227"/>
                  <a:gd name="T26" fmla="*/ 1092 w 3452"/>
                  <a:gd name="T27" fmla="*/ 142 h 227"/>
                  <a:gd name="T28" fmla="*/ 1177 w 3452"/>
                  <a:gd name="T29" fmla="*/ 163 h 227"/>
                  <a:gd name="T30" fmla="*/ 1262 w 3452"/>
                  <a:gd name="T31" fmla="*/ 177 h 227"/>
                  <a:gd name="T32" fmla="*/ 1347 w 3452"/>
                  <a:gd name="T33" fmla="*/ 191 h 227"/>
                  <a:gd name="T34" fmla="*/ 1425 w 3452"/>
                  <a:gd name="T35" fmla="*/ 205 h 227"/>
                  <a:gd name="T36" fmla="*/ 1510 w 3452"/>
                  <a:gd name="T37" fmla="*/ 212 h 227"/>
                  <a:gd name="T38" fmla="*/ 1595 w 3452"/>
                  <a:gd name="T39" fmla="*/ 219 h 227"/>
                  <a:gd name="T40" fmla="*/ 1680 w 3452"/>
                  <a:gd name="T41" fmla="*/ 227 h 227"/>
                  <a:gd name="T42" fmla="*/ 1722 w 3452"/>
                  <a:gd name="T43" fmla="*/ 227 h 227"/>
                  <a:gd name="T44" fmla="*/ 1765 w 3452"/>
                  <a:gd name="T45" fmla="*/ 227 h 227"/>
                  <a:gd name="T46" fmla="*/ 1850 w 3452"/>
                  <a:gd name="T47" fmla="*/ 219 h 227"/>
                  <a:gd name="T48" fmla="*/ 1935 w 3452"/>
                  <a:gd name="T49" fmla="*/ 212 h 227"/>
                  <a:gd name="T50" fmla="*/ 2020 w 3452"/>
                  <a:gd name="T51" fmla="*/ 205 h 227"/>
                  <a:gd name="T52" fmla="*/ 2098 w 3452"/>
                  <a:gd name="T53" fmla="*/ 191 h 227"/>
                  <a:gd name="T54" fmla="*/ 2183 w 3452"/>
                  <a:gd name="T55" fmla="*/ 177 h 227"/>
                  <a:gd name="T56" fmla="*/ 2268 w 3452"/>
                  <a:gd name="T57" fmla="*/ 163 h 227"/>
                  <a:gd name="T58" fmla="*/ 2353 w 3452"/>
                  <a:gd name="T59" fmla="*/ 142 h 227"/>
                  <a:gd name="T60" fmla="*/ 2438 w 3452"/>
                  <a:gd name="T61" fmla="*/ 127 h 227"/>
                  <a:gd name="T62" fmla="*/ 2523 w 3452"/>
                  <a:gd name="T63" fmla="*/ 106 h 227"/>
                  <a:gd name="T64" fmla="*/ 2608 w 3452"/>
                  <a:gd name="T65" fmla="*/ 92 h 227"/>
                  <a:gd name="T66" fmla="*/ 2693 w 3452"/>
                  <a:gd name="T67" fmla="*/ 78 h 227"/>
                  <a:gd name="T68" fmla="*/ 2771 w 3452"/>
                  <a:gd name="T69" fmla="*/ 64 h 227"/>
                  <a:gd name="T70" fmla="*/ 2856 w 3452"/>
                  <a:gd name="T71" fmla="*/ 49 h 227"/>
                  <a:gd name="T72" fmla="*/ 2941 w 3452"/>
                  <a:gd name="T73" fmla="*/ 42 h 227"/>
                  <a:gd name="T74" fmla="*/ 3027 w 3452"/>
                  <a:gd name="T75" fmla="*/ 28 h 227"/>
                  <a:gd name="T76" fmla="*/ 3112 w 3452"/>
                  <a:gd name="T77" fmla="*/ 21 h 227"/>
                  <a:gd name="T78" fmla="*/ 3197 w 3452"/>
                  <a:gd name="T79" fmla="*/ 14 h 227"/>
                  <a:gd name="T80" fmla="*/ 3282 w 3452"/>
                  <a:gd name="T81" fmla="*/ 14 h 227"/>
                  <a:gd name="T82" fmla="*/ 3367 w 3452"/>
                  <a:gd name="T83" fmla="*/ 7 h 227"/>
                  <a:gd name="T84" fmla="*/ 3452 w 3452"/>
                  <a:gd name="T85" fmla="*/ 0 h 22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452" h="227">
                    <a:moveTo>
                      <a:pt x="0" y="0"/>
                    </a:moveTo>
                    <a:lnTo>
                      <a:pt x="78" y="7"/>
                    </a:lnTo>
                    <a:lnTo>
                      <a:pt x="163" y="14"/>
                    </a:lnTo>
                    <a:lnTo>
                      <a:pt x="248" y="14"/>
                    </a:lnTo>
                    <a:lnTo>
                      <a:pt x="333" y="21"/>
                    </a:lnTo>
                    <a:lnTo>
                      <a:pt x="418" y="28"/>
                    </a:lnTo>
                    <a:lnTo>
                      <a:pt x="503" y="42"/>
                    </a:lnTo>
                    <a:lnTo>
                      <a:pt x="588" y="49"/>
                    </a:lnTo>
                    <a:lnTo>
                      <a:pt x="673" y="64"/>
                    </a:lnTo>
                    <a:lnTo>
                      <a:pt x="751" y="78"/>
                    </a:lnTo>
                    <a:lnTo>
                      <a:pt x="836" y="92"/>
                    </a:lnTo>
                    <a:lnTo>
                      <a:pt x="922" y="106"/>
                    </a:lnTo>
                    <a:lnTo>
                      <a:pt x="1007" y="127"/>
                    </a:lnTo>
                    <a:lnTo>
                      <a:pt x="1092" y="142"/>
                    </a:lnTo>
                    <a:lnTo>
                      <a:pt x="1177" y="163"/>
                    </a:lnTo>
                    <a:lnTo>
                      <a:pt x="1262" y="177"/>
                    </a:lnTo>
                    <a:lnTo>
                      <a:pt x="1347" y="191"/>
                    </a:lnTo>
                    <a:lnTo>
                      <a:pt x="1425" y="205"/>
                    </a:lnTo>
                    <a:lnTo>
                      <a:pt x="1510" y="212"/>
                    </a:lnTo>
                    <a:lnTo>
                      <a:pt x="1595" y="219"/>
                    </a:lnTo>
                    <a:lnTo>
                      <a:pt x="1680" y="227"/>
                    </a:lnTo>
                    <a:lnTo>
                      <a:pt x="1722" y="227"/>
                    </a:lnTo>
                    <a:lnTo>
                      <a:pt x="1765" y="227"/>
                    </a:lnTo>
                    <a:lnTo>
                      <a:pt x="1850" y="219"/>
                    </a:lnTo>
                    <a:lnTo>
                      <a:pt x="1935" y="212"/>
                    </a:lnTo>
                    <a:lnTo>
                      <a:pt x="2020" y="205"/>
                    </a:lnTo>
                    <a:lnTo>
                      <a:pt x="2098" y="191"/>
                    </a:lnTo>
                    <a:lnTo>
                      <a:pt x="2183" y="177"/>
                    </a:lnTo>
                    <a:lnTo>
                      <a:pt x="2268" y="163"/>
                    </a:lnTo>
                    <a:lnTo>
                      <a:pt x="2353" y="142"/>
                    </a:lnTo>
                    <a:lnTo>
                      <a:pt x="2438" y="127"/>
                    </a:lnTo>
                    <a:lnTo>
                      <a:pt x="2523" y="106"/>
                    </a:lnTo>
                    <a:lnTo>
                      <a:pt x="2608" y="92"/>
                    </a:lnTo>
                    <a:lnTo>
                      <a:pt x="2693" y="78"/>
                    </a:lnTo>
                    <a:lnTo>
                      <a:pt x="2771" y="64"/>
                    </a:lnTo>
                    <a:lnTo>
                      <a:pt x="2856" y="49"/>
                    </a:lnTo>
                    <a:lnTo>
                      <a:pt x="2941" y="42"/>
                    </a:lnTo>
                    <a:lnTo>
                      <a:pt x="3027" y="28"/>
                    </a:lnTo>
                    <a:lnTo>
                      <a:pt x="3112" y="21"/>
                    </a:lnTo>
                    <a:lnTo>
                      <a:pt x="3197" y="14"/>
                    </a:lnTo>
                    <a:lnTo>
                      <a:pt x="3282" y="14"/>
                    </a:lnTo>
                    <a:lnTo>
                      <a:pt x="3367" y="7"/>
                    </a:lnTo>
                    <a:lnTo>
                      <a:pt x="3452" y="0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58" name="Freeform 137"/>
              <p:cNvSpPr>
                <a:spLocks noChangeArrowheads="1"/>
              </p:cNvSpPr>
              <p:nvPr/>
            </p:nvSpPr>
            <p:spPr bwMode="auto">
              <a:xfrm>
                <a:off x="1499" y="2889"/>
                <a:ext cx="3452" cy="751"/>
              </a:xfrm>
              <a:custGeom>
                <a:avLst/>
                <a:gdLst>
                  <a:gd name="T0" fmla="*/ 0 w 3452"/>
                  <a:gd name="T1" fmla="*/ 0 h 751"/>
                  <a:gd name="T2" fmla="*/ 78 w 3452"/>
                  <a:gd name="T3" fmla="*/ 7 h 751"/>
                  <a:gd name="T4" fmla="*/ 163 w 3452"/>
                  <a:gd name="T5" fmla="*/ 14 h 751"/>
                  <a:gd name="T6" fmla="*/ 248 w 3452"/>
                  <a:gd name="T7" fmla="*/ 21 h 751"/>
                  <a:gd name="T8" fmla="*/ 333 w 3452"/>
                  <a:gd name="T9" fmla="*/ 28 h 751"/>
                  <a:gd name="T10" fmla="*/ 418 w 3452"/>
                  <a:gd name="T11" fmla="*/ 35 h 751"/>
                  <a:gd name="T12" fmla="*/ 503 w 3452"/>
                  <a:gd name="T13" fmla="*/ 49 h 751"/>
                  <a:gd name="T14" fmla="*/ 588 w 3452"/>
                  <a:gd name="T15" fmla="*/ 64 h 751"/>
                  <a:gd name="T16" fmla="*/ 673 w 3452"/>
                  <a:gd name="T17" fmla="*/ 78 h 751"/>
                  <a:gd name="T18" fmla="*/ 751 w 3452"/>
                  <a:gd name="T19" fmla="*/ 92 h 751"/>
                  <a:gd name="T20" fmla="*/ 836 w 3452"/>
                  <a:gd name="T21" fmla="*/ 113 h 751"/>
                  <a:gd name="T22" fmla="*/ 922 w 3452"/>
                  <a:gd name="T23" fmla="*/ 135 h 751"/>
                  <a:gd name="T24" fmla="*/ 1007 w 3452"/>
                  <a:gd name="T25" fmla="*/ 156 h 751"/>
                  <a:gd name="T26" fmla="*/ 1092 w 3452"/>
                  <a:gd name="T27" fmla="*/ 184 h 751"/>
                  <a:gd name="T28" fmla="*/ 1177 w 3452"/>
                  <a:gd name="T29" fmla="*/ 205 h 751"/>
                  <a:gd name="T30" fmla="*/ 1262 w 3452"/>
                  <a:gd name="T31" fmla="*/ 234 h 751"/>
                  <a:gd name="T32" fmla="*/ 1347 w 3452"/>
                  <a:gd name="T33" fmla="*/ 262 h 751"/>
                  <a:gd name="T34" fmla="*/ 1425 w 3452"/>
                  <a:gd name="T35" fmla="*/ 283 h 751"/>
                  <a:gd name="T36" fmla="*/ 1510 w 3452"/>
                  <a:gd name="T37" fmla="*/ 312 h 751"/>
                  <a:gd name="T38" fmla="*/ 1595 w 3452"/>
                  <a:gd name="T39" fmla="*/ 333 h 751"/>
                  <a:gd name="T40" fmla="*/ 1680 w 3452"/>
                  <a:gd name="T41" fmla="*/ 361 h 751"/>
                  <a:gd name="T42" fmla="*/ 1722 w 3452"/>
                  <a:gd name="T43" fmla="*/ 375 h 751"/>
                  <a:gd name="T44" fmla="*/ 1765 w 3452"/>
                  <a:gd name="T45" fmla="*/ 390 h 751"/>
                  <a:gd name="T46" fmla="*/ 1850 w 3452"/>
                  <a:gd name="T47" fmla="*/ 411 h 751"/>
                  <a:gd name="T48" fmla="*/ 1935 w 3452"/>
                  <a:gd name="T49" fmla="*/ 439 h 751"/>
                  <a:gd name="T50" fmla="*/ 2020 w 3452"/>
                  <a:gd name="T51" fmla="*/ 460 h 751"/>
                  <a:gd name="T52" fmla="*/ 2098 w 3452"/>
                  <a:gd name="T53" fmla="*/ 489 h 751"/>
                  <a:gd name="T54" fmla="*/ 2183 w 3452"/>
                  <a:gd name="T55" fmla="*/ 517 h 751"/>
                  <a:gd name="T56" fmla="*/ 2268 w 3452"/>
                  <a:gd name="T57" fmla="*/ 538 h 751"/>
                  <a:gd name="T58" fmla="*/ 2353 w 3452"/>
                  <a:gd name="T59" fmla="*/ 567 h 751"/>
                  <a:gd name="T60" fmla="*/ 2438 w 3452"/>
                  <a:gd name="T61" fmla="*/ 588 h 751"/>
                  <a:gd name="T62" fmla="*/ 2523 w 3452"/>
                  <a:gd name="T63" fmla="*/ 616 h 751"/>
                  <a:gd name="T64" fmla="*/ 2608 w 3452"/>
                  <a:gd name="T65" fmla="*/ 638 h 751"/>
                  <a:gd name="T66" fmla="*/ 2693 w 3452"/>
                  <a:gd name="T67" fmla="*/ 652 h 751"/>
                  <a:gd name="T68" fmla="*/ 2771 w 3452"/>
                  <a:gd name="T69" fmla="*/ 673 h 751"/>
                  <a:gd name="T70" fmla="*/ 2856 w 3452"/>
                  <a:gd name="T71" fmla="*/ 687 h 751"/>
                  <a:gd name="T72" fmla="*/ 2941 w 3452"/>
                  <a:gd name="T73" fmla="*/ 701 h 751"/>
                  <a:gd name="T74" fmla="*/ 3027 w 3452"/>
                  <a:gd name="T75" fmla="*/ 708 h 751"/>
                  <a:gd name="T76" fmla="*/ 3112 w 3452"/>
                  <a:gd name="T77" fmla="*/ 723 h 751"/>
                  <a:gd name="T78" fmla="*/ 3197 w 3452"/>
                  <a:gd name="T79" fmla="*/ 730 h 751"/>
                  <a:gd name="T80" fmla="*/ 3282 w 3452"/>
                  <a:gd name="T81" fmla="*/ 737 h 751"/>
                  <a:gd name="T82" fmla="*/ 3367 w 3452"/>
                  <a:gd name="T83" fmla="*/ 744 h 751"/>
                  <a:gd name="T84" fmla="*/ 3452 w 3452"/>
                  <a:gd name="T85" fmla="*/ 751 h 75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452" h="751">
                    <a:moveTo>
                      <a:pt x="0" y="0"/>
                    </a:moveTo>
                    <a:lnTo>
                      <a:pt x="78" y="7"/>
                    </a:lnTo>
                    <a:lnTo>
                      <a:pt x="163" y="14"/>
                    </a:lnTo>
                    <a:lnTo>
                      <a:pt x="248" y="21"/>
                    </a:lnTo>
                    <a:lnTo>
                      <a:pt x="333" y="28"/>
                    </a:lnTo>
                    <a:lnTo>
                      <a:pt x="418" y="35"/>
                    </a:lnTo>
                    <a:lnTo>
                      <a:pt x="503" y="49"/>
                    </a:lnTo>
                    <a:lnTo>
                      <a:pt x="588" y="64"/>
                    </a:lnTo>
                    <a:lnTo>
                      <a:pt x="673" y="78"/>
                    </a:lnTo>
                    <a:lnTo>
                      <a:pt x="751" y="92"/>
                    </a:lnTo>
                    <a:lnTo>
                      <a:pt x="836" y="113"/>
                    </a:lnTo>
                    <a:lnTo>
                      <a:pt x="922" y="135"/>
                    </a:lnTo>
                    <a:lnTo>
                      <a:pt x="1007" y="156"/>
                    </a:lnTo>
                    <a:lnTo>
                      <a:pt x="1092" y="184"/>
                    </a:lnTo>
                    <a:lnTo>
                      <a:pt x="1177" y="205"/>
                    </a:lnTo>
                    <a:lnTo>
                      <a:pt x="1262" y="234"/>
                    </a:lnTo>
                    <a:lnTo>
                      <a:pt x="1347" y="262"/>
                    </a:lnTo>
                    <a:lnTo>
                      <a:pt x="1425" y="283"/>
                    </a:lnTo>
                    <a:lnTo>
                      <a:pt x="1510" y="312"/>
                    </a:lnTo>
                    <a:lnTo>
                      <a:pt x="1595" y="333"/>
                    </a:lnTo>
                    <a:lnTo>
                      <a:pt x="1680" y="361"/>
                    </a:lnTo>
                    <a:lnTo>
                      <a:pt x="1722" y="375"/>
                    </a:lnTo>
                    <a:lnTo>
                      <a:pt x="1765" y="390"/>
                    </a:lnTo>
                    <a:lnTo>
                      <a:pt x="1850" y="411"/>
                    </a:lnTo>
                    <a:lnTo>
                      <a:pt x="1935" y="439"/>
                    </a:lnTo>
                    <a:lnTo>
                      <a:pt x="2020" y="460"/>
                    </a:lnTo>
                    <a:lnTo>
                      <a:pt x="2098" y="489"/>
                    </a:lnTo>
                    <a:lnTo>
                      <a:pt x="2183" y="517"/>
                    </a:lnTo>
                    <a:lnTo>
                      <a:pt x="2268" y="538"/>
                    </a:lnTo>
                    <a:lnTo>
                      <a:pt x="2353" y="567"/>
                    </a:lnTo>
                    <a:lnTo>
                      <a:pt x="2438" y="588"/>
                    </a:lnTo>
                    <a:lnTo>
                      <a:pt x="2523" y="616"/>
                    </a:lnTo>
                    <a:lnTo>
                      <a:pt x="2608" y="638"/>
                    </a:lnTo>
                    <a:lnTo>
                      <a:pt x="2693" y="652"/>
                    </a:lnTo>
                    <a:lnTo>
                      <a:pt x="2771" y="673"/>
                    </a:lnTo>
                    <a:lnTo>
                      <a:pt x="2856" y="687"/>
                    </a:lnTo>
                    <a:lnTo>
                      <a:pt x="2941" y="701"/>
                    </a:lnTo>
                    <a:lnTo>
                      <a:pt x="3027" y="708"/>
                    </a:lnTo>
                    <a:lnTo>
                      <a:pt x="3112" y="723"/>
                    </a:lnTo>
                    <a:lnTo>
                      <a:pt x="3197" y="730"/>
                    </a:lnTo>
                    <a:lnTo>
                      <a:pt x="3282" y="737"/>
                    </a:lnTo>
                    <a:lnTo>
                      <a:pt x="3367" y="744"/>
                    </a:lnTo>
                    <a:lnTo>
                      <a:pt x="3452" y="751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59" name="Freeform 138"/>
              <p:cNvSpPr>
                <a:spLocks noChangeArrowheads="1"/>
              </p:cNvSpPr>
              <p:nvPr/>
            </p:nvSpPr>
            <p:spPr bwMode="auto">
              <a:xfrm>
                <a:off x="1499" y="2081"/>
                <a:ext cx="3452" cy="751"/>
              </a:xfrm>
              <a:custGeom>
                <a:avLst/>
                <a:gdLst>
                  <a:gd name="T0" fmla="*/ 0 w 3452"/>
                  <a:gd name="T1" fmla="*/ 0 h 751"/>
                  <a:gd name="T2" fmla="*/ 78 w 3452"/>
                  <a:gd name="T3" fmla="*/ 7 h 751"/>
                  <a:gd name="T4" fmla="*/ 163 w 3452"/>
                  <a:gd name="T5" fmla="*/ 14 h 751"/>
                  <a:gd name="T6" fmla="*/ 248 w 3452"/>
                  <a:gd name="T7" fmla="*/ 21 h 751"/>
                  <a:gd name="T8" fmla="*/ 333 w 3452"/>
                  <a:gd name="T9" fmla="*/ 28 h 751"/>
                  <a:gd name="T10" fmla="*/ 418 w 3452"/>
                  <a:gd name="T11" fmla="*/ 43 h 751"/>
                  <a:gd name="T12" fmla="*/ 503 w 3452"/>
                  <a:gd name="T13" fmla="*/ 50 h 751"/>
                  <a:gd name="T14" fmla="*/ 588 w 3452"/>
                  <a:gd name="T15" fmla="*/ 64 h 751"/>
                  <a:gd name="T16" fmla="*/ 673 w 3452"/>
                  <a:gd name="T17" fmla="*/ 78 h 751"/>
                  <a:gd name="T18" fmla="*/ 751 w 3452"/>
                  <a:gd name="T19" fmla="*/ 99 h 751"/>
                  <a:gd name="T20" fmla="*/ 836 w 3452"/>
                  <a:gd name="T21" fmla="*/ 113 h 751"/>
                  <a:gd name="T22" fmla="*/ 922 w 3452"/>
                  <a:gd name="T23" fmla="*/ 135 h 751"/>
                  <a:gd name="T24" fmla="*/ 1007 w 3452"/>
                  <a:gd name="T25" fmla="*/ 163 h 751"/>
                  <a:gd name="T26" fmla="*/ 1092 w 3452"/>
                  <a:gd name="T27" fmla="*/ 184 h 751"/>
                  <a:gd name="T28" fmla="*/ 1177 w 3452"/>
                  <a:gd name="T29" fmla="*/ 213 h 751"/>
                  <a:gd name="T30" fmla="*/ 1262 w 3452"/>
                  <a:gd name="T31" fmla="*/ 234 h 751"/>
                  <a:gd name="T32" fmla="*/ 1347 w 3452"/>
                  <a:gd name="T33" fmla="*/ 262 h 751"/>
                  <a:gd name="T34" fmla="*/ 1425 w 3452"/>
                  <a:gd name="T35" fmla="*/ 291 h 751"/>
                  <a:gd name="T36" fmla="*/ 1510 w 3452"/>
                  <a:gd name="T37" fmla="*/ 312 h 751"/>
                  <a:gd name="T38" fmla="*/ 1595 w 3452"/>
                  <a:gd name="T39" fmla="*/ 340 h 751"/>
                  <a:gd name="T40" fmla="*/ 1680 w 3452"/>
                  <a:gd name="T41" fmla="*/ 361 h 751"/>
                  <a:gd name="T42" fmla="*/ 1722 w 3452"/>
                  <a:gd name="T43" fmla="*/ 376 h 751"/>
                  <a:gd name="T44" fmla="*/ 1765 w 3452"/>
                  <a:gd name="T45" fmla="*/ 390 h 751"/>
                  <a:gd name="T46" fmla="*/ 1850 w 3452"/>
                  <a:gd name="T47" fmla="*/ 418 h 751"/>
                  <a:gd name="T48" fmla="*/ 1935 w 3452"/>
                  <a:gd name="T49" fmla="*/ 439 h 751"/>
                  <a:gd name="T50" fmla="*/ 2020 w 3452"/>
                  <a:gd name="T51" fmla="*/ 468 h 751"/>
                  <a:gd name="T52" fmla="*/ 2098 w 3452"/>
                  <a:gd name="T53" fmla="*/ 489 h 751"/>
                  <a:gd name="T54" fmla="*/ 2183 w 3452"/>
                  <a:gd name="T55" fmla="*/ 517 h 751"/>
                  <a:gd name="T56" fmla="*/ 2268 w 3452"/>
                  <a:gd name="T57" fmla="*/ 546 h 751"/>
                  <a:gd name="T58" fmla="*/ 2353 w 3452"/>
                  <a:gd name="T59" fmla="*/ 567 h 751"/>
                  <a:gd name="T60" fmla="*/ 2438 w 3452"/>
                  <a:gd name="T61" fmla="*/ 595 h 751"/>
                  <a:gd name="T62" fmla="*/ 2523 w 3452"/>
                  <a:gd name="T63" fmla="*/ 617 h 751"/>
                  <a:gd name="T64" fmla="*/ 2608 w 3452"/>
                  <a:gd name="T65" fmla="*/ 638 h 751"/>
                  <a:gd name="T66" fmla="*/ 2693 w 3452"/>
                  <a:gd name="T67" fmla="*/ 659 h 751"/>
                  <a:gd name="T68" fmla="*/ 2771 w 3452"/>
                  <a:gd name="T69" fmla="*/ 673 h 751"/>
                  <a:gd name="T70" fmla="*/ 2856 w 3452"/>
                  <a:gd name="T71" fmla="*/ 687 h 751"/>
                  <a:gd name="T72" fmla="*/ 2941 w 3452"/>
                  <a:gd name="T73" fmla="*/ 702 h 751"/>
                  <a:gd name="T74" fmla="*/ 3027 w 3452"/>
                  <a:gd name="T75" fmla="*/ 716 h 751"/>
                  <a:gd name="T76" fmla="*/ 3112 w 3452"/>
                  <a:gd name="T77" fmla="*/ 723 h 751"/>
                  <a:gd name="T78" fmla="*/ 3197 w 3452"/>
                  <a:gd name="T79" fmla="*/ 730 h 751"/>
                  <a:gd name="T80" fmla="*/ 3282 w 3452"/>
                  <a:gd name="T81" fmla="*/ 737 h 751"/>
                  <a:gd name="T82" fmla="*/ 3367 w 3452"/>
                  <a:gd name="T83" fmla="*/ 744 h 751"/>
                  <a:gd name="T84" fmla="*/ 3452 w 3452"/>
                  <a:gd name="T85" fmla="*/ 751 h 75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452" h="751">
                    <a:moveTo>
                      <a:pt x="0" y="0"/>
                    </a:moveTo>
                    <a:lnTo>
                      <a:pt x="78" y="7"/>
                    </a:lnTo>
                    <a:lnTo>
                      <a:pt x="163" y="14"/>
                    </a:lnTo>
                    <a:lnTo>
                      <a:pt x="248" y="21"/>
                    </a:lnTo>
                    <a:lnTo>
                      <a:pt x="333" y="28"/>
                    </a:lnTo>
                    <a:lnTo>
                      <a:pt x="418" y="43"/>
                    </a:lnTo>
                    <a:lnTo>
                      <a:pt x="503" y="50"/>
                    </a:lnTo>
                    <a:lnTo>
                      <a:pt x="588" y="64"/>
                    </a:lnTo>
                    <a:lnTo>
                      <a:pt x="673" y="78"/>
                    </a:lnTo>
                    <a:lnTo>
                      <a:pt x="751" y="99"/>
                    </a:lnTo>
                    <a:lnTo>
                      <a:pt x="836" y="113"/>
                    </a:lnTo>
                    <a:lnTo>
                      <a:pt x="922" y="135"/>
                    </a:lnTo>
                    <a:lnTo>
                      <a:pt x="1007" y="163"/>
                    </a:lnTo>
                    <a:lnTo>
                      <a:pt x="1092" y="184"/>
                    </a:lnTo>
                    <a:lnTo>
                      <a:pt x="1177" y="213"/>
                    </a:lnTo>
                    <a:lnTo>
                      <a:pt x="1262" y="234"/>
                    </a:lnTo>
                    <a:lnTo>
                      <a:pt x="1347" y="262"/>
                    </a:lnTo>
                    <a:lnTo>
                      <a:pt x="1425" y="291"/>
                    </a:lnTo>
                    <a:lnTo>
                      <a:pt x="1510" y="312"/>
                    </a:lnTo>
                    <a:lnTo>
                      <a:pt x="1595" y="340"/>
                    </a:lnTo>
                    <a:lnTo>
                      <a:pt x="1680" y="361"/>
                    </a:lnTo>
                    <a:lnTo>
                      <a:pt x="1722" y="376"/>
                    </a:lnTo>
                    <a:lnTo>
                      <a:pt x="1765" y="390"/>
                    </a:lnTo>
                    <a:lnTo>
                      <a:pt x="1850" y="418"/>
                    </a:lnTo>
                    <a:lnTo>
                      <a:pt x="1935" y="439"/>
                    </a:lnTo>
                    <a:lnTo>
                      <a:pt x="2020" y="468"/>
                    </a:lnTo>
                    <a:lnTo>
                      <a:pt x="2098" y="489"/>
                    </a:lnTo>
                    <a:lnTo>
                      <a:pt x="2183" y="517"/>
                    </a:lnTo>
                    <a:lnTo>
                      <a:pt x="2268" y="546"/>
                    </a:lnTo>
                    <a:lnTo>
                      <a:pt x="2353" y="567"/>
                    </a:lnTo>
                    <a:lnTo>
                      <a:pt x="2438" y="595"/>
                    </a:lnTo>
                    <a:lnTo>
                      <a:pt x="2523" y="617"/>
                    </a:lnTo>
                    <a:lnTo>
                      <a:pt x="2608" y="638"/>
                    </a:lnTo>
                    <a:lnTo>
                      <a:pt x="2693" y="659"/>
                    </a:lnTo>
                    <a:lnTo>
                      <a:pt x="2771" y="673"/>
                    </a:lnTo>
                    <a:lnTo>
                      <a:pt x="2856" y="687"/>
                    </a:lnTo>
                    <a:lnTo>
                      <a:pt x="2941" y="702"/>
                    </a:lnTo>
                    <a:lnTo>
                      <a:pt x="3027" y="716"/>
                    </a:lnTo>
                    <a:lnTo>
                      <a:pt x="3112" y="723"/>
                    </a:lnTo>
                    <a:lnTo>
                      <a:pt x="3197" y="730"/>
                    </a:lnTo>
                    <a:lnTo>
                      <a:pt x="3282" y="737"/>
                    </a:lnTo>
                    <a:lnTo>
                      <a:pt x="3367" y="744"/>
                    </a:lnTo>
                    <a:lnTo>
                      <a:pt x="3452" y="751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356" name="Rectangle 139"/>
            <p:cNvSpPr>
              <a:spLocks noChangeArrowheads="1"/>
            </p:cNvSpPr>
            <p:nvPr/>
          </p:nvSpPr>
          <p:spPr bwMode="auto">
            <a:xfrm>
              <a:off x="2736" y="3792"/>
              <a:ext cx="11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  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rad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sec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</a:p>
          </p:txBody>
        </p:sp>
      </p:grpSp>
      <p:grpSp>
        <p:nvGrpSpPr>
          <p:cNvPr id="9219" name="Group 6"/>
          <p:cNvGrpSpPr>
            <a:grpSpLocks/>
          </p:cNvGrpSpPr>
          <p:nvPr/>
        </p:nvGrpSpPr>
        <p:grpSpPr bwMode="auto">
          <a:xfrm>
            <a:off x="827088" y="188913"/>
            <a:ext cx="7234237" cy="1101725"/>
            <a:chOff x="864" y="3137"/>
            <a:chExt cx="4557" cy="800"/>
          </a:xfrm>
        </p:grpSpPr>
        <p:sp>
          <p:nvSpPr>
            <p:cNvPr id="9221" name="Rectangle 7"/>
            <p:cNvSpPr>
              <a:spLocks noChangeArrowheads="1"/>
            </p:cNvSpPr>
            <p:nvPr/>
          </p:nvSpPr>
          <p:spPr bwMode="auto">
            <a:xfrm>
              <a:off x="864" y="3137"/>
              <a:ext cx="4484" cy="3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22" name="Object 8"/>
            <p:cNvGraphicFramePr>
              <a:graphicFrameLocks noChangeAspect="1"/>
            </p:cNvGraphicFramePr>
            <p:nvPr/>
          </p:nvGraphicFramePr>
          <p:xfrm>
            <a:off x="909" y="3399"/>
            <a:ext cx="4512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683000" imgH="431800" progId="Equation.3">
                    <p:embed/>
                  </p:oleObj>
                </mc:Choice>
                <mc:Fallback>
                  <p:oleObj r:id="rId3" imgW="3683000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" y="3399"/>
                          <a:ext cx="4512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" name="Rectangle 141"/>
          <p:cNvSpPr>
            <a:spLocks noChangeArrowheads="1"/>
          </p:cNvSpPr>
          <p:nvPr/>
        </p:nvSpPr>
        <p:spPr bwMode="auto">
          <a:xfrm>
            <a:off x="1120775" y="5138738"/>
            <a:ext cx="7118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最小相位系统的幅频特性与相频特性存在唯一确定的关系。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ChangeArrowheads="1"/>
          </p:cNvSpPr>
          <p:nvPr/>
        </p:nvSpPr>
        <p:spPr bwMode="auto">
          <a:xfrm>
            <a:off x="827088" y="36353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传递函数的实验确定法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042988" y="1068388"/>
            <a:ext cx="5883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基本思路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403350" y="2019300"/>
            <a:ext cx="70866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对待测系统，在感兴趣的频率范围内施加正弦激励信号，测量足够多频率上系统输出与输入的幅值比和相位差，绘制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</a:rPr>
              <a:t>图。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03350" y="3600450"/>
            <a:ext cx="70866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根据</a:t>
            </a:r>
            <a:r>
              <a:rPr lang="en-US" altLang="zh-CN" sz="2800">
                <a:latin typeface="Times New Roman" panose="02020603050405020304" pitchFamily="18" charset="0"/>
              </a:rPr>
              <a:t>Bode</a:t>
            </a:r>
            <a:r>
              <a:rPr lang="zh-CN" altLang="en-US" sz="2800">
                <a:latin typeface="Times New Roman" panose="02020603050405020304" pitchFamily="18" charset="0"/>
              </a:rPr>
              <a:t>图的渐近线确定转折频率及各典型环节，得到系统的传递函数。对于最小相位系统，由于其对数幅频特性和对数相频特性有确定的对应性，所以只需要获得对数幅频特性就可以求得系统的传递函数。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1042988" y="1052513"/>
            <a:ext cx="5883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Bode</a:t>
            </a:r>
            <a:r>
              <a:rPr lang="zh-CN" altLang="en-US" sz="2800">
                <a:latin typeface="Times New Roman" panose="02020603050405020304" pitchFamily="18" charset="0"/>
              </a:rPr>
              <a:t>图特点</a:t>
            </a:r>
          </a:p>
        </p:txBody>
      </p:sp>
      <p:sp>
        <p:nvSpPr>
          <p:cNvPr id="199684" name="Rectangle 4"/>
          <p:cNvSpPr>
            <a:spLocks noChangeArrowheads="1"/>
          </p:cNvSpPr>
          <p:nvPr/>
        </p:nvSpPr>
        <p:spPr bwMode="auto">
          <a:xfrm>
            <a:off x="1258888" y="1844675"/>
            <a:ext cx="7239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最低频段的斜率取决于积分环节的数目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斜率为－</a:t>
            </a:r>
            <a:r>
              <a:rPr lang="en-US" altLang="zh-CN" sz="2800">
                <a:latin typeface="Times New Roman" panose="02020603050405020304" pitchFamily="18" charset="0"/>
              </a:rPr>
              <a:t>20</a:t>
            </a:r>
            <a:r>
              <a:rPr lang="en-US" altLang="zh-CN" sz="2800" i="1">
                <a:latin typeface="Times New Roman" panose="02020603050405020304" pitchFamily="18" charset="0"/>
              </a:rPr>
              <a:t>v dB</a:t>
            </a:r>
            <a:r>
              <a:rPr lang="en-US" altLang="zh-CN" sz="2800">
                <a:latin typeface="Times New Roman" panose="02020603050405020304" pitchFamily="18" charset="0"/>
              </a:rPr>
              <a:t>/</a:t>
            </a:r>
            <a:r>
              <a:rPr lang="en-US" altLang="zh-CN" sz="2800" i="1">
                <a:latin typeface="Times New Roman" panose="02020603050405020304" pitchFamily="18" charset="0"/>
              </a:rPr>
              <a:t>dec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199685" name="Rectangle 5"/>
          <p:cNvSpPr>
            <a:spLocks noChangeArrowheads="1"/>
          </p:cNvSpPr>
          <p:nvPr/>
        </p:nvSpPr>
        <p:spPr bwMode="auto">
          <a:xfrm>
            <a:off x="1258888" y="3068638"/>
            <a:ext cx="744855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注意到最低频段的对数幅频特性可近似为：</a:t>
            </a:r>
          </a:p>
        </p:txBody>
      </p:sp>
      <p:graphicFrame>
        <p:nvGraphicFramePr>
          <p:cNvPr id="199686" name="Object 6"/>
          <p:cNvGraphicFramePr>
            <a:graphicFrameLocks noChangeAspect="1"/>
          </p:cNvGraphicFramePr>
          <p:nvPr/>
        </p:nvGraphicFramePr>
        <p:xfrm>
          <a:off x="2449513" y="3802063"/>
          <a:ext cx="32321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62100" imgH="203200" progId="Equation.3">
                  <p:embed/>
                </p:oleObj>
              </mc:Choice>
              <mc:Fallback>
                <p:oleObj r:id="rId3" imgW="15621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9513" y="3802063"/>
                        <a:ext cx="32321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7" name="Rectangle 7"/>
          <p:cNvSpPr>
            <a:spLocks noChangeArrowheads="1"/>
          </p:cNvSpPr>
          <p:nvPr/>
        </p:nvSpPr>
        <p:spPr bwMode="auto">
          <a:xfrm>
            <a:off x="1639888" y="4314825"/>
            <a:ext cx="67818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1 </a:t>
            </a:r>
            <a:r>
              <a:rPr lang="en-US" altLang="zh-CN" sz="2800" i="1">
                <a:latin typeface="Times New Roman" panose="02020603050405020304" pitchFamily="18" charset="0"/>
              </a:rPr>
              <a:t>rad</a:t>
            </a:r>
            <a:r>
              <a:rPr lang="en-US" altLang="zh-CN" sz="2800">
                <a:latin typeface="Times New Roman" panose="02020603050405020304" pitchFamily="18" charset="0"/>
              </a:rPr>
              <a:t>/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en-US" altLang="zh-CN" sz="2800" i="1">
                <a:latin typeface="Times New Roman" panose="02020603050405020304" pitchFamily="18" charset="0"/>
              </a:rPr>
              <a:t>L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)=20lg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zh-CN" altLang="en-US" sz="2800">
                <a:latin typeface="Times New Roman" panose="02020603050405020304" pitchFamily="18" charset="0"/>
              </a:rPr>
              <a:t>，即最低频段的对数幅频特性或其延长线在</a:t>
            </a:r>
            <a:r>
              <a:rPr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1 </a:t>
            </a:r>
            <a:r>
              <a:rPr lang="en-US" altLang="zh-CN" sz="2800" i="1">
                <a:latin typeface="Times New Roman" panose="02020603050405020304" pitchFamily="18" charset="0"/>
              </a:rPr>
              <a:t>rad</a:t>
            </a:r>
            <a:r>
              <a:rPr lang="en-US" altLang="zh-CN" sz="2800">
                <a:latin typeface="Times New Roman" panose="02020603050405020304" pitchFamily="18" charset="0"/>
              </a:rPr>
              <a:t>/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时的数值等于</a:t>
            </a:r>
            <a:r>
              <a:rPr lang="en-US" altLang="zh-CN" sz="2800">
                <a:latin typeface="Times New Roman" panose="02020603050405020304" pitchFamily="18" charset="0"/>
              </a:rPr>
              <a:t>20lg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/>
      <p:bldP spid="199685" grpId="0"/>
      <p:bldP spid="1996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Rectangle 4"/>
          <p:cNvSpPr>
            <a:spLocks noChangeArrowheads="1"/>
          </p:cNvSpPr>
          <p:nvPr/>
        </p:nvSpPr>
        <p:spPr bwMode="auto">
          <a:xfrm>
            <a:off x="971550" y="2133600"/>
            <a:ext cx="77057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Char char="q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对数幅频特性的渐近线每经过一个转折点，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其斜率相应发生变化，斜率变化量由当前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     转折频率对应的环节决定。</a:t>
            </a:r>
          </a:p>
        </p:txBody>
      </p:sp>
      <p:sp>
        <p:nvSpPr>
          <p:cNvPr id="201733" name="Rectangle 5"/>
          <p:cNvSpPr>
            <a:spLocks noChangeArrowheads="1"/>
          </p:cNvSpPr>
          <p:nvPr/>
        </p:nvSpPr>
        <p:spPr bwMode="auto">
          <a:xfrm>
            <a:off x="1187450" y="3860800"/>
            <a:ext cx="7129463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对惯性环节，斜率下降 </a:t>
            </a:r>
            <a:r>
              <a:rPr lang="en-US" altLang="zh-CN" sz="2800">
                <a:latin typeface="Times New Roman" panose="02020603050405020304" pitchFamily="18" charset="0"/>
              </a:rPr>
              <a:t>20dB/dec</a:t>
            </a:r>
            <a:r>
              <a:rPr lang="zh-CN" altLang="en-US" sz="2800">
                <a:latin typeface="Times New Roman" panose="02020603050405020304" pitchFamily="18" charset="0"/>
              </a:rPr>
              <a:t>；振荡环节，下降 </a:t>
            </a:r>
            <a:r>
              <a:rPr lang="en-US" altLang="zh-CN" sz="2800">
                <a:latin typeface="Times New Roman" panose="02020603050405020304" pitchFamily="18" charset="0"/>
              </a:rPr>
              <a:t>40dB/dec</a:t>
            </a:r>
            <a:r>
              <a:rPr lang="zh-CN" altLang="en-US" sz="2800">
                <a:latin typeface="Times New Roman" panose="02020603050405020304" pitchFamily="18" charset="0"/>
              </a:rPr>
              <a:t>；一阶微分环节，上升</a:t>
            </a:r>
            <a:r>
              <a:rPr lang="en-US" altLang="zh-CN" sz="2800">
                <a:latin typeface="Times New Roman" panose="02020603050405020304" pitchFamily="18" charset="0"/>
              </a:rPr>
              <a:t>20dB/dec</a:t>
            </a:r>
            <a:r>
              <a:rPr lang="zh-CN" altLang="en-US" sz="2800">
                <a:latin typeface="Times New Roman" panose="02020603050405020304" pitchFamily="18" charset="0"/>
              </a:rPr>
              <a:t>；二阶微分环节，上升 </a:t>
            </a:r>
            <a:r>
              <a:rPr lang="en-US" altLang="zh-CN" sz="2800">
                <a:latin typeface="Times New Roman" panose="02020603050405020304" pitchFamily="18" charset="0"/>
              </a:rPr>
              <a:t>40dB/dec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/>
      <p:bldP spid="2017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018" name="Group 3"/>
          <p:cNvGrpSpPr>
            <a:grpSpLocks/>
          </p:cNvGrpSpPr>
          <p:nvPr/>
        </p:nvGrpSpPr>
        <p:grpSpPr bwMode="auto">
          <a:xfrm>
            <a:off x="1547813" y="1125538"/>
            <a:ext cx="6176962" cy="2667000"/>
            <a:chOff x="1152" y="576"/>
            <a:chExt cx="3891" cy="1680"/>
          </a:xfrm>
        </p:grpSpPr>
        <p:sp>
          <p:nvSpPr>
            <p:cNvPr id="16393" name="Line 4"/>
            <p:cNvSpPr>
              <a:spLocks noChangeShapeType="1"/>
            </p:cNvSpPr>
            <p:nvPr/>
          </p:nvSpPr>
          <p:spPr bwMode="auto">
            <a:xfrm>
              <a:off x="1296" y="1632"/>
              <a:ext cx="326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4" name="Line 5"/>
            <p:cNvSpPr>
              <a:spLocks noChangeShapeType="1"/>
            </p:cNvSpPr>
            <p:nvPr/>
          </p:nvSpPr>
          <p:spPr bwMode="auto">
            <a:xfrm flipV="1">
              <a:off x="1632" y="672"/>
              <a:ext cx="0" cy="15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Line 6"/>
            <p:cNvSpPr>
              <a:spLocks noChangeShapeType="1"/>
            </p:cNvSpPr>
            <p:nvPr/>
          </p:nvSpPr>
          <p:spPr bwMode="auto">
            <a:xfrm>
              <a:off x="1632" y="1008"/>
              <a:ext cx="768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Line 7"/>
            <p:cNvSpPr>
              <a:spLocks noChangeShapeType="1"/>
            </p:cNvSpPr>
            <p:nvPr/>
          </p:nvSpPr>
          <p:spPr bwMode="auto">
            <a:xfrm>
              <a:off x="2400" y="1392"/>
              <a:ext cx="48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Line 8"/>
            <p:cNvSpPr>
              <a:spLocks noChangeShapeType="1"/>
            </p:cNvSpPr>
            <p:nvPr/>
          </p:nvSpPr>
          <p:spPr bwMode="auto">
            <a:xfrm>
              <a:off x="2880" y="1392"/>
              <a:ext cx="672" cy="38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Line 9"/>
            <p:cNvSpPr>
              <a:spLocks noChangeShapeType="1"/>
            </p:cNvSpPr>
            <p:nvPr/>
          </p:nvSpPr>
          <p:spPr bwMode="auto">
            <a:xfrm>
              <a:off x="3543" y="1776"/>
              <a:ext cx="480" cy="43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Text Box 10"/>
            <p:cNvSpPr txBox="1">
              <a:spLocks noChangeArrowheads="1"/>
            </p:cNvSpPr>
            <p:nvPr/>
          </p:nvSpPr>
          <p:spPr bwMode="auto">
            <a:xfrm>
              <a:off x="1932" y="960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16400" name="Text Box 11"/>
            <p:cNvSpPr txBox="1">
              <a:spLocks noChangeArrowheads="1"/>
            </p:cNvSpPr>
            <p:nvPr/>
          </p:nvSpPr>
          <p:spPr bwMode="auto">
            <a:xfrm>
              <a:off x="2524" y="115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401" name="Text Box 12"/>
            <p:cNvSpPr txBox="1">
              <a:spLocks noChangeArrowheads="1"/>
            </p:cNvSpPr>
            <p:nvPr/>
          </p:nvSpPr>
          <p:spPr bwMode="auto">
            <a:xfrm>
              <a:off x="3072" y="1296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-20</a:t>
              </a:r>
            </a:p>
          </p:txBody>
        </p:sp>
        <p:sp>
          <p:nvSpPr>
            <p:cNvPr id="16402" name="Text Box 13"/>
            <p:cNvSpPr txBox="1">
              <a:spLocks noChangeArrowheads="1"/>
            </p:cNvSpPr>
            <p:nvPr/>
          </p:nvSpPr>
          <p:spPr bwMode="auto">
            <a:xfrm>
              <a:off x="3744" y="1776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-40</a:t>
              </a:r>
            </a:p>
          </p:txBody>
        </p:sp>
        <p:sp>
          <p:nvSpPr>
            <p:cNvPr id="16403" name="Line 14"/>
            <p:cNvSpPr>
              <a:spLocks noChangeShapeType="1"/>
            </p:cNvSpPr>
            <p:nvPr/>
          </p:nvSpPr>
          <p:spPr bwMode="auto">
            <a:xfrm>
              <a:off x="2400" y="1392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Line 15"/>
            <p:cNvSpPr>
              <a:spLocks noChangeShapeType="1"/>
            </p:cNvSpPr>
            <p:nvPr/>
          </p:nvSpPr>
          <p:spPr bwMode="auto">
            <a:xfrm>
              <a:off x="2880" y="1392"/>
              <a:ext cx="0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Line 16"/>
            <p:cNvSpPr>
              <a:spLocks noChangeShapeType="1"/>
            </p:cNvSpPr>
            <p:nvPr/>
          </p:nvSpPr>
          <p:spPr bwMode="auto">
            <a:xfrm flipV="1">
              <a:off x="3552" y="1632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Line 17"/>
            <p:cNvSpPr>
              <a:spLocks noChangeShapeType="1"/>
            </p:cNvSpPr>
            <p:nvPr/>
          </p:nvSpPr>
          <p:spPr bwMode="auto">
            <a:xfrm flipH="1">
              <a:off x="1632" y="1392"/>
              <a:ext cx="76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Text Box 18"/>
            <p:cNvSpPr txBox="1">
              <a:spLocks noChangeArrowheads="1"/>
            </p:cNvSpPr>
            <p:nvPr/>
          </p:nvSpPr>
          <p:spPr bwMode="auto">
            <a:xfrm>
              <a:off x="1334" y="124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6408" name="Text Box 19"/>
            <p:cNvSpPr txBox="1">
              <a:spLocks noChangeArrowheads="1"/>
            </p:cNvSpPr>
            <p:nvPr/>
          </p:nvSpPr>
          <p:spPr bwMode="auto">
            <a:xfrm>
              <a:off x="2236" y="1584"/>
              <a:ext cx="3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0.1</a:t>
              </a:r>
            </a:p>
          </p:txBody>
        </p:sp>
        <p:sp>
          <p:nvSpPr>
            <p:cNvPr id="16409" name="Text Box 20"/>
            <p:cNvSpPr txBox="1">
              <a:spLocks noChangeArrowheads="1"/>
            </p:cNvSpPr>
            <p:nvPr/>
          </p:nvSpPr>
          <p:spPr bwMode="auto">
            <a:xfrm>
              <a:off x="2764" y="158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410" name="Text Box 21"/>
            <p:cNvSpPr txBox="1">
              <a:spLocks noChangeArrowheads="1"/>
            </p:cNvSpPr>
            <p:nvPr/>
          </p:nvSpPr>
          <p:spPr bwMode="auto">
            <a:xfrm>
              <a:off x="3408" y="139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16411" name="Text Box 22"/>
            <p:cNvSpPr txBox="1">
              <a:spLocks noChangeArrowheads="1"/>
            </p:cNvSpPr>
            <p:nvPr/>
          </p:nvSpPr>
          <p:spPr bwMode="auto">
            <a:xfrm>
              <a:off x="4224" y="1606"/>
              <a:ext cx="8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(</a:t>
              </a:r>
              <a:r>
                <a:rPr lang="en-US" altLang="zh-CN" sz="2400" i="1">
                  <a:latin typeface="Times New Roman" panose="02020603050405020304" pitchFamily="18" charset="0"/>
                </a:rPr>
                <a:t>rad</a:t>
              </a:r>
              <a:r>
                <a:rPr lang="en-US" altLang="zh-CN" sz="2400">
                  <a:latin typeface="Times New Roman" panose="02020603050405020304" pitchFamily="18" charset="0"/>
                </a:rPr>
                <a:t>/</a:t>
              </a: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6412" name="Text Box 23"/>
            <p:cNvSpPr txBox="1">
              <a:spLocks noChangeArrowheads="1"/>
            </p:cNvSpPr>
            <p:nvPr/>
          </p:nvSpPr>
          <p:spPr bwMode="auto">
            <a:xfrm>
              <a:off x="1152" y="576"/>
              <a:ext cx="4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L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224280" name="Rectangle 24"/>
          <p:cNvSpPr>
            <a:spLocks noChangeArrowheads="1"/>
          </p:cNvSpPr>
          <p:nvPr/>
        </p:nvSpPr>
        <p:spPr bwMode="auto">
          <a:xfrm>
            <a:off x="1187450" y="3913188"/>
            <a:ext cx="68738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：系统低频段斜率为－</a:t>
            </a:r>
            <a:r>
              <a:rPr lang="en-US" altLang="zh-CN" sz="2800">
                <a:latin typeface="Times New Roman" panose="02020603050405020304" pitchFamily="18" charset="0"/>
              </a:rPr>
              <a:t>20dB/dec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v</a:t>
            </a:r>
            <a:r>
              <a:rPr lang="en-US" altLang="zh-CN" sz="2800">
                <a:latin typeface="Times New Roman" panose="02020603050405020304" pitchFamily="18" charset="0"/>
              </a:rPr>
              <a:t>=1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24281" name="Rectangle 25"/>
          <p:cNvSpPr>
            <a:spLocks noChangeArrowheads="1"/>
          </p:cNvSpPr>
          <p:nvPr/>
        </p:nvSpPr>
        <p:spPr bwMode="auto">
          <a:xfrm>
            <a:off x="1933575" y="4446588"/>
            <a:ext cx="64928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注意到，</a:t>
            </a:r>
            <a:r>
              <a:rPr lang="en-US" altLang="zh-CN" sz="2800">
                <a:latin typeface="Times New Roman" panose="02020603050405020304" pitchFamily="18" charset="0"/>
              </a:rPr>
              <a:t>(lg0.1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20)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(lg1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20lg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两点位于斜率为－</a:t>
            </a:r>
            <a:r>
              <a:rPr lang="en-US" altLang="zh-CN" sz="2800">
                <a:latin typeface="Times New Roman" panose="02020603050405020304" pitchFamily="18" charset="0"/>
              </a:rPr>
              <a:t>20dB/dec</a:t>
            </a:r>
            <a:r>
              <a:rPr lang="zh-CN" altLang="en-US" sz="2800">
                <a:latin typeface="Times New Roman" panose="02020603050405020304" pitchFamily="18" charset="0"/>
              </a:rPr>
              <a:t>的直线上。由：</a:t>
            </a:r>
          </a:p>
        </p:txBody>
      </p:sp>
      <p:graphicFrame>
        <p:nvGraphicFramePr>
          <p:cNvPr id="224282" name="Object 26"/>
          <p:cNvGraphicFramePr>
            <a:graphicFrameLocks noChangeAspect="1"/>
          </p:cNvGraphicFramePr>
          <p:nvPr/>
        </p:nvGraphicFramePr>
        <p:xfrm>
          <a:off x="2771775" y="5589588"/>
          <a:ext cx="42672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43100" imgH="419100" progId="Equation.3">
                  <p:embed/>
                </p:oleObj>
              </mc:Choice>
              <mc:Fallback>
                <p:oleObj r:id="rId3" imgW="1943100" imgH="419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589588"/>
                        <a:ext cx="42672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611188" y="0"/>
            <a:ext cx="7737475" cy="1073150"/>
            <a:chOff x="854" y="2565"/>
            <a:chExt cx="4874" cy="676"/>
          </a:xfrm>
        </p:grpSpPr>
        <p:sp>
          <p:nvSpPr>
            <p:cNvPr id="16391" name="Rectangle 4"/>
            <p:cNvSpPr>
              <a:spLocks noChangeArrowheads="1"/>
            </p:cNvSpPr>
            <p:nvPr/>
          </p:nvSpPr>
          <p:spPr bwMode="auto">
            <a:xfrm>
              <a:off x="854" y="2565"/>
              <a:ext cx="590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buFont typeface="Wingdings" panose="05000000000000000000" pitchFamily="2" charset="2"/>
                <a:buChar char="Ø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</a:t>
              </a:r>
            </a:p>
          </p:txBody>
        </p:sp>
        <p:sp>
          <p:nvSpPr>
            <p:cNvPr id="16392" name="Rectangle 5"/>
            <p:cNvSpPr>
              <a:spLocks noChangeArrowheads="1"/>
            </p:cNvSpPr>
            <p:nvPr/>
          </p:nvSpPr>
          <p:spPr bwMode="auto">
            <a:xfrm>
              <a:off x="1398" y="2565"/>
              <a:ext cx="4330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已知最小相位系统的近似对数幅频特性曲线如图所示。求系统的传递函数。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80" grpId="0"/>
      <p:bldP spid="2242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1403350" y="1811338"/>
            <a:ext cx="68738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系统存在三个转折频率：</a:t>
            </a:r>
            <a:r>
              <a:rPr lang="en-US" altLang="zh-CN" sz="2800">
                <a:latin typeface="Times New Roman" panose="02020603050405020304" pitchFamily="18" charset="0"/>
              </a:rPr>
              <a:t>0.1</a:t>
            </a:r>
            <a:r>
              <a:rPr lang="zh-CN" altLang="en-US" sz="2800">
                <a:latin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20</a:t>
            </a:r>
            <a:r>
              <a:rPr lang="en-US" altLang="zh-CN" sz="2800" i="1">
                <a:latin typeface="Times New Roman" panose="02020603050405020304" pitchFamily="18" charset="0"/>
              </a:rPr>
              <a:t>rad</a:t>
            </a:r>
            <a:r>
              <a:rPr lang="en-US" altLang="zh-CN" sz="2800">
                <a:latin typeface="Times New Roman" panose="02020603050405020304" pitchFamily="18" charset="0"/>
              </a:rPr>
              <a:t>/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。对应的典型环节分别为：</a:t>
            </a:r>
          </a:p>
        </p:txBody>
      </p:sp>
      <p:graphicFrame>
        <p:nvGraphicFramePr>
          <p:cNvPr id="226308" name="Object 4"/>
          <p:cNvGraphicFramePr>
            <a:graphicFrameLocks noChangeAspect="1"/>
          </p:cNvGraphicFramePr>
          <p:nvPr/>
        </p:nvGraphicFramePr>
        <p:xfrm>
          <a:off x="2227263" y="2874963"/>
          <a:ext cx="330676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00200" imgH="393700" progId="Equation.3">
                  <p:embed/>
                </p:oleObj>
              </mc:Choice>
              <mc:Fallback>
                <p:oleObj r:id="rId3" imgW="16002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2874963"/>
                        <a:ext cx="330676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09" name="Rectangle 5"/>
          <p:cNvSpPr>
            <a:spLocks noChangeArrowheads="1"/>
          </p:cNvSpPr>
          <p:nvPr/>
        </p:nvSpPr>
        <p:spPr bwMode="auto">
          <a:xfrm>
            <a:off x="1403350" y="3716338"/>
            <a:ext cx="68738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综上所述，系统传递函数为：</a:t>
            </a:r>
          </a:p>
        </p:txBody>
      </p:sp>
      <p:graphicFrame>
        <p:nvGraphicFramePr>
          <p:cNvPr id="226310" name="Object 6"/>
          <p:cNvGraphicFramePr>
            <a:graphicFrameLocks noChangeAspect="1"/>
          </p:cNvGraphicFramePr>
          <p:nvPr/>
        </p:nvGraphicFramePr>
        <p:xfrm>
          <a:off x="2241550" y="4391025"/>
          <a:ext cx="4803775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24100" imgH="889000" progId="Equation.3">
                  <p:embed/>
                </p:oleObj>
              </mc:Choice>
              <mc:Fallback>
                <p:oleObj r:id="rId5" imgW="2324100" imgH="889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4391025"/>
                        <a:ext cx="4803775" cy="183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6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468313" y="908050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latin typeface="Arial" panose="020B0604020202020204" pitchFamily="34" charset="0"/>
              </a:rPr>
              <a:t>例</a:t>
            </a:r>
            <a:r>
              <a:rPr lang="en-US" altLang="zh-CN" sz="3200" b="1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28355" name="Text Box 3"/>
          <p:cNvSpPr txBox="1">
            <a:spLocks noChangeArrowheads="1"/>
          </p:cNvSpPr>
          <p:nvPr/>
        </p:nvSpPr>
        <p:spPr bwMode="auto">
          <a:xfrm>
            <a:off x="1331913" y="981075"/>
            <a:ext cx="6480175" cy="1073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Arial" panose="020B0604020202020204" pitchFamily="34" charset="0"/>
              </a:rPr>
              <a:t>已知最小相位系统的近似对数幅频特性曲线如图所示。求系统的传递函数。</a:t>
            </a:r>
          </a:p>
        </p:txBody>
      </p:sp>
      <p:pic>
        <p:nvPicPr>
          <p:cNvPr id="228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565400"/>
            <a:ext cx="5897563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Text Box 2"/>
          <p:cNvSpPr txBox="1">
            <a:spLocks noChangeArrowheads="1"/>
          </p:cNvSpPr>
          <p:nvPr/>
        </p:nvSpPr>
        <p:spPr bwMode="auto">
          <a:xfrm>
            <a:off x="663575" y="784225"/>
            <a:ext cx="59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解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0403" name="Text Box 3"/>
          <p:cNvSpPr txBox="1">
            <a:spLocks noChangeArrowheads="1"/>
          </p:cNvSpPr>
          <p:nvPr/>
        </p:nvSpPr>
        <p:spPr bwMode="auto">
          <a:xfrm>
            <a:off x="611188" y="1700213"/>
            <a:ext cx="2749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=0~1 rad/s,     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1700213"/>
            <a:ext cx="5076825" cy="303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0405" name="Object 5"/>
          <p:cNvGraphicFramePr>
            <a:graphicFrameLocks noChangeAspect="1"/>
          </p:cNvGraphicFramePr>
          <p:nvPr/>
        </p:nvGraphicFramePr>
        <p:xfrm>
          <a:off x="755650" y="2781300"/>
          <a:ext cx="3603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7569" imgH="355138" progId="Equation.3">
                  <p:embed/>
                </p:oleObj>
              </mc:Choice>
              <mc:Fallback>
                <p:oleObj r:id="rId4" imgW="177569" imgH="35513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781300"/>
                        <a:ext cx="360363" cy="7207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1258888" y="2909888"/>
            <a:ext cx="2190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Arial" panose="020B0604020202020204" pitchFamily="34" charset="0"/>
              </a:rPr>
              <a:t>由关键点</a:t>
            </a:r>
          </a:p>
          <a:p>
            <a:pPr eaLnBrk="1" hangingPunct="1"/>
            <a:r>
              <a:rPr lang="zh-CN" altLang="en-US" b="1">
                <a:latin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</a:rPr>
              <a:t>(lg1,20lgK) </a:t>
            </a:r>
            <a:r>
              <a:rPr lang="zh-CN" altLang="en-US" b="1">
                <a:latin typeface="Arial" panose="020B0604020202020204" pitchFamily="34" charset="0"/>
              </a:rPr>
              <a:t>可推出</a:t>
            </a:r>
          </a:p>
        </p:txBody>
      </p:sp>
      <p:sp>
        <p:nvSpPr>
          <p:cNvPr id="230407" name="Text Box 7"/>
          <p:cNvSpPr txBox="1">
            <a:spLocks noChangeArrowheads="1"/>
          </p:cNvSpPr>
          <p:nvPr/>
        </p:nvSpPr>
        <p:spPr bwMode="auto">
          <a:xfrm>
            <a:off x="1403350" y="3573463"/>
            <a:ext cx="1949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Arial" panose="020B0604020202020204" pitchFamily="34" charset="0"/>
              </a:rPr>
              <a:t>2olg K=20, K=10</a:t>
            </a:r>
          </a:p>
        </p:txBody>
      </p:sp>
      <p:sp>
        <p:nvSpPr>
          <p:cNvPr id="230408" name="Text Box 8"/>
          <p:cNvSpPr txBox="1">
            <a:spLocks noChangeArrowheads="1"/>
          </p:cNvSpPr>
          <p:nvPr/>
        </p:nvSpPr>
        <p:spPr bwMode="auto">
          <a:xfrm>
            <a:off x="611188" y="4221163"/>
            <a:ext cx="468947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2. =1~2.5 rad/s,      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b2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=1 rad/s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1095375" y="44894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sz="2000" b="1">
              <a:latin typeface="Arial" panose="020B0604020202020204" pitchFamily="34" charset="0"/>
            </a:endParaRPr>
          </a:p>
        </p:txBody>
      </p:sp>
      <p:sp>
        <p:nvSpPr>
          <p:cNvPr id="230410" name="Text Box 10"/>
          <p:cNvSpPr txBox="1">
            <a:spLocks noChangeArrowheads="1"/>
          </p:cNvSpPr>
          <p:nvPr/>
        </p:nvSpPr>
        <p:spPr bwMode="auto">
          <a:xfrm>
            <a:off x="684213" y="4724400"/>
            <a:ext cx="82089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斜率由 </a:t>
            </a:r>
            <a:r>
              <a:rPr lang="en-US" altLang="zh-CN" sz="2000" b="1">
                <a:latin typeface="Arial" panose="020B0604020202020204" pitchFamily="34" charset="0"/>
              </a:rPr>
              <a:t>-20 </a:t>
            </a:r>
            <a:r>
              <a:rPr lang="zh-CN" altLang="en-US" sz="2000" b="1">
                <a:latin typeface="Arial" panose="020B0604020202020204" pitchFamily="34" charset="0"/>
              </a:rPr>
              <a:t>变到 </a:t>
            </a:r>
            <a:r>
              <a:rPr lang="en-US" altLang="zh-CN" sz="2000" b="1">
                <a:latin typeface="Arial" panose="020B0604020202020204" pitchFamily="34" charset="0"/>
              </a:rPr>
              <a:t>0 dB/dec, </a:t>
            </a:r>
            <a:r>
              <a:rPr lang="zh-CN" altLang="en-US" sz="2000" b="1">
                <a:latin typeface="Arial" panose="020B0604020202020204" pitchFamily="34" charset="0"/>
              </a:rPr>
              <a:t>所以一定存在一个一阶微分环节</a:t>
            </a:r>
            <a:r>
              <a:rPr lang="en-US" altLang="zh-CN" sz="2000" b="1">
                <a:latin typeface="Arial" panose="020B0604020202020204" pitchFamily="34" charset="0"/>
              </a:rPr>
              <a:t>(</a:t>
            </a:r>
            <a:r>
              <a:rPr lang="en-US" altLang="zh-CN" sz="2000" b="1">
                <a:latin typeface="Arial" panose="020B0604020202020204" pitchFamily="34" charset="0"/>
                <a:sym typeface="Symbol" panose="05050102010706020507" pitchFamily="18" charset="2"/>
              </a:rPr>
              <a:t></a:t>
            </a:r>
            <a:r>
              <a:rPr lang="en-US" altLang="zh-CN" sz="2000" b="1">
                <a:latin typeface="Arial" panose="020B0604020202020204" pitchFamily="34" charset="0"/>
              </a:rPr>
              <a:t>s+1), </a:t>
            </a:r>
          </a:p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且转折频率为 </a:t>
            </a:r>
            <a:r>
              <a:rPr lang="en-US" altLang="zh-CN" sz="2000" b="1">
                <a:latin typeface="Arial" panose="020B0604020202020204" pitchFamily="34" charset="0"/>
              </a:rPr>
              <a:t>1.</a:t>
            </a:r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1556" imgH="190417" progId="Equation.3">
                  <p:embed/>
                </p:oleObj>
              </mc:Choice>
              <mc:Fallback>
                <p:oleObj r:id="rId6" imgW="101556" imgH="19041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3" name="Object 13"/>
          <p:cNvGraphicFramePr>
            <a:graphicFrameLocks noChangeAspect="1"/>
          </p:cNvGraphicFramePr>
          <p:nvPr/>
        </p:nvGraphicFramePr>
        <p:xfrm>
          <a:off x="2028825" y="5435600"/>
          <a:ext cx="314007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80588" imgH="330057" progId="Equation.3">
                  <p:embed/>
                </p:oleObj>
              </mc:Choice>
              <mc:Fallback>
                <p:oleObj r:id="rId8" imgW="1180588" imgH="33005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5" y="5435600"/>
                        <a:ext cx="3140075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5632450" y="5535613"/>
            <a:ext cx="120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环节为</a:t>
            </a:r>
            <a:r>
              <a:rPr lang="en-US" altLang="zh-CN" sz="2400" b="1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0415" name="AutoShape 15"/>
          <p:cNvSpPr>
            <a:spLocks noChangeArrowheads="1"/>
          </p:cNvSpPr>
          <p:nvPr/>
        </p:nvSpPr>
        <p:spPr bwMode="auto">
          <a:xfrm>
            <a:off x="5219700" y="5734050"/>
            <a:ext cx="431800" cy="71438"/>
          </a:xfrm>
          <a:prstGeom prst="rightArrow">
            <a:avLst>
              <a:gd name="adj1" fmla="val 50000"/>
              <a:gd name="adj2" fmla="val 15099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0416" name="Object 16"/>
          <p:cNvGraphicFramePr>
            <a:graphicFrameLocks noChangeAspect="1"/>
          </p:cNvGraphicFramePr>
          <p:nvPr/>
        </p:nvGraphicFramePr>
        <p:xfrm>
          <a:off x="7386638" y="5516563"/>
          <a:ext cx="9239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42751" imgH="190417" progId="Equation.3">
                  <p:embed/>
                </p:oleObj>
              </mc:Choice>
              <mc:Fallback>
                <p:oleObj r:id="rId10" imgW="342751" imgH="19041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638" y="5516563"/>
                        <a:ext cx="92392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7" name="Rectangle 17"/>
          <p:cNvSpPr>
            <a:spLocks noChangeArrowheads="1"/>
          </p:cNvSpPr>
          <p:nvPr/>
        </p:nvSpPr>
        <p:spPr bwMode="auto">
          <a:xfrm>
            <a:off x="827088" y="2133600"/>
            <a:ext cx="28082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斜率为 </a:t>
            </a:r>
            <a:r>
              <a:rPr lang="en-US" altLang="zh-CN" b="1"/>
              <a:t>-20 dB/dec</a:t>
            </a:r>
            <a:r>
              <a:rPr lang="zh-CN" altLang="en-US" b="1"/>
              <a:t>，且不通过</a:t>
            </a:r>
            <a:r>
              <a:rPr lang="zh-CN" altLang="en-US" b="1">
                <a:sym typeface="Symbol" panose="05050102010706020507" pitchFamily="18" charset="2"/>
              </a:rPr>
              <a:t></a:t>
            </a:r>
            <a:r>
              <a:rPr lang="en-US" altLang="zh-CN" b="1">
                <a:sym typeface="Symbol" panose="05050102010706020507" pitchFamily="18" charset="2"/>
              </a:rPr>
              <a:t>=1rad/s</a:t>
            </a:r>
            <a:r>
              <a:rPr lang="zh-CN" altLang="en-US" b="1">
                <a:sym typeface="Symbol" panose="05050102010706020507" pitchFamily="18" charset="2"/>
              </a:rPr>
              <a:t>，知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10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3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/>
      <p:bldP spid="230403" grpId="0"/>
      <p:bldP spid="230406" grpId="0"/>
      <p:bldP spid="230407" grpId="0"/>
      <p:bldP spid="230408" grpId="0" bldLvl="0" animBg="1"/>
      <p:bldP spid="230410" grpId="0"/>
      <p:bldP spid="230414" grpId="0"/>
      <p:bldP spid="230415" grpId="0" bldLvl="0" animBg="1"/>
      <p:bldP spid="2304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060575"/>
            <a:ext cx="5076825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2451" name="Text Box 3"/>
          <p:cNvSpPr txBox="1">
            <a:spLocks noChangeArrowheads="1"/>
          </p:cNvSpPr>
          <p:nvPr/>
        </p:nvSpPr>
        <p:spPr bwMode="auto">
          <a:xfrm>
            <a:off x="468313" y="692150"/>
            <a:ext cx="4259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panose="020B0604020202020204" pitchFamily="34" charset="0"/>
              </a:rPr>
              <a:t>3. 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&gt; 2.5 rad/s, 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b3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=2.5 rad/s</a:t>
            </a:r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971550" y="1196975"/>
            <a:ext cx="68611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斜率由 </a:t>
            </a:r>
            <a:r>
              <a:rPr lang="en-US" altLang="zh-CN" sz="2400" b="1">
                <a:latin typeface="Arial" panose="020B0604020202020204" pitchFamily="34" charset="0"/>
              </a:rPr>
              <a:t>0 </a:t>
            </a:r>
            <a:r>
              <a:rPr lang="zh-CN" altLang="en-US" sz="2400" b="1">
                <a:latin typeface="Arial" panose="020B0604020202020204" pitchFamily="34" charset="0"/>
              </a:rPr>
              <a:t>变到了 </a:t>
            </a:r>
            <a:r>
              <a:rPr lang="en-US" altLang="zh-CN" sz="2400" b="1">
                <a:latin typeface="Arial" panose="020B0604020202020204" pitchFamily="34" charset="0"/>
              </a:rPr>
              <a:t>-40 dB/dec, </a:t>
            </a:r>
            <a:r>
              <a:rPr lang="zh-CN" altLang="en-US" sz="2400" b="1">
                <a:latin typeface="Arial" panose="020B0604020202020204" pitchFamily="34" charset="0"/>
              </a:rPr>
              <a:t>根据图示真实曲线可推出系统存在一个二阶振荡环节。 </a:t>
            </a:r>
          </a:p>
        </p:txBody>
      </p:sp>
      <p:graphicFrame>
        <p:nvGraphicFramePr>
          <p:cNvPr id="232453" name="Object 5"/>
          <p:cNvGraphicFramePr>
            <a:graphicFrameLocks noChangeAspect="1"/>
          </p:cNvGraphicFramePr>
          <p:nvPr/>
        </p:nvGraphicFramePr>
        <p:xfrm>
          <a:off x="395288" y="2276475"/>
          <a:ext cx="33369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86811" imgH="393529" progId="Equation.3">
                  <p:embed/>
                </p:oleObj>
              </mc:Choice>
              <mc:Fallback>
                <p:oleObj r:id="rId4" imgW="1586811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76475"/>
                        <a:ext cx="333692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4" name="Object 6"/>
          <p:cNvGraphicFramePr>
            <a:graphicFrameLocks noChangeAspect="1"/>
          </p:cNvGraphicFramePr>
          <p:nvPr/>
        </p:nvGraphicFramePr>
        <p:xfrm>
          <a:off x="684213" y="3500438"/>
          <a:ext cx="19335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01309" imgH="228501" progId="Equation.3">
                  <p:embed/>
                </p:oleObj>
              </mc:Choice>
              <mc:Fallback>
                <p:oleObj r:id="rId6" imgW="901309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500438"/>
                        <a:ext cx="19335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592138" y="5027613"/>
            <a:ext cx="417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现在的主要任务是确定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的值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663575" y="553085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根据在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zh-CN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处的误差与的关系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Arial" panose="020B0604020202020204" pitchFamily="34" charset="0"/>
                <a:sym typeface="Symbol" panose="05050102010706020507" pitchFamily="18" charset="2"/>
              </a:rPr>
              <a:t>可解出的值</a:t>
            </a:r>
            <a:r>
              <a:rPr lang="en-US" altLang="zh-CN" sz="2400" b="1">
                <a:latin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2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/>
      <p:bldP spid="232452" grpId="0"/>
      <p:bldP spid="232455" grpId="0"/>
      <p:bldP spid="2324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498" name="Object 2"/>
          <p:cNvGraphicFramePr>
            <a:graphicFrameLocks noChangeAspect="1"/>
          </p:cNvGraphicFramePr>
          <p:nvPr/>
        </p:nvGraphicFramePr>
        <p:xfrm>
          <a:off x="1547813" y="2060575"/>
          <a:ext cx="5111750" cy="339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92300" imgH="1257300" progId="Equation.3">
                  <p:embed/>
                </p:oleObj>
              </mc:Choice>
              <mc:Fallback>
                <p:oleObj r:id="rId3" imgW="1892300" imgH="1257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060575"/>
                        <a:ext cx="5111750" cy="339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499" name="Object 3"/>
          <p:cNvGraphicFramePr>
            <a:graphicFrameLocks noChangeAspect="1"/>
          </p:cNvGraphicFramePr>
          <p:nvPr/>
        </p:nvGraphicFramePr>
        <p:xfrm>
          <a:off x="611188" y="484188"/>
          <a:ext cx="38893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86811" imgH="393529" progId="Equation.3">
                  <p:embed/>
                </p:oleObj>
              </mc:Choice>
              <mc:Fallback>
                <p:oleObj r:id="rId5" imgW="1586811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84188"/>
                        <a:ext cx="38893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0" name="Line 4"/>
          <p:cNvSpPr>
            <a:spLocks noChangeShapeType="1"/>
          </p:cNvSpPr>
          <p:nvPr/>
        </p:nvSpPr>
        <p:spPr bwMode="auto">
          <a:xfrm flipV="1">
            <a:off x="4211638" y="2133600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501" name="Text Box 5"/>
          <p:cNvSpPr txBox="1">
            <a:spLocks noChangeArrowheads="1"/>
          </p:cNvSpPr>
          <p:nvPr/>
        </p:nvSpPr>
        <p:spPr bwMode="auto">
          <a:xfrm>
            <a:off x="3132138" y="1700213"/>
            <a:ext cx="2484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Arial" panose="020B0604020202020204" pitchFamily="34" charset="0"/>
              </a:rPr>
              <a:t>转折频率处的真实值</a:t>
            </a:r>
          </a:p>
        </p:txBody>
      </p:sp>
      <p:graphicFrame>
        <p:nvGraphicFramePr>
          <p:cNvPr id="234502" name="Object 6"/>
          <p:cNvGraphicFramePr>
            <a:graphicFrameLocks noChangeAspect="1"/>
          </p:cNvGraphicFramePr>
          <p:nvPr/>
        </p:nvGraphicFramePr>
        <p:xfrm>
          <a:off x="6588125" y="5300663"/>
          <a:ext cx="151288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07780" imgH="177723" progId="Equation.3">
                  <p:embed/>
                </p:oleObj>
              </mc:Choice>
              <mc:Fallback>
                <p:oleObj r:id="rId7" imgW="507780" imgH="1777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300663"/>
                        <a:ext cx="1512888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503" name="AutoShape 7"/>
          <p:cNvSpPr>
            <a:spLocks noChangeArrowheads="1"/>
          </p:cNvSpPr>
          <p:nvPr/>
        </p:nvSpPr>
        <p:spPr bwMode="auto">
          <a:xfrm>
            <a:off x="4716463" y="981075"/>
            <a:ext cx="431800" cy="71438"/>
          </a:xfrm>
          <a:prstGeom prst="rightArrow">
            <a:avLst>
              <a:gd name="adj1" fmla="val 50000"/>
              <a:gd name="adj2" fmla="val 15099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4504" name="Object 8"/>
          <p:cNvGraphicFramePr>
            <a:graphicFrameLocks noChangeAspect="1"/>
          </p:cNvGraphicFramePr>
          <p:nvPr/>
        </p:nvGraphicFramePr>
        <p:xfrm>
          <a:off x="5292725" y="579438"/>
          <a:ext cx="24479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64781" imgH="355446" progId="Equation.3">
                  <p:embed/>
                </p:oleObj>
              </mc:Choice>
              <mc:Fallback>
                <p:oleObj r:id="rId9" imgW="964781" imgH="3554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579438"/>
                        <a:ext cx="2447925" cy="9017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1000"/>
                                        <p:tgtEl>
                                          <p:spTgt spid="23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10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10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1" grpId="0"/>
      <p:bldP spid="23450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ext Box 2"/>
          <p:cNvSpPr txBox="1">
            <a:spLocks noChangeArrowheads="1"/>
          </p:cNvSpPr>
          <p:nvPr/>
        </p:nvSpPr>
        <p:spPr bwMode="auto">
          <a:xfrm>
            <a:off x="900113" y="1844675"/>
            <a:ext cx="680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Arial" panose="020B0604020202020204" pitchFamily="34" charset="0"/>
              </a:rPr>
              <a:t>最后，可推出该最小相位系统的开环传递函数为</a:t>
            </a:r>
            <a:r>
              <a:rPr lang="en-US" altLang="zh-CN" sz="2400" b="1">
                <a:latin typeface="Arial" panose="020B0604020202020204" pitchFamily="34" charset="0"/>
              </a:rPr>
              <a:t>: </a:t>
            </a:r>
          </a:p>
        </p:txBody>
      </p:sp>
      <p:graphicFrame>
        <p:nvGraphicFramePr>
          <p:cNvPr id="236547" name="Object 3"/>
          <p:cNvGraphicFramePr>
            <a:graphicFrameLocks noChangeAspect="1"/>
          </p:cNvGraphicFramePr>
          <p:nvPr/>
        </p:nvGraphicFramePr>
        <p:xfrm>
          <a:off x="2051050" y="2924175"/>
          <a:ext cx="4249738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73200" imgH="381000" progId="Equation.3">
                  <p:embed/>
                </p:oleObj>
              </mc:Choice>
              <mc:Fallback>
                <p:oleObj r:id="rId3" imgW="1473200" imgH="38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924175"/>
                        <a:ext cx="4249738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t="8490" r="2676" b="3781"/>
          <a:stretch>
            <a:fillRect/>
          </a:stretch>
        </p:blipFill>
        <p:spPr bwMode="auto">
          <a:xfrm>
            <a:off x="611188" y="1773238"/>
            <a:ext cx="792162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文本框 2"/>
          <p:cNvSpPr txBox="1">
            <a:spLocks noChangeArrowheads="1"/>
          </p:cNvSpPr>
          <p:nvPr/>
        </p:nvSpPr>
        <p:spPr bwMode="auto">
          <a:xfrm>
            <a:off x="250825" y="552450"/>
            <a:ext cx="9213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补充：求（</a:t>
            </a:r>
            <a:r>
              <a:rPr lang="en-US" altLang="zh-CN" sz="2800"/>
              <a:t>c</a:t>
            </a:r>
            <a:r>
              <a:rPr lang="zh-CN" altLang="en-US" sz="2800"/>
              <a:t>）（</a:t>
            </a:r>
            <a:r>
              <a:rPr lang="en-US" altLang="zh-CN" sz="2800"/>
              <a:t>d</a:t>
            </a:r>
            <a:r>
              <a:rPr lang="zh-CN" altLang="en-US" sz="2800"/>
              <a:t>）两图所示最小相位系统的传递函数。</a:t>
            </a:r>
          </a:p>
        </p:txBody>
      </p:sp>
      <p:sp>
        <p:nvSpPr>
          <p:cNvPr id="3" name="矩形 2"/>
          <p:cNvSpPr/>
          <p:nvPr/>
        </p:nvSpPr>
        <p:spPr>
          <a:xfrm>
            <a:off x="5508625" y="1557338"/>
            <a:ext cx="3311525" cy="2519362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noProof="1"/>
          </a:p>
        </p:txBody>
      </p:sp>
      <p:sp>
        <p:nvSpPr>
          <p:cNvPr id="4" name="矩形 3"/>
          <p:cNvSpPr/>
          <p:nvPr/>
        </p:nvSpPr>
        <p:spPr>
          <a:xfrm>
            <a:off x="612775" y="3717925"/>
            <a:ext cx="2486025" cy="2519363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0CF028-119E-F486-8FC5-4F6D953A7819}"/>
              </a:ext>
            </a:extLst>
          </p:cNvPr>
          <p:cNvSpPr txBox="1"/>
          <p:nvPr/>
        </p:nvSpPr>
        <p:spPr>
          <a:xfrm>
            <a:off x="539552" y="54868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频率特性实验</a:t>
            </a:r>
          </a:p>
        </p:txBody>
      </p:sp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id="{6E63FF89-A7E4-7638-13F2-E18ACCEB60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" t="18997"/>
          <a:stretch/>
        </p:blipFill>
        <p:spPr bwMode="auto">
          <a:xfrm>
            <a:off x="659917" y="2088883"/>
            <a:ext cx="7147939" cy="18002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8FAA282-935B-4F23-B234-0B6A424CA6DE}"/>
                  </a:ext>
                </a:extLst>
              </p:cNvPr>
              <p:cNvSpPr txBox="1"/>
              <p:nvPr/>
            </p:nvSpPr>
            <p:spPr>
              <a:xfrm>
                <a:off x="1043608" y="4437112"/>
                <a:ext cx="5544616" cy="780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66675" indent="266700" algn="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kern="100" smtClean="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G</m:t>
                    </m:r>
                    <m:d>
                      <m:d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jω</m:t>
                        </m:r>
                      </m:e>
                    </m:d>
                    <m:r>
                      <a:rPr lang="en-US" altLang="zh-CN" sz="2800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2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𝐵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altLang="zh-CN" sz="2800" i="1" kern="10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∠</m:t>
                    </m:r>
                    <m:f>
                      <m:f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:r>
                  <a:rPr lang="en-US" altLang="zh-CN" sz="2800" kern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endParaRPr lang="zh-CN" altLang="zh-CN" sz="2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8FAA282-935B-4F23-B234-0B6A424CA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37112"/>
                <a:ext cx="5544616" cy="780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251520" y="171955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r(t)=1000sin</a:t>
            </a:r>
            <a:r>
              <a:rPr lang="en-US" altLang="zh-CN" dirty="0">
                <a:sym typeface="Symbol" panose="05050102010706020507" pitchFamily="18" charset="2"/>
              </a:rPr>
              <a:t>t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8223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08" y="332656"/>
            <a:ext cx="7672898" cy="580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843808" y="33265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18055"/>
              </p:ext>
            </p:extLst>
          </p:nvPr>
        </p:nvGraphicFramePr>
        <p:xfrm>
          <a:off x="4932040" y="6115482"/>
          <a:ext cx="2276732" cy="76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44600" imgH="419100" progId="Equation.3">
                  <p:embed/>
                </p:oleObj>
              </mc:Choice>
              <mc:Fallback>
                <p:oleObj r:id="rId3" imgW="12446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6115482"/>
                        <a:ext cx="2276732" cy="764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13978" y="2531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449804"/>
              </p:ext>
            </p:extLst>
          </p:nvPr>
        </p:nvGraphicFramePr>
        <p:xfrm>
          <a:off x="2555776" y="6189852"/>
          <a:ext cx="720080" cy="670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18918" imgH="393529" progId="Equation.DSMT4">
                  <p:embed/>
                </p:oleObj>
              </mc:Choice>
              <mc:Fallback>
                <p:oleObj r:id="rId5" imgW="418918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6189852"/>
                        <a:ext cx="720080" cy="6709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673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4" name="图片 1">
            <a:extLst>
              <a:ext uri="{FF2B5EF4-FFF2-40B4-BE49-F238E27FC236}">
                <a16:creationId xmlns:a16="http://schemas.microsoft.com/office/drawing/2014/main" id="{DB381F85-EDAF-851E-D823-7B522A127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53" r="49290"/>
          <a:stretch>
            <a:fillRect/>
          </a:stretch>
        </p:blipFill>
        <p:spPr bwMode="auto">
          <a:xfrm>
            <a:off x="4427984" y="675611"/>
            <a:ext cx="3024336" cy="241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43" name="图片 2">
            <a:extLst>
              <a:ext uri="{FF2B5EF4-FFF2-40B4-BE49-F238E27FC236}">
                <a16:creationId xmlns:a16="http://schemas.microsoft.com/office/drawing/2014/main" id="{FEC655D6-FCCB-2740-7EAB-7319D5324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25" r="49443"/>
          <a:stretch>
            <a:fillRect/>
          </a:stretch>
        </p:blipFill>
        <p:spPr bwMode="auto">
          <a:xfrm>
            <a:off x="917029" y="651621"/>
            <a:ext cx="3150915" cy="244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42" name="图片 6">
            <a:extLst>
              <a:ext uri="{FF2B5EF4-FFF2-40B4-BE49-F238E27FC236}">
                <a16:creationId xmlns:a16="http://schemas.microsoft.com/office/drawing/2014/main" id="{A14D8348-582F-915E-AC88-95E235448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06"/>
          <a:stretch>
            <a:fillRect/>
          </a:stretch>
        </p:blipFill>
        <p:spPr bwMode="auto">
          <a:xfrm>
            <a:off x="1009886" y="3885985"/>
            <a:ext cx="3586034" cy="181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41" name="图片 7">
            <a:extLst>
              <a:ext uri="{FF2B5EF4-FFF2-40B4-BE49-F238E27FC236}">
                <a16:creationId xmlns:a16="http://schemas.microsoft.com/office/drawing/2014/main" id="{ACE51585-5468-38ED-E27E-1E8EE08D4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52"/>
          <a:stretch>
            <a:fillRect/>
          </a:stretch>
        </p:blipFill>
        <p:spPr bwMode="auto">
          <a:xfrm>
            <a:off x="4860032" y="3868994"/>
            <a:ext cx="3238106" cy="172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BEB3F561-AD80-623B-102C-193EFE3AE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3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333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84F1A19-C13E-1F8E-63CB-0B949A344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6053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4469" y="3296540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</a:t>
            </a:r>
            <a:r>
              <a:rPr lang="en-US" altLang="zh-CN" dirty="0">
                <a:sym typeface="Symbol" panose="05050102010706020507" pitchFamily="18" charset="2"/>
              </a:rPr>
              <a:t>=5 rad/s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259132" y="3292659"/>
            <a:ext cx="1509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</a:t>
            </a:r>
            <a:r>
              <a:rPr lang="en-US" altLang="zh-CN" dirty="0">
                <a:sym typeface="Symbol" panose="05050102010706020507" pitchFamily="18" charset="2"/>
              </a:rPr>
              <a:t>=15 rad/s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47664" y="5733834"/>
            <a:ext cx="1592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</a:t>
            </a:r>
            <a:r>
              <a:rPr lang="en-US" altLang="zh-CN" dirty="0">
                <a:sym typeface="Symbol" panose="05050102010706020507" pitchFamily="18" charset="2"/>
              </a:rPr>
              <a:t>=0.2 rad/s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724128" y="5796240"/>
            <a:ext cx="136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</a:t>
            </a:r>
            <a:r>
              <a:rPr lang="en-US" altLang="zh-CN" dirty="0">
                <a:sym typeface="Symbol" panose="05050102010706020507" pitchFamily="18" charset="2"/>
              </a:rPr>
              <a:t>=1 rad/s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923928" y="6203991"/>
            <a:ext cx="1609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</a:t>
            </a:r>
            <a:r>
              <a:rPr lang="zh-CN" altLang="en-US" sz="2400" dirty="0"/>
              <a:t>信号波形</a:t>
            </a: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BF0CF028-119E-F486-8FC5-4F6D953A7819}"/>
              </a:ext>
            </a:extLst>
          </p:cNvPr>
          <p:cNvSpPr txBox="1"/>
          <p:nvPr/>
        </p:nvSpPr>
        <p:spPr>
          <a:xfrm>
            <a:off x="765594" y="48890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2800" dirty="0"/>
              <a:t>频率特性实验中的问题介绍</a:t>
            </a:r>
          </a:p>
        </p:txBody>
      </p:sp>
    </p:spTree>
    <p:extLst>
      <p:ext uri="{BB962C8B-B14F-4D97-AF65-F5344CB8AC3E}">
        <p14:creationId xmlns:p14="http://schemas.microsoft.com/office/powerpoint/2010/main" val="1718218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, 示意图&#10;&#10;AI 生成的内容可能不正确。">
            <a:extLst>
              <a:ext uri="{FF2B5EF4-FFF2-40B4-BE49-F238E27FC236}">
                <a16:creationId xmlns:a16="http://schemas.microsoft.com/office/drawing/2014/main" id="{6E63FF89-A7E4-7638-13F2-E18ACCEB60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" t="18997"/>
          <a:stretch/>
        </p:blipFill>
        <p:spPr bwMode="auto">
          <a:xfrm>
            <a:off x="827584" y="548680"/>
            <a:ext cx="7147939" cy="18002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483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" t="11623" r="60179" b="46941"/>
          <a:stretch>
            <a:fillRect/>
          </a:stretch>
        </p:blipFill>
        <p:spPr bwMode="auto">
          <a:xfrm>
            <a:off x="877396" y="2732974"/>
            <a:ext cx="2413403" cy="176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3" t="63242" r="59639"/>
          <a:stretch>
            <a:fillRect/>
          </a:stretch>
        </p:blipFill>
        <p:spPr bwMode="auto">
          <a:xfrm>
            <a:off x="3421228" y="2705368"/>
            <a:ext cx="2823725" cy="17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1" name="图片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46" t="11150" r="25568" b="52664"/>
          <a:stretch>
            <a:fillRect/>
          </a:stretch>
        </p:blipFill>
        <p:spPr bwMode="auto">
          <a:xfrm>
            <a:off x="6375382" y="2705368"/>
            <a:ext cx="2657545" cy="181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115616" y="409877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115616" y="501317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115616" y="593710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82987" y="237499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489727" y="238078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357585" y="238106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0" y="3289883"/>
            <a:ext cx="949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</a:t>
            </a:r>
            <a:r>
              <a:rPr lang="en-US" altLang="zh-CN" dirty="0">
                <a:sym typeface="Symbol" panose="05050102010706020507" pitchFamily="18" charset="2"/>
              </a:rPr>
              <a:t>=0.2 rad/s</a:t>
            </a:r>
            <a:endParaRPr lang="zh-CN" altLang="en-US" dirty="0"/>
          </a:p>
        </p:txBody>
      </p:sp>
      <p:pic>
        <p:nvPicPr>
          <p:cNvPr id="14" name="图片 13"/>
          <p:cNvPicPr/>
          <p:nvPr/>
        </p:nvPicPr>
        <p:blipFill rotWithShape="1">
          <a:blip r:embed="rId4"/>
          <a:srcRect l="5313" t="11647" r="62996" b="46389"/>
          <a:stretch/>
        </p:blipFill>
        <p:spPr bwMode="auto">
          <a:xfrm>
            <a:off x="848221" y="4679407"/>
            <a:ext cx="2471751" cy="16380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文本框 14"/>
          <p:cNvSpPr txBox="1"/>
          <p:nvPr/>
        </p:nvSpPr>
        <p:spPr>
          <a:xfrm>
            <a:off x="-36804" y="5110962"/>
            <a:ext cx="949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</a:t>
            </a:r>
            <a:r>
              <a:rPr lang="en-US" altLang="zh-CN" dirty="0">
                <a:sym typeface="Symbol" panose="05050102010706020507" pitchFamily="18" charset="2"/>
              </a:rPr>
              <a:t>=1 rad/s</a:t>
            </a:r>
            <a:endParaRPr lang="zh-CN" altLang="en-US" dirty="0"/>
          </a:p>
        </p:txBody>
      </p:sp>
      <p:pic>
        <p:nvPicPr>
          <p:cNvPr id="16" name="图片 15"/>
          <p:cNvPicPr/>
          <p:nvPr/>
        </p:nvPicPr>
        <p:blipFill rotWithShape="1">
          <a:blip r:embed="rId4"/>
          <a:srcRect l="5386" t="60761" r="63048" b="1456"/>
          <a:stretch/>
        </p:blipFill>
        <p:spPr bwMode="auto">
          <a:xfrm>
            <a:off x="3449425" y="4645506"/>
            <a:ext cx="2795528" cy="16719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图片 16"/>
          <p:cNvPicPr/>
          <p:nvPr/>
        </p:nvPicPr>
        <p:blipFill rotWithShape="1">
          <a:blip r:embed="rId4"/>
          <a:srcRect l="44750" t="11566" r="25828" b="52006"/>
          <a:stretch/>
        </p:blipFill>
        <p:spPr bwMode="auto">
          <a:xfrm>
            <a:off x="6355623" y="4642063"/>
            <a:ext cx="2677304" cy="16285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68417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F4CF7A4-D254-4CFC-541F-E5585CEA3090}"/>
              </a:ext>
            </a:extLst>
          </p:cNvPr>
          <p:cNvGrpSpPr>
            <a:grpSpLocks/>
          </p:cNvGrpSpPr>
          <p:nvPr/>
        </p:nvGrpSpPr>
        <p:grpSpPr bwMode="auto">
          <a:xfrm>
            <a:off x="1907704" y="1484784"/>
            <a:ext cx="5791200" cy="4684712"/>
            <a:chOff x="864" y="1177"/>
            <a:chExt cx="3648" cy="2951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F275586-BEB5-1C3A-9CC4-A6D5751F5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9F93126-5884-85EB-2C32-89E71B3AE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A1176FF-2415-D2E5-C0CD-6E8789917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8EED2DA-0536-9013-8571-87733EA7DE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10F906B-64C0-0AF7-3E15-A44EEF02B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897B110-29C4-291F-D7DF-CC55BE06C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2A35FBD-A953-F760-4D33-F87230CA4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3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94FF9A3-B027-1AE2-3D92-BEC036449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4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284FDD1-92ED-1155-C98D-744C3C9D7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CCB8326-D76A-CE8A-7CE5-2F9B10FFC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FED9F6B-9FC5-7FAA-54A7-A03A2FA3B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4C93CBD-8A05-C4C9-2998-8F1D423B1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1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7FBBC03-040D-B3E5-49C5-1EA1E98C1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1283"/>
              <a:ext cx="1" cy="2423"/>
            </a:xfrm>
            <a:custGeom>
              <a:avLst/>
              <a:gdLst>
                <a:gd name="T0" fmla="*/ 0 w 1"/>
                <a:gd name="T1" fmla="*/ 17166 h 342"/>
                <a:gd name="T2" fmla="*/ 0 w 1"/>
                <a:gd name="T3" fmla="*/ 0 h 3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42">
                  <a:moveTo>
                    <a:pt x="0" y="342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74FB9EB-2DE6-28AC-BB73-B26BDB4B8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3706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4365BEE-22D9-C230-FB06-F3033FB58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3401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B245250-B629-7794-A250-1DF5E3FB7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3097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F4E2487-CAF9-49AE-97D9-B4EC34A3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792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E6B2107-503E-47A1-1174-226780E78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494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7D9C42F-2C56-0D20-DD52-B2C4D6389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2190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4FD5FD3-BD60-4AE9-07CD-A2269BB65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885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B85C18E-6A25-E7C8-DA48-BF8280D2E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580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77E0258-B723-2979-BB37-C968950C9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1"/>
            </a:xfrm>
            <a:custGeom>
              <a:avLst/>
              <a:gdLst>
                <a:gd name="T0" fmla="*/ 0 w 434"/>
                <a:gd name="T1" fmla="*/ 0 h 1"/>
                <a:gd name="T2" fmla="*/ 21801 w 4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4" h="1">
                  <a:moveTo>
                    <a:pt x="0" y="0"/>
                  </a:move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499708F2-1494-ADF4-349A-3812C370F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30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33D0D3B-AF62-1698-6F6A-90D09AFA7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custGeom>
              <a:avLst/>
              <a:gdLst>
                <a:gd name="T0" fmla="*/ 0 w 434"/>
                <a:gd name="T1" fmla="*/ 17166 h 342"/>
                <a:gd name="T2" fmla="*/ 21801 w 434"/>
                <a:gd name="T3" fmla="*/ 17166 h 342"/>
                <a:gd name="T4" fmla="*/ 21801 w 434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F7D885C9-4B93-E331-109B-701320F8E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1283"/>
              <a:ext cx="1" cy="24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72D5D766-C5C8-9E2A-77A2-8C7E46D80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706"/>
              <a:ext cx="30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99047480-8564-AE13-75FC-02B00D5D2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1283"/>
              <a:ext cx="1" cy="24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AAED96A3-2110-CF9E-FACE-E6A384794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E31E9496-935E-201E-A557-483192EEA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A65F0707-B715-B08E-6EB2-FF519E007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372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A8B4871F-4FF2-FE0E-8D89-50B912FA7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1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9763DAF4-7202-BB92-652C-91410C09F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EA6EEC88-94B2-9079-80ED-47D7FDFB8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8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6" name="Line 36">
              <a:extLst>
                <a:ext uri="{FF2B5EF4-FFF2-40B4-BE49-F238E27FC236}">
                  <a16:creationId xmlns:a16="http://schemas.microsoft.com/office/drawing/2014/main" id="{47A288FA-909D-0972-16F8-F26483F7B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6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D53AC2C4-B12C-F0BF-F325-074BB6BEE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C5625C29-20FA-69AA-1471-6871D615F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3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8980A735-89A0-1C56-028B-09A5BE0AE9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8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E5D85CAC-047C-6FD7-DCBE-D6FB9E9E1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8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87B15578-58FD-B274-658D-B8041BC07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5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EFB35F64-401B-8CB6-D937-12E9F9C7AB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3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E1AFCBA4-36C2-09AD-3580-6FC4D36C3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3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0C9EBBFE-969F-283C-DEE1-637867ED5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0.8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E631E999-047B-E1EB-AAC0-04B588BD8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4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328CDF09-4EEF-21C9-D737-8036953A8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4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54070989-655C-A8B0-A5A4-A94A8B3B0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372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08285C80-1BB0-50AA-262E-5352343A5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9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A7714A00-E9E5-61D9-12B7-BCA2ECFAA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9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483CC789-2C8C-28AD-0AF1-55BD35761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6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09116E8F-CA71-2618-0716-196C82F0C0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4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605CF6C6-E593-C559-68B2-0A39C2E91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2683F315-1B60-F7B0-FC93-84AB33401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1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4" name="Line 54">
              <a:extLst>
                <a:ext uri="{FF2B5EF4-FFF2-40B4-BE49-F238E27FC236}">
                  <a16:creationId xmlns:a16="http://schemas.microsoft.com/office/drawing/2014/main" id="{A168BE05-23D8-EF12-62DC-B29373EC12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6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5">
              <a:extLst>
                <a:ext uri="{FF2B5EF4-FFF2-40B4-BE49-F238E27FC236}">
                  <a16:creationId xmlns:a16="http://schemas.microsoft.com/office/drawing/2014/main" id="{428A035A-F987-3E5B-F70F-5F76775A7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6">
              <a:extLst>
                <a:ext uri="{FF2B5EF4-FFF2-40B4-BE49-F238E27FC236}">
                  <a16:creationId xmlns:a16="http://schemas.microsoft.com/office/drawing/2014/main" id="{6A39D929-C727-8210-9521-7BC71C507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1.6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C5363C3C-FF4D-D11F-B743-BD1A8D4C85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1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E2BD9CE0-A129-8AB6-CC9A-158ACE20A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1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B4384235-43F4-DC09-4116-BE8C547F9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8" y="3727"/>
              <a:ext cx="20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1.8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60" name="Line 60">
              <a:extLst>
                <a:ext uri="{FF2B5EF4-FFF2-40B4-BE49-F238E27FC236}">
                  <a16:creationId xmlns:a16="http://schemas.microsoft.com/office/drawing/2014/main" id="{64E0C44F-F495-5EDB-D591-3EB13E6F2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72" y="36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61">
              <a:extLst>
                <a:ext uri="{FF2B5EF4-FFF2-40B4-BE49-F238E27FC236}">
                  <a16:creationId xmlns:a16="http://schemas.microsoft.com/office/drawing/2014/main" id="{C9410079-3A77-C1AB-0AD6-F3AB97622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2" y="1283"/>
              <a:ext cx="1" cy="2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BA628F0A-2BB4-A27D-2DC7-BF0353ED0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372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7B7A502E-DD66-BD19-8ECD-605D0481E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706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4">
              <a:extLst>
                <a:ext uri="{FF2B5EF4-FFF2-40B4-BE49-F238E27FC236}">
                  <a16:creationId xmlns:a16="http://schemas.microsoft.com/office/drawing/2014/main" id="{4104D393-9007-67CA-1317-3BAF0D912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706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4652DBFF-8FE1-A191-9C91-042639091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600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0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E911E17D-5624-8248-4CDB-4593F6A4A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401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8A9E752A-45B6-408E-9103-BF6C1A156D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401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6AB25DBC-3F25-B2CE-209C-569A45409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3097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79415B66-33EA-2A47-B0D3-0E5F6B21C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3097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EBAF423F-30FB-6022-8263-FF8BDAE89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99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71A3D1B9-44DC-8E76-8961-D678A12C7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792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A351F8B6-813C-F7DB-D7B0-2BB87BA8F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2792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BCACD0B0-891F-11D0-9D53-8C0489AA46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494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74">
              <a:extLst>
                <a:ext uri="{FF2B5EF4-FFF2-40B4-BE49-F238E27FC236}">
                  <a16:creationId xmlns:a16="http://schemas.microsoft.com/office/drawing/2014/main" id="{F7B98852-3E4C-9A5B-0EBA-7260386752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2494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5F59E50F-CDDC-726D-56B3-CA8EB7D19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38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6" name="Line 76">
              <a:extLst>
                <a:ext uri="{FF2B5EF4-FFF2-40B4-BE49-F238E27FC236}">
                  <a16:creationId xmlns:a16="http://schemas.microsoft.com/office/drawing/2014/main" id="{99B937A2-2659-1772-0CAD-6FF3DD9A0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19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9073DC53-E486-CD3E-8D95-090D22D48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2190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8">
              <a:extLst>
                <a:ext uri="{FF2B5EF4-FFF2-40B4-BE49-F238E27FC236}">
                  <a16:creationId xmlns:a16="http://schemas.microsoft.com/office/drawing/2014/main" id="{D6130213-8DA4-C23E-C41F-8765685C5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885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9">
              <a:extLst>
                <a:ext uri="{FF2B5EF4-FFF2-40B4-BE49-F238E27FC236}">
                  <a16:creationId xmlns:a16="http://schemas.microsoft.com/office/drawing/2014/main" id="{A85F028C-2296-CF54-8DDB-26B5CC3E7E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1885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DBEAD765-52D0-E6AB-1D35-703AF7348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77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1" name="Line 81">
              <a:extLst>
                <a:ext uri="{FF2B5EF4-FFF2-40B4-BE49-F238E27FC236}">
                  <a16:creationId xmlns:a16="http://schemas.microsoft.com/office/drawing/2014/main" id="{85BE7F5B-6F64-F47F-F36B-DD77ACCAF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58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C156C64E-5391-83BC-78C2-ECB61FAEA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1580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34F4DFA1-A78D-407A-713D-C69A6FF9E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E3D0921C-44E5-AE06-11CF-325EA244AB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7" y="1283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Rectangle 85">
              <a:extLst>
                <a:ext uri="{FF2B5EF4-FFF2-40B4-BE49-F238E27FC236}">
                  <a16:creationId xmlns:a16="http://schemas.microsoft.com/office/drawing/2014/main" id="{021D65E8-5ED5-2354-1EEF-909A2CDED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177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Helvetica" panose="020B0604020202020204" pitchFamily="34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055E70FA-9E2A-510D-6E49-745E6C79E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1283"/>
              <a:ext cx="307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D7F44DAE-0054-AFCB-67BE-0BF9B47AA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" y="1283"/>
              <a:ext cx="3076" cy="2423"/>
            </a:xfrm>
            <a:custGeom>
              <a:avLst/>
              <a:gdLst>
                <a:gd name="T0" fmla="*/ 0 w 434"/>
                <a:gd name="T1" fmla="*/ 17166 h 342"/>
                <a:gd name="T2" fmla="*/ 21801 w 434"/>
                <a:gd name="T3" fmla="*/ 17166 h 342"/>
                <a:gd name="T4" fmla="*/ 21801 w 434"/>
                <a:gd name="T5" fmla="*/ 0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4" h="342">
                  <a:moveTo>
                    <a:pt x="0" y="342"/>
                  </a:moveTo>
                  <a:lnTo>
                    <a:pt x="434" y="342"/>
                  </a:lnTo>
                  <a:lnTo>
                    <a:pt x="43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8">
              <a:extLst>
                <a:ext uri="{FF2B5EF4-FFF2-40B4-BE49-F238E27FC236}">
                  <a16:creationId xmlns:a16="http://schemas.microsoft.com/office/drawing/2014/main" id="{4BA237F6-A05E-D09A-B47A-A373087634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6" y="1283"/>
              <a:ext cx="1" cy="242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9" name="Group 89">
              <a:extLst>
                <a:ext uri="{FF2B5EF4-FFF2-40B4-BE49-F238E27FC236}">
                  <a16:creationId xmlns:a16="http://schemas.microsoft.com/office/drawing/2014/main" id="{3EA3AF09-EA0E-7FB6-C038-74A76E911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1283"/>
              <a:ext cx="3076" cy="2218"/>
              <a:chOff x="1252" y="1283"/>
              <a:chExt cx="3076" cy="2218"/>
            </a:xfrm>
          </p:grpSpPr>
          <p:sp>
            <p:nvSpPr>
              <p:cNvPr id="126" name="Freeform 90">
                <a:extLst>
                  <a:ext uri="{FF2B5EF4-FFF2-40B4-BE49-F238E27FC236}">
                    <a16:creationId xmlns:a16="http://schemas.microsoft.com/office/drawing/2014/main" id="{C840AB5B-65F0-5897-EBF5-6FA3E6ED0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1283"/>
                <a:ext cx="1340" cy="1814"/>
              </a:xfrm>
              <a:custGeom>
                <a:avLst/>
                <a:gdLst>
                  <a:gd name="T0" fmla="*/ 15 w 1340"/>
                  <a:gd name="T1" fmla="*/ 1814 h 1814"/>
                  <a:gd name="T2" fmla="*/ 43 w 1340"/>
                  <a:gd name="T3" fmla="*/ 1814 h 1814"/>
                  <a:gd name="T4" fmla="*/ 71 w 1340"/>
                  <a:gd name="T5" fmla="*/ 1814 h 1814"/>
                  <a:gd name="T6" fmla="*/ 107 w 1340"/>
                  <a:gd name="T7" fmla="*/ 1814 h 1814"/>
                  <a:gd name="T8" fmla="*/ 135 w 1340"/>
                  <a:gd name="T9" fmla="*/ 1807 h 1814"/>
                  <a:gd name="T10" fmla="*/ 163 w 1340"/>
                  <a:gd name="T11" fmla="*/ 1807 h 1814"/>
                  <a:gd name="T12" fmla="*/ 199 w 1340"/>
                  <a:gd name="T13" fmla="*/ 1807 h 1814"/>
                  <a:gd name="T14" fmla="*/ 227 w 1340"/>
                  <a:gd name="T15" fmla="*/ 1800 h 1814"/>
                  <a:gd name="T16" fmla="*/ 256 w 1340"/>
                  <a:gd name="T17" fmla="*/ 1792 h 1814"/>
                  <a:gd name="T18" fmla="*/ 291 w 1340"/>
                  <a:gd name="T19" fmla="*/ 1792 h 1814"/>
                  <a:gd name="T20" fmla="*/ 319 w 1340"/>
                  <a:gd name="T21" fmla="*/ 1785 h 1814"/>
                  <a:gd name="T22" fmla="*/ 348 w 1340"/>
                  <a:gd name="T23" fmla="*/ 1778 h 1814"/>
                  <a:gd name="T24" fmla="*/ 383 w 1340"/>
                  <a:gd name="T25" fmla="*/ 1771 h 1814"/>
                  <a:gd name="T26" fmla="*/ 411 w 1340"/>
                  <a:gd name="T27" fmla="*/ 1764 h 1814"/>
                  <a:gd name="T28" fmla="*/ 440 w 1340"/>
                  <a:gd name="T29" fmla="*/ 1757 h 1814"/>
                  <a:gd name="T30" fmla="*/ 475 w 1340"/>
                  <a:gd name="T31" fmla="*/ 1750 h 1814"/>
                  <a:gd name="T32" fmla="*/ 504 w 1340"/>
                  <a:gd name="T33" fmla="*/ 1743 h 1814"/>
                  <a:gd name="T34" fmla="*/ 532 w 1340"/>
                  <a:gd name="T35" fmla="*/ 1729 h 1814"/>
                  <a:gd name="T36" fmla="*/ 567 w 1340"/>
                  <a:gd name="T37" fmla="*/ 1722 h 1814"/>
                  <a:gd name="T38" fmla="*/ 596 w 1340"/>
                  <a:gd name="T39" fmla="*/ 1707 h 1814"/>
                  <a:gd name="T40" fmla="*/ 624 w 1340"/>
                  <a:gd name="T41" fmla="*/ 1693 h 1814"/>
                  <a:gd name="T42" fmla="*/ 660 w 1340"/>
                  <a:gd name="T43" fmla="*/ 1679 h 1814"/>
                  <a:gd name="T44" fmla="*/ 688 w 1340"/>
                  <a:gd name="T45" fmla="*/ 1658 h 1814"/>
                  <a:gd name="T46" fmla="*/ 716 w 1340"/>
                  <a:gd name="T47" fmla="*/ 1644 h 1814"/>
                  <a:gd name="T48" fmla="*/ 752 w 1340"/>
                  <a:gd name="T49" fmla="*/ 1622 h 1814"/>
                  <a:gd name="T50" fmla="*/ 780 w 1340"/>
                  <a:gd name="T51" fmla="*/ 1601 h 1814"/>
                  <a:gd name="T52" fmla="*/ 815 w 1340"/>
                  <a:gd name="T53" fmla="*/ 1580 h 1814"/>
                  <a:gd name="T54" fmla="*/ 844 w 1340"/>
                  <a:gd name="T55" fmla="*/ 1552 h 1814"/>
                  <a:gd name="T56" fmla="*/ 872 w 1340"/>
                  <a:gd name="T57" fmla="*/ 1523 h 1814"/>
                  <a:gd name="T58" fmla="*/ 908 w 1340"/>
                  <a:gd name="T59" fmla="*/ 1495 h 1814"/>
                  <a:gd name="T60" fmla="*/ 936 w 1340"/>
                  <a:gd name="T61" fmla="*/ 1459 h 1814"/>
                  <a:gd name="T62" fmla="*/ 964 w 1340"/>
                  <a:gd name="T63" fmla="*/ 1417 h 1814"/>
                  <a:gd name="T64" fmla="*/ 1000 w 1340"/>
                  <a:gd name="T65" fmla="*/ 1374 h 1814"/>
                  <a:gd name="T66" fmla="*/ 1028 w 1340"/>
                  <a:gd name="T67" fmla="*/ 1325 h 1814"/>
                  <a:gd name="T68" fmla="*/ 1056 w 1340"/>
                  <a:gd name="T69" fmla="*/ 1275 h 1814"/>
                  <a:gd name="T70" fmla="*/ 1092 w 1340"/>
                  <a:gd name="T71" fmla="*/ 1211 h 1814"/>
                  <a:gd name="T72" fmla="*/ 1120 w 1340"/>
                  <a:gd name="T73" fmla="*/ 1141 h 1814"/>
                  <a:gd name="T74" fmla="*/ 1149 w 1340"/>
                  <a:gd name="T75" fmla="*/ 1056 h 1814"/>
                  <a:gd name="T76" fmla="*/ 1184 w 1340"/>
                  <a:gd name="T77" fmla="*/ 956 h 1814"/>
                  <a:gd name="T78" fmla="*/ 1212 w 1340"/>
                  <a:gd name="T79" fmla="*/ 843 h 1814"/>
                  <a:gd name="T80" fmla="*/ 1241 w 1340"/>
                  <a:gd name="T81" fmla="*/ 708 h 1814"/>
                  <a:gd name="T82" fmla="*/ 1276 w 1340"/>
                  <a:gd name="T83" fmla="*/ 538 h 1814"/>
                  <a:gd name="T84" fmla="*/ 1304 w 1340"/>
                  <a:gd name="T85" fmla="*/ 333 h 1814"/>
                  <a:gd name="T86" fmla="*/ 1333 w 1340"/>
                  <a:gd name="T87" fmla="*/ 71 h 1814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340" h="1814">
                    <a:moveTo>
                      <a:pt x="0" y="1814"/>
                    </a:moveTo>
                    <a:lnTo>
                      <a:pt x="15" y="1814"/>
                    </a:lnTo>
                    <a:lnTo>
                      <a:pt x="29" y="1814"/>
                    </a:lnTo>
                    <a:lnTo>
                      <a:pt x="43" y="1814"/>
                    </a:lnTo>
                    <a:lnTo>
                      <a:pt x="57" y="1814"/>
                    </a:lnTo>
                    <a:lnTo>
                      <a:pt x="71" y="1814"/>
                    </a:lnTo>
                    <a:lnTo>
                      <a:pt x="93" y="1814"/>
                    </a:lnTo>
                    <a:lnTo>
                      <a:pt x="107" y="1814"/>
                    </a:lnTo>
                    <a:lnTo>
                      <a:pt x="121" y="1807"/>
                    </a:lnTo>
                    <a:lnTo>
                      <a:pt x="135" y="1807"/>
                    </a:lnTo>
                    <a:lnTo>
                      <a:pt x="149" y="1807"/>
                    </a:lnTo>
                    <a:lnTo>
                      <a:pt x="163" y="1807"/>
                    </a:lnTo>
                    <a:lnTo>
                      <a:pt x="185" y="1807"/>
                    </a:lnTo>
                    <a:lnTo>
                      <a:pt x="199" y="1807"/>
                    </a:lnTo>
                    <a:lnTo>
                      <a:pt x="213" y="1800"/>
                    </a:lnTo>
                    <a:lnTo>
                      <a:pt x="227" y="1800"/>
                    </a:lnTo>
                    <a:lnTo>
                      <a:pt x="241" y="1800"/>
                    </a:lnTo>
                    <a:lnTo>
                      <a:pt x="256" y="1792"/>
                    </a:lnTo>
                    <a:lnTo>
                      <a:pt x="277" y="1792"/>
                    </a:lnTo>
                    <a:lnTo>
                      <a:pt x="291" y="1792"/>
                    </a:lnTo>
                    <a:lnTo>
                      <a:pt x="305" y="1785"/>
                    </a:lnTo>
                    <a:lnTo>
                      <a:pt x="319" y="1785"/>
                    </a:lnTo>
                    <a:lnTo>
                      <a:pt x="334" y="1785"/>
                    </a:lnTo>
                    <a:lnTo>
                      <a:pt x="348" y="1778"/>
                    </a:lnTo>
                    <a:lnTo>
                      <a:pt x="369" y="1778"/>
                    </a:lnTo>
                    <a:lnTo>
                      <a:pt x="383" y="1771"/>
                    </a:lnTo>
                    <a:lnTo>
                      <a:pt x="397" y="1771"/>
                    </a:lnTo>
                    <a:lnTo>
                      <a:pt x="411" y="1764"/>
                    </a:lnTo>
                    <a:lnTo>
                      <a:pt x="426" y="1764"/>
                    </a:lnTo>
                    <a:lnTo>
                      <a:pt x="440" y="1757"/>
                    </a:lnTo>
                    <a:lnTo>
                      <a:pt x="461" y="1757"/>
                    </a:lnTo>
                    <a:lnTo>
                      <a:pt x="475" y="1750"/>
                    </a:lnTo>
                    <a:lnTo>
                      <a:pt x="489" y="1743"/>
                    </a:lnTo>
                    <a:lnTo>
                      <a:pt x="504" y="1743"/>
                    </a:lnTo>
                    <a:lnTo>
                      <a:pt x="518" y="1736"/>
                    </a:lnTo>
                    <a:lnTo>
                      <a:pt x="532" y="1729"/>
                    </a:lnTo>
                    <a:lnTo>
                      <a:pt x="553" y="1722"/>
                    </a:lnTo>
                    <a:lnTo>
                      <a:pt x="567" y="1722"/>
                    </a:lnTo>
                    <a:lnTo>
                      <a:pt x="582" y="1714"/>
                    </a:lnTo>
                    <a:lnTo>
                      <a:pt x="596" y="1707"/>
                    </a:lnTo>
                    <a:lnTo>
                      <a:pt x="610" y="1700"/>
                    </a:lnTo>
                    <a:lnTo>
                      <a:pt x="624" y="1693"/>
                    </a:lnTo>
                    <a:lnTo>
                      <a:pt x="645" y="1686"/>
                    </a:lnTo>
                    <a:lnTo>
                      <a:pt x="660" y="1679"/>
                    </a:lnTo>
                    <a:lnTo>
                      <a:pt x="674" y="1672"/>
                    </a:lnTo>
                    <a:lnTo>
                      <a:pt x="688" y="1658"/>
                    </a:lnTo>
                    <a:lnTo>
                      <a:pt x="702" y="1651"/>
                    </a:lnTo>
                    <a:lnTo>
                      <a:pt x="716" y="1644"/>
                    </a:lnTo>
                    <a:lnTo>
                      <a:pt x="737" y="1637"/>
                    </a:lnTo>
                    <a:lnTo>
                      <a:pt x="752" y="1622"/>
                    </a:lnTo>
                    <a:lnTo>
                      <a:pt x="766" y="1615"/>
                    </a:lnTo>
                    <a:lnTo>
                      <a:pt x="780" y="1601"/>
                    </a:lnTo>
                    <a:lnTo>
                      <a:pt x="794" y="1594"/>
                    </a:lnTo>
                    <a:lnTo>
                      <a:pt x="815" y="1580"/>
                    </a:lnTo>
                    <a:lnTo>
                      <a:pt x="830" y="1566"/>
                    </a:lnTo>
                    <a:lnTo>
                      <a:pt x="844" y="1552"/>
                    </a:lnTo>
                    <a:lnTo>
                      <a:pt x="858" y="1537"/>
                    </a:lnTo>
                    <a:lnTo>
                      <a:pt x="872" y="1523"/>
                    </a:lnTo>
                    <a:lnTo>
                      <a:pt x="886" y="1509"/>
                    </a:lnTo>
                    <a:lnTo>
                      <a:pt x="908" y="1495"/>
                    </a:lnTo>
                    <a:lnTo>
                      <a:pt x="922" y="1474"/>
                    </a:lnTo>
                    <a:lnTo>
                      <a:pt x="936" y="1459"/>
                    </a:lnTo>
                    <a:lnTo>
                      <a:pt x="950" y="1438"/>
                    </a:lnTo>
                    <a:lnTo>
                      <a:pt x="964" y="1417"/>
                    </a:lnTo>
                    <a:lnTo>
                      <a:pt x="978" y="1403"/>
                    </a:lnTo>
                    <a:lnTo>
                      <a:pt x="1000" y="1374"/>
                    </a:lnTo>
                    <a:lnTo>
                      <a:pt x="1014" y="1353"/>
                    </a:lnTo>
                    <a:lnTo>
                      <a:pt x="1028" y="1325"/>
                    </a:lnTo>
                    <a:lnTo>
                      <a:pt x="1042" y="1304"/>
                    </a:lnTo>
                    <a:lnTo>
                      <a:pt x="1056" y="1275"/>
                    </a:lnTo>
                    <a:lnTo>
                      <a:pt x="1071" y="1240"/>
                    </a:lnTo>
                    <a:lnTo>
                      <a:pt x="1092" y="1211"/>
                    </a:lnTo>
                    <a:lnTo>
                      <a:pt x="1106" y="1176"/>
                    </a:lnTo>
                    <a:lnTo>
                      <a:pt x="1120" y="1141"/>
                    </a:lnTo>
                    <a:lnTo>
                      <a:pt x="1134" y="1098"/>
                    </a:lnTo>
                    <a:lnTo>
                      <a:pt x="1149" y="1056"/>
                    </a:lnTo>
                    <a:lnTo>
                      <a:pt x="1163" y="1006"/>
                    </a:lnTo>
                    <a:lnTo>
                      <a:pt x="1184" y="956"/>
                    </a:lnTo>
                    <a:lnTo>
                      <a:pt x="1198" y="900"/>
                    </a:lnTo>
                    <a:lnTo>
                      <a:pt x="1212" y="843"/>
                    </a:lnTo>
                    <a:lnTo>
                      <a:pt x="1227" y="779"/>
                    </a:lnTo>
                    <a:lnTo>
                      <a:pt x="1241" y="708"/>
                    </a:lnTo>
                    <a:lnTo>
                      <a:pt x="1255" y="623"/>
                    </a:lnTo>
                    <a:lnTo>
                      <a:pt x="1276" y="538"/>
                    </a:lnTo>
                    <a:lnTo>
                      <a:pt x="1290" y="439"/>
                    </a:lnTo>
                    <a:lnTo>
                      <a:pt x="1304" y="333"/>
                    </a:lnTo>
                    <a:lnTo>
                      <a:pt x="1319" y="212"/>
                    </a:lnTo>
                    <a:lnTo>
                      <a:pt x="1333" y="71"/>
                    </a:lnTo>
                    <a:lnTo>
                      <a:pt x="1340" y="0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91">
                <a:extLst>
                  <a:ext uri="{FF2B5EF4-FFF2-40B4-BE49-F238E27FC236}">
                    <a16:creationId xmlns:a16="http://schemas.microsoft.com/office/drawing/2014/main" id="{ECDEF086-ED45-D972-AE55-A72535B26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283"/>
                <a:ext cx="1375" cy="2218"/>
              </a:xfrm>
              <a:custGeom>
                <a:avLst/>
                <a:gdLst>
                  <a:gd name="T0" fmla="*/ 0 w 1375"/>
                  <a:gd name="T1" fmla="*/ 64 h 2218"/>
                  <a:gd name="T2" fmla="*/ 36 w 1375"/>
                  <a:gd name="T3" fmla="*/ 397 h 2218"/>
                  <a:gd name="T4" fmla="*/ 64 w 1375"/>
                  <a:gd name="T5" fmla="*/ 652 h 2218"/>
                  <a:gd name="T6" fmla="*/ 93 w 1375"/>
                  <a:gd name="T7" fmla="*/ 857 h 2218"/>
                  <a:gd name="T8" fmla="*/ 128 w 1375"/>
                  <a:gd name="T9" fmla="*/ 1020 h 2218"/>
                  <a:gd name="T10" fmla="*/ 156 w 1375"/>
                  <a:gd name="T11" fmla="*/ 1155 h 2218"/>
                  <a:gd name="T12" fmla="*/ 185 w 1375"/>
                  <a:gd name="T13" fmla="*/ 1268 h 2218"/>
                  <a:gd name="T14" fmla="*/ 220 w 1375"/>
                  <a:gd name="T15" fmla="*/ 1367 h 2218"/>
                  <a:gd name="T16" fmla="*/ 248 w 1375"/>
                  <a:gd name="T17" fmla="*/ 1452 h 2218"/>
                  <a:gd name="T18" fmla="*/ 277 w 1375"/>
                  <a:gd name="T19" fmla="*/ 1523 h 2218"/>
                  <a:gd name="T20" fmla="*/ 312 w 1375"/>
                  <a:gd name="T21" fmla="*/ 1587 h 2218"/>
                  <a:gd name="T22" fmla="*/ 341 w 1375"/>
                  <a:gd name="T23" fmla="*/ 1644 h 2218"/>
                  <a:gd name="T24" fmla="*/ 369 w 1375"/>
                  <a:gd name="T25" fmla="*/ 1693 h 2218"/>
                  <a:gd name="T26" fmla="*/ 404 w 1375"/>
                  <a:gd name="T27" fmla="*/ 1736 h 2218"/>
                  <a:gd name="T28" fmla="*/ 433 w 1375"/>
                  <a:gd name="T29" fmla="*/ 1778 h 2218"/>
                  <a:gd name="T30" fmla="*/ 461 w 1375"/>
                  <a:gd name="T31" fmla="*/ 1814 h 2218"/>
                  <a:gd name="T32" fmla="*/ 497 w 1375"/>
                  <a:gd name="T33" fmla="*/ 1842 h 2218"/>
                  <a:gd name="T34" fmla="*/ 525 w 1375"/>
                  <a:gd name="T35" fmla="*/ 1877 h 2218"/>
                  <a:gd name="T36" fmla="*/ 553 w 1375"/>
                  <a:gd name="T37" fmla="*/ 1899 h 2218"/>
                  <a:gd name="T38" fmla="*/ 589 w 1375"/>
                  <a:gd name="T39" fmla="*/ 1927 h 2218"/>
                  <a:gd name="T40" fmla="*/ 617 w 1375"/>
                  <a:gd name="T41" fmla="*/ 1948 h 2218"/>
                  <a:gd name="T42" fmla="*/ 652 w 1375"/>
                  <a:gd name="T43" fmla="*/ 1970 h 2218"/>
                  <a:gd name="T44" fmla="*/ 681 w 1375"/>
                  <a:gd name="T45" fmla="*/ 1991 h 2218"/>
                  <a:gd name="T46" fmla="*/ 709 w 1375"/>
                  <a:gd name="T47" fmla="*/ 2005 h 2218"/>
                  <a:gd name="T48" fmla="*/ 745 w 1375"/>
                  <a:gd name="T49" fmla="*/ 2026 h 2218"/>
                  <a:gd name="T50" fmla="*/ 773 w 1375"/>
                  <a:gd name="T51" fmla="*/ 2040 h 2218"/>
                  <a:gd name="T52" fmla="*/ 801 w 1375"/>
                  <a:gd name="T53" fmla="*/ 2055 h 2218"/>
                  <a:gd name="T54" fmla="*/ 837 w 1375"/>
                  <a:gd name="T55" fmla="*/ 2069 h 2218"/>
                  <a:gd name="T56" fmla="*/ 865 w 1375"/>
                  <a:gd name="T57" fmla="*/ 2083 h 2218"/>
                  <a:gd name="T58" fmla="*/ 893 w 1375"/>
                  <a:gd name="T59" fmla="*/ 2097 h 2218"/>
                  <a:gd name="T60" fmla="*/ 929 w 1375"/>
                  <a:gd name="T61" fmla="*/ 2104 h 2218"/>
                  <a:gd name="T62" fmla="*/ 957 w 1375"/>
                  <a:gd name="T63" fmla="*/ 2118 h 2218"/>
                  <a:gd name="T64" fmla="*/ 986 w 1375"/>
                  <a:gd name="T65" fmla="*/ 2125 h 2218"/>
                  <a:gd name="T66" fmla="*/ 1021 w 1375"/>
                  <a:gd name="T67" fmla="*/ 2140 h 2218"/>
                  <a:gd name="T68" fmla="*/ 1049 w 1375"/>
                  <a:gd name="T69" fmla="*/ 2147 h 2218"/>
                  <a:gd name="T70" fmla="*/ 1078 w 1375"/>
                  <a:gd name="T71" fmla="*/ 2154 h 2218"/>
                  <a:gd name="T72" fmla="*/ 1113 w 1375"/>
                  <a:gd name="T73" fmla="*/ 2161 h 2218"/>
                  <a:gd name="T74" fmla="*/ 1141 w 1375"/>
                  <a:gd name="T75" fmla="*/ 2168 h 2218"/>
                  <a:gd name="T76" fmla="*/ 1170 w 1375"/>
                  <a:gd name="T77" fmla="*/ 2175 h 2218"/>
                  <a:gd name="T78" fmla="*/ 1205 w 1375"/>
                  <a:gd name="T79" fmla="*/ 2182 h 2218"/>
                  <a:gd name="T80" fmla="*/ 1234 w 1375"/>
                  <a:gd name="T81" fmla="*/ 2189 h 2218"/>
                  <a:gd name="T82" fmla="*/ 1262 w 1375"/>
                  <a:gd name="T83" fmla="*/ 2196 h 2218"/>
                  <a:gd name="T84" fmla="*/ 1297 w 1375"/>
                  <a:gd name="T85" fmla="*/ 2203 h 2218"/>
                  <a:gd name="T86" fmla="*/ 1326 w 1375"/>
                  <a:gd name="T87" fmla="*/ 2210 h 2218"/>
                  <a:gd name="T88" fmla="*/ 1354 w 1375"/>
                  <a:gd name="T89" fmla="*/ 2218 h 221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375" h="2218">
                    <a:moveTo>
                      <a:pt x="0" y="0"/>
                    </a:moveTo>
                    <a:lnTo>
                      <a:pt x="0" y="64"/>
                    </a:lnTo>
                    <a:lnTo>
                      <a:pt x="22" y="241"/>
                    </a:lnTo>
                    <a:lnTo>
                      <a:pt x="36" y="397"/>
                    </a:lnTo>
                    <a:lnTo>
                      <a:pt x="50" y="531"/>
                    </a:lnTo>
                    <a:lnTo>
                      <a:pt x="64" y="652"/>
                    </a:lnTo>
                    <a:lnTo>
                      <a:pt x="78" y="758"/>
                    </a:lnTo>
                    <a:lnTo>
                      <a:pt x="93" y="857"/>
                    </a:lnTo>
                    <a:lnTo>
                      <a:pt x="114" y="942"/>
                    </a:lnTo>
                    <a:lnTo>
                      <a:pt x="128" y="1020"/>
                    </a:lnTo>
                    <a:lnTo>
                      <a:pt x="142" y="1091"/>
                    </a:lnTo>
                    <a:lnTo>
                      <a:pt x="156" y="1155"/>
                    </a:lnTo>
                    <a:lnTo>
                      <a:pt x="170" y="1218"/>
                    </a:lnTo>
                    <a:lnTo>
                      <a:pt x="185" y="1268"/>
                    </a:lnTo>
                    <a:lnTo>
                      <a:pt x="206" y="1325"/>
                    </a:lnTo>
                    <a:lnTo>
                      <a:pt x="220" y="1367"/>
                    </a:lnTo>
                    <a:lnTo>
                      <a:pt x="234" y="1410"/>
                    </a:lnTo>
                    <a:lnTo>
                      <a:pt x="248" y="1452"/>
                    </a:lnTo>
                    <a:lnTo>
                      <a:pt x="263" y="1488"/>
                    </a:lnTo>
                    <a:lnTo>
                      <a:pt x="277" y="1523"/>
                    </a:lnTo>
                    <a:lnTo>
                      <a:pt x="298" y="1559"/>
                    </a:lnTo>
                    <a:lnTo>
                      <a:pt x="312" y="1587"/>
                    </a:lnTo>
                    <a:lnTo>
                      <a:pt x="326" y="1615"/>
                    </a:lnTo>
                    <a:lnTo>
                      <a:pt x="341" y="1644"/>
                    </a:lnTo>
                    <a:lnTo>
                      <a:pt x="355" y="1672"/>
                    </a:lnTo>
                    <a:lnTo>
                      <a:pt x="369" y="1693"/>
                    </a:lnTo>
                    <a:lnTo>
                      <a:pt x="390" y="1714"/>
                    </a:lnTo>
                    <a:lnTo>
                      <a:pt x="404" y="1736"/>
                    </a:lnTo>
                    <a:lnTo>
                      <a:pt x="419" y="1757"/>
                    </a:lnTo>
                    <a:lnTo>
                      <a:pt x="433" y="1778"/>
                    </a:lnTo>
                    <a:lnTo>
                      <a:pt x="447" y="1792"/>
                    </a:lnTo>
                    <a:lnTo>
                      <a:pt x="461" y="1814"/>
                    </a:lnTo>
                    <a:lnTo>
                      <a:pt x="482" y="1828"/>
                    </a:lnTo>
                    <a:lnTo>
                      <a:pt x="497" y="1842"/>
                    </a:lnTo>
                    <a:lnTo>
                      <a:pt x="511" y="1863"/>
                    </a:lnTo>
                    <a:lnTo>
                      <a:pt x="525" y="1877"/>
                    </a:lnTo>
                    <a:lnTo>
                      <a:pt x="539" y="1892"/>
                    </a:lnTo>
                    <a:lnTo>
                      <a:pt x="553" y="1899"/>
                    </a:lnTo>
                    <a:lnTo>
                      <a:pt x="574" y="1913"/>
                    </a:lnTo>
                    <a:lnTo>
                      <a:pt x="589" y="1927"/>
                    </a:lnTo>
                    <a:lnTo>
                      <a:pt x="603" y="1941"/>
                    </a:lnTo>
                    <a:lnTo>
                      <a:pt x="617" y="1948"/>
                    </a:lnTo>
                    <a:lnTo>
                      <a:pt x="631" y="1962"/>
                    </a:lnTo>
                    <a:lnTo>
                      <a:pt x="652" y="1970"/>
                    </a:lnTo>
                    <a:lnTo>
                      <a:pt x="667" y="1984"/>
                    </a:lnTo>
                    <a:lnTo>
                      <a:pt x="681" y="1991"/>
                    </a:lnTo>
                    <a:lnTo>
                      <a:pt x="695" y="1998"/>
                    </a:lnTo>
                    <a:lnTo>
                      <a:pt x="709" y="2005"/>
                    </a:lnTo>
                    <a:lnTo>
                      <a:pt x="723" y="2019"/>
                    </a:lnTo>
                    <a:lnTo>
                      <a:pt x="745" y="2026"/>
                    </a:lnTo>
                    <a:lnTo>
                      <a:pt x="759" y="2033"/>
                    </a:lnTo>
                    <a:lnTo>
                      <a:pt x="773" y="2040"/>
                    </a:lnTo>
                    <a:lnTo>
                      <a:pt x="787" y="2048"/>
                    </a:lnTo>
                    <a:lnTo>
                      <a:pt x="801" y="2055"/>
                    </a:lnTo>
                    <a:lnTo>
                      <a:pt x="815" y="2062"/>
                    </a:lnTo>
                    <a:lnTo>
                      <a:pt x="837" y="2069"/>
                    </a:lnTo>
                    <a:lnTo>
                      <a:pt x="851" y="2076"/>
                    </a:lnTo>
                    <a:lnTo>
                      <a:pt x="865" y="2083"/>
                    </a:lnTo>
                    <a:lnTo>
                      <a:pt x="879" y="2090"/>
                    </a:lnTo>
                    <a:lnTo>
                      <a:pt x="893" y="2097"/>
                    </a:lnTo>
                    <a:lnTo>
                      <a:pt x="908" y="2097"/>
                    </a:lnTo>
                    <a:lnTo>
                      <a:pt x="929" y="2104"/>
                    </a:lnTo>
                    <a:lnTo>
                      <a:pt x="943" y="2111"/>
                    </a:lnTo>
                    <a:lnTo>
                      <a:pt x="957" y="2118"/>
                    </a:lnTo>
                    <a:lnTo>
                      <a:pt x="971" y="2118"/>
                    </a:lnTo>
                    <a:lnTo>
                      <a:pt x="986" y="2125"/>
                    </a:lnTo>
                    <a:lnTo>
                      <a:pt x="1000" y="2133"/>
                    </a:lnTo>
                    <a:lnTo>
                      <a:pt x="1021" y="2140"/>
                    </a:lnTo>
                    <a:lnTo>
                      <a:pt x="1035" y="2140"/>
                    </a:lnTo>
                    <a:lnTo>
                      <a:pt x="1049" y="2147"/>
                    </a:lnTo>
                    <a:lnTo>
                      <a:pt x="1064" y="2147"/>
                    </a:lnTo>
                    <a:lnTo>
                      <a:pt x="1078" y="2154"/>
                    </a:lnTo>
                    <a:lnTo>
                      <a:pt x="1092" y="2161"/>
                    </a:lnTo>
                    <a:lnTo>
                      <a:pt x="1113" y="2161"/>
                    </a:lnTo>
                    <a:lnTo>
                      <a:pt x="1127" y="2168"/>
                    </a:lnTo>
                    <a:lnTo>
                      <a:pt x="1141" y="2168"/>
                    </a:lnTo>
                    <a:lnTo>
                      <a:pt x="1156" y="2175"/>
                    </a:lnTo>
                    <a:lnTo>
                      <a:pt x="1170" y="2175"/>
                    </a:lnTo>
                    <a:lnTo>
                      <a:pt x="1184" y="2182"/>
                    </a:lnTo>
                    <a:lnTo>
                      <a:pt x="1205" y="2182"/>
                    </a:lnTo>
                    <a:lnTo>
                      <a:pt x="1219" y="2189"/>
                    </a:lnTo>
                    <a:lnTo>
                      <a:pt x="1234" y="2189"/>
                    </a:lnTo>
                    <a:lnTo>
                      <a:pt x="1248" y="2196"/>
                    </a:lnTo>
                    <a:lnTo>
                      <a:pt x="1262" y="2196"/>
                    </a:lnTo>
                    <a:lnTo>
                      <a:pt x="1276" y="2203"/>
                    </a:lnTo>
                    <a:lnTo>
                      <a:pt x="1297" y="2203"/>
                    </a:lnTo>
                    <a:lnTo>
                      <a:pt x="1312" y="2203"/>
                    </a:lnTo>
                    <a:lnTo>
                      <a:pt x="1326" y="2210"/>
                    </a:lnTo>
                    <a:lnTo>
                      <a:pt x="1340" y="2210"/>
                    </a:lnTo>
                    <a:lnTo>
                      <a:pt x="1354" y="2218"/>
                    </a:lnTo>
                    <a:lnTo>
                      <a:pt x="1375" y="2218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0" name="Group 92">
              <a:extLst>
                <a:ext uri="{FF2B5EF4-FFF2-40B4-BE49-F238E27FC236}">
                  <a16:creationId xmlns:a16="http://schemas.microsoft.com/office/drawing/2014/main" id="{566E9873-7361-EEF2-4D82-08DF50C7E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1658"/>
              <a:ext cx="3076" cy="1850"/>
              <a:chOff x="1252" y="1658"/>
              <a:chExt cx="3076" cy="1850"/>
            </a:xfrm>
          </p:grpSpPr>
          <p:sp>
            <p:nvSpPr>
              <p:cNvPr id="124" name="Freeform 93">
                <a:extLst>
                  <a:ext uri="{FF2B5EF4-FFF2-40B4-BE49-F238E27FC236}">
                    <a16:creationId xmlns:a16="http://schemas.microsoft.com/office/drawing/2014/main" id="{F2137AC2-23C8-0F9A-7687-B6428FDC0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1658"/>
                <a:ext cx="1949" cy="1439"/>
              </a:xfrm>
              <a:custGeom>
                <a:avLst/>
                <a:gdLst>
                  <a:gd name="T0" fmla="*/ 29 w 1949"/>
                  <a:gd name="T1" fmla="*/ 1439 h 1439"/>
                  <a:gd name="T2" fmla="*/ 71 w 1949"/>
                  <a:gd name="T3" fmla="*/ 1439 h 1439"/>
                  <a:gd name="T4" fmla="*/ 121 w 1949"/>
                  <a:gd name="T5" fmla="*/ 1432 h 1439"/>
                  <a:gd name="T6" fmla="*/ 163 w 1949"/>
                  <a:gd name="T7" fmla="*/ 1432 h 1439"/>
                  <a:gd name="T8" fmla="*/ 213 w 1949"/>
                  <a:gd name="T9" fmla="*/ 1425 h 1439"/>
                  <a:gd name="T10" fmla="*/ 256 w 1949"/>
                  <a:gd name="T11" fmla="*/ 1425 h 1439"/>
                  <a:gd name="T12" fmla="*/ 305 w 1949"/>
                  <a:gd name="T13" fmla="*/ 1417 h 1439"/>
                  <a:gd name="T14" fmla="*/ 348 w 1949"/>
                  <a:gd name="T15" fmla="*/ 1403 h 1439"/>
                  <a:gd name="T16" fmla="*/ 397 w 1949"/>
                  <a:gd name="T17" fmla="*/ 1396 h 1439"/>
                  <a:gd name="T18" fmla="*/ 440 w 1949"/>
                  <a:gd name="T19" fmla="*/ 1389 h 1439"/>
                  <a:gd name="T20" fmla="*/ 489 w 1949"/>
                  <a:gd name="T21" fmla="*/ 1375 h 1439"/>
                  <a:gd name="T22" fmla="*/ 532 w 1949"/>
                  <a:gd name="T23" fmla="*/ 1361 h 1439"/>
                  <a:gd name="T24" fmla="*/ 582 w 1949"/>
                  <a:gd name="T25" fmla="*/ 1339 h 1439"/>
                  <a:gd name="T26" fmla="*/ 624 w 1949"/>
                  <a:gd name="T27" fmla="*/ 1325 h 1439"/>
                  <a:gd name="T28" fmla="*/ 674 w 1949"/>
                  <a:gd name="T29" fmla="*/ 1304 h 1439"/>
                  <a:gd name="T30" fmla="*/ 716 w 1949"/>
                  <a:gd name="T31" fmla="*/ 1283 h 1439"/>
                  <a:gd name="T32" fmla="*/ 766 w 1949"/>
                  <a:gd name="T33" fmla="*/ 1254 h 1439"/>
                  <a:gd name="T34" fmla="*/ 815 w 1949"/>
                  <a:gd name="T35" fmla="*/ 1219 h 1439"/>
                  <a:gd name="T36" fmla="*/ 858 w 1949"/>
                  <a:gd name="T37" fmla="*/ 1191 h 1439"/>
                  <a:gd name="T38" fmla="*/ 908 w 1949"/>
                  <a:gd name="T39" fmla="*/ 1148 h 1439"/>
                  <a:gd name="T40" fmla="*/ 950 w 1949"/>
                  <a:gd name="T41" fmla="*/ 1106 h 1439"/>
                  <a:gd name="T42" fmla="*/ 1000 w 1949"/>
                  <a:gd name="T43" fmla="*/ 1049 h 1439"/>
                  <a:gd name="T44" fmla="*/ 1042 w 1949"/>
                  <a:gd name="T45" fmla="*/ 992 h 1439"/>
                  <a:gd name="T46" fmla="*/ 1092 w 1949"/>
                  <a:gd name="T47" fmla="*/ 921 h 1439"/>
                  <a:gd name="T48" fmla="*/ 1134 w 1949"/>
                  <a:gd name="T49" fmla="*/ 843 h 1439"/>
                  <a:gd name="T50" fmla="*/ 1184 w 1949"/>
                  <a:gd name="T51" fmla="*/ 751 h 1439"/>
                  <a:gd name="T52" fmla="*/ 1227 w 1949"/>
                  <a:gd name="T53" fmla="*/ 645 h 1439"/>
                  <a:gd name="T54" fmla="*/ 1276 w 1949"/>
                  <a:gd name="T55" fmla="*/ 525 h 1439"/>
                  <a:gd name="T56" fmla="*/ 1319 w 1949"/>
                  <a:gd name="T57" fmla="*/ 390 h 1439"/>
                  <a:gd name="T58" fmla="*/ 1368 w 1949"/>
                  <a:gd name="T59" fmla="*/ 255 h 1439"/>
                  <a:gd name="T60" fmla="*/ 1411 w 1949"/>
                  <a:gd name="T61" fmla="*/ 128 h 1439"/>
                  <a:gd name="T62" fmla="*/ 1460 w 1949"/>
                  <a:gd name="T63" fmla="*/ 36 h 1439"/>
                  <a:gd name="T64" fmla="*/ 1503 w 1949"/>
                  <a:gd name="T65" fmla="*/ 0 h 1439"/>
                  <a:gd name="T66" fmla="*/ 1553 w 1949"/>
                  <a:gd name="T67" fmla="*/ 50 h 1439"/>
                  <a:gd name="T68" fmla="*/ 1595 w 1949"/>
                  <a:gd name="T69" fmla="*/ 163 h 1439"/>
                  <a:gd name="T70" fmla="*/ 1645 w 1949"/>
                  <a:gd name="T71" fmla="*/ 326 h 1439"/>
                  <a:gd name="T72" fmla="*/ 1687 w 1949"/>
                  <a:gd name="T73" fmla="*/ 496 h 1439"/>
                  <a:gd name="T74" fmla="*/ 1737 w 1949"/>
                  <a:gd name="T75" fmla="*/ 659 h 1439"/>
                  <a:gd name="T76" fmla="*/ 1779 w 1949"/>
                  <a:gd name="T77" fmla="*/ 808 h 1439"/>
                  <a:gd name="T78" fmla="*/ 1829 w 1949"/>
                  <a:gd name="T79" fmla="*/ 943 h 1439"/>
                  <a:gd name="T80" fmla="*/ 1871 w 1949"/>
                  <a:gd name="T81" fmla="*/ 1049 h 1439"/>
                  <a:gd name="T82" fmla="*/ 1921 w 1949"/>
                  <a:gd name="T83" fmla="*/ 1148 h 143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1439">
                    <a:moveTo>
                      <a:pt x="0" y="1439"/>
                    </a:moveTo>
                    <a:lnTo>
                      <a:pt x="15" y="1439"/>
                    </a:lnTo>
                    <a:lnTo>
                      <a:pt x="29" y="1439"/>
                    </a:lnTo>
                    <a:lnTo>
                      <a:pt x="43" y="1439"/>
                    </a:lnTo>
                    <a:lnTo>
                      <a:pt x="57" y="1439"/>
                    </a:lnTo>
                    <a:lnTo>
                      <a:pt x="71" y="1439"/>
                    </a:lnTo>
                    <a:lnTo>
                      <a:pt x="93" y="1439"/>
                    </a:lnTo>
                    <a:lnTo>
                      <a:pt x="107" y="1439"/>
                    </a:lnTo>
                    <a:lnTo>
                      <a:pt x="121" y="1432"/>
                    </a:lnTo>
                    <a:lnTo>
                      <a:pt x="135" y="1432"/>
                    </a:lnTo>
                    <a:lnTo>
                      <a:pt x="149" y="1432"/>
                    </a:lnTo>
                    <a:lnTo>
                      <a:pt x="163" y="1432"/>
                    </a:lnTo>
                    <a:lnTo>
                      <a:pt x="185" y="1432"/>
                    </a:lnTo>
                    <a:lnTo>
                      <a:pt x="199" y="1432"/>
                    </a:lnTo>
                    <a:lnTo>
                      <a:pt x="213" y="1425"/>
                    </a:lnTo>
                    <a:lnTo>
                      <a:pt x="227" y="1425"/>
                    </a:lnTo>
                    <a:lnTo>
                      <a:pt x="241" y="1425"/>
                    </a:lnTo>
                    <a:lnTo>
                      <a:pt x="256" y="1425"/>
                    </a:lnTo>
                    <a:lnTo>
                      <a:pt x="277" y="1417"/>
                    </a:lnTo>
                    <a:lnTo>
                      <a:pt x="291" y="1417"/>
                    </a:lnTo>
                    <a:lnTo>
                      <a:pt x="305" y="1417"/>
                    </a:lnTo>
                    <a:lnTo>
                      <a:pt x="319" y="1410"/>
                    </a:lnTo>
                    <a:lnTo>
                      <a:pt x="334" y="1410"/>
                    </a:lnTo>
                    <a:lnTo>
                      <a:pt x="348" y="1403"/>
                    </a:lnTo>
                    <a:lnTo>
                      <a:pt x="369" y="1403"/>
                    </a:lnTo>
                    <a:lnTo>
                      <a:pt x="383" y="1403"/>
                    </a:lnTo>
                    <a:lnTo>
                      <a:pt x="397" y="1396"/>
                    </a:lnTo>
                    <a:lnTo>
                      <a:pt x="411" y="1396"/>
                    </a:lnTo>
                    <a:lnTo>
                      <a:pt x="426" y="1389"/>
                    </a:lnTo>
                    <a:lnTo>
                      <a:pt x="440" y="1389"/>
                    </a:lnTo>
                    <a:lnTo>
                      <a:pt x="461" y="1382"/>
                    </a:lnTo>
                    <a:lnTo>
                      <a:pt x="475" y="1375"/>
                    </a:lnTo>
                    <a:lnTo>
                      <a:pt x="489" y="1375"/>
                    </a:lnTo>
                    <a:lnTo>
                      <a:pt x="504" y="1368"/>
                    </a:lnTo>
                    <a:lnTo>
                      <a:pt x="518" y="1361"/>
                    </a:lnTo>
                    <a:lnTo>
                      <a:pt x="532" y="1361"/>
                    </a:lnTo>
                    <a:lnTo>
                      <a:pt x="553" y="1354"/>
                    </a:lnTo>
                    <a:lnTo>
                      <a:pt x="567" y="1347"/>
                    </a:lnTo>
                    <a:lnTo>
                      <a:pt x="582" y="1339"/>
                    </a:lnTo>
                    <a:lnTo>
                      <a:pt x="596" y="1339"/>
                    </a:lnTo>
                    <a:lnTo>
                      <a:pt x="610" y="1332"/>
                    </a:lnTo>
                    <a:lnTo>
                      <a:pt x="624" y="1325"/>
                    </a:lnTo>
                    <a:lnTo>
                      <a:pt x="645" y="1318"/>
                    </a:lnTo>
                    <a:lnTo>
                      <a:pt x="660" y="1311"/>
                    </a:lnTo>
                    <a:lnTo>
                      <a:pt x="674" y="1304"/>
                    </a:lnTo>
                    <a:lnTo>
                      <a:pt x="688" y="1297"/>
                    </a:lnTo>
                    <a:lnTo>
                      <a:pt x="702" y="1290"/>
                    </a:lnTo>
                    <a:lnTo>
                      <a:pt x="716" y="1283"/>
                    </a:lnTo>
                    <a:lnTo>
                      <a:pt x="737" y="1269"/>
                    </a:lnTo>
                    <a:lnTo>
                      <a:pt x="752" y="1262"/>
                    </a:lnTo>
                    <a:lnTo>
                      <a:pt x="766" y="1254"/>
                    </a:lnTo>
                    <a:lnTo>
                      <a:pt x="780" y="1240"/>
                    </a:lnTo>
                    <a:lnTo>
                      <a:pt x="794" y="1233"/>
                    </a:lnTo>
                    <a:lnTo>
                      <a:pt x="815" y="1219"/>
                    </a:lnTo>
                    <a:lnTo>
                      <a:pt x="830" y="1212"/>
                    </a:lnTo>
                    <a:lnTo>
                      <a:pt x="844" y="1198"/>
                    </a:lnTo>
                    <a:lnTo>
                      <a:pt x="858" y="1191"/>
                    </a:lnTo>
                    <a:lnTo>
                      <a:pt x="872" y="1177"/>
                    </a:lnTo>
                    <a:lnTo>
                      <a:pt x="886" y="1162"/>
                    </a:lnTo>
                    <a:lnTo>
                      <a:pt x="908" y="1148"/>
                    </a:lnTo>
                    <a:lnTo>
                      <a:pt x="922" y="1134"/>
                    </a:lnTo>
                    <a:lnTo>
                      <a:pt x="936" y="1120"/>
                    </a:lnTo>
                    <a:lnTo>
                      <a:pt x="950" y="1106"/>
                    </a:lnTo>
                    <a:lnTo>
                      <a:pt x="964" y="1084"/>
                    </a:lnTo>
                    <a:lnTo>
                      <a:pt x="978" y="1070"/>
                    </a:lnTo>
                    <a:lnTo>
                      <a:pt x="1000" y="1049"/>
                    </a:lnTo>
                    <a:lnTo>
                      <a:pt x="1014" y="1035"/>
                    </a:lnTo>
                    <a:lnTo>
                      <a:pt x="1028" y="1014"/>
                    </a:lnTo>
                    <a:lnTo>
                      <a:pt x="1042" y="992"/>
                    </a:lnTo>
                    <a:lnTo>
                      <a:pt x="1056" y="971"/>
                    </a:lnTo>
                    <a:lnTo>
                      <a:pt x="1071" y="943"/>
                    </a:lnTo>
                    <a:lnTo>
                      <a:pt x="1092" y="921"/>
                    </a:lnTo>
                    <a:lnTo>
                      <a:pt x="1106" y="900"/>
                    </a:lnTo>
                    <a:lnTo>
                      <a:pt x="1120" y="872"/>
                    </a:lnTo>
                    <a:lnTo>
                      <a:pt x="1134" y="843"/>
                    </a:lnTo>
                    <a:lnTo>
                      <a:pt x="1149" y="815"/>
                    </a:lnTo>
                    <a:lnTo>
                      <a:pt x="1163" y="780"/>
                    </a:lnTo>
                    <a:lnTo>
                      <a:pt x="1184" y="751"/>
                    </a:lnTo>
                    <a:lnTo>
                      <a:pt x="1198" y="716"/>
                    </a:lnTo>
                    <a:lnTo>
                      <a:pt x="1212" y="681"/>
                    </a:lnTo>
                    <a:lnTo>
                      <a:pt x="1227" y="645"/>
                    </a:lnTo>
                    <a:lnTo>
                      <a:pt x="1241" y="603"/>
                    </a:lnTo>
                    <a:lnTo>
                      <a:pt x="1255" y="567"/>
                    </a:lnTo>
                    <a:lnTo>
                      <a:pt x="1276" y="525"/>
                    </a:lnTo>
                    <a:lnTo>
                      <a:pt x="1290" y="482"/>
                    </a:lnTo>
                    <a:lnTo>
                      <a:pt x="1304" y="440"/>
                    </a:lnTo>
                    <a:lnTo>
                      <a:pt x="1319" y="390"/>
                    </a:lnTo>
                    <a:lnTo>
                      <a:pt x="1333" y="347"/>
                    </a:lnTo>
                    <a:lnTo>
                      <a:pt x="1347" y="298"/>
                    </a:lnTo>
                    <a:lnTo>
                      <a:pt x="1368" y="255"/>
                    </a:lnTo>
                    <a:lnTo>
                      <a:pt x="1382" y="213"/>
                    </a:lnTo>
                    <a:lnTo>
                      <a:pt x="1397" y="163"/>
                    </a:lnTo>
                    <a:lnTo>
                      <a:pt x="1411" y="128"/>
                    </a:lnTo>
                    <a:lnTo>
                      <a:pt x="1425" y="92"/>
                    </a:lnTo>
                    <a:lnTo>
                      <a:pt x="1439" y="57"/>
                    </a:lnTo>
                    <a:lnTo>
                      <a:pt x="1460" y="36"/>
                    </a:lnTo>
                    <a:lnTo>
                      <a:pt x="1475" y="14"/>
                    </a:lnTo>
                    <a:lnTo>
                      <a:pt x="1489" y="7"/>
                    </a:lnTo>
                    <a:lnTo>
                      <a:pt x="1503" y="0"/>
                    </a:lnTo>
                    <a:lnTo>
                      <a:pt x="1517" y="7"/>
                    </a:lnTo>
                    <a:lnTo>
                      <a:pt x="1538" y="29"/>
                    </a:lnTo>
                    <a:lnTo>
                      <a:pt x="1553" y="50"/>
                    </a:lnTo>
                    <a:lnTo>
                      <a:pt x="1567" y="78"/>
                    </a:lnTo>
                    <a:lnTo>
                      <a:pt x="1581" y="121"/>
                    </a:lnTo>
                    <a:lnTo>
                      <a:pt x="1595" y="163"/>
                    </a:lnTo>
                    <a:lnTo>
                      <a:pt x="1609" y="213"/>
                    </a:lnTo>
                    <a:lnTo>
                      <a:pt x="1631" y="270"/>
                    </a:lnTo>
                    <a:lnTo>
                      <a:pt x="1645" y="326"/>
                    </a:lnTo>
                    <a:lnTo>
                      <a:pt x="1659" y="383"/>
                    </a:lnTo>
                    <a:lnTo>
                      <a:pt x="1673" y="440"/>
                    </a:lnTo>
                    <a:lnTo>
                      <a:pt x="1687" y="496"/>
                    </a:lnTo>
                    <a:lnTo>
                      <a:pt x="1701" y="553"/>
                    </a:lnTo>
                    <a:lnTo>
                      <a:pt x="1723" y="610"/>
                    </a:lnTo>
                    <a:lnTo>
                      <a:pt x="1737" y="659"/>
                    </a:lnTo>
                    <a:lnTo>
                      <a:pt x="1751" y="709"/>
                    </a:lnTo>
                    <a:lnTo>
                      <a:pt x="1765" y="758"/>
                    </a:lnTo>
                    <a:lnTo>
                      <a:pt x="1779" y="808"/>
                    </a:lnTo>
                    <a:lnTo>
                      <a:pt x="1794" y="858"/>
                    </a:lnTo>
                    <a:lnTo>
                      <a:pt x="1815" y="900"/>
                    </a:lnTo>
                    <a:lnTo>
                      <a:pt x="1829" y="943"/>
                    </a:lnTo>
                    <a:lnTo>
                      <a:pt x="1843" y="978"/>
                    </a:lnTo>
                    <a:lnTo>
                      <a:pt x="1857" y="1014"/>
                    </a:lnTo>
                    <a:lnTo>
                      <a:pt x="1871" y="1049"/>
                    </a:lnTo>
                    <a:lnTo>
                      <a:pt x="1886" y="1084"/>
                    </a:lnTo>
                    <a:lnTo>
                      <a:pt x="1907" y="1120"/>
                    </a:lnTo>
                    <a:lnTo>
                      <a:pt x="1921" y="1148"/>
                    </a:lnTo>
                    <a:lnTo>
                      <a:pt x="1935" y="1177"/>
                    </a:lnTo>
                    <a:lnTo>
                      <a:pt x="1949" y="1205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94">
                <a:extLst>
                  <a:ext uri="{FF2B5EF4-FFF2-40B4-BE49-F238E27FC236}">
                    <a16:creationId xmlns:a16="http://schemas.microsoft.com/office/drawing/2014/main" id="{1E95AFEB-6EFA-B30E-0E5E-A75F99DB1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2863"/>
                <a:ext cx="1127" cy="645"/>
              </a:xfrm>
              <a:custGeom>
                <a:avLst/>
                <a:gdLst>
                  <a:gd name="T0" fmla="*/ 15 w 1127"/>
                  <a:gd name="T1" fmla="*/ 28 h 645"/>
                  <a:gd name="T2" fmla="*/ 50 w 1127"/>
                  <a:gd name="T3" fmla="*/ 78 h 645"/>
                  <a:gd name="T4" fmla="*/ 78 w 1127"/>
                  <a:gd name="T5" fmla="*/ 120 h 645"/>
                  <a:gd name="T6" fmla="*/ 107 w 1127"/>
                  <a:gd name="T7" fmla="*/ 163 h 645"/>
                  <a:gd name="T8" fmla="*/ 142 w 1127"/>
                  <a:gd name="T9" fmla="*/ 198 h 645"/>
                  <a:gd name="T10" fmla="*/ 171 w 1127"/>
                  <a:gd name="T11" fmla="*/ 234 h 645"/>
                  <a:gd name="T12" fmla="*/ 199 w 1127"/>
                  <a:gd name="T13" fmla="*/ 262 h 645"/>
                  <a:gd name="T14" fmla="*/ 234 w 1127"/>
                  <a:gd name="T15" fmla="*/ 290 h 645"/>
                  <a:gd name="T16" fmla="*/ 263 w 1127"/>
                  <a:gd name="T17" fmla="*/ 319 h 645"/>
                  <a:gd name="T18" fmla="*/ 291 w 1127"/>
                  <a:gd name="T19" fmla="*/ 340 h 645"/>
                  <a:gd name="T20" fmla="*/ 326 w 1127"/>
                  <a:gd name="T21" fmla="*/ 361 h 645"/>
                  <a:gd name="T22" fmla="*/ 355 w 1127"/>
                  <a:gd name="T23" fmla="*/ 382 h 645"/>
                  <a:gd name="T24" fmla="*/ 383 w 1127"/>
                  <a:gd name="T25" fmla="*/ 404 h 645"/>
                  <a:gd name="T26" fmla="*/ 419 w 1127"/>
                  <a:gd name="T27" fmla="*/ 418 h 645"/>
                  <a:gd name="T28" fmla="*/ 447 w 1127"/>
                  <a:gd name="T29" fmla="*/ 439 h 645"/>
                  <a:gd name="T30" fmla="*/ 475 w 1127"/>
                  <a:gd name="T31" fmla="*/ 453 h 645"/>
                  <a:gd name="T32" fmla="*/ 511 w 1127"/>
                  <a:gd name="T33" fmla="*/ 468 h 645"/>
                  <a:gd name="T34" fmla="*/ 539 w 1127"/>
                  <a:gd name="T35" fmla="*/ 482 h 645"/>
                  <a:gd name="T36" fmla="*/ 567 w 1127"/>
                  <a:gd name="T37" fmla="*/ 496 h 645"/>
                  <a:gd name="T38" fmla="*/ 603 w 1127"/>
                  <a:gd name="T39" fmla="*/ 510 h 645"/>
                  <a:gd name="T40" fmla="*/ 631 w 1127"/>
                  <a:gd name="T41" fmla="*/ 517 h 645"/>
                  <a:gd name="T42" fmla="*/ 660 w 1127"/>
                  <a:gd name="T43" fmla="*/ 531 h 645"/>
                  <a:gd name="T44" fmla="*/ 695 w 1127"/>
                  <a:gd name="T45" fmla="*/ 538 h 645"/>
                  <a:gd name="T46" fmla="*/ 723 w 1127"/>
                  <a:gd name="T47" fmla="*/ 553 h 645"/>
                  <a:gd name="T48" fmla="*/ 752 w 1127"/>
                  <a:gd name="T49" fmla="*/ 560 h 645"/>
                  <a:gd name="T50" fmla="*/ 787 w 1127"/>
                  <a:gd name="T51" fmla="*/ 567 h 645"/>
                  <a:gd name="T52" fmla="*/ 816 w 1127"/>
                  <a:gd name="T53" fmla="*/ 574 h 645"/>
                  <a:gd name="T54" fmla="*/ 844 w 1127"/>
                  <a:gd name="T55" fmla="*/ 588 h 645"/>
                  <a:gd name="T56" fmla="*/ 879 w 1127"/>
                  <a:gd name="T57" fmla="*/ 595 h 645"/>
                  <a:gd name="T58" fmla="*/ 908 w 1127"/>
                  <a:gd name="T59" fmla="*/ 602 h 645"/>
                  <a:gd name="T60" fmla="*/ 936 w 1127"/>
                  <a:gd name="T61" fmla="*/ 609 h 645"/>
                  <a:gd name="T62" fmla="*/ 971 w 1127"/>
                  <a:gd name="T63" fmla="*/ 609 h 645"/>
                  <a:gd name="T64" fmla="*/ 1000 w 1127"/>
                  <a:gd name="T65" fmla="*/ 616 h 645"/>
                  <a:gd name="T66" fmla="*/ 1028 w 1127"/>
                  <a:gd name="T67" fmla="*/ 623 h 645"/>
                  <a:gd name="T68" fmla="*/ 1064 w 1127"/>
                  <a:gd name="T69" fmla="*/ 630 h 645"/>
                  <a:gd name="T70" fmla="*/ 1092 w 1127"/>
                  <a:gd name="T71" fmla="*/ 638 h 645"/>
                  <a:gd name="T72" fmla="*/ 1127 w 1127"/>
                  <a:gd name="T73" fmla="*/ 645 h 645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645">
                    <a:moveTo>
                      <a:pt x="0" y="0"/>
                    </a:moveTo>
                    <a:lnTo>
                      <a:pt x="15" y="28"/>
                    </a:lnTo>
                    <a:lnTo>
                      <a:pt x="29" y="49"/>
                    </a:lnTo>
                    <a:lnTo>
                      <a:pt x="50" y="78"/>
                    </a:lnTo>
                    <a:lnTo>
                      <a:pt x="64" y="99"/>
                    </a:lnTo>
                    <a:lnTo>
                      <a:pt x="78" y="120"/>
                    </a:lnTo>
                    <a:lnTo>
                      <a:pt x="93" y="142"/>
                    </a:lnTo>
                    <a:lnTo>
                      <a:pt x="107" y="163"/>
                    </a:lnTo>
                    <a:lnTo>
                      <a:pt x="121" y="177"/>
                    </a:lnTo>
                    <a:lnTo>
                      <a:pt x="142" y="198"/>
                    </a:lnTo>
                    <a:lnTo>
                      <a:pt x="156" y="212"/>
                    </a:lnTo>
                    <a:lnTo>
                      <a:pt x="171" y="234"/>
                    </a:lnTo>
                    <a:lnTo>
                      <a:pt x="185" y="248"/>
                    </a:lnTo>
                    <a:lnTo>
                      <a:pt x="199" y="262"/>
                    </a:lnTo>
                    <a:lnTo>
                      <a:pt x="213" y="276"/>
                    </a:lnTo>
                    <a:lnTo>
                      <a:pt x="234" y="290"/>
                    </a:lnTo>
                    <a:lnTo>
                      <a:pt x="249" y="305"/>
                    </a:lnTo>
                    <a:lnTo>
                      <a:pt x="263" y="319"/>
                    </a:lnTo>
                    <a:lnTo>
                      <a:pt x="277" y="326"/>
                    </a:lnTo>
                    <a:lnTo>
                      <a:pt x="291" y="340"/>
                    </a:lnTo>
                    <a:lnTo>
                      <a:pt x="305" y="354"/>
                    </a:lnTo>
                    <a:lnTo>
                      <a:pt x="326" y="361"/>
                    </a:lnTo>
                    <a:lnTo>
                      <a:pt x="341" y="375"/>
                    </a:lnTo>
                    <a:lnTo>
                      <a:pt x="355" y="382"/>
                    </a:lnTo>
                    <a:lnTo>
                      <a:pt x="369" y="397"/>
                    </a:lnTo>
                    <a:lnTo>
                      <a:pt x="383" y="404"/>
                    </a:lnTo>
                    <a:lnTo>
                      <a:pt x="404" y="411"/>
                    </a:lnTo>
                    <a:lnTo>
                      <a:pt x="419" y="418"/>
                    </a:lnTo>
                    <a:lnTo>
                      <a:pt x="433" y="432"/>
                    </a:lnTo>
                    <a:lnTo>
                      <a:pt x="447" y="439"/>
                    </a:lnTo>
                    <a:lnTo>
                      <a:pt x="461" y="446"/>
                    </a:lnTo>
                    <a:lnTo>
                      <a:pt x="475" y="453"/>
                    </a:lnTo>
                    <a:lnTo>
                      <a:pt x="497" y="460"/>
                    </a:lnTo>
                    <a:lnTo>
                      <a:pt x="511" y="468"/>
                    </a:lnTo>
                    <a:lnTo>
                      <a:pt x="525" y="475"/>
                    </a:lnTo>
                    <a:lnTo>
                      <a:pt x="539" y="482"/>
                    </a:lnTo>
                    <a:lnTo>
                      <a:pt x="553" y="489"/>
                    </a:lnTo>
                    <a:lnTo>
                      <a:pt x="567" y="496"/>
                    </a:lnTo>
                    <a:lnTo>
                      <a:pt x="589" y="503"/>
                    </a:lnTo>
                    <a:lnTo>
                      <a:pt x="603" y="510"/>
                    </a:lnTo>
                    <a:lnTo>
                      <a:pt x="617" y="510"/>
                    </a:lnTo>
                    <a:lnTo>
                      <a:pt x="631" y="517"/>
                    </a:lnTo>
                    <a:lnTo>
                      <a:pt x="645" y="524"/>
                    </a:lnTo>
                    <a:lnTo>
                      <a:pt x="660" y="531"/>
                    </a:lnTo>
                    <a:lnTo>
                      <a:pt x="681" y="538"/>
                    </a:lnTo>
                    <a:lnTo>
                      <a:pt x="695" y="538"/>
                    </a:lnTo>
                    <a:lnTo>
                      <a:pt x="709" y="545"/>
                    </a:lnTo>
                    <a:lnTo>
                      <a:pt x="723" y="553"/>
                    </a:lnTo>
                    <a:lnTo>
                      <a:pt x="738" y="553"/>
                    </a:lnTo>
                    <a:lnTo>
                      <a:pt x="752" y="560"/>
                    </a:lnTo>
                    <a:lnTo>
                      <a:pt x="773" y="567"/>
                    </a:lnTo>
                    <a:lnTo>
                      <a:pt x="787" y="567"/>
                    </a:lnTo>
                    <a:lnTo>
                      <a:pt x="801" y="574"/>
                    </a:lnTo>
                    <a:lnTo>
                      <a:pt x="816" y="574"/>
                    </a:lnTo>
                    <a:lnTo>
                      <a:pt x="830" y="581"/>
                    </a:lnTo>
                    <a:lnTo>
                      <a:pt x="844" y="588"/>
                    </a:lnTo>
                    <a:lnTo>
                      <a:pt x="865" y="588"/>
                    </a:lnTo>
                    <a:lnTo>
                      <a:pt x="879" y="595"/>
                    </a:lnTo>
                    <a:lnTo>
                      <a:pt x="893" y="595"/>
                    </a:lnTo>
                    <a:lnTo>
                      <a:pt x="908" y="602"/>
                    </a:lnTo>
                    <a:lnTo>
                      <a:pt x="922" y="602"/>
                    </a:lnTo>
                    <a:lnTo>
                      <a:pt x="936" y="609"/>
                    </a:lnTo>
                    <a:lnTo>
                      <a:pt x="957" y="609"/>
                    </a:lnTo>
                    <a:lnTo>
                      <a:pt x="971" y="609"/>
                    </a:lnTo>
                    <a:lnTo>
                      <a:pt x="986" y="616"/>
                    </a:lnTo>
                    <a:lnTo>
                      <a:pt x="1000" y="616"/>
                    </a:lnTo>
                    <a:lnTo>
                      <a:pt x="1014" y="623"/>
                    </a:lnTo>
                    <a:lnTo>
                      <a:pt x="1028" y="623"/>
                    </a:lnTo>
                    <a:lnTo>
                      <a:pt x="1049" y="630"/>
                    </a:lnTo>
                    <a:lnTo>
                      <a:pt x="1064" y="630"/>
                    </a:lnTo>
                    <a:lnTo>
                      <a:pt x="1078" y="630"/>
                    </a:lnTo>
                    <a:lnTo>
                      <a:pt x="1092" y="638"/>
                    </a:lnTo>
                    <a:lnTo>
                      <a:pt x="1106" y="638"/>
                    </a:lnTo>
                    <a:lnTo>
                      <a:pt x="1127" y="645"/>
                    </a:lnTo>
                  </a:path>
                </a:pathLst>
              </a:cu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1" name="Group 95">
              <a:extLst>
                <a:ext uri="{FF2B5EF4-FFF2-40B4-BE49-F238E27FC236}">
                  <a16:creationId xmlns:a16="http://schemas.microsoft.com/office/drawing/2014/main" id="{D530EA4C-F816-3E83-6473-83952B7F32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154"/>
              <a:ext cx="3076" cy="1354"/>
              <a:chOff x="1252" y="2154"/>
              <a:chExt cx="3076" cy="1354"/>
            </a:xfrm>
          </p:grpSpPr>
          <p:sp>
            <p:nvSpPr>
              <p:cNvPr id="122" name="Freeform 96">
                <a:extLst>
                  <a:ext uri="{FF2B5EF4-FFF2-40B4-BE49-F238E27FC236}">
                    <a16:creationId xmlns:a16="http://schemas.microsoft.com/office/drawing/2014/main" id="{BA8E3127-AC44-E3F3-7C23-7EBFADC9F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154"/>
                <a:ext cx="1949" cy="943"/>
              </a:xfrm>
              <a:custGeom>
                <a:avLst/>
                <a:gdLst>
                  <a:gd name="T0" fmla="*/ 29 w 1949"/>
                  <a:gd name="T1" fmla="*/ 943 h 943"/>
                  <a:gd name="T2" fmla="*/ 71 w 1949"/>
                  <a:gd name="T3" fmla="*/ 943 h 943"/>
                  <a:gd name="T4" fmla="*/ 121 w 1949"/>
                  <a:gd name="T5" fmla="*/ 936 h 943"/>
                  <a:gd name="T6" fmla="*/ 163 w 1949"/>
                  <a:gd name="T7" fmla="*/ 936 h 943"/>
                  <a:gd name="T8" fmla="*/ 213 w 1949"/>
                  <a:gd name="T9" fmla="*/ 929 h 943"/>
                  <a:gd name="T10" fmla="*/ 256 w 1949"/>
                  <a:gd name="T11" fmla="*/ 929 h 943"/>
                  <a:gd name="T12" fmla="*/ 305 w 1949"/>
                  <a:gd name="T13" fmla="*/ 921 h 943"/>
                  <a:gd name="T14" fmla="*/ 348 w 1949"/>
                  <a:gd name="T15" fmla="*/ 914 h 943"/>
                  <a:gd name="T16" fmla="*/ 397 w 1949"/>
                  <a:gd name="T17" fmla="*/ 900 h 943"/>
                  <a:gd name="T18" fmla="*/ 440 w 1949"/>
                  <a:gd name="T19" fmla="*/ 893 h 943"/>
                  <a:gd name="T20" fmla="*/ 489 w 1949"/>
                  <a:gd name="T21" fmla="*/ 879 h 943"/>
                  <a:gd name="T22" fmla="*/ 532 w 1949"/>
                  <a:gd name="T23" fmla="*/ 865 h 943"/>
                  <a:gd name="T24" fmla="*/ 582 w 1949"/>
                  <a:gd name="T25" fmla="*/ 851 h 943"/>
                  <a:gd name="T26" fmla="*/ 624 w 1949"/>
                  <a:gd name="T27" fmla="*/ 836 h 943"/>
                  <a:gd name="T28" fmla="*/ 674 w 1949"/>
                  <a:gd name="T29" fmla="*/ 815 h 943"/>
                  <a:gd name="T30" fmla="*/ 716 w 1949"/>
                  <a:gd name="T31" fmla="*/ 794 h 943"/>
                  <a:gd name="T32" fmla="*/ 766 w 1949"/>
                  <a:gd name="T33" fmla="*/ 766 h 943"/>
                  <a:gd name="T34" fmla="*/ 815 w 1949"/>
                  <a:gd name="T35" fmla="*/ 737 h 943"/>
                  <a:gd name="T36" fmla="*/ 858 w 1949"/>
                  <a:gd name="T37" fmla="*/ 709 h 943"/>
                  <a:gd name="T38" fmla="*/ 908 w 1949"/>
                  <a:gd name="T39" fmla="*/ 673 h 943"/>
                  <a:gd name="T40" fmla="*/ 950 w 1949"/>
                  <a:gd name="T41" fmla="*/ 638 h 943"/>
                  <a:gd name="T42" fmla="*/ 1000 w 1949"/>
                  <a:gd name="T43" fmla="*/ 588 h 943"/>
                  <a:gd name="T44" fmla="*/ 1042 w 1949"/>
                  <a:gd name="T45" fmla="*/ 546 h 943"/>
                  <a:gd name="T46" fmla="*/ 1092 w 1949"/>
                  <a:gd name="T47" fmla="*/ 489 h 943"/>
                  <a:gd name="T48" fmla="*/ 1134 w 1949"/>
                  <a:gd name="T49" fmla="*/ 425 h 943"/>
                  <a:gd name="T50" fmla="*/ 1184 w 1949"/>
                  <a:gd name="T51" fmla="*/ 362 h 943"/>
                  <a:gd name="T52" fmla="*/ 1227 w 1949"/>
                  <a:gd name="T53" fmla="*/ 291 h 943"/>
                  <a:gd name="T54" fmla="*/ 1276 w 1949"/>
                  <a:gd name="T55" fmla="*/ 220 h 943"/>
                  <a:gd name="T56" fmla="*/ 1319 w 1949"/>
                  <a:gd name="T57" fmla="*/ 142 h 943"/>
                  <a:gd name="T58" fmla="*/ 1368 w 1949"/>
                  <a:gd name="T59" fmla="*/ 78 h 943"/>
                  <a:gd name="T60" fmla="*/ 1411 w 1949"/>
                  <a:gd name="T61" fmla="*/ 29 h 943"/>
                  <a:gd name="T62" fmla="*/ 1460 w 1949"/>
                  <a:gd name="T63" fmla="*/ 7 h 943"/>
                  <a:gd name="T64" fmla="*/ 1503 w 1949"/>
                  <a:gd name="T65" fmla="*/ 7 h 943"/>
                  <a:gd name="T66" fmla="*/ 1553 w 1949"/>
                  <a:gd name="T67" fmla="*/ 50 h 943"/>
                  <a:gd name="T68" fmla="*/ 1595 w 1949"/>
                  <a:gd name="T69" fmla="*/ 121 h 943"/>
                  <a:gd name="T70" fmla="*/ 1645 w 1949"/>
                  <a:gd name="T71" fmla="*/ 206 h 943"/>
                  <a:gd name="T72" fmla="*/ 1687 w 1949"/>
                  <a:gd name="T73" fmla="*/ 305 h 943"/>
                  <a:gd name="T74" fmla="*/ 1737 w 1949"/>
                  <a:gd name="T75" fmla="*/ 404 h 943"/>
                  <a:gd name="T76" fmla="*/ 1779 w 1949"/>
                  <a:gd name="T77" fmla="*/ 503 h 943"/>
                  <a:gd name="T78" fmla="*/ 1829 w 1949"/>
                  <a:gd name="T79" fmla="*/ 588 h 943"/>
                  <a:gd name="T80" fmla="*/ 1871 w 1949"/>
                  <a:gd name="T81" fmla="*/ 673 h 943"/>
                  <a:gd name="T82" fmla="*/ 1921 w 1949"/>
                  <a:gd name="T83" fmla="*/ 744 h 94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943">
                    <a:moveTo>
                      <a:pt x="0" y="943"/>
                    </a:moveTo>
                    <a:lnTo>
                      <a:pt x="15" y="943"/>
                    </a:lnTo>
                    <a:lnTo>
                      <a:pt x="29" y="943"/>
                    </a:lnTo>
                    <a:lnTo>
                      <a:pt x="43" y="943"/>
                    </a:lnTo>
                    <a:lnTo>
                      <a:pt x="57" y="943"/>
                    </a:lnTo>
                    <a:lnTo>
                      <a:pt x="71" y="943"/>
                    </a:lnTo>
                    <a:lnTo>
                      <a:pt x="93" y="943"/>
                    </a:lnTo>
                    <a:lnTo>
                      <a:pt x="107" y="943"/>
                    </a:lnTo>
                    <a:lnTo>
                      <a:pt x="121" y="936"/>
                    </a:lnTo>
                    <a:lnTo>
                      <a:pt x="135" y="936"/>
                    </a:lnTo>
                    <a:lnTo>
                      <a:pt x="149" y="936"/>
                    </a:lnTo>
                    <a:lnTo>
                      <a:pt x="163" y="936"/>
                    </a:lnTo>
                    <a:lnTo>
                      <a:pt x="185" y="936"/>
                    </a:lnTo>
                    <a:lnTo>
                      <a:pt x="199" y="936"/>
                    </a:lnTo>
                    <a:lnTo>
                      <a:pt x="213" y="929"/>
                    </a:lnTo>
                    <a:lnTo>
                      <a:pt x="227" y="929"/>
                    </a:lnTo>
                    <a:lnTo>
                      <a:pt x="241" y="929"/>
                    </a:lnTo>
                    <a:lnTo>
                      <a:pt x="256" y="929"/>
                    </a:lnTo>
                    <a:lnTo>
                      <a:pt x="277" y="921"/>
                    </a:lnTo>
                    <a:lnTo>
                      <a:pt x="291" y="921"/>
                    </a:lnTo>
                    <a:lnTo>
                      <a:pt x="305" y="921"/>
                    </a:lnTo>
                    <a:lnTo>
                      <a:pt x="319" y="914"/>
                    </a:lnTo>
                    <a:lnTo>
                      <a:pt x="334" y="914"/>
                    </a:lnTo>
                    <a:lnTo>
                      <a:pt x="348" y="914"/>
                    </a:lnTo>
                    <a:lnTo>
                      <a:pt x="369" y="907"/>
                    </a:lnTo>
                    <a:lnTo>
                      <a:pt x="383" y="907"/>
                    </a:lnTo>
                    <a:lnTo>
                      <a:pt x="397" y="900"/>
                    </a:lnTo>
                    <a:lnTo>
                      <a:pt x="411" y="900"/>
                    </a:lnTo>
                    <a:lnTo>
                      <a:pt x="426" y="893"/>
                    </a:lnTo>
                    <a:lnTo>
                      <a:pt x="440" y="893"/>
                    </a:lnTo>
                    <a:lnTo>
                      <a:pt x="461" y="886"/>
                    </a:lnTo>
                    <a:lnTo>
                      <a:pt x="475" y="886"/>
                    </a:lnTo>
                    <a:lnTo>
                      <a:pt x="489" y="879"/>
                    </a:lnTo>
                    <a:lnTo>
                      <a:pt x="504" y="879"/>
                    </a:lnTo>
                    <a:lnTo>
                      <a:pt x="518" y="872"/>
                    </a:lnTo>
                    <a:lnTo>
                      <a:pt x="532" y="865"/>
                    </a:lnTo>
                    <a:lnTo>
                      <a:pt x="553" y="865"/>
                    </a:lnTo>
                    <a:lnTo>
                      <a:pt x="567" y="858"/>
                    </a:lnTo>
                    <a:lnTo>
                      <a:pt x="582" y="851"/>
                    </a:lnTo>
                    <a:lnTo>
                      <a:pt x="596" y="843"/>
                    </a:lnTo>
                    <a:lnTo>
                      <a:pt x="610" y="843"/>
                    </a:lnTo>
                    <a:lnTo>
                      <a:pt x="624" y="836"/>
                    </a:lnTo>
                    <a:lnTo>
                      <a:pt x="645" y="829"/>
                    </a:lnTo>
                    <a:lnTo>
                      <a:pt x="660" y="822"/>
                    </a:lnTo>
                    <a:lnTo>
                      <a:pt x="674" y="815"/>
                    </a:lnTo>
                    <a:lnTo>
                      <a:pt x="688" y="808"/>
                    </a:lnTo>
                    <a:lnTo>
                      <a:pt x="702" y="801"/>
                    </a:lnTo>
                    <a:lnTo>
                      <a:pt x="716" y="794"/>
                    </a:lnTo>
                    <a:lnTo>
                      <a:pt x="737" y="787"/>
                    </a:lnTo>
                    <a:lnTo>
                      <a:pt x="752" y="780"/>
                    </a:lnTo>
                    <a:lnTo>
                      <a:pt x="766" y="766"/>
                    </a:lnTo>
                    <a:lnTo>
                      <a:pt x="780" y="758"/>
                    </a:lnTo>
                    <a:lnTo>
                      <a:pt x="794" y="751"/>
                    </a:lnTo>
                    <a:lnTo>
                      <a:pt x="815" y="737"/>
                    </a:lnTo>
                    <a:lnTo>
                      <a:pt x="830" y="730"/>
                    </a:lnTo>
                    <a:lnTo>
                      <a:pt x="844" y="723"/>
                    </a:lnTo>
                    <a:lnTo>
                      <a:pt x="858" y="709"/>
                    </a:lnTo>
                    <a:lnTo>
                      <a:pt x="872" y="702"/>
                    </a:lnTo>
                    <a:lnTo>
                      <a:pt x="886" y="688"/>
                    </a:lnTo>
                    <a:lnTo>
                      <a:pt x="908" y="673"/>
                    </a:lnTo>
                    <a:lnTo>
                      <a:pt x="922" y="659"/>
                    </a:lnTo>
                    <a:lnTo>
                      <a:pt x="936" y="652"/>
                    </a:lnTo>
                    <a:lnTo>
                      <a:pt x="950" y="638"/>
                    </a:lnTo>
                    <a:lnTo>
                      <a:pt x="964" y="624"/>
                    </a:lnTo>
                    <a:lnTo>
                      <a:pt x="978" y="610"/>
                    </a:lnTo>
                    <a:lnTo>
                      <a:pt x="1000" y="588"/>
                    </a:lnTo>
                    <a:lnTo>
                      <a:pt x="1014" y="574"/>
                    </a:lnTo>
                    <a:lnTo>
                      <a:pt x="1028" y="560"/>
                    </a:lnTo>
                    <a:lnTo>
                      <a:pt x="1042" y="546"/>
                    </a:lnTo>
                    <a:lnTo>
                      <a:pt x="1056" y="525"/>
                    </a:lnTo>
                    <a:lnTo>
                      <a:pt x="1071" y="510"/>
                    </a:lnTo>
                    <a:lnTo>
                      <a:pt x="1092" y="489"/>
                    </a:lnTo>
                    <a:lnTo>
                      <a:pt x="1106" y="468"/>
                    </a:lnTo>
                    <a:lnTo>
                      <a:pt x="1120" y="447"/>
                    </a:lnTo>
                    <a:lnTo>
                      <a:pt x="1134" y="425"/>
                    </a:lnTo>
                    <a:lnTo>
                      <a:pt x="1149" y="404"/>
                    </a:lnTo>
                    <a:lnTo>
                      <a:pt x="1163" y="383"/>
                    </a:lnTo>
                    <a:lnTo>
                      <a:pt x="1184" y="362"/>
                    </a:lnTo>
                    <a:lnTo>
                      <a:pt x="1198" y="340"/>
                    </a:lnTo>
                    <a:lnTo>
                      <a:pt x="1212" y="312"/>
                    </a:lnTo>
                    <a:lnTo>
                      <a:pt x="1227" y="291"/>
                    </a:lnTo>
                    <a:lnTo>
                      <a:pt x="1241" y="270"/>
                    </a:lnTo>
                    <a:lnTo>
                      <a:pt x="1255" y="241"/>
                    </a:lnTo>
                    <a:lnTo>
                      <a:pt x="1276" y="220"/>
                    </a:lnTo>
                    <a:lnTo>
                      <a:pt x="1290" y="192"/>
                    </a:lnTo>
                    <a:lnTo>
                      <a:pt x="1304" y="170"/>
                    </a:lnTo>
                    <a:lnTo>
                      <a:pt x="1319" y="142"/>
                    </a:lnTo>
                    <a:lnTo>
                      <a:pt x="1333" y="121"/>
                    </a:lnTo>
                    <a:lnTo>
                      <a:pt x="1347" y="99"/>
                    </a:lnTo>
                    <a:lnTo>
                      <a:pt x="1368" y="78"/>
                    </a:lnTo>
                    <a:lnTo>
                      <a:pt x="1382" y="57"/>
                    </a:lnTo>
                    <a:lnTo>
                      <a:pt x="1397" y="43"/>
                    </a:lnTo>
                    <a:lnTo>
                      <a:pt x="1411" y="29"/>
                    </a:lnTo>
                    <a:lnTo>
                      <a:pt x="1425" y="14"/>
                    </a:lnTo>
                    <a:lnTo>
                      <a:pt x="1439" y="7"/>
                    </a:lnTo>
                    <a:lnTo>
                      <a:pt x="1460" y="7"/>
                    </a:lnTo>
                    <a:lnTo>
                      <a:pt x="1475" y="0"/>
                    </a:lnTo>
                    <a:lnTo>
                      <a:pt x="1489" y="7"/>
                    </a:lnTo>
                    <a:lnTo>
                      <a:pt x="1503" y="7"/>
                    </a:lnTo>
                    <a:lnTo>
                      <a:pt x="1517" y="22"/>
                    </a:lnTo>
                    <a:lnTo>
                      <a:pt x="1538" y="36"/>
                    </a:lnTo>
                    <a:lnTo>
                      <a:pt x="1553" y="50"/>
                    </a:lnTo>
                    <a:lnTo>
                      <a:pt x="1567" y="71"/>
                    </a:lnTo>
                    <a:lnTo>
                      <a:pt x="1581" y="92"/>
                    </a:lnTo>
                    <a:lnTo>
                      <a:pt x="1595" y="121"/>
                    </a:lnTo>
                    <a:lnTo>
                      <a:pt x="1609" y="149"/>
                    </a:lnTo>
                    <a:lnTo>
                      <a:pt x="1631" y="177"/>
                    </a:lnTo>
                    <a:lnTo>
                      <a:pt x="1645" y="206"/>
                    </a:lnTo>
                    <a:lnTo>
                      <a:pt x="1659" y="241"/>
                    </a:lnTo>
                    <a:lnTo>
                      <a:pt x="1673" y="270"/>
                    </a:lnTo>
                    <a:lnTo>
                      <a:pt x="1687" y="305"/>
                    </a:lnTo>
                    <a:lnTo>
                      <a:pt x="1701" y="340"/>
                    </a:lnTo>
                    <a:lnTo>
                      <a:pt x="1723" y="376"/>
                    </a:lnTo>
                    <a:lnTo>
                      <a:pt x="1737" y="404"/>
                    </a:lnTo>
                    <a:lnTo>
                      <a:pt x="1751" y="440"/>
                    </a:lnTo>
                    <a:lnTo>
                      <a:pt x="1765" y="468"/>
                    </a:lnTo>
                    <a:lnTo>
                      <a:pt x="1779" y="503"/>
                    </a:lnTo>
                    <a:lnTo>
                      <a:pt x="1794" y="532"/>
                    </a:lnTo>
                    <a:lnTo>
                      <a:pt x="1815" y="560"/>
                    </a:lnTo>
                    <a:lnTo>
                      <a:pt x="1829" y="588"/>
                    </a:lnTo>
                    <a:lnTo>
                      <a:pt x="1843" y="617"/>
                    </a:lnTo>
                    <a:lnTo>
                      <a:pt x="1857" y="645"/>
                    </a:lnTo>
                    <a:lnTo>
                      <a:pt x="1871" y="673"/>
                    </a:lnTo>
                    <a:lnTo>
                      <a:pt x="1886" y="695"/>
                    </a:lnTo>
                    <a:lnTo>
                      <a:pt x="1907" y="723"/>
                    </a:lnTo>
                    <a:lnTo>
                      <a:pt x="1921" y="744"/>
                    </a:lnTo>
                    <a:lnTo>
                      <a:pt x="1935" y="766"/>
                    </a:lnTo>
                    <a:lnTo>
                      <a:pt x="1949" y="787"/>
                    </a:lnTo>
                  </a:path>
                </a:pathLst>
              </a:custGeom>
              <a:noFill/>
              <a:ln w="22225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Freeform 97">
                <a:extLst>
                  <a:ext uri="{FF2B5EF4-FFF2-40B4-BE49-F238E27FC236}">
                    <a16:creationId xmlns:a16="http://schemas.microsoft.com/office/drawing/2014/main" id="{45FB37AE-BA83-D77D-FB6E-2B7B6755C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2941"/>
                <a:ext cx="1127" cy="567"/>
              </a:xfrm>
              <a:custGeom>
                <a:avLst/>
                <a:gdLst>
                  <a:gd name="T0" fmla="*/ 15 w 1127"/>
                  <a:gd name="T1" fmla="*/ 21 h 567"/>
                  <a:gd name="T2" fmla="*/ 50 w 1127"/>
                  <a:gd name="T3" fmla="*/ 64 h 567"/>
                  <a:gd name="T4" fmla="*/ 78 w 1127"/>
                  <a:gd name="T5" fmla="*/ 99 h 567"/>
                  <a:gd name="T6" fmla="*/ 107 w 1127"/>
                  <a:gd name="T7" fmla="*/ 127 h 567"/>
                  <a:gd name="T8" fmla="*/ 142 w 1127"/>
                  <a:gd name="T9" fmla="*/ 163 h 567"/>
                  <a:gd name="T10" fmla="*/ 171 w 1127"/>
                  <a:gd name="T11" fmla="*/ 191 h 567"/>
                  <a:gd name="T12" fmla="*/ 199 w 1127"/>
                  <a:gd name="T13" fmla="*/ 219 h 567"/>
                  <a:gd name="T14" fmla="*/ 234 w 1127"/>
                  <a:gd name="T15" fmla="*/ 241 h 567"/>
                  <a:gd name="T16" fmla="*/ 263 w 1127"/>
                  <a:gd name="T17" fmla="*/ 262 h 567"/>
                  <a:gd name="T18" fmla="*/ 291 w 1127"/>
                  <a:gd name="T19" fmla="*/ 283 h 567"/>
                  <a:gd name="T20" fmla="*/ 326 w 1127"/>
                  <a:gd name="T21" fmla="*/ 304 h 567"/>
                  <a:gd name="T22" fmla="*/ 355 w 1127"/>
                  <a:gd name="T23" fmla="*/ 326 h 567"/>
                  <a:gd name="T24" fmla="*/ 383 w 1127"/>
                  <a:gd name="T25" fmla="*/ 340 h 567"/>
                  <a:gd name="T26" fmla="*/ 419 w 1127"/>
                  <a:gd name="T27" fmla="*/ 361 h 567"/>
                  <a:gd name="T28" fmla="*/ 447 w 1127"/>
                  <a:gd name="T29" fmla="*/ 375 h 567"/>
                  <a:gd name="T30" fmla="*/ 475 w 1127"/>
                  <a:gd name="T31" fmla="*/ 390 h 567"/>
                  <a:gd name="T32" fmla="*/ 511 w 1127"/>
                  <a:gd name="T33" fmla="*/ 404 h 567"/>
                  <a:gd name="T34" fmla="*/ 539 w 1127"/>
                  <a:gd name="T35" fmla="*/ 418 h 567"/>
                  <a:gd name="T36" fmla="*/ 567 w 1127"/>
                  <a:gd name="T37" fmla="*/ 425 h 567"/>
                  <a:gd name="T38" fmla="*/ 603 w 1127"/>
                  <a:gd name="T39" fmla="*/ 439 h 567"/>
                  <a:gd name="T40" fmla="*/ 631 w 1127"/>
                  <a:gd name="T41" fmla="*/ 446 h 567"/>
                  <a:gd name="T42" fmla="*/ 660 w 1127"/>
                  <a:gd name="T43" fmla="*/ 460 h 567"/>
                  <a:gd name="T44" fmla="*/ 695 w 1127"/>
                  <a:gd name="T45" fmla="*/ 467 h 567"/>
                  <a:gd name="T46" fmla="*/ 723 w 1127"/>
                  <a:gd name="T47" fmla="*/ 482 h 567"/>
                  <a:gd name="T48" fmla="*/ 752 w 1127"/>
                  <a:gd name="T49" fmla="*/ 489 h 567"/>
                  <a:gd name="T50" fmla="*/ 787 w 1127"/>
                  <a:gd name="T51" fmla="*/ 496 h 567"/>
                  <a:gd name="T52" fmla="*/ 816 w 1127"/>
                  <a:gd name="T53" fmla="*/ 503 h 567"/>
                  <a:gd name="T54" fmla="*/ 844 w 1127"/>
                  <a:gd name="T55" fmla="*/ 510 h 567"/>
                  <a:gd name="T56" fmla="*/ 879 w 1127"/>
                  <a:gd name="T57" fmla="*/ 517 h 567"/>
                  <a:gd name="T58" fmla="*/ 908 w 1127"/>
                  <a:gd name="T59" fmla="*/ 524 h 567"/>
                  <a:gd name="T60" fmla="*/ 936 w 1127"/>
                  <a:gd name="T61" fmla="*/ 531 h 567"/>
                  <a:gd name="T62" fmla="*/ 971 w 1127"/>
                  <a:gd name="T63" fmla="*/ 538 h 567"/>
                  <a:gd name="T64" fmla="*/ 1000 w 1127"/>
                  <a:gd name="T65" fmla="*/ 545 h 567"/>
                  <a:gd name="T66" fmla="*/ 1028 w 1127"/>
                  <a:gd name="T67" fmla="*/ 552 h 567"/>
                  <a:gd name="T68" fmla="*/ 1064 w 1127"/>
                  <a:gd name="T69" fmla="*/ 552 h 567"/>
                  <a:gd name="T70" fmla="*/ 1092 w 1127"/>
                  <a:gd name="T71" fmla="*/ 560 h 567"/>
                  <a:gd name="T72" fmla="*/ 1127 w 1127"/>
                  <a:gd name="T73" fmla="*/ 567 h 56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567">
                    <a:moveTo>
                      <a:pt x="0" y="0"/>
                    </a:moveTo>
                    <a:lnTo>
                      <a:pt x="15" y="21"/>
                    </a:lnTo>
                    <a:lnTo>
                      <a:pt x="29" y="42"/>
                    </a:lnTo>
                    <a:lnTo>
                      <a:pt x="50" y="64"/>
                    </a:lnTo>
                    <a:lnTo>
                      <a:pt x="64" y="78"/>
                    </a:lnTo>
                    <a:lnTo>
                      <a:pt x="78" y="99"/>
                    </a:lnTo>
                    <a:lnTo>
                      <a:pt x="93" y="113"/>
                    </a:lnTo>
                    <a:lnTo>
                      <a:pt x="107" y="127"/>
                    </a:lnTo>
                    <a:lnTo>
                      <a:pt x="121" y="149"/>
                    </a:lnTo>
                    <a:lnTo>
                      <a:pt x="142" y="163"/>
                    </a:lnTo>
                    <a:lnTo>
                      <a:pt x="156" y="177"/>
                    </a:lnTo>
                    <a:lnTo>
                      <a:pt x="171" y="191"/>
                    </a:lnTo>
                    <a:lnTo>
                      <a:pt x="185" y="205"/>
                    </a:lnTo>
                    <a:lnTo>
                      <a:pt x="199" y="219"/>
                    </a:lnTo>
                    <a:lnTo>
                      <a:pt x="213" y="227"/>
                    </a:lnTo>
                    <a:lnTo>
                      <a:pt x="234" y="241"/>
                    </a:lnTo>
                    <a:lnTo>
                      <a:pt x="249" y="255"/>
                    </a:lnTo>
                    <a:lnTo>
                      <a:pt x="263" y="262"/>
                    </a:lnTo>
                    <a:lnTo>
                      <a:pt x="277" y="276"/>
                    </a:lnTo>
                    <a:lnTo>
                      <a:pt x="291" y="283"/>
                    </a:lnTo>
                    <a:lnTo>
                      <a:pt x="305" y="297"/>
                    </a:lnTo>
                    <a:lnTo>
                      <a:pt x="326" y="304"/>
                    </a:lnTo>
                    <a:lnTo>
                      <a:pt x="341" y="319"/>
                    </a:lnTo>
                    <a:lnTo>
                      <a:pt x="355" y="326"/>
                    </a:lnTo>
                    <a:lnTo>
                      <a:pt x="369" y="333"/>
                    </a:lnTo>
                    <a:lnTo>
                      <a:pt x="383" y="340"/>
                    </a:lnTo>
                    <a:lnTo>
                      <a:pt x="404" y="347"/>
                    </a:lnTo>
                    <a:lnTo>
                      <a:pt x="419" y="361"/>
                    </a:lnTo>
                    <a:lnTo>
                      <a:pt x="433" y="368"/>
                    </a:lnTo>
                    <a:lnTo>
                      <a:pt x="447" y="375"/>
                    </a:lnTo>
                    <a:lnTo>
                      <a:pt x="461" y="382"/>
                    </a:lnTo>
                    <a:lnTo>
                      <a:pt x="475" y="390"/>
                    </a:lnTo>
                    <a:lnTo>
                      <a:pt x="497" y="397"/>
                    </a:lnTo>
                    <a:lnTo>
                      <a:pt x="511" y="404"/>
                    </a:lnTo>
                    <a:lnTo>
                      <a:pt x="525" y="411"/>
                    </a:lnTo>
                    <a:lnTo>
                      <a:pt x="539" y="418"/>
                    </a:lnTo>
                    <a:lnTo>
                      <a:pt x="553" y="418"/>
                    </a:lnTo>
                    <a:lnTo>
                      <a:pt x="567" y="425"/>
                    </a:lnTo>
                    <a:lnTo>
                      <a:pt x="589" y="432"/>
                    </a:lnTo>
                    <a:lnTo>
                      <a:pt x="603" y="439"/>
                    </a:lnTo>
                    <a:lnTo>
                      <a:pt x="617" y="446"/>
                    </a:lnTo>
                    <a:lnTo>
                      <a:pt x="631" y="446"/>
                    </a:lnTo>
                    <a:lnTo>
                      <a:pt x="645" y="453"/>
                    </a:lnTo>
                    <a:lnTo>
                      <a:pt x="660" y="460"/>
                    </a:lnTo>
                    <a:lnTo>
                      <a:pt x="681" y="467"/>
                    </a:lnTo>
                    <a:lnTo>
                      <a:pt x="695" y="467"/>
                    </a:lnTo>
                    <a:lnTo>
                      <a:pt x="709" y="475"/>
                    </a:lnTo>
                    <a:lnTo>
                      <a:pt x="723" y="482"/>
                    </a:lnTo>
                    <a:lnTo>
                      <a:pt x="738" y="482"/>
                    </a:lnTo>
                    <a:lnTo>
                      <a:pt x="752" y="489"/>
                    </a:lnTo>
                    <a:lnTo>
                      <a:pt x="773" y="489"/>
                    </a:lnTo>
                    <a:lnTo>
                      <a:pt x="787" y="496"/>
                    </a:lnTo>
                    <a:lnTo>
                      <a:pt x="801" y="503"/>
                    </a:lnTo>
                    <a:lnTo>
                      <a:pt x="816" y="503"/>
                    </a:lnTo>
                    <a:lnTo>
                      <a:pt x="830" y="510"/>
                    </a:lnTo>
                    <a:lnTo>
                      <a:pt x="844" y="510"/>
                    </a:lnTo>
                    <a:lnTo>
                      <a:pt x="865" y="517"/>
                    </a:lnTo>
                    <a:lnTo>
                      <a:pt x="879" y="517"/>
                    </a:lnTo>
                    <a:lnTo>
                      <a:pt x="893" y="524"/>
                    </a:lnTo>
                    <a:lnTo>
                      <a:pt x="908" y="524"/>
                    </a:lnTo>
                    <a:lnTo>
                      <a:pt x="922" y="531"/>
                    </a:lnTo>
                    <a:lnTo>
                      <a:pt x="936" y="531"/>
                    </a:lnTo>
                    <a:lnTo>
                      <a:pt x="957" y="538"/>
                    </a:lnTo>
                    <a:lnTo>
                      <a:pt x="971" y="538"/>
                    </a:lnTo>
                    <a:lnTo>
                      <a:pt x="986" y="538"/>
                    </a:lnTo>
                    <a:lnTo>
                      <a:pt x="1000" y="545"/>
                    </a:lnTo>
                    <a:lnTo>
                      <a:pt x="1014" y="545"/>
                    </a:lnTo>
                    <a:lnTo>
                      <a:pt x="1028" y="552"/>
                    </a:lnTo>
                    <a:lnTo>
                      <a:pt x="1049" y="552"/>
                    </a:lnTo>
                    <a:lnTo>
                      <a:pt x="1064" y="552"/>
                    </a:lnTo>
                    <a:lnTo>
                      <a:pt x="1078" y="560"/>
                    </a:lnTo>
                    <a:lnTo>
                      <a:pt x="1092" y="560"/>
                    </a:lnTo>
                    <a:lnTo>
                      <a:pt x="1106" y="567"/>
                    </a:lnTo>
                    <a:lnTo>
                      <a:pt x="1127" y="567"/>
                    </a:lnTo>
                  </a:path>
                </a:pathLst>
              </a:custGeom>
              <a:noFill/>
              <a:ln w="22225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2" name="Group 98">
              <a:extLst>
                <a:ext uri="{FF2B5EF4-FFF2-40B4-BE49-F238E27FC236}">
                  <a16:creationId xmlns:a16="http://schemas.microsoft.com/office/drawing/2014/main" id="{EFF9CE61-67C9-E0B9-8D4F-289AE3BB1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452"/>
              <a:ext cx="3076" cy="1056"/>
              <a:chOff x="1252" y="2452"/>
              <a:chExt cx="3076" cy="1056"/>
            </a:xfrm>
          </p:grpSpPr>
          <p:sp>
            <p:nvSpPr>
              <p:cNvPr id="120" name="Freeform 99">
                <a:extLst>
                  <a:ext uri="{FF2B5EF4-FFF2-40B4-BE49-F238E27FC236}">
                    <a16:creationId xmlns:a16="http://schemas.microsoft.com/office/drawing/2014/main" id="{2B11BA05-DD5F-1B43-C680-C38206E63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452"/>
                <a:ext cx="1949" cy="645"/>
              </a:xfrm>
              <a:custGeom>
                <a:avLst/>
                <a:gdLst>
                  <a:gd name="T0" fmla="*/ 29 w 1949"/>
                  <a:gd name="T1" fmla="*/ 645 h 645"/>
                  <a:gd name="T2" fmla="*/ 71 w 1949"/>
                  <a:gd name="T3" fmla="*/ 645 h 645"/>
                  <a:gd name="T4" fmla="*/ 121 w 1949"/>
                  <a:gd name="T5" fmla="*/ 645 h 645"/>
                  <a:gd name="T6" fmla="*/ 163 w 1949"/>
                  <a:gd name="T7" fmla="*/ 638 h 645"/>
                  <a:gd name="T8" fmla="*/ 213 w 1949"/>
                  <a:gd name="T9" fmla="*/ 638 h 645"/>
                  <a:gd name="T10" fmla="*/ 256 w 1949"/>
                  <a:gd name="T11" fmla="*/ 631 h 645"/>
                  <a:gd name="T12" fmla="*/ 305 w 1949"/>
                  <a:gd name="T13" fmla="*/ 623 h 645"/>
                  <a:gd name="T14" fmla="*/ 348 w 1949"/>
                  <a:gd name="T15" fmla="*/ 616 h 645"/>
                  <a:gd name="T16" fmla="*/ 397 w 1949"/>
                  <a:gd name="T17" fmla="*/ 609 h 645"/>
                  <a:gd name="T18" fmla="*/ 440 w 1949"/>
                  <a:gd name="T19" fmla="*/ 595 h 645"/>
                  <a:gd name="T20" fmla="*/ 489 w 1949"/>
                  <a:gd name="T21" fmla="*/ 588 h 645"/>
                  <a:gd name="T22" fmla="*/ 532 w 1949"/>
                  <a:gd name="T23" fmla="*/ 574 h 645"/>
                  <a:gd name="T24" fmla="*/ 582 w 1949"/>
                  <a:gd name="T25" fmla="*/ 560 h 645"/>
                  <a:gd name="T26" fmla="*/ 624 w 1949"/>
                  <a:gd name="T27" fmla="*/ 545 h 645"/>
                  <a:gd name="T28" fmla="*/ 674 w 1949"/>
                  <a:gd name="T29" fmla="*/ 524 h 645"/>
                  <a:gd name="T30" fmla="*/ 716 w 1949"/>
                  <a:gd name="T31" fmla="*/ 503 h 645"/>
                  <a:gd name="T32" fmla="*/ 766 w 1949"/>
                  <a:gd name="T33" fmla="*/ 482 h 645"/>
                  <a:gd name="T34" fmla="*/ 815 w 1949"/>
                  <a:gd name="T35" fmla="*/ 460 h 645"/>
                  <a:gd name="T36" fmla="*/ 858 w 1949"/>
                  <a:gd name="T37" fmla="*/ 432 h 645"/>
                  <a:gd name="T38" fmla="*/ 908 w 1949"/>
                  <a:gd name="T39" fmla="*/ 404 h 645"/>
                  <a:gd name="T40" fmla="*/ 950 w 1949"/>
                  <a:gd name="T41" fmla="*/ 368 h 645"/>
                  <a:gd name="T42" fmla="*/ 1000 w 1949"/>
                  <a:gd name="T43" fmla="*/ 333 h 645"/>
                  <a:gd name="T44" fmla="*/ 1042 w 1949"/>
                  <a:gd name="T45" fmla="*/ 297 h 645"/>
                  <a:gd name="T46" fmla="*/ 1092 w 1949"/>
                  <a:gd name="T47" fmla="*/ 255 h 645"/>
                  <a:gd name="T48" fmla="*/ 1134 w 1949"/>
                  <a:gd name="T49" fmla="*/ 212 h 645"/>
                  <a:gd name="T50" fmla="*/ 1184 w 1949"/>
                  <a:gd name="T51" fmla="*/ 170 h 645"/>
                  <a:gd name="T52" fmla="*/ 1227 w 1949"/>
                  <a:gd name="T53" fmla="*/ 127 h 645"/>
                  <a:gd name="T54" fmla="*/ 1276 w 1949"/>
                  <a:gd name="T55" fmla="*/ 85 h 645"/>
                  <a:gd name="T56" fmla="*/ 1319 w 1949"/>
                  <a:gd name="T57" fmla="*/ 42 h 645"/>
                  <a:gd name="T58" fmla="*/ 1368 w 1949"/>
                  <a:gd name="T59" fmla="*/ 14 h 645"/>
                  <a:gd name="T60" fmla="*/ 1411 w 1949"/>
                  <a:gd name="T61" fmla="*/ 0 h 645"/>
                  <a:gd name="T62" fmla="*/ 1460 w 1949"/>
                  <a:gd name="T63" fmla="*/ 0 h 645"/>
                  <a:gd name="T64" fmla="*/ 1503 w 1949"/>
                  <a:gd name="T65" fmla="*/ 21 h 645"/>
                  <a:gd name="T66" fmla="*/ 1553 w 1949"/>
                  <a:gd name="T67" fmla="*/ 49 h 645"/>
                  <a:gd name="T68" fmla="*/ 1595 w 1949"/>
                  <a:gd name="T69" fmla="*/ 99 h 645"/>
                  <a:gd name="T70" fmla="*/ 1645 w 1949"/>
                  <a:gd name="T71" fmla="*/ 156 h 645"/>
                  <a:gd name="T72" fmla="*/ 1687 w 1949"/>
                  <a:gd name="T73" fmla="*/ 220 h 645"/>
                  <a:gd name="T74" fmla="*/ 1737 w 1949"/>
                  <a:gd name="T75" fmla="*/ 290 h 645"/>
                  <a:gd name="T76" fmla="*/ 1779 w 1949"/>
                  <a:gd name="T77" fmla="*/ 354 h 645"/>
                  <a:gd name="T78" fmla="*/ 1829 w 1949"/>
                  <a:gd name="T79" fmla="*/ 418 h 645"/>
                  <a:gd name="T80" fmla="*/ 1871 w 1949"/>
                  <a:gd name="T81" fmla="*/ 475 h 645"/>
                  <a:gd name="T82" fmla="*/ 1921 w 1949"/>
                  <a:gd name="T83" fmla="*/ 531 h 64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645">
                    <a:moveTo>
                      <a:pt x="0" y="645"/>
                    </a:moveTo>
                    <a:lnTo>
                      <a:pt x="15" y="645"/>
                    </a:lnTo>
                    <a:lnTo>
                      <a:pt x="29" y="645"/>
                    </a:lnTo>
                    <a:lnTo>
                      <a:pt x="43" y="645"/>
                    </a:lnTo>
                    <a:lnTo>
                      <a:pt x="57" y="645"/>
                    </a:lnTo>
                    <a:lnTo>
                      <a:pt x="71" y="645"/>
                    </a:lnTo>
                    <a:lnTo>
                      <a:pt x="93" y="645"/>
                    </a:lnTo>
                    <a:lnTo>
                      <a:pt x="107" y="645"/>
                    </a:lnTo>
                    <a:lnTo>
                      <a:pt x="121" y="645"/>
                    </a:lnTo>
                    <a:lnTo>
                      <a:pt x="135" y="638"/>
                    </a:lnTo>
                    <a:lnTo>
                      <a:pt x="149" y="638"/>
                    </a:lnTo>
                    <a:lnTo>
                      <a:pt x="163" y="638"/>
                    </a:lnTo>
                    <a:lnTo>
                      <a:pt x="185" y="638"/>
                    </a:lnTo>
                    <a:lnTo>
                      <a:pt x="199" y="638"/>
                    </a:lnTo>
                    <a:lnTo>
                      <a:pt x="213" y="638"/>
                    </a:lnTo>
                    <a:lnTo>
                      <a:pt x="227" y="631"/>
                    </a:lnTo>
                    <a:lnTo>
                      <a:pt x="241" y="631"/>
                    </a:lnTo>
                    <a:lnTo>
                      <a:pt x="256" y="631"/>
                    </a:lnTo>
                    <a:lnTo>
                      <a:pt x="277" y="631"/>
                    </a:lnTo>
                    <a:lnTo>
                      <a:pt x="291" y="623"/>
                    </a:lnTo>
                    <a:lnTo>
                      <a:pt x="305" y="623"/>
                    </a:lnTo>
                    <a:lnTo>
                      <a:pt x="319" y="623"/>
                    </a:lnTo>
                    <a:lnTo>
                      <a:pt x="334" y="616"/>
                    </a:lnTo>
                    <a:lnTo>
                      <a:pt x="348" y="616"/>
                    </a:lnTo>
                    <a:lnTo>
                      <a:pt x="369" y="616"/>
                    </a:lnTo>
                    <a:lnTo>
                      <a:pt x="383" y="609"/>
                    </a:lnTo>
                    <a:lnTo>
                      <a:pt x="397" y="609"/>
                    </a:lnTo>
                    <a:lnTo>
                      <a:pt x="411" y="602"/>
                    </a:lnTo>
                    <a:lnTo>
                      <a:pt x="426" y="602"/>
                    </a:lnTo>
                    <a:lnTo>
                      <a:pt x="440" y="595"/>
                    </a:lnTo>
                    <a:lnTo>
                      <a:pt x="461" y="595"/>
                    </a:lnTo>
                    <a:lnTo>
                      <a:pt x="475" y="588"/>
                    </a:lnTo>
                    <a:lnTo>
                      <a:pt x="489" y="588"/>
                    </a:lnTo>
                    <a:lnTo>
                      <a:pt x="504" y="581"/>
                    </a:lnTo>
                    <a:lnTo>
                      <a:pt x="518" y="581"/>
                    </a:lnTo>
                    <a:lnTo>
                      <a:pt x="532" y="574"/>
                    </a:lnTo>
                    <a:lnTo>
                      <a:pt x="553" y="567"/>
                    </a:lnTo>
                    <a:lnTo>
                      <a:pt x="567" y="567"/>
                    </a:lnTo>
                    <a:lnTo>
                      <a:pt x="582" y="560"/>
                    </a:lnTo>
                    <a:lnTo>
                      <a:pt x="596" y="553"/>
                    </a:lnTo>
                    <a:lnTo>
                      <a:pt x="610" y="545"/>
                    </a:lnTo>
                    <a:lnTo>
                      <a:pt x="624" y="545"/>
                    </a:lnTo>
                    <a:lnTo>
                      <a:pt x="645" y="538"/>
                    </a:lnTo>
                    <a:lnTo>
                      <a:pt x="660" y="531"/>
                    </a:lnTo>
                    <a:lnTo>
                      <a:pt x="674" y="524"/>
                    </a:lnTo>
                    <a:lnTo>
                      <a:pt x="688" y="517"/>
                    </a:lnTo>
                    <a:lnTo>
                      <a:pt x="702" y="510"/>
                    </a:lnTo>
                    <a:lnTo>
                      <a:pt x="716" y="503"/>
                    </a:lnTo>
                    <a:lnTo>
                      <a:pt x="737" y="496"/>
                    </a:lnTo>
                    <a:lnTo>
                      <a:pt x="752" y="489"/>
                    </a:lnTo>
                    <a:lnTo>
                      <a:pt x="766" y="482"/>
                    </a:lnTo>
                    <a:lnTo>
                      <a:pt x="780" y="475"/>
                    </a:lnTo>
                    <a:lnTo>
                      <a:pt x="794" y="468"/>
                    </a:lnTo>
                    <a:lnTo>
                      <a:pt x="815" y="460"/>
                    </a:lnTo>
                    <a:lnTo>
                      <a:pt x="830" y="453"/>
                    </a:lnTo>
                    <a:lnTo>
                      <a:pt x="844" y="439"/>
                    </a:lnTo>
                    <a:lnTo>
                      <a:pt x="858" y="432"/>
                    </a:lnTo>
                    <a:lnTo>
                      <a:pt x="872" y="425"/>
                    </a:lnTo>
                    <a:lnTo>
                      <a:pt x="886" y="411"/>
                    </a:lnTo>
                    <a:lnTo>
                      <a:pt x="908" y="404"/>
                    </a:lnTo>
                    <a:lnTo>
                      <a:pt x="922" y="397"/>
                    </a:lnTo>
                    <a:lnTo>
                      <a:pt x="936" y="383"/>
                    </a:lnTo>
                    <a:lnTo>
                      <a:pt x="950" y="368"/>
                    </a:lnTo>
                    <a:lnTo>
                      <a:pt x="964" y="361"/>
                    </a:lnTo>
                    <a:lnTo>
                      <a:pt x="978" y="347"/>
                    </a:lnTo>
                    <a:lnTo>
                      <a:pt x="1000" y="333"/>
                    </a:lnTo>
                    <a:lnTo>
                      <a:pt x="1014" y="326"/>
                    </a:lnTo>
                    <a:lnTo>
                      <a:pt x="1028" y="312"/>
                    </a:lnTo>
                    <a:lnTo>
                      <a:pt x="1042" y="297"/>
                    </a:lnTo>
                    <a:lnTo>
                      <a:pt x="1056" y="283"/>
                    </a:lnTo>
                    <a:lnTo>
                      <a:pt x="1071" y="269"/>
                    </a:lnTo>
                    <a:lnTo>
                      <a:pt x="1092" y="255"/>
                    </a:lnTo>
                    <a:lnTo>
                      <a:pt x="1106" y="241"/>
                    </a:lnTo>
                    <a:lnTo>
                      <a:pt x="1120" y="227"/>
                    </a:lnTo>
                    <a:lnTo>
                      <a:pt x="1134" y="212"/>
                    </a:lnTo>
                    <a:lnTo>
                      <a:pt x="1149" y="198"/>
                    </a:lnTo>
                    <a:lnTo>
                      <a:pt x="1163" y="184"/>
                    </a:lnTo>
                    <a:lnTo>
                      <a:pt x="1184" y="170"/>
                    </a:lnTo>
                    <a:lnTo>
                      <a:pt x="1198" y="156"/>
                    </a:lnTo>
                    <a:lnTo>
                      <a:pt x="1212" y="142"/>
                    </a:lnTo>
                    <a:lnTo>
                      <a:pt x="1227" y="127"/>
                    </a:lnTo>
                    <a:lnTo>
                      <a:pt x="1241" y="113"/>
                    </a:lnTo>
                    <a:lnTo>
                      <a:pt x="1255" y="99"/>
                    </a:lnTo>
                    <a:lnTo>
                      <a:pt x="1276" y="85"/>
                    </a:lnTo>
                    <a:lnTo>
                      <a:pt x="1290" y="71"/>
                    </a:lnTo>
                    <a:lnTo>
                      <a:pt x="1304" y="57"/>
                    </a:lnTo>
                    <a:lnTo>
                      <a:pt x="1319" y="42"/>
                    </a:lnTo>
                    <a:lnTo>
                      <a:pt x="1333" y="35"/>
                    </a:lnTo>
                    <a:lnTo>
                      <a:pt x="1347" y="28"/>
                    </a:lnTo>
                    <a:lnTo>
                      <a:pt x="1368" y="14"/>
                    </a:lnTo>
                    <a:lnTo>
                      <a:pt x="1382" y="7"/>
                    </a:lnTo>
                    <a:lnTo>
                      <a:pt x="1397" y="7"/>
                    </a:lnTo>
                    <a:lnTo>
                      <a:pt x="1411" y="0"/>
                    </a:lnTo>
                    <a:lnTo>
                      <a:pt x="1425" y="0"/>
                    </a:lnTo>
                    <a:lnTo>
                      <a:pt x="1439" y="0"/>
                    </a:lnTo>
                    <a:lnTo>
                      <a:pt x="1460" y="0"/>
                    </a:lnTo>
                    <a:lnTo>
                      <a:pt x="1475" y="7"/>
                    </a:lnTo>
                    <a:lnTo>
                      <a:pt x="1489" y="14"/>
                    </a:lnTo>
                    <a:lnTo>
                      <a:pt x="1503" y="21"/>
                    </a:lnTo>
                    <a:lnTo>
                      <a:pt x="1517" y="28"/>
                    </a:lnTo>
                    <a:lnTo>
                      <a:pt x="1538" y="42"/>
                    </a:lnTo>
                    <a:lnTo>
                      <a:pt x="1553" y="49"/>
                    </a:lnTo>
                    <a:lnTo>
                      <a:pt x="1567" y="64"/>
                    </a:lnTo>
                    <a:lnTo>
                      <a:pt x="1581" y="85"/>
                    </a:lnTo>
                    <a:lnTo>
                      <a:pt x="1595" y="99"/>
                    </a:lnTo>
                    <a:lnTo>
                      <a:pt x="1609" y="120"/>
                    </a:lnTo>
                    <a:lnTo>
                      <a:pt x="1631" y="135"/>
                    </a:lnTo>
                    <a:lnTo>
                      <a:pt x="1645" y="156"/>
                    </a:lnTo>
                    <a:lnTo>
                      <a:pt x="1659" y="177"/>
                    </a:lnTo>
                    <a:lnTo>
                      <a:pt x="1673" y="198"/>
                    </a:lnTo>
                    <a:lnTo>
                      <a:pt x="1687" y="220"/>
                    </a:lnTo>
                    <a:lnTo>
                      <a:pt x="1701" y="241"/>
                    </a:lnTo>
                    <a:lnTo>
                      <a:pt x="1723" y="262"/>
                    </a:lnTo>
                    <a:lnTo>
                      <a:pt x="1737" y="290"/>
                    </a:lnTo>
                    <a:lnTo>
                      <a:pt x="1751" y="312"/>
                    </a:lnTo>
                    <a:lnTo>
                      <a:pt x="1765" y="333"/>
                    </a:lnTo>
                    <a:lnTo>
                      <a:pt x="1779" y="354"/>
                    </a:lnTo>
                    <a:lnTo>
                      <a:pt x="1794" y="375"/>
                    </a:lnTo>
                    <a:lnTo>
                      <a:pt x="1815" y="397"/>
                    </a:lnTo>
                    <a:lnTo>
                      <a:pt x="1829" y="418"/>
                    </a:lnTo>
                    <a:lnTo>
                      <a:pt x="1843" y="439"/>
                    </a:lnTo>
                    <a:lnTo>
                      <a:pt x="1857" y="453"/>
                    </a:lnTo>
                    <a:lnTo>
                      <a:pt x="1871" y="475"/>
                    </a:lnTo>
                    <a:lnTo>
                      <a:pt x="1886" y="496"/>
                    </a:lnTo>
                    <a:lnTo>
                      <a:pt x="1907" y="510"/>
                    </a:lnTo>
                    <a:lnTo>
                      <a:pt x="1921" y="531"/>
                    </a:lnTo>
                    <a:lnTo>
                      <a:pt x="1935" y="545"/>
                    </a:lnTo>
                    <a:lnTo>
                      <a:pt x="1949" y="567"/>
                    </a:lnTo>
                  </a:path>
                </a:pathLst>
              </a:custGeom>
              <a:noFill/>
              <a:ln w="22225">
                <a:solidFill>
                  <a:srgbClr val="99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Freeform 100">
                <a:extLst>
                  <a:ext uri="{FF2B5EF4-FFF2-40B4-BE49-F238E27FC236}">
                    <a16:creationId xmlns:a16="http://schemas.microsoft.com/office/drawing/2014/main" id="{88412681-0392-E621-0BD0-DD8C1A1B8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019"/>
                <a:ext cx="1127" cy="489"/>
              </a:xfrm>
              <a:custGeom>
                <a:avLst/>
                <a:gdLst>
                  <a:gd name="T0" fmla="*/ 15 w 1127"/>
                  <a:gd name="T1" fmla="*/ 14 h 489"/>
                  <a:gd name="T2" fmla="*/ 50 w 1127"/>
                  <a:gd name="T3" fmla="*/ 42 h 489"/>
                  <a:gd name="T4" fmla="*/ 78 w 1127"/>
                  <a:gd name="T5" fmla="*/ 71 h 489"/>
                  <a:gd name="T6" fmla="*/ 107 w 1127"/>
                  <a:gd name="T7" fmla="*/ 99 h 489"/>
                  <a:gd name="T8" fmla="*/ 142 w 1127"/>
                  <a:gd name="T9" fmla="*/ 127 h 489"/>
                  <a:gd name="T10" fmla="*/ 171 w 1127"/>
                  <a:gd name="T11" fmla="*/ 149 h 489"/>
                  <a:gd name="T12" fmla="*/ 199 w 1127"/>
                  <a:gd name="T13" fmla="*/ 177 h 489"/>
                  <a:gd name="T14" fmla="*/ 234 w 1127"/>
                  <a:gd name="T15" fmla="*/ 198 h 489"/>
                  <a:gd name="T16" fmla="*/ 263 w 1127"/>
                  <a:gd name="T17" fmla="*/ 212 h 489"/>
                  <a:gd name="T18" fmla="*/ 291 w 1127"/>
                  <a:gd name="T19" fmla="*/ 234 h 489"/>
                  <a:gd name="T20" fmla="*/ 326 w 1127"/>
                  <a:gd name="T21" fmla="*/ 255 h 489"/>
                  <a:gd name="T22" fmla="*/ 355 w 1127"/>
                  <a:gd name="T23" fmla="*/ 269 h 489"/>
                  <a:gd name="T24" fmla="*/ 383 w 1127"/>
                  <a:gd name="T25" fmla="*/ 283 h 489"/>
                  <a:gd name="T26" fmla="*/ 419 w 1127"/>
                  <a:gd name="T27" fmla="*/ 297 h 489"/>
                  <a:gd name="T28" fmla="*/ 447 w 1127"/>
                  <a:gd name="T29" fmla="*/ 312 h 489"/>
                  <a:gd name="T30" fmla="*/ 475 w 1127"/>
                  <a:gd name="T31" fmla="*/ 326 h 489"/>
                  <a:gd name="T32" fmla="*/ 511 w 1127"/>
                  <a:gd name="T33" fmla="*/ 340 h 489"/>
                  <a:gd name="T34" fmla="*/ 539 w 1127"/>
                  <a:gd name="T35" fmla="*/ 347 h 489"/>
                  <a:gd name="T36" fmla="*/ 567 w 1127"/>
                  <a:gd name="T37" fmla="*/ 361 h 489"/>
                  <a:gd name="T38" fmla="*/ 603 w 1127"/>
                  <a:gd name="T39" fmla="*/ 368 h 489"/>
                  <a:gd name="T40" fmla="*/ 631 w 1127"/>
                  <a:gd name="T41" fmla="*/ 382 h 489"/>
                  <a:gd name="T42" fmla="*/ 660 w 1127"/>
                  <a:gd name="T43" fmla="*/ 389 h 489"/>
                  <a:gd name="T44" fmla="*/ 695 w 1127"/>
                  <a:gd name="T45" fmla="*/ 404 h 489"/>
                  <a:gd name="T46" fmla="*/ 723 w 1127"/>
                  <a:gd name="T47" fmla="*/ 411 h 489"/>
                  <a:gd name="T48" fmla="*/ 752 w 1127"/>
                  <a:gd name="T49" fmla="*/ 418 h 489"/>
                  <a:gd name="T50" fmla="*/ 787 w 1127"/>
                  <a:gd name="T51" fmla="*/ 425 h 489"/>
                  <a:gd name="T52" fmla="*/ 816 w 1127"/>
                  <a:gd name="T53" fmla="*/ 432 h 489"/>
                  <a:gd name="T54" fmla="*/ 844 w 1127"/>
                  <a:gd name="T55" fmla="*/ 439 h 489"/>
                  <a:gd name="T56" fmla="*/ 879 w 1127"/>
                  <a:gd name="T57" fmla="*/ 446 h 489"/>
                  <a:gd name="T58" fmla="*/ 908 w 1127"/>
                  <a:gd name="T59" fmla="*/ 453 h 489"/>
                  <a:gd name="T60" fmla="*/ 936 w 1127"/>
                  <a:gd name="T61" fmla="*/ 460 h 489"/>
                  <a:gd name="T62" fmla="*/ 971 w 1127"/>
                  <a:gd name="T63" fmla="*/ 467 h 489"/>
                  <a:gd name="T64" fmla="*/ 1000 w 1127"/>
                  <a:gd name="T65" fmla="*/ 474 h 489"/>
                  <a:gd name="T66" fmla="*/ 1028 w 1127"/>
                  <a:gd name="T67" fmla="*/ 474 h 489"/>
                  <a:gd name="T68" fmla="*/ 1064 w 1127"/>
                  <a:gd name="T69" fmla="*/ 482 h 489"/>
                  <a:gd name="T70" fmla="*/ 1092 w 1127"/>
                  <a:gd name="T71" fmla="*/ 489 h 489"/>
                  <a:gd name="T72" fmla="*/ 1127 w 1127"/>
                  <a:gd name="T73" fmla="*/ 489 h 48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489">
                    <a:moveTo>
                      <a:pt x="0" y="0"/>
                    </a:moveTo>
                    <a:lnTo>
                      <a:pt x="15" y="14"/>
                    </a:lnTo>
                    <a:lnTo>
                      <a:pt x="29" y="28"/>
                    </a:lnTo>
                    <a:lnTo>
                      <a:pt x="50" y="42"/>
                    </a:lnTo>
                    <a:lnTo>
                      <a:pt x="64" y="56"/>
                    </a:lnTo>
                    <a:lnTo>
                      <a:pt x="78" y="71"/>
                    </a:lnTo>
                    <a:lnTo>
                      <a:pt x="93" y="85"/>
                    </a:lnTo>
                    <a:lnTo>
                      <a:pt x="107" y="99"/>
                    </a:lnTo>
                    <a:lnTo>
                      <a:pt x="121" y="113"/>
                    </a:lnTo>
                    <a:lnTo>
                      <a:pt x="142" y="127"/>
                    </a:lnTo>
                    <a:lnTo>
                      <a:pt x="156" y="141"/>
                    </a:lnTo>
                    <a:lnTo>
                      <a:pt x="171" y="149"/>
                    </a:lnTo>
                    <a:lnTo>
                      <a:pt x="185" y="163"/>
                    </a:lnTo>
                    <a:lnTo>
                      <a:pt x="199" y="177"/>
                    </a:lnTo>
                    <a:lnTo>
                      <a:pt x="213" y="184"/>
                    </a:lnTo>
                    <a:lnTo>
                      <a:pt x="234" y="198"/>
                    </a:lnTo>
                    <a:lnTo>
                      <a:pt x="249" y="205"/>
                    </a:lnTo>
                    <a:lnTo>
                      <a:pt x="263" y="212"/>
                    </a:lnTo>
                    <a:lnTo>
                      <a:pt x="277" y="226"/>
                    </a:lnTo>
                    <a:lnTo>
                      <a:pt x="291" y="234"/>
                    </a:lnTo>
                    <a:lnTo>
                      <a:pt x="305" y="241"/>
                    </a:lnTo>
                    <a:lnTo>
                      <a:pt x="326" y="255"/>
                    </a:lnTo>
                    <a:lnTo>
                      <a:pt x="341" y="262"/>
                    </a:lnTo>
                    <a:lnTo>
                      <a:pt x="355" y="269"/>
                    </a:lnTo>
                    <a:lnTo>
                      <a:pt x="369" y="276"/>
                    </a:lnTo>
                    <a:lnTo>
                      <a:pt x="383" y="283"/>
                    </a:lnTo>
                    <a:lnTo>
                      <a:pt x="404" y="290"/>
                    </a:lnTo>
                    <a:lnTo>
                      <a:pt x="419" y="297"/>
                    </a:lnTo>
                    <a:lnTo>
                      <a:pt x="433" y="304"/>
                    </a:lnTo>
                    <a:lnTo>
                      <a:pt x="447" y="312"/>
                    </a:lnTo>
                    <a:lnTo>
                      <a:pt x="461" y="319"/>
                    </a:lnTo>
                    <a:lnTo>
                      <a:pt x="475" y="326"/>
                    </a:lnTo>
                    <a:lnTo>
                      <a:pt x="497" y="333"/>
                    </a:lnTo>
                    <a:lnTo>
                      <a:pt x="511" y="340"/>
                    </a:lnTo>
                    <a:lnTo>
                      <a:pt x="525" y="347"/>
                    </a:lnTo>
                    <a:lnTo>
                      <a:pt x="539" y="347"/>
                    </a:lnTo>
                    <a:lnTo>
                      <a:pt x="553" y="354"/>
                    </a:lnTo>
                    <a:lnTo>
                      <a:pt x="567" y="361"/>
                    </a:lnTo>
                    <a:lnTo>
                      <a:pt x="589" y="368"/>
                    </a:lnTo>
                    <a:lnTo>
                      <a:pt x="603" y="368"/>
                    </a:lnTo>
                    <a:lnTo>
                      <a:pt x="617" y="375"/>
                    </a:lnTo>
                    <a:lnTo>
                      <a:pt x="631" y="382"/>
                    </a:lnTo>
                    <a:lnTo>
                      <a:pt x="645" y="389"/>
                    </a:lnTo>
                    <a:lnTo>
                      <a:pt x="660" y="389"/>
                    </a:lnTo>
                    <a:lnTo>
                      <a:pt x="681" y="397"/>
                    </a:lnTo>
                    <a:lnTo>
                      <a:pt x="695" y="404"/>
                    </a:lnTo>
                    <a:lnTo>
                      <a:pt x="709" y="404"/>
                    </a:lnTo>
                    <a:lnTo>
                      <a:pt x="723" y="411"/>
                    </a:lnTo>
                    <a:lnTo>
                      <a:pt x="738" y="411"/>
                    </a:lnTo>
                    <a:lnTo>
                      <a:pt x="752" y="418"/>
                    </a:lnTo>
                    <a:lnTo>
                      <a:pt x="773" y="418"/>
                    </a:lnTo>
                    <a:lnTo>
                      <a:pt x="787" y="425"/>
                    </a:lnTo>
                    <a:lnTo>
                      <a:pt x="801" y="432"/>
                    </a:lnTo>
                    <a:lnTo>
                      <a:pt x="816" y="432"/>
                    </a:lnTo>
                    <a:lnTo>
                      <a:pt x="830" y="439"/>
                    </a:lnTo>
                    <a:lnTo>
                      <a:pt x="844" y="439"/>
                    </a:lnTo>
                    <a:lnTo>
                      <a:pt x="865" y="446"/>
                    </a:lnTo>
                    <a:lnTo>
                      <a:pt x="879" y="446"/>
                    </a:lnTo>
                    <a:lnTo>
                      <a:pt x="893" y="453"/>
                    </a:lnTo>
                    <a:lnTo>
                      <a:pt x="908" y="453"/>
                    </a:lnTo>
                    <a:lnTo>
                      <a:pt x="922" y="453"/>
                    </a:lnTo>
                    <a:lnTo>
                      <a:pt x="936" y="460"/>
                    </a:lnTo>
                    <a:lnTo>
                      <a:pt x="957" y="460"/>
                    </a:lnTo>
                    <a:lnTo>
                      <a:pt x="971" y="467"/>
                    </a:lnTo>
                    <a:lnTo>
                      <a:pt x="986" y="467"/>
                    </a:lnTo>
                    <a:lnTo>
                      <a:pt x="1000" y="474"/>
                    </a:lnTo>
                    <a:lnTo>
                      <a:pt x="1014" y="474"/>
                    </a:lnTo>
                    <a:lnTo>
                      <a:pt x="1028" y="474"/>
                    </a:lnTo>
                    <a:lnTo>
                      <a:pt x="1049" y="482"/>
                    </a:lnTo>
                    <a:lnTo>
                      <a:pt x="1064" y="482"/>
                    </a:lnTo>
                    <a:lnTo>
                      <a:pt x="1078" y="482"/>
                    </a:lnTo>
                    <a:lnTo>
                      <a:pt x="1092" y="489"/>
                    </a:lnTo>
                    <a:lnTo>
                      <a:pt x="1106" y="489"/>
                    </a:lnTo>
                    <a:lnTo>
                      <a:pt x="1127" y="489"/>
                    </a:lnTo>
                  </a:path>
                </a:pathLst>
              </a:custGeom>
              <a:noFill/>
              <a:ln w="22225">
                <a:solidFill>
                  <a:srgbClr val="99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3" name="Group 101">
              <a:extLst>
                <a:ext uri="{FF2B5EF4-FFF2-40B4-BE49-F238E27FC236}">
                  <a16:creationId xmlns:a16="http://schemas.microsoft.com/office/drawing/2014/main" id="{0851A25D-24F7-C69D-2B55-121953D38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643"/>
              <a:ext cx="3076" cy="872"/>
              <a:chOff x="1252" y="2643"/>
              <a:chExt cx="3076" cy="872"/>
            </a:xfrm>
          </p:grpSpPr>
          <p:sp>
            <p:nvSpPr>
              <p:cNvPr id="118" name="Freeform 102">
                <a:extLst>
                  <a:ext uri="{FF2B5EF4-FFF2-40B4-BE49-F238E27FC236}">
                    <a16:creationId xmlns:a16="http://schemas.microsoft.com/office/drawing/2014/main" id="{BE130C0E-F9B5-2DF5-31BB-14E4E79E1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643"/>
                <a:ext cx="1949" cy="454"/>
              </a:xfrm>
              <a:custGeom>
                <a:avLst/>
                <a:gdLst>
                  <a:gd name="T0" fmla="*/ 29 w 1949"/>
                  <a:gd name="T1" fmla="*/ 454 h 454"/>
                  <a:gd name="T2" fmla="*/ 71 w 1949"/>
                  <a:gd name="T3" fmla="*/ 454 h 454"/>
                  <a:gd name="T4" fmla="*/ 121 w 1949"/>
                  <a:gd name="T5" fmla="*/ 454 h 454"/>
                  <a:gd name="T6" fmla="*/ 163 w 1949"/>
                  <a:gd name="T7" fmla="*/ 447 h 454"/>
                  <a:gd name="T8" fmla="*/ 213 w 1949"/>
                  <a:gd name="T9" fmla="*/ 447 h 454"/>
                  <a:gd name="T10" fmla="*/ 256 w 1949"/>
                  <a:gd name="T11" fmla="*/ 440 h 454"/>
                  <a:gd name="T12" fmla="*/ 305 w 1949"/>
                  <a:gd name="T13" fmla="*/ 432 h 454"/>
                  <a:gd name="T14" fmla="*/ 348 w 1949"/>
                  <a:gd name="T15" fmla="*/ 425 h 454"/>
                  <a:gd name="T16" fmla="*/ 397 w 1949"/>
                  <a:gd name="T17" fmla="*/ 418 h 454"/>
                  <a:gd name="T18" fmla="*/ 440 w 1949"/>
                  <a:gd name="T19" fmla="*/ 411 h 454"/>
                  <a:gd name="T20" fmla="*/ 489 w 1949"/>
                  <a:gd name="T21" fmla="*/ 397 h 454"/>
                  <a:gd name="T22" fmla="*/ 532 w 1949"/>
                  <a:gd name="T23" fmla="*/ 390 h 454"/>
                  <a:gd name="T24" fmla="*/ 582 w 1949"/>
                  <a:gd name="T25" fmla="*/ 376 h 454"/>
                  <a:gd name="T26" fmla="*/ 624 w 1949"/>
                  <a:gd name="T27" fmla="*/ 362 h 454"/>
                  <a:gd name="T28" fmla="*/ 674 w 1949"/>
                  <a:gd name="T29" fmla="*/ 347 h 454"/>
                  <a:gd name="T30" fmla="*/ 716 w 1949"/>
                  <a:gd name="T31" fmla="*/ 326 h 454"/>
                  <a:gd name="T32" fmla="*/ 766 w 1949"/>
                  <a:gd name="T33" fmla="*/ 312 h 454"/>
                  <a:gd name="T34" fmla="*/ 815 w 1949"/>
                  <a:gd name="T35" fmla="*/ 291 h 454"/>
                  <a:gd name="T36" fmla="*/ 858 w 1949"/>
                  <a:gd name="T37" fmla="*/ 269 h 454"/>
                  <a:gd name="T38" fmla="*/ 908 w 1949"/>
                  <a:gd name="T39" fmla="*/ 241 h 454"/>
                  <a:gd name="T40" fmla="*/ 950 w 1949"/>
                  <a:gd name="T41" fmla="*/ 220 h 454"/>
                  <a:gd name="T42" fmla="*/ 1000 w 1949"/>
                  <a:gd name="T43" fmla="*/ 192 h 454"/>
                  <a:gd name="T44" fmla="*/ 1042 w 1949"/>
                  <a:gd name="T45" fmla="*/ 163 h 454"/>
                  <a:gd name="T46" fmla="*/ 1092 w 1949"/>
                  <a:gd name="T47" fmla="*/ 135 h 454"/>
                  <a:gd name="T48" fmla="*/ 1134 w 1949"/>
                  <a:gd name="T49" fmla="*/ 106 h 454"/>
                  <a:gd name="T50" fmla="*/ 1184 w 1949"/>
                  <a:gd name="T51" fmla="*/ 78 h 454"/>
                  <a:gd name="T52" fmla="*/ 1227 w 1949"/>
                  <a:gd name="T53" fmla="*/ 50 h 454"/>
                  <a:gd name="T54" fmla="*/ 1276 w 1949"/>
                  <a:gd name="T55" fmla="*/ 29 h 454"/>
                  <a:gd name="T56" fmla="*/ 1319 w 1949"/>
                  <a:gd name="T57" fmla="*/ 14 h 454"/>
                  <a:gd name="T58" fmla="*/ 1368 w 1949"/>
                  <a:gd name="T59" fmla="*/ 0 h 454"/>
                  <a:gd name="T60" fmla="*/ 1411 w 1949"/>
                  <a:gd name="T61" fmla="*/ 0 h 454"/>
                  <a:gd name="T62" fmla="*/ 1460 w 1949"/>
                  <a:gd name="T63" fmla="*/ 14 h 454"/>
                  <a:gd name="T64" fmla="*/ 1503 w 1949"/>
                  <a:gd name="T65" fmla="*/ 29 h 454"/>
                  <a:gd name="T66" fmla="*/ 1553 w 1949"/>
                  <a:gd name="T67" fmla="*/ 57 h 454"/>
                  <a:gd name="T68" fmla="*/ 1595 w 1949"/>
                  <a:gd name="T69" fmla="*/ 99 h 454"/>
                  <a:gd name="T70" fmla="*/ 1645 w 1949"/>
                  <a:gd name="T71" fmla="*/ 142 h 454"/>
                  <a:gd name="T72" fmla="*/ 1687 w 1949"/>
                  <a:gd name="T73" fmla="*/ 184 h 454"/>
                  <a:gd name="T74" fmla="*/ 1737 w 1949"/>
                  <a:gd name="T75" fmla="*/ 234 h 454"/>
                  <a:gd name="T76" fmla="*/ 1779 w 1949"/>
                  <a:gd name="T77" fmla="*/ 277 h 454"/>
                  <a:gd name="T78" fmla="*/ 1829 w 1949"/>
                  <a:gd name="T79" fmla="*/ 326 h 454"/>
                  <a:gd name="T80" fmla="*/ 1871 w 1949"/>
                  <a:gd name="T81" fmla="*/ 369 h 454"/>
                  <a:gd name="T82" fmla="*/ 1921 w 1949"/>
                  <a:gd name="T83" fmla="*/ 411 h 45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454">
                    <a:moveTo>
                      <a:pt x="0" y="454"/>
                    </a:moveTo>
                    <a:lnTo>
                      <a:pt x="15" y="454"/>
                    </a:lnTo>
                    <a:lnTo>
                      <a:pt x="29" y="454"/>
                    </a:lnTo>
                    <a:lnTo>
                      <a:pt x="43" y="454"/>
                    </a:lnTo>
                    <a:lnTo>
                      <a:pt x="57" y="454"/>
                    </a:lnTo>
                    <a:lnTo>
                      <a:pt x="71" y="454"/>
                    </a:lnTo>
                    <a:lnTo>
                      <a:pt x="93" y="454"/>
                    </a:lnTo>
                    <a:lnTo>
                      <a:pt x="107" y="454"/>
                    </a:lnTo>
                    <a:lnTo>
                      <a:pt x="121" y="454"/>
                    </a:lnTo>
                    <a:lnTo>
                      <a:pt x="135" y="447"/>
                    </a:lnTo>
                    <a:lnTo>
                      <a:pt x="149" y="447"/>
                    </a:lnTo>
                    <a:lnTo>
                      <a:pt x="163" y="447"/>
                    </a:lnTo>
                    <a:lnTo>
                      <a:pt x="185" y="447"/>
                    </a:lnTo>
                    <a:lnTo>
                      <a:pt x="199" y="447"/>
                    </a:lnTo>
                    <a:lnTo>
                      <a:pt x="213" y="447"/>
                    </a:lnTo>
                    <a:lnTo>
                      <a:pt x="227" y="440"/>
                    </a:lnTo>
                    <a:lnTo>
                      <a:pt x="241" y="440"/>
                    </a:lnTo>
                    <a:lnTo>
                      <a:pt x="256" y="440"/>
                    </a:lnTo>
                    <a:lnTo>
                      <a:pt x="277" y="440"/>
                    </a:lnTo>
                    <a:lnTo>
                      <a:pt x="291" y="432"/>
                    </a:lnTo>
                    <a:lnTo>
                      <a:pt x="305" y="432"/>
                    </a:lnTo>
                    <a:lnTo>
                      <a:pt x="319" y="432"/>
                    </a:lnTo>
                    <a:lnTo>
                      <a:pt x="334" y="432"/>
                    </a:lnTo>
                    <a:lnTo>
                      <a:pt x="348" y="425"/>
                    </a:lnTo>
                    <a:lnTo>
                      <a:pt x="369" y="425"/>
                    </a:lnTo>
                    <a:lnTo>
                      <a:pt x="383" y="418"/>
                    </a:lnTo>
                    <a:lnTo>
                      <a:pt x="397" y="418"/>
                    </a:lnTo>
                    <a:lnTo>
                      <a:pt x="411" y="418"/>
                    </a:lnTo>
                    <a:lnTo>
                      <a:pt x="426" y="411"/>
                    </a:lnTo>
                    <a:lnTo>
                      <a:pt x="440" y="411"/>
                    </a:lnTo>
                    <a:lnTo>
                      <a:pt x="461" y="404"/>
                    </a:lnTo>
                    <a:lnTo>
                      <a:pt x="475" y="404"/>
                    </a:lnTo>
                    <a:lnTo>
                      <a:pt x="489" y="397"/>
                    </a:lnTo>
                    <a:lnTo>
                      <a:pt x="504" y="397"/>
                    </a:lnTo>
                    <a:lnTo>
                      <a:pt x="518" y="390"/>
                    </a:lnTo>
                    <a:lnTo>
                      <a:pt x="532" y="390"/>
                    </a:lnTo>
                    <a:lnTo>
                      <a:pt x="553" y="383"/>
                    </a:lnTo>
                    <a:lnTo>
                      <a:pt x="567" y="383"/>
                    </a:lnTo>
                    <a:lnTo>
                      <a:pt x="582" y="376"/>
                    </a:lnTo>
                    <a:lnTo>
                      <a:pt x="596" y="369"/>
                    </a:lnTo>
                    <a:lnTo>
                      <a:pt x="610" y="369"/>
                    </a:lnTo>
                    <a:lnTo>
                      <a:pt x="624" y="362"/>
                    </a:lnTo>
                    <a:lnTo>
                      <a:pt x="645" y="354"/>
                    </a:lnTo>
                    <a:lnTo>
                      <a:pt x="660" y="347"/>
                    </a:lnTo>
                    <a:lnTo>
                      <a:pt x="674" y="347"/>
                    </a:lnTo>
                    <a:lnTo>
                      <a:pt x="688" y="340"/>
                    </a:lnTo>
                    <a:lnTo>
                      <a:pt x="702" y="333"/>
                    </a:lnTo>
                    <a:lnTo>
                      <a:pt x="716" y="326"/>
                    </a:lnTo>
                    <a:lnTo>
                      <a:pt x="737" y="319"/>
                    </a:lnTo>
                    <a:lnTo>
                      <a:pt x="752" y="319"/>
                    </a:lnTo>
                    <a:lnTo>
                      <a:pt x="766" y="312"/>
                    </a:lnTo>
                    <a:lnTo>
                      <a:pt x="780" y="305"/>
                    </a:lnTo>
                    <a:lnTo>
                      <a:pt x="794" y="298"/>
                    </a:lnTo>
                    <a:lnTo>
                      <a:pt x="815" y="291"/>
                    </a:lnTo>
                    <a:lnTo>
                      <a:pt x="830" y="284"/>
                    </a:lnTo>
                    <a:lnTo>
                      <a:pt x="844" y="277"/>
                    </a:lnTo>
                    <a:lnTo>
                      <a:pt x="858" y="269"/>
                    </a:lnTo>
                    <a:lnTo>
                      <a:pt x="872" y="262"/>
                    </a:lnTo>
                    <a:lnTo>
                      <a:pt x="886" y="248"/>
                    </a:lnTo>
                    <a:lnTo>
                      <a:pt x="908" y="241"/>
                    </a:lnTo>
                    <a:lnTo>
                      <a:pt x="922" y="234"/>
                    </a:lnTo>
                    <a:lnTo>
                      <a:pt x="936" y="227"/>
                    </a:lnTo>
                    <a:lnTo>
                      <a:pt x="950" y="220"/>
                    </a:lnTo>
                    <a:lnTo>
                      <a:pt x="964" y="206"/>
                    </a:lnTo>
                    <a:lnTo>
                      <a:pt x="978" y="199"/>
                    </a:lnTo>
                    <a:lnTo>
                      <a:pt x="1000" y="192"/>
                    </a:lnTo>
                    <a:lnTo>
                      <a:pt x="1014" y="177"/>
                    </a:lnTo>
                    <a:lnTo>
                      <a:pt x="1028" y="170"/>
                    </a:lnTo>
                    <a:lnTo>
                      <a:pt x="1042" y="163"/>
                    </a:lnTo>
                    <a:lnTo>
                      <a:pt x="1056" y="149"/>
                    </a:lnTo>
                    <a:lnTo>
                      <a:pt x="1071" y="142"/>
                    </a:lnTo>
                    <a:lnTo>
                      <a:pt x="1092" y="135"/>
                    </a:lnTo>
                    <a:lnTo>
                      <a:pt x="1106" y="121"/>
                    </a:lnTo>
                    <a:lnTo>
                      <a:pt x="1120" y="114"/>
                    </a:lnTo>
                    <a:lnTo>
                      <a:pt x="1134" y="106"/>
                    </a:lnTo>
                    <a:lnTo>
                      <a:pt x="1149" y="92"/>
                    </a:lnTo>
                    <a:lnTo>
                      <a:pt x="1163" y="85"/>
                    </a:lnTo>
                    <a:lnTo>
                      <a:pt x="1184" y="78"/>
                    </a:lnTo>
                    <a:lnTo>
                      <a:pt x="1198" y="64"/>
                    </a:lnTo>
                    <a:lnTo>
                      <a:pt x="1212" y="57"/>
                    </a:lnTo>
                    <a:lnTo>
                      <a:pt x="1227" y="50"/>
                    </a:lnTo>
                    <a:lnTo>
                      <a:pt x="1241" y="43"/>
                    </a:lnTo>
                    <a:lnTo>
                      <a:pt x="1255" y="36"/>
                    </a:lnTo>
                    <a:lnTo>
                      <a:pt x="1276" y="29"/>
                    </a:lnTo>
                    <a:lnTo>
                      <a:pt x="1290" y="21"/>
                    </a:lnTo>
                    <a:lnTo>
                      <a:pt x="1304" y="14"/>
                    </a:lnTo>
                    <a:lnTo>
                      <a:pt x="1319" y="14"/>
                    </a:lnTo>
                    <a:lnTo>
                      <a:pt x="1333" y="7"/>
                    </a:lnTo>
                    <a:lnTo>
                      <a:pt x="1347" y="7"/>
                    </a:lnTo>
                    <a:lnTo>
                      <a:pt x="1368" y="0"/>
                    </a:lnTo>
                    <a:lnTo>
                      <a:pt x="1382" y="0"/>
                    </a:lnTo>
                    <a:lnTo>
                      <a:pt x="1397" y="0"/>
                    </a:lnTo>
                    <a:lnTo>
                      <a:pt x="1411" y="0"/>
                    </a:lnTo>
                    <a:lnTo>
                      <a:pt x="1425" y="7"/>
                    </a:lnTo>
                    <a:lnTo>
                      <a:pt x="1439" y="7"/>
                    </a:lnTo>
                    <a:lnTo>
                      <a:pt x="1460" y="14"/>
                    </a:lnTo>
                    <a:lnTo>
                      <a:pt x="1475" y="14"/>
                    </a:lnTo>
                    <a:lnTo>
                      <a:pt x="1489" y="21"/>
                    </a:lnTo>
                    <a:lnTo>
                      <a:pt x="1503" y="29"/>
                    </a:lnTo>
                    <a:lnTo>
                      <a:pt x="1517" y="43"/>
                    </a:lnTo>
                    <a:lnTo>
                      <a:pt x="1538" y="50"/>
                    </a:lnTo>
                    <a:lnTo>
                      <a:pt x="1553" y="57"/>
                    </a:lnTo>
                    <a:lnTo>
                      <a:pt x="1567" y="71"/>
                    </a:lnTo>
                    <a:lnTo>
                      <a:pt x="1581" y="85"/>
                    </a:lnTo>
                    <a:lnTo>
                      <a:pt x="1595" y="99"/>
                    </a:lnTo>
                    <a:lnTo>
                      <a:pt x="1609" y="114"/>
                    </a:lnTo>
                    <a:lnTo>
                      <a:pt x="1631" y="128"/>
                    </a:lnTo>
                    <a:lnTo>
                      <a:pt x="1645" y="142"/>
                    </a:lnTo>
                    <a:lnTo>
                      <a:pt x="1659" y="156"/>
                    </a:lnTo>
                    <a:lnTo>
                      <a:pt x="1673" y="170"/>
                    </a:lnTo>
                    <a:lnTo>
                      <a:pt x="1687" y="184"/>
                    </a:lnTo>
                    <a:lnTo>
                      <a:pt x="1701" y="199"/>
                    </a:lnTo>
                    <a:lnTo>
                      <a:pt x="1723" y="220"/>
                    </a:lnTo>
                    <a:lnTo>
                      <a:pt x="1737" y="234"/>
                    </a:lnTo>
                    <a:lnTo>
                      <a:pt x="1751" y="248"/>
                    </a:lnTo>
                    <a:lnTo>
                      <a:pt x="1765" y="262"/>
                    </a:lnTo>
                    <a:lnTo>
                      <a:pt x="1779" y="277"/>
                    </a:lnTo>
                    <a:lnTo>
                      <a:pt x="1794" y="298"/>
                    </a:lnTo>
                    <a:lnTo>
                      <a:pt x="1815" y="312"/>
                    </a:lnTo>
                    <a:lnTo>
                      <a:pt x="1829" y="326"/>
                    </a:lnTo>
                    <a:lnTo>
                      <a:pt x="1843" y="340"/>
                    </a:lnTo>
                    <a:lnTo>
                      <a:pt x="1857" y="354"/>
                    </a:lnTo>
                    <a:lnTo>
                      <a:pt x="1871" y="369"/>
                    </a:lnTo>
                    <a:lnTo>
                      <a:pt x="1886" y="383"/>
                    </a:lnTo>
                    <a:lnTo>
                      <a:pt x="1907" y="397"/>
                    </a:lnTo>
                    <a:lnTo>
                      <a:pt x="1921" y="411"/>
                    </a:lnTo>
                    <a:lnTo>
                      <a:pt x="1935" y="425"/>
                    </a:lnTo>
                    <a:lnTo>
                      <a:pt x="1949" y="440"/>
                    </a:lnTo>
                  </a:path>
                </a:pathLst>
              </a:custGeom>
              <a:noFill/>
              <a:ln w="222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Freeform 103">
                <a:extLst>
                  <a:ext uri="{FF2B5EF4-FFF2-40B4-BE49-F238E27FC236}">
                    <a16:creationId xmlns:a16="http://schemas.microsoft.com/office/drawing/2014/main" id="{5B3A7641-0F9F-A094-5550-0633A5310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083"/>
                <a:ext cx="1127" cy="432"/>
              </a:xfrm>
              <a:custGeom>
                <a:avLst/>
                <a:gdLst>
                  <a:gd name="T0" fmla="*/ 15 w 1127"/>
                  <a:gd name="T1" fmla="*/ 14 h 432"/>
                  <a:gd name="T2" fmla="*/ 50 w 1127"/>
                  <a:gd name="T3" fmla="*/ 35 h 432"/>
                  <a:gd name="T4" fmla="*/ 78 w 1127"/>
                  <a:gd name="T5" fmla="*/ 63 h 432"/>
                  <a:gd name="T6" fmla="*/ 107 w 1127"/>
                  <a:gd name="T7" fmla="*/ 85 h 432"/>
                  <a:gd name="T8" fmla="*/ 142 w 1127"/>
                  <a:gd name="T9" fmla="*/ 106 h 432"/>
                  <a:gd name="T10" fmla="*/ 171 w 1127"/>
                  <a:gd name="T11" fmla="*/ 127 h 432"/>
                  <a:gd name="T12" fmla="*/ 199 w 1127"/>
                  <a:gd name="T13" fmla="*/ 141 h 432"/>
                  <a:gd name="T14" fmla="*/ 234 w 1127"/>
                  <a:gd name="T15" fmla="*/ 162 h 432"/>
                  <a:gd name="T16" fmla="*/ 263 w 1127"/>
                  <a:gd name="T17" fmla="*/ 177 h 432"/>
                  <a:gd name="T18" fmla="*/ 291 w 1127"/>
                  <a:gd name="T19" fmla="*/ 198 h 432"/>
                  <a:gd name="T20" fmla="*/ 326 w 1127"/>
                  <a:gd name="T21" fmla="*/ 212 h 432"/>
                  <a:gd name="T22" fmla="*/ 355 w 1127"/>
                  <a:gd name="T23" fmla="*/ 226 h 432"/>
                  <a:gd name="T24" fmla="*/ 383 w 1127"/>
                  <a:gd name="T25" fmla="*/ 240 h 432"/>
                  <a:gd name="T26" fmla="*/ 419 w 1127"/>
                  <a:gd name="T27" fmla="*/ 255 h 432"/>
                  <a:gd name="T28" fmla="*/ 447 w 1127"/>
                  <a:gd name="T29" fmla="*/ 269 h 432"/>
                  <a:gd name="T30" fmla="*/ 475 w 1127"/>
                  <a:gd name="T31" fmla="*/ 276 h 432"/>
                  <a:gd name="T32" fmla="*/ 511 w 1127"/>
                  <a:gd name="T33" fmla="*/ 290 h 432"/>
                  <a:gd name="T34" fmla="*/ 539 w 1127"/>
                  <a:gd name="T35" fmla="*/ 297 h 432"/>
                  <a:gd name="T36" fmla="*/ 567 w 1127"/>
                  <a:gd name="T37" fmla="*/ 311 h 432"/>
                  <a:gd name="T38" fmla="*/ 603 w 1127"/>
                  <a:gd name="T39" fmla="*/ 318 h 432"/>
                  <a:gd name="T40" fmla="*/ 631 w 1127"/>
                  <a:gd name="T41" fmla="*/ 325 h 432"/>
                  <a:gd name="T42" fmla="*/ 660 w 1127"/>
                  <a:gd name="T43" fmla="*/ 340 h 432"/>
                  <a:gd name="T44" fmla="*/ 695 w 1127"/>
                  <a:gd name="T45" fmla="*/ 347 h 432"/>
                  <a:gd name="T46" fmla="*/ 723 w 1127"/>
                  <a:gd name="T47" fmla="*/ 354 h 432"/>
                  <a:gd name="T48" fmla="*/ 752 w 1127"/>
                  <a:gd name="T49" fmla="*/ 361 h 432"/>
                  <a:gd name="T50" fmla="*/ 787 w 1127"/>
                  <a:gd name="T51" fmla="*/ 368 h 432"/>
                  <a:gd name="T52" fmla="*/ 816 w 1127"/>
                  <a:gd name="T53" fmla="*/ 375 h 432"/>
                  <a:gd name="T54" fmla="*/ 844 w 1127"/>
                  <a:gd name="T55" fmla="*/ 382 h 432"/>
                  <a:gd name="T56" fmla="*/ 879 w 1127"/>
                  <a:gd name="T57" fmla="*/ 389 h 432"/>
                  <a:gd name="T58" fmla="*/ 908 w 1127"/>
                  <a:gd name="T59" fmla="*/ 396 h 432"/>
                  <a:gd name="T60" fmla="*/ 936 w 1127"/>
                  <a:gd name="T61" fmla="*/ 403 h 432"/>
                  <a:gd name="T62" fmla="*/ 971 w 1127"/>
                  <a:gd name="T63" fmla="*/ 403 h 432"/>
                  <a:gd name="T64" fmla="*/ 1000 w 1127"/>
                  <a:gd name="T65" fmla="*/ 410 h 432"/>
                  <a:gd name="T66" fmla="*/ 1028 w 1127"/>
                  <a:gd name="T67" fmla="*/ 418 h 432"/>
                  <a:gd name="T68" fmla="*/ 1064 w 1127"/>
                  <a:gd name="T69" fmla="*/ 425 h 432"/>
                  <a:gd name="T70" fmla="*/ 1092 w 1127"/>
                  <a:gd name="T71" fmla="*/ 425 h 432"/>
                  <a:gd name="T72" fmla="*/ 1127 w 1127"/>
                  <a:gd name="T73" fmla="*/ 432 h 43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432">
                    <a:moveTo>
                      <a:pt x="0" y="0"/>
                    </a:moveTo>
                    <a:lnTo>
                      <a:pt x="15" y="14"/>
                    </a:lnTo>
                    <a:lnTo>
                      <a:pt x="29" y="28"/>
                    </a:lnTo>
                    <a:lnTo>
                      <a:pt x="50" y="35"/>
                    </a:lnTo>
                    <a:lnTo>
                      <a:pt x="64" y="49"/>
                    </a:lnTo>
                    <a:lnTo>
                      <a:pt x="78" y="63"/>
                    </a:lnTo>
                    <a:lnTo>
                      <a:pt x="93" y="70"/>
                    </a:lnTo>
                    <a:lnTo>
                      <a:pt x="107" y="85"/>
                    </a:lnTo>
                    <a:lnTo>
                      <a:pt x="121" y="92"/>
                    </a:lnTo>
                    <a:lnTo>
                      <a:pt x="142" y="106"/>
                    </a:lnTo>
                    <a:lnTo>
                      <a:pt x="156" y="113"/>
                    </a:lnTo>
                    <a:lnTo>
                      <a:pt x="171" y="127"/>
                    </a:lnTo>
                    <a:lnTo>
                      <a:pt x="185" y="134"/>
                    </a:lnTo>
                    <a:lnTo>
                      <a:pt x="199" y="141"/>
                    </a:lnTo>
                    <a:lnTo>
                      <a:pt x="213" y="155"/>
                    </a:lnTo>
                    <a:lnTo>
                      <a:pt x="234" y="162"/>
                    </a:lnTo>
                    <a:lnTo>
                      <a:pt x="249" y="170"/>
                    </a:lnTo>
                    <a:lnTo>
                      <a:pt x="263" y="177"/>
                    </a:lnTo>
                    <a:lnTo>
                      <a:pt x="277" y="191"/>
                    </a:lnTo>
                    <a:lnTo>
                      <a:pt x="291" y="198"/>
                    </a:lnTo>
                    <a:lnTo>
                      <a:pt x="305" y="205"/>
                    </a:lnTo>
                    <a:lnTo>
                      <a:pt x="326" y="212"/>
                    </a:lnTo>
                    <a:lnTo>
                      <a:pt x="341" y="219"/>
                    </a:lnTo>
                    <a:lnTo>
                      <a:pt x="355" y="226"/>
                    </a:lnTo>
                    <a:lnTo>
                      <a:pt x="369" y="233"/>
                    </a:lnTo>
                    <a:lnTo>
                      <a:pt x="383" y="240"/>
                    </a:lnTo>
                    <a:lnTo>
                      <a:pt x="404" y="248"/>
                    </a:lnTo>
                    <a:lnTo>
                      <a:pt x="419" y="255"/>
                    </a:lnTo>
                    <a:lnTo>
                      <a:pt x="433" y="262"/>
                    </a:lnTo>
                    <a:lnTo>
                      <a:pt x="447" y="269"/>
                    </a:lnTo>
                    <a:lnTo>
                      <a:pt x="461" y="269"/>
                    </a:lnTo>
                    <a:lnTo>
                      <a:pt x="475" y="276"/>
                    </a:lnTo>
                    <a:lnTo>
                      <a:pt x="497" y="283"/>
                    </a:lnTo>
                    <a:lnTo>
                      <a:pt x="511" y="290"/>
                    </a:lnTo>
                    <a:lnTo>
                      <a:pt x="525" y="297"/>
                    </a:lnTo>
                    <a:lnTo>
                      <a:pt x="539" y="297"/>
                    </a:lnTo>
                    <a:lnTo>
                      <a:pt x="553" y="304"/>
                    </a:lnTo>
                    <a:lnTo>
                      <a:pt x="567" y="311"/>
                    </a:lnTo>
                    <a:lnTo>
                      <a:pt x="589" y="311"/>
                    </a:lnTo>
                    <a:lnTo>
                      <a:pt x="603" y="318"/>
                    </a:lnTo>
                    <a:lnTo>
                      <a:pt x="617" y="325"/>
                    </a:lnTo>
                    <a:lnTo>
                      <a:pt x="631" y="325"/>
                    </a:lnTo>
                    <a:lnTo>
                      <a:pt x="645" y="333"/>
                    </a:lnTo>
                    <a:lnTo>
                      <a:pt x="660" y="340"/>
                    </a:lnTo>
                    <a:lnTo>
                      <a:pt x="681" y="340"/>
                    </a:lnTo>
                    <a:lnTo>
                      <a:pt x="695" y="347"/>
                    </a:lnTo>
                    <a:lnTo>
                      <a:pt x="709" y="347"/>
                    </a:lnTo>
                    <a:lnTo>
                      <a:pt x="723" y="354"/>
                    </a:lnTo>
                    <a:lnTo>
                      <a:pt x="738" y="361"/>
                    </a:lnTo>
                    <a:lnTo>
                      <a:pt x="752" y="361"/>
                    </a:lnTo>
                    <a:lnTo>
                      <a:pt x="773" y="368"/>
                    </a:lnTo>
                    <a:lnTo>
                      <a:pt x="787" y="368"/>
                    </a:lnTo>
                    <a:lnTo>
                      <a:pt x="801" y="375"/>
                    </a:lnTo>
                    <a:lnTo>
                      <a:pt x="816" y="375"/>
                    </a:lnTo>
                    <a:lnTo>
                      <a:pt x="830" y="382"/>
                    </a:lnTo>
                    <a:lnTo>
                      <a:pt x="844" y="382"/>
                    </a:lnTo>
                    <a:lnTo>
                      <a:pt x="865" y="389"/>
                    </a:lnTo>
                    <a:lnTo>
                      <a:pt x="879" y="389"/>
                    </a:lnTo>
                    <a:lnTo>
                      <a:pt x="893" y="389"/>
                    </a:lnTo>
                    <a:lnTo>
                      <a:pt x="908" y="396"/>
                    </a:lnTo>
                    <a:lnTo>
                      <a:pt x="922" y="396"/>
                    </a:lnTo>
                    <a:lnTo>
                      <a:pt x="936" y="403"/>
                    </a:lnTo>
                    <a:lnTo>
                      <a:pt x="957" y="403"/>
                    </a:lnTo>
                    <a:lnTo>
                      <a:pt x="971" y="403"/>
                    </a:lnTo>
                    <a:lnTo>
                      <a:pt x="986" y="410"/>
                    </a:lnTo>
                    <a:lnTo>
                      <a:pt x="1000" y="410"/>
                    </a:lnTo>
                    <a:lnTo>
                      <a:pt x="1014" y="418"/>
                    </a:lnTo>
                    <a:lnTo>
                      <a:pt x="1028" y="418"/>
                    </a:lnTo>
                    <a:lnTo>
                      <a:pt x="1049" y="418"/>
                    </a:lnTo>
                    <a:lnTo>
                      <a:pt x="1064" y="425"/>
                    </a:lnTo>
                    <a:lnTo>
                      <a:pt x="1078" y="425"/>
                    </a:lnTo>
                    <a:lnTo>
                      <a:pt x="1092" y="425"/>
                    </a:lnTo>
                    <a:lnTo>
                      <a:pt x="1106" y="432"/>
                    </a:lnTo>
                    <a:lnTo>
                      <a:pt x="1127" y="432"/>
                    </a:lnTo>
                  </a:path>
                </a:pathLst>
              </a:custGeom>
              <a:noFill/>
              <a:ln w="22225">
                <a:solidFill>
                  <a:srgbClr val="8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4" name="Group 104">
              <a:extLst>
                <a:ext uri="{FF2B5EF4-FFF2-40B4-BE49-F238E27FC236}">
                  <a16:creationId xmlns:a16="http://schemas.microsoft.com/office/drawing/2014/main" id="{E8EDC482-A48C-CAF3-E70A-A3C062AFD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2877"/>
              <a:ext cx="3076" cy="645"/>
              <a:chOff x="1252" y="2877"/>
              <a:chExt cx="3076" cy="645"/>
            </a:xfrm>
          </p:grpSpPr>
          <p:sp>
            <p:nvSpPr>
              <p:cNvPr id="116" name="Freeform 105">
                <a:extLst>
                  <a:ext uri="{FF2B5EF4-FFF2-40B4-BE49-F238E27FC236}">
                    <a16:creationId xmlns:a16="http://schemas.microsoft.com/office/drawing/2014/main" id="{977F0C3A-CF27-3A9E-E641-B879867B3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2877"/>
                <a:ext cx="1949" cy="312"/>
              </a:xfrm>
              <a:custGeom>
                <a:avLst/>
                <a:gdLst>
                  <a:gd name="T0" fmla="*/ 29 w 1949"/>
                  <a:gd name="T1" fmla="*/ 220 h 312"/>
                  <a:gd name="T2" fmla="*/ 71 w 1949"/>
                  <a:gd name="T3" fmla="*/ 220 h 312"/>
                  <a:gd name="T4" fmla="*/ 121 w 1949"/>
                  <a:gd name="T5" fmla="*/ 220 h 312"/>
                  <a:gd name="T6" fmla="*/ 163 w 1949"/>
                  <a:gd name="T7" fmla="*/ 213 h 312"/>
                  <a:gd name="T8" fmla="*/ 213 w 1949"/>
                  <a:gd name="T9" fmla="*/ 213 h 312"/>
                  <a:gd name="T10" fmla="*/ 256 w 1949"/>
                  <a:gd name="T11" fmla="*/ 206 h 312"/>
                  <a:gd name="T12" fmla="*/ 305 w 1949"/>
                  <a:gd name="T13" fmla="*/ 206 h 312"/>
                  <a:gd name="T14" fmla="*/ 348 w 1949"/>
                  <a:gd name="T15" fmla="*/ 198 h 312"/>
                  <a:gd name="T16" fmla="*/ 397 w 1949"/>
                  <a:gd name="T17" fmla="*/ 191 h 312"/>
                  <a:gd name="T18" fmla="*/ 440 w 1949"/>
                  <a:gd name="T19" fmla="*/ 184 h 312"/>
                  <a:gd name="T20" fmla="*/ 489 w 1949"/>
                  <a:gd name="T21" fmla="*/ 177 h 312"/>
                  <a:gd name="T22" fmla="*/ 532 w 1949"/>
                  <a:gd name="T23" fmla="*/ 170 h 312"/>
                  <a:gd name="T24" fmla="*/ 582 w 1949"/>
                  <a:gd name="T25" fmla="*/ 156 h 312"/>
                  <a:gd name="T26" fmla="*/ 624 w 1949"/>
                  <a:gd name="T27" fmla="*/ 149 h 312"/>
                  <a:gd name="T28" fmla="*/ 674 w 1949"/>
                  <a:gd name="T29" fmla="*/ 135 h 312"/>
                  <a:gd name="T30" fmla="*/ 716 w 1949"/>
                  <a:gd name="T31" fmla="*/ 128 h 312"/>
                  <a:gd name="T32" fmla="*/ 766 w 1949"/>
                  <a:gd name="T33" fmla="*/ 113 h 312"/>
                  <a:gd name="T34" fmla="*/ 815 w 1949"/>
                  <a:gd name="T35" fmla="*/ 99 h 312"/>
                  <a:gd name="T36" fmla="*/ 858 w 1949"/>
                  <a:gd name="T37" fmla="*/ 85 h 312"/>
                  <a:gd name="T38" fmla="*/ 908 w 1949"/>
                  <a:gd name="T39" fmla="*/ 71 h 312"/>
                  <a:gd name="T40" fmla="*/ 950 w 1949"/>
                  <a:gd name="T41" fmla="*/ 57 h 312"/>
                  <a:gd name="T42" fmla="*/ 1000 w 1949"/>
                  <a:gd name="T43" fmla="*/ 43 h 312"/>
                  <a:gd name="T44" fmla="*/ 1042 w 1949"/>
                  <a:gd name="T45" fmla="*/ 35 h 312"/>
                  <a:gd name="T46" fmla="*/ 1092 w 1949"/>
                  <a:gd name="T47" fmla="*/ 21 h 312"/>
                  <a:gd name="T48" fmla="*/ 1134 w 1949"/>
                  <a:gd name="T49" fmla="*/ 14 h 312"/>
                  <a:gd name="T50" fmla="*/ 1184 w 1949"/>
                  <a:gd name="T51" fmla="*/ 7 h 312"/>
                  <a:gd name="T52" fmla="*/ 1227 w 1949"/>
                  <a:gd name="T53" fmla="*/ 0 h 312"/>
                  <a:gd name="T54" fmla="*/ 1276 w 1949"/>
                  <a:gd name="T55" fmla="*/ 0 h 312"/>
                  <a:gd name="T56" fmla="*/ 1319 w 1949"/>
                  <a:gd name="T57" fmla="*/ 0 h 312"/>
                  <a:gd name="T58" fmla="*/ 1368 w 1949"/>
                  <a:gd name="T59" fmla="*/ 7 h 312"/>
                  <a:gd name="T60" fmla="*/ 1411 w 1949"/>
                  <a:gd name="T61" fmla="*/ 21 h 312"/>
                  <a:gd name="T62" fmla="*/ 1460 w 1949"/>
                  <a:gd name="T63" fmla="*/ 35 h 312"/>
                  <a:gd name="T64" fmla="*/ 1503 w 1949"/>
                  <a:gd name="T65" fmla="*/ 57 h 312"/>
                  <a:gd name="T66" fmla="*/ 1553 w 1949"/>
                  <a:gd name="T67" fmla="*/ 78 h 312"/>
                  <a:gd name="T68" fmla="*/ 1595 w 1949"/>
                  <a:gd name="T69" fmla="*/ 99 h 312"/>
                  <a:gd name="T70" fmla="*/ 1645 w 1949"/>
                  <a:gd name="T71" fmla="*/ 128 h 312"/>
                  <a:gd name="T72" fmla="*/ 1687 w 1949"/>
                  <a:gd name="T73" fmla="*/ 156 h 312"/>
                  <a:gd name="T74" fmla="*/ 1737 w 1949"/>
                  <a:gd name="T75" fmla="*/ 184 h 312"/>
                  <a:gd name="T76" fmla="*/ 1779 w 1949"/>
                  <a:gd name="T77" fmla="*/ 213 h 312"/>
                  <a:gd name="T78" fmla="*/ 1829 w 1949"/>
                  <a:gd name="T79" fmla="*/ 241 h 312"/>
                  <a:gd name="T80" fmla="*/ 1871 w 1949"/>
                  <a:gd name="T81" fmla="*/ 269 h 312"/>
                  <a:gd name="T82" fmla="*/ 1921 w 1949"/>
                  <a:gd name="T83" fmla="*/ 298 h 31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312">
                    <a:moveTo>
                      <a:pt x="0" y="220"/>
                    </a:moveTo>
                    <a:lnTo>
                      <a:pt x="15" y="220"/>
                    </a:lnTo>
                    <a:lnTo>
                      <a:pt x="29" y="220"/>
                    </a:lnTo>
                    <a:lnTo>
                      <a:pt x="43" y="220"/>
                    </a:lnTo>
                    <a:lnTo>
                      <a:pt x="57" y="220"/>
                    </a:lnTo>
                    <a:lnTo>
                      <a:pt x="71" y="220"/>
                    </a:lnTo>
                    <a:lnTo>
                      <a:pt x="93" y="220"/>
                    </a:lnTo>
                    <a:lnTo>
                      <a:pt x="107" y="220"/>
                    </a:lnTo>
                    <a:lnTo>
                      <a:pt x="121" y="220"/>
                    </a:lnTo>
                    <a:lnTo>
                      <a:pt x="135" y="220"/>
                    </a:lnTo>
                    <a:lnTo>
                      <a:pt x="149" y="213"/>
                    </a:lnTo>
                    <a:lnTo>
                      <a:pt x="163" y="213"/>
                    </a:lnTo>
                    <a:lnTo>
                      <a:pt x="185" y="213"/>
                    </a:lnTo>
                    <a:lnTo>
                      <a:pt x="199" y="213"/>
                    </a:lnTo>
                    <a:lnTo>
                      <a:pt x="213" y="213"/>
                    </a:lnTo>
                    <a:lnTo>
                      <a:pt x="227" y="213"/>
                    </a:lnTo>
                    <a:lnTo>
                      <a:pt x="241" y="213"/>
                    </a:lnTo>
                    <a:lnTo>
                      <a:pt x="256" y="206"/>
                    </a:lnTo>
                    <a:lnTo>
                      <a:pt x="277" y="206"/>
                    </a:lnTo>
                    <a:lnTo>
                      <a:pt x="291" y="206"/>
                    </a:lnTo>
                    <a:lnTo>
                      <a:pt x="305" y="206"/>
                    </a:lnTo>
                    <a:lnTo>
                      <a:pt x="319" y="198"/>
                    </a:lnTo>
                    <a:lnTo>
                      <a:pt x="334" y="198"/>
                    </a:lnTo>
                    <a:lnTo>
                      <a:pt x="348" y="198"/>
                    </a:lnTo>
                    <a:lnTo>
                      <a:pt x="369" y="198"/>
                    </a:lnTo>
                    <a:lnTo>
                      <a:pt x="383" y="191"/>
                    </a:lnTo>
                    <a:lnTo>
                      <a:pt x="397" y="191"/>
                    </a:lnTo>
                    <a:lnTo>
                      <a:pt x="411" y="191"/>
                    </a:lnTo>
                    <a:lnTo>
                      <a:pt x="426" y="184"/>
                    </a:lnTo>
                    <a:lnTo>
                      <a:pt x="440" y="184"/>
                    </a:lnTo>
                    <a:lnTo>
                      <a:pt x="461" y="184"/>
                    </a:lnTo>
                    <a:lnTo>
                      <a:pt x="475" y="177"/>
                    </a:lnTo>
                    <a:lnTo>
                      <a:pt x="489" y="177"/>
                    </a:lnTo>
                    <a:lnTo>
                      <a:pt x="504" y="177"/>
                    </a:lnTo>
                    <a:lnTo>
                      <a:pt x="518" y="170"/>
                    </a:lnTo>
                    <a:lnTo>
                      <a:pt x="532" y="170"/>
                    </a:lnTo>
                    <a:lnTo>
                      <a:pt x="553" y="163"/>
                    </a:lnTo>
                    <a:lnTo>
                      <a:pt x="567" y="163"/>
                    </a:lnTo>
                    <a:lnTo>
                      <a:pt x="582" y="156"/>
                    </a:lnTo>
                    <a:lnTo>
                      <a:pt x="596" y="156"/>
                    </a:lnTo>
                    <a:lnTo>
                      <a:pt x="610" y="149"/>
                    </a:lnTo>
                    <a:lnTo>
                      <a:pt x="624" y="149"/>
                    </a:lnTo>
                    <a:lnTo>
                      <a:pt x="645" y="142"/>
                    </a:lnTo>
                    <a:lnTo>
                      <a:pt x="660" y="142"/>
                    </a:lnTo>
                    <a:lnTo>
                      <a:pt x="674" y="135"/>
                    </a:lnTo>
                    <a:lnTo>
                      <a:pt x="688" y="135"/>
                    </a:lnTo>
                    <a:lnTo>
                      <a:pt x="702" y="128"/>
                    </a:lnTo>
                    <a:lnTo>
                      <a:pt x="716" y="128"/>
                    </a:lnTo>
                    <a:lnTo>
                      <a:pt x="737" y="120"/>
                    </a:lnTo>
                    <a:lnTo>
                      <a:pt x="752" y="120"/>
                    </a:lnTo>
                    <a:lnTo>
                      <a:pt x="766" y="113"/>
                    </a:lnTo>
                    <a:lnTo>
                      <a:pt x="780" y="106"/>
                    </a:lnTo>
                    <a:lnTo>
                      <a:pt x="794" y="106"/>
                    </a:lnTo>
                    <a:lnTo>
                      <a:pt x="815" y="99"/>
                    </a:lnTo>
                    <a:lnTo>
                      <a:pt x="830" y="92"/>
                    </a:lnTo>
                    <a:lnTo>
                      <a:pt x="844" y="92"/>
                    </a:lnTo>
                    <a:lnTo>
                      <a:pt x="858" y="85"/>
                    </a:lnTo>
                    <a:lnTo>
                      <a:pt x="872" y="85"/>
                    </a:lnTo>
                    <a:lnTo>
                      <a:pt x="886" y="78"/>
                    </a:lnTo>
                    <a:lnTo>
                      <a:pt x="908" y="71"/>
                    </a:lnTo>
                    <a:lnTo>
                      <a:pt x="922" y="71"/>
                    </a:lnTo>
                    <a:lnTo>
                      <a:pt x="936" y="64"/>
                    </a:lnTo>
                    <a:lnTo>
                      <a:pt x="950" y="57"/>
                    </a:lnTo>
                    <a:lnTo>
                      <a:pt x="964" y="57"/>
                    </a:lnTo>
                    <a:lnTo>
                      <a:pt x="978" y="50"/>
                    </a:lnTo>
                    <a:lnTo>
                      <a:pt x="1000" y="43"/>
                    </a:lnTo>
                    <a:lnTo>
                      <a:pt x="1014" y="43"/>
                    </a:lnTo>
                    <a:lnTo>
                      <a:pt x="1028" y="35"/>
                    </a:lnTo>
                    <a:lnTo>
                      <a:pt x="1042" y="35"/>
                    </a:lnTo>
                    <a:lnTo>
                      <a:pt x="1056" y="28"/>
                    </a:lnTo>
                    <a:lnTo>
                      <a:pt x="1071" y="28"/>
                    </a:lnTo>
                    <a:lnTo>
                      <a:pt x="1092" y="21"/>
                    </a:lnTo>
                    <a:lnTo>
                      <a:pt x="1106" y="21"/>
                    </a:lnTo>
                    <a:lnTo>
                      <a:pt x="1120" y="14"/>
                    </a:lnTo>
                    <a:lnTo>
                      <a:pt x="1134" y="14"/>
                    </a:lnTo>
                    <a:lnTo>
                      <a:pt x="1149" y="7"/>
                    </a:lnTo>
                    <a:lnTo>
                      <a:pt x="1163" y="7"/>
                    </a:lnTo>
                    <a:lnTo>
                      <a:pt x="1184" y="7"/>
                    </a:lnTo>
                    <a:lnTo>
                      <a:pt x="1198" y="0"/>
                    </a:lnTo>
                    <a:lnTo>
                      <a:pt x="1212" y="0"/>
                    </a:lnTo>
                    <a:lnTo>
                      <a:pt x="1227" y="0"/>
                    </a:lnTo>
                    <a:lnTo>
                      <a:pt x="1241" y="0"/>
                    </a:lnTo>
                    <a:lnTo>
                      <a:pt x="1255" y="0"/>
                    </a:lnTo>
                    <a:lnTo>
                      <a:pt x="1276" y="0"/>
                    </a:lnTo>
                    <a:lnTo>
                      <a:pt x="1290" y="0"/>
                    </a:lnTo>
                    <a:lnTo>
                      <a:pt x="1304" y="0"/>
                    </a:lnTo>
                    <a:lnTo>
                      <a:pt x="1319" y="0"/>
                    </a:lnTo>
                    <a:lnTo>
                      <a:pt x="1333" y="7"/>
                    </a:lnTo>
                    <a:lnTo>
                      <a:pt x="1347" y="7"/>
                    </a:lnTo>
                    <a:lnTo>
                      <a:pt x="1368" y="7"/>
                    </a:lnTo>
                    <a:lnTo>
                      <a:pt x="1382" y="14"/>
                    </a:lnTo>
                    <a:lnTo>
                      <a:pt x="1397" y="14"/>
                    </a:lnTo>
                    <a:lnTo>
                      <a:pt x="1411" y="21"/>
                    </a:lnTo>
                    <a:lnTo>
                      <a:pt x="1425" y="21"/>
                    </a:lnTo>
                    <a:lnTo>
                      <a:pt x="1439" y="28"/>
                    </a:lnTo>
                    <a:lnTo>
                      <a:pt x="1460" y="35"/>
                    </a:lnTo>
                    <a:lnTo>
                      <a:pt x="1475" y="43"/>
                    </a:lnTo>
                    <a:lnTo>
                      <a:pt x="1489" y="50"/>
                    </a:lnTo>
                    <a:lnTo>
                      <a:pt x="1503" y="57"/>
                    </a:lnTo>
                    <a:lnTo>
                      <a:pt x="1517" y="64"/>
                    </a:lnTo>
                    <a:lnTo>
                      <a:pt x="1538" y="71"/>
                    </a:lnTo>
                    <a:lnTo>
                      <a:pt x="1553" y="78"/>
                    </a:lnTo>
                    <a:lnTo>
                      <a:pt x="1567" y="85"/>
                    </a:lnTo>
                    <a:lnTo>
                      <a:pt x="1581" y="92"/>
                    </a:lnTo>
                    <a:lnTo>
                      <a:pt x="1595" y="99"/>
                    </a:lnTo>
                    <a:lnTo>
                      <a:pt x="1609" y="106"/>
                    </a:lnTo>
                    <a:lnTo>
                      <a:pt x="1631" y="120"/>
                    </a:lnTo>
                    <a:lnTo>
                      <a:pt x="1645" y="128"/>
                    </a:lnTo>
                    <a:lnTo>
                      <a:pt x="1659" y="135"/>
                    </a:lnTo>
                    <a:lnTo>
                      <a:pt x="1673" y="149"/>
                    </a:lnTo>
                    <a:lnTo>
                      <a:pt x="1687" y="156"/>
                    </a:lnTo>
                    <a:lnTo>
                      <a:pt x="1701" y="163"/>
                    </a:lnTo>
                    <a:lnTo>
                      <a:pt x="1723" y="177"/>
                    </a:lnTo>
                    <a:lnTo>
                      <a:pt x="1737" y="184"/>
                    </a:lnTo>
                    <a:lnTo>
                      <a:pt x="1751" y="191"/>
                    </a:lnTo>
                    <a:lnTo>
                      <a:pt x="1765" y="206"/>
                    </a:lnTo>
                    <a:lnTo>
                      <a:pt x="1779" y="213"/>
                    </a:lnTo>
                    <a:lnTo>
                      <a:pt x="1794" y="227"/>
                    </a:lnTo>
                    <a:lnTo>
                      <a:pt x="1815" y="234"/>
                    </a:lnTo>
                    <a:lnTo>
                      <a:pt x="1829" y="241"/>
                    </a:lnTo>
                    <a:lnTo>
                      <a:pt x="1843" y="255"/>
                    </a:lnTo>
                    <a:lnTo>
                      <a:pt x="1857" y="262"/>
                    </a:lnTo>
                    <a:lnTo>
                      <a:pt x="1871" y="269"/>
                    </a:lnTo>
                    <a:lnTo>
                      <a:pt x="1886" y="276"/>
                    </a:lnTo>
                    <a:lnTo>
                      <a:pt x="1907" y="291"/>
                    </a:lnTo>
                    <a:lnTo>
                      <a:pt x="1921" y="298"/>
                    </a:lnTo>
                    <a:lnTo>
                      <a:pt x="1935" y="305"/>
                    </a:lnTo>
                    <a:lnTo>
                      <a:pt x="1949" y="312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Freeform 106">
                <a:extLst>
                  <a:ext uri="{FF2B5EF4-FFF2-40B4-BE49-F238E27FC236}">
                    <a16:creationId xmlns:a16="http://schemas.microsoft.com/office/drawing/2014/main" id="{0636D28B-3481-C26C-3EDE-D8EFCBA0A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189"/>
                <a:ext cx="1127" cy="333"/>
              </a:xfrm>
              <a:custGeom>
                <a:avLst/>
                <a:gdLst>
                  <a:gd name="T0" fmla="*/ 15 w 1127"/>
                  <a:gd name="T1" fmla="*/ 14 h 333"/>
                  <a:gd name="T2" fmla="*/ 50 w 1127"/>
                  <a:gd name="T3" fmla="*/ 28 h 333"/>
                  <a:gd name="T4" fmla="*/ 78 w 1127"/>
                  <a:gd name="T5" fmla="*/ 42 h 333"/>
                  <a:gd name="T6" fmla="*/ 107 w 1127"/>
                  <a:gd name="T7" fmla="*/ 56 h 333"/>
                  <a:gd name="T8" fmla="*/ 142 w 1127"/>
                  <a:gd name="T9" fmla="*/ 78 h 333"/>
                  <a:gd name="T10" fmla="*/ 171 w 1127"/>
                  <a:gd name="T11" fmla="*/ 92 h 333"/>
                  <a:gd name="T12" fmla="*/ 199 w 1127"/>
                  <a:gd name="T13" fmla="*/ 106 h 333"/>
                  <a:gd name="T14" fmla="*/ 234 w 1127"/>
                  <a:gd name="T15" fmla="*/ 113 h 333"/>
                  <a:gd name="T16" fmla="*/ 263 w 1127"/>
                  <a:gd name="T17" fmla="*/ 127 h 333"/>
                  <a:gd name="T18" fmla="*/ 291 w 1127"/>
                  <a:gd name="T19" fmla="*/ 142 h 333"/>
                  <a:gd name="T20" fmla="*/ 326 w 1127"/>
                  <a:gd name="T21" fmla="*/ 156 h 333"/>
                  <a:gd name="T22" fmla="*/ 355 w 1127"/>
                  <a:gd name="T23" fmla="*/ 163 h 333"/>
                  <a:gd name="T24" fmla="*/ 383 w 1127"/>
                  <a:gd name="T25" fmla="*/ 177 h 333"/>
                  <a:gd name="T26" fmla="*/ 419 w 1127"/>
                  <a:gd name="T27" fmla="*/ 184 h 333"/>
                  <a:gd name="T28" fmla="*/ 447 w 1127"/>
                  <a:gd name="T29" fmla="*/ 198 h 333"/>
                  <a:gd name="T30" fmla="*/ 475 w 1127"/>
                  <a:gd name="T31" fmla="*/ 205 h 333"/>
                  <a:gd name="T32" fmla="*/ 511 w 1127"/>
                  <a:gd name="T33" fmla="*/ 212 h 333"/>
                  <a:gd name="T34" fmla="*/ 539 w 1127"/>
                  <a:gd name="T35" fmla="*/ 219 h 333"/>
                  <a:gd name="T36" fmla="*/ 567 w 1127"/>
                  <a:gd name="T37" fmla="*/ 234 h 333"/>
                  <a:gd name="T38" fmla="*/ 603 w 1127"/>
                  <a:gd name="T39" fmla="*/ 241 h 333"/>
                  <a:gd name="T40" fmla="*/ 631 w 1127"/>
                  <a:gd name="T41" fmla="*/ 248 h 333"/>
                  <a:gd name="T42" fmla="*/ 660 w 1127"/>
                  <a:gd name="T43" fmla="*/ 255 h 333"/>
                  <a:gd name="T44" fmla="*/ 695 w 1127"/>
                  <a:gd name="T45" fmla="*/ 262 h 333"/>
                  <a:gd name="T46" fmla="*/ 723 w 1127"/>
                  <a:gd name="T47" fmla="*/ 269 h 333"/>
                  <a:gd name="T48" fmla="*/ 752 w 1127"/>
                  <a:gd name="T49" fmla="*/ 276 h 333"/>
                  <a:gd name="T50" fmla="*/ 787 w 1127"/>
                  <a:gd name="T51" fmla="*/ 283 h 333"/>
                  <a:gd name="T52" fmla="*/ 816 w 1127"/>
                  <a:gd name="T53" fmla="*/ 283 h 333"/>
                  <a:gd name="T54" fmla="*/ 844 w 1127"/>
                  <a:gd name="T55" fmla="*/ 290 h 333"/>
                  <a:gd name="T56" fmla="*/ 879 w 1127"/>
                  <a:gd name="T57" fmla="*/ 297 h 333"/>
                  <a:gd name="T58" fmla="*/ 908 w 1127"/>
                  <a:gd name="T59" fmla="*/ 304 h 333"/>
                  <a:gd name="T60" fmla="*/ 936 w 1127"/>
                  <a:gd name="T61" fmla="*/ 304 h 333"/>
                  <a:gd name="T62" fmla="*/ 971 w 1127"/>
                  <a:gd name="T63" fmla="*/ 312 h 333"/>
                  <a:gd name="T64" fmla="*/ 1000 w 1127"/>
                  <a:gd name="T65" fmla="*/ 319 h 333"/>
                  <a:gd name="T66" fmla="*/ 1028 w 1127"/>
                  <a:gd name="T67" fmla="*/ 326 h 333"/>
                  <a:gd name="T68" fmla="*/ 1064 w 1127"/>
                  <a:gd name="T69" fmla="*/ 326 h 333"/>
                  <a:gd name="T70" fmla="*/ 1092 w 1127"/>
                  <a:gd name="T71" fmla="*/ 333 h 333"/>
                  <a:gd name="T72" fmla="*/ 1127 w 1127"/>
                  <a:gd name="T73" fmla="*/ 333 h 33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333">
                    <a:moveTo>
                      <a:pt x="0" y="0"/>
                    </a:moveTo>
                    <a:lnTo>
                      <a:pt x="15" y="14"/>
                    </a:lnTo>
                    <a:lnTo>
                      <a:pt x="29" y="21"/>
                    </a:lnTo>
                    <a:lnTo>
                      <a:pt x="50" y="28"/>
                    </a:lnTo>
                    <a:lnTo>
                      <a:pt x="64" y="35"/>
                    </a:lnTo>
                    <a:lnTo>
                      <a:pt x="78" y="42"/>
                    </a:lnTo>
                    <a:lnTo>
                      <a:pt x="93" y="49"/>
                    </a:lnTo>
                    <a:lnTo>
                      <a:pt x="107" y="56"/>
                    </a:lnTo>
                    <a:lnTo>
                      <a:pt x="121" y="71"/>
                    </a:lnTo>
                    <a:lnTo>
                      <a:pt x="142" y="78"/>
                    </a:lnTo>
                    <a:lnTo>
                      <a:pt x="156" y="85"/>
                    </a:lnTo>
                    <a:lnTo>
                      <a:pt x="171" y="92"/>
                    </a:lnTo>
                    <a:lnTo>
                      <a:pt x="185" y="99"/>
                    </a:lnTo>
                    <a:lnTo>
                      <a:pt x="199" y="106"/>
                    </a:lnTo>
                    <a:lnTo>
                      <a:pt x="213" y="106"/>
                    </a:lnTo>
                    <a:lnTo>
                      <a:pt x="234" y="113"/>
                    </a:lnTo>
                    <a:lnTo>
                      <a:pt x="249" y="120"/>
                    </a:lnTo>
                    <a:lnTo>
                      <a:pt x="263" y="127"/>
                    </a:lnTo>
                    <a:lnTo>
                      <a:pt x="277" y="134"/>
                    </a:lnTo>
                    <a:lnTo>
                      <a:pt x="291" y="142"/>
                    </a:lnTo>
                    <a:lnTo>
                      <a:pt x="305" y="149"/>
                    </a:lnTo>
                    <a:lnTo>
                      <a:pt x="326" y="156"/>
                    </a:lnTo>
                    <a:lnTo>
                      <a:pt x="341" y="156"/>
                    </a:lnTo>
                    <a:lnTo>
                      <a:pt x="355" y="163"/>
                    </a:lnTo>
                    <a:lnTo>
                      <a:pt x="369" y="170"/>
                    </a:lnTo>
                    <a:lnTo>
                      <a:pt x="383" y="177"/>
                    </a:lnTo>
                    <a:lnTo>
                      <a:pt x="404" y="177"/>
                    </a:lnTo>
                    <a:lnTo>
                      <a:pt x="419" y="184"/>
                    </a:lnTo>
                    <a:lnTo>
                      <a:pt x="433" y="191"/>
                    </a:lnTo>
                    <a:lnTo>
                      <a:pt x="447" y="198"/>
                    </a:lnTo>
                    <a:lnTo>
                      <a:pt x="461" y="198"/>
                    </a:lnTo>
                    <a:lnTo>
                      <a:pt x="475" y="205"/>
                    </a:lnTo>
                    <a:lnTo>
                      <a:pt x="497" y="205"/>
                    </a:lnTo>
                    <a:lnTo>
                      <a:pt x="511" y="212"/>
                    </a:lnTo>
                    <a:lnTo>
                      <a:pt x="525" y="219"/>
                    </a:lnTo>
                    <a:lnTo>
                      <a:pt x="539" y="219"/>
                    </a:lnTo>
                    <a:lnTo>
                      <a:pt x="553" y="227"/>
                    </a:lnTo>
                    <a:lnTo>
                      <a:pt x="567" y="234"/>
                    </a:lnTo>
                    <a:lnTo>
                      <a:pt x="589" y="234"/>
                    </a:lnTo>
                    <a:lnTo>
                      <a:pt x="603" y="241"/>
                    </a:lnTo>
                    <a:lnTo>
                      <a:pt x="617" y="241"/>
                    </a:lnTo>
                    <a:lnTo>
                      <a:pt x="631" y="248"/>
                    </a:lnTo>
                    <a:lnTo>
                      <a:pt x="645" y="248"/>
                    </a:lnTo>
                    <a:lnTo>
                      <a:pt x="660" y="255"/>
                    </a:lnTo>
                    <a:lnTo>
                      <a:pt x="681" y="255"/>
                    </a:lnTo>
                    <a:lnTo>
                      <a:pt x="695" y="262"/>
                    </a:lnTo>
                    <a:lnTo>
                      <a:pt x="709" y="262"/>
                    </a:lnTo>
                    <a:lnTo>
                      <a:pt x="723" y="269"/>
                    </a:lnTo>
                    <a:lnTo>
                      <a:pt x="738" y="269"/>
                    </a:lnTo>
                    <a:lnTo>
                      <a:pt x="752" y="276"/>
                    </a:lnTo>
                    <a:lnTo>
                      <a:pt x="773" y="276"/>
                    </a:lnTo>
                    <a:lnTo>
                      <a:pt x="787" y="283"/>
                    </a:lnTo>
                    <a:lnTo>
                      <a:pt x="801" y="283"/>
                    </a:lnTo>
                    <a:lnTo>
                      <a:pt x="816" y="283"/>
                    </a:lnTo>
                    <a:lnTo>
                      <a:pt x="830" y="290"/>
                    </a:lnTo>
                    <a:lnTo>
                      <a:pt x="844" y="290"/>
                    </a:lnTo>
                    <a:lnTo>
                      <a:pt x="865" y="297"/>
                    </a:lnTo>
                    <a:lnTo>
                      <a:pt x="879" y="297"/>
                    </a:lnTo>
                    <a:lnTo>
                      <a:pt x="893" y="297"/>
                    </a:lnTo>
                    <a:lnTo>
                      <a:pt x="908" y="304"/>
                    </a:lnTo>
                    <a:lnTo>
                      <a:pt x="922" y="304"/>
                    </a:lnTo>
                    <a:lnTo>
                      <a:pt x="936" y="304"/>
                    </a:lnTo>
                    <a:lnTo>
                      <a:pt x="957" y="312"/>
                    </a:lnTo>
                    <a:lnTo>
                      <a:pt x="971" y="312"/>
                    </a:lnTo>
                    <a:lnTo>
                      <a:pt x="986" y="319"/>
                    </a:lnTo>
                    <a:lnTo>
                      <a:pt x="1000" y="319"/>
                    </a:lnTo>
                    <a:lnTo>
                      <a:pt x="1014" y="319"/>
                    </a:lnTo>
                    <a:lnTo>
                      <a:pt x="1028" y="326"/>
                    </a:lnTo>
                    <a:lnTo>
                      <a:pt x="1049" y="326"/>
                    </a:lnTo>
                    <a:lnTo>
                      <a:pt x="1064" y="326"/>
                    </a:lnTo>
                    <a:lnTo>
                      <a:pt x="1078" y="326"/>
                    </a:lnTo>
                    <a:lnTo>
                      <a:pt x="1092" y="333"/>
                    </a:lnTo>
                    <a:lnTo>
                      <a:pt x="1106" y="333"/>
                    </a:lnTo>
                    <a:lnTo>
                      <a:pt x="1127" y="333"/>
                    </a:lnTo>
                  </a:path>
                </a:pathLst>
              </a:custGeom>
              <a:noFill/>
              <a:ln w="222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5" name="Group 107">
              <a:extLst>
                <a:ext uri="{FF2B5EF4-FFF2-40B4-BE49-F238E27FC236}">
                  <a16:creationId xmlns:a16="http://schemas.microsoft.com/office/drawing/2014/main" id="{97900882-ADDD-6BD7-E50E-6F8CE9B8A8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3005"/>
              <a:ext cx="3076" cy="531"/>
              <a:chOff x="1252" y="3005"/>
              <a:chExt cx="3076" cy="531"/>
            </a:xfrm>
          </p:grpSpPr>
          <p:sp>
            <p:nvSpPr>
              <p:cNvPr id="114" name="Freeform 108">
                <a:extLst>
                  <a:ext uri="{FF2B5EF4-FFF2-40B4-BE49-F238E27FC236}">
                    <a16:creationId xmlns:a16="http://schemas.microsoft.com/office/drawing/2014/main" id="{7E0D9893-8DD4-B271-78EE-57F976373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005"/>
                <a:ext cx="1949" cy="269"/>
              </a:xfrm>
              <a:custGeom>
                <a:avLst/>
                <a:gdLst>
                  <a:gd name="T0" fmla="*/ 29 w 1949"/>
                  <a:gd name="T1" fmla="*/ 92 h 269"/>
                  <a:gd name="T2" fmla="*/ 71 w 1949"/>
                  <a:gd name="T3" fmla="*/ 92 h 269"/>
                  <a:gd name="T4" fmla="*/ 121 w 1949"/>
                  <a:gd name="T5" fmla="*/ 92 h 269"/>
                  <a:gd name="T6" fmla="*/ 163 w 1949"/>
                  <a:gd name="T7" fmla="*/ 85 h 269"/>
                  <a:gd name="T8" fmla="*/ 213 w 1949"/>
                  <a:gd name="T9" fmla="*/ 85 h 269"/>
                  <a:gd name="T10" fmla="*/ 256 w 1949"/>
                  <a:gd name="T11" fmla="*/ 85 h 269"/>
                  <a:gd name="T12" fmla="*/ 305 w 1949"/>
                  <a:gd name="T13" fmla="*/ 78 h 269"/>
                  <a:gd name="T14" fmla="*/ 348 w 1949"/>
                  <a:gd name="T15" fmla="*/ 78 h 269"/>
                  <a:gd name="T16" fmla="*/ 397 w 1949"/>
                  <a:gd name="T17" fmla="*/ 70 h 269"/>
                  <a:gd name="T18" fmla="*/ 440 w 1949"/>
                  <a:gd name="T19" fmla="*/ 70 h 269"/>
                  <a:gd name="T20" fmla="*/ 489 w 1949"/>
                  <a:gd name="T21" fmla="*/ 63 h 269"/>
                  <a:gd name="T22" fmla="*/ 532 w 1949"/>
                  <a:gd name="T23" fmla="*/ 56 h 269"/>
                  <a:gd name="T24" fmla="*/ 582 w 1949"/>
                  <a:gd name="T25" fmla="*/ 49 h 269"/>
                  <a:gd name="T26" fmla="*/ 624 w 1949"/>
                  <a:gd name="T27" fmla="*/ 42 h 269"/>
                  <a:gd name="T28" fmla="*/ 674 w 1949"/>
                  <a:gd name="T29" fmla="*/ 35 h 269"/>
                  <a:gd name="T30" fmla="*/ 716 w 1949"/>
                  <a:gd name="T31" fmla="*/ 35 h 269"/>
                  <a:gd name="T32" fmla="*/ 766 w 1949"/>
                  <a:gd name="T33" fmla="*/ 28 h 269"/>
                  <a:gd name="T34" fmla="*/ 815 w 1949"/>
                  <a:gd name="T35" fmla="*/ 21 h 269"/>
                  <a:gd name="T36" fmla="*/ 858 w 1949"/>
                  <a:gd name="T37" fmla="*/ 14 h 269"/>
                  <a:gd name="T38" fmla="*/ 908 w 1949"/>
                  <a:gd name="T39" fmla="*/ 7 h 269"/>
                  <a:gd name="T40" fmla="*/ 950 w 1949"/>
                  <a:gd name="T41" fmla="*/ 7 h 269"/>
                  <a:gd name="T42" fmla="*/ 1000 w 1949"/>
                  <a:gd name="T43" fmla="*/ 0 h 269"/>
                  <a:gd name="T44" fmla="*/ 1042 w 1949"/>
                  <a:gd name="T45" fmla="*/ 0 h 269"/>
                  <a:gd name="T46" fmla="*/ 1092 w 1949"/>
                  <a:gd name="T47" fmla="*/ 0 h 269"/>
                  <a:gd name="T48" fmla="*/ 1134 w 1949"/>
                  <a:gd name="T49" fmla="*/ 0 h 269"/>
                  <a:gd name="T50" fmla="*/ 1184 w 1949"/>
                  <a:gd name="T51" fmla="*/ 0 h 269"/>
                  <a:gd name="T52" fmla="*/ 1227 w 1949"/>
                  <a:gd name="T53" fmla="*/ 7 h 269"/>
                  <a:gd name="T54" fmla="*/ 1276 w 1949"/>
                  <a:gd name="T55" fmla="*/ 14 h 269"/>
                  <a:gd name="T56" fmla="*/ 1319 w 1949"/>
                  <a:gd name="T57" fmla="*/ 21 h 269"/>
                  <a:gd name="T58" fmla="*/ 1368 w 1949"/>
                  <a:gd name="T59" fmla="*/ 35 h 269"/>
                  <a:gd name="T60" fmla="*/ 1411 w 1949"/>
                  <a:gd name="T61" fmla="*/ 49 h 269"/>
                  <a:gd name="T62" fmla="*/ 1460 w 1949"/>
                  <a:gd name="T63" fmla="*/ 63 h 269"/>
                  <a:gd name="T64" fmla="*/ 1503 w 1949"/>
                  <a:gd name="T65" fmla="*/ 78 h 269"/>
                  <a:gd name="T66" fmla="*/ 1553 w 1949"/>
                  <a:gd name="T67" fmla="*/ 99 h 269"/>
                  <a:gd name="T68" fmla="*/ 1595 w 1949"/>
                  <a:gd name="T69" fmla="*/ 120 h 269"/>
                  <a:gd name="T70" fmla="*/ 1645 w 1949"/>
                  <a:gd name="T71" fmla="*/ 134 h 269"/>
                  <a:gd name="T72" fmla="*/ 1687 w 1949"/>
                  <a:gd name="T73" fmla="*/ 155 h 269"/>
                  <a:gd name="T74" fmla="*/ 1737 w 1949"/>
                  <a:gd name="T75" fmla="*/ 177 h 269"/>
                  <a:gd name="T76" fmla="*/ 1779 w 1949"/>
                  <a:gd name="T77" fmla="*/ 198 h 269"/>
                  <a:gd name="T78" fmla="*/ 1829 w 1949"/>
                  <a:gd name="T79" fmla="*/ 219 h 269"/>
                  <a:gd name="T80" fmla="*/ 1871 w 1949"/>
                  <a:gd name="T81" fmla="*/ 233 h 269"/>
                  <a:gd name="T82" fmla="*/ 1921 w 1949"/>
                  <a:gd name="T83" fmla="*/ 255 h 26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269">
                    <a:moveTo>
                      <a:pt x="0" y="92"/>
                    </a:moveTo>
                    <a:lnTo>
                      <a:pt x="15" y="92"/>
                    </a:lnTo>
                    <a:lnTo>
                      <a:pt x="29" y="92"/>
                    </a:lnTo>
                    <a:lnTo>
                      <a:pt x="43" y="92"/>
                    </a:lnTo>
                    <a:lnTo>
                      <a:pt x="57" y="92"/>
                    </a:lnTo>
                    <a:lnTo>
                      <a:pt x="71" y="92"/>
                    </a:lnTo>
                    <a:lnTo>
                      <a:pt x="93" y="92"/>
                    </a:lnTo>
                    <a:lnTo>
                      <a:pt x="107" y="92"/>
                    </a:lnTo>
                    <a:lnTo>
                      <a:pt x="121" y="92"/>
                    </a:lnTo>
                    <a:lnTo>
                      <a:pt x="135" y="92"/>
                    </a:lnTo>
                    <a:lnTo>
                      <a:pt x="149" y="92"/>
                    </a:lnTo>
                    <a:lnTo>
                      <a:pt x="163" y="85"/>
                    </a:lnTo>
                    <a:lnTo>
                      <a:pt x="185" y="85"/>
                    </a:lnTo>
                    <a:lnTo>
                      <a:pt x="199" y="85"/>
                    </a:lnTo>
                    <a:lnTo>
                      <a:pt x="213" y="85"/>
                    </a:lnTo>
                    <a:lnTo>
                      <a:pt x="227" y="85"/>
                    </a:lnTo>
                    <a:lnTo>
                      <a:pt x="241" y="85"/>
                    </a:lnTo>
                    <a:lnTo>
                      <a:pt x="256" y="85"/>
                    </a:lnTo>
                    <a:lnTo>
                      <a:pt x="277" y="85"/>
                    </a:lnTo>
                    <a:lnTo>
                      <a:pt x="291" y="78"/>
                    </a:lnTo>
                    <a:lnTo>
                      <a:pt x="305" y="78"/>
                    </a:lnTo>
                    <a:lnTo>
                      <a:pt x="319" y="78"/>
                    </a:lnTo>
                    <a:lnTo>
                      <a:pt x="334" y="78"/>
                    </a:lnTo>
                    <a:lnTo>
                      <a:pt x="348" y="78"/>
                    </a:lnTo>
                    <a:lnTo>
                      <a:pt x="369" y="78"/>
                    </a:lnTo>
                    <a:lnTo>
                      <a:pt x="383" y="70"/>
                    </a:lnTo>
                    <a:lnTo>
                      <a:pt x="397" y="70"/>
                    </a:lnTo>
                    <a:lnTo>
                      <a:pt x="411" y="70"/>
                    </a:lnTo>
                    <a:lnTo>
                      <a:pt x="426" y="70"/>
                    </a:lnTo>
                    <a:lnTo>
                      <a:pt x="440" y="70"/>
                    </a:lnTo>
                    <a:lnTo>
                      <a:pt x="461" y="63"/>
                    </a:lnTo>
                    <a:lnTo>
                      <a:pt x="475" y="63"/>
                    </a:lnTo>
                    <a:lnTo>
                      <a:pt x="489" y="63"/>
                    </a:lnTo>
                    <a:lnTo>
                      <a:pt x="504" y="63"/>
                    </a:lnTo>
                    <a:lnTo>
                      <a:pt x="518" y="56"/>
                    </a:lnTo>
                    <a:lnTo>
                      <a:pt x="532" y="56"/>
                    </a:lnTo>
                    <a:lnTo>
                      <a:pt x="553" y="56"/>
                    </a:lnTo>
                    <a:lnTo>
                      <a:pt x="567" y="49"/>
                    </a:lnTo>
                    <a:lnTo>
                      <a:pt x="582" y="49"/>
                    </a:lnTo>
                    <a:lnTo>
                      <a:pt x="596" y="49"/>
                    </a:lnTo>
                    <a:lnTo>
                      <a:pt x="610" y="49"/>
                    </a:lnTo>
                    <a:lnTo>
                      <a:pt x="624" y="42"/>
                    </a:lnTo>
                    <a:lnTo>
                      <a:pt x="645" y="42"/>
                    </a:lnTo>
                    <a:lnTo>
                      <a:pt x="660" y="42"/>
                    </a:lnTo>
                    <a:lnTo>
                      <a:pt x="674" y="35"/>
                    </a:lnTo>
                    <a:lnTo>
                      <a:pt x="688" y="35"/>
                    </a:lnTo>
                    <a:lnTo>
                      <a:pt x="702" y="35"/>
                    </a:lnTo>
                    <a:lnTo>
                      <a:pt x="716" y="35"/>
                    </a:lnTo>
                    <a:lnTo>
                      <a:pt x="737" y="28"/>
                    </a:lnTo>
                    <a:lnTo>
                      <a:pt x="752" y="28"/>
                    </a:lnTo>
                    <a:lnTo>
                      <a:pt x="766" y="28"/>
                    </a:lnTo>
                    <a:lnTo>
                      <a:pt x="780" y="21"/>
                    </a:lnTo>
                    <a:lnTo>
                      <a:pt x="794" y="21"/>
                    </a:lnTo>
                    <a:lnTo>
                      <a:pt x="815" y="21"/>
                    </a:lnTo>
                    <a:lnTo>
                      <a:pt x="830" y="21"/>
                    </a:lnTo>
                    <a:lnTo>
                      <a:pt x="844" y="14"/>
                    </a:lnTo>
                    <a:lnTo>
                      <a:pt x="858" y="14"/>
                    </a:lnTo>
                    <a:lnTo>
                      <a:pt x="872" y="14"/>
                    </a:lnTo>
                    <a:lnTo>
                      <a:pt x="886" y="7"/>
                    </a:lnTo>
                    <a:lnTo>
                      <a:pt x="908" y="7"/>
                    </a:lnTo>
                    <a:lnTo>
                      <a:pt x="922" y="7"/>
                    </a:lnTo>
                    <a:lnTo>
                      <a:pt x="936" y="7"/>
                    </a:lnTo>
                    <a:lnTo>
                      <a:pt x="950" y="7"/>
                    </a:lnTo>
                    <a:lnTo>
                      <a:pt x="964" y="0"/>
                    </a:lnTo>
                    <a:lnTo>
                      <a:pt x="978" y="0"/>
                    </a:lnTo>
                    <a:lnTo>
                      <a:pt x="1000" y="0"/>
                    </a:lnTo>
                    <a:lnTo>
                      <a:pt x="1014" y="0"/>
                    </a:lnTo>
                    <a:lnTo>
                      <a:pt x="1028" y="0"/>
                    </a:lnTo>
                    <a:lnTo>
                      <a:pt x="1042" y="0"/>
                    </a:lnTo>
                    <a:lnTo>
                      <a:pt x="1056" y="0"/>
                    </a:lnTo>
                    <a:lnTo>
                      <a:pt x="1071" y="0"/>
                    </a:lnTo>
                    <a:lnTo>
                      <a:pt x="1092" y="0"/>
                    </a:lnTo>
                    <a:lnTo>
                      <a:pt x="1106" y="0"/>
                    </a:lnTo>
                    <a:lnTo>
                      <a:pt x="1120" y="0"/>
                    </a:lnTo>
                    <a:lnTo>
                      <a:pt x="1134" y="0"/>
                    </a:lnTo>
                    <a:lnTo>
                      <a:pt x="1149" y="0"/>
                    </a:lnTo>
                    <a:lnTo>
                      <a:pt x="1163" y="0"/>
                    </a:lnTo>
                    <a:lnTo>
                      <a:pt x="1184" y="0"/>
                    </a:lnTo>
                    <a:lnTo>
                      <a:pt x="1198" y="7"/>
                    </a:lnTo>
                    <a:lnTo>
                      <a:pt x="1212" y="7"/>
                    </a:lnTo>
                    <a:lnTo>
                      <a:pt x="1227" y="7"/>
                    </a:lnTo>
                    <a:lnTo>
                      <a:pt x="1241" y="7"/>
                    </a:lnTo>
                    <a:lnTo>
                      <a:pt x="1255" y="14"/>
                    </a:lnTo>
                    <a:lnTo>
                      <a:pt x="1276" y="14"/>
                    </a:lnTo>
                    <a:lnTo>
                      <a:pt x="1290" y="14"/>
                    </a:lnTo>
                    <a:lnTo>
                      <a:pt x="1304" y="21"/>
                    </a:lnTo>
                    <a:lnTo>
                      <a:pt x="1319" y="21"/>
                    </a:lnTo>
                    <a:lnTo>
                      <a:pt x="1333" y="28"/>
                    </a:lnTo>
                    <a:lnTo>
                      <a:pt x="1347" y="28"/>
                    </a:lnTo>
                    <a:lnTo>
                      <a:pt x="1368" y="35"/>
                    </a:lnTo>
                    <a:lnTo>
                      <a:pt x="1382" y="42"/>
                    </a:lnTo>
                    <a:lnTo>
                      <a:pt x="1397" y="42"/>
                    </a:lnTo>
                    <a:lnTo>
                      <a:pt x="1411" y="49"/>
                    </a:lnTo>
                    <a:lnTo>
                      <a:pt x="1425" y="56"/>
                    </a:lnTo>
                    <a:lnTo>
                      <a:pt x="1439" y="56"/>
                    </a:lnTo>
                    <a:lnTo>
                      <a:pt x="1460" y="63"/>
                    </a:lnTo>
                    <a:lnTo>
                      <a:pt x="1475" y="70"/>
                    </a:lnTo>
                    <a:lnTo>
                      <a:pt x="1489" y="78"/>
                    </a:lnTo>
                    <a:lnTo>
                      <a:pt x="1503" y="78"/>
                    </a:lnTo>
                    <a:lnTo>
                      <a:pt x="1517" y="85"/>
                    </a:lnTo>
                    <a:lnTo>
                      <a:pt x="1538" y="92"/>
                    </a:lnTo>
                    <a:lnTo>
                      <a:pt x="1553" y="99"/>
                    </a:lnTo>
                    <a:lnTo>
                      <a:pt x="1567" y="106"/>
                    </a:lnTo>
                    <a:lnTo>
                      <a:pt x="1581" y="113"/>
                    </a:lnTo>
                    <a:lnTo>
                      <a:pt x="1595" y="120"/>
                    </a:lnTo>
                    <a:lnTo>
                      <a:pt x="1609" y="120"/>
                    </a:lnTo>
                    <a:lnTo>
                      <a:pt x="1631" y="127"/>
                    </a:lnTo>
                    <a:lnTo>
                      <a:pt x="1645" y="134"/>
                    </a:lnTo>
                    <a:lnTo>
                      <a:pt x="1659" y="141"/>
                    </a:lnTo>
                    <a:lnTo>
                      <a:pt x="1673" y="148"/>
                    </a:lnTo>
                    <a:lnTo>
                      <a:pt x="1687" y="155"/>
                    </a:lnTo>
                    <a:lnTo>
                      <a:pt x="1701" y="163"/>
                    </a:lnTo>
                    <a:lnTo>
                      <a:pt x="1723" y="170"/>
                    </a:lnTo>
                    <a:lnTo>
                      <a:pt x="1737" y="177"/>
                    </a:lnTo>
                    <a:lnTo>
                      <a:pt x="1751" y="184"/>
                    </a:lnTo>
                    <a:lnTo>
                      <a:pt x="1765" y="191"/>
                    </a:lnTo>
                    <a:lnTo>
                      <a:pt x="1779" y="198"/>
                    </a:lnTo>
                    <a:lnTo>
                      <a:pt x="1794" y="205"/>
                    </a:lnTo>
                    <a:lnTo>
                      <a:pt x="1815" y="212"/>
                    </a:lnTo>
                    <a:lnTo>
                      <a:pt x="1829" y="219"/>
                    </a:lnTo>
                    <a:lnTo>
                      <a:pt x="1843" y="226"/>
                    </a:lnTo>
                    <a:lnTo>
                      <a:pt x="1857" y="233"/>
                    </a:lnTo>
                    <a:lnTo>
                      <a:pt x="1871" y="233"/>
                    </a:lnTo>
                    <a:lnTo>
                      <a:pt x="1886" y="240"/>
                    </a:lnTo>
                    <a:lnTo>
                      <a:pt x="1907" y="248"/>
                    </a:lnTo>
                    <a:lnTo>
                      <a:pt x="1921" y="255"/>
                    </a:lnTo>
                    <a:lnTo>
                      <a:pt x="1935" y="262"/>
                    </a:lnTo>
                    <a:lnTo>
                      <a:pt x="1949" y="269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Freeform 109">
                <a:extLst>
                  <a:ext uri="{FF2B5EF4-FFF2-40B4-BE49-F238E27FC236}">
                    <a16:creationId xmlns:a16="http://schemas.microsoft.com/office/drawing/2014/main" id="{B77FF765-BB6A-BADA-2FF0-C72290301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274"/>
                <a:ext cx="1127" cy="262"/>
              </a:xfrm>
              <a:custGeom>
                <a:avLst/>
                <a:gdLst>
                  <a:gd name="T0" fmla="*/ 15 w 1127"/>
                  <a:gd name="T1" fmla="*/ 7 h 262"/>
                  <a:gd name="T2" fmla="*/ 50 w 1127"/>
                  <a:gd name="T3" fmla="*/ 14 h 262"/>
                  <a:gd name="T4" fmla="*/ 78 w 1127"/>
                  <a:gd name="T5" fmla="*/ 28 h 262"/>
                  <a:gd name="T6" fmla="*/ 107 w 1127"/>
                  <a:gd name="T7" fmla="*/ 42 h 262"/>
                  <a:gd name="T8" fmla="*/ 142 w 1127"/>
                  <a:gd name="T9" fmla="*/ 49 h 262"/>
                  <a:gd name="T10" fmla="*/ 171 w 1127"/>
                  <a:gd name="T11" fmla="*/ 64 h 262"/>
                  <a:gd name="T12" fmla="*/ 199 w 1127"/>
                  <a:gd name="T13" fmla="*/ 71 h 262"/>
                  <a:gd name="T14" fmla="*/ 234 w 1127"/>
                  <a:gd name="T15" fmla="*/ 85 h 262"/>
                  <a:gd name="T16" fmla="*/ 263 w 1127"/>
                  <a:gd name="T17" fmla="*/ 92 h 262"/>
                  <a:gd name="T18" fmla="*/ 291 w 1127"/>
                  <a:gd name="T19" fmla="*/ 99 h 262"/>
                  <a:gd name="T20" fmla="*/ 326 w 1127"/>
                  <a:gd name="T21" fmla="*/ 106 h 262"/>
                  <a:gd name="T22" fmla="*/ 355 w 1127"/>
                  <a:gd name="T23" fmla="*/ 120 h 262"/>
                  <a:gd name="T24" fmla="*/ 383 w 1127"/>
                  <a:gd name="T25" fmla="*/ 127 h 262"/>
                  <a:gd name="T26" fmla="*/ 419 w 1127"/>
                  <a:gd name="T27" fmla="*/ 134 h 262"/>
                  <a:gd name="T28" fmla="*/ 447 w 1127"/>
                  <a:gd name="T29" fmla="*/ 142 h 262"/>
                  <a:gd name="T30" fmla="*/ 475 w 1127"/>
                  <a:gd name="T31" fmla="*/ 149 h 262"/>
                  <a:gd name="T32" fmla="*/ 511 w 1127"/>
                  <a:gd name="T33" fmla="*/ 156 h 262"/>
                  <a:gd name="T34" fmla="*/ 539 w 1127"/>
                  <a:gd name="T35" fmla="*/ 163 h 262"/>
                  <a:gd name="T36" fmla="*/ 567 w 1127"/>
                  <a:gd name="T37" fmla="*/ 170 h 262"/>
                  <a:gd name="T38" fmla="*/ 603 w 1127"/>
                  <a:gd name="T39" fmla="*/ 177 h 262"/>
                  <a:gd name="T40" fmla="*/ 631 w 1127"/>
                  <a:gd name="T41" fmla="*/ 184 h 262"/>
                  <a:gd name="T42" fmla="*/ 660 w 1127"/>
                  <a:gd name="T43" fmla="*/ 191 h 262"/>
                  <a:gd name="T44" fmla="*/ 695 w 1127"/>
                  <a:gd name="T45" fmla="*/ 198 h 262"/>
                  <a:gd name="T46" fmla="*/ 723 w 1127"/>
                  <a:gd name="T47" fmla="*/ 198 h 262"/>
                  <a:gd name="T48" fmla="*/ 752 w 1127"/>
                  <a:gd name="T49" fmla="*/ 205 h 262"/>
                  <a:gd name="T50" fmla="*/ 787 w 1127"/>
                  <a:gd name="T51" fmla="*/ 212 h 262"/>
                  <a:gd name="T52" fmla="*/ 816 w 1127"/>
                  <a:gd name="T53" fmla="*/ 219 h 262"/>
                  <a:gd name="T54" fmla="*/ 844 w 1127"/>
                  <a:gd name="T55" fmla="*/ 219 h 262"/>
                  <a:gd name="T56" fmla="*/ 879 w 1127"/>
                  <a:gd name="T57" fmla="*/ 227 h 262"/>
                  <a:gd name="T58" fmla="*/ 908 w 1127"/>
                  <a:gd name="T59" fmla="*/ 234 h 262"/>
                  <a:gd name="T60" fmla="*/ 936 w 1127"/>
                  <a:gd name="T61" fmla="*/ 234 h 262"/>
                  <a:gd name="T62" fmla="*/ 971 w 1127"/>
                  <a:gd name="T63" fmla="*/ 241 h 262"/>
                  <a:gd name="T64" fmla="*/ 1000 w 1127"/>
                  <a:gd name="T65" fmla="*/ 248 h 262"/>
                  <a:gd name="T66" fmla="*/ 1028 w 1127"/>
                  <a:gd name="T67" fmla="*/ 248 h 262"/>
                  <a:gd name="T68" fmla="*/ 1064 w 1127"/>
                  <a:gd name="T69" fmla="*/ 255 h 262"/>
                  <a:gd name="T70" fmla="*/ 1092 w 1127"/>
                  <a:gd name="T71" fmla="*/ 255 h 262"/>
                  <a:gd name="T72" fmla="*/ 1127 w 1127"/>
                  <a:gd name="T73" fmla="*/ 262 h 2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262">
                    <a:moveTo>
                      <a:pt x="0" y="0"/>
                    </a:moveTo>
                    <a:lnTo>
                      <a:pt x="15" y="7"/>
                    </a:lnTo>
                    <a:lnTo>
                      <a:pt x="29" y="14"/>
                    </a:lnTo>
                    <a:lnTo>
                      <a:pt x="50" y="14"/>
                    </a:lnTo>
                    <a:lnTo>
                      <a:pt x="64" y="21"/>
                    </a:lnTo>
                    <a:lnTo>
                      <a:pt x="78" y="28"/>
                    </a:lnTo>
                    <a:lnTo>
                      <a:pt x="93" y="35"/>
                    </a:lnTo>
                    <a:lnTo>
                      <a:pt x="107" y="42"/>
                    </a:lnTo>
                    <a:lnTo>
                      <a:pt x="121" y="42"/>
                    </a:lnTo>
                    <a:lnTo>
                      <a:pt x="142" y="49"/>
                    </a:lnTo>
                    <a:lnTo>
                      <a:pt x="156" y="57"/>
                    </a:lnTo>
                    <a:lnTo>
                      <a:pt x="171" y="64"/>
                    </a:lnTo>
                    <a:lnTo>
                      <a:pt x="185" y="64"/>
                    </a:lnTo>
                    <a:lnTo>
                      <a:pt x="199" y="71"/>
                    </a:lnTo>
                    <a:lnTo>
                      <a:pt x="213" y="78"/>
                    </a:lnTo>
                    <a:lnTo>
                      <a:pt x="234" y="85"/>
                    </a:lnTo>
                    <a:lnTo>
                      <a:pt x="249" y="85"/>
                    </a:lnTo>
                    <a:lnTo>
                      <a:pt x="263" y="92"/>
                    </a:lnTo>
                    <a:lnTo>
                      <a:pt x="277" y="99"/>
                    </a:lnTo>
                    <a:lnTo>
                      <a:pt x="291" y="99"/>
                    </a:lnTo>
                    <a:lnTo>
                      <a:pt x="305" y="106"/>
                    </a:lnTo>
                    <a:lnTo>
                      <a:pt x="326" y="106"/>
                    </a:lnTo>
                    <a:lnTo>
                      <a:pt x="341" y="113"/>
                    </a:lnTo>
                    <a:lnTo>
                      <a:pt x="355" y="120"/>
                    </a:lnTo>
                    <a:lnTo>
                      <a:pt x="369" y="120"/>
                    </a:lnTo>
                    <a:lnTo>
                      <a:pt x="383" y="127"/>
                    </a:lnTo>
                    <a:lnTo>
                      <a:pt x="404" y="127"/>
                    </a:lnTo>
                    <a:lnTo>
                      <a:pt x="419" y="134"/>
                    </a:lnTo>
                    <a:lnTo>
                      <a:pt x="433" y="142"/>
                    </a:lnTo>
                    <a:lnTo>
                      <a:pt x="447" y="142"/>
                    </a:lnTo>
                    <a:lnTo>
                      <a:pt x="461" y="149"/>
                    </a:lnTo>
                    <a:lnTo>
                      <a:pt x="475" y="149"/>
                    </a:lnTo>
                    <a:lnTo>
                      <a:pt x="497" y="156"/>
                    </a:lnTo>
                    <a:lnTo>
                      <a:pt x="511" y="156"/>
                    </a:lnTo>
                    <a:lnTo>
                      <a:pt x="525" y="163"/>
                    </a:lnTo>
                    <a:lnTo>
                      <a:pt x="539" y="163"/>
                    </a:lnTo>
                    <a:lnTo>
                      <a:pt x="553" y="170"/>
                    </a:lnTo>
                    <a:lnTo>
                      <a:pt x="567" y="170"/>
                    </a:lnTo>
                    <a:lnTo>
                      <a:pt x="589" y="177"/>
                    </a:lnTo>
                    <a:lnTo>
                      <a:pt x="603" y="177"/>
                    </a:lnTo>
                    <a:lnTo>
                      <a:pt x="617" y="184"/>
                    </a:lnTo>
                    <a:lnTo>
                      <a:pt x="631" y="184"/>
                    </a:lnTo>
                    <a:lnTo>
                      <a:pt x="645" y="184"/>
                    </a:lnTo>
                    <a:lnTo>
                      <a:pt x="660" y="191"/>
                    </a:lnTo>
                    <a:lnTo>
                      <a:pt x="681" y="191"/>
                    </a:lnTo>
                    <a:lnTo>
                      <a:pt x="695" y="198"/>
                    </a:lnTo>
                    <a:lnTo>
                      <a:pt x="709" y="198"/>
                    </a:lnTo>
                    <a:lnTo>
                      <a:pt x="723" y="198"/>
                    </a:lnTo>
                    <a:lnTo>
                      <a:pt x="738" y="205"/>
                    </a:lnTo>
                    <a:lnTo>
                      <a:pt x="752" y="205"/>
                    </a:lnTo>
                    <a:lnTo>
                      <a:pt x="773" y="212"/>
                    </a:lnTo>
                    <a:lnTo>
                      <a:pt x="787" y="212"/>
                    </a:lnTo>
                    <a:lnTo>
                      <a:pt x="801" y="212"/>
                    </a:lnTo>
                    <a:lnTo>
                      <a:pt x="816" y="219"/>
                    </a:lnTo>
                    <a:lnTo>
                      <a:pt x="830" y="219"/>
                    </a:lnTo>
                    <a:lnTo>
                      <a:pt x="844" y="219"/>
                    </a:lnTo>
                    <a:lnTo>
                      <a:pt x="865" y="227"/>
                    </a:lnTo>
                    <a:lnTo>
                      <a:pt x="879" y="227"/>
                    </a:lnTo>
                    <a:lnTo>
                      <a:pt x="893" y="227"/>
                    </a:lnTo>
                    <a:lnTo>
                      <a:pt x="908" y="234"/>
                    </a:lnTo>
                    <a:lnTo>
                      <a:pt x="922" y="234"/>
                    </a:lnTo>
                    <a:lnTo>
                      <a:pt x="936" y="234"/>
                    </a:lnTo>
                    <a:lnTo>
                      <a:pt x="957" y="241"/>
                    </a:lnTo>
                    <a:lnTo>
                      <a:pt x="971" y="241"/>
                    </a:lnTo>
                    <a:lnTo>
                      <a:pt x="986" y="241"/>
                    </a:lnTo>
                    <a:lnTo>
                      <a:pt x="1000" y="248"/>
                    </a:lnTo>
                    <a:lnTo>
                      <a:pt x="1014" y="248"/>
                    </a:lnTo>
                    <a:lnTo>
                      <a:pt x="1028" y="248"/>
                    </a:lnTo>
                    <a:lnTo>
                      <a:pt x="1049" y="248"/>
                    </a:lnTo>
                    <a:lnTo>
                      <a:pt x="1064" y="255"/>
                    </a:lnTo>
                    <a:lnTo>
                      <a:pt x="1078" y="255"/>
                    </a:lnTo>
                    <a:lnTo>
                      <a:pt x="1092" y="255"/>
                    </a:lnTo>
                    <a:lnTo>
                      <a:pt x="1106" y="262"/>
                    </a:lnTo>
                    <a:lnTo>
                      <a:pt x="1127" y="262"/>
                    </a:lnTo>
                  </a:path>
                </a:pathLst>
              </a:custGeom>
              <a:noFill/>
              <a:ln w="22225">
                <a:solidFill>
                  <a:srgbClr val="007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6" name="Group 110">
              <a:extLst>
                <a:ext uri="{FF2B5EF4-FFF2-40B4-BE49-F238E27FC236}">
                  <a16:creationId xmlns:a16="http://schemas.microsoft.com/office/drawing/2014/main" id="{C0E89910-24C4-3B8B-6BC1-AA2209F35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3097"/>
              <a:ext cx="3076" cy="460"/>
              <a:chOff x="1252" y="3097"/>
              <a:chExt cx="3076" cy="460"/>
            </a:xfrm>
          </p:grpSpPr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7EF55B3C-BBAD-272E-CC50-AF2C90EC0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097"/>
                <a:ext cx="1949" cy="283"/>
              </a:xfrm>
              <a:custGeom>
                <a:avLst/>
                <a:gdLst>
                  <a:gd name="T0" fmla="*/ 29 w 1949"/>
                  <a:gd name="T1" fmla="*/ 0 h 283"/>
                  <a:gd name="T2" fmla="*/ 71 w 1949"/>
                  <a:gd name="T3" fmla="*/ 0 h 283"/>
                  <a:gd name="T4" fmla="*/ 121 w 1949"/>
                  <a:gd name="T5" fmla="*/ 0 h 283"/>
                  <a:gd name="T6" fmla="*/ 163 w 1949"/>
                  <a:gd name="T7" fmla="*/ 0 h 283"/>
                  <a:gd name="T8" fmla="*/ 213 w 1949"/>
                  <a:gd name="T9" fmla="*/ 0 h 283"/>
                  <a:gd name="T10" fmla="*/ 256 w 1949"/>
                  <a:gd name="T11" fmla="*/ 0 h 283"/>
                  <a:gd name="T12" fmla="*/ 305 w 1949"/>
                  <a:gd name="T13" fmla="*/ 0 h 283"/>
                  <a:gd name="T14" fmla="*/ 348 w 1949"/>
                  <a:gd name="T15" fmla="*/ 0 h 283"/>
                  <a:gd name="T16" fmla="*/ 397 w 1949"/>
                  <a:gd name="T17" fmla="*/ 0 h 283"/>
                  <a:gd name="T18" fmla="*/ 440 w 1949"/>
                  <a:gd name="T19" fmla="*/ 0 h 283"/>
                  <a:gd name="T20" fmla="*/ 489 w 1949"/>
                  <a:gd name="T21" fmla="*/ 0 h 283"/>
                  <a:gd name="T22" fmla="*/ 532 w 1949"/>
                  <a:gd name="T23" fmla="*/ 7 h 283"/>
                  <a:gd name="T24" fmla="*/ 582 w 1949"/>
                  <a:gd name="T25" fmla="*/ 7 h 283"/>
                  <a:gd name="T26" fmla="*/ 624 w 1949"/>
                  <a:gd name="T27" fmla="*/ 7 h 283"/>
                  <a:gd name="T28" fmla="*/ 674 w 1949"/>
                  <a:gd name="T29" fmla="*/ 14 h 283"/>
                  <a:gd name="T30" fmla="*/ 716 w 1949"/>
                  <a:gd name="T31" fmla="*/ 14 h 283"/>
                  <a:gd name="T32" fmla="*/ 766 w 1949"/>
                  <a:gd name="T33" fmla="*/ 21 h 283"/>
                  <a:gd name="T34" fmla="*/ 815 w 1949"/>
                  <a:gd name="T35" fmla="*/ 21 h 283"/>
                  <a:gd name="T36" fmla="*/ 858 w 1949"/>
                  <a:gd name="T37" fmla="*/ 28 h 283"/>
                  <a:gd name="T38" fmla="*/ 908 w 1949"/>
                  <a:gd name="T39" fmla="*/ 35 h 283"/>
                  <a:gd name="T40" fmla="*/ 950 w 1949"/>
                  <a:gd name="T41" fmla="*/ 42 h 283"/>
                  <a:gd name="T42" fmla="*/ 1000 w 1949"/>
                  <a:gd name="T43" fmla="*/ 49 h 283"/>
                  <a:gd name="T44" fmla="*/ 1042 w 1949"/>
                  <a:gd name="T45" fmla="*/ 56 h 283"/>
                  <a:gd name="T46" fmla="*/ 1092 w 1949"/>
                  <a:gd name="T47" fmla="*/ 63 h 283"/>
                  <a:gd name="T48" fmla="*/ 1134 w 1949"/>
                  <a:gd name="T49" fmla="*/ 71 h 283"/>
                  <a:gd name="T50" fmla="*/ 1184 w 1949"/>
                  <a:gd name="T51" fmla="*/ 85 h 283"/>
                  <a:gd name="T52" fmla="*/ 1227 w 1949"/>
                  <a:gd name="T53" fmla="*/ 92 h 283"/>
                  <a:gd name="T54" fmla="*/ 1276 w 1949"/>
                  <a:gd name="T55" fmla="*/ 106 h 283"/>
                  <a:gd name="T56" fmla="*/ 1319 w 1949"/>
                  <a:gd name="T57" fmla="*/ 120 h 283"/>
                  <a:gd name="T58" fmla="*/ 1368 w 1949"/>
                  <a:gd name="T59" fmla="*/ 127 h 283"/>
                  <a:gd name="T60" fmla="*/ 1411 w 1949"/>
                  <a:gd name="T61" fmla="*/ 141 h 283"/>
                  <a:gd name="T62" fmla="*/ 1460 w 1949"/>
                  <a:gd name="T63" fmla="*/ 156 h 283"/>
                  <a:gd name="T64" fmla="*/ 1503 w 1949"/>
                  <a:gd name="T65" fmla="*/ 170 h 283"/>
                  <a:gd name="T66" fmla="*/ 1553 w 1949"/>
                  <a:gd name="T67" fmla="*/ 184 h 283"/>
                  <a:gd name="T68" fmla="*/ 1595 w 1949"/>
                  <a:gd name="T69" fmla="*/ 191 h 283"/>
                  <a:gd name="T70" fmla="*/ 1645 w 1949"/>
                  <a:gd name="T71" fmla="*/ 205 h 283"/>
                  <a:gd name="T72" fmla="*/ 1687 w 1949"/>
                  <a:gd name="T73" fmla="*/ 219 h 283"/>
                  <a:gd name="T74" fmla="*/ 1737 w 1949"/>
                  <a:gd name="T75" fmla="*/ 234 h 283"/>
                  <a:gd name="T76" fmla="*/ 1779 w 1949"/>
                  <a:gd name="T77" fmla="*/ 241 h 283"/>
                  <a:gd name="T78" fmla="*/ 1829 w 1949"/>
                  <a:gd name="T79" fmla="*/ 255 h 283"/>
                  <a:gd name="T80" fmla="*/ 1871 w 1949"/>
                  <a:gd name="T81" fmla="*/ 269 h 283"/>
                  <a:gd name="T82" fmla="*/ 1921 w 1949"/>
                  <a:gd name="T83" fmla="*/ 276 h 28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283">
                    <a:moveTo>
                      <a:pt x="0" y="0"/>
                    </a:moveTo>
                    <a:lnTo>
                      <a:pt x="15" y="0"/>
                    </a:lnTo>
                    <a:lnTo>
                      <a:pt x="29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107" y="0"/>
                    </a:lnTo>
                    <a:lnTo>
                      <a:pt x="121" y="0"/>
                    </a:lnTo>
                    <a:lnTo>
                      <a:pt x="135" y="0"/>
                    </a:lnTo>
                    <a:lnTo>
                      <a:pt x="149" y="0"/>
                    </a:lnTo>
                    <a:lnTo>
                      <a:pt x="163" y="0"/>
                    </a:lnTo>
                    <a:lnTo>
                      <a:pt x="185" y="0"/>
                    </a:lnTo>
                    <a:lnTo>
                      <a:pt x="199" y="0"/>
                    </a:lnTo>
                    <a:lnTo>
                      <a:pt x="213" y="0"/>
                    </a:lnTo>
                    <a:lnTo>
                      <a:pt x="227" y="0"/>
                    </a:lnTo>
                    <a:lnTo>
                      <a:pt x="241" y="0"/>
                    </a:lnTo>
                    <a:lnTo>
                      <a:pt x="256" y="0"/>
                    </a:lnTo>
                    <a:lnTo>
                      <a:pt x="277" y="0"/>
                    </a:lnTo>
                    <a:lnTo>
                      <a:pt x="291" y="0"/>
                    </a:lnTo>
                    <a:lnTo>
                      <a:pt x="305" y="0"/>
                    </a:lnTo>
                    <a:lnTo>
                      <a:pt x="319" y="0"/>
                    </a:lnTo>
                    <a:lnTo>
                      <a:pt x="334" y="0"/>
                    </a:lnTo>
                    <a:lnTo>
                      <a:pt x="348" y="0"/>
                    </a:lnTo>
                    <a:lnTo>
                      <a:pt x="369" y="0"/>
                    </a:lnTo>
                    <a:lnTo>
                      <a:pt x="383" y="0"/>
                    </a:lnTo>
                    <a:lnTo>
                      <a:pt x="397" y="0"/>
                    </a:lnTo>
                    <a:lnTo>
                      <a:pt x="411" y="0"/>
                    </a:lnTo>
                    <a:lnTo>
                      <a:pt x="426" y="0"/>
                    </a:lnTo>
                    <a:lnTo>
                      <a:pt x="440" y="0"/>
                    </a:lnTo>
                    <a:lnTo>
                      <a:pt x="461" y="0"/>
                    </a:lnTo>
                    <a:lnTo>
                      <a:pt x="475" y="0"/>
                    </a:lnTo>
                    <a:lnTo>
                      <a:pt x="489" y="0"/>
                    </a:lnTo>
                    <a:lnTo>
                      <a:pt x="504" y="0"/>
                    </a:lnTo>
                    <a:lnTo>
                      <a:pt x="518" y="7"/>
                    </a:lnTo>
                    <a:lnTo>
                      <a:pt x="532" y="7"/>
                    </a:lnTo>
                    <a:lnTo>
                      <a:pt x="553" y="7"/>
                    </a:lnTo>
                    <a:lnTo>
                      <a:pt x="567" y="7"/>
                    </a:lnTo>
                    <a:lnTo>
                      <a:pt x="582" y="7"/>
                    </a:lnTo>
                    <a:lnTo>
                      <a:pt x="596" y="7"/>
                    </a:lnTo>
                    <a:lnTo>
                      <a:pt x="610" y="7"/>
                    </a:lnTo>
                    <a:lnTo>
                      <a:pt x="624" y="7"/>
                    </a:lnTo>
                    <a:lnTo>
                      <a:pt x="645" y="7"/>
                    </a:lnTo>
                    <a:lnTo>
                      <a:pt x="660" y="7"/>
                    </a:lnTo>
                    <a:lnTo>
                      <a:pt x="674" y="14"/>
                    </a:lnTo>
                    <a:lnTo>
                      <a:pt x="688" y="14"/>
                    </a:lnTo>
                    <a:lnTo>
                      <a:pt x="702" y="14"/>
                    </a:lnTo>
                    <a:lnTo>
                      <a:pt x="716" y="14"/>
                    </a:lnTo>
                    <a:lnTo>
                      <a:pt x="737" y="14"/>
                    </a:lnTo>
                    <a:lnTo>
                      <a:pt x="752" y="14"/>
                    </a:lnTo>
                    <a:lnTo>
                      <a:pt x="766" y="21"/>
                    </a:lnTo>
                    <a:lnTo>
                      <a:pt x="780" y="21"/>
                    </a:lnTo>
                    <a:lnTo>
                      <a:pt x="794" y="21"/>
                    </a:lnTo>
                    <a:lnTo>
                      <a:pt x="815" y="21"/>
                    </a:lnTo>
                    <a:lnTo>
                      <a:pt x="830" y="21"/>
                    </a:lnTo>
                    <a:lnTo>
                      <a:pt x="844" y="28"/>
                    </a:lnTo>
                    <a:lnTo>
                      <a:pt x="858" y="28"/>
                    </a:lnTo>
                    <a:lnTo>
                      <a:pt x="872" y="28"/>
                    </a:lnTo>
                    <a:lnTo>
                      <a:pt x="886" y="28"/>
                    </a:lnTo>
                    <a:lnTo>
                      <a:pt x="908" y="35"/>
                    </a:lnTo>
                    <a:lnTo>
                      <a:pt x="922" y="35"/>
                    </a:lnTo>
                    <a:lnTo>
                      <a:pt x="936" y="35"/>
                    </a:lnTo>
                    <a:lnTo>
                      <a:pt x="950" y="42"/>
                    </a:lnTo>
                    <a:lnTo>
                      <a:pt x="964" y="42"/>
                    </a:lnTo>
                    <a:lnTo>
                      <a:pt x="978" y="42"/>
                    </a:lnTo>
                    <a:lnTo>
                      <a:pt x="1000" y="49"/>
                    </a:lnTo>
                    <a:lnTo>
                      <a:pt x="1014" y="49"/>
                    </a:lnTo>
                    <a:lnTo>
                      <a:pt x="1028" y="49"/>
                    </a:lnTo>
                    <a:lnTo>
                      <a:pt x="1042" y="56"/>
                    </a:lnTo>
                    <a:lnTo>
                      <a:pt x="1056" y="56"/>
                    </a:lnTo>
                    <a:lnTo>
                      <a:pt x="1071" y="63"/>
                    </a:lnTo>
                    <a:lnTo>
                      <a:pt x="1092" y="63"/>
                    </a:lnTo>
                    <a:lnTo>
                      <a:pt x="1106" y="71"/>
                    </a:lnTo>
                    <a:lnTo>
                      <a:pt x="1120" y="71"/>
                    </a:lnTo>
                    <a:lnTo>
                      <a:pt x="1134" y="71"/>
                    </a:lnTo>
                    <a:lnTo>
                      <a:pt x="1149" y="78"/>
                    </a:lnTo>
                    <a:lnTo>
                      <a:pt x="1163" y="78"/>
                    </a:lnTo>
                    <a:lnTo>
                      <a:pt x="1184" y="85"/>
                    </a:lnTo>
                    <a:lnTo>
                      <a:pt x="1198" y="85"/>
                    </a:lnTo>
                    <a:lnTo>
                      <a:pt x="1212" y="92"/>
                    </a:lnTo>
                    <a:lnTo>
                      <a:pt x="1227" y="92"/>
                    </a:lnTo>
                    <a:lnTo>
                      <a:pt x="1241" y="99"/>
                    </a:lnTo>
                    <a:lnTo>
                      <a:pt x="1255" y="106"/>
                    </a:lnTo>
                    <a:lnTo>
                      <a:pt x="1276" y="106"/>
                    </a:lnTo>
                    <a:lnTo>
                      <a:pt x="1290" y="113"/>
                    </a:lnTo>
                    <a:lnTo>
                      <a:pt x="1304" y="113"/>
                    </a:lnTo>
                    <a:lnTo>
                      <a:pt x="1319" y="120"/>
                    </a:lnTo>
                    <a:lnTo>
                      <a:pt x="1333" y="120"/>
                    </a:lnTo>
                    <a:lnTo>
                      <a:pt x="1347" y="127"/>
                    </a:lnTo>
                    <a:lnTo>
                      <a:pt x="1368" y="127"/>
                    </a:lnTo>
                    <a:lnTo>
                      <a:pt x="1382" y="134"/>
                    </a:lnTo>
                    <a:lnTo>
                      <a:pt x="1397" y="141"/>
                    </a:lnTo>
                    <a:lnTo>
                      <a:pt x="1411" y="141"/>
                    </a:lnTo>
                    <a:lnTo>
                      <a:pt x="1425" y="148"/>
                    </a:lnTo>
                    <a:lnTo>
                      <a:pt x="1439" y="148"/>
                    </a:lnTo>
                    <a:lnTo>
                      <a:pt x="1460" y="156"/>
                    </a:lnTo>
                    <a:lnTo>
                      <a:pt x="1475" y="163"/>
                    </a:lnTo>
                    <a:lnTo>
                      <a:pt x="1489" y="163"/>
                    </a:lnTo>
                    <a:lnTo>
                      <a:pt x="1503" y="170"/>
                    </a:lnTo>
                    <a:lnTo>
                      <a:pt x="1517" y="170"/>
                    </a:lnTo>
                    <a:lnTo>
                      <a:pt x="1538" y="177"/>
                    </a:lnTo>
                    <a:lnTo>
                      <a:pt x="1553" y="184"/>
                    </a:lnTo>
                    <a:lnTo>
                      <a:pt x="1567" y="184"/>
                    </a:lnTo>
                    <a:lnTo>
                      <a:pt x="1581" y="191"/>
                    </a:lnTo>
                    <a:lnTo>
                      <a:pt x="1595" y="191"/>
                    </a:lnTo>
                    <a:lnTo>
                      <a:pt x="1609" y="198"/>
                    </a:lnTo>
                    <a:lnTo>
                      <a:pt x="1631" y="205"/>
                    </a:lnTo>
                    <a:lnTo>
                      <a:pt x="1645" y="205"/>
                    </a:lnTo>
                    <a:lnTo>
                      <a:pt x="1659" y="212"/>
                    </a:lnTo>
                    <a:lnTo>
                      <a:pt x="1673" y="212"/>
                    </a:lnTo>
                    <a:lnTo>
                      <a:pt x="1687" y="219"/>
                    </a:lnTo>
                    <a:lnTo>
                      <a:pt x="1701" y="226"/>
                    </a:lnTo>
                    <a:lnTo>
                      <a:pt x="1723" y="226"/>
                    </a:lnTo>
                    <a:lnTo>
                      <a:pt x="1737" y="234"/>
                    </a:lnTo>
                    <a:lnTo>
                      <a:pt x="1751" y="234"/>
                    </a:lnTo>
                    <a:lnTo>
                      <a:pt x="1765" y="241"/>
                    </a:lnTo>
                    <a:lnTo>
                      <a:pt x="1779" y="241"/>
                    </a:lnTo>
                    <a:lnTo>
                      <a:pt x="1794" y="248"/>
                    </a:lnTo>
                    <a:lnTo>
                      <a:pt x="1815" y="255"/>
                    </a:lnTo>
                    <a:lnTo>
                      <a:pt x="1829" y="255"/>
                    </a:lnTo>
                    <a:lnTo>
                      <a:pt x="1843" y="262"/>
                    </a:lnTo>
                    <a:lnTo>
                      <a:pt x="1857" y="262"/>
                    </a:lnTo>
                    <a:lnTo>
                      <a:pt x="1871" y="269"/>
                    </a:lnTo>
                    <a:lnTo>
                      <a:pt x="1886" y="269"/>
                    </a:lnTo>
                    <a:lnTo>
                      <a:pt x="1907" y="276"/>
                    </a:lnTo>
                    <a:lnTo>
                      <a:pt x="1921" y="276"/>
                    </a:lnTo>
                    <a:lnTo>
                      <a:pt x="1935" y="283"/>
                    </a:lnTo>
                    <a:lnTo>
                      <a:pt x="1949" y="283"/>
                    </a:lnTo>
                  </a:path>
                </a:pathLst>
              </a:custGeom>
              <a:noFill/>
              <a:ln w="2222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6F9F01C6-21DC-08AD-EC0D-8C06C0A57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380"/>
                <a:ext cx="1127" cy="177"/>
              </a:xfrm>
              <a:custGeom>
                <a:avLst/>
                <a:gdLst>
                  <a:gd name="T0" fmla="*/ 15 w 1127"/>
                  <a:gd name="T1" fmla="*/ 7 h 177"/>
                  <a:gd name="T2" fmla="*/ 50 w 1127"/>
                  <a:gd name="T3" fmla="*/ 14 h 177"/>
                  <a:gd name="T4" fmla="*/ 78 w 1127"/>
                  <a:gd name="T5" fmla="*/ 21 h 177"/>
                  <a:gd name="T6" fmla="*/ 107 w 1127"/>
                  <a:gd name="T7" fmla="*/ 28 h 177"/>
                  <a:gd name="T8" fmla="*/ 142 w 1127"/>
                  <a:gd name="T9" fmla="*/ 36 h 177"/>
                  <a:gd name="T10" fmla="*/ 171 w 1127"/>
                  <a:gd name="T11" fmla="*/ 43 h 177"/>
                  <a:gd name="T12" fmla="*/ 199 w 1127"/>
                  <a:gd name="T13" fmla="*/ 50 h 177"/>
                  <a:gd name="T14" fmla="*/ 234 w 1127"/>
                  <a:gd name="T15" fmla="*/ 57 h 177"/>
                  <a:gd name="T16" fmla="*/ 263 w 1127"/>
                  <a:gd name="T17" fmla="*/ 57 h 177"/>
                  <a:gd name="T18" fmla="*/ 291 w 1127"/>
                  <a:gd name="T19" fmla="*/ 64 h 177"/>
                  <a:gd name="T20" fmla="*/ 326 w 1127"/>
                  <a:gd name="T21" fmla="*/ 71 h 177"/>
                  <a:gd name="T22" fmla="*/ 355 w 1127"/>
                  <a:gd name="T23" fmla="*/ 78 h 177"/>
                  <a:gd name="T24" fmla="*/ 383 w 1127"/>
                  <a:gd name="T25" fmla="*/ 85 h 177"/>
                  <a:gd name="T26" fmla="*/ 419 w 1127"/>
                  <a:gd name="T27" fmla="*/ 85 h 177"/>
                  <a:gd name="T28" fmla="*/ 447 w 1127"/>
                  <a:gd name="T29" fmla="*/ 92 h 177"/>
                  <a:gd name="T30" fmla="*/ 475 w 1127"/>
                  <a:gd name="T31" fmla="*/ 99 h 177"/>
                  <a:gd name="T32" fmla="*/ 511 w 1127"/>
                  <a:gd name="T33" fmla="*/ 99 h 177"/>
                  <a:gd name="T34" fmla="*/ 539 w 1127"/>
                  <a:gd name="T35" fmla="*/ 106 h 177"/>
                  <a:gd name="T36" fmla="*/ 567 w 1127"/>
                  <a:gd name="T37" fmla="*/ 113 h 177"/>
                  <a:gd name="T38" fmla="*/ 603 w 1127"/>
                  <a:gd name="T39" fmla="*/ 113 h 177"/>
                  <a:gd name="T40" fmla="*/ 631 w 1127"/>
                  <a:gd name="T41" fmla="*/ 121 h 177"/>
                  <a:gd name="T42" fmla="*/ 660 w 1127"/>
                  <a:gd name="T43" fmla="*/ 128 h 177"/>
                  <a:gd name="T44" fmla="*/ 695 w 1127"/>
                  <a:gd name="T45" fmla="*/ 128 h 177"/>
                  <a:gd name="T46" fmla="*/ 723 w 1127"/>
                  <a:gd name="T47" fmla="*/ 135 h 177"/>
                  <a:gd name="T48" fmla="*/ 752 w 1127"/>
                  <a:gd name="T49" fmla="*/ 135 h 177"/>
                  <a:gd name="T50" fmla="*/ 787 w 1127"/>
                  <a:gd name="T51" fmla="*/ 142 h 177"/>
                  <a:gd name="T52" fmla="*/ 816 w 1127"/>
                  <a:gd name="T53" fmla="*/ 142 h 177"/>
                  <a:gd name="T54" fmla="*/ 844 w 1127"/>
                  <a:gd name="T55" fmla="*/ 149 h 177"/>
                  <a:gd name="T56" fmla="*/ 879 w 1127"/>
                  <a:gd name="T57" fmla="*/ 149 h 177"/>
                  <a:gd name="T58" fmla="*/ 908 w 1127"/>
                  <a:gd name="T59" fmla="*/ 156 h 177"/>
                  <a:gd name="T60" fmla="*/ 936 w 1127"/>
                  <a:gd name="T61" fmla="*/ 156 h 177"/>
                  <a:gd name="T62" fmla="*/ 971 w 1127"/>
                  <a:gd name="T63" fmla="*/ 163 h 177"/>
                  <a:gd name="T64" fmla="*/ 1000 w 1127"/>
                  <a:gd name="T65" fmla="*/ 163 h 177"/>
                  <a:gd name="T66" fmla="*/ 1028 w 1127"/>
                  <a:gd name="T67" fmla="*/ 170 h 177"/>
                  <a:gd name="T68" fmla="*/ 1064 w 1127"/>
                  <a:gd name="T69" fmla="*/ 170 h 177"/>
                  <a:gd name="T70" fmla="*/ 1092 w 1127"/>
                  <a:gd name="T71" fmla="*/ 170 h 177"/>
                  <a:gd name="T72" fmla="*/ 1127 w 1127"/>
                  <a:gd name="T73" fmla="*/ 177 h 17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177">
                    <a:moveTo>
                      <a:pt x="0" y="0"/>
                    </a:moveTo>
                    <a:lnTo>
                      <a:pt x="15" y="7"/>
                    </a:lnTo>
                    <a:lnTo>
                      <a:pt x="29" y="7"/>
                    </a:lnTo>
                    <a:lnTo>
                      <a:pt x="50" y="14"/>
                    </a:lnTo>
                    <a:lnTo>
                      <a:pt x="64" y="14"/>
                    </a:lnTo>
                    <a:lnTo>
                      <a:pt x="78" y="21"/>
                    </a:lnTo>
                    <a:lnTo>
                      <a:pt x="93" y="21"/>
                    </a:lnTo>
                    <a:lnTo>
                      <a:pt x="107" y="28"/>
                    </a:lnTo>
                    <a:lnTo>
                      <a:pt x="121" y="28"/>
                    </a:lnTo>
                    <a:lnTo>
                      <a:pt x="142" y="36"/>
                    </a:lnTo>
                    <a:lnTo>
                      <a:pt x="156" y="36"/>
                    </a:lnTo>
                    <a:lnTo>
                      <a:pt x="171" y="43"/>
                    </a:lnTo>
                    <a:lnTo>
                      <a:pt x="185" y="43"/>
                    </a:lnTo>
                    <a:lnTo>
                      <a:pt x="199" y="50"/>
                    </a:lnTo>
                    <a:lnTo>
                      <a:pt x="213" y="50"/>
                    </a:lnTo>
                    <a:lnTo>
                      <a:pt x="234" y="57"/>
                    </a:lnTo>
                    <a:lnTo>
                      <a:pt x="249" y="57"/>
                    </a:lnTo>
                    <a:lnTo>
                      <a:pt x="263" y="57"/>
                    </a:lnTo>
                    <a:lnTo>
                      <a:pt x="277" y="64"/>
                    </a:lnTo>
                    <a:lnTo>
                      <a:pt x="291" y="64"/>
                    </a:lnTo>
                    <a:lnTo>
                      <a:pt x="305" y="71"/>
                    </a:lnTo>
                    <a:lnTo>
                      <a:pt x="326" y="71"/>
                    </a:lnTo>
                    <a:lnTo>
                      <a:pt x="341" y="71"/>
                    </a:lnTo>
                    <a:lnTo>
                      <a:pt x="355" y="78"/>
                    </a:lnTo>
                    <a:lnTo>
                      <a:pt x="369" y="78"/>
                    </a:lnTo>
                    <a:lnTo>
                      <a:pt x="383" y="85"/>
                    </a:lnTo>
                    <a:lnTo>
                      <a:pt x="404" y="85"/>
                    </a:lnTo>
                    <a:lnTo>
                      <a:pt x="419" y="85"/>
                    </a:lnTo>
                    <a:lnTo>
                      <a:pt x="433" y="92"/>
                    </a:lnTo>
                    <a:lnTo>
                      <a:pt x="447" y="92"/>
                    </a:lnTo>
                    <a:lnTo>
                      <a:pt x="461" y="92"/>
                    </a:lnTo>
                    <a:lnTo>
                      <a:pt x="475" y="99"/>
                    </a:lnTo>
                    <a:lnTo>
                      <a:pt x="497" y="99"/>
                    </a:lnTo>
                    <a:lnTo>
                      <a:pt x="511" y="99"/>
                    </a:lnTo>
                    <a:lnTo>
                      <a:pt x="525" y="106"/>
                    </a:lnTo>
                    <a:lnTo>
                      <a:pt x="539" y="106"/>
                    </a:lnTo>
                    <a:lnTo>
                      <a:pt x="553" y="106"/>
                    </a:lnTo>
                    <a:lnTo>
                      <a:pt x="567" y="113"/>
                    </a:lnTo>
                    <a:lnTo>
                      <a:pt x="589" y="113"/>
                    </a:lnTo>
                    <a:lnTo>
                      <a:pt x="603" y="113"/>
                    </a:lnTo>
                    <a:lnTo>
                      <a:pt x="617" y="121"/>
                    </a:lnTo>
                    <a:lnTo>
                      <a:pt x="631" y="121"/>
                    </a:lnTo>
                    <a:lnTo>
                      <a:pt x="645" y="121"/>
                    </a:lnTo>
                    <a:lnTo>
                      <a:pt x="660" y="128"/>
                    </a:lnTo>
                    <a:lnTo>
                      <a:pt x="681" y="128"/>
                    </a:lnTo>
                    <a:lnTo>
                      <a:pt x="695" y="128"/>
                    </a:lnTo>
                    <a:lnTo>
                      <a:pt x="709" y="128"/>
                    </a:lnTo>
                    <a:lnTo>
                      <a:pt x="723" y="135"/>
                    </a:lnTo>
                    <a:lnTo>
                      <a:pt x="738" y="135"/>
                    </a:lnTo>
                    <a:lnTo>
                      <a:pt x="752" y="135"/>
                    </a:lnTo>
                    <a:lnTo>
                      <a:pt x="773" y="135"/>
                    </a:lnTo>
                    <a:lnTo>
                      <a:pt x="787" y="142"/>
                    </a:lnTo>
                    <a:lnTo>
                      <a:pt x="801" y="142"/>
                    </a:lnTo>
                    <a:lnTo>
                      <a:pt x="816" y="142"/>
                    </a:lnTo>
                    <a:lnTo>
                      <a:pt x="830" y="149"/>
                    </a:lnTo>
                    <a:lnTo>
                      <a:pt x="844" y="149"/>
                    </a:lnTo>
                    <a:lnTo>
                      <a:pt x="865" y="149"/>
                    </a:lnTo>
                    <a:lnTo>
                      <a:pt x="879" y="149"/>
                    </a:lnTo>
                    <a:lnTo>
                      <a:pt x="893" y="156"/>
                    </a:lnTo>
                    <a:lnTo>
                      <a:pt x="908" y="156"/>
                    </a:lnTo>
                    <a:lnTo>
                      <a:pt x="922" y="156"/>
                    </a:lnTo>
                    <a:lnTo>
                      <a:pt x="936" y="156"/>
                    </a:lnTo>
                    <a:lnTo>
                      <a:pt x="957" y="156"/>
                    </a:lnTo>
                    <a:lnTo>
                      <a:pt x="971" y="163"/>
                    </a:lnTo>
                    <a:lnTo>
                      <a:pt x="986" y="163"/>
                    </a:lnTo>
                    <a:lnTo>
                      <a:pt x="1000" y="163"/>
                    </a:lnTo>
                    <a:lnTo>
                      <a:pt x="1014" y="163"/>
                    </a:lnTo>
                    <a:lnTo>
                      <a:pt x="1028" y="170"/>
                    </a:lnTo>
                    <a:lnTo>
                      <a:pt x="1049" y="170"/>
                    </a:lnTo>
                    <a:lnTo>
                      <a:pt x="1064" y="170"/>
                    </a:lnTo>
                    <a:lnTo>
                      <a:pt x="1078" y="170"/>
                    </a:lnTo>
                    <a:lnTo>
                      <a:pt x="1092" y="170"/>
                    </a:lnTo>
                    <a:lnTo>
                      <a:pt x="1106" y="177"/>
                    </a:lnTo>
                    <a:lnTo>
                      <a:pt x="1127" y="177"/>
                    </a:lnTo>
                  </a:path>
                </a:pathLst>
              </a:custGeom>
              <a:noFill/>
              <a:ln w="2222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7" name="Group 113">
              <a:extLst>
                <a:ext uri="{FF2B5EF4-FFF2-40B4-BE49-F238E27FC236}">
                  <a16:creationId xmlns:a16="http://schemas.microsoft.com/office/drawing/2014/main" id="{02898196-4FC0-8EE8-B295-3EF561B22E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6" y="3097"/>
              <a:ext cx="3076" cy="482"/>
              <a:chOff x="1252" y="3097"/>
              <a:chExt cx="3076" cy="482"/>
            </a:xfrm>
          </p:grpSpPr>
          <p:sp>
            <p:nvSpPr>
              <p:cNvPr id="110" name="Freeform 114">
                <a:extLst>
                  <a:ext uri="{FF2B5EF4-FFF2-40B4-BE49-F238E27FC236}">
                    <a16:creationId xmlns:a16="http://schemas.microsoft.com/office/drawing/2014/main" id="{CD634DD8-B568-DD5A-C36E-C9B49B7D6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2" y="3097"/>
                <a:ext cx="1949" cy="375"/>
              </a:xfrm>
              <a:custGeom>
                <a:avLst/>
                <a:gdLst>
                  <a:gd name="T0" fmla="*/ 29 w 1949"/>
                  <a:gd name="T1" fmla="*/ 0 h 375"/>
                  <a:gd name="T2" fmla="*/ 71 w 1949"/>
                  <a:gd name="T3" fmla="*/ 0 h 375"/>
                  <a:gd name="T4" fmla="*/ 121 w 1949"/>
                  <a:gd name="T5" fmla="*/ 7 h 375"/>
                  <a:gd name="T6" fmla="*/ 163 w 1949"/>
                  <a:gd name="T7" fmla="*/ 7 h 375"/>
                  <a:gd name="T8" fmla="*/ 213 w 1949"/>
                  <a:gd name="T9" fmla="*/ 14 h 375"/>
                  <a:gd name="T10" fmla="*/ 256 w 1949"/>
                  <a:gd name="T11" fmla="*/ 14 h 375"/>
                  <a:gd name="T12" fmla="*/ 305 w 1949"/>
                  <a:gd name="T13" fmla="*/ 21 h 375"/>
                  <a:gd name="T14" fmla="*/ 348 w 1949"/>
                  <a:gd name="T15" fmla="*/ 28 h 375"/>
                  <a:gd name="T16" fmla="*/ 397 w 1949"/>
                  <a:gd name="T17" fmla="*/ 35 h 375"/>
                  <a:gd name="T18" fmla="*/ 440 w 1949"/>
                  <a:gd name="T19" fmla="*/ 49 h 375"/>
                  <a:gd name="T20" fmla="*/ 489 w 1949"/>
                  <a:gd name="T21" fmla="*/ 56 h 375"/>
                  <a:gd name="T22" fmla="*/ 532 w 1949"/>
                  <a:gd name="T23" fmla="*/ 63 h 375"/>
                  <a:gd name="T24" fmla="*/ 582 w 1949"/>
                  <a:gd name="T25" fmla="*/ 78 h 375"/>
                  <a:gd name="T26" fmla="*/ 624 w 1949"/>
                  <a:gd name="T27" fmla="*/ 85 h 375"/>
                  <a:gd name="T28" fmla="*/ 674 w 1949"/>
                  <a:gd name="T29" fmla="*/ 99 h 375"/>
                  <a:gd name="T30" fmla="*/ 716 w 1949"/>
                  <a:gd name="T31" fmla="*/ 106 h 375"/>
                  <a:gd name="T32" fmla="*/ 766 w 1949"/>
                  <a:gd name="T33" fmla="*/ 120 h 375"/>
                  <a:gd name="T34" fmla="*/ 815 w 1949"/>
                  <a:gd name="T35" fmla="*/ 134 h 375"/>
                  <a:gd name="T36" fmla="*/ 858 w 1949"/>
                  <a:gd name="T37" fmla="*/ 141 h 375"/>
                  <a:gd name="T38" fmla="*/ 908 w 1949"/>
                  <a:gd name="T39" fmla="*/ 156 h 375"/>
                  <a:gd name="T40" fmla="*/ 950 w 1949"/>
                  <a:gd name="T41" fmla="*/ 170 h 375"/>
                  <a:gd name="T42" fmla="*/ 1000 w 1949"/>
                  <a:gd name="T43" fmla="*/ 177 h 375"/>
                  <a:gd name="T44" fmla="*/ 1042 w 1949"/>
                  <a:gd name="T45" fmla="*/ 191 h 375"/>
                  <a:gd name="T46" fmla="*/ 1092 w 1949"/>
                  <a:gd name="T47" fmla="*/ 205 h 375"/>
                  <a:gd name="T48" fmla="*/ 1134 w 1949"/>
                  <a:gd name="T49" fmla="*/ 212 h 375"/>
                  <a:gd name="T50" fmla="*/ 1184 w 1949"/>
                  <a:gd name="T51" fmla="*/ 226 h 375"/>
                  <a:gd name="T52" fmla="*/ 1227 w 1949"/>
                  <a:gd name="T53" fmla="*/ 234 h 375"/>
                  <a:gd name="T54" fmla="*/ 1276 w 1949"/>
                  <a:gd name="T55" fmla="*/ 248 h 375"/>
                  <a:gd name="T56" fmla="*/ 1319 w 1949"/>
                  <a:gd name="T57" fmla="*/ 255 h 375"/>
                  <a:gd name="T58" fmla="*/ 1368 w 1949"/>
                  <a:gd name="T59" fmla="*/ 269 h 375"/>
                  <a:gd name="T60" fmla="*/ 1411 w 1949"/>
                  <a:gd name="T61" fmla="*/ 276 h 375"/>
                  <a:gd name="T62" fmla="*/ 1460 w 1949"/>
                  <a:gd name="T63" fmla="*/ 290 h 375"/>
                  <a:gd name="T64" fmla="*/ 1503 w 1949"/>
                  <a:gd name="T65" fmla="*/ 297 h 375"/>
                  <a:gd name="T66" fmla="*/ 1553 w 1949"/>
                  <a:gd name="T67" fmla="*/ 304 h 375"/>
                  <a:gd name="T68" fmla="*/ 1595 w 1949"/>
                  <a:gd name="T69" fmla="*/ 311 h 375"/>
                  <a:gd name="T70" fmla="*/ 1645 w 1949"/>
                  <a:gd name="T71" fmla="*/ 326 h 375"/>
                  <a:gd name="T72" fmla="*/ 1687 w 1949"/>
                  <a:gd name="T73" fmla="*/ 333 h 375"/>
                  <a:gd name="T74" fmla="*/ 1737 w 1949"/>
                  <a:gd name="T75" fmla="*/ 340 h 375"/>
                  <a:gd name="T76" fmla="*/ 1779 w 1949"/>
                  <a:gd name="T77" fmla="*/ 347 h 375"/>
                  <a:gd name="T78" fmla="*/ 1829 w 1949"/>
                  <a:gd name="T79" fmla="*/ 354 h 375"/>
                  <a:gd name="T80" fmla="*/ 1871 w 1949"/>
                  <a:gd name="T81" fmla="*/ 361 h 375"/>
                  <a:gd name="T82" fmla="*/ 1921 w 1949"/>
                  <a:gd name="T83" fmla="*/ 368 h 37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949" h="375">
                    <a:moveTo>
                      <a:pt x="0" y="0"/>
                    </a:moveTo>
                    <a:lnTo>
                      <a:pt x="15" y="0"/>
                    </a:lnTo>
                    <a:lnTo>
                      <a:pt x="29" y="0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71" y="0"/>
                    </a:lnTo>
                    <a:lnTo>
                      <a:pt x="93" y="0"/>
                    </a:lnTo>
                    <a:lnTo>
                      <a:pt x="107" y="0"/>
                    </a:lnTo>
                    <a:lnTo>
                      <a:pt x="121" y="7"/>
                    </a:lnTo>
                    <a:lnTo>
                      <a:pt x="135" y="7"/>
                    </a:lnTo>
                    <a:lnTo>
                      <a:pt x="149" y="7"/>
                    </a:lnTo>
                    <a:lnTo>
                      <a:pt x="163" y="7"/>
                    </a:lnTo>
                    <a:lnTo>
                      <a:pt x="185" y="7"/>
                    </a:lnTo>
                    <a:lnTo>
                      <a:pt x="199" y="7"/>
                    </a:lnTo>
                    <a:lnTo>
                      <a:pt x="213" y="14"/>
                    </a:lnTo>
                    <a:lnTo>
                      <a:pt x="227" y="14"/>
                    </a:lnTo>
                    <a:lnTo>
                      <a:pt x="241" y="14"/>
                    </a:lnTo>
                    <a:lnTo>
                      <a:pt x="256" y="14"/>
                    </a:lnTo>
                    <a:lnTo>
                      <a:pt x="277" y="21"/>
                    </a:lnTo>
                    <a:lnTo>
                      <a:pt x="291" y="21"/>
                    </a:lnTo>
                    <a:lnTo>
                      <a:pt x="305" y="21"/>
                    </a:lnTo>
                    <a:lnTo>
                      <a:pt x="319" y="28"/>
                    </a:lnTo>
                    <a:lnTo>
                      <a:pt x="334" y="28"/>
                    </a:lnTo>
                    <a:lnTo>
                      <a:pt x="348" y="28"/>
                    </a:lnTo>
                    <a:lnTo>
                      <a:pt x="369" y="35"/>
                    </a:lnTo>
                    <a:lnTo>
                      <a:pt x="383" y="35"/>
                    </a:lnTo>
                    <a:lnTo>
                      <a:pt x="397" y="35"/>
                    </a:lnTo>
                    <a:lnTo>
                      <a:pt x="411" y="42"/>
                    </a:lnTo>
                    <a:lnTo>
                      <a:pt x="426" y="42"/>
                    </a:lnTo>
                    <a:lnTo>
                      <a:pt x="440" y="49"/>
                    </a:lnTo>
                    <a:lnTo>
                      <a:pt x="461" y="49"/>
                    </a:lnTo>
                    <a:lnTo>
                      <a:pt x="475" y="49"/>
                    </a:lnTo>
                    <a:lnTo>
                      <a:pt x="489" y="56"/>
                    </a:lnTo>
                    <a:lnTo>
                      <a:pt x="504" y="56"/>
                    </a:lnTo>
                    <a:lnTo>
                      <a:pt x="518" y="63"/>
                    </a:lnTo>
                    <a:lnTo>
                      <a:pt x="532" y="63"/>
                    </a:lnTo>
                    <a:lnTo>
                      <a:pt x="553" y="71"/>
                    </a:lnTo>
                    <a:lnTo>
                      <a:pt x="567" y="71"/>
                    </a:lnTo>
                    <a:lnTo>
                      <a:pt x="582" y="78"/>
                    </a:lnTo>
                    <a:lnTo>
                      <a:pt x="596" y="78"/>
                    </a:lnTo>
                    <a:lnTo>
                      <a:pt x="610" y="85"/>
                    </a:lnTo>
                    <a:lnTo>
                      <a:pt x="624" y="85"/>
                    </a:lnTo>
                    <a:lnTo>
                      <a:pt x="645" y="92"/>
                    </a:lnTo>
                    <a:lnTo>
                      <a:pt x="660" y="92"/>
                    </a:lnTo>
                    <a:lnTo>
                      <a:pt x="674" y="99"/>
                    </a:lnTo>
                    <a:lnTo>
                      <a:pt x="688" y="99"/>
                    </a:lnTo>
                    <a:lnTo>
                      <a:pt x="702" y="106"/>
                    </a:lnTo>
                    <a:lnTo>
                      <a:pt x="716" y="106"/>
                    </a:lnTo>
                    <a:lnTo>
                      <a:pt x="737" y="113"/>
                    </a:lnTo>
                    <a:lnTo>
                      <a:pt x="752" y="120"/>
                    </a:lnTo>
                    <a:lnTo>
                      <a:pt x="766" y="120"/>
                    </a:lnTo>
                    <a:lnTo>
                      <a:pt x="780" y="127"/>
                    </a:lnTo>
                    <a:lnTo>
                      <a:pt x="794" y="127"/>
                    </a:lnTo>
                    <a:lnTo>
                      <a:pt x="815" y="134"/>
                    </a:lnTo>
                    <a:lnTo>
                      <a:pt x="830" y="134"/>
                    </a:lnTo>
                    <a:lnTo>
                      <a:pt x="844" y="141"/>
                    </a:lnTo>
                    <a:lnTo>
                      <a:pt x="858" y="141"/>
                    </a:lnTo>
                    <a:lnTo>
                      <a:pt x="872" y="148"/>
                    </a:lnTo>
                    <a:lnTo>
                      <a:pt x="886" y="156"/>
                    </a:lnTo>
                    <a:lnTo>
                      <a:pt x="908" y="156"/>
                    </a:lnTo>
                    <a:lnTo>
                      <a:pt x="922" y="163"/>
                    </a:lnTo>
                    <a:lnTo>
                      <a:pt x="936" y="163"/>
                    </a:lnTo>
                    <a:lnTo>
                      <a:pt x="950" y="170"/>
                    </a:lnTo>
                    <a:lnTo>
                      <a:pt x="964" y="170"/>
                    </a:lnTo>
                    <a:lnTo>
                      <a:pt x="978" y="177"/>
                    </a:lnTo>
                    <a:lnTo>
                      <a:pt x="1000" y="177"/>
                    </a:lnTo>
                    <a:lnTo>
                      <a:pt x="1014" y="184"/>
                    </a:lnTo>
                    <a:lnTo>
                      <a:pt x="1028" y="184"/>
                    </a:lnTo>
                    <a:lnTo>
                      <a:pt x="1042" y="191"/>
                    </a:lnTo>
                    <a:lnTo>
                      <a:pt x="1056" y="198"/>
                    </a:lnTo>
                    <a:lnTo>
                      <a:pt x="1071" y="198"/>
                    </a:lnTo>
                    <a:lnTo>
                      <a:pt x="1092" y="205"/>
                    </a:lnTo>
                    <a:lnTo>
                      <a:pt x="1106" y="205"/>
                    </a:lnTo>
                    <a:lnTo>
                      <a:pt x="1120" y="212"/>
                    </a:lnTo>
                    <a:lnTo>
                      <a:pt x="1134" y="212"/>
                    </a:lnTo>
                    <a:lnTo>
                      <a:pt x="1149" y="219"/>
                    </a:lnTo>
                    <a:lnTo>
                      <a:pt x="1163" y="219"/>
                    </a:lnTo>
                    <a:lnTo>
                      <a:pt x="1184" y="226"/>
                    </a:lnTo>
                    <a:lnTo>
                      <a:pt x="1198" y="226"/>
                    </a:lnTo>
                    <a:lnTo>
                      <a:pt x="1212" y="234"/>
                    </a:lnTo>
                    <a:lnTo>
                      <a:pt x="1227" y="234"/>
                    </a:lnTo>
                    <a:lnTo>
                      <a:pt x="1241" y="241"/>
                    </a:lnTo>
                    <a:lnTo>
                      <a:pt x="1255" y="241"/>
                    </a:lnTo>
                    <a:lnTo>
                      <a:pt x="1276" y="248"/>
                    </a:lnTo>
                    <a:lnTo>
                      <a:pt x="1290" y="248"/>
                    </a:lnTo>
                    <a:lnTo>
                      <a:pt x="1304" y="255"/>
                    </a:lnTo>
                    <a:lnTo>
                      <a:pt x="1319" y="255"/>
                    </a:lnTo>
                    <a:lnTo>
                      <a:pt x="1333" y="262"/>
                    </a:lnTo>
                    <a:lnTo>
                      <a:pt x="1347" y="262"/>
                    </a:lnTo>
                    <a:lnTo>
                      <a:pt x="1368" y="269"/>
                    </a:lnTo>
                    <a:lnTo>
                      <a:pt x="1382" y="269"/>
                    </a:lnTo>
                    <a:lnTo>
                      <a:pt x="1397" y="276"/>
                    </a:lnTo>
                    <a:lnTo>
                      <a:pt x="1411" y="276"/>
                    </a:lnTo>
                    <a:lnTo>
                      <a:pt x="1425" y="283"/>
                    </a:lnTo>
                    <a:lnTo>
                      <a:pt x="1439" y="283"/>
                    </a:lnTo>
                    <a:lnTo>
                      <a:pt x="1460" y="290"/>
                    </a:lnTo>
                    <a:lnTo>
                      <a:pt x="1475" y="290"/>
                    </a:lnTo>
                    <a:lnTo>
                      <a:pt x="1489" y="290"/>
                    </a:lnTo>
                    <a:lnTo>
                      <a:pt x="1503" y="297"/>
                    </a:lnTo>
                    <a:lnTo>
                      <a:pt x="1517" y="297"/>
                    </a:lnTo>
                    <a:lnTo>
                      <a:pt x="1538" y="304"/>
                    </a:lnTo>
                    <a:lnTo>
                      <a:pt x="1553" y="304"/>
                    </a:lnTo>
                    <a:lnTo>
                      <a:pt x="1567" y="311"/>
                    </a:lnTo>
                    <a:lnTo>
                      <a:pt x="1581" y="311"/>
                    </a:lnTo>
                    <a:lnTo>
                      <a:pt x="1595" y="311"/>
                    </a:lnTo>
                    <a:lnTo>
                      <a:pt x="1609" y="319"/>
                    </a:lnTo>
                    <a:lnTo>
                      <a:pt x="1631" y="319"/>
                    </a:lnTo>
                    <a:lnTo>
                      <a:pt x="1645" y="326"/>
                    </a:lnTo>
                    <a:lnTo>
                      <a:pt x="1659" y="326"/>
                    </a:lnTo>
                    <a:lnTo>
                      <a:pt x="1673" y="326"/>
                    </a:lnTo>
                    <a:lnTo>
                      <a:pt x="1687" y="333"/>
                    </a:lnTo>
                    <a:lnTo>
                      <a:pt x="1701" y="333"/>
                    </a:lnTo>
                    <a:lnTo>
                      <a:pt x="1723" y="340"/>
                    </a:lnTo>
                    <a:lnTo>
                      <a:pt x="1737" y="340"/>
                    </a:lnTo>
                    <a:lnTo>
                      <a:pt x="1751" y="340"/>
                    </a:lnTo>
                    <a:lnTo>
                      <a:pt x="1765" y="347"/>
                    </a:lnTo>
                    <a:lnTo>
                      <a:pt x="1779" y="347"/>
                    </a:lnTo>
                    <a:lnTo>
                      <a:pt x="1794" y="347"/>
                    </a:lnTo>
                    <a:lnTo>
                      <a:pt x="1815" y="354"/>
                    </a:lnTo>
                    <a:lnTo>
                      <a:pt x="1829" y="354"/>
                    </a:lnTo>
                    <a:lnTo>
                      <a:pt x="1843" y="354"/>
                    </a:lnTo>
                    <a:lnTo>
                      <a:pt x="1857" y="361"/>
                    </a:lnTo>
                    <a:lnTo>
                      <a:pt x="1871" y="361"/>
                    </a:lnTo>
                    <a:lnTo>
                      <a:pt x="1886" y="361"/>
                    </a:lnTo>
                    <a:lnTo>
                      <a:pt x="1907" y="368"/>
                    </a:lnTo>
                    <a:lnTo>
                      <a:pt x="1921" y="368"/>
                    </a:lnTo>
                    <a:lnTo>
                      <a:pt x="1935" y="368"/>
                    </a:lnTo>
                    <a:lnTo>
                      <a:pt x="1949" y="375"/>
                    </a:lnTo>
                  </a:path>
                </a:pathLst>
              </a:cu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Freeform 115">
                <a:extLst>
                  <a:ext uri="{FF2B5EF4-FFF2-40B4-BE49-F238E27FC236}">
                    <a16:creationId xmlns:a16="http://schemas.microsoft.com/office/drawing/2014/main" id="{1B130141-AAD1-61B4-7229-8149B38EC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1" y="3472"/>
                <a:ext cx="1127" cy="107"/>
              </a:xfrm>
              <a:custGeom>
                <a:avLst/>
                <a:gdLst>
                  <a:gd name="T0" fmla="*/ 15 w 1127"/>
                  <a:gd name="T1" fmla="*/ 0 h 107"/>
                  <a:gd name="T2" fmla="*/ 50 w 1127"/>
                  <a:gd name="T3" fmla="*/ 7 h 107"/>
                  <a:gd name="T4" fmla="*/ 78 w 1127"/>
                  <a:gd name="T5" fmla="*/ 7 h 107"/>
                  <a:gd name="T6" fmla="*/ 107 w 1127"/>
                  <a:gd name="T7" fmla="*/ 14 h 107"/>
                  <a:gd name="T8" fmla="*/ 142 w 1127"/>
                  <a:gd name="T9" fmla="*/ 14 h 107"/>
                  <a:gd name="T10" fmla="*/ 171 w 1127"/>
                  <a:gd name="T11" fmla="*/ 21 h 107"/>
                  <a:gd name="T12" fmla="*/ 199 w 1127"/>
                  <a:gd name="T13" fmla="*/ 29 h 107"/>
                  <a:gd name="T14" fmla="*/ 234 w 1127"/>
                  <a:gd name="T15" fmla="*/ 29 h 107"/>
                  <a:gd name="T16" fmla="*/ 263 w 1127"/>
                  <a:gd name="T17" fmla="*/ 36 h 107"/>
                  <a:gd name="T18" fmla="*/ 291 w 1127"/>
                  <a:gd name="T19" fmla="*/ 36 h 107"/>
                  <a:gd name="T20" fmla="*/ 326 w 1127"/>
                  <a:gd name="T21" fmla="*/ 43 h 107"/>
                  <a:gd name="T22" fmla="*/ 355 w 1127"/>
                  <a:gd name="T23" fmla="*/ 43 h 107"/>
                  <a:gd name="T24" fmla="*/ 383 w 1127"/>
                  <a:gd name="T25" fmla="*/ 50 h 107"/>
                  <a:gd name="T26" fmla="*/ 419 w 1127"/>
                  <a:gd name="T27" fmla="*/ 50 h 107"/>
                  <a:gd name="T28" fmla="*/ 447 w 1127"/>
                  <a:gd name="T29" fmla="*/ 57 h 107"/>
                  <a:gd name="T30" fmla="*/ 475 w 1127"/>
                  <a:gd name="T31" fmla="*/ 57 h 107"/>
                  <a:gd name="T32" fmla="*/ 511 w 1127"/>
                  <a:gd name="T33" fmla="*/ 57 h 107"/>
                  <a:gd name="T34" fmla="*/ 539 w 1127"/>
                  <a:gd name="T35" fmla="*/ 64 h 107"/>
                  <a:gd name="T36" fmla="*/ 567 w 1127"/>
                  <a:gd name="T37" fmla="*/ 64 h 107"/>
                  <a:gd name="T38" fmla="*/ 603 w 1127"/>
                  <a:gd name="T39" fmla="*/ 71 h 107"/>
                  <a:gd name="T40" fmla="*/ 631 w 1127"/>
                  <a:gd name="T41" fmla="*/ 71 h 107"/>
                  <a:gd name="T42" fmla="*/ 660 w 1127"/>
                  <a:gd name="T43" fmla="*/ 78 h 107"/>
                  <a:gd name="T44" fmla="*/ 695 w 1127"/>
                  <a:gd name="T45" fmla="*/ 78 h 107"/>
                  <a:gd name="T46" fmla="*/ 723 w 1127"/>
                  <a:gd name="T47" fmla="*/ 78 h 107"/>
                  <a:gd name="T48" fmla="*/ 752 w 1127"/>
                  <a:gd name="T49" fmla="*/ 85 h 107"/>
                  <a:gd name="T50" fmla="*/ 787 w 1127"/>
                  <a:gd name="T51" fmla="*/ 85 h 107"/>
                  <a:gd name="T52" fmla="*/ 816 w 1127"/>
                  <a:gd name="T53" fmla="*/ 85 h 107"/>
                  <a:gd name="T54" fmla="*/ 844 w 1127"/>
                  <a:gd name="T55" fmla="*/ 92 h 107"/>
                  <a:gd name="T56" fmla="*/ 879 w 1127"/>
                  <a:gd name="T57" fmla="*/ 92 h 107"/>
                  <a:gd name="T58" fmla="*/ 908 w 1127"/>
                  <a:gd name="T59" fmla="*/ 92 h 107"/>
                  <a:gd name="T60" fmla="*/ 936 w 1127"/>
                  <a:gd name="T61" fmla="*/ 99 h 107"/>
                  <a:gd name="T62" fmla="*/ 971 w 1127"/>
                  <a:gd name="T63" fmla="*/ 99 h 107"/>
                  <a:gd name="T64" fmla="*/ 1000 w 1127"/>
                  <a:gd name="T65" fmla="*/ 99 h 107"/>
                  <a:gd name="T66" fmla="*/ 1028 w 1127"/>
                  <a:gd name="T67" fmla="*/ 107 h 107"/>
                  <a:gd name="T68" fmla="*/ 1064 w 1127"/>
                  <a:gd name="T69" fmla="*/ 107 h 107"/>
                  <a:gd name="T70" fmla="*/ 1092 w 1127"/>
                  <a:gd name="T71" fmla="*/ 107 h 107"/>
                  <a:gd name="T72" fmla="*/ 1127 w 1127"/>
                  <a:gd name="T73" fmla="*/ 107 h 10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1127" h="107">
                    <a:moveTo>
                      <a:pt x="0" y="0"/>
                    </a:moveTo>
                    <a:lnTo>
                      <a:pt x="15" y="0"/>
                    </a:lnTo>
                    <a:lnTo>
                      <a:pt x="29" y="0"/>
                    </a:lnTo>
                    <a:lnTo>
                      <a:pt x="50" y="7"/>
                    </a:lnTo>
                    <a:lnTo>
                      <a:pt x="64" y="7"/>
                    </a:lnTo>
                    <a:lnTo>
                      <a:pt x="78" y="7"/>
                    </a:lnTo>
                    <a:lnTo>
                      <a:pt x="93" y="14"/>
                    </a:lnTo>
                    <a:lnTo>
                      <a:pt x="107" y="14"/>
                    </a:lnTo>
                    <a:lnTo>
                      <a:pt x="121" y="14"/>
                    </a:lnTo>
                    <a:lnTo>
                      <a:pt x="142" y="14"/>
                    </a:lnTo>
                    <a:lnTo>
                      <a:pt x="156" y="21"/>
                    </a:lnTo>
                    <a:lnTo>
                      <a:pt x="171" y="21"/>
                    </a:lnTo>
                    <a:lnTo>
                      <a:pt x="185" y="21"/>
                    </a:lnTo>
                    <a:lnTo>
                      <a:pt x="199" y="29"/>
                    </a:lnTo>
                    <a:lnTo>
                      <a:pt x="213" y="29"/>
                    </a:lnTo>
                    <a:lnTo>
                      <a:pt x="234" y="29"/>
                    </a:lnTo>
                    <a:lnTo>
                      <a:pt x="249" y="29"/>
                    </a:lnTo>
                    <a:lnTo>
                      <a:pt x="263" y="36"/>
                    </a:lnTo>
                    <a:lnTo>
                      <a:pt x="277" y="36"/>
                    </a:lnTo>
                    <a:lnTo>
                      <a:pt x="291" y="36"/>
                    </a:lnTo>
                    <a:lnTo>
                      <a:pt x="305" y="36"/>
                    </a:lnTo>
                    <a:lnTo>
                      <a:pt x="326" y="43"/>
                    </a:lnTo>
                    <a:lnTo>
                      <a:pt x="341" y="43"/>
                    </a:lnTo>
                    <a:lnTo>
                      <a:pt x="355" y="43"/>
                    </a:lnTo>
                    <a:lnTo>
                      <a:pt x="369" y="43"/>
                    </a:lnTo>
                    <a:lnTo>
                      <a:pt x="383" y="50"/>
                    </a:lnTo>
                    <a:lnTo>
                      <a:pt x="404" y="50"/>
                    </a:lnTo>
                    <a:lnTo>
                      <a:pt x="419" y="50"/>
                    </a:lnTo>
                    <a:lnTo>
                      <a:pt x="433" y="50"/>
                    </a:lnTo>
                    <a:lnTo>
                      <a:pt x="447" y="57"/>
                    </a:lnTo>
                    <a:lnTo>
                      <a:pt x="461" y="57"/>
                    </a:lnTo>
                    <a:lnTo>
                      <a:pt x="475" y="57"/>
                    </a:lnTo>
                    <a:lnTo>
                      <a:pt x="497" y="57"/>
                    </a:lnTo>
                    <a:lnTo>
                      <a:pt x="511" y="57"/>
                    </a:lnTo>
                    <a:lnTo>
                      <a:pt x="525" y="64"/>
                    </a:lnTo>
                    <a:lnTo>
                      <a:pt x="539" y="64"/>
                    </a:lnTo>
                    <a:lnTo>
                      <a:pt x="553" y="64"/>
                    </a:lnTo>
                    <a:lnTo>
                      <a:pt x="567" y="64"/>
                    </a:lnTo>
                    <a:lnTo>
                      <a:pt x="589" y="71"/>
                    </a:lnTo>
                    <a:lnTo>
                      <a:pt x="603" y="71"/>
                    </a:lnTo>
                    <a:lnTo>
                      <a:pt x="617" y="71"/>
                    </a:lnTo>
                    <a:lnTo>
                      <a:pt x="631" y="71"/>
                    </a:lnTo>
                    <a:lnTo>
                      <a:pt x="645" y="71"/>
                    </a:lnTo>
                    <a:lnTo>
                      <a:pt x="660" y="78"/>
                    </a:lnTo>
                    <a:lnTo>
                      <a:pt x="681" y="78"/>
                    </a:lnTo>
                    <a:lnTo>
                      <a:pt x="695" y="78"/>
                    </a:lnTo>
                    <a:lnTo>
                      <a:pt x="709" y="78"/>
                    </a:lnTo>
                    <a:lnTo>
                      <a:pt x="723" y="78"/>
                    </a:lnTo>
                    <a:lnTo>
                      <a:pt x="738" y="78"/>
                    </a:lnTo>
                    <a:lnTo>
                      <a:pt x="752" y="85"/>
                    </a:lnTo>
                    <a:lnTo>
                      <a:pt x="773" y="85"/>
                    </a:lnTo>
                    <a:lnTo>
                      <a:pt x="787" y="85"/>
                    </a:lnTo>
                    <a:lnTo>
                      <a:pt x="801" y="85"/>
                    </a:lnTo>
                    <a:lnTo>
                      <a:pt x="816" y="85"/>
                    </a:lnTo>
                    <a:lnTo>
                      <a:pt x="830" y="92"/>
                    </a:lnTo>
                    <a:lnTo>
                      <a:pt x="844" y="92"/>
                    </a:lnTo>
                    <a:lnTo>
                      <a:pt x="865" y="92"/>
                    </a:lnTo>
                    <a:lnTo>
                      <a:pt x="879" y="92"/>
                    </a:lnTo>
                    <a:lnTo>
                      <a:pt x="893" y="92"/>
                    </a:lnTo>
                    <a:lnTo>
                      <a:pt x="908" y="92"/>
                    </a:lnTo>
                    <a:lnTo>
                      <a:pt x="922" y="92"/>
                    </a:lnTo>
                    <a:lnTo>
                      <a:pt x="936" y="99"/>
                    </a:lnTo>
                    <a:lnTo>
                      <a:pt x="957" y="99"/>
                    </a:lnTo>
                    <a:lnTo>
                      <a:pt x="971" y="99"/>
                    </a:lnTo>
                    <a:lnTo>
                      <a:pt x="986" y="99"/>
                    </a:lnTo>
                    <a:lnTo>
                      <a:pt x="1000" y="99"/>
                    </a:lnTo>
                    <a:lnTo>
                      <a:pt x="1014" y="99"/>
                    </a:lnTo>
                    <a:lnTo>
                      <a:pt x="1028" y="107"/>
                    </a:lnTo>
                    <a:lnTo>
                      <a:pt x="1049" y="107"/>
                    </a:lnTo>
                    <a:lnTo>
                      <a:pt x="1064" y="107"/>
                    </a:lnTo>
                    <a:lnTo>
                      <a:pt x="1078" y="107"/>
                    </a:lnTo>
                    <a:lnTo>
                      <a:pt x="1092" y="107"/>
                    </a:lnTo>
                    <a:lnTo>
                      <a:pt x="1106" y="107"/>
                    </a:lnTo>
                    <a:lnTo>
                      <a:pt x="1127" y="107"/>
                    </a:lnTo>
                  </a:path>
                </a:pathLst>
              </a:custGeom>
              <a:noFill/>
              <a:ln w="222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8" name="Rectangle 116">
              <a:extLst>
                <a:ext uri="{FF2B5EF4-FFF2-40B4-BE49-F238E27FC236}">
                  <a16:creationId xmlns:a16="http://schemas.microsoft.com/office/drawing/2014/main" id="{B6404AC2-CB89-7679-E916-44D7609BA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344"/>
              <a:ext cx="768" cy="16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0.05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= 0.15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99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9999"/>
                  </a:solidFill>
                  <a:latin typeface="Times New Roman" panose="02020603050405020304" pitchFamily="18" charset="0"/>
                </a:rPr>
                <a:t>= 0.20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9900CC"/>
                  </a:solidFill>
                  <a:latin typeface="Times New Roman" panose="02020603050405020304" pitchFamily="18" charset="0"/>
                </a:rPr>
                <a:t>= 0.25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8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808000"/>
                  </a:solidFill>
                  <a:latin typeface="Times New Roman" panose="02020603050405020304" pitchFamily="18" charset="0"/>
                </a:rPr>
                <a:t>= 0.30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 0.40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008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008000"/>
                  </a:solidFill>
                  <a:latin typeface="Times New Roman" panose="02020603050405020304" pitchFamily="18" charset="0"/>
                </a:rPr>
                <a:t>= 0.50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660033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660033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660033"/>
                  </a:solidFill>
                  <a:latin typeface="Times New Roman" panose="02020603050405020304" pitchFamily="18" charset="0"/>
                </a:rPr>
                <a:t>= 0.707</a:t>
              </a:r>
            </a:p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>
                  <a:solidFill>
                    <a:srgbClr val="FF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</a:t>
              </a:r>
              <a:r>
                <a:rPr lang="en-US" altLang="zh-CN" sz="2000" i="1">
                  <a:solidFill>
                    <a:srgbClr val="FF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solidFill>
                    <a:srgbClr val="FF00FF"/>
                  </a:solidFill>
                  <a:latin typeface="Times New Roman" panose="02020603050405020304" pitchFamily="18" charset="0"/>
                </a:rPr>
                <a:t>= 1.00</a:t>
              </a:r>
            </a:p>
          </p:txBody>
        </p:sp>
        <p:sp>
          <p:nvSpPr>
            <p:cNvPr id="99" name="Line 117">
              <a:extLst>
                <a:ext uri="{FF2B5EF4-FFF2-40B4-BE49-F238E27FC236}">
                  <a16:creationId xmlns:a16="http://schemas.microsoft.com/office/drawing/2014/main" id="{89DE167C-1707-F4C1-4DC2-FFA6669079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1488"/>
              <a:ext cx="432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18">
              <a:extLst>
                <a:ext uri="{FF2B5EF4-FFF2-40B4-BE49-F238E27FC236}">
                  <a16:creationId xmlns:a16="http://schemas.microsoft.com/office/drawing/2014/main" id="{33E703C4-023E-17DC-C0F7-DD8C1F28AF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632"/>
              <a:ext cx="528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19">
              <a:extLst>
                <a:ext uri="{FF2B5EF4-FFF2-40B4-BE49-F238E27FC236}">
                  <a16:creationId xmlns:a16="http://schemas.microsoft.com/office/drawing/2014/main" id="{FF6D86BA-5CA8-0FF0-5F09-BC15FB70A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1812"/>
              <a:ext cx="624" cy="384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20">
              <a:extLst>
                <a:ext uri="{FF2B5EF4-FFF2-40B4-BE49-F238E27FC236}">
                  <a16:creationId xmlns:a16="http://schemas.microsoft.com/office/drawing/2014/main" id="{58899931-6B83-1CD8-4B32-4C3035842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2034"/>
              <a:ext cx="672" cy="432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21">
              <a:extLst>
                <a:ext uri="{FF2B5EF4-FFF2-40B4-BE49-F238E27FC236}">
                  <a16:creationId xmlns:a16="http://schemas.microsoft.com/office/drawing/2014/main" id="{10C77618-CBC4-36C8-23F7-9C1E53385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6" y="2190"/>
              <a:ext cx="672" cy="480"/>
            </a:xfrm>
            <a:prstGeom prst="line">
              <a:avLst/>
            </a:prstGeom>
            <a:noFill/>
            <a:ln w="19050">
              <a:solidFill>
                <a:srgbClr val="8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22">
              <a:extLst>
                <a:ext uri="{FF2B5EF4-FFF2-40B4-BE49-F238E27FC236}">
                  <a16:creationId xmlns:a16="http://schemas.microsoft.com/office/drawing/2014/main" id="{5DA1A2AC-1F04-8479-2A2C-DA8F6AF3B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8" y="2340"/>
              <a:ext cx="720" cy="57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23">
              <a:extLst>
                <a:ext uri="{FF2B5EF4-FFF2-40B4-BE49-F238E27FC236}">
                  <a16:creationId xmlns:a16="http://schemas.microsoft.com/office/drawing/2014/main" id="{912C1977-D108-F37D-9E24-E877EFB00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2550"/>
              <a:ext cx="672" cy="528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24">
              <a:extLst>
                <a:ext uri="{FF2B5EF4-FFF2-40B4-BE49-F238E27FC236}">
                  <a16:creationId xmlns:a16="http://schemas.microsoft.com/office/drawing/2014/main" id="{8C0437F5-0187-B7F4-BA7F-C801C26B9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6" y="2688"/>
              <a:ext cx="672" cy="576"/>
            </a:xfrm>
            <a:prstGeom prst="line">
              <a:avLst/>
            </a:prstGeom>
            <a:noFill/>
            <a:ln w="19050">
              <a:solidFill>
                <a:srgbClr val="660033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25">
              <a:extLst>
                <a:ext uri="{FF2B5EF4-FFF2-40B4-BE49-F238E27FC236}">
                  <a16:creationId xmlns:a16="http://schemas.microsoft.com/office/drawing/2014/main" id="{87C7B83F-11EC-4BAD-DDBD-E6C9C2EAFE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2868"/>
              <a:ext cx="624" cy="528"/>
            </a:xfrm>
            <a:prstGeom prst="line">
              <a:avLst/>
            </a:prstGeom>
            <a:noFill/>
            <a:ln w="19050">
              <a:solidFill>
                <a:srgbClr val="FF66FF"/>
              </a:solidFill>
              <a:miter lim="800000"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126">
              <a:extLst>
                <a:ext uri="{FF2B5EF4-FFF2-40B4-BE49-F238E27FC236}">
                  <a16:creationId xmlns:a16="http://schemas.microsoft.com/office/drawing/2014/main" id="{22DAE69C-70DA-33A5-3A87-416635398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840"/>
              <a:ext cx="5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宋体" panose="02010600030101010101" pitchFamily="2" charset="-122"/>
                </a:rPr>
                <a:t>/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 i="1" baseline="-18000">
                  <a:solidFill>
                    <a:srgbClr val="000000"/>
                  </a:solidFill>
                  <a:latin typeface="Helvetica" panose="020B0604020202020204" pitchFamily="34" charset="0"/>
                </a:rPr>
                <a:t>n</a:t>
              </a:r>
            </a:p>
          </p:txBody>
        </p:sp>
        <p:sp>
          <p:nvSpPr>
            <p:cNvPr id="109" name="Rectangle 127">
              <a:extLst>
                <a:ext uri="{FF2B5EF4-FFF2-40B4-BE49-F238E27FC236}">
                  <a16:creationId xmlns:a16="http://schemas.microsoft.com/office/drawing/2014/main" id="{1CF48A54-E42F-0E55-F188-460CD0899A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759" y="2344"/>
              <a:ext cx="49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</a:rPr>
                <a:t>A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(</a:t>
              </a:r>
              <a:r>
                <a:rPr lang="en-US" altLang="zh-CN" sz="2400" i="1">
                  <a:solidFill>
                    <a:srgbClr val="000000"/>
                  </a:solidFill>
                  <a:latin typeface="Helvetica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000000"/>
                  </a:solidFill>
                  <a:latin typeface="Helvetica" panose="020B0604020202020204" pitchFamily="34" charset="0"/>
                </a:rPr>
                <a:t>)</a:t>
              </a:r>
              <a:endParaRPr lang="en-US" altLang="zh-CN" sz="2400" baseline="-18000">
                <a:solidFill>
                  <a:srgbClr val="000000"/>
                </a:solidFill>
                <a:latin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64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71600" y="1484783"/>
            <a:ext cx="1052337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0893"/>
          <a:stretch>
            <a:fillRect/>
          </a:stretch>
        </p:blipFill>
        <p:spPr bwMode="auto">
          <a:xfrm>
            <a:off x="971600" y="1484784"/>
            <a:ext cx="6764807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627784" y="4005064"/>
                <a:ext cx="3272054" cy="576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4005064"/>
                <a:ext cx="3272054" cy="576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843808" y="5085881"/>
                <a:ext cx="1991314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5085881"/>
                <a:ext cx="1991314" cy="572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200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2124075" y="692150"/>
            <a:ext cx="34163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3600">
                <a:latin typeface="Times New Roman" panose="02020603050405020304" pitchFamily="18" charset="0"/>
                <a:ea typeface="华文新魏" panose="02010800040101010101" pitchFamily="2" charset="-122"/>
              </a:rPr>
              <a:t>4</a:t>
            </a:r>
            <a:r>
              <a:rPr lang="zh-CN" altLang="en-US" sz="3600">
                <a:latin typeface="Times New Roman" panose="02020603050405020304" pitchFamily="18" charset="0"/>
                <a:ea typeface="华文新魏" panose="02010800040101010101" pitchFamily="2" charset="-122"/>
              </a:rPr>
              <a:t>章  频率特性</a:t>
            </a:r>
          </a:p>
        </p:txBody>
      </p:sp>
      <p:sp>
        <p:nvSpPr>
          <p:cNvPr id="31747" name="Rectangle 5"/>
          <p:cNvSpPr>
            <a:spLocks noChangeArrowheads="1"/>
          </p:cNvSpPr>
          <p:nvPr/>
        </p:nvSpPr>
        <p:spPr bwMode="auto">
          <a:xfrm>
            <a:off x="1403350" y="2522538"/>
            <a:ext cx="556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典型环节的频率特性图</a:t>
            </a:r>
          </a:p>
        </p:txBody>
      </p:sp>
      <p:sp>
        <p:nvSpPr>
          <p:cNvPr id="31748" name="Rectangle 6"/>
          <p:cNvSpPr>
            <a:spLocks noChangeArrowheads="1"/>
          </p:cNvSpPr>
          <p:nvPr/>
        </p:nvSpPr>
        <p:spPr bwMode="auto">
          <a:xfrm>
            <a:off x="1403350" y="313213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4.3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系统开环频率特性图</a:t>
            </a:r>
          </a:p>
        </p:txBody>
      </p:sp>
      <p:sp>
        <p:nvSpPr>
          <p:cNvPr id="31749" name="Rectangle 8"/>
          <p:cNvSpPr>
            <a:spLocks noChangeArrowheads="1"/>
          </p:cNvSpPr>
          <p:nvPr/>
        </p:nvSpPr>
        <p:spPr bwMode="auto">
          <a:xfrm>
            <a:off x="1403350" y="3643313"/>
            <a:ext cx="5545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4.4 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频域稳定性判据</a:t>
            </a:r>
          </a:p>
        </p:txBody>
      </p:sp>
      <p:sp>
        <p:nvSpPr>
          <p:cNvPr id="31750" name="Rectangle 9"/>
          <p:cNvSpPr>
            <a:spLocks noChangeArrowheads="1"/>
          </p:cNvSpPr>
          <p:nvPr/>
        </p:nvSpPr>
        <p:spPr bwMode="auto">
          <a:xfrm>
            <a:off x="1403350" y="4291013"/>
            <a:ext cx="6553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4.5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闭环控制系统的频率特性</a:t>
            </a:r>
          </a:p>
        </p:txBody>
      </p:sp>
      <p:sp>
        <p:nvSpPr>
          <p:cNvPr id="31751" name="Rectangle 11"/>
          <p:cNvSpPr>
            <a:spLocks noChangeArrowheads="1"/>
          </p:cNvSpPr>
          <p:nvPr/>
        </p:nvSpPr>
        <p:spPr bwMode="auto">
          <a:xfrm>
            <a:off x="1403350" y="1916113"/>
            <a:ext cx="4648200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4.1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频率特性的基本概念</a:t>
            </a:r>
          </a:p>
        </p:txBody>
      </p:sp>
      <p:sp>
        <p:nvSpPr>
          <p:cNvPr id="31752" name="Rectangle 9"/>
          <p:cNvSpPr>
            <a:spLocks noChangeArrowheads="1"/>
          </p:cNvSpPr>
          <p:nvPr/>
        </p:nvSpPr>
        <p:spPr bwMode="auto">
          <a:xfrm>
            <a:off x="1403350" y="4899025"/>
            <a:ext cx="65532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4.6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频域指标与时域性能指标间的关系</a:t>
            </a:r>
          </a:p>
        </p:txBody>
      </p:sp>
      <p:sp>
        <p:nvSpPr>
          <p:cNvPr id="31753" name="Rectangle 9"/>
          <p:cNvSpPr>
            <a:spLocks noChangeArrowheads="1"/>
          </p:cNvSpPr>
          <p:nvPr/>
        </p:nvSpPr>
        <p:spPr bwMode="auto">
          <a:xfrm>
            <a:off x="1403350" y="5451475"/>
            <a:ext cx="6913563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4.7  </a:t>
            </a: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用系统开环频率特性分析闭环系统性能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0A804ED-3CA8-4D5F-ACD4-DA9050BA5F69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33795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3379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2E45A57-54E0-4D63-A06E-163C6DCD8066}" type="slidenum">
              <a:rPr altLang="zh-CN" smtClean="0"/>
              <a:pPr/>
              <a:t>23</a:t>
            </a:fld>
            <a:endParaRPr lang="zh-CN" altLang="zh-CN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931863" y="1844675"/>
            <a:ext cx="2105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1. </a:t>
            </a:r>
            <a:r>
              <a:rPr lang="zh-CN" altLang="en-US" sz="2800"/>
              <a:t>幅角定理</a:t>
            </a:r>
            <a:endParaRPr lang="en-US" altLang="zh-CN" sz="2800"/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auto">
          <a:xfrm>
            <a:off x="255588" y="935038"/>
            <a:ext cx="82788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latin typeface="Times New Roman" panose="02020603050405020304" pitchFamily="18" charset="0"/>
              </a:rPr>
              <a:t>奈奎斯特稳定性判据</a:t>
            </a:r>
            <a:endParaRPr lang="en-US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1258888" y="2576513"/>
            <a:ext cx="1233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a) </a:t>
            </a:r>
            <a:r>
              <a:rPr lang="zh-CN" altLang="en-US" sz="2400"/>
              <a:t>映射</a:t>
            </a:r>
            <a:endParaRPr lang="en-US" altLang="zh-CN" sz="2400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258888" y="3152775"/>
            <a:ext cx="2473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b) </a:t>
            </a:r>
            <a:r>
              <a:rPr lang="zh-CN" altLang="en-US" sz="2400"/>
              <a:t>封闭曲线映射</a:t>
            </a:r>
            <a:endParaRPr lang="en-US" altLang="zh-CN" sz="2400"/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1258888" y="3800475"/>
            <a:ext cx="1825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c) </a:t>
            </a:r>
            <a:r>
              <a:rPr lang="zh-CN" altLang="en-US" sz="2400"/>
              <a:t>幅角定理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4" grpId="0"/>
      <p:bldP spid="9225" grpId="0"/>
      <p:bldP spid="92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7" name="文本框 1"/>
          <p:cNvSpPr txBox="1">
            <a:spLocks noChangeArrowheads="1"/>
          </p:cNvSpPr>
          <p:nvPr/>
        </p:nvSpPr>
        <p:spPr bwMode="auto">
          <a:xfrm>
            <a:off x="755650" y="690563"/>
            <a:ext cx="72723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设</a:t>
            </a:r>
            <a:r>
              <a:rPr lang="en-US" altLang="zh-CN" sz="2400"/>
              <a:t>F(s)</a:t>
            </a:r>
            <a:r>
              <a:rPr lang="zh-CN" altLang="en-US" sz="2400"/>
              <a:t>函数为</a:t>
            </a:r>
            <a:r>
              <a:rPr lang="en-US" altLang="zh-CN" sz="2400"/>
              <a:t>s</a:t>
            </a:r>
            <a:r>
              <a:rPr lang="zh-CN" altLang="en-US" sz="2400"/>
              <a:t>多项式的分式，它在</a:t>
            </a:r>
            <a:r>
              <a:rPr lang="en-US" altLang="zh-CN" sz="2400"/>
              <a:t>[s]</a:t>
            </a:r>
            <a:r>
              <a:rPr lang="zh-CN" altLang="en-US" sz="2400"/>
              <a:t>平面上（除有限个奇点外）为单值的连续正则函数。</a:t>
            </a: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611188" y="198438"/>
            <a:ext cx="12334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a) </a:t>
            </a:r>
            <a:r>
              <a:rPr lang="zh-CN" altLang="en-US" sz="2400"/>
              <a:t>映射</a:t>
            </a:r>
            <a:endParaRPr lang="en-US" altLang="zh-CN" sz="2400"/>
          </a:p>
        </p:txBody>
      </p:sp>
      <p:sp>
        <p:nvSpPr>
          <p:cNvPr id="229379" name="文本框 3"/>
          <p:cNvSpPr txBox="1">
            <a:spLocks noChangeArrowheads="1"/>
          </p:cNvSpPr>
          <p:nvPr/>
        </p:nvSpPr>
        <p:spPr bwMode="auto">
          <a:xfrm>
            <a:off x="755650" y="1773238"/>
            <a:ext cx="6829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latin typeface="宋体" panose="02010600030101010101" pitchFamily="2" charset="-122"/>
              </a:rPr>
              <a:t>我们在</a:t>
            </a:r>
            <a:r>
              <a:rPr lang="en-US" altLang="zh-CN" sz="2400">
                <a:latin typeface="宋体" panose="02010600030101010101" pitchFamily="2" charset="-122"/>
              </a:rPr>
              <a:t>[s]</a:t>
            </a:r>
            <a:r>
              <a:rPr lang="zh-CN" altLang="en-US" sz="2400">
                <a:latin typeface="宋体" panose="02010600030101010101" pitchFamily="2" charset="-122"/>
              </a:rPr>
              <a:t>平面上取一个复数点，将其代入</a:t>
            </a:r>
            <a:r>
              <a:rPr lang="en-US" altLang="zh-CN" sz="2400">
                <a:latin typeface="宋体" panose="02010600030101010101" pitchFamily="2" charset="-122"/>
              </a:rPr>
              <a:t>F(s)</a:t>
            </a:r>
            <a:r>
              <a:rPr lang="zh-CN" altLang="en-US" sz="2400">
                <a:latin typeface="宋体" panose="02010600030101010101" pitchFamily="2" charset="-122"/>
              </a:rPr>
              <a:t>函数，得到另外一个复数。这就是映射。</a:t>
            </a:r>
          </a:p>
        </p:txBody>
      </p:sp>
      <p:sp>
        <p:nvSpPr>
          <p:cNvPr id="5" name="Rectangle 34"/>
          <p:cNvSpPr>
            <a:spLocks noChangeArrowheads="1"/>
          </p:cNvSpPr>
          <p:nvPr/>
        </p:nvSpPr>
        <p:spPr bwMode="auto">
          <a:xfrm>
            <a:off x="755650" y="2693988"/>
            <a:ext cx="72009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/>
              <a:t>例如</a:t>
            </a:r>
            <a:r>
              <a:rPr lang="en-US" altLang="zh-CN" sz="2000"/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2000"/>
              <a:t>  </a:t>
            </a:r>
            <a:r>
              <a:rPr lang="zh-CN" altLang="en-US" sz="2000"/>
              <a:t>将</a:t>
            </a:r>
            <a:r>
              <a:rPr lang="en-US" altLang="zh-CN" sz="2000"/>
              <a:t>  s=4+3j  </a:t>
            </a:r>
            <a:r>
              <a:rPr lang="zh-CN" altLang="en-US" sz="2000"/>
              <a:t>代入函数 </a:t>
            </a:r>
            <a:r>
              <a:rPr lang="en-US" altLang="zh-CN" sz="2000"/>
              <a:t>F(s)= (s</a:t>
            </a:r>
            <a:r>
              <a:rPr lang="en-US" altLang="zh-CN" sz="2000" baseline="30000"/>
              <a:t>2</a:t>
            </a:r>
            <a:r>
              <a:rPr lang="en-US" altLang="zh-CN" sz="2000"/>
              <a:t>+2s+1)</a:t>
            </a:r>
            <a:r>
              <a:rPr lang="zh-CN" altLang="en-US" sz="2000"/>
              <a:t>得到复数</a:t>
            </a:r>
            <a:r>
              <a:rPr lang="en-US" altLang="zh-CN" sz="2000"/>
              <a:t> 16+j30.  </a:t>
            </a:r>
            <a:r>
              <a:rPr lang="zh-CN" altLang="en-US" sz="2000"/>
              <a:t>我们就认为</a:t>
            </a:r>
            <a:r>
              <a:rPr lang="en-US" altLang="zh-CN" sz="2000"/>
              <a:t>4+3j </a:t>
            </a:r>
            <a:r>
              <a:rPr lang="zh-CN" altLang="en-US" sz="2000"/>
              <a:t>通过函数</a:t>
            </a:r>
            <a:r>
              <a:rPr lang="en-US" altLang="zh-CN" sz="2000"/>
              <a:t>(s</a:t>
            </a:r>
            <a:r>
              <a:rPr lang="en-US" altLang="zh-CN" sz="2000" baseline="30000"/>
              <a:t>2</a:t>
            </a:r>
            <a:r>
              <a:rPr lang="en-US" altLang="zh-CN" sz="2000"/>
              <a:t>+2s+1)</a:t>
            </a:r>
            <a:r>
              <a:rPr lang="zh-CN" altLang="en-US" sz="2000"/>
              <a:t>映射得到了</a:t>
            </a:r>
            <a:r>
              <a:rPr lang="en-US" altLang="zh-CN" sz="2000"/>
              <a:t> 16+j30 </a:t>
            </a:r>
            <a:r>
              <a:rPr lang="zh-CN" altLang="en-US" sz="2000"/>
              <a:t>。</a:t>
            </a:r>
            <a:endParaRPr lang="en-US" altLang="zh-CN" sz="2000"/>
          </a:p>
        </p:txBody>
      </p:sp>
      <p:pic>
        <p:nvPicPr>
          <p:cNvPr id="229381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454525"/>
            <a:ext cx="2493963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9382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813" y="5391150"/>
            <a:ext cx="1633537" cy="41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>
          <a:xfrm flipV="1">
            <a:off x="6913563" y="4386263"/>
            <a:ext cx="0" cy="177958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9384" name="组合 10"/>
          <p:cNvGrpSpPr>
            <a:grpSpLocks/>
          </p:cNvGrpSpPr>
          <p:nvPr/>
        </p:nvGrpSpPr>
        <p:grpSpPr bwMode="auto">
          <a:xfrm>
            <a:off x="5561013" y="4200525"/>
            <a:ext cx="2686050" cy="2238375"/>
            <a:chOff x="5560975" y="4199832"/>
            <a:chExt cx="2686088" cy="2239605"/>
          </a:xfrm>
        </p:grpSpPr>
        <p:grpSp>
          <p:nvGrpSpPr>
            <p:cNvPr id="34826" name="组合 8"/>
            <p:cNvGrpSpPr>
              <a:grpSpLocks/>
            </p:cNvGrpSpPr>
            <p:nvPr/>
          </p:nvGrpSpPr>
          <p:grpSpPr bwMode="auto">
            <a:xfrm>
              <a:off x="5560975" y="4365938"/>
              <a:ext cx="2686088" cy="2073499"/>
              <a:chOff x="5560975" y="4365938"/>
              <a:chExt cx="2686088" cy="2073499"/>
            </a:xfrm>
          </p:grpSpPr>
          <p:pic>
            <p:nvPicPr>
              <p:cNvPr id="34828" name="Picture 2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80063" y="4383088"/>
                <a:ext cx="2667000" cy="1976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29" name="文本框 1"/>
              <p:cNvSpPr txBox="1">
                <a:spLocks noChangeArrowheads="1"/>
              </p:cNvSpPr>
              <p:nvPr/>
            </p:nvSpPr>
            <p:spPr bwMode="auto">
              <a:xfrm>
                <a:off x="7063137" y="4440081"/>
                <a:ext cx="1043876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/>
                  <a:t>16+30j</a:t>
                </a:r>
                <a:endParaRPr lang="zh-CN" altLang="en-US"/>
              </a:p>
            </p:txBody>
          </p:sp>
          <p:sp>
            <p:nvSpPr>
              <p:cNvPr id="8" name="任意多边形 7"/>
              <p:cNvSpPr/>
              <p:nvPr/>
            </p:nvSpPr>
            <p:spPr>
              <a:xfrm>
                <a:off x="5560975" y="4366611"/>
                <a:ext cx="1303355" cy="2072826"/>
              </a:xfrm>
              <a:custGeom>
                <a:avLst/>
                <a:gdLst>
                  <a:gd name="connsiteX0" fmla="*/ 54214 w 1303467"/>
                  <a:gd name="connsiteY0" fmla="*/ 0 h 2073499"/>
                  <a:gd name="connsiteX1" fmla="*/ 54214 w 1303467"/>
                  <a:gd name="connsiteY1" fmla="*/ 0 h 2073499"/>
                  <a:gd name="connsiteX2" fmla="*/ 2698 w 1303467"/>
                  <a:gd name="connsiteY2" fmla="*/ 244699 h 2073499"/>
                  <a:gd name="connsiteX3" fmla="*/ 41335 w 1303467"/>
                  <a:gd name="connsiteY3" fmla="*/ 476518 h 2073499"/>
                  <a:gd name="connsiteX4" fmla="*/ 54214 w 1303467"/>
                  <a:gd name="connsiteY4" fmla="*/ 515155 h 2073499"/>
                  <a:gd name="connsiteX5" fmla="*/ 67093 w 1303467"/>
                  <a:gd name="connsiteY5" fmla="*/ 553792 h 2073499"/>
                  <a:gd name="connsiteX6" fmla="*/ 105729 w 1303467"/>
                  <a:gd name="connsiteY6" fmla="*/ 631065 h 2073499"/>
                  <a:gd name="connsiteX7" fmla="*/ 118608 w 1303467"/>
                  <a:gd name="connsiteY7" fmla="*/ 875763 h 2073499"/>
                  <a:gd name="connsiteX8" fmla="*/ 144366 w 1303467"/>
                  <a:gd name="connsiteY8" fmla="*/ 1236372 h 2073499"/>
                  <a:gd name="connsiteX9" fmla="*/ 170124 w 1303467"/>
                  <a:gd name="connsiteY9" fmla="*/ 1313645 h 2073499"/>
                  <a:gd name="connsiteX10" fmla="*/ 195881 w 1303467"/>
                  <a:gd name="connsiteY10" fmla="*/ 1403797 h 2073499"/>
                  <a:gd name="connsiteX11" fmla="*/ 183002 w 1303467"/>
                  <a:gd name="connsiteY11" fmla="*/ 1596980 h 2073499"/>
                  <a:gd name="connsiteX12" fmla="*/ 157245 w 1303467"/>
                  <a:gd name="connsiteY12" fmla="*/ 1635617 h 2073499"/>
                  <a:gd name="connsiteX13" fmla="*/ 131487 w 1303467"/>
                  <a:gd name="connsiteY13" fmla="*/ 1712890 h 2073499"/>
                  <a:gd name="connsiteX14" fmla="*/ 144366 w 1303467"/>
                  <a:gd name="connsiteY14" fmla="*/ 1751527 h 2073499"/>
                  <a:gd name="connsiteX15" fmla="*/ 183002 w 1303467"/>
                  <a:gd name="connsiteY15" fmla="*/ 1764406 h 2073499"/>
                  <a:gd name="connsiteX16" fmla="*/ 221639 w 1303467"/>
                  <a:gd name="connsiteY16" fmla="*/ 1790163 h 2073499"/>
                  <a:gd name="connsiteX17" fmla="*/ 247397 w 1303467"/>
                  <a:gd name="connsiteY17" fmla="*/ 1931831 h 2073499"/>
                  <a:gd name="connsiteX18" fmla="*/ 273155 w 1303467"/>
                  <a:gd name="connsiteY18" fmla="*/ 1970468 h 2073499"/>
                  <a:gd name="connsiteX19" fmla="*/ 311791 w 1303467"/>
                  <a:gd name="connsiteY19" fmla="*/ 1996225 h 2073499"/>
                  <a:gd name="connsiteX20" fmla="*/ 401943 w 1303467"/>
                  <a:gd name="connsiteY20" fmla="*/ 2060620 h 2073499"/>
                  <a:gd name="connsiteX21" fmla="*/ 440580 w 1303467"/>
                  <a:gd name="connsiteY21" fmla="*/ 2073499 h 2073499"/>
                  <a:gd name="connsiteX22" fmla="*/ 530732 w 1303467"/>
                  <a:gd name="connsiteY22" fmla="*/ 2060620 h 2073499"/>
                  <a:gd name="connsiteX23" fmla="*/ 543611 w 1303467"/>
                  <a:gd name="connsiteY23" fmla="*/ 2021983 h 2073499"/>
                  <a:gd name="connsiteX24" fmla="*/ 556490 w 1303467"/>
                  <a:gd name="connsiteY24" fmla="*/ 1918952 h 2073499"/>
                  <a:gd name="connsiteX25" fmla="*/ 569369 w 1303467"/>
                  <a:gd name="connsiteY25" fmla="*/ 1880316 h 2073499"/>
                  <a:gd name="connsiteX26" fmla="*/ 595126 w 1303467"/>
                  <a:gd name="connsiteY26" fmla="*/ 1764406 h 2073499"/>
                  <a:gd name="connsiteX27" fmla="*/ 608005 w 1303467"/>
                  <a:gd name="connsiteY27" fmla="*/ 1674254 h 2073499"/>
                  <a:gd name="connsiteX28" fmla="*/ 620884 w 1303467"/>
                  <a:gd name="connsiteY28" fmla="*/ 1635617 h 2073499"/>
                  <a:gd name="connsiteX29" fmla="*/ 659521 w 1303467"/>
                  <a:gd name="connsiteY29" fmla="*/ 1609859 h 2073499"/>
                  <a:gd name="connsiteX30" fmla="*/ 711036 w 1303467"/>
                  <a:gd name="connsiteY30" fmla="*/ 1493949 h 2073499"/>
                  <a:gd name="connsiteX31" fmla="*/ 723915 w 1303467"/>
                  <a:gd name="connsiteY31" fmla="*/ 1455313 h 2073499"/>
                  <a:gd name="connsiteX32" fmla="*/ 826946 w 1303467"/>
                  <a:gd name="connsiteY32" fmla="*/ 1300766 h 2073499"/>
                  <a:gd name="connsiteX33" fmla="*/ 852704 w 1303467"/>
                  <a:gd name="connsiteY33" fmla="*/ 1262130 h 2073499"/>
                  <a:gd name="connsiteX34" fmla="*/ 891340 w 1303467"/>
                  <a:gd name="connsiteY34" fmla="*/ 1236372 h 2073499"/>
                  <a:gd name="connsiteX35" fmla="*/ 942856 w 1303467"/>
                  <a:gd name="connsiteY35" fmla="*/ 1171977 h 2073499"/>
                  <a:gd name="connsiteX36" fmla="*/ 994371 w 1303467"/>
                  <a:gd name="connsiteY36" fmla="*/ 1107583 h 2073499"/>
                  <a:gd name="connsiteX37" fmla="*/ 1045887 w 1303467"/>
                  <a:gd name="connsiteY37" fmla="*/ 1043189 h 2073499"/>
                  <a:gd name="connsiteX38" fmla="*/ 1058766 w 1303467"/>
                  <a:gd name="connsiteY38" fmla="*/ 1004552 h 2073499"/>
                  <a:gd name="connsiteX39" fmla="*/ 1084524 w 1303467"/>
                  <a:gd name="connsiteY39" fmla="*/ 965916 h 2073499"/>
                  <a:gd name="connsiteX40" fmla="*/ 1123160 w 1303467"/>
                  <a:gd name="connsiteY40" fmla="*/ 888642 h 2073499"/>
                  <a:gd name="connsiteX41" fmla="*/ 1136039 w 1303467"/>
                  <a:gd name="connsiteY41" fmla="*/ 850006 h 2073499"/>
                  <a:gd name="connsiteX42" fmla="*/ 1161797 w 1303467"/>
                  <a:gd name="connsiteY42" fmla="*/ 811369 h 2073499"/>
                  <a:gd name="connsiteX43" fmla="*/ 1200433 w 1303467"/>
                  <a:gd name="connsiteY43" fmla="*/ 695459 h 2073499"/>
                  <a:gd name="connsiteX44" fmla="*/ 1239070 w 1303467"/>
                  <a:gd name="connsiteY44" fmla="*/ 618186 h 2073499"/>
                  <a:gd name="connsiteX45" fmla="*/ 1277707 w 1303467"/>
                  <a:gd name="connsiteY45" fmla="*/ 592428 h 2073499"/>
                  <a:gd name="connsiteX46" fmla="*/ 1303464 w 1303467"/>
                  <a:gd name="connsiteY46" fmla="*/ 553792 h 2073499"/>
                  <a:gd name="connsiteX47" fmla="*/ 1277707 w 1303467"/>
                  <a:gd name="connsiteY47" fmla="*/ 450761 h 2073499"/>
                  <a:gd name="connsiteX48" fmla="*/ 1239070 w 1303467"/>
                  <a:gd name="connsiteY48" fmla="*/ 425003 h 2073499"/>
                  <a:gd name="connsiteX49" fmla="*/ 1187555 w 1303467"/>
                  <a:gd name="connsiteY49" fmla="*/ 360608 h 2073499"/>
                  <a:gd name="connsiteX50" fmla="*/ 1174676 w 1303467"/>
                  <a:gd name="connsiteY50" fmla="*/ 321972 h 2073499"/>
                  <a:gd name="connsiteX51" fmla="*/ 1110281 w 1303467"/>
                  <a:gd name="connsiteY51" fmla="*/ 257577 h 2073499"/>
                  <a:gd name="connsiteX52" fmla="*/ 1045887 w 1303467"/>
                  <a:gd name="connsiteY52" fmla="*/ 193183 h 2073499"/>
                  <a:gd name="connsiteX53" fmla="*/ 968614 w 1303467"/>
                  <a:gd name="connsiteY53" fmla="*/ 167425 h 2073499"/>
                  <a:gd name="connsiteX54" fmla="*/ 929977 w 1303467"/>
                  <a:gd name="connsiteY54" fmla="*/ 141668 h 2073499"/>
                  <a:gd name="connsiteX55" fmla="*/ 826946 w 1303467"/>
                  <a:gd name="connsiteY55" fmla="*/ 128789 h 2073499"/>
                  <a:gd name="connsiteX56" fmla="*/ 736794 w 1303467"/>
                  <a:gd name="connsiteY56" fmla="*/ 90152 h 2073499"/>
                  <a:gd name="connsiteX57" fmla="*/ 685279 w 1303467"/>
                  <a:gd name="connsiteY57" fmla="*/ 77273 h 2073499"/>
                  <a:gd name="connsiteX58" fmla="*/ 556490 w 1303467"/>
                  <a:gd name="connsiteY58" fmla="*/ 25758 h 2073499"/>
                  <a:gd name="connsiteX59" fmla="*/ 54214 w 1303467"/>
                  <a:gd name="connsiteY59" fmla="*/ 0 h 2073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1303467" h="2073499">
                    <a:moveTo>
                      <a:pt x="54214" y="0"/>
                    </a:moveTo>
                    <a:lnTo>
                      <a:pt x="54214" y="0"/>
                    </a:lnTo>
                    <a:cubicBezTo>
                      <a:pt x="37042" y="81566"/>
                      <a:pt x="10727" y="161732"/>
                      <a:pt x="2698" y="244699"/>
                    </a:cubicBezTo>
                    <a:cubicBezTo>
                      <a:pt x="-7517" y="350256"/>
                      <a:pt x="12544" y="390145"/>
                      <a:pt x="41335" y="476518"/>
                    </a:cubicBezTo>
                    <a:lnTo>
                      <a:pt x="54214" y="515155"/>
                    </a:lnTo>
                    <a:cubicBezTo>
                      <a:pt x="58507" y="528034"/>
                      <a:pt x="59563" y="542496"/>
                      <a:pt x="67093" y="553792"/>
                    </a:cubicBezTo>
                    <a:cubicBezTo>
                      <a:pt x="100380" y="603724"/>
                      <a:pt x="87955" y="577744"/>
                      <a:pt x="105729" y="631065"/>
                    </a:cubicBezTo>
                    <a:cubicBezTo>
                      <a:pt x="110022" y="712631"/>
                      <a:pt x="114529" y="794186"/>
                      <a:pt x="118608" y="875763"/>
                    </a:cubicBezTo>
                    <a:cubicBezTo>
                      <a:pt x="120868" y="920957"/>
                      <a:pt x="122780" y="1142835"/>
                      <a:pt x="144366" y="1236372"/>
                    </a:cubicBezTo>
                    <a:cubicBezTo>
                      <a:pt x="150471" y="1262828"/>
                      <a:pt x="161538" y="1287887"/>
                      <a:pt x="170124" y="1313645"/>
                    </a:cubicBezTo>
                    <a:cubicBezTo>
                      <a:pt x="188596" y="1369061"/>
                      <a:pt x="179714" y="1339129"/>
                      <a:pt x="195881" y="1403797"/>
                    </a:cubicBezTo>
                    <a:cubicBezTo>
                      <a:pt x="191588" y="1468191"/>
                      <a:pt x="193612" y="1533321"/>
                      <a:pt x="183002" y="1596980"/>
                    </a:cubicBezTo>
                    <a:cubicBezTo>
                      <a:pt x="180457" y="1612248"/>
                      <a:pt x="163531" y="1621473"/>
                      <a:pt x="157245" y="1635617"/>
                    </a:cubicBezTo>
                    <a:cubicBezTo>
                      <a:pt x="146218" y="1660428"/>
                      <a:pt x="131487" y="1712890"/>
                      <a:pt x="131487" y="1712890"/>
                    </a:cubicBezTo>
                    <a:cubicBezTo>
                      <a:pt x="135780" y="1725769"/>
                      <a:pt x="134767" y="1741927"/>
                      <a:pt x="144366" y="1751527"/>
                    </a:cubicBezTo>
                    <a:cubicBezTo>
                      <a:pt x="153965" y="1761126"/>
                      <a:pt x="170860" y="1758335"/>
                      <a:pt x="183002" y="1764406"/>
                    </a:cubicBezTo>
                    <a:cubicBezTo>
                      <a:pt x="196846" y="1771328"/>
                      <a:pt x="208760" y="1781577"/>
                      <a:pt x="221639" y="1790163"/>
                    </a:cubicBezTo>
                    <a:cubicBezTo>
                      <a:pt x="226079" y="1825680"/>
                      <a:pt x="227544" y="1892125"/>
                      <a:pt x="247397" y="1931831"/>
                    </a:cubicBezTo>
                    <a:cubicBezTo>
                      <a:pt x="254319" y="1945676"/>
                      <a:pt x="262210" y="1959523"/>
                      <a:pt x="273155" y="1970468"/>
                    </a:cubicBezTo>
                    <a:cubicBezTo>
                      <a:pt x="284100" y="1981413"/>
                      <a:pt x="298912" y="1987639"/>
                      <a:pt x="311791" y="1996225"/>
                    </a:cubicBezTo>
                    <a:cubicBezTo>
                      <a:pt x="333256" y="2060620"/>
                      <a:pt x="311791" y="2030569"/>
                      <a:pt x="401943" y="2060620"/>
                    </a:cubicBezTo>
                    <a:lnTo>
                      <a:pt x="440580" y="2073499"/>
                    </a:lnTo>
                    <a:cubicBezTo>
                      <a:pt x="470631" y="2069206"/>
                      <a:pt x="503581" y="2074196"/>
                      <a:pt x="530732" y="2060620"/>
                    </a:cubicBezTo>
                    <a:cubicBezTo>
                      <a:pt x="542874" y="2054549"/>
                      <a:pt x="541182" y="2035340"/>
                      <a:pt x="543611" y="2021983"/>
                    </a:cubicBezTo>
                    <a:cubicBezTo>
                      <a:pt x="549802" y="1987930"/>
                      <a:pt x="550299" y="1953005"/>
                      <a:pt x="556490" y="1918952"/>
                    </a:cubicBezTo>
                    <a:cubicBezTo>
                      <a:pt x="558918" y="1905596"/>
                      <a:pt x="565640" y="1893369"/>
                      <a:pt x="569369" y="1880316"/>
                    </a:cubicBezTo>
                    <a:cubicBezTo>
                      <a:pt x="578633" y="1847894"/>
                      <a:pt x="589814" y="1796282"/>
                      <a:pt x="595126" y="1764406"/>
                    </a:cubicBezTo>
                    <a:cubicBezTo>
                      <a:pt x="600116" y="1734463"/>
                      <a:pt x="602052" y="1704020"/>
                      <a:pt x="608005" y="1674254"/>
                    </a:cubicBezTo>
                    <a:cubicBezTo>
                      <a:pt x="610667" y="1660942"/>
                      <a:pt x="612403" y="1646218"/>
                      <a:pt x="620884" y="1635617"/>
                    </a:cubicBezTo>
                    <a:cubicBezTo>
                      <a:pt x="630553" y="1623530"/>
                      <a:pt x="646642" y="1618445"/>
                      <a:pt x="659521" y="1609859"/>
                    </a:cubicBezTo>
                    <a:cubicBezTo>
                      <a:pt x="700341" y="1548631"/>
                      <a:pt x="680383" y="1585909"/>
                      <a:pt x="711036" y="1493949"/>
                    </a:cubicBezTo>
                    <a:cubicBezTo>
                      <a:pt x="715329" y="1481070"/>
                      <a:pt x="716385" y="1466608"/>
                      <a:pt x="723915" y="1455313"/>
                    </a:cubicBezTo>
                    <a:lnTo>
                      <a:pt x="826946" y="1300766"/>
                    </a:lnTo>
                    <a:cubicBezTo>
                      <a:pt x="835532" y="1287887"/>
                      <a:pt x="839825" y="1270716"/>
                      <a:pt x="852704" y="1262130"/>
                    </a:cubicBezTo>
                    <a:lnTo>
                      <a:pt x="891340" y="1236372"/>
                    </a:lnTo>
                    <a:cubicBezTo>
                      <a:pt x="923711" y="1139259"/>
                      <a:pt x="876280" y="1255196"/>
                      <a:pt x="942856" y="1171977"/>
                    </a:cubicBezTo>
                    <a:cubicBezTo>
                      <a:pt x="1013953" y="1083107"/>
                      <a:pt x="883642" y="1181404"/>
                      <a:pt x="994371" y="1107583"/>
                    </a:cubicBezTo>
                    <a:cubicBezTo>
                      <a:pt x="1026743" y="1010469"/>
                      <a:pt x="979310" y="1126411"/>
                      <a:pt x="1045887" y="1043189"/>
                    </a:cubicBezTo>
                    <a:cubicBezTo>
                      <a:pt x="1054368" y="1032588"/>
                      <a:pt x="1052695" y="1016694"/>
                      <a:pt x="1058766" y="1004552"/>
                    </a:cubicBezTo>
                    <a:cubicBezTo>
                      <a:pt x="1065688" y="990708"/>
                      <a:pt x="1075938" y="978795"/>
                      <a:pt x="1084524" y="965916"/>
                    </a:cubicBezTo>
                    <a:cubicBezTo>
                      <a:pt x="1116890" y="868811"/>
                      <a:pt x="1073233" y="988495"/>
                      <a:pt x="1123160" y="888642"/>
                    </a:cubicBezTo>
                    <a:cubicBezTo>
                      <a:pt x="1129231" y="876500"/>
                      <a:pt x="1129968" y="862148"/>
                      <a:pt x="1136039" y="850006"/>
                    </a:cubicBezTo>
                    <a:cubicBezTo>
                      <a:pt x="1142961" y="836162"/>
                      <a:pt x="1155510" y="825514"/>
                      <a:pt x="1161797" y="811369"/>
                    </a:cubicBezTo>
                    <a:cubicBezTo>
                      <a:pt x="1161811" y="811339"/>
                      <a:pt x="1193988" y="714793"/>
                      <a:pt x="1200433" y="695459"/>
                    </a:cubicBezTo>
                    <a:cubicBezTo>
                      <a:pt x="1210907" y="664036"/>
                      <a:pt x="1214105" y="643151"/>
                      <a:pt x="1239070" y="618186"/>
                    </a:cubicBezTo>
                    <a:cubicBezTo>
                      <a:pt x="1250015" y="607241"/>
                      <a:pt x="1264828" y="601014"/>
                      <a:pt x="1277707" y="592428"/>
                    </a:cubicBezTo>
                    <a:cubicBezTo>
                      <a:pt x="1286293" y="579549"/>
                      <a:pt x="1301544" y="569151"/>
                      <a:pt x="1303464" y="553792"/>
                    </a:cubicBezTo>
                    <a:cubicBezTo>
                      <a:pt x="1303724" y="551710"/>
                      <a:pt x="1287710" y="463264"/>
                      <a:pt x="1277707" y="450761"/>
                    </a:cubicBezTo>
                    <a:cubicBezTo>
                      <a:pt x="1268037" y="438674"/>
                      <a:pt x="1251949" y="433589"/>
                      <a:pt x="1239070" y="425003"/>
                    </a:cubicBezTo>
                    <a:cubicBezTo>
                      <a:pt x="1206699" y="327889"/>
                      <a:pt x="1254130" y="443827"/>
                      <a:pt x="1187555" y="360608"/>
                    </a:cubicBezTo>
                    <a:cubicBezTo>
                      <a:pt x="1179075" y="350007"/>
                      <a:pt x="1180747" y="334114"/>
                      <a:pt x="1174676" y="321972"/>
                    </a:cubicBezTo>
                    <a:cubicBezTo>
                      <a:pt x="1153211" y="279042"/>
                      <a:pt x="1148918" y="283335"/>
                      <a:pt x="1110281" y="257577"/>
                    </a:cubicBezTo>
                    <a:cubicBezTo>
                      <a:pt x="1086783" y="222329"/>
                      <a:pt x="1086558" y="211259"/>
                      <a:pt x="1045887" y="193183"/>
                    </a:cubicBezTo>
                    <a:cubicBezTo>
                      <a:pt x="1021076" y="182156"/>
                      <a:pt x="991205" y="182485"/>
                      <a:pt x="968614" y="167425"/>
                    </a:cubicBezTo>
                    <a:cubicBezTo>
                      <a:pt x="955735" y="158839"/>
                      <a:pt x="944910" y="145741"/>
                      <a:pt x="929977" y="141668"/>
                    </a:cubicBezTo>
                    <a:cubicBezTo>
                      <a:pt x="896586" y="132561"/>
                      <a:pt x="861290" y="133082"/>
                      <a:pt x="826946" y="128789"/>
                    </a:cubicBezTo>
                    <a:cubicBezTo>
                      <a:pt x="679052" y="91815"/>
                      <a:pt x="861310" y="143516"/>
                      <a:pt x="736794" y="90152"/>
                    </a:cubicBezTo>
                    <a:cubicBezTo>
                      <a:pt x="720525" y="83179"/>
                      <a:pt x="701852" y="83488"/>
                      <a:pt x="685279" y="77273"/>
                    </a:cubicBezTo>
                    <a:cubicBezTo>
                      <a:pt x="644233" y="61881"/>
                      <a:pt x="602827" y="25758"/>
                      <a:pt x="556490" y="25758"/>
                    </a:cubicBezTo>
                    <a:lnTo>
                      <a:pt x="54214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/>
              </a:p>
            </p:txBody>
          </p:sp>
        </p:grpSp>
        <p:sp>
          <p:nvSpPr>
            <p:cNvPr id="34827" name="文本框 9"/>
            <p:cNvSpPr txBox="1">
              <a:spLocks noChangeArrowheads="1"/>
            </p:cNvSpPr>
            <p:nvPr/>
          </p:nvSpPr>
          <p:spPr bwMode="auto">
            <a:xfrm>
              <a:off x="6467673" y="4199832"/>
              <a:ext cx="46679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Im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7" grpId="0"/>
      <p:bldP spid="3" grpId="0"/>
      <p:bldP spid="229379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2921184-27C6-49D0-865C-21286E63B08E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35843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3584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112677-70B4-4E0C-9C16-47BD070FDF03}" type="slidenum">
              <a:rPr altLang="zh-CN" smtClean="0"/>
              <a:pPr/>
              <a:t>25</a:t>
            </a:fld>
            <a:endParaRPr lang="zh-CN" altLang="zh-CN"/>
          </a:p>
        </p:txBody>
      </p:sp>
      <p:sp>
        <p:nvSpPr>
          <p:cNvPr id="36894" name="Text Box 30"/>
          <p:cNvSpPr txBox="1">
            <a:spLocks noChangeArrowheads="1"/>
          </p:cNvSpPr>
          <p:nvPr/>
        </p:nvSpPr>
        <p:spPr bwMode="auto">
          <a:xfrm>
            <a:off x="363538" y="549275"/>
            <a:ext cx="2473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b) </a:t>
            </a:r>
            <a:r>
              <a:rPr lang="zh-CN" altLang="en-US" sz="2400"/>
              <a:t>封闭曲线映射</a:t>
            </a:r>
            <a:endParaRPr lang="en-US" altLang="zh-CN" sz="2400"/>
          </a:p>
        </p:txBody>
      </p:sp>
      <p:sp>
        <p:nvSpPr>
          <p:cNvPr id="36895" name="Rectangle 31"/>
          <p:cNvSpPr>
            <a:spLocks noChangeArrowheads="1"/>
          </p:cNvSpPr>
          <p:nvPr/>
        </p:nvSpPr>
        <p:spPr bwMode="auto">
          <a:xfrm>
            <a:off x="609600" y="1063625"/>
            <a:ext cx="82105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/>
              <a:t> </a:t>
            </a:r>
            <a:r>
              <a:rPr lang="zh-CN" altLang="en-US" sz="2400"/>
              <a:t>封闭曲线为</a:t>
            </a:r>
            <a:r>
              <a:rPr lang="en-US" altLang="zh-CN" sz="2400"/>
              <a:t>[s]</a:t>
            </a:r>
            <a:r>
              <a:rPr lang="zh-CN" altLang="en-US" sz="2400"/>
              <a:t>平面上点的集合，我们用</a:t>
            </a:r>
            <a:r>
              <a:rPr lang="en-US" altLang="zh-CN" sz="2400"/>
              <a:t> contour A</a:t>
            </a:r>
            <a:r>
              <a:rPr lang="zh-CN" altLang="en-US" sz="2400"/>
              <a:t>表示。</a:t>
            </a:r>
            <a:r>
              <a:rPr lang="en-US" altLang="zh-CN" sz="2400"/>
              <a:t> </a:t>
            </a:r>
          </a:p>
        </p:txBody>
      </p:sp>
      <p:pic>
        <p:nvPicPr>
          <p:cNvPr id="230406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4" r="57681"/>
          <a:stretch>
            <a:fillRect/>
          </a:stretch>
        </p:blipFill>
        <p:spPr bwMode="auto">
          <a:xfrm>
            <a:off x="1116013" y="2003425"/>
            <a:ext cx="3167062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Object 28"/>
          <p:cNvGraphicFramePr>
            <a:graphicFrameLocks noChangeAspect="1"/>
          </p:cNvGraphicFramePr>
          <p:nvPr/>
        </p:nvGraphicFramePr>
        <p:xfrm>
          <a:off x="4859338" y="4005263"/>
          <a:ext cx="295275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71600" imgH="381000" progId="Equation.3">
                  <p:embed/>
                </p:oleObj>
              </mc:Choice>
              <mc:Fallback>
                <p:oleObj r:id="rId3" imgW="1371600" imgH="3810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005263"/>
                        <a:ext cx="295275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7"/>
          <p:cNvSpPr>
            <a:spLocks noChangeArrowheads="1"/>
          </p:cNvSpPr>
          <p:nvPr/>
        </p:nvSpPr>
        <p:spPr bwMode="auto">
          <a:xfrm>
            <a:off x="4541838" y="3078163"/>
            <a:ext cx="4602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我们假设映射函数</a:t>
            </a:r>
            <a:r>
              <a:rPr lang="en-US" altLang="zh-CN" sz="2400"/>
              <a:t>F(s)</a:t>
            </a:r>
            <a:r>
              <a:rPr lang="zh-CN" altLang="en-US" sz="2400"/>
              <a:t>形式为：</a:t>
            </a:r>
            <a:r>
              <a:rPr lang="en-US" altLang="zh-CN" sz="240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94" grpId="0"/>
      <p:bldP spid="36895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8F305EA-7720-456B-92F3-7EF95A2F27AF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36867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3686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E879F9-0D4A-4B31-AEF7-D10FE2E9B07D}" type="slidenum">
              <a:rPr altLang="zh-CN" smtClean="0"/>
              <a:pPr/>
              <a:t>26</a:t>
            </a:fld>
            <a:endParaRPr lang="zh-CN" altLang="zh-CN"/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468313" y="549275"/>
            <a:ext cx="7416800" cy="830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  </a:t>
            </a:r>
            <a:r>
              <a:rPr lang="zh-CN" altLang="en-US" sz="2400"/>
              <a:t>通过将</a:t>
            </a:r>
            <a:r>
              <a:rPr lang="en-US" altLang="zh-CN" sz="2400"/>
              <a:t>contour A</a:t>
            </a:r>
            <a:r>
              <a:rPr lang="zh-CN" altLang="en-US" sz="2400"/>
              <a:t>上的每个点通过</a:t>
            </a:r>
            <a:r>
              <a:rPr lang="en-US" altLang="zh-CN" sz="2400"/>
              <a:t>F(s)</a:t>
            </a:r>
            <a:r>
              <a:rPr lang="zh-CN" altLang="en-US" sz="2400"/>
              <a:t>进行映射，就可以将</a:t>
            </a:r>
            <a:r>
              <a:rPr lang="en-US" altLang="zh-CN" sz="2400">
                <a:solidFill>
                  <a:schemeClr val="accent2"/>
                </a:solidFill>
              </a:rPr>
              <a:t>Contour A</a:t>
            </a:r>
            <a:r>
              <a:rPr lang="zh-CN" altLang="en-US" sz="2400"/>
              <a:t>映射为</a:t>
            </a:r>
            <a:r>
              <a:rPr lang="en-US" altLang="zh-CN" sz="2400"/>
              <a:t>F(s)</a:t>
            </a:r>
            <a:r>
              <a:rPr lang="zh-CN" altLang="en-US" sz="2400"/>
              <a:t>平面的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accent2"/>
                </a:solidFill>
              </a:rPr>
              <a:t>contour B</a:t>
            </a:r>
            <a:r>
              <a:rPr lang="en-US" altLang="zh-CN" sz="2400"/>
              <a:t>.</a:t>
            </a:r>
          </a:p>
        </p:txBody>
      </p:sp>
      <p:sp>
        <p:nvSpPr>
          <p:cNvPr id="38942" name="Rectangle 30"/>
          <p:cNvSpPr>
            <a:spLocks noChangeArrowheads="1"/>
          </p:cNvSpPr>
          <p:nvPr/>
        </p:nvSpPr>
        <p:spPr bwMode="auto">
          <a:xfrm>
            <a:off x="468313" y="5437188"/>
            <a:ext cx="8350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例如</a:t>
            </a:r>
            <a:r>
              <a:rPr lang="en-US" altLang="zh-CN" sz="2400"/>
              <a:t>, [s]</a:t>
            </a:r>
            <a:r>
              <a:rPr lang="zh-CN" altLang="en-US" sz="2400"/>
              <a:t>中</a:t>
            </a:r>
            <a:r>
              <a:rPr lang="en-US" altLang="zh-CN" sz="2400"/>
              <a:t> Q</a:t>
            </a:r>
            <a:r>
              <a:rPr lang="zh-CN" altLang="en-US" sz="2400"/>
              <a:t>点通过</a:t>
            </a:r>
            <a:r>
              <a:rPr lang="en-US" altLang="zh-CN" sz="2400"/>
              <a:t>F(s)</a:t>
            </a:r>
            <a:r>
              <a:rPr lang="zh-CN" altLang="en-US" sz="2400"/>
              <a:t>函数映射成了</a:t>
            </a:r>
            <a:r>
              <a:rPr lang="en-US" altLang="zh-CN" sz="2400"/>
              <a:t>[F]</a:t>
            </a:r>
            <a:r>
              <a:rPr lang="zh-CN" altLang="en-US" sz="2400"/>
              <a:t>平面上的</a:t>
            </a:r>
            <a:r>
              <a:rPr lang="en-US" altLang="zh-CN" sz="2400"/>
              <a:t> Q’</a:t>
            </a:r>
            <a:r>
              <a:rPr lang="zh-CN" altLang="en-US" sz="2400"/>
              <a:t>点。</a:t>
            </a:r>
            <a:r>
              <a:rPr lang="en-US" altLang="zh-CN" sz="2400"/>
              <a:t> </a:t>
            </a:r>
          </a:p>
        </p:txBody>
      </p:sp>
      <p:pic>
        <p:nvPicPr>
          <p:cNvPr id="38943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" t="2559" r="3342" b="5376"/>
          <a:stretch>
            <a:fillRect/>
          </a:stretch>
        </p:blipFill>
        <p:spPr bwMode="auto">
          <a:xfrm>
            <a:off x="468313" y="2133600"/>
            <a:ext cx="7416800" cy="330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animBg="1"/>
      <p:bldP spid="389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C933B10-2E6B-4D05-A564-2A3899DFB9FD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37891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3789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C5BB34C-A50C-4B14-9547-D08CE80306FC}" type="slidenum">
              <a:rPr altLang="zh-CN" smtClean="0"/>
              <a:pPr/>
              <a:t>27</a:t>
            </a:fld>
            <a:endParaRPr lang="zh-CN" altLang="zh-CN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588963" y="476250"/>
            <a:ext cx="7572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下面是</a:t>
            </a:r>
            <a:r>
              <a:rPr lang="en-US" altLang="zh-CN" sz="2400"/>
              <a:t>F(s)</a:t>
            </a:r>
            <a:r>
              <a:rPr lang="zh-CN" altLang="en-US" sz="2400"/>
              <a:t>具有不同形式时的几种封闭曲线映射情况。</a:t>
            </a:r>
            <a:endParaRPr lang="en-US" altLang="zh-CN" sz="2400"/>
          </a:p>
        </p:txBody>
      </p:sp>
      <p:pic>
        <p:nvPicPr>
          <p:cNvPr id="40965" name="Picture 5" descr="scan0009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819275"/>
            <a:ext cx="8424862" cy="3170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530225" y="5127625"/>
            <a:ext cx="8424863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/>
              <a:t>  </a:t>
            </a:r>
            <a:r>
              <a:rPr lang="zh-CN" altLang="en-US" sz="2400"/>
              <a:t>如果</a:t>
            </a:r>
            <a:r>
              <a:rPr lang="en-US" altLang="zh-CN" sz="2400"/>
              <a:t>F(s)</a:t>
            </a:r>
            <a:r>
              <a:rPr lang="zh-CN" altLang="en-US" sz="2400"/>
              <a:t>具有零点，且零点不被</a:t>
            </a:r>
            <a:r>
              <a:rPr lang="en-US" altLang="zh-CN" sz="2400"/>
              <a:t>contour A</a:t>
            </a:r>
            <a:r>
              <a:rPr lang="zh-CN" altLang="en-US" sz="2400"/>
              <a:t>包围，则</a:t>
            </a:r>
            <a:r>
              <a:rPr lang="en-US" altLang="zh-CN" sz="2400"/>
              <a:t>contour B</a:t>
            </a:r>
            <a:r>
              <a:rPr lang="zh-CN" altLang="en-US" sz="2400"/>
              <a:t>也映射为顺时针方向且不包围原点。</a:t>
            </a:r>
            <a:endParaRPr lang="en-US" altLang="zh-CN" sz="2400">
              <a:solidFill>
                <a:schemeClr val="accent2"/>
              </a:solidFill>
            </a:endParaRPr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581025" y="1125538"/>
            <a:ext cx="7134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 </a:t>
            </a:r>
            <a:r>
              <a:rPr lang="zh-CN" altLang="en-US" sz="2400"/>
              <a:t>假设对</a:t>
            </a:r>
            <a:r>
              <a:rPr lang="en-US" altLang="zh-CN" sz="2400"/>
              <a:t>contour A</a:t>
            </a:r>
            <a:r>
              <a:rPr lang="zh-CN" altLang="en-US" sz="2400"/>
              <a:t>上的点按顺时针方向进行映射。</a:t>
            </a:r>
            <a:r>
              <a:rPr lang="en-US" altLang="zh-CN" sz="2400">
                <a:solidFill>
                  <a:schemeClr val="accent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40966" grpId="0"/>
      <p:bldP spid="4096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D37F484-1A07-4EA8-BF87-1517A681EBA7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38915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3891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1BE3836-F1BF-47B2-913D-6B45098CD6F0}" type="slidenum">
              <a:rPr altLang="zh-CN" smtClean="0"/>
              <a:pPr/>
              <a:t>28</a:t>
            </a:fld>
            <a:endParaRPr lang="zh-CN" altLang="zh-CN"/>
          </a:p>
        </p:txBody>
      </p:sp>
      <p:pic>
        <p:nvPicPr>
          <p:cNvPr id="38917" name="Picture 4" descr="scan000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00125"/>
            <a:ext cx="7848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611188" y="4791075"/>
            <a:ext cx="78486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/>
              <a:t>如果</a:t>
            </a:r>
            <a:r>
              <a:rPr lang="en-US" altLang="zh-CN" sz="2400"/>
              <a:t>F(s)</a:t>
            </a:r>
            <a:r>
              <a:rPr lang="zh-CN" altLang="en-US" sz="2400"/>
              <a:t>具有极点，且极点不被</a:t>
            </a:r>
            <a:r>
              <a:rPr lang="en-US" altLang="zh-CN" sz="2400"/>
              <a:t>contour A</a:t>
            </a:r>
            <a:r>
              <a:rPr lang="zh-CN" altLang="en-US" sz="2400"/>
              <a:t>包围，则</a:t>
            </a:r>
            <a:r>
              <a:rPr lang="en-US" altLang="zh-CN" sz="2400"/>
              <a:t>contour B</a:t>
            </a:r>
            <a:r>
              <a:rPr lang="zh-CN" altLang="en-US" sz="2400"/>
              <a:t>也映射为顺时针方向且不包围原点。</a:t>
            </a:r>
            <a:endParaRPr lang="en-US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2AF07C9-D576-4552-BC41-B261FAB47954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39939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3994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57FFCB-9F56-412B-BA8F-0203880A9FD0}" type="slidenum">
              <a:rPr altLang="zh-CN" smtClean="0"/>
              <a:pPr/>
              <a:t>29</a:t>
            </a:fld>
            <a:endParaRPr lang="zh-CN" altLang="zh-CN"/>
          </a:p>
        </p:txBody>
      </p:sp>
      <p:pic>
        <p:nvPicPr>
          <p:cNvPr id="39941" name="Picture 4" descr="scan000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981075"/>
            <a:ext cx="7993063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23875" y="4686300"/>
            <a:ext cx="8424863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/>
              <a:t>  </a:t>
            </a:r>
            <a:r>
              <a:rPr lang="zh-CN" altLang="en-US" sz="2400"/>
              <a:t>如果</a:t>
            </a:r>
            <a:r>
              <a:rPr lang="en-US" altLang="zh-CN" sz="2400"/>
              <a:t>F(s)</a:t>
            </a:r>
            <a:r>
              <a:rPr lang="zh-CN" altLang="en-US" sz="2400"/>
              <a:t>具有零点，且零点被</a:t>
            </a:r>
            <a:r>
              <a:rPr lang="en-US" altLang="zh-CN" sz="2400"/>
              <a:t>contour A</a:t>
            </a:r>
            <a:r>
              <a:rPr lang="zh-CN" altLang="en-US" sz="2400"/>
              <a:t>包围，则</a:t>
            </a:r>
            <a:r>
              <a:rPr lang="en-US" altLang="zh-CN" sz="2400"/>
              <a:t>contour B</a:t>
            </a:r>
            <a:r>
              <a:rPr lang="zh-CN" altLang="en-US" sz="2400"/>
              <a:t>也映射为顺时针方向但</a:t>
            </a:r>
            <a:r>
              <a:rPr lang="zh-CN" altLang="en-US" sz="2400">
                <a:solidFill>
                  <a:srgbClr val="FF0000"/>
                </a:solidFill>
              </a:rPr>
              <a:t>包围</a:t>
            </a:r>
            <a:r>
              <a:rPr lang="zh-CN" altLang="en-US" sz="2400"/>
              <a:t>原点。</a:t>
            </a:r>
            <a:endParaRPr lang="en-US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ED8BC74-5DE0-411D-92D1-2ACD8D54E3B7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0963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096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CBF425-23F9-484C-9856-52E804CB5B6B}" type="slidenum">
              <a:rPr altLang="zh-CN" smtClean="0"/>
              <a:pPr/>
              <a:t>30</a:t>
            </a:fld>
            <a:endParaRPr lang="zh-CN" altLang="zh-CN"/>
          </a:p>
        </p:txBody>
      </p:sp>
      <p:pic>
        <p:nvPicPr>
          <p:cNvPr id="40965" name="Picture 4" descr="scan000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36613"/>
            <a:ext cx="8064500" cy="302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79450" y="4365625"/>
            <a:ext cx="78486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/>
              <a:t>如果</a:t>
            </a:r>
            <a:r>
              <a:rPr lang="en-US" altLang="zh-CN" sz="2400"/>
              <a:t>F(s)</a:t>
            </a:r>
            <a:r>
              <a:rPr lang="zh-CN" altLang="en-US" sz="2400"/>
              <a:t>具有极点，且极点被</a:t>
            </a:r>
            <a:r>
              <a:rPr lang="en-US" altLang="zh-CN" sz="2400"/>
              <a:t>contour A</a:t>
            </a:r>
            <a:r>
              <a:rPr lang="zh-CN" altLang="en-US" sz="2400"/>
              <a:t>包围，则</a:t>
            </a:r>
            <a:r>
              <a:rPr lang="en-US" altLang="zh-CN" sz="2400"/>
              <a:t>contour B</a:t>
            </a:r>
            <a:r>
              <a:rPr lang="zh-CN" altLang="en-US" sz="2400"/>
              <a:t>映射为逆时针方向且包围原点。</a:t>
            </a:r>
            <a:endParaRPr lang="en-US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06B9AA6-6363-4554-B909-3937A3B9B3A0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1987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198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C45E0D5-2FEE-4DCF-8F24-734B49E07189}" type="slidenum">
              <a:rPr altLang="zh-CN" smtClean="0"/>
              <a:pPr/>
              <a:t>31</a:t>
            </a:fld>
            <a:endParaRPr lang="zh-CN" altLang="zh-CN"/>
          </a:p>
        </p:txBody>
      </p:sp>
      <p:pic>
        <p:nvPicPr>
          <p:cNvPr id="41989" name="Picture 4" descr="scan0009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908050"/>
            <a:ext cx="813752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28675" y="4360863"/>
            <a:ext cx="7848600" cy="142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/>
              <a:t>如果</a:t>
            </a:r>
            <a:r>
              <a:rPr lang="en-US" altLang="zh-CN" sz="2400"/>
              <a:t>F(s)</a:t>
            </a:r>
            <a:r>
              <a:rPr lang="zh-CN" altLang="en-US" sz="2400"/>
              <a:t>具有相同零点和极点，且零点和极点均被</a:t>
            </a:r>
            <a:r>
              <a:rPr lang="en-US" altLang="zh-CN" sz="2400"/>
              <a:t>contour A</a:t>
            </a:r>
            <a:r>
              <a:rPr lang="zh-CN" altLang="en-US" sz="2400"/>
              <a:t>包围，则</a:t>
            </a:r>
            <a:r>
              <a:rPr lang="en-US" altLang="zh-CN" sz="2400"/>
              <a:t>contour B</a:t>
            </a:r>
            <a:r>
              <a:rPr lang="zh-CN" altLang="en-US" sz="2400"/>
              <a:t>映射为逆时针方向，且由于零极点旋转的对消，</a:t>
            </a:r>
            <a:r>
              <a:rPr lang="en-US" altLang="zh-CN" sz="2400"/>
              <a:t> contour B</a:t>
            </a:r>
            <a:r>
              <a:rPr lang="zh-CN" altLang="en-US" sz="2400"/>
              <a:t>不包围原点。</a:t>
            </a:r>
            <a:endParaRPr lang="en-US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F9AEB63-D518-48BD-B515-58A556CFB77C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3011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301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54DD93-8137-44FF-A33B-1056DC75F873}" type="slidenum">
              <a:rPr altLang="zh-CN" smtClean="0"/>
              <a:pPr/>
              <a:t>32</a:t>
            </a:fld>
            <a:endParaRPr lang="zh-CN" altLang="zh-CN"/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808038" y="1000125"/>
            <a:ext cx="1936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c). </a:t>
            </a:r>
            <a:r>
              <a:rPr lang="zh-CN" altLang="en-US" sz="2400"/>
              <a:t>幅角定理</a:t>
            </a:r>
            <a:endParaRPr lang="en-US" altLang="zh-CN" sz="2400"/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577850" y="1795463"/>
            <a:ext cx="7778750" cy="4524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若在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[s]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平面上任意选定一条封闭曲线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Contour 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，该曲线不经过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F(s)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的奇点，当解析点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顺时针方向沿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Contour 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变化一周时，在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[F(s)]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平面上的映射得到的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Contour B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顺时针包围原点的总次数为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N=Z-P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次，即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F(s)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以原点为中心顺时针旋转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周。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其中：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为包围于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Contour 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内的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F(s)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函数的零点数；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P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为包围于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Contour A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内的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F(s)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函数的极点数。</a:t>
            </a: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  <p:bldP spid="4608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FB20E79-D5F6-4E71-AA77-4C8379C99EF2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4035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403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068FAC4-2B37-4896-A4A1-7CE8501F5AE2}" type="slidenum">
              <a:rPr altLang="zh-CN" smtClean="0"/>
              <a:pPr/>
              <a:t>33</a:t>
            </a:fld>
            <a:endParaRPr lang="zh-CN" altLang="zh-CN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323850" y="1700213"/>
            <a:ext cx="856932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lphaLcParenR"/>
            </a:pPr>
            <a:r>
              <a:rPr lang="zh-CN" altLang="en-US" sz="2400">
                <a:latin typeface="Arial" panose="020B0604020202020204" pitchFamily="34" charset="0"/>
              </a:rPr>
              <a:t>分析：</a:t>
            </a:r>
            <a:r>
              <a:rPr lang="en-US" altLang="zh-CN" sz="2400">
                <a:latin typeface="Arial" panose="020B0604020202020204" pitchFamily="34" charset="0"/>
              </a:rPr>
              <a:t>F(s)=1+G(s)H(s)</a:t>
            </a:r>
            <a:r>
              <a:rPr lang="zh-CN" altLang="en-US" sz="2400">
                <a:latin typeface="Arial" panose="020B0604020202020204" pitchFamily="34" charset="0"/>
              </a:rPr>
              <a:t>极点与开环传函</a:t>
            </a:r>
            <a:r>
              <a:rPr lang="en-US" altLang="zh-CN" sz="2400">
                <a:latin typeface="Arial" panose="020B0604020202020204" pitchFamily="34" charset="0"/>
              </a:rPr>
              <a:t>G(s)H(s)</a:t>
            </a:r>
            <a:r>
              <a:rPr lang="zh-CN" altLang="en-US" sz="2400">
                <a:latin typeface="Arial" panose="020B0604020202020204" pitchFamily="34" charset="0"/>
              </a:rPr>
              <a:t>极点的关系以及</a:t>
            </a:r>
            <a:r>
              <a:rPr lang="en-US" altLang="zh-CN" sz="2400">
                <a:latin typeface="Arial" panose="020B0604020202020204" pitchFamily="34" charset="0"/>
              </a:rPr>
              <a:t>F(s)=1+G(s)H(s)</a:t>
            </a:r>
            <a:r>
              <a:rPr lang="zh-CN" altLang="en-US" sz="2400">
                <a:latin typeface="Arial" panose="020B0604020202020204" pitchFamily="34" charset="0"/>
              </a:rPr>
              <a:t>零点与</a:t>
            </a:r>
            <a:r>
              <a:rPr lang="zh-CN" altLang="en-US" sz="2400" b="1">
                <a:latin typeface="Times New Roman" panose="02020603050405020304" pitchFamily="18" charset="0"/>
              </a:rPr>
              <a:t>系统闭环传递函数极点之间的关系（选取映射函数）</a:t>
            </a:r>
          </a:p>
          <a:p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920750" y="3090863"/>
            <a:ext cx="2955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考虑右图所示系统：</a:t>
            </a:r>
            <a:endParaRPr lang="en-US" altLang="zh-CN" sz="2400"/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481013" y="709613"/>
            <a:ext cx="3900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2. </a:t>
            </a:r>
            <a:r>
              <a:rPr lang="zh-CN" altLang="en-US" sz="2800"/>
              <a:t>奈奎斯特稳定性分析</a:t>
            </a:r>
            <a:endParaRPr lang="en-US" altLang="zh-CN" sz="2800"/>
          </a:p>
        </p:txBody>
      </p:sp>
      <p:grpSp>
        <p:nvGrpSpPr>
          <p:cNvPr id="238599" name="组合 24"/>
          <p:cNvGrpSpPr>
            <a:grpSpLocks/>
          </p:cNvGrpSpPr>
          <p:nvPr/>
        </p:nvGrpSpPr>
        <p:grpSpPr bwMode="auto">
          <a:xfrm>
            <a:off x="4211638" y="2736850"/>
            <a:ext cx="4322762" cy="1539875"/>
            <a:chOff x="1905000" y="2057400"/>
            <a:chExt cx="4648200" cy="1752600"/>
          </a:xfrm>
        </p:grpSpPr>
        <p:grpSp>
          <p:nvGrpSpPr>
            <p:cNvPr id="44046" name="Group 4"/>
            <p:cNvGrpSpPr>
              <a:grpSpLocks/>
            </p:cNvGrpSpPr>
            <p:nvPr/>
          </p:nvGrpSpPr>
          <p:grpSpPr bwMode="auto">
            <a:xfrm>
              <a:off x="1905000" y="2057400"/>
              <a:ext cx="4648200" cy="1752600"/>
              <a:chOff x="912" y="1632"/>
              <a:chExt cx="2928" cy="1104"/>
            </a:xfrm>
          </p:grpSpPr>
          <p:sp>
            <p:nvSpPr>
              <p:cNvPr id="44048" name="Rectangle 5"/>
              <p:cNvSpPr>
                <a:spLocks noChangeArrowheads="1"/>
              </p:cNvSpPr>
              <p:nvPr/>
            </p:nvSpPr>
            <p:spPr bwMode="auto">
              <a:xfrm>
                <a:off x="2160" y="1728"/>
                <a:ext cx="720" cy="38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i="1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44049" name="Oval 6"/>
              <p:cNvSpPr>
                <a:spLocks noChangeArrowheads="1"/>
              </p:cNvSpPr>
              <p:nvPr/>
            </p:nvSpPr>
            <p:spPr bwMode="auto">
              <a:xfrm>
                <a:off x="1488" y="1824"/>
                <a:ext cx="192" cy="192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4050" name="Line 7"/>
              <p:cNvSpPr>
                <a:spLocks noChangeShapeType="1"/>
              </p:cNvSpPr>
              <p:nvPr/>
            </p:nvSpPr>
            <p:spPr bwMode="auto">
              <a:xfrm flipH="1">
                <a:off x="1536" y="1872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1" name="Line 8"/>
              <p:cNvSpPr>
                <a:spLocks noChangeShapeType="1"/>
              </p:cNvSpPr>
              <p:nvPr/>
            </p:nvSpPr>
            <p:spPr bwMode="auto">
              <a:xfrm>
                <a:off x="1536" y="1872"/>
                <a:ext cx="96" cy="96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2" name="Line 9"/>
              <p:cNvSpPr>
                <a:spLocks noChangeShapeType="1"/>
              </p:cNvSpPr>
              <p:nvPr/>
            </p:nvSpPr>
            <p:spPr bwMode="auto">
              <a:xfrm>
                <a:off x="1680" y="1920"/>
                <a:ext cx="48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3" name="Rectangle 10"/>
              <p:cNvSpPr>
                <a:spLocks noChangeArrowheads="1"/>
              </p:cNvSpPr>
              <p:nvPr/>
            </p:nvSpPr>
            <p:spPr bwMode="auto">
              <a:xfrm>
                <a:off x="2160" y="2352"/>
                <a:ext cx="720" cy="38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i="1"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8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8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44054" name="Line 11"/>
              <p:cNvSpPr>
                <a:spLocks noChangeShapeType="1"/>
              </p:cNvSpPr>
              <p:nvPr/>
            </p:nvSpPr>
            <p:spPr bwMode="auto">
              <a:xfrm>
                <a:off x="2880" y="1920"/>
                <a:ext cx="96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5" name="Line 12"/>
              <p:cNvSpPr>
                <a:spLocks noChangeShapeType="1"/>
              </p:cNvSpPr>
              <p:nvPr/>
            </p:nvSpPr>
            <p:spPr bwMode="auto">
              <a:xfrm>
                <a:off x="912" y="1920"/>
                <a:ext cx="57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6" name="Line 13"/>
              <p:cNvSpPr>
                <a:spLocks noChangeShapeType="1"/>
              </p:cNvSpPr>
              <p:nvPr/>
            </p:nvSpPr>
            <p:spPr bwMode="auto">
              <a:xfrm flipV="1">
                <a:off x="1584" y="2016"/>
                <a:ext cx="0" cy="52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7" name="Line 14"/>
              <p:cNvSpPr>
                <a:spLocks noChangeShapeType="1"/>
              </p:cNvSpPr>
              <p:nvPr/>
            </p:nvSpPr>
            <p:spPr bwMode="auto">
              <a:xfrm flipH="1">
                <a:off x="1584" y="2544"/>
                <a:ext cx="576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8" name="Line 15"/>
              <p:cNvSpPr>
                <a:spLocks noChangeShapeType="1"/>
              </p:cNvSpPr>
              <p:nvPr/>
            </p:nvSpPr>
            <p:spPr bwMode="auto">
              <a:xfrm>
                <a:off x="3408" y="1920"/>
                <a:ext cx="0" cy="624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59" name="Line 16"/>
              <p:cNvSpPr>
                <a:spLocks noChangeShapeType="1"/>
              </p:cNvSpPr>
              <p:nvPr/>
            </p:nvSpPr>
            <p:spPr bwMode="auto">
              <a:xfrm flipH="1">
                <a:off x="2880" y="2544"/>
                <a:ext cx="52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0" name="Oval 17"/>
              <p:cNvSpPr>
                <a:spLocks noChangeArrowheads="1"/>
              </p:cNvSpPr>
              <p:nvPr/>
            </p:nvSpPr>
            <p:spPr bwMode="auto">
              <a:xfrm>
                <a:off x="3387" y="1893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4061" name="Text Box 18"/>
              <p:cNvSpPr txBox="1">
                <a:spLocks noChangeArrowheads="1"/>
              </p:cNvSpPr>
              <p:nvPr/>
            </p:nvSpPr>
            <p:spPr bwMode="auto">
              <a:xfrm>
                <a:off x="912" y="1632"/>
                <a:ext cx="43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44062" name="Text Box 19"/>
              <p:cNvSpPr txBox="1">
                <a:spLocks noChangeArrowheads="1"/>
              </p:cNvSpPr>
              <p:nvPr/>
            </p:nvSpPr>
            <p:spPr bwMode="auto">
              <a:xfrm>
                <a:off x="3368" y="1632"/>
                <a:ext cx="45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(</a:t>
                </a:r>
                <a:r>
                  <a:rPr lang="en-US" altLang="zh-CN" sz="24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)</a:t>
                </a:r>
              </a:p>
            </p:txBody>
          </p:sp>
        </p:grpSp>
        <p:sp>
          <p:nvSpPr>
            <p:cNvPr id="44047" name="TextBox 23"/>
            <p:cNvSpPr txBox="1">
              <a:spLocks noChangeArrowheads="1"/>
            </p:cNvSpPr>
            <p:nvPr/>
          </p:nvSpPr>
          <p:spPr bwMode="auto">
            <a:xfrm>
              <a:off x="2627784" y="2492896"/>
              <a:ext cx="3481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_</a:t>
              </a:r>
              <a:endParaRPr lang="zh-CN" altLang="en-US" b="1"/>
            </a:p>
          </p:txBody>
        </p:sp>
      </p:grpSp>
      <p:graphicFrame>
        <p:nvGraphicFramePr>
          <p:cNvPr id="31" name="Object 2"/>
          <p:cNvGraphicFramePr>
            <a:graphicFrameLocks noChangeAspect="1"/>
          </p:cNvGraphicFramePr>
          <p:nvPr/>
        </p:nvGraphicFramePr>
        <p:xfrm>
          <a:off x="574675" y="4121150"/>
          <a:ext cx="451326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209800" imgH="444500" progId="Equation.3">
                  <p:embed/>
                </p:oleObj>
              </mc:Choice>
              <mc:Fallback>
                <p:oleObj r:id="rId2" imgW="22098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4121150"/>
                        <a:ext cx="4513263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/>
        </p:nvGraphicFramePr>
        <p:xfrm>
          <a:off x="663575" y="5264150"/>
          <a:ext cx="46704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444500" progId="Equation.3">
                  <p:embed/>
                </p:oleObj>
              </mc:Choice>
              <mc:Fallback>
                <p:oleObj r:id="rId4" imgW="22860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5264150"/>
                        <a:ext cx="46704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28"/>
          <p:cNvGrpSpPr>
            <a:grpSpLocks/>
          </p:cNvGrpSpPr>
          <p:nvPr/>
        </p:nvGrpSpPr>
        <p:grpSpPr bwMode="auto">
          <a:xfrm>
            <a:off x="5327650" y="5561013"/>
            <a:ext cx="1765300" cy="708025"/>
            <a:chOff x="6804248" y="5373216"/>
            <a:chExt cx="1764997" cy="707886"/>
          </a:xfrm>
        </p:grpSpPr>
        <p:cxnSp>
          <p:nvCxnSpPr>
            <p:cNvPr id="34" name="直接连接符 33"/>
            <p:cNvCxnSpPr/>
            <p:nvPr/>
          </p:nvCxnSpPr>
          <p:spPr>
            <a:xfrm flipV="1">
              <a:off x="6804248" y="5660497"/>
              <a:ext cx="576164" cy="730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45" name="TextBox 27"/>
            <p:cNvSpPr txBox="1">
              <a:spLocks noChangeArrowheads="1"/>
            </p:cNvSpPr>
            <p:nvPr/>
          </p:nvSpPr>
          <p:spPr bwMode="auto">
            <a:xfrm>
              <a:off x="7308304" y="5373216"/>
              <a:ext cx="1260941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开环特征多项式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/>
      <p:bldP spid="39941" grpId="0"/>
      <p:bldP spid="3994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01B8306-CE9A-4583-A10C-6BD78A942B46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450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7280E01-03C2-4406-AF04-C8738B3B2EE1}" type="slidenum">
              <a:rPr altLang="zh-CN" smtClean="0"/>
              <a:pPr/>
              <a:t>34</a:t>
            </a:fld>
            <a:endParaRPr lang="zh-CN" altLang="zh-CN"/>
          </a:p>
        </p:txBody>
      </p:sp>
      <p:graphicFrame>
        <p:nvGraphicFramePr>
          <p:cNvPr id="24578" name="Object 2"/>
          <p:cNvGraphicFramePr>
            <a:graphicFrameLocks noChangeAspect="1"/>
          </p:cNvGraphicFramePr>
          <p:nvPr/>
        </p:nvGraphicFramePr>
        <p:xfrm>
          <a:off x="1042988" y="1831975"/>
          <a:ext cx="70612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48100" imgH="444500" progId="Equation.3">
                  <p:embed/>
                </p:oleObj>
              </mc:Choice>
              <mc:Fallback>
                <p:oleObj r:id="rId2" imgW="38481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831975"/>
                        <a:ext cx="70612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1524000" y="3048000"/>
            <a:ext cx="701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即闭环系统的特征多项式</a:t>
            </a:r>
            <a:r>
              <a:rPr lang="en-US" altLang="zh-CN" sz="2800">
                <a:latin typeface="Times New Roman" panose="02020603050405020304" pitchFamily="18" charset="0"/>
              </a:rPr>
              <a:t>D</a:t>
            </a:r>
            <a:r>
              <a:rPr lang="en-US" altLang="zh-CN" sz="2800" baseline="-25000">
                <a:latin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</a:rPr>
              <a:t>(s)</a:t>
            </a:r>
            <a:r>
              <a:rPr lang="zh-CN" altLang="en-US" sz="2800">
                <a:latin typeface="Times New Roman" panose="02020603050405020304" pitchFamily="18" charset="0"/>
              </a:rPr>
              <a:t>为开环传递函数的分子多项式和分母多项式之和。</a:t>
            </a:r>
          </a:p>
        </p:txBody>
      </p:sp>
      <p:sp>
        <p:nvSpPr>
          <p:cNvPr id="276485" name="Text Box 5"/>
          <p:cNvSpPr txBox="1">
            <a:spLocks noChangeArrowheads="1"/>
          </p:cNvSpPr>
          <p:nvPr/>
        </p:nvSpPr>
        <p:spPr bwMode="auto">
          <a:xfrm>
            <a:off x="1524000" y="4165600"/>
            <a:ext cx="70104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一般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的分母多项式的阶次均大于其分子多项式的阶次，故闭环特征方程的阶次等于开环特征方程的阶次。</a:t>
            </a:r>
          </a:p>
        </p:txBody>
      </p:sp>
      <p:graphicFrame>
        <p:nvGraphicFramePr>
          <p:cNvPr id="45063" name="Object 3"/>
          <p:cNvGraphicFramePr>
            <a:graphicFrameLocks noChangeAspect="1"/>
          </p:cNvGraphicFramePr>
          <p:nvPr/>
        </p:nvGraphicFramePr>
        <p:xfrm>
          <a:off x="1258888" y="476250"/>
          <a:ext cx="46704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444500" progId="Equation.3">
                  <p:embed/>
                </p:oleObj>
              </mc:Choice>
              <mc:Fallback>
                <p:oleObj r:id="rId4" imgW="22860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76250"/>
                        <a:ext cx="467042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/>
      <p:bldP spid="27648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75F9C9A-C2D3-44EC-91FA-A0F78EA344B5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460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E72A04-EDAE-4C4E-8ABB-FEBC5400E05F}" type="slidenum">
              <a:rPr altLang="zh-CN" smtClean="0"/>
              <a:pPr/>
              <a:t>35</a:t>
            </a:fld>
            <a:endParaRPr lang="zh-CN" altLang="zh-CN"/>
          </a:p>
        </p:txBody>
      </p:sp>
      <p:graphicFrame>
        <p:nvGraphicFramePr>
          <p:cNvPr id="398336" name="Object 2"/>
          <p:cNvGraphicFramePr>
            <a:graphicFrameLocks noChangeAspect="1"/>
          </p:cNvGraphicFramePr>
          <p:nvPr/>
        </p:nvGraphicFramePr>
        <p:xfrm>
          <a:off x="590550" y="404813"/>
          <a:ext cx="77152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10000" imgH="444500" progId="Equation.3">
                  <p:embed/>
                </p:oleObj>
              </mc:Choice>
              <mc:Fallback>
                <p:oleObj r:id="rId2" imgW="38100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404813"/>
                        <a:ext cx="77152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09" name="Text Box 5"/>
          <p:cNvSpPr txBox="1">
            <a:spLocks noChangeArrowheads="1"/>
          </p:cNvSpPr>
          <p:nvPr/>
        </p:nvSpPr>
        <p:spPr bwMode="auto">
          <a:xfrm>
            <a:off x="804863" y="1760538"/>
            <a:ext cx="7010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 i="1">
                <a:latin typeface="Times New Roman" panose="02020603050405020304" pitchFamily="18" charset="0"/>
              </a:rPr>
              <a:t>D</a:t>
            </a:r>
            <a:r>
              <a:rPr lang="en-US" altLang="zh-CN" sz="2900" i="1" baseline="-18000">
                <a:latin typeface="Times New Roman" panose="02020603050405020304" pitchFamily="18" charset="0"/>
              </a:rPr>
              <a:t>b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为闭环特征多项式。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04863" y="4989513"/>
            <a:ext cx="70104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    通过</a:t>
            </a:r>
            <a:r>
              <a:rPr lang="zh-CN" altLang="en-US" sz="2800">
                <a:solidFill>
                  <a:srgbClr val="FF0000"/>
                </a:solidFill>
              </a:rPr>
              <a:t>映射函数</a:t>
            </a:r>
            <a:r>
              <a:rPr lang="zh-CN" altLang="en-US" sz="2800"/>
              <a:t>为利用</a:t>
            </a:r>
            <a:r>
              <a:rPr lang="en-US" altLang="zh-CN" sz="2800"/>
              <a:t>Nyquist</a:t>
            </a:r>
            <a:r>
              <a:rPr lang="zh-CN" altLang="en-US" sz="2800"/>
              <a:t>图来判定闭环系统的稳定性提供了基础。</a:t>
            </a:r>
          </a:p>
        </p:txBody>
      </p:sp>
      <p:sp>
        <p:nvSpPr>
          <p:cNvPr id="240646" name="Text Box 3"/>
          <p:cNvSpPr txBox="1">
            <a:spLocks noChangeArrowheads="1"/>
          </p:cNvSpPr>
          <p:nvPr/>
        </p:nvSpPr>
        <p:spPr bwMode="auto">
          <a:xfrm>
            <a:off x="688975" y="2619375"/>
            <a:ext cx="7126288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F(s)</a:t>
            </a:r>
            <a:r>
              <a:rPr lang="zh-CN" altLang="en-US" sz="2800">
                <a:latin typeface="Times New Roman" panose="02020603050405020304" pitchFamily="18" charset="0"/>
              </a:rPr>
              <a:t>的零点为闭环极点，</a:t>
            </a:r>
            <a:r>
              <a:rPr lang="en-US" altLang="zh-CN" sz="2800">
                <a:latin typeface="Times New Roman" panose="02020603050405020304" pitchFamily="18" charset="0"/>
              </a:rPr>
              <a:t>F(s)</a:t>
            </a:r>
            <a:r>
              <a:rPr lang="zh-CN" altLang="en-US" sz="2800">
                <a:latin typeface="Times New Roman" panose="02020603050405020304" pitchFamily="18" charset="0"/>
              </a:rPr>
              <a:t>的极点为开环极点，</a:t>
            </a:r>
            <a:r>
              <a:rPr lang="en-US" altLang="zh-CN" sz="2800">
                <a:latin typeface="Times New Roman" panose="02020603050405020304" pitchFamily="18" charset="0"/>
              </a:rPr>
              <a:t>F(s)</a:t>
            </a:r>
            <a:r>
              <a:rPr lang="zh-CN" altLang="en-US" sz="2800">
                <a:latin typeface="Times New Roman" panose="02020603050405020304" pitchFamily="18" charset="0"/>
              </a:rPr>
              <a:t>将</a:t>
            </a:r>
            <a:r>
              <a:rPr lang="zh-CN" altLang="en-US" sz="2800">
                <a:solidFill>
                  <a:srgbClr val="FF0000"/>
                </a:solidFill>
              </a:rPr>
              <a:t>闭环系统的稳定性、开环系统的稳定性以及开环传函（</a:t>
            </a:r>
            <a:r>
              <a:rPr lang="en-US" altLang="zh-CN" sz="2800">
                <a:solidFill>
                  <a:srgbClr val="FF0000"/>
                </a:solidFill>
              </a:rPr>
              <a:t>Nyquist</a:t>
            </a:r>
            <a:r>
              <a:rPr lang="zh-CN" altLang="en-US" sz="2800">
                <a:solidFill>
                  <a:srgbClr val="FF0000"/>
                </a:solidFill>
              </a:rPr>
              <a:t>曲线）建立了联系</a:t>
            </a:r>
            <a:r>
              <a:rPr lang="zh-CN" altLang="en-US" sz="2800"/>
              <a:t>，故</a:t>
            </a:r>
            <a:r>
              <a:rPr lang="zh-CN" altLang="en-US" sz="2800">
                <a:latin typeface="Times New Roman" panose="02020603050405020304" pitchFamily="18" charset="0"/>
              </a:rPr>
              <a:t>取其为映射函数。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9" grpId="0"/>
      <p:bldP spid="11" grpId="0"/>
      <p:bldP spid="24064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73B2996-B68E-4B40-A978-9EA03E028503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7107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2295FB5-187D-487A-BA47-74BF4D239271}" type="slidenum">
              <a:rPr altLang="zh-CN" smtClean="0"/>
              <a:pPr/>
              <a:t>36</a:t>
            </a:fld>
            <a:endParaRPr lang="zh-CN" altLang="zh-CN"/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09600" y="1868488"/>
            <a:ext cx="7488238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/>
              <a:t>对于一个稳定的系统，其在右半</a:t>
            </a:r>
            <a:r>
              <a:rPr lang="en-US" altLang="zh-CN" sz="2400"/>
              <a:t>[s]</a:t>
            </a:r>
            <a:r>
              <a:rPr lang="zh-CN" altLang="en-US" sz="2400"/>
              <a:t>平面应该没有闭环极点，因此我们选择右半</a:t>
            </a:r>
            <a:r>
              <a:rPr lang="en-US" altLang="zh-CN" sz="2400"/>
              <a:t>[s]</a:t>
            </a:r>
            <a:r>
              <a:rPr lang="zh-CN" altLang="en-US" sz="2400"/>
              <a:t>平面为</a:t>
            </a:r>
            <a:r>
              <a:rPr lang="en-US" altLang="zh-CN" sz="2400">
                <a:solidFill>
                  <a:srgbClr val="6600CC"/>
                </a:solidFill>
              </a:rPr>
              <a:t>contour A</a:t>
            </a:r>
            <a:r>
              <a:rPr lang="zh-CN" altLang="en-US" sz="2400">
                <a:solidFill>
                  <a:srgbClr val="6600CC"/>
                </a:solidFill>
              </a:rPr>
              <a:t>，称为奈奎斯特封闭曲线</a:t>
            </a:r>
            <a:r>
              <a:rPr lang="en-US" altLang="zh-CN" sz="2400">
                <a:solidFill>
                  <a:srgbClr val="6600CC"/>
                </a:solidFill>
              </a:rPr>
              <a:t>Nyquist contour</a:t>
            </a:r>
            <a:r>
              <a:rPr lang="zh-CN" altLang="en-US" sz="2400">
                <a:solidFill>
                  <a:srgbClr val="6600CC"/>
                </a:solidFill>
              </a:rPr>
              <a:t>。</a:t>
            </a:r>
            <a:endParaRPr lang="en-US" altLang="zh-CN" sz="2400"/>
          </a:p>
        </p:txBody>
      </p:sp>
      <p:sp>
        <p:nvSpPr>
          <p:cNvPr id="47140" name="Text Box 36"/>
          <p:cNvSpPr txBox="1">
            <a:spLocks noChangeArrowheads="1"/>
          </p:cNvSpPr>
          <p:nvPr/>
        </p:nvSpPr>
        <p:spPr bwMode="auto">
          <a:xfrm>
            <a:off x="609600" y="3465513"/>
            <a:ext cx="7488238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/>
              <a:t>该封闭曲线开始于虚轴上的</a:t>
            </a:r>
            <a:r>
              <a:rPr lang="en-US" altLang="zh-CN" sz="2400"/>
              <a:t>s=-j</a:t>
            </a:r>
            <a:r>
              <a:rPr lang="en-US" altLang="zh-CN" sz="2400">
                <a:sym typeface="Symbol" panose="05050102010706020507" pitchFamily="18" charset="2"/>
              </a:rPr>
              <a:t> </a:t>
            </a:r>
            <a:r>
              <a:rPr lang="zh-CN" altLang="en-US" sz="2400">
                <a:sym typeface="Symbol" panose="05050102010706020507" pitchFamily="18" charset="2"/>
              </a:rPr>
              <a:t>点，沿着虚轴经过原点到达</a:t>
            </a:r>
            <a:r>
              <a:rPr lang="en-US" altLang="zh-CN" sz="2400">
                <a:sym typeface="Symbol" panose="05050102010706020507" pitchFamily="18" charset="2"/>
              </a:rPr>
              <a:t>s=+j </a:t>
            </a:r>
            <a:r>
              <a:rPr lang="zh-CN" altLang="en-US" sz="2400">
                <a:sym typeface="Symbol" panose="05050102010706020507" pitchFamily="18" charset="2"/>
              </a:rPr>
              <a:t>点，然后以原点为中心，无穷大的半径顺时针包围整个右半</a:t>
            </a:r>
            <a:r>
              <a:rPr lang="en-US" altLang="zh-CN" sz="2400">
                <a:sym typeface="Symbol" panose="05050102010706020507" pitchFamily="18" charset="2"/>
              </a:rPr>
              <a:t>[s]</a:t>
            </a:r>
            <a:r>
              <a:rPr lang="zh-CN" altLang="en-US" sz="2400">
                <a:sym typeface="Symbol" panose="05050102010706020507" pitchFamily="18" charset="2"/>
              </a:rPr>
              <a:t>平面回到起始点。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7142" name="Text Box 38"/>
          <p:cNvSpPr txBox="1">
            <a:spLocks noChangeArrowheads="1"/>
          </p:cNvSpPr>
          <p:nvPr/>
        </p:nvSpPr>
        <p:spPr bwMode="auto">
          <a:xfrm>
            <a:off x="395288" y="701675"/>
            <a:ext cx="441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b). </a:t>
            </a:r>
            <a:r>
              <a:rPr lang="zh-CN" altLang="en-US" sz="2800"/>
              <a:t>绘制奈奎斯特封闭曲线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7140" grpId="0"/>
      <p:bldP spid="471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BDF0CEB-837F-4EF3-ADA9-7F9D2AE6E9EA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8131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813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89B8DA-3FD0-413E-A332-6E59F72181AA}" type="slidenum">
              <a:rPr altLang="zh-CN" smtClean="0"/>
              <a:pPr/>
              <a:t>37</a:t>
            </a:fld>
            <a:endParaRPr lang="zh-CN" altLang="zh-CN"/>
          </a:p>
        </p:txBody>
      </p:sp>
      <p:pic>
        <p:nvPicPr>
          <p:cNvPr id="4813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3" y="688975"/>
            <a:ext cx="590708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611BEEA-E5AA-41A6-AEA3-35F5F1A21B7F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49155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4915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AA9A3CF-E8BE-4832-956E-D88AD33DCF4A}" type="slidenum">
              <a:rPr altLang="zh-CN" smtClean="0"/>
              <a:pPr/>
              <a:t>38</a:t>
            </a:fld>
            <a:endParaRPr lang="zh-CN" altLang="zh-CN"/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433388" y="1954213"/>
            <a:ext cx="2690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映射曲线</a:t>
            </a:r>
            <a:r>
              <a:rPr lang="en-US" altLang="zh-CN" sz="2400"/>
              <a:t>B</a:t>
            </a:r>
            <a:r>
              <a:rPr lang="zh-CN" altLang="en-US" sz="2400"/>
              <a:t>的绘制</a:t>
            </a:r>
            <a:r>
              <a:rPr lang="en-US" altLang="zh-CN" sz="2400"/>
              <a:t>:</a:t>
            </a: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22275" y="2608263"/>
            <a:ext cx="2314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1) 0&lt;s&lt;+j</a:t>
            </a:r>
            <a:r>
              <a:rPr lang="en-US" altLang="zh-CN" sz="2400">
                <a:sym typeface="Symbol" panose="05050102010706020507" pitchFamily="18" charset="2"/>
              </a:rPr>
              <a:t>: </a:t>
            </a: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2520950" y="2616200"/>
            <a:ext cx="57007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该部分与</a:t>
            </a:r>
            <a:r>
              <a:rPr lang="en-US" altLang="zh-CN" sz="2400"/>
              <a:t>F(j</a:t>
            </a:r>
            <a:r>
              <a:rPr lang="zh-CN" altLang="en-US" sz="2400">
                <a:sym typeface="Symbol" panose="05050102010706020507" pitchFamily="18" charset="2"/>
              </a:rPr>
              <a:t></a:t>
            </a:r>
            <a:r>
              <a:rPr lang="en-US" altLang="zh-CN" sz="2400"/>
              <a:t>)=1+G(j </a:t>
            </a:r>
            <a:r>
              <a:rPr lang="en-US" altLang="zh-CN" sz="2400">
                <a:sym typeface="Symbol" panose="05050102010706020507" pitchFamily="18" charset="2"/>
              </a:rPr>
              <a:t></a:t>
            </a:r>
            <a:r>
              <a:rPr lang="en-US" altLang="zh-CN" sz="2400"/>
              <a:t>)H(j </a:t>
            </a:r>
            <a:r>
              <a:rPr lang="en-US" altLang="zh-CN" sz="2400">
                <a:sym typeface="Symbol" panose="05050102010706020507" pitchFamily="18" charset="2"/>
              </a:rPr>
              <a:t></a:t>
            </a:r>
            <a:r>
              <a:rPr lang="en-US" altLang="zh-CN" sz="2400"/>
              <a:t>)</a:t>
            </a:r>
            <a:r>
              <a:rPr lang="zh-CN" altLang="en-US" sz="2400"/>
              <a:t>尼奎斯特曲线对应</a:t>
            </a:r>
            <a:r>
              <a:rPr lang="en-US" altLang="zh-CN" sz="2400"/>
              <a:t>, 0&lt; </a:t>
            </a:r>
            <a:r>
              <a:rPr lang="en-US" altLang="zh-CN" sz="2400">
                <a:sym typeface="Symbol" panose="05050102010706020507" pitchFamily="18" charset="2"/>
              </a:rPr>
              <a:t></a:t>
            </a:r>
            <a:r>
              <a:rPr lang="en-US" altLang="zh-CN" sz="2400"/>
              <a:t> &lt; </a:t>
            </a:r>
            <a:r>
              <a:rPr lang="en-US" altLang="zh-CN" sz="2400">
                <a:sym typeface="Symbol" panose="05050102010706020507" pitchFamily="18" charset="2"/>
              </a:rPr>
              <a:t>.</a:t>
            </a:r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454025" y="3835400"/>
            <a:ext cx="2201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2) -j</a:t>
            </a:r>
            <a:r>
              <a:rPr lang="en-US" altLang="zh-CN" sz="2400">
                <a:sym typeface="Symbol" panose="05050102010706020507" pitchFamily="18" charset="2"/>
              </a:rPr>
              <a:t></a:t>
            </a:r>
            <a:r>
              <a:rPr lang="en-US" altLang="zh-CN" sz="2400"/>
              <a:t>&lt;s&lt;0</a:t>
            </a:r>
            <a:r>
              <a:rPr lang="en-US" altLang="zh-CN" sz="2400">
                <a:sym typeface="Symbol" panose="05050102010706020507" pitchFamily="18" charset="2"/>
              </a:rPr>
              <a:t>: </a:t>
            </a:r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2520950" y="3829050"/>
            <a:ext cx="499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该部分曲线为第</a:t>
            </a:r>
            <a:r>
              <a:rPr lang="en-US" altLang="zh-CN" sz="2400"/>
              <a:t>1</a:t>
            </a:r>
            <a:r>
              <a:rPr lang="zh-CN" altLang="en-US" sz="2400"/>
              <a:t>部分曲线的镜像。</a:t>
            </a:r>
            <a:endParaRPr lang="en-US" altLang="zh-CN" sz="2400"/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>
            <a:off x="506413" y="4694238"/>
            <a:ext cx="2376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3) </a:t>
            </a:r>
            <a:r>
              <a:rPr lang="zh-CN" altLang="en-US" sz="2400"/>
              <a:t>无穷大半圆</a:t>
            </a:r>
            <a:r>
              <a:rPr lang="en-US" altLang="zh-CN" sz="2400"/>
              <a:t>:</a:t>
            </a:r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2882900" y="4654550"/>
            <a:ext cx="54149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/>
              <a:t>半圆上任一点对应的 </a:t>
            </a:r>
            <a:r>
              <a:rPr lang="en-US" altLang="zh-CN" sz="2400"/>
              <a:t>F(j</a:t>
            </a:r>
            <a:r>
              <a:rPr lang="zh-CN" altLang="en-US" sz="2400">
                <a:sym typeface="Symbol" panose="05050102010706020507" pitchFamily="18" charset="2"/>
              </a:rPr>
              <a:t></a:t>
            </a:r>
            <a:r>
              <a:rPr lang="en-US" altLang="zh-CN" sz="2400"/>
              <a:t>)</a:t>
            </a:r>
            <a:r>
              <a:rPr lang="en-US" altLang="zh-CN" sz="2400">
                <a:sym typeface="Symbol" panose="05050102010706020507" pitchFamily="18" charset="2"/>
              </a:rPr>
              <a:t> </a:t>
            </a:r>
            <a:r>
              <a:rPr lang="zh-CN" altLang="en-US" sz="2400">
                <a:sym typeface="Symbol" panose="05050102010706020507" pitchFamily="18" charset="2"/>
              </a:rPr>
              <a:t>幅值均趋于</a:t>
            </a:r>
            <a:r>
              <a:rPr lang="en-US" altLang="zh-CN" sz="2400">
                <a:sym typeface="Symbol" panose="05050102010706020507" pitchFamily="18" charset="2"/>
              </a:rPr>
              <a:t>1</a:t>
            </a:r>
            <a:r>
              <a:rPr lang="zh-CN" altLang="en-US" sz="2400">
                <a:sym typeface="Symbol" panose="05050102010706020507" pitchFamily="18" charset="2"/>
              </a:rPr>
              <a:t>，因此该部分曲线对应为一个点。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9164" name="Text Box 12"/>
          <p:cNvSpPr txBox="1">
            <a:spLocks noChangeArrowheads="1"/>
          </p:cNvSpPr>
          <p:nvPr/>
        </p:nvSpPr>
        <p:spPr bwMode="auto">
          <a:xfrm>
            <a:off x="323850" y="692150"/>
            <a:ext cx="90852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c). </a:t>
            </a:r>
            <a:r>
              <a:rPr lang="zh-CN" altLang="en-US" sz="2800"/>
              <a:t>通过</a:t>
            </a:r>
            <a:r>
              <a:rPr lang="en-US" altLang="zh-CN" sz="2800"/>
              <a:t>F(s)=1+GH(s)</a:t>
            </a:r>
            <a:r>
              <a:rPr lang="zh-CN" altLang="en-US" sz="2800"/>
              <a:t>对</a:t>
            </a:r>
            <a:r>
              <a:rPr lang="en-US" altLang="zh-CN" sz="2800"/>
              <a:t>Nyquist contour </a:t>
            </a:r>
            <a:r>
              <a:rPr lang="zh-CN" altLang="en-US" sz="2800"/>
              <a:t>进行映射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/>
      <p:bldP spid="49158" grpId="0"/>
      <p:bldP spid="49159" grpId="0"/>
      <p:bldP spid="49160" grpId="0"/>
      <p:bldP spid="49161" grpId="0"/>
      <p:bldP spid="49162" grpId="0"/>
      <p:bldP spid="49163" grpId="0"/>
      <p:bldP spid="4916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9297B55-6C6F-4B70-85B4-B550CE1A2320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501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22910F2-E992-4E9D-B5A4-3177E60BF9E4}" type="slidenum">
              <a:rPr altLang="zh-CN" smtClean="0"/>
              <a:pPr/>
              <a:t>39</a:t>
            </a:fld>
            <a:endParaRPr lang="zh-CN" altLang="zh-CN"/>
          </a:p>
        </p:txBody>
      </p:sp>
      <p:grpSp>
        <p:nvGrpSpPr>
          <p:cNvPr id="244739" name="Group 3"/>
          <p:cNvGrpSpPr>
            <a:grpSpLocks/>
          </p:cNvGrpSpPr>
          <p:nvPr/>
        </p:nvGrpSpPr>
        <p:grpSpPr bwMode="auto">
          <a:xfrm>
            <a:off x="1403350" y="836613"/>
            <a:ext cx="7010400" cy="604837"/>
            <a:chOff x="912" y="749"/>
            <a:chExt cx="4416" cy="381"/>
          </a:xfrm>
        </p:grpSpPr>
        <p:sp>
          <p:nvSpPr>
            <p:cNvPr id="50204" name="Text Box 4"/>
            <p:cNvSpPr txBox="1">
              <a:spLocks noChangeArrowheads="1"/>
            </p:cNvSpPr>
            <p:nvPr/>
          </p:nvSpPr>
          <p:spPr bwMode="auto">
            <a:xfrm>
              <a:off x="912" y="749"/>
              <a:ext cx="4416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注意到：</a:t>
              </a:r>
            </a:p>
          </p:txBody>
        </p:sp>
        <p:graphicFrame>
          <p:nvGraphicFramePr>
            <p:cNvPr id="50205" name="Object 3"/>
            <p:cNvGraphicFramePr>
              <a:graphicFrameLocks noChangeAspect="1"/>
            </p:cNvGraphicFramePr>
            <p:nvPr/>
          </p:nvGraphicFramePr>
          <p:xfrm>
            <a:off x="1872" y="864"/>
            <a:ext cx="207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625600" imgH="203200" progId="Equation.3">
                    <p:embed/>
                  </p:oleObj>
                </mc:Choice>
                <mc:Fallback>
                  <p:oleObj r:id="rId2" imgW="1625600" imgH="203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864"/>
                          <a:ext cx="207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447800" y="1833563"/>
            <a:ext cx="4800600" cy="604837"/>
            <a:chOff x="912" y="1155"/>
            <a:chExt cx="3024" cy="381"/>
          </a:xfrm>
        </p:grpSpPr>
        <p:sp>
          <p:nvSpPr>
            <p:cNvPr id="50202" name="Rectangle 7"/>
            <p:cNvSpPr>
              <a:spLocks noChangeArrowheads="1"/>
            </p:cNvSpPr>
            <p:nvPr/>
          </p:nvSpPr>
          <p:spPr bwMode="auto">
            <a:xfrm>
              <a:off x="912" y="1155"/>
              <a:ext cx="564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>
                  <a:latin typeface="Times New Roman" panose="02020603050405020304" pitchFamily="18" charset="0"/>
                </a:rPr>
                <a:t>即：</a:t>
              </a:r>
            </a:p>
          </p:txBody>
        </p:sp>
        <p:graphicFrame>
          <p:nvGraphicFramePr>
            <p:cNvPr id="50203" name="Object 2"/>
            <p:cNvGraphicFramePr>
              <a:graphicFrameLocks noChangeAspect="1"/>
            </p:cNvGraphicFramePr>
            <p:nvPr/>
          </p:nvGraphicFramePr>
          <p:xfrm>
            <a:off x="1862" y="1249"/>
            <a:ext cx="2074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25600" imgH="203200" progId="Equation.3">
                    <p:embed/>
                  </p:oleObj>
                </mc:Choice>
                <mc:Fallback>
                  <p:oleObj r:id="rId4" imgW="1625600" imgH="20320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2" y="1249"/>
                          <a:ext cx="2074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209800" y="3429000"/>
            <a:ext cx="4876800" cy="2895600"/>
            <a:chOff x="1440" y="2064"/>
            <a:chExt cx="3072" cy="1824"/>
          </a:xfrm>
        </p:grpSpPr>
        <p:sp>
          <p:nvSpPr>
            <p:cNvPr id="50185" name="Line 10"/>
            <p:cNvSpPr>
              <a:spLocks noChangeShapeType="1"/>
            </p:cNvSpPr>
            <p:nvPr/>
          </p:nvSpPr>
          <p:spPr bwMode="auto">
            <a:xfrm>
              <a:off x="1440" y="2784"/>
              <a:ext cx="29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6" name="Line 11"/>
            <p:cNvSpPr>
              <a:spLocks noChangeShapeType="1"/>
            </p:cNvSpPr>
            <p:nvPr/>
          </p:nvSpPr>
          <p:spPr bwMode="auto">
            <a:xfrm flipV="1">
              <a:off x="2304" y="2160"/>
              <a:ext cx="0" cy="17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7" name="Line 12"/>
            <p:cNvSpPr>
              <a:spLocks noChangeShapeType="1"/>
            </p:cNvSpPr>
            <p:nvPr/>
          </p:nvSpPr>
          <p:spPr bwMode="auto">
            <a:xfrm>
              <a:off x="2304" y="2784"/>
              <a:ext cx="1488" cy="672"/>
            </a:xfrm>
            <a:prstGeom prst="line">
              <a:avLst/>
            </a:prstGeom>
            <a:noFill/>
            <a:ln w="22225">
              <a:solidFill>
                <a:srgbClr val="3333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8" name="Rectangle 13"/>
            <p:cNvSpPr>
              <a:spLocks noChangeArrowheads="1"/>
            </p:cNvSpPr>
            <p:nvPr/>
          </p:nvSpPr>
          <p:spPr bwMode="auto">
            <a:xfrm>
              <a:off x="3484" y="249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50189" name="Rectangle 14"/>
            <p:cNvSpPr>
              <a:spLocks noChangeArrowheads="1"/>
            </p:cNvSpPr>
            <p:nvPr/>
          </p:nvSpPr>
          <p:spPr bwMode="auto">
            <a:xfrm>
              <a:off x="2963" y="2496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0190" name="Rectangle 15"/>
            <p:cNvSpPr>
              <a:spLocks noChangeArrowheads="1"/>
            </p:cNvSpPr>
            <p:nvPr/>
          </p:nvSpPr>
          <p:spPr bwMode="auto">
            <a:xfrm>
              <a:off x="4194" y="278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50191" name="Rectangle 16"/>
            <p:cNvSpPr>
              <a:spLocks noChangeArrowheads="1"/>
            </p:cNvSpPr>
            <p:nvPr/>
          </p:nvSpPr>
          <p:spPr bwMode="auto">
            <a:xfrm>
              <a:off x="2322" y="2064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50192" name="Text Box 17"/>
            <p:cNvSpPr txBox="1">
              <a:spLocks noChangeArrowheads="1"/>
            </p:cNvSpPr>
            <p:nvPr/>
          </p:nvSpPr>
          <p:spPr bwMode="auto">
            <a:xfrm>
              <a:off x="2112" y="273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0193" name="Rectangle 18"/>
            <p:cNvSpPr>
              <a:spLocks noChangeArrowheads="1"/>
            </p:cNvSpPr>
            <p:nvPr/>
          </p:nvSpPr>
          <p:spPr bwMode="auto">
            <a:xfrm>
              <a:off x="3600" y="3456"/>
              <a:ext cx="5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400">
                  <a:solidFill>
                    <a:srgbClr val="3333FF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</a:rPr>
                <a:t>j</a:t>
              </a:r>
              <a:r>
                <a:rPr lang="en-US" altLang="zh-CN" sz="2400" i="1">
                  <a:solidFill>
                    <a:srgbClr val="3333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3333FF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0194" name="Freeform 19"/>
            <p:cNvSpPr>
              <a:spLocks noChangeArrowheads="1"/>
            </p:cNvSpPr>
            <p:nvPr/>
          </p:nvSpPr>
          <p:spPr bwMode="auto">
            <a:xfrm>
              <a:off x="2368" y="2584"/>
              <a:ext cx="1712" cy="1040"/>
            </a:xfrm>
            <a:custGeom>
              <a:avLst/>
              <a:gdLst>
                <a:gd name="T0" fmla="*/ 1712 w 1712"/>
                <a:gd name="T1" fmla="*/ 200 h 1040"/>
                <a:gd name="T2" fmla="*/ 1472 w 1712"/>
                <a:gd name="T3" fmla="*/ 824 h 1040"/>
                <a:gd name="T4" fmla="*/ 848 w 1712"/>
                <a:gd name="T5" fmla="*/ 1016 h 1040"/>
                <a:gd name="T6" fmla="*/ 128 w 1712"/>
                <a:gd name="T7" fmla="*/ 680 h 1040"/>
                <a:gd name="T8" fmla="*/ 80 w 1712"/>
                <a:gd name="T9" fmla="*/ 152 h 1040"/>
                <a:gd name="T10" fmla="*/ 320 w 1712"/>
                <a:gd name="T11" fmla="*/ 8 h 1040"/>
                <a:gd name="T12" fmla="*/ 512 w 1712"/>
                <a:gd name="T13" fmla="*/ 200 h 10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2" h="1040">
                  <a:moveTo>
                    <a:pt x="1712" y="200"/>
                  </a:moveTo>
                  <a:cubicBezTo>
                    <a:pt x="1664" y="444"/>
                    <a:pt x="1616" y="688"/>
                    <a:pt x="1472" y="824"/>
                  </a:cubicBezTo>
                  <a:cubicBezTo>
                    <a:pt x="1328" y="960"/>
                    <a:pt x="1072" y="1040"/>
                    <a:pt x="848" y="1016"/>
                  </a:cubicBezTo>
                  <a:cubicBezTo>
                    <a:pt x="624" y="992"/>
                    <a:pt x="256" y="824"/>
                    <a:pt x="128" y="680"/>
                  </a:cubicBezTo>
                  <a:cubicBezTo>
                    <a:pt x="0" y="536"/>
                    <a:pt x="48" y="264"/>
                    <a:pt x="80" y="152"/>
                  </a:cubicBezTo>
                  <a:cubicBezTo>
                    <a:pt x="112" y="40"/>
                    <a:pt x="248" y="0"/>
                    <a:pt x="320" y="8"/>
                  </a:cubicBezTo>
                  <a:cubicBezTo>
                    <a:pt x="392" y="16"/>
                    <a:pt x="452" y="108"/>
                    <a:pt x="512" y="200"/>
                  </a:cubicBezTo>
                </a:path>
              </a:pathLst>
            </a:custGeom>
            <a:noFill/>
            <a:ln w="22225">
              <a:solidFill>
                <a:srgbClr val="3333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Freeform 20"/>
            <p:cNvSpPr>
              <a:spLocks noChangeArrowheads="1"/>
            </p:cNvSpPr>
            <p:nvPr/>
          </p:nvSpPr>
          <p:spPr bwMode="auto">
            <a:xfrm>
              <a:off x="1785" y="2592"/>
              <a:ext cx="1712" cy="1040"/>
            </a:xfrm>
            <a:custGeom>
              <a:avLst/>
              <a:gdLst>
                <a:gd name="T0" fmla="*/ 1712 w 1712"/>
                <a:gd name="T1" fmla="*/ 200 h 1040"/>
                <a:gd name="T2" fmla="*/ 1472 w 1712"/>
                <a:gd name="T3" fmla="*/ 824 h 1040"/>
                <a:gd name="T4" fmla="*/ 848 w 1712"/>
                <a:gd name="T5" fmla="*/ 1016 h 1040"/>
                <a:gd name="T6" fmla="*/ 128 w 1712"/>
                <a:gd name="T7" fmla="*/ 680 h 1040"/>
                <a:gd name="T8" fmla="*/ 80 w 1712"/>
                <a:gd name="T9" fmla="*/ 152 h 1040"/>
                <a:gd name="T10" fmla="*/ 320 w 1712"/>
                <a:gd name="T11" fmla="*/ 8 h 1040"/>
                <a:gd name="T12" fmla="*/ 512 w 1712"/>
                <a:gd name="T13" fmla="*/ 200 h 10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2" h="1040">
                  <a:moveTo>
                    <a:pt x="1712" y="200"/>
                  </a:moveTo>
                  <a:cubicBezTo>
                    <a:pt x="1664" y="444"/>
                    <a:pt x="1616" y="688"/>
                    <a:pt x="1472" y="824"/>
                  </a:cubicBezTo>
                  <a:cubicBezTo>
                    <a:pt x="1328" y="960"/>
                    <a:pt x="1072" y="1040"/>
                    <a:pt x="848" y="1016"/>
                  </a:cubicBezTo>
                  <a:cubicBezTo>
                    <a:pt x="624" y="992"/>
                    <a:pt x="256" y="824"/>
                    <a:pt x="128" y="680"/>
                  </a:cubicBezTo>
                  <a:cubicBezTo>
                    <a:pt x="0" y="536"/>
                    <a:pt x="48" y="264"/>
                    <a:pt x="80" y="152"/>
                  </a:cubicBezTo>
                  <a:cubicBezTo>
                    <a:pt x="112" y="40"/>
                    <a:pt x="248" y="0"/>
                    <a:pt x="320" y="8"/>
                  </a:cubicBezTo>
                  <a:cubicBezTo>
                    <a:pt x="392" y="16"/>
                    <a:pt x="452" y="108"/>
                    <a:pt x="512" y="200"/>
                  </a:cubicBezTo>
                </a:path>
              </a:pathLst>
            </a:custGeom>
            <a:noFill/>
            <a:ln w="22225">
              <a:solidFill>
                <a:srgbClr val="99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21"/>
            <p:cNvSpPr>
              <a:spLocks noChangeShapeType="1"/>
            </p:cNvSpPr>
            <p:nvPr/>
          </p:nvSpPr>
          <p:spPr bwMode="auto">
            <a:xfrm>
              <a:off x="3216" y="3456"/>
              <a:ext cx="5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22"/>
            <p:cNvSpPr>
              <a:spLocks noChangeShapeType="1"/>
            </p:cNvSpPr>
            <p:nvPr/>
          </p:nvSpPr>
          <p:spPr bwMode="auto">
            <a:xfrm>
              <a:off x="2304" y="2784"/>
              <a:ext cx="912" cy="672"/>
            </a:xfrm>
            <a:prstGeom prst="line">
              <a:avLst/>
            </a:prstGeom>
            <a:noFill/>
            <a:ln w="22225">
              <a:solidFill>
                <a:srgbClr val="9900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Rectangle 23"/>
            <p:cNvSpPr>
              <a:spLocks noChangeArrowheads="1"/>
            </p:cNvSpPr>
            <p:nvPr/>
          </p:nvSpPr>
          <p:spPr bwMode="auto">
            <a:xfrm>
              <a:off x="2256" y="3600"/>
              <a:ext cx="10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400">
                  <a:solidFill>
                    <a:srgbClr val="9900CC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j</a:t>
              </a:r>
              <a:r>
                <a:rPr lang="en-US" altLang="zh-CN" sz="24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9900CC"/>
                  </a:solidFill>
                  <a:latin typeface="Times New Roman" panose="02020603050405020304" pitchFamily="18" charset="0"/>
                </a:rPr>
                <a:t>)</a:t>
              </a:r>
              <a:r>
                <a:rPr lang="en-US" altLang="zh-CN" sz="24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H</a:t>
              </a:r>
              <a:r>
                <a:rPr lang="en-US" altLang="zh-CN" sz="2400">
                  <a:solidFill>
                    <a:srgbClr val="9900CC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solidFill>
                    <a:srgbClr val="9900CC"/>
                  </a:solidFill>
                  <a:latin typeface="Times New Roman" panose="02020603050405020304" pitchFamily="18" charset="0"/>
                </a:rPr>
                <a:t>j</a:t>
              </a:r>
              <a:r>
                <a:rPr lang="en-US" altLang="zh-CN" sz="2400" i="1">
                  <a:solidFill>
                    <a:srgbClr val="9900CC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solidFill>
                    <a:srgbClr val="9900CC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0199" name="Line 24"/>
            <p:cNvSpPr>
              <a:spLocks noChangeShapeType="1"/>
            </p:cNvSpPr>
            <p:nvPr/>
          </p:nvSpPr>
          <p:spPr bwMode="auto">
            <a:xfrm flipV="1">
              <a:off x="1728" y="2736"/>
              <a:ext cx="0" cy="4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Text Box 25"/>
            <p:cNvSpPr txBox="1">
              <a:spLocks noChangeArrowheads="1"/>
            </p:cNvSpPr>
            <p:nvPr/>
          </p:nvSpPr>
          <p:spPr bwMode="auto">
            <a:xfrm>
              <a:off x="1596" y="2736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50201" name="Text Box 26"/>
            <p:cNvSpPr txBox="1">
              <a:spLocks noChangeArrowheads="1"/>
            </p:cNvSpPr>
            <p:nvPr/>
          </p:nvSpPr>
          <p:spPr bwMode="auto">
            <a:xfrm>
              <a:off x="3312" y="322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80603" name="Rectangle 27"/>
          <p:cNvSpPr>
            <a:spLocks noChangeArrowheads="1"/>
          </p:cNvSpPr>
          <p:nvPr/>
        </p:nvSpPr>
        <p:spPr bwMode="auto">
          <a:xfrm>
            <a:off x="1447800" y="2366963"/>
            <a:ext cx="7162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上式表明，在复平面上将</a:t>
            </a:r>
            <a:r>
              <a:rPr lang="en-US" altLang="zh-CN" sz="2800" i="1">
                <a:latin typeface="Times New Roman" panose="02020603050405020304" pitchFamily="18" charset="0"/>
              </a:rPr>
              <a:t>F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的轨迹向左移动一个单位，便得到</a:t>
            </a:r>
            <a:r>
              <a:rPr lang="en-US" altLang="zh-CN" sz="2800" i="1">
                <a:latin typeface="Times New Roman" panose="02020603050405020304" pitchFamily="18" charset="0"/>
              </a:rPr>
              <a:t>G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en-US" altLang="zh-CN" sz="2800" i="1">
                <a:latin typeface="Times New Roman" panose="02020603050405020304" pitchFamily="18" charset="0"/>
              </a:rPr>
              <a:t>H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>
                <a:latin typeface="Times New Roman" panose="02020603050405020304" pitchFamily="18" charset="0"/>
              </a:rPr>
              <a:t>) </a:t>
            </a:r>
            <a:r>
              <a:rPr lang="zh-CN" altLang="en-US" sz="2800">
                <a:latin typeface="Times New Roman" panose="02020603050405020304" pitchFamily="18" charset="0"/>
              </a:rPr>
              <a:t>的轨迹。</a:t>
            </a: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377825" y="255588"/>
            <a:ext cx="727392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Arial" panose="020B0604020202020204" pitchFamily="34" charset="0"/>
              </a:rPr>
              <a:t>d).       F(j</a:t>
            </a:r>
            <a:r>
              <a:rPr lang="en-US" altLang="zh-CN" sz="2800">
                <a:latin typeface="Arial" panose="020B0604020202020204" pitchFamily="34" charset="0"/>
                <a:sym typeface="Symbol" panose="05050102010706020507" pitchFamily="18" charset="2"/>
              </a:rPr>
              <a:t>)=1+GH(j) </a:t>
            </a:r>
            <a:r>
              <a:rPr lang="zh-CN" altLang="en-US" sz="2800">
                <a:latin typeface="Arial" panose="020B0604020202020204" pitchFamily="34" charset="0"/>
                <a:sym typeface="Symbol" panose="05050102010706020507" pitchFamily="18" charset="2"/>
              </a:rPr>
              <a:t>和</a:t>
            </a:r>
            <a:r>
              <a:rPr lang="en-US" altLang="zh-CN" sz="2800">
                <a:latin typeface="Arial" panose="020B0604020202020204" pitchFamily="34" charset="0"/>
                <a:sym typeface="Symbol" panose="05050102010706020507" pitchFamily="18" charset="2"/>
              </a:rPr>
              <a:t> GH(j)</a:t>
            </a:r>
            <a:r>
              <a:rPr lang="zh-CN" altLang="en-US" sz="2800">
                <a:latin typeface="Arial" panose="020B0604020202020204" pitchFamily="34" charset="0"/>
                <a:sym typeface="Symbol" panose="05050102010706020507" pitchFamily="18" charset="2"/>
              </a:rPr>
              <a:t>曲线的关系</a:t>
            </a:r>
            <a:endParaRPr lang="en-US" altLang="zh-CN" sz="28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0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603" grpId="0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3510B0-F77F-40C3-A05D-27DDB5FCA2BD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51203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5120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8F5DF9-F469-4B86-AAAA-4802185091C8}" type="slidenum">
              <a:rPr altLang="zh-CN" smtClean="0"/>
              <a:pPr/>
              <a:t>40</a:t>
            </a:fld>
            <a:endParaRPr lang="zh-CN" altLang="zh-CN"/>
          </a:p>
        </p:txBody>
      </p:sp>
      <p:pic>
        <p:nvPicPr>
          <p:cNvPr id="51205" name="Picture 4"/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17" r="862" b="15457"/>
          <a:stretch>
            <a:fillRect/>
          </a:stretch>
        </p:blipFill>
        <p:spPr bwMode="auto">
          <a:xfrm>
            <a:off x="609600" y="306388"/>
            <a:ext cx="3962400" cy="39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2" r="57147" b="15457"/>
          <a:stretch>
            <a:fillRect/>
          </a:stretch>
        </p:blipFill>
        <p:spPr bwMode="auto">
          <a:xfrm>
            <a:off x="4573588" y="306388"/>
            <a:ext cx="3741737" cy="39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719" name="Rectangle 3"/>
          <p:cNvSpPr>
            <a:spLocks noChangeArrowheads="1"/>
          </p:cNvSpPr>
          <p:nvPr/>
        </p:nvSpPr>
        <p:spPr bwMode="auto">
          <a:xfrm>
            <a:off x="755650" y="4468813"/>
            <a:ext cx="7950200" cy="13668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kumimoji="1" lang="zh-CN" altLang="en-US" sz="2400" dirty="0">
                <a:latin typeface="+mn-ea"/>
                <a:ea typeface="+mn-ea"/>
              </a:rPr>
              <a:t>比较</a:t>
            </a:r>
            <a:r>
              <a:rPr kumimoji="1" lang="en-US" altLang="zh-CN" sz="2400" i="1" dirty="0">
                <a:latin typeface="+mn-ea"/>
                <a:ea typeface="+mn-ea"/>
              </a:rPr>
              <a:t>F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latin typeface="+mn-ea"/>
                <a:ea typeface="+mn-ea"/>
              </a:rPr>
              <a:t>)</a:t>
            </a:r>
            <a:r>
              <a:rPr kumimoji="1" lang="zh-CN" altLang="en-US" sz="2400" dirty="0">
                <a:latin typeface="+mn-ea"/>
                <a:ea typeface="+mn-ea"/>
              </a:rPr>
              <a:t>和</a:t>
            </a:r>
            <a:r>
              <a:rPr kumimoji="1" lang="en-US" altLang="zh-CN" sz="2400" i="1" dirty="0">
                <a:latin typeface="+mn-ea"/>
                <a:ea typeface="+mn-ea"/>
              </a:rPr>
              <a:t>G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latin typeface="+mn-ea"/>
                <a:ea typeface="+mn-ea"/>
              </a:rPr>
              <a:t>)</a:t>
            </a:r>
            <a:r>
              <a:rPr kumimoji="1" lang="en-US" altLang="zh-CN" sz="2400" i="1" dirty="0">
                <a:latin typeface="+mn-ea"/>
                <a:ea typeface="+mn-ea"/>
              </a:rPr>
              <a:t>H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latin typeface="+mn-ea"/>
                <a:ea typeface="+mn-ea"/>
              </a:rPr>
              <a:t>) </a:t>
            </a:r>
            <a:r>
              <a:rPr kumimoji="1" lang="zh-CN" altLang="en-US" sz="2400" dirty="0">
                <a:latin typeface="+mn-ea"/>
                <a:ea typeface="+mn-ea"/>
              </a:rPr>
              <a:t>在复平面上的轨迹可见，</a:t>
            </a:r>
            <a:r>
              <a:rPr kumimoji="1" lang="en-US" altLang="zh-CN" sz="2400" i="1" dirty="0">
                <a:latin typeface="+mn-ea"/>
                <a:ea typeface="+mn-ea"/>
              </a:rPr>
              <a:t>F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latin typeface="+mn-ea"/>
                <a:ea typeface="+mn-ea"/>
              </a:rPr>
              <a:t>)</a:t>
            </a:r>
            <a:r>
              <a:rPr kumimoji="1" lang="zh-CN" altLang="en-US" sz="2400" dirty="0">
                <a:latin typeface="+mn-ea"/>
                <a:ea typeface="+mn-ea"/>
              </a:rPr>
              <a:t>的轨迹是否包围坐标原点的问题转变为</a:t>
            </a:r>
            <a:r>
              <a:rPr kumimoji="1" lang="en-US" altLang="zh-CN" sz="2400" i="1" dirty="0">
                <a:latin typeface="+mn-ea"/>
                <a:ea typeface="+mn-ea"/>
              </a:rPr>
              <a:t>G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latin typeface="+mn-ea"/>
                <a:ea typeface="+mn-ea"/>
              </a:rPr>
              <a:t>)</a:t>
            </a:r>
            <a:r>
              <a:rPr kumimoji="1" lang="en-US" altLang="zh-CN" sz="2400" i="1" dirty="0">
                <a:latin typeface="+mn-ea"/>
                <a:ea typeface="+mn-ea"/>
              </a:rPr>
              <a:t>H</a:t>
            </a:r>
            <a:r>
              <a:rPr kumimoji="1" lang="en-US" altLang="zh-CN" sz="2400" dirty="0">
                <a:latin typeface="+mn-ea"/>
                <a:ea typeface="+mn-ea"/>
              </a:rPr>
              <a:t>(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i="1" dirty="0">
                <a:latin typeface="+mn-ea"/>
                <a:ea typeface="+mn-ea"/>
                <a:sym typeface="Symbol" panose="05050102010706020507" pitchFamily="18" charset="2"/>
              </a:rPr>
              <a:t></a:t>
            </a:r>
            <a:r>
              <a:rPr kumimoji="1" lang="en-US" altLang="zh-CN" sz="2400" dirty="0">
                <a:latin typeface="+mn-ea"/>
                <a:ea typeface="+mn-ea"/>
              </a:rPr>
              <a:t>) </a:t>
            </a:r>
            <a:r>
              <a:rPr kumimoji="1" lang="zh-CN" altLang="en-US" sz="2400" dirty="0">
                <a:latin typeface="+mn-ea"/>
                <a:ea typeface="+mn-ea"/>
              </a:rPr>
              <a:t>的轨迹是否包围</a:t>
            </a:r>
            <a:r>
              <a:rPr kumimoji="1" lang="en-US" altLang="zh-CN" sz="2400" dirty="0">
                <a:latin typeface="+mn-ea"/>
                <a:ea typeface="+mn-ea"/>
              </a:rPr>
              <a:t>(-1</a:t>
            </a:r>
            <a:r>
              <a:rPr kumimoji="1" lang="zh-CN" altLang="en-US" sz="2400" dirty="0">
                <a:latin typeface="+mn-ea"/>
                <a:ea typeface="+mn-ea"/>
              </a:rPr>
              <a:t>，</a:t>
            </a:r>
            <a:r>
              <a:rPr kumimoji="1" lang="en-US" altLang="zh-CN" sz="2400" i="1" dirty="0">
                <a:latin typeface="+mn-ea"/>
                <a:ea typeface="+mn-ea"/>
              </a:rPr>
              <a:t>j</a:t>
            </a:r>
            <a:r>
              <a:rPr kumimoji="1" lang="en-US" altLang="zh-CN" sz="2400" dirty="0">
                <a:latin typeface="+mn-ea"/>
                <a:ea typeface="+mn-ea"/>
              </a:rPr>
              <a:t>0)</a:t>
            </a:r>
            <a:r>
              <a:rPr kumimoji="1" lang="zh-CN" altLang="en-US" sz="2400" dirty="0">
                <a:latin typeface="+mn-ea"/>
                <a:ea typeface="+mn-ea"/>
              </a:rPr>
              <a:t>点的问题。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EFF1D93-390F-4A3C-9A90-0633334CBB0C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52227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5222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A7ADAB1-82E9-444B-B80E-CC51924F39E6}" type="slidenum">
              <a:rPr altLang="zh-CN" smtClean="0"/>
              <a:pPr/>
              <a:t>41</a:t>
            </a:fld>
            <a:endParaRPr lang="zh-CN" altLang="zh-CN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23850" y="236538"/>
            <a:ext cx="3919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e) </a:t>
            </a:r>
            <a:r>
              <a:rPr lang="zh-CN" altLang="en-US" sz="2800"/>
              <a:t>奈奎斯特稳定性判据</a:t>
            </a:r>
            <a:endParaRPr lang="en-US" altLang="zh-CN" sz="2800"/>
          </a:p>
        </p:txBody>
      </p:sp>
      <p:sp>
        <p:nvSpPr>
          <p:cNvPr id="246789" name="Text Box 3"/>
          <p:cNvSpPr txBox="1">
            <a:spLocks noChangeArrowheads="1"/>
          </p:cNvSpPr>
          <p:nvPr/>
        </p:nvSpPr>
        <p:spPr bwMode="auto">
          <a:xfrm>
            <a:off x="676275" y="1077913"/>
            <a:ext cx="413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开环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稳定</a:t>
            </a:r>
            <a:r>
              <a:rPr lang="zh-CN" altLang="en-US" sz="2800">
                <a:latin typeface="Times New Roman" panose="02020603050405020304" pitchFamily="18" charset="0"/>
              </a:rPr>
              <a:t>时</a:t>
            </a:r>
          </a:p>
        </p:txBody>
      </p:sp>
      <p:sp>
        <p:nvSpPr>
          <p:cNvPr id="246790" name="文本框 1"/>
          <p:cNvSpPr txBox="1">
            <a:spLocks noChangeArrowheads="1"/>
          </p:cNvSpPr>
          <p:nvPr/>
        </p:nvSpPr>
        <p:spPr bwMode="auto">
          <a:xfrm>
            <a:off x="603250" y="1762125"/>
            <a:ext cx="8072438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/>
              <a:t>    开环特征根均为左根，因此在右半</a:t>
            </a:r>
            <a:r>
              <a:rPr lang="en-US" altLang="zh-CN" sz="2400"/>
              <a:t>[s]</a:t>
            </a:r>
            <a:r>
              <a:rPr lang="zh-CN" altLang="en-US" sz="2400"/>
              <a:t>平面（</a:t>
            </a:r>
            <a:r>
              <a:rPr lang="en-US" altLang="zh-CN" sz="2400"/>
              <a:t>Contour A</a:t>
            </a:r>
            <a:r>
              <a:rPr lang="zh-CN" altLang="en-US" sz="2400"/>
              <a:t>）内的</a:t>
            </a:r>
            <a:r>
              <a:rPr lang="en-US" altLang="zh-CN" sz="2400"/>
              <a:t>F(s)</a:t>
            </a:r>
            <a:r>
              <a:rPr lang="zh-CN" altLang="en-US" sz="2400"/>
              <a:t>函数的极点数为零，即</a:t>
            </a:r>
            <a:r>
              <a:rPr lang="en-US" altLang="zh-CN" sz="2400"/>
              <a:t>P=0</a:t>
            </a:r>
            <a:r>
              <a:rPr lang="zh-CN" altLang="en-US" sz="2400"/>
              <a:t>；对于一个稳定的系统，右半</a:t>
            </a:r>
            <a:r>
              <a:rPr lang="en-US" altLang="zh-CN" sz="2400"/>
              <a:t>[s]</a:t>
            </a:r>
            <a:r>
              <a:rPr lang="zh-CN" altLang="en-US" sz="2400"/>
              <a:t>平面的闭环极点数应为零，即包围于</a:t>
            </a:r>
            <a:r>
              <a:rPr lang="en-US" altLang="zh-CN" sz="2400"/>
              <a:t>Contour A</a:t>
            </a:r>
            <a:r>
              <a:rPr lang="zh-CN" altLang="en-US" sz="2400"/>
              <a:t>内的</a:t>
            </a:r>
            <a:r>
              <a:rPr lang="en-US" altLang="zh-CN" sz="2400"/>
              <a:t>F(s)</a:t>
            </a:r>
            <a:r>
              <a:rPr lang="zh-CN" altLang="en-US" sz="2400"/>
              <a:t>函数的零点数应为零，对应</a:t>
            </a:r>
            <a:r>
              <a:rPr lang="en-US" altLang="zh-CN" sz="2400"/>
              <a:t>Z=0</a:t>
            </a:r>
            <a:r>
              <a:rPr lang="zh-CN" altLang="en-US" sz="240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根据幅角定理，</a:t>
            </a:r>
            <a:r>
              <a:rPr lang="en-US" altLang="zh-CN" sz="2400"/>
              <a:t>N=Z-P=0</a:t>
            </a:r>
            <a:endParaRPr lang="zh-CN" altLang="en-US" sz="2400"/>
          </a:p>
        </p:txBody>
      </p:sp>
      <p:sp>
        <p:nvSpPr>
          <p:cNvPr id="246791" name="矩形 2"/>
          <p:cNvSpPr>
            <a:spLocks noChangeArrowheads="1"/>
          </p:cNvSpPr>
          <p:nvPr/>
        </p:nvSpPr>
        <p:spPr bwMode="auto">
          <a:xfrm>
            <a:off x="971550" y="4649788"/>
            <a:ext cx="691038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相应判据：若系统开环稳定，则当</a:t>
            </a:r>
            <a:r>
              <a:rPr lang="zh-CN" altLang="en-US" sz="24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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变化到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时， 开环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曲线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不包围复平面上 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( -1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0 ) 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点时，系统闭环稳定。否则，系统闭环不稳定。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246789" grpId="0"/>
      <p:bldP spid="246790" grpId="0"/>
      <p:bldP spid="24679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C972CCD-FCC6-4AB4-A902-84B05DE2FB17}" type="datetime1">
              <a:rPr lang="zh-CN" altLang="en-US" smtClean="0"/>
              <a:pPr/>
              <a:t>2025/10/15</a:t>
            </a:fld>
            <a:endParaRPr lang="zh-CN" altLang="en-US"/>
          </a:p>
        </p:txBody>
      </p:sp>
      <p:sp>
        <p:nvSpPr>
          <p:cNvPr id="53251" name="页脚占位符 2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Jixia Lu</a:t>
            </a:r>
          </a:p>
        </p:txBody>
      </p:sp>
      <p:sp>
        <p:nvSpPr>
          <p:cNvPr id="5325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CEF0AA6-127B-4C0A-96DD-826FE7E69E16}" type="slidenum">
              <a:rPr altLang="zh-CN" smtClean="0"/>
              <a:pPr/>
              <a:t>42</a:t>
            </a:fld>
            <a:endParaRPr lang="zh-CN" altLang="zh-CN"/>
          </a:p>
        </p:txBody>
      </p:sp>
      <p:sp>
        <p:nvSpPr>
          <p:cNvPr id="53253" name="Text Box 4"/>
          <p:cNvSpPr txBox="1">
            <a:spLocks noChangeArrowheads="1"/>
          </p:cNvSpPr>
          <p:nvPr/>
        </p:nvSpPr>
        <p:spPr bwMode="auto">
          <a:xfrm>
            <a:off x="323850" y="236538"/>
            <a:ext cx="3919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/>
              <a:t>e) </a:t>
            </a:r>
            <a:r>
              <a:rPr lang="zh-CN" altLang="en-US" sz="2800"/>
              <a:t>奈奎斯特稳定性判据</a:t>
            </a:r>
            <a:endParaRPr lang="en-US" altLang="zh-CN" sz="2800"/>
          </a:p>
        </p:txBody>
      </p:sp>
      <p:sp>
        <p:nvSpPr>
          <p:cNvPr id="247813" name="Text Box 3"/>
          <p:cNvSpPr txBox="1">
            <a:spLocks noChangeArrowheads="1"/>
          </p:cNvSpPr>
          <p:nvPr/>
        </p:nvSpPr>
        <p:spPr bwMode="auto">
          <a:xfrm>
            <a:off x="676275" y="1077913"/>
            <a:ext cx="413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  <a:r>
              <a:rPr lang="zh-CN" altLang="en-US" sz="2800">
                <a:latin typeface="Times New Roman" panose="02020603050405020304" pitchFamily="18" charset="0"/>
              </a:rPr>
              <a:t>开环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不稳定</a:t>
            </a:r>
            <a:r>
              <a:rPr lang="zh-CN" altLang="en-US" sz="2800">
                <a:latin typeface="Times New Roman" panose="02020603050405020304" pitchFamily="18" charset="0"/>
              </a:rPr>
              <a:t>时</a:t>
            </a:r>
          </a:p>
        </p:txBody>
      </p:sp>
      <p:sp>
        <p:nvSpPr>
          <p:cNvPr id="247814" name="文本框 1"/>
          <p:cNvSpPr txBox="1">
            <a:spLocks noChangeArrowheads="1"/>
          </p:cNvSpPr>
          <p:nvPr/>
        </p:nvSpPr>
        <p:spPr bwMode="auto">
          <a:xfrm>
            <a:off x="603250" y="1762125"/>
            <a:ext cx="8072438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/>
              <a:t>    假设开环特征根有</a:t>
            </a:r>
            <a:r>
              <a:rPr lang="en-US" altLang="zh-CN" sz="2400"/>
              <a:t>q</a:t>
            </a:r>
            <a:r>
              <a:rPr lang="zh-CN" altLang="en-US" sz="2400"/>
              <a:t>个右根，因此在右半</a:t>
            </a:r>
            <a:r>
              <a:rPr lang="en-US" altLang="zh-CN" sz="2400"/>
              <a:t>[s]</a:t>
            </a:r>
            <a:r>
              <a:rPr lang="zh-CN" altLang="en-US" sz="2400"/>
              <a:t>平面（</a:t>
            </a:r>
            <a:r>
              <a:rPr lang="en-US" altLang="zh-CN" sz="2400"/>
              <a:t>Contour A</a:t>
            </a:r>
            <a:r>
              <a:rPr lang="zh-CN" altLang="en-US" sz="2400"/>
              <a:t>）内的</a:t>
            </a:r>
            <a:r>
              <a:rPr lang="en-US" altLang="zh-CN" sz="2400"/>
              <a:t>F(s)</a:t>
            </a:r>
            <a:r>
              <a:rPr lang="zh-CN" altLang="en-US" sz="2400"/>
              <a:t>函数的极点数为</a:t>
            </a:r>
            <a:r>
              <a:rPr lang="en-US" altLang="zh-CN" sz="2400"/>
              <a:t>q</a:t>
            </a:r>
            <a:r>
              <a:rPr lang="zh-CN" altLang="en-US" sz="2400"/>
              <a:t>，即</a:t>
            </a:r>
            <a:r>
              <a:rPr lang="en-US" altLang="zh-CN" sz="2400"/>
              <a:t>P=q</a:t>
            </a:r>
            <a:r>
              <a:rPr lang="zh-CN" altLang="en-US" sz="2400"/>
              <a:t>；对于一个稳定的系统，右半</a:t>
            </a:r>
            <a:r>
              <a:rPr lang="en-US" altLang="zh-CN" sz="2400"/>
              <a:t>[s]</a:t>
            </a:r>
            <a:r>
              <a:rPr lang="zh-CN" altLang="en-US" sz="2400"/>
              <a:t>平面的闭环极点数应为零，即包围于</a:t>
            </a:r>
            <a:r>
              <a:rPr lang="en-US" altLang="zh-CN" sz="2400"/>
              <a:t>Contour A</a:t>
            </a:r>
            <a:r>
              <a:rPr lang="zh-CN" altLang="en-US" sz="2400"/>
              <a:t>内的</a:t>
            </a:r>
            <a:r>
              <a:rPr lang="en-US" altLang="zh-CN" sz="2400"/>
              <a:t>F(s)</a:t>
            </a:r>
            <a:r>
              <a:rPr lang="zh-CN" altLang="en-US" sz="2400"/>
              <a:t>函数的零点数应为零，对应</a:t>
            </a:r>
            <a:r>
              <a:rPr lang="en-US" altLang="zh-CN" sz="2400"/>
              <a:t>Z=0</a:t>
            </a:r>
            <a:r>
              <a:rPr lang="zh-CN" altLang="en-US" sz="240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    根据幅角定理，</a:t>
            </a:r>
            <a:r>
              <a:rPr lang="en-US" altLang="zh-CN" sz="2400"/>
              <a:t>N=Z-P=-q</a:t>
            </a:r>
            <a:r>
              <a:rPr lang="zh-CN" altLang="en-US" sz="2400"/>
              <a:t>（</a:t>
            </a:r>
            <a:r>
              <a:rPr lang="zh-CN" altLang="en-US" sz="2400">
                <a:solidFill>
                  <a:srgbClr val="FF0000"/>
                </a:solidFill>
              </a:rPr>
              <a:t>逆转为</a:t>
            </a:r>
            <a:r>
              <a:rPr lang="en-US" altLang="zh-CN" sz="2400">
                <a:solidFill>
                  <a:srgbClr val="FF0000"/>
                </a:solidFill>
              </a:rPr>
              <a:t>-</a:t>
            </a:r>
            <a:r>
              <a:rPr lang="zh-CN" altLang="en-US" sz="2400"/>
              <a:t>）</a:t>
            </a:r>
          </a:p>
        </p:txBody>
      </p:sp>
      <p:sp>
        <p:nvSpPr>
          <p:cNvPr id="247815" name="矩形 2"/>
          <p:cNvSpPr>
            <a:spLocks noChangeArrowheads="1"/>
          </p:cNvSpPr>
          <p:nvPr/>
        </p:nvSpPr>
        <p:spPr bwMode="auto">
          <a:xfrm>
            <a:off x="971550" y="4649788"/>
            <a:ext cx="691038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相应判据：若系统开环不稳定，有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个右根，则当</a:t>
            </a:r>
            <a:r>
              <a:rPr lang="zh-CN" altLang="en-US" sz="24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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变化到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时， 开环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曲线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i="1">
                <a:solidFill>
                  <a:srgbClr val="CC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逆时针包围 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(-1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j0) 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点的圈数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应等于 </a:t>
            </a:r>
            <a:r>
              <a:rPr lang="en-US" altLang="zh-CN" sz="2400">
                <a:solidFill>
                  <a:srgbClr val="CC33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，这时，系统闭环稳定。否则，系统闭环不稳定。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3" grpId="0"/>
      <p:bldP spid="247814" grpId="0"/>
      <p:bldP spid="2478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3" name="文本框 1"/>
          <p:cNvSpPr txBox="1">
            <a:spLocks noChangeArrowheads="1"/>
          </p:cNvSpPr>
          <p:nvPr/>
        </p:nvSpPr>
        <p:spPr bwMode="auto">
          <a:xfrm>
            <a:off x="827088" y="1844675"/>
            <a:ext cx="7345362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    因为奈奎斯特曲线关于实轴对称，通常绘制奈奎斯特曲线时频率</a:t>
            </a:r>
            <a:r>
              <a:rPr lang="zh-CN" altLang="en-US" sz="2800">
                <a:sym typeface="Symbol" panose="05050102010706020507" pitchFamily="18" charset="2"/>
              </a:rPr>
              <a:t></a:t>
            </a:r>
            <a:r>
              <a:rPr lang="zh-CN" altLang="en-US" sz="2800"/>
              <a:t>为</a:t>
            </a:r>
            <a:r>
              <a:rPr lang="en-US" altLang="zh-CN" sz="2800"/>
              <a:t>0</a:t>
            </a:r>
            <a:r>
              <a:rPr lang="zh-CN" altLang="en-US" sz="2800"/>
              <a:t>至</a:t>
            </a:r>
            <a:r>
              <a:rPr lang="en-US" altLang="zh-CN" sz="2800"/>
              <a:t>+</a:t>
            </a:r>
            <a:r>
              <a:rPr lang="en-US" altLang="zh-CN" sz="2800">
                <a:sym typeface="Symbol" panose="05050102010706020507" pitchFamily="18" charset="2"/>
              </a:rPr>
              <a:t></a:t>
            </a:r>
            <a:r>
              <a:rPr lang="zh-CN" altLang="en-US" sz="2800">
                <a:sym typeface="Symbol" panose="05050102010706020507" pitchFamily="18" charset="2"/>
              </a:rPr>
              <a:t>，所以奈奎斯特稳定性判据也可以表述如下：</a:t>
            </a:r>
            <a:endParaRPr lang="zh-CN" altLang="en-US" sz="280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042988" y="3500438"/>
            <a:ext cx="6934200" cy="25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闭环系统稳定的充要条件为：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当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从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变化到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+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时，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系统开环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曲线逆时针包围 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(-1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0)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点的圈数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等于 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，其中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为位于右半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平面的开环特征根个数。此即为</a:t>
            </a:r>
            <a:r>
              <a:rPr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稳定判据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3" grpId="0"/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967D12-4474-4FD1-8BFF-8E60D1D37C79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552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6C29A8-2F59-48AA-9F35-111C64C9D1EE}" type="slidenum">
              <a:rPr altLang="zh-CN" smtClean="0"/>
              <a:pPr/>
              <a:t>44</a:t>
            </a:fld>
            <a:endParaRPr lang="zh-CN" altLang="zh-CN"/>
          </a:p>
        </p:txBody>
      </p:sp>
      <p:grpSp>
        <p:nvGrpSpPr>
          <p:cNvPr id="55300" name="Group 3"/>
          <p:cNvGrpSpPr>
            <a:grpSpLocks/>
          </p:cNvGrpSpPr>
          <p:nvPr/>
        </p:nvGrpSpPr>
        <p:grpSpPr bwMode="auto">
          <a:xfrm>
            <a:off x="1187450" y="476250"/>
            <a:ext cx="7481888" cy="2652713"/>
            <a:chOff x="807" y="546"/>
            <a:chExt cx="4713" cy="1671"/>
          </a:xfrm>
        </p:grpSpPr>
        <p:sp>
          <p:nvSpPr>
            <p:cNvPr id="55305" name="Text Box 4"/>
            <p:cNvSpPr txBox="1">
              <a:spLocks noChangeArrowheads="1"/>
            </p:cNvSpPr>
            <p:nvPr/>
          </p:nvSpPr>
          <p:spPr bwMode="auto">
            <a:xfrm>
              <a:off x="807" y="546"/>
              <a:ext cx="26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Char char="Ø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示例</a:t>
              </a:r>
            </a:p>
          </p:txBody>
        </p:sp>
        <p:sp>
          <p:nvSpPr>
            <p:cNvPr id="55306" name="Text Box 5"/>
            <p:cNvSpPr txBox="1">
              <a:spLocks noChangeArrowheads="1"/>
            </p:cNvSpPr>
            <p:nvPr/>
          </p:nvSpPr>
          <p:spPr bwMode="auto">
            <a:xfrm>
              <a:off x="816" y="930"/>
              <a:ext cx="4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</a:t>
              </a: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r>
                <a:rPr lang="zh-CN" altLang="en-US" sz="2800">
                  <a:latin typeface="Times New Roman" panose="02020603050405020304" pitchFamily="18" charset="0"/>
                </a:rPr>
                <a:t>：已知系统开环传递函数</a:t>
              </a:r>
            </a:p>
          </p:txBody>
        </p:sp>
        <p:graphicFrame>
          <p:nvGraphicFramePr>
            <p:cNvPr id="55307" name="Object 5"/>
            <p:cNvGraphicFramePr>
              <a:graphicFrameLocks noChangeAspect="1"/>
            </p:cNvGraphicFramePr>
            <p:nvPr/>
          </p:nvGraphicFramePr>
          <p:xfrm>
            <a:off x="1440" y="1261"/>
            <a:ext cx="2544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032000" imgH="419100" progId="Equation.3">
                    <p:embed/>
                  </p:oleObj>
                </mc:Choice>
                <mc:Fallback>
                  <p:oleObj r:id="rId2" imgW="2032000" imgH="4191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261"/>
                          <a:ext cx="2544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8" name="Text Box 7"/>
            <p:cNvSpPr txBox="1">
              <a:spLocks noChangeArrowheads="1"/>
            </p:cNvSpPr>
            <p:nvPr/>
          </p:nvSpPr>
          <p:spPr bwMode="auto">
            <a:xfrm>
              <a:off x="1104" y="1890"/>
              <a:ext cx="44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应用</a:t>
              </a:r>
              <a:r>
                <a:rPr lang="en-US" altLang="zh-CN" sz="2800">
                  <a:latin typeface="Times New Roman" panose="02020603050405020304" pitchFamily="18" charset="0"/>
                </a:rPr>
                <a:t>Nyquist</a:t>
              </a:r>
              <a:r>
                <a:rPr lang="zh-CN" altLang="en-US" sz="2800">
                  <a:latin typeface="Times New Roman" panose="02020603050405020304" pitchFamily="18" charset="0"/>
                </a:rPr>
                <a:t>判据判别闭环系统的稳定性。</a:t>
              </a:r>
            </a:p>
          </p:txBody>
        </p:sp>
      </p:grpSp>
      <p:sp>
        <p:nvSpPr>
          <p:cNvPr id="284680" name="Text Box 8"/>
          <p:cNvSpPr txBox="1">
            <a:spLocks noChangeArrowheads="1"/>
          </p:cNvSpPr>
          <p:nvPr/>
        </p:nvSpPr>
        <p:spPr bwMode="auto">
          <a:xfrm>
            <a:off x="1258888" y="3500438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解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402432" name="Object 2"/>
          <p:cNvGraphicFramePr>
            <a:graphicFrameLocks noChangeAspect="1"/>
          </p:cNvGraphicFramePr>
          <p:nvPr/>
        </p:nvGraphicFramePr>
        <p:xfrm>
          <a:off x="2020888" y="3486150"/>
          <a:ext cx="522446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28900" imgH="419100" progId="Equation.3">
                  <p:embed/>
                </p:oleObj>
              </mc:Choice>
              <mc:Fallback>
                <p:oleObj r:id="rId4" imgW="26289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3486150"/>
                        <a:ext cx="522446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3" name="Object 3"/>
          <p:cNvGraphicFramePr>
            <a:graphicFrameLocks noChangeAspect="1"/>
          </p:cNvGraphicFramePr>
          <p:nvPr/>
        </p:nvGraphicFramePr>
        <p:xfrm>
          <a:off x="2024063" y="4457700"/>
          <a:ext cx="45688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98700" imgH="469900" progId="Equation.3">
                  <p:embed/>
                </p:oleObj>
              </mc:Choice>
              <mc:Fallback>
                <p:oleObj r:id="rId6" imgW="22987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4457700"/>
                        <a:ext cx="45688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2434" name="Object 4"/>
          <p:cNvGraphicFramePr>
            <a:graphicFrameLocks noChangeAspect="1"/>
          </p:cNvGraphicFramePr>
          <p:nvPr/>
        </p:nvGraphicFramePr>
        <p:xfrm>
          <a:off x="2049463" y="5597525"/>
          <a:ext cx="46196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324100" imgH="203200" progId="Equation.3">
                  <p:embed/>
                </p:oleObj>
              </mc:Choice>
              <mc:Fallback>
                <p:oleObj r:id="rId8" imgW="23241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5597525"/>
                        <a:ext cx="46196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2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2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2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2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8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5D790E-62CF-4F77-9CF6-11162FBD078B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563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AF363B-89E9-4323-8D6D-16D4272F03C3}" type="slidenum">
              <a:rPr altLang="zh-CN" smtClean="0"/>
              <a:pPr/>
              <a:t>45</a:t>
            </a:fld>
            <a:endParaRPr lang="zh-CN" altLang="zh-CN"/>
          </a:p>
        </p:txBody>
      </p:sp>
      <p:graphicFrame>
        <p:nvGraphicFramePr>
          <p:cNvPr id="56324" name="Object 2"/>
          <p:cNvGraphicFramePr>
            <a:graphicFrameLocks noChangeAspect="1"/>
          </p:cNvGraphicFramePr>
          <p:nvPr/>
        </p:nvGraphicFramePr>
        <p:xfrm>
          <a:off x="1763713" y="1052513"/>
          <a:ext cx="272573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71600" imgH="203200" progId="Equation.3">
                  <p:embed/>
                </p:oleObj>
              </mc:Choice>
              <mc:Fallback>
                <p:oleObj r:id="rId2" imgW="1371600" imgH="203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052513"/>
                        <a:ext cx="272573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57" name="Object 3"/>
          <p:cNvGraphicFramePr>
            <a:graphicFrameLocks noChangeAspect="1"/>
          </p:cNvGraphicFramePr>
          <p:nvPr/>
        </p:nvGraphicFramePr>
        <p:xfrm>
          <a:off x="1676400" y="1839913"/>
          <a:ext cx="356076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00200" imgH="203200" progId="Equation.3">
                  <p:embed/>
                </p:oleObj>
              </mc:Choice>
              <mc:Fallback>
                <p:oleObj r:id="rId4" imgW="16002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39913"/>
                        <a:ext cx="356076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00200" y="2368550"/>
            <a:ext cx="6934200" cy="908050"/>
            <a:chOff x="1008" y="1492"/>
            <a:chExt cx="4368" cy="572"/>
          </a:xfrm>
        </p:grpSpPr>
        <p:graphicFrame>
          <p:nvGraphicFramePr>
            <p:cNvPr id="56335" name="Object 7"/>
            <p:cNvGraphicFramePr>
              <a:graphicFrameLocks noChangeAspect="1"/>
            </p:cNvGraphicFramePr>
            <p:nvPr/>
          </p:nvGraphicFramePr>
          <p:xfrm>
            <a:off x="1620" y="1492"/>
            <a:ext cx="3148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514600" imgH="457200" progId="Equation.3">
                    <p:embed/>
                  </p:oleObj>
                </mc:Choice>
                <mc:Fallback>
                  <p:oleObj r:id="rId6" imgW="2514600" imgH="4572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0" y="1492"/>
                          <a:ext cx="3148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6" name="Text Box 7"/>
            <p:cNvSpPr txBox="1">
              <a:spLocks noChangeArrowheads="1"/>
            </p:cNvSpPr>
            <p:nvPr/>
          </p:nvSpPr>
          <p:spPr bwMode="auto">
            <a:xfrm>
              <a:off x="1008" y="1588"/>
              <a:ext cx="4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由：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619250" y="3213100"/>
            <a:ext cx="6934200" cy="930275"/>
            <a:chOff x="1008" y="2390"/>
            <a:chExt cx="4368" cy="586"/>
          </a:xfrm>
        </p:grpSpPr>
        <p:sp>
          <p:nvSpPr>
            <p:cNvPr id="56333" name="Text Box 9"/>
            <p:cNvSpPr txBox="1">
              <a:spLocks noChangeArrowheads="1"/>
            </p:cNvSpPr>
            <p:nvPr/>
          </p:nvSpPr>
          <p:spPr bwMode="auto">
            <a:xfrm>
              <a:off x="1008" y="2505"/>
              <a:ext cx="4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解得：</a:t>
              </a:r>
            </a:p>
          </p:txBody>
        </p:sp>
        <p:graphicFrame>
          <p:nvGraphicFramePr>
            <p:cNvPr id="56334" name="Object 6"/>
            <p:cNvGraphicFramePr>
              <a:graphicFrameLocks noChangeAspect="1"/>
            </p:cNvGraphicFramePr>
            <p:nvPr/>
          </p:nvGraphicFramePr>
          <p:xfrm>
            <a:off x="1776" y="2390"/>
            <a:ext cx="816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583947" imgH="418918" progId="Equation.3">
                    <p:embed/>
                  </p:oleObj>
                </mc:Choice>
                <mc:Fallback>
                  <p:oleObj r:id="rId8" imgW="583947" imgH="418918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390"/>
                          <a:ext cx="816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547813" y="4149725"/>
            <a:ext cx="6934200" cy="908050"/>
            <a:chOff x="1008" y="2736"/>
            <a:chExt cx="4368" cy="572"/>
          </a:xfrm>
        </p:grpSpPr>
        <p:graphicFrame>
          <p:nvGraphicFramePr>
            <p:cNvPr id="56331" name="Object 5"/>
            <p:cNvGraphicFramePr>
              <a:graphicFrameLocks noChangeAspect="1"/>
            </p:cNvGraphicFramePr>
            <p:nvPr/>
          </p:nvGraphicFramePr>
          <p:xfrm>
            <a:off x="1553" y="2736"/>
            <a:ext cx="2877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298700" imgH="457200" progId="Equation.3">
                    <p:embed/>
                  </p:oleObj>
                </mc:Choice>
                <mc:Fallback>
                  <p:oleObj r:id="rId10" imgW="2298700" imgH="457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3" y="2736"/>
                          <a:ext cx="2877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2" name="Text Box 13"/>
            <p:cNvSpPr txBox="1">
              <a:spLocks noChangeArrowheads="1"/>
            </p:cNvSpPr>
            <p:nvPr/>
          </p:nvSpPr>
          <p:spPr bwMode="auto">
            <a:xfrm>
              <a:off x="1008" y="2832"/>
              <a:ext cx="4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由：</a:t>
              </a:r>
            </a:p>
          </p:txBody>
        </p:sp>
      </p:grpSp>
      <p:sp>
        <p:nvSpPr>
          <p:cNvPr id="285710" name="Text Box 14"/>
          <p:cNvSpPr txBox="1">
            <a:spLocks noChangeArrowheads="1"/>
          </p:cNvSpPr>
          <p:nvPr/>
        </p:nvSpPr>
        <p:spPr bwMode="auto">
          <a:xfrm>
            <a:off x="1547813" y="5157788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解得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曲线与负实轴交点为：</a:t>
            </a:r>
          </a:p>
        </p:txBody>
      </p:sp>
      <p:graphicFrame>
        <p:nvGraphicFramePr>
          <p:cNvPr id="403458" name="Object 4"/>
          <p:cNvGraphicFramePr>
            <a:graphicFrameLocks noChangeAspect="1"/>
          </p:cNvGraphicFramePr>
          <p:nvPr/>
        </p:nvGraphicFramePr>
        <p:xfrm>
          <a:off x="2843213" y="5732463"/>
          <a:ext cx="20193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016000" imgH="241300" progId="Equation.3">
                  <p:embed/>
                </p:oleObj>
              </mc:Choice>
              <mc:Fallback>
                <p:oleObj r:id="rId12" imgW="10160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732463"/>
                        <a:ext cx="20193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5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5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097088" y="860425"/>
          <a:ext cx="56292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32100" imgH="228600" progId="Equation.3">
                  <p:embed/>
                </p:oleObj>
              </mc:Choice>
              <mc:Fallback>
                <p:oleObj r:id="rId2" imgW="2832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860425"/>
                        <a:ext cx="56292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55650" y="790575"/>
            <a:ext cx="1368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或由：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835150" y="1773238"/>
            <a:ext cx="6934200" cy="930275"/>
            <a:chOff x="1008" y="2390"/>
            <a:chExt cx="4368" cy="586"/>
          </a:xfrm>
        </p:grpSpPr>
        <p:sp>
          <p:nvSpPr>
            <p:cNvPr id="57353" name="Text Box 9"/>
            <p:cNvSpPr txBox="1">
              <a:spLocks noChangeArrowheads="1"/>
            </p:cNvSpPr>
            <p:nvPr/>
          </p:nvSpPr>
          <p:spPr bwMode="auto">
            <a:xfrm>
              <a:off x="1008" y="2505"/>
              <a:ext cx="4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解得：</a:t>
              </a:r>
            </a:p>
          </p:txBody>
        </p:sp>
        <p:graphicFrame>
          <p:nvGraphicFramePr>
            <p:cNvPr id="57354" name="Object 6"/>
            <p:cNvGraphicFramePr>
              <a:graphicFrameLocks noChangeAspect="1"/>
            </p:cNvGraphicFramePr>
            <p:nvPr/>
          </p:nvGraphicFramePr>
          <p:xfrm>
            <a:off x="1776" y="2390"/>
            <a:ext cx="816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83947" imgH="418918" progId="Equation.3">
                    <p:embed/>
                  </p:oleObj>
                </mc:Choice>
                <mc:Fallback>
                  <p:oleObj r:id="rId4" imgW="583947" imgH="418918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2390"/>
                          <a:ext cx="816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062163" y="3181350"/>
          <a:ext cx="45688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98700" imgH="469900" progId="Equation.3">
                  <p:embed/>
                </p:oleObj>
              </mc:Choice>
              <mc:Fallback>
                <p:oleObj r:id="rId6" imgW="22987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3181350"/>
                        <a:ext cx="45688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825500" y="2854325"/>
            <a:ext cx="12620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/>
              <a:t>代入：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462088" y="4562475"/>
            <a:ext cx="693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anose="02020603050405020304" pitchFamily="18" charset="0"/>
              </a:rPr>
              <a:t>解得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曲线与负实轴交点处幅值为：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3022600" y="5335588"/>
          <a:ext cx="17922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01309" imgH="241195" progId="Equation.3">
                  <p:embed/>
                </p:oleObj>
              </mc:Choice>
              <mc:Fallback>
                <p:oleObj r:id="rId8" imgW="901309" imgH="2411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5335588"/>
                        <a:ext cx="17922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91B749B-AD16-4272-96D4-58C81B926117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5837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C5622BC-3F77-4B31-953F-A6C2C50E2C0A}" type="slidenum">
              <a:rPr altLang="zh-CN" smtClean="0"/>
              <a:pPr/>
              <a:t>47</a:t>
            </a:fld>
            <a:endParaRPr lang="zh-CN" altLang="zh-CN"/>
          </a:p>
        </p:txBody>
      </p:sp>
      <p:grpSp>
        <p:nvGrpSpPr>
          <p:cNvPr id="58372" name="Group 3"/>
          <p:cNvGrpSpPr>
            <a:grpSpLocks/>
          </p:cNvGrpSpPr>
          <p:nvPr/>
        </p:nvGrpSpPr>
        <p:grpSpPr bwMode="auto">
          <a:xfrm>
            <a:off x="2133600" y="1066800"/>
            <a:ext cx="5257800" cy="3048000"/>
            <a:chOff x="1488" y="864"/>
            <a:chExt cx="3312" cy="1920"/>
          </a:xfrm>
        </p:grpSpPr>
        <p:sp>
          <p:nvSpPr>
            <p:cNvPr id="58375" name="Line 4"/>
            <p:cNvSpPr>
              <a:spLocks noChangeShapeType="1"/>
            </p:cNvSpPr>
            <p:nvPr/>
          </p:nvSpPr>
          <p:spPr bwMode="auto">
            <a:xfrm>
              <a:off x="1584" y="1661"/>
              <a:ext cx="3147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6" name="Line 5"/>
            <p:cNvSpPr>
              <a:spLocks noChangeShapeType="1"/>
            </p:cNvSpPr>
            <p:nvPr/>
          </p:nvSpPr>
          <p:spPr bwMode="auto">
            <a:xfrm flipV="1">
              <a:off x="2436" y="912"/>
              <a:ext cx="0" cy="18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7" name="Freeform 6"/>
            <p:cNvSpPr>
              <a:spLocks noChangeArrowheads="1"/>
            </p:cNvSpPr>
            <p:nvPr/>
          </p:nvSpPr>
          <p:spPr bwMode="auto">
            <a:xfrm>
              <a:off x="1972" y="1491"/>
              <a:ext cx="1998" cy="1052"/>
            </a:xfrm>
            <a:custGeom>
              <a:avLst/>
              <a:gdLst>
                <a:gd name="T0" fmla="*/ 2365 w 1688"/>
                <a:gd name="T1" fmla="*/ 188 h 944"/>
                <a:gd name="T2" fmla="*/ 2230 w 1688"/>
                <a:gd name="T3" fmla="*/ 546 h 944"/>
                <a:gd name="T4" fmla="*/ 1894 w 1688"/>
                <a:gd name="T5" fmla="*/ 904 h 944"/>
                <a:gd name="T6" fmla="*/ 1558 w 1688"/>
                <a:gd name="T7" fmla="*/ 1083 h 944"/>
                <a:gd name="T8" fmla="*/ 885 w 1688"/>
                <a:gd name="T9" fmla="*/ 1142 h 944"/>
                <a:gd name="T10" fmla="*/ 213 w 1688"/>
                <a:gd name="T11" fmla="*/ 904 h 944"/>
                <a:gd name="T12" fmla="*/ 11 w 1688"/>
                <a:gd name="T13" fmla="*/ 487 h 944"/>
                <a:gd name="T14" fmla="*/ 146 w 1688"/>
                <a:gd name="T15" fmla="*/ 129 h 944"/>
                <a:gd name="T16" fmla="*/ 348 w 1688"/>
                <a:gd name="T17" fmla="*/ 10 h 944"/>
                <a:gd name="T18" fmla="*/ 549 w 1688"/>
                <a:gd name="T19" fmla="*/ 188 h 9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88" h="944">
                  <a:moveTo>
                    <a:pt x="1688" y="152"/>
                  </a:moveTo>
                  <a:cubicBezTo>
                    <a:pt x="1668" y="248"/>
                    <a:pt x="1648" y="344"/>
                    <a:pt x="1592" y="440"/>
                  </a:cubicBezTo>
                  <a:cubicBezTo>
                    <a:pt x="1536" y="536"/>
                    <a:pt x="1432" y="656"/>
                    <a:pt x="1352" y="728"/>
                  </a:cubicBezTo>
                  <a:cubicBezTo>
                    <a:pt x="1272" y="800"/>
                    <a:pt x="1232" y="840"/>
                    <a:pt x="1112" y="872"/>
                  </a:cubicBezTo>
                  <a:cubicBezTo>
                    <a:pt x="992" y="904"/>
                    <a:pt x="792" y="944"/>
                    <a:pt x="632" y="920"/>
                  </a:cubicBezTo>
                  <a:cubicBezTo>
                    <a:pt x="472" y="896"/>
                    <a:pt x="256" y="816"/>
                    <a:pt x="152" y="728"/>
                  </a:cubicBezTo>
                  <a:cubicBezTo>
                    <a:pt x="48" y="640"/>
                    <a:pt x="16" y="496"/>
                    <a:pt x="8" y="392"/>
                  </a:cubicBezTo>
                  <a:cubicBezTo>
                    <a:pt x="0" y="288"/>
                    <a:pt x="64" y="168"/>
                    <a:pt x="104" y="104"/>
                  </a:cubicBezTo>
                  <a:cubicBezTo>
                    <a:pt x="144" y="40"/>
                    <a:pt x="200" y="0"/>
                    <a:pt x="248" y="8"/>
                  </a:cubicBezTo>
                  <a:cubicBezTo>
                    <a:pt x="296" y="16"/>
                    <a:pt x="344" y="84"/>
                    <a:pt x="392" y="152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8" name="Text Box 7"/>
            <p:cNvSpPr txBox="1">
              <a:spLocks noChangeArrowheads="1"/>
            </p:cNvSpPr>
            <p:nvPr/>
          </p:nvSpPr>
          <p:spPr bwMode="auto">
            <a:xfrm>
              <a:off x="3820" y="139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58379" name="Text Box 8"/>
            <p:cNvSpPr txBox="1">
              <a:spLocks noChangeArrowheads="1"/>
            </p:cNvSpPr>
            <p:nvPr/>
          </p:nvSpPr>
          <p:spPr bwMode="auto">
            <a:xfrm>
              <a:off x="1488" y="1200"/>
              <a:ext cx="6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-1.587</a:t>
              </a:r>
            </a:p>
          </p:txBody>
        </p:sp>
        <p:sp>
          <p:nvSpPr>
            <p:cNvPr id="58380" name="Line 9"/>
            <p:cNvSpPr>
              <a:spLocks noChangeShapeType="1"/>
            </p:cNvSpPr>
            <p:nvPr/>
          </p:nvSpPr>
          <p:spPr bwMode="auto">
            <a:xfrm>
              <a:off x="1872" y="1440"/>
              <a:ext cx="192" cy="24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1" name="Text Box 10"/>
            <p:cNvSpPr txBox="1">
              <a:spLocks noChangeArrowheads="1"/>
            </p:cNvSpPr>
            <p:nvPr/>
          </p:nvSpPr>
          <p:spPr bwMode="auto">
            <a:xfrm>
              <a:off x="2025" y="161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58382" name="Text Box 11"/>
            <p:cNvSpPr txBox="1">
              <a:spLocks noChangeArrowheads="1"/>
            </p:cNvSpPr>
            <p:nvPr/>
          </p:nvSpPr>
          <p:spPr bwMode="auto">
            <a:xfrm>
              <a:off x="2400" y="16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58383" name="Group 12"/>
            <p:cNvGrpSpPr>
              <a:grpSpLocks/>
            </p:cNvGrpSpPr>
            <p:nvPr/>
          </p:nvGrpSpPr>
          <p:grpSpPr bwMode="auto">
            <a:xfrm>
              <a:off x="2100" y="1605"/>
              <a:ext cx="96" cy="96"/>
              <a:chOff x="2091" y="1614"/>
              <a:chExt cx="96" cy="96"/>
            </a:xfrm>
          </p:grpSpPr>
          <p:sp>
            <p:nvSpPr>
              <p:cNvPr id="58390" name="Line 13"/>
              <p:cNvSpPr>
                <a:spLocks noChangeShapeType="1"/>
              </p:cNvSpPr>
              <p:nvPr/>
            </p:nvSpPr>
            <p:spPr bwMode="auto">
              <a:xfrm>
                <a:off x="2139" y="1614"/>
                <a:ext cx="0" cy="96"/>
              </a:xfrm>
              <a:prstGeom prst="line">
                <a:avLst/>
              </a:prstGeom>
              <a:noFill/>
              <a:ln w="2222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391" name="Line 14"/>
              <p:cNvSpPr>
                <a:spLocks noChangeShapeType="1"/>
              </p:cNvSpPr>
              <p:nvPr/>
            </p:nvSpPr>
            <p:spPr bwMode="auto">
              <a:xfrm>
                <a:off x="2091" y="1671"/>
                <a:ext cx="96" cy="0"/>
              </a:xfrm>
              <a:prstGeom prst="line">
                <a:avLst/>
              </a:prstGeom>
              <a:noFill/>
              <a:ln w="22225">
                <a:solidFill>
                  <a:srgbClr val="CC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384" name="Rectangle 15"/>
            <p:cNvSpPr>
              <a:spLocks noChangeArrowheads="1"/>
            </p:cNvSpPr>
            <p:nvPr/>
          </p:nvSpPr>
          <p:spPr bwMode="auto">
            <a:xfrm>
              <a:off x="4482" y="1680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58385" name="Rectangle 16"/>
            <p:cNvSpPr>
              <a:spLocks noChangeArrowheads="1"/>
            </p:cNvSpPr>
            <p:nvPr/>
          </p:nvSpPr>
          <p:spPr bwMode="auto">
            <a:xfrm>
              <a:off x="2418" y="864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58386" name="Rectangle 17"/>
            <p:cNvSpPr>
              <a:spLocks noChangeArrowheads="1"/>
            </p:cNvSpPr>
            <p:nvPr/>
          </p:nvSpPr>
          <p:spPr bwMode="auto">
            <a:xfrm>
              <a:off x="3916" y="1632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=0</a:t>
              </a:r>
            </a:p>
          </p:txBody>
        </p:sp>
        <p:sp>
          <p:nvSpPr>
            <p:cNvPr id="58387" name="Rectangle 18"/>
            <p:cNvSpPr>
              <a:spLocks noChangeArrowheads="1"/>
            </p:cNvSpPr>
            <p:nvPr/>
          </p:nvSpPr>
          <p:spPr bwMode="auto">
            <a:xfrm>
              <a:off x="2400" y="1392"/>
              <a:ext cx="5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8388" name="Freeform 19"/>
            <p:cNvSpPr>
              <a:spLocks noChangeArrowheads="1"/>
            </p:cNvSpPr>
            <p:nvPr/>
          </p:nvSpPr>
          <p:spPr bwMode="auto">
            <a:xfrm>
              <a:off x="3552" y="2064"/>
              <a:ext cx="336" cy="344"/>
            </a:xfrm>
            <a:custGeom>
              <a:avLst/>
              <a:gdLst>
                <a:gd name="T0" fmla="*/ 336 w 336"/>
                <a:gd name="T1" fmla="*/ 0 h 344"/>
                <a:gd name="T2" fmla="*/ 96 w 336"/>
                <a:gd name="T3" fmla="*/ 288 h 344"/>
                <a:gd name="T4" fmla="*/ 0 w 336"/>
                <a:gd name="T5" fmla="*/ 336 h 3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344">
                  <a:moveTo>
                    <a:pt x="336" y="0"/>
                  </a:moveTo>
                  <a:cubicBezTo>
                    <a:pt x="244" y="116"/>
                    <a:pt x="152" y="232"/>
                    <a:pt x="96" y="288"/>
                  </a:cubicBezTo>
                  <a:cubicBezTo>
                    <a:pt x="40" y="344"/>
                    <a:pt x="20" y="340"/>
                    <a:pt x="0" y="33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9" name="Rectangle 20"/>
            <p:cNvSpPr>
              <a:spLocks noChangeArrowheads="1"/>
            </p:cNvSpPr>
            <p:nvPr/>
          </p:nvSpPr>
          <p:spPr bwMode="auto">
            <a:xfrm>
              <a:off x="3648" y="2208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286741" name="Text Box 21"/>
          <p:cNvSpPr txBox="1">
            <a:spLocks noChangeArrowheads="1"/>
          </p:cNvSpPr>
          <p:nvPr/>
        </p:nvSpPr>
        <p:spPr bwMode="auto">
          <a:xfrm>
            <a:off x="1371600" y="4191000"/>
            <a:ext cx="6934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由图可见，开环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曲线顺时针包围</a:t>
            </a:r>
            <a:r>
              <a:rPr lang="en-US" altLang="zh-CN" sz="2800">
                <a:latin typeface="Times New Roman" panose="02020603050405020304" pitchFamily="18" charset="0"/>
              </a:rPr>
              <a:t>(-1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</a:rPr>
              <a:t>j</a:t>
            </a:r>
            <a:r>
              <a:rPr lang="en-US" altLang="zh-CN" sz="2800">
                <a:latin typeface="Times New Roman" panose="02020603050405020304" pitchFamily="18" charset="0"/>
              </a:rPr>
              <a:t>0)</a:t>
            </a:r>
            <a:r>
              <a:rPr lang="zh-CN" altLang="en-US" sz="2800">
                <a:latin typeface="Times New Roman" panose="02020603050405020304" pitchFamily="18" charset="0"/>
              </a:rPr>
              <a:t>点一圈，即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86742" name="Text Box 22"/>
          <p:cNvSpPr txBox="1">
            <a:spLocks noChangeArrowheads="1"/>
          </p:cNvSpPr>
          <p:nvPr/>
        </p:nvSpPr>
        <p:spPr bwMode="auto">
          <a:xfrm>
            <a:off x="1371600" y="5257800"/>
            <a:ext cx="6934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而开环特征根全部位于左半</a:t>
            </a:r>
            <a:r>
              <a:rPr lang="en-US" altLang="zh-CN" sz="2800" i="1">
                <a:latin typeface="Times New Roman" panose="02020603050405020304" pitchFamily="18" charset="0"/>
              </a:rPr>
              <a:t>s</a:t>
            </a:r>
            <a:r>
              <a:rPr lang="zh-CN" altLang="en-US" sz="2800">
                <a:latin typeface="Times New Roman" panose="02020603050405020304" pitchFamily="18" charset="0"/>
              </a:rPr>
              <a:t>平面，即</a:t>
            </a:r>
            <a:r>
              <a:rPr lang="en-US" altLang="zh-CN" sz="2800" i="1">
                <a:latin typeface="Times New Roman" panose="02020603050405020304" pitchFamily="18" charset="0"/>
              </a:rPr>
              <a:t>q</a:t>
            </a:r>
            <a:r>
              <a:rPr lang="zh-CN" altLang="en-US" sz="2800">
                <a:latin typeface="Times New Roman" panose="02020603050405020304" pitchFamily="18" charset="0"/>
              </a:rPr>
              <a:t>＝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，由</a:t>
            </a:r>
            <a:r>
              <a:rPr lang="en-US" altLang="zh-CN" sz="2800">
                <a:latin typeface="Times New Roman" panose="02020603050405020304" pitchFamily="18" charset="0"/>
              </a:rPr>
              <a:t>Nyquist</a:t>
            </a:r>
            <a:r>
              <a:rPr lang="zh-CN" altLang="en-US" sz="2800">
                <a:latin typeface="Times New Roman" panose="02020603050405020304" pitchFamily="18" charset="0"/>
              </a:rPr>
              <a:t>判据知，系统闭环不稳定。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1" grpId="0"/>
      <p:bldP spid="28674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12A584-25AB-462A-AF5B-9E0D23BB3351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593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A60EC27-082B-4FBB-AB5A-1DF20F7A7944}" type="slidenum">
              <a:rPr altLang="zh-CN" smtClean="0"/>
              <a:pPr/>
              <a:t>48</a:t>
            </a:fld>
            <a:endParaRPr lang="zh-CN" altLang="zh-CN"/>
          </a:p>
        </p:txBody>
      </p:sp>
      <p:grpSp>
        <p:nvGrpSpPr>
          <p:cNvPr id="59396" name="Group 3"/>
          <p:cNvGrpSpPr>
            <a:grpSpLocks/>
          </p:cNvGrpSpPr>
          <p:nvPr/>
        </p:nvGrpSpPr>
        <p:grpSpPr bwMode="auto">
          <a:xfrm>
            <a:off x="1258888" y="1125538"/>
            <a:ext cx="7162800" cy="2028825"/>
            <a:chOff x="816" y="930"/>
            <a:chExt cx="4512" cy="1278"/>
          </a:xfrm>
        </p:grpSpPr>
        <p:sp>
          <p:nvSpPr>
            <p:cNvPr id="59404" name="Text Box 4"/>
            <p:cNvSpPr txBox="1">
              <a:spLocks noChangeArrowheads="1"/>
            </p:cNvSpPr>
            <p:nvPr/>
          </p:nvSpPr>
          <p:spPr bwMode="auto">
            <a:xfrm>
              <a:off x="816" y="930"/>
              <a:ext cx="4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Char char="q"/>
              </a:pP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r>
                <a:rPr lang="zh-CN" altLang="en-US" sz="2800">
                  <a:latin typeface="Times New Roman" panose="02020603050405020304" pitchFamily="18" charset="0"/>
                </a:rPr>
                <a:t>例</a:t>
              </a:r>
              <a:r>
                <a:rPr lang="en-US" altLang="zh-CN" sz="2800">
                  <a:latin typeface="Times New Roman" panose="02020603050405020304" pitchFamily="18" charset="0"/>
                </a:rPr>
                <a:t>2</a:t>
              </a:r>
              <a:r>
                <a:rPr lang="zh-CN" altLang="en-US" sz="2800">
                  <a:latin typeface="Times New Roman" panose="02020603050405020304" pitchFamily="18" charset="0"/>
                </a:rPr>
                <a:t>：已知系统开环传递函数</a:t>
              </a:r>
            </a:p>
          </p:txBody>
        </p:sp>
        <p:graphicFrame>
          <p:nvGraphicFramePr>
            <p:cNvPr id="59405" name="Object 7"/>
            <p:cNvGraphicFramePr>
              <a:graphicFrameLocks noChangeAspect="1"/>
            </p:cNvGraphicFramePr>
            <p:nvPr/>
          </p:nvGraphicFramePr>
          <p:xfrm>
            <a:off x="1996" y="1277"/>
            <a:ext cx="1431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43000" imgH="393700" progId="Equation.3">
                    <p:embed/>
                  </p:oleObj>
                </mc:Choice>
                <mc:Fallback>
                  <p:oleObj r:id="rId2" imgW="1143000" imgH="3937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6" y="1277"/>
                          <a:ext cx="1431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6" name="Text Box 6"/>
            <p:cNvSpPr txBox="1">
              <a:spLocks noChangeArrowheads="1"/>
            </p:cNvSpPr>
            <p:nvPr/>
          </p:nvSpPr>
          <p:spPr bwMode="auto">
            <a:xfrm>
              <a:off x="1056" y="1881"/>
              <a:ext cx="4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latin typeface="Times New Roman" panose="02020603050405020304" pitchFamily="18" charset="0"/>
                </a:rPr>
                <a:t>应用</a:t>
              </a:r>
              <a:r>
                <a:rPr lang="en-US" altLang="zh-CN" sz="2800">
                  <a:latin typeface="Times New Roman" panose="02020603050405020304" pitchFamily="18" charset="0"/>
                </a:rPr>
                <a:t>Nyquist</a:t>
              </a:r>
              <a:r>
                <a:rPr lang="zh-CN" altLang="en-US" sz="2800">
                  <a:latin typeface="Times New Roman" panose="02020603050405020304" pitchFamily="18" charset="0"/>
                </a:rPr>
                <a:t>判据判别闭环系统的稳定性。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331913" y="3644900"/>
            <a:ext cx="7315200" cy="831850"/>
            <a:chOff x="816" y="2304"/>
            <a:chExt cx="4608" cy="524"/>
          </a:xfrm>
        </p:grpSpPr>
        <p:sp>
          <p:nvSpPr>
            <p:cNvPr id="59402" name="Text Box 8"/>
            <p:cNvSpPr txBox="1">
              <a:spLocks noChangeArrowheads="1"/>
            </p:cNvSpPr>
            <p:nvPr/>
          </p:nvSpPr>
          <p:spPr bwMode="auto">
            <a:xfrm>
              <a:off x="816" y="2361"/>
              <a:ext cx="46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Times New Roman" panose="02020603050405020304" pitchFamily="18" charset="0"/>
                </a:rPr>
                <a:t>解</a:t>
              </a:r>
              <a:r>
                <a:rPr lang="zh-CN" altLang="en-US" sz="2800">
                  <a:latin typeface="Times New Roman" panose="02020603050405020304" pitchFamily="18" charset="0"/>
                </a:rPr>
                <a:t>：</a:t>
              </a:r>
            </a:p>
          </p:txBody>
        </p:sp>
        <p:graphicFrame>
          <p:nvGraphicFramePr>
            <p:cNvPr id="59403" name="Object 6"/>
            <p:cNvGraphicFramePr>
              <a:graphicFrameLocks noChangeAspect="1"/>
            </p:cNvGraphicFramePr>
            <p:nvPr/>
          </p:nvGraphicFramePr>
          <p:xfrm>
            <a:off x="1253" y="2304"/>
            <a:ext cx="2035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625600" imgH="419100" progId="Equation.3">
                    <p:embed/>
                  </p:oleObj>
                </mc:Choice>
                <mc:Fallback>
                  <p:oleObj r:id="rId4" imgW="1625600" imgH="419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3" y="2304"/>
                          <a:ext cx="2035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4480" name="Object 2"/>
          <p:cNvGraphicFramePr>
            <a:graphicFrameLocks noChangeAspect="1"/>
          </p:cNvGraphicFramePr>
          <p:nvPr/>
        </p:nvGraphicFramePr>
        <p:xfrm>
          <a:off x="2071688" y="4495800"/>
          <a:ext cx="23479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80588" imgH="444307" progId="Equation.3">
                  <p:embed/>
                </p:oleObj>
              </mc:Choice>
              <mc:Fallback>
                <p:oleObj r:id="rId6" imgW="1180588" imgH="44430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495800"/>
                        <a:ext cx="234791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1" name="Object 3"/>
          <p:cNvGraphicFramePr>
            <a:graphicFrameLocks noChangeAspect="1"/>
          </p:cNvGraphicFramePr>
          <p:nvPr/>
        </p:nvGraphicFramePr>
        <p:xfrm>
          <a:off x="4953000" y="4724400"/>
          <a:ext cx="32004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73200" imgH="203200" progId="Equation.3">
                  <p:embed/>
                </p:oleObj>
              </mc:Choice>
              <mc:Fallback>
                <p:oleObj r:id="rId8" imgW="14732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724400"/>
                        <a:ext cx="32004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2" name="Object 4"/>
          <p:cNvGraphicFramePr>
            <a:graphicFrameLocks noChangeAspect="1"/>
          </p:cNvGraphicFramePr>
          <p:nvPr/>
        </p:nvGraphicFramePr>
        <p:xfrm>
          <a:off x="2057400" y="5562600"/>
          <a:ext cx="31813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00200" imgH="203200" progId="Equation.3">
                  <p:embed/>
                </p:oleObj>
              </mc:Choice>
              <mc:Fallback>
                <p:oleObj r:id="rId10" imgW="16002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562600"/>
                        <a:ext cx="31813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3" name="Object 5"/>
          <p:cNvGraphicFramePr>
            <a:graphicFrameLocks noChangeAspect="1"/>
          </p:cNvGraphicFramePr>
          <p:nvPr/>
        </p:nvGraphicFramePr>
        <p:xfrm>
          <a:off x="2133600" y="6100763"/>
          <a:ext cx="33147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24000" imgH="203200" progId="Equation.3">
                  <p:embed/>
                </p:oleObj>
              </mc:Choice>
              <mc:Fallback>
                <p:oleObj r:id="rId12" imgW="15240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100763"/>
                        <a:ext cx="33147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4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4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4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4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39317C5-4105-4C2B-AED7-803D56E81A4D}" type="datetime1">
              <a:rPr lang="en-US" altLang="zh-CN" smtClean="0"/>
              <a:pPr/>
              <a:t>10/15/2025</a:t>
            </a:fld>
            <a:endParaRPr lang="en-US" altLang="zh-CN"/>
          </a:p>
        </p:txBody>
      </p:sp>
      <p:sp>
        <p:nvSpPr>
          <p:cNvPr id="604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593BA95-A113-44BA-ABCC-B13CAE2F7F2D}" type="slidenum">
              <a:rPr altLang="zh-CN" smtClean="0"/>
              <a:pPr/>
              <a:t>49</a:t>
            </a:fld>
            <a:endParaRPr lang="zh-CN" altLang="zh-CN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87900" y="2492375"/>
            <a:ext cx="3810000" cy="2362200"/>
            <a:chOff x="2208" y="2050"/>
            <a:chExt cx="2400" cy="1488"/>
          </a:xfrm>
        </p:grpSpPr>
        <p:sp>
          <p:nvSpPr>
            <p:cNvPr id="60427" name="Line 4"/>
            <p:cNvSpPr>
              <a:spLocks noChangeShapeType="1"/>
            </p:cNvSpPr>
            <p:nvPr/>
          </p:nvSpPr>
          <p:spPr bwMode="auto">
            <a:xfrm>
              <a:off x="2312" y="2710"/>
              <a:ext cx="2201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8" name="Line 5"/>
            <p:cNvSpPr>
              <a:spLocks noChangeShapeType="1"/>
            </p:cNvSpPr>
            <p:nvPr/>
          </p:nvSpPr>
          <p:spPr bwMode="auto">
            <a:xfrm>
              <a:off x="3701" y="2709"/>
              <a:ext cx="37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6"/>
            <p:cNvSpPr>
              <a:spLocks noChangeShapeType="1"/>
            </p:cNvSpPr>
            <p:nvPr/>
          </p:nvSpPr>
          <p:spPr bwMode="auto">
            <a:xfrm>
              <a:off x="3715" y="2681"/>
              <a:ext cx="0" cy="5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7"/>
            <p:cNvSpPr>
              <a:spLocks noChangeShapeType="1"/>
            </p:cNvSpPr>
            <p:nvPr/>
          </p:nvSpPr>
          <p:spPr bwMode="auto">
            <a:xfrm flipV="1">
              <a:off x="4013" y="2170"/>
              <a:ext cx="0" cy="136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Rectangle 8"/>
            <p:cNvSpPr>
              <a:spLocks noChangeArrowheads="1"/>
            </p:cNvSpPr>
            <p:nvPr/>
          </p:nvSpPr>
          <p:spPr bwMode="auto">
            <a:xfrm>
              <a:off x="4290" y="2690"/>
              <a:ext cx="3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Re</a:t>
              </a:r>
            </a:p>
          </p:txBody>
        </p:sp>
        <p:sp>
          <p:nvSpPr>
            <p:cNvPr id="60432" name="Rectangle 9"/>
            <p:cNvSpPr>
              <a:spLocks noChangeArrowheads="1"/>
            </p:cNvSpPr>
            <p:nvPr/>
          </p:nvSpPr>
          <p:spPr bwMode="auto">
            <a:xfrm>
              <a:off x="3713" y="205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</a:rPr>
                <a:t>Im</a:t>
              </a:r>
            </a:p>
          </p:txBody>
        </p:sp>
        <p:sp>
          <p:nvSpPr>
            <p:cNvPr id="60433" name="Text Box 10"/>
            <p:cNvSpPr txBox="1">
              <a:spLocks noChangeArrowheads="1"/>
            </p:cNvSpPr>
            <p:nvPr/>
          </p:nvSpPr>
          <p:spPr bwMode="auto">
            <a:xfrm>
              <a:off x="4000" y="267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0434" name="Rectangle 11"/>
            <p:cNvSpPr>
              <a:spLocks noChangeArrowheads="1"/>
            </p:cNvSpPr>
            <p:nvPr/>
          </p:nvSpPr>
          <p:spPr bwMode="auto">
            <a:xfrm>
              <a:off x="3984" y="2434"/>
              <a:ext cx="54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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435" name="Rectangle 12"/>
            <p:cNvSpPr>
              <a:spLocks noChangeArrowheads="1"/>
            </p:cNvSpPr>
            <p:nvPr/>
          </p:nvSpPr>
          <p:spPr bwMode="auto">
            <a:xfrm>
              <a:off x="2256" y="2434"/>
              <a:ext cx="5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r>
                <a:rPr lang="en-US" altLang="zh-CN" sz="2400">
                  <a:latin typeface="Times New Roman" panose="02020603050405020304" pitchFamily="18" charset="0"/>
                </a:rPr>
                <a:t> =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436" name="Freeform 13"/>
            <p:cNvSpPr>
              <a:spLocks noChangeArrowheads="1"/>
            </p:cNvSpPr>
            <p:nvPr/>
          </p:nvSpPr>
          <p:spPr bwMode="auto">
            <a:xfrm>
              <a:off x="2512" y="2702"/>
              <a:ext cx="1502" cy="802"/>
            </a:xfrm>
            <a:custGeom>
              <a:avLst/>
              <a:gdLst>
                <a:gd name="T0" fmla="*/ 0 w 2140"/>
                <a:gd name="T1" fmla="*/ 4 h 1070"/>
                <a:gd name="T2" fmla="*/ 0 w 2140"/>
                <a:gd name="T3" fmla="*/ 60 h 1070"/>
                <a:gd name="T4" fmla="*/ 4 w 2140"/>
                <a:gd name="T5" fmla="*/ 76 h 1070"/>
                <a:gd name="T6" fmla="*/ 4 w 2140"/>
                <a:gd name="T7" fmla="*/ 91 h 1070"/>
                <a:gd name="T8" fmla="*/ 7 w 2140"/>
                <a:gd name="T9" fmla="*/ 115 h 1070"/>
                <a:gd name="T10" fmla="*/ 14 w 2140"/>
                <a:gd name="T11" fmla="*/ 143 h 1070"/>
                <a:gd name="T12" fmla="*/ 20 w 2140"/>
                <a:gd name="T13" fmla="*/ 175 h 1070"/>
                <a:gd name="T14" fmla="*/ 34 w 2140"/>
                <a:gd name="T15" fmla="*/ 215 h 1070"/>
                <a:gd name="T16" fmla="*/ 52 w 2140"/>
                <a:gd name="T17" fmla="*/ 263 h 1070"/>
                <a:gd name="T18" fmla="*/ 77 w 2140"/>
                <a:gd name="T19" fmla="*/ 315 h 1070"/>
                <a:gd name="T20" fmla="*/ 115 w 2140"/>
                <a:gd name="T21" fmla="*/ 374 h 1070"/>
                <a:gd name="T22" fmla="*/ 168 w 2140"/>
                <a:gd name="T23" fmla="*/ 438 h 1070"/>
                <a:gd name="T24" fmla="*/ 234 w 2140"/>
                <a:gd name="T25" fmla="*/ 501 h 1070"/>
                <a:gd name="T26" fmla="*/ 321 w 2140"/>
                <a:gd name="T27" fmla="*/ 553 h 1070"/>
                <a:gd name="T28" fmla="*/ 425 w 2140"/>
                <a:gd name="T29" fmla="*/ 589 h 1070"/>
                <a:gd name="T30" fmla="*/ 534 w 2140"/>
                <a:gd name="T31" fmla="*/ 601 h 1070"/>
                <a:gd name="T32" fmla="*/ 646 w 2140"/>
                <a:gd name="T33" fmla="*/ 589 h 1070"/>
                <a:gd name="T34" fmla="*/ 747 w 2140"/>
                <a:gd name="T35" fmla="*/ 549 h 1070"/>
                <a:gd name="T36" fmla="*/ 830 w 2140"/>
                <a:gd name="T37" fmla="*/ 494 h 1070"/>
                <a:gd name="T38" fmla="*/ 897 w 2140"/>
                <a:gd name="T39" fmla="*/ 430 h 1070"/>
                <a:gd name="T40" fmla="*/ 946 w 2140"/>
                <a:gd name="T41" fmla="*/ 367 h 1070"/>
                <a:gd name="T42" fmla="*/ 981 w 2140"/>
                <a:gd name="T43" fmla="*/ 307 h 1070"/>
                <a:gd name="T44" fmla="*/ 1005 w 2140"/>
                <a:gd name="T45" fmla="*/ 255 h 1070"/>
                <a:gd name="T46" fmla="*/ 1023 w 2140"/>
                <a:gd name="T47" fmla="*/ 208 h 1070"/>
                <a:gd name="T48" fmla="*/ 1033 w 2140"/>
                <a:gd name="T49" fmla="*/ 172 h 1070"/>
                <a:gd name="T50" fmla="*/ 1040 w 2140"/>
                <a:gd name="T51" fmla="*/ 139 h 1070"/>
                <a:gd name="T52" fmla="*/ 1046 w 2140"/>
                <a:gd name="T53" fmla="*/ 112 h 1070"/>
                <a:gd name="T54" fmla="*/ 1051 w 2140"/>
                <a:gd name="T55" fmla="*/ 91 h 1070"/>
                <a:gd name="T56" fmla="*/ 1051 w 2140"/>
                <a:gd name="T57" fmla="*/ 72 h 1070"/>
                <a:gd name="T58" fmla="*/ 1054 w 2140"/>
                <a:gd name="T59" fmla="*/ 60 h 1070"/>
                <a:gd name="T60" fmla="*/ 1054 w 2140"/>
                <a:gd name="T61" fmla="*/ 0 h 107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140" h="1070">
                  <a:moveTo>
                    <a:pt x="0" y="7"/>
                  </a:moveTo>
                  <a:lnTo>
                    <a:pt x="0" y="107"/>
                  </a:lnTo>
                  <a:lnTo>
                    <a:pt x="7" y="135"/>
                  </a:lnTo>
                  <a:lnTo>
                    <a:pt x="7" y="163"/>
                  </a:lnTo>
                  <a:lnTo>
                    <a:pt x="14" y="206"/>
                  </a:lnTo>
                  <a:lnTo>
                    <a:pt x="28" y="255"/>
                  </a:lnTo>
                  <a:lnTo>
                    <a:pt x="42" y="312"/>
                  </a:lnTo>
                  <a:lnTo>
                    <a:pt x="70" y="383"/>
                  </a:lnTo>
                  <a:lnTo>
                    <a:pt x="106" y="468"/>
                  </a:lnTo>
                  <a:lnTo>
                    <a:pt x="156" y="560"/>
                  </a:lnTo>
                  <a:lnTo>
                    <a:pt x="233" y="666"/>
                  </a:lnTo>
                  <a:lnTo>
                    <a:pt x="340" y="780"/>
                  </a:lnTo>
                  <a:lnTo>
                    <a:pt x="474" y="893"/>
                  </a:lnTo>
                  <a:lnTo>
                    <a:pt x="652" y="985"/>
                  </a:lnTo>
                  <a:lnTo>
                    <a:pt x="864" y="1049"/>
                  </a:lnTo>
                  <a:lnTo>
                    <a:pt x="1084" y="1070"/>
                  </a:lnTo>
                  <a:lnTo>
                    <a:pt x="1311" y="1049"/>
                  </a:lnTo>
                  <a:lnTo>
                    <a:pt x="1516" y="978"/>
                  </a:lnTo>
                  <a:lnTo>
                    <a:pt x="1686" y="879"/>
                  </a:lnTo>
                  <a:lnTo>
                    <a:pt x="1821" y="766"/>
                  </a:lnTo>
                  <a:lnTo>
                    <a:pt x="1920" y="652"/>
                  </a:lnTo>
                  <a:lnTo>
                    <a:pt x="1991" y="546"/>
                  </a:lnTo>
                  <a:lnTo>
                    <a:pt x="2040" y="454"/>
                  </a:lnTo>
                  <a:lnTo>
                    <a:pt x="2076" y="369"/>
                  </a:lnTo>
                  <a:lnTo>
                    <a:pt x="2097" y="305"/>
                  </a:lnTo>
                  <a:lnTo>
                    <a:pt x="2111" y="248"/>
                  </a:lnTo>
                  <a:lnTo>
                    <a:pt x="2125" y="199"/>
                  </a:lnTo>
                  <a:lnTo>
                    <a:pt x="2133" y="163"/>
                  </a:lnTo>
                  <a:lnTo>
                    <a:pt x="2133" y="128"/>
                  </a:lnTo>
                  <a:lnTo>
                    <a:pt x="2140" y="107"/>
                  </a:lnTo>
                  <a:lnTo>
                    <a:pt x="2140" y="0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Text Box 14"/>
            <p:cNvSpPr txBox="1">
              <a:spLocks noChangeArrowheads="1"/>
            </p:cNvSpPr>
            <p:nvPr/>
          </p:nvSpPr>
          <p:spPr bwMode="auto">
            <a:xfrm>
              <a:off x="3563" y="2674"/>
              <a:ext cx="27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60438" name="Text Box 15"/>
            <p:cNvSpPr txBox="1">
              <a:spLocks noChangeArrowheads="1"/>
            </p:cNvSpPr>
            <p:nvPr/>
          </p:nvSpPr>
          <p:spPr bwMode="auto">
            <a:xfrm>
              <a:off x="2208" y="2674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  <a:r>
                <a:rPr lang="en-US" altLang="zh-CN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60439" name="Freeform 16"/>
            <p:cNvSpPr>
              <a:spLocks noChangeArrowheads="1"/>
            </p:cNvSpPr>
            <p:nvPr/>
          </p:nvSpPr>
          <p:spPr bwMode="auto">
            <a:xfrm>
              <a:off x="2491" y="2998"/>
              <a:ext cx="202" cy="324"/>
            </a:xfrm>
            <a:custGeom>
              <a:avLst/>
              <a:gdLst>
                <a:gd name="T0" fmla="*/ 0 w 288"/>
                <a:gd name="T1" fmla="*/ 0 h 432"/>
                <a:gd name="T2" fmla="*/ 71 w 288"/>
                <a:gd name="T3" fmla="*/ 162 h 432"/>
                <a:gd name="T4" fmla="*/ 142 w 288"/>
                <a:gd name="T5" fmla="*/ 243 h 4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8" h="432">
                  <a:moveTo>
                    <a:pt x="0" y="0"/>
                  </a:moveTo>
                  <a:cubicBezTo>
                    <a:pt x="48" y="108"/>
                    <a:pt x="96" y="216"/>
                    <a:pt x="144" y="288"/>
                  </a:cubicBezTo>
                  <a:cubicBezTo>
                    <a:pt x="192" y="360"/>
                    <a:pt x="240" y="396"/>
                    <a:pt x="288" y="432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0" name="Rectangle 17"/>
            <p:cNvSpPr>
              <a:spLocks noChangeArrowheads="1"/>
            </p:cNvSpPr>
            <p:nvPr/>
          </p:nvSpPr>
          <p:spPr bwMode="auto">
            <a:xfrm>
              <a:off x="2352" y="3058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0421" name="Object 2"/>
          <p:cNvGraphicFramePr>
            <a:graphicFrameLocks noChangeAspect="1"/>
          </p:cNvGraphicFramePr>
          <p:nvPr/>
        </p:nvGraphicFramePr>
        <p:xfrm>
          <a:off x="4140200" y="692150"/>
          <a:ext cx="217011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91726" imgH="393529" progId="Equation.3">
                  <p:embed/>
                </p:oleObj>
              </mc:Choice>
              <mc:Fallback>
                <p:oleObj r:id="rId2" imgW="1091726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692150"/>
                        <a:ext cx="2170113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3"/>
          <p:cNvGraphicFramePr>
            <a:graphicFrameLocks noChangeAspect="1"/>
          </p:cNvGraphicFramePr>
          <p:nvPr/>
        </p:nvGraphicFramePr>
        <p:xfrm>
          <a:off x="1331913" y="692150"/>
          <a:ext cx="2195512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04900" imgH="393700" progId="Equation.3">
                  <p:embed/>
                </p:oleObj>
              </mc:Choice>
              <mc:Fallback>
                <p:oleObj r:id="rId4" imgW="11049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692150"/>
                        <a:ext cx="2195512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6" name="Object 4"/>
          <p:cNvGraphicFramePr>
            <a:graphicFrameLocks noChangeAspect="1"/>
          </p:cNvGraphicFramePr>
          <p:nvPr/>
        </p:nvGraphicFramePr>
        <p:xfrm>
          <a:off x="1258888" y="2060575"/>
          <a:ext cx="44164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22500" imgH="241300" progId="Equation.3">
                  <p:embed/>
                </p:oleObj>
              </mc:Choice>
              <mc:Fallback>
                <p:oleObj r:id="rId6" imgW="22225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060575"/>
                        <a:ext cx="44164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89" name="Text Box 21"/>
          <p:cNvSpPr txBox="1">
            <a:spLocks noChangeArrowheads="1"/>
          </p:cNvSpPr>
          <p:nvPr/>
        </p:nvSpPr>
        <p:spPr bwMode="auto">
          <a:xfrm>
            <a:off x="611188" y="3213100"/>
            <a:ext cx="39020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en-US" altLang="zh-CN" sz="2800">
                <a:latin typeface="Times New Roman" panose="02020603050405020304" pitchFamily="18" charset="0"/>
              </a:rPr>
              <a:t>&gt;1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=-1/2=- </a:t>
            </a:r>
            <a:r>
              <a:rPr lang="en-US" altLang="zh-CN" sz="2800" i="1">
                <a:latin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</a:rPr>
              <a:t>/2</a:t>
            </a:r>
            <a:r>
              <a:rPr lang="zh-CN" altLang="en-US" sz="2800">
                <a:latin typeface="Times New Roman" panose="02020603050405020304" pitchFamily="18" charset="0"/>
              </a:rPr>
              <a:t>，系统闭环稳定。</a:t>
            </a:r>
          </a:p>
        </p:txBody>
      </p:sp>
      <p:sp>
        <p:nvSpPr>
          <p:cNvPr id="288790" name="Text Box 22"/>
          <p:cNvSpPr txBox="1">
            <a:spLocks noChangeArrowheads="1"/>
          </p:cNvSpPr>
          <p:nvPr/>
        </p:nvSpPr>
        <p:spPr bwMode="auto">
          <a:xfrm>
            <a:off x="611188" y="4508500"/>
            <a:ext cx="4681537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en-US" altLang="zh-CN" sz="2800">
                <a:latin typeface="Times New Roman" panose="02020603050405020304" pitchFamily="18" charset="0"/>
              </a:rPr>
              <a:t>&lt;1</a:t>
            </a:r>
            <a:r>
              <a:rPr lang="zh-CN" altLang="en-US" sz="2800">
                <a:latin typeface="Times New Roman" panose="02020603050405020304" pitchFamily="18" charset="0"/>
              </a:rPr>
              <a:t>时，</a:t>
            </a:r>
            <a:r>
              <a:rPr lang="en-US" altLang="zh-CN" sz="2800" i="1">
                <a:latin typeface="Times New Roman" panose="02020603050405020304" pitchFamily="18" charset="0"/>
              </a:rPr>
              <a:t>N</a:t>
            </a:r>
            <a:r>
              <a:rPr lang="en-US" altLang="zh-CN" sz="2800">
                <a:latin typeface="Times New Roman" panose="02020603050405020304" pitchFamily="18" charset="0"/>
              </a:rPr>
              <a:t>=0 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800">
                <a:latin typeface="Times New Roman" panose="02020603050405020304" pitchFamily="18" charset="0"/>
              </a:rPr>
              <a:t> -</a:t>
            </a:r>
            <a:r>
              <a:rPr lang="en-US" altLang="zh-CN" sz="2800" i="1">
                <a:latin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</a:rPr>
              <a:t>/2</a:t>
            </a:r>
            <a:r>
              <a:rPr lang="zh-CN" altLang="en-US" sz="2800">
                <a:latin typeface="Times New Roman" panose="02020603050405020304" pitchFamily="18" charset="0"/>
              </a:rPr>
              <a:t>，系统闭环不稳定。</a:t>
            </a:r>
          </a:p>
        </p:txBody>
      </p:sp>
      <p:sp>
        <p:nvSpPr>
          <p:cNvPr id="288791" name="Text Box 23"/>
          <p:cNvSpPr txBox="1">
            <a:spLocks noChangeArrowheads="1"/>
          </p:cNvSpPr>
          <p:nvPr/>
        </p:nvSpPr>
        <p:spPr bwMode="auto">
          <a:xfrm>
            <a:off x="539750" y="5589588"/>
            <a:ext cx="67056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当</a:t>
            </a:r>
            <a:r>
              <a:rPr lang="en-US" altLang="zh-CN" sz="2800" i="1">
                <a:latin typeface="Times New Roman" panose="02020603050405020304" pitchFamily="18" charset="0"/>
              </a:rPr>
              <a:t>K</a:t>
            </a:r>
            <a:r>
              <a:rPr lang="en-US" altLang="zh-CN" sz="2800">
                <a:latin typeface="Times New Roman" panose="02020603050405020304" pitchFamily="18" charset="0"/>
              </a:rPr>
              <a:t>=1</a:t>
            </a:r>
            <a:r>
              <a:rPr lang="zh-CN" altLang="en-US" sz="2800">
                <a:latin typeface="Times New Roman" panose="02020603050405020304" pitchFamily="18" charset="0"/>
              </a:rPr>
              <a:t>时，系统临界稳定。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8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89" grpId="0"/>
      <p:bldP spid="288790" grpId="0"/>
      <p:bldP spid="288791" grpId="0"/>
    </p:bld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280</TotalTime>
  <Words>2806</Words>
  <Application>Microsoft Office PowerPoint</Application>
  <PresentationFormat>全屏显示(4:3)</PresentationFormat>
  <Paragraphs>325</Paragraphs>
  <Slides>49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2" baseType="lpstr">
      <vt:lpstr>等线</vt:lpstr>
      <vt:lpstr>宋体</vt:lpstr>
      <vt:lpstr>Arial</vt:lpstr>
      <vt:lpstr>Calibri</vt:lpstr>
      <vt:lpstr>Cambria Math</vt:lpstr>
      <vt:lpstr>Helvetica</vt:lpstr>
      <vt:lpstr>Symbol</vt:lpstr>
      <vt:lpstr>Times New Roman</vt:lpstr>
      <vt:lpstr>Verdana</vt:lpstr>
      <vt:lpstr>Wingdings</vt:lpstr>
      <vt:lpstr>Profile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AIMIN FANG</cp:lastModifiedBy>
  <cp:revision>161</cp:revision>
  <dcterms:created xsi:type="dcterms:W3CDTF">2011-07-28T08:27:52Z</dcterms:created>
  <dcterms:modified xsi:type="dcterms:W3CDTF">2025-10-15T12:33:43Z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2052-11.8.6.9023</vt:lpwstr>
  </property>
</Properties>
</file>