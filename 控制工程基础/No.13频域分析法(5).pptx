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6"/>
  </p:notesMasterIdLst>
  <p:handoutMasterIdLst>
    <p:handoutMasterId r:id="rId47"/>
  </p:handoutMasterIdLst>
  <p:sldIdLst>
    <p:sldId id="482" r:id="rId2"/>
    <p:sldId id="657" r:id="rId3"/>
    <p:sldId id="628" r:id="rId4"/>
    <p:sldId id="629" r:id="rId5"/>
    <p:sldId id="630" r:id="rId6"/>
    <p:sldId id="631" r:id="rId7"/>
    <p:sldId id="632" r:id="rId8"/>
    <p:sldId id="633" r:id="rId9"/>
    <p:sldId id="634" r:id="rId10"/>
    <p:sldId id="635" r:id="rId11"/>
    <p:sldId id="636" r:id="rId12"/>
    <p:sldId id="637" r:id="rId13"/>
    <p:sldId id="638" r:id="rId14"/>
    <p:sldId id="651" r:id="rId15"/>
    <p:sldId id="652" r:id="rId16"/>
    <p:sldId id="653" r:id="rId17"/>
    <p:sldId id="654" r:id="rId18"/>
    <p:sldId id="655" r:id="rId19"/>
    <p:sldId id="656" r:id="rId20"/>
    <p:sldId id="639" r:id="rId21"/>
    <p:sldId id="640" r:id="rId22"/>
    <p:sldId id="641" r:id="rId23"/>
    <p:sldId id="642" r:id="rId24"/>
    <p:sldId id="643" r:id="rId25"/>
    <p:sldId id="644" r:id="rId26"/>
    <p:sldId id="645" r:id="rId27"/>
    <p:sldId id="646" r:id="rId28"/>
    <p:sldId id="647" r:id="rId29"/>
    <p:sldId id="648" r:id="rId30"/>
    <p:sldId id="649" r:id="rId31"/>
    <p:sldId id="650" r:id="rId32"/>
    <p:sldId id="564" r:id="rId33"/>
    <p:sldId id="565" r:id="rId34"/>
    <p:sldId id="566" r:id="rId35"/>
    <p:sldId id="567" r:id="rId36"/>
    <p:sldId id="568" r:id="rId37"/>
    <p:sldId id="569" r:id="rId38"/>
    <p:sldId id="570" r:id="rId39"/>
    <p:sldId id="571" r:id="rId40"/>
    <p:sldId id="572" r:id="rId41"/>
    <p:sldId id="573" r:id="rId42"/>
    <p:sldId id="658" r:id="rId43"/>
    <p:sldId id="659" r:id="rId44"/>
    <p:sldId id="660" r:id="rId4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3866" autoAdjust="0"/>
  </p:normalViewPr>
  <p:slideViewPr>
    <p:cSldViewPr>
      <p:cViewPr varScale="1">
        <p:scale>
          <a:sx n="73" d="100"/>
          <a:sy n="73" d="100"/>
        </p:scale>
        <p:origin x="1296" y="78"/>
      </p:cViewPr>
      <p:guideLst>
        <p:guide orient="horz" pos="2162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4.wmf"/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3.wmf"/><Relationship Id="rId7" Type="http://schemas.openxmlformats.org/officeDocument/2006/relationships/image" Target="../media/image43.wmf"/><Relationship Id="rId12" Type="http://schemas.openxmlformats.org/officeDocument/2006/relationships/image" Target="../media/image59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42.wmf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image" Target="../media/image4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FF22952-D3E1-4CBD-8F13-5825BAA31F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7D5E55B-3F64-43C0-87D3-1C858405C3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EB2C545-F356-4969-A92E-E1341DBF0C5D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5BFBDDC-FA41-4FDA-997F-732C18F0ACA9}" type="slidenum">
              <a:rPr kumimoji="1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kumimoji="1"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BCD9159-1F75-4789-AA37-3001F0DF7739}" type="slidenum">
              <a:rPr kumimoji="1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kumimoji="1"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7A8A679-BAC6-4AE4-ACB7-C5A8E2941361}" type="slidenum">
              <a:rPr kumimoji="1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kumimoji="1"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441611-BDF7-42EB-825A-B1DB282D2B60}" type="slidenum">
              <a:rPr kumimoji="1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kumimoji="1"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1474673-0524-42BB-9B20-909676542907}" type="slidenum">
              <a:rPr kumimoji="1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18</a:t>
            </a:fld>
            <a:endParaRPr kumimoji="1"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270A8ED-4735-4345-BEE0-6575A9DF228F}" type="slidenum">
              <a:rPr kumimoji="1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kumimoji="1"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6BCE32A-5548-4036-958A-16D3A7883E23}" type="slidenum">
              <a:rPr lang="en-US" altLang="zh-CN" smtClean="0">
                <a:latin typeface="Arial" panose="020B0604020202020204" pitchFamily="34" charset="0"/>
              </a:rPr>
              <a:pPr/>
              <a:t>24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6C0A9A8-8C98-43BE-840E-162EF2C7C282}" type="slidenum">
              <a:rPr lang="en-US" altLang="zh-CN" smtClean="0">
                <a:latin typeface="Arial" panose="020B0604020202020204" pitchFamily="34" charset="0"/>
              </a:rPr>
              <a:pPr/>
              <a:t>27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170C346-BFD2-453F-B6C9-FE91F797EEB2}" type="slidenum">
              <a:rPr lang="en-US" altLang="zh-CN" smtClean="0">
                <a:latin typeface="Arial" panose="020B0604020202020204" pitchFamily="34" charset="0"/>
              </a:rPr>
              <a:pPr/>
              <a:t>28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B65697-E122-4EA5-93F3-533B323C4C5C}" type="slidenum">
              <a:rPr lang="en-US" altLang="zh-CN" smtClean="0">
                <a:latin typeface="Arial" panose="020B0604020202020204" pitchFamily="34" charset="0"/>
              </a:rPr>
              <a:pPr/>
              <a:t>29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6FE5BBB-C45D-40D7-B30E-30C199F68E10}" type="slidenum">
              <a:rPr lang="en-US" altLang="zh-CN" smtClean="0">
                <a:latin typeface="Arial" panose="020B0604020202020204" pitchFamily="34" charset="0"/>
              </a:rPr>
              <a:pPr/>
              <a:t>30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4E5D121-126B-495D-B180-0F2B5E281A74}" type="slidenum">
              <a:rPr lang="en-US" altLang="zh-CN" smtClean="0">
                <a:latin typeface="Arial" panose="020B0604020202020204" pitchFamily="34" charset="0"/>
              </a:rPr>
              <a:pPr/>
              <a:t>31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485E0E1-DECF-4333-AC3A-19D26EFE7242}" type="slidenum">
              <a:rPr lang="en-US" altLang="zh-CN" smtClean="0">
                <a:latin typeface="Arial" panose="020B0604020202020204" pitchFamily="34" charset="0"/>
              </a:rPr>
              <a:pPr/>
              <a:t>32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FDEDA9-5DB9-4FB7-BB7B-C06BC4A49163}" type="slidenum">
              <a:rPr lang="en-US" altLang="zh-CN" smtClean="0">
                <a:latin typeface="Arial" panose="020B0604020202020204" pitchFamily="34" charset="0"/>
              </a:rPr>
              <a:pPr/>
              <a:t>33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FB0C45-FD5C-41A8-B1F3-BF2100C2FC75}" type="slidenum">
              <a:rPr lang="en-US" altLang="zh-CN" smtClean="0">
                <a:latin typeface="Arial" panose="020B0604020202020204" pitchFamily="34" charset="0"/>
              </a:rPr>
              <a:pPr/>
              <a:t>34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BA6453D-F835-4A1A-8E5A-2FAA3296E43B}" type="slidenum">
              <a:rPr lang="en-US" altLang="zh-CN" smtClean="0">
                <a:latin typeface="Arial" panose="020B0604020202020204" pitchFamily="34" charset="0"/>
              </a:rPr>
              <a:pPr/>
              <a:t>35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8DA284D-C994-4D33-BCF8-75D1C3A5C3F7}" type="slidenum">
              <a:rPr lang="en-US" altLang="zh-CN" smtClean="0">
                <a:latin typeface="Arial" panose="020B0604020202020204" pitchFamily="34" charset="0"/>
              </a:rPr>
              <a:pPr/>
              <a:t>36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6B9077-15DD-43A2-8BEA-87A1FCA5B8B8}" type="slidenum">
              <a:rPr lang="en-US" altLang="zh-CN" smtClean="0">
                <a:latin typeface="Arial" panose="020B0604020202020204" pitchFamily="34" charset="0"/>
              </a:rPr>
              <a:pPr/>
              <a:t>37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8913ACE-3EC0-426E-8840-C98C05C84A13}" type="slidenum">
              <a:rPr lang="en-US" altLang="zh-CN" smtClean="0">
                <a:latin typeface="Arial" panose="020B0604020202020204" pitchFamily="34" charset="0"/>
              </a:rPr>
              <a:pPr/>
              <a:t>38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69C673-5D11-4311-87E1-3AE0888D1666}" type="slidenum">
              <a:rPr lang="en-US" altLang="zh-CN" smtClean="0">
                <a:latin typeface="Arial" panose="020B0604020202020204" pitchFamily="34" charset="0"/>
              </a:rPr>
              <a:pPr/>
              <a:t>39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3DB14DA-FB2D-4E3F-82A4-9CB04A380A7C}" type="slidenum">
              <a:rPr lang="en-US" altLang="zh-CN" smtClean="0">
                <a:latin typeface="Arial" panose="020B0604020202020204" pitchFamily="34" charset="0"/>
              </a:rPr>
              <a:pPr/>
              <a:t>40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D99E32-71EC-4D43-9006-D322363B7145}" type="slidenum">
              <a:rPr lang="en-US" altLang="zh-CN" smtClean="0">
                <a:latin typeface="Arial" panose="020B0604020202020204" pitchFamily="34" charset="0"/>
              </a:rPr>
              <a:pPr/>
              <a:t>41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0B7737-18CF-48CC-AFDB-9F51C04D416D}" type="slidenum">
              <a:rPr lang="en-US" altLang="zh-CN" smtClean="0">
                <a:latin typeface="Arial" panose="020B0604020202020204" pitchFamily="34" charset="0"/>
              </a:rPr>
              <a:pPr/>
              <a:t>42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1998573 h 1000"/>
              <a:gd name="T6" fmla="*/ 0 w 1000"/>
              <a:gd name="T7" fmla="*/ 11998573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1529F-128B-4274-8591-533603123D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932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FA43E5-2CBD-4C83-90EE-AE613BE28B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642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37233-34E0-45A2-B2B1-F4B5A5A9E3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553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C09AC-B91C-43E9-A03B-4B31E26776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817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7EFE4-F4B2-4C32-B59A-B96016E3F7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8805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56CBE-3CA8-4AAD-BE26-72A51085DD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8437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32158-5E9C-4046-A57D-3CB36D2D21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340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11BD57-93CB-4B13-947B-F8C676C899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006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7B1DD4-530F-4A47-948C-BFC5F7121E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893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08D9F-6CBF-4BEB-ABD3-A420DBC647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217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B37FE-A4C2-44BC-A63B-F4D03AC777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630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1998354 h 1000"/>
              <a:gd name="T6" fmla="*/ 0 w 1000"/>
              <a:gd name="T7" fmla="*/ 11998354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6D635BB-81B6-43BB-917D-63FDD4ACE2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9.wmf"/><Relationship Id="rId5" Type="http://schemas.openxmlformats.org/officeDocument/2006/relationships/image" Target="../media/image15.wmf"/><Relationship Id="rId10" Type="http://schemas.openxmlformats.org/officeDocument/2006/relationships/image" Target="../media/image18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wmf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7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5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42.wmf"/><Relationship Id="rId18" Type="http://schemas.openxmlformats.org/officeDocument/2006/relationships/oleObject" Target="../embeddings/oleObject37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46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5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3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51.bin"/><Relationship Id="rId26" Type="http://schemas.openxmlformats.org/officeDocument/2006/relationships/image" Target="../media/image58.wmf"/><Relationship Id="rId3" Type="http://schemas.openxmlformats.org/officeDocument/2006/relationships/notesSlide" Target="../notesSlides/notesSlide18.xml"/><Relationship Id="rId21" Type="http://schemas.openxmlformats.org/officeDocument/2006/relationships/image" Target="../media/image46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3.wmf"/><Relationship Id="rId25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4.wmf"/><Relationship Id="rId24" Type="http://schemas.openxmlformats.org/officeDocument/2006/relationships/image" Target="../media/image57.wmf"/><Relationship Id="rId5" Type="http://schemas.openxmlformats.org/officeDocument/2006/relationships/image" Target="../media/image51.wmf"/><Relationship Id="rId15" Type="http://schemas.openxmlformats.org/officeDocument/2006/relationships/image" Target="../media/image42.wmf"/><Relationship Id="rId23" Type="http://schemas.openxmlformats.org/officeDocument/2006/relationships/oleObject" Target="../embeddings/oleObject54.bin"/><Relationship Id="rId28" Type="http://schemas.openxmlformats.org/officeDocument/2006/relationships/image" Target="../media/image59.wmf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oleObject" Target="../embeddings/oleObject5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30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notesSlide" Target="../notesSlides/notesSlide20.xml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61.bin"/><Relationship Id="rId5" Type="http://schemas.openxmlformats.org/officeDocument/2006/relationships/image" Target="../media/image61.wmf"/><Relationship Id="rId10" Type="http://schemas.openxmlformats.org/officeDocument/2006/relationships/image" Target="../media/image63.wmf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30.wmf"/><Relationship Id="rId4" Type="http://schemas.openxmlformats.org/officeDocument/2006/relationships/image" Target="../media/image31.wmf"/><Relationship Id="rId9" Type="http://schemas.openxmlformats.org/officeDocument/2006/relationships/image" Target="../media/image6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6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9" Type="http://schemas.openxmlformats.org/officeDocument/2006/relationships/image" Target="../media/image69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72.wmf"/><Relationship Id="rId4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21240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频率特性</a:t>
            </a:r>
          </a:p>
        </p:txBody>
      </p:sp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1403350" y="2522538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1403350" y="31321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5125" name="Rectangle 8"/>
          <p:cNvSpPr>
            <a:spLocks noChangeArrowheads="1"/>
          </p:cNvSpPr>
          <p:nvPr/>
        </p:nvSpPr>
        <p:spPr bwMode="auto">
          <a:xfrm>
            <a:off x="1403350" y="3643313"/>
            <a:ext cx="55451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5126" name="Rectangle 9"/>
          <p:cNvSpPr>
            <a:spLocks noChangeArrowheads="1"/>
          </p:cNvSpPr>
          <p:nvPr/>
        </p:nvSpPr>
        <p:spPr bwMode="auto">
          <a:xfrm>
            <a:off x="1403350" y="4291013"/>
            <a:ext cx="6553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1403350" y="1916113"/>
            <a:ext cx="4648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5128" name="Rectangle 9"/>
          <p:cNvSpPr>
            <a:spLocks noChangeArrowheads="1"/>
          </p:cNvSpPr>
          <p:nvPr/>
        </p:nvSpPr>
        <p:spPr bwMode="auto">
          <a:xfrm>
            <a:off x="1403350" y="4899025"/>
            <a:ext cx="6553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1403350" y="5451475"/>
            <a:ext cx="691356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68325" y="3068638"/>
            <a:ext cx="8208963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闭环系统稳定的充要条件为：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当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从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变化到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+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时，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系统开环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曲线逆时针包围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(-1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0)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点的圈数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等于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，其中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为位于右半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平面的开环特征根个数。此即为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稳定判据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531813" y="2133600"/>
            <a:ext cx="54943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奈奎斯特（</a:t>
            </a:r>
            <a:r>
              <a:rPr lang="en-US" altLang="zh-CN" sz="2800"/>
              <a:t>Nyquist</a:t>
            </a:r>
            <a:r>
              <a:rPr lang="zh-CN" altLang="en-US" sz="2800"/>
              <a:t>）稳定性判据</a:t>
            </a:r>
            <a:endParaRPr lang="en-US" altLang="zh-CN" sz="2800"/>
          </a:p>
        </p:txBody>
      </p:sp>
      <p:sp>
        <p:nvSpPr>
          <p:cNvPr id="7172" name="文本框 3"/>
          <p:cNvSpPr txBox="1">
            <a:spLocks noChangeArrowheads="1"/>
          </p:cNvSpPr>
          <p:nvPr/>
        </p:nvSpPr>
        <p:spPr bwMode="auto">
          <a:xfrm>
            <a:off x="539750" y="833438"/>
            <a:ext cx="22367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/>
              <a:t>上节要点：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D66CFC2-BBEE-41BA-A016-45E291ED36B6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81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15F389-C33C-4FA4-A06B-B6B81543BDF6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839788" y="900113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</a:rPr>
              <a:t>开环传递函数含有零根（积分环节）时的处理</a:t>
            </a:r>
          </a:p>
        </p:txBody>
      </p:sp>
      <p:sp>
        <p:nvSpPr>
          <p:cNvPr id="289796" name="Text Box 4"/>
          <p:cNvSpPr txBox="1">
            <a:spLocks noChangeArrowheads="1"/>
          </p:cNvSpPr>
          <p:nvPr/>
        </p:nvSpPr>
        <p:spPr bwMode="auto">
          <a:xfrm>
            <a:off x="1116013" y="2276475"/>
            <a:ext cx="7010400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  开环含有积分环节（原点处存在极点）或者在虚轴上存在极点时，此时，奈奎斯特</a:t>
            </a:r>
            <a:r>
              <a:rPr lang="en-US" altLang="zh-CN" sz="2800">
                <a:latin typeface="Times New Roman" panose="02020603050405020304" pitchFamily="18" charset="0"/>
              </a:rPr>
              <a:t>Contour</a:t>
            </a:r>
            <a:r>
              <a:rPr lang="zh-CN" altLang="en-US" sz="2800">
                <a:latin typeface="Times New Roman" panose="02020603050405020304" pitchFamily="18" charset="0"/>
              </a:rPr>
              <a:t>会经过这些奇点。为避免出现这种情况，需要对奈奎斯特封闭曲线进行一些处理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1A082A7-9E01-491B-8C16-6F5CEBAD19D6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92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B733708-3282-4E5F-B5B0-FAF73FDAB6E1}" type="slidenum">
              <a:rPr lang="en-US" altLang="zh-CN" smtClean="0"/>
              <a:pPr/>
              <a:t>4</a:t>
            </a:fld>
            <a:endParaRPr lang="en-US" altLang="zh-CN" smtClean="0"/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116013" y="981075"/>
            <a:ext cx="701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处理方法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90700" y="3114675"/>
            <a:ext cx="2895600" cy="3124200"/>
            <a:chOff x="1008" y="1920"/>
            <a:chExt cx="1824" cy="1968"/>
          </a:xfrm>
        </p:grpSpPr>
        <p:sp>
          <p:nvSpPr>
            <p:cNvPr id="9241" name="Line 5"/>
            <p:cNvSpPr>
              <a:spLocks noChangeShapeType="1"/>
            </p:cNvSpPr>
            <p:nvPr/>
          </p:nvSpPr>
          <p:spPr bwMode="auto">
            <a:xfrm>
              <a:off x="1008" y="3024"/>
              <a:ext cx="172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Arc 6"/>
            <p:cNvSpPr>
              <a:spLocks noChangeArrowheads="1"/>
            </p:cNvSpPr>
            <p:nvPr/>
          </p:nvSpPr>
          <p:spPr bwMode="auto">
            <a:xfrm>
              <a:off x="1721" y="2689"/>
              <a:ext cx="391" cy="671"/>
            </a:xfrm>
            <a:custGeom>
              <a:avLst/>
              <a:gdLst>
                <a:gd name="T0" fmla="*/ 0 w 22417"/>
                <a:gd name="T1" fmla="*/ 0 h 43200"/>
                <a:gd name="T2" fmla="*/ 7 w 22417"/>
                <a:gd name="T3" fmla="*/ 5 h 43200"/>
                <a:gd name="T4" fmla="*/ 0 w 22417"/>
                <a:gd name="T5" fmla="*/ 10 h 43200"/>
                <a:gd name="T6" fmla="*/ 0 w 22417"/>
                <a:gd name="T7" fmla="*/ 10 h 43200"/>
                <a:gd name="T8" fmla="*/ 0 w 22417"/>
                <a:gd name="T9" fmla="*/ 0 h 43200"/>
                <a:gd name="T10" fmla="*/ 7 w 22417"/>
                <a:gd name="T11" fmla="*/ 5 h 43200"/>
                <a:gd name="T12" fmla="*/ 0 w 22417"/>
                <a:gd name="T13" fmla="*/ 10 h 43200"/>
                <a:gd name="T14" fmla="*/ 0 w 22417"/>
                <a:gd name="T15" fmla="*/ 10 h 43200"/>
                <a:gd name="T16" fmla="*/ 0 w 22417"/>
                <a:gd name="T17" fmla="*/ 5 h 43200"/>
                <a:gd name="T18" fmla="*/ 0 w 22417"/>
                <a:gd name="T19" fmla="*/ 0 h 432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417" h="43200" fill="none">
                  <a:moveTo>
                    <a:pt x="816" y="0"/>
                  </a:moveTo>
                  <a:cubicBezTo>
                    <a:pt x="12746" y="0"/>
                    <a:pt x="22417" y="9670"/>
                    <a:pt x="22417" y="21600"/>
                  </a:cubicBezTo>
                  <a:cubicBezTo>
                    <a:pt x="22417" y="33529"/>
                    <a:pt x="12746" y="43200"/>
                    <a:pt x="817" y="43200"/>
                  </a:cubicBezTo>
                  <a:cubicBezTo>
                    <a:pt x="544" y="43200"/>
                    <a:pt x="272" y="43194"/>
                    <a:pt x="0" y="43184"/>
                  </a:cubicBezTo>
                </a:path>
                <a:path w="22417" h="43200" stroke="0">
                  <a:moveTo>
                    <a:pt x="816" y="0"/>
                  </a:moveTo>
                  <a:cubicBezTo>
                    <a:pt x="12746" y="0"/>
                    <a:pt x="22417" y="9670"/>
                    <a:pt x="22417" y="21600"/>
                  </a:cubicBezTo>
                  <a:cubicBezTo>
                    <a:pt x="22417" y="33529"/>
                    <a:pt x="12746" y="43200"/>
                    <a:pt x="817" y="43200"/>
                  </a:cubicBezTo>
                  <a:cubicBezTo>
                    <a:pt x="544" y="43200"/>
                    <a:pt x="272" y="43194"/>
                    <a:pt x="0" y="43184"/>
                  </a:cubicBezTo>
                  <a:lnTo>
                    <a:pt x="817" y="21600"/>
                  </a:lnTo>
                  <a:lnTo>
                    <a:pt x="816" y="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7"/>
            <p:cNvSpPr>
              <a:spLocks noChangeShapeType="1"/>
            </p:cNvSpPr>
            <p:nvPr/>
          </p:nvSpPr>
          <p:spPr bwMode="auto">
            <a:xfrm>
              <a:off x="1728" y="3312"/>
              <a:ext cx="0" cy="57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8"/>
            <p:cNvSpPr>
              <a:spLocks noChangeShapeType="1"/>
            </p:cNvSpPr>
            <p:nvPr/>
          </p:nvSpPr>
          <p:spPr bwMode="auto">
            <a:xfrm flipV="1">
              <a:off x="1728" y="2016"/>
              <a:ext cx="0" cy="6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9"/>
            <p:cNvSpPr>
              <a:spLocks noChangeShapeType="1"/>
            </p:cNvSpPr>
            <p:nvPr/>
          </p:nvSpPr>
          <p:spPr bwMode="auto">
            <a:xfrm>
              <a:off x="1728" y="2688"/>
              <a:ext cx="0" cy="6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Line 10"/>
            <p:cNvSpPr>
              <a:spLocks noChangeShapeType="1"/>
            </p:cNvSpPr>
            <p:nvPr/>
          </p:nvSpPr>
          <p:spPr bwMode="auto">
            <a:xfrm>
              <a:off x="1728" y="3024"/>
              <a:ext cx="288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Text Box 11"/>
            <p:cNvSpPr txBox="1">
              <a:spLocks noChangeArrowheads="1"/>
            </p:cNvSpPr>
            <p:nvPr/>
          </p:nvSpPr>
          <p:spPr bwMode="auto">
            <a:xfrm>
              <a:off x="1698" y="3054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9248" name="Text Box 12"/>
            <p:cNvSpPr txBox="1">
              <a:spLocks noChangeArrowheads="1"/>
            </p:cNvSpPr>
            <p:nvPr/>
          </p:nvSpPr>
          <p:spPr bwMode="auto">
            <a:xfrm>
              <a:off x="1724" y="3312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aseline="400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9249" name="Text Box 13"/>
            <p:cNvSpPr txBox="1">
              <a:spLocks noChangeArrowheads="1"/>
            </p:cNvSpPr>
            <p:nvPr/>
          </p:nvSpPr>
          <p:spPr bwMode="auto">
            <a:xfrm>
              <a:off x="1728" y="2448"/>
              <a:ext cx="2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9250" name="Text Box 14"/>
            <p:cNvSpPr txBox="1">
              <a:spLocks noChangeArrowheads="1"/>
            </p:cNvSpPr>
            <p:nvPr/>
          </p:nvSpPr>
          <p:spPr bwMode="auto">
            <a:xfrm>
              <a:off x="2092" y="297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251" name="Text Box 15"/>
            <p:cNvSpPr txBox="1">
              <a:spLocks noChangeArrowheads="1"/>
            </p:cNvSpPr>
            <p:nvPr/>
          </p:nvSpPr>
          <p:spPr bwMode="auto">
            <a:xfrm>
              <a:off x="2514" y="3024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9252" name="Text Box 16"/>
            <p:cNvSpPr txBox="1">
              <a:spLocks noChangeArrowheads="1"/>
            </p:cNvSpPr>
            <p:nvPr/>
          </p:nvSpPr>
          <p:spPr bwMode="auto">
            <a:xfrm>
              <a:off x="1392" y="192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</p:grpSp>
      <p:sp>
        <p:nvSpPr>
          <p:cNvPr id="290833" name="Text Box 17"/>
          <p:cNvSpPr txBox="1">
            <a:spLocks noChangeArrowheads="1"/>
          </p:cNvSpPr>
          <p:nvPr/>
        </p:nvSpPr>
        <p:spPr bwMode="auto">
          <a:xfrm>
            <a:off x="1524000" y="1811338"/>
            <a:ext cx="701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用半径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的半圆在虚轴上极点的右侧绕过这些极点，即将这些极点划到左半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平面。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230813" y="3113088"/>
            <a:ext cx="2895600" cy="3124200"/>
            <a:chOff x="3312" y="2064"/>
            <a:chExt cx="1824" cy="1968"/>
          </a:xfrm>
        </p:grpSpPr>
        <p:grpSp>
          <p:nvGrpSpPr>
            <p:cNvPr id="9224" name="Group 19"/>
            <p:cNvGrpSpPr>
              <a:grpSpLocks/>
            </p:cNvGrpSpPr>
            <p:nvPr/>
          </p:nvGrpSpPr>
          <p:grpSpPr bwMode="auto">
            <a:xfrm>
              <a:off x="3312" y="2064"/>
              <a:ext cx="1824" cy="1968"/>
              <a:chOff x="3312" y="2112"/>
              <a:chExt cx="1824" cy="1968"/>
            </a:xfrm>
          </p:grpSpPr>
          <p:sp>
            <p:nvSpPr>
              <p:cNvPr id="9226" name="Line 20"/>
              <p:cNvSpPr>
                <a:spLocks noChangeShapeType="1"/>
              </p:cNvSpPr>
              <p:nvPr/>
            </p:nvSpPr>
            <p:spPr bwMode="auto">
              <a:xfrm>
                <a:off x="3312" y="3456"/>
                <a:ext cx="172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7" name="Arc 21"/>
              <p:cNvSpPr>
                <a:spLocks noChangeArrowheads="1"/>
              </p:cNvSpPr>
              <p:nvPr/>
            </p:nvSpPr>
            <p:spPr bwMode="auto">
              <a:xfrm>
                <a:off x="4025" y="2544"/>
                <a:ext cx="391" cy="671"/>
              </a:xfrm>
              <a:custGeom>
                <a:avLst/>
                <a:gdLst>
                  <a:gd name="T0" fmla="*/ 0 w 22417"/>
                  <a:gd name="T1" fmla="*/ 0 h 43200"/>
                  <a:gd name="T2" fmla="*/ 7 w 22417"/>
                  <a:gd name="T3" fmla="*/ 5 h 43200"/>
                  <a:gd name="T4" fmla="*/ 0 w 22417"/>
                  <a:gd name="T5" fmla="*/ 10 h 43200"/>
                  <a:gd name="T6" fmla="*/ 0 w 22417"/>
                  <a:gd name="T7" fmla="*/ 10 h 43200"/>
                  <a:gd name="T8" fmla="*/ 0 w 22417"/>
                  <a:gd name="T9" fmla="*/ 0 h 43200"/>
                  <a:gd name="T10" fmla="*/ 7 w 22417"/>
                  <a:gd name="T11" fmla="*/ 5 h 43200"/>
                  <a:gd name="T12" fmla="*/ 0 w 22417"/>
                  <a:gd name="T13" fmla="*/ 10 h 43200"/>
                  <a:gd name="T14" fmla="*/ 0 w 22417"/>
                  <a:gd name="T15" fmla="*/ 10 h 43200"/>
                  <a:gd name="T16" fmla="*/ 0 w 22417"/>
                  <a:gd name="T17" fmla="*/ 5 h 43200"/>
                  <a:gd name="T18" fmla="*/ 0 w 22417"/>
                  <a:gd name="T19" fmla="*/ 0 h 432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2417" h="43200" fill="none">
                    <a:moveTo>
                      <a:pt x="816" y="0"/>
                    </a:moveTo>
                    <a:cubicBezTo>
                      <a:pt x="12746" y="0"/>
                      <a:pt x="22417" y="9670"/>
                      <a:pt x="22417" y="21600"/>
                    </a:cubicBezTo>
                    <a:cubicBezTo>
                      <a:pt x="22417" y="33529"/>
                      <a:pt x="12746" y="43200"/>
                      <a:pt x="817" y="43200"/>
                    </a:cubicBezTo>
                    <a:cubicBezTo>
                      <a:pt x="544" y="43200"/>
                      <a:pt x="272" y="43194"/>
                      <a:pt x="0" y="43184"/>
                    </a:cubicBezTo>
                  </a:path>
                  <a:path w="22417" h="43200" stroke="0">
                    <a:moveTo>
                      <a:pt x="816" y="0"/>
                    </a:moveTo>
                    <a:cubicBezTo>
                      <a:pt x="12746" y="0"/>
                      <a:pt x="22417" y="9670"/>
                      <a:pt x="22417" y="21600"/>
                    </a:cubicBezTo>
                    <a:cubicBezTo>
                      <a:pt x="22417" y="33529"/>
                      <a:pt x="12746" y="43200"/>
                      <a:pt x="817" y="43200"/>
                    </a:cubicBezTo>
                    <a:cubicBezTo>
                      <a:pt x="544" y="43200"/>
                      <a:pt x="272" y="43194"/>
                      <a:pt x="0" y="43184"/>
                    </a:cubicBezTo>
                    <a:lnTo>
                      <a:pt x="817" y="21600"/>
                    </a:lnTo>
                    <a:lnTo>
                      <a:pt x="816" y="0"/>
                    </a:lnTo>
                    <a:close/>
                  </a:path>
                </a:pathLst>
              </a:cu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8" name="Line 22"/>
              <p:cNvSpPr>
                <a:spLocks noChangeShapeType="1"/>
              </p:cNvSpPr>
              <p:nvPr/>
            </p:nvSpPr>
            <p:spPr bwMode="auto">
              <a:xfrm>
                <a:off x="4032" y="3216"/>
                <a:ext cx="0" cy="86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9" name="Line 23"/>
              <p:cNvSpPr>
                <a:spLocks noChangeShapeType="1"/>
              </p:cNvSpPr>
              <p:nvPr/>
            </p:nvSpPr>
            <p:spPr bwMode="auto">
              <a:xfrm flipV="1">
                <a:off x="4032" y="2208"/>
                <a:ext cx="0" cy="33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0" name="Line 24"/>
              <p:cNvSpPr>
                <a:spLocks noChangeShapeType="1"/>
              </p:cNvSpPr>
              <p:nvPr/>
            </p:nvSpPr>
            <p:spPr bwMode="auto">
              <a:xfrm>
                <a:off x="4032" y="2544"/>
                <a:ext cx="0" cy="672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1" name="Line 25"/>
              <p:cNvSpPr>
                <a:spLocks noChangeShapeType="1"/>
              </p:cNvSpPr>
              <p:nvPr/>
            </p:nvSpPr>
            <p:spPr bwMode="auto">
              <a:xfrm>
                <a:off x="4032" y="2880"/>
                <a:ext cx="288" cy="24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2" name="Text Box 26"/>
              <p:cNvSpPr txBox="1">
                <a:spLocks noChangeArrowheads="1"/>
              </p:cNvSpPr>
              <p:nvPr/>
            </p:nvSpPr>
            <p:spPr bwMode="auto">
              <a:xfrm>
                <a:off x="4002" y="2901"/>
                <a:ext cx="2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33" name="Text Box 27"/>
              <p:cNvSpPr txBox="1">
                <a:spLocks noChangeArrowheads="1"/>
              </p:cNvSpPr>
              <p:nvPr/>
            </p:nvSpPr>
            <p:spPr bwMode="auto">
              <a:xfrm>
                <a:off x="4008" y="3120"/>
                <a:ext cx="3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3333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 baseline="400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–</a:t>
                </a:r>
                <a:endParaRPr lang="en-US" altLang="zh-CN" sz="2400" baseline="4000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34" name="Text Box 28"/>
              <p:cNvSpPr txBox="1">
                <a:spLocks noChangeArrowheads="1"/>
              </p:cNvSpPr>
              <p:nvPr/>
            </p:nvSpPr>
            <p:spPr bwMode="auto">
              <a:xfrm>
                <a:off x="3984" y="2304"/>
                <a:ext cx="3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3333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lang="en-US" altLang="zh-CN" sz="2400" baseline="400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9235" name="Text Box 29"/>
              <p:cNvSpPr txBox="1">
                <a:spLocks noChangeArrowheads="1"/>
              </p:cNvSpPr>
              <p:nvPr/>
            </p:nvSpPr>
            <p:spPr bwMode="auto">
              <a:xfrm>
                <a:off x="4818" y="3456"/>
                <a:ext cx="31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Re</a:t>
                </a:r>
              </a:p>
            </p:txBody>
          </p:sp>
          <p:sp>
            <p:nvSpPr>
              <p:cNvPr id="9236" name="Text Box 30"/>
              <p:cNvSpPr txBox="1">
                <a:spLocks noChangeArrowheads="1"/>
              </p:cNvSpPr>
              <p:nvPr/>
            </p:nvSpPr>
            <p:spPr bwMode="auto">
              <a:xfrm>
                <a:off x="3696" y="2112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Im</a:t>
                </a:r>
              </a:p>
            </p:txBody>
          </p:sp>
          <p:grpSp>
            <p:nvGrpSpPr>
              <p:cNvPr id="9237" name="Group 31"/>
              <p:cNvGrpSpPr>
                <a:grpSpLocks/>
              </p:cNvGrpSpPr>
              <p:nvPr/>
            </p:nvGrpSpPr>
            <p:grpSpPr bwMode="auto">
              <a:xfrm>
                <a:off x="3984" y="2832"/>
                <a:ext cx="96" cy="96"/>
                <a:chOff x="3984" y="2832"/>
                <a:chExt cx="96" cy="96"/>
              </a:xfrm>
            </p:grpSpPr>
            <p:sp>
              <p:nvSpPr>
                <p:cNvPr id="9239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984" y="2832"/>
                  <a:ext cx="96" cy="96"/>
                </a:xfrm>
                <a:prstGeom prst="line">
                  <a:avLst/>
                </a:prstGeom>
                <a:noFill/>
                <a:ln w="222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0" name="Line 33"/>
                <p:cNvSpPr>
                  <a:spLocks noChangeShapeType="1"/>
                </p:cNvSpPr>
                <p:nvPr/>
              </p:nvSpPr>
              <p:spPr bwMode="auto">
                <a:xfrm>
                  <a:off x="3984" y="2832"/>
                  <a:ext cx="96" cy="96"/>
                </a:xfrm>
                <a:prstGeom prst="line">
                  <a:avLst/>
                </a:prstGeom>
                <a:noFill/>
                <a:ln w="222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238" name="Rectangle 34"/>
              <p:cNvSpPr>
                <a:spLocks noChangeArrowheads="1"/>
              </p:cNvSpPr>
              <p:nvPr/>
            </p:nvSpPr>
            <p:spPr bwMode="auto">
              <a:xfrm>
                <a:off x="3696" y="2720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i="1">
                    <a:solidFill>
                      <a:srgbClr val="3333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endParaRPr lang="en-US" altLang="zh-CN" sz="2400" i="1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225" name="Line 35"/>
            <p:cNvSpPr>
              <a:spLocks noChangeShapeType="1"/>
            </p:cNvSpPr>
            <p:nvPr/>
          </p:nvSpPr>
          <p:spPr bwMode="auto">
            <a:xfrm>
              <a:off x="4032" y="2832"/>
              <a:ext cx="38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03F6445-A447-4E1E-B414-AC6E17C79118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102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FF00A4B-CF4F-402E-B818-B2166740AC9A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1524000" y="1951038"/>
            <a:ext cx="70104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考虑极点在原点处的情形，此时新的虚轴由</a:t>
            </a:r>
            <a:r>
              <a:rPr lang="zh-CN" altLang="en-US" sz="2800">
                <a:solidFill>
                  <a:srgbClr val="3333FF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80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</a:rPr>
              <a:t> ~ </a:t>
            </a:r>
            <a:r>
              <a:rPr lang="en-US" altLang="zh-CN" sz="280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solidFill>
                  <a:srgbClr val="3333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2900" baseline="40000">
                <a:latin typeface="Times New Roman" panose="02020603050405020304" pitchFamily="18" charset="0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</a:rPr>
              <a:t>和  </a:t>
            </a:r>
            <a:r>
              <a:rPr lang="en-US" altLang="zh-CN" sz="280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solidFill>
                  <a:srgbClr val="3333FF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</a:rPr>
              <a:t>~  </a:t>
            </a:r>
            <a:r>
              <a:rPr lang="en-US" altLang="zh-CN" sz="280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</a:rPr>
              <a:t>的两段直线和小半圆</a:t>
            </a:r>
            <a:r>
              <a:rPr lang="en-US" altLang="zh-CN" sz="280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solidFill>
                  <a:srgbClr val="3333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sz="2900" baseline="40000">
                <a:solidFill>
                  <a:srgbClr val="3333FF"/>
                </a:solidFill>
              </a:rPr>
              <a:t> 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</a:rPr>
              <a:t>~ 0 ~  </a:t>
            </a:r>
            <a:r>
              <a:rPr lang="en-US" altLang="zh-CN" sz="2800" i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3333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solidFill>
                  <a:srgbClr val="3333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800">
                <a:latin typeface="Times New Roman" panose="02020603050405020304" pitchFamily="18" charset="0"/>
              </a:rPr>
              <a:t>组成。</a:t>
            </a:r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1524000" y="3586163"/>
            <a:ext cx="7010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小半圆的表达式为：</a:t>
            </a:r>
          </a:p>
        </p:txBody>
      </p:sp>
      <p:graphicFrame>
        <p:nvGraphicFramePr>
          <p:cNvPr id="406528" name="Object 2"/>
          <p:cNvGraphicFramePr>
            <a:graphicFrameLocks noChangeAspect="1"/>
          </p:cNvGraphicFramePr>
          <p:nvPr/>
        </p:nvGraphicFramePr>
        <p:xfrm>
          <a:off x="2057400" y="4191000"/>
          <a:ext cx="39624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r:id="rId3" imgW="1866090" imgH="393529" progId="Equation.3">
                  <p:embed/>
                </p:oleObj>
              </mc:Choice>
              <mc:Fallback>
                <p:oleObj r:id="rId3" imgW="1866090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91000"/>
                        <a:ext cx="39624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6" name="Text Box 6"/>
          <p:cNvSpPr txBox="1">
            <a:spLocks noChangeArrowheads="1"/>
          </p:cNvSpPr>
          <p:nvPr/>
        </p:nvSpPr>
        <p:spPr bwMode="auto">
          <a:xfrm>
            <a:off x="1524000" y="5054600"/>
            <a:ext cx="701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-90°</a:t>
            </a:r>
            <a:r>
              <a:rPr lang="zh-CN" altLang="en-US" sz="2800">
                <a:latin typeface="Times New Roman" panose="02020603050405020304" pitchFamily="18" charset="0"/>
              </a:rPr>
              <a:t>对应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r>
              <a:rPr lang="en-US" altLang="zh-CN" sz="2900" baseline="40000">
                <a:latin typeface="Times New Roman" panose="02020603050405020304" pitchFamily="18" charset="0"/>
              </a:rPr>
              <a:t>–</a:t>
            </a:r>
            <a:r>
              <a:rPr lang="en-US" altLang="zh-CN" sz="2900" baseline="4000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 0°</a:t>
            </a:r>
            <a:r>
              <a:rPr lang="en-US" altLang="zh-CN" sz="2800"/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对应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r>
              <a:rPr lang="en-US" altLang="zh-CN" sz="2900" baseline="4000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 90°</a:t>
            </a:r>
            <a:r>
              <a:rPr lang="zh-CN" altLang="en-US" sz="2800">
                <a:latin typeface="Times New Roman" panose="02020603050405020304" pitchFamily="18" charset="0"/>
              </a:rPr>
              <a:t>对应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r>
              <a:rPr lang="en-US" altLang="zh-CN" sz="2900" baseline="40000">
                <a:latin typeface="Times New Roman" panose="02020603050405020304" pitchFamily="18" charset="0"/>
              </a:rPr>
              <a:t>+</a:t>
            </a:r>
            <a:r>
              <a:rPr lang="en-US" altLang="zh-CN" sz="2900" baseline="4000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6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6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4" grpId="0"/>
      <p:bldP spid="2918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3D11F2-CE65-40E3-A93B-AEF5A42E877D}" type="datetime1">
              <a:rPr lang="zh-CN" altLang="en-US" smtClean="0"/>
              <a:pPr/>
              <a:t>2025/10/9</a:t>
            </a:fld>
            <a:endParaRPr lang="zh-CN" altLang="en-US" smtClean="0"/>
          </a:p>
        </p:txBody>
      </p:sp>
      <p:sp>
        <p:nvSpPr>
          <p:cNvPr id="11267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Jixia Lu</a:t>
            </a:r>
          </a:p>
        </p:txBody>
      </p:sp>
      <p:sp>
        <p:nvSpPr>
          <p:cNvPr id="1126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EEDF6C4-4F2E-4672-932F-D24129B703BC}" type="slidenum">
              <a:rPr lang="en-US" altLang="zh-CN" smtClean="0"/>
              <a:pPr/>
              <a:t>6</a:t>
            </a:fld>
            <a:endParaRPr lang="en-US" altLang="zh-CN" smtClean="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>
            <a:lum bright="20000" contrast="40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3" b="9119"/>
          <a:stretch>
            <a:fillRect/>
          </a:stretch>
        </p:blipFill>
        <p:spPr bwMode="auto">
          <a:xfrm>
            <a:off x="609600" y="1773238"/>
            <a:ext cx="3754438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1441450" y="712788"/>
            <a:ext cx="6835775" cy="52228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问题：怎样绘制</a:t>
            </a:r>
            <a:r>
              <a:rPr lang="en-US" altLang="zh-CN" sz="2800"/>
              <a:t>GH</a:t>
            </a:r>
            <a:r>
              <a:rPr lang="zh-CN" altLang="en-US" sz="2800"/>
              <a:t>平面上的映射曲线呢？</a:t>
            </a:r>
            <a:endParaRPr lang="en-US" altLang="zh-CN" sz="2800"/>
          </a:p>
        </p:txBody>
      </p:sp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4540250" y="1866900"/>
            <a:ext cx="39338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  当</a:t>
            </a:r>
            <a:r>
              <a:rPr lang="en-US" altLang="zh-CN" sz="2400">
                <a:sym typeface="Symbol" panose="05050102010706020507" pitchFamily="18" charset="2"/>
              </a:rPr>
              <a:t>&gt;0 </a:t>
            </a:r>
            <a:r>
              <a:rPr lang="zh-CN" altLang="en-US" sz="2400">
                <a:sym typeface="Symbol" panose="05050102010706020507" pitchFamily="18" charset="2"/>
              </a:rPr>
              <a:t>或</a:t>
            </a:r>
            <a:r>
              <a:rPr lang="en-US" altLang="zh-CN" sz="2400">
                <a:sym typeface="Symbol" panose="05050102010706020507" pitchFamily="18" charset="2"/>
              </a:rPr>
              <a:t>&lt;0</a:t>
            </a:r>
            <a:r>
              <a:rPr lang="zh-CN" altLang="en-US" sz="2400">
                <a:sym typeface="Symbol" panose="05050102010706020507" pitchFamily="18" charset="2"/>
              </a:rPr>
              <a:t>时</a:t>
            </a:r>
            <a:r>
              <a:rPr lang="en-US" altLang="zh-CN" sz="2400">
                <a:sym typeface="Symbol" panose="05050102010706020507" pitchFamily="18" charset="2"/>
              </a:rPr>
              <a:t>, GH</a:t>
            </a:r>
            <a:r>
              <a:rPr lang="zh-CN" altLang="en-US" sz="2400">
                <a:sym typeface="Symbol" panose="05050102010706020507" pitchFamily="18" charset="2"/>
              </a:rPr>
              <a:t>平面上的映射曲线和原来曲线形状相同。无穷大的半圆映射为</a:t>
            </a:r>
            <a:r>
              <a:rPr lang="en-US" altLang="zh-CN" sz="2400">
                <a:sym typeface="Symbol" panose="05050102010706020507" pitchFamily="18" charset="2"/>
              </a:rPr>
              <a:t>GH</a:t>
            </a:r>
            <a:r>
              <a:rPr lang="zh-CN" altLang="en-US" sz="2400">
                <a:sym typeface="Symbol" panose="05050102010706020507" pitchFamily="18" charset="2"/>
              </a:rPr>
              <a:t>平面的原点。</a:t>
            </a:r>
            <a:r>
              <a:rPr lang="en-US" altLang="zh-CN" sz="2400"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4719638" y="3571875"/>
            <a:ext cx="1736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当</a:t>
            </a:r>
            <a:r>
              <a:rPr lang="en-US" altLang="zh-CN" sz="2400"/>
              <a:t> </a:t>
            </a:r>
            <a:r>
              <a:rPr lang="en-US" altLang="zh-CN" sz="2400">
                <a:sym typeface="Symbol" panose="05050102010706020507" pitchFamily="18" charset="2"/>
              </a:rPr>
              <a:t>→0</a:t>
            </a:r>
            <a:r>
              <a:rPr lang="zh-CN" altLang="en-US" sz="2400">
                <a:sym typeface="Symbol" panose="05050102010706020507" pitchFamily="18" charset="2"/>
              </a:rPr>
              <a:t>时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5243513" y="4202113"/>
            <a:ext cx="601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令</a:t>
            </a:r>
            <a:r>
              <a:rPr lang="en-US" altLang="zh-CN" sz="2400"/>
              <a:t> </a:t>
            </a:r>
          </a:p>
        </p:txBody>
      </p:sp>
      <p:graphicFrame>
        <p:nvGraphicFramePr>
          <p:cNvPr id="59405" name="Object 13"/>
          <p:cNvGraphicFramePr>
            <a:graphicFrameLocks noChangeAspect="1"/>
          </p:cNvGraphicFramePr>
          <p:nvPr/>
        </p:nvGraphicFramePr>
        <p:xfrm>
          <a:off x="6407150" y="4130675"/>
          <a:ext cx="13366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r:id="rId4" imgW="532937" imgH="215713" progId="Equation.3">
                  <p:embed/>
                </p:oleObj>
              </mc:Choice>
              <mc:Fallback>
                <p:oleObj r:id="rId4" imgW="532937" imgH="21571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4130675"/>
                        <a:ext cx="133667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6" name="Text Box 14"/>
          <p:cNvSpPr txBox="1">
            <a:spLocks noChangeArrowheads="1"/>
          </p:cNvSpPr>
          <p:nvPr/>
        </p:nvSpPr>
        <p:spPr bwMode="auto">
          <a:xfrm>
            <a:off x="4973638" y="4768850"/>
            <a:ext cx="3322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ym typeface="Symbol" panose="05050102010706020507" pitchFamily="18" charset="2"/>
              </a:rPr>
              <a:t> </a:t>
            </a:r>
            <a:r>
              <a:rPr lang="zh-CN" altLang="en-US" sz="2400">
                <a:sym typeface="Symbol" panose="05050102010706020507" pitchFamily="18" charset="2"/>
              </a:rPr>
              <a:t>从</a:t>
            </a:r>
            <a:r>
              <a:rPr lang="en-US" altLang="zh-CN" sz="2400">
                <a:sym typeface="Symbol" panose="05050102010706020507" pitchFamily="18" charset="2"/>
              </a:rPr>
              <a:t>-90 </a:t>
            </a:r>
            <a:r>
              <a:rPr lang="zh-CN" altLang="en-US" sz="2400">
                <a:sym typeface="Symbol" panose="05050102010706020507" pitchFamily="18" charset="2"/>
              </a:rPr>
              <a:t>变化到</a:t>
            </a:r>
            <a:r>
              <a:rPr lang="en-US" altLang="zh-CN" sz="2400">
                <a:sym typeface="Symbol" panose="05050102010706020507" pitchFamily="18" charset="2"/>
              </a:rPr>
              <a:t> +90</a:t>
            </a:r>
          </a:p>
        </p:txBody>
      </p:sp>
      <p:sp>
        <p:nvSpPr>
          <p:cNvPr id="261132" name="Text Box 3"/>
          <p:cNvSpPr txBox="1">
            <a:spLocks noChangeArrowheads="1"/>
          </p:cNvSpPr>
          <p:nvPr/>
        </p:nvSpPr>
        <p:spPr bwMode="auto">
          <a:xfrm>
            <a:off x="4471988" y="5349875"/>
            <a:ext cx="432593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开环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图应如何处理？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8" grpId="0" bldLvl="0" animBg="1"/>
      <p:bldP spid="59401" grpId="0"/>
      <p:bldP spid="59403" grpId="0"/>
      <p:bldP spid="59404" grpId="0"/>
      <p:bldP spid="59406" grpId="0"/>
      <p:bldP spid="2611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8B42B2-85EE-4C11-AFFA-45137E445AE4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122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03EBC6A-71F8-4545-8FE2-65ED03F8F3D7}" type="slidenum">
              <a:rPr lang="en-US" altLang="zh-CN" smtClean="0"/>
              <a:pPr/>
              <a:t>7</a:t>
            </a:fld>
            <a:endParaRPr lang="en-US" altLang="zh-CN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24000" y="1828800"/>
            <a:ext cx="4800600" cy="2511425"/>
            <a:chOff x="960" y="1152"/>
            <a:chExt cx="3024" cy="1582"/>
          </a:xfrm>
        </p:grpSpPr>
        <p:sp>
          <p:nvSpPr>
            <p:cNvPr id="12295" name="Rectangle 5"/>
            <p:cNvSpPr>
              <a:spLocks noChangeArrowheads="1"/>
            </p:cNvSpPr>
            <p:nvPr/>
          </p:nvSpPr>
          <p:spPr bwMode="auto">
            <a:xfrm>
              <a:off x="960" y="1152"/>
              <a:ext cx="280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lang="zh-CN" altLang="en-US" sz="2800">
                  <a:latin typeface="Times New Roman" panose="02020603050405020304" pitchFamily="18" charset="0"/>
                </a:rPr>
                <a:t>考虑含有积分环节的系统：</a:t>
              </a:r>
            </a:p>
          </p:txBody>
        </p:sp>
        <p:graphicFrame>
          <p:nvGraphicFramePr>
            <p:cNvPr id="12296" name="Object 3"/>
            <p:cNvGraphicFramePr>
              <a:graphicFrameLocks noChangeAspect="1"/>
            </p:cNvGraphicFramePr>
            <p:nvPr/>
          </p:nvGraphicFramePr>
          <p:xfrm>
            <a:off x="1265" y="1536"/>
            <a:ext cx="2719" cy="1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7" r:id="rId3" imgW="1905000" imgH="838200" progId="Equation.3">
                    <p:embed/>
                  </p:oleObj>
                </mc:Choice>
                <mc:Fallback>
                  <p:oleObj r:id="rId3" imgW="1905000" imgH="8382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5" y="1536"/>
                          <a:ext cx="2719" cy="1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2871" name="Rectangle 7"/>
          <p:cNvSpPr>
            <a:spLocks noChangeArrowheads="1"/>
          </p:cNvSpPr>
          <p:nvPr/>
        </p:nvSpPr>
        <p:spPr bwMode="auto">
          <a:xfrm>
            <a:off x="1524000" y="4419600"/>
            <a:ext cx="6934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对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起始点，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=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 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位于无穷小的半圆上。</a:t>
            </a:r>
          </a:p>
        </p:txBody>
      </p:sp>
      <p:graphicFrame>
        <p:nvGraphicFramePr>
          <p:cNvPr id="407552" name="Object 2"/>
          <p:cNvGraphicFramePr>
            <a:graphicFrameLocks noChangeAspect="1"/>
          </p:cNvGraphicFramePr>
          <p:nvPr/>
        </p:nvGraphicFramePr>
        <p:xfrm>
          <a:off x="2133600" y="5410200"/>
          <a:ext cx="50292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r:id="rId5" imgW="2159000" imgH="431800" progId="Equation.3">
                  <p:embed/>
                </p:oleObj>
              </mc:Choice>
              <mc:Fallback>
                <p:oleObj r:id="rId5" imgW="21590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410200"/>
                        <a:ext cx="50292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7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7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F498495-F823-42F0-ADD4-696AEEECD051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119A2E-876A-414F-8CD1-DC13BFA68F66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524000" y="914400"/>
            <a:ext cx="69342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=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–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-90° 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408576" name="Object 2"/>
          <p:cNvGraphicFramePr>
            <a:graphicFrameLocks noChangeAspect="1"/>
          </p:cNvGraphicFramePr>
          <p:nvPr/>
        </p:nvGraphicFramePr>
        <p:xfrm>
          <a:off x="2057400" y="1520825"/>
          <a:ext cx="42005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r:id="rId3" imgW="1803400" imgH="393700" progId="Equation.3">
                  <p:embed/>
                </p:oleObj>
              </mc:Choice>
              <mc:Fallback>
                <p:oleObj r:id="rId3" imgW="1803400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520825"/>
                        <a:ext cx="42005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3" name="Rectangle 5"/>
          <p:cNvSpPr>
            <a:spLocks noChangeArrowheads="1"/>
          </p:cNvSpPr>
          <p:nvPr/>
        </p:nvSpPr>
        <p:spPr bwMode="auto">
          <a:xfrm>
            <a:off x="1524000" y="2438400"/>
            <a:ext cx="69342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=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0° 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408577" name="Object 3"/>
          <p:cNvGraphicFramePr>
            <a:graphicFrameLocks noChangeAspect="1"/>
          </p:cNvGraphicFramePr>
          <p:nvPr/>
        </p:nvGraphicFramePr>
        <p:xfrm>
          <a:off x="2057400" y="3048000"/>
          <a:ext cx="349091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r:id="rId5" imgW="1497950" imgH="393529" progId="Equation.3">
                  <p:embed/>
                </p:oleObj>
              </mc:Choice>
              <mc:Fallback>
                <p:oleObj r:id="rId5" imgW="1497950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048000"/>
                        <a:ext cx="3490913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5" name="Rectangle 7"/>
          <p:cNvSpPr>
            <a:spLocks noChangeArrowheads="1"/>
          </p:cNvSpPr>
          <p:nvPr/>
        </p:nvSpPr>
        <p:spPr bwMode="auto">
          <a:xfrm>
            <a:off x="1524000" y="3913188"/>
            <a:ext cx="69342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= j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+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= 90° 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408578" name="Object 4"/>
          <p:cNvGraphicFramePr>
            <a:graphicFrameLocks noChangeAspect="1"/>
          </p:cNvGraphicFramePr>
          <p:nvPr/>
        </p:nvGraphicFramePr>
        <p:xfrm>
          <a:off x="2133600" y="4572000"/>
          <a:ext cx="43783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r:id="rId7" imgW="1879600" imgH="393700" progId="Equation.3">
                  <p:embed/>
                </p:oleObj>
              </mc:Choice>
              <mc:Fallback>
                <p:oleObj r:id="rId7" imgW="18796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0"/>
                        <a:ext cx="43783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7" name="Rectangle 9"/>
          <p:cNvSpPr>
            <a:spLocks noChangeArrowheads="1"/>
          </p:cNvSpPr>
          <p:nvPr/>
        </p:nvSpPr>
        <p:spPr bwMode="auto">
          <a:xfrm>
            <a:off x="1524000" y="5403850"/>
            <a:ext cx="6934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即当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由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–</a:t>
            </a:r>
            <a:r>
              <a:rPr lang="en-US" altLang="zh-CN" sz="2900" baseline="40000"/>
              <a:t>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 0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 0</a:t>
            </a:r>
            <a:r>
              <a:rPr lang="en-US" altLang="zh-CN" sz="2900" baseline="40000">
                <a:latin typeface="Times New Roman" panose="02020603050405020304" pitchFamily="18" charset="0"/>
              </a:rPr>
              <a:t>+ </a:t>
            </a:r>
            <a:r>
              <a:rPr lang="zh-CN" altLang="en-US" sz="2800">
                <a:latin typeface="Times New Roman" panose="02020603050405020304" pitchFamily="18" charset="0"/>
              </a:rPr>
              <a:t>变化时，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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由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90°</a:t>
            </a:r>
            <a:r>
              <a:rPr lang="en-US" altLang="zh-CN" sz="2800"/>
              <a:t>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 0°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－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90 °</a:t>
            </a:r>
            <a:r>
              <a:rPr lang="zh-CN" altLang="en-US" sz="2800">
                <a:latin typeface="Times New Roman" panose="02020603050405020304" pitchFamily="18" charset="0"/>
              </a:rPr>
              <a:t>变化。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8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8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8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8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3" grpId="0"/>
      <p:bldP spid="293895" grpId="0"/>
      <p:bldP spid="2938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4A0A55F-36E5-4725-9846-2B7639E81F31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1433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C74B6A1-F8A3-41AC-8326-1CD6431795B9}" type="slidenum">
              <a:rPr lang="en-US" altLang="zh-CN" smtClean="0"/>
              <a:pPr/>
              <a:t>9</a:t>
            </a:fld>
            <a:endParaRPr lang="en-US" altLang="zh-CN" smtClean="0"/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1524000" y="1600200"/>
            <a:ext cx="69342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或：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>
                <a:latin typeface="Times New Roman" panose="02020603050405020304" pitchFamily="18" charset="0"/>
              </a:rPr>
              <a:t>arg[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)] = </a:t>
            </a:r>
            <a:r>
              <a:rPr lang="zh-CN" altLang="en-US" sz="2800">
                <a:latin typeface="Times New Roman" panose="02020603050405020304" pitchFamily="18" charset="0"/>
              </a:rPr>
              <a:t>－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180 °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94916" name="Rectangle 4"/>
          <p:cNvSpPr>
            <a:spLocks noChangeArrowheads="1"/>
          </p:cNvSpPr>
          <p:nvPr/>
        </p:nvSpPr>
        <p:spPr bwMode="auto">
          <a:xfrm>
            <a:off x="1524000" y="2286000"/>
            <a:ext cx="6934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即当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由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–</a:t>
            </a:r>
            <a:r>
              <a:rPr lang="en-US" altLang="zh-CN" sz="2900" baseline="40000"/>
              <a:t>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 0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 0</a:t>
            </a:r>
            <a:r>
              <a:rPr lang="en-US" altLang="zh-CN" sz="2900" baseline="40000">
                <a:latin typeface="Times New Roman" panose="02020603050405020304" pitchFamily="18" charset="0"/>
              </a:rPr>
              <a:t>+ </a:t>
            </a:r>
            <a:r>
              <a:rPr lang="zh-CN" altLang="en-US" sz="2800">
                <a:latin typeface="Times New Roman" panose="02020603050405020304" pitchFamily="18" charset="0"/>
              </a:rPr>
              <a:t>变化时，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以幅值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顺时针旋转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180 °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94917" name="Rectangle 5"/>
          <p:cNvSpPr>
            <a:spLocks noChangeArrowheads="1"/>
          </p:cNvSpPr>
          <p:nvPr/>
        </p:nvSpPr>
        <p:spPr bwMode="auto">
          <a:xfrm>
            <a:off x="1524000" y="3346450"/>
            <a:ext cx="6934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显然，若仅考虑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&gt;0</a:t>
            </a:r>
            <a:r>
              <a:rPr lang="zh-CN" altLang="en-US" sz="2800">
                <a:latin typeface="Times New Roman" panose="02020603050405020304" pitchFamily="18" charset="0"/>
              </a:rPr>
              <a:t>的情形，即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由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+ </a:t>
            </a:r>
            <a:r>
              <a:rPr lang="zh-CN" altLang="en-US" sz="2800">
                <a:latin typeface="Times New Roman" panose="02020603050405020304" pitchFamily="18" charset="0"/>
              </a:rPr>
              <a:t>变化时，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以幅值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顺时针旋转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90 °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94918" name="Rectangle 6"/>
          <p:cNvSpPr>
            <a:spLocks noChangeArrowheads="1"/>
          </p:cNvSpPr>
          <p:nvPr/>
        </p:nvSpPr>
        <p:spPr bwMode="auto">
          <a:xfrm>
            <a:off x="1524000" y="4419600"/>
            <a:ext cx="69342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综上所述，对于包含积分环节的开环系统，对虚轴作上述处理后，绘制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图时需考虑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由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+ </a:t>
            </a:r>
            <a:r>
              <a:rPr lang="zh-CN" altLang="en-US" sz="2800">
                <a:latin typeface="Times New Roman" panose="02020603050405020304" pitchFamily="18" charset="0"/>
              </a:rPr>
              <a:t>变化时的轨迹。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6" grpId="0"/>
      <p:bldP spid="294917" grpId="0"/>
      <p:bldP spid="2949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EE5BF47-FCBF-4EF8-887D-429B9BE5BB96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A662D13-B158-4654-BE49-40BC3C4C73E0}" type="slidenum">
              <a:rPr lang="en-US" altLang="zh-CN" smtClean="0"/>
              <a:pPr/>
              <a:t>10</a:t>
            </a:fld>
            <a:endParaRPr lang="en-US" altLang="zh-CN" smtClean="0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219200" y="1941513"/>
            <a:ext cx="73914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即按常规方法作出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由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+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900" baseline="400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变化时的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曲线后，从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0)</a:t>
            </a:r>
            <a:r>
              <a:rPr lang="zh-CN" altLang="en-US" sz="2800">
                <a:latin typeface="Times New Roman" panose="02020603050405020304" pitchFamily="18" charset="0"/>
              </a:rPr>
              <a:t>开始，以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的半径顺时针补画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90 °</a:t>
            </a:r>
            <a:r>
              <a:rPr lang="zh-CN" altLang="en-US" sz="2800">
                <a:latin typeface="Times New Roman" panose="02020603050405020304" pitchFamily="18" charset="0"/>
              </a:rPr>
              <a:t>的圆弧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辅助线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得到完整的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曲线。</a:t>
            </a:r>
          </a:p>
        </p:txBody>
      </p:sp>
      <p:sp>
        <p:nvSpPr>
          <p:cNvPr id="295940" name="Rectangle 4"/>
          <p:cNvSpPr>
            <a:spLocks noChangeArrowheads="1"/>
          </p:cNvSpPr>
          <p:nvPr/>
        </p:nvSpPr>
        <p:spPr bwMode="auto">
          <a:xfrm>
            <a:off x="1219200" y="3584575"/>
            <a:ext cx="7391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显然，对于最小相位系统，由于：</a:t>
            </a:r>
          </a:p>
        </p:txBody>
      </p:sp>
      <p:graphicFrame>
        <p:nvGraphicFramePr>
          <p:cNvPr id="409600" name="Object 2"/>
          <p:cNvGraphicFramePr>
            <a:graphicFrameLocks noChangeAspect="1"/>
          </p:cNvGraphicFramePr>
          <p:nvPr/>
        </p:nvGraphicFramePr>
        <p:xfrm>
          <a:off x="2300288" y="4340225"/>
          <a:ext cx="34909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r:id="rId3" imgW="1497950" imgH="393529" progId="Equation.3">
                  <p:embed/>
                </p:oleObj>
              </mc:Choice>
              <mc:Fallback>
                <p:oleObj r:id="rId3" imgW="1497950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4340225"/>
                        <a:ext cx="34909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2" name="Rectangle 6"/>
          <p:cNvSpPr>
            <a:spLocks noChangeArrowheads="1"/>
          </p:cNvSpPr>
          <p:nvPr/>
        </p:nvSpPr>
        <p:spPr bwMode="auto">
          <a:xfrm>
            <a:off x="1219200" y="5360988"/>
            <a:ext cx="7391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其辅助线的起始点始终在无穷远的正实轴上。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9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0" grpId="0"/>
      <p:bldP spid="2959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3824BC-1576-49B1-9356-853201C6627D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163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9ACF09E-542A-43AB-80B2-D124ADECD444}" type="slidenum">
              <a:rPr lang="en-US" altLang="zh-CN" smtClean="0"/>
              <a:pPr/>
              <a:t>11</a:t>
            </a:fld>
            <a:endParaRPr lang="en-US" altLang="zh-CN" smtClean="0"/>
          </a:p>
        </p:txBody>
      </p:sp>
      <p:grpSp>
        <p:nvGrpSpPr>
          <p:cNvPr id="16388" name="Group 3"/>
          <p:cNvGrpSpPr>
            <a:grpSpLocks/>
          </p:cNvGrpSpPr>
          <p:nvPr/>
        </p:nvGrpSpPr>
        <p:grpSpPr bwMode="auto">
          <a:xfrm>
            <a:off x="457200" y="2438400"/>
            <a:ext cx="2736850" cy="2941638"/>
            <a:chOff x="528" y="2256"/>
            <a:chExt cx="1724" cy="1853"/>
          </a:xfrm>
        </p:grpSpPr>
        <p:sp>
          <p:nvSpPr>
            <p:cNvPr id="16415" name="Line 4"/>
            <p:cNvSpPr>
              <a:spLocks noChangeShapeType="1"/>
            </p:cNvSpPr>
            <p:nvPr/>
          </p:nvSpPr>
          <p:spPr bwMode="auto">
            <a:xfrm>
              <a:off x="716" y="2976"/>
              <a:ext cx="14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Line 5"/>
            <p:cNvSpPr>
              <a:spLocks noChangeShapeType="1"/>
            </p:cNvSpPr>
            <p:nvPr/>
          </p:nvSpPr>
          <p:spPr bwMode="auto">
            <a:xfrm flipV="1">
              <a:off x="1292" y="2352"/>
              <a:ext cx="0" cy="13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7" name="Freeform 6"/>
            <p:cNvSpPr>
              <a:spLocks noChangeArrowheads="1"/>
            </p:cNvSpPr>
            <p:nvPr/>
          </p:nvSpPr>
          <p:spPr bwMode="auto">
            <a:xfrm>
              <a:off x="860" y="2792"/>
              <a:ext cx="432" cy="760"/>
            </a:xfrm>
            <a:custGeom>
              <a:avLst/>
              <a:gdLst>
                <a:gd name="T0" fmla="*/ 0 w 384"/>
                <a:gd name="T1" fmla="*/ 811 h 712"/>
                <a:gd name="T2" fmla="*/ 304 w 384"/>
                <a:gd name="T3" fmla="*/ 100 h 712"/>
                <a:gd name="T4" fmla="*/ 486 w 384"/>
                <a:gd name="T5" fmla="*/ 209 h 7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712">
                  <a:moveTo>
                    <a:pt x="0" y="712"/>
                  </a:moveTo>
                  <a:cubicBezTo>
                    <a:pt x="88" y="444"/>
                    <a:pt x="176" y="176"/>
                    <a:pt x="240" y="88"/>
                  </a:cubicBezTo>
                  <a:cubicBezTo>
                    <a:pt x="304" y="0"/>
                    <a:pt x="344" y="92"/>
                    <a:pt x="384" y="184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8" name="Rectangle 7"/>
            <p:cNvSpPr>
              <a:spLocks noChangeArrowheads="1"/>
            </p:cNvSpPr>
            <p:nvPr/>
          </p:nvSpPr>
          <p:spPr bwMode="auto">
            <a:xfrm>
              <a:off x="1656" y="271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16419" name="Rectangle 8"/>
            <p:cNvSpPr>
              <a:spLocks noChangeArrowheads="1"/>
            </p:cNvSpPr>
            <p:nvPr/>
          </p:nvSpPr>
          <p:spPr bwMode="auto">
            <a:xfrm>
              <a:off x="1244" y="2880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6420" name="Text Box 9"/>
            <p:cNvSpPr txBox="1">
              <a:spLocks noChangeArrowheads="1"/>
            </p:cNvSpPr>
            <p:nvPr/>
          </p:nvSpPr>
          <p:spPr bwMode="auto">
            <a:xfrm>
              <a:off x="1100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421" name="Rectangle 10"/>
            <p:cNvSpPr>
              <a:spLocks noChangeArrowheads="1"/>
            </p:cNvSpPr>
            <p:nvPr/>
          </p:nvSpPr>
          <p:spPr bwMode="auto">
            <a:xfrm>
              <a:off x="528" y="3552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  <a:r>
                <a:rPr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6422" name="Freeform 11"/>
            <p:cNvSpPr>
              <a:spLocks noChangeArrowheads="1"/>
            </p:cNvSpPr>
            <p:nvPr/>
          </p:nvSpPr>
          <p:spPr bwMode="auto">
            <a:xfrm>
              <a:off x="860" y="2976"/>
              <a:ext cx="1056" cy="640"/>
            </a:xfrm>
            <a:custGeom>
              <a:avLst/>
              <a:gdLst>
                <a:gd name="T0" fmla="*/ 1056 w 1056"/>
                <a:gd name="T1" fmla="*/ 0 h 640"/>
                <a:gd name="T2" fmla="*/ 1008 w 1056"/>
                <a:gd name="T3" fmla="*/ 240 h 640"/>
                <a:gd name="T4" fmla="*/ 816 w 1056"/>
                <a:gd name="T5" fmla="*/ 480 h 640"/>
                <a:gd name="T6" fmla="*/ 432 w 1056"/>
                <a:gd name="T7" fmla="*/ 624 h 640"/>
                <a:gd name="T8" fmla="*/ 0 w 1056"/>
                <a:gd name="T9" fmla="*/ 576 h 6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6" h="640">
                  <a:moveTo>
                    <a:pt x="1056" y="0"/>
                  </a:moveTo>
                  <a:cubicBezTo>
                    <a:pt x="1052" y="80"/>
                    <a:pt x="1048" y="160"/>
                    <a:pt x="1008" y="240"/>
                  </a:cubicBezTo>
                  <a:cubicBezTo>
                    <a:pt x="968" y="320"/>
                    <a:pt x="912" y="416"/>
                    <a:pt x="816" y="480"/>
                  </a:cubicBezTo>
                  <a:cubicBezTo>
                    <a:pt x="720" y="544"/>
                    <a:pt x="568" y="608"/>
                    <a:pt x="432" y="624"/>
                  </a:cubicBezTo>
                  <a:cubicBezTo>
                    <a:pt x="296" y="640"/>
                    <a:pt x="148" y="608"/>
                    <a:pt x="0" y="57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3" name="Rectangle 12"/>
            <p:cNvSpPr>
              <a:spLocks noChangeArrowheads="1"/>
            </p:cNvSpPr>
            <p:nvPr/>
          </p:nvSpPr>
          <p:spPr bwMode="auto">
            <a:xfrm>
              <a:off x="1934" y="297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16424" name="Rectangle 13"/>
            <p:cNvSpPr>
              <a:spLocks noChangeArrowheads="1"/>
            </p:cNvSpPr>
            <p:nvPr/>
          </p:nvSpPr>
          <p:spPr bwMode="auto">
            <a:xfrm>
              <a:off x="973" y="225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16425" name="Text Box 14"/>
            <p:cNvSpPr txBox="1">
              <a:spLocks noChangeArrowheads="1"/>
            </p:cNvSpPr>
            <p:nvPr/>
          </p:nvSpPr>
          <p:spPr bwMode="auto">
            <a:xfrm>
              <a:off x="960" y="3818"/>
              <a:ext cx="41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v=1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26" name="Line 15"/>
            <p:cNvSpPr>
              <a:spLocks noChangeShapeType="1"/>
            </p:cNvSpPr>
            <p:nvPr/>
          </p:nvSpPr>
          <p:spPr bwMode="auto">
            <a:xfrm flipV="1">
              <a:off x="864" y="3120"/>
              <a:ext cx="96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124200" y="2438400"/>
            <a:ext cx="2819400" cy="2976563"/>
            <a:chOff x="2112" y="2256"/>
            <a:chExt cx="1776" cy="1875"/>
          </a:xfrm>
        </p:grpSpPr>
        <p:sp>
          <p:nvSpPr>
            <p:cNvPr id="16403" name="Line 17"/>
            <p:cNvSpPr>
              <a:spLocks noChangeShapeType="1"/>
            </p:cNvSpPr>
            <p:nvPr/>
          </p:nvSpPr>
          <p:spPr bwMode="auto">
            <a:xfrm>
              <a:off x="2304" y="2976"/>
              <a:ext cx="153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Line 18"/>
            <p:cNvSpPr>
              <a:spLocks noChangeShapeType="1"/>
            </p:cNvSpPr>
            <p:nvPr/>
          </p:nvSpPr>
          <p:spPr bwMode="auto">
            <a:xfrm flipV="1">
              <a:off x="3072" y="2352"/>
              <a:ext cx="0" cy="13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Freeform 19"/>
            <p:cNvSpPr>
              <a:spLocks noChangeArrowheads="1"/>
            </p:cNvSpPr>
            <p:nvPr/>
          </p:nvSpPr>
          <p:spPr bwMode="auto">
            <a:xfrm>
              <a:off x="2352" y="2776"/>
              <a:ext cx="720" cy="200"/>
            </a:xfrm>
            <a:custGeom>
              <a:avLst/>
              <a:gdLst>
                <a:gd name="T0" fmla="*/ 0 w 720"/>
                <a:gd name="T1" fmla="*/ 104 h 200"/>
                <a:gd name="T2" fmla="*/ 288 w 720"/>
                <a:gd name="T3" fmla="*/ 56 h 200"/>
                <a:gd name="T4" fmla="*/ 528 w 720"/>
                <a:gd name="T5" fmla="*/ 8 h 200"/>
                <a:gd name="T6" fmla="*/ 672 w 720"/>
                <a:gd name="T7" fmla="*/ 104 h 200"/>
                <a:gd name="T8" fmla="*/ 720 w 720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200">
                  <a:moveTo>
                    <a:pt x="0" y="104"/>
                  </a:moveTo>
                  <a:cubicBezTo>
                    <a:pt x="100" y="88"/>
                    <a:pt x="200" y="72"/>
                    <a:pt x="288" y="56"/>
                  </a:cubicBezTo>
                  <a:cubicBezTo>
                    <a:pt x="376" y="40"/>
                    <a:pt x="464" y="0"/>
                    <a:pt x="528" y="8"/>
                  </a:cubicBezTo>
                  <a:cubicBezTo>
                    <a:pt x="592" y="16"/>
                    <a:pt x="640" y="72"/>
                    <a:pt x="672" y="104"/>
                  </a:cubicBezTo>
                  <a:cubicBezTo>
                    <a:pt x="704" y="136"/>
                    <a:pt x="712" y="168"/>
                    <a:pt x="720" y="20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Freeform 20"/>
            <p:cNvSpPr>
              <a:spLocks noChangeArrowheads="1"/>
            </p:cNvSpPr>
            <p:nvPr/>
          </p:nvSpPr>
          <p:spPr bwMode="auto">
            <a:xfrm>
              <a:off x="2352" y="2880"/>
              <a:ext cx="1248" cy="768"/>
            </a:xfrm>
            <a:custGeom>
              <a:avLst/>
              <a:gdLst>
                <a:gd name="T0" fmla="*/ 1159 w 1344"/>
                <a:gd name="T1" fmla="*/ 82 h 832"/>
                <a:gd name="T2" fmla="*/ 1117 w 1344"/>
                <a:gd name="T3" fmla="*/ 286 h 832"/>
                <a:gd name="T4" fmla="*/ 952 w 1344"/>
                <a:gd name="T5" fmla="*/ 572 h 832"/>
                <a:gd name="T6" fmla="*/ 538 w 1344"/>
                <a:gd name="T7" fmla="*/ 695 h 832"/>
                <a:gd name="T8" fmla="*/ 124 w 1344"/>
                <a:gd name="T9" fmla="*/ 491 h 832"/>
                <a:gd name="T10" fmla="*/ 0 w 1344"/>
                <a:gd name="T11" fmla="*/ 0 h 8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4" h="832">
                  <a:moveTo>
                    <a:pt x="1344" y="96"/>
                  </a:moveTo>
                  <a:cubicBezTo>
                    <a:pt x="1340" y="168"/>
                    <a:pt x="1336" y="240"/>
                    <a:pt x="1296" y="336"/>
                  </a:cubicBezTo>
                  <a:cubicBezTo>
                    <a:pt x="1256" y="432"/>
                    <a:pt x="1216" y="592"/>
                    <a:pt x="1104" y="672"/>
                  </a:cubicBezTo>
                  <a:cubicBezTo>
                    <a:pt x="992" y="752"/>
                    <a:pt x="784" y="832"/>
                    <a:pt x="624" y="816"/>
                  </a:cubicBezTo>
                  <a:cubicBezTo>
                    <a:pt x="464" y="800"/>
                    <a:pt x="248" y="712"/>
                    <a:pt x="144" y="576"/>
                  </a:cubicBezTo>
                  <a:cubicBezTo>
                    <a:pt x="40" y="440"/>
                    <a:pt x="20" y="220"/>
                    <a:pt x="0" y="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Rectangle 21"/>
            <p:cNvSpPr>
              <a:spLocks noChangeArrowheads="1"/>
            </p:cNvSpPr>
            <p:nvPr/>
          </p:nvSpPr>
          <p:spPr bwMode="auto">
            <a:xfrm>
              <a:off x="3340" y="268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16408" name="Rectangle 22"/>
            <p:cNvSpPr>
              <a:spLocks noChangeArrowheads="1"/>
            </p:cNvSpPr>
            <p:nvPr/>
          </p:nvSpPr>
          <p:spPr bwMode="auto">
            <a:xfrm>
              <a:off x="3024" y="2880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6409" name="Rectangle 23"/>
            <p:cNvSpPr>
              <a:spLocks noChangeArrowheads="1"/>
            </p:cNvSpPr>
            <p:nvPr/>
          </p:nvSpPr>
          <p:spPr bwMode="auto">
            <a:xfrm>
              <a:off x="3570" y="297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16410" name="Text Box 24"/>
            <p:cNvSpPr txBox="1">
              <a:spLocks noChangeArrowheads="1"/>
            </p:cNvSpPr>
            <p:nvPr/>
          </p:nvSpPr>
          <p:spPr bwMode="auto">
            <a:xfrm>
              <a:off x="2870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411" name="Rectangle 25"/>
            <p:cNvSpPr>
              <a:spLocks noChangeArrowheads="1"/>
            </p:cNvSpPr>
            <p:nvPr/>
          </p:nvSpPr>
          <p:spPr bwMode="auto">
            <a:xfrm>
              <a:off x="2112" y="2592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  <a:r>
                <a:rPr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6412" name="Rectangle 26"/>
            <p:cNvSpPr>
              <a:spLocks noChangeArrowheads="1"/>
            </p:cNvSpPr>
            <p:nvPr/>
          </p:nvSpPr>
          <p:spPr bwMode="auto">
            <a:xfrm>
              <a:off x="2753" y="225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16413" name="Text Box 27"/>
            <p:cNvSpPr txBox="1">
              <a:spLocks noChangeArrowheads="1"/>
            </p:cNvSpPr>
            <p:nvPr/>
          </p:nvSpPr>
          <p:spPr bwMode="auto">
            <a:xfrm>
              <a:off x="2716" y="3840"/>
              <a:ext cx="41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v=2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4" name="Line 28"/>
            <p:cNvSpPr>
              <a:spLocks noChangeShapeType="1"/>
            </p:cNvSpPr>
            <p:nvPr/>
          </p:nvSpPr>
          <p:spPr bwMode="auto">
            <a:xfrm flipV="1">
              <a:off x="2640" y="2736"/>
              <a:ext cx="192" cy="4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172200" y="2286000"/>
            <a:ext cx="2638425" cy="3128963"/>
            <a:chOff x="3936" y="2160"/>
            <a:chExt cx="1662" cy="1971"/>
          </a:xfrm>
        </p:grpSpPr>
        <p:sp>
          <p:nvSpPr>
            <p:cNvPr id="16391" name="Line 30"/>
            <p:cNvSpPr>
              <a:spLocks noChangeShapeType="1"/>
            </p:cNvSpPr>
            <p:nvPr/>
          </p:nvSpPr>
          <p:spPr bwMode="auto">
            <a:xfrm>
              <a:off x="3936" y="2976"/>
              <a:ext cx="153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" name="Line 31"/>
            <p:cNvSpPr>
              <a:spLocks noChangeShapeType="1"/>
            </p:cNvSpPr>
            <p:nvPr/>
          </p:nvSpPr>
          <p:spPr bwMode="auto">
            <a:xfrm flipV="1">
              <a:off x="4656" y="2352"/>
              <a:ext cx="0" cy="13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Freeform 32"/>
            <p:cNvSpPr>
              <a:spLocks noChangeArrowheads="1"/>
            </p:cNvSpPr>
            <p:nvPr/>
          </p:nvSpPr>
          <p:spPr bwMode="auto">
            <a:xfrm>
              <a:off x="4494" y="2400"/>
              <a:ext cx="256" cy="576"/>
            </a:xfrm>
            <a:custGeom>
              <a:avLst/>
              <a:gdLst>
                <a:gd name="T0" fmla="*/ 0 w 256"/>
                <a:gd name="T1" fmla="*/ 0 h 576"/>
                <a:gd name="T2" fmla="*/ 48 w 256"/>
                <a:gd name="T3" fmla="*/ 240 h 576"/>
                <a:gd name="T4" fmla="*/ 240 w 256"/>
                <a:gd name="T5" fmla="*/ 480 h 576"/>
                <a:gd name="T6" fmla="*/ 144 w 256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6" h="576">
                  <a:moveTo>
                    <a:pt x="0" y="0"/>
                  </a:moveTo>
                  <a:cubicBezTo>
                    <a:pt x="4" y="80"/>
                    <a:pt x="8" y="160"/>
                    <a:pt x="48" y="240"/>
                  </a:cubicBezTo>
                  <a:cubicBezTo>
                    <a:pt x="88" y="320"/>
                    <a:pt x="224" y="424"/>
                    <a:pt x="240" y="480"/>
                  </a:cubicBezTo>
                  <a:cubicBezTo>
                    <a:pt x="256" y="536"/>
                    <a:pt x="200" y="556"/>
                    <a:pt x="144" y="57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4" name="Arc 33"/>
            <p:cNvSpPr>
              <a:spLocks noChangeArrowheads="1"/>
            </p:cNvSpPr>
            <p:nvPr/>
          </p:nvSpPr>
          <p:spPr bwMode="auto">
            <a:xfrm rot="5400000">
              <a:off x="4093" y="2374"/>
              <a:ext cx="1161" cy="1199"/>
            </a:xfrm>
            <a:custGeom>
              <a:avLst/>
              <a:gdLst>
                <a:gd name="T0" fmla="*/ 16 w 42228"/>
                <a:gd name="T1" fmla="*/ 0 h 43200"/>
                <a:gd name="T2" fmla="*/ 32 w 42228"/>
                <a:gd name="T3" fmla="*/ 17 h 43200"/>
                <a:gd name="T4" fmla="*/ 16 w 42228"/>
                <a:gd name="T5" fmla="*/ 33 h 43200"/>
                <a:gd name="T6" fmla="*/ 0 w 42228"/>
                <a:gd name="T7" fmla="*/ 22 h 43200"/>
                <a:gd name="T8" fmla="*/ 16 w 42228"/>
                <a:gd name="T9" fmla="*/ 0 h 43200"/>
                <a:gd name="T10" fmla="*/ 32 w 42228"/>
                <a:gd name="T11" fmla="*/ 17 h 43200"/>
                <a:gd name="T12" fmla="*/ 16 w 42228"/>
                <a:gd name="T13" fmla="*/ 33 h 43200"/>
                <a:gd name="T14" fmla="*/ 0 w 42228"/>
                <a:gd name="T15" fmla="*/ 22 h 43200"/>
                <a:gd name="T16" fmla="*/ 16 w 42228"/>
                <a:gd name="T17" fmla="*/ 17 h 43200"/>
                <a:gd name="T18" fmla="*/ 16 w 42228"/>
                <a:gd name="T19" fmla="*/ 0 h 432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228" h="43200" fill="none">
                  <a:moveTo>
                    <a:pt x="20627" y="0"/>
                  </a:moveTo>
                  <a:cubicBezTo>
                    <a:pt x="32557" y="0"/>
                    <a:pt x="42228" y="9670"/>
                    <a:pt x="42228" y="21600"/>
                  </a:cubicBezTo>
                  <a:cubicBezTo>
                    <a:pt x="42228" y="33529"/>
                    <a:pt x="32557" y="43200"/>
                    <a:pt x="20628" y="43200"/>
                  </a:cubicBezTo>
                  <a:cubicBezTo>
                    <a:pt x="11166" y="43200"/>
                    <a:pt x="2806" y="37042"/>
                    <a:pt x="0" y="28006"/>
                  </a:cubicBezTo>
                </a:path>
                <a:path w="42228" h="43200" stroke="0">
                  <a:moveTo>
                    <a:pt x="20627" y="0"/>
                  </a:moveTo>
                  <a:cubicBezTo>
                    <a:pt x="32557" y="0"/>
                    <a:pt x="42228" y="9670"/>
                    <a:pt x="42228" y="21600"/>
                  </a:cubicBezTo>
                  <a:cubicBezTo>
                    <a:pt x="42228" y="33529"/>
                    <a:pt x="32557" y="43200"/>
                    <a:pt x="20628" y="43200"/>
                  </a:cubicBezTo>
                  <a:cubicBezTo>
                    <a:pt x="11166" y="43200"/>
                    <a:pt x="2806" y="37042"/>
                    <a:pt x="0" y="28006"/>
                  </a:cubicBezTo>
                  <a:lnTo>
                    <a:pt x="20628" y="21600"/>
                  </a:lnTo>
                  <a:lnTo>
                    <a:pt x="20627" y="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Rectangle 34"/>
            <p:cNvSpPr>
              <a:spLocks noChangeArrowheads="1"/>
            </p:cNvSpPr>
            <p:nvPr/>
          </p:nvSpPr>
          <p:spPr bwMode="auto">
            <a:xfrm>
              <a:off x="5020" y="268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16396" name="Rectangle 35"/>
            <p:cNvSpPr>
              <a:spLocks noChangeArrowheads="1"/>
            </p:cNvSpPr>
            <p:nvPr/>
          </p:nvSpPr>
          <p:spPr bwMode="auto">
            <a:xfrm>
              <a:off x="4608" y="2880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6397" name="Rectangle 36"/>
            <p:cNvSpPr>
              <a:spLocks noChangeArrowheads="1"/>
            </p:cNvSpPr>
            <p:nvPr/>
          </p:nvSpPr>
          <p:spPr bwMode="auto">
            <a:xfrm>
              <a:off x="5280" y="297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16398" name="Text Box 37"/>
            <p:cNvSpPr txBox="1">
              <a:spLocks noChangeArrowheads="1"/>
            </p:cNvSpPr>
            <p:nvPr/>
          </p:nvSpPr>
          <p:spPr bwMode="auto">
            <a:xfrm>
              <a:off x="4464" y="29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399" name="Rectangle 38"/>
            <p:cNvSpPr>
              <a:spLocks noChangeArrowheads="1"/>
            </p:cNvSpPr>
            <p:nvPr/>
          </p:nvSpPr>
          <p:spPr bwMode="auto">
            <a:xfrm>
              <a:off x="4132" y="2160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  <a:r>
                <a:rPr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6400" name="Rectangle 39"/>
            <p:cNvSpPr>
              <a:spLocks noChangeArrowheads="1"/>
            </p:cNvSpPr>
            <p:nvPr/>
          </p:nvSpPr>
          <p:spPr bwMode="auto">
            <a:xfrm>
              <a:off x="4673" y="225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16401" name="Text Box 40"/>
            <p:cNvSpPr txBox="1">
              <a:spLocks noChangeArrowheads="1"/>
            </p:cNvSpPr>
            <p:nvPr/>
          </p:nvSpPr>
          <p:spPr bwMode="auto">
            <a:xfrm>
              <a:off x="4272" y="3840"/>
              <a:ext cx="41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v=3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2" name="Freeform 41"/>
            <p:cNvSpPr>
              <a:spLocks noChangeArrowheads="1"/>
            </p:cNvSpPr>
            <p:nvPr/>
          </p:nvSpPr>
          <p:spPr bwMode="auto">
            <a:xfrm>
              <a:off x="4448" y="2523"/>
              <a:ext cx="112" cy="240"/>
            </a:xfrm>
            <a:custGeom>
              <a:avLst/>
              <a:gdLst>
                <a:gd name="T0" fmla="*/ 16 w 112"/>
                <a:gd name="T1" fmla="*/ 0 h 240"/>
                <a:gd name="T2" fmla="*/ 16 w 112"/>
                <a:gd name="T3" fmla="*/ 96 h 240"/>
                <a:gd name="T4" fmla="*/ 112 w 112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240">
                  <a:moveTo>
                    <a:pt x="16" y="0"/>
                  </a:moveTo>
                  <a:cubicBezTo>
                    <a:pt x="8" y="28"/>
                    <a:pt x="0" y="56"/>
                    <a:pt x="16" y="96"/>
                  </a:cubicBezTo>
                  <a:cubicBezTo>
                    <a:pt x="32" y="136"/>
                    <a:pt x="96" y="216"/>
                    <a:pt x="112" y="24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6986CB-483A-4561-AFCD-A4F9D7941B67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1741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266158B-5270-4E23-B7A7-36FAE04DBFF2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1143000" y="1844675"/>
            <a:ext cx="73914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对于非最小相位系统，辅助线的起始点则由其含有的不稳定环节决定。</a:t>
            </a:r>
          </a:p>
        </p:txBody>
      </p:sp>
      <p:sp>
        <p:nvSpPr>
          <p:cNvPr id="297988" name="Rectangle 4"/>
          <p:cNvSpPr>
            <a:spLocks noChangeArrowheads="1"/>
          </p:cNvSpPr>
          <p:nvPr/>
        </p:nvSpPr>
        <p:spPr bwMode="auto">
          <a:xfrm>
            <a:off x="1187450" y="2997200"/>
            <a:ext cx="73914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为作图方便，通常按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由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+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>
                <a:latin typeface="Times New Roman" panose="02020603050405020304" pitchFamily="18" charset="0"/>
              </a:rPr>
              <a:t> 0</a:t>
            </a:r>
            <a:r>
              <a:rPr lang="zh-CN" altLang="en-US" sz="2800">
                <a:latin typeface="Times New Roman" panose="02020603050405020304" pitchFamily="18" charset="0"/>
              </a:rPr>
              <a:t>变化加辅助线，即从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+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开始以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的半径逆时针补画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90°</a:t>
            </a:r>
            <a:r>
              <a:rPr lang="zh-CN" altLang="en-US" sz="2800">
                <a:latin typeface="Times New Roman" panose="02020603050405020304" pitchFamily="18" charset="0"/>
              </a:rPr>
              <a:t>的圆弧。作出辅助线的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曲线方向仍然是</a:t>
            </a:r>
            <a:r>
              <a:rPr lang="en-US" altLang="zh-CN" sz="2800">
                <a:latin typeface="Times New Roman" panose="02020603050405020304" pitchFamily="18" charset="0"/>
              </a:rPr>
              <a:t>0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900" baseline="400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en-US" altLang="zh-CN" sz="2900" baseline="40000">
                <a:latin typeface="Times New Roman" panose="02020603050405020304" pitchFamily="18" charset="0"/>
              </a:rPr>
              <a:t>+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900" baseline="40000"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+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97989" name="Rectangle 5"/>
          <p:cNvSpPr>
            <a:spLocks noChangeArrowheads="1"/>
          </p:cNvSpPr>
          <p:nvPr/>
        </p:nvSpPr>
        <p:spPr bwMode="auto">
          <a:xfrm>
            <a:off x="1219200" y="5195888"/>
            <a:ext cx="7391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作出辅助线后，即可应用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判据判别系统的稳定性。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8" grpId="0"/>
      <p:bldP spid="29798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190DBE7-49B4-443D-A8AE-5768234F94C8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184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2AC2E6-C4DB-4B3D-B109-33E92E6D7EEE}" type="slidenum">
              <a:rPr lang="en-US" altLang="zh-CN" smtClean="0"/>
              <a:pPr/>
              <a:t>13</a:t>
            </a:fld>
            <a:endParaRPr lang="en-US" altLang="zh-CN" smtClean="0"/>
          </a:p>
        </p:txBody>
      </p:sp>
      <p:grpSp>
        <p:nvGrpSpPr>
          <p:cNvPr id="18436" name="Group 3"/>
          <p:cNvGrpSpPr>
            <a:grpSpLocks/>
          </p:cNvGrpSpPr>
          <p:nvPr/>
        </p:nvGrpSpPr>
        <p:grpSpPr bwMode="auto">
          <a:xfrm>
            <a:off x="1403350" y="1052513"/>
            <a:ext cx="7086600" cy="2819400"/>
            <a:chOff x="912" y="768"/>
            <a:chExt cx="4464" cy="1776"/>
          </a:xfrm>
        </p:grpSpPr>
        <p:sp>
          <p:nvSpPr>
            <p:cNvPr id="18451" name="Text Box 4"/>
            <p:cNvSpPr txBox="1">
              <a:spLocks noChangeArrowheads="1"/>
            </p:cNvSpPr>
            <p:nvPr/>
          </p:nvSpPr>
          <p:spPr bwMode="auto">
            <a:xfrm>
              <a:off x="912" y="768"/>
              <a:ext cx="4416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buFont typeface="Wingdings" panose="05000000000000000000" pitchFamily="2" charset="2"/>
                <a:buChar char="q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例题</a:t>
              </a:r>
            </a:p>
          </p:txBody>
        </p:sp>
        <p:sp>
          <p:nvSpPr>
            <p:cNvPr id="18452" name="Text Box 5"/>
            <p:cNvSpPr txBox="1">
              <a:spLocks noChangeArrowheads="1"/>
            </p:cNvSpPr>
            <p:nvPr/>
          </p:nvSpPr>
          <p:spPr bwMode="auto">
            <a:xfrm>
              <a:off x="912" y="1200"/>
              <a:ext cx="4416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buFont typeface="Wingdings" panose="05000000000000000000" pitchFamily="2" charset="2"/>
                <a:buChar char="ü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</a:t>
              </a: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r>
                <a:rPr lang="zh-CN" altLang="en-US" sz="2800">
                  <a:latin typeface="Times New Roman" panose="02020603050405020304" pitchFamily="18" charset="0"/>
                </a:rPr>
                <a:t>：单位反馈系统的开环传递函数为</a:t>
              </a:r>
            </a:p>
          </p:txBody>
        </p:sp>
        <p:graphicFrame>
          <p:nvGraphicFramePr>
            <p:cNvPr id="18453" name="Object 2"/>
            <p:cNvGraphicFramePr>
              <a:graphicFrameLocks noChangeAspect="1"/>
            </p:cNvGraphicFramePr>
            <p:nvPr/>
          </p:nvGraphicFramePr>
          <p:xfrm>
            <a:off x="1824" y="1611"/>
            <a:ext cx="1296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5" r:id="rId3" imgW="1002865" imgH="418918" progId="Equation.3">
                    <p:embed/>
                  </p:oleObj>
                </mc:Choice>
                <mc:Fallback>
                  <p:oleObj r:id="rId3" imgW="1002865" imgH="418918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611"/>
                          <a:ext cx="1296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4" name="Text Box 7"/>
            <p:cNvSpPr txBox="1">
              <a:spLocks noChangeArrowheads="1"/>
            </p:cNvSpPr>
            <p:nvPr/>
          </p:nvSpPr>
          <p:spPr bwMode="auto">
            <a:xfrm>
              <a:off x="1152" y="2177"/>
              <a:ext cx="422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lang="zh-CN" altLang="en-US" sz="2800">
                  <a:latin typeface="Times New Roman" panose="02020603050405020304" pitchFamily="18" charset="0"/>
                </a:rPr>
                <a:t>应用</a:t>
              </a:r>
              <a:r>
                <a:rPr lang="en-US" altLang="zh-CN" sz="2800">
                  <a:latin typeface="Times New Roman" panose="02020603050405020304" pitchFamily="18" charset="0"/>
                </a:rPr>
                <a:t>Nyquist</a:t>
              </a:r>
              <a:r>
                <a:rPr lang="zh-CN" altLang="en-US" sz="2800">
                  <a:latin typeface="Times New Roman" panose="02020603050405020304" pitchFamily="18" charset="0"/>
                </a:rPr>
                <a:t>判据判别闭环系统的稳定性。</a:t>
              </a:r>
            </a:p>
          </p:txBody>
        </p:sp>
      </p:grpSp>
      <p:sp>
        <p:nvSpPr>
          <p:cNvPr id="299016" name="Text Box 8"/>
          <p:cNvSpPr txBox="1">
            <a:spLocks noChangeArrowheads="1"/>
          </p:cNvSpPr>
          <p:nvPr/>
        </p:nvSpPr>
        <p:spPr bwMode="auto">
          <a:xfrm>
            <a:off x="1828800" y="4038600"/>
            <a:ext cx="6705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解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299017" name="Text Box 9"/>
          <p:cNvSpPr txBox="1">
            <a:spLocks noChangeArrowheads="1"/>
          </p:cNvSpPr>
          <p:nvPr/>
        </p:nvSpPr>
        <p:spPr bwMode="auto">
          <a:xfrm>
            <a:off x="4953000" y="4379913"/>
            <a:ext cx="37338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开环 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曲线不包围 </a:t>
            </a:r>
            <a:r>
              <a:rPr lang="en-US" altLang="zh-CN" sz="2800">
                <a:latin typeface="Times New Roman" panose="02020603050405020304" pitchFamily="18" charset="0"/>
              </a:rPr>
              <a:t>(-1,  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0 )</a:t>
            </a:r>
            <a:r>
              <a:rPr lang="zh-CN" altLang="en-US" sz="2800">
                <a:latin typeface="Times New Roman" panose="02020603050405020304" pitchFamily="18" charset="0"/>
              </a:rPr>
              <a:t>点，而</a:t>
            </a:r>
            <a:r>
              <a:rPr lang="en-US" altLang="zh-CN" sz="2800" i="1">
                <a:latin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</a:rPr>
              <a:t>=0</a:t>
            </a:r>
            <a:r>
              <a:rPr lang="zh-CN" altLang="en-US" sz="2800">
                <a:latin typeface="Times New Roman" panose="02020603050405020304" pitchFamily="18" charset="0"/>
              </a:rPr>
              <a:t>，因此，系统闭环稳定。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216150" y="4164013"/>
            <a:ext cx="2736850" cy="2286000"/>
            <a:chOff x="1396" y="2688"/>
            <a:chExt cx="1724" cy="1440"/>
          </a:xfrm>
        </p:grpSpPr>
        <p:sp>
          <p:nvSpPr>
            <p:cNvPr id="18440" name="Line 11"/>
            <p:cNvSpPr>
              <a:spLocks noChangeShapeType="1"/>
            </p:cNvSpPr>
            <p:nvPr/>
          </p:nvSpPr>
          <p:spPr bwMode="auto">
            <a:xfrm>
              <a:off x="1584" y="3264"/>
              <a:ext cx="14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Line 12"/>
            <p:cNvSpPr>
              <a:spLocks noChangeShapeType="1"/>
            </p:cNvSpPr>
            <p:nvPr/>
          </p:nvSpPr>
          <p:spPr bwMode="auto">
            <a:xfrm flipV="1">
              <a:off x="2160" y="2784"/>
              <a:ext cx="0" cy="124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Rectangle 13"/>
            <p:cNvSpPr>
              <a:spLocks noChangeArrowheads="1"/>
            </p:cNvSpPr>
            <p:nvPr/>
          </p:nvSpPr>
          <p:spPr bwMode="auto">
            <a:xfrm>
              <a:off x="2524" y="300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18443" name="Rectangle 14"/>
            <p:cNvSpPr>
              <a:spLocks noChangeArrowheads="1"/>
            </p:cNvSpPr>
            <p:nvPr/>
          </p:nvSpPr>
          <p:spPr bwMode="auto">
            <a:xfrm>
              <a:off x="1632" y="3015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8444" name="Text Box 15"/>
            <p:cNvSpPr txBox="1">
              <a:spLocks noChangeArrowheads="1"/>
            </p:cNvSpPr>
            <p:nvPr/>
          </p:nvSpPr>
          <p:spPr bwMode="auto">
            <a:xfrm>
              <a:off x="2140" y="32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45" name="Rectangle 16"/>
            <p:cNvSpPr>
              <a:spLocks noChangeArrowheads="1"/>
            </p:cNvSpPr>
            <p:nvPr/>
          </p:nvSpPr>
          <p:spPr bwMode="auto">
            <a:xfrm>
              <a:off x="1396" y="3840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  <a:r>
                <a:rPr lang="en-US" altLang="zh-CN" sz="2400" baseline="400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8446" name="Freeform 17"/>
            <p:cNvSpPr>
              <a:spLocks noChangeArrowheads="1"/>
            </p:cNvSpPr>
            <p:nvPr/>
          </p:nvSpPr>
          <p:spPr bwMode="auto">
            <a:xfrm>
              <a:off x="1776" y="3264"/>
              <a:ext cx="1008" cy="640"/>
            </a:xfrm>
            <a:custGeom>
              <a:avLst/>
              <a:gdLst>
                <a:gd name="T0" fmla="*/ 962 w 1056"/>
                <a:gd name="T1" fmla="*/ 0 h 640"/>
                <a:gd name="T2" fmla="*/ 918 w 1056"/>
                <a:gd name="T3" fmla="*/ 240 h 640"/>
                <a:gd name="T4" fmla="*/ 744 w 1056"/>
                <a:gd name="T5" fmla="*/ 480 h 640"/>
                <a:gd name="T6" fmla="*/ 393 w 1056"/>
                <a:gd name="T7" fmla="*/ 624 h 640"/>
                <a:gd name="T8" fmla="*/ 0 w 1056"/>
                <a:gd name="T9" fmla="*/ 576 h 6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6" h="640">
                  <a:moveTo>
                    <a:pt x="1056" y="0"/>
                  </a:moveTo>
                  <a:cubicBezTo>
                    <a:pt x="1052" y="80"/>
                    <a:pt x="1048" y="160"/>
                    <a:pt x="1008" y="240"/>
                  </a:cubicBezTo>
                  <a:cubicBezTo>
                    <a:pt x="968" y="320"/>
                    <a:pt x="912" y="416"/>
                    <a:pt x="816" y="480"/>
                  </a:cubicBezTo>
                  <a:cubicBezTo>
                    <a:pt x="720" y="544"/>
                    <a:pt x="568" y="608"/>
                    <a:pt x="432" y="624"/>
                  </a:cubicBezTo>
                  <a:cubicBezTo>
                    <a:pt x="296" y="640"/>
                    <a:pt x="148" y="608"/>
                    <a:pt x="0" y="57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Rectangle 18"/>
            <p:cNvSpPr>
              <a:spLocks noChangeArrowheads="1"/>
            </p:cNvSpPr>
            <p:nvPr/>
          </p:nvSpPr>
          <p:spPr bwMode="auto">
            <a:xfrm>
              <a:off x="2802" y="3264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18448" name="Rectangle 19"/>
            <p:cNvSpPr>
              <a:spLocks noChangeArrowheads="1"/>
            </p:cNvSpPr>
            <p:nvPr/>
          </p:nvSpPr>
          <p:spPr bwMode="auto">
            <a:xfrm>
              <a:off x="2177" y="2688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18449" name="Freeform 20"/>
            <p:cNvSpPr>
              <a:spLocks noChangeArrowheads="1"/>
            </p:cNvSpPr>
            <p:nvPr/>
          </p:nvSpPr>
          <p:spPr bwMode="auto">
            <a:xfrm>
              <a:off x="1776" y="3264"/>
              <a:ext cx="393" cy="576"/>
            </a:xfrm>
            <a:custGeom>
              <a:avLst/>
              <a:gdLst>
                <a:gd name="T0" fmla="*/ 0 w 432"/>
                <a:gd name="T1" fmla="*/ 628 h 528"/>
                <a:gd name="T2" fmla="*/ 198 w 432"/>
                <a:gd name="T3" fmla="*/ 115 h 528"/>
                <a:gd name="T4" fmla="*/ 358 w 432"/>
                <a:gd name="T5" fmla="*/ 0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528">
                  <a:moveTo>
                    <a:pt x="0" y="528"/>
                  </a:moveTo>
                  <a:cubicBezTo>
                    <a:pt x="84" y="356"/>
                    <a:pt x="168" y="184"/>
                    <a:pt x="240" y="96"/>
                  </a:cubicBezTo>
                  <a:cubicBezTo>
                    <a:pt x="312" y="8"/>
                    <a:pt x="372" y="4"/>
                    <a:pt x="432" y="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21"/>
            <p:cNvSpPr>
              <a:spLocks noChangeShapeType="1"/>
            </p:cNvSpPr>
            <p:nvPr/>
          </p:nvSpPr>
          <p:spPr bwMode="auto">
            <a:xfrm flipV="1">
              <a:off x="1740" y="3408"/>
              <a:ext cx="144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6" grpId="0"/>
      <p:bldP spid="2990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042988" y="981075"/>
            <a:ext cx="965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Arial" panose="020B0604020202020204" pitchFamily="34" charset="0"/>
              </a:rPr>
              <a:t>例</a:t>
            </a:r>
            <a:r>
              <a:rPr lang="en-US" altLang="zh-CN" sz="2800" b="1">
                <a:latin typeface="Arial" panose="020B0604020202020204" pitchFamily="34" charset="0"/>
              </a:rPr>
              <a:t>2: 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827088" y="1895475"/>
            <a:ext cx="4779962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latin typeface="Arial" panose="020B0604020202020204" pitchFamily="34" charset="0"/>
              </a:rPr>
              <a:t>一单位反馈系统的开环传递函数为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2484438" y="2708275"/>
          <a:ext cx="31670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公式" r:id="rId4" imgW="1459866" imgH="380835" progId="Equation.3">
                  <p:embed/>
                </p:oleObj>
              </mc:Choice>
              <mc:Fallback>
                <p:oleObj name="公式" r:id="rId4" imgW="1459866" imgH="3808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708275"/>
                        <a:ext cx="31670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971550" y="3943350"/>
            <a:ext cx="637698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400" b="1">
                <a:latin typeface="Arial" panose="020B0604020202020204" pitchFamily="34" charset="0"/>
              </a:rPr>
              <a:t> </a:t>
            </a:r>
            <a:r>
              <a:rPr lang="zh-CN" altLang="en-US" sz="2400" b="1">
                <a:latin typeface="Arial" panose="020B0604020202020204" pitchFamily="34" charset="0"/>
              </a:rPr>
              <a:t>分析当</a:t>
            </a:r>
            <a:r>
              <a:rPr lang="en-US" altLang="zh-CN" sz="2400" b="1">
                <a:latin typeface="Arial" panose="020B0604020202020204" pitchFamily="34" charset="0"/>
              </a:rPr>
              <a:t>K</a:t>
            </a:r>
            <a:r>
              <a:rPr lang="zh-CN" altLang="en-US" sz="2400" b="1">
                <a:latin typeface="Arial" panose="020B0604020202020204" pitchFamily="34" charset="0"/>
              </a:rPr>
              <a:t>分别取</a:t>
            </a:r>
            <a:r>
              <a:rPr lang="en-US" altLang="zh-CN" sz="2400" b="1">
                <a:latin typeface="Arial" panose="020B0604020202020204" pitchFamily="34" charset="0"/>
              </a:rPr>
              <a:t>10</a:t>
            </a:r>
            <a:r>
              <a:rPr lang="zh-CN" altLang="en-US" sz="2400" b="1">
                <a:latin typeface="Arial" panose="020B0604020202020204" pitchFamily="34" charset="0"/>
              </a:rPr>
              <a:t>和</a:t>
            </a:r>
            <a:r>
              <a:rPr lang="en-US" altLang="zh-CN" sz="2400" b="1">
                <a:latin typeface="Arial" panose="020B0604020202020204" pitchFamily="34" charset="0"/>
              </a:rPr>
              <a:t>40</a:t>
            </a:r>
            <a:r>
              <a:rPr lang="zh-CN" altLang="en-US" sz="2400" b="1">
                <a:latin typeface="Arial" panose="020B0604020202020204" pitchFamily="34" charset="0"/>
              </a:rPr>
              <a:t>时闭环系统的稳定性。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1042988" y="1003300"/>
            <a:ext cx="311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将 </a:t>
            </a:r>
            <a:r>
              <a:rPr lang="en-US" altLang="zh-CN" sz="2400" b="1">
                <a:latin typeface="Arial" panose="020B0604020202020204" pitchFamily="34" charset="0"/>
              </a:rPr>
              <a:t>s=j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 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代入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G(s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）有</a:t>
            </a: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1476375" y="1844675"/>
          <a:ext cx="44640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公式" r:id="rId4" imgW="1790700" imgH="381000" progId="Equation.3">
                  <p:embed/>
                </p:oleObj>
              </mc:Choice>
              <mc:Fallback>
                <p:oleObj name="公式" r:id="rId4" imgW="1790700" imgH="38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844675"/>
                        <a:ext cx="44640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042988" y="2852738"/>
            <a:ext cx="3944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幅频特性和相频特性分别为 </a:t>
            </a:r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1908175" y="3357563"/>
          <a:ext cx="367188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公式" r:id="rId6" imgW="1790700" imgH="393700" progId="Equation.3">
                  <p:embed/>
                </p:oleObj>
              </mc:Choice>
              <mc:Fallback>
                <p:oleObj name="公式" r:id="rId6" imgW="17907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357563"/>
                        <a:ext cx="3671888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1692275" y="4365625"/>
          <a:ext cx="47529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公式" r:id="rId8" imgW="1916868" imgH="215806" progId="Equation.3">
                  <p:embed/>
                </p:oleObj>
              </mc:Choice>
              <mc:Fallback>
                <p:oleObj name="公式" r:id="rId8" imgW="1916868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365625"/>
                        <a:ext cx="47529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1187450" y="5157788"/>
            <a:ext cx="376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第</a:t>
            </a:r>
            <a:r>
              <a:rPr lang="en-US" altLang="zh-CN" sz="2400" b="1">
                <a:latin typeface="Arial" panose="020B0604020202020204" pitchFamily="34" charset="0"/>
              </a:rPr>
              <a:t>1</a:t>
            </a:r>
            <a:r>
              <a:rPr lang="zh-CN" altLang="en-US" sz="2400" b="1">
                <a:latin typeface="Arial" panose="020B0604020202020204" pitchFamily="34" charset="0"/>
              </a:rPr>
              <a:t>段</a:t>
            </a:r>
            <a:r>
              <a:rPr lang="en-US" altLang="zh-CN" sz="2400" b="1">
                <a:latin typeface="Arial" panose="020B0604020202020204" pitchFamily="34" charset="0"/>
              </a:rPr>
              <a:t>: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( </a:t>
            </a:r>
            <a:r>
              <a:rPr lang="en-US" altLang="zh-CN" sz="2400" b="1">
                <a:latin typeface="Arial" panose="020B0604020202020204" pitchFamily="34" charset="0"/>
              </a:rPr>
              <a:t>0</a:t>
            </a:r>
            <a:r>
              <a:rPr lang="en-US" altLang="zh-CN" sz="2400" b="1" baseline="30000">
                <a:latin typeface="Arial" panose="020B0604020202020204" pitchFamily="34" charset="0"/>
              </a:rPr>
              <a:t>+</a:t>
            </a:r>
            <a:r>
              <a:rPr lang="en-US" altLang="zh-CN" sz="2400" b="1">
                <a:latin typeface="Arial" panose="020B0604020202020204" pitchFamily="34" charset="0"/>
              </a:rPr>
              <a:t>,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)</a:t>
            </a: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1527175" y="5603875"/>
            <a:ext cx="1068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0</a:t>
            </a:r>
            <a:r>
              <a:rPr lang="en-US" altLang="zh-CN" sz="2400" b="1" baseline="30000"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2608263" y="5603875"/>
            <a:ext cx="104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M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,</a:t>
            </a:r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3759200" y="5603875"/>
            <a:ext cx="1208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-90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971550" y="404813"/>
            <a:ext cx="59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6600CC"/>
                </a:solidFill>
                <a:latin typeface="Arial" panose="020B0604020202020204" pitchFamily="34" charset="0"/>
              </a:rPr>
              <a:t>解</a:t>
            </a:r>
            <a:r>
              <a:rPr lang="en-US" altLang="zh-CN" sz="2400" b="1">
                <a:solidFill>
                  <a:srgbClr val="6600CC"/>
                </a:solidFill>
                <a:latin typeface="Arial" panose="020B0604020202020204" pitchFamily="34" charset="0"/>
              </a:rPr>
              <a:t>: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4" grpId="0"/>
      <p:bldP spid="40967" grpId="0"/>
      <p:bldP spid="40968" grpId="0"/>
      <p:bldP spid="40969" grpId="0"/>
      <p:bldP spid="4097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860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,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413000" y="620713"/>
            <a:ext cx="857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M</a:t>
            </a: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0,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563938" y="620713"/>
            <a:ext cx="1176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-270</a:t>
            </a: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1187450" y="1125538"/>
            <a:ext cx="165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当 </a:t>
            </a:r>
            <a:r>
              <a:rPr lang="zh-CN" altLang="en-US" sz="2000" b="1">
                <a:latin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=-180</a:t>
            </a:r>
            <a:r>
              <a:rPr lang="zh-CN" altLang="en-US" sz="2000" b="1">
                <a:latin typeface="Arial" panose="020B0604020202020204" pitchFamily="34" charset="0"/>
                <a:sym typeface="Symbol" panose="05050102010706020507" pitchFamily="18" charset="2"/>
              </a:rPr>
              <a:t>时</a:t>
            </a:r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403350" y="1557338"/>
          <a:ext cx="58229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公式" r:id="rId4" imgW="2349500" imgH="215900" progId="Equation.3">
                  <p:embed/>
                </p:oleObj>
              </mc:Choice>
              <mc:Fallback>
                <p:oleObj name="公式" r:id="rId4" imgW="23495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557338"/>
                        <a:ext cx="58229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1042988" y="2133600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可求出</a:t>
            </a:r>
          </a:p>
        </p:txBody>
      </p: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1042988" y="2565400"/>
          <a:ext cx="18811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Equation" r:id="rId6" imgW="1054100" imgH="228600" progId="Equation.DSMT4">
                  <p:embed/>
                </p:oleObj>
              </mc:Choice>
              <mc:Fallback>
                <p:oleObj name="Equation" r:id="rId6" imgW="10541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565400"/>
                        <a:ext cx="188118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3348038" y="2352675"/>
          <a:ext cx="34258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Equation" r:id="rId8" imgW="1778000" imgH="457200" progId="Equation.DSMT4">
                  <p:embed/>
                </p:oleObj>
              </mc:Choice>
              <mc:Fallback>
                <p:oleObj name="Equation" r:id="rId8" imgW="177800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352675"/>
                        <a:ext cx="342582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99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068638"/>
            <a:ext cx="3243263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3284538"/>
            <a:ext cx="3263900" cy="290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87" grpId="0"/>
      <p:bldP spid="41988" grpId="0"/>
      <p:bldP spid="41989" grpId="0"/>
      <p:bldP spid="4199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663575" y="600075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000" b="1">
              <a:latin typeface="Arial" panose="020B0604020202020204" pitchFamily="34" charset="0"/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971550" y="692150"/>
            <a:ext cx="1068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第</a:t>
            </a:r>
            <a:r>
              <a:rPr lang="en-US" altLang="zh-CN" sz="2400" b="1">
                <a:latin typeface="Arial" panose="020B0604020202020204" pitchFamily="34" charset="0"/>
              </a:rPr>
              <a:t>2</a:t>
            </a:r>
            <a:r>
              <a:rPr lang="zh-CN" altLang="en-US" sz="2400" b="1">
                <a:latin typeface="Arial" panose="020B0604020202020204" pitchFamily="34" charset="0"/>
              </a:rPr>
              <a:t>段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339975" y="765175"/>
            <a:ext cx="1198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( </a:t>
            </a:r>
            <a:r>
              <a:rPr lang="en-US" altLang="zh-CN" sz="2000" b="1">
                <a:latin typeface="Arial" panose="020B0604020202020204" pitchFamily="34" charset="0"/>
              </a:rPr>
              <a:t>-</a:t>
            </a: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 ,0</a:t>
            </a:r>
            <a:r>
              <a:rPr lang="en-US" altLang="zh-CN" sz="2000" b="1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00213"/>
            <a:ext cx="3243262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773238"/>
            <a:ext cx="3263900" cy="391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/>
      <p:bldP spid="430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116013" y="765175"/>
            <a:ext cx="2243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第</a:t>
            </a:r>
            <a:r>
              <a:rPr lang="en-US" altLang="zh-CN" sz="2400" b="1">
                <a:latin typeface="Arial" panose="020B0604020202020204" pitchFamily="34" charset="0"/>
              </a:rPr>
              <a:t>3</a:t>
            </a:r>
            <a:r>
              <a:rPr lang="zh-CN" altLang="en-US" sz="2400" b="1">
                <a:latin typeface="Arial" panose="020B0604020202020204" pitchFamily="34" charset="0"/>
              </a:rPr>
              <a:t>段</a:t>
            </a:r>
            <a:r>
              <a:rPr lang="en-US" altLang="zh-CN" sz="2400" b="1">
                <a:latin typeface="Arial" panose="020B0604020202020204" pitchFamily="34" charset="0"/>
              </a:rPr>
              <a:t>, 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(0</a:t>
            </a:r>
            <a:r>
              <a:rPr lang="en-US" altLang="zh-CN" sz="2400" b="1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,0</a:t>
            </a:r>
            <a:r>
              <a:rPr lang="en-US" altLang="zh-CN" sz="2400" b="1" baseline="30000"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4859338" y="836613"/>
          <a:ext cx="18843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公式" r:id="rId4" imgW="888614" imgH="215806" progId="Equation.3">
                  <p:embed/>
                </p:oleObj>
              </mc:Choice>
              <mc:Fallback>
                <p:oleObj name="公式" r:id="rId4" imgW="888614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836613"/>
                        <a:ext cx="18843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557338"/>
            <a:ext cx="3243262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773238"/>
            <a:ext cx="3263900" cy="391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8" name="Freeform 6"/>
          <p:cNvSpPr>
            <a:spLocks/>
          </p:cNvSpPr>
          <p:nvPr/>
        </p:nvSpPr>
        <p:spPr bwMode="auto">
          <a:xfrm>
            <a:off x="2268538" y="2420938"/>
            <a:ext cx="1531937" cy="2827337"/>
          </a:xfrm>
          <a:custGeom>
            <a:avLst/>
            <a:gdLst>
              <a:gd name="T0" fmla="*/ 0 w 965"/>
              <a:gd name="T1" fmla="*/ 0 h 1781"/>
              <a:gd name="T2" fmla="*/ 2147483646 w 965"/>
              <a:gd name="T3" fmla="*/ 2147483646 h 1781"/>
              <a:gd name="T4" fmla="*/ 2147483646 w 965"/>
              <a:gd name="T5" fmla="*/ 2147483646 h 1781"/>
              <a:gd name="T6" fmla="*/ 2147483646 w 965"/>
              <a:gd name="T7" fmla="*/ 2147483646 h 1781"/>
              <a:gd name="T8" fmla="*/ 2147483646 w 965"/>
              <a:gd name="T9" fmla="*/ 2147483646 h 1781"/>
              <a:gd name="T10" fmla="*/ 2147483646 w 965"/>
              <a:gd name="T11" fmla="*/ 2147483646 h 1781"/>
              <a:gd name="T12" fmla="*/ 2147483646 w 965"/>
              <a:gd name="T13" fmla="*/ 2147483646 h 1781"/>
              <a:gd name="T14" fmla="*/ 2147483646 w 965"/>
              <a:gd name="T15" fmla="*/ 2147483646 h 1781"/>
              <a:gd name="T16" fmla="*/ 2147483646 w 965"/>
              <a:gd name="T17" fmla="*/ 2147483646 h 1781"/>
              <a:gd name="T18" fmla="*/ 2147483646 w 965"/>
              <a:gd name="T19" fmla="*/ 2147483646 h 1781"/>
              <a:gd name="T20" fmla="*/ 2147483646 w 965"/>
              <a:gd name="T21" fmla="*/ 2147483646 h 1781"/>
              <a:gd name="T22" fmla="*/ 0 w 965"/>
              <a:gd name="T23" fmla="*/ 2147483646 h 178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65"/>
              <a:gd name="T37" fmla="*/ 0 h 1781"/>
              <a:gd name="T38" fmla="*/ 965 w 965"/>
              <a:gd name="T39" fmla="*/ 1781 h 178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65" h="1781">
                <a:moveTo>
                  <a:pt x="0" y="0"/>
                </a:moveTo>
                <a:cubicBezTo>
                  <a:pt x="33" y="2"/>
                  <a:pt x="127" y="2"/>
                  <a:pt x="199" y="11"/>
                </a:cubicBezTo>
                <a:cubicBezTo>
                  <a:pt x="271" y="20"/>
                  <a:pt x="356" y="31"/>
                  <a:pt x="433" y="53"/>
                </a:cubicBezTo>
                <a:cubicBezTo>
                  <a:pt x="510" y="75"/>
                  <a:pt x="584" y="83"/>
                  <a:pt x="658" y="145"/>
                </a:cubicBezTo>
                <a:cubicBezTo>
                  <a:pt x="732" y="207"/>
                  <a:pt x="826" y="324"/>
                  <a:pt x="875" y="428"/>
                </a:cubicBezTo>
                <a:cubicBezTo>
                  <a:pt x="924" y="532"/>
                  <a:pt x="939" y="661"/>
                  <a:pt x="952" y="771"/>
                </a:cubicBezTo>
                <a:cubicBezTo>
                  <a:pt x="965" y="881"/>
                  <a:pt x="963" y="986"/>
                  <a:pt x="952" y="1089"/>
                </a:cubicBezTo>
                <a:cubicBezTo>
                  <a:pt x="941" y="1192"/>
                  <a:pt x="915" y="1302"/>
                  <a:pt x="883" y="1388"/>
                </a:cubicBezTo>
                <a:cubicBezTo>
                  <a:pt x="851" y="1474"/>
                  <a:pt x="809" y="1551"/>
                  <a:pt x="758" y="1605"/>
                </a:cubicBezTo>
                <a:cubicBezTo>
                  <a:pt x="707" y="1659"/>
                  <a:pt x="642" y="1686"/>
                  <a:pt x="574" y="1714"/>
                </a:cubicBezTo>
                <a:cubicBezTo>
                  <a:pt x="506" y="1742"/>
                  <a:pt x="445" y="1763"/>
                  <a:pt x="349" y="1772"/>
                </a:cubicBezTo>
                <a:cubicBezTo>
                  <a:pt x="253" y="1781"/>
                  <a:pt x="73" y="1770"/>
                  <a:pt x="0" y="176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9" name="Freeform 7"/>
          <p:cNvSpPr>
            <a:spLocks/>
          </p:cNvSpPr>
          <p:nvPr/>
        </p:nvSpPr>
        <p:spPr bwMode="auto">
          <a:xfrm>
            <a:off x="5867400" y="2565400"/>
            <a:ext cx="1531938" cy="2827338"/>
          </a:xfrm>
          <a:custGeom>
            <a:avLst/>
            <a:gdLst>
              <a:gd name="T0" fmla="*/ 0 w 965"/>
              <a:gd name="T1" fmla="*/ 0 h 1781"/>
              <a:gd name="T2" fmla="*/ 2147483646 w 965"/>
              <a:gd name="T3" fmla="*/ 2147483646 h 1781"/>
              <a:gd name="T4" fmla="*/ 2147483646 w 965"/>
              <a:gd name="T5" fmla="*/ 2147483646 h 1781"/>
              <a:gd name="T6" fmla="*/ 2147483646 w 965"/>
              <a:gd name="T7" fmla="*/ 2147483646 h 1781"/>
              <a:gd name="T8" fmla="*/ 2147483646 w 965"/>
              <a:gd name="T9" fmla="*/ 2147483646 h 1781"/>
              <a:gd name="T10" fmla="*/ 2147483646 w 965"/>
              <a:gd name="T11" fmla="*/ 2147483646 h 1781"/>
              <a:gd name="T12" fmla="*/ 2147483646 w 965"/>
              <a:gd name="T13" fmla="*/ 2147483646 h 1781"/>
              <a:gd name="T14" fmla="*/ 2147483646 w 965"/>
              <a:gd name="T15" fmla="*/ 2147483646 h 1781"/>
              <a:gd name="T16" fmla="*/ 2147483646 w 965"/>
              <a:gd name="T17" fmla="*/ 2147483646 h 1781"/>
              <a:gd name="T18" fmla="*/ 2147483646 w 965"/>
              <a:gd name="T19" fmla="*/ 2147483646 h 1781"/>
              <a:gd name="T20" fmla="*/ 2147483646 w 965"/>
              <a:gd name="T21" fmla="*/ 2147483646 h 1781"/>
              <a:gd name="T22" fmla="*/ 0 w 965"/>
              <a:gd name="T23" fmla="*/ 2147483646 h 178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65"/>
              <a:gd name="T37" fmla="*/ 0 h 1781"/>
              <a:gd name="T38" fmla="*/ 965 w 965"/>
              <a:gd name="T39" fmla="*/ 1781 h 178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65" h="1781">
                <a:moveTo>
                  <a:pt x="0" y="0"/>
                </a:moveTo>
                <a:cubicBezTo>
                  <a:pt x="33" y="2"/>
                  <a:pt x="127" y="2"/>
                  <a:pt x="199" y="11"/>
                </a:cubicBezTo>
                <a:cubicBezTo>
                  <a:pt x="271" y="20"/>
                  <a:pt x="356" y="31"/>
                  <a:pt x="433" y="53"/>
                </a:cubicBezTo>
                <a:cubicBezTo>
                  <a:pt x="510" y="75"/>
                  <a:pt x="584" y="83"/>
                  <a:pt x="658" y="145"/>
                </a:cubicBezTo>
                <a:cubicBezTo>
                  <a:pt x="732" y="207"/>
                  <a:pt x="826" y="324"/>
                  <a:pt x="875" y="428"/>
                </a:cubicBezTo>
                <a:cubicBezTo>
                  <a:pt x="924" y="532"/>
                  <a:pt x="939" y="661"/>
                  <a:pt x="952" y="771"/>
                </a:cubicBezTo>
                <a:cubicBezTo>
                  <a:pt x="965" y="881"/>
                  <a:pt x="963" y="986"/>
                  <a:pt x="952" y="1089"/>
                </a:cubicBezTo>
                <a:cubicBezTo>
                  <a:pt x="941" y="1192"/>
                  <a:pt x="915" y="1302"/>
                  <a:pt x="883" y="1388"/>
                </a:cubicBezTo>
                <a:cubicBezTo>
                  <a:pt x="851" y="1474"/>
                  <a:pt x="809" y="1551"/>
                  <a:pt x="758" y="1605"/>
                </a:cubicBezTo>
                <a:cubicBezTo>
                  <a:pt x="707" y="1659"/>
                  <a:pt x="642" y="1686"/>
                  <a:pt x="574" y="1714"/>
                </a:cubicBezTo>
                <a:cubicBezTo>
                  <a:pt x="506" y="1742"/>
                  <a:pt x="445" y="1763"/>
                  <a:pt x="349" y="1772"/>
                </a:cubicBezTo>
                <a:cubicBezTo>
                  <a:pt x="253" y="1781"/>
                  <a:pt x="73" y="1770"/>
                  <a:pt x="0" y="176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187450" y="1916113"/>
            <a:ext cx="5170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根据所绘制的开环幅相曲线可看出： 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684213" y="620713"/>
            <a:ext cx="7416800" cy="968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Arial" panose="020B0604020202020204" pitchFamily="34" charset="0"/>
              </a:rPr>
              <a:t>      </a:t>
            </a:r>
            <a:r>
              <a:rPr lang="zh-CN" altLang="en-US" sz="2400" b="1">
                <a:latin typeface="Arial" panose="020B0604020202020204" pitchFamily="34" charset="0"/>
              </a:rPr>
              <a:t>系统开环传函存在一个原点处的极点，通过近似处理后，可认为开环传函无右半</a:t>
            </a:r>
            <a:r>
              <a:rPr lang="en-US" altLang="zh-CN" sz="2400" b="1">
                <a:latin typeface="Arial" panose="020B0604020202020204" pitchFamily="34" charset="0"/>
              </a:rPr>
              <a:t>s</a:t>
            </a:r>
            <a:r>
              <a:rPr lang="zh-CN" altLang="en-US" sz="2400" b="1">
                <a:latin typeface="Arial" panose="020B0604020202020204" pitchFamily="34" charset="0"/>
              </a:rPr>
              <a:t>平面极点，即</a:t>
            </a:r>
            <a:r>
              <a:rPr lang="en-US" altLang="zh-CN" sz="2400" b="1">
                <a:latin typeface="Arial" panose="020B0604020202020204" pitchFamily="34" charset="0"/>
              </a:rPr>
              <a:t>q=0.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692275" y="3068638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因此闭环系统稳定。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1116013" y="3860800"/>
            <a:ext cx="3201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2) </a:t>
            </a:r>
            <a:r>
              <a:rPr lang="zh-CN" altLang="en-US" sz="2400" b="1">
                <a:latin typeface="Arial" panose="020B0604020202020204" pitchFamily="34" charset="0"/>
              </a:rPr>
              <a:t>当 </a:t>
            </a:r>
            <a:r>
              <a:rPr lang="en-US" altLang="zh-CN" sz="2400" b="1">
                <a:latin typeface="Arial" panose="020B0604020202020204" pitchFamily="34" charset="0"/>
              </a:rPr>
              <a:t>K=40</a:t>
            </a:r>
            <a:r>
              <a:rPr lang="zh-CN" altLang="en-US" sz="2400" b="1">
                <a:latin typeface="Arial" panose="020B0604020202020204" pitchFamily="34" charset="0"/>
              </a:rPr>
              <a:t>时</a:t>
            </a:r>
            <a:r>
              <a:rPr lang="en-US" altLang="zh-CN" sz="2400" b="1">
                <a:latin typeface="Arial" panose="020B0604020202020204" pitchFamily="34" charset="0"/>
              </a:rPr>
              <a:t>, N=2</a:t>
            </a:r>
            <a:r>
              <a:rPr lang="en-US" altLang="zh-CN" sz="2400" b="1">
                <a:latin typeface="仿宋_GB2312"/>
              </a:rPr>
              <a:t>≠0</a:t>
            </a:r>
            <a:endParaRPr lang="en-US" altLang="zh-CN" sz="2400" b="1">
              <a:latin typeface="Arial" panose="020B0604020202020204" pitchFamily="34" charset="0"/>
            </a:endParaRP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1042988" y="2492375"/>
            <a:ext cx="2990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 1). </a:t>
            </a:r>
            <a:r>
              <a:rPr lang="zh-CN" altLang="en-US" sz="2400" b="1">
                <a:latin typeface="Arial" panose="020B0604020202020204" pitchFamily="34" charset="0"/>
              </a:rPr>
              <a:t>当 </a:t>
            </a:r>
            <a:r>
              <a:rPr lang="en-US" altLang="zh-CN" sz="2400" b="1">
                <a:latin typeface="Arial" panose="020B0604020202020204" pitchFamily="34" charset="0"/>
              </a:rPr>
              <a:t>K=10</a:t>
            </a:r>
            <a:r>
              <a:rPr lang="zh-CN" altLang="en-US" sz="2400" b="1">
                <a:latin typeface="Arial" panose="020B0604020202020204" pitchFamily="34" charset="0"/>
              </a:rPr>
              <a:t>时</a:t>
            </a:r>
            <a:r>
              <a:rPr lang="en-US" altLang="zh-CN" sz="2400" b="1">
                <a:latin typeface="Arial" panose="020B0604020202020204" pitchFamily="34" charset="0"/>
              </a:rPr>
              <a:t>, N=0.</a:t>
            </a: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1692275" y="4724400"/>
            <a:ext cx="333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因此，闭环系统不稳定</a:t>
            </a:r>
            <a:r>
              <a:rPr lang="en-US" altLang="zh-CN" sz="2400" b="1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59" grpId="0" animBg="1"/>
      <p:bldP spid="45060" grpId="0"/>
      <p:bldP spid="45061" grpId="0"/>
      <p:bldP spid="45062" grpId="0"/>
      <p:bldP spid="450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3E8A809-E4B3-45DD-BCB5-5DC588EEC057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3174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6A7DC76-EA59-41EE-8BFF-A8F4540594F0}" type="slidenum">
              <a:rPr lang="en-US" altLang="zh-CN" smtClean="0"/>
              <a:pPr/>
              <a:t>20</a:t>
            </a:fld>
            <a:endParaRPr lang="en-US" altLang="zh-CN" smtClean="0"/>
          </a:p>
        </p:txBody>
      </p:sp>
      <p:grpSp>
        <p:nvGrpSpPr>
          <p:cNvPr id="31748" name="Group 3"/>
          <p:cNvGrpSpPr>
            <a:grpSpLocks/>
          </p:cNvGrpSpPr>
          <p:nvPr/>
        </p:nvGrpSpPr>
        <p:grpSpPr bwMode="auto">
          <a:xfrm>
            <a:off x="1116013" y="1773238"/>
            <a:ext cx="7086600" cy="2209800"/>
            <a:chOff x="912" y="1200"/>
            <a:chExt cx="4464" cy="1392"/>
          </a:xfrm>
        </p:grpSpPr>
        <p:sp>
          <p:nvSpPr>
            <p:cNvPr id="31752" name="Text Box 4"/>
            <p:cNvSpPr txBox="1">
              <a:spLocks noChangeArrowheads="1"/>
            </p:cNvSpPr>
            <p:nvPr/>
          </p:nvSpPr>
          <p:spPr bwMode="auto">
            <a:xfrm>
              <a:off x="912" y="1200"/>
              <a:ext cx="4416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buFont typeface="Wingdings" panose="05000000000000000000" pitchFamily="2" charset="2"/>
                <a:buChar char="ü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</a:t>
              </a:r>
              <a:r>
                <a:rPr lang="en-US" altLang="zh-CN" sz="2800">
                  <a:latin typeface="Times New Roman" panose="02020603050405020304" pitchFamily="18" charset="0"/>
                </a:rPr>
                <a:t>3</a:t>
              </a:r>
              <a:r>
                <a:rPr lang="zh-CN" altLang="en-US" sz="2800">
                  <a:latin typeface="Times New Roman" panose="02020603050405020304" pitchFamily="18" charset="0"/>
                </a:rPr>
                <a:t>：已知系统的开环传递函数为</a:t>
              </a:r>
            </a:p>
          </p:txBody>
        </p:sp>
        <p:graphicFrame>
          <p:nvGraphicFramePr>
            <p:cNvPr id="31753" name="Object 4"/>
            <p:cNvGraphicFramePr>
              <a:graphicFrameLocks noChangeAspect="1"/>
            </p:cNvGraphicFramePr>
            <p:nvPr/>
          </p:nvGraphicFramePr>
          <p:xfrm>
            <a:off x="1523" y="1603"/>
            <a:ext cx="2378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5" r:id="rId3" imgW="1841500" imgH="431800" progId="Equation.3">
                    <p:embed/>
                  </p:oleObj>
                </mc:Choice>
                <mc:Fallback>
                  <p:oleObj r:id="rId3" imgW="1841500" imgH="431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3" y="1603"/>
                          <a:ext cx="2378" cy="5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4" name="Text Box 6"/>
            <p:cNvSpPr txBox="1">
              <a:spLocks noChangeArrowheads="1"/>
            </p:cNvSpPr>
            <p:nvPr/>
          </p:nvSpPr>
          <p:spPr bwMode="auto">
            <a:xfrm>
              <a:off x="1152" y="2225"/>
              <a:ext cx="422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lang="zh-CN" altLang="en-US" sz="2800">
                  <a:latin typeface="Times New Roman" panose="02020603050405020304" pitchFamily="18" charset="0"/>
                </a:rPr>
                <a:t>应用</a:t>
              </a:r>
              <a:r>
                <a:rPr lang="en-US" altLang="zh-CN" sz="2800">
                  <a:latin typeface="Times New Roman" panose="02020603050405020304" pitchFamily="18" charset="0"/>
                </a:rPr>
                <a:t>Nyquist</a:t>
              </a:r>
              <a:r>
                <a:rPr lang="zh-CN" altLang="en-US" sz="2800">
                  <a:latin typeface="Times New Roman" panose="02020603050405020304" pitchFamily="18" charset="0"/>
                </a:rPr>
                <a:t>判据判别闭环系统的稳定性。</a:t>
              </a:r>
            </a:p>
          </p:txBody>
        </p:sp>
      </p:grpSp>
      <p:sp>
        <p:nvSpPr>
          <p:cNvPr id="300039" name="Text Box 7"/>
          <p:cNvSpPr txBox="1">
            <a:spLocks noChangeArrowheads="1"/>
          </p:cNvSpPr>
          <p:nvPr/>
        </p:nvSpPr>
        <p:spPr bwMode="auto">
          <a:xfrm>
            <a:off x="1828800" y="4294188"/>
            <a:ext cx="67056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解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411648" name="Object 2"/>
          <p:cNvGraphicFramePr>
            <a:graphicFrameLocks noChangeAspect="1"/>
          </p:cNvGraphicFramePr>
          <p:nvPr/>
        </p:nvGraphicFramePr>
        <p:xfrm>
          <a:off x="2692400" y="4267200"/>
          <a:ext cx="41656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r:id="rId5" imgW="2032000" imgH="482600" progId="Equation.3">
                  <p:embed/>
                </p:oleObj>
              </mc:Choice>
              <mc:Fallback>
                <p:oleObj r:id="rId5" imgW="20320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4267200"/>
                        <a:ext cx="41656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49" name="Object 3"/>
          <p:cNvGraphicFramePr>
            <a:graphicFrameLocks noChangeAspect="1"/>
          </p:cNvGraphicFramePr>
          <p:nvPr/>
        </p:nvGraphicFramePr>
        <p:xfrm>
          <a:off x="2654300" y="5410200"/>
          <a:ext cx="57277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r:id="rId7" imgW="2794000" imgH="457200" progId="Equation.3">
                  <p:embed/>
                </p:oleObj>
              </mc:Choice>
              <mc:Fallback>
                <p:oleObj r:id="rId7" imgW="27940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5410200"/>
                        <a:ext cx="57277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1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1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1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1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207B0B3-96CE-4E45-8F12-EE98B5C4D46A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3277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ABA5DC3-A36E-4B15-8960-DC3DBFC70D38}" type="slidenum">
              <a:rPr lang="en-US" altLang="zh-CN" smtClean="0"/>
              <a:pPr/>
              <a:t>21</a:t>
            </a:fld>
            <a:endParaRPr lang="en-US" altLang="zh-CN" smtClean="0"/>
          </a:p>
        </p:txBody>
      </p:sp>
      <p:grpSp>
        <p:nvGrpSpPr>
          <p:cNvPr id="31748" name="Group 3"/>
          <p:cNvGrpSpPr>
            <a:grpSpLocks/>
          </p:cNvGrpSpPr>
          <p:nvPr/>
        </p:nvGrpSpPr>
        <p:grpSpPr bwMode="auto">
          <a:xfrm>
            <a:off x="1447800" y="1828800"/>
            <a:ext cx="5991225" cy="614363"/>
            <a:chOff x="912" y="1152"/>
            <a:chExt cx="3774" cy="387"/>
          </a:xfrm>
        </p:grpSpPr>
        <p:sp>
          <p:nvSpPr>
            <p:cNvPr id="32782" name="Rectangle 4"/>
            <p:cNvSpPr>
              <a:spLocks noChangeArrowheads="1"/>
            </p:cNvSpPr>
            <p:nvPr/>
          </p:nvSpPr>
          <p:spPr bwMode="auto">
            <a:xfrm>
              <a:off x="912" y="1169"/>
              <a:ext cx="2155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buFont typeface="Wingdings" panose="05000000000000000000" pitchFamily="2" charset="2"/>
                <a:buChar char="§"/>
              </a:pPr>
              <a:r>
                <a:rPr lang="en-US" altLang="zh-CN" sz="2800" i="1">
                  <a:latin typeface="Times New Roman" panose="02020603050405020304" pitchFamily="18" charset="0"/>
                </a:rPr>
                <a:t> 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zh-CN" altLang="en-US" sz="2800">
                  <a:latin typeface="Times New Roman" panose="02020603050405020304" pitchFamily="18" charset="0"/>
                </a:rPr>
                <a:t>＝</a:t>
              </a:r>
              <a:r>
                <a:rPr lang="en-US" altLang="zh-CN" sz="2800">
                  <a:latin typeface="Times New Roman" panose="02020603050405020304" pitchFamily="18" charset="0"/>
                </a:rPr>
                <a:t>0+</a:t>
              </a:r>
              <a:r>
                <a:rPr lang="zh-CN" altLang="en-US" sz="2800">
                  <a:latin typeface="Times New Roman" panose="02020603050405020304" pitchFamily="18" charset="0"/>
                </a:rPr>
                <a:t>：  </a:t>
              </a:r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>
                  <a:latin typeface="Times New Roman" panose="02020603050405020304" pitchFamily="18" charset="0"/>
                </a:rPr>
                <a:t>(0+)</a:t>
              </a:r>
              <a:r>
                <a:rPr lang="zh-CN" altLang="en-US" sz="2800">
                  <a:latin typeface="Times New Roman" panose="02020603050405020304" pitchFamily="18" charset="0"/>
                </a:rPr>
                <a:t>＝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2783" name="Rectangle 5"/>
            <p:cNvSpPr>
              <a:spLocks noChangeArrowheads="1"/>
            </p:cNvSpPr>
            <p:nvPr/>
          </p:nvSpPr>
          <p:spPr bwMode="auto">
            <a:xfrm>
              <a:off x="3024" y="1152"/>
              <a:ext cx="1662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800">
                  <a:latin typeface="Times New Roman" panose="02020603050405020304" pitchFamily="18" charset="0"/>
                </a:rPr>
                <a:t>(0+)</a:t>
              </a:r>
              <a:r>
                <a:rPr lang="zh-CN" altLang="en-US" sz="2800">
                  <a:latin typeface="Times New Roman" panose="02020603050405020304" pitchFamily="18" charset="0"/>
                </a:rPr>
                <a:t>＝－</a:t>
              </a:r>
              <a:r>
                <a:rPr lang="en-US" altLang="zh-CN" sz="2800">
                  <a:latin typeface="Times New Roman" panose="02020603050405020304" pitchFamily="18" charset="0"/>
                </a:rPr>
                <a:t>270°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458913" y="2514600"/>
            <a:ext cx="5619750" cy="582613"/>
            <a:chOff x="919" y="1584"/>
            <a:chExt cx="3540" cy="367"/>
          </a:xfrm>
        </p:grpSpPr>
        <p:sp>
          <p:nvSpPr>
            <p:cNvPr id="32780" name="Rectangle 7"/>
            <p:cNvSpPr>
              <a:spLocks noChangeArrowheads="1"/>
            </p:cNvSpPr>
            <p:nvPr/>
          </p:nvSpPr>
          <p:spPr bwMode="auto">
            <a:xfrm>
              <a:off x="919" y="1584"/>
              <a:ext cx="1875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buFont typeface="Wingdings" panose="05000000000000000000" pitchFamily="2" charset="2"/>
                <a:buChar char="§"/>
              </a:pPr>
              <a:r>
                <a:rPr lang="en-US" altLang="zh-CN" sz="2800" i="1">
                  <a:latin typeface="Times New Roman" panose="02020603050405020304" pitchFamily="18" charset="0"/>
                </a:rPr>
                <a:t> 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zh-CN" altLang="en-US" sz="2800">
                  <a:latin typeface="Times New Roman" panose="02020603050405020304" pitchFamily="18" charset="0"/>
                </a:rPr>
                <a:t>＝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zh-CN" altLang="en-US" sz="2800">
                  <a:latin typeface="Times New Roman" panose="02020603050405020304" pitchFamily="18" charset="0"/>
                </a:rPr>
                <a:t>：</a:t>
              </a:r>
              <a:r>
                <a:rPr lang="zh-CN" altLang="en-US" sz="2800" i="1">
                  <a:latin typeface="Times New Roman" panose="02020603050405020304" pitchFamily="18" charset="0"/>
                </a:rPr>
                <a:t> </a:t>
              </a:r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  <a:r>
                <a:rPr lang="zh-CN" altLang="en-US" sz="2800">
                  <a:latin typeface="Times New Roman" panose="02020603050405020304" pitchFamily="18" charset="0"/>
                </a:rPr>
                <a:t>＝</a:t>
              </a:r>
              <a:r>
                <a:rPr lang="en-US" altLang="zh-CN" sz="2800">
                  <a:latin typeface="Times New Roman" panose="02020603050405020304" pitchFamily="18" charset="0"/>
                </a:rPr>
                <a:t>0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81" name="Rectangle 8"/>
            <p:cNvSpPr>
              <a:spLocks noChangeArrowheads="1"/>
            </p:cNvSpPr>
            <p:nvPr/>
          </p:nvSpPr>
          <p:spPr bwMode="auto">
            <a:xfrm>
              <a:off x="3024" y="1593"/>
              <a:ext cx="143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r>
                <a:rPr lang="en-US" altLang="zh-CN" sz="2800">
                  <a:latin typeface="Times New Roman" panose="02020603050405020304" pitchFamily="18" charset="0"/>
                </a:rPr>
                <a:t>(</a:t>
              </a:r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zh-CN" sz="2800">
                  <a:latin typeface="Times New Roman" panose="02020603050405020304" pitchFamily="18" charset="0"/>
                </a:rPr>
                <a:t>)</a:t>
              </a:r>
              <a:r>
                <a:rPr lang="zh-CN" altLang="en-US" sz="2800">
                  <a:latin typeface="Times New Roman" panose="02020603050405020304" pitchFamily="18" charset="0"/>
                </a:rPr>
                <a:t>＝－</a:t>
              </a:r>
              <a:r>
                <a:rPr lang="en-US" altLang="zh-CN" sz="2800">
                  <a:latin typeface="Times New Roman" panose="02020603050405020304" pitchFamily="18" charset="0"/>
                </a:rPr>
                <a:t>270°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447800" y="3200400"/>
            <a:ext cx="7040563" cy="1600200"/>
            <a:chOff x="912" y="2016"/>
            <a:chExt cx="4435" cy="1008"/>
          </a:xfrm>
        </p:grpSpPr>
        <p:sp>
          <p:nvSpPr>
            <p:cNvPr id="32778" name="Rectangle 10"/>
            <p:cNvSpPr>
              <a:spLocks noChangeArrowheads="1"/>
            </p:cNvSpPr>
            <p:nvPr/>
          </p:nvSpPr>
          <p:spPr bwMode="auto">
            <a:xfrm>
              <a:off x="912" y="2016"/>
              <a:ext cx="106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lang="zh-CN" altLang="en-US" sz="2800">
                  <a:latin typeface="Times New Roman" panose="02020603050405020304" pitchFamily="18" charset="0"/>
                </a:rPr>
                <a:t>注意到：</a:t>
              </a:r>
              <a:r>
                <a:rPr lang="zh-CN" altLang="en-US" sz="2800" i="1">
                  <a:latin typeface="Times New Roman" panose="02020603050405020304" pitchFamily="18" charset="0"/>
                </a:rPr>
                <a:t> 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2779" name="Object 2"/>
            <p:cNvGraphicFramePr>
              <a:graphicFrameLocks noChangeAspect="1"/>
            </p:cNvGraphicFramePr>
            <p:nvPr/>
          </p:nvGraphicFramePr>
          <p:xfrm>
            <a:off x="935" y="2403"/>
            <a:ext cx="4412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4" r:id="rId3" imgW="3416300" imgH="482600" progId="Equation.3">
                    <p:embed/>
                  </p:oleObj>
                </mc:Choice>
                <mc:Fallback>
                  <p:oleObj r:id="rId3" imgW="3416300" imgH="48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2403"/>
                          <a:ext cx="4412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1068" name="Rectangle 12"/>
          <p:cNvSpPr>
            <a:spLocks noChangeArrowheads="1"/>
          </p:cNvSpPr>
          <p:nvPr/>
        </p:nvSpPr>
        <p:spPr bwMode="auto">
          <a:xfrm>
            <a:off x="1447800" y="494665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即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baseline="-16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baseline="-16000">
                <a:latin typeface="Times New Roman" panose="02020603050405020304" pitchFamily="18" charset="0"/>
              </a:rPr>
              <a:t>2 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曲线位于第二象限。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i="1">
                <a:latin typeface="Times New Roman" panose="02020603050405020304" pitchFamily="18" charset="0"/>
              </a:rPr>
              <a:t>    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baseline="-16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</a:rPr>
              <a:t>&gt;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900" baseline="-16000">
                <a:latin typeface="Times New Roman" panose="02020603050405020304" pitchFamily="18" charset="0"/>
              </a:rPr>
              <a:t>2 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曲线位于第一象限。</a:t>
            </a:r>
            <a:r>
              <a:rPr lang="zh-CN" altLang="en-US" sz="2800" i="1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2776" name="Object 2"/>
          <p:cNvGraphicFramePr>
            <a:graphicFrameLocks noChangeAspect="1"/>
          </p:cNvGraphicFramePr>
          <p:nvPr/>
        </p:nvGraphicFramePr>
        <p:xfrm>
          <a:off x="1258888" y="93663"/>
          <a:ext cx="41656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5" r:id="rId5" imgW="2032000" imgH="482600" progId="Equation.3">
                  <p:embed/>
                </p:oleObj>
              </mc:Choice>
              <mc:Fallback>
                <p:oleObj r:id="rId5" imgW="20320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93663"/>
                        <a:ext cx="41656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3"/>
          <p:cNvGraphicFramePr>
            <a:graphicFrameLocks noChangeAspect="1"/>
          </p:cNvGraphicFramePr>
          <p:nvPr/>
        </p:nvGraphicFramePr>
        <p:xfrm>
          <a:off x="1238250" y="1150938"/>
          <a:ext cx="46069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r:id="rId7" imgW="2247900" imgH="215900" progId="Equation.3">
                  <p:embed/>
                </p:oleObj>
              </mc:Choice>
              <mc:Fallback>
                <p:oleObj r:id="rId7" imgW="22479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1150938"/>
                        <a:ext cx="46069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1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1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81C96E1-5231-4A21-8963-E722AA31FBEA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337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458D01F-F49C-4F95-BCF8-F134CD29608C}" type="slidenum">
              <a:rPr lang="en-US" altLang="zh-CN" smtClean="0"/>
              <a:pPr/>
              <a:t>22</a:t>
            </a:fld>
            <a:endParaRPr lang="en-US" altLang="zh-CN" smtClean="0"/>
          </a:p>
        </p:txBody>
      </p:sp>
      <p:grpSp>
        <p:nvGrpSpPr>
          <p:cNvPr id="33796" name="Group 3"/>
          <p:cNvGrpSpPr>
            <a:grpSpLocks/>
          </p:cNvGrpSpPr>
          <p:nvPr/>
        </p:nvGrpSpPr>
        <p:grpSpPr bwMode="auto">
          <a:xfrm>
            <a:off x="1676400" y="1066800"/>
            <a:ext cx="5153025" cy="4038600"/>
            <a:chOff x="912" y="528"/>
            <a:chExt cx="3246" cy="2544"/>
          </a:xfrm>
        </p:grpSpPr>
        <p:sp>
          <p:nvSpPr>
            <p:cNvPr id="33798" name="Line 4"/>
            <p:cNvSpPr>
              <a:spLocks noChangeShapeType="1"/>
            </p:cNvSpPr>
            <p:nvPr/>
          </p:nvSpPr>
          <p:spPr bwMode="auto">
            <a:xfrm>
              <a:off x="1200" y="2352"/>
              <a:ext cx="28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9" name="Line 5"/>
            <p:cNvSpPr>
              <a:spLocks noChangeShapeType="1"/>
            </p:cNvSpPr>
            <p:nvPr/>
          </p:nvSpPr>
          <p:spPr bwMode="auto">
            <a:xfrm flipV="1">
              <a:off x="2736" y="672"/>
              <a:ext cx="0" cy="24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0" name="Freeform 6"/>
            <p:cNvSpPr>
              <a:spLocks noChangeArrowheads="1"/>
            </p:cNvSpPr>
            <p:nvPr/>
          </p:nvSpPr>
          <p:spPr bwMode="auto">
            <a:xfrm>
              <a:off x="2193" y="1152"/>
              <a:ext cx="552" cy="1200"/>
            </a:xfrm>
            <a:custGeom>
              <a:avLst/>
              <a:gdLst>
                <a:gd name="T0" fmla="*/ 0 w 552"/>
                <a:gd name="T1" fmla="*/ 0 h 1200"/>
                <a:gd name="T2" fmla="*/ 96 w 552"/>
                <a:gd name="T3" fmla="*/ 576 h 1200"/>
                <a:gd name="T4" fmla="*/ 480 w 552"/>
                <a:gd name="T5" fmla="*/ 1056 h 1200"/>
                <a:gd name="T6" fmla="*/ 528 w 552"/>
                <a:gd name="T7" fmla="*/ 120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2" h="1200">
                  <a:moveTo>
                    <a:pt x="0" y="0"/>
                  </a:moveTo>
                  <a:cubicBezTo>
                    <a:pt x="8" y="200"/>
                    <a:pt x="16" y="400"/>
                    <a:pt x="96" y="576"/>
                  </a:cubicBezTo>
                  <a:cubicBezTo>
                    <a:pt x="176" y="752"/>
                    <a:pt x="408" y="952"/>
                    <a:pt x="480" y="1056"/>
                  </a:cubicBezTo>
                  <a:cubicBezTo>
                    <a:pt x="552" y="1160"/>
                    <a:pt x="540" y="1180"/>
                    <a:pt x="528" y="1200"/>
                  </a:cubicBezTo>
                </a:path>
              </a:pathLst>
            </a:custGeom>
            <a:noFill/>
            <a:ln w="22225">
              <a:solidFill>
                <a:srgbClr val="3333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Freeform 7"/>
            <p:cNvSpPr>
              <a:spLocks noChangeArrowheads="1"/>
            </p:cNvSpPr>
            <p:nvPr/>
          </p:nvSpPr>
          <p:spPr bwMode="auto">
            <a:xfrm flipH="1">
              <a:off x="2718" y="1008"/>
              <a:ext cx="552" cy="1344"/>
            </a:xfrm>
            <a:custGeom>
              <a:avLst/>
              <a:gdLst>
                <a:gd name="T0" fmla="*/ 0 w 552"/>
                <a:gd name="T1" fmla="*/ 0 h 1200"/>
                <a:gd name="T2" fmla="*/ 96 w 552"/>
                <a:gd name="T3" fmla="*/ 722 h 1200"/>
                <a:gd name="T4" fmla="*/ 480 w 552"/>
                <a:gd name="T5" fmla="*/ 1325 h 1200"/>
                <a:gd name="T6" fmla="*/ 528 w 552"/>
                <a:gd name="T7" fmla="*/ 1505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2" h="1200">
                  <a:moveTo>
                    <a:pt x="0" y="0"/>
                  </a:moveTo>
                  <a:cubicBezTo>
                    <a:pt x="8" y="200"/>
                    <a:pt x="16" y="400"/>
                    <a:pt x="96" y="576"/>
                  </a:cubicBezTo>
                  <a:cubicBezTo>
                    <a:pt x="176" y="752"/>
                    <a:pt x="408" y="952"/>
                    <a:pt x="480" y="1056"/>
                  </a:cubicBezTo>
                  <a:cubicBezTo>
                    <a:pt x="552" y="1160"/>
                    <a:pt x="540" y="1180"/>
                    <a:pt x="528" y="1200"/>
                  </a:cubicBezTo>
                </a:path>
              </a:pathLst>
            </a:custGeom>
            <a:noFill/>
            <a:ln w="222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2" name="Arc 8"/>
            <p:cNvSpPr>
              <a:spLocks noChangeArrowheads="1"/>
            </p:cNvSpPr>
            <p:nvPr/>
          </p:nvSpPr>
          <p:spPr bwMode="auto">
            <a:xfrm flipH="1">
              <a:off x="1248" y="1152"/>
              <a:ext cx="960" cy="1200"/>
            </a:xfrm>
            <a:custGeom>
              <a:avLst/>
              <a:gdLst>
                <a:gd name="T0" fmla="*/ 0 w 21600"/>
                <a:gd name="T1" fmla="*/ 0 h 23538"/>
                <a:gd name="T2" fmla="*/ 43 w 21600"/>
                <a:gd name="T3" fmla="*/ 56 h 23538"/>
                <a:gd name="T4" fmla="*/ 42 w 21600"/>
                <a:gd name="T5" fmla="*/ 61 h 23538"/>
                <a:gd name="T6" fmla="*/ 0 w 21600"/>
                <a:gd name="T7" fmla="*/ 0 h 23538"/>
                <a:gd name="T8" fmla="*/ 43 w 21600"/>
                <a:gd name="T9" fmla="*/ 56 h 23538"/>
                <a:gd name="T10" fmla="*/ 42 w 21600"/>
                <a:gd name="T11" fmla="*/ 61 h 23538"/>
                <a:gd name="T12" fmla="*/ 0 w 21600"/>
                <a:gd name="T13" fmla="*/ 56 h 23538"/>
                <a:gd name="T14" fmla="*/ 0 w 21600"/>
                <a:gd name="T15" fmla="*/ 0 h 235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23538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246"/>
                    <a:pt x="21570" y="22893"/>
                    <a:pt x="21512" y="23537"/>
                  </a:cubicBezTo>
                </a:path>
                <a:path w="21600" h="23538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246"/>
                    <a:pt x="21570" y="22893"/>
                    <a:pt x="21512" y="2353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2225">
              <a:solidFill>
                <a:srgbClr val="3333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3" name="Arc 9"/>
            <p:cNvSpPr>
              <a:spLocks noChangeArrowheads="1"/>
            </p:cNvSpPr>
            <p:nvPr/>
          </p:nvSpPr>
          <p:spPr bwMode="auto">
            <a:xfrm flipH="1">
              <a:off x="1680" y="1008"/>
              <a:ext cx="1584" cy="1344"/>
            </a:xfrm>
            <a:custGeom>
              <a:avLst/>
              <a:gdLst>
                <a:gd name="T0" fmla="*/ 0 w 21600"/>
                <a:gd name="T1" fmla="*/ 0 h 23538"/>
                <a:gd name="T2" fmla="*/ 116 w 21600"/>
                <a:gd name="T3" fmla="*/ 70 h 23538"/>
                <a:gd name="T4" fmla="*/ 116 w 21600"/>
                <a:gd name="T5" fmla="*/ 77 h 23538"/>
                <a:gd name="T6" fmla="*/ 0 w 21600"/>
                <a:gd name="T7" fmla="*/ 0 h 23538"/>
                <a:gd name="T8" fmla="*/ 116 w 21600"/>
                <a:gd name="T9" fmla="*/ 70 h 23538"/>
                <a:gd name="T10" fmla="*/ 116 w 21600"/>
                <a:gd name="T11" fmla="*/ 77 h 23538"/>
                <a:gd name="T12" fmla="*/ 0 w 21600"/>
                <a:gd name="T13" fmla="*/ 70 h 23538"/>
                <a:gd name="T14" fmla="*/ 0 w 21600"/>
                <a:gd name="T15" fmla="*/ 0 h 235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23538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246"/>
                    <a:pt x="21570" y="22893"/>
                    <a:pt x="21512" y="23537"/>
                  </a:cubicBezTo>
                </a:path>
                <a:path w="21600" h="23538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246"/>
                    <a:pt x="21570" y="22893"/>
                    <a:pt x="21512" y="2353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2225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4" name="Rectangle 10"/>
            <p:cNvSpPr>
              <a:spLocks noChangeArrowheads="1"/>
            </p:cNvSpPr>
            <p:nvPr/>
          </p:nvSpPr>
          <p:spPr bwMode="auto">
            <a:xfrm>
              <a:off x="1920" y="1929"/>
              <a:ext cx="6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3333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900" baseline="-16000">
                  <a:solidFill>
                    <a:srgbClr val="3333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>
                  <a:solidFill>
                    <a:srgbClr val="3333FF"/>
                  </a:solidFill>
                  <a:latin typeface="Times New Roman" panose="02020603050405020304" pitchFamily="18" charset="0"/>
                </a:rPr>
                <a:t>&lt;</a:t>
              </a:r>
              <a:r>
                <a:rPr lang="en-US" altLang="zh-CN" sz="2800" i="1">
                  <a:solidFill>
                    <a:srgbClr val="3333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900" baseline="-16000">
                  <a:solidFill>
                    <a:srgbClr val="3333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805" name="Rectangle 11"/>
            <p:cNvSpPr>
              <a:spLocks noChangeArrowheads="1"/>
            </p:cNvSpPr>
            <p:nvPr/>
          </p:nvSpPr>
          <p:spPr bwMode="auto">
            <a:xfrm>
              <a:off x="3100" y="1680"/>
              <a:ext cx="6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900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900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806" name="Rectangle 12"/>
            <p:cNvSpPr>
              <a:spLocks noChangeArrowheads="1"/>
            </p:cNvSpPr>
            <p:nvPr/>
          </p:nvSpPr>
          <p:spPr bwMode="auto">
            <a:xfrm>
              <a:off x="1392" y="2304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33807" name="Rectangle 13"/>
            <p:cNvSpPr>
              <a:spLocks noChangeArrowheads="1"/>
            </p:cNvSpPr>
            <p:nvPr/>
          </p:nvSpPr>
          <p:spPr bwMode="auto">
            <a:xfrm>
              <a:off x="2688" y="2256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3808" name="Text Box 14"/>
            <p:cNvSpPr txBox="1">
              <a:spLocks noChangeArrowheads="1"/>
            </p:cNvSpPr>
            <p:nvPr/>
          </p:nvSpPr>
          <p:spPr bwMode="auto">
            <a:xfrm>
              <a:off x="2524" y="230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3809" name="Rectangle 15"/>
            <p:cNvSpPr>
              <a:spLocks noChangeArrowheads="1"/>
            </p:cNvSpPr>
            <p:nvPr/>
          </p:nvSpPr>
          <p:spPr bwMode="auto">
            <a:xfrm>
              <a:off x="1876" y="912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3333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3333FF"/>
                  </a:solidFill>
                  <a:latin typeface="Times New Roman" panose="02020603050405020304" pitchFamily="18" charset="0"/>
                </a:rPr>
                <a:t> =0</a:t>
              </a:r>
              <a:r>
                <a:rPr lang="en-US" altLang="zh-CN" sz="2400" baseline="40000">
                  <a:solidFill>
                    <a:srgbClr val="3333FF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3810" name="Rectangle 16"/>
            <p:cNvSpPr>
              <a:spLocks noChangeArrowheads="1"/>
            </p:cNvSpPr>
            <p:nvPr/>
          </p:nvSpPr>
          <p:spPr bwMode="auto">
            <a:xfrm>
              <a:off x="3840" y="235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33811" name="Rectangle 17"/>
            <p:cNvSpPr>
              <a:spLocks noChangeArrowheads="1"/>
            </p:cNvSpPr>
            <p:nvPr/>
          </p:nvSpPr>
          <p:spPr bwMode="auto">
            <a:xfrm>
              <a:off x="2417" y="528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33812" name="Rectangle 18"/>
            <p:cNvSpPr>
              <a:spLocks noChangeArrowheads="1"/>
            </p:cNvSpPr>
            <p:nvPr/>
          </p:nvSpPr>
          <p:spPr bwMode="auto">
            <a:xfrm>
              <a:off x="912" y="2304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3333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3333FF"/>
                  </a:solidFill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33813" name="Rectangle 19"/>
            <p:cNvSpPr>
              <a:spLocks noChangeArrowheads="1"/>
            </p:cNvSpPr>
            <p:nvPr/>
          </p:nvSpPr>
          <p:spPr bwMode="auto">
            <a:xfrm>
              <a:off x="3028" y="768"/>
              <a:ext cx="5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 =0</a:t>
              </a:r>
              <a:r>
                <a:rPr lang="en-US" altLang="zh-CN" sz="2400" baseline="4000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3814" name="Freeform 20"/>
            <p:cNvSpPr>
              <a:spLocks noChangeArrowheads="1"/>
            </p:cNvSpPr>
            <p:nvPr/>
          </p:nvSpPr>
          <p:spPr bwMode="auto">
            <a:xfrm>
              <a:off x="3006" y="1401"/>
              <a:ext cx="162" cy="414"/>
            </a:xfrm>
            <a:custGeom>
              <a:avLst/>
              <a:gdLst>
                <a:gd name="T0" fmla="*/ 137 w 192"/>
                <a:gd name="T1" fmla="*/ 0 h 576"/>
                <a:gd name="T2" fmla="*/ 103 w 192"/>
                <a:gd name="T3" fmla="*/ 149 h 576"/>
                <a:gd name="T4" fmla="*/ 0 w 192"/>
                <a:gd name="T5" fmla="*/ 298 h 5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576">
                  <a:moveTo>
                    <a:pt x="192" y="0"/>
                  </a:moveTo>
                  <a:cubicBezTo>
                    <a:pt x="184" y="96"/>
                    <a:pt x="176" y="192"/>
                    <a:pt x="144" y="288"/>
                  </a:cubicBezTo>
                  <a:cubicBezTo>
                    <a:pt x="112" y="384"/>
                    <a:pt x="24" y="528"/>
                    <a:pt x="0" y="57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Freeform 21"/>
            <p:cNvSpPr>
              <a:spLocks noChangeArrowheads="1"/>
            </p:cNvSpPr>
            <p:nvPr/>
          </p:nvSpPr>
          <p:spPr bwMode="auto">
            <a:xfrm>
              <a:off x="2256" y="1374"/>
              <a:ext cx="144" cy="432"/>
            </a:xfrm>
            <a:custGeom>
              <a:avLst/>
              <a:gdLst>
                <a:gd name="T0" fmla="*/ 0 w 144"/>
                <a:gd name="T1" fmla="*/ 0 h 432"/>
                <a:gd name="T2" fmla="*/ 48 w 144"/>
                <a:gd name="T3" fmla="*/ 240 h 432"/>
                <a:gd name="T4" fmla="*/ 144 w 144"/>
                <a:gd name="T5" fmla="*/ 432 h 4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432">
                  <a:moveTo>
                    <a:pt x="0" y="0"/>
                  </a:moveTo>
                  <a:cubicBezTo>
                    <a:pt x="12" y="84"/>
                    <a:pt x="24" y="168"/>
                    <a:pt x="48" y="240"/>
                  </a:cubicBezTo>
                  <a:cubicBezTo>
                    <a:pt x="72" y="312"/>
                    <a:pt x="108" y="372"/>
                    <a:pt x="144" y="432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2102" name="Rectangle 22"/>
          <p:cNvSpPr>
            <a:spLocks noChangeArrowheads="1"/>
          </p:cNvSpPr>
          <p:nvPr/>
        </p:nvSpPr>
        <p:spPr bwMode="auto">
          <a:xfrm>
            <a:off x="1447800" y="5175250"/>
            <a:ext cx="7086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由图可见，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曲线顺时针包围</a:t>
            </a:r>
            <a:r>
              <a:rPr lang="en-US" altLang="zh-CN" sz="2800">
                <a:latin typeface="Times New Roman" panose="02020603050405020304" pitchFamily="18" charset="0"/>
              </a:rPr>
              <a:t>(-1,  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0 )</a:t>
            </a:r>
            <a:r>
              <a:rPr lang="zh-CN" altLang="en-US" sz="2800">
                <a:latin typeface="Times New Roman" panose="02020603050405020304" pitchFamily="18" charset="0"/>
              </a:rPr>
              <a:t>点半次，而</a:t>
            </a:r>
            <a:r>
              <a:rPr lang="en-US" altLang="zh-CN" sz="2800" i="1">
                <a:latin typeface="Times New Roman" panose="02020603050405020304" pitchFamily="18" charset="0"/>
              </a:rPr>
              <a:t>q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，系统闭环不稳定。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2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2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0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文本框 1"/>
          <p:cNvSpPr txBox="1">
            <a:spLocks noChangeArrowheads="1"/>
          </p:cNvSpPr>
          <p:nvPr/>
        </p:nvSpPr>
        <p:spPr bwMode="auto">
          <a:xfrm>
            <a:off x="1042988" y="2565400"/>
            <a:ext cx="71437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/>
              <a:t>作业：</a:t>
            </a:r>
            <a:r>
              <a:rPr lang="en-US" altLang="zh-CN" sz="2800"/>
              <a:t>P226</a:t>
            </a:r>
            <a:r>
              <a:rPr lang="zh-CN" altLang="en-US" sz="2800"/>
              <a:t>：</a:t>
            </a:r>
            <a:r>
              <a:rPr lang="en-US" altLang="zh-CN" sz="2800"/>
              <a:t>5-14 (1)</a:t>
            </a:r>
            <a:r>
              <a:rPr lang="zh-CN" altLang="en-US" sz="2800"/>
              <a:t> </a:t>
            </a:r>
            <a:r>
              <a:rPr lang="en-US" altLang="zh-CN" sz="2800"/>
              <a:t>(3) (8) (10)       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900113" y="2349500"/>
            <a:ext cx="7362825" cy="2540000"/>
            <a:chOff x="567" y="1480"/>
            <a:chExt cx="4638" cy="1600"/>
          </a:xfrm>
        </p:grpSpPr>
        <p:sp>
          <p:nvSpPr>
            <p:cNvPr id="35844" name="Line 5"/>
            <p:cNvSpPr>
              <a:spLocks noChangeShapeType="1"/>
            </p:cNvSpPr>
            <p:nvPr/>
          </p:nvSpPr>
          <p:spPr bwMode="auto">
            <a:xfrm>
              <a:off x="567" y="2296"/>
              <a:ext cx="451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5" name="Line 6"/>
            <p:cNvSpPr>
              <a:spLocks noChangeShapeType="1"/>
            </p:cNvSpPr>
            <p:nvPr/>
          </p:nvSpPr>
          <p:spPr bwMode="auto">
            <a:xfrm flipV="1">
              <a:off x="3159" y="1576"/>
              <a:ext cx="0" cy="14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" name="Freeform 7"/>
            <p:cNvSpPr>
              <a:spLocks noChangeArrowheads="1"/>
            </p:cNvSpPr>
            <p:nvPr/>
          </p:nvSpPr>
          <p:spPr bwMode="auto">
            <a:xfrm>
              <a:off x="815" y="1896"/>
              <a:ext cx="3928" cy="1184"/>
            </a:xfrm>
            <a:custGeom>
              <a:avLst/>
              <a:gdLst>
                <a:gd name="T0" fmla="*/ 3928 w 3928"/>
                <a:gd name="T1" fmla="*/ 400 h 1184"/>
                <a:gd name="T2" fmla="*/ 2776 w 3928"/>
                <a:gd name="T3" fmla="*/ 1120 h 1184"/>
                <a:gd name="T4" fmla="*/ 1672 w 3928"/>
                <a:gd name="T5" fmla="*/ 256 h 1184"/>
                <a:gd name="T6" fmla="*/ 1096 w 3928"/>
                <a:gd name="T7" fmla="*/ 16 h 1184"/>
                <a:gd name="T8" fmla="*/ 520 w 3928"/>
                <a:gd name="T9" fmla="*/ 352 h 1184"/>
                <a:gd name="T10" fmla="*/ 808 w 3928"/>
                <a:gd name="T11" fmla="*/ 640 h 1184"/>
                <a:gd name="T12" fmla="*/ 1048 w 3928"/>
                <a:gd name="T13" fmla="*/ 352 h 1184"/>
                <a:gd name="T14" fmla="*/ 760 w 3928"/>
                <a:gd name="T15" fmla="*/ 64 h 1184"/>
                <a:gd name="T16" fmla="*/ 280 w 3928"/>
                <a:gd name="T17" fmla="*/ 112 h 1184"/>
                <a:gd name="T18" fmla="*/ 40 w 3928"/>
                <a:gd name="T19" fmla="*/ 544 h 1184"/>
                <a:gd name="T20" fmla="*/ 520 w 3928"/>
                <a:gd name="T21" fmla="*/ 1120 h 1184"/>
                <a:gd name="T22" fmla="*/ 1672 w 3928"/>
                <a:gd name="T23" fmla="*/ 928 h 1184"/>
                <a:gd name="T24" fmla="*/ 2104 w 3928"/>
                <a:gd name="T25" fmla="*/ 256 h 1184"/>
                <a:gd name="T26" fmla="*/ 2344 w 3928"/>
                <a:gd name="T27" fmla="*/ 400 h 11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928" h="1184">
                  <a:moveTo>
                    <a:pt x="3928" y="400"/>
                  </a:moveTo>
                  <a:cubicBezTo>
                    <a:pt x="3540" y="772"/>
                    <a:pt x="3152" y="1144"/>
                    <a:pt x="2776" y="1120"/>
                  </a:cubicBezTo>
                  <a:cubicBezTo>
                    <a:pt x="2400" y="1096"/>
                    <a:pt x="1952" y="440"/>
                    <a:pt x="1672" y="256"/>
                  </a:cubicBezTo>
                  <a:cubicBezTo>
                    <a:pt x="1392" y="72"/>
                    <a:pt x="1288" y="0"/>
                    <a:pt x="1096" y="16"/>
                  </a:cubicBezTo>
                  <a:cubicBezTo>
                    <a:pt x="904" y="32"/>
                    <a:pt x="568" y="248"/>
                    <a:pt x="520" y="352"/>
                  </a:cubicBezTo>
                  <a:cubicBezTo>
                    <a:pt x="472" y="456"/>
                    <a:pt x="720" y="640"/>
                    <a:pt x="808" y="640"/>
                  </a:cubicBezTo>
                  <a:cubicBezTo>
                    <a:pt x="896" y="640"/>
                    <a:pt x="1056" y="448"/>
                    <a:pt x="1048" y="352"/>
                  </a:cubicBezTo>
                  <a:cubicBezTo>
                    <a:pt x="1040" y="256"/>
                    <a:pt x="888" y="104"/>
                    <a:pt x="760" y="64"/>
                  </a:cubicBezTo>
                  <a:cubicBezTo>
                    <a:pt x="632" y="24"/>
                    <a:pt x="400" y="32"/>
                    <a:pt x="280" y="112"/>
                  </a:cubicBezTo>
                  <a:cubicBezTo>
                    <a:pt x="160" y="192"/>
                    <a:pt x="0" y="376"/>
                    <a:pt x="40" y="544"/>
                  </a:cubicBezTo>
                  <a:cubicBezTo>
                    <a:pt x="80" y="712"/>
                    <a:pt x="248" y="1056"/>
                    <a:pt x="520" y="1120"/>
                  </a:cubicBezTo>
                  <a:cubicBezTo>
                    <a:pt x="792" y="1184"/>
                    <a:pt x="1408" y="1072"/>
                    <a:pt x="1672" y="928"/>
                  </a:cubicBezTo>
                  <a:cubicBezTo>
                    <a:pt x="1936" y="784"/>
                    <a:pt x="1992" y="344"/>
                    <a:pt x="2104" y="256"/>
                  </a:cubicBezTo>
                  <a:cubicBezTo>
                    <a:pt x="2216" y="168"/>
                    <a:pt x="2280" y="284"/>
                    <a:pt x="2344" y="40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7" name="Oval 8"/>
            <p:cNvSpPr>
              <a:spLocks noChangeArrowheads="1"/>
            </p:cNvSpPr>
            <p:nvPr/>
          </p:nvSpPr>
          <p:spPr bwMode="auto">
            <a:xfrm>
              <a:off x="2382" y="2269"/>
              <a:ext cx="48" cy="48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48" name="Text Box 9"/>
            <p:cNvSpPr txBox="1">
              <a:spLocks noChangeArrowheads="1"/>
            </p:cNvSpPr>
            <p:nvPr/>
          </p:nvSpPr>
          <p:spPr bwMode="auto">
            <a:xfrm>
              <a:off x="2295" y="2248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35849" name="Text Box 13"/>
            <p:cNvSpPr txBox="1">
              <a:spLocks noChangeArrowheads="1"/>
            </p:cNvSpPr>
            <p:nvPr/>
          </p:nvSpPr>
          <p:spPr bwMode="auto">
            <a:xfrm>
              <a:off x="3139" y="224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5850" name="Rectangle 14"/>
            <p:cNvSpPr>
              <a:spLocks noChangeArrowheads="1"/>
            </p:cNvSpPr>
            <p:nvPr/>
          </p:nvSpPr>
          <p:spPr bwMode="auto">
            <a:xfrm>
              <a:off x="4887" y="229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35851" name="Rectangle 15"/>
            <p:cNvSpPr>
              <a:spLocks noChangeArrowheads="1"/>
            </p:cNvSpPr>
            <p:nvPr/>
          </p:nvSpPr>
          <p:spPr bwMode="auto">
            <a:xfrm>
              <a:off x="3159" y="1480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35852" name="Rectangle 16"/>
            <p:cNvSpPr>
              <a:spLocks noChangeArrowheads="1"/>
            </p:cNvSpPr>
            <p:nvPr/>
          </p:nvSpPr>
          <p:spPr bwMode="auto">
            <a:xfrm>
              <a:off x="3111" y="2008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5853" name="Rectangle 17"/>
            <p:cNvSpPr>
              <a:spLocks noChangeArrowheads="1"/>
            </p:cNvSpPr>
            <p:nvPr/>
          </p:nvSpPr>
          <p:spPr bwMode="auto">
            <a:xfrm>
              <a:off x="4455" y="203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35854" name="Line 18"/>
            <p:cNvSpPr>
              <a:spLocks noChangeShapeType="1"/>
            </p:cNvSpPr>
            <p:nvPr/>
          </p:nvSpPr>
          <p:spPr bwMode="auto">
            <a:xfrm flipH="1">
              <a:off x="4119" y="2584"/>
              <a:ext cx="432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5" name="Rectangle 19"/>
            <p:cNvSpPr>
              <a:spLocks noChangeArrowheads="1"/>
            </p:cNvSpPr>
            <p:nvPr/>
          </p:nvSpPr>
          <p:spPr bwMode="auto">
            <a:xfrm>
              <a:off x="4167" y="2728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5856" name="Text Box 20"/>
            <p:cNvSpPr txBox="1">
              <a:spLocks noChangeArrowheads="1"/>
            </p:cNvSpPr>
            <p:nvPr/>
          </p:nvSpPr>
          <p:spPr bwMode="auto">
            <a:xfrm>
              <a:off x="1911" y="1576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</a:rPr>
                <a:t>=2</a:t>
              </a:r>
            </a:p>
          </p:txBody>
        </p:sp>
      </p:grpSp>
      <p:sp>
        <p:nvSpPr>
          <p:cNvPr id="35843" name="Text Box 21"/>
          <p:cNvSpPr txBox="1">
            <a:spLocks noChangeArrowheads="1"/>
          </p:cNvSpPr>
          <p:nvPr/>
        </p:nvSpPr>
        <p:spPr bwMode="auto">
          <a:xfrm>
            <a:off x="466725" y="692150"/>
            <a:ext cx="8677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Nyquist</a:t>
            </a:r>
            <a:r>
              <a:rPr lang="zh-CN" altLang="en-US" sz="2400"/>
              <a:t>图较复杂时，如何计算曲线包围（</a:t>
            </a:r>
            <a:r>
              <a:rPr lang="en-US" altLang="zh-CN" sz="2400"/>
              <a:t>-1</a:t>
            </a:r>
            <a:r>
              <a:rPr lang="zh-CN" altLang="en-US" sz="2400"/>
              <a:t>，</a:t>
            </a:r>
            <a:r>
              <a:rPr lang="en-US" altLang="zh-CN" sz="2400"/>
              <a:t>j0</a:t>
            </a:r>
            <a:r>
              <a:rPr lang="zh-CN" altLang="en-US" sz="2400"/>
              <a:t>）点的次数？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4013049-10F7-49AC-A815-BCF85F3C1F18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378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E270CB7-5726-483D-9363-8D6691C77728}" type="slidenum">
              <a:rPr lang="en-US" altLang="zh-CN" smtClean="0"/>
              <a:pPr/>
              <a:t>25</a:t>
            </a:fld>
            <a:endParaRPr lang="en-US" altLang="zh-CN" smtClean="0"/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900113" y="908050"/>
            <a:ext cx="7178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宋体" panose="02010600030101010101" pitchFamily="2" charset="-122"/>
              </a:rPr>
              <a:t>Nyquist</a:t>
            </a:r>
            <a:r>
              <a:rPr lang="zh-CN" altLang="en-US" sz="2800" b="1">
                <a:latin typeface="宋体" panose="02010600030101010101" pitchFamily="2" charset="-122"/>
              </a:rPr>
              <a:t>中的“穿越” 概念</a:t>
            </a:r>
          </a:p>
        </p:txBody>
      </p:sp>
      <p:sp>
        <p:nvSpPr>
          <p:cNvPr id="303108" name="Text Box 4"/>
          <p:cNvSpPr txBox="1">
            <a:spLocks noChangeArrowheads="1"/>
          </p:cNvSpPr>
          <p:nvPr/>
        </p:nvSpPr>
        <p:spPr bwMode="auto">
          <a:xfrm>
            <a:off x="1143000" y="1905000"/>
            <a:ext cx="7543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穿越</a:t>
            </a:r>
            <a:r>
              <a:rPr lang="zh-CN" altLang="en-US" sz="2800">
                <a:latin typeface="Times New Roman" panose="02020603050405020304" pitchFamily="18" charset="0"/>
              </a:rPr>
              <a:t>：指开环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曲线穿过 </a:t>
            </a:r>
            <a:r>
              <a:rPr lang="en-US" altLang="zh-CN" sz="2800">
                <a:latin typeface="Times New Roman" panose="02020603050405020304" pitchFamily="18" charset="0"/>
              </a:rPr>
              <a:t>(-1,  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0 ) </a:t>
            </a:r>
            <a:r>
              <a:rPr lang="zh-CN" altLang="en-US" sz="2800">
                <a:latin typeface="Times New Roman" panose="02020603050405020304" pitchFamily="18" charset="0"/>
              </a:rPr>
              <a:t>点左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边实轴时的情况。</a:t>
            </a:r>
          </a:p>
        </p:txBody>
      </p:sp>
      <p:sp>
        <p:nvSpPr>
          <p:cNvPr id="303109" name="Text Box 5"/>
          <p:cNvSpPr txBox="1">
            <a:spLocks noChangeArrowheads="1"/>
          </p:cNvSpPr>
          <p:nvPr/>
        </p:nvSpPr>
        <p:spPr bwMode="auto">
          <a:xfrm>
            <a:off x="1143000" y="2895600"/>
            <a:ext cx="7467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正穿越</a:t>
            </a:r>
            <a:r>
              <a:rPr lang="zh-CN" altLang="en-US" sz="2800">
                <a:latin typeface="Times New Roman" panose="02020603050405020304" pitchFamily="18" charset="0"/>
              </a:rPr>
              <a:t>： 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增大时，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曲线由上而下穿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过</a:t>
            </a:r>
            <a:r>
              <a:rPr lang="en-US" altLang="zh-CN" sz="2800">
                <a:latin typeface="Times New Roman" panose="02020603050405020304" pitchFamily="18" charset="0"/>
              </a:rPr>
              <a:t>-1 ~ -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段实轴。</a:t>
            </a:r>
          </a:p>
        </p:txBody>
      </p:sp>
      <p:sp>
        <p:nvSpPr>
          <p:cNvPr id="303110" name="Text Box 6"/>
          <p:cNvSpPr txBox="1">
            <a:spLocks noChangeArrowheads="1"/>
          </p:cNvSpPr>
          <p:nvPr/>
        </p:nvSpPr>
        <p:spPr bwMode="auto">
          <a:xfrm>
            <a:off x="1143000" y="4953000"/>
            <a:ext cx="75438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负穿越</a:t>
            </a:r>
            <a:r>
              <a:rPr lang="zh-CN" altLang="en-US" sz="2800">
                <a:latin typeface="Times New Roman" panose="02020603050405020304" pitchFamily="18" charset="0"/>
              </a:rPr>
              <a:t>： 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增大时，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曲线由下而上穿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过</a:t>
            </a:r>
            <a:r>
              <a:rPr lang="en-US" altLang="zh-CN" sz="2800">
                <a:latin typeface="Times New Roman" panose="02020603050405020304" pitchFamily="18" charset="0"/>
              </a:rPr>
              <a:t>-1 ~ -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段实轴。负穿越相当于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反向包围</a:t>
            </a:r>
            <a:r>
              <a:rPr lang="en-US" altLang="zh-CN" sz="2800">
                <a:latin typeface="Times New Roman" panose="02020603050405020304" pitchFamily="18" charset="0"/>
              </a:rPr>
              <a:t>(-1,  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0 )</a:t>
            </a:r>
            <a:r>
              <a:rPr lang="zh-CN" altLang="en-US" sz="2800">
                <a:latin typeface="Times New Roman" panose="02020603050405020304" pitchFamily="18" charset="0"/>
              </a:rPr>
              <a:t>点一圈。</a:t>
            </a:r>
          </a:p>
        </p:txBody>
      </p:sp>
      <p:sp>
        <p:nvSpPr>
          <p:cNvPr id="303111" name="Text Box 7"/>
          <p:cNvSpPr txBox="1">
            <a:spLocks noChangeArrowheads="1"/>
          </p:cNvSpPr>
          <p:nvPr/>
        </p:nvSpPr>
        <p:spPr bwMode="auto">
          <a:xfrm>
            <a:off x="1584325" y="3911600"/>
            <a:ext cx="71786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solidFill>
                  <a:srgbClr val="990033"/>
                </a:solidFill>
                <a:latin typeface="Times New Roman" panose="02020603050405020304" pitchFamily="18" charset="0"/>
              </a:rPr>
              <a:t>正穿越时，相角增加，相当于</a:t>
            </a:r>
            <a:r>
              <a:rPr lang="en-US" altLang="zh-CN" sz="2800">
                <a:solidFill>
                  <a:srgbClr val="990033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solidFill>
                  <a:srgbClr val="990033"/>
                </a:solidFill>
                <a:latin typeface="Times New Roman" panose="02020603050405020304" pitchFamily="18" charset="0"/>
              </a:rPr>
              <a:t>曲线正向包围</a:t>
            </a:r>
            <a:r>
              <a:rPr lang="en-US" altLang="zh-CN" sz="2800">
                <a:solidFill>
                  <a:srgbClr val="990033"/>
                </a:solidFill>
                <a:latin typeface="Times New Roman" panose="02020603050405020304" pitchFamily="18" charset="0"/>
              </a:rPr>
              <a:t>(-1,  </a:t>
            </a:r>
            <a:r>
              <a:rPr lang="en-US" altLang="zh-CN" sz="2800" i="1">
                <a:solidFill>
                  <a:srgbClr val="990033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990033"/>
                </a:solidFill>
                <a:latin typeface="Times New Roman" panose="02020603050405020304" pitchFamily="18" charset="0"/>
              </a:rPr>
              <a:t>0 )</a:t>
            </a:r>
            <a:r>
              <a:rPr lang="zh-CN" altLang="en-US" sz="2800">
                <a:solidFill>
                  <a:srgbClr val="990033"/>
                </a:solidFill>
                <a:latin typeface="Times New Roman" panose="02020603050405020304" pitchFamily="18" charset="0"/>
              </a:rPr>
              <a:t>点一圈。</a:t>
            </a:r>
          </a:p>
        </p:txBody>
      </p:sp>
      <p:pic>
        <p:nvPicPr>
          <p:cNvPr id="37897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188913"/>
            <a:ext cx="3214687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8" grpId="0"/>
      <p:bldP spid="303109" grpId="0"/>
      <p:bldP spid="303110" grpId="0"/>
      <p:bldP spid="3031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11A1DCD-0413-4D47-998E-0C2D38718A34}" type="datetime1">
              <a:rPr lang="en-US" altLang="zh-CN" smtClean="0"/>
              <a:pPr/>
              <a:t>10/9/2025</a:t>
            </a:fld>
            <a:endParaRPr lang="en-US" altLang="zh-CN" smtClean="0"/>
          </a:p>
        </p:txBody>
      </p:sp>
      <p:sp>
        <p:nvSpPr>
          <p:cNvPr id="389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6143C09-BCF2-4B5A-97D1-7F108B19A218}" type="slidenum">
              <a:rPr lang="en-US" altLang="zh-CN" smtClean="0"/>
              <a:pPr/>
              <a:t>26</a:t>
            </a:fld>
            <a:endParaRPr lang="en-US" altLang="zh-CN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03350" y="1700213"/>
            <a:ext cx="7002463" cy="2036762"/>
            <a:chOff x="624" y="960"/>
            <a:chExt cx="4638" cy="1600"/>
          </a:xfrm>
        </p:grpSpPr>
        <p:sp>
          <p:nvSpPr>
            <p:cNvPr id="38920" name="Line 4"/>
            <p:cNvSpPr>
              <a:spLocks noChangeShapeType="1"/>
            </p:cNvSpPr>
            <p:nvPr/>
          </p:nvSpPr>
          <p:spPr bwMode="auto">
            <a:xfrm>
              <a:off x="624" y="1776"/>
              <a:ext cx="451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1" name="Line 5"/>
            <p:cNvSpPr>
              <a:spLocks noChangeShapeType="1"/>
            </p:cNvSpPr>
            <p:nvPr/>
          </p:nvSpPr>
          <p:spPr bwMode="auto">
            <a:xfrm flipV="1">
              <a:off x="3216" y="1056"/>
              <a:ext cx="0" cy="148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2" name="Freeform 6"/>
            <p:cNvSpPr>
              <a:spLocks noChangeArrowheads="1"/>
            </p:cNvSpPr>
            <p:nvPr/>
          </p:nvSpPr>
          <p:spPr bwMode="auto">
            <a:xfrm>
              <a:off x="872" y="1376"/>
              <a:ext cx="3928" cy="1184"/>
            </a:xfrm>
            <a:custGeom>
              <a:avLst/>
              <a:gdLst>
                <a:gd name="T0" fmla="*/ 3928 w 3928"/>
                <a:gd name="T1" fmla="*/ 400 h 1184"/>
                <a:gd name="T2" fmla="*/ 2776 w 3928"/>
                <a:gd name="T3" fmla="*/ 1120 h 1184"/>
                <a:gd name="T4" fmla="*/ 1672 w 3928"/>
                <a:gd name="T5" fmla="*/ 256 h 1184"/>
                <a:gd name="T6" fmla="*/ 1096 w 3928"/>
                <a:gd name="T7" fmla="*/ 16 h 1184"/>
                <a:gd name="T8" fmla="*/ 520 w 3928"/>
                <a:gd name="T9" fmla="*/ 352 h 1184"/>
                <a:gd name="T10" fmla="*/ 808 w 3928"/>
                <a:gd name="T11" fmla="*/ 640 h 1184"/>
                <a:gd name="T12" fmla="*/ 1048 w 3928"/>
                <a:gd name="T13" fmla="*/ 352 h 1184"/>
                <a:gd name="T14" fmla="*/ 760 w 3928"/>
                <a:gd name="T15" fmla="*/ 64 h 1184"/>
                <a:gd name="T16" fmla="*/ 280 w 3928"/>
                <a:gd name="T17" fmla="*/ 112 h 1184"/>
                <a:gd name="T18" fmla="*/ 40 w 3928"/>
                <a:gd name="T19" fmla="*/ 544 h 1184"/>
                <a:gd name="T20" fmla="*/ 520 w 3928"/>
                <a:gd name="T21" fmla="*/ 1120 h 1184"/>
                <a:gd name="T22" fmla="*/ 1672 w 3928"/>
                <a:gd name="T23" fmla="*/ 928 h 1184"/>
                <a:gd name="T24" fmla="*/ 2104 w 3928"/>
                <a:gd name="T25" fmla="*/ 256 h 1184"/>
                <a:gd name="T26" fmla="*/ 2344 w 3928"/>
                <a:gd name="T27" fmla="*/ 400 h 11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928" h="1184">
                  <a:moveTo>
                    <a:pt x="3928" y="400"/>
                  </a:moveTo>
                  <a:cubicBezTo>
                    <a:pt x="3540" y="772"/>
                    <a:pt x="3152" y="1144"/>
                    <a:pt x="2776" y="1120"/>
                  </a:cubicBezTo>
                  <a:cubicBezTo>
                    <a:pt x="2400" y="1096"/>
                    <a:pt x="1952" y="440"/>
                    <a:pt x="1672" y="256"/>
                  </a:cubicBezTo>
                  <a:cubicBezTo>
                    <a:pt x="1392" y="72"/>
                    <a:pt x="1288" y="0"/>
                    <a:pt x="1096" y="16"/>
                  </a:cubicBezTo>
                  <a:cubicBezTo>
                    <a:pt x="904" y="32"/>
                    <a:pt x="568" y="248"/>
                    <a:pt x="520" y="352"/>
                  </a:cubicBezTo>
                  <a:cubicBezTo>
                    <a:pt x="472" y="456"/>
                    <a:pt x="720" y="640"/>
                    <a:pt x="808" y="640"/>
                  </a:cubicBezTo>
                  <a:cubicBezTo>
                    <a:pt x="896" y="640"/>
                    <a:pt x="1056" y="448"/>
                    <a:pt x="1048" y="352"/>
                  </a:cubicBezTo>
                  <a:cubicBezTo>
                    <a:pt x="1040" y="256"/>
                    <a:pt x="888" y="104"/>
                    <a:pt x="760" y="64"/>
                  </a:cubicBezTo>
                  <a:cubicBezTo>
                    <a:pt x="632" y="24"/>
                    <a:pt x="400" y="32"/>
                    <a:pt x="280" y="112"/>
                  </a:cubicBezTo>
                  <a:cubicBezTo>
                    <a:pt x="160" y="192"/>
                    <a:pt x="0" y="376"/>
                    <a:pt x="40" y="544"/>
                  </a:cubicBezTo>
                  <a:cubicBezTo>
                    <a:pt x="80" y="712"/>
                    <a:pt x="248" y="1056"/>
                    <a:pt x="520" y="1120"/>
                  </a:cubicBezTo>
                  <a:cubicBezTo>
                    <a:pt x="792" y="1184"/>
                    <a:pt x="1408" y="1072"/>
                    <a:pt x="1672" y="928"/>
                  </a:cubicBezTo>
                  <a:cubicBezTo>
                    <a:pt x="1936" y="784"/>
                    <a:pt x="1992" y="344"/>
                    <a:pt x="2104" y="256"/>
                  </a:cubicBezTo>
                  <a:cubicBezTo>
                    <a:pt x="2216" y="168"/>
                    <a:pt x="2280" y="284"/>
                    <a:pt x="2344" y="40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3" name="Oval 7"/>
            <p:cNvSpPr>
              <a:spLocks noChangeArrowheads="1"/>
            </p:cNvSpPr>
            <p:nvPr/>
          </p:nvSpPr>
          <p:spPr bwMode="auto">
            <a:xfrm>
              <a:off x="2439" y="1749"/>
              <a:ext cx="48" cy="48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24" name="Text Box 8"/>
            <p:cNvSpPr txBox="1">
              <a:spLocks noChangeArrowheads="1"/>
            </p:cNvSpPr>
            <p:nvPr/>
          </p:nvSpPr>
          <p:spPr bwMode="auto">
            <a:xfrm>
              <a:off x="2352" y="1728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38925" name="Text Box 9"/>
            <p:cNvSpPr txBox="1">
              <a:spLocks noChangeArrowheads="1"/>
            </p:cNvSpPr>
            <p:nvPr/>
          </p:nvSpPr>
          <p:spPr bwMode="auto">
            <a:xfrm>
              <a:off x="768" y="1536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26" name="Text Box 10"/>
            <p:cNvSpPr txBox="1">
              <a:spLocks noChangeArrowheads="1"/>
            </p:cNvSpPr>
            <p:nvPr/>
          </p:nvSpPr>
          <p:spPr bwMode="auto">
            <a:xfrm>
              <a:off x="1216" y="1536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27" name="Text Box 11"/>
            <p:cNvSpPr txBox="1">
              <a:spLocks noChangeArrowheads="1"/>
            </p:cNvSpPr>
            <p:nvPr/>
          </p:nvSpPr>
          <p:spPr bwMode="auto">
            <a:xfrm>
              <a:off x="1888" y="168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8928" name="Text Box 12"/>
            <p:cNvSpPr txBox="1">
              <a:spLocks noChangeArrowheads="1"/>
            </p:cNvSpPr>
            <p:nvPr/>
          </p:nvSpPr>
          <p:spPr bwMode="auto">
            <a:xfrm>
              <a:off x="3196" y="17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29" name="Rectangle 13"/>
            <p:cNvSpPr>
              <a:spLocks noChangeArrowheads="1"/>
            </p:cNvSpPr>
            <p:nvPr/>
          </p:nvSpPr>
          <p:spPr bwMode="auto">
            <a:xfrm>
              <a:off x="4944" y="177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38930" name="Rectangle 14"/>
            <p:cNvSpPr>
              <a:spLocks noChangeArrowheads="1"/>
            </p:cNvSpPr>
            <p:nvPr/>
          </p:nvSpPr>
          <p:spPr bwMode="auto">
            <a:xfrm>
              <a:off x="3216" y="960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38931" name="Rectangle 15"/>
            <p:cNvSpPr>
              <a:spLocks noChangeArrowheads="1"/>
            </p:cNvSpPr>
            <p:nvPr/>
          </p:nvSpPr>
          <p:spPr bwMode="auto">
            <a:xfrm>
              <a:off x="3168" y="1488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8932" name="Rectangle 16"/>
            <p:cNvSpPr>
              <a:spLocks noChangeArrowheads="1"/>
            </p:cNvSpPr>
            <p:nvPr/>
          </p:nvSpPr>
          <p:spPr bwMode="auto">
            <a:xfrm>
              <a:off x="4512" y="1518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38933" name="Line 17"/>
            <p:cNvSpPr>
              <a:spLocks noChangeShapeType="1"/>
            </p:cNvSpPr>
            <p:nvPr/>
          </p:nvSpPr>
          <p:spPr bwMode="auto">
            <a:xfrm flipH="1">
              <a:off x="4176" y="2064"/>
              <a:ext cx="432" cy="33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4" name="Rectangle 18"/>
            <p:cNvSpPr>
              <a:spLocks noChangeArrowheads="1"/>
            </p:cNvSpPr>
            <p:nvPr/>
          </p:nvSpPr>
          <p:spPr bwMode="auto">
            <a:xfrm>
              <a:off x="4224" y="2208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8935" name="Text Box 19"/>
            <p:cNvSpPr txBox="1">
              <a:spLocks noChangeArrowheads="1"/>
            </p:cNvSpPr>
            <p:nvPr/>
          </p:nvSpPr>
          <p:spPr bwMode="auto">
            <a:xfrm>
              <a:off x="1968" y="1056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</a:rPr>
                <a:t>=2</a:t>
              </a:r>
            </a:p>
          </p:txBody>
        </p:sp>
      </p:grpSp>
      <p:sp>
        <p:nvSpPr>
          <p:cNvPr id="304148" name="Text Box 20"/>
          <p:cNvSpPr txBox="1">
            <a:spLocks noChangeArrowheads="1"/>
          </p:cNvSpPr>
          <p:nvPr/>
        </p:nvSpPr>
        <p:spPr bwMode="auto">
          <a:xfrm>
            <a:off x="1066800" y="3736975"/>
            <a:ext cx="75438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稳定判据：当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由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变化到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曲线在</a:t>
            </a:r>
            <a:r>
              <a:rPr lang="en-US" altLang="zh-CN" sz="2800">
                <a:latin typeface="Times New Roman" panose="02020603050405020304" pitchFamily="18" charset="0"/>
              </a:rPr>
              <a:t>(-1,  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0 )</a:t>
            </a:r>
            <a:r>
              <a:rPr lang="zh-CN" altLang="en-US" sz="2800">
                <a:latin typeface="Times New Roman" panose="02020603050405020304" pitchFamily="18" charset="0"/>
              </a:rPr>
              <a:t>点左边实轴上的正负穿越次数之差等于</a:t>
            </a:r>
            <a:r>
              <a:rPr lang="en-US" altLang="zh-CN" sz="2800" i="1">
                <a:latin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</a:rPr>
              <a:t>/2</a:t>
            </a:r>
            <a:r>
              <a:rPr lang="zh-CN" altLang="en-US" sz="2800">
                <a:latin typeface="Times New Roman" panose="02020603050405020304" pitchFamily="18" charset="0"/>
              </a:rPr>
              <a:t>时（ </a:t>
            </a:r>
            <a:r>
              <a:rPr lang="en-US" altLang="zh-CN" sz="2800" i="1">
                <a:latin typeface="Times New Roman" panose="02020603050405020304" pitchFamily="18" charset="0"/>
              </a:rPr>
              <a:t>q </a:t>
            </a:r>
            <a:r>
              <a:rPr lang="zh-CN" altLang="en-US" sz="2800">
                <a:latin typeface="Times New Roman" panose="02020603050405020304" pitchFamily="18" charset="0"/>
              </a:rPr>
              <a:t>为系统开环右极点数），闭环系统稳定，否则，闭环系统不稳定。</a:t>
            </a:r>
          </a:p>
        </p:txBody>
      </p:sp>
      <p:sp>
        <p:nvSpPr>
          <p:cNvPr id="304149" name="Text Box 21"/>
          <p:cNvSpPr txBox="1">
            <a:spLocks noChangeArrowheads="1"/>
          </p:cNvSpPr>
          <p:nvPr/>
        </p:nvSpPr>
        <p:spPr bwMode="auto">
          <a:xfrm>
            <a:off x="1116013" y="5732463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易知，上图所示系统闭环稳定。</a:t>
            </a:r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755650" y="0"/>
            <a:ext cx="7777163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半次穿越</a:t>
            </a:r>
            <a:r>
              <a:rPr lang="zh-CN" altLang="en-US" sz="2800">
                <a:latin typeface="Times New Roman" panose="02020603050405020304" pitchFamily="18" charset="0"/>
              </a:rPr>
              <a:t>： 如果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曲线起始或终止于</a:t>
            </a:r>
            <a:r>
              <a:rPr lang="en-US" altLang="zh-CN" sz="2800">
                <a:latin typeface="Times New Roman" panose="02020603050405020304" pitchFamily="18" charset="0"/>
              </a:rPr>
              <a:t>(-1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j0 )</a:t>
            </a:r>
            <a:r>
              <a:rPr lang="zh-CN" altLang="en-US" sz="2800">
                <a:latin typeface="Times New Roman" panose="02020603050405020304" pitchFamily="18" charset="0"/>
              </a:rPr>
              <a:t>点以左的负实轴，则为半次穿越。同样有</a:t>
            </a:r>
            <a:r>
              <a:rPr lang="en-US" altLang="zh-CN" sz="2800">
                <a:latin typeface="Times New Roman" panose="02020603050405020304" pitchFamily="18" charset="0"/>
              </a:rPr>
              <a:t>+1/2</a:t>
            </a:r>
            <a:r>
              <a:rPr lang="zh-CN" altLang="en-US" sz="2800">
                <a:latin typeface="Times New Roman" panose="02020603050405020304" pitchFamily="18" charset="0"/>
              </a:rPr>
              <a:t>穿越和</a:t>
            </a:r>
            <a:r>
              <a:rPr lang="en-US" altLang="zh-CN" sz="2800">
                <a:latin typeface="Times New Roman" panose="02020603050405020304" pitchFamily="18" charset="0"/>
              </a:rPr>
              <a:t>-1/2</a:t>
            </a:r>
            <a:r>
              <a:rPr lang="zh-CN" altLang="en-US" sz="2800">
                <a:latin typeface="Times New Roman" panose="02020603050405020304" pitchFamily="18" charset="0"/>
              </a:rPr>
              <a:t>穿越之分。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4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4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4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4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48" grpId="0"/>
      <p:bldP spid="304149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492375"/>
            <a:ext cx="3517900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2060575"/>
            <a:ext cx="42608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197" name="Object 2"/>
          <p:cNvGraphicFramePr>
            <a:graphicFrameLocks noChangeAspect="1"/>
          </p:cNvGraphicFramePr>
          <p:nvPr/>
        </p:nvGraphicFramePr>
        <p:xfrm>
          <a:off x="4211638" y="2997200"/>
          <a:ext cx="433387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r:id="rId6" imgW="291847" imgH="177646" progId="Equation.3">
                  <p:embed/>
                </p:oleObj>
              </mc:Choice>
              <mc:Fallback>
                <p:oleObj r:id="rId6" imgW="291847" imgH="1776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997200"/>
                        <a:ext cx="433387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6"/>
          <p:cNvSpPr txBox="1">
            <a:spLocks noChangeArrowheads="1"/>
          </p:cNvSpPr>
          <p:nvPr/>
        </p:nvSpPr>
        <p:spPr bwMode="auto">
          <a:xfrm>
            <a:off x="395288" y="692150"/>
            <a:ext cx="4492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ea typeface="楷体_GB2312" pitchFamily="49" charset="-122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</a:rPr>
              <a:t>Bode</a:t>
            </a:r>
            <a:r>
              <a:rPr lang="zh-CN" altLang="en-US" sz="2800" b="1">
                <a:latin typeface="Times New Roman" panose="02020603050405020304" pitchFamily="18" charset="0"/>
              </a:rPr>
              <a:t>图上的</a:t>
            </a:r>
            <a:r>
              <a:rPr lang="en-US" altLang="zh-CN" sz="2800" b="1">
                <a:latin typeface="Times New Roman" panose="02020603050405020304" pitchFamily="18" charset="0"/>
              </a:rPr>
              <a:t>Nyquist</a:t>
            </a:r>
            <a:r>
              <a:rPr lang="zh-CN" altLang="en-US" sz="2800" b="1">
                <a:latin typeface="Times New Roman" panose="02020603050405020304" pitchFamily="18" charset="0"/>
              </a:rPr>
              <a:t>判据</a:t>
            </a:r>
          </a:p>
        </p:txBody>
      </p:sp>
      <p:sp>
        <p:nvSpPr>
          <p:cNvPr id="39942" name="Text Box 7"/>
          <p:cNvSpPr txBox="1">
            <a:spLocks noChangeArrowheads="1"/>
          </p:cNvSpPr>
          <p:nvPr/>
        </p:nvSpPr>
        <p:spPr bwMode="auto">
          <a:xfrm>
            <a:off x="755650" y="1628775"/>
            <a:ext cx="439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sz="2400" b="1">
                <a:latin typeface="宋体" panose="02010600030101010101" pitchFamily="2" charset="-122"/>
                <a:ea typeface="楷体_GB2312" pitchFamily="49" charset="-122"/>
              </a:rPr>
              <a:t>Bode</a:t>
            </a:r>
            <a:r>
              <a:rPr lang="zh-CN" altLang="en-US" sz="2400" b="1">
                <a:latin typeface="宋体" panose="02010600030101010101" pitchFamily="2" charset="-122"/>
                <a:ea typeface="楷体_GB2312" pitchFamily="49" charset="-122"/>
              </a:rPr>
              <a:t>图和</a:t>
            </a:r>
            <a:r>
              <a:rPr lang="en-US" altLang="zh-CN" sz="2400" b="1">
                <a:latin typeface="宋体" panose="02010600030101010101" pitchFamily="2" charset="-122"/>
                <a:ea typeface="楷体_GB2312" pitchFamily="49" charset="-122"/>
              </a:rPr>
              <a:t>Nyquist</a:t>
            </a:r>
            <a:r>
              <a:rPr lang="zh-CN" altLang="en-US" sz="2400" b="1">
                <a:latin typeface="宋体" panose="02010600030101010101" pitchFamily="2" charset="-122"/>
                <a:ea typeface="楷体_GB2312" pitchFamily="49" charset="-122"/>
              </a:rPr>
              <a:t>图的比较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1547813" y="981075"/>
            <a:ext cx="1847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Arial" panose="020B0604020202020204" pitchFamily="34" charset="0"/>
              </a:rPr>
              <a:t>Nyquist</a:t>
            </a:r>
            <a:r>
              <a:rPr lang="zh-CN" altLang="en-US" sz="2800" b="1">
                <a:latin typeface="Arial" panose="020B0604020202020204" pitchFamily="34" charset="0"/>
              </a:rPr>
              <a:t>图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5076825" y="981075"/>
            <a:ext cx="1431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Arial" panose="020B0604020202020204" pitchFamily="34" charset="0"/>
              </a:rPr>
              <a:t>Bode</a:t>
            </a:r>
            <a:r>
              <a:rPr lang="zh-CN" altLang="en-US" sz="2800" b="1">
                <a:latin typeface="Arial" panose="020B0604020202020204" pitchFamily="34" charset="0"/>
              </a:rPr>
              <a:t>图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187450" y="1773238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单位圆</a:t>
            </a:r>
          </a:p>
        </p:txBody>
      </p:sp>
      <p:graphicFrame>
        <p:nvGraphicFramePr>
          <p:cNvPr id="9221" name="Object 2"/>
          <p:cNvGraphicFramePr>
            <a:graphicFrameLocks noChangeAspect="1"/>
          </p:cNvGraphicFramePr>
          <p:nvPr/>
        </p:nvGraphicFramePr>
        <p:xfrm>
          <a:off x="2339975" y="1844675"/>
          <a:ext cx="13573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3" r:id="rId4" imgW="698197" imgH="215806" progId="Equation.3">
                  <p:embed/>
                </p:oleObj>
              </mc:Choice>
              <mc:Fallback>
                <p:oleObj r:id="rId4" imgW="698197" imgH="2158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844675"/>
                        <a:ext cx="13573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4859338" y="1773238"/>
            <a:ext cx="1235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0 dB 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线</a:t>
            </a:r>
          </a:p>
        </p:txBody>
      </p:sp>
      <p:graphicFrame>
        <p:nvGraphicFramePr>
          <p:cNvPr id="9223" name="Object 3"/>
          <p:cNvGraphicFramePr>
            <a:graphicFrameLocks noChangeAspect="1"/>
          </p:cNvGraphicFramePr>
          <p:nvPr/>
        </p:nvGraphicFramePr>
        <p:xfrm>
          <a:off x="6227763" y="1773238"/>
          <a:ext cx="2017712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4" r:id="rId6" imgW="964781" imgH="215806" progId="Equation.3">
                  <p:embed/>
                </p:oleObj>
              </mc:Choice>
              <mc:Fallback>
                <p:oleObj r:id="rId6" imgW="964781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1773238"/>
                        <a:ext cx="2017712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1692275" y="234950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单位圆外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859338" y="2349500"/>
            <a:ext cx="3068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L(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)&gt;0dB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的所有区域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1692275" y="2852738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单位圆内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1258888" y="3357563"/>
            <a:ext cx="246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负实轴 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=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-180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)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4859338" y="3429000"/>
            <a:ext cx="192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-180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 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相位线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4859338" y="2852738"/>
            <a:ext cx="3068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L(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)&lt;0dB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的所有区域</a:t>
            </a: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1763713" y="4005263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正穿越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4787900" y="4076700"/>
            <a:ext cx="3028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（）曲线自下而上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穿越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-180°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相位线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1835150" y="5157788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负穿越</a:t>
            </a: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4787900" y="5084763"/>
            <a:ext cx="3028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（）曲线自上而下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穿越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-180°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相位线</a:t>
            </a:r>
          </a:p>
        </p:txBody>
      </p:sp>
      <p:sp>
        <p:nvSpPr>
          <p:cNvPr id="2" name="矩形 1"/>
          <p:cNvSpPr/>
          <p:nvPr/>
        </p:nvSpPr>
        <p:spPr>
          <a:xfrm>
            <a:off x="4716463" y="2276475"/>
            <a:ext cx="3455987" cy="576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1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10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2" grpId="0"/>
      <p:bldP spid="9224" grpId="0"/>
      <p:bldP spid="9225" grpId="0"/>
      <p:bldP spid="9226" grpId="0"/>
      <p:bldP spid="9227" grpId="0"/>
      <p:bldP spid="9228" grpId="0"/>
      <p:bldP spid="9229" grpId="0"/>
      <p:bldP spid="9230" grpId="0"/>
      <p:bldP spid="9231" grpId="0"/>
      <p:bldP spid="9232" grpId="0"/>
      <p:bldP spid="9233" grpId="0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971550" y="836613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4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对数频率特性的稳定性判据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042988" y="1773238"/>
            <a:ext cx="67167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1)  </a:t>
            </a:r>
            <a:r>
              <a:rPr lang="zh-CN" altLang="en-US" sz="2400" b="1">
                <a:latin typeface="Arial" panose="020B0604020202020204" pitchFamily="34" charset="0"/>
              </a:rPr>
              <a:t>若系统开环稳定（</a:t>
            </a:r>
            <a:r>
              <a:rPr lang="en-US" altLang="zh-CN" sz="2400" b="1">
                <a:latin typeface="Arial" panose="020B0604020202020204" pitchFamily="34" charset="0"/>
              </a:rPr>
              <a:t>q=0</a:t>
            </a:r>
            <a:r>
              <a:rPr lang="zh-CN" altLang="en-US" sz="2400" b="1">
                <a:latin typeface="Arial" panose="020B0604020202020204" pitchFamily="34" charset="0"/>
              </a:rPr>
              <a:t>），则闭环系统稳定的充要条件是：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258888" y="2565400"/>
            <a:ext cx="6913562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Arial" panose="020B0604020202020204" pitchFamily="34" charset="0"/>
              </a:rPr>
              <a:t>      </a:t>
            </a:r>
            <a:r>
              <a:rPr lang="zh-CN" altLang="en-US" sz="2400" b="1">
                <a:latin typeface="Arial" panose="020B0604020202020204" pitchFamily="34" charset="0"/>
              </a:rPr>
              <a:t>在对数幅频</a:t>
            </a:r>
            <a:r>
              <a:rPr lang="en-US" altLang="zh-CN" sz="2400" b="1">
                <a:latin typeface="Arial" panose="020B0604020202020204" pitchFamily="34" charset="0"/>
              </a:rPr>
              <a:t>L</a:t>
            </a:r>
            <a:r>
              <a:rPr lang="zh-CN" altLang="en-US" sz="2400" b="1">
                <a:latin typeface="Arial" panose="020B0604020202020204" pitchFamily="34" charset="0"/>
              </a:rPr>
              <a:t>（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zh-CN" altLang="en-US" sz="2400" b="1">
                <a:latin typeface="Arial" panose="020B0604020202020204" pitchFamily="34" charset="0"/>
              </a:rPr>
              <a:t>）</a:t>
            </a:r>
            <a:r>
              <a:rPr lang="en-US" altLang="en-US" b="1"/>
              <a:t>≥</a:t>
            </a:r>
            <a:r>
              <a:rPr lang="en-US" altLang="zh-CN" sz="2400" b="1">
                <a:latin typeface="Arial" panose="020B0604020202020204" pitchFamily="34" charset="0"/>
              </a:rPr>
              <a:t>0dB</a:t>
            </a:r>
            <a:r>
              <a:rPr lang="zh-CN" altLang="en-US" sz="2400" b="1">
                <a:latin typeface="Arial" panose="020B0604020202020204" pitchFamily="34" charset="0"/>
              </a:rPr>
              <a:t>的所有频率范围内，相频特性曲线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（）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°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在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-180°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相位线上正负穿越次数的代数和为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116013" y="4076700"/>
            <a:ext cx="67167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2)  </a:t>
            </a:r>
            <a:r>
              <a:rPr lang="zh-CN" altLang="en-US" sz="2400" b="1">
                <a:latin typeface="Arial" panose="020B0604020202020204" pitchFamily="34" charset="0"/>
              </a:rPr>
              <a:t>若系统开环不稳定（开环传函有</a:t>
            </a:r>
            <a:r>
              <a:rPr lang="en-US" altLang="zh-CN" sz="2400" b="1">
                <a:latin typeface="Arial" panose="020B0604020202020204" pitchFamily="34" charset="0"/>
              </a:rPr>
              <a:t>q</a:t>
            </a:r>
            <a:r>
              <a:rPr lang="zh-CN" altLang="en-US" sz="2400" b="1">
                <a:latin typeface="Arial" panose="020B0604020202020204" pitchFamily="34" charset="0"/>
              </a:rPr>
              <a:t>个右根），则闭环系统稳定的充要条件是：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258888" y="4868863"/>
            <a:ext cx="67691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Arial" panose="020B0604020202020204" pitchFamily="34" charset="0"/>
              </a:rPr>
              <a:t>      </a:t>
            </a:r>
            <a:r>
              <a:rPr lang="zh-CN" altLang="en-US" sz="2400" b="1">
                <a:latin typeface="Arial" panose="020B0604020202020204" pitchFamily="34" charset="0"/>
              </a:rPr>
              <a:t>在对数幅频</a:t>
            </a:r>
            <a:r>
              <a:rPr lang="en-US" altLang="zh-CN" b="1"/>
              <a:t>L</a:t>
            </a:r>
            <a:r>
              <a:rPr lang="zh-CN" altLang="en-US" b="1"/>
              <a:t>（</a:t>
            </a:r>
            <a:r>
              <a:rPr lang="zh-CN" altLang="en-US" b="1">
                <a:sym typeface="Symbol" panose="05050102010706020507" pitchFamily="18" charset="2"/>
              </a:rPr>
              <a:t></a:t>
            </a:r>
            <a:r>
              <a:rPr lang="zh-CN" altLang="en-US" b="1"/>
              <a:t>）</a:t>
            </a:r>
            <a:r>
              <a:rPr lang="en-US" altLang="en-US" b="1"/>
              <a:t>≥</a:t>
            </a:r>
            <a:r>
              <a:rPr lang="en-US" altLang="zh-CN" b="1"/>
              <a:t>0dB</a:t>
            </a:r>
            <a:r>
              <a:rPr lang="zh-CN" altLang="en-US" sz="2400" b="1">
                <a:latin typeface="Arial" panose="020B0604020202020204" pitchFamily="34" charset="0"/>
              </a:rPr>
              <a:t>的所有频率范围内，相频特性曲线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（）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°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在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-180°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相位线上正负穿越次数的代数和为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q/2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10244" grpId="0"/>
      <p:bldP spid="10245" grpId="0"/>
      <p:bldP spid="102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95" t="51064" r="25301"/>
          <a:stretch>
            <a:fillRect/>
          </a:stretch>
        </p:blipFill>
        <p:spPr bwMode="auto">
          <a:xfrm>
            <a:off x="1476375" y="1268413"/>
            <a:ext cx="5543550" cy="451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3903663" y="1839913"/>
            <a:ext cx="628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q=0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50825" y="2133600"/>
            <a:ext cx="3384550" cy="3124200"/>
            <a:chOff x="158" y="1344"/>
            <a:chExt cx="2132" cy="1968"/>
          </a:xfrm>
        </p:grpSpPr>
        <p:pic>
          <p:nvPicPr>
            <p:cNvPr id="4813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4" t="7518" r="60823" b="53877"/>
            <a:stretch>
              <a:fillRect/>
            </a:stretch>
          </p:blipFill>
          <p:spPr bwMode="auto">
            <a:xfrm>
              <a:off x="158" y="1344"/>
              <a:ext cx="2132" cy="1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5" name="Text Box 4"/>
            <p:cNvSpPr txBox="1">
              <a:spLocks noChangeArrowheads="1"/>
            </p:cNvSpPr>
            <p:nvPr/>
          </p:nvSpPr>
          <p:spPr bwMode="auto">
            <a:xfrm>
              <a:off x="1234" y="1521"/>
              <a:ext cx="396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Arial" panose="020B0604020202020204" pitchFamily="34" charset="0"/>
                </a:rPr>
                <a:t>q=2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3635375" y="2060575"/>
            <a:ext cx="5329238" cy="3711575"/>
            <a:chOff x="2290" y="1298"/>
            <a:chExt cx="3357" cy="2338"/>
          </a:xfrm>
        </p:grpSpPr>
        <p:pic>
          <p:nvPicPr>
            <p:cNvPr id="4813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87" t="3215" r="5780" b="53877"/>
            <a:stretch>
              <a:fillRect/>
            </a:stretch>
          </p:blipFill>
          <p:spPr bwMode="auto">
            <a:xfrm>
              <a:off x="2290" y="1298"/>
              <a:ext cx="3357" cy="2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3" name="Text Box 7"/>
            <p:cNvSpPr txBox="1">
              <a:spLocks noChangeArrowheads="1"/>
            </p:cNvSpPr>
            <p:nvPr/>
          </p:nvSpPr>
          <p:spPr bwMode="auto">
            <a:xfrm>
              <a:off x="3820" y="1673"/>
              <a:ext cx="45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Arial" panose="020B0604020202020204" pitchFamily="34" charset="0"/>
                </a:rPr>
                <a:t>q=2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331913" y="1033463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相位裕量和幅值裕量：</a:t>
            </a: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5219700" y="2060575"/>
          <a:ext cx="3733800" cy="284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8" r:id="rId4" imgW="2833116" imgH="2150364" progId="SmartDraw.2">
                  <p:embed/>
                </p:oleObj>
              </mc:Choice>
              <mc:Fallback>
                <p:oleObj r:id="rId4" imgW="2833116" imgH="2150364" progId="SmartDraw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060575"/>
                        <a:ext cx="3733800" cy="284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5795963" y="486886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某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开环稳定</a:t>
            </a:r>
            <a:r>
              <a:rPr lang="zh-CN" altLang="en-US">
                <a:latin typeface="Times New Roman" panose="02020603050405020304" pitchFamily="18" charset="0"/>
              </a:rPr>
              <a:t>系统的极坐标图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84213" y="3213100"/>
            <a:ext cx="4464050" cy="2171700"/>
            <a:chOff x="612" y="2932"/>
            <a:chExt cx="4512" cy="1368"/>
          </a:xfrm>
        </p:grpSpPr>
        <p:graphicFrame>
          <p:nvGraphicFramePr>
            <p:cNvPr id="50184" name="Object 10"/>
            <p:cNvGraphicFramePr>
              <a:graphicFrameLocks noChangeAspect="1"/>
            </p:cNvGraphicFramePr>
            <p:nvPr/>
          </p:nvGraphicFramePr>
          <p:xfrm>
            <a:off x="685" y="3022"/>
            <a:ext cx="72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89" r:id="rId6" imgW="457002" imgH="203112" progId="Equation.3">
                    <p:embed/>
                  </p:oleObj>
                </mc:Choice>
                <mc:Fallback>
                  <p:oleObj r:id="rId6" imgW="457002" imgH="203112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" y="3022"/>
                          <a:ext cx="72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5" name="Rectangle 11"/>
            <p:cNvSpPr>
              <a:spLocks noChangeArrowheads="1"/>
            </p:cNvSpPr>
            <p:nvPr/>
          </p:nvSpPr>
          <p:spPr bwMode="auto">
            <a:xfrm>
              <a:off x="1558" y="2932"/>
              <a:ext cx="1437" cy="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GB" sz="2400" b="1">
                  <a:latin typeface="仿宋_GB2312"/>
                  <a:ea typeface="仿宋_GB2312"/>
                  <a:cs typeface="仿宋_GB2312"/>
                </a:rPr>
                <a:t>的</a:t>
              </a:r>
              <a:r>
                <a:rPr lang="zh-CN" altLang="en-US" sz="2400" b="1">
                  <a:latin typeface="仿宋_GB2312"/>
                  <a:ea typeface="仿宋_GB2312"/>
                  <a:cs typeface="仿宋_GB2312"/>
                </a:rPr>
                <a:t>轨迹对</a:t>
              </a:r>
            </a:p>
          </p:txBody>
        </p:sp>
        <p:graphicFrame>
          <p:nvGraphicFramePr>
            <p:cNvPr id="50186" name="Object 12"/>
            <p:cNvGraphicFramePr>
              <a:graphicFrameLocks noChangeAspect="1"/>
            </p:cNvGraphicFramePr>
            <p:nvPr/>
          </p:nvGraphicFramePr>
          <p:xfrm>
            <a:off x="3305" y="3015"/>
            <a:ext cx="7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90" r:id="rId8" imgW="507780" imgH="203112" progId="Equation.3">
                    <p:embed/>
                  </p:oleObj>
                </mc:Choice>
                <mc:Fallback>
                  <p:oleObj r:id="rId8" imgW="507780" imgH="20311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5" y="3015"/>
                          <a:ext cx="7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7" name="Rectangle 13"/>
            <p:cNvSpPr>
              <a:spLocks noChangeArrowheads="1"/>
            </p:cNvSpPr>
            <p:nvPr/>
          </p:nvSpPr>
          <p:spPr bwMode="auto">
            <a:xfrm>
              <a:off x="612" y="3249"/>
              <a:ext cx="4512" cy="1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2400" b="1">
                  <a:latin typeface="仿宋_GB2312"/>
                  <a:ea typeface="仿宋_GB2312"/>
                  <a:cs typeface="仿宋_GB2312"/>
                </a:rPr>
                <a:t>点的靠近程度，可以用来度量稳定裕量。在实际系统中常用相位裕量和增益裕量表示。 </a:t>
              </a:r>
            </a:p>
          </p:txBody>
        </p:sp>
      </p:grp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684213" y="1916113"/>
            <a:ext cx="49768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ea typeface="仿宋_GB2312"/>
                <a:cs typeface="仿宋_GB2312"/>
              </a:rPr>
              <a:t>二者统称为稳定裕量，用于研究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仿宋_GB2312"/>
                <a:cs typeface="仿宋_GB2312"/>
              </a:rPr>
              <a:t>系统的相对稳定性。</a:t>
            </a:r>
          </a:p>
        </p:txBody>
      </p:sp>
      <p:sp>
        <p:nvSpPr>
          <p:cNvPr id="50183" name="Rectangle 8"/>
          <p:cNvSpPr>
            <a:spLocks noChangeArrowheads="1"/>
          </p:cNvSpPr>
          <p:nvPr/>
        </p:nvSpPr>
        <p:spPr bwMode="auto">
          <a:xfrm>
            <a:off x="611188" y="188913"/>
            <a:ext cx="53340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稳定性裕量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  <p:bldP spid="133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755650" y="836613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相位裕量、相角裕度</a:t>
            </a:r>
            <a:endParaRPr lang="en-GB" altLang="zh-CN" sz="2400" b="1">
              <a:latin typeface="楷体_GB2312" pitchFamily="49" charset="-122"/>
              <a:ea typeface="楷体_GB2312" pitchFamily="49" charset="-122"/>
              <a:sym typeface="Wingdings 2" panose="05020102010507070707" pitchFamily="18" charset="2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4284663" y="908050"/>
          <a:ext cx="2397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8" r:id="rId4" imgW="126780" imgH="164814" progId="Equation.3">
                  <p:embed/>
                </p:oleObj>
              </mc:Choice>
              <mc:Fallback>
                <p:oleObj r:id="rId4" imgW="126780" imgH="16481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908050"/>
                        <a:ext cx="239712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042988" y="1741488"/>
            <a:ext cx="3587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设系统的</a:t>
            </a:r>
            <a:r>
              <a:rPr lang="zh-CN" altLang="en-US" sz="2400" b="1">
                <a:latin typeface="Times New Roman" panose="02020603050405020304" pitchFamily="18" charset="0"/>
              </a:rPr>
              <a:t>幅值穿越频率</a:t>
            </a:r>
            <a:r>
              <a:rPr lang="zh-CN" altLang="en-GB" sz="2400" b="1">
                <a:latin typeface="Times New Roman" panose="02020603050405020304" pitchFamily="18" charset="0"/>
              </a:rPr>
              <a:t>为</a:t>
            </a:r>
            <a:endParaRPr lang="zh-CN" altLang="en-GB" sz="2400" b="1">
              <a:latin typeface="Arial" panose="020B0604020202020204" pitchFamily="34" charset="0"/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4643438" y="1773238"/>
          <a:ext cx="341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9" r:id="rId6" imgW="203112" imgH="228501" progId="Equation.3">
                  <p:embed/>
                </p:oleObj>
              </mc:Choice>
              <mc:Fallback>
                <p:oleObj r:id="rId6" imgW="203112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773238"/>
                        <a:ext cx="341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1403350" y="2349500"/>
          <a:ext cx="302418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0" r:id="rId8" imgW="1739900" imgH="254000" progId="Equation.DSMT4">
                  <p:embed/>
                </p:oleObj>
              </mc:Choice>
              <mc:Fallback>
                <p:oleObj r:id="rId8" imgW="17399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349500"/>
                        <a:ext cx="3024188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827088" y="2997200"/>
            <a:ext cx="2808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定义相位裕量为：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1042988" y="3581400"/>
          <a:ext cx="28543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1" r:id="rId10" imgW="1663700" imgH="508000" progId="Equation.3">
                  <p:embed/>
                </p:oleObj>
              </mc:Choice>
              <mc:Fallback>
                <p:oleObj r:id="rId10" imgW="1663700" imgH="508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81400"/>
                        <a:ext cx="285432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827088" y="4797425"/>
            <a:ext cx="7010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     相角裕度的含义是，对于闭环稳定系统，如果开环相频特性再滞后</a:t>
            </a:r>
            <a:r>
              <a:rPr lang="en-GB" altLang="zh-CN" sz="2400" b="1">
                <a:latin typeface="Times New Roman" panose="02020603050405020304" pitchFamily="18" charset="0"/>
              </a:rPr>
              <a:t>γ</a:t>
            </a:r>
            <a:r>
              <a:rPr lang="zh-CN" altLang="en-GB" sz="2400" b="1">
                <a:latin typeface="Times New Roman" panose="02020603050405020304" pitchFamily="18" charset="0"/>
              </a:rPr>
              <a:t>度，则系统将变为临界稳定。</a:t>
            </a:r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 flipH="1">
            <a:off x="5334000" y="3581400"/>
            <a:ext cx="3810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4953000" y="4217988"/>
            <a:ext cx="7175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临界稳</a:t>
            </a:r>
          </a:p>
          <a:p>
            <a:pPr eaLnBrk="1" hangingPunct="1"/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定系统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181600" y="1509713"/>
            <a:ext cx="3429000" cy="2806700"/>
            <a:chOff x="3264" y="951"/>
            <a:chExt cx="2160" cy="1768"/>
          </a:xfrm>
        </p:grpSpPr>
        <p:sp>
          <p:nvSpPr>
            <p:cNvPr id="52240" name="AutoShape 10"/>
            <p:cNvSpPr>
              <a:spLocks noChangeArrowheads="1"/>
            </p:cNvSpPr>
            <p:nvPr/>
          </p:nvSpPr>
          <p:spPr bwMode="auto">
            <a:xfrm>
              <a:off x="3744" y="1248"/>
              <a:ext cx="1180" cy="1134"/>
            </a:xfrm>
            <a:prstGeom prst="flowChartConnector">
              <a:avLst/>
            </a:prstGeom>
            <a:solidFill>
              <a:schemeClr val="accent1"/>
            </a:solidFill>
            <a:ln w="28575">
              <a:solidFill>
                <a:srgbClr val="003366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2241" name="Line 11"/>
            <p:cNvSpPr>
              <a:spLocks noChangeShapeType="1"/>
            </p:cNvSpPr>
            <p:nvPr/>
          </p:nvSpPr>
          <p:spPr bwMode="auto">
            <a:xfrm>
              <a:off x="3391" y="1813"/>
              <a:ext cx="1769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2" name="Line 12"/>
            <p:cNvSpPr>
              <a:spLocks noChangeShapeType="1"/>
            </p:cNvSpPr>
            <p:nvPr/>
          </p:nvSpPr>
          <p:spPr bwMode="auto">
            <a:xfrm flipV="1">
              <a:off x="4298" y="951"/>
              <a:ext cx="0" cy="158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3" name="Freeform 13"/>
            <p:cNvSpPr>
              <a:spLocks noChangeArrowheads="1"/>
            </p:cNvSpPr>
            <p:nvPr/>
          </p:nvSpPr>
          <p:spPr bwMode="auto">
            <a:xfrm>
              <a:off x="3572" y="1632"/>
              <a:ext cx="726" cy="952"/>
            </a:xfrm>
            <a:custGeom>
              <a:avLst/>
              <a:gdLst>
                <a:gd name="T0" fmla="*/ 726 w 726"/>
                <a:gd name="T1" fmla="*/ 181 h 952"/>
                <a:gd name="T2" fmla="*/ 454 w 726"/>
                <a:gd name="T3" fmla="*/ 45 h 952"/>
                <a:gd name="T4" fmla="*/ 136 w 726"/>
                <a:gd name="T5" fmla="*/ 453 h 952"/>
                <a:gd name="T6" fmla="*/ 0 w 726"/>
                <a:gd name="T7" fmla="*/ 952 h 9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6" h="952">
                  <a:moveTo>
                    <a:pt x="726" y="181"/>
                  </a:moveTo>
                  <a:cubicBezTo>
                    <a:pt x="639" y="90"/>
                    <a:pt x="552" y="0"/>
                    <a:pt x="454" y="45"/>
                  </a:cubicBezTo>
                  <a:cubicBezTo>
                    <a:pt x="356" y="90"/>
                    <a:pt x="212" y="302"/>
                    <a:pt x="136" y="453"/>
                  </a:cubicBezTo>
                  <a:cubicBezTo>
                    <a:pt x="60" y="604"/>
                    <a:pt x="23" y="861"/>
                    <a:pt x="0" y="952"/>
                  </a:cubicBezTo>
                </a:path>
              </a:pathLst>
            </a:cu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44" name="Object 14"/>
            <p:cNvGraphicFramePr>
              <a:graphicFrameLocks noChangeAspect="1"/>
            </p:cNvGraphicFramePr>
            <p:nvPr/>
          </p:nvGraphicFramePr>
          <p:xfrm>
            <a:off x="5232" y="1776"/>
            <a:ext cx="192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62" r:id="rId12" imgW="215619" imgH="177569" progId="Equation.3">
                    <p:embed/>
                  </p:oleObj>
                </mc:Choice>
                <mc:Fallback>
                  <p:oleObj r:id="rId12" imgW="215619" imgH="17756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776"/>
                          <a:ext cx="192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5" name="Object 15"/>
            <p:cNvGraphicFramePr>
              <a:graphicFrameLocks noChangeAspect="1"/>
            </p:cNvGraphicFramePr>
            <p:nvPr/>
          </p:nvGraphicFramePr>
          <p:xfrm>
            <a:off x="4368" y="1008"/>
            <a:ext cx="19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63" r:id="rId14" imgW="215619" imgH="164885" progId="Equation.3">
                    <p:embed/>
                  </p:oleObj>
                </mc:Choice>
                <mc:Fallback>
                  <p:oleObj r:id="rId14" imgW="215619" imgH="16488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008"/>
                          <a:ext cx="19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6" name="Line 16"/>
            <p:cNvSpPr>
              <a:spLocks noChangeShapeType="1"/>
            </p:cNvSpPr>
            <p:nvPr/>
          </p:nvSpPr>
          <p:spPr bwMode="auto">
            <a:xfrm flipV="1">
              <a:off x="3754" y="1813"/>
              <a:ext cx="544" cy="181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7" name="Arc 17"/>
            <p:cNvSpPr>
              <a:spLocks noChangeArrowheads="1"/>
            </p:cNvSpPr>
            <p:nvPr/>
          </p:nvSpPr>
          <p:spPr bwMode="auto">
            <a:xfrm rot="6765167">
              <a:off x="3938" y="1255"/>
              <a:ext cx="633" cy="755"/>
            </a:xfrm>
            <a:custGeom>
              <a:avLst/>
              <a:gdLst>
                <a:gd name="T0" fmla="*/ 10 w 20152"/>
                <a:gd name="T1" fmla="*/ 0 h 18968"/>
                <a:gd name="T2" fmla="*/ 20 w 20152"/>
                <a:gd name="T3" fmla="*/ 18 h 18968"/>
                <a:gd name="T4" fmla="*/ 10 w 20152"/>
                <a:gd name="T5" fmla="*/ 0 h 18968"/>
                <a:gd name="T6" fmla="*/ 20 w 20152"/>
                <a:gd name="T7" fmla="*/ 18 h 18968"/>
                <a:gd name="T8" fmla="*/ 0 w 20152"/>
                <a:gd name="T9" fmla="*/ 30 h 18968"/>
                <a:gd name="T10" fmla="*/ 10 w 20152"/>
                <a:gd name="T11" fmla="*/ 0 h 189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52" h="18968" fill="none">
                  <a:moveTo>
                    <a:pt x="10333" y="-1"/>
                  </a:moveTo>
                  <a:cubicBezTo>
                    <a:pt x="14829" y="2449"/>
                    <a:pt x="18309" y="6416"/>
                    <a:pt x="20152" y="11192"/>
                  </a:cubicBezTo>
                </a:path>
                <a:path w="20152" h="18968" stroke="0">
                  <a:moveTo>
                    <a:pt x="10333" y="-1"/>
                  </a:moveTo>
                  <a:cubicBezTo>
                    <a:pt x="14829" y="2449"/>
                    <a:pt x="18309" y="6416"/>
                    <a:pt x="20152" y="11192"/>
                  </a:cubicBezTo>
                  <a:lnTo>
                    <a:pt x="0" y="18968"/>
                  </a:lnTo>
                  <a:lnTo>
                    <a:pt x="10333" y="-1"/>
                  </a:lnTo>
                  <a:close/>
                </a:path>
              </a:pathLst>
            </a:custGeom>
            <a:noFill/>
            <a:ln w="25400">
              <a:solidFill>
                <a:srgbClr val="003366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48" name="Object 18"/>
            <p:cNvGraphicFramePr>
              <a:graphicFrameLocks noChangeAspect="1"/>
            </p:cNvGraphicFramePr>
            <p:nvPr/>
          </p:nvGraphicFramePr>
          <p:xfrm>
            <a:off x="4320" y="1895"/>
            <a:ext cx="33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64" r:id="rId16" imgW="406224" imgH="228501" progId="Equation.3">
                    <p:embed/>
                  </p:oleObj>
                </mc:Choice>
                <mc:Fallback>
                  <p:oleObj r:id="rId16" imgW="406224" imgH="228501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895"/>
                          <a:ext cx="336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9" name="Object 19"/>
            <p:cNvGraphicFramePr>
              <a:graphicFrameLocks noChangeAspect="1"/>
            </p:cNvGraphicFramePr>
            <p:nvPr/>
          </p:nvGraphicFramePr>
          <p:xfrm>
            <a:off x="3844" y="1813"/>
            <a:ext cx="17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65" r:id="rId18" imgW="126780" imgH="164814" progId="Equation.3">
                    <p:embed/>
                  </p:oleObj>
                </mc:Choice>
                <mc:Fallback>
                  <p:oleObj r:id="rId18" imgW="126780" imgH="164814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1813"/>
                          <a:ext cx="173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0" name="Rectangle 20"/>
            <p:cNvSpPr>
              <a:spLocks noChangeArrowheads="1"/>
            </p:cNvSpPr>
            <p:nvPr/>
          </p:nvSpPr>
          <p:spPr bwMode="auto">
            <a:xfrm>
              <a:off x="3552" y="1632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-1</a:t>
              </a:r>
              <a:endParaRPr lang="en-US" altLang="zh-CN" sz="16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51" name="Line 21"/>
            <p:cNvSpPr>
              <a:spLocks noChangeShapeType="1"/>
            </p:cNvSpPr>
            <p:nvPr/>
          </p:nvSpPr>
          <p:spPr bwMode="auto">
            <a:xfrm flipV="1">
              <a:off x="4298" y="1405"/>
              <a:ext cx="454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2" name="Rectangle 22"/>
            <p:cNvSpPr>
              <a:spLocks noChangeArrowheads="1"/>
            </p:cNvSpPr>
            <p:nvPr/>
          </p:nvSpPr>
          <p:spPr bwMode="auto">
            <a:xfrm>
              <a:off x="4615" y="1450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2400">
                  <a:solidFill>
                    <a:schemeClr val="tx2"/>
                  </a:solidFill>
                  <a:latin typeface="Arial" panose="020B0604020202020204" pitchFamily="34" charset="0"/>
                </a:rPr>
                <a:t>1</a:t>
              </a:r>
              <a:endParaRPr lang="en-US" altLang="zh-CN" sz="2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2253" name="Object 23"/>
            <p:cNvGraphicFramePr>
              <a:graphicFrameLocks noChangeAspect="1"/>
            </p:cNvGraphicFramePr>
            <p:nvPr/>
          </p:nvGraphicFramePr>
          <p:xfrm>
            <a:off x="3648" y="2544"/>
            <a:ext cx="76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66" r:id="rId20" imgW="888614" imgH="203112" progId="Equation.3">
                    <p:embed/>
                  </p:oleObj>
                </mc:Choice>
                <mc:Fallback>
                  <p:oleObj r:id="rId20" imgW="888614" imgH="203112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544"/>
                          <a:ext cx="768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4" name="Line 24"/>
            <p:cNvSpPr>
              <a:spLocks noChangeShapeType="1"/>
            </p:cNvSpPr>
            <p:nvPr/>
          </p:nvSpPr>
          <p:spPr bwMode="auto">
            <a:xfrm flipH="1" flipV="1">
              <a:off x="3618" y="2403"/>
              <a:ext cx="90" cy="136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55" name="Object 25"/>
            <p:cNvGraphicFramePr>
              <a:graphicFrameLocks noChangeAspect="1"/>
            </p:cNvGraphicFramePr>
            <p:nvPr/>
          </p:nvGraphicFramePr>
          <p:xfrm>
            <a:off x="3744" y="2016"/>
            <a:ext cx="21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67" r:id="rId22" imgW="203112" imgH="228501" progId="Equation.3">
                    <p:embed/>
                  </p:oleObj>
                </mc:Choice>
                <mc:Fallback>
                  <p:oleObj r:id="rId22" imgW="203112" imgH="228501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016"/>
                          <a:ext cx="21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6" name="Freeform 26"/>
            <p:cNvSpPr>
              <a:spLocks noChangeArrowheads="1"/>
            </p:cNvSpPr>
            <p:nvPr/>
          </p:nvSpPr>
          <p:spPr bwMode="auto">
            <a:xfrm>
              <a:off x="3552" y="1586"/>
              <a:ext cx="720" cy="1054"/>
            </a:xfrm>
            <a:custGeom>
              <a:avLst/>
              <a:gdLst>
                <a:gd name="T0" fmla="*/ 0 w 720"/>
                <a:gd name="T1" fmla="*/ 1054 h 1054"/>
                <a:gd name="T2" fmla="*/ 46 w 720"/>
                <a:gd name="T3" fmla="*/ 628 h 1054"/>
                <a:gd name="T4" fmla="*/ 192 w 720"/>
                <a:gd name="T5" fmla="*/ 190 h 1054"/>
                <a:gd name="T6" fmla="*/ 480 w 720"/>
                <a:gd name="T7" fmla="*/ 0 h 1054"/>
                <a:gd name="T8" fmla="*/ 720 w 720"/>
                <a:gd name="T9" fmla="*/ 190 h 10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1054">
                  <a:moveTo>
                    <a:pt x="0" y="1054"/>
                  </a:moveTo>
                  <a:cubicBezTo>
                    <a:pt x="8" y="983"/>
                    <a:pt x="14" y="772"/>
                    <a:pt x="46" y="628"/>
                  </a:cubicBezTo>
                  <a:cubicBezTo>
                    <a:pt x="78" y="484"/>
                    <a:pt x="120" y="295"/>
                    <a:pt x="192" y="190"/>
                  </a:cubicBezTo>
                  <a:cubicBezTo>
                    <a:pt x="264" y="85"/>
                    <a:pt x="392" y="0"/>
                    <a:pt x="480" y="0"/>
                  </a:cubicBezTo>
                  <a:cubicBezTo>
                    <a:pt x="568" y="0"/>
                    <a:pt x="670" y="151"/>
                    <a:pt x="720" y="19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7" name="Freeform 29"/>
            <p:cNvSpPr>
              <a:spLocks noChangeArrowheads="1"/>
            </p:cNvSpPr>
            <p:nvPr/>
          </p:nvSpPr>
          <p:spPr bwMode="auto">
            <a:xfrm>
              <a:off x="3264" y="1456"/>
              <a:ext cx="1008" cy="1136"/>
            </a:xfrm>
            <a:custGeom>
              <a:avLst/>
              <a:gdLst>
                <a:gd name="T0" fmla="*/ 0 w 1008"/>
                <a:gd name="T1" fmla="*/ 1136 h 1136"/>
                <a:gd name="T2" fmla="*/ 192 w 1008"/>
                <a:gd name="T3" fmla="*/ 512 h 1136"/>
                <a:gd name="T4" fmla="*/ 432 w 1008"/>
                <a:gd name="T5" fmla="*/ 128 h 1136"/>
                <a:gd name="T6" fmla="*/ 720 w 1008"/>
                <a:gd name="T7" fmla="*/ 32 h 1136"/>
                <a:gd name="T8" fmla="*/ 1008 w 1008"/>
                <a:gd name="T9" fmla="*/ 320 h 1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8" h="1136">
                  <a:moveTo>
                    <a:pt x="0" y="1136"/>
                  </a:moveTo>
                  <a:cubicBezTo>
                    <a:pt x="60" y="908"/>
                    <a:pt x="120" y="680"/>
                    <a:pt x="192" y="512"/>
                  </a:cubicBezTo>
                  <a:cubicBezTo>
                    <a:pt x="264" y="344"/>
                    <a:pt x="344" y="208"/>
                    <a:pt x="432" y="128"/>
                  </a:cubicBezTo>
                  <a:cubicBezTo>
                    <a:pt x="520" y="48"/>
                    <a:pt x="624" y="0"/>
                    <a:pt x="720" y="32"/>
                  </a:cubicBezTo>
                  <a:cubicBezTo>
                    <a:pt x="816" y="64"/>
                    <a:pt x="960" y="272"/>
                    <a:pt x="1008" y="320"/>
                  </a:cubicBezTo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66" name="Line 30"/>
          <p:cNvSpPr>
            <a:spLocks noChangeShapeType="1"/>
          </p:cNvSpPr>
          <p:nvPr/>
        </p:nvSpPr>
        <p:spPr bwMode="auto">
          <a:xfrm flipH="1" flipV="1">
            <a:off x="4953000" y="3352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4343400" y="3048000"/>
            <a:ext cx="838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>
                <a:latin typeface="Times New Roman" panose="02020603050405020304" pitchFamily="18" charset="0"/>
              </a:rPr>
              <a:t>不稳定系统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1187450" y="5661025"/>
            <a:ext cx="5137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仿宋_GB2312"/>
                <a:ea typeface="仿宋_GB2312"/>
                <a:cs typeface="仿宋_GB2312"/>
              </a:rPr>
              <a:t>γ&gt;0</a:t>
            </a:r>
            <a:r>
              <a:rPr lang="zh-CN" altLang="en-US" sz="2400" b="1">
                <a:solidFill>
                  <a:srgbClr val="FF0000"/>
                </a:solidFill>
                <a:latin typeface="仿宋_GB2312"/>
                <a:ea typeface="仿宋_GB2312"/>
                <a:cs typeface="仿宋_GB2312"/>
              </a:rPr>
              <a:t>，闭环系统稳定，否则不稳定。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0" grpId="1"/>
      <p:bldP spid="14343" grpId="0"/>
      <p:bldP spid="14345" grpId="0"/>
      <p:bldP spid="14364" grpId="0"/>
      <p:bldP spid="14367" grpId="0"/>
      <p:bldP spid="1436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05038"/>
            <a:ext cx="3662363" cy="349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187450" y="981075"/>
            <a:ext cx="324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图上的相位裕量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5219700" y="3003550"/>
          <a:ext cx="31686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8" r:id="rId5" imgW="1930400" imgH="482600" progId="Equation.DSMT4">
                  <p:embed/>
                </p:oleObj>
              </mc:Choice>
              <mc:Fallback>
                <p:oleObj r:id="rId5" imgW="19304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003550"/>
                        <a:ext cx="31686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5292725" y="4365625"/>
          <a:ext cx="23749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r:id="rId7" imgW="1053643" imgH="215806" progId="Equation.3">
                  <p:embed/>
                </p:oleObj>
              </mc:Choice>
              <mc:Fallback>
                <p:oleObj r:id="rId7" imgW="1053643" imgH="2158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365625"/>
                        <a:ext cx="23749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341438"/>
            <a:ext cx="4692650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3130550" y="2565400"/>
            <a:ext cx="73025" cy="714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3059113" y="2133600"/>
          <a:ext cx="352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5" r:id="rId5" imgW="164957" imgH="190335" progId="Equation.3">
                  <p:embed/>
                </p:oleObj>
              </mc:Choice>
              <mc:Fallback>
                <p:oleObj r:id="rId5" imgW="164957" imgH="1903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133600"/>
                        <a:ext cx="352425" cy="40640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3130550" y="2638425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3130550" y="4583113"/>
            <a:ext cx="4318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3346450" y="4149725"/>
            <a:ext cx="0" cy="433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419475" y="4149725"/>
          <a:ext cx="231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6" r:id="rId7" imgW="114102" imgH="177492" progId="Equation.3">
                  <p:embed/>
                </p:oleObj>
              </mc:Choice>
              <mc:Fallback>
                <p:oleObj r:id="rId7" imgW="114102" imgH="17749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149725"/>
                        <a:ext cx="231775" cy="360363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Line 9"/>
          <p:cNvSpPr>
            <a:spLocks noChangeShapeType="1"/>
          </p:cNvSpPr>
          <p:nvPr/>
        </p:nvSpPr>
        <p:spPr bwMode="auto">
          <a:xfrm flipH="1">
            <a:off x="2698750" y="4583113"/>
            <a:ext cx="504825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>
            <a:off x="2843213" y="4583113"/>
            <a:ext cx="0" cy="28733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2195513" y="4532313"/>
            <a:ext cx="431800" cy="366712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>
            <a:off x="2627313" y="4870450"/>
            <a:ext cx="576262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5940425" y="2492375"/>
            <a:ext cx="2808288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Arial" panose="020B0604020202020204" pitchFamily="34" charset="0"/>
              </a:rPr>
              <a:t>先找到和</a:t>
            </a:r>
            <a:r>
              <a:rPr lang="en-US" altLang="zh-CN" sz="2400" b="1">
                <a:latin typeface="Arial" panose="020B0604020202020204" pitchFamily="34" charset="0"/>
              </a:rPr>
              <a:t>0dB</a:t>
            </a:r>
            <a:r>
              <a:rPr lang="zh-CN" altLang="en-US" sz="2400" b="1">
                <a:latin typeface="Arial" panose="020B0604020202020204" pitchFamily="34" charset="0"/>
              </a:rPr>
              <a:t>线相交处的幅值穿越频率 ；相位裕量为该频率处的相位与 </a:t>
            </a:r>
            <a:r>
              <a:rPr lang="en-US" altLang="zh-CN" sz="2400" b="1">
                <a:latin typeface="Arial" panose="020B0604020202020204" pitchFamily="34" charset="0"/>
              </a:rPr>
              <a:t>-180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 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相位之差</a:t>
            </a:r>
            <a:r>
              <a:rPr lang="zh-CN" altLang="en-US" sz="2400" b="1"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3492500" y="1916113"/>
            <a:ext cx="157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幅值穿越频率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1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/>
      <p:bldP spid="16395" grpId="0" animBg="1"/>
      <p:bldP spid="16397" grpId="0"/>
      <p:bldP spid="1639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684213" y="906463"/>
            <a:ext cx="3211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增益裕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量</a:t>
            </a:r>
            <a:r>
              <a:rPr lang="zh-CN" altLang="en-GB" sz="2400" b="1">
                <a:latin typeface="楷体_GB2312" pitchFamily="49" charset="-122"/>
                <a:ea typeface="楷体_GB2312" pitchFamily="49" charset="-122"/>
              </a:rPr>
              <a:t>、幅值裕量</a:t>
            </a:r>
            <a:endParaRPr lang="en-GB" altLang="zh-CN" sz="2400" b="1">
              <a:latin typeface="楷体_GB2312" pitchFamily="49" charset="-122"/>
              <a:ea typeface="楷体_GB2312" pitchFamily="49" charset="-122"/>
              <a:sym typeface="Wingdings 2" panose="05020102010507070707" pitchFamily="18" charset="2"/>
            </a:endParaRP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3924300" y="981075"/>
          <a:ext cx="3587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3" r:id="rId4" imgW="228600" imgH="241300" progId="Equation.3">
                  <p:embed/>
                </p:oleObj>
              </mc:Choice>
              <mc:Fallback>
                <p:oleObj r:id="rId4" imgW="2286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981075"/>
                        <a:ext cx="3587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755650" y="3252788"/>
            <a:ext cx="2349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定义幅值裕量为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3059113" y="3213100"/>
          <a:ext cx="22860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4" r:id="rId6" imgW="1435100" imgH="469900" progId="Equation.3">
                  <p:embed/>
                </p:oleObj>
              </mc:Choice>
              <mc:Fallback>
                <p:oleObj r:id="rId6" imgW="14351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213100"/>
                        <a:ext cx="22860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827088" y="3933825"/>
            <a:ext cx="29702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幅值裕量的含义是：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755650" y="4259263"/>
            <a:ext cx="7239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sz="2400" b="1">
                <a:latin typeface="Times New Roman" panose="02020603050405020304" pitchFamily="18" charset="0"/>
              </a:rPr>
              <a:t>      对于闭环稳定系统，如果系统开环幅频特性再增大</a:t>
            </a:r>
            <a:r>
              <a:rPr lang="en-GB" altLang="zh-CN" sz="2400" b="1">
                <a:latin typeface="Times New Roman" panose="02020603050405020304" pitchFamily="18" charset="0"/>
              </a:rPr>
              <a:t>Kg</a:t>
            </a:r>
            <a:r>
              <a:rPr lang="zh-CN" altLang="en-GB" sz="2400" b="1">
                <a:latin typeface="Times New Roman" panose="02020603050405020304" pitchFamily="18" charset="0"/>
              </a:rPr>
              <a:t>倍，则系统将变为临界稳定状态。</a:t>
            </a:r>
            <a:endParaRPr lang="zh-CN" altLang="en-GB" sz="2400" b="1">
              <a:latin typeface="Arial" panose="020B0604020202020204" pitchFamily="34" charset="0"/>
            </a:endParaRP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1752600" y="5486400"/>
          <a:ext cx="45608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5" r:id="rId8" imgW="2794000" imgH="279400" progId="Equation.3">
                  <p:embed/>
                </p:oleObj>
              </mc:Choice>
              <mc:Fallback>
                <p:oleObj r:id="rId8" imgW="2794000" imgH="279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86400"/>
                        <a:ext cx="45608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900113" y="1668463"/>
            <a:ext cx="4164012" cy="488950"/>
            <a:chOff x="720" y="1132"/>
            <a:chExt cx="2405" cy="308"/>
          </a:xfrm>
        </p:grpSpPr>
        <p:sp>
          <p:nvSpPr>
            <p:cNvPr id="58411" name="Rectangle 4"/>
            <p:cNvSpPr>
              <a:spLocks noChangeArrowheads="1"/>
            </p:cNvSpPr>
            <p:nvPr/>
          </p:nvSpPr>
          <p:spPr bwMode="auto">
            <a:xfrm>
              <a:off x="720" y="1132"/>
              <a:ext cx="20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GB" sz="2400" b="1">
                  <a:latin typeface="Times New Roman" panose="02020603050405020304" pitchFamily="18" charset="0"/>
                </a:rPr>
                <a:t>设系统的相位</a:t>
              </a:r>
              <a:r>
                <a:rPr lang="zh-CN" altLang="en-US" sz="2400" b="1">
                  <a:latin typeface="Times New Roman" panose="02020603050405020304" pitchFamily="18" charset="0"/>
                </a:rPr>
                <a:t>穿越</a:t>
              </a:r>
              <a:r>
                <a:rPr lang="zh-CN" altLang="en-GB" sz="2400" b="1">
                  <a:latin typeface="Times New Roman" panose="02020603050405020304" pitchFamily="18" charset="0"/>
                </a:rPr>
                <a:t>频率为</a:t>
              </a:r>
              <a:endParaRPr lang="zh-CN" altLang="en-US" sz="2400" b="1">
                <a:latin typeface="Arial" panose="020B0604020202020204" pitchFamily="34" charset="0"/>
              </a:endParaRPr>
            </a:p>
          </p:txBody>
        </p:sp>
        <p:graphicFrame>
          <p:nvGraphicFramePr>
            <p:cNvPr id="58412" name="Object 11"/>
            <p:cNvGraphicFramePr>
              <a:graphicFrameLocks noChangeAspect="1"/>
            </p:cNvGraphicFramePr>
            <p:nvPr/>
          </p:nvGraphicFramePr>
          <p:xfrm>
            <a:off x="2882" y="1152"/>
            <a:ext cx="24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16" r:id="rId10" imgW="203112" imgH="241195" progId="Equation.3">
                    <p:embed/>
                  </p:oleObj>
                </mc:Choice>
                <mc:Fallback>
                  <p:oleObj r:id="rId10" imgW="203112" imgH="24119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2" y="1152"/>
                          <a:ext cx="24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900113" y="2205038"/>
            <a:ext cx="3879850" cy="879475"/>
            <a:chOff x="612" y="1389"/>
            <a:chExt cx="2444" cy="554"/>
          </a:xfrm>
        </p:grpSpPr>
        <p:graphicFrame>
          <p:nvGraphicFramePr>
            <p:cNvPr id="58409" name="Object 5"/>
            <p:cNvGraphicFramePr>
              <a:graphicFrameLocks noChangeAspect="1"/>
            </p:cNvGraphicFramePr>
            <p:nvPr/>
          </p:nvGraphicFramePr>
          <p:xfrm>
            <a:off x="612" y="1632"/>
            <a:ext cx="244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17" r:id="rId12" imgW="2222500" imgH="279400" progId="Equation.3">
                    <p:embed/>
                  </p:oleObj>
                </mc:Choice>
                <mc:Fallback>
                  <p:oleObj r:id="rId12" imgW="2222500" imgH="279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632"/>
                          <a:ext cx="244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10" name="Text Box 12"/>
            <p:cNvSpPr txBox="1">
              <a:spLocks noChangeArrowheads="1"/>
            </p:cNvSpPr>
            <p:nvPr/>
          </p:nvSpPr>
          <p:spPr bwMode="auto">
            <a:xfrm>
              <a:off x="703" y="1389"/>
              <a:ext cx="12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  <a:ea typeface="仿宋_GB2312"/>
                  <a:cs typeface="仿宋_GB2312"/>
                </a:rPr>
                <a:t>在该频率处，</a:t>
              </a:r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5076825" y="304800"/>
            <a:ext cx="3767138" cy="3135313"/>
            <a:chOff x="3198" y="192"/>
            <a:chExt cx="2373" cy="1975"/>
          </a:xfrm>
        </p:grpSpPr>
        <p:sp>
          <p:nvSpPr>
            <p:cNvPr id="58387" name="AutoShape 13"/>
            <p:cNvSpPr>
              <a:spLocks noChangeArrowheads="1"/>
            </p:cNvSpPr>
            <p:nvPr/>
          </p:nvSpPr>
          <p:spPr bwMode="auto">
            <a:xfrm>
              <a:off x="3936" y="432"/>
              <a:ext cx="1180" cy="1134"/>
            </a:xfrm>
            <a:prstGeom prst="flowChartConnector">
              <a:avLst/>
            </a:prstGeom>
            <a:solidFill>
              <a:srgbClr val="CCFFFF"/>
            </a:solidFill>
            <a:ln w="28575">
              <a:solidFill>
                <a:srgbClr val="003366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388" name="Line 14"/>
            <p:cNvSpPr>
              <a:spLocks noChangeShapeType="1"/>
            </p:cNvSpPr>
            <p:nvPr/>
          </p:nvSpPr>
          <p:spPr bwMode="auto">
            <a:xfrm>
              <a:off x="3583" y="997"/>
              <a:ext cx="1769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Line 15"/>
            <p:cNvSpPr>
              <a:spLocks noChangeShapeType="1"/>
            </p:cNvSpPr>
            <p:nvPr/>
          </p:nvSpPr>
          <p:spPr bwMode="auto">
            <a:xfrm flipV="1">
              <a:off x="4512" y="240"/>
              <a:ext cx="0" cy="158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Freeform 16"/>
            <p:cNvSpPr>
              <a:spLocks noChangeArrowheads="1"/>
            </p:cNvSpPr>
            <p:nvPr/>
          </p:nvSpPr>
          <p:spPr bwMode="auto">
            <a:xfrm>
              <a:off x="3764" y="816"/>
              <a:ext cx="726" cy="952"/>
            </a:xfrm>
            <a:custGeom>
              <a:avLst/>
              <a:gdLst>
                <a:gd name="T0" fmla="*/ 726 w 726"/>
                <a:gd name="T1" fmla="*/ 181 h 952"/>
                <a:gd name="T2" fmla="*/ 454 w 726"/>
                <a:gd name="T3" fmla="*/ 45 h 952"/>
                <a:gd name="T4" fmla="*/ 136 w 726"/>
                <a:gd name="T5" fmla="*/ 453 h 952"/>
                <a:gd name="T6" fmla="*/ 0 w 726"/>
                <a:gd name="T7" fmla="*/ 952 h 9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6" h="952">
                  <a:moveTo>
                    <a:pt x="726" y="181"/>
                  </a:moveTo>
                  <a:cubicBezTo>
                    <a:pt x="639" y="90"/>
                    <a:pt x="552" y="0"/>
                    <a:pt x="454" y="45"/>
                  </a:cubicBezTo>
                  <a:cubicBezTo>
                    <a:pt x="356" y="90"/>
                    <a:pt x="212" y="302"/>
                    <a:pt x="136" y="453"/>
                  </a:cubicBezTo>
                  <a:cubicBezTo>
                    <a:pt x="60" y="604"/>
                    <a:pt x="23" y="861"/>
                    <a:pt x="0" y="952"/>
                  </a:cubicBezTo>
                </a:path>
              </a:pathLst>
            </a:cu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Line 17"/>
            <p:cNvSpPr>
              <a:spLocks noChangeShapeType="1"/>
            </p:cNvSpPr>
            <p:nvPr/>
          </p:nvSpPr>
          <p:spPr bwMode="auto">
            <a:xfrm flipV="1">
              <a:off x="4082" y="589"/>
              <a:ext cx="0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8392" name="Object 18"/>
            <p:cNvGraphicFramePr>
              <a:graphicFrameLocks noChangeAspect="1"/>
            </p:cNvGraphicFramePr>
            <p:nvPr/>
          </p:nvGraphicFramePr>
          <p:xfrm>
            <a:off x="5375" y="981"/>
            <a:ext cx="196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18" r:id="rId14" imgW="215619" imgH="177569" progId="Equation.3">
                    <p:embed/>
                  </p:oleObj>
                </mc:Choice>
                <mc:Fallback>
                  <p:oleObj r:id="rId14" imgW="215619" imgH="17756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981"/>
                          <a:ext cx="196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3" name="Object 19"/>
            <p:cNvGraphicFramePr>
              <a:graphicFrameLocks noChangeAspect="1"/>
            </p:cNvGraphicFramePr>
            <p:nvPr/>
          </p:nvGraphicFramePr>
          <p:xfrm>
            <a:off x="4560" y="192"/>
            <a:ext cx="19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19" r:id="rId16" imgW="215619" imgH="164885" progId="Equation.3">
                    <p:embed/>
                  </p:oleObj>
                </mc:Choice>
                <mc:Fallback>
                  <p:oleObj r:id="rId16" imgW="215619" imgH="16488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92"/>
                          <a:ext cx="19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4" name="Line 20"/>
            <p:cNvSpPr>
              <a:spLocks noChangeShapeType="1"/>
            </p:cNvSpPr>
            <p:nvPr/>
          </p:nvSpPr>
          <p:spPr bwMode="auto">
            <a:xfrm>
              <a:off x="3991" y="679"/>
              <a:ext cx="91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5" name="Line 21"/>
            <p:cNvSpPr>
              <a:spLocks noChangeShapeType="1"/>
            </p:cNvSpPr>
            <p:nvPr/>
          </p:nvSpPr>
          <p:spPr bwMode="auto">
            <a:xfrm flipH="1">
              <a:off x="4490" y="679"/>
              <a:ext cx="227" cy="0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8396" name="Object 22"/>
            <p:cNvGraphicFramePr>
              <a:graphicFrameLocks noChangeAspect="1"/>
            </p:cNvGraphicFramePr>
            <p:nvPr/>
          </p:nvGraphicFramePr>
          <p:xfrm>
            <a:off x="4160" y="381"/>
            <a:ext cx="273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0" r:id="rId18" imgW="266469" imgH="444114" progId="Equation.3">
                    <p:embed/>
                  </p:oleObj>
                </mc:Choice>
                <mc:Fallback>
                  <p:oleObj r:id="rId18" imgW="266469" imgH="444114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" y="381"/>
                          <a:ext cx="273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7" name="Rectangle 23"/>
            <p:cNvSpPr>
              <a:spLocks noChangeArrowheads="1"/>
            </p:cNvSpPr>
            <p:nvPr/>
          </p:nvSpPr>
          <p:spPr bwMode="auto">
            <a:xfrm>
              <a:off x="3744" y="816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-1</a:t>
              </a:r>
              <a:endParaRPr lang="en-US" altLang="zh-CN" sz="16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98" name="Line 24"/>
            <p:cNvSpPr>
              <a:spLocks noChangeShapeType="1"/>
            </p:cNvSpPr>
            <p:nvPr/>
          </p:nvSpPr>
          <p:spPr bwMode="auto">
            <a:xfrm flipV="1">
              <a:off x="4490" y="589"/>
              <a:ext cx="454" cy="408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9" name="Rectangle 25"/>
            <p:cNvSpPr>
              <a:spLocks noChangeArrowheads="1"/>
            </p:cNvSpPr>
            <p:nvPr/>
          </p:nvSpPr>
          <p:spPr bwMode="auto">
            <a:xfrm>
              <a:off x="4807" y="6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GB" altLang="zh-CN" sz="2400">
                  <a:solidFill>
                    <a:schemeClr val="tx2"/>
                  </a:solidFill>
                  <a:latin typeface="Arial" panose="020B0604020202020204" pitchFamily="34" charset="0"/>
                </a:rPr>
                <a:t>1</a:t>
              </a:r>
              <a:endParaRPr lang="en-US" altLang="zh-CN" sz="2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8400" name="Object 26"/>
            <p:cNvGraphicFramePr>
              <a:graphicFrameLocks noChangeAspect="1"/>
            </p:cNvGraphicFramePr>
            <p:nvPr/>
          </p:nvGraphicFramePr>
          <p:xfrm>
            <a:off x="3840" y="1728"/>
            <a:ext cx="76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1" r:id="rId20" imgW="888614" imgH="203112" progId="Equation.3">
                    <p:embed/>
                  </p:oleObj>
                </mc:Choice>
                <mc:Fallback>
                  <p:oleObj r:id="rId20" imgW="888614" imgH="203112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728"/>
                          <a:ext cx="768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01" name="Line 27"/>
            <p:cNvSpPr>
              <a:spLocks noChangeShapeType="1"/>
            </p:cNvSpPr>
            <p:nvPr/>
          </p:nvSpPr>
          <p:spPr bwMode="auto">
            <a:xfrm flipH="1" flipV="1">
              <a:off x="3810" y="1587"/>
              <a:ext cx="90" cy="136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2" name="Freeform 28"/>
            <p:cNvSpPr>
              <a:spLocks noChangeArrowheads="1"/>
            </p:cNvSpPr>
            <p:nvPr/>
          </p:nvSpPr>
          <p:spPr bwMode="auto">
            <a:xfrm>
              <a:off x="3744" y="770"/>
              <a:ext cx="720" cy="1054"/>
            </a:xfrm>
            <a:custGeom>
              <a:avLst/>
              <a:gdLst>
                <a:gd name="T0" fmla="*/ 0 w 720"/>
                <a:gd name="T1" fmla="*/ 1054 h 1054"/>
                <a:gd name="T2" fmla="*/ 46 w 720"/>
                <a:gd name="T3" fmla="*/ 628 h 1054"/>
                <a:gd name="T4" fmla="*/ 192 w 720"/>
                <a:gd name="T5" fmla="*/ 190 h 1054"/>
                <a:gd name="T6" fmla="*/ 480 w 720"/>
                <a:gd name="T7" fmla="*/ 0 h 1054"/>
                <a:gd name="T8" fmla="*/ 720 w 720"/>
                <a:gd name="T9" fmla="*/ 190 h 10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1054">
                  <a:moveTo>
                    <a:pt x="0" y="1054"/>
                  </a:moveTo>
                  <a:cubicBezTo>
                    <a:pt x="8" y="983"/>
                    <a:pt x="14" y="772"/>
                    <a:pt x="46" y="628"/>
                  </a:cubicBezTo>
                  <a:cubicBezTo>
                    <a:pt x="78" y="484"/>
                    <a:pt x="120" y="295"/>
                    <a:pt x="192" y="190"/>
                  </a:cubicBezTo>
                  <a:cubicBezTo>
                    <a:pt x="264" y="85"/>
                    <a:pt x="392" y="0"/>
                    <a:pt x="480" y="0"/>
                  </a:cubicBezTo>
                  <a:cubicBezTo>
                    <a:pt x="568" y="0"/>
                    <a:pt x="670" y="151"/>
                    <a:pt x="720" y="19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3" name="Line 29"/>
            <p:cNvSpPr>
              <a:spLocks noChangeShapeType="1"/>
            </p:cNvSpPr>
            <p:nvPr/>
          </p:nvSpPr>
          <p:spPr bwMode="auto">
            <a:xfrm flipH="1">
              <a:off x="3552" y="1440"/>
              <a:ext cx="24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4" name="Text Box 30"/>
            <p:cNvSpPr txBox="1">
              <a:spLocks noChangeArrowheads="1"/>
            </p:cNvSpPr>
            <p:nvPr/>
          </p:nvSpPr>
          <p:spPr bwMode="auto">
            <a:xfrm>
              <a:off x="3312" y="1841"/>
              <a:ext cx="452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临界稳</a:t>
              </a:r>
            </a:p>
            <a:p>
              <a:pPr eaLnBrk="1" hangingPunct="1"/>
              <a:r>
                <a:rPr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定系统</a:t>
              </a:r>
            </a:p>
          </p:txBody>
        </p:sp>
        <p:sp>
          <p:nvSpPr>
            <p:cNvPr id="58405" name="Freeform 31"/>
            <p:cNvSpPr>
              <a:spLocks noChangeArrowheads="1"/>
            </p:cNvSpPr>
            <p:nvPr/>
          </p:nvSpPr>
          <p:spPr bwMode="auto">
            <a:xfrm>
              <a:off x="3456" y="640"/>
              <a:ext cx="1008" cy="1136"/>
            </a:xfrm>
            <a:custGeom>
              <a:avLst/>
              <a:gdLst>
                <a:gd name="T0" fmla="*/ 0 w 1008"/>
                <a:gd name="T1" fmla="*/ 1136 h 1136"/>
                <a:gd name="T2" fmla="*/ 192 w 1008"/>
                <a:gd name="T3" fmla="*/ 512 h 1136"/>
                <a:gd name="T4" fmla="*/ 432 w 1008"/>
                <a:gd name="T5" fmla="*/ 128 h 1136"/>
                <a:gd name="T6" fmla="*/ 720 w 1008"/>
                <a:gd name="T7" fmla="*/ 32 h 1136"/>
                <a:gd name="T8" fmla="*/ 1008 w 1008"/>
                <a:gd name="T9" fmla="*/ 320 h 1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8" h="1136">
                  <a:moveTo>
                    <a:pt x="0" y="1136"/>
                  </a:moveTo>
                  <a:cubicBezTo>
                    <a:pt x="60" y="908"/>
                    <a:pt x="120" y="680"/>
                    <a:pt x="192" y="512"/>
                  </a:cubicBezTo>
                  <a:cubicBezTo>
                    <a:pt x="264" y="344"/>
                    <a:pt x="344" y="208"/>
                    <a:pt x="432" y="128"/>
                  </a:cubicBezTo>
                  <a:cubicBezTo>
                    <a:pt x="520" y="48"/>
                    <a:pt x="624" y="0"/>
                    <a:pt x="720" y="32"/>
                  </a:cubicBezTo>
                  <a:cubicBezTo>
                    <a:pt x="816" y="64"/>
                    <a:pt x="960" y="272"/>
                    <a:pt x="1008" y="320"/>
                  </a:cubicBezTo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6" name="Line 32"/>
            <p:cNvSpPr>
              <a:spLocks noChangeShapeType="1"/>
            </p:cNvSpPr>
            <p:nvPr/>
          </p:nvSpPr>
          <p:spPr bwMode="auto">
            <a:xfrm flipH="1" flipV="1">
              <a:off x="3424" y="102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7" name="Text Box 33"/>
            <p:cNvSpPr txBox="1">
              <a:spLocks noChangeArrowheads="1"/>
            </p:cNvSpPr>
            <p:nvPr/>
          </p:nvSpPr>
          <p:spPr bwMode="auto">
            <a:xfrm>
              <a:off x="3198" y="618"/>
              <a:ext cx="52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不稳定系统</a:t>
              </a:r>
            </a:p>
          </p:txBody>
        </p:sp>
        <p:graphicFrame>
          <p:nvGraphicFramePr>
            <p:cNvPr id="58408" name="Object 34"/>
            <p:cNvGraphicFramePr>
              <a:graphicFrameLocks noChangeAspect="1"/>
            </p:cNvGraphicFramePr>
            <p:nvPr/>
          </p:nvGraphicFramePr>
          <p:xfrm>
            <a:off x="4032" y="912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2" r:id="rId22" imgW="203112" imgH="241195" progId="Equation.3">
                    <p:embed/>
                  </p:oleObj>
                </mc:Choice>
                <mc:Fallback>
                  <p:oleObj r:id="rId22" imgW="203112" imgH="24119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912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43" name="Object 35"/>
          <p:cNvGraphicFramePr>
            <a:graphicFrameLocks noChangeAspect="1"/>
          </p:cNvGraphicFramePr>
          <p:nvPr/>
        </p:nvGraphicFramePr>
        <p:xfrm>
          <a:off x="5076825" y="5084763"/>
          <a:ext cx="6858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3" r:id="rId23" imgW="431613" imgH="241195" progId="Equation.3">
                  <p:embed/>
                </p:oleObj>
              </mc:Choice>
              <mc:Fallback>
                <p:oleObj r:id="rId23" imgW="431613" imgH="241195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084763"/>
                        <a:ext cx="685800" cy="3825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4" name="Text Box 36"/>
          <p:cNvSpPr txBox="1">
            <a:spLocks noChangeArrowheads="1"/>
          </p:cNvSpPr>
          <p:nvPr/>
        </p:nvSpPr>
        <p:spPr bwMode="auto">
          <a:xfrm>
            <a:off x="5724525" y="5084763"/>
            <a:ext cx="3148013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  <a:cs typeface="仿宋_GB2312"/>
              </a:rPr>
              <a:t>系统稳定，否则不稳定。</a:t>
            </a:r>
          </a:p>
        </p:txBody>
      </p:sp>
      <p:sp>
        <p:nvSpPr>
          <p:cNvPr id="17445" name="Text Box 37"/>
          <p:cNvSpPr txBox="1">
            <a:spLocks noChangeArrowheads="1"/>
          </p:cNvSpPr>
          <p:nvPr/>
        </p:nvSpPr>
        <p:spPr bwMode="auto">
          <a:xfrm>
            <a:off x="900113" y="5105400"/>
            <a:ext cx="360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仿宋_GB2312"/>
                <a:cs typeface="仿宋_GB2312"/>
              </a:rPr>
              <a:t>幅值裕量若用分贝表示：</a:t>
            </a:r>
          </a:p>
        </p:txBody>
      </p:sp>
      <p:graphicFrame>
        <p:nvGraphicFramePr>
          <p:cNvPr id="17446" name="Object 38"/>
          <p:cNvGraphicFramePr>
            <a:graphicFrameLocks noChangeAspect="1"/>
          </p:cNvGraphicFramePr>
          <p:nvPr/>
        </p:nvGraphicFramePr>
        <p:xfrm>
          <a:off x="6516688" y="6021388"/>
          <a:ext cx="1066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4" r:id="rId25" imgW="634725" imgH="241195" progId="Equation.3">
                  <p:embed/>
                </p:oleObj>
              </mc:Choice>
              <mc:Fallback>
                <p:oleObj r:id="rId25" imgW="634725" imgH="241195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6021388"/>
                        <a:ext cx="1066800" cy="406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5003800" y="60213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最佳值：</a:t>
            </a:r>
          </a:p>
        </p:txBody>
      </p:sp>
      <p:graphicFrame>
        <p:nvGraphicFramePr>
          <p:cNvPr id="17448" name="Object 40"/>
          <p:cNvGraphicFramePr>
            <a:graphicFrameLocks noChangeAspect="1"/>
          </p:cNvGraphicFramePr>
          <p:nvPr/>
        </p:nvGraphicFramePr>
        <p:xfrm>
          <a:off x="1752600" y="6037263"/>
          <a:ext cx="9906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5" r:id="rId27" imgW="634725" imgH="241195" progId="Equation.3">
                  <p:embed/>
                </p:oleObj>
              </mc:Choice>
              <mc:Fallback>
                <p:oleObj r:id="rId27" imgW="634725" imgH="241195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6037263"/>
                        <a:ext cx="990600" cy="3778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2819400" y="6019800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系统稳定。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17416" grpId="0"/>
      <p:bldP spid="17417" grpId="0"/>
      <p:bldP spid="17444" grpId="0" animBg="1"/>
      <p:bldP spid="17445" grpId="0"/>
      <p:bldP spid="17447" grpId="0"/>
      <p:bldP spid="1744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565400"/>
            <a:ext cx="3517900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Line 3"/>
          <p:cNvSpPr>
            <a:spLocks noChangeShapeType="1"/>
          </p:cNvSpPr>
          <p:nvPr/>
        </p:nvSpPr>
        <p:spPr bwMode="auto">
          <a:xfrm flipV="1">
            <a:off x="1979613" y="2924175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1979613" y="306863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4859338" y="2492375"/>
          <a:ext cx="3357562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4" r:id="rId5" imgW="1587500" imgH="889000" progId="Equation.DSMT4">
                  <p:embed/>
                </p:oleObj>
              </mc:Choice>
              <mc:Fallback>
                <p:oleObj r:id="rId5" imgW="1587500" imgH="889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492375"/>
                        <a:ext cx="3357562" cy="188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908175" y="2636838"/>
            <a:ext cx="709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</a:rPr>
              <a:t>M</a:t>
            </a:r>
            <a:r>
              <a:rPr lang="el-GR" altLang="zh-CN" b="1">
                <a:latin typeface="Arial" panose="020B0604020202020204" pitchFamily="34" charset="0"/>
              </a:rPr>
              <a:t>π</a:t>
            </a:r>
            <a:endParaRPr lang="el-GR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1116013" y="908050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图上的幅值裕量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  <p:bldP spid="1843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3132138" y="981075"/>
          <a:ext cx="40528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8" r:id="rId4" imgW="2006600" imgH="279400" progId="Equation.DSMT4">
                  <p:embed/>
                </p:oleObj>
              </mc:Choice>
              <mc:Fallback>
                <p:oleObj r:id="rId4" imgW="2006600" imgH="279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981075"/>
                        <a:ext cx="4052887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44675"/>
            <a:ext cx="4692650" cy="443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3563938" y="5302250"/>
            <a:ext cx="71437" cy="714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V="1">
            <a:off x="3563938" y="3070225"/>
            <a:ext cx="0" cy="2303463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3563938" y="3502025"/>
            <a:ext cx="1295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4427538" y="3070225"/>
            <a:ext cx="0" cy="431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4654550" y="3094038"/>
          <a:ext cx="6238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9" r:id="rId7" imgW="330057" imgH="241195" progId="Equation.DSMT4">
                  <p:embed/>
                </p:oleObj>
              </mc:Choice>
              <mc:Fallback>
                <p:oleObj r:id="rId7" imgW="330057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0" y="3094038"/>
                        <a:ext cx="623888" cy="455612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/>
          <p:cNvGraphicFramePr>
            <a:graphicFrameLocks noChangeAspect="1"/>
          </p:cNvGraphicFramePr>
          <p:nvPr/>
        </p:nvGraphicFramePr>
        <p:xfrm>
          <a:off x="3419475" y="2636838"/>
          <a:ext cx="365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0" r:id="rId9" imgW="177569" imgH="202936" progId="Equation.3">
                  <p:embed/>
                </p:oleObj>
              </mc:Choice>
              <mc:Fallback>
                <p:oleObj r:id="rId9" imgW="177569" imgH="20293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636838"/>
                        <a:ext cx="365125" cy="41910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5867400" y="2636838"/>
            <a:ext cx="25209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Arial" panose="020B0604020202020204" pitchFamily="34" charset="0"/>
              </a:rPr>
              <a:t>先找到相位交界频率，幅值裕量为</a:t>
            </a:r>
            <a:r>
              <a:rPr lang="en-US" altLang="zh-CN" sz="2400" b="1">
                <a:latin typeface="Arial" panose="020B0604020202020204" pitchFamily="34" charset="0"/>
              </a:rPr>
              <a:t>0DB</a:t>
            </a:r>
            <a:r>
              <a:rPr lang="zh-CN" altLang="en-US" sz="2400" b="1">
                <a:latin typeface="Arial" panose="020B0604020202020204" pitchFamily="34" charset="0"/>
              </a:rPr>
              <a:t>值与该频率处的幅频特性值之差（单位是分贝） 。 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 flipH="1">
            <a:off x="3635375" y="2349500"/>
            <a:ext cx="144463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3635375" y="1901825"/>
            <a:ext cx="171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相位穿越频率</a:t>
            </a:r>
          </a:p>
        </p:txBody>
      </p:sp>
      <p:graphicFrame>
        <p:nvGraphicFramePr>
          <p:cNvPr id="62477" name="Object 13"/>
          <p:cNvGraphicFramePr>
            <a:graphicFrameLocks noChangeAspect="1"/>
          </p:cNvGraphicFramePr>
          <p:nvPr/>
        </p:nvGraphicFramePr>
        <p:xfrm>
          <a:off x="827088" y="188913"/>
          <a:ext cx="3171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1" r:id="rId11" imgW="1752600" imgH="469900" progId="Equation.DSMT4">
                  <p:embed/>
                </p:oleObj>
              </mc:Choice>
              <mc:Fallback>
                <p:oleObj r:id="rId11" imgW="17526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8913"/>
                        <a:ext cx="31718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10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10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  <p:bldP spid="19466" grpId="0"/>
      <p:bldP spid="1946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827088" y="692150"/>
            <a:ext cx="76327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Arial" panose="020B0604020202020204" pitchFamily="34" charset="0"/>
              </a:rPr>
              <a:t>  </a:t>
            </a:r>
            <a:r>
              <a:rPr lang="zh-CN" altLang="en-US" sz="2800" b="1">
                <a:latin typeface="Arial" panose="020B0604020202020204" pitchFamily="34" charset="0"/>
              </a:rPr>
              <a:t>现假设有两个开环稳定的系统，其中一个闭环稳定，标记为系统</a:t>
            </a:r>
            <a:r>
              <a:rPr lang="en-US" altLang="zh-CN" sz="2800" b="1">
                <a:latin typeface="Arial" panose="020B0604020202020204" pitchFamily="34" charset="0"/>
              </a:rPr>
              <a:t>1</a:t>
            </a:r>
            <a:r>
              <a:rPr lang="zh-CN" altLang="en-US" sz="2800" b="1">
                <a:latin typeface="Arial" panose="020B0604020202020204" pitchFamily="34" charset="0"/>
              </a:rPr>
              <a:t>， 另一个闭环不稳定，标记为系统</a:t>
            </a:r>
            <a:r>
              <a:rPr lang="en-US" altLang="zh-CN" sz="2800" b="1">
                <a:latin typeface="Arial" panose="020B0604020202020204" pitchFamily="34" charset="0"/>
              </a:rPr>
              <a:t>2</a:t>
            </a:r>
            <a:r>
              <a:rPr lang="zh-CN" altLang="en-US" sz="2800" b="1">
                <a:latin typeface="Arial" panose="020B0604020202020204" pitchFamily="34" charset="0"/>
              </a:rPr>
              <a:t>。这两系统的</a:t>
            </a:r>
            <a:r>
              <a:rPr lang="en-US" altLang="zh-CN" sz="2800" b="1">
                <a:latin typeface="Arial" panose="020B0604020202020204" pitchFamily="34" charset="0"/>
              </a:rPr>
              <a:t>Nyquist</a:t>
            </a:r>
            <a:r>
              <a:rPr lang="zh-CN" altLang="en-US" sz="2800" b="1">
                <a:latin typeface="Arial" panose="020B0604020202020204" pitchFamily="34" charset="0"/>
              </a:rPr>
              <a:t>图如下：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420938"/>
            <a:ext cx="4233862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311275" y="711200"/>
            <a:ext cx="3805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这两系统的相应</a:t>
            </a:r>
            <a:r>
              <a:rPr lang="en-US" altLang="zh-CN" sz="2400" b="1"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latin typeface="Arial" panose="020B0604020202020204" pitchFamily="34" charset="0"/>
              </a:rPr>
              <a:t>图为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341438"/>
            <a:ext cx="4692650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05038"/>
            <a:ext cx="3662362" cy="349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3132138" y="6021388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系统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1----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稳定的系统</a:t>
            </a:r>
          </a:p>
        </p:txBody>
      </p:sp>
      <p:sp>
        <p:nvSpPr>
          <p:cNvPr id="21510" name="Freeform 6"/>
          <p:cNvSpPr>
            <a:spLocks noChangeArrowheads="1"/>
          </p:cNvSpPr>
          <p:nvPr/>
        </p:nvSpPr>
        <p:spPr bwMode="auto">
          <a:xfrm>
            <a:off x="7135813" y="2576513"/>
            <a:ext cx="12700" cy="2300287"/>
          </a:xfrm>
          <a:custGeom>
            <a:avLst/>
            <a:gdLst>
              <a:gd name="T0" fmla="*/ 0 w 8"/>
              <a:gd name="T1" fmla="*/ 2147483646 h 1449"/>
              <a:gd name="T2" fmla="*/ 20161250 w 8"/>
              <a:gd name="T3" fmla="*/ 0 h 144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" h="1449">
                <a:moveTo>
                  <a:pt x="0" y="1449"/>
                </a:moveTo>
                <a:lnTo>
                  <a:pt x="8" y="0"/>
                </a:lnTo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7164388" y="3068638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7740650" y="256540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7799388" y="2584450"/>
          <a:ext cx="11779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5" r:id="rId6" imgW="571252" imgH="241195" progId="Equation.DSMT4">
                  <p:embed/>
                </p:oleObj>
              </mc:Choice>
              <mc:Fallback>
                <p:oleObj r:id="rId6" imgW="571252" imgH="24119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2584450"/>
                        <a:ext cx="1177925" cy="496888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6372225" y="2565400"/>
            <a:ext cx="0" cy="2016125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 flipH="1">
            <a:off x="5867400" y="4581525"/>
            <a:ext cx="504825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6084888" y="458152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5027613" y="4468813"/>
          <a:ext cx="8429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6" r:id="rId8" imgW="393529" imgH="228501" progId="Equation.DSMT4">
                  <p:embed/>
                </p:oleObj>
              </mc:Choice>
              <mc:Fallback>
                <p:oleObj r:id="rId8" imgW="393529" imgH="22850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613" y="4468813"/>
                        <a:ext cx="842962" cy="48895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3924300" y="2349500"/>
            <a:ext cx="735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0 dB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9" grpId="0"/>
      <p:bldP spid="215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557338"/>
            <a:ext cx="4319587" cy="320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549275"/>
            <a:ext cx="3811587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971550" y="5157788"/>
            <a:ext cx="2201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Nyquist Diagram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5651500" y="5229225"/>
            <a:ext cx="1906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</a:rPr>
              <a:t>Bode Diagram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484438" y="5805488"/>
            <a:ext cx="374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系统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</a:rPr>
              <a:t>2------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不稳定的系统</a:t>
            </a: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V="1">
            <a:off x="6443663" y="1844675"/>
            <a:ext cx="0" cy="2592388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6443663" y="1844675"/>
            <a:ext cx="1008062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7235825" y="1844675"/>
            <a:ext cx="0" cy="14446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 flipV="1">
            <a:off x="7235825" y="1989138"/>
            <a:ext cx="0" cy="287337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7235825" y="1412875"/>
            <a:ext cx="0" cy="431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 flipH="1">
            <a:off x="7235825" y="1773238"/>
            <a:ext cx="50482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7885113" y="1433513"/>
          <a:ext cx="917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0" r:id="rId6" imgW="558558" imgH="241195" progId="Equation.DSMT4">
                  <p:embed/>
                </p:oleObj>
              </mc:Choice>
              <mc:Fallback>
                <p:oleObj r:id="rId6" imgW="558558" imgH="24119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1433513"/>
                        <a:ext cx="917575" cy="396875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4284663" y="1773238"/>
            <a:ext cx="735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</a:rPr>
              <a:t>0 dB</a:t>
            </a: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6516688" y="1989138"/>
            <a:ext cx="0" cy="25923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 flipH="1">
            <a:off x="5580063" y="4581525"/>
            <a:ext cx="9366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>
            <a:off x="5867400" y="4221163"/>
            <a:ext cx="0" cy="215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 flipV="1">
            <a:off x="5867400" y="4581525"/>
            <a:ext cx="0" cy="215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5867400" y="44370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flipH="1">
            <a:off x="4284663" y="4508500"/>
            <a:ext cx="15827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49" name="Object 21"/>
          <p:cNvGraphicFramePr>
            <a:graphicFrameLocks noChangeAspect="1"/>
          </p:cNvGraphicFramePr>
          <p:nvPr/>
        </p:nvGraphicFramePr>
        <p:xfrm>
          <a:off x="3563938" y="4508500"/>
          <a:ext cx="6842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1" r:id="rId8" imgW="355292" imgH="203024" progId="Equation.DSMT4">
                  <p:embed/>
                </p:oleObj>
              </mc:Choice>
              <mc:Fallback>
                <p:oleObj r:id="rId8" imgW="355292" imgH="20302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508500"/>
                        <a:ext cx="684212" cy="390525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10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3" grpId="0"/>
      <p:bldP spid="22534" grpId="0"/>
      <p:bldP spid="225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735013" y="981075"/>
            <a:ext cx="563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zh-CN" altLang="en-US" sz="2400" b="1">
                <a:ea typeface="楷体_GB2312" pitchFamily="49" charset="-122"/>
              </a:rPr>
              <a:t>关于相位裕量和幅值裕量的几点说明：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971550" y="1844675"/>
            <a:ext cx="72929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/>
              <a:t>1</a:t>
            </a:r>
            <a:r>
              <a:rPr lang="zh-CN" altLang="en-US" sz="2400" b="1"/>
              <a:t>）二者均表示极坐标图对临界点的靠近程度，可以用来作为设计准则来确定系统的相对稳定性。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900113" y="2997200"/>
            <a:ext cx="72723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/>
              <a:t>2</a:t>
            </a:r>
            <a:r>
              <a:rPr lang="zh-CN" altLang="en-US" sz="2400" b="1"/>
              <a:t>）对于最小相位系统，只有当二者均为正时，系统稳定。事实上，相位裕量大于零可作为系统稳定性的可靠判据，幅值裕量大于零时系统不一定稳定。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1042988" y="4508500"/>
            <a:ext cx="7364412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 b="1"/>
              <a:t>3</a:t>
            </a:r>
            <a:r>
              <a:rPr lang="zh-CN" altLang="en-US" sz="2400" b="1"/>
              <a:t>）对于最小相位系统，当相位裕量在</a:t>
            </a:r>
            <a:r>
              <a:rPr lang="en-US" altLang="zh-CN" sz="2400" b="1"/>
              <a:t>30°</a:t>
            </a:r>
            <a:r>
              <a:rPr lang="zh-CN" altLang="en-US" sz="2400" b="1"/>
              <a:t>至</a:t>
            </a:r>
            <a:r>
              <a:rPr lang="en-US" altLang="zh-CN" sz="2400" b="1"/>
              <a:t>60°</a:t>
            </a:r>
            <a:r>
              <a:rPr lang="zh-CN" altLang="en-US" sz="2400" b="1"/>
              <a:t>之间时，</a:t>
            </a:r>
            <a:r>
              <a:rPr lang="en-US" altLang="zh-CN" sz="2400" b="1"/>
              <a:t>Bode</a:t>
            </a:r>
            <a:r>
              <a:rPr lang="zh-CN" altLang="en-US" sz="2400" b="1"/>
              <a:t>图上幅频特性曲线穿越</a:t>
            </a:r>
            <a:r>
              <a:rPr lang="en-US" altLang="zh-CN" sz="2400" b="1"/>
              <a:t>0dB</a:t>
            </a:r>
            <a:r>
              <a:rPr lang="zh-CN" altLang="en-US" sz="2400" b="1"/>
              <a:t>线的斜率大于</a:t>
            </a:r>
            <a:r>
              <a:rPr lang="en-US" altLang="zh-CN" sz="2400" b="1"/>
              <a:t>-40dB/dec</a:t>
            </a:r>
            <a:r>
              <a:rPr lang="zh-CN" altLang="en-US" sz="2400" b="1"/>
              <a:t>，这样的系统稳定程度较高。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3F6A4D5-5EF5-4E75-964A-2004A5B6C175}" type="datetime1">
              <a:rPr lang="zh-CN" altLang="en-US" smtClean="0"/>
              <a:pPr/>
              <a:t>2025/10/9</a:t>
            </a:fld>
            <a:endParaRPr lang="en-US" altLang="zh-CN" smtClean="0"/>
          </a:p>
        </p:txBody>
      </p:sp>
      <p:sp>
        <p:nvSpPr>
          <p:cNvPr id="72707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Jixia Lu</a:t>
            </a: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16B37E7-2011-44F7-B500-FECC6BB7D9F6}" type="slidenum">
              <a:rPr lang="en-US" altLang="zh-CN" smtClean="0"/>
              <a:pPr/>
              <a:t>43</a:t>
            </a:fld>
            <a:endParaRPr lang="en-US" altLang="zh-CN" smtClean="0"/>
          </a:p>
        </p:txBody>
      </p:sp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900113" y="47625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例：</a:t>
            </a:r>
            <a:endParaRPr lang="en-US" altLang="zh-CN" sz="2400" b="1">
              <a:latin typeface="Arial" panose="020B0604020202020204" pitchFamily="34" charset="0"/>
            </a:endParaRPr>
          </a:p>
        </p:txBody>
      </p:sp>
      <p:graphicFrame>
        <p:nvGraphicFramePr>
          <p:cNvPr id="72710" name="Object 5"/>
          <p:cNvGraphicFramePr>
            <a:graphicFrameLocks noChangeAspect="1"/>
          </p:cNvGraphicFramePr>
          <p:nvPr/>
        </p:nvGraphicFramePr>
        <p:xfrm>
          <a:off x="1811338" y="379413"/>
          <a:ext cx="2882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8" name="公式" r:id="rId3" imgW="1155700" imgH="381000" progId="Equation.3">
                  <p:embed/>
                </p:oleObj>
              </mc:Choice>
              <mc:Fallback>
                <p:oleObj name="公式" r:id="rId3" imgW="1155700" imgH="38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379413"/>
                        <a:ext cx="2882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654300" y="1760538"/>
            <a:ext cx="1984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Bode</a:t>
            </a:r>
            <a:r>
              <a:rPr lang="zh-CN" altLang="en-US" sz="2400" b="1">
                <a:latin typeface="Arial" panose="020B0604020202020204" pitchFamily="34" charset="0"/>
              </a:rPr>
              <a:t>图如下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49227" name="Picture 7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90725"/>
            <a:ext cx="7242175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231" name="Line 79"/>
          <p:cNvSpPr>
            <a:spLocks noChangeShapeType="1"/>
          </p:cNvSpPr>
          <p:nvPr/>
        </p:nvSpPr>
        <p:spPr bwMode="auto">
          <a:xfrm>
            <a:off x="2916238" y="5589588"/>
            <a:ext cx="0" cy="36036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32" name="Text Box 80"/>
          <p:cNvSpPr txBox="1">
            <a:spLocks noChangeArrowheads="1"/>
          </p:cNvSpPr>
          <p:nvPr/>
        </p:nvSpPr>
        <p:spPr bwMode="auto">
          <a:xfrm>
            <a:off x="2987675" y="5589588"/>
            <a:ext cx="530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45</a:t>
            </a:r>
            <a:r>
              <a:rPr lang="en-US" altLang="zh-CN" sz="1800" b="1">
                <a:latin typeface="Arial" panose="020B0604020202020204" pitchFamily="34" charset="0"/>
                <a:sym typeface="Symbol" panose="05050102010706020507" pitchFamily="18" charset="2"/>
              </a:rPr>
              <a:t></a:t>
            </a:r>
          </a:p>
        </p:txBody>
      </p:sp>
      <p:sp>
        <p:nvSpPr>
          <p:cNvPr id="49233" name="Text Box 81"/>
          <p:cNvSpPr txBox="1">
            <a:spLocks noChangeArrowheads="1"/>
          </p:cNvSpPr>
          <p:nvPr/>
        </p:nvSpPr>
        <p:spPr bwMode="auto">
          <a:xfrm>
            <a:off x="1908175" y="2422525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-40</a:t>
            </a:r>
          </a:p>
        </p:txBody>
      </p:sp>
      <p:sp>
        <p:nvSpPr>
          <p:cNvPr id="49234" name="Text Box 82"/>
          <p:cNvSpPr txBox="1">
            <a:spLocks noChangeArrowheads="1"/>
          </p:cNvSpPr>
          <p:nvPr/>
        </p:nvSpPr>
        <p:spPr bwMode="auto">
          <a:xfrm>
            <a:off x="3132138" y="3500438"/>
            <a:ext cx="51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-20</a:t>
            </a:r>
          </a:p>
        </p:txBody>
      </p:sp>
      <p:sp>
        <p:nvSpPr>
          <p:cNvPr id="49235" name="Text Box 83"/>
          <p:cNvSpPr txBox="1">
            <a:spLocks noChangeArrowheads="1"/>
          </p:cNvSpPr>
          <p:nvPr/>
        </p:nvSpPr>
        <p:spPr bwMode="auto">
          <a:xfrm>
            <a:off x="4932363" y="3789363"/>
            <a:ext cx="51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</a:rPr>
              <a:t>-40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4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9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/>
      <p:bldP spid="49233" grpId="0"/>
      <p:bldP spid="49234" grpId="0"/>
      <p:bldP spid="4923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DC6EB4-1CE8-4F85-B259-90F1C256AE36}" type="datetime1">
              <a:rPr lang="zh-CN" altLang="en-US" smtClean="0"/>
              <a:pPr/>
              <a:t>2025/10/9</a:t>
            </a:fld>
            <a:endParaRPr lang="en-US" altLang="zh-CN" smtClean="0"/>
          </a:p>
        </p:txBody>
      </p:sp>
      <p:sp>
        <p:nvSpPr>
          <p:cNvPr id="73731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mtClean="0"/>
              <a:t>Jixia Lu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A0B9A4B-D4AD-4768-9BED-73F23CBD7D16}" type="slidenum">
              <a:rPr lang="en-US" altLang="zh-CN" smtClean="0"/>
              <a:pPr/>
              <a:t>44</a:t>
            </a:fld>
            <a:endParaRPr lang="en-US" altLang="zh-CN" smtClean="0"/>
          </a:p>
        </p:txBody>
      </p:sp>
      <p:sp>
        <p:nvSpPr>
          <p:cNvPr id="73733" name="Text Box 4"/>
          <p:cNvSpPr txBox="1">
            <a:spLocks noChangeArrowheads="1"/>
          </p:cNvSpPr>
          <p:nvPr/>
        </p:nvSpPr>
        <p:spPr bwMode="auto">
          <a:xfrm>
            <a:off x="1455738" y="5476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1">
              <a:latin typeface="Arial" panose="020B0604020202020204" pitchFamily="34" charset="0"/>
            </a:endParaRPr>
          </a:p>
        </p:txBody>
      </p:sp>
      <p:sp>
        <p:nvSpPr>
          <p:cNvPr id="73734" name="Text Box 5"/>
          <p:cNvSpPr txBox="1">
            <a:spLocks noChangeArrowheads="1"/>
          </p:cNvSpPr>
          <p:nvPr/>
        </p:nvSpPr>
        <p:spPr bwMode="auto">
          <a:xfrm>
            <a:off x="1311275" y="566738"/>
            <a:ext cx="2143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相应的根轨迹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7373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84313"/>
            <a:ext cx="6211888" cy="422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3736" name="Object 10"/>
          <p:cNvGraphicFramePr>
            <a:graphicFrameLocks noChangeAspect="1"/>
          </p:cNvGraphicFramePr>
          <p:nvPr/>
        </p:nvGraphicFramePr>
        <p:xfrm>
          <a:off x="6372225" y="549275"/>
          <a:ext cx="23780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7" name="公式" r:id="rId4" imgW="1155700" imgH="381000" progId="Equation.3">
                  <p:embed/>
                </p:oleObj>
              </mc:Choice>
              <mc:Fallback>
                <p:oleObj name="公式" r:id="rId4" imgW="1155700" imgH="38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49275"/>
                        <a:ext cx="237807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75</TotalTime>
  <Words>2106</Words>
  <Application>Microsoft Office PowerPoint</Application>
  <PresentationFormat>全屏显示(4:3)</PresentationFormat>
  <Paragraphs>311</Paragraphs>
  <Slides>44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44</vt:i4>
      </vt:variant>
    </vt:vector>
  </HeadingPairs>
  <TitlesOfParts>
    <vt:vector size="62" baseType="lpstr">
      <vt:lpstr>Verdana</vt:lpstr>
      <vt:lpstr>宋体</vt:lpstr>
      <vt:lpstr>Arial</vt:lpstr>
      <vt:lpstr>Wingdings</vt:lpstr>
      <vt:lpstr>Times New Roman</vt:lpstr>
      <vt:lpstr>华文新魏</vt:lpstr>
      <vt:lpstr>黑体</vt:lpstr>
      <vt:lpstr>Symbol</vt:lpstr>
      <vt:lpstr>仿宋_GB2312</vt:lpstr>
      <vt:lpstr>楷体_GB2312</vt:lpstr>
      <vt:lpstr>Wingdings 2</vt:lpstr>
      <vt:lpstr>Profile</vt:lpstr>
      <vt:lpstr>Equation.3</vt:lpstr>
      <vt:lpstr>Microsoft 公式 3.0</vt:lpstr>
      <vt:lpstr>MathType 6.0 Equation</vt:lpstr>
      <vt:lpstr>SmartDraw.2</vt:lpstr>
      <vt:lpstr>Equation.DSMT4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Lujx</cp:lastModifiedBy>
  <cp:revision>152</cp:revision>
  <dcterms:created xsi:type="dcterms:W3CDTF">2011-07-28T08:27:52Z</dcterms:created>
  <dcterms:modified xsi:type="dcterms:W3CDTF">2025-10-09T06:37:08Z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