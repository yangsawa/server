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4"/>
  </p:notesMasterIdLst>
  <p:handoutMasterIdLst>
    <p:handoutMasterId r:id="rId55"/>
  </p:handoutMasterIdLst>
  <p:sldIdLst>
    <p:sldId id="490" r:id="rId2"/>
    <p:sldId id="479" r:id="rId3"/>
    <p:sldId id="480" r:id="rId4"/>
    <p:sldId id="478" r:id="rId5"/>
    <p:sldId id="477" r:id="rId6"/>
    <p:sldId id="370" r:id="rId7"/>
    <p:sldId id="481" r:id="rId8"/>
    <p:sldId id="482" r:id="rId9"/>
    <p:sldId id="483" r:id="rId10"/>
    <p:sldId id="484" r:id="rId11"/>
    <p:sldId id="485" r:id="rId12"/>
    <p:sldId id="486" r:id="rId13"/>
    <p:sldId id="487" r:id="rId14"/>
    <p:sldId id="488" r:id="rId15"/>
    <p:sldId id="489" r:id="rId16"/>
    <p:sldId id="408" r:id="rId17"/>
    <p:sldId id="409" r:id="rId18"/>
    <p:sldId id="410" r:id="rId19"/>
    <p:sldId id="411" r:id="rId20"/>
    <p:sldId id="412" r:id="rId21"/>
    <p:sldId id="413" r:id="rId22"/>
    <p:sldId id="414" r:id="rId23"/>
    <p:sldId id="415" r:id="rId24"/>
    <p:sldId id="416" r:id="rId25"/>
    <p:sldId id="417" r:id="rId26"/>
    <p:sldId id="418" r:id="rId27"/>
    <p:sldId id="419" r:id="rId28"/>
    <p:sldId id="420" r:id="rId29"/>
    <p:sldId id="421" r:id="rId30"/>
    <p:sldId id="422" r:id="rId31"/>
    <p:sldId id="423" r:id="rId32"/>
    <p:sldId id="424" r:id="rId33"/>
    <p:sldId id="425" r:id="rId34"/>
    <p:sldId id="426" r:id="rId35"/>
    <p:sldId id="434" r:id="rId36"/>
    <p:sldId id="435" r:id="rId37"/>
    <p:sldId id="436" r:id="rId38"/>
    <p:sldId id="438" r:id="rId39"/>
    <p:sldId id="470" r:id="rId40"/>
    <p:sldId id="371" r:id="rId41"/>
    <p:sldId id="439" r:id="rId42"/>
    <p:sldId id="440" r:id="rId43"/>
    <p:sldId id="441" r:id="rId44"/>
    <p:sldId id="442" r:id="rId45"/>
    <p:sldId id="443" r:id="rId46"/>
    <p:sldId id="444" r:id="rId47"/>
    <p:sldId id="445" r:id="rId48"/>
    <p:sldId id="465" r:id="rId49"/>
    <p:sldId id="492" r:id="rId50"/>
    <p:sldId id="471" r:id="rId51"/>
    <p:sldId id="475" r:id="rId52"/>
    <p:sldId id="476" r:id="rId53"/>
  </p:sldIdLst>
  <p:sldSz cx="9144000" cy="6858000" type="screen4x3"/>
  <p:notesSz cx="6669088" cy="9926638"/>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70" d="100"/>
          <a:sy n="70" d="100"/>
        </p:scale>
        <p:origin x="990" y="45"/>
      </p:cViewPr>
      <p:guideLst>
        <p:guide orient="horz" pos="2182"/>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B53C0AE-A1BE-3279-20A8-055E9CC9D61C}"/>
              </a:ext>
            </a:extLst>
          </p:cNvPr>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9219" name="Rectangle 3">
            <a:extLst>
              <a:ext uri="{FF2B5EF4-FFF2-40B4-BE49-F238E27FC236}">
                <a16:creationId xmlns:a16="http://schemas.microsoft.com/office/drawing/2014/main" id="{622CA347-5EB0-CFB2-3B39-60A8E6294D1E}"/>
              </a:ext>
            </a:extLst>
          </p:cNvPr>
          <p:cNvSpPr>
            <a:spLocks noGrp="1" noChangeArrowheads="1"/>
          </p:cNvSpPr>
          <p:nvPr>
            <p:ph type="dt" sz="quarter"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9220" name="Rectangle 4">
            <a:extLst>
              <a:ext uri="{FF2B5EF4-FFF2-40B4-BE49-F238E27FC236}">
                <a16:creationId xmlns:a16="http://schemas.microsoft.com/office/drawing/2014/main" id="{D1025B47-7556-B1D7-1220-C4B546C307C1}"/>
              </a:ext>
            </a:extLst>
          </p:cNvPr>
          <p:cNvSpPr>
            <a:spLocks noGrp="1" noChangeArrowheads="1"/>
          </p:cNvSpPr>
          <p:nvPr>
            <p:ph type="ftr" sz="quarter" idx="2"/>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9221" name="Rectangle 5">
            <a:extLst>
              <a:ext uri="{FF2B5EF4-FFF2-40B4-BE49-F238E27FC236}">
                <a16:creationId xmlns:a16="http://schemas.microsoft.com/office/drawing/2014/main" id="{BDBE4319-F496-21DF-8365-0B4E128C5DEF}"/>
              </a:ext>
            </a:extLst>
          </p:cNvPr>
          <p:cNvSpPr>
            <a:spLocks noGrp="1" noChangeArrowheads="1"/>
          </p:cNvSpPr>
          <p:nvPr>
            <p:ph type="sldNum" sz="quarter" idx="3"/>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noProof="1" smtClean="0">
                <a:latin typeface="Arial" panose="020B0604020202020204" pitchFamily="34" charset="0"/>
              </a:defRPr>
            </a:lvl1pPr>
          </a:lstStyle>
          <a:p>
            <a:pPr>
              <a:defRPr/>
            </a:pPr>
            <a:fld id="{D0C68E53-4FA2-4769-A81D-BD2BE1B9A33A}" type="slidenum">
              <a:rPr altLang="zh-CN"/>
              <a:pPr>
                <a:defRPr/>
              </a:pPr>
              <a:t>‹#›</a:t>
            </a:fld>
            <a:endParaRPr lang="zh-CN"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37.82506" units="1/cm"/>
          <inkml:channelProperty channel="Y" name="resolution" value="37.81512" units="1/cm"/>
          <inkml:channelProperty channel="T" name="resolution" value="1" units="1/dev"/>
        </inkml:channelProperties>
      </inkml:inkSource>
      <inkml:timestamp xml:id="ts0" timeString="2024-09-20T01:25:27.872"/>
    </inkml:context>
    <inkml:brush xml:id="br0">
      <inkml:brushProperty name="width" value="0.05292" units="cm"/>
      <inkml:brushProperty name="height" value="0.05292" units="cm"/>
      <inkml:brushProperty name="color" value="#FF0000"/>
    </inkml:brush>
  </inkml:definitions>
  <inkml:trace contextRef="#ctx0" brushRef="#br0">5101 6879 0,'-21'0'47,"21"21"-47,-21-21 31,-1 0-31,22 22 15,-21-22 1,0 21 0,-21 0 15,21-21-15,-1 0-1,1 0 16,-21 0 48,42 21-48,-21-21-16,0 0 48,-1 21-47,1 0 15,0-21 78,0 0-93,-21 22-1,20-1 17,1 0-1,0-21 0,0 21 0,0 0 1,21 0-1,0 1-15,0-1-1,0 0 1,-21-21-1,21 42 1,42-21 0,-21 1 15,0-22-15,0 21-16,1-21 15,-1 0 1,0 0 15,0 0-15,0 0 15,0 0 0,1 0-15,62-43-1,-41 22 1,-22 0 0,21 21 31,0-21-32,-42 0 1,22 0-1,-1-1 17,-21 1 140,21 21-172,-21-42 15,0 21 1,0-43-16,21 43 15,-21 0 235,0 0-234,-21 21-16,21-21 16,-21 21-1</inkml:trace>
  <inkml:trace contextRef="#ctx0" brushRef="#br0" timeOffset="1834.54">4995 6604 0,'0'21'156,"0"0"-156,0 1 16,0-1 15,0 21 0,0-21 1,0 22-17,-42-22 1,42 21 31,0-21-16,0 22-15,0-22-1,-21 21 17,21-21-17,0 22 16,0-22 1,0 21-17,-43-21 1,43 43 0,0-43-1,-21 0 16,21 0-31,0 0 0,-21 1 32,21-1-17,-21 21 1,21-21 0,0 0-1,0 1 1,0-1 15,-21 21 0,21-21-15,0 22 0,-22-1-1,22-21 16,-21 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BFDDD67-6669-13E5-C37C-9B3E7047A0FD}"/>
              </a:ext>
            </a:extLst>
          </p:cNvPr>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195" name="Rectangle 3">
            <a:extLst>
              <a:ext uri="{FF2B5EF4-FFF2-40B4-BE49-F238E27FC236}">
                <a16:creationId xmlns:a16="http://schemas.microsoft.com/office/drawing/2014/main" id="{B972CC1F-BCE1-EB6C-7B18-E09F4C536AEA}"/>
              </a:ext>
            </a:extLst>
          </p:cNvPr>
          <p:cNvSpPr>
            <a:spLocks noGrp="1" noChangeArrowheads="1"/>
          </p:cNvSpPr>
          <p:nvPr>
            <p:ph type="dt"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a:extLst>
              <a:ext uri="{FF2B5EF4-FFF2-40B4-BE49-F238E27FC236}">
                <a16:creationId xmlns:a16="http://schemas.microsoft.com/office/drawing/2014/main" id="{06E299A0-E522-311B-3083-5955DAAB140C}"/>
              </a:ext>
            </a:extLst>
          </p:cNvPr>
          <p:cNvSpPr>
            <a:spLocks noGrp="1" noRot="1" noChangeAspect="1" noChangeArrowheads="1" noTextEdit="1"/>
          </p:cNvSpPr>
          <p:nvPr>
            <p:ph type="sldImg" idx="4294967295"/>
          </p:nvPr>
        </p:nvSpPr>
        <p:spPr bwMode="auto">
          <a:xfrm>
            <a:off x="85248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E21743B1-90B8-36DB-DFB6-FD4D94AC7D49}"/>
              </a:ext>
            </a:extLst>
          </p:cNvPr>
          <p:cNvSpPr>
            <a:spLocks noGrp="1" noChangeArrowheads="1"/>
          </p:cNvSpPr>
          <p:nvPr>
            <p:ph type="body" sz="quarter" idx="3"/>
          </p:nvPr>
        </p:nvSpPr>
        <p:spPr bwMode="auto">
          <a:xfrm>
            <a:off x="666750" y="4714875"/>
            <a:ext cx="5335588"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a:extLst>
              <a:ext uri="{FF2B5EF4-FFF2-40B4-BE49-F238E27FC236}">
                <a16:creationId xmlns:a16="http://schemas.microsoft.com/office/drawing/2014/main" id="{9405964E-435E-5DD9-A6B6-C8731518D99F}"/>
              </a:ext>
            </a:extLst>
          </p:cNvPr>
          <p:cNvSpPr>
            <a:spLocks noGrp="1" noChangeArrowheads="1"/>
          </p:cNvSpPr>
          <p:nvPr>
            <p:ph type="ftr" sz="quarter" idx="4"/>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199" name="Rectangle 7">
            <a:extLst>
              <a:ext uri="{FF2B5EF4-FFF2-40B4-BE49-F238E27FC236}">
                <a16:creationId xmlns:a16="http://schemas.microsoft.com/office/drawing/2014/main" id="{427E92D8-E0F1-ADB1-68E4-EE005B4A1D7E}"/>
              </a:ext>
            </a:extLst>
          </p:cNvPr>
          <p:cNvSpPr>
            <a:spLocks noGrp="1" noChangeArrowheads="1"/>
          </p:cNvSpPr>
          <p:nvPr>
            <p:ph type="sldNum" sz="quarter" idx="5"/>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noProof="1" smtClean="0">
                <a:latin typeface="Arial" panose="020B0604020202020204" pitchFamily="34" charset="0"/>
              </a:defRPr>
            </a:lvl1pPr>
          </a:lstStyle>
          <a:p>
            <a:pPr>
              <a:defRPr/>
            </a:pPr>
            <a:fld id="{904EDE3C-2C4C-4DA4-AAB0-91D11BAB1B69}" type="slidenum">
              <a:rPr altLang="zh-CN"/>
              <a:pPr>
                <a:defRPr/>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66D4B559-CA96-AFFA-7391-F4C2A7F229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29FD555-A875-4737-B3A4-B5ACC55CE4D9}" type="slidenum">
              <a:rPr altLang="zh-CN">
                <a:latin typeface="Arial" panose="020B0604020202020204" pitchFamily="34" charset="0"/>
              </a:rPr>
              <a:pPr/>
              <a:t>3</a:t>
            </a:fld>
            <a:endParaRPr lang="zh-CN" altLang="zh-CN">
              <a:latin typeface="Arial" panose="020B0604020202020204" pitchFamily="34" charset="0"/>
            </a:endParaRPr>
          </a:p>
        </p:txBody>
      </p:sp>
      <p:sp>
        <p:nvSpPr>
          <p:cNvPr id="12291" name="Rectangle 2">
            <a:extLst>
              <a:ext uri="{FF2B5EF4-FFF2-40B4-BE49-F238E27FC236}">
                <a16:creationId xmlns:a16="http://schemas.microsoft.com/office/drawing/2014/main" id="{0D045D3B-064D-39C6-A85D-AB28B433CFA9}"/>
              </a:ext>
            </a:extLst>
          </p:cNvPr>
          <p:cNvSpPr>
            <a:spLocks noGrp="1" noRot="1" noChangeAspect="1" noChangeArrowheads="1" noTextEdit="1"/>
          </p:cNvSpPr>
          <p:nvPr>
            <p:ph type="sldImg" idx="4294967295"/>
          </p:nvPr>
        </p:nvSpPr>
        <p:spPr>
          <a:ln/>
        </p:spPr>
      </p:sp>
      <p:sp>
        <p:nvSpPr>
          <p:cNvPr id="12292" name="Rectangle 3">
            <a:extLst>
              <a:ext uri="{FF2B5EF4-FFF2-40B4-BE49-F238E27FC236}">
                <a16:creationId xmlns:a16="http://schemas.microsoft.com/office/drawing/2014/main" id="{2828DC0C-82A9-5112-DFCB-F3B4CD71D1CC}"/>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0BBCCB78-4532-3C56-388F-9E23EC1E4E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DE1F779-A158-4B2E-AEDF-3BB6438FA540}" type="slidenum">
              <a:rPr altLang="zh-CN" sz="1800"/>
              <a:pPr/>
              <a:t>6</a:t>
            </a:fld>
            <a:endParaRPr lang="zh-CN" altLang="zh-CN" sz="1800"/>
          </a:p>
        </p:txBody>
      </p:sp>
      <p:sp>
        <p:nvSpPr>
          <p:cNvPr id="9219" name="Rectangle 2">
            <a:extLst>
              <a:ext uri="{FF2B5EF4-FFF2-40B4-BE49-F238E27FC236}">
                <a16:creationId xmlns:a16="http://schemas.microsoft.com/office/drawing/2014/main" id="{2103EC14-F211-9ACF-A6CB-BC3EE4C40425}"/>
              </a:ext>
            </a:extLst>
          </p:cNvPr>
          <p:cNvSpPr>
            <a:spLocks noGrp="1" noRot="1" noChangeAspect="1" noChangeArrowheads="1" noTextEdit="1"/>
          </p:cNvSpPr>
          <p:nvPr>
            <p:ph type="sldImg" idx="4294967295"/>
          </p:nvPr>
        </p:nvSpPr>
        <p:spPr>
          <a:ln/>
        </p:spPr>
      </p:sp>
      <p:sp>
        <p:nvSpPr>
          <p:cNvPr id="9220" name="Rectangle 3">
            <a:extLst>
              <a:ext uri="{FF2B5EF4-FFF2-40B4-BE49-F238E27FC236}">
                <a16:creationId xmlns:a16="http://schemas.microsoft.com/office/drawing/2014/main" id="{66881BAA-B596-7D82-887A-1408B02CB91E}"/>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CA4DE4B2-DA2E-1F22-3D9C-F3E471A6FD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EA46354-39D7-4ED3-AD4C-66A048F86008}" type="slidenum">
              <a:rPr altLang="zh-CN">
                <a:latin typeface="Arial" panose="020B0604020202020204" pitchFamily="34" charset="0"/>
              </a:rPr>
              <a:pPr/>
              <a:t>7</a:t>
            </a:fld>
            <a:endParaRPr lang="zh-CN" altLang="zh-CN">
              <a:latin typeface="Arial" panose="020B0604020202020204" pitchFamily="34" charset="0"/>
            </a:endParaRPr>
          </a:p>
        </p:txBody>
      </p:sp>
      <p:sp>
        <p:nvSpPr>
          <p:cNvPr id="14339" name="Rectangle 2">
            <a:extLst>
              <a:ext uri="{FF2B5EF4-FFF2-40B4-BE49-F238E27FC236}">
                <a16:creationId xmlns:a16="http://schemas.microsoft.com/office/drawing/2014/main" id="{95743105-CB3D-8951-3487-EBA9620E4B12}"/>
              </a:ext>
            </a:extLst>
          </p:cNvPr>
          <p:cNvSpPr>
            <a:spLocks noGrp="1" noRot="1" noChangeAspect="1" noChangeArrowheads="1" noTextEdit="1"/>
          </p:cNvSpPr>
          <p:nvPr>
            <p:ph type="sldImg" idx="4294967295"/>
          </p:nvPr>
        </p:nvSpPr>
        <p:spPr>
          <a:ln/>
        </p:spPr>
      </p:sp>
      <p:sp>
        <p:nvSpPr>
          <p:cNvPr id="14340" name="Rectangle 3">
            <a:extLst>
              <a:ext uri="{FF2B5EF4-FFF2-40B4-BE49-F238E27FC236}">
                <a16:creationId xmlns:a16="http://schemas.microsoft.com/office/drawing/2014/main" id="{7FE8C913-638E-C64B-6D7A-AA7D8E6EE60A}"/>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78BC52A2-32BF-6CE3-D721-CD6A496E27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69724CD-5F39-425C-AD9A-8D7AFC069DB6}" type="slidenum">
              <a:rPr altLang="zh-CN">
                <a:latin typeface="Arial" panose="020B0604020202020204" pitchFamily="34" charset="0"/>
              </a:rPr>
              <a:pPr/>
              <a:t>8</a:t>
            </a:fld>
            <a:endParaRPr lang="zh-CN" altLang="zh-CN">
              <a:latin typeface="Arial" panose="020B0604020202020204" pitchFamily="34" charset="0"/>
            </a:endParaRPr>
          </a:p>
        </p:txBody>
      </p:sp>
      <p:sp>
        <p:nvSpPr>
          <p:cNvPr id="16387" name="Rectangle 2">
            <a:extLst>
              <a:ext uri="{FF2B5EF4-FFF2-40B4-BE49-F238E27FC236}">
                <a16:creationId xmlns:a16="http://schemas.microsoft.com/office/drawing/2014/main" id="{43C03126-D0DE-5F1C-8E1A-D25F162CFDD6}"/>
              </a:ext>
            </a:extLst>
          </p:cNvPr>
          <p:cNvSpPr>
            <a:spLocks noGrp="1" noRot="1" noChangeAspect="1" noChangeArrowheads="1" noTextEdit="1"/>
          </p:cNvSpPr>
          <p:nvPr>
            <p:ph type="sldImg" idx="4294967295"/>
          </p:nvPr>
        </p:nvSpPr>
        <p:spPr>
          <a:ln/>
        </p:spPr>
      </p:sp>
      <p:sp>
        <p:nvSpPr>
          <p:cNvPr id="16388" name="Rectangle 3">
            <a:extLst>
              <a:ext uri="{FF2B5EF4-FFF2-40B4-BE49-F238E27FC236}">
                <a16:creationId xmlns:a16="http://schemas.microsoft.com/office/drawing/2014/main" id="{23D3590A-7202-F089-106B-91A01A0E9EA3}"/>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DE5CD540-5181-2F41-CD23-A84DA971A5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05C79E4-0650-4319-B5E7-6AFD3C802CAF}" type="slidenum">
              <a:rPr altLang="zh-CN">
                <a:latin typeface="Arial" panose="020B0604020202020204" pitchFamily="34" charset="0"/>
              </a:rPr>
              <a:pPr/>
              <a:t>9</a:t>
            </a:fld>
            <a:endParaRPr lang="zh-CN" altLang="zh-CN">
              <a:latin typeface="Arial" panose="020B0604020202020204" pitchFamily="34" charset="0"/>
            </a:endParaRPr>
          </a:p>
        </p:txBody>
      </p:sp>
      <p:sp>
        <p:nvSpPr>
          <p:cNvPr id="18435" name="Rectangle 2">
            <a:extLst>
              <a:ext uri="{FF2B5EF4-FFF2-40B4-BE49-F238E27FC236}">
                <a16:creationId xmlns:a16="http://schemas.microsoft.com/office/drawing/2014/main" id="{7CFF904E-C72D-F310-D6B1-1DEB6CA345E4}"/>
              </a:ext>
            </a:extLst>
          </p:cNvPr>
          <p:cNvSpPr>
            <a:spLocks noGrp="1" noRot="1" noChangeAspect="1" noChangeArrowheads="1" noTextEdit="1"/>
          </p:cNvSpPr>
          <p:nvPr>
            <p:ph type="sldImg" idx="4294967295"/>
          </p:nvPr>
        </p:nvSpPr>
        <p:spPr>
          <a:ln/>
        </p:spPr>
      </p:sp>
      <p:sp>
        <p:nvSpPr>
          <p:cNvPr id="18436" name="Rectangle 3">
            <a:extLst>
              <a:ext uri="{FF2B5EF4-FFF2-40B4-BE49-F238E27FC236}">
                <a16:creationId xmlns:a16="http://schemas.microsoft.com/office/drawing/2014/main" id="{EF21ABD7-FF7F-2AF9-45BA-7A3DAA643393}"/>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756565D1-84BA-CF29-2F2D-2E7E822FEA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58F3271-106E-4B8A-81CF-B5CEC545A980}" type="slidenum">
              <a:rPr altLang="zh-CN">
                <a:latin typeface="Arial" panose="020B0604020202020204" pitchFamily="34" charset="0"/>
              </a:rPr>
              <a:pPr/>
              <a:t>10</a:t>
            </a:fld>
            <a:endParaRPr lang="zh-CN" altLang="zh-CN">
              <a:latin typeface="Arial" panose="020B0604020202020204" pitchFamily="34" charset="0"/>
            </a:endParaRPr>
          </a:p>
        </p:txBody>
      </p:sp>
      <p:sp>
        <p:nvSpPr>
          <p:cNvPr id="20483" name="Rectangle 2">
            <a:extLst>
              <a:ext uri="{FF2B5EF4-FFF2-40B4-BE49-F238E27FC236}">
                <a16:creationId xmlns:a16="http://schemas.microsoft.com/office/drawing/2014/main" id="{0F85CD91-8FD2-A348-5EB6-9AAFF6371136}"/>
              </a:ext>
            </a:extLst>
          </p:cNvPr>
          <p:cNvSpPr>
            <a:spLocks noGrp="1" noRot="1" noChangeAspect="1" noChangeArrowheads="1" noTextEdit="1"/>
          </p:cNvSpPr>
          <p:nvPr>
            <p:ph type="sldImg" idx="4294967295"/>
          </p:nvPr>
        </p:nvSpPr>
        <p:spPr>
          <a:ln/>
        </p:spPr>
      </p:sp>
      <p:sp>
        <p:nvSpPr>
          <p:cNvPr id="20484" name="Rectangle 3">
            <a:extLst>
              <a:ext uri="{FF2B5EF4-FFF2-40B4-BE49-F238E27FC236}">
                <a16:creationId xmlns:a16="http://schemas.microsoft.com/office/drawing/2014/main" id="{9613A94E-A612-B5B5-2A9B-0E3930260BF0}"/>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4513279D-904D-7651-3016-2E50840842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5B01C14-DD93-446C-9AC0-6EB971B64308}" type="slidenum">
              <a:rPr altLang="zh-CN">
                <a:latin typeface="Arial" panose="020B0604020202020204" pitchFamily="34" charset="0"/>
              </a:rPr>
              <a:pPr/>
              <a:t>11</a:t>
            </a:fld>
            <a:endParaRPr lang="zh-CN" altLang="zh-CN">
              <a:latin typeface="Arial" panose="020B0604020202020204" pitchFamily="34" charset="0"/>
            </a:endParaRPr>
          </a:p>
        </p:txBody>
      </p:sp>
      <p:sp>
        <p:nvSpPr>
          <p:cNvPr id="22531" name="Rectangle 2">
            <a:extLst>
              <a:ext uri="{FF2B5EF4-FFF2-40B4-BE49-F238E27FC236}">
                <a16:creationId xmlns:a16="http://schemas.microsoft.com/office/drawing/2014/main" id="{95C1FAFB-7060-70AA-6033-AADD8E8495A8}"/>
              </a:ext>
            </a:extLst>
          </p:cNvPr>
          <p:cNvSpPr>
            <a:spLocks noGrp="1" noRot="1" noChangeAspect="1" noChangeArrowheads="1" noTextEdit="1"/>
          </p:cNvSpPr>
          <p:nvPr>
            <p:ph type="sldImg" idx="4294967295"/>
          </p:nvPr>
        </p:nvSpPr>
        <p:spPr>
          <a:ln/>
        </p:spPr>
      </p:sp>
      <p:sp>
        <p:nvSpPr>
          <p:cNvPr id="22532" name="Rectangle 3">
            <a:extLst>
              <a:ext uri="{FF2B5EF4-FFF2-40B4-BE49-F238E27FC236}">
                <a16:creationId xmlns:a16="http://schemas.microsoft.com/office/drawing/2014/main" id="{6CE99CDA-588B-B893-4033-95687644FE3B}"/>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C76BA4C-1C49-4C8E-8C13-4EF2B6565A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5A95FAE-6EB1-4832-BBE5-EFF095FDA54B}" type="slidenum">
              <a:rPr altLang="zh-CN">
                <a:latin typeface="Arial" panose="020B0604020202020204" pitchFamily="34" charset="0"/>
              </a:rPr>
              <a:pPr/>
              <a:t>12</a:t>
            </a:fld>
            <a:endParaRPr lang="zh-CN" altLang="zh-CN">
              <a:latin typeface="Arial" panose="020B0604020202020204" pitchFamily="34" charset="0"/>
            </a:endParaRPr>
          </a:p>
        </p:txBody>
      </p:sp>
      <p:sp>
        <p:nvSpPr>
          <p:cNvPr id="24579" name="Rectangle 2">
            <a:extLst>
              <a:ext uri="{FF2B5EF4-FFF2-40B4-BE49-F238E27FC236}">
                <a16:creationId xmlns:a16="http://schemas.microsoft.com/office/drawing/2014/main" id="{28306D78-1808-7E05-D1A5-9ADA8A4BFA27}"/>
              </a:ext>
            </a:extLst>
          </p:cNvPr>
          <p:cNvSpPr>
            <a:spLocks noGrp="1" noRot="1" noChangeAspect="1" noChangeArrowheads="1" noTextEdit="1"/>
          </p:cNvSpPr>
          <p:nvPr>
            <p:ph type="sldImg" idx="4294967295"/>
          </p:nvPr>
        </p:nvSpPr>
        <p:spPr>
          <a:ln/>
        </p:spPr>
      </p:sp>
      <p:sp>
        <p:nvSpPr>
          <p:cNvPr id="24580" name="Rectangle 3">
            <a:extLst>
              <a:ext uri="{FF2B5EF4-FFF2-40B4-BE49-F238E27FC236}">
                <a16:creationId xmlns:a16="http://schemas.microsoft.com/office/drawing/2014/main" id="{6CDA1063-4E92-3881-F6F8-F98CCCD6BC5F}"/>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08EB462-52BF-E1C8-0DA0-6AA4CF3F76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E9A67C6-9CE6-4B1C-98BA-8F452441DFBB}" type="slidenum">
              <a:rPr altLang="zh-CN">
                <a:latin typeface="Arial" panose="020B0604020202020204" pitchFamily="34" charset="0"/>
              </a:rPr>
              <a:pPr/>
              <a:t>13</a:t>
            </a:fld>
            <a:endParaRPr lang="zh-CN" altLang="zh-CN">
              <a:latin typeface="Arial" panose="020B0604020202020204" pitchFamily="34" charset="0"/>
            </a:endParaRPr>
          </a:p>
        </p:txBody>
      </p:sp>
      <p:sp>
        <p:nvSpPr>
          <p:cNvPr id="26627" name="Rectangle 2">
            <a:extLst>
              <a:ext uri="{FF2B5EF4-FFF2-40B4-BE49-F238E27FC236}">
                <a16:creationId xmlns:a16="http://schemas.microsoft.com/office/drawing/2014/main" id="{621373DC-F6DE-AD47-2A34-7619A6378C00}"/>
              </a:ext>
            </a:extLst>
          </p:cNvPr>
          <p:cNvSpPr>
            <a:spLocks noGrp="1" noRot="1" noChangeAspect="1" noChangeArrowheads="1" noTextEdit="1"/>
          </p:cNvSpPr>
          <p:nvPr>
            <p:ph type="sldImg" idx="4294967295"/>
          </p:nvPr>
        </p:nvSpPr>
        <p:spPr>
          <a:ln/>
        </p:spPr>
      </p:sp>
      <p:sp>
        <p:nvSpPr>
          <p:cNvPr id="26628" name="Rectangle 3">
            <a:extLst>
              <a:ext uri="{FF2B5EF4-FFF2-40B4-BE49-F238E27FC236}">
                <a16:creationId xmlns:a16="http://schemas.microsoft.com/office/drawing/2014/main" id="{31B0CAAD-04DF-022B-57B8-A52B3B34BD9B}"/>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6418EB4A-1EF9-5364-68EA-7D72F984DF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D588974-E9B9-47E4-8228-D22C2FB29ADA}" type="slidenum">
              <a:rPr altLang="zh-CN">
                <a:latin typeface="Arial" panose="020B0604020202020204" pitchFamily="34" charset="0"/>
              </a:rPr>
              <a:pPr/>
              <a:t>14</a:t>
            </a:fld>
            <a:endParaRPr lang="zh-CN" altLang="zh-CN">
              <a:latin typeface="Arial" panose="020B0604020202020204" pitchFamily="34" charset="0"/>
            </a:endParaRPr>
          </a:p>
        </p:txBody>
      </p:sp>
      <p:sp>
        <p:nvSpPr>
          <p:cNvPr id="28675" name="Rectangle 2">
            <a:extLst>
              <a:ext uri="{FF2B5EF4-FFF2-40B4-BE49-F238E27FC236}">
                <a16:creationId xmlns:a16="http://schemas.microsoft.com/office/drawing/2014/main" id="{20913E39-2C46-89BB-2A26-7FD260D2292A}"/>
              </a:ext>
            </a:extLst>
          </p:cNvPr>
          <p:cNvSpPr>
            <a:spLocks noGrp="1" noRot="1" noChangeAspect="1" noChangeArrowheads="1" noTextEdit="1"/>
          </p:cNvSpPr>
          <p:nvPr>
            <p:ph type="sldImg" idx="4294967295"/>
          </p:nvPr>
        </p:nvSpPr>
        <p:spPr>
          <a:ln/>
        </p:spPr>
      </p:sp>
      <p:sp>
        <p:nvSpPr>
          <p:cNvPr id="28676" name="Rectangle 3">
            <a:extLst>
              <a:ext uri="{FF2B5EF4-FFF2-40B4-BE49-F238E27FC236}">
                <a16:creationId xmlns:a16="http://schemas.microsoft.com/office/drawing/2014/main" id="{1C327A04-DEC0-7813-1ADE-33603E9A0D4F}"/>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3B6CBD38-F0AB-3060-9674-FCCF357124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EA2D0CA-A023-48E9-9FC1-E814D34E543D}" type="slidenum">
              <a:rPr altLang="zh-CN">
                <a:latin typeface="Arial" panose="020B0604020202020204" pitchFamily="34" charset="0"/>
              </a:rPr>
              <a:pPr/>
              <a:t>15</a:t>
            </a:fld>
            <a:endParaRPr lang="zh-CN" altLang="zh-CN">
              <a:latin typeface="Arial" panose="020B0604020202020204" pitchFamily="34" charset="0"/>
            </a:endParaRPr>
          </a:p>
        </p:txBody>
      </p:sp>
      <p:sp>
        <p:nvSpPr>
          <p:cNvPr id="30723" name="Rectangle 2">
            <a:extLst>
              <a:ext uri="{FF2B5EF4-FFF2-40B4-BE49-F238E27FC236}">
                <a16:creationId xmlns:a16="http://schemas.microsoft.com/office/drawing/2014/main" id="{67C8673C-5031-34FA-522C-04C705FC1D06}"/>
              </a:ext>
            </a:extLst>
          </p:cNvPr>
          <p:cNvSpPr>
            <a:spLocks noGrp="1" noRot="1" noChangeAspect="1" noChangeArrowheads="1" noTextEdit="1"/>
          </p:cNvSpPr>
          <p:nvPr>
            <p:ph type="sldImg" idx="4294967295"/>
          </p:nvPr>
        </p:nvSpPr>
        <p:spPr>
          <a:ln/>
        </p:spPr>
      </p:sp>
      <p:sp>
        <p:nvSpPr>
          <p:cNvPr id="30724" name="Rectangle 3">
            <a:extLst>
              <a:ext uri="{FF2B5EF4-FFF2-40B4-BE49-F238E27FC236}">
                <a16:creationId xmlns:a16="http://schemas.microsoft.com/office/drawing/2014/main" id="{6B23225C-4953-A2E7-8E61-664CC60946FC}"/>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EFF3CF07-9D9B-9975-BEFE-6097A02668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272517F-C7EA-401B-A0BF-BD075A213AA1}" type="slidenum">
              <a:rPr altLang="zh-CN" sz="1800"/>
              <a:pPr/>
              <a:t>16</a:t>
            </a:fld>
            <a:endParaRPr lang="zh-CN" altLang="zh-CN" sz="1800"/>
          </a:p>
        </p:txBody>
      </p:sp>
      <p:sp>
        <p:nvSpPr>
          <p:cNvPr id="32771" name="Rectangle 2">
            <a:extLst>
              <a:ext uri="{FF2B5EF4-FFF2-40B4-BE49-F238E27FC236}">
                <a16:creationId xmlns:a16="http://schemas.microsoft.com/office/drawing/2014/main" id="{FC0647AB-8F12-1671-752E-167558D3C72A}"/>
              </a:ext>
            </a:extLst>
          </p:cNvPr>
          <p:cNvSpPr>
            <a:spLocks noGrp="1" noRot="1" noChangeAspect="1" noChangeArrowheads="1" noTextEdit="1"/>
          </p:cNvSpPr>
          <p:nvPr>
            <p:ph type="sldImg" idx="4294967295"/>
          </p:nvPr>
        </p:nvSpPr>
        <p:spPr>
          <a:ln/>
        </p:spPr>
      </p:sp>
      <p:sp>
        <p:nvSpPr>
          <p:cNvPr id="32772" name="Rectangle 3">
            <a:extLst>
              <a:ext uri="{FF2B5EF4-FFF2-40B4-BE49-F238E27FC236}">
                <a16:creationId xmlns:a16="http://schemas.microsoft.com/office/drawing/2014/main" id="{6358FE01-ED9F-F957-BBB0-CB20B795013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052142F-0DC6-0DC4-D4E7-A2A50E37B9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5286D26-AAC3-4B2B-8A98-69E58AD5398E}" type="slidenum">
              <a:rPr altLang="zh-CN" sz="1800"/>
              <a:pPr/>
              <a:t>17</a:t>
            </a:fld>
            <a:endParaRPr lang="zh-CN" altLang="zh-CN" sz="1800"/>
          </a:p>
        </p:txBody>
      </p:sp>
      <p:sp>
        <p:nvSpPr>
          <p:cNvPr id="34819" name="Rectangle 2">
            <a:extLst>
              <a:ext uri="{FF2B5EF4-FFF2-40B4-BE49-F238E27FC236}">
                <a16:creationId xmlns:a16="http://schemas.microsoft.com/office/drawing/2014/main" id="{2F2910A8-2315-016D-A83E-F6C507E810A6}"/>
              </a:ext>
            </a:extLst>
          </p:cNvPr>
          <p:cNvSpPr>
            <a:spLocks noGrp="1" noRot="1" noChangeAspect="1" noChangeArrowheads="1" noTextEdit="1"/>
          </p:cNvSpPr>
          <p:nvPr>
            <p:ph type="sldImg" idx="4294967295"/>
          </p:nvPr>
        </p:nvSpPr>
        <p:spPr>
          <a:ln/>
        </p:spPr>
      </p:sp>
      <p:sp>
        <p:nvSpPr>
          <p:cNvPr id="34820" name="Rectangle 3">
            <a:extLst>
              <a:ext uri="{FF2B5EF4-FFF2-40B4-BE49-F238E27FC236}">
                <a16:creationId xmlns:a16="http://schemas.microsoft.com/office/drawing/2014/main" id="{03610A26-11B4-3135-56F5-43E35B7AC0ED}"/>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CF69876-FB83-FD85-5AD2-ECFD195E1F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7E97E1E-87DB-43FE-9621-D2AB1839C8F2}" type="slidenum">
              <a:rPr altLang="zh-CN" sz="1800"/>
              <a:pPr/>
              <a:t>18</a:t>
            </a:fld>
            <a:endParaRPr lang="zh-CN" altLang="zh-CN" sz="1800"/>
          </a:p>
        </p:txBody>
      </p:sp>
      <p:sp>
        <p:nvSpPr>
          <p:cNvPr id="36867" name="Rectangle 2">
            <a:extLst>
              <a:ext uri="{FF2B5EF4-FFF2-40B4-BE49-F238E27FC236}">
                <a16:creationId xmlns:a16="http://schemas.microsoft.com/office/drawing/2014/main" id="{2F138768-2E20-E163-78A2-6736ACEE870F}"/>
              </a:ext>
            </a:extLst>
          </p:cNvPr>
          <p:cNvSpPr>
            <a:spLocks noGrp="1" noRot="1" noChangeAspect="1" noChangeArrowheads="1" noTextEdit="1"/>
          </p:cNvSpPr>
          <p:nvPr>
            <p:ph type="sldImg" idx="4294967295"/>
          </p:nvPr>
        </p:nvSpPr>
        <p:spPr>
          <a:ln/>
        </p:spPr>
      </p:sp>
      <p:sp>
        <p:nvSpPr>
          <p:cNvPr id="36868" name="Rectangle 3">
            <a:extLst>
              <a:ext uri="{FF2B5EF4-FFF2-40B4-BE49-F238E27FC236}">
                <a16:creationId xmlns:a16="http://schemas.microsoft.com/office/drawing/2014/main" id="{514BA1F6-F4EF-FAEC-484C-DEF40B599707}"/>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84E35891-5B87-8177-2E37-7D99FA1D96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F232999-DB89-4774-98D8-B16C22152E87}" type="slidenum">
              <a:rPr altLang="zh-CN" sz="1800"/>
              <a:pPr/>
              <a:t>19</a:t>
            </a:fld>
            <a:endParaRPr lang="zh-CN" altLang="zh-CN" sz="1800"/>
          </a:p>
        </p:txBody>
      </p:sp>
      <p:sp>
        <p:nvSpPr>
          <p:cNvPr id="38915" name="Rectangle 2">
            <a:extLst>
              <a:ext uri="{FF2B5EF4-FFF2-40B4-BE49-F238E27FC236}">
                <a16:creationId xmlns:a16="http://schemas.microsoft.com/office/drawing/2014/main" id="{58B666AE-0C17-5237-295E-C55D56B0CE68}"/>
              </a:ext>
            </a:extLst>
          </p:cNvPr>
          <p:cNvSpPr>
            <a:spLocks noGrp="1" noRot="1" noChangeAspect="1" noChangeArrowheads="1" noTextEdit="1"/>
          </p:cNvSpPr>
          <p:nvPr>
            <p:ph type="sldImg" idx="4294967295"/>
          </p:nvPr>
        </p:nvSpPr>
        <p:spPr>
          <a:ln/>
        </p:spPr>
      </p:sp>
      <p:sp>
        <p:nvSpPr>
          <p:cNvPr id="38916" name="Rectangle 3">
            <a:extLst>
              <a:ext uri="{FF2B5EF4-FFF2-40B4-BE49-F238E27FC236}">
                <a16:creationId xmlns:a16="http://schemas.microsoft.com/office/drawing/2014/main" id="{704FB83D-E7EF-6994-EFAD-1962E771F81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8D7A2B4-EB9D-6F94-53C1-08F374D58E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A8C2F56-886A-46F4-99A4-C5370735B07A}" type="slidenum">
              <a:rPr altLang="zh-CN" sz="1800"/>
              <a:pPr/>
              <a:t>20</a:t>
            </a:fld>
            <a:endParaRPr lang="zh-CN" altLang="zh-CN" sz="1800"/>
          </a:p>
        </p:txBody>
      </p:sp>
      <p:sp>
        <p:nvSpPr>
          <p:cNvPr id="40963" name="Rectangle 2">
            <a:extLst>
              <a:ext uri="{FF2B5EF4-FFF2-40B4-BE49-F238E27FC236}">
                <a16:creationId xmlns:a16="http://schemas.microsoft.com/office/drawing/2014/main" id="{E1506702-794E-2D72-EFF1-9FA956FF959F}"/>
              </a:ext>
            </a:extLst>
          </p:cNvPr>
          <p:cNvSpPr>
            <a:spLocks noGrp="1" noRot="1" noChangeAspect="1" noChangeArrowheads="1" noTextEdit="1"/>
          </p:cNvSpPr>
          <p:nvPr>
            <p:ph type="sldImg" idx="4294967295"/>
          </p:nvPr>
        </p:nvSpPr>
        <p:spPr>
          <a:ln/>
        </p:spPr>
      </p:sp>
      <p:sp>
        <p:nvSpPr>
          <p:cNvPr id="40964" name="Rectangle 3">
            <a:extLst>
              <a:ext uri="{FF2B5EF4-FFF2-40B4-BE49-F238E27FC236}">
                <a16:creationId xmlns:a16="http://schemas.microsoft.com/office/drawing/2014/main" id="{44B9E163-27BD-1D59-0323-1F799F9589B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A969E29-2D57-886C-A3F1-9BD165AFA5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8D36014-6A80-4781-9A47-B943B810E2E0}" type="slidenum">
              <a:rPr altLang="zh-CN" sz="1800"/>
              <a:pPr/>
              <a:t>21</a:t>
            </a:fld>
            <a:endParaRPr lang="zh-CN" altLang="zh-CN" sz="1800"/>
          </a:p>
        </p:txBody>
      </p:sp>
      <p:sp>
        <p:nvSpPr>
          <p:cNvPr id="43011" name="Rectangle 2">
            <a:extLst>
              <a:ext uri="{FF2B5EF4-FFF2-40B4-BE49-F238E27FC236}">
                <a16:creationId xmlns:a16="http://schemas.microsoft.com/office/drawing/2014/main" id="{DAB375FC-003D-8133-AD6D-092B05EAF995}"/>
              </a:ext>
            </a:extLst>
          </p:cNvPr>
          <p:cNvSpPr>
            <a:spLocks noGrp="1" noRot="1" noChangeAspect="1" noChangeArrowheads="1" noTextEdit="1"/>
          </p:cNvSpPr>
          <p:nvPr>
            <p:ph type="sldImg" idx="4294967295"/>
          </p:nvPr>
        </p:nvSpPr>
        <p:spPr>
          <a:ln/>
        </p:spPr>
      </p:sp>
      <p:sp>
        <p:nvSpPr>
          <p:cNvPr id="43012" name="Rectangle 3">
            <a:extLst>
              <a:ext uri="{FF2B5EF4-FFF2-40B4-BE49-F238E27FC236}">
                <a16:creationId xmlns:a16="http://schemas.microsoft.com/office/drawing/2014/main" id="{F9C188B0-400D-7331-1819-5FAAA61DBE18}"/>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122F646-EDA3-8162-0AB1-D1C9AA3517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7C995F9-6F80-4552-ACF5-E7F4D82FD00B}" type="slidenum">
              <a:rPr altLang="zh-CN" sz="1800"/>
              <a:pPr/>
              <a:t>22</a:t>
            </a:fld>
            <a:endParaRPr lang="zh-CN" altLang="zh-CN" sz="1800"/>
          </a:p>
        </p:txBody>
      </p:sp>
      <p:sp>
        <p:nvSpPr>
          <p:cNvPr id="45059" name="Rectangle 2">
            <a:extLst>
              <a:ext uri="{FF2B5EF4-FFF2-40B4-BE49-F238E27FC236}">
                <a16:creationId xmlns:a16="http://schemas.microsoft.com/office/drawing/2014/main" id="{B82BCBBF-9303-2380-47AD-E806E227FF53}"/>
              </a:ext>
            </a:extLst>
          </p:cNvPr>
          <p:cNvSpPr>
            <a:spLocks noGrp="1" noRot="1" noChangeAspect="1" noChangeArrowheads="1" noTextEdit="1"/>
          </p:cNvSpPr>
          <p:nvPr>
            <p:ph type="sldImg" idx="4294967295"/>
          </p:nvPr>
        </p:nvSpPr>
        <p:spPr>
          <a:ln/>
        </p:spPr>
      </p:sp>
      <p:sp>
        <p:nvSpPr>
          <p:cNvPr id="45060" name="Rectangle 3">
            <a:extLst>
              <a:ext uri="{FF2B5EF4-FFF2-40B4-BE49-F238E27FC236}">
                <a16:creationId xmlns:a16="http://schemas.microsoft.com/office/drawing/2014/main" id="{3167F56F-3C41-CF67-D9E7-C198A6A6DC0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73A0FA-A2DD-3177-FE25-05918B7517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5D5B875-7BF9-47DE-93DE-C7D95E8CE43B}" type="slidenum">
              <a:rPr altLang="zh-CN" sz="1800"/>
              <a:pPr/>
              <a:t>23</a:t>
            </a:fld>
            <a:endParaRPr lang="zh-CN" altLang="zh-CN" sz="1800"/>
          </a:p>
        </p:txBody>
      </p:sp>
      <p:sp>
        <p:nvSpPr>
          <p:cNvPr id="47107" name="Rectangle 2">
            <a:extLst>
              <a:ext uri="{FF2B5EF4-FFF2-40B4-BE49-F238E27FC236}">
                <a16:creationId xmlns:a16="http://schemas.microsoft.com/office/drawing/2014/main" id="{5C130363-E6A7-C6D2-E05E-776B35E290AC}"/>
              </a:ext>
            </a:extLst>
          </p:cNvPr>
          <p:cNvSpPr>
            <a:spLocks noGrp="1" noRot="1" noChangeAspect="1" noChangeArrowheads="1" noTextEdit="1"/>
          </p:cNvSpPr>
          <p:nvPr>
            <p:ph type="sldImg" idx="4294967295"/>
          </p:nvPr>
        </p:nvSpPr>
        <p:spPr>
          <a:ln/>
        </p:spPr>
      </p:sp>
      <p:sp>
        <p:nvSpPr>
          <p:cNvPr id="47108" name="Rectangle 3">
            <a:extLst>
              <a:ext uri="{FF2B5EF4-FFF2-40B4-BE49-F238E27FC236}">
                <a16:creationId xmlns:a16="http://schemas.microsoft.com/office/drawing/2014/main" id="{BCB0408E-B2E6-344B-7E69-108B779E82DD}"/>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3071804-56F5-DDE6-1419-3DB66A4673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7EDE8A6-008E-45F7-A30E-B59B7F444106}" type="slidenum">
              <a:rPr altLang="zh-CN" sz="1800"/>
              <a:pPr/>
              <a:t>24</a:t>
            </a:fld>
            <a:endParaRPr lang="zh-CN" altLang="zh-CN" sz="1800"/>
          </a:p>
        </p:txBody>
      </p:sp>
      <p:sp>
        <p:nvSpPr>
          <p:cNvPr id="49155" name="Rectangle 2">
            <a:extLst>
              <a:ext uri="{FF2B5EF4-FFF2-40B4-BE49-F238E27FC236}">
                <a16:creationId xmlns:a16="http://schemas.microsoft.com/office/drawing/2014/main" id="{36342AC3-22D7-0B27-107F-88C0E681C040}"/>
              </a:ext>
            </a:extLst>
          </p:cNvPr>
          <p:cNvSpPr>
            <a:spLocks noGrp="1" noRot="1" noChangeAspect="1" noChangeArrowheads="1" noTextEdit="1"/>
          </p:cNvSpPr>
          <p:nvPr>
            <p:ph type="sldImg" idx="4294967295"/>
          </p:nvPr>
        </p:nvSpPr>
        <p:spPr>
          <a:ln/>
        </p:spPr>
      </p:sp>
      <p:sp>
        <p:nvSpPr>
          <p:cNvPr id="49156" name="Rectangle 3">
            <a:extLst>
              <a:ext uri="{FF2B5EF4-FFF2-40B4-BE49-F238E27FC236}">
                <a16:creationId xmlns:a16="http://schemas.microsoft.com/office/drawing/2014/main" id="{749611C5-47E7-537B-7608-B66836961525}"/>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201B6762-5A04-2AA0-481E-D018A91E1D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7DBCADE-E368-48A5-BDDF-F98193674DCB}" type="slidenum">
              <a:rPr altLang="zh-CN" sz="1800"/>
              <a:pPr/>
              <a:t>25</a:t>
            </a:fld>
            <a:endParaRPr lang="zh-CN" altLang="zh-CN" sz="1800"/>
          </a:p>
        </p:txBody>
      </p:sp>
      <p:sp>
        <p:nvSpPr>
          <p:cNvPr id="51203" name="Rectangle 2">
            <a:extLst>
              <a:ext uri="{FF2B5EF4-FFF2-40B4-BE49-F238E27FC236}">
                <a16:creationId xmlns:a16="http://schemas.microsoft.com/office/drawing/2014/main" id="{E21D408B-3C7A-CA3F-CA44-995CF4ED06EB}"/>
              </a:ext>
            </a:extLst>
          </p:cNvPr>
          <p:cNvSpPr>
            <a:spLocks noGrp="1" noRot="1" noChangeAspect="1" noChangeArrowheads="1" noTextEdit="1"/>
          </p:cNvSpPr>
          <p:nvPr>
            <p:ph type="sldImg" idx="4294967295"/>
          </p:nvPr>
        </p:nvSpPr>
        <p:spPr>
          <a:ln/>
        </p:spPr>
      </p:sp>
      <p:sp>
        <p:nvSpPr>
          <p:cNvPr id="51204" name="Rectangle 3">
            <a:extLst>
              <a:ext uri="{FF2B5EF4-FFF2-40B4-BE49-F238E27FC236}">
                <a16:creationId xmlns:a16="http://schemas.microsoft.com/office/drawing/2014/main" id="{07C14909-B558-2B7B-438F-817D0388C4A8}"/>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3C0AE3B-3398-A2A7-ABAF-21F09E74C5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2F62866-1AAF-456F-81BF-E530649A6A58}" type="slidenum">
              <a:rPr altLang="zh-CN" sz="1800"/>
              <a:pPr/>
              <a:t>26</a:t>
            </a:fld>
            <a:endParaRPr lang="zh-CN" altLang="zh-CN" sz="1800"/>
          </a:p>
        </p:txBody>
      </p:sp>
      <p:sp>
        <p:nvSpPr>
          <p:cNvPr id="53251" name="Rectangle 2">
            <a:extLst>
              <a:ext uri="{FF2B5EF4-FFF2-40B4-BE49-F238E27FC236}">
                <a16:creationId xmlns:a16="http://schemas.microsoft.com/office/drawing/2014/main" id="{C9076641-26ED-EBDD-B4D0-905E1FE65A16}"/>
              </a:ext>
            </a:extLst>
          </p:cNvPr>
          <p:cNvSpPr>
            <a:spLocks noGrp="1" noRot="1" noChangeAspect="1" noChangeArrowheads="1" noTextEdit="1"/>
          </p:cNvSpPr>
          <p:nvPr>
            <p:ph type="sldImg" idx="4294967295"/>
          </p:nvPr>
        </p:nvSpPr>
        <p:spPr>
          <a:ln/>
        </p:spPr>
      </p:sp>
      <p:sp>
        <p:nvSpPr>
          <p:cNvPr id="53252" name="Rectangle 3">
            <a:extLst>
              <a:ext uri="{FF2B5EF4-FFF2-40B4-BE49-F238E27FC236}">
                <a16:creationId xmlns:a16="http://schemas.microsoft.com/office/drawing/2014/main" id="{6C5C9B96-8E71-E647-36EA-A8B98E55215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6B3F1599-3E82-E42F-62AA-3C1EC24EE3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69E1AAB-6A8C-4939-99E1-04E7DDE8E438}" type="slidenum">
              <a:rPr altLang="zh-CN" sz="1800"/>
              <a:pPr/>
              <a:t>27</a:t>
            </a:fld>
            <a:endParaRPr lang="zh-CN" altLang="zh-CN" sz="1800"/>
          </a:p>
        </p:txBody>
      </p:sp>
      <p:sp>
        <p:nvSpPr>
          <p:cNvPr id="55299" name="Rectangle 2">
            <a:extLst>
              <a:ext uri="{FF2B5EF4-FFF2-40B4-BE49-F238E27FC236}">
                <a16:creationId xmlns:a16="http://schemas.microsoft.com/office/drawing/2014/main" id="{8E5E3D8A-764C-046A-292E-E15A1E59429E}"/>
              </a:ext>
            </a:extLst>
          </p:cNvPr>
          <p:cNvSpPr>
            <a:spLocks noGrp="1" noRot="1" noChangeAspect="1" noChangeArrowheads="1" noTextEdit="1"/>
          </p:cNvSpPr>
          <p:nvPr>
            <p:ph type="sldImg" idx="4294967295"/>
          </p:nvPr>
        </p:nvSpPr>
        <p:spPr>
          <a:ln/>
        </p:spPr>
      </p:sp>
      <p:sp>
        <p:nvSpPr>
          <p:cNvPr id="55300" name="Rectangle 3">
            <a:extLst>
              <a:ext uri="{FF2B5EF4-FFF2-40B4-BE49-F238E27FC236}">
                <a16:creationId xmlns:a16="http://schemas.microsoft.com/office/drawing/2014/main" id="{4441CB02-BE9D-0212-24B0-BCED922D49AB}"/>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6DB42935-F13A-18B5-392C-092BB015E3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A15106D-5BA8-4760-B07C-E3838375B43D}" type="slidenum">
              <a:rPr altLang="zh-CN" sz="1800"/>
              <a:pPr/>
              <a:t>28</a:t>
            </a:fld>
            <a:endParaRPr lang="zh-CN" altLang="zh-CN" sz="1800"/>
          </a:p>
        </p:txBody>
      </p:sp>
      <p:sp>
        <p:nvSpPr>
          <p:cNvPr id="57347" name="Rectangle 2">
            <a:extLst>
              <a:ext uri="{FF2B5EF4-FFF2-40B4-BE49-F238E27FC236}">
                <a16:creationId xmlns:a16="http://schemas.microsoft.com/office/drawing/2014/main" id="{EDE42D32-73B1-555E-F248-A33C9B65FFC2}"/>
              </a:ext>
            </a:extLst>
          </p:cNvPr>
          <p:cNvSpPr>
            <a:spLocks noGrp="1" noRot="1" noChangeAspect="1" noChangeArrowheads="1" noTextEdit="1"/>
          </p:cNvSpPr>
          <p:nvPr>
            <p:ph type="sldImg" idx="4294967295"/>
          </p:nvPr>
        </p:nvSpPr>
        <p:spPr>
          <a:ln/>
        </p:spPr>
      </p:sp>
      <p:sp>
        <p:nvSpPr>
          <p:cNvPr id="57348" name="Rectangle 3">
            <a:extLst>
              <a:ext uri="{FF2B5EF4-FFF2-40B4-BE49-F238E27FC236}">
                <a16:creationId xmlns:a16="http://schemas.microsoft.com/office/drawing/2014/main" id="{A858867F-5808-37F8-4AD1-8B3188E246B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5897A84-1CDE-5E13-AD66-19F138FB44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C58E83A-1C3B-4D36-8B83-520B76C3880A}" type="slidenum">
              <a:rPr altLang="zh-CN" sz="1800"/>
              <a:pPr/>
              <a:t>29</a:t>
            </a:fld>
            <a:endParaRPr lang="zh-CN" altLang="zh-CN" sz="1800"/>
          </a:p>
        </p:txBody>
      </p:sp>
      <p:sp>
        <p:nvSpPr>
          <p:cNvPr id="59395" name="Rectangle 2">
            <a:extLst>
              <a:ext uri="{FF2B5EF4-FFF2-40B4-BE49-F238E27FC236}">
                <a16:creationId xmlns:a16="http://schemas.microsoft.com/office/drawing/2014/main" id="{C01E8C57-6DEA-27E8-9AEC-512E14D0632C}"/>
              </a:ext>
            </a:extLst>
          </p:cNvPr>
          <p:cNvSpPr>
            <a:spLocks noGrp="1" noRot="1" noChangeAspect="1" noChangeArrowheads="1" noTextEdit="1"/>
          </p:cNvSpPr>
          <p:nvPr>
            <p:ph type="sldImg" idx="4294967295"/>
          </p:nvPr>
        </p:nvSpPr>
        <p:spPr>
          <a:ln/>
        </p:spPr>
      </p:sp>
      <p:sp>
        <p:nvSpPr>
          <p:cNvPr id="59396" name="Rectangle 3">
            <a:extLst>
              <a:ext uri="{FF2B5EF4-FFF2-40B4-BE49-F238E27FC236}">
                <a16:creationId xmlns:a16="http://schemas.microsoft.com/office/drawing/2014/main" id="{027AA8C4-6AA7-1C44-E243-AFF5AA31C25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1F21276-ADA3-B92F-D250-385B542722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BD79BEA-EE76-428B-BAC8-FAB22C7687A5}" type="slidenum">
              <a:rPr altLang="zh-CN" sz="1800"/>
              <a:pPr/>
              <a:t>31</a:t>
            </a:fld>
            <a:endParaRPr lang="zh-CN" altLang="zh-CN" sz="1800"/>
          </a:p>
        </p:txBody>
      </p:sp>
      <p:sp>
        <p:nvSpPr>
          <p:cNvPr id="62467" name="Rectangle 2">
            <a:extLst>
              <a:ext uri="{FF2B5EF4-FFF2-40B4-BE49-F238E27FC236}">
                <a16:creationId xmlns:a16="http://schemas.microsoft.com/office/drawing/2014/main" id="{CDC71067-26AE-D81B-1DEE-B55D4621A644}"/>
              </a:ext>
            </a:extLst>
          </p:cNvPr>
          <p:cNvSpPr>
            <a:spLocks noGrp="1" noRot="1" noChangeAspect="1" noChangeArrowheads="1" noTextEdit="1"/>
          </p:cNvSpPr>
          <p:nvPr>
            <p:ph type="sldImg" idx="4294967295"/>
          </p:nvPr>
        </p:nvSpPr>
        <p:spPr>
          <a:ln/>
        </p:spPr>
      </p:sp>
      <p:sp>
        <p:nvSpPr>
          <p:cNvPr id="62468" name="Rectangle 3">
            <a:extLst>
              <a:ext uri="{FF2B5EF4-FFF2-40B4-BE49-F238E27FC236}">
                <a16:creationId xmlns:a16="http://schemas.microsoft.com/office/drawing/2014/main" id="{DAB07B1C-D631-815C-C589-0C7B630D323E}"/>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C63BCD4-40E2-9D7F-6F16-13BB727650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850A3F8-0070-4A5F-ADFA-2CAB981808FA}" type="slidenum">
              <a:rPr altLang="zh-CN" sz="1800"/>
              <a:pPr/>
              <a:t>32</a:t>
            </a:fld>
            <a:endParaRPr lang="zh-CN" altLang="zh-CN" sz="1800"/>
          </a:p>
        </p:txBody>
      </p:sp>
      <p:sp>
        <p:nvSpPr>
          <p:cNvPr id="64515" name="Rectangle 2">
            <a:extLst>
              <a:ext uri="{FF2B5EF4-FFF2-40B4-BE49-F238E27FC236}">
                <a16:creationId xmlns:a16="http://schemas.microsoft.com/office/drawing/2014/main" id="{6A8D1A49-26F6-15E5-80B3-E3572D81D25D}"/>
              </a:ext>
            </a:extLst>
          </p:cNvPr>
          <p:cNvSpPr>
            <a:spLocks noGrp="1" noRot="1" noChangeAspect="1" noChangeArrowheads="1" noTextEdit="1"/>
          </p:cNvSpPr>
          <p:nvPr>
            <p:ph type="sldImg" idx="4294967295"/>
          </p:nvPr>
        </p:nvSpPr>
        <p:spPr>
          <a:ln/>
        </p:spPr>
      </p:sp>
      <p:sp>
        <p:nvSpPr>
          <p:cNvPr id="64516" name="Rectangle 3">
            <a:extLst>
              <a:ext uri="{FF2B5EF4-FFF2-40B4-BE49-F238E27FC236}">
                <a16:creationId xmlns:a16="http://schemas.microsoft.com/office/drawing/2014/main" id="{448E2585-0D1C-5183-5089-5B4FE20C018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7DE23930-8822-B747-CC6D-82FBD27209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82DBE3C-7A59-4FD3-A7AF-88AEE8CBF057}" type="slidenum">
              <a:rPr altLang="zh-CN" sz="1800"/>
              <a:pPr/>
              <a:t>33</a:t>
            </a:fld>
            <a:endParaRPr lang="zh-CN" altLang="zh-CN" sz="1800"/>
          </a:p>
        </p:txBody>
      </p:sp>
      <p:sp>
        <p:nvSpPr>
          <p:cNvPr id="66563" name="Rectangle 2">
            <a:extLst>
              <a:ext uri="{FF2B5EF4-FFF2-40B4-BE49-F238E27FC236}">
                <a16:creationId xmlns:a16="http://schemas.microsoft.com/office/drawing/2014/main" id="{A3E22342-052F-2B2C-063C-22F97768293B}"/>
              </a:ext>
            </a:extLst>
          </p:cNvPr>
          <p:cNvSpPr>
            <a:spLocks noGrp="1" noRot="1" noChangeAspect="1" noChangeArrowheads="1" noTextEdit="1"/>
          </p:cNvSpPr>
          <p:nvPr>
            <p:ph type="sldImg" idx="4294967295"/>
          </p:nvPr>
        </p:nvSpPr>
        <p:spPr>
          <a:ln/>
        </p:spPr>
      </p:sp>
      <p:sp>
        <p:nvSpPr>
          <p:cNvPr id="66564" name="Rectangle 3">
            <a:extLst>
              <a:ext uri="{FF2B5EF4-FFF2-40B4-BE49-F238E27FC236}">
                <a16:creationId xmlns:a16="http://schemas.microsoft.com/office/drawing/2014/main" id="{620C1340-B8A3-1802-AD8E-1F9CFE62AD60}"/>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E7F2F40B-E60D-E938-DB19-6C162830CD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C579E54-8B3E-4249-9A7A-A5E290EFF6C9}" type="slidenum">
              <a:rPr altLang="zh-CN" sz="1800"/>
              <a:pPr/>
              <a:t>34</a:t>
            </a:fld>
            <a:endParaRPr lang="zh-CN" altLang="zh-CN" sz="1800"/>
          </a:p>
        </p:txBody>
      </p:sp>
      <p:sp>
        <p:nvSpPr>
          <p:cNvPr id="68611" name="Rectangle 2">
            <a:extLst>
              <a:ext uri="{FF2B5EF4-FFF2-40B4-BE49-F238E27FC236}">
                <a16:creationId xmlns:a16="http://schemas.microsoft.com/office/drawing/2014/main" id="{992B103C-0A29-553C-228C-40100A412FB8}"/>
              </a:ext>
            </a:extLst>
          </p:cNvPr>
          <p:cNvSpPr>
            <a:spLocks noGrp="1" noRot="1" noChangeAspect="1" noChangeArrowheads="1" noTextEdit="1"/>
          </p:cNvSpPr>
          <p:nvPr>
            <p:ph type="sldImg" idx="4294967295"/>
          </p:nvPr>
        </p:nvSpPr>
        <p:spPr>
          <a:ln/>
        </p:spPr>
      </p:sp>
      <p:sp>
        <p:nvSpPr>
          <p:cNvPr id="68612" name="Rectangle 3">
            <a:extLst>
              <a:ext uri="{FF2B5EF4-FFF2-40B4-BE49-F238E27FC236}">
                <a16:creationId xmlns:a16="http://schemas.microsoft.com/office/drawing/2014/main" id="{ED5A3F1F-4A17-E532-B42D-E13ABC6E56C6}"/>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CCA84FCA-88AF-C095-A4E8-96EBBB2128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30E5A0E-44E6-440E-9C2E-50FB81E2AB29}" type="slidenum">
              <a:rPr altLang="zh-CN" sz="1800"/>
              <a:pPr/>
              <a:t>36</a:t>
            </a:fld>
            <a:endParaRPr lang="zh-CN" altLang="zh-CN" sz="1800"/>
          </a:p>
        </p:txBody>
      </p:sp>
      <p:sp>
        <p:nvSpPr>
          <p:cNvPr id="71683" name="Rectangle 2">
            <a:extLst>
              <a:ext uri="{FF2B5EF4-FFF2-40B4-BE49-F238E27FC236}">
                <a16:creationId xmlns:a16="http://schemas.microsoft.com/office/drawing/2014/main" id="{B4D2A5A7-E4A5-3341-E1C0-26889592602D}"/>
              </a:ext>
            </a:extLst>
          </p:cNvPr>
          <p:cNvSpPr>
            <a:spLocks noGrp="1" noRot="1" noChangeAspect="1" noChangeArrowheads="1" noTextEdit="1"/>
          </p:cNvSpPr>
          <p:nvPr>
            <p:ph type="sldImg" idx="4294967295"/>
          </p:nvPr>
        </p:nvSpPr>
        <p:spPr>
          <a:ln/>
        </p:spPr>
      </p:sp>
      <p:sp>
        <p:nvSpPr>
          <p:cNvPr id="71684" name="Rectangle 3">
            <a:extLst>
              <a:ext uri="{FF2B5EF4-FFF2-40B4-BE49-F238E27FC236}">
                <a16:creationId xmlns:a16="http://schemas.microsoft.com/office/drawing/2014/main" id="{1D817C04-F384-8BB5-794B-DDD1F1B92312}"/>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37513AE7-B735-3A14-016D-4823408674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0BF7865-AA0B-49CF-82E0-8FFB4FC7C605}" type="slidenum">
              <a:rPr altLang="zh-CN" sz="1800"/>
              <a:pPr/>
              <a:t>37</a:t>
            </a:fld>
            <a:endParaRPr lang="zh-CN" altLang="zh-CN" sz="1800"/>
          </a:p>
        </p:txBody>
      </p:sp>
      <p:sp>
        <p:nvSpPr>
          <p:cNvPr id="73731" name="Rectangle 2">
            <a:extLst>
              <a:ext uri="{FF2B5EF4-FFF2-40B4-BE49-F238E27FC236}">
                <a16:creationId xmlns:a16="http://schemas.microsoft.com/office/drawing/2014/main" id="{03D910AE-5F06-E7A1-7160-218AB37F5490}"/>
              </a:ext>
            </a:extLst>
          </p:cNvPr>
          <p:cNvSpPr>
            <a:spLocks noGrp="1" noRot="1" noChangeAspect="1" noChangeArrowheads="1" noTextEdit="1"/>
          </p:cNvSpPr>
          <p:nvPr>
            <p:ph type="sldImg" idx="4294967295"/>
          </p:nvPr>
        </p:nvSpPr>
        <p:spPr>
          <a:ln/>
        </p:spPr>
      </p:sp>
      <p:sp>
        <p:nvSpPr>
          <p:cNvPr id="73732" name="Rectangle 3">
            <a:extLst>
              <a:ext uri="{FF2B5EF4-FFF2-40B4-BE49-F238E27FC236}">
                <a16:creationId xmlns:a16="http://schemas.microsoft.com/office/drawing/2014/main" id="{89257BEF-16B5-97DF-07F3-D34E399F038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25C8067F-E660-46CD-7795-C5E3C10F7B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9AA2A30-ABD5-4A47-A0B8-B00B32203EA0}" type="slidenum">
              <a:rPr altLang="zh-CN" sz="1800"/>
              <a:pPr/>
              <a:t>38</a:t>
            </a:fld>
            <a:endParaRPr lang="zh-CN" altLang="zh-CN" sz="1800"/>
          </a:p>
        </p:txBody>
      </p:sp>
      <p:sp>
        <p:nvSpPr>
          <p:cNvPr id="75779" name="Rectangle 2">
            <a:extLst>
              <a:ext uri="{FF2B5EF4-FFF2-40B4-BE49-F238E27FC236}">
                <a16:creationId xmlns:a16="http://schemas.microsoft.com/office/drawing/2014/main" id="{AAB56046-CE3B-D1ED-C90B-01D0C7F94041}"/>
              </a:ext>
            </a:extLst>
          </p:cNvPr>
          <p:cNvSpPr>
            <a:spLocks noGrp="1" noRot="1" noChangeAspect="1" noChangeArrowheads="1" noTextEdit="1"/>
          </p:cNvSpPr>
          <p:nvPr>
            <p:ph type="sldImg" idx="4294967295"/>
          </p:nvPr>
        </p:nvSpPr>
        <p:spPr>
          <a:ln/>
        </p:spPr>
      </p:sp>
      <p:sp>
        <p:nvSpPr>
          <p:cNvPr id="75780" name="Rectangle 3">
            <a:extLst>
              <a:ext uri="{FF2B5EF4-FFF2-40B4-BE49-F238E27FC236}">
                <a16:creationId xmlns:a16="http://schemas.microsoft.com/office/drawing/2014/main" id="{6165FC6F-E8C1-367F-711F-BB81E5E87306}"/>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23D4963-F237-C40D-00F3-4E93F27D58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999534C-8B0E-4DE4-B0B1-D5CAF900EF50}" type="slidenum">
              <a:rPr altLang="zh-CN" sz="1800"/>
              <a:pPr/>
              <a:t>40</a:t>
            </a:fld>
            <a:endParaRPr lang="zh-CN" altLang="zh-CN" sz="1800"/>
          </a:p>
        </p:txBody>
      </p:sp>
      <p:sp>
        <p:nvSpPr>
          <p:cNvPr id="78851" name="Rectangle 2">
            <a:extLst>
              <a:ext uri="{FF2B5EF4-FFF2-40B4-BE49-F238E27FC236}">
                <a16:creationId xmlns:a16="http://schemas.microsoft.com/office/drawing/2014/main" id="{72EF83D6-463E-D409-17DA-54214B2C57CD}"/>
              </a:ext>
            </a:extLst>
          </p:cNvPr>
          <p:cNvSpPr>
            <a:spLocks noGrp="1" noRot="1" noChangeAspect="1" noChangeArrowheads="1" noTextEdit="1"/>
          </p:cNvSpPr>
          <p:nvPr>
            <p:ph type="sldImg" idx="4294967295"/>
          </p:nvPr>
        </p:nvSpPr>
        <p:spPr>
          <a:ln/>
        </p:spPr>
      </p:sp>
      <p:sp>
        <p:nvSpPr>
          <p:cNvPr id="78852" name="Rectangle 3">
            <a:extLst>
              <a:ext uri="{FF2B5EF4-FFF2-40B4-BE49-F238E27FC236}">
                <a16:creationId xmlns:a16="http://schemas.microsoft.com/office/drawing/2014/main" id="{5F0FC555-8108-47D1-5D23-1337177F4787}"/>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1B3A420C-B888-68D5-120E-7104771ADA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C42530E-FD4F-45E3-A909-05769B8D2144}" type="slidenum">
              <a:rPr altLang="zh-CN" sz="1800"/>
              <a:pPr/>
              <a:t>41</a:t>
            </a:fld>
            <a:endParaRPr lang="zh-CN" altLang="zh-CN" sz="1800"/>
          </a:p>
        </p:txBody>
      </p:sp>
      <p:sp>
        <p:nvSpPr>
          <p:cNvPr id="80899" name="Rectangle 2">
            <a:extLst>
              <a:ext uri="{FF2B5EF4-FFF2-40B4-BE49-F238E27FC236}">
                <a16:creationId xmlns:a16="http://schemas.microsoft.com/office/drawing/2014/main" id="{97E85E52-7FB0-6034-4F4B-7A458474B3B1}"/>
              </a:ext>
            </a:extLst>
          </p:cNvPr>
          <p:cNvSpPr>
            <a:spLocks noGrp="1" noRot="1" noChangeAspect="1" noChangeArrowheads="1" noTextEdit="1"/>
          </p:cNvSpPr>
          <p:nvPr>
            <p:ph type="sldImg" idx="4294967295"/>
          </p:nvPr>
        </p:nvSpPr>
        <p:spPr>
          <a:ln/>
        </p:spPr>
      </p:sp>
      <p:sp>
        <p:nvSpPr>
          <p:cNvPr id="80900" name="Rectangle 3">
            <a:extLst>
              <a:ext uri="{FF2B5EF4-FFF2-40B4-BE49-F238E27FC236}">
                <a16:creationId xmlns:a16="http://schemas.microsoft.com/office/drawing/2014/main" id="{AAFB0084-80F4-0518-1D43-2077C0347242}"/>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4B154C43-771C-E33E-AF47-F66F4C442F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066108C-2D35-4998-8C32-9701298EE7F4}" type="slidenum">
              <a:rPr altLang="zh-CN" sz="1800"/>
              <a:pPr/>
              <a:t>42</a:t>
            </a:fld>
            <a:endParaRPr lang="zh-CN" altLang="zh-CN" sz="1800"/>
          </a:p>
        </p:txBody>
      </p:sp>
      <p:sp>
        <p:nvSpPr>
          <p:cNvPr id="82947" name="Rectangle 2">
            <a:extLst>
              <a:ext uri="{FF2B5EF4-FFF2-40B4-BE49-F238E27FC236}">
                <a16:creationId xmlns:a16="http://schemas.microsoft.com/office/drawing/2014/main" id="{4B4C9D42-C583-63CB-F99E-5553794ECF04}"/>
              </a:ext>
            </a:extLst>
          </p:cNvPr>
          <p:cNvSpPr>
            <a:spLocks noGrp="1" noRot="1" noChangeAspect="1" noChangeArrowheads="1" noTextEdit="1"/>
          </p:cNvSpPr>
          <p:nvPr>
            <p:ph type="sldImg" idx="4294967295"/>
          </p:nvPr>
        </p:nvSpPr>
        <p:spPr>
          <a:ln/>
        </p:spPr>
      </p:sp>
      <p:sp>
        <p:nvSpPr>
          <p:cNvPr id="82948" name="Rectangle 3">
            <a:extLst>
              <a:ext uri="{FF2B5EF4-FFF2-40B4-BE49-F238E27FC236}">
                <a16:creationId xmlns:a16="http://schemas.microsoft.com/office/drawing/2014/main" id="{57D690DB-5744-DA6A-2BD3-23A1C5D184C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BCEE4DC-58F2-090A-518B-0E0860DDB1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9B95A9F-C199-4254-A70D-7E783E382852}" type="slidenum">
              <a:rPr altLang="zh-CN" sz="1800"/>
              <a:pPr/>
              <a:t>43</a:t>
            </a:fld>
            <a:endParaRPr lang="zh-CN" altLang="zh-CN" sz="1800"/>
          </a:p>
        </p:txBody>
      </p:sp>
      <p:sp>
        <p:nvSpPr>
          <p:cNvPr id="84995" name="Rectangle 2">
            <a:extLst>
              <a:ext uri="{FF2B5EF4-FFF2-40B4-BE49-F238E27FC236}">
                <a16:creationId xmlns:a16="http://schemas.microsoft.com/office/drawing/2014/main" id="{B564050D-A3A6-9172-787F-672370B7DD7D}"/>
              </a:ext>
            </a:extLst>
          </p:cNvPr>
          <p:cNvSpPr>
            <a:spLocks noGrp="1" noRot="1" noChangeAspect="1" noChangeArrowheads="1" noTextEdit="1"/>
          </p:cNvSpPr>
          <p:nvPr>
            <p:ph type="sldImg" idx="4294967295"/>
          </p:nvPr>
        </p:nvSpPr>
        <p:spPr>
          <a:ln/>
        </p:spPr>
      </p:sp>
      <p:sp>
        <p:nvSpPr>
          <p:cNvPr id="84996" name="Rectangle 3">
            <a:extLst>
              <a:ext uri="{FF2B5EF4-FFF2-40B4-BE49-F238E27FC236}">
                <a16:creationId xmlns:a16="http://schemas.microsoft.com/office/drawing/2014/main" id="{45AFD175-EE15-9C25-9927-97AEC44A0A3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930AAF02-9F0E-27F8-9B2D-DD4F8B3337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9FDF53C-9E5B-416C-BF93-D2E194A266DA}" type="slidenum">
              <a:rPr altLang="zh-CN" sz="1800"/>
              <a:pPr/>
              <a:t>44</a:t>
            </a:fld>
            <a:endParaRPr lang="zh-CN" altLang="zh-CN" sz="1800"/>
          </a:p>
        </p:txBody>
      </p:sp>
      <p:sp>
        <p:nvSpPr>
          <p:cNvPr id="87043" name="Rectangle 2">
            <a:extLst>
              <a:ext uri="{FF2B5EF4-FFF2-40B4-BE49-F238E27FC236}">
                <a16:creationId xmlns:a16="http://schemas.microsoft.com/office/drawing/2014/main" id="{7AF39E7B-8EB1-C3F9-619E-C73921A3A3A3}"/>
              </a:ext>
            </a:extLst>
          </p:cNvPr>
          <p:cNvSpPr>
            <a:spLocks noGrp="1" noRot="1" noChangeAspect="1" noChangeArrowheads="1" noTextEdit="1"/>
          </p:cNvSpPr>
          <p:nvPr>
            <p:ph type="sldImg" idx="4294967295"/>
          </p:nvPr>
        </p:nvSpPr>
        <p:spPr>
          <a:ln/>
        </p:spPr>
      </p:sp>
      <p:sp>
        <p:nvSpPr>
          <p:cNvPr id="87044" name="Rectangle 3">
            <a:extLst>
              <a:ext uri="{FF2B5EF4-FFF2-40B4-BE49-F238E27FC236}">
                <a16:creationId xmlns:a16="http://schemas.microsoft.com/office/drawing/2014/main" id="{4E27E630-C615-EFA7-CF62-DC4BE99F141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68A8C21-D089-D9D3-7CA5-D712F88E9C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2B2EF73-5188-4DD5-9A2B-2EFC4C0C84BA}" type="slidenum">
              <a:rPr altLang="zh-CN" sz="1800"/>
              <a:pPr/>
              <a:t>45</a:t>
            </a:fld>
            <a:endParaRPr lang="zh-CN" altLang="zh-CN" sz="1800"/>
          </a:p>
        </p:txBody>
      </p:sp>
      <p:sp>
        <p:nvSpPr>
          <p:cNvPr id="89091" name="Rectangle 2">
            <a:extLst>
              <a:ext uri="{FF2B5EF4-FFF2-40B4-BE49-F238E27FC236}">
                <a16:creationId xmlns:a16="http://schemas.microsoft.com/office/drawing/2014/main" id="{BB56D602-5105-9A94-D27A-D05EFC453B5D}"/>
              </a:ext>
            </a:extLst>
          </p:cNvPr>
          <p:cNvSpPr>
            <a:spLocks noGrp="1" noRot="1" noChangeAspect="1" noChangeArrowheads="1" noTextEdit="1"/>
          </p:cNvSpPr>
          <p:nvPr>
            <p:ph type="sldImg" idx="4294967295"/>
          </p:nvPr>
        </p:nvSpPr>
        <p:spPr>
          <a:ln/>
        </p:spPr>
      </p:sp>
      <p:sp>
        <p:nvSpPr>
          <p:cNvPr id="89092" name="Rectangle 3">
            <a:extLst>
              <a:ext uri="{FF2B5EF4-FFF2-40B4-BE49-F238E27FC236}">
                <a16:creationId xmlns:a16="http://schemas.microsoft.com/office/drawing/2014/main" id="{1ACC5966-64B5-2068-7B2C-681A377A915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EAC7D83E-4BFD-F2FB-49BB-502C0316AA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C3D5D3B-B7CA-49A4-BA61-FDAF72244DE6}" type="slidenum">
              <a:rPr altLang="zh-CN" sz="1800"/>
              <a:pPr/>
              <a:t>46</a:t>
            </a:fld>
            <a:endParaRPr lang="zh-CN" altLang="zh-CN" sz="1800"/>
          </a:p>
        </p:txBody>
      </p:sp>
      <p:sp>
        <p:nvSpPr>
          <p:cNvPr id="91139" name="Rectangle 2">
            <a:extLst>
              <a:ext uri="{FF2B5EF4-FFF2-40B4-BE49-F238E27FC236}">
                <a16:creationId xmlns:a16="http://schemas.microsoft.com/office/drawing/2014/main" id="{FE040305-F9DA-4556-8B2E-9A69C878679A}"/>
              </a:ext>
            </a:extLst>
          </p:cNvPr>
          <p:cNvSpPr>
            <a:spLocks noGrp="1" noRot="1" noChangeAspect="1" noChangeArrowheads="1" noTextEdit="1"/>
          </p:cNvSpPr>
          <p:nvPr>
            <p:ph type="sldImg" idx="4294967295"/>
          </p:nvPr>
        </p:nvSpPr>
        <p:spPr>
          <a:ln/>
        </p:spPr>
      </p:sp>
      <p:sp>
        <p:nvSpPr>
          <p:cNvPr id="91140" name="Rectangle 3">
            <a:extLst>
              <a:ext uri="{FF2B5EF4-FFF2-40B4-BE49-F238E27FC236}">
                <a16:creationId xmlns:a16="http://schemas.microsoft.com/office/drawing/2014/main" id="{F10F1048-7ECD-058D-7CF6-2F67CA4A7322}"/>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AEADFCA-EA1A-585A-7600-CFD804EF8F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463D7C1-CDC1-43AB-9726-71760FFC4E47}" type="slidenum">
              <a:rPr altLang="zh-CN" sz="1800"/>
              <a:pPr/>
              <a:t>47</a:t>
            </a:fld>
            <a:endParaRPr lang="zh-CN" altLang="zh-CN" sz="1800"/>
          </a:p>
        </p:txBody>
      </p:sp>
      <p:sp>
        <p:nvSpPr>
          <p:cNvPr id="93187" name="Rectangle 2">
            <a:extLst>
              <a:ext uri="{FF2B5EF4-FFF2-40B4-BE49-F238E27FC236}">
                <a16:creationId xmlns:a16="http://schemas.microsoft.com/office/drawing/2014/main" id="{949A8CE1-C28A-9E84-441B-6A7E9802D9B6}"/>
              </a:ext>
            </a:extLst>
          </p:cNvPr>
          <p:cNvSpPr>
            <a:spLocks noGrp="1" noRot="1" noChangeAspect="1" noChangeArrowheads="1" noTextEdit="1"/>
          </p:cNvSpPr>
          <p:nvPr>
            <p:ph type="sldImg" idx="4294967295"/>
          </p:nvPr>
        </p:nvSpPr>
        <p:spPr>
          <a:ln/>
        </p:spPr>
      </p:sp>
      <p:sp>
        <p:nvSpPr>
          <p:cNvPr id="93188" name="Rectangle 3">
            <a:extLst>
              <a:ext uri="{FF2B5EF4-FFF2-40B4-BE49-F238E27FC236}">
                <a16:creationId xmlns:a16="http://schemas.microsoft.com/office/drawing/2014/main" id="{7DC9A19B-3708-92EE-90C7-F113E1FCF0A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D3A1D654-84BF-6EE7-9C0B-1F10DC747A3A}"/>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6146"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p>
        </p:txBody>
      </p:sp>
      <p:sp>
        <p:nvSpPr>
          <p:cNvPr id="614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3" name="Rectangle 4">
            <a:extLst>
              <a:ext uri="{FF2B5EF4-FFF2-40B4-BE49-F238E27FC236}">
                <a16:creationId xmlns:a16="http://schemas.microsoft.com/office/drawing/2014/main" id="{75EE2891-6AE3-B1B0-F7E4-52B96537B58D}"/>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9F696E83-292B-1AEF-93C3-C509172197B4}"/>
              </a:ext>
            </a:extLst>
          </p:cNvPr>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9DDDC24-2394-9471-0704-137AA801ACFF}"/>
              </a:ext>
            </a:extLst>
          </p:cNvPr>
          <p:cNvSpPr>
            <a:spLocks noGrp="1" noChangeArrowheads="1"/>
          </p:cNvSpPr>
          <p:nvPr>
            <p:ph type="sldNum" sz="quarter" idx="12"/>
          </p:nvPr>
        </p:nvSpPr>
        <p:spPr>
          <a:xfrm>
            <a:off x="6553200" y="6248400"/>
            <a:ext cx="1905000" cy="457200"/>
          </a:xfrm>
        </p:spPr>
        <p:txBody>
          <a:bodyPr/>
          <a:lstStyle>
            <a:lvl1pPr>
              <a:defRPr smtClean="0"/>
            </a:lvl1pPr>
          </a:lstStyle>
          <a:p>
            <a:pPr>
              <a:defRPr/>
            </a:pPr>
            <a:fld id="{450463E0-EA0C-49E5-887B-358A5DAEDE11}" type="slidenum">
              <a:rPr altLang="zh-CN"/>
              <a:pPr>
                <a:defRPr/>
              </a:pPr>
              <a:t>‹#›</a:t>
            </a:fld>
            <a:endParaRPr lang="zh-CN" altLang="zh-CN"/>
          </a:p>
        </p:txBody>
      </p:sp>
    </p:spTree>
    <p:extLst>
      <p:ext uri="{BB962C8B-B14F-4D97-AF65-F5344CB8AC3E}">
        <p14:creationId xmlns:p14="http://schemas.microsoft.com/office/powerpoint/2010/main" val="4203766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A326641D-F025-BDA9-3C16-54235D5A488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A04AFC89-B79B-B25B-A5F6-35ACC446AC6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99B644B9-89E2-A174-29CC-21128885AA96}"/>
              </a:ext>
            </a:extLst>
          </p:cNvPr>
          <p:cNvSpPr>
            <a:spLocks noGrp="1" noChangeArrowheads="1"/>
          </p:cNvSpPr>
          <p:nvPr>
            <p:ph type="sldNum" sz="quarter" idx="12"/>
          </p:nvPr>
        </p:nvSpPr>
        <p:spPr>
          <a:ln/>
        </p:spPr>
        <p:txBody>
          <a:bodyPr/>
          <a:lstStyle>
            <a:lvl1pPr>
              <a:defRPr/>
            </a:lvl1pPr>
          </a:lstStyle>
          <a:p>
            <a:pPr>
              <a:defRPr/>
            </a:pPr>
            <a:fld id="{7DD74C9D-5276-4004-9632-4951B25C18C1}" type="slidenum">
              <a:rPr altLang="zh-CN"/>
              <a:pPr>
                <a:defRPr/>
              </a:pPr>
              <a:t>‹#›</a:t>
            </a:fld>
            <a:endParaRPr lang="zh-CN" altLang="zh-CN"/>
          </a:p>
        </p:txBody>
      </p:sp>
    </p:spTree>
    <p:extLst>
      <p:ext uri="{BB962C8B-B14F-4D97-AF65-F5344CB8AC3E}">
        <p14:creationId xmlns:p14="http://schemas.microsoft.com/office/powerpoint/2010/main" val="2378351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a:extLst>
              <a:ext uri="{FF2B5EF4-FFF2-40B4-BE49-F238E27FC236}">
                <a16:creationId xmlns:a16="http://schemas.microsoft.com/office/drawing/2014/main" id="{84D7945B-6C3E-AA82-EF5C-BF7EABDCCF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EFB85904-3B4C-93A7-3652-FC3419C7EA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D062D1BD-4E72-BA00-2016-439F4CEEC485}"/>
              </a:ext>
            </a:extLst>
          </p:cNvPr>
          <p:cNvSpPr>
            <a:spLocks noGrp="1" noChangeArrowheads="1"/>
          </p:cNvSpPr>
          <p:nvPr>
            <p:ph type="sldNum" sz="quarter" idx="12"/>
          </p:nvPr>
        </p:nvSpPr>
        <p:spPr>
          <a:ln/>
        </p:spPr>
        <p:txBody>
          <a:bodyPr/>
          <a:lstStyle>
            <a:lvl1pPr>
              <a:defRPr/>
            </a:lvl1pPr>
          </a:lstStyle>
          <a:p>
            <a:pPr>
              <a:defRPr/>
            </a:pPr>
            <a:fld id="{FA0463BD-963C-428E-AFB1-4AD2A0C511A3}" type="slidenum">
              <a:rPr altLang="zh-CN"/>
              <a:pPr>
                <a:defRPr/>
              </a:pPr>
              <a:t>‹#›</a:t>
            </a:fld>
            <a:endParaRPr lang="zh-CN" altLang="zh-CN"/>
          </a:p>
        </p:txBody>
      </p:sp>
    </p:spTree>
    <p:extLst>
      <p:ext uri="{BB962C8B-B14F-4D97-AF65-F5344CB8AC3E}">
        <p14:creationId xmlns:p14="http://schemas.microsoft.com/office/powerpoint/2010/main" val="644426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a:extLst>
              <a:ext uri="{FF2B5EF4-FFF2-40B4-BE49-F238E27FC236}">
                <a16:creationId xmlns:a16="http://schemas.microsoft.com/office/drawing/2014/main" id="{28794F5E-F84D-60F9-F4C0-F0BF85057A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8480E793-F5B4-C348-5EA5-972338F3ED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A0E9A030-C21C-5398-943F-46A4ACB0B615}"/>
              </a:ext>
            </a:extLst>
          </p:cNvPr>
          <p:cNvSpPr>
            <a:spLocks noGrp="1" noChangeArrowheads="1"/>
          </p:cNvSpPr>
          <p:nvPr>
            <p:ph type="sldNum" sz="quarter" idx="12"/>
          </p:nvPr>
        </p:nvSpPr>
        <p:spPr>
          <a:ln/>
        </p:spPr>
        <p:txBody>
          <a:bodyPr/>
          <a:lstStyle>
            <a:lvl1pPr>
              <a:defRPr/>
            </a:lvl1pPr>
          </a:lstStyle>
          <a:p>
            <a:pPr>
              <a:defRPr/>
            </a:pPr>
            <a:fld id="{9DC46AC6-1167-48E4-BAF7-7215BA47E389}" type="slidenum">
              <a:rPr altLang="zh-CN"/>
              <a:pPr>
                <a:defRPr/>
              </a:pPr>
              <a:t>‹#›</a:t>
            </a:fld>
            <a:endParaRPr lang="zh-CN" altLang="zh-CN"/>
          </a:p>
        </p:txBody>
      </p:sp>
    </p:spTree>
    <p:extLst>
      <p:ext uri="{BB962C8B-B14F-4D97-AF65-F5344CB8AC3E}">
        <p14:creationId xmlns:p14="http://schemas.microsoft.com/office/powerpoint/2010/main" val="790302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a:extLst>
              <a:ext uri="{FF2B5EF4-FFF2-40B4-BE49-F238E27FC236}">
                <a16:creationId xmlns:a16="http://schemas.microsoft.com/office/drawing/2014/main" id="{1F20C2F6-B00F-DB01-9F9D-4D3D2540ADA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a:extLst>
              <a:ext uri="{FF2B5EF4-FFF2-40B4-BE49-F238E27FC236}">
                <a16:creationId xmlns:a16="http://schemas.microsoft.com/office/drawing/2014/main" id="{3990C223-B4E1-4BDD-61F2-1C9202D405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a:extLst>
              <a:ext uri="{FF2B5EF4-FFF2-40B4-BE49-F238E27FC236}">
                <a16:creationId xmlns:a16="http://schemas.microsoft.com/office/drawing/2014/main" id="{A1918FF3-F4EF-9314-8FD6-ACBB208D24CD}"/>
              </a:ext>
            </a:extLst>
          </p:cNvPr>
          <p:cNvSpPr>
            <a:spLocks noGrp="1" noChangeArrowheads="1"/>
          </p:cNvSpPr>
          <p:nvPr>
            <p:ph type="sldNum" sz="quarter" idx="12"/>
          </p:nvPr>
        </p:nvSpPr>
        <p:spPr>
          <a:ln/>
        </p:spPr>
        <p:txBody>
          <a:bodyPr/>
          <a:lstStyle>
            <a:lvl1pPr>
              <a:defRPr/>
            </a:lvl1pPr>
          </a:lstStyle>
          <a:p>
            <a:pPr>
              <a:defRPr/>
            </a:pPr>
            <a:fld id="{F5553337-BBE6-4454-B9A2-266A05F3D9F0}" type="slidenum">
              <a:rPr altLang="zh-CN"/>
              <a:pPr>
                <a:defRPr/>
              </a:pPr>
              <a:t>‹#›</a:t>
            </a:fld>
            <a:endParaRPr lang="zh-CN" altLang="zh-CN"/>
          </a:p>
        </p:txBody>
      </p:sp>
    </p:spTree>
    <p:extLst>
      <p:ext uri="{BB962C8B-B14F-4D97-AF65-F5344CB8AC3E}">
        <p14:creationId xmlns:p14="http://schemas.microsoft.com/office/powerpoint/2010/main" val="241170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a:extLst>
              <a:ext uri="{FF2B5EF4-FFF2-40B4-BE49-F238E27FC236}">
                <a16:creationId xmlns:a16="http://schemas.microsoft.com/office/drawing/2014/main" id="{123A140B-6559-1491-D1D0-1909D562901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a:extLst>
              <a:ext uri="{FF2B5EF4-FFF2-40B4-BE49-F238E27FC236}">
                <a16:creationId xmlns:a16="http://schemas.microsoft.com/office/drawing/2014/main" id="{C334E30B-CE74-6A73-A6C2-A5447B16DA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a:extLst>
              <a:ext uri="{FF2B5EF4-FFF2-40B4-BE49-F238E27FC236}">
                <a16:creationId xmlns:a16="http://schemas.microsoft.com/office/drawing/2014/main" id="{1CEF4CB7-3F8B-2541-47CC-ECB52AEE3ABC}"/>
              </a:ext>
            </a:extLst>
          </p:cNvPr>
          <p:cNvSpPr>
            <a:spLocks noGrp="1" noChangeArrowheads="1"/>
          </p:cNvSpPr>
          <p:nvPr>
            <p:ph type="sldNum" sz="quarter" idx="12"/>
          </p:nvPr>
        </p:nvSpPr>
        <p:spPr>
          <a:ln/>
        </p:spPr>
        <p:txBody>
          <a:bodyPr/>
          <a:lstStyle>
            <a:lvl1pPr>
              <a:defRPr/>
            </a:lvl1pPr>
          </a:lstStyle>
          <a:p>
            <a:pPr>
              <a:defRPr/>
            </a:pPr>
            <a:fld id="{5A847340-BA28-4955-8B5B-34589AB37A6C}" type="slidenum">
              <a:rPr altLang="zh-CN"/>
              <a:pPr>
                <a:defRPr/>
              </a:pPr>
              <a:t>‹#›</a:t>
            </a:fld>
            <a:endParaRPr lang="zh-CN" altLang="zh-CN"/>
          </a:p>
        </p:txBody>
      </p:sp>
    </p:spTree>
    <p:extLst>
      <p:ext uri="{BB962C8B-B14F-4D97-AF65-F5344CB8AC3E}">
        <p14:creationId xmlns:p14="http://schemas.microsoft.com/office/powerpoint/2010/main" val="155886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523045D-FC59-C1E1-A46F-8482376007E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a:extLst>
              <a:ext uri="{FF2B5EF4-FFF2-40B4-BE49-F238E27FC236}">
                <a16:creationId xmlns:a16="http://schemas.microsoft.com/office/drawing/2014/main" id="{E35FA27C-5067-F08F-E6A2-1D76C8B8DC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a:extLst>
              <a:ext uri="{FF2B5EF4-FFF2-40B4-BE49-F238E27FC236}">
                <a16:creationId xmlns:a16="http://schemas.microsoft.com/office/drawing/2014/main" id="{CB571B99-AF97-8E99-C733-CCC11413CBE6}"/>
              </a:ext>
            </a:extLst>
          </p:cNvPr>
          <p:cNvSpPr>
            <a:spLocks noGrp="1" noChangeArrowheads="1"/>
          </p:cNvSpPr>
          <p:nvPr>
            <p:ph type="sldNum" sz="quarter" idx="12"/>
          </p:nvPr>
        </p:nvSpPr>
        <p:spPr>
          <a:ln/>
        </p:spPr>
        <p:txBody>
          <a:bodyPr/>
          <a:lstStyle>
            <a:lvl1pPr>
              <a:defRPr/>
            </a:lvl1pPr>
          </a:lstStyle>
          <a:p>
            <a:pPr>
              <a:defRPr/>
            </a:pPr>
            <a:fld id="{9441C4F1-B27B-45DF-8B5A-C4769F5E125E}" type="slidenum">
              <a:rPr altLang="zh-CN"/>
              <a:pPr>
                <a:defRPr/>
              </a:pPr>
              <a:t>‹#›</a:t>
            </a:fld>
            <a:endParaRPr lang="zh-CN" altLang="zh-CN"/>
          </a:p>
        </p:txBody>
      </p:sp>
    </p:spTree>
    <p:extLst>
      <p:ext uri="{BB962C8B-B14F-4D97-AF65-F5344CB8AC3E}">
        <p14:creationId xmlns:p14="http://schemas.microsoft.com/office/powerpoint/2010/main" val="613239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701570E8-4266-3E75-8D9C-E094D178B45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508A6CB7-7CF8-5E34-C675-CA21354CDB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27268AFA-7830-65BE-B39A-0F36F97A2A91}"/>
              </a:ext>
            </a:extLst>
          </p:cNvPr>
          <p:cNvSpPr>
            <a:spLocks noGrp="1" noChangeArrowheads="1"/>
          </p:cNvSpPr>
          <p:nvPr>
            <p:ph type="sldNum" sz="quarter" idx="12"/>
          </p:nvPr>
        </p:nvSpPr>
        <p:spPr>
          <a:ln/>
        </p:spPr>
        <p:txBody>
          <a:bodyPr/>
          <a:lstStyle>
            <a:lvl1pPr>
              <a:defRPr/>
            </a:lvl1pPr>
          </a:lstStyle>
          <a:p>
            <a:pPr>
              <a:defRPr/>
            </a:pPr>
            <a:fld id="{B8F5EF14-345E-45CA-AE52-DDE1590E095F}" type="slidenum">
              <a:rPr altLang="zh-CN"/>
              <a:pPr>
                <a:defRPr/>
              </a:pPr>
              <a:t>‹#›</a:t>
            </a:fld>
            <a:endParaRPr lang="zh-CN" altLang="zh-CN"/>
          </a:p>
        </p:txBody>
      </p:sp>
    </p:spTree>
    <p:extLst>
      <p:ext uri="{BB962C8B-B14F-4D97-AF65-F5344CB8AC3E}">
        <p14:creationId xmlns:p14="http://schemas.microsoft.com/office/powerpoint/2010/main" val="3826050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05030A59-6DD1-58C1-83E7-0F6FFE499BA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998D2B1D-76C1-D4B6-6369-18951D83360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E98611FE-661B-2ECE-C19B-D57B51405FE1}"/>
              </a:ext>
            </a:extLst>
          </p:cNvPr>
          <p:cNvSpPr>
            <a:spLocks noGrp="1" noChangeArrowheads="1"/>
          </p:cNvSpPr>
          <p:nvPr>
            <p:ph type="sldNum" sz="quarter" idx="12"/>
          </p:nvPr>
        </p:nvSpPr>
        <p:spPr>
          <a:ln/>
        </p:spPr>
        <p:txBody>
          <a:bodyPr/>
          <a:lstStyle>
            <a:lvl1pPr>
              <a:defRPr/>
            </a:lvl1pPr>
          </a:lstStyle>
          <a:p>
            <a:pPr>
              <a:defRPr/>
            </a:pPr>
            <a:fld id="{6455A8A4-391A-49E2-95EF-0338303E2601}" type="slidenum">
              <a:rPr altLang="zh-CN"/>
              <a:pPr>
                <a:defRPr/>
              </a:pPr>
              <a:t>‹#›</a:t>
            </a:fld>
            <a:endParaRPr lang="zh-CN" altLang="zh-CN"/>
          </a:p>
        </p:txBody>
      </p:sp>
    </p:spTree>
    <p:extLst>
      <p:ext uri="{BB962C8B-B14F-4D97-AF65-F5344CB8AC3E}">
        <p14:creationId xmlns:p14="http://schemas.microsoft.com/office/powerpoint/2010/main" val="133021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794F70B8-FCED-2631-DE31-8E10801A414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EBC4DDF9-6310-CCDC-6196-F52F0820D01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70434C20-F588-11B9-5D8D-8127BDAC0D8B}"/>
              </a:ext>
            </a:extLst>
          </p:cNvPr>
          <p:cNvSpPr>
            <a:spLocks noGrp="1" noChangeArrowheads="1"/>
          </p:cNvSpPr>
          <p:nvPr>
            <p:ph type="sldNum" sz="quarter" idx="12"/>
          </p:nvPr>
        </p:nvSpPr>
        <p:spPr>
          <a:ln/>
        </p:spPr>
        <p:txBody>
          <a:bodyPr/>
          <a:lstStyle>
            <a:lvl1pPr>
              <a:defRPr/>
            </a:lvl1pPr>
          </a:lstStyle>
          <a:p>
            <a:pPr>
              <a:defRPr/>
            </a:pPr>
            <a:fld id="{E61C35E1-472D-4AA0-B585-B3A1CA67829C}" type="slidenum">
              <a:rPr altLang="zh-CN"/>
              <a:pPr>
                <a:defRPr/>
              </a:pPr>
              <a:t>‹#›</a:t>
            </a:fld>
            <a:endParaRPr lang="zh-CN" altLang="zh-CN"/>
          </a:p>
        </p:txBody>
      </p:sp>
    </p:spTree>
    <p:extLst>
      <p:ext uri="{BB962C8B-B14F-4D97-AF65-F5344CB8AC3E}">
        <p14:creationId xmlns:p14="http://schemas.microsoft.com/office/powerpoint/2010/main" val="1068128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F9CF4733-7761-C92B-E2C9-FE33264FEF1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85A75F09-FBB3-522D-0BA9-1718C9126A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AA3CDAEF-9636-A64E-58B1-6947FD8B08B2}"/>
              </a:ext>
            </a:extLst>
          </p:cNvPr>
          <p:cNvSpPr>
            <a:spLocks noGrp="1" noChangeArrowheads="1"/>
          </p:cNvSpPr>
          <p:nvPr>
            <p:ph type="sldNum" sz="quarter" idx="12"/>
          </p:nvPr>
        </p:nvSpPr>
        <p:spPr>
          <a:ln/>
        </p:spPr>
        <p:txBody>
          <a:bodyPr/>
          <a:lstStyle>
            <a:lvl1pPr>
              <a:defRPr/>
            </a:lvl1pPr>
          </a:lstStyle>
          <a:p>
            <a:pPr>
              <a:defRPr/>
            </a:pPr>
            <a:fld id="{06906077-9F25-40F9-8D9A-7A8555E9238E}" type="slidenum">
              <a:rPr altLang="zh-CN"/>
              <a:pPr>
                <a:defRPr/>
              </a:pPr>
              <a:t>‹#›</a:t>
            </a:fld>
            <a:endParaRPr lang="zh-CN" altLang="zh-CN"/>
          </a:p>
        </p:txBody>
      </p:sp>
    </p:spTree>
    <p:extLst>
      <p:ext uri="{BB962C8B-B14F-4D97-AF65-F5344CB8AC3E}">
        <p14:creationId xmlns:p14="http://schemas.microsoft.com/office/powerpoint/2010/main" val="3347164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3C7378D-6A18-D763-376A-1C02518DF28F}"/>
              </a:ext>
            </a:extLst>
          </p:cNvPr>
          <p:cNvSpPr>
            <a:spLocks noGrp="1" noChangeArrowheads="1"/>
          </p:cNvSpPr>
          <p:nvPr>
            <p:ph type="title" idx="4294967295"/>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CC3CAC66-3CB1-A997-7258-6643F8B31BE6}"/>
              </a:ext>
            </a:extLst>
          </p:cNvPr>
          <p:cNvSpPr>
            <a:spLocks noGrp="1" noChangeArrowheads="1"/>
          </p:cNvSpPr>
          <p:nvPr>
            <p:ph type="body" idx="4294967295"/>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31EAECA7-5B9F-04B5-244A-322128313267}"/>
              </a:ext>
            </a:extLst>
          </p:cNvPr>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a:extLst>
              <a:ext uri="{FF2B5EF4-FFF2-40B4-BE49-F238E27FC236}">
                <a16:creationId xmlns:a16="http://schemas.microsoft.com/office/drawing/2014/main" id="{B9F81262-8F90-238F-8323-4DCB0317D008}"/>
              </a:ext>
            </a:extLst>
          </p:cNvPr>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 name="Rectangle 6">
            <a:extLst>
              <a:ext uri="{FF2B5EF4-FFF2-40B4-BE49-F238E27FC236}">
                <a16:creationId xmlns:a16="http://schemas.microsoft.com/office/drawing/2014/main" id="{66D57039-C64A-4F6F-B7D2-C5207D921C4E}"/>
              </a:ext>
            </a:extLst>
          </p:cNvPr>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endParaRPr lang="en-US" altLang="zh-CN"/>
          </a:p>
        </p:txBody>
      </p:sp>
      <p:sp>
        <p:nvSpPr>
          <p:cNvPr id="5127" name="Rectangle 7">
            <a:extLst>
              <a:ext uri="{FF2B5EF4-FFF2-40B4-BE49-F238E27FC236}">
                <a16:creationId xmlns:a16="http://schemas.microsoft.com/office/drawing/2014/main" id="{639D9F3D-BA2A-93A5-E4BA-8196DA07BAFA}"/>
              </a:ext>
            </a:extLst>
          </p:cNvPr>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a:defRPr/>
            </a:pPr>
            <a:endParaRPr lang="en-US" altLang="zh-CN"/>
          </a:p>
        </p:txBody>
      </p:sp>
      <p:sp>
        <p:nvSpPr>
          <p:cNvPr id="5128" name="Rectangle 8">
            <a:extLst>
              <a:ext uri="{FF2B5EF4-FFF2-40B4-BE49-F238E27FC236}">
                <a16:creationId xmlns:a16="http://schemas.microsoft.com/office/drawing/2014/main" id="{8B7DE7DE-7145-1123-43CE-F89E0900D902}"/>
              </a:ext>
            </a:extLst>
          </p:cNvPr>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200" noProof="1" smtClean="0"/>
            </a:lvl1pPr>
          </a:lstStyle>
          <a:p>
            <a:pPr>
              <a:defRPr/>
            </a:pPr>
            <a:fld id="{FB27D962-B64F-40EB-8200-DE485C075BBD}" type="slidenum">
              <a:rPr altLang="zh-CN"/>
              <a:pPr>
                <a:defRPr/>
              </a:pPr>
              <a:t>‹#›</a:t>
            </a:fld>
            <a:endParaRPr lang="zh-CN" altLang="zh-CN"/>
          </a:p>
        </p:txBody>
      </p:sp>
    </p:spTree>
  </p:cSld>
  <p:clrMap bg1="lt1" tx1="dk1" bg2="lt2" tx2="dk2" accent1="accent1" accent2="accent2" accent3="accent3" accent4="accent4" accent5="accent5" accent6="accent6" hlink="hlink" folHlink="folHlink"/>
  <p:sldLayoutIdLst>
    <p:sldLayoutId id="2147483709"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wmf"/></Relationships>
</file>

<file path=ppt/slides/_rels/slide1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wmf"/><Relationship Id="rId5" Type="http://schemas.openxmlformats.org/officeDocument/2006/relationships/oleObject" Target="../embeddings/oleObject12.bin"/><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7.wmf"/><Relationship Id="rId5" Type="http://schemas.openxmlformats.org/officeDocument/2006/relationships/oleObject" Target="../embeddings/oleObject15.bin"/><Relationship Id="rId4" Type="http://schemas.openxmlformats.org/officeDocument/2006/relationships/image" Target="../media/image16.wmf"/></Relationships>
</file>

<file path=ppt/slides/_rels/slide17.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17.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9.bin"/></Relationships>
</file>

<file path=ppt/slides/_rels/slide1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21.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3.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wmf"/><Relationship Id="rId5" Type="http://schemas.openxmlformats.org/officeDocument/2006/relationships/oleObject" Target="../embeddings/oleObject25.bin"/><Relationship Id="rId4" Type="http://schemas.openxmlformats.org/officeDocument/2006/relationships/image" Target="../media/image26.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8.wmf"/></Relationships>
</file>

<file path=ppt/slides/_rels/slide21.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28.bin"/><Relationship Id="rId4" Type="http://schemas.openxmlformats.org/officeDocument/2006/relationships/image" Target="../media/image29.wmf"/></Relationships>
</file>

<file path=ppt/slides/_rels/slide22.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6.wmf"/><Relationship Id="rId2" Type="http://schemas.openxmlformats.org/officeDocument/2006/relationships/notesSlide" Target="../notesSlides/notesSlide18.xml"/><Relationship Id="rId16" Type="http://schemas.openxmlformats.org/officeDocument/2006/relationships/image" Target="../media/image38.wmf"/><Relationship Id="rId1" Type="http://schemas.openxmlformats.org/officeDocument/2006/relationships/slideLayout" Target="../slideLayouts/slideLayout7.xml"/><Relationship Id="rId6" Type="http://schemas.openxmlformats.org/officeDocument/2006/relationships/image" Target="../media/image33.w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3.bin"/><Relationship Id="rId14" Type="http://schemas.openxmlformats.org/officeDocument/2006/relationships/image" Target="../media/image37.wmf"/></Relationships>
</file>

<file path=ppt/slides/_rels/slide23.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3.wmf"/><Relationship Id="rId2" Type="http://schemas.openxmlformats.org/officeDocument/2006/relationships/notesSlide" Target="../notesSlides/notesSlide19.xml"/><Relationship Id="rId16" Type="http://schemas.openxmlformats.org/officeDocument/2006/relationships/image" Target="../media/image45.wmf"/><Relationship Id="rId1" Type="http://schemas.openxmlformats.org/officeDocument/2006/relationships/slideLayout" Target="../slideLayouts/slideLayout7.xml"/><Relationship Id="rId6" Type="http://schemas.openxmlformats.org/officeDocument/2006/relationships/image" Target="../media/image40.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40.bin"/><Relationship Id="rId14" Type="http://schemas.openxmlformats.org/officeDocument/2006/relationships/image" Target="../media/image44.wmf"/></Relationships>
</file>

<file path=ppt/slides/_rels/slide24.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49.bin"/><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48.wmf"/><Relationship Id="rId2" Type="http://schemas.openxmlformats.org/officeDocument/2006/relationships/notesSlide" Target="../notesSlides/notesSlide20.xml"/><Relationship Id="rId16" Type="http://schemas.openxmlformats.org/officeDocument/2006/relationships/image" Target="../media/image50.wmf"/><Relationship Id="rId1" Type="http://schemas.openxmlformats.org/officeDocument/2006/relationships/slideLayout" Target="../slideLayouts/slideLayout7.xml"/><Relationship Id="rId6" Type="http://schemas.openxmlformats.org/officeDocument/2006/relationships/image" Target="../media/image40.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47.wmf"/><Relationship Id="rId4" Type="http://schemas.openxmlformats.org/officeDocument/2006/relationships/image" Target="../media/image46.wmf"/><Relationship Id="rId9" Type="http://schemas.openxmlformats.org/officeDocument/2006/relationships/oleObject" Target="../embeddings/oleObject47.bin"/><Relationship Id="rId14" Type="http://schemas.openxmlformats.org/officeDocument/2006/relationships/image" Target="../media/image49.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2.wmf"/><Relationship Id="rId5" Type="http://schemas.openxmlformats.org/officeDocument/2006/relationships/oleObject" Target="../embeddings/oleObject52.bin"/><Relationship Id="rId4" Type="http://schemas.openxmlformats.org/officeDocument/2006/relationships/image" Target="../media/image51.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3.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55.wmf"/><Relationship Id="rId5" Type="http://schemas.openxmlformats.org/officeDocument/2006/relationships/oleObject" Target="../embeddings/oleObject56.bin"/><Relationship Id="rId4" Type="http://schemas.openxmlformats.org/officeDocument/2006/relationships/image" Target="../media/image54.wmf"/></Relationships>
</file>

<file path=ppt/slides/_rels/slide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oleObject" Target="../embeddings/oleObject58.bin"/><Relationship Id="rId4" Type="http://schemas.openxmlformats.org/officeDocument/2006/relationships/image" Target="../media/image57.wmf"/><Relationship Id="rId9" Type="http://schemas.openxmlformats.org/officeDocument/2006/relationships/image" Target="../media/image60.emf"/></Relationships>
</file>

<file path=ppt/slides/_rels/slide33.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2.wmf"/><Relationship Id="rId5" Type="http://schemas.openxmlformats.org/officeDocument/2006/relationships/oleObject" Target="../embeddings/oleObject61.bin"/><Relationship Id="rId4" Type="http://schemas.openxmlformats.org/officeDocument/2006/relationships/image" Target="../media/image61.wmf"/><Relationship Id="rId9" Type="http://schemas.openxmlformats.org/officeDocument/2006/relationships/image" Target="../media/image60.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65.wmf"/><Relationship Id="rId5" Type="http://schemas.openxmlformats.org/officeDocument/2006/relationships/oleObject" Target="../embeddings/oleObject64.bin"/><Relationship Id="rId4" Type="http://schemas.openxmlformats.org/officeDocument/2006/relationships/image" Target="../media/image64.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67.wmf"/><Relationship Id="rId5" Type="http://schemas.openxmlformats.org/officeDocument/2006/relationships/oleObject" Target="../embeddings/oleObject66.bin"/><Relationship Id="rId4" Type="http://schemas.openxmlformats.org/officeDocument/2006/relationships/image" Target="../media/image66.wmf"/></Relationships>
</file>

<file path=ppt/slides/_rels/slide37.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67.bin"/><Relationship Id="rId7" Type="http://schemas.openxmlformats.org/officeDocument/2006/relationships/oleObject" Target="../embeddings/oleObject68.bin"/><Relationship Id="rId12" Type="http://schemas.openxmlformats.org/officeDocument/2006/relationships/image" Target="../media/image70.wmf"/><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66.wmf"/><Relationship Id="rId11" Type="http://schemas.openxmlformats.org/officeDocument/2006/relationships/oleObject" Target="../embeddings/oleObject70.bin"/><Relationship Id="rId5" Type="http://schemas.openxmlformats.org/officeDocument/2006/relationships/oleObject" Target="../embeddings/oleObject65.bin"/><Relationship Id="rId10" Type="http://schemas.openxmlformats.org/officeDocument/2006/relationships/image" Target="../media/image69.wmf"/><Relationship Id="rId4" Type="http://schemas.openxmlformats.org/officeDocument/2006/relationships/image" Target="../media/image68.wmf"/><Relationship Id="rId9" Type="http://schemas.openxmlformats.org/officeDocument/2006/relationships/oleObject" Target="../embeddings/oleObject69.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oleObject" Target="../embeddings/oleObject71.bin"/><Relationship Id="rId7" Type="http://schemas.openxmlformats.org/officeDocument/2006/relationships/image" Target="../media/image73.jpe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72.wmf"/><Relationship Id="rId5" Type="http://schemas.openxmlformats.org/officeDocument/2006/relationships/oleObject" Target="../embeddings/oleObject72.bin"/><Relationship Id="rId4" Type="http://schemas.openxmlformats.org/officeDocument/2006/relationships/image" Target="../media/image71.wmf"/><Relationship Id="rId9" Type="http://schemas.openxmlformats.org/officeDocument/2006/relationships/image" Target="../media/image74.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77.wmf"/><Relationship Id="rId11" Type="http://schemas.openxmlformats.org/officeDocument/2006/relationships/image" Target="../media/image79.png"/><Relationship Id="rId5" Type="http://schemas.openxmlformats.org/officeDocument/2006/relationships/oleObject" Target="../embeddings/oleObject75.bin"/><Relationship Id="rId4" Type="http://schemas.openxmlformats.org/officeDocument/2006/relationships/image" Target="../media/image76.wmf"/><Relationship Id="rId9" Type="http://schemas.openxmlformats.org/officeDocument/2006/relationships/customXml" Target="../ink/ink1.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79.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80.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oleObject" Target="../embeddings/oleObject79.bin"/><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2.xml.rels><?xml version="1.0" encoding="UTF-8" standalone="yes"?>
<Relationships xmlns="http://schemas.openxmlformats.org/package/2006/relationships"><Relationship Id="rId3" Type="http://schemas.openxmlformats.org/officeDocument/2006/relationships/image" Target="../media/image83.wmf"/><Relationship Id="rId7" Type="http://schemas.openxmlformats.org/officeDocument/2006/relationships/image" Target="../media/image7.wmf"/><Relationship Id="rId2"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6.w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框 1">
            <a:extLst>
              <a:ext uri="{FF2B5EF4-FFF2-40B4-BE49-F238E27FC236}">
                <a16:creationId xmlns:a16="http://schemas.microsoft.com/office/drawing/2014/main" id="{5EDA77CE-8D7D-064C-78CE-1355B3CF9B34}"/>
              </a:ext>
            </a:extLst>
          </p:cNvPr>
          <p:cNvSpPr txBox="1">
            <a:spLocks noChangeArrowheads="1"/>
          </p:cNvSpPr>
          <p:nvPr/>
        </p:nvSpPr>
        <p:spPr bwMode="auto">
          <a:xfrm>
            <a:off x="1042988" y="692150"/>
            <a:ext cx="29543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600" dirty="0"/>
              <a:t>上节知识要点</a:t>
            </a:r>
          </a:p>
        </p:txBody>
      </p:sp>
      <p:sp>
        <p:nvSpPr>
          <p:cNvPr id="4" name="文本框 3">
            <a:extLst>
              <a:ext uri="{FF2B5EF4-FFF2-40B4-BE49-F238E27FC236}">
                <a16:creationId xmlns:a16="http://schemas.microsoft.com/office/drawing/2014/main" id="{5A0841FB-A5D2-01F2-8AE7-08C81645AA25}"/>
              </a:ext>
            </a:extLst>
          </p:cNvPr>
          <p:cNvSpPr txBox="1">
            <a:spLocks noChangeArrowheads="1"/>
          </p:cNvSpPr>
          <p:nvPr/>
        </p:nvSpPr>
        <p:spPr bwMode="auto">
          <a:xfrm flipH="1">
            <a:off x="1020147" y="2019301"/>
            <a:ext cx="7200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控制系统的动态性能指标与系统参数的关系</a:t>
            </a:r>
          </a:p>
        </p:txBody>
      </p:sp>
      <p:sp>
        <p:nvSpPr>
          <p:cNvPr id="5" name="文本框 4">
            <a:extLst>
              <a:ext uri="{FF2B5EF4-FFF2-40B4-BE49-F238E27FC236}">
                <a16:creationId xmlns:a16="http://schemas.microsoft.com/office/drawing/2014/main" id="{E5B61349-77AD-E96D-54B2-6D4659E87896}"/>
              </a:ext>
            </a:extLst>
          </p:cNvPr>
          <p:cNvSpPr txBox="1">
            <a:spLocks noChangeArrowheads="1"/>
          </p:cNvSpPr>
          <p:nvPr/>
        </p:nvSpPr>
        <p:spPr bwMode="auto">
          <a:xfrm flipH="1">
            <a:off x="1010798" y="3276668"/>
            <a:ext cx="410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主导极点</a:t>
            </a:r>
          </a:p>
        </p:txBody>
      </p:sp>
      <p:sp>
        <p:nvSpPr>
          <p:cNvPr id="6" name="文本框 5">
            <a:extLst>
              <a:ext uri="{FF2B5EF4-FFF2-40B4-BE49-F238E27FC236}">
                <a16:creationId xmlns:a16="http://schemas.microsoft.com/office/drawing/2014/main" id="{B085A1F4-6B02-FA6A-9217-5E023875AD54}"/>
              </a:ext>
            </a:extLst>
          </p:cNvPr>
          <p:cNvSpPr txBox="1">
            <a:spLocks noChangeArrowheads="1"/>
          </p:cNvSpPr>
          <p:nvPr/>
        </p:nvSpPr>
        <p:spPr bwMode="auto">
          <a:xfrm flipH="1">
            <a:off x="1008331" y="3970781"/>
            <a:ext cx="410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偶极子</a:t>
            </a:r>
          </a:p>
        </p:txBody>
      </p:sp>
      <p:sp>
        <p:nvSpPr>
          <p:cNvPr id="7" name="文本框 6">
            <a:extLst>
              <a:ext uri="{FF2B5EF4-FFF2-40B4-BE49-F238E27FC236}">
                <a16:creationId xmlns:a16="http://schemas.microsoft.com/office/drawing/2014/main" id="{F51B9DDE-9759-1888-D33D-D44B10465AB6}"/>
              </a:ext>
            </a:extLst>
          </p:cNvPr>
          <p:cNvSpPr txBox="1">
            <a:spLocks noChangeArrowheads="1"/>
          </p:cNvSpPr>
          <p:nvPr/>
        </p:nvSpPr>
        <p:spPr bwMode="auto">
          <a:xfrm flipH="1">
            <a:off x="1020147" y="4581128"/>
            <a:ext cx="6110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高阶系统的降阶处理</a:t>
            </a:r>
          </a:p>
        </p:txBody>
      </p:sp>
      <p:sp>
        <p:nvSpPr>
          <p:cNvPr id="8" name="文本框 7">
            <a:extLst>
              <a:ext uri="{FF2B5EF4-FFF2-40B4-BE49-F238E27FC236}">
                <a16:creationId xmlns:a16="http://schemas.microsoft.com/office/drawing/2014/main" id="{F51B9DDE-9759-1888-D33D-D44B10465AB6}"/>
              </a:ext>
            </a:extLst>
          </p:cNvPr>
          <p:cNvSpPr txBox="1">
            <a:spLocks noChangeArrowheads="1"/>
          </p:cNvSpPr>
          <p:nvPr/>
        </p:nvSpPr>
        <p:spPr bwMode="auto">
          <a:xfrm flipH="1">
            <a:off x="1010798" y="2630303"/>
            <a:ext cx="6110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高阶系统的时域响应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
            <a:extLst>
              <a:ext uri="{FF2B5EF4-FFF2-40B4-BE49-F238E27FC236}">
                <a16:creationId xmlns:a16="http://schemas.microsoft.com/office/drawing/2014/main" id="{004050A5-878C-1976-7D4B-337068CF0253}"/>
              </a:ext>
            </a:extLst>
          </p:cNvPr>
          <p:cNvSpPr>
            <a:spLocks noChangeArrowheads="1"/>
          </p:cNvSpPr>
          <p:nvPr/>
        </p:nvSpPr>
        <p:spPr bwMode="auto">
          <a:xfrm>
            <a:off x="755650" y="981075"/>
            <a:ext cx="57912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zh-CN" altLang="en-US" sz="2800">
                <a:latin typeface="Times New Roman" panose="02020603050405020304" pitchFamily="18" charset="0"/>
                <a:ea typeface="黑体" panose="02010609060101010101" pitchFamily="49" charset="-122"/>
              </a:rPr>
              <a:t>小结</a:t>
            </a:r>
          </a:p>
        </p:txBody>
      </p:sp>
      <p:sp>
        <p:nvSpPr>
          <p:cNvPr id="10243" name="TextBox 2">
            <a:extLst>
              <a:ext uri="{FF2B5EF4-FFF2-40B4-BE49-F238E27FC236}">
                <a16:creationId xmlns:a16="http://schemas.microsoft.com/office/drawing/2014/main" id="{98ED7A45-BFB6-A3A0-98CC-88B7B395342D}"/>
              </a:ext>
            </a:extLst>
          </p:cNvPr>
          <p:cNvSpPr txBox="1">
            <a:spLocks noChangeArrowheads="1"/>
          </p:cNvSpPr>
          <p:nvPr/>
        </p:nvSpPr>
        <p:spPr bwMode="auto">
          <a:xfrm>
            <a:off x="900113" y="1847850"/>
            <a:ext cx="73437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zh-CN" altLang="en-US" sz="2400"/>
              <a:t>控制系统的</a:t>
            </a:r>
            <a:r>
              <a:rPr lang="zh-CN" altLang="en-US" sz="2400">
                <a:solidFill>
                  <a:srgbClr val="FF0000"/>
                </a:solidFill>
              </a:rPr>
              <a:t>阶跃</a:t>
            </a:r>
            <a:r>
              <a:rPr lang="zh-CN" altLang="en-US" sz="2400"/>
              <a:t>响应曲线由稳态分量和暂态分量两部分组成。</a:t>
            </a:r>
            <a:endParaRPr lang="en-US" altLang="zh-CN" sz="2400"/>
          </a:p>
          <a:p>
            <a:pPr eaLnBrk="1" hangingPunct="1">
              <a:buFont typeface="Wingdings" panose="05000000000000000000" pitchFamily="2" charset="2"/>
              <a:buChar char="ü"/>
            </a:pPr>
            <a:r>
              <a:rPr lang="zh-CN" altLang="en-US" sz="2400"/>
              <a:t>一阶系统阶</a:t>
            </a:r>
            <a:r>
              <a:rPr lang="zh-CN" altLang="en-US" sz="2400">
                <a:solidFill>
                  <a:srgbClr val="FF0000"/>
                </a:solidFill>
              </a:rPr>
              <a:t>跃响</a:t>
            </a:r>
            <a:r>
              <a:rPr lang="zh-CN" altLang="en-US" sz="2400"/>
              <a:t>应曲线为单调上升的指数曲线，时间常数</a:t>
            </a:r>
            <a:r>
              <a:rPr lang="en-US" altLang="zh-CN" sz="2400"/>
              <a:t>T</a:t>
            </a:r>
            <a:r>
              <a:rPr lang="zh-CN" altLang="en-US" sz="2400"/>
              <a:t>越小，曲线越陡，响应速度越快。</a:t>
            </a:r>
            <a:endParaRPr lang="en-US" altLang="zh-CN" sz="2400"/>
          </a:p>
          <a:p>
            <a:pPr eaLnBrk="1" hangingPunct="1">
              <a:buFont typeface="Wingdings" panose="05000000000000000000" pitchFamily="2" charset="2"/>
              <a:buChar char="ü"/>
            </a:pPr>
            <a:r>
              <a:rPr lang="zh-CN" altLang="en-US" sz="2400"/>
              <a:t>二阶系统的</a:t>
            </a:r>
            <a:r>
              <a:rPr lang="zh-CN" altLang="en-US" sz="2400">
                <a:solidFill>
                  <a:srgbClr val="FF0000"/>
                </a:solidFill>
              </a:rPr>
              <a:t>阶跃</a:t>
            </a:r>
            <a:r>
              <a:rPr lang="zh-CN" altLang="en-US" sz="2400"/>
              <a:t>响应曲线类型与极点的位置对应，或者说与阻尼比取值有关。</a:t>
            </a:r>
          </a:p>
        </p:txBody>
      </p:sp>
      <p:sp>
        <p:nvSpPr>
          <p:cNvPr id="76804" name="矩形 3">
            <a:extLst>
              <a:ext uri="{FF2B5EF4-FFF2-40B4-BE49-F238E27FC236}">
                <a16:creationId xmlns:a16="http://schemas.microsoft.com/office/drawing/2014/main" id="{A7904E63-B34E-467C-443C-168D47017DF9}"/>
              </a:ext>
            </a:extLst>
          </p:cNvPr>
          <p:cNvSpPr>
            <a:spLocks noChangeArrowheads="1"/>
          </p:cNvSpPr>
          <p:nvPr/>
        </p:nvSpPr>
        <p:spPr bwMode="auto">
          <a:xfrm>
            <a:off x="900113" y="4156075"/>
            <a:ext cx="7704137"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zh-CN" altLang="en-US" sz="2400">
                <a:latin typeface="宋体" panose="02010600030101010101" pitchFamily="2" charset="-122"/>
              </a:rPr>
              <a:t>高阶系统的单位</a:t>
            </a:r>
            <a:r>
              <a:rPr lang="zh-CN" altLang="en-US" sz="2400">
                <a:solidFill>
                  <a:srgbClr val="FF0000"/>
                </a:solidFill>
                <a:latin typeface="宋体" panose="02010600030101010101" pitchFamily="2" charset="-122"/>
              </a:rPr>
              <a:t>阶跃</a:t>
            </a:r>
            <a:r>
              <a:rPr lang="zh-CN" altLang="en-US" sz="2400">
                <a:latin typeface="宋体" panose="02010600030101010101" pitchFamily="2" charset="-122"/>
              </a:rPr>
              <a:t>响应由一阶和二阶系统的响应函数叠加而成。</a:t>
            </a:r>
            <a:r>
              <a:rPr lang="zh-CN" altLang="en-US" sz="2400">
                <a:latin typeface="Times New Roman" panose="02020603050405020304" pitchFamily="18" charset="0"/>
              </a:rPr>
              <a:t>如果能够找到主导极点（通常选为一对共轭复数极点， 即二阶系统），就可以忽略其它远离虚轴的极点和偶极子的影响，近似为二阶系统进行处理。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blinds(horizontal)">
                                      <p:cBhvr>
                                        <p:cTn id="7"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a:extLst>
              <a:ext uri="{FF2B5EF4-FFF2-40B4-BE49-F238E27FC236}">
                <a16:creationId xmlns:a16="http://schemas.microsoft.com/office/drawing/2014/main" id="{0272CDBF-0172-D728-BE6C-42BB6EFC424C}"/>
              </a:ext>
            </a:extLst>
          </p:cNvPr>
          <p:cNvSpPr>
            <a:spLocks noChangeArrowheads="1"/>
          </p:cNvSpPr>
          <p:nvPr/>
        </p:nvSpPr>
        <p:spPr bwMode="auto">
          <a:xfrm>
            <a:off x="1116013" y="1746250"/>
            <a:ext cx="7391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a:latin typeface="宋体" panose="02010600030101010101" pitchFamily="2" charset="-122"/>
              </a:rPr>
              <a:t> </a:t>
            </a:r>
            <a:r>
              <a:rPr lang="zh-CN" altLang="en-US" sz="2400">
                <a:latin typeface="Times New Roman" panose="02020603050405020304" pitchFamily="18" charset="0"/>
              </a:rPr>
              <a:t>二阶系统的动态性能由</a:t>
            </a:r>
            <a:r>
              <a:rPr lang="zh-CN" altLang="en-US"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r>
              <a:rPr lang="zh-CN" altLang="en-US" sz="2400">
                <a:latin typeface="Times New Roman" panose="02020603050405020304" pitchFamily="18" charset="0"/>
              </a:rPr>
              <a:t>和</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决定。</a:t>
            </a:r>
            <a:endParaRPr lang="zh-CN" altLang="en-US" sz="2400">
              <a:latin typeface="宋体" panose="02010600030101010101" pitchFamily="2" charset="-122"/>
            </a:endParaRPr>
          </a:p>
        </p:txBody>
      </p:sp>
      <p:sp>
        <p:nvSpPr>
          <p:cNvPr id="145413" name="Rectangle 5">
            <a:extLst>
              <a:ext uri="{FF2B5EF4-FFF2-40B4-BE49-F238E27FC236}">
                <a16:creationId xmlns:a16="http://schemas.microsoft.com/office/drawing/2014/main" id="{4287C380-8E90-BE40-3C87-51BC6380B8A2}"/>
              </a:ext>
            </a:extLst>
          </p:cNvPr>
          <p:cNvSpPr>
            <a:spLocks noChangeArrowheads="1"/>
          </p:cNvSpPr>
          <p:nvPr/>
        </p:nvSpPr>
        <p:spPr bwMode="auto">
          <a:xfrm>
            <a:off x="1116013" y="4365625"/>
            <a:ext cx="7391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a:latin typeface="宋体" panose="02010600030101010101" pitchFamily="2" charset="-122"/>
              </a:rPr>
              <a:t> </a:t>
            </a:r>
            <a:r>
              <a:rPr lang="zh-CN" altLang="en-US" sz="2400">
                <a:latin typeface="Times New Roman" panose="02020603050405020304" pitchFamily="18" charset="0"/>
              </a:rPr>
              <a:t>通常根据允许的最大超调量来确定</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一般选择在</a:t>
            </a:r>
            <a:r>
              <a:rPr lang="en-US" altLang="zh-CN" sz="2400">
                <a:latin typeface="Times New Roman" panose="02020603050405020304" pitchFamily="18" charset="0"/>
              </a:rPr>
              <a:t>0.4~0.8</a:t>
            </a:r>
            <a:r>
              <a:rPr lang="zh-CN" altLang="en-US" sz="2400">
                <a:latin typeface="Times New Roman" panose="02020603050405020304" pitchFamily="18" charset="0"/>
              </a:rPr>
              <a:t>之间，然后再调整</a:t>
            </a:r>
            <a:r>
              <a:rPr lang="zh-CN" altLang="en-US"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r>
              <a:rPr lang="zh-CN" altLang="en-US" sz="2400">
                <a:latin typeface="Times New Roman" panose="02020603050405020304" pitchFamily="18" charset="0"/>
              </a:rPr>
              <a:t>以获得合适的瞬态响应时间。</a:t>
            </a:r>
            <a:endParaRPr lang="zh-CN" altLang="en-US" sz="2400">
              <a:latin typeface="宋体" panose="02010600030101010101" pitchFamily="2" charset="-122"/>
            </a:endParaRPr>
          </a:p>
        </p:txBody>
      </p:sp>
      <p:sp>
        <p:nvSpPr>
          <p:cNvPr id="145414" name="Rectangle 6">
            <a:extLst>
              <a:ext uri="{FF2B5EF4-FFF2-40B4-BE49-F238E27FC236}">
                <a16:creationId xmlns:a16="http://schemas.microsoft.com/office/drawing/2014/main" id="{79BC6617-0E92-FD3D-D095-734E6532686C}"/>
              </a:ext>
            </a:extLst>
          </p:cNvPr>
          <p:cNvSpPr>
            <a:spLocks noChangeArrowheads="1"/>
          </p:cNvSpPr>
          <p:nvPr/>
        </p:nvSpPr>
        <p:spPr bwMode="auto">
          <a:xfrm>
            <a:off x="1116013" y="3382963"/>
            <a:ext cx="72009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i="1">
                <a:latin typeface="宋体" panose="02010600030101010101" pitchFamily="2" charset="-122"/>
              </a:rPr>
              <a:t> </a:t>
            </a:r>
            <a:r>
              <a:rPr lang="en-US" altLang="zh-CN"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一定，</a:t>
            </a:r>
            <a:r>
              <a:rPr lang="zh-CN" altLang="en-US"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r>
              <a:rPr lang="zh-CN" altLang="en-US" sz="2400">
                <a:latin typeface="Times New Roman" panose="02020603050405020304" pitchFamily="18" charset="0"/>
              </a:rPr>
              <a:t>越大，系统响应快速性越好， </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r</a:t>
            </a:r>
            <a:r>
              <a:rPr lang="zh-CN" altLang="en-US" sz="2400">
                <a:latin typeface="宋体" panose="02010600030101010101" pitchFamily="2" charset="-122"/>
              </a:rPr>
              <a:t>、</a:t>
            </a:r>
            <a:r>
              <a:rPr lang="zh-CN" altLang="en-US" sz="2400" i="1">
                <a:latin typeface="Times New Roman" panose="02020603050405020304" pitchFamily="18" charset="0"/>
              </a:rPr>
              <a:t> </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p</a:t>
            </a:r>
            <a:r>
              <a:rPr lang="zh-CN" altLang="en-US" sz="2400">
                <a:latin typeface="宋体" panose="02010600030101010101" pitchFamily="2" charset="-122"/>
              </a:rPr>
              <a:t>、</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s</a:t>
            </a:r>
            <a:r>
              <a:rPr lang="zh-CN" altLang="en-US" sz="2400">
                <a:latin typeface="宋体" panose="02010600030101010101" pitchFamily="2" charset="-122"/>
              </a:rPr>
              <a:t>越小</a:t>
            </a:r>
            <a:r>
              <a:rPr lang="zh-CN" altLang="en-US" sz="2400">
                <a:latin typeface="Times New Roman" panose="02020603050405020304" pitchFamily="18" charset="0"/>
              </a:rPr>
              <a:t>。</a:t>
            </a:r>
          </a:p>
        </p:txBody>
      </p:sp>
      <p:sp>
        <p:nvSpPr>
          <p:cNvPr id="145415" name="Rectangle 7">
            <a:extLst>
              <a:ext uri="{FF2B5EF4-FFF2-40B4-BE49-F238E27FC236}">
                <a16:creationId xmlns:a16="http://schemas.microsoft.com/office/drawing/2014/main" id="{34641ED6-73D6-9E18-5E1D-D7E07DC823B0}"/>
              </a:ext>
            </a:extLst>
          </p:cNvPr>
          <p:cNvSpPr>
            <a:spLocks noChangeArrowheads="1"/>
          </p:cNvSpPr>
          <p:nvPr/>
        </p:nvSpPr>
        <p:spPr bwMode="auto">
          <a:xfrm>
            <a:off x="1116013" y="2349500"/>
            <a:ext cx="7559675"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a:latin typeface="宋体" panose="02010600030101010101" pitchFamily="2" charset="-122"/>
              </a:rPr>
              <a:t> </a:t>
            </a:r>
            <a:r>
              <a:rPr lang="zh-CN" altLang="en-US" sz="2400">
                <a:latin typeface="Times New Roman" panose="02020603050405020304" pitchFamily="18" charset="0"/>
              </a:rPr>
              <a:t>增加</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可以降低振荡，减小超调量</a:t>
            </a:r>
            <a:r>
              <a:rPr lang="en-US" altLang="zh-CN" sz="2400" i="1">
                <a:latin typeface="Times New Roman" panose="02020603050405020304" pitchFamily="18" charset="0"/>
              </a:rPr>
              <a:t>M</a:t>
            </a:r>
            <a:r>
              <a:rPr lang="en-US" altLang="zh-CN" sz="2400" i="1" baseline="-18000">
                <a:latin typeface="Times New Roman" panose="02020603050405020304" pitchFamily="18" charset="0"/>
              </a:rPr>
              <a:t>p </a:t>
            </a:r>
            <a:r>
              <a:rPr lang="zh-CN" altLang="en-US" sz="2400">
                <a:latin typeface="Times New Roman" panose="02020603050405020304" pitchFamily="18" charset="0"/>
              </a:rPr>
              <a:t>和振荡次数</a:t>
            </a:r>
            <a:r>
              <a:rPr lang="en-US" altLang="zh-CN" sz="2400" i="1">
                <a:latin typeface="Times New Roman" panose="02020603050405020304" pitchFamily="18" charset="0"/>
              </a:rPr>
              <a:t>N </a:t>
            </a:r>
            <a:r>
              <a:rPr lang="zh-CN" altLang="en-US" sz="2400">
                <a:latin typeface="宋体" panose="02010600030101010101" pitchFamily="2" charset="-122"/>
              </a:rPr>
              <a:t>，但系统快速性降低，</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r</a:t>
            </a:r>
            <a:r>
              <a:rPr lang="zh-CN" altLang="en-US" sz="2400">
                <a:latin typeface="宋体" panose="02010600030101010101" pitchFamily="2" charset="-122"/>
              </a:rPr>
              <a:t>、</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p</a:t>
            </a:r>
            <a:r>
              <a:rPr lang="zh-CN" altLang="en-US" sz="2400">
                <a:latin typeface="宋体" panose="02010600030101010101" pitchFamily="2" charset="-122"/>
              </a:rPr>
              <a:t>增加；</a:t>
            </a:r>
          </a:p>
        </p:txBody>
      </p:sp>
      <p:sp>
        <p:nvSpPr>
          <p:cNvPr id="11270" name="TextBox 6">
            <a:extLst>
              <a:ext uri="{FF2B5EF4-FFF2-40B4-BE49-F238E27FC236}">
                <a16:creationId xmlns:a16="http://schemas.microsoft.com/office/drawing/2014/main" id="{FAD5F577-AFB3-34A7-AB6D-3AF0231F268A}"/>
              </a:ext>
            </a:extLst>
          </p:cNvPr>
          <p:cNvSpPr txBox="1">
            <a:spLocks noChangeArrowheads="1"/>
          </p:cNvSpPr>
          <p:nvPr/>
        </p:nvSpPr>
        <p:spPr bwMode="auto">
          <a:xfrm>
            <a:off x="971550" y="404813"/>
            <a:ext cx="7632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zh-CN" altLang="en-US" sz="2400"/>
              <a:t>因为实际系统的阶跃响应往往具有二阶欠阻尼系统响应曲线的形状，所以控制系统的动态性能指标是根据欠阻尼二阶系统的阶跃响应曲线来定义的。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5411"/>
                                        </p:tgtEl>
                                        <p:attrNameLst>
                                          <p:attrName>style.visibility</p:attrName>
                                        </p:attrNameLst>
                                      </p:cBhvr>
                                      <p:to>
                                        <p:strVal val="visible"/>
                                      </p:to>
                                    </p:set>
                                    <p:anim calcmode="lin" valueType="num">
                                      <p:cBhvr additive="base">
                                        <p:cTn id="7" dur="500" fill="hold"/>
                                        <p:tgtEl>
                                          <p:spTgt spid="145411"/>
                                        </p:tgtEl>
                                        <p:attrNameLst>
                                          <p:attrName>ppt_x</p:attrName>
                                        </p:attrNameLst>
                                      </p:cBhvr>
                                      <p:tavLst>
                                        <p:tav tm="0">
                                          <p:val>
                                            <p:strVal val="#ppt_x"/>
                                          </p:val>
                                        </p:tav>
                                        <p:tav tm="100000">
                                          <p:val>
                                            <p:strVal val="#ppt_x"/>
                                          </p:val>
                                        </p:tav>
                                      </p:tavLst>
                                    </p:anim>
                                    <p:anim calcmode="lin" valueType="num">
                                      <p:cBhvr additive="base">
                                        <p:cTn id="8" dur="500" fill="hold"/>
                                        <p:tgtEl>
                                          <p:spTgt spid="1454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5415"/>
                                        </p:tgtEl>
                                        <p:attrNameLst>
                                          <p:attrName>style.visibility</p:attrName>
                                        </p:attrNameLst>
                                      </p:cBhvr>
                                      <p:to>
                                        <p:strVal val="visible"/>
                                      </p:to>
                                    </p:set>
                                    <p:anim calcmode="lin" valueType="num">
                                      <p:cBhvr additive="base">
                                        <p:cTn id="13" dur="500" fill="hold"/>
                                        <p:tgtEl>
                                          <p:spTgt spid="145415"/>
                                        </p:tgtEl>
                                        <p:attrNameLst>
                                          <p:attrName>ppt_x</p:attrName>
                                        </p:attrNameLst>
                                      </p:cBhvr>
                                      <p:tavLst>
                                        <p:tav tm="0">
                                          <p:val>
                                            <p:strVal val="#ppt_x"/>
                                          </p:val>
                                        </p:tav>
                                        <p:tav tm="100000">
                                          <p:val>
                                            <p:strVal val="#ppt_x"/>
                                          </p:val>
                                        </p:tav>
                                      </p:tavLst>
                                    </p:anim>
                                    <p:anim calcmode="lin" valueType="num">
                                      <p:cBhvr additive="base">
                                        <p:cTn id="14" dur="500" fill="hold"/>
                                        <p:tgtEl>
                                          <p:spTgt spid="14541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5414"/>
                                        </p:tgtEl>
                                        <p:attrNameLst>
                                          <p:attrName>style.visibility</p:attrName>
                                        </p:attrNameLst>
                                      </p:cBhvr>
                                      <p:to>
                                        <p:strVal val="visible"/>
                                      </p:to>
                                    </p:set>
                                    <p:anim calcmode="lin" valueType="num">
                                      <p:cBhvr additive="base">
                                        <p:cTn id="19" dur="500" fill="hold"/>
                                        <p:tgtEl>
                                          <p:spTgt spid="145414"/>
                                        </p:tgtEl>
                                        <p:attrNameLst>
                                          <p:attrName>ppt_x</p:attrName>
                                        </p:attrNameLst>
                                      </p:cBhvr>
                                      <p:tavLst>
                                        <p:tav tm="0">
                                          <p:val>
                                            <p:strVal val="#ppt_x"/>
                                          </p:val>
                                        </p:tav>
                                        <p:tav tm="100000">
                                          <p:val>
                                            <p:strVal val="#ppt_x"/>
                                          </p:val>
                                        </p:tav>
                                      </p:tavLst>
                                    </p:anim>
                                    <p:anim calcmode="lin" valueType="num">
                                      <p:cBhvr additive="base">
                                        <p:cTn id="20" dur="500" fill="hold"/>
                                        <p:tgtEl>
                                          <p:spTgt spid="14541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45413"/>
                                        </p:tgtEl>
                                        <p:attrNameLst>
                                          <p:attrName>style.visibility</p:attrName>
                                        </p:attrNameLst>
                                      </p:cBhvr>
                                      <p:to>
                                        <p:strVal val="visible"/>
                                      </p:to>
                                    </p:set>
                                    <p:anim calcmode="lin" valueType="num">
                                      <p:cBhvr additive="base">
                                        <p:cTn id="25" dur="500" fill="hold"/>
                                        <p:tgtEl>
                                          <p:spTgt spid="145413"/>
                                        </p:tgtEl>
                                        <p:attrNameLst>
                                          <p:attrName>ppt_x</p:attrName>
                                        </p:attrNameLst>
                                      </p:cBhvr>
                                      <p:tavLst>
                                        <p:tav tm="0">
                                          <p:val>
                                            <p:strVal val="#ppt_x"/>
                                          </p:val>
                                        </p:tav>
                                        <p:tav tm="100000">
                                          <p:val>
                                            <p:strVal val="#ppt_x"/>
                                          </p:val>
                                        </p:tav>
                                      </p:tavLst>
                                    </p:anim>
                                    <p:anim calcmode="lin" valueType="num">
                                      <p:cBhvr additive="base">
                                        <p:cTn id="26" dur="500" fill="hold"/>
                                        <p:tgtEl>
                                          <p:spTgt spid="145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p:bldP spid="145413" grpId="0"/>
      <p:bldP spid="145414" grpId="0"/>
      <p:bldP spid="1454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29154DA-4443-A7D9-482F-3E444164D7BE}"/>
              </a:ext>
            </a:extLst>
          </p:cNvPr>
          <p:cNvSpPr>
            <a:spLocks noChangeArrowheads="1"/>
          </p:cNvSpPr>
          <p:nvPr/>
        </p:nvSpPr>
        <p:spPr bwMode="auto">
          <a:xfrm>
            <a:off x="395288" y="330200"/>
            <a:ext cx="748982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dirty="0">
                <a:latin typeface="Calibri" panose="020F0502020204030204" pitchFamily="34" charset="0"/>
              </a:rPr>
              <a:t>在阶跃函数输入作用下，阻尼比（   ）的二阶系统，其响应具有等幅振荡性。</a:t>
            </a:r>
          </a:p>
          <a:p>
            <a:pPr eaLnBrk="1" hangingPunct="1"/>
            <a:r>
              <a:rPr lang="en-US" altLang="zh-CN" sz="2400" dirty="0">
                <a:latin typeface="Calibri" panose="020F0502020204030204" pitchFamily="34" charset="0"/>
              </a:rPr>
              <a:t>A</a:t>
            </a:r>
            <a:r>
              <a:rPr lang="zh-CN" altLang="en-US" sz="2400" dirty="0">
                <a:latin typeface="Calibri" panose="020F0502020204030204" pitchFamily="34" charset="0"/>
              </a:rPr>
              <a:t>．</a:t>
            </a:r>
            <a:r>
              <a:rPr lang="en-US" altLang="zh-CN" sz="2400" dirty="0">
                <a:latin typeface="Calibri" panose="020F0502020204030204" pitchFamily="34" charset="0"/>
                <a:sym typeface="Symbol" panose="05050102010706020507" pitchFamily="18" charset="2"/>
              </a:rPr>
              <a:t></a:t>
            </a:r>
            <a:r>
              <a:rPr lang="zh-CN" altLang="en-US" sz="2400" dirty="0">
                <a:latin typeface="Calibri" panose="020F0502020204030204" pitchFamily="34" charset="0"/>
              </a:rPr>
              <a:t>＝</a:t>
            </a:r>
            <a:r>
              <a:rPr lang="en-US" altLang="zh-CN" sz="2400" dirty="0">
                <a:latin typeface="Calibri" panose="020F0502020204030204" pitchFamily="34" charset="0"/>
              </a:rPr>
              <a:t>0    B. </a:t>
            </a:r>
            <a:r>
              <a:rPr lang="en-US" altLang="zh-CN" sz="2400" dirty="0">
                <a:latin typeface="Calibri" panose="020F0502020204030204" pitchFamily="34" charset="0"/>
                <a:sym typeface="Symbol" panose="05050102010706020507" pitchFamily="18" charset="2"/>
              </a:rPr>
              <a:t> </a:t>
            </a:r>
            <a:r>
              <a:rPr lang="en-US" altLang="zh-CN" sz="2400" dirty="0">
                <a:latin typeface="Calibri" panose="020F0502020204030204" pitchFamily="34" charset="0"/>
              </a:rPr>
              <a:t>&gt;1    C. </a:t>
            </a:r>
            <a:r>
              <a:rPr lang="en-US" altLang="zh-CN" sz="2400" dirty="0">
                <a:latin typeface="Calibri" panose="020F0502020204030204" pitchFamily="34" charset="0"/>
                <a:sym typeface="Symbol" panose="05050102010706020507" pitchFamily="18" charset="2"/>
              </a:rPr>
              <a:t> </a:t>
            </a:r>
            <a:r>
              <a:rPr lang="zh-CN" altLang="en-US" sz="2400" dirty="0">
                <a:latin typeface="Calibri" panose="020F0502020204030204" pitchFamily="34" charset="0"/>
              </a:rPr>
              <a:t>＝</a:t>
            </a:r>
            <a:r>
              <a:rPr lang="en-US" altLang="zh-CN" sz="2400" dirty="0">
                <a:latin typeface="Calibri" panose="020F0502020204030204" pitchFamily="34" charset="0"/>
              </a:rPr>
              <a:t>1    D. 0&lt;</a:t>
            </a:r>
            <a:r>
              <a:rPr lang="en-US" altLang="zh-CN" sz="2400" dirty="0">
                <a:latin typeface="Calibri" panose="020F0502020204030204" pitchFamily="34" charset="0"/>
                <a:sym typeface="Symbol" panose="05050102010706020507" pitchFamily="18" charset="2"/>
              </a:rPr>
              <a:t>  </a:t>
            </a:r>
            <a:r>
              <a:rPr lang="en-US" altLang="zh-CN" sz="2400" dirty="0">
                <a:latin typeface="Calibri" panose="020F0502020204030204" pitchFamily="34" charset="0"/>
              </a:rPr>
              <a:t>&lt;1</a:t>
            </a:r>
          </a:p>
        </p:txBody>
      </p:sp>
      <p:sp>
        <p:nvSpPr>
          <p:cNvPr id="5" name="矩形 4">
            <a:extLst>
              <a:ext uri="{FF2B5EF4-FFF2-40B4-BE49-F238E27FC236}">
                <a16:creationId xmlns:a16="http://schemas.microsoft.com/office/drawing/2014/main" id="{22AF4DA6-15A4-4E87-EB0C-200FEEC3DD9A}"/>
              </a:ext>
            </a:extLst>
          </p:cNvPr>
          <p:cNvSpPr>
            <a:spLocks noChangeArrowheads="1"/>
          </p:cNvSpPr>
          <p:nvPr/>
        </p:nvSpPr>
        <p:spPr bwMode="auto">
          <a:xfrm>
            <a:off x="395288" y="1773238"/>
            <a:ext cx="76104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dirty="0">
                <a:latin typeface="Calibri" panose="020F0502020204030204" pitchFamily="34" charset="0"/>
              </a:rPr>
              <a:t>对于典型二阶系统，在欠阻尼状态下，如果增加阻尼比</a:t>
            </a:r>
            <a:r>
              <a:rPr lang="en-US" altLang="zh-CN" sz="2400" dirty="0">
                <a:latin typeface="Calibri" panose="020F0502020204030204" pitchFamily="34" charset="0"/>
                <a:sym typeface="Symbol" panose="05050102010706020507" pitchFamily="18" charset="2"/>
              </a:rPr>
              <a:t></a:t>
            </a:r>
            <a:r>
              <a:rPr lang="zh-CN" altLang="en-US" sz="2400" dirty="0">
                <a:latin typeface="Calibri" panose="020F0502020204030204" pitchFamily="34" charset="0"/>
              </a:rPr>
              <a:t>的数值，则其动态性能指标中的最大超调量将  </a:t>
            </a:r>
            <a:r>
              <a:rPr lang="en-US" altLang="zh-CN" sz="2400" dirty="0">
                <a:latin typeface="Calibri" panose="020F0502020204030204" pitchFamily="34" charset="0"/>
              </a:rPr>
              <a:t>(    )</a:t>
            </a:r>
            <a:r>
              <a:rPr lang="zh-CN" altLang="en-US" sz="2400" dirty="0">
                <a:latin typeface="Calibri" panose="020F0502020204030204" pitchFamily="34" charset="0"/>
              </a:rPr>
              <a:t>    	</a:t>
            </a:r>
            <a:endParaRPr lang="en-US" altLang="zh-CN" sz="2400" dirty="0">
              <a:latin typeface="Calibri" panose="020F0502020204030204" pitchFamily="34" charset="0"/>
            </a:endParaRPr>
          </a:p>
          <a:p>
            <a:pPr eaLnBrk="1" hangingPunct="1"/>
            <a:r>
              <a:rPr lang="en-US" altLang="zh-CN" sz="2400" dirty="0">
                <a:latin typeface="Calibri" panose="020F0502020204030204" pitchFamily="34" charset="0"/>
              </a:rPr>
              <a:t>   A. </a:t>
            </a:r>
            <a:r>
              <a:rPr lang="zh-CN" altLang="en-US" sz="2400" dirty="0">
                <a:latin typeface="Calibri" panose="020F0502020204030204" pitchFamily="34" charset="0"/>
              </a:rPr>
              <a:t>增加	</a:t>
            </a:r>
            <a:r>
              <a:rPr lang="en-US" altLang="zh-CN" sz="2400" dirty="0">
                <a:latin typeface="Calibri" panose="020F0502020204030204" pitchFamily="34" charset="0"/>
              </a:rPr>
              <a:t>B. </a:t>
            </a:r>
            <a:r>
              <a:rPr lang="zh-CN" altLang="en-US" sz="2400" dirty="0">
                <a:latin typeface="Calibri" panose="020F0502020204030204" pitchFamily="34" charset="0"/>
              </a:rPr>
              <a:t>不变     </a:t>
            </a:r>
            <a:r>
              <a:rPr lang="en-US" altLang="zh-CN" sz="2400" dirty="0">
                <a:latin typeface="Calibri" panose="020F0502020204030204" pitchFamily="34" charset="0"/>
              </a:rPr>
              <a:t>C. </a:t>
            </a:r>
            <a:r>
              <a:rPr lang="zh-CN" altLang="en-US" sz="2400" dirty="0">
                <a:latin typeface="Calibri" panose="020F0502020204030204" pitchFamily="34" charset="0"/>
              </a:rPr>
              <a:t>不一定	</a:t>
            </a:r>
            <a:r>
              <a:rPr lang="en-US" altLang="zh-CN" sz="2400" dirty="0">
                <a:latin typeface="Calibri" panose="020F0502020204030204" pitchFamily="34" charset="0"/>
              </a:rPr>
              <a:t>D.	</a:t>
            </a:r>
            <a:r>
              <a:rPr lang="zh-CN" altLang="en-US" sz="2400" dirty="0">
                <a:latin typeface="Calibri" panose="020F0502020204030204" pitchFamily="34" charset="0"/>
              </a:rPr>
              <a:t>减少</a:t>
            </a:r>
          </a:p>
        </p:txBody>
      </p:sp>
      <p:sp>
        <p:nvSpPr>
          <p:cNvPr id="6" name="矩形 5">
            <a:extLst>
              <a:ext uri="{FF2B5EF4-FFF2-40B4-BE49-F238E27FC236}">
                <a16:creationId xmlns:a16="http://schemas.microsoft.com/office/drawing/2014/main" id="{B98FD42B-62C9-5B98-D8A5-09F91FDFE6BD}"/>
              </a:ext>
            </a:extLst>
          </p:cNvPr>
          <p:cNvSpPr>
            <a:spLocks noChangeArrowheads="1"/>
          </p:cNvSpPr>
          <p:nvPr/>
        </p:nvSpPr>
        <p:spPr bwMode="auto">
          <a:xfrm>
            <a:off x="395288" y="3213100"/>
            <a:ext cx="73453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zh-CN" sz="2400">
                <a:latin typeface="Calibri" panose="020F0502020204030204" pitchFamily="34" charset="0"/>
              </a:rPr>
              <a:t>对于典型二阶系统，当阻尼比不变时，如果增加无阻尼振荡频率ω</a:t>
            </a:r>
            <a:r>
              <a:rPr lang="en-US" altLang="zh-CN" sz="2400" baseline="-25000">
                <a:latin typeface="Calibri" panose="020F0502020204030204" pitchFamily="34" charset="0"/>
              </a:rPr>
              <a:t>n</a:t>
            </a:r>
            <a:r>
              <a:rPr lang="zh-CN" altLang="zh-CN" sz="2400">
                <a:latin typeface="Calibri" panose="020F0502020204030204" pitchFamily="34" charset="0"/>
              </a:rPr>
              <a:t>的数值，则其动态性能指标中的调整时间</a:t>
            </a:r>
            <a:r>
              <a:rPr lang="en-US" altLang="zh-CN" sz="2400">
                <a:latin typeface="Calibri" panose="020F0502020204030204" pitchFamily="34" charset="0"/>
              </a:rPr>
              <a:t>t</a:t>
            </a:r>
            <a:r>
              <a:rPr lang="en-US" altLang="zh-CN" sz="2400" baseline="-25000">
                <a:latin typeface="Calibri" panose="020F0502020204030204" pitchFamily="34" charset="0"/>
              </a:rPr>
              <a:t>s</a:t>
            </a:r>
            <a:r>
              <a:rPr lang="en-US" altLang="zh-CN" sz="2400">
                <a:latin typeface="Calibri" panose="020F0502020204030204" pitchFamily="34" charset="0"/>
              </a:rPr>
              <a:t>(     )</a:t>
            </a:r>
            <a:r>
              <a:rPr lang="zh-CN" altLang="zh-CN" sz="2400">
                <a:latin typeface="Calibri" panose="020F0502020204030204" pitchFamily="34" charset="0"/>
              </a:rPr>
              <a:t>。</a:t>
            </a:r>
          </a:p>
          <a:p>
            <a:pPr eaLnBrk="1" hangingPunct="1"/>
            <a:r>
              <a:rPr lang="en-US" altLang="zh-CN" sz="2400">
                <a:latin typeface="Calibri" panose="020F0502020204030204" pitchFamily="34" charset="0"/>
              </a:rPr>
              <a:t>     A. </a:t>
            </a:r>
            <a:r>
              <a:rPr lang="zh-CN" altLang="zh-CN" sz="2400">
                <a:latin typeface="Calibri" panose="020F0502020204030204" pitchFamily="34" charset="0"/>
              </a:rPr>
              <a:t>增加；</a:t>
            </a:r>
            <a:r>
              <a:rPr lang="en-US" altLang="zh-CN" sz="2400">
                <a:latin typeface="Calibri" panose="020F0502020204030204" pitchFamily="34" charset="0"/>
              </a:rPr>
              <a:t>   B. </a:t>
            </a:r>
            <a:r>
              <a:rPr lang="zh-CN" altLang="zh-CN" sz="2400">
                <a:latin typeface="Calibri" panose="020F0502020204030204" pitchFamily="34" charset="0"/>
              </a:rPr>
              <a:t>减少 ；</a:t>
            </a:r>
            <a:r>
              <a:rPr lang="en-US" altLang="zh-CN" sz="2400">
                <a:latin typeface="Calibri" panose="020F0502020204030204" pitchFamily="34" charset="0"/>
              </a:rPr>
              <a:t>  C. </a:t>
            </a:r>
            <a:r>
              <a:rPr lang="zh-CN" altLang="zh-CN" sz="2400">
                <a:latin typeface="Calibri" panose="020F0502020204030204" pitchFamily="34" charset="0"/>
              </a:rPr>
              <a:t>不变 ；</a:t>
            </a:r>
            <a:r>
              <a:rPr lang="en-US" altLang="zh-CN" sz="2400">
                <a:latin typeface="Calibri" panose="020F0502020204030204" pitchFamily="34" charset="0"/>
              </a:rPr>
              <a:t>  D.</a:t>
            </a:r>
            <a:r>
              <a:rPr lang="zh-CN" altLang="zh-CN" sz="2400">
                <a:latin typeface="Calibri" panose="020F0502020204030204" pitchFamily="34" charset="0"/>
              </a:rPr>
              <a:t>不定</a:t>
            </a:r>
          </a:p>
        </p:txBody>
      </p:sp>
      <p:sp>
        <p:nvSpPr>
          <p:cNvPr id="2" name="矩形 1">
            <a:extLst>
              <a:ext uri="{FF2B5EF4-FFF2-40B4-BE49-F238E27FC236}">
                <a16:creationId xmlns:a16="http://schemas.microsoft.com/office/drawing/2014/main" id="{689EDD41-735F-B162-A00E-03FEC21F527B}"/>
              </a:ext>
            </a:extLst>
          </p:cNvPr>
          <p:cNvSpPr>
            <a:spLocks noChangeArrowheads="1"/>
          </p:cNvSpPr>
          <p:nvPr/>
        </p:nvSpPr>
        <p:spPr bwMode="auto">
          <a:xfrm>
            <a:off x="468313" y="4941888"/>
            <a:ext cx="75374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zh-CN" sz="2400"/>
              <a:t>对于典型二阶系统，当（</a:t>
            </a:r>
            <a:r>
              <a:rPr lang="en-US" altLang="zh-CN" sz="2400"/>
              <a:t>     </a:t>
            </a:r>
            <a:r>
              <a:rPr lang="zh-CN" altLang="zh-CN" sz="2400"/>
              <a:t>）时，最大超调量为</a:t>
            </a:r>
            <a:r>
              <a:rPr lang="en-US" altLang="zh-CN" sz="2400"/>
              <a:t>0</a:t>
            </a:r>
            <a:r>
              <a:rPr lang="zh-CN" altLang="zh-CN" sz="2400"/>
              <a:t>。</a:t>
            </a:r>
          </a:p>
          <a:p>
            <a:pPr eaLnBrk="1" hangingPunct="1"/>
            <a:r>
              <a:rPr lang="en-US" altLang="zh-CN" sz="2400"/>
              <a:t>      A. </a:t>
            </a:r>
            <a:r>
              <a:rPr lang="en-US" altLang="zh-CN" sz="2400">
                <a:sym typeface="Symbol" panose="05050102010706020507" pitchFamily="18" charset="2"/>
              </a:rPr>
              <a:t>  </a:t>
            </a:r>
            <a:r>
              <a:rPr lang="en-US" altLang="zh-CN" sz="2400"/>
              <a:t>= 0 </a:t>
            </a:r>
            <a:r>
              <a:rPr lang="zh-CN" altLang="zh-CN" sz="2400"/>
              <a:t>；</a:t>
            </a:r>
            <a:r>
              <a:rPr lang="en-US" altLang="zh-CN" sz="2400"/>
              <a:t>  B.</a:t>
            </a:r>
            <a:r>
              <a:rPr lang="en-US" altLang="zh-CN" sz="2400">
                <a:sym typeface="Symbol" panose="05050102010706020507" pitchFamily="18" charset="2"/>
              </a:rPr>
              <a:t>   </a:t>
            </a:r>
            <a:r>
              <a:rPr lang="en-US" altLang="zh-CN" sz="2400"/>
              <a:t>= 1 </a:t>
            </a:r>
            <a:r>
              <a:rPr lang="zh-CN" altLang="zh-CN" sz="2400"/>
              <a:t>；</a:t>
            </a:r>
            <a:r>
              <a:rPr lang="en-US" altLang="zh-CN" sz="2400"/>
              <a:t>   C.  0</a:t>
            </a:r>
            <a:r>
              <a:rPr lang="zh-CN" altLang="zh-CN" sz="2400"/>
              <a:t>＜</a:t>
            </a:r>
            <a:r>
              <a:rPr lang="en-US" altLang="zh-CN" sz="2400">
                <a:sym typeface="Symbol" panose="05050102010706020507" pitchFamily="18" charset="2"/>
              </a:rPr>
              <a:t>  </a:t>
            </a:r>
            <a:r>
              <a:rPr lang="zh-CN" altLang="zh-CN" sz="2400"/>
              <a:t>＜</a:t>
            </a:r>
            <a:r>
              <a:rPr lang="en-US" altLang="zh-CN" sz="2400"/>
              <a:t>1   D.</a:t>
            </a:r>
            <a:r>
              <a:rPr lang="en-US" altLang="zh-CN" sz="2400">
                <a:sym typeface="Symbol" panose="05050102010706020507" pitchFamily="18" charset="2"/>
              </a:rPr>
              <a:t>  -1&lt;  </a:t>
            </a:r>
            <a:r>
              <a:rPr lang="zh-CN" altLang="zh-CN" sz="2400"/>
              <a:t>＜</a:t>
            </a:r>
            <a:r>
              <a:rPr lang="en-US" altLang="zh-CN" sz="2400"/>
              <a:t>0</a:t>
            </a:r>
            <a:endParaRPr lang="zh-CN" altLang="zh-CN" sz="2400"/>
          </a:p>
        </p:txBody>
      </p:sp>
      <p:sp>
        <p:nvSpPr>
          <p:cNvPr id="7" name="TextBox 6">
            <a:extLst>
              <a:ext uri="{FF2B5EF4-FFF2-40B4-BE49-F238E27FC236}">
                <a16:creationId xmlns:a16="http://schemas.microsoft.com/office/drawing/2014/main" id="{B41D40F6-A59E-44FB-0197-4CB5CBE1BC4B}"/>
              </a:ext>
            </a:extLst>
          </p:cNvPr>
          <p:cNvSpPr txBox="1">
            <a:spLocks noChangeArrowheads="1"/>
          </p:cNvSpPr>
          <p:nvPr/>
        </p:nvSpPr>
        <p:spPr bwMode="auto">
          <a:xfrm>
            <a:off x="4716463" y="6242050"/>
            <a:ext cx="2646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Calibri" panose="020F0502020204030204" pitchFamily="34" charset="0"/>
              </a:rPr>
              <a:t>主导极点是什么？</a:t>
            </a:r>
          </a:p>
        </p:txBody>
      </p:sp>
      <p:sp>
        <p:nvSpPr>
          <p:cNvPr id="3" name="TextBox 2">
            <a:extLst>
              <a:ext uri="{FF2B5EF4-FFF2-40B4-BE49-F238E27FC236}">
                <a16:creationId xmlns:a16="http://schemas.microsoft.com/office/drawing/2014/main" id="{0523B1C1-AABC-8F59-C6E6-330C19CB3E9F}"/>
              </a:ext>
            </a:extLst>
          </p:cNvPr>
          <p:cNvSpPr txBox="1">
            <a:spLocks noRot="1" noChangeAspect="1" noMove="1" noResize="1" noEditPoints="1" noAdjustHandles="1" noChangeArrowheads="1" noChangeShapeType="1" noTextEdit="1"/>
          </p:cNvSpPr>
          <p:nvPr/>
        </p:nvSpPr>
        <p:spPr>
          <a:xfrm>
            <a:off x="468313" y="6158992"/>
            <a:ext cx="4063420" cy="669094"/>
          </a:xfrm>
          <a:prstGeom prst="rect">
            <a:avLst/>
          </a:prstGeom>
          <a:blipFill rotWithShape="1">
            <a:blip r:embed="rId2"/>
            <a:stretch>
              <a:fillRect/>
            </a:stretch>
          </a:blipFill>
        </p:spPr>
        <p:txBody>
          <a:bodyPr/>
          <a:lstStyle/>
          <a:p>
            <a:pPr eaLnBrk="1" hangingPunct="1">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2"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F09435A-050F-B005-53B3-3913B964314F}"/>
              </a:ext>
            </a:extLst>
          </p:cNvPr>
          <p:cNvSpPr>
            <a:spLocks noChangeArrowheads="1"/>
          </p:cNvSpPr>
          <p:nvPr/>
        </p:nvSpPr>
        <p:spPr bwMode="auto">
          <a:xfrm>
            <a:off x="2843213" y="2708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5" name="对象 4">
            <a:extLst>
              <a:ext uri="{FF2B5EF4-FFF2-40B4-BE49-F238E27FC236}">
                <a16:creationId xmlns:a16="http://schemas.microsoft.com/office/drawing/2014/main" id="{B6868533-C4E5-BED2-C3BA-2AFAA1B4B675}"/>
              </a:ext>
            </a:extLst>
          </p:cNvPr>
          <p:cNvGraphicFramePr>
            <a:graphicFrameLocks noChangeAspect="1"/>
          </p:cNvGraphicFramePr>
          <p:nvPr/>
        </p:nvGraphicFramePr>
        <p:xfrm>
          <a:off x="5381625" y="285750"/>
          <a:ext cx="2635250" cy="750888"/>
        </p:xfrm>
        <a:graphic>
          <a:graphicData uri="http://schemas.openxmlformats.org/presentationml/2006/ole">
            <mc:AlternateContent xmlns:mc="http://schemas.openxmlformats.org/markup-compatibility/2006">
              <mc:Choice xmlns:v="urn:schemas-microsoft-com:vml" Requires="v">
                <p:oleObj r:id="rId2" imgW="1371600" imgH="393700" progId="Equation.3">
                  <p:embed/>
                </p:oleObj>
              </mc:Choice>
              <mc:Fallback>
                <p:oleObj r:id="rId2" imgW="1371600" imgH="393700" progId="Equation.3">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25" y="285750"/>
                        <a:ext cx="263525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文本框 5">
            <a:extLst>
              <a:ext uri="{FF2B5EF4-FFF2-40B4-BE49-F238E27FC236}">
                <a16:creationId xmlns:a16="http://schemas.microsoft.com/office/drawing/2014/main" id="{FA0AA5F3-EC52-EA7C-580D-233FEBA2AF59}"/>
              </a:ext>
            </a:extLst>
          </p:cNvPr>
          <p:cNvSpPr txBox="1">
            <a:spLocks noChangeArrowheads="1"/>
          </p:cNvSpPr>
          <p:nvPr/>
        </p:nvSpPr>
        <p:spPr bwMode="auto">
          <a:xfrm>
            <a:off x="682618" y="399554"/>
            <a:ext cx="4167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400" dirty="0"/>
              <a:t>6.</a:t>
            </a:r>
            <a:r>
              <a:rPr lang="zh-CN" altLang="en-US" sz="2400" dirty="0"/>
              <a:t>某系统的闭环传递函数为：</a:t>
            </a:r>
          </a:p>
        </p:txBody>
      </p:sp>
      <p:sp>
        <p:nvSpPr>
          <p:cNvPr id="7" name="文本框 6">
            <a:extLst>
              <a:ext uri="{FF2B5EF4-FFF2-40B4-BE49-F238E27FC236}">
                <a16:creationId xmlns:a16="http://schemas.microsoft.com/office/drawing/2014/main" id="{51106259-6523-AA57-5243-A3A0B1B1FF4E}"/>
              </a:ext>
            </a:extLst>
          </p:cNvPr>
          <p:cNvSpPr txBox="1">
            <a:spLocks noChangeArrowheads="1"/>
          </p:cNvSpPr>
          <p:nvPr/>
        </p:nvSpPr>
        <p:spPr bwMode="auto">
          <a:xfrm>
            <a:off x="827088" y="1036638"/>
            <a:ext cx="46426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zh-CN" sz="2400" dirty="0"/>
              <a:t>则</a:t>
            </a:r>
            <a:r>
              <a:rPr lang="en-US" altLang="zh-CN" sz="2400" dirty="0">
                <a:sym typeface="Symbol" panose="05050102010706020507" pitchFamily="18" charset="2"/>
              </a:rPr>
              <a:t></a:t>
            </a:r>
            <a:r>
              <a:rPr lang="zh-CN" altLang="zh-CN" sz="2400" dirty="0"/>
              <a:t>等于</a:t>
            </a:r>
            <a:r>
              <a:rPr lang="en-US" altLang="zh-CN" sz="2400" dirty="0"/>
              <a:t> </a:t>
            </a:r>
            <a:r>
              <a:rPr lang="en-US" altLang="zh-CN" sz="2400" u="sng" dirty="0"/>
              <a:t>       </a:t>
            </a:r>
            <a:r>
              <a:rPr lang="zh-CN" altLang="en-US" sz="2400" u="sng" dirty="0"/>
              <a:t>，</a:t>
            </a:r>
            <a:r>
              <a:rPr lang="en-US" altLang="zh-CN" sz="2400" dirty="0"/>
              <a:t> </a:t>
            </a:r>
            <a:r>
              <a:rPr lang="en-US" altLang="zh-CN" sz="2400" dirty="0">
                <a:sym typeface="Symbol" panose="05050102010706020507" pitchFamily="18" charset="2"/>
              </a:rPr>
              <a:t></a:t>
            </a:r>
            <a:r>
              <a:rPr lang="en-US" altLang="zh-CN" dirty="0">
                <a:sym typeface="Symbol" panose="05050102010706020507" pitchFamily="18" charset="2"/>
              </a:rPr>
              <a:t>n</a:t>
            </a:r>
            <a:r>
              <a:rPr lang="zh-CN" altLang="en-US" sz="2400" dirty="0"/>
              <a:t>等于</a:t>
            </a:r>
            <a:r>
              <a:rPr lang="zh-CN" altLang="en-US" sz="2400" u="sng" dirty="0"/>
              <a:t>     </a:t>
            </a:r>
            <a:r>
              <a:rPr lang="zh-CN" altLang="en-US" sz="2400" dirty="0"/>
              <a:t> 。</a:t>
            </a:r>
            <a:r>
              <a:rPr lang="en-US" altLang="zh-CN" sz="2400" dirty="0"/>
              <a:t> </a:t>
            </a:r>
            <a:endParaRPr lang="zh-CN" altLang="en-US" sz="2400" dirty="0"/>
          </a:p>
        </p:txBody>
      </p:sp>
      <p:sp>
        <p:nvSpPr>
          <p:cNvPr id="7174" name="Rectangle 4">
            <a:extLst>
              <a:ext uri="{FF2B5EF4-FFF2-40B4-BE49-F238E27FC236}">
                <a16:creationId xmlns:a16="http://schemas.microsoft.com/office/drawing/2014/main" id="{03F841AA-4982-BEFD-F5F6-688CBFA2328C}"/>
              </a:ext>
            </a:extLst>
          </p:cNvPr>
          <p:cNvSpPr>
            <a:spLocks noChangeArrowheads="1"/>
          </p:cNvSpPr>
          <p:nvPr/>
        </p:nvSpPr>
        <p:spPr bwMode="auto">
          <a:xfrm>
            <a:off x="2555875" y="4897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pSp>
        <p:nvGrpSpPr>
          <p:cNvPr id="16" name="Group 5">
            <a:extLst>
              <a:ext uri="{FF2B5EF4-FFF2-40B4-BE49-F238E27FC236}">
                <a16:creationId xmlns:a16="http://schemas.microsoft.com/office/drawing/2014/main" id="{3AF4038A-ACBF-C329-8759-FE3BC1D64939}"/>
              </a:ext>
            </a:extLst>
          </p:cNvPr>
          <p:cNvGrpSpPr>
            <a:grpSpLocks/>
          </p:cNvGrpSpPr>
          <p:nvPr/>
        </p:nvGrpSpPr>
        <p:grpSpPr bwMode="auto">
          <a:xfrm>
            <a:off x="984250" y="2565400"/>
            <a:ext cx="7010400" cy="2173288"/>
            <a:chOff x="864" y="2663"/>
            <a:chExt cx="4416" cy="1369"/>
          </a:xfrm>
        </p:grpSpPr>
        <p:sp>
          <p:nvSpPr>
            <p:cNvPr id="7178" name="Rectangle 6">
              <a:extLst>
                <a:ext uri="{FF2B5EF4-FFF2-40B4-BE49-F238E27FC236}">
                  <a16:creationId xmlns:a16="http://schemas.microsoft.com/office/drawing/2014/main" id="{1072FED0-8D14-3538-42DA-F858136D02F9}"/>
                </a:ext>
              </a:extLst>
            </p:cNvPr>
            <p:cNvSpPr>
              <a:spLocks noChangeArrowheads="1"/>
            </p:cNvSpPr>
            <p:nvPr/>
          </p:nvSpPr>
          <p:spPr bwMode="auto">
            <a:xfrm>
              <a:off x="2038"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7179" name="Rectangle 7">
              <a:extLst>
                <a:ext uri="{FF2B5EF4-FFF2-40B4-BE49-F238E27FC236}">
                  <a16:creationId xmlns:a16="http://schemas.microsoft.com/office/drawing/2014/main" id="{366CA20B-89B4-BE87-55BE-21973CAA16E5}"/>
                </a:ext>
              </a:extLst>
            </p:cNvPr>
            <p:cNvSpPr>
              <a:spLocks noChangeArrowheads="1"/>
            </p:cNvSpPr>
            <p:nvPr/>
          </p:nvSpPr>
          <p:spPr bwMode="auto">
            <a:xfrm>
              <a:off x="2786" y="3702"/>
              <a:ext cx="623"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7180" name="Line 8">
              <a:extLst>
                <a:ext uri="{FF2B5EF4-FFF2-40B4-BE49-F238E27FC236}">
                  <a16:creationId xmlns:a16="http://schemas.microsoft.com/office/drawing/2014/main" id="{701F18AB-E02C-B776-8C5C-F9ADA286EF1D}"/>
                </a:ext>
              </a:extLst>
            </p:cNvPr>
            <p:cNvSpPr>
              <a:spLocks noChangeShapeType="1"/>
            </p:cNvSpPr>
            <p:nvPr/>
          </p:nvSpPr>
          <p:spPr bwMode="auto">
            <a:xfrm>
              <a:off x="1543"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1" name="Line 9">
              <a:extLst>
                <a:ext uri="{FF2B5EF4-FFF2-40B4-BE49-F238E27FC236}">
                  <a16:creationId xmlns:a16="http://schemas.microsoft.com/office/drawing/2014/main" id="{55C4C203-66D1-6A18-8C0E-7EEA288003B4}"/>
                </a:ext>
              </a:extLst>
            </p:cNvPr>
            <p:cNvSpPr>
              <a:spLocks noChangeShapeType="1"/>
            </p:cNvSpPr>
            <p:nvPr/>
          </p:nvSpPr>
          <p:spPr bwMode="auto">
            <a:xfrm>
              <a:off x="4408" y="3255"/>
              <a:ext cx="87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2" name="Line 10">
              <a:extLst>
                <a:ext uri="{FF2B5EF4-FFF2-40B4-BE49-F238E27FC236}">
                  <a16:creationId xmlns:a16="http://schemas.microsoft.com/office/drawing/2014/main" id="{B62459CC-7C32-BB35-87B6-9AA0702A7C4F}"/>
                </a:ext>
              </a:extLst>
            </p:cNvPr>
            <p:cNvSpPr>
              <a:spLocks noChangeShapeType="1"/>
            </p:cNvSpPr>
            <p:nvPr/>
          </p:nvSpPr>
          <p:spPr bwMode="auto">
            <a:xfrm>
              <a:off x="4948" y="3255"/>
              <a:ext cx="0" cy="6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 name="Line 11">
              <a:extLst>
                <a:ext uri="{FF2B5EF4-FFF2-40B4-BE49-F238E27FC236}">
                  <a16:creationId xmlns:a16="http://schemas.microsoft.com/office/drawing/2014/main" id="{00B1862F-28FB-4B4F-7F58-C0DD2685BE47}"/>
                </a:ext>
              </a:extLst>
            </p:cNvPr>
            <p:cNvSpPr>
              <a:spLocks noChangeShapeType="1"/>
            </p:cNvSpPr>
            <p:nvPr/>
          </p:nvSpPr>
          <p:spPr bwMode="auto">
            <a:xfrm flipH="1">
              <a:off x="3412" y="3857"/>
              <a:ext cx="15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4" name="Line 12">
              <a:extLst>
                <a:ext uri="{FF2B5EF4-FFF2-40B4-BE49-F238E27FC236}">
                  <a16:creationId xmlns:a16="http://schemas.microsoft.com/office/drawing/2014/main" id="{462F517A-9685-4D81-A421-8285ECAB1A51}"/>
                </a:ext>
              </a:extLst>
            </p:cNvPr>
            <p:cNvSpPr>
              <a:spLocks noChangeShapeType="1"/>
            </p:cNvSpPr>
            <p:nvPr/>
          </p:nvSpPr>
          <p:spPr bwMode="auto">
            <a:xfrm flipH="1">
              <a:off x="1461" y="3857"/>
              <a:ext cx="132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5" name="Line 13">
              <a:extLst>
                <a:ext uri="{FF2B5EF4-FFF2-40B4-BE49-F238E27FC236}">
                  <a16:creationId xmlns:a16="http://schemas.microsoft.com/office/drawing/2014/main" id="{96E5065B-197D-0D5B-D685-D8D8726C767F}"/>
                </a:ext>
              </a:extLst>
            </p:cNvPr>
            <p:cNvSpPr>
              <a:spLocks noChangeShapeType="1"/>
            </p:cNvSpPr>
            <p:nvPr/>
          </p:nvSpPr>
          <p:spPr bwMode="auto">
            <a:xfrm flipV="1">
              <a:off x="1461" y="3319"/>
              <a:ext cx="0" cy="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6" name="Text Box 14">
              <a:extLst>
                <a:ext uri="{FF2B5EF4-FFF2-40B4-BE49-F238E27FC236}">
                  <a16:creationId xmlns:a16="http://schemas.microsoft.com/office/drawing/2014/main" id="{838BE4A8-B3BB-217B-E04D-5F0252D3F1E7}"/>
                </a:ext>
              </a:extLst>
            </p:cNvPr>
            <p:cNvSpPr txBox="1">
              <a:spLocks noChangeArrowheads="1"/>
            </p:cNvSpPr>
            <p:nvPr/>
          </p:nvSpPr>
          <p:spPr bwMode="auto">
            <a:xfrm>
              <a:off x="1305" y="3056"/>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7187" name="Line 15">
              <a:extLst>
                <a:ext uri="{FF2B5EF4-FFF2-40B4-BE49-F238E27FC236}">
                  <a16:creationId xmlns:a16="http://schemas.microsoft.com/office/drawing/2014/main" id="{34EA66C5-CE6A-C420-C201-307C67B3536A}"/>
                </a:ext>
              </a:extLst>
            </p:cNvPr>
            <p:cNvSpPr>
              <a:spLocks noChangeShapeType="1"/>
            </p:cNvSpPr>
            <p:nvPr/>
          </p:nvSpPr>
          <p:spPr bwMode="auto">
            <a:xfrm>
              <a:off x="920"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8" name="Text Box 16">
              <a:extLst>
                <a:ext uri="{FF2B5EF4-FFF2-40B4-BE49-F238E27FC236}">
                  <a16:creationId xmlns:a16="http://schemas.microsoft.com/office/drawing/2014/main" id="{CFE605FD-9C6F-2327-3D52-95B204D5E845}"/>
                </a:ext>
              </a:extLst>
            </p:cNvPr>
            <p:cNvSpPr txBox="1">
              <a:spLocks noChangeArrowheads="1"/>
            </p:cNvSpPr>
            <p:nvPr/>
          </p:nvSpPr>
          <p:spPr bwMode="auto">
            <a:xfrm>
              <a:off x="864" y="2928"/>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7189" name="Text Box 17">
              <a:extLst>
                <a:ext uri="{FF2B5EF4-FFF2-40B4-BE49-F238E27FC236}">
                  <a16:creationId xmlns:a16="http://schemas.microsoft.com/office/drawing/2014/main" id="{FF8D8C9F-9317-FFD6-A86F-5C97927AEA41}"/>
                </a:ext>
              </a:extLst>
            </p:cNvPr>
            <p:cNvSpPr txBox="1">
              <a:spLocks noChangeArrowheads="1"/>
            </p:cNvSpPr>
            <p:nvPr/>
          </p:nvSpPr>
          <p:spPr bwMode="auto">
            <a:xfrm>
              <a:off x="4694" y="2945"/>
              <a:ext cx="4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7190" name="Text Box 18">
              <a:extLst>
                <a:ext uri="{FF2B5EF4-FFF2-40B4-BE49-F238E27FC236}">
                  <a16:creationId xmlns:a16="http://schemas.microsoft.com/office/drawing/2014/main" id="{89F8D0B1-6911-F1E0-83ED-B3EF18E31023}"/>
                </a:ext>
              </a:extLst>
            </p:cNvPr>
            <p:cNvSpPr txBox="1">
              <a:spLocks noChangeArrowheads="1"/>
            </p:cNvSpPr>
            <p:nvPr/>
          </p:nvSpPr>
          <p:spPr bwMode="auto">
            <a:xfrm>
              <a:off x="1052" y="3382"/>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91" name="Text Box 19">
              <a:extLst>
                <a:ext uri="{FF2B5EF4-FFF2-40B4-BE49-F238E27FC236}">
                  <a16:creationId xmlns:a16="http://schemas.microsoft.com/office/drawing/2014/main" id="{ED8C2673-983C-191D-2815-DB1BA5C4FD04}"/>
                </a:ext>
              </a:extLst>
            </p:cNvPr>
            <p:cNvSpPr txBox="1">
              <a:spLocks noChangeArrowheads="1"/>
            </p:cNvSpPr>
            <p:nvPr/>
          </p:nvSpPr>
          <p:spPr bwMode="auto">
            <a:xfrm>
              <a:off x="1492" y="2941"/>
              <a:ext cx="4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92" name="Line 20">
              <a:extLst>
                <a:ext uri="{FF2B5EF4-FFF2-40B4-BE49-F238E27FC236}">
                  <a16:creationId xmlns:a16="http://schemas.microsoft.com/office/drawing/2014/main" id="{5A5B52EE-A066-5381-BCCA-0D10878666CE}"/>
                </a:ext>
              </a:extLst>
            </p:cNvPr>
            <p:cNvSpPr>
              <a:spLocks noChangeShapeType="1"/>
            </p:cNvSpPr>
            <p:nvPr/>
          </p:nvSpPr>
          <p:spPr bwMode="auto">
            <a:xfrm>
              <a:off x="1502" y="3471"/>
              <a:ext cx="8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3" name="Rectangle 21">
              <a:extLst>
                <a:ext uri="{FF2B5EF4-FFF2-40B4-BE49-F238E27FC236}">
                  <a16:creationId xmlns:a16="http://schemas.microsoft.com/office/drawing/2014/main" id="{07483533-EBE5-8C6E-6BC5-567696FBA3D0}"/>
                </a:ext>
              </a:extLst>
            </p:cNvPr>
            <p:cNvSpPr>
              <a:spLocks noChangeArrowheads="1"/>
            </p:cNvSpPr>
            <p:nvPr/>
          </p:nvSpPr>
          <p:spPr bwMode="auto">
            <a:xfrm>
              <a:off x="3782"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7194" name="Line 22">
              <a:extLst>
                <a:ext uri="{FF2B5EF4-FFF2-40B4-BE49-F238E27FC236}">
                  <a16:creationId xmlns:a16="http://schemas.microsoft.com/office/drawing/2014/main" id="{17E9D6AF-3CA0-C531-F747-FCB8597788A0}"/>
                </a:ext>
              </a:extLst>
            </p:cNvPr>
            <p:cNvSpPr>
              <a:spLocks noChangeShapeType="1"/>
            </p:cNvSpPr>
            <p:nvPr/>
          </p:nvSpPr>
          <p:spPr bwMode="auto">
            <a:xfrm>
              <a:off x="3287"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5" name="Text Box 23">
              <a:extLst>
                <a:ext uri="{FF2B5EF4-FFF2-40B4-BE49-F238E27FC236}">
                  <a16:creationId xmlns:a16="http://schemas.microsoft.com/office/drawing/2014/main" id="{F90B3841-F6FF-B6AA-3A82-EC31D90C7091}"/>
                </a:ext>
              </a:extLst>
            </p:cNvPr>
            <p:cNvSpPr txBox="1">
              <a:spLocks noChangeArrowheads="1"/>
            </p:cNvSpPr>
            <p:nvPr/>
          </p:nvSpPr>
          <p:spPr bwMode="auto">
            <a:xfrm>
              <a:off x="3040" y="3062"/>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7196" name="Line 24">
              <a:extLst>
                <a:ext uri="{FF2B5EF4-FFF2-40B4-BE49-F238E27FC236}">
                  <a16:creationId xmlns:a16="http://schemas.microsoft.com/office/drawing/2014/main" id="{BF58EAF8-1DEC-F640-0B0F-1114761436D4}"/>
                </a:ext>
              </a:extLst>
            </p:cNvPr>
            <p:cNvSpPr>
              <a:spLocks noChangeShapeType="1"/>
            </p:cNvSpPr>
            <p:nvPr/>
          </p:nvSpPr>
          <p:spPr bwMode="auto">
            <a:xfrm>
              <a:off x="2664"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7" name="Line 25">
              <a:extLst>
                <a:ext uri="{FF2B5EF4-FFF2-40B4-BE49-F238E27FC236}">
                  <a16:creationId xmlns:a16="http://schemas.microsoft.com/office/drawing/2014/main" id="{E98FC254-A5F2-27C9-D6B6-ED58CA6DD186}"/>
                </a:ext>
              </a:extLst>
            </p:cNvPr>
            <p:cNvSpPr>
              <a:spLocks noChangeShapeType="1"/>
            </p:cNvSpPr>
            <p:nvPr/>
          </p:nvSpPr>
          <p:spPr bwMode="auto">
            <a:xfrm>
              <a:off x="3204" y="2663"/>
              <a:ext cx="0" cy="50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8" name="Text Box 26">
              <a:extLst>
                <a:ext uri="{FF2B5EF4-FFF2-40B4-BE49-F238E27FC236}">
                  <a16:creationId xmlns:a16="http://schemas.microsoft.com/office/drawing/2014/main" id="{EEA56BBE-4995-2E03-E000-04D78E4793CA}"/>
                </a:ext>
              </a:extLst>
            </p:cNvPr>
            <p:cNvSpPr txBox="1">
              <a:spLocks noChangeArrowheads="1"/>
            </p:cNvSpPr>
            <p:nvPr/>
          </p:nvSpPr>
          <p:spPr bwMode="auto">
            <a:xfrm>
              <a:off x="3195" y="2688"/>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N</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99" name="Text Box 27">
              <a:extLst>
                <a:ext uri="{FF2B5EF4-FFF2-40B4-BE49-F238E27FC236}">
                  <a16:creationId xmlns:a16="http://schemas.microsoft.com/office/drawing/2014/main" id="{E7FCE173-793F-D353-C83C-92ED5B91184D}"/>
                </a:ext>
              </a:extLst>
            </p:cNvPr>
            <p:cNvSpPr txBox="1">
              <a:spLocks noChangeArrowheads="1"/>
            </p:cNvSpPr>
            <p:nvPr/>
          </p:nvSpPr>
          <p:spPr bwMode="auto">
            <a:xfrm>
              <a:off x="3011" y="298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7200" name="Text Box 28">
              <a:extLst>
                <a:ext uri="{FF2B5EF4-FFF2-40B4-BE49-F238E27FC236}">
                  <a16:creationId xmlns:a16="http://schemas.microsoft.com/office/drawing/2014/main" id="{DA6188E4-8FD7-B049-FF2E-701A1D652399}"/>
                </a:ext>
              </a:extLst>
            </p:cNvPr>
            <p:cNvSpPr txBox="1">
              <a:spLocks noChangeArrowheads="1"/>
            </p:cNvSpPr>
            <p:nvPr/>
          </p:nvSpPr>
          <p:spPr bwMode="auto">
            <a:xfrm>
              <a:off x="2872" y="3209"/>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7201" name="Oval 29">
              <a:extLst>
                <a:ext uri="{FF2B5EF4-FFF2-40B4-BE49-F238E27FC236}">
                  <a16:creationId xmlns:a16="http://schemas.microsoft.com/office/drawing/2014/main" id="{AEEB48D7-EBDF-DB27-0A1F-FADA9FB7FD4A}"/>
                </a:ext>
              </a:extLst>
            </p:cNvPr>
            <p:cNvSpPr>
              <a:spLocks noChangeArrowheads="1"/>
            </p:cNvSpPr>
            <p:nvPr/>
          </p:nvSpPr>
          <p:spPr bwMode="auto">
            <a:xfrm>
              <a:off x="4920" y="323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2" name="TextBox 1">
            <a:extLst>
              <a:ext uri="{FF2B5EF4-FFF2-40B4-BE49-F238E27FC236}">
                <a16:creationId xmlns:a16="http://schemas.microsoft.com/office/drawing/2014/main" id="{78478A4B-78E0-04E3-0FA4-7A1AF756BB0D}"/>
              </a:ext>
            </a:extLst>
          </p:cNvPr>
          <p:cNvSpPr txBox="1">
            <a:spLocks noChangeArrowheads="1"/>
          </p:cNvSpPr>
          <p:nvPr/>
        </p:nvSpPr>
        <p:spPr bwMode="auto">
          <a:xfrm>
            <a:off x="192088" y="23368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7.</a:t>
            </a:r>
            <a:endParaRPr lang="zh-CN" altLang="en-US"/>
          </a:p>
        </p:txBody>
      </p:sp>
      <p:sp>
        <p:nvSpPr>
          <p:cNvPr id="3" name="文本框 2">
            <a:extLst>
              <a:ext uri="{FF2B5EF4-FFF2-40B4-BE49-F238E27FC236}">
                <a16:creationId xmlns:a16="http://schemas.microsoft.com/office/drawing/2014/main" id="{E6E3CD86-D751-D63A-2842-4EB584695479}"/>
              </a:ext>
            </a:extLst>
          </p:cNvPr>
          <p:cNvSpPr txBox="1">
            <a:spLocks noChangeArrowheads="1"/>
          </p:cNvSpPr>
          <p:nvPr/>
        </p:nvSpPr>
        <p:spPr bwMode="auto">
          <a:xfrm>
            <a:off x="1339850" y="5267325"/>
            <a:ext cx="5929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偏差传递函数？扰动偏差传递函数？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a:extLst>
              <a:ext uri="{FF2B5EF4-FFF2-40B4-BE49-F238E27FC236}">
                <a16:creationId xmlns:a16="http://schemas.microsoft.com/office/drawing/2014/main" id="{0B2E78A0-65EC-2200-2525-6A5AF9D071DD}"/>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8195" name="Rectangle 6">
            <a:extLst>
              <a:ext uri="{FF2B5EF4-FFF2-40B4-BE49-F238E27FC236}">
                <a16:creationId xmlns:a16="http://schemas.microsoft.com/office/drawing/2014/main" id="{B25E3776-5AF4-E3B2-7C19-B6412C55C0B8}"/>
              </a:ext>
            </a:extLst>
          </p:cNvPr>
          <p:cNvSpPr>
            <a:spLocks noChangeArrowheads="1"/>
          </p:cNvSpPr>
          <p:nvPr/>
        </p:nvSpPr>
        <p:spPr bwMode="auto">
          <a:xfrm>
            <a:off x="1689100" y="2089150"/>
            <a:ext cx="5562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8196" name="Rectangle 7">
            <a:extLst>
              <a:ext uri="{FF2B5EF4-FFF2-40B4-BE49-F238E27FC236}">
                <a16:creationId xmlns:a16="http://schemas.microsoft.com/office/drawing/2014/main" id="{6A57A634-A15B-917C-0909-051A727CD29C}"/>
              </a:ext>
            </a:extLst>
          </p:cNvPr>
          <p:cNvSpPr>
            <a:spLocks noChangeArrowheads="1"/>
          </p:cNvSpPr>
          <p:nvPr/>
        </p:nvSpPr>
        <p:spPr bwMode="auto">
          <a:xfrm>
            <a:off x="1762125" y="27051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3.2   </a:t>
            </a:r>
            <a:r>
              <a:rPr lang="zh-CN" altLang="en-US" sz="2800">
                <a:latin typeface="Times New Roman" panose="02020603050405020304" pitchFamily="18" charset="0"/>
                <a:ea typeface="黑体" panose="02010609060101010101" pitchFamily="49" charset="-122"/>
              </a:rPr>
              <a:t>二阶系统的时间响应</a:t>
            </a:r>
          </a:p>
        </p:txBody>
      </p:sp>
      <p:sp>
        <p:nvSpPr>
          <p:cNvPr id="8197" name="Rectangle 8">
            <a:extLst>
              <a:ext uri="{FF2B5EF4-FFF2-40B4-BE49-F238E27FC236}">
                <a16:creationId xmlns:a16="http://schemas.microsoft.com/office/drawing/2014/main" id="{CDFEEF35-7636-A3B1-BCB9-CB3682147177}"/>
              </a:ext>
            </a:extLst>
          </p:cNvPr>
          <p:cNvSpPr>
            <a:spLocks noChangeArrowheads="1"/>
          </p:cNvSpPr>
          <p:nvPr/>
        </p:nvSpPr>
        <p:spPr bwMode="auto">
          <a:xfrm>
            <a:off x="1762125" y="3181350"/>
            <a:ext cx="53340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8198" name="Rectangle 9">
            <a:extLst>
              <a:ext uri="{FF2B5EF4-FFF2-40B4-BE49-F238E27FC236}">
                <a16:creationId xmlns:a16="http://schemas.microsoft.com/office/drawing/2014/main" id="{0522461C-23B0-3B86-A91D-91EB21C9693B}"/>
              </a:ext>
            </a:extLst>
          </p:cNvPr>
          <p:cNvSpPr>
            <a:spLocks noChangeArrowheads="1"/>
          </p:cNvSpPr>
          <p:nvPr/>
        </p:nvSpPr>
        <p:spPr bwMode="auto">
          <a:xfrm>
            <a:off x="1762125" y="3760788"/>
            <a:ext cx="60467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3.4   </a:t>
            </a:r>
            <a:r>
              <a:rPr lang="zh-CN" altLang="en-US" sz="2800">
                <a:solidFill>
                  <a:srgbClr val="FF0000"/>
                </a:solidFill>
                <a:latin typeface="Times New Roman" panose="02020603050405020304" pitchFamily="18" charset="0"/>
                <a:ea typeface="黑体" panose="02010609060101010101" pitchFamily="49" charset="-122"/>
              </a:rPr>
              <a:t>误差分析和计算</a:t>
            </a:r>
          </a:p>
        </p:txBody>
      </p:sp>
      <p:sp>
        <p:nvSpPr>
          <p:cNvPr id="8199" name="Rectangle 9">
            <a:extLst>
              <a:ext uri="{FF2B5EF4-FFF2-40B4-BE49-F238E27FC236}">
                <a16:creationId xmlns:a16="http://schemas.microsoft.com/office/drawing/2014/main" id="{CED52600-8E12-CCA7-6ECF-D03ADED6043C}"/>
              </a:ext>
            </a:extLst>
          </p:cNvPr>
          <p:cNvSpPr>
            <a:spLocks noChangeArrowheads="1"/>
          </p:cNvSpPr>
          <p:nvPr/>
        </p:nvSpPr>
        <p:spPr bwMode="auto">
          <a:xfrm>
            <a:off x="1762125" y="4335463"/>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3.5   </a:t>
            </a:r>
            <a:r>
              <a:rPr lang="zh-CN" altLang="en-US" sz="2800">
                <a:latin typeface="Times New Roman" panose="02020603050405020304" pitchFamily="18" charset="0"/>
                <a:ea typeface="黑体" panose="02010609060101010101" pitchFamily="49" charset="-122"/>
              </a:rPr>
              <a:t>稳定性分析</a:t>
            </a:r>
          </a:p>
        </p:txBody>
      </p:sp>
      <p:sp>
        <p:nvSpPr>
          <p:cNvPr id="2" name="矩形 1">
            <a:extLst>
              <a:ext uri="{FF2B5EF4-FFF2-40B4-BE49-F238E27FC236}">
                <a16:creationId xmlns:a16="http://schemas.microsoft.com/office/drawing/2014/main" id="{2125E89E-620B-DBD9-9499-EE017792CA23}"/>
              </a:ext>
            </a:extLst>
          </p:cNvPr>
          <p:cNvSpPr/>
          <p:nvPr/>
        </p:nvSpPr>
        <p:spPr>
          <a:xfrm>
            <a:off x="1689100" y="2089150"/>
            <a:ext cx="4240213" cy="17668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a:extLst>
              <a:ext uri="{FF2B5EF4-FFF2-40B4-BE49-F238E27FC236}">
                <a16:creationId xmlns:a16="http://schemas.microsoft.com/office/drawing/2014/main" id="{AFBF1FB8-D6E3-31AE-EE63-F4A637BB1AE9}"/>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13315" name="Rectangle 6">
            <a:extLst>
              <a:ext uri="{FF2B5EF4-FFF2-40B4-BE49-F238E27FC236}">
                <a16:creationId xmlns:a16="http://schemas.microsoft.com/office/drawing/2014/main" id="{D7506088-9350-41A4-9D5D-286C0E23A771}"/>
              </a:ext>
            </a:extLst>
          </p:cNvPr>
          <p:cNvSpPr>
            <a:spLocks noChangeArrowheads="1"/>
          </p:cNvSpPr>
          <p:nvPr/>
        </p:nvSpPr>
        <p:spPr bwMode="auto">
          <a:xfrm>
            <a:off x="1689100" y="2089150"/>
            <a:ext cx="5562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13316" name="Rectangle 7">
            <a:extLst>
              <a:ext uri="{FF2B5EF4-FFF2-40B4-BE49-F238E27FC236}">
                <a16:creationId xmlns:a16="http://schemas.microsoft.com/office/drawing/2014/main" id="{351731A0-8BCE-39EE-07E1-86DE8678C34A}"/>
              </a:ext>
            </a:extLst>
          </p:cNvPr>
          <p:cNvSpPr>
            <a:spLocks noChangeArrowheads="1"/>
          </p:cNvSpPr>
          <p:nvPr/>
        </p:nvSpPr>
        <p:spPr bwMode="auto">
          <a:xfrm>
            <a:off x="1762125" y="27051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3.2   </a:t>
            </a:r>
            <a:r>
              <a:rPr lang="zh-CN" altLang="en-US" sz="2800">
                <a:latin typeface="Times New Roman" panose="02020603050405020304" pitchFamily="18" charset="0"/>
                <a:ea typeface="黑体" panose="02010609060101010101" pitchFamily="49" charset="-122"/>
              </a:rPr>
              <a:t>二阶系统的时间响应</a:t>
            </a:r>
          </a:p>
        </p:txBody>
      </p:sp>
      <p:sp>
        <p:nvSpPr>
          <p:cNvPr id="13317" name="Rectangle 8">
            <a:extLst>
              <a:ext uri="{FF2B5EF4-FFF2-40B4-BE49-F238E27FC236}">
                <a16:creationId xmlns:a16="http://schemas.microsoft.com/office/drawing/2014/main" id="{4F1DEF70-DA20-C85F-BAA1-D2CEEFD17575}"/>
              </a:ext>
            </a:extLst>
          </p:cNvPr>
          <p:cNvSpPr>
            <a:spLocks noChangeArrowheads="1"/>
          </p:cNvSpPr>
          <p:nvPr/>
        </p:nvSpPr>
        <p:spPr bwMode="auto">
          <a:xfrm>
            <a:off x="1762125" y="3181350"/>
            <a:ext cx="53340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13318" name="Rectangle 9">
            <a:extLst>
              <a:ext uri="{FF2B5EF4-FFF2-40B4-BE49-F238E27FC236}">
                <a16:creationId xmlns:a16="http://schemas.microsoft.com/office/drawing/2014/main" id="{C4E82EE1-95B4-304F-1C1B-9A887336EC30}"/>
              </a:ext>
            </a:extLst>
          </p:cNvPr>
          <p:cNvSpPr>
            <a:spLocks noChangeArrowheads="1"/>
          </p:cNvSpPr>
          <p:nvPr/>
        </p:nvSpPr>
        <p:spPr bwMode="auto">
          <a:xfrm>
            <a:off x="1762125" y="3760788"/>
            <a:ext cx="60467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3.4   </a:t>
            </a:r>
            <a:r>
              <a:rPr lang="zh-CN" altLang="en-US" sz="2800">
                <a:solidFill>
                  <a:srgbClr val="FF0000"/>
                </a:solidFill>
                <a:latin typeface="Times New Roman" panose="02020603050405020304" pitchFamily="18" charset="0"/>
                <a:ea typeface="黑体" panose="02010609060101010101" pitchFamily="49" charset="-122"/>
              </a:rPr>
              <a:t>误差分析和计算</a:t>
            </a:r>
          </a:p>
        </p:txBody>
      </p:sp>
      <p:sp>
        <p:nvSpPr>
          <p:cNvPr id="13319" name="Rectangle 9">
            <a:extLst>
              <a:ext uri="{FF2B5EF4-FFF2-40B4-BE49-F238E27FC236}">
                <a16:creationId xmlns:a16="http://schemas.microsoft.com/office/drawing/2014/main" id="{9EB4DBE0-5DF3-CD34-428B-FD766965D198}"/>
              </a:ext>
            </a:extLst>
          </p:cNvPr>
          <p:cNvSpPr>
            <a:spLocks noChangeArrowheads="1"/>
          </p:cNvSpPr>
          <p:nvPr/>
        </p:nvSpPr>
        <p:spPr bwMode="auto">
          <a:xfrm>
            <a:off x="1762125" y="4335463"/>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3.5   </a:t>
            </a:r>
            <a:r>
              <a:rPr lang="zh-CN" altLang="en-US" sz="2800">
                <a:latin typeface="Times New Roman" panose="02020603050405020304" pitchFamily="18" charset="0"/>
                <a:ea typeface="黑体" panose="02010609060101010101" pitchFamily="49" charset="-122"/>
              </a:rPr>
              <a:t>稳定性分析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Rectangle 5">
            <a:extLst>
              <a:ext uri="{FF2B5EF4-FFF2-40B4-BE49-F238E27FC236}">
                <a16:creationId xmlns:a16="http://schemas.microsoft.com/office/drawing/2014/main" id="{B3A5B524-4B25-4F25-311D-0156ED5E5B1D}"/>
              </a:ext>
            </a:extLst>
          </p:cNvPr>
          <p:cNvSpPr>
            <a:spLocks noChangeArrowheads="1"/>
          </p:cNvSpPr>
          <p:nvPr/>
        </p:nvSpPr>
        <p:spPr bwMode="auto">
          <a:xfrm>
            <a:off x="1439863" y="2387600"/>
            <a:ext cx="3740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考虑图示反馈控制系统</a:t>
            </a:r>
          </a:p>
        </p:txBody>
      </p:sp>
      <p:grpSp>
        <p:nvGrpSpPr>
          <p:cNvPr id="2" name="Group 6">
            <a:extLst>
              <a:ext uri="{FF2B5EF4-FFF2-40B4-BE49-F238E27FC236}">
                <a16:creationId xmlns:a16="http://schemas.microsoft.com/office/drawing/2014/main" id="{1B2AA69B-E4C7-561A-52BE-34DA42C08620}"/>
              </a:ext>
            </a:extLst>
          </p:cNvPr>
          <p:cNvGrpSpPr>
            <a:grpSpLocks/>
          </p:cNvGrpSpPr>
          <p:nvPr/>
        </p:nvGrpSpPr>
        <p:grpSpPr bwMode="auto">
          <a:xfrm>
            <a:off x="2468563" y="3055938"/>
            <a:ext cx="4324350" cy="1562100"/>
            <a:chOff x="1310" y="2088"/>
            <a:chExt cx="2944" cy="984"/>
          </a:xfrm>
        </p:grpSpPr>
        <p:sp>
          <p:nvSpPr>
            <p:cNvPr id="15368" name="Rectangle 7">
              <a:extLst>
                <a:ext uri="{FF2B5EF4-FFF2-40B4-BE49-F238E27FC236}">
                  <a16:creationId xmlns:a16="http://schemas.microsoft.com/office/drawing/2014/main" id="{FE36C953-A587-0BA2-0CE7-87798DF2E1AA}"/>
                </a:ext>
              </a:extLst>
            </p:cNvPr>
            <p:cNvSpPr>
              <a:spLocks noChangeArrowheads="1"/>
            </p:cNvSpPr>
            <p:nvPr/>
          </p:nvSpPr>
          <p:spPr bwMode="auto">
            <a:xfrm>
              <a:off x="2609" y="2739"/>
              <a:ext cx="695" cy="33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15369" name="Line 8">
              <a:extLst>
                <a:ext uri="{FF2B5EF4-FFF2-40B4-BE49-F238E27FC236}">
                  <a16:creationId xmlns:a16="http://schemas.microsoft.com/office/drawing/2014/main" id="{EDBAE4F5-D04B-F757-D9CC-B64AC73E6F5B}"/>
                </a:ext>
              </a:extLst>
            </p:cNvPr>
            <p:cNvSpPr>
              <a:spLocks noChangeShapeType="1"/>
            </p:cNvSpPr>
            <p:nvPr/>
          </p:nvSpPr>
          <p:spPr bwMode="auto">
            <a:xfrm>
              <a:off x="2054" y="2412"/>
              <a:ext cx="55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0" name="Line 9">
              <a:extLst>
                <a:ext uri="{FF2B5EF4-FFF2-40B4-BE49-F238E27FC236}">
                  <a16:creationId xmlns:a16="http://schemas.microsoft.com/office/drawing/2014/main" id="{61D87BD5-E0A0-B236-E1F0-CED7CE587542}"/>
                </a:ext>
              </a:extLst>
            </p:cNvPr>
            <p:cNvSpPr>
              <a:spLocks noChangeShapeType="1"/>
            </p:cNvSpPr>
            <p:nvPr/>
          </p:nvSpPr>
          <p:spPr bwMode="auto">
            <a:xfrm>
              <a:off x="3304" y="2404"/>
              <a:ext cx="8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1" name="Line 10">
              <a:extLst>
                <a:ext uri="{FF2B5EF4-FFF2-40B4-BE49-F238E27FC236}">
                  <a16:creationId xmlns:a16="http://schemas.microsoft.com/office/drawing/2014/main" id="{A7888D59-A929-75F9-13BB-C821D649DC90}"/>
                </a:ext>
              </a:extLst>
            </p:cNvPr>
            <p:cNvSpPr>
              <a:spLocks noChangeShapeType="1"/>
            </p:cNvSpPr>
            <p:nvPr/>
          </p:nvSpPr>
          <p:spPr bwMode="auto">
            <a:xfrm flipH="1">
              <a:off x="3751" y="2404"/>
              <a:ext cx="0" cy="5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2" name="Line 11">
              <a:extLst>
                <a:ext uri="{FF2B5EF4-FFF2-40B4-BE49-F238E27FC236}">
                  <a16:creationId xmlns:a16="http://schemas.microsoft.com/office/drawing/2014/main" id="{BFEFC65A-0054-4961-1F3D-0A01DDB40E69}"/>
                </a:ext>
              </a:extLst>
            </p:cNvPr>
            <p:cNvSpPr>
              <a:spLocks noChangeShapeType="1"/>
            </p:cNvSpPr>
            <p:nvPr/>
          </p:nvSpPr>
          <p:spPr bwMode="auto">
            <a:xfrm flipH="1" flipV="1">
              <a:off x="3304" y="2906"/>
              <a:ext cx="4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3" name="Line 12">
              <a:extLst>
                <a:ext uri="{FF2B5EF4-FFF2-40B4-BE49-F238E27FC236}">
                  <a16:creationId xmlns:a16="http://schemas.microsoft.com/office/drawing/2014/main" id="{77BB3FD3-BB3B-4F8B-3A94-A56275051FCE}"/>
                </a:ext>
              </a:extLst>
            </p:cNvPr>
            <p:cNvSpPr>
              <a:spLocks noChangeShapeType="1"/>
            </p:cNvSpPr>
            <p:nvPr/>
          </p:nvSpPr>
          <p:spPr bwMode="auto">
            <a:xfrm flipH="1">
              <a:off x="1961" y="2906"/>
              <a:ext cx="64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4" name="Line 13">
              <a:extLst>
                <a:ext uri="{FF2B5EF4-FFF2-40B4-BE49-F238E27FC236}">
                  <a16:creationId xmlns:a16="http://schemas.microsoft.com/office/drawing/2014/main" id="{8C6EA7F7-B49E-D9D6-14C8-475950E65391}"/>
                </a:ext>
              </a:extLst>
            </p:cNvPr>
            <p:cNvSpPr>
              <a:spLocks noChangeShapeType="1"/>
            </p:cNvSpPr>
            <p:nvPr/>
          </p:nvSpPr>
          <p:spPr bwMode="auto">
            <a:xfrm flipV="1">
              <a:off x="1968" y="2488"/>
              <a:ext cx="0" cy="41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5" name="Text Box 14">
              <a:extLst>
                <a:ext uri="{FF2B5EF4-FFF2-40B4-BE49-F238E27FC236}">
                  <a16:creationId xmlns:a16="http://schemas.microsoft.com/office/drawing/2014/main" id="{B6D70776-D89F-AB7B-A83E-512ABD0BF44D}"/>
                </a:ext>
              </a:extLst>
            </p:cNvPr>
            <p:cNvSpPr txBox="1">
              <a:spLocks noChangeArrowheads="1"/>
            </p:cNvSpPr>
            <p:nvPr/>
          </p:nvSpPr>
          <p:spPr bwMode="auto">
            <a:xfrm>
              <a:off x="1822" y="2246"/>
              <a:ext cx="33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15376" name="Line 15">
              <a:extLst>
                <a:ext uri="{FF2B5EF4-FFF2-40B4-BE49-F238E27FC236}">
                  <a16:creationId xmlns:a16="http://schemas.microsoft.com/office/drawing/2014/main" id="{C219CC84-72A6-6CC0-EBD5-907117B07F29}"/>
                </a:ext>
              </a:extLst>
            </p:cNvPr>
            <p:cNvSpPr>
              <a:spLocks noChangeShapeType="1"/>
            </p:cNvSpPr>
            <p:nvPr/>
          </p:nvSpPr>
          <p:spPr bwMode="auto">
            <a:xfrm>
              <a:off x="1321" y="2411"/>
              <a:ext cx="55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7" name="Text Box 16">
              <a:extLst>
                <a:ext uri="{FF2B5EF4-FFF2-40B4-BE49-F238E27FC236}">
                  <a16:creationId xmlns:a16="http://schemas.microsoft.com/office/drawing/2014/main" id="{06004736-7B63-9FE1-0153-4375B7EF18C6}"/>
                </a:ext>
              </a:extLst>
            </p:cNvPr>
            <p:cNvSpPr txBox="1">
              <a:spLocks noChangeArrowheads="1"/>
            </p:cNvSpPr>
            <p:nvPr/>
          </p:nvSpPr>
          <p:spPr bwMode="auto">
            <a:xfrm>
              <a:off x="1310" y="2112"/>
              <a:ext cx="4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5378" name="Text Box 17">
              <a:extLst>
                <a:ext uri="{FF2B5EF4-FFF2-40B4-BE49-F238E27FC236}">
                  <a16:creationId xmlns:a16="http://schemas.microsoft.com/office/drawing/2014/main" id="{00A28477-A1A4-260B-37F8-F41D04A33BD6}"/>
                </a:ext>
              </a:extLst>
            </p:cNvPr>
            <p:cNvSpPr txBox="1">
              <a:spLocks noChangeArrowheads="1"/>
            </p:cNvSpPr>
            <p:nvPr/>
          </p:nvSpPr>
          <p:spPr bwMode="auto">
            <a:xfrm>
              <a:off x="3767" y="2088"/>
              <a:ext cx="4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5379" name="Text Box 18">
              <a:extLst>
                <a:ext uri="{FF2B5EF4-FFF2-40B4-BE49-F238E27FC236}">
                  <a16:creationId xmlns:a16="http://schemas.microsoft.com/office/drawing/2014/main" id="{300D6CA0-4258-5638-FAB0-4DF7140A073F}"/>
                </a:ext>
              </a:extLst>
            </p:cNvPr>
            <p:cNvSpPr txBox="1">
              <a:spLocks noChangeArrowheads="1"/>
            </p:cNvSpPr>
            <p:nvPr/>
          </p:nvSpPr>
          <p:spPr bwMode="auto">
            <a:xfrm>
              <a:off x="1545" y="2579"/>
              <a:ext cx="4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5380" name="Text Box 19">
              <a:extLst>
                <a:ext uri="{FF2B5EF4-FFF2-40B4-BE49-F238E27FC236}">
                  <a16:creationId xmlns:a16="http://schemas.microsoft.com/office/drawing/2014/main" id="{54005FA2-8F46-E49C-5005-450C2001CC37}"/>
                </a:ext>
              </a:extLst>
            </p:cNvPr>
            <p:cNvSpPr txBox="1">
              <a:spLocks noChangeArrowheads="1"/>
            </p:cNvSpPr>
            <p:nvPr/>
          </p:nvSpPr>
          <p:spPr bwMode="auto">
            <a:xfrm>
              <a:off x="2051" y="2116"/>
              <a:ext cx="4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5381" name="Line 20">
              <a:extLst>
                <a:ext uri="{FF2B5EF4-FFF2-40B4-BE49-F238E27FC236}">
                  <a16:creationId xmlns:a16="http://schemas.microsoft.com/office/drawing/2014/main" id="{BF218790-2DF2-2141-5E55-8D235DCA3D83}"/>
                </a:ext>
              </a:extLst>
            </p:cNvPr>
            <p:cNvSpPr>
              <a:spLocks noChangeShapeType="1"/>
            </p:cNvSpPr>
            <p:nvPr/>
          </p:nvSpPr>
          <p:spPr bwMode="auto">
            <a:xfrm>
              <a:off x="2008" y="2621"/>
              <a:ext cx="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2" name="Rectangle 21">
              <a:extLst>
                <a:ext uri="{FF2B5EF4-FFF2-40B4-BE49-F238E27FC236}">
                  <a16:creationId xmlns:a16="http://schemas.microsoft.com/office/drawing/2014/main" id="{5AB05ABD-9B08-C06D-441A-0D6F2DA3D0BC}"/>
                </a:ext>
              </a:extLst>
            </p:cNvPr>
            <p:cNvSpPr>
              <a:spLocks noChangeArrowheads="1"/>
            </p:cNvSpPr>
            <p:nvPr/>
          </p:nvSpPr>
          <p:spPr bwMode="auto">
            <a:xfrm>
              <a:off x="2609" y="2238"/>
              <a:ext cx="695" cy="33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5383" name="Oval 22">
              <a:extLst>
                <a:ext uri="{FF2B5EF4-FFF2-40B4-BE49-F238E27FC236}">
                  <a16:creationId xmlns:a16="http://schemas.microsoft.com/office/drawing/2014/main" id="{8FC6323C-E942-1C33-AEDC-E31A603BC5DF}"/>
                </a:ext>
              </a:extLst>
            </p:cNvPr>
            <p:cNvSpPr>
              <a:spLocks noChangeArrowheads="1"/>
            </p:cNvSpPr>
            <p:nvPr/>
          </p:nvSpPr>
          <p:spPr bwMode="auto">
            <a:xfrm>
              <a:off x="3729" y="2384"/>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115735" name="Rectangle 23">
            <a:extLst>
              <a:ext uri="{FF2B5EF4-FFF2-40B4-BE49-F238E27FC236}">
                <a16:creationId xmlns:a16="http://schemas.microsoft.com/office/drawing/2014/main" id="{98F42B9C-BE90-8580-89E9-BB0CDAC10F5A}"/>
              </a:ext>
            </a:extLst>
          </p:cNvPr>
          <p:cNvSpPr>
            <a:spLocks noChangeArrowheads="1"/>
          </p:cNvSpPr>
          <p:nvPr/>
        </p:nvSpPr>
        <p:spPr bwMode="auto">
          <a:xfrm>
            <a:off x="1187450" y="1831975"/>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偏差信号</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115736" name="Rectangle 24">
            <a:extLst>
              <a:ext uri="{FF2B5EF4-FFF2-40B4-BE49-F238E27FC236}">
                <a16:creationId xmlns:a16="http://schemas.microsoft.com/office/drawing/2014/main" id="{28462293-E621-5695-0DD1-42B9EE778FF2}"/>
              </a:ext>
            </a:extLst>
          </p:cNvPr>
          <p:cNvSpPr>
            <a:spLocks noChangeArrowheads="1"/>
          </p:cNvSpPr>
          <p:nvPr/>
        </p:nvSpPr>
        <p:spPr bwMode="auto">
          <a:xfrm>
            <a:off x="2057400" y="6019800"/>
            <a:ext cx="4770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 </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 </a:t>
            </a: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endParaRPr lang="en-US" altLang="zh-CN" sz="2800">
              <a:latin typeface="Times New Roman" panose="02020603050405020304" pitchFamily="18" charset="0"/>
            </a:endParaRPr>
          </a:p>
        </p:txBody>
      </p:sp>
      <p:sp>
        <p:nvSpPr>
          <p:cNvPr id="115737" name="Rectangle 25">
            <a:extLst>
              <a:ext uri="{FF2B5EF4-FFF2-40B4-BE49-F238E27FC236}">
                <a16:creationId xmlns:a16="http://schemas.microsoft.com/office/drawing/2014/main" id="{C7214774-A061-1664-71DD-4294B6B603D4}"/>
              </a:ext>
            </a:extLst>
          </p:cNvPr>
          <p:cNvSpPr>
            <a:spLocks noChangeArrowheads="1"/>
          </p:cNvSpPr>
          <p:nvPr/>
        </p:nvSpPr>
        <p:spPr bwMode="auto">
          <a:xfrm>
            <a:off x="1371600" y="4921250"/>
            <a:ext cx="72390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偏差信号</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定义为系统输入</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800">
                <a:latin typeface="Times New Roman" panose="02020603050405020304" pitchFamily="18" charset="0"/>
              </a:rPr>
              <a:t>与系统</a:t>
            </a:r>
            <a:r>
              <a:rPr lang="zh-CN" altLang="en-US" sz="2800">
                <a:solidFill>
                  <a:srgbClr val="FF0000"/>
                </a:solidFill>
                <a:latin typeface="Times New Roman" panose="02020603050405020304" pitchFamily="18" charset="0"/>
              </a:rPr>
              <a:t>主反馈</a:t>
            </a:r>
            <a:r>
              <a:rPr lang="zh-CN" altLang="en-US" sz="2800">
                <a:latin typeface="Times New Roman" panose="02020603050405020304" pitchFamily="18" charset="0"/>
              </a:rPr>
              <a:t>信号</a:t>
            </a:r>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800">
                <a:latin typeface="Times New Roman" panose="02020603050405020304" pitchFamily="18" charset="0"/>
              </a:rPr>
              <a:t>之差，即：</a:t>
            </a:r>
          </a:p>
        </p:txBody>
      </p:sp>
      <p:sp>
        <p:nvSpPr>
          <p:cNvPr id="15367" name="Rectangle 5">
            <a:extLst>
              <a:ext uri="{FF2B5EF4-FFF2-40B4-BE49-F238E27FC236}">
                <a16:creationId xmlns:a16="http://schemas.microsoft.com/office/drawing/2014/main" id="{40DE597E-2898-0A58-7E36-79AB93864373}"/>
              </a:ext>
            </a:extLst>
          </p:cNvPr>
          <p:cNvSpPr>
            <a:spLocks noChangeArrowheads="1"/>
          </p:cNvSpPr>
          <p:nvPr/>
        </p:nvSpPr>
        <p:spPr bwMode="auto">
          <a:xfrm>
            <a:off x="684213" y="692150"/>
            <a:ext cx="44958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buFont typeface="Wingdings" panose="05000000000000000000" pitchFamily="2" charset="2"/>
              <a:buChar char="l"/>
            </a:pPr>
            <a:r>
              <a:rPr lang="zh-CN" altLang="en-US" sz="2800">
                <a:latin typeface="Times New Roman" panose="02020603050405020304" pitchFamily="18" charset="0"/>
                <a:ea typeface="黑体" panose="02010609060101010101" pitchFamily="49" charset="-122"/>
              </a:rPr>
              <a:t>误差的基本概念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5735"/>
                                        </p:tgtEl>
                                        <p:attrNameLst>
                                          <p:attrName>style.visibility</p:attrName>
                                        </p:attrNameLst>
                                      </p:cBhvr>
                                      <p:to>
                                        <p:strVal val="visible"/>
                                      </p:to>
                                    </p:set>
                                    <p:anim calcmode="lin" valueType="num">
                                      <p:cBhvr additive="base">
                                        <p:cTn id="7" dur="500" fill="hold"/>
                                        <p:tgtEl>
                                          <p:spTgt spid="115735"/>
                                        </p:tgtEl>
                                        <p:attrNameLst>
                                          <p:attrName>ppt_x</p:attrName>
                                        </p:attrNameLst>
                                      </p:cBhvr>
                                      <p:tavLst>
                                        <p:tav tm="0">
                                          <p:val>
                                            <p:strVal val="#ppt_x"/>
                                          </p:val>
                                        </p:tav>
                                        <p:tav tm="100000">
                                          <p:val>
                                            <p:strVal val="#ppt_x"/>
                                          </p:val>
                                        </p:tav>
                                      </p:tavLst>
                                    </p:anim>
                                    <p:anim calcmode="lin" valueType="num">
                                      <p:cBhvr additive="base">
                                        <p:cTn id="8" dur="500" fill="hold"/>
                                        <p:tgtEl>
                                          <p:spTgt spid="1157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5717"/>
                                        </p:tgtEl>
                                        <p:attrNameLst>
                                          <p:attrName>style.visibility</p:attrName>
                                        </p:attrNameLst>
                                      </p:cBhvr>
                                      <p:to>
                                        <p:strVal val="visible"/>
                                      </p:to>
                                    </p:set>
                                    <p:anim calcmode="lin" valueType="num">
                                      <p:cBhvr additive="base">
                                        <p:cTn id="13" dur="500" fill="hold"/>
                                        <p:tgtEl>
                                          <p:spTgt spid="115717"/>
                                        </p:tgtEl>
                                        <p:attrNameLst>
                                          <p:attrName>ppt_x</p:attrName>
                                        </p:attrNameLst>
                                      </p:cBhvr>
                                      <p:tavLst>
                                        <p:tav tm="0">
                                          <p:val>
                                            <p:strVal val="#ppt_x"/>
                                          </p:val>
                                        </p:tav>
                                        <p:tav tm="100000">
                                          <p:val>
                                            <p:strVal val="#ppt_x"/>
                                          </p:val>
                                        </p:tav>
                                      </p:tavLst>
                                    </p:anim>
                                    <p:anim calcmode="lin" valueType="num">
                                      <p:cBhvr additive="base">
                                        <p:cTn id="14" dur="500" fill="hold"/>
                                        <p:tgtEl>
                                          <p:spTgt spid="11571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5737"/>
                                        </p:tgtEl>
                                        <p:attrNameLst>
                                          <p:attrName>style.visibility</p:attrName>
                                        </p:attrNameLst>
                                      </p:cBhvr>
                                      <p:to>
                                        <p:strVal val="visible"/>
                                      </p:to>
                                    </p:set>
                                    <p:anim calcmode="lin" valueType="num">
                                      <p:cBhvr additive="base">
                                        <p:cTn id="25" dur="500" fill="hold"/>
                                        <p:tgtEl>
                                          <p:spTgt spid="115737"/>
                                        </p:tgtEl>
                                        <p:attrNameLst>
                                          <p:attrName>ppt_x</p:attrName>
                                        </p:attrNameLst>
                                      </p:cBhvr>
                                      <p:tavLst>
                                        <p:tav tm="0">
                                          <p:val>
                                            <p:strVal val="#ppt_x"/>
                                          </p:val>
                                        </p:tav>
                                        <p:tav tm="100000">
                                          <p:val>
                                            <p:strVal val="#ppt_x"/>
                                          </p:val>
                                        </p:tav>
                                      </p:tavLst>
                                    </p:anim>
                                    <p:anim calcmode="lin" valueType="num">
                                      <p:cBhvr additive="base">
                                        <p:cTn id="26" dur="500" fill="hold"/>
                                        <p:tgtEl>
                                          <p:spTgt spid="11573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5736"/>
                                        </p:tgtEl>
                                        <p:attrNameLst>
                                          <p:attrName>style.visibility</p:attrName>
                                        </p:attrNameLst>
                                      </p:cBhvr>
                                      <p:to>
                                        <p:strVal val="visible"/>
                                      </p:to>
                                    </p:set>
                                    <p:anim calcmode="lin" valueType="num">
                                      <p:cBhvr additive="base">
                                        <p:cTn id="31" dur="500" fill="hold"/>
                                        <p:tgtEl>
                                          <p:spTgt spid="115736"/>
                                        </p:tgtEl>
                                        <p:attrNameLst>
                                          <p:attrName>ppt_x</p:attrName>
                                        </p:attrNameLst>
                                      </p:cBhvr>
                                      <p:tavLst>
                                        <p:tav tm="0">
                                          <p:val>
                                            <p:strVal val="#ppt_x"/>
                                          </p:val>
                                        </p:tav>
                                        <p:tav tm="100000">
                                          <p:val>
                                            <p:strVal val="#ppt_x"/>
                                          </p:val>
                                        </p:tav>
                                      </p:tavLst>
                                    </p:anim>
                                    <p:anim calcmode="lin" valueType="num">
                                      <p:cBhvr additive="base">
                                        <p:cTn id="32" dur="500" fill="hold"/>
                                        <p:tgtEl>
                                          <p:spTgt spid="1157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7" grpId="0"/>
      <p:bldP spid="115735" grpId="0"/>
      <p:bldP spid="115736" grpId="0"/>
      <p:bldP spid="1157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068491F4-0305-9E32-6AB8-3D292CB07D64}"/>
              </a:ext>
            </a:extLst>
          </p:cNvPr>
          <p:cNvSpPr>
            <a:spLocks noChangeArrowheads="1"/>
          </p:cNvSpPr>
          <p:nvPr/>
        </p:nvSpPr>
        <p:spPr bwMode="auto">
          <a:xfrm>
            <a:off x="1331913" y="1125538"/>
            <a:ext cx="320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误差信号</a:t>
            </a:r>
            <a:r>
              <a:rPr lang="en-US" altLang="zh-CN" sz="2800" i="1">
                <a:latin typeface="Times New Roman" panose="02020603050405020304" pitchFamily="18" charset="0"/>
              </a:rPr>
              <a:t>E </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114692" name="Rectangle 4">
            <a:extLst>
              <a:ext uri="{FF2B5EF4-FFF2-40B4-BE49-F238E27FC236}">
                <a16:creationId xmlns:a16="http://schemas.microsoft.com/office/drawing/2014/main" id="{7BA7D0EB-85F5-986F-7CA3-5C96A511C0B3}"/>
              </a:ext>
            </a:extLst>
          </p:cNvPr>
          <p:cNvSpPr>
            <a:spLocks noChangeArrowheads="1"/>
          </p:cNvSpPr>
          <p:nvPr/>
        </p:nvSpPr>
        <p:spPr bwMode="auto">
          <a:xfrm>
            <a:off x="1371600" y="2133600"/>
            <a:ext cx="72390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误差信号</a:t>
            </a:r>
            <a:r>
              <a:rPr lang="en-US" altLang="zh-CN" sz="2800" i="1">
                <a:latin typeface="Times New Roman" panose="02020603050405020304" pitchFamily="18" charset="0"/>
                <a:sym typeface="Symbol" panose="05050102010706020507" pitchFamily="18" charset="2"/>
              </a:rPr>
              <a:t>E </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定义为系统期望输出</a:t>
            </a:r>
            <a:r>
              <a:rPr lang="en-US" altLang="zh-CN" sz="2400" i="1">
                <a:latin typeface="Times New Roman" panose="02020603050405020304" pitchFamily="18" charset="0"/>
              </a:rPr>
              <a:t>C</a:t>
            </a:r>
            <a:r>
              <a:rPr lang="en-US" altLang="zh-CN" sz="2400" i="1" baseline="-18000">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800">
                <a:latin typeface="Times New Roman" panose="02020603050405020304" pitchFamily="18" charset="0"/>
              </a:rPr>
              <a:t>与系统实际输出</a:t>
            </a: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800">
                <a:latin typeface="Times New Roman" panose="02020603050405020304" pitchFamily="18" charset="0"/>
              </a:rPr>
              <a:t>之差，即：</a:t>
            </a:r>
          </a:p>
        </p:txBody>
      </p:sp>
      <p:sp>
        <p:nvSpPr>
          <p:cNvPr id="114693" name="Rectangle 5">
            <a:extLst>
              <a:ext uri="{FF2B5EF4-FFF2-40B4-BE49-F238E27FC236}">
                <a16:creationId xmlns:a16="http://schemas.microsoft.com/office/drawing/2014/main" id="{91EC3BC4-9ADA-885B-788B-EF0E48480EAB}"/>
              </a:ext>
            </a:extLst>
          </p:cNvPr>
          <p:cNvSpPr>
            <a:spLocks noChangeArrowheads="1"/>
          </p:cNvSpPr>
          <p:nvPr/>
        </p:nvSpPr>
        <p:spPr bwMode="auto">
          <a:xfrm>
            <a:off x="2057400" y="3276600"/>
            <a:ext cx="2722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E </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400" i="1">
                <a:latin typeface="Times New Roman" panose="02020603050405020304" pitchFamily="18" charset="0"/>
              </a:rPr>
              <a:t>C</a:t>
            </a:r>
            <a:r>
              <a:rPr lang="en-US" altLang="zh-CN" sz="2400" i="1" baseline="-18000">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 </a:t>
            </a: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14694" name="Rectangle 6">
            <a:extLst>
              <a:ext uri="{FF2B5EF4-FFF2-40B4-BE49-F238E27FC236}">
                <a16:creationId xmlns:a16="http://schemas.microsoft.com/office/drawing/2014/main" id="{6C01D485-B4AE-AC8E-3596-71F2F9571385}"/>
              </a:ext>
            </a:extLst>
          </p:cNvPr>
          <p:cNvSpPr>
            <a:spLocks noChangeArrowheads="1"/>
          </p:cNvSpPr>
          <p:nvPr/>
        </p:nvSpPr>
        <p:spPr bwMode="auto">
          <a:xfrm>
            <a:off x="1371600" y="3813175"/>
            <a:ext cx="71628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控制系统的期望输出</a:t>
            </a:r>
            <a:r>
              <a:rPr lang="en-US" altLang="zh-CN" sz="2400" i="1">
                <a:latin typeface="Times New Roman" panose="02020603050405020304" pitchFamily="18" charset="0"/>
              </a:rPr>
              <a:t>C</a:t>
            </a:r>
            <a:r>
              <a:rPr lang="en-US" altLang="zh-CN" sz="2400" i="1" baseline="-18000">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 </a:t>
            </a:r>
            <a:r>
              <a:rPr lang="zh-CN" altLang="en-US" sz="2800">
                <a:latin typeface="Times New Roman" panose="02020603050405020304" pitchFamily="18" charset="0"/>
              </a:rPr>
              <a:t>为偏差信号</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a:latin typeface="Times New Roman" panose="02020603050405020304" pitchFamily="18" charset="0"/>
              </a:rPr>
              <a:t>0</a:t>
            </a:r>
            <a:r>
              <a:rPr lang="zh-CN" altLang="en-US" sz="2800">
                <a:latin typeface="Times New Roman" panose="02020603050405020304" pitchFamily="18" charset="0"/>
              </a:rPr>
              <a:t>时的实际输出值，即此时控制系统无控制作用，实际输出等于期望输出：</a:t>
            </a:r>
          </a:p>
          <a:p>
            <a:pPr eaLnBrk="1" hangingPunct="1">
              <a:lnSpc>
                <a:spcPct val="115000"/>
              </a:lnSpc>
            </a:pPr>
            <a:r>
              <a:rPr lang="zh-CN" altLang="en-US" sz="2800">
                <a:latin typeface="Times New Roman" panose="02020603050405020304" pitchFamily="18" charset="0"/>
              </a:rPr>
              <a:t>        </a:t>
            </a: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800">
                <a:latin typeface="Times New Roman" panose="02020603050405020304" pitchFamily="18" charset="0"/>
              </a:rPr>
              <a:t>＝</a:t>
            </a:r>
            <a:r>
              <a:rPr lang="en-US" altLang="zh-CN" sz="2400" i="1">
                <a:latin typeface="Times New Roman" panose="02020603050405020304" pitchFamily="18" charset="0"/>
              </a:rPr>
              <a:t>C</a:t>
            </a:r>
            <a:r>
              <a:rPr lang="en-US" altLang="zh-CN" sz="2400" i="1" baseline="-18000">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endParaRPr lang="en-US" altLang="zh-C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4692"/>
                                        </p:tgtEl>
                                        <p:attrNameLst>
                                          <p:attrName>style.visibility</p:attrName>
                                        </p:attrNameLst>
                                      </p:cBhvr>
                                      <p:to>
                                        <p:strVal val="visible"/>
                                      </p:to>
                                    </p:set>
                                    <p:anim calcmode="lin" valueType="num">
                                      <p:cBhvr additive="base">
                                        <p:cTn id="7" dur="500" fill="hold"/>
                                        <p:tgtEl>
                                          <p:spTgt spid="114692"/>
                                        </p:tgtEl>
                                        <p:attrNameLst>
                                          <p:attrName>ppt_x</p:attrName>
                                        </p:attrNameLst>
                                      </p:cBhvr>
                                      <p:tavLst>
                                        <p:tav tm="0">
                                          <p:val>
                                            <p:strVal val="#ppt_x"/>
                                          </p:val>
                                        </p:tav>
                                        <p:tav tm="100000">
                                          <p:val>
                                            <p:strVal val="#ppt_x"/>
                                          </p:val>
                                        </p:tav>
                                      </p:tavLst>
                                    </p:anim>
                                    <p:anim calcmode="lin" valueType="num">
                                      <p:cBhvr additive="base">
                                        <p:cTn id="8" dur="500" fill="hold"/>
                                        <p:tgtEl>
                                          <p:spTgt spid="1146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4693"/>
                                        </p:tgtEl>
                                        <p:attrNameLst>
                                          <p:attrName>style.visibility</p:attrName>
                                        </p:attrNameLst>
                                      </p:cBhvr>
                                      <p:to>
                                        <p:strVal val="visible"/>
                                      </p:to>
                                    </p:set>
                                    <p:anim calcmode="lin" valueType="num">
                                      <p:cBhvr additive="base">
                                        <p:cTn id="13" dur="500" fill="hold"/>
                                        <p:tgtEl>
                                          <p:spTgt spid="114693"/>
                                        </p:tgtEl>
                                        <p:attrNameLst>
                                          <p:attrName>ppt_x</p:attrName>
                                        </p:attrNameLst>
                                      </p:cBhvr>
                                      <p:tavLst>
                                        <p:tav tm="0">
                                          <p:val>
                                            <p:strVal val="#ppt_x"/>
                                          </p:val>
                                        </p:tav>
                                        <p:tav tm="100000">
                                          <p:val>
                                            <p:strVal val="#ppt_x"/>
                                          </p:val>
                                        </p:tav>
                                      </p:tavLst>
                                    </p:anim>
                                    <p:anim calcmode="lin" valueType="num">
                                      <p:cBhvr additive="base">
                                        <p:cTn id="14" dur="500" fill="hold"/>
                                        <p:tgtEl>
                                          <p:spTgt spid="11469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4694"/>
                                        </p:tgtEl>
                                        <p:attrNameLst>
                                          <p:attrName>style.visibility</p:attrName>
                                        </p:attrNameLst>
                                      </p:cBhvr>
                                      <p:to>
                                        <p:strVal val="visible"/>
                                      </p:to>
                                    </p:set>
                                    <p:anim calcmode="lin" valueType="num">
                                      <p:cBhvr additive="base">
                                        <p:cTn id="19" dur="500" fill="hold"/>
                                        <p:tgtEl>
                                          <p:spTgt spid="114694"/>
                                        </p:tgtEl>
                                        <p:attrNameLst>
                                          <p:attrName>ppt_x</p:attrName>
                                        </p:attrNameLst>
                                      </p:cBhvr>
                                      <p:tavLst>
                                        <p:tav tm="0">
                                          <p:val>
                                            <p:strVal val="#ppt_x"/>
                                          </p:val>
                                        </p:tav>
                                        <p:tav tm="100000">
                                          <p:val>
                                            <p:strVal val="#ppt_x"/>
                                          </p:val>
                                        </p:tav>
                                      </p:tavLst>
                                    </p:anim>
                                    <p:anim calcmode="lin" valueType="num">
                                      <p:cBhvr additive="base">
                                        <p:cTn id="20" dur="500" fill="hold"/>
                                        <p:tgtEl>
                                          <p:spTgt spid="1146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p:bldP spid="114693" grpId="0"/>
      <p:bldP spid="11469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32A4C9BF-5A72-8A62-5EBD-BC9841ADD00B}"/>
              </a:ext>
            </a:extLst>
          </p:cNvPr>
          <p:cNvSpPr>
            <a:spLocks noChangeArrowheads="1"/>
          </p:cNvSpPr>
          <p:nvPr/>
        </p:nvSpPr>
        <p:spPr bwMode="auto">
          <a:xfrm>
            <a:off x="1258888" y="1052513"/>
            <a:ext cx="72390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由：</a:t>
            </a:r>
            <a:r>
              <a:rPr lang="en-US" altLang="zh-CN" sz="2800" i="1">
                <a:latin typeface="Times New Roman" panose="02020603050405020304" pitchFamily="18" charset="0"/>
                <a:sym typeface="Symbol" panose="05050102010706020507" pitchFamily="18" charset="2"/>
              </a:rPr>
              <a:t> </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a:latin typeface="Times New Roman" panose="02020603050405020304" pitchFamily="18" charset="0"/>
              </a:rPr>
              <a:t>0</a:t>
            </a:r>
          </a:p>
        </p:txBody>
      </p:sp>
      <p:sp>
        <p:nvSpPr>
          <p:cNvPr id="113668" name="Rectangle 4">
            <a:extLst>
              <a:ext uri="{FF2B5EF4-FFF2-40B4-BE49-F238E27FC236}">
                <a16:creationId xmlns:a16="http://schemas.microsoft.com/office/drawing/2014/main" id="{92709AB6-6EA4-2908-CFF8-E4F4AE85BBA9}"/>
              </a:ext>
            </a:extLst>
          </p:cNvPr>
          <p:cNvSpPr>
            <a:spLocks noChangeArrowheads="1"/>
          </p:cNvSpPr>
          <p:nvPr/>
        </p:nvSpPr>
        <p:spPr bwMode="auto">
          <a:xfrm>
            <a:off x="1295400" y="1981200"/>
            <a:ext cx="72390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可得：</a:t>
            </a:r>
            <a:r>
              <a:rPr lang="en-US" altLang="zh-CN" sz="2400" i="1">
                <a:latin typeface="Times New Roman" panose="02020603050405020304" pitchFamily="18" charset="0"/>
              </a:rPr>
              <a:t>C</a:t>
            </a:r>
            <a:r>
              <a:rPr lang="en-US" altLang="zh-CN" sz="2400" i="1" baseline="-18000">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en-US" altLang="zh-CN" sz="2400">
                <a:latin typeface="宋体" panose="02010600030101010101" pitchFamily="2" charset="-122"/>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 </a:t>
            </a:r>
          </a:p>
        </p:txBody>
      </p:sp>
      <p:sp>
        <p:nvSpPr>
          <p:cNvPr id="113669" name="Rectangle 5">
            <a:extLst>
              <a:ext uri="{FF2B5EF4-FFF2-40B4-BE49-F238E27FC236}">
                <a16:creationId xmlns:a16="http://schemas.microsoft.com/office/drawing/2014/main" id="{6A186D26-1076-CB94-AB1C-E00925963075}"/>
              </a:ext>
            </a:extLst>
          </p:cNvPr>
          <p:cNvSpPr>
            <a:spLocks noChangeArrowheads="1"/>
          </p:cNvSpPr>
          <p:nvPr/>
        </p:nvSpPr>
        <p:spPr bwMode="auto">
          <a:xfrm>
            <a:off x="1295400" y="2590800"/>
            <a:ext cx="72390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对于单位反馈系统，</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a:t>
            </a:r>
            <a:r>
              <a:rPr lang="en-US" altLang="zh-CN" sz="2400" i="1">
                <a:latin typeface="Times New Roman" panose="02020603050405020304" pitchFamily="18" charset="0"/>
              </a:rPr>
              <a:t>C</a:t>
            </a:r>
            <a:r>
              <a:rPr lang="en-US" altLang="zh-CN" sz="2400" i="1" baseline="-18000">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 </a:t>
            </a:r>
          </a:p>
        </p:txBody>
      </p:sp>
      <p:sp>
        <p:nvSpPr>
          <p:cNvPr id="113670" name="Rectangle 6">
            <a:extLst>
              <a:ext uri="{FF2B5EF4-FFF2-40B4-BE49-F238E27FC236}">
                <a16:creationId xmlns:a16="http://schemas.microsoft.com/office/drawing/2014/main" id="{B31DA6E3-A00D-1F37-7B5B-EE11CDF6F428}"/>
              </a:ext>
            </a:extLst>
          </p:cNvPr>
          <p:cNvSpPr>
            <a:spLocks noChangeArrowheads="1"/>
          </p:cNvSpPr>
          <p:nvPr/>
        </p:nvSpPr>
        <p:spPr bwMode="auto">
          <a:xfrm>
            <a:off x="1295400" y="329088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偏差信号</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与误差信号</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的关系</a:t>
            </a:r>
          </a:p>
        </p:txBody>
      </p:sp>
      <p:graphicFrame>
        <p:nvGraphicFramePr>
          <p:cNvPr id="113671" name="Object 7">
            <a:extLst>
              <a:ext uri="{FF2B5EF4-FFF2-40B4-BE49-F238E27FC236}">
                <a16:creationId xmlns:a16="http://schemas.microsoft.com/office/drawing/2014/main" id="{A7318187-7A69-CEE8-6E1C-B98AA0953673}"/>
              </a:ext>
            </a:extLst>
          </p:cNvPr>
          <p:cNvGraphicFramePr>
            <a:graphicFrameLocks noChangeAspect="1"/>
          </p:cNvGraphicFramePr>
          <p:nvPr/>
        </p:nvGraphicFramePr>
        <p:xfrm>
          <a:off x="1709738" y="3976688"/>
          <a:ext cx="5037137" cy="1357312"/>
        </p:xfrm>
        <a:graphic>
          <a:graphicData uri="http://schemas.openxmlformats.org/presentationml/2006/ole">
            <mc:AlternateContent xmlns:mc="http://schemas.openxmlformats.org/markup-compatibility/2006">
              <mc:Choice xmlns:v="urn:schemas-microsoft-com:vml" Requires="v">
                <p:oleObj r:id="rId3" imgW="2451100" imgH="660400" progId="Equation.3">
                  <p:embed/>
                </p:oleObj>
              </mc:Choice>
              <mc:Fallback>
                <p:oleObj r:id="rId3" imgW="2451100" imgH="6604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9738" y="3976688"/>
                        <a:ext cx="503713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3672" name="Rectangle 8">
            <a:extLst>
              <a:ext uri="{FF2B5EF4-FFF2-40B4-BE49-F238E27FC236}">
                <a16:creationId xmlns:a16="http://schemas.microsoft.com/office/drawing/2014/main" id="{F643B018-8147-6EB7-A6AC-A20CE9015772}"/>
              </a:ext>
            </a:extLst>
          </p:cNvPr>
          <p:cNvSpPr>
            <a:spLocks noChangeArrowheads="1"/>
          </p:cNvSpPr>
          <p:nvPr/>
        </p:nvSpPr>
        <p:spPr bwMode="auto">
          <a:xfrm>
            <a:off x="1295400" y="5360988"/>
            <a:ext cx="67818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对单位反馈系统：</a:t>
            </a:r>
            <a:r>
              <a:rPr lang="en-US" altLang="zh-CN" sz="2800" i="1">
                <a:latin typeface="Times New Roman" panose="02020603050405020304" pitchFamily="18" charset="0"/>
              </a:rPr>
              <a:t>E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 </a:t>
            </a:r>
            <a:r>
              <a:rPr lang="zh-CN" altLang="en-US" sz="28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3668"/>
                                        </p:tgtEl>
                                        <p:attrNameLst>
                                          <p:attrName>style.visibility</p:attrName>
                                        </p:attrNameLst>
                                      </p:cBhvr>
                                      <p:to>
                                        <p:strVal val="visible"/>
                                      </p:to>
                                    </p:set>
                                    <p:anim calcmode="lin" valueType="num">
                                      <p:cBhvr additive="base">
                                        <p:cTn id="7" dur="500" fill="hold"/>
                                        <p:tgtEl>
                                          <p:spTgt spid="113668"/>
                                        </p:tgtEl>
                                        <p:attrNameLst>
                                          <p:attrName>ppt_x</p:attrName>
                                        </p:attrNameLst>
                                      </p:cBhvr>
                                      <p:tavLst>
                                        <p:tav tm="0">
                                          <p:val>
                                            <p:strVal val="#ppt_x"/>
                                          </p:val>
                                        </p:tav>
                                        <p:tav tm="100000">
                                          <p:val>
                                            <p:strVal val="#ppt_x"/>
                                          </p:val>
                                        </p:tav>
                                      </p:tavLst>
                                    </p:anim>
                                    <p:anim calcmode="lin" valueType="num">
                                      <p:cBhvr additive="base">
                                        <p:cTn id="8" dur="500" fill="hold"/>
                                        <p:tgtEl>
                                          <p:spTgt spid="1136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3669"/>
                                        </p:tgtEl>
                                        <p:attrNameLst>
                                          <p:attrName>style.visibility</p:attrName>
                                        </p:attrNameLst>
                                      </p:cBhvr>
                                      <p:to>
                                        <p:strVal val="visible"/>
                                      </p:to>
                                    </p:set>
                                    <p:anim calcmode="lin" valueType="num">
                                      <p:cBhvr additive="base">
                                        <p:cTn id="13" dur="500" fill="hold"/>
                                        <p:tgtEl>
                                          <p:spTgt spid="113669"/>
                                        </p:tgtEl>
                                        <p:attrNameLst>
                                          <p:attrName>ppt_x</p:attrName>
                                        </p:attrNameLst>
                                      </p:cBhvr>
                                      <p:tavLst>
                                        <p:tav tm="0">
                                          <p:val>
                                            <p:strVal val="#ppt_x"/>
                                          </p:val>
                                        </p:tav>
                                        <p:tav tm="100000">
                                          <p:val>
                                            <p:strVal val="#ppt_x"/>
                                          </p:val>
                                        </p:tav>
                                      </p:tavLst>
                                    </p:anim>
                                    <p:anim calcmode="lin" valueType="num">
                                      <p:cBhvr additive="base">
                                        <p:cTn id="14" dur="500" fill="hold"/>
                                        <p:tgtEl>
                                          <p:spTgt spid="11366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3670"/>
                                        </p:tgtEl>
                                        <p:attrNameLst>
                                          <p:attrName>style.visibility</p:attrName>
                                        </p:attrNameLst>
                                      </p:cBhvr>
                                      <p:to>
                                        <p:strVal val="visible"/>
                                      </p:to>
                                    </p:set>
                                    <p:anim calcmode="lin" valueType="num">
                                      <p:cBhvr additive="base">
                                        <p:cTn id="19" dur="500" fill="hold"/>
                                        <p:tgtEl>
                                          <p:spTgt spid="113670"/>
                                        </p:tgtEl>
                                        <p:attrNameLst>
                                          <p:attrName>ppt_x</p:attrName>
                                        </p:attrNameLst>
                                      </p:cBhvr>
                                      <p:tavLst>
                                        <p:tav tm="0">
                                          <p:val>
                                            <p:strVal val="#ppt_x"/>
                                          </p:val>
                                        </p:tav>
                                        <p:tav tm="100000">
                                          <p:val>
                                            <p:strVal val="#ppt_x"/>
                                          </p:val>
                                        </p:tav>
                                      </p:tavLst>
                                    </p:anim>
                                    <p:anim calcmode="lin" valueType="num">
                                      <p:cBhvr additive="base">
                                        <p:cTn id="20" dur="500" fill="hold"/>
                                        <p:tgtEl>
                                          <p:spTgt spid="11367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3671"/>
                                        </p:tgtEl>
                                        <p:attrNameLst>
                                          <p:attrName>style.visibility</p:attrName>
                                        </p:attrNameLst>
                                      </p:cBhvr>
                                      <p:to>
                                        <p:strVal val="visible"/>
                                      </p:to>
                                    </p:set>
                                    <p:anim calcmode="lin" valueType="num">
                                      <p:cBhvr additive="base">
                                        <p:cTn id="25" dur="500" fill="hold"/>
                                        <p:tgtEl>
                                          <p:spTgt spid="113671"/>
                                        </p:tgtEl>
                                        <p:attrNameLst>
                                          <p:attrName>ppt_x</p:attrName>
                                        </p:attrNameLst>
                                      </p:cBhvr>
                                      <p:tavLst>
                                        <p:tav tm="0">
                                          <p:val>
                                            <p:strVal val="#ppt_x"/>
                                          </p:val>
                                        </p:tav>
                                        <p:tav tm="100000">
                                          <p:val>
                                            <p:strVal val="#ppt_x"/>
                                          </p:val>
                                        </p:tav>
                                      </p:tavLst>
                                    </p:anim>
                                    <p:anim calcmode="lin" valueType="num">
                                      <p:cBhvr additive="base">
                                        <p:cTn id="26" dur="500" fill="hold"/>
                                        <p:tgtEl>
                                          <p:spTgt spid="11367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3672"/>
                                        </p:tgtEl>
                                        <p:attrNameLst>
                                          <p:attrName>style.visibility</p:attrName>
                                        </p:attrNameLst>
                                      </p:cBhvr>
                                      <p:to>
                                        <p:strVal val="visible"/>
                                      </p:to>
                                    </p:set>
                                    <p:anim calcmode="lin" valueType="num">
                                      <p:cBhvr additive="base">
                                        <p:cTn id="31" dur="500" fill="hold"/>
                                        <p:tgtEl>
                                          <p:spTgt spid="113672"/>
                                        </p:tgtEl>
                                        <p:attrNameLst>
                                          <p:attrName>ppt_x</p:attrName>
                                        </p:attrNameLst>
                                      </p:cBhvr>
                                      <p:tavLst>
                                        <p:tav tm="0">
                                          <p:val>
                                            <p:strVal val="#ppt_x"/>
                                          </p:val>
                                        </p:tav>
                                        <p:tav tm="100000">
                                          <p:val>
                                            <p:strVal val="#ppt_x"/>
                                          </p:val>
                                        </p:tav>
                                      </p:tavLst>
                                    </p:anim>
                                    <p:anim calcmode="lin" valueType="num">
                                      <p:cBhvr additive="base">
                                        <p:cTn id="32" dur="500" fill="hold"/>
                                        <p:tgtEl>
                                          <p:spTgt spid="1136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p:bldP spid="113669" grpId="0"/>
      <p:bldP spid="113670" grpId="0"/>
      <p:bldP spid="11367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4EE3AA8E-4FB8-BD13-D98A-DA83F91BE7D1}"/>
              </a:ext>
            </a:extLst>
          </p:cNvPr>
          <p:cNvSpPr>
            <a:spLocks noChangeArrowheads="1"/>
          </p:cNvSpPr>
          <p:nvPr/>
        </p:nvSpPr>
        <p:spPr bwMode="auto">
          <a:xfrm>
            <a:off x="114300" y="23876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1507" name="Rectangle 4">
            <a:extLst>
              <a:ext uri="{FF2B5EF4-FFF2-40B4-BE49-F238E27FC236}">
                <a16:creationId xmlns:a16="http://schemas.microsoft.com/office/drawing/2014/main" id="{659BA0B4-568B-C957-595B-9B26BB4F6BFD}"/>
              </a:ext>
            </a:extLst>
          </p:cNvPr>
          <p:cNvSpPr>
            <a:spLocks noChangeArrowheads="1"/>
          </p:cNvSpPr>
          <p:nvPr/>
        </p:nvSpPr>
        <p:spPr bwMode="auto">
          <a:xfrm>
            <a:off x="971550" y="1052513"/>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稳态误差及计算基本公式</a:t>
            </a:r>
          </a:p>
        </p:txBody>
      </p:sp>
      <p:sp>
        <p:nvSpPr>
          <p:cNvPr id="112645" name="Rectangle 5">
            <a:extLst>
              <a:ext uri="{FF2B5EF4-FFF2-40B4-BE49-F238E27FC236}">
                <a16:creationId xmlns:a16="http://schemas.microsoft.com/office/drawing/2014/main" id="{7BA7F4AC-0DDE-104F-A4DE-EE0DBE97AEF1}"/>
              </a:ext>
            </a:extLst>
          </p:cNvPr>
          <p:cNvSpPr>
            <a:spLocks noChangeArrowheads="1"/>
          </p:cNvSpPr>
          <p:nvPr/>
        </p:nvSpPr>
        <p:spPr bwMode="auto">
          <a:xfrm>
            <a:off x="1295400" y="2043113"/>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稳态误差</a:t>
            </a:r>
            <a:r>
              <a:rPr lang="en-US" altLang="zh-CN" sz="2800" i="1">
                <a:latin typeface="Times New Roman" panose="02020603050405020304" pitchFamily="18" charset="0"/>
              </a:rPr>
              <a:t>e</a:t>
            </a:r>
            <a:r>
              <a:rPr lang="en-US" altLang="zh-CN" sz="2400" i="1" baseline="-18000">
                <a:latin typeface="Times New Roman" panose="02020603050405020304" pitchFamily="18" charset="0"/>
              </a:rPr>
              <a:t>ss</a:t>
            </a:r>
            <a:endParaRPr lang="en-US" altLang="zh-CN" sz="2800">
              <a:latin typeface="Times New Roman" panose="02020603050405020304" pitchFamily="18" charset="0"/>
            </a:endParaRPr>
          </a:p>
        </p:txBody>
      </p:sp>
      <p:sp>
        <p:nvSpPr>
          <p:cNvPr id="112646" name="Rectangle 6">
            <a:extLst>
              <a:ext uri="{FF2B5EF4-FFF2-40B4-BE49-F238E27FC236}">
                <a16:creationId xmlns:a16="http://schemas.microsoft.com/office/drawing/2014/main" id="{D46A5FA3-98CF-910E-2CD3-19126023850E}"/>
              </a:ext>
            </a:extLst>
          </p:cNvPr>
          <p:cNvSpPr>
            <a:spLocks noChangeArrowheads="1"/>
          </p:cNvSpPr>
          <p:nvPr/>
        </p:nvSpPr>
        <p:spPr bwMode="auto">
          <a:xfrm>
            <a:off x="1295400" y="2570163"/>
            <a:ext cx="73914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solidFill>
                  <a:srgbClr val="FF0000"/>
                </a:solidFill>
                <a:latin typeface="宋体" panose="02010600030101010101" pitchFamily="2" charset="-122"/>
              </a:rPr>
              <a:t>稳态误差</a:t>
            </a:r>
            <a:r>
              <a:rPr lang="zh-CN" altLang="en-US" sz="2800">
                <a:latin typeface="宋体" panose="02010600030101010101" pitchFamily="2" charset="-122"/>
              </a:rPr>
              <a:t>：系统的期望输出与实际输出在稳定状态（</a:t>
            </a:r>
            <a:r>
              <a:rPr lang="en-US" altLang="zh-CN" sz="2800">
                <a:latin typeface="Times New Roman" panose="02020603050405020304" pitchFamily="18" charset="0"/>
              </a:rPr>
              <a:t>t</a:t>
            </a:r>
            <a:r>
              <a:rPr lang="en-US" altLang="zh-CN" sz="2800">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）下的差值，即误差信号</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 </a:t>
            </a:r>
            <a:r>
              <a:rPr lang="zh-CN" altLang="en-US" sz="2800">
                <a:latin typeface="Times New Roman" panose="02020603050405020304" pitchFamily="18" charset="0"/>
              </a:rPr>
              <a:t>的稳态分量：</a:t>
            </a:r>
          </a:p>
        </p:txBody>
      </p:sp>
      <p:graphicFrame>
        <p:nvGraphicFramePr>
          <p:cNvPr id="112647" name="Object 7">
            <a:extLst>
              <a:ext uri="{FF2B5EF4-FFF2-40B4-BE49-F238E27FC236}">
                <a16:creationId xmlns:a16="http://schemas.microsoft.com/office/drawing/2014/main" id="{7A3F3523-7E40-196F-E173-EBC5DB7CBAB5}"/>
              </a:ext>
            </a:extLst>
          </p:cNvPr>
          <p:cNvGraphicFramePr>
            <a:graphicFrameLocks noChangeAspect="1"/>
          </p:cNvGraphicFramePr>
          <p:nvPr/>
        </p:nvGraphicFramePr>
        <p:xfrm>
          <a:off x="2971800" y="3965575"/>
          <a:ext cx="1905000" cy="682625"/>
        </p:xfrm>
        <a:graphic>
          <a:graphicData uri="http://schemas.openxmlformats.org/presentationml/2006/ole">
            <mc:AlternateContent xmlns:mc="http://schemas.openxmlformats.org/markup-compatibility/2006">
              <mc:Choice xmlns:v="urn:schemas-microsoft-com:vml" Requires="v">
                <p:oleObj r:id="rId3" imgW="850531" imgH="304668" progId="Equation.3">
                  <p:embed/>
                </p:oleObj>
              </mc:Choice>
              <mc:Fallback>
                <p:oleObj r:id="rId3" imgW="850531" imgH="304668"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3965575"/>
                        <a:ext cx="19050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48" name="Rectangle 8">
            <a:extLst>
              <a:ext uri="{FF2B5EF4-FFF2-40B4-BE49-F238E27FC236}">
                <a16:creationId xmlns:a16="http://schemas.microsoft.com/office/drawing/2014/main" id="{40542744-5B90-B701-0C0F-4A0958976064}"/>
              </a:ext>
            </a:extLst>
          </p:cNvPr>
          <p:cNvSpPr>
            <a:spLocks noChangeArrowheads="1"/>
          </p:cNvSpPr>
          <p:nvPr/>
        </p:nvSpPr>
        <p:spPr bwMode="auto">
          <a:xfrm>
            <a:off x="1295400" y="4648200"/>
            <a:ext cx="7391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根据拉氏变换的终值定理，有：</a:t>
            </a:r>
          </a:p>
        </p:txBody>
      </p:sp>
      <p:graphicFrame>
        <p:nvGraphicFramePr>
          <p:cNvPr id="112649" name="Object 9">
            <a:extLst>
              <a:ext uri="{FF2B5EF4-FFF2-40B4-BE49-F238E27FC236}">
                <a16:creationId xmlns:a16="http://schemas.microsoft.com/office/drawing/2014/main" id="{2C339237-45A8-D8A8-0276-10CD29E07F71}"/>
              </a:ext>
            </a:extLst>
          </p:cNvPr>
          <p:cNvGraphicFramePr>
            <a:graphicFrameLocks noChangeAspect="1"/>
          </p:cNvGraphicFramePr>
          <p:nvPr/>
        </p:nvGraphicFramePr>
        <p:xfrm>
          <a:off x="2927350" y="5402263"/>
          <a:ext cx="3382963" cy="625475"/>
        </p:xfrm>
        <a:graphic>
          <a:graphicData uri="http://schemas.openxmlformats.org/presentationml/2006/ole">
            <mc:AlternateContent xmlns:mc="http://schemas.openxmlformats.org/markup-compatibility/2006">
              <mc:Choice xmlns:v="urn:schemas-microsoft-com:vml" Requires="v">
                <p:oleObj r:id="rId5" imgW="1511300" imgH="279400" progId="Equation.3">
                  <p:embed/>
                </p:oleObj>
              </mc:Choice>
              <mc:Fallback>
                <p:oleObj r:id="rId5" imgW="1511300" imgH="2794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7350" y="5402263"/>
                        <a:ext cx="338296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45"/>
                                        </p:tgtEl>
                                        <p:attrNameLst>
                                          <p:attrName>style.visibility</p:attrName>
                                        </p:attrNameLst>
                                      </p:cBhvr>
                                      <p:to>
                                        <p:strVal val="visible"/>
                                      </p:to>
                                    </p:set>
                                    <p:anim calcmode="lin" valueType="num">
                                      <p:cBhvr additive="base">
                                        <p:cTn id="7" dur="500" fill="hold"/>
                                        <p:tgtEl>
                                          <p:spTgt spid="112645"/>
                                        </p:tgtEl>
                                        <p:attrNameLst>
                                          <p:attrName>ppt_x</p:attrName>
                                        </p:attrNameLst>
                                      </p:cBhvr>
                                      <p:tavLst>
                                        <p:tav tm="0">
                                          <p:val>
                                            <p:strVal val="#ppt_x"/>
                                          </p:val>
                                        </p:tav>
                                        <p:tav tm="100000">
                                          <p:val>
                                            <p:strVal val="#ppt_x"/>
                                          </p:val>
                                        </p:tav>
                                      </p:tavLst>
                                    </p:anim>
                                    <p:anim calcmode="lin" valueType="num">
                                      <p:cBhvr additive="base">
                                        <p:cTn id="8" dur="500" fill="hold"/>
                                        <p:tgtEl>
                                          <p:spTgt spid="11264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2646"/>
                                        </p:tgtEl>
                                        <p:attrNameLst>
                                          <p:attrName>style.visibility</p:attrName>
                                        </p:attrNameLst>
                                      </p:cBhvr>
                                      <p:to>
                                        <p:strVal val="visible"/>
                                      </p:to>
                                    </p:set>
                                    <p:anim calcmode="lin" valueType="num">
                                      <p:cBhvr additive="base">
                                        <p:cTn id="13" dur="500" fill="hold"/>
                                        <p:tgtEl>
                                          <p:spTgt spid="112646"/>
                                        </p:tgtEl>
                                        <p:attrNameLst>
                                          <p:attrName>ppt_x</p:attrName>
                                        </p:attrNameLst>
                                      </p:cBhvr>
                                      <p:tavLst>
                                        <p:tav tm="0">
                                          <p:val>
                                            <p:strVal val="#ppt_x"/>
                                          </p:val>
                                        </p:tav>
                                        <p:tav tm="100000">
                                          <p:val>
                                            <p:strVal val="#ppt_x"/>
                                          </p:val>
                                        </p:tav>
                                      </p:tavLst>
                                    </p:anim>
                                    <p:anim calcmode="lin" valueType="num">
                                      <p:cBhvr additive="base">
                                        <p:cTn id="14" dur="500" fill="hold"/>
                                        <p:tgtEl>
                                          <p:spTgt spid="11264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2647"/>
                                        </p:tgtEl>
                                        <p:attrNameLst>
                                          <p:attrName>style.visibility</p:attrName>
                                        </p:attrNameLst>
                                      </p:cBhvr>
                                      <p:to>
                                        <p:strVal val="visible"/>
                                      </p:to>
                                    </p:set>
                                    <p:anim calcmode="lin" valueType="num">
                                      <p:cBhvr additive="base">
                                        <p:cTn id="19" dur="500" fill="hold"/>
                                        <p:tgtEl>
                                          <p:spTgt spid="112647"/>
                                        </p:tgtEl>
                                        <p:attrNameLst>
                                          <p:attrName>ppt_x</p:attrName>
                                        </p:attrNameLst>
                                      </p:cBhvr>
                                      <p:tavLst>
                                        <p:tav tm="0">
                                          <p:val>
                                            <p:strVal val="#ppt_x"/>
                                          </p:val>
                                        </p:tav>
                                        <p:tav tm="100000">
                                          <p:val>
                                            <p:strVal val="#ppt_x"/>
                                          </p:val>
                                        </p:tav>
                                      </p:tavLst>
                                    </p:anim>
                                    <p:anim calcmode="lin" valueType="num">
                                      <p:cBhvr additive="base">
                                        <p:cTn id="20" dur="500" fill="hold"/>
                                        <p:tgtEl>
                                          <p:spTgt spid="11264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2648"/>
                                        </p:tgtEl>
                                        <p:attrNameLst>
                                          <p:attrName>style.visibility</p:attrName>
                                        </p:attrNameLst>
                                      </p:cBhvr>
                                      <p:to>
                                        <p:strVal val="visible"/>
                                      </p:to>
                                    </p:set>
                                    <p:anim calcmode="lin" valueType="num">
                                      <p:cBhvr additive="base">
                                        <p:cTn id="25" dur="500" fill="hold"/>
                                        <p:tgtEl>
                                          <p:spTgt spid="112648"/>
                                        </p:tgtEl>
                                        <p:attrNameLst>
                                          <p:attrName>ppt_x</p:attrName>
                                        </p:attrNameLst>
                                      </p:cBhvr>
                                      <p:tavLst>
                                        <p:tav tm="0">
                                          <p:val>
                                            <p:strVal val="#ppt_x"/>
                                          </p:val>
                                        </p:tav>
                                        <p:tav tm="100000">
                                          <p:val>
                                            <p:strVal val="#ppt_x"/>
                                          </p:val>
                                        </p:tav>
                                      </p:tavLst>
                                    </p:anim>
                                    <p:anim calcmode="lin" valueType="num">
                                      <p:cBhvr additive="base">
                                        <p:cTn id="26" dur="500" fill="hold"/>
                                        <p:tgtEl>
                                          <p:spTgt spid="11264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2649"/>
                                        </p:tgtEl>
                                        <p:attrNameLst>
                                          <p:attrName>style.visibility</p:attrName>
                                        </p:attrNameLst>
                                      </p:cBhvr>
                                      <p:to>
                                        <p:strVal val="visible"/>
                                      </p:to>
                                    </p:set>
                                    <p:anim calcmode="lin" valueType="num">
                                      <p:cBhvr additive="base">
                                        <p:cTn id="31" dur="500" fill="hold"/>
                                        <p:tgtEl>
                                          <p:spTgt spid="112649"/>
                                        </p:tgtEl>
                                        <p:attrNameLst>
                                          <p:attrName>ppt_x</p:attrName>
                                        </p:attrNameLst>
                                      </p:cBhvr>
                                      <p:tavLst>
                                        <p:tav tm="0">
                                          <p:val>
                                            <p:strVal val="#ppt_x"/>
                                          </p:val>
                                        </p:tav>
                                        <p:tav tm="100000">
                                          <p:val>
                                            <p:strVal val="#ppt_x"/>
                                          </p:val>
                                        </p:tav>
                                      </p:tavLst>
                                    </p:anim>
                                    <p:anim calcmode="lin" valueType="num">
                                      <p:cBhvr additive="base">
                                        <p:cTn id="32" dur="500" fill="hold"/>
                                        <p:tgtEl>
                                          <p:spTgt spid="1126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6" grpId="0"/>
      <p:bldP spid="1126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E9B7E03C-689E-D9E1-A725-DE329F6F15CC}"/>
              </a:ext>
            </a:extLst>
          </p:cNvPr>
          <p:cNvSpPr>
            <a:spLocks noChangeArrowheads="1"/>
          </p:cNvSpPr>
          <p:nvPr/>
        </p:nvSpPr>
        <p:spPr bwMode="auto">
          <a:xfrm>
            <a:off x="1295400" y="182880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稳态误差的计算</a:t>
            </a:r>
          </a:p>
        </p:txBody>
      </p:sp>
      <p:sp>
        <p:nvSpPr>
          <p:cNvPr id="111620" name="Rectangle 4">
            <a:extLst>
              <a:ext uri="{FF2B5EF4-FFF2-40B4-BE49-F238E27FC236}">
                <a16:creationId xmlns:a16="http://schemas.microsoft.com/office/drawing/2014/main" id="{6490B605-0C1F-B480-C7C6-7CC91713B599}"/>
              </a:ext>
            </a:extLst>
          </p:cNvPr>
          <p:cNvSpPr>
            <a:spLocks noChangeArrowheads="1"/>
          </p:cNvSpPr>
          <p:nvPr/>
        </p:nvSpPr>
        <p:spPr bwMode="auto">
          <a:xfrm>
            <a:off x="1295400" y="2362200"/>
            <a:ext cx="7391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系统在输入作用下的偏差传递函数为：</a:t>
            </a:r>
            <a:r>
              <a:rPr lang="zh-CN" altLang="en-US" sz="2800">
                <a:latin typeface="Times New Roman" panose="02020603050405020304" pitchFamily="18" charset="0"/>
              </a:rPr>
              <a:t> </a:t>
            </a:r>
          </a:p>
        </p:txBody>
      </p:sp>
      <p:graphicFrame>
        <p:nvGraphicFramePr>
          <p:cNvPr id="111621" name="Object 5">
            <a:extLst>
              <a:ext uri="{FF2B5EF4-FFF2-40B4-BE49-F238E27FC236}">
                <a16:creationId xmlns:a16="http://schemas.microsoft.com/office/drawing/2014/main" id="{9B30EEA1-08F0-965D-F50A-637A7B9BCB0E}"/>
              </a:ext>
            </a:extLst>
          </p:cNvPr>
          <p:cNvGraphicFramePr>
            <a:graphicFrameLocks noChangeAspect="1"/>
          </p:cNvGraphicFramePr>
          <p:nvPr/>
        </p:nvGraphicFramePr>
        <p:xfrm>
          <a:off x="2271713" y="3048000"/>
          <a:ext cx="3609975" cy="850900"/>
        </p:xfrm>
        <a:graphic>
          <a:graphicData uri="http://schemas.openxmlformats.org/presentationml/2006/ole">
            <mc:AlternateContent xmlns:mc="http://schemas.openxmlformats.org/markup-compatibility/2006">
              <mc:Choice xmlns:v="urn:schemas-microsoft-com:vml" Requires="v">
                <p:oleObj r:id="rId3" imgW="1828800" imgH="431800" progId="Equation.3">
                  <p:embed/>
                </p:oleObj>
              </mc:Choice>
              <mc:Fallback>
                <p:oleObj r:id="rId3" imgW="18288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1713" y="3048000"/>
                        <a:ext cx="360997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BF29E363-8CFA-0881-7E76-8557F01A7B0A}"/>
              </a:ext>
            </a:extLst>
          </p:cNvPr>
          <p:cNvGrpSpPr>
            <a:grpSpLocks/>
          </p:cNvGrpSpPr>
          <p:nvPr/>
        </p:nvGrpSpPr>
        <p:grpSpPr bwMode="auto">
          <a:xfrm>
            <a:off x="1314450" y="4089400"/>
            <a:ext cx="3703638" cy="676275"/>
            <a:chOff x="828" y="2576"/>
            <a:chExt cx="2333" cy="426"/>
          </a:xfrm>
        </p:grpSpPr>
        <p:graphicFrame>
          <p:nvGraphicFramePr>
            <p:cNvPr id="23577" name="Object 7">
              <a:extLst>
                <a:ext uri="{FF2B5EF4-FFF2-40B4-BE49-F238E27FC236}">
                  <a16:creationId xmlns:a16="http://schemas.microsoft.com/office/drawing/2014/main" id="{B56E7610-2AC6-4CB5-F051-D4729DDA0CAA}"/>
                </a:ext>
              </a:extLst>
            </p:cNvPr>
            <p:cNvGraphicFramePr>
              <a:graphicFrameLocks noChangeAspect="1"/>
            </p:cNvGraphicFramePr>
            <p:nvPr/>
          </p:nvGraphicFramePr>
          <p:xfrm>
            <a:off x="1590" y="2576"/>
            <a:ext cx="1571" cy="426"/>
          </p:xfrm>
          <a:graphic>
            <a:graphicData uri="http://schemas.openxmlformats.org/presentationml/2006/ole">
              <mc:AlternateContent xmlns:mc="http://schemas.openxmlformats.org/markup-compatibility/2006">
                <mc:Choice xmlns:v="urn:schemas-microsoft-com:vml" Requires="v">
                  <p:oleObj r:id="rId5" imgW="1562100" imgH="419100" progId="Equation.3">
                    <p:embed/>
                  </p:oleObj>
                </mc:Choice>
                <mc:Fallback>
                  <p:oleObj r:id="rId5" imgW="1562100" imgH="419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 y="2576"/>
                          <a:ext cx="1571"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78" name="Rectangle 8">
              <a:extLst>
                <a:ext uri="{FF2B5EF4-FFF2-40B4-BE49-F238E27FC236}">
                  <a16:creationId xmlns:a16="http://schemas.microsoft.com/office/drawing/2014/main" id="{87B5AA4D-16C9-AB71-2ACD-C2B78F8C014A}"/>
                </a:ext>
              </a:extLst>
            </p:cNvPr>
            <p:cNvSpPr>
              <a:spLocks noChangeArrowheads="1"/>
            </p:cNvSpPr>
            <p:nvPr/>
          </p:nvSpPr>
          <p:spPr bwMode="auto">
            <a:xfrm>
              <a:off x="828" y="2601"/>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即：</a:t>
              </a:r>
            </a:p>
          </p:txBody>
        </p:sp>
      </p:grpSp>
      <p:graphicFrame>
        <p:nvGraphicFramePr>
          <p:cNvPr id="111625" name="Object 9">
            <a:extLst>
              <a:ext uri="{FF2B5EF4-FFF2-40B4-BE49-F238E27FC236}">
                <a16:creationId xmlns:a16="http://schemas.microsoft.com/office/drawing/2014/main" id="{E4486D0E-F6A9-72A6-7B4F-EB7B804BD28B}"/>
              </a:ext>
            </a:extLst>
          </p:cNvPr>
          <p:cNvGraphicFramePr>
            <a:graphicFrameLocks noChangeAspect="1"/>
          </p:cNvGraphicFramePr>
          <p:nvPr/>
        </p:nvGraphicFramePr>
        <p:xfrm>
          <a:off x="2112963" y="5445125"/>
          <a:ext cx="5645150" cy="769938"/>
        </p:xfrm>
        <a:graphic>
          <a:graphicData uri="http://schemas.openxmlformats.org/presentationml/2006/ole">
            <mc:AlternateContent xmlns:mc="http://schemas.openxmlformats.org/markup-compatibility/2006">
              <mc:Choice xmlns:v="urn:schemas-microsoft-com:vml" Requires="v">
                <p:oleObj r:id="rId7" imgW="3086100" imgH="419100" progId="Equation.3">
                  <p:embed/>
                </p:oleObj>
              </mc:Choice>
              <mc:Fallback>
                <p:oleObj r:id="rId7" imgW="30861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963" y="5445125"/>
                        <a:ext cx="564515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1626" name="Rectangle 10">
            <a:extLst>
              <a:ext uri="{FF2B5EF4-FFF2-40B4-BE49-F238E27FC236}">
                <a16:creationId xmlns:a16="http://schemas.microsoft.com/office/drawing/2014/main" id="{5121E7B8-880F-F10C-26F2-E5627D9A202F}"/>
              </a:ext>
            </a:extLst>
          </p:cNvPr>
          <p:cNvSpPr>
            <a:spLocks noChangeArrowheads="1"/>
          </p:cNvSpPr>
          <p:nvPr/>
        </p:nvSpPr>
        <p:spPr bwMode="auto">
          <a:xfrm>
            <a:off x="1295400" y="4891088"/>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利用拉氏变换的终值定理，系统稳态偏差为：</a:t>
            </a:r>
          </a:p>
        </p:txBody>
      </p:sp>
      <p:grpSp>
        <p:nvGrpSpPr>
          <p:cNvPr id="23560" name="Group 6">
            <a:extLst>
              <a:ext uri="{FF2B5EF4-FFF2-40B4-BE49-F238E27FC236}">
                <a16:creationId xmlns:a16="http://schemas.microsoft.com/office/drawing/2014/main" id="{C27B57EB-D323-3D51-6C6C-98B2C1626F6E}"/>
              </a:ext>
            </a:extLst>
          </p:cNvPr>
          <p:cNvGrpSpPr>
            <a:grpSpLocks/>
          </p:cNvGrpSpPr>
          <p:nvPr/>
        </p:nvGrpSpPr>
        <p:grpSpPr bwMode="auto">
          <a:xfrm>
            <a:off x="4572000" y="68263"/>
            <a:ext cx="4324350" cy="1562100"/>
            <a:chOff x="1310" y="2088"/>
            <a:chExt cx="2944" cy="984"/>
          </a:xfrm>
        </p:grpSpPr>
        <p:sp>
          <p:nvSpPr>
            <p:cNvPr id="23561" name="Rectangle 7">
              <a:extLst>
                <a:ext uri="{FF2B5EF4-FFF2-40B4-BE49-F238E27FC236}">
                  <a16:creationId xmlns:a16="http://schemas.microsoft.com/office/drawing/2014/main" id="{F8F34A1E-014B-BA28-77EA-72C386DF65AA}"/>
                </a:ext>
              </a:extLst>
            </p:cNvPr>
            <p:cNvSpPr>
              <a:spLocks noChangeArrowheads="1"/>
            </p:cNvSpPr>
            <p:nvPr/>
          </p:nvSpPr>
          <p:spPr bwMode="auto">
            <a:xfrm>
              <a:off x="2609" y="2739"/>
              <a:ext cx="695" cy="33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23562" name="Line 8">
              <a:extLst>
                <a:ext uri="{FF2B5EF4-FFF2-40B4-BE49-F238E27FC236}">
                  <a16:creationId xmlns:a16="http://schemas.microsoft.com/office/drawing/2014/main" id="{ABF9589D-7321-FA7A-F30A-ACBBA078DE09}"/>
                </a:ext>
              </a:extLst>
            </p:cNvPr>
            <p:cNvSpPr>
              <a:spLocks noChangeShapeType="1"/>
            </p:cNvSpPr>
            <p:nvPr/>
          </p:nvSpPr>
          <p:spPr bwMode="auto">
            <a:xfrm>
              <a:off x="2054" y="2412"/>
              <a:ext cx="55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3" name="Line 9">
              <a:extLst>
                <a:ext uri="{FF2B5EF4-FFF2-40B4-BE49-F238E27FC236}">
                  <a16:creationId xmlns:a16="http://schemas.microsoft.com/office/drawing/2014/main" id="{06A4831F-9C06-16FA-E36E-ACF63266A107}"/>
                </a:ext>
              </a:extLst>
            </p:cNvPr>
            <p:cNvSpPr>
              <a:spLocks noChangeShapeType="1"/>
            </p:cNvSpPr>
            <p:nvPr/>
          </p:nvSpPr>
          <p:spPr bwMode="auto">
            <a:xfrm>
              <a:off x="3304" y="2404"/>
              <a:ext cx="8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4" name="Line 10">
              <a:extLst>
                <a:ext uri="{FF2B5EF4-FFF2-40B4-BE49-F238E27FC236}">
                  <a16:creationId xmlns:a16="http://schemas.microsoft.com/office/drawing/2014/main" id="{80C5BF94-6DA7-0CE9-EC2F-276A8E4AA184}"/>
                </a:ext>
              </a:extLst>
            </p:cNvPr>
            <p:cNvSpPr>
              <a:spLocks noChangeShapeType="1"/>
            </p:cNvSpPr>
            <p:nvPr/>
          </p:nvSpPr>
          <p:spPr bwMode="auto">
            <a:xfrm flipH="1">
              <a:off x="3751" y="2404"/>
              <a:ext cx="0" cy="5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5" name="Line 11">
              <a:extLst>
                <a:ext uri="{FF2B5EF4-FFF2-40B4-BE49-F238E27FC236}">
                  <a16:creationId xmlns:a16="http://schemas.microsoft.com/office/drawing/2014/main" id="{01DE65FA-193C-A660-A956-3D8B37C6AF5A}"/>
                </a:ext>
              </a:extLst>
            </p:cNvPr>
            <p:cNvSpPr>
              <a:spLocks noChangeShapeType="1"/>
            </p:cNvSpPr>
            <p:nvPr/>
          </p:nvSpPr>
          <p:spPr bwMode="auto">
            <a:xfrm flipH="1" flipV="1">
              <a:off x="3304" y="2906"/>
              <a:ext cx="4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6" name="Line 12">
              <a:extLst>
                <a:ext uri="{FF2B5EF4-FFF2-40B4-BE49-F238E27FC236}">
                  <a16:creationId xmlns:a16="http://schemas.microsoft.com/office/drawing/2014/main" id="{5C74718A-93EA-9B5E-A7A4-48D6A7771A52}"/>
                </a:ext>
              </a:extLst>
            </p:cNvPr>
            <p:cNvSpPr>
              <a:spLocks noChangeShapeType="1"/>
            </p:cNvSpPr>
            <p:nvPr/>
          </p:nvSpPr>
          <p:spPr bwMode="auto">
            <a:xfrm flipH="1">
              <a:off x="1961" y="2906"/>
              <a:ext cx="64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7" name="Line 13">
              <a:extLst>
                <a:ext uri="{FF2B5EF4-FFF2-40B4-BE49-F238E27FC236}">
                  <a16:creationId xmlns:a16="http://schemas.microsoft.com/office/drawing/2014/main" id="{3F0AD83C-8A92-FB4B-1C0B-B1097A39D99C}"/>
                </a:ext>
              </a:extLst>
            </p:cNvPr>
            <p:cNvSpPr>
              <a:spLocks noChangeShapeType="1"/>
            </p:cNvSpPr>
            <p:nvPr/>
          </p:nvSpPr>
          <p:spPr bwMode="auto">
            <a:xfrm flipV="1">
              <a:off x="1968" y="2488"/>
              <a:ext cx="0" cy="41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8" name="Text Box 14">
              <a:extLst>
                <a:ext uri="{FF2B5EF4-FFF2-40B4-BE49-F238E27FC236}">
                  <a16:creationId xmlns:a16="http://schemas.microsoft.com/office/drawing/2014/main" id="{824B2760-278F-FCA3-7DA8-B178B5A133D9}"/>
                </a:ext>
              </a:extLst>
            </p:cNvPr>
            <p:cNvSpPr txBox="1">
              <a:spLocks noChangeArrowheads="1"/>
            </p:cNvSpPr>
            <p:nvPr/>
          </p:nvSpPr>
          <p:spPr bwMode="auto">
            <a:xfrm>
              <a:off x="1822" y="2246"/>
              <a:ext cx="33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23569" name="Line 15">
              <a:extLst>
                <a:ext uri="{FF2B5EF4-FFF2-40B4-BE49-F238E27FC236}">
                  <a16:creationId xmlns:a16="http://schemas.microsoft.com/office/drawing/2014/main" id="{738726AE-C02F-F536-57CF-33548B31C860}"/>
                </a:ext>
              </a:extLst>
            </p:cNvPr>
            <p:cNvSpPr>
              <a:spLocks noChangeShapeType="1"/>
            </p:cNvSpPr>
            <p:nvPr/>
          </p:nvSpPr>
          <p:spPr bwMode="auto">
            <a:xfrm>
              <a:off x="1321" y="2411"/>
              <a:ext cx="55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0" name="Text Box 16">
              <a:extLst>
                <a:ext uri="{FF2B5EF4-FFF2-40B4-BE49-F238E27FC236}">
                  <a16:creationId xmlns:a16="http://schemas.microsoft.com/office/drawing/2014/main" id="{F3CC906B-899D-0B98-FFAB-F1DE23536C38}"/>
                </a:ext>
              </a:extLst>
            </p:cNvPr>
            <p:cNvSpPr txBox="1">
              <a:spLocks noChangeArrowheads="1"/>
            </p:cNvSpPr>
            <p:nvPr/>
          </p:nvSpPr>
          <p:spPr bwMode="auto">
            <a:xfrm>
              <a:off x="1310" y="2112"/>
              <a:ext cx="4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23571" name="Text Box 17">
              <a:extLst>
                <a:ext uri="{FF2B5EF4-FFF2-40B4-BE49-F238E27FC236}">
                  <a16:creationId xmlns:a16="http://schemas.microsoft.com/office/drawing/2014/main" id="{29415080-99C7-9A2D-6411-917E96E22E19}"/>
                </a:ext>
              </a:extLst>
            </p:cNvPr>
            <p:cNvSpPr txBox="1">
              <a:spLocks noChangeArrowheads="1"/>
            </p:cNvSpPr>
            <p:nvPr/>
          </p:nvSpPr>
          <p:spPr bwMode="auto">
            <a:xfrm>
              <a:off x="3767" y="2088"/>
              <a:ext cx="4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23572" name="Text Box 18">
              <a:extLst>
                <a:ext uri="{FF2B5EF4-FFF2-40B4-BE49-F238E27FC236}">
                  <a16:creationId xmlns:a16="http://schemas.microsoft.com/office/drawing/2014/main" id="{7275D105-9456-BFD8-E2AC-03EDFD77CA65}"/>
                </a:ext>
              </a:extLst>
            </p:cNvPr>
            <p:cNvSpPr txBox="1">
              <a:spLocks noChangeArrowheads="1"/>
            </p:cNvSpPr>
            <p:nvPr/>
          </p:nvSpPr>
          <p:spPr bwMode="auto">
            <a:xfrm>
              <a:off x="1545" y="2579"/>
              <a:ext cx="4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23573" name="Text Box 19">
              <a:extLst>
                <a:ext uri="{FF2B5EF4-FFF2-40B4-BE49-F238E27FC236}">
                  <a16:creationId xmlns:a16="http://schemas.microsoft.com/office/drawing/2014/main" id="{9A43B9D6-4705-F85B-C999-C0A024B2F69C}"/>
                </a:ext>
              </a:extLst>
            </p:cNvPr>
            <p:cNvSpPr txBox="1">
              <a:spLocks noChangeArrowheads="1"/>
            </p:cNvSpPr>
            <p:nvPr/>
          </p:nvSpPr>
          <p:spPr bwMode="auto">
            <a:xfrm>
              <a:off x="2051" y="2116"/>
              <a:ext cx="4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23574" name="Line 20">
              <a:extLst>
                <a:ext uri="{FF2B5EF4-FFF2-40B4-BE49-F238E27FC236}">
                  <a16:creationId xmlns:a16="http://schemas.microsoft.com/office/drawing/2014/main" id="{ACDE47AE-D1A3-8404-8D70-012D0CE462A4}"/>
                </a:ext>
              </a:extLst>
            </p:cNvPr>
            <p:cNvSpPr>
              <a:spLocks noChangeShapeType="1"/>
            </p:cNvSpPr>
            <p:nvPr/>
          </p:nvSpPr>
          <p:spPr bwMode="auto">
            <a:xfrm>
              <a:off x="2008" y="2621"/>
              <a:ext cx="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5" name="Rectangle 21">
              <a:extLst>
                <a:ext uri="{FF2B5EF4-FFF2-40B4-BE49-F238E27FC236}">
                  <a16:creationId xmlns:a16="http://schemas.microsoft.com/office/drawing/2014/main" id="{BC9EFABF-84FD-882E-058F-9A317EAEF801}"/>
                </a:ext>
              </a:extLst>
            </p:cNvPr>
            <p:cNvSpPr>
              <a:spLocks noChangeArrowheads="1"/>
            </p:cNvSpPr>
            <p:nvPr/>
          </p:nvSpPr>
          <p:spPr bwMode="auto">
            <a:xfrm>
              <a:off x="2609" y="2238"/>
              <a:ext cx="695" cy="33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23576" name="Oval 22">
              <a:extLst>
                <a:ext uri="{FF2B5EF4-FFF2-40B4-BE49-F238E27FC236}">
                  <a16:creationId xmlns:a16="http://schemas.microsoft.com/office/drawing/2014/main" id="{0C929BB9-FD24-60AE-2520-7798D6F3947B}"/>
                </a:ext>
              </a:extLst>
            </p:cNvPr>
            <p:cNvSpPr>
              <a:spLocks noChangeArrowheads="1"/>
            </p:cNvSpPr>
            <p:nvPr/>
          </p:nvSpPr>
          <p:spPr bwMode="auto">
            <a:xfrm>
              <a:off x="3729" y="2384"/>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1620"/>
                                        </p:tgtEl>
                                        <p:attrNameLst>
                                          <p:attrName>style.visibility</p:attrName>
                                        </p:attrNameLst>
                                      </p:cBhvr>
                                      <p:to>
                                        <p:strVal val="visible"/>
                                      </p:to>
                                    </p:set>
                                    <p:anim calcmode="lin" valueType="num">
                                      <p:cBhvr additive="base">
                                        <p:cTn id="7" dur="500" fill="hold"/>
                                        <p:tgtEl>
                                          <p:spTgt spid="111620"/>
                                        </p:tgtEl>
                                        <p:attrNameLst>
                                          <p:attrName>ppt_x</p:attrName>
                                        </p:attrNameLst>
                                      </p:cBhvr>
                                      <p:tavLst>
                                        <p:tav tm="0">
                                          <p:val>
                                            <p:strVal val="#ppt_x"/>
                                          </p:val>
                                        </p:tav>
                                        <p:tav tm="100000">
                                          <p:val>
                                            <p:strVal val="#ppt_x"/>
                                          </p:val>
                                        </p:tav>
                                      </p:tavLst>
                                    </p:anim>
                                    <p:anim calcmode="lin" valueType="num">
                                      <p:cBhvr additive="base">
                                        <p:cTn id="8" dur="500" fill="hold"/>
                                        <p:tgtEl>
                                          <p:spTgt spid="1116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1621"/>
                                        </p:tgtEl>
                                        <p:attrNameLst>
                                          <p:attrName>style.visibility</p:attrName>
                                        </p:attrNameLst>
                                      </p:cBhvr>
                                      <p:to>
                                        <p:strVal val="visible"/>
                                      </p:to>
                                    </p:set>
                                    <p:anim calcmode="lin" valueType="num">
                                      <p:cBhvr additive="base">
                                        <p:cTn id="13" dur="500" fill="hold"/>
                                        <p:tgtEl>
                                          <p:spTgt spid="111621"/>
                                        </p:tgtEl>
                                        <p:attrNameLst>
                                          <p:attrName>ppt_x</p:attrName>
                                        </p:attrNameLst>
                                      </p:cBhvr>
                                      <p:tavLst>
                                        <p:tav tm="0">
                                          <p:val>
                                            <p:strVal val="#ppt_x"/>
                                          </p:val>
                                        </p:tav>
                                        <p:tav tm="100000">
                                          <p:val>
                                            <p:strVal val="#ppt_x"/>
                                          </p:val>
                                        </p:tav>
                                      </p:tavLst>
                                    </p:anim>
                                    <p:anim calcmode="lin" valueType="num">
                                      <p:cBhvr additive="base">
                                        <p:cTn id="14" dur="500" fill="hold"/>
                                        <p:tgtEl>
                                          <p:spTgt spid="1116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1626"/>
                                        </p:tgtEl>
                                        <p:attrNameLst>
                                          <p:attrName>style.visibility</p:attrName>
                                        </p:attrNameLst>
                                      </p:cBhvr>
                                      <p:to>
                                        <p:strVal val="visible"/>
                                      </p:to>
                                    </p:set>
                                    <p:anim calcmode="lin" valueType="num">
                                      <p:cBhvr additive="base">
                                        <p:cTn id="25" dur="500" fill="hold"/>
                                        <p:tgtEl>
                                          <p:spTgt spid="111626"/>
                                        </p:tgtEl>
                                        <p:attrNameLst>
                                          <p:attrName>ppt_x</p:attrName>
                                        </p:attrNameLst>
                                      </p:cBhvr>
                                      <p:tavLst>
                                        <p:tav tm="0">
                                          <p:val>
                                            <p:strVal val="#ppt_x"/>
                                          </p:val>
                                        </p:tav>
                                        <p:tav tm="100000">
                                          <p:val>
                                            <p:strVal val="#ppt_x"/>
                                          </p:val>
                                        </p:tav>
                                      </p:tavLst>
                                    </p:anim>
                                    <p:anim calcmode="lin" valueType="num">
                                      <p:cBhvr additive="base">
                                        <p:cTn id="26" dur="500" fill="hold"/>
                                        <p:tgtEl>
                                          <p:spTgt spid="11162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1625"/>
                                        </p:tgtEl>
                                        <p:attrNameLst>
                                          <p:attrName>style.visibility</p:attrName>
                                        </p:attrNameLst>
                                      </p:cBhvr>
                                      <p:to>
                                        <p:strVal val="visible"/>
                                      </p:to>
                                    </p:set>
                                    <p:anim calcmode="lin" valueType="num">
                                      <p:cBhvr additive="base">
                                        <p:cTn id="31" dur="500" fill="hold"/>
                                        <p:tgtEl>
                                          <p:spTgt spid="111625"/>
                                        </p:tgtEl>
                                        <p:attrNameLst>
                                          <p:attrName>ppt_x</p:attrName>
                                        </p:attrNameLst>
                                      </p:cBhvr>
                                      <p:tavLst>
                                        <p:tav tm="0">
                                          <p:val>
                                            <p:strVal val="#ppt_x"/>
                                          </p:val>
                                        </p:tav>
                                        <p:tav tm="100000">
                                          <p:val>
                                            <p:strVal val="#ppt_x"/>
                                          </p:val>
                                        </p:tav>
                                      </p:tavLst>
                                    </p:anim>
                                    <p:anim calcmode="lin" valueType="num">
                                      <p:cBhvr additive="base">
                                        <p:cTn id="32" dur="500" fill="hold"/>
                                        <p:tgtEl>
                                          <p:spTgt spid="1116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p:bldP spid="1116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5" name="Object 3">
            <a:extLst>
              <a:ext uri="{FF2B5EF4-FFF2-40B4-BE49-F238E27FC236}">
                <a16:creationId xmlns:a16="http://schemas.microsoft.com/office/drawing/2014/main" id="{8071062A-07BE-FEAD-8290-AEF3F31F8F80}"/>
              </a:ext>
            </a:extLst>
          </p:cNvPr>
          <p:cNvGraphicFramePr>
            <a:graphicFrameLocks noChangeAspect="1"/>
          </p:cNvGraphicFramePr>
          <p:nvPr/>
        </p:nvGraphicFramePr>
        <p:xfrm>
          <a:off x="2027238" y="4038600"/>
          <a:ext cx="3413125" cy="814388"/>
        </p:xfrm>
        <a:graphic>
          <a:graphicData uri="http://schemas.openxmlformats.org/presentationml/2006/ole">
            <mc:AlternateContent xmlns:mc="http://schemas.openxmlformats.org/markup-compatibility/2006">
              <mc:Choice xmlns:v="urn:schemas-microsoft-com:vml" Requires="v">
                <p:oleObj r:id="rId3" imgW="1765300" imgH="419100" progId="Equation.3">
                  <p:embed/>
                </p:oleObj>
              </mc:Choice>
              <mc:Fallback>
                <p:oleObj r:id="rId3" imgW="17653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38" y="4038600"/>
                        <a:ext cx="341312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3" name="Rectangle 4">
            <a:extLst>
              <a:ext uri="{FF2B5EF4-FFF2-40B4-BE49-F238E27FC236}">
                <a16:creationId xmlns:a16="http://schemas.microsoft.com/office/drawing/2014/main" id="{1B403B63-AB07-38E2-92E2-AE0676712136}"/>
              </a:ext>
            </a:extLst>
          </p:cNvPr>
          <p:cNvSpPr>
            <a:spLocks noChangeArrowheads="1"/>
          </p:cNvSpPr>
          <p:nvPr/>
        </p:nvSpPr>
        <p:spPr bwMode="auto">
          <a:xfrm>
            <a:off x="1258888" y="1125538"/>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稳态误差：</a:t>
            </a:r>
          </a:p>
        </p:txBody>
      </p:sp>
      <p:graphicFrame>
        <p:nvGraphicFramePr>
          <p:cNvPr id="110597" name="Object 5">
            <a:extLst>
              <a:ext uri="{FF2B5EF4-FFF2-40B4-BE49-F238E27FC236}">
                <a16:creationId xmlns:a16="http://schemas.microsoft.com/office/drawing/2014/main" id="{EFFBF817-6C4D-D30D-8144-3DF33194E2B8}"/>
              </a:ext>
            </a:extLst>
          </p:cNvPr>
          <p:cNvGraphicFramePr>
            <a:graphicFrameLocks noChangeAspect="1"/>
          </p:cNvGraphicFramePr>
          <p:nvPr/>
        </p:nvGraphicFramePr>
        <p:xfrm>
          <a:off x="1565275" y="1706563"/>
          <a:ext cx="7061200" cy="1689100"/>
        </p:xfrm>
        <a:graphic>
          <a:graphicData uri="http://schemas.openxmlformats.org/presentationml/2006/ole">
            <mc:AlternateContent xmlns:mc="http://schemas.openxmlformats.org/markup-compatibility/2006">
              <mc:Choice xmlns:v="urn:schemas-microsoft-com:vml" Requires="v">
                <p:oleObj r:id="rId5" imgW="3835400" imgH="914400" progId="Equation.3">
                  <p:embed/>
                </p:oleObj>
              </mc:Choice>
              <mc:Fallback>
                <p:oleObj r:id="rId5" imgW="3835400" imgH="914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5275" y="1706563"/>
                        <a:ext cx="706120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0598" name="Rectangle 6">
            <a:extLst>
              <a:ext uri="{FF2B5EF4-FFF2-40B4-BE49-F238E27FC236}">
                <a16:creationId xmlns:a16="http://schemas.microsoft.com/office/drawing/2014/main" id="{E6E00FCB-AFC9-8D09-EFB6-EA0284FDF4EA}"/>
              </a:ext>
            </a:extLst>
          </p:cNvPr>
          <p:cNvSpPr>
            <a:spLocks noChangeArrowheads="1"/>
          </p:cNvSpPr>
          <p:nvPr/>
        </p:nvSpPr>
        <p:spPr bwMode="auto">
          <a:xfrm>
            <a:off x="1295400" y="3452813"/>
            <a:ext cx="3876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对于单位反馈系统：</a:t>
            </a:r>
          </a:p>
        </p:txBody>
      </p:sp>
      <p:sp>
        <p:nvSpPr>
          <p:cNvPr id="110599" name="Rectangle 7">
            <a:extLst>
              <a:ext uri="{FF2B5EF4-FFF2-40B4-BE49-F238E27FC236}">
                <a16:creationId xmlns:a16="http://schemas.microsoft.com/office/drawing/2014/main" id="{8FD31C1C-4C42-790A-0630-32398497100C}"/>
              </a:ext>
            </a:extLst>
          </p:cNvPr>
          <p:cNvSpPr>
            <a:spLocks noChangeArrowheads="1"/>
          </p:cNvSpPr>
          <p:nvPr/>
        </p:nvSpPr>
        <p:spPr bwMode="auto">
          <a:xfrm>
            <a:off x="1295400" y="4876800"/>
            <a:ext cx="73152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显然，系统稳态偏差</a:t>
            </a:r>
            <a:r>
              <a:rPr lang="en-US" altLang="zh-CN" sz="2800">
                <a:latin typeface="Times New Roman" panose="02020603050405020304" pitchFamily="18" charset="0"/>
              </a:rPr>
              <a:t>(</a:t>
            </a:r>
            <a:r>
              <a:rPr lang="zh-CN" altLang="en-US" sz="2800">
                <a:latin typeface="宋体" panose="02010600030101010101" pitchFamily="2" charset="-122"/>
              </a:rPr>
              <a:t>误差</a:t>
            </a:r>
            <a:r>
              <a:rPr lang="en-US" altLang="zh-CN" sz="2800">
                <a:latin typeface="Times New Roman" panose="02020603050405020304" pitchFamily="18" charset="0"/>
              </a:rPr>
              <a:t>)</a:t>
            </a:r>
            <a:r>
              <a:rPr lang="zh-CN" altLang="en-US" sz="2800">
                <a:latin typeface="宋体" panose="02010600030101010101" pitchFamily="2" charset="-122"/>
              </a:rPr>
              <a:t>决定于输入</a:t>
            </a:r>
            <a:r>
              <a:rPr lang="en-US" altLang="zh-CN" sz="2800">
                <a:latin typeface="宋体" panose="02010600030101010101" pitchFamily="2" charset="-122"/>
              </a:rPr>
              <a:t>R</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和开环传递函数</a:t>
            </a:r>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，即决定于输入信号的特性及系统的结构和参数。</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7"/>
                                        </p:tgtEl>
                                        <p:attrNameLst>
                                          <p:attrName>style.visibility</p:attrName>
                                        </p:attrNameLst>
                                      </p:cBhvr>
                                      <p:to>
                                        <p:strVal val="visible"/>
                                      </p:to>
                                    </p:set>
                                    <p:anim calcmode="lin" valueType="num">
                                      <p:cBhvr additive="base">
                                        <p:cTn id="7" dur="500" fill="hold"/>
                                        <p:tgtEl>
                                          <p:spTgt spid="110597"/>
                                        </p:tgtEl>
                                        <p:attrNameLst>
                                          <p:attrName>ppt_x</p:attrName>
                                        </p:attrNameLst>
                                      </p:cBhvr>
                                      <p:tavLst>
                                        <p:tav tm="0">
                                          <p:val>
                                            <p:strVal val="#ppt_x"/>
                                          </p:val>
                                        </p:tav>
                                        <p:tav tm="100000">
                                          <p:val>
                                            <p:strVal val="#ppt_x"/>
                                          </p:val>
                                        </p:tav>
                                      </p:tavLst>
                                    </p:anim>
                                    <p:anim calcmode="lin" valueType="num">
                                      <p:cBhvr additive="base">
                                        <p:cTn id="8" dur="500" fill="hold"/>
                                        <p:tgtEl>
                                          <p:spTgt spid="11059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0598"/>
                                        </p:tgtEl>
                                        <p:attrNameLst>
                                          <p:attrName>style.visibility</p:attrName>
                                        </p:attrNameLst>
                                      </p:cBhvr>
                                      <p:to>
                                        <p:strVal val="visible"/>
                                      </p:to>
                                    </p:set>
                                    <p:anim calcmode="lin" valueType="num">
                                      <p:cBhvr additive="base">
                                        <p:cTn id="13" dur="500" fill="hold"/>
                                        <p:tgtEl>
                                          <p:spTgt spid="110598"/>
                                        </p:tgtEl>
                                        <p:attrNameLst>
                                          <p:attrName>ppt_x</p:attrName>
                                        </p:attrNameLst>
                                      </p:cBhvr>
                                      <p:tavLst>
                                        <p:tav tm="0">
                                          <p:val>
                                            <p:strVal val="#ppt_x"/>
                                          </p:val>
                                        </p:tav>
                                        <p:tav tm="100000">
                                          <p:val>
                                            <p:strVal val="#ppt_x"/>
                                          </p:val>
                                        </p:tav>
                                      </p:tavLst>
                                    </p:anim>
                                    <p:anim calcmode="lin" valueType="num">
                                      <p:cBhvr additive="base">
                                        <p:cTn id="14" dur="500" fill="hold"/>
                                        <p:tgtEl>
                                          <p:spTgt spid="11059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0595"/>
                                        </p:tgtEl>
                                        <p:attrNameLst>
                                          <p:attrName>style.visibility</p:attrName>
                                        </p:attrNameLst>
                                      </p:cBhvr>
                                      <p:to>
                                        <p:strVal val="visible"/>
                                      </p:to>
                                    </p:set>
                                    <p:anim calcmode="lin" valueType="num">
                                      <p:cBhvr additive="base">
                                        <p:cTn id="19" dur="500" fill="hold"/>
                                        <p:tgtEl>
                                          <p:spTgt spid="110595"/>
                                        </p:tgtEl>
                                        <p:attrNameLst>
                                          <p:attrName>ppt_x</p:attrName>
                                        </p:attrNameLst>
                                      </p:cBhvr>
                                      <p:tavLst>
                                        <p:tav tm="0">
                                          <p:val>
                                            <p:strVal val="#ppt_x"/>
                                          </p:val>
                                        </p:tav>
                                        <p:tav tm="100000">
                                          <p:val>
                                            <p:strVal val="#ppt_x"/>
                                          </p:val>
                                        </p:tav>
                                      </p:tavLst>
                                    </p:anim>
                                    <p:anim calcmode="lin" valueType="num">
                                      <p:cBhvr additive="base">
                                        <p:cTn id="20" dur="500" fill="hold"/>
                                        <p:tgtEl>
                                          <p:spTgt spid="11059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0599"/>
                                        </p:tgtEl>
                                        <p:attrNameLst>
                                          <p:attrName>style.visibility</p:attrName>
                                        </p:attrNameLst>
                                      </p:cBhvr>
                                      <p:to>
                                        <p:strVal val="visible"/>
                                      </p:to>
                                    </p:set>
                                    <p:anim calcmode="lin" valueType="num">
                                      <p:cBhvr additive="base">
                                        <p:cTn id="25" dur="500" fill="hold"/>
                                        <p:tgtEl>
                                          <p:spTgt spid="110599"/>
                                        </p:tgtEl>
                                        <p:attrNameLst>
                                          <p:attrName>ppt_x</p:attrName>
                                        </p:attrNameLst>
                                      </p:cBhvr>
                                      <p:tavLst>
                                        <p:tav tm="0">
                                          <p:val>
                                            <p:strVal val="#ppt_x"/>
                                          </p:val>
                                        </p:tav>
                                        <p:tav tm="100000">
                                          <p:val>
                                            <p:strVal val="#ppt_x"/>
                                          </p:val>
                                        </p:tav>
                                      </p:tavLst>
                                    </p:anim>
                                    <p:anim calcmode="lin" valueType="num">
                                      <p:cBhvr additive="base">
                                        <p:cTn id="26" dur="500" fill="hold"/>
                                        <p:tgtEl>
                                          <p:spTgt spid="1105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8" grpId="0"/>
      <p:bldP spid="11059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20BC7B42-5D45-B88F-C7EF-657235C52759}"/>
              </a:ext>
            </a:extLst>
          </p:cNvPr>
          <p:cNvSpPr>
            <a:spLocks noChangeArrowheads="1"/>
          </p:cNvSpPr>
          <p:nvPr/>
        </p:nvSpPr>
        <p:spPr bwMode="auto">
          <a:xfrm>
            <a:off x="1187450" y="112553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例题</a:t>
            </a:r>
          </a:p>
        </p:txBody>
      </p:sp>
      <p:sp>
        <p:nvSpPr>
          <p:cNvPr id="27651" name="Rectangle 4">
            <a:extLst>
              <a:ext uri="{FF2B5EF4-FFF2-40B4-BE49-F238E27FC236}">
                <a16:creationId xmlns:a16="http://schemas.microsoft.com/office/drawing/2014/main" id="{FB9C9E1B-575E-2B41-CF3F-81B0554E6297}"/>
              </a:ext>
            </a:extLst>
          </p:cNvPr>
          <p:cNvSpPr>
            <a:spLocks noChangeArrowheads="1"/>
          </p:cNvSpPr>
          <p:nvPr/>
        </p:nvSpPr>
        <p:spPr bwMode="auto">
          <a:xfrm>
            <a:off x="1403350" y="1773238"/>
            <a:ext cx="7239000"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已知单位反馈系统的开环传递函数为：</a:t>
            </a:r>
          </a:p>
          <a:p>
            <a:pPr eaLnBrk="1" hangingPunct="1">
              <a:lnSpc>
                <a:spcPct val="115000"/>
              </a:lnSpc>
            </a:pPr>
            <a:r>
              <a:rPr lang="zh-CN" altLang="en-US" sz="2800">
                <a:latin typeface="Times New Roman" panose="02020603050405020304" pitchFamily="18" charset="0"/>
              </a:rPr>
              <a:t>                   </a:t>
            </a:r>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)=1/</a:t>
            </a:r>
            <a:r>
              <a:rPr lang="en-US" altLang="zh-CN" sz="2800" i="1">
                <a:latin typeface="Times New Roman" panose="02020603050405020304" pitchFamily="18" charset="0"/>
              </a:rPr>
              <a:t>Ts</a:t>
            </a:r>
          </a:p>
          <a:p>
            <a:pPr eaLnBrk="1" hangingPunct="1">
              <a:lnSpc>
                <a:spcPct val="115000"/>
              </a:lnSpc>
            </a:pPr>
            <a:r>
              <a:rPr lang="zh-CN" altLang="en-US" sz="2800">
                <a:latin typeface="Times New Roman" panose="02020603050405020304" pitchFamily="18" charset="0"/>
              </a:rPr>
              <a:t>求其在单位阶跃输入、单位速度输入、单位加速度输入下的稳态误差。</a:t>
            </a:r>
          </a:p>
        </p:txBody>
      </p:sp>
      <p:sp>
        <p:nvSpPr>
          <p:cNvPr id="109573" name="Rectangle 5">
            <a:extLst>
              <a:ext uri="{FF2B5EF4-FFF2-40B4-BE49-F238E27FC236}">
                <a16:creationId xmlns:a16="http://schemas.microsoft.com/office/drawing/2014/main" id="{2E19CF25-7929-F341-69C0-B2FD67CB8883}"/>
              </a:ext>
            </a:extLst>
          </p:cNvPr>
          <p:cNvSpPr>
            <a:spLocks noChangeArrowheads="1"/>
          </p:cNvSpPr>
          <p:nvPr/>
        </p:nvSpPr>
        <p:spPr bwMode="auto">
          <a:xfrm>
            <a:off x="1403350" y="4364038"/>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latin typeface="Times New Roman" panose="02020603050405020304" pitchFamily="18" charset="0"/>
              </a:rPr>
              <a:t>解</a:t>
            </a:r>
            <a:r>
              <a:rPr lang="zh-CN" altLang="en-US" sz="2800">
                <a:latin typeface="Times New Roman" panose="02020603050405020304" pitchFamily="18" charset="0"/>
              </a:rPr>
              <a:t>：该单位反馈系统在输入作用下的误差传递函数为：</a:t>
            </a:r>
          </a:p>
        </p:txBody>
      </p:sp>
      <p:graphicFrame>
        <p:nvGraphicFramePr>
          <p:cNvPr id="109574" name="Object 6">
            <a:extLst>
              <a:ext uri="{FF2B5EF4-FFF2-40B4-BE49-F238E27FC236}">
                <a16:creationId xmlns:a16="http://schemas.microsoft.com/office/drawing/2014/main" id="{13EB235F-39F6-D372-C8D7-32D8DFD83BBF}"/>
              </a:ext>
            </a:extLst>
          </p:cNvPr>
          <p:cNvGraphicFramePr>
            <a:graphicFrameLocks noChangeAspect="1"/>
          </p:cNvGraphicFramePr>
          <p:nvPr/>
        </p:nvGraphicFramePr>
        <p:xfrm>
          <a:off x="2622550" y="5375275"/>
          <a:ext cx="3048000" cy="817563"/>
        </p:xfrm>
        <a:graphic>
          <a:graphicData uri="http://schemas.openxmlformats.org/presentationml/2006/ole">
            <mc:AlternateContent xmlns:mc="http://schemas.openxmlformats.org/markup-compatibility/2006">
              <mc:Choice xmlns:v="urn:schemas-microsoft-com:vml" Requires="v">
                <p:oleObj r:id="rId3" imgW="1562100" imgH="419100" progId="Equation.3">
                  <p:embed/>
                </p:oleObj>
              </mc:Choice>
              <mc:Fallback>
                <p:oleObj r:id="rId3" imgW="1562100" imgH="419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2550" y="5375275"/>
                        <a:ext cx="30480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9573"/>
                                        </p:tgtEl>
                                        <p:attrNameLst>
                                          <p:attrName>style.visibility</p:attrName>
                                        </p:attrNameLst>
                                      </p:cBhvr>
                                      <p:to>
                                        <p:strVal val="visible"/>
                                      </p:to>
                                    </p:set>
                                    <p:anim calcmode="lin" valueType="num">
                                      <p:cBhvr additive="base">
                                        <p:cTn id="7" dur="500" fill="hold"/>
                                        <p:tgtEl>
                                          <p:spTgt spid="109573"/>
                                        </p:tgtEl>
                                        <p:attrNameLst>
                                          <p:attrName>ppt_x</p:attrName>
                                        </p:attrNameLst>
                                      </p:cBhvr>
                                      <p:tavLst>
                                        <p:tav tm="0">
                                          <p:val>
                                            <p:strVal val="#ppt_x"/>
                                          </p:val>
                                        </p:tav>
                                        <p:tav tm="100000">
                                          <p:val>
                                            <p:strVal val="#ppt_x"/>
                                          </p:val>
                                        </p:tav>
                                      </p:tavLst>
                                    </p:anim>
                                    <p:anim calcmode="lin" valueType="num">
                                      <p:cBhvr additive="base">
                                        <p:cTn id="8" dur="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9574"/>
                                        </p:tgtEl>
                                        <p:attrNameLst>
                                          <p:attrName>style.visibility</p:attrName>
                                        </p:attrNameLst>
                                      </p:cBhvr>
                                      <p:to>
                                        <p:strVal val="visible"/>
                                      </p:to>
                                    </p:set>
                                    <p:anim calcmode="lin" valueType="num">
                                      <p:cBhvr additive="base">
                                        <p:cTn id="13" dur="500" fill="hold"/>
                                        <p:tgtEl>
                                          <p:spTgt spid="109574"/>
                                        </p:tgtEl>
                                        <p:attrNameLst>
                                          <p:attrName>ppt_x</p:attrName>
                                        </p:attrNameLst>
                                      </p:cBhvr>
                                      <p:tavLst>
                                        <p:tav tm="0">
                                          <p:val>
                                            <p:strVal val="#ppt_x"/>
                                          </p:val>
                                        </p:tav>
                                        <p:tav tm="100000">
                                          <p:val>
                                            <p:strVal val="#ppt_x"/>
                                          </p:val>
                                        </p:tav>
                                      </p:tavLst>
                                    </p:anim>
                                    <p:anim calcmode="lin" valueType="num">
                                      <p:cBhvr additive="base">
                                        <p:cTn id="14" dur="500" fill="hold"/>
                                        <p:tgtEl>
                                          <p:spTgt spid="1095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B3DD82CA-E9C0-2ABE-5FE0-0A8C67484865}"/>
              </a:ext>
            </a:extLst>
          </p:cNvPr>
          <p:cNvSpPr>
            <a:spLocks noChangeArrowheads="1"/>
          </p:cNvSpPr>
          <p:nvPr/>
        </p:nvSpPr>
        <p:spPr bwMode="auto">
          <a:xfrm>
            <a:off x="1476375" y="1628775"/>
            <a:ext cx="71628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在单位阶跃输入下的稳态误差为：</a:t>
            </a:r>
          </a:p>
        </p:txBody>
      </p:sp>
      <p:graphicFrame>
        <p:nvGraphicFramePr>
          <p:cNvPr id="108548" name="Object 4">
            <a:extLst>
              <a:ext uri="{FF2B5EF4-FFF2-40B4-BE49-F238E27FC236}">
                <a16:creationId xmlns:a16="http://schemas.microsoft.com/office/drawing/2014/main" id="{30F0AC51-99D7-AE99-90A9-744596C2FCCA}"/>
              </a:ext>
            </a:extLst>
          </p:cNvPr>
          <p:cNvGraphicFramePr>
            <a:graphicFrameLocks noChangeAspect="1"/>
          </p:cNvGraphicFramePr>
          <p:nvPr/>
        </p:nvGraphicFramePr>
        <p:xfrm>
          <a:off x="1960563" y="2314575"/>
          <a:ext cx="5032375" cy="814388"/>
        </p:xfrm>
        <a:graphic>
          <a:graphicData uri="http://schemas.openxmlformats.org/presentationml/2006/ole">
            <mc:AlternateContent xmlns:mc="http://schemas.openxmlformats.org/markup-compatibility/2006">
              <mc:Choice xmlns:v="urn:schemas-microsoft-com:vml" Requires="v">
                <p:oleObj r:id="rId3" imgW="2603500" imgH="419100" progId="Equation.3">
                  <p:embed/>
                </p:oleObj>
              </mc:Choice>
              <mc:Fallback>
                <p:oleObj r:id="rId3" imgW="26035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0563" y="2314575"/>
                        <a:ext cx="503237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8549" name="Rectangle 5">
            <a:extLst>
              <a:ext uri="{FF2B5EF4-FFF2-40B4-BE49-F238E27FC236}">
                <a16:creationId xmlns:a16="http://schemas.microsoft.com/office/drawing/2014/main" id="{4ED63F17-C125-AB0E-75FE-319FD645941D}"/>
              </a:ext>
            </a:extLst>
          </p:cNvPr>
          <p:cNvSpPr>
            <a:spLocks noChangeArrowheads="1"/>
          </p:cNvSpPr>
          <p:nvPr/>
        </p:nvSpPr>
        <p:spPr bwMode="auto">
          <a:xfrm>
            <a:off x="1476375" y="3176588"/>
            <a:ext cx="71628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在单位速度输入下的稳态误差为：</a:t>
            </a:r>
          </a:p>
        </p:txBody>
      </p:sp>
      <p:graphicFrame>
        <p:nvGraphicFramePr>
          <p:cNvPr id="108550" name="Object 6">
            <a:extLst>
              <a:ext uri="{FF2B5EF4-FFF2-40B4-BE49-F238E27FC236}">
                <a16:creationId xmlns:a16="http://schemas.microsoft.com/office/drawing/2014/main" id="{DF09927F-3FBB-BC0C-07AA-75D71700DEA5}"/>
              </a:ext>
            </a:extLst>
          </p:cNvPr>
          <p:cNvGraphicFramePr>
            <a:graphicFrameLocks noChangeAspect="1"/>
          </p:cNvGraphicFramePr>
          <p:nvPr/>
        </p:nvGraphicFramePr>
        <p:xfrm>
          <a:off x="1992313" y="3838575"/>
          <a:ext cx="5203825" cy="814388"/>
        </p:xfrm>
        <a:graphic>
          <a:graphicData uri="http://schemas.openxmlformats.org/presentationml/2006/ole">
            <mc:AlternateContent xmlns:mc="http://schemas.openxmlformats.org/markup-compatibility/2006">
              <mc:Choice xmlns:v="urn:schemas-microsoft-com:vml" Requires="v">
                <p:oleObj r:id="rId5" imgW="2692400" imgH="419100" progId="Equation.3">
                  <p:embed/>
                </p:oleObj>
              </mc:Choice>
              <mc:Fallback>
                <p:oleObj r:id="rId5" imgW="2692400" imgH="4191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3" y="3838575"/>
                        <a:ext cx="520382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8551" name="Rectangle 7">
            <a:extLst>
              <a:ext uri="{FF2B5EF4-FFF2-40B4-BE49-F238E27FC236}">
                <a16:creationId xmlns:a16="http://schemas.microsoft.com/office/drawing/2014/main" id="{0F109719-3FD6-C187-3548-3106ED8E58C1}"/>
              </a:ext>
            </a:extLst>
          </p:cNvPr>
          <p:cNvSpPr>
            <a:spLocks noChangeArrowheads="1"/>
          </p:cNvSpPr>
          <p:nvPr/>
        </p:nvSpPr>
        <p:spPr bwMode="auto">
          <a:xfrm>
            <a:off x="1476375" y="4724400"/>
            <a:ext cx="71628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在单位加速度输入下的稳态误差为：</a:t>
            </a:r>
          </a:p>
        </p:txBody>
      </p:sp>
      <p:graphicFrame>
        <p:nvGraphicFramePr>
          <p:cNvPr id="108552" name="Object 8">
            <a:extLst>
              <a:ext uri="{FF2B5EF4-FFF2-40B4-BE49-F238E27FC236}">
                <a16:creationId xmlns:a16="http://schemas.microsoft.com/office/drawing/2014/main" id="{72B7AF43-E703-0F9A-EAEE-58B9593CEA3B}"/>
              </a:ext>
            </a:extLst>
          </p:cNvPr>
          <p:cNvGraphicFramePr>
            <a:graphicFrameLocks noChangeAspect="1"/>
          </p:cNvGraphicFramePr>
          <p:nvPr/>
        </p:nvGraphicFramePr>
        <p:xfrm>
          <a:off x="1992313" y="5386388"/>
          <a:ext cx="5203825" cy="814387"/>
        </p:xfrm>
        <a:graphic>
          <a:graphicData uri="http://schemas.openxmlformats.org/presentationml/2006/ole">
            <mc:AlternateContent xmlns:mc="http://schemas.openxmlformats.org/markup-compatibility/2006">
              <mc:Choice xmlns:v="urn:schemas-microsoft-com:vml" Requires="v">
                <p:oleObj r:id="rId7" imgW="2692400" imgH="419100" progId="Equation.3">
                  <p:embed/>
                </p:oleObj>
              </mc:Choice>
              <mc:Fallback>
                <p:oleObj r:id="rId7" imgW="2692400" imgH="4191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2313" y="5386388"/>
                        <a:ext cx="520382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8548"/>
                                        </p:tgtEl>
                                        <p:attrNameLst>
                                          <p:attrName>style.visibility</p:attrName>
                                        </p:attrNameLst>
                                      </p:cBhvr>
                                      <p:to>
                                        <p:strVal val="visible"/>
                                      </p:to>
                                    </p:set>
                                    <p:anim calcmode="lin" valueType="num">
                                      <p:cBhvr additive="base">
                                        <p:cTn id="7" dur="500" fill="hold"/>
                                        <p:tgtEl>
                                          <p:spTgt spid="108548"/>
                                        </p:tgtEl>
                                        <p:attrNameLst>
                                          <p:attrName>ppt_x</p:attrName>
                                        </p:attrNameLst>
                                      </p:cBhvr>
                                      <p:tavLst>
                                        <p:tav tm="0">
                                          <p:val>
                                            <p:strVal val="#ppt_x"/>
                                          </p:val>
                                        </p:tav>
                                        <p:tav tm="100000">
                                          <p:val>
                                            <p:strVal val="#ppt_x"/>
                                          </p:val>
                                        </p:tav>
                                      </p:tavLst>
                                    </p:anim>
                                    <p:anim calcmode="lin" valueType="num">
                                      <p:cBhvr additive="base">
                                        <p:cTn id="8" dur="500" fill="hold"/>
                                        <p:tgtEl>
                                          <p:spTgt spid="1085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8549"/>
                                        </p:tgtEl>
                                        <p:attrNameLst>
                                          <p:attrName>style.visibility</p:attrName>
                                        </p:attrNameLst>
                                      </p:cBhvr>
                                      <p:to>
                                        <p:strVal val="visible"/>
                                      </p:to>
                                    </p:set>
                                    <p:anim calcmode="lin" valueType="num">
                                      <p:cBhvr additive="base">
                                        <p:cTn id="13" dur="500" fill="hold"/>
                                        <p:tgtEl>
                                          <p:spTgt spid="108549"/>
                                        </p:tgtEl>
                                        <p:attrNameLst>
                                          <p:attrName>ppt_x</p:attrName>
                                        </p:attrNameLst>
                                      </p:cBhvr>
                                      <p:tavLst>
                                        <p:tav tm="0">
                                          <p:val>
                                            <p:strVal val="#ppt_x"/>
                                          </p:val>
                                        </p:tav>
                                        <p:tav tm="100000">
                                          <p:val>
                                            <p:strVal val="#ppt_x"/>
                                          </p:val>
                                        </p:tav>
                                      </p:tavLst>
                                    </p:anim>
                                    <p:anim calcmode="lin" valueType="num">
                                      <p:cBhvr additive="base">
                                        <p:cTn id="14" dur="500" fill="hold"/>
                                        <p:tgtEl>
                                          <p:spTgt spid="10854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8550"/>
                                        </p:tgtEl>
                                        <p:attrNameLst>
                                          <p:attrName>style.visibility</p:attrName>
                                        </p:attrNameLst>
                                      </p:cBhvr>
                                      <p:to>
                                        <p:strVal val="visible"/>
                                      </p:to>
                                    </p:set>
                                    <p:anim calcmode="lin" valueType="num">
                                      <p:cBhvr additive="base">
                                        <p:cTn id="19" dur="500" fill="hold"/>
                                        <p:tgtEl>
                                          <p:spTgt spid="108550"/>
                                        </p:tgtEl>
                                        <p:attrNameLst>
                                          <p:attrName>ppt_x</p:attrName>
                                        </p:attrNameLst>
                                      </p:cBhvr>
                                      <p:tavLst>
                                        <p:tav tm="0">
                                          <p:val>
                                            <p:strVal val="#ppt_x"/>
                                          </p:val>
                                        </p:tav>
                                        <p:tav tm="100000">
                                          <p:val>
                                            <p:strVal val="#ppt_x"/>
                                          </p:val>
                                        </p:tav>
                                      </p:tavLst>
                                    </p:anim>
                                    <p:anim calcmode="lin" valueType="num">
                                      <p:cBhvr additive="base">
                                        <p:cTn id="20" dur="500" fill="hold"/>
                                        <p:tgtEl>
                                          <p:spTgt spid="10855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8551"/>
                                        </p:tgtEl>
                                        <p:attrNameLst>
                                          <p:attrName>style.visibility</p:attrName>
                                        </p:attrNameLst>
                                      </p:cBhvr>
                                      <p:to>
                                        <p:strVal val="visible"/>
                                      </p:to>
                                    </p:set>
                                    <p:anim calcmode="lin" valueType="num">
                                      <p:cBhvr additive="base">
                                        <p:cTn id="25" dur="500" fill="hold"/>
                                        <p:tgtEl>
                                          <p:spTgt spid="108551"/>
                                        </p:tgtEl>
                                        <p:attrNameLst>
                                          <p:attrName>ppt_x</p:attrName>
                                        </p:attrNameLst>
                                      </p:cBhvr>
                                      <p:tavLst>
                                        <p:tav tm="0">
                                          <p:val>
                                            <p:strVal val="#ppt_x"/>
                                          </p:val>
                                        </p:tav>
                                        <p:tav tm="100000">
                                          <p:val>
                                            <p:strVal val="#ppt_x"/>
                                          </p:val>
                                        </p:tav>
                                      </p:tavLst>
                                    </p:anim>
                                    <p:anim calcmode="lin" valueType="num">
                                      <p:cBhvr additive="base">
                                        <p:cTn id="26" dur="500" fill="hold"/>
                                        <p:tgtEl>
                                          <p:spTgt spid="10855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8552"/>
                                        </p:tgtEl>
                                        <p:attrNameLst>
                                          <p:attrName>style.visibility</p:attrName>
                                        </p:attrNameLst>
                                      </p:cBhvr>
                                      <p:to>
                                        <p:strVal val="visible"/>
                                      </p:to>
                                    </p:set>
                                    <p:anim calcmode="lin" valueType="num">
                                      <p:cBhvr additive="base">
                                        <p:cTn id="31" dur="500" fill="hold"/>
                                        <p:tgtEl>
                                          <p:spTgt spid="108552"/>
                                        </p:tgtEl>
                                        <p:attrNameLst>
                                          <p:attrName>ppt_x</p:attrName>
                                        </p:attrNameLst>
                                      </p:cBhvr>
                                      <p:tavLst>
                                        <p:tav tm="0">
                                          <p:val>
                                            <p:strVal val="#ppt_x"/>
                                          </p:val>
                                        </p:tav>
                                        <p:tav tm="100000">
                                          <p:val>
                                            <p:strVal val="#ppt_x"/>
                                          </p:val>
                                        </p:tav>
                                      </p:tavLst>
                                    </p:anim>
                                    <p:anim calcmode="lin" valueType="num">
                                      <p:cBhvr additive="base">
                                        <p:cTn id="32" dur="500" fill="hold"/>
                                        <p:tgtEl>
                                          <p:spTgt spid="1085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p:bldP spid="1085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F4A8ED5E-17AF-1082-7701-0171B82E3B44}"/>
              </a:ext>
            </a:extLst>
          </p:cNvPr>
          <p:cNvSpPr>
            <a:spLocks noChangeArrowheads="1"/>
          </p:cNvSpPr>
          <p:nvPr/>
        </p:nvSpPr>
        <p:spPr bwMode="auto">
          <a:xfrm>
            <a:off x="971550" y="1125538"/>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l"/>
            </a:pPr>
            <a:r>
              <a:rPr lang="zh-CN" altLang="en-US" sz="2800" b="1">
                <a:latin typeface="Times New Roman" panose="02020603050405020304" pitchFamily="18" charset="0"/>
              </a:rPr>
              <a:t>稳态误差系数与稳态误差</a:t>
            </a:r>
          </a:p>
        </p:txBody>
      </p:sp>
      <p:sp>
        <p:nvSpPr>
          <p:cNvPr id="105476" name="Rectangle 4">
            <a:extLst>
              <a:ext uri="{FF2B5EF4-FFF2-40B4-BE49-F238E27FC236}">
                <a16:creationId xmlns:a16="http://schemas.microsoft.com/office/drawing/2014/main" id="{CFF0C204-55B2-8615-FA95-10F33A5A3626}"/>
              </a:ext>
            </a:extLst>
          </p:cNvPr>
          <p:cNvSpPr>
            <a:spLocks noChangeArrowheads="1"/>
          </p:cNvSpPr>
          <p:nvPr/>
        </p:nvSpPr>
        <p:spPr bwMode="auto">
          <a:xfrm>
            <a:off x="1258888" y="1916113"/>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zh-CN" altLang="en-US" sz="2800">
                <a:latin typeface="Times New Roman" panose="02020603050405020304" pitchFamily="18" charset="0"/>
              </a:rPr>
              <a:t>稳态误差系数的概念</a:t>
            </a:r>
          </a:p>
        </p:txBody>
      </p:sp>
      <p:sp>
        <p:nvSpPr>
          <p:cNvPr id="105477" name="Rectangle 5">
            <a:extLst>
              <a:ext uri="{FF2B5EF4-FFF2-40B4-BE49-F238E27FC236}">
                <a16:creationId xmlns:a16="http://schemas.microsoft.com/office/drawing/2014/main" id="{B062E0C8-82D1-5EF2-C3C9-7B7F05703404}"/>
              </a:ext>
            </a:extLst>
          </p:cNvPr>
          <p:cNvSpPr>
            <a:spLocks noChangeArrowheads="1"/>
          </p:cNvSpPr>
          <p:nvPr/>
        </p:nvSpPr>
        <p:spPr bwMode="auto">
          <a:xfrm>
            <a:off x="1447800" y="2503488"/>
            <a:ext cx="6705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稳态位置误差（偏差）系数</a:t>
            </a:r>
          </a:p>
        </p:txBody>
      </p:sp>
      <p:sp>
        <p:nvSpPr>
          <p:cNvPr id="105479" name="Rectangle 7">
            <a:extLst>
              <a:ext uri="{FF2B5EF4-FFF2-40B4-BE49-F238E27FC236}">
                <a16:creationId xmlns:a16="http://schemas.microsoft.com/office/drawing/2014/main" id="{7B1BAD59-AE53-A89A-E589-0FD1A6694533}"/>
              </a:ext>
            </a:extLst>
          </p:cNvPr>
          <p:cNvSpPr>
            <a:spLocks noChangeArrowheads="1"/>
          </p:cNvSpPr>
          <p:nvPr/>
        </p:nvSpPr>
        <p:spPr bwMode="auto">
          <a:xfrm>
            <a:off x="1447800" y="3048000"/>
            <a:ext cx="5222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solidFill>
                  <a:srgbClr val="FF0000"/>
                </a:solidFill>
                <a:latin typeface="宋体" panose="02010600030101010101" pitchFamily="2" charset="-122"/>
              </a:rPr>
              <a:t>单位阶跃输入时</a:t>
            </a:r>
            <a:r>
              <a:rPr lang="zh-CN" altLang="en-US" sz="2800">
                <a:latin typeface="宋体" panose="02010600030101010101" pitchFamily="2" charset="-122"/>
              </a:rPr>
              <a:t>系统的稳态偏差</a:t>
            </a:r>
            <a:endParaRPr lang="zh-CN" altLang="en-US" sz="2800">
              <a:latin typeface="Times New Roman" panose="02020603050405020304" pitchFamily="18" charset="0"/>
            </a:endParaRPr>
          </a:p>
        </p:txBody>
      </p:sp>
      <p:sp>
        <p:nvSpPr>
          <p:cNvPr id="105480" name="Rectangle 8">
            <a:extLst>
              <a:ext uri="{FF2B5EF4-FFF2-40B4-BE49-F238E27FC236}">
                <a16:creationId xmlns:a16="http://schemas.microsoft.com/office/drawing/2014/main" id="{57856A13-3F3C-5FD6-C3AF-0618010D8E2E}"/>
              </a:ext>
            </a:extLst>
          </p:cNvPr>
          <p:cNvSpPr>
            <a:spLocks noChangeArrowheads="1"/>
          </p:cNvSpPr>
          <p:nvPr/>
        </p:nvSpPr>
        <p:spPr bwMode="auto">
          <a:xfrm>
            <a:off x="1447800" y="5348288"/>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称为</a:t>
            </a:r>
            <a:r>
              <a:rPr lang="zh-CN" altLang="en-US" sz="2800">
                <a:solidFill>
                  <a:srgbClr val="FF0000"/>
                </a:solidFill>
                <a:latin typeface="Times New Roman" panose="02020603050405020304" pitchFamily="18" charset="0"/>
              </a:rPr>
              <a:t>稳态位置误差系数</a:t>
            </a:r>
            <a:r>
              <a:rPr lang="zh-CN" altLang="en-US" sz="2800">
                <a:latin typeface="Times New Roman" panose="02020603050405020304" pitchFamily="18" charset="0"/>
              </a:rPr>
              <a:t>。</a:t>
            </a:r>
          </a:p>
        </p:txBody>
      </p:sp>
      <p:grpSp>
        <p:nvGrpSpPr>
          <p:cNvPr id="2" name="Group 9">
            <a:extLst>
              <a:ext uri="{FF2B5EF4-FFF2-40B4-BE49-F238E27FC236}">
                <a16:creationId xmlns:a16="http://schemas.microsoft.com/office/drawing/2014/main" id="{C7374FC1-E6FB-3314-4995-A5BB64D0AF76}"/>
              </a:ext>
            </a:extLst>
          </p:cNvPr>
          <p:cNvGrpSpPr>
            <a:grpSpLocks/>
          </p:cNvGrpSpPr>
          <p:nvPr/>
        </p:nvGrpSpPr>
        <p:grpSpPr bwMode="auto">
          <a:xfrm>
            <a:off x="1447800" y="4649788"/>
            <a:ext cx="4724400" cy="649287"/>
            <a:chOff x="912" y="2929"/>
            <a:chExt cx="2976" cy="409"/>
          </a:xfrm>
        </p:grpSpPr>
        <p:graphicFrame>
          <p:nvGraphicFramePr>
            <p:cNvPr id="31755" name="Object 10">
              <a:extLst>
                <a:ext uri="{FF2B5EF4-FFF2-40B4-BE49-F238E27FC236}">
                  <a16:creationId xmlns:a16="http://schemas.microsoft.com/office/drawing/2014/main" id="{CEAF4A17-FE2B-DF56-4838-6D7A37BC239A}"/>
                </a:ext>
              </a:extLst>
            </p:cNvPr>
            <p:cNvGraphicFramePr>
              <a:graphicFrameLocks noChangeAspect="1"/>
            </p:cNvGraphicFramePr>
            <p:nvPr/>
          </p:nvGraphicFramePr>
          <p:xfrm>
            <a:off x="1636" y="2976"/>
            <a:ext cx="2252" cy="362"/>
          </p:xfrm>
          <a:graphic>
            <a:graphicData uri="http://schemas.openxmlformats.org/presentationml/2006/ole">
              <mc:AlternateContent xmlns:mc="http://schemas.openxmlformats.org/markup-compatibility/2006">
                <mc:Choice xmlns:v="urn:schemas-microsoft-com:vml" Requires="v">
                  <p:oleObj r:id="rId3" imgW="2005729" imgH="304668" progId="Equation.3">
                    <p:embed/>
                  </p:oleObj>
                </mc:Choice>
                <mc:Fallback>
                  <p:oleObj r:id="rId3" imgW="2005729" imgH="304668"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 y="2976"/>
                          <a:ext cx="2252"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6" name="Rectangle 11">
              <a:extLst>
                <a:ext uri="{FF2B5EF4-FFF2-40B4-BE49-F238E27FC236}">
                  <a16:creationId xmlns:a16="http://schemas.microsoft.com/office/drawing/2014/main" id="{2F2C3C66-6500-7B9B-2670-0E812FBE9CAF}"/>
                </a:ext>
              </a:extLst>
            </p:cNvPr>
            <p:cNvSpPr>
              <a:spLocks noChangeArrowheads="1"/>
            </p:cNvSpPr>
            <p:nvPr/>
          </p:nvSpPr>
          <p:spPr bwMode="auto">
            <a:xfrm>
              <a:off x="912" y="2929"/>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a:t>
              </a:r>
            </a:p>
          </p:txBody>
        </p:sp>
      </p:grpSp>
      <p:grpSp>
        <p:nvGrpSpPr>
          <p:cNvPr id="3" name="组合 13">
            <a:extLst>
              <a:ext uri="{FF2B5EF4-FFF2-40B4-BE49-F238E27FC236}">
                <a16:creationId xmlns:a16="http://schemas.microsoft.com/office/drawing/2014/main" id="{C5958850-E4BE-3B3E-C84F-2E744C80D416}"/>
              </a:ext>
            </a:extLst>
          </p:cNvPr>
          <p:cNvGrpSpPr>
            <a:grpSpLocks/>
          </p:cNvGrpSpPr>
          <p:nvPr/>
        </p:nvGrpSpPr>
        <p:grpSpPr bwMode="auto">
          <a:xfrm>
            <a:off x="1425575" y="3716338"/>
            <a:ext cx="6594475" cy="819150"/>
            <a:chOff x="1425575" y="3716338"/>
            <a:chExt cx="6594475" cy="819150"/>
          </a:xfrm>
        </p:grpSpPr>
        <p:graphicFrame>
          <p:nvGraphicFramePr>
            <p:cNvPr id="31753" name="Object 6">
              <a:extLst>
                <a:ext uri="{FF2B5EF4-FFF2-40B4-BE49-F238E27FC236}">
                  <a16:creationId xmlns:a16="http://schemas.microsoft.com/office/drawing/2014/main" id="{01599DE1-53E0-5B63-6A8E-27A37050ED28}"/>
                </a:ext>
              </a:extLst>
            </p:cNvPr>
            <p:cNvGraphicFramePr>
              <a:graphicFrameLocks noChangeAspect="1"/>
            </p:cNvGraphicFramePr>
            <p:nvPr/>
          </p:nvGraphicFramePr>
          <p:xfrm>
            <a:off x="1425575" y="3716338"/>
            <a:ext cx="6594475" cy="819150"/>
          </p:xfrm>
          <a:graphic>
            <a:graphicData uri="http://schemas.openxmlformats.org/presentationml/2006/ole">
              <mc:AlternateContent xmlns:mc="http://schemas.openxmlformats.org/markup-compatibility/2006">
                <mc:Choice xmlns:v="urn:schemas-microsoft-com:vml" Requires="v">
                  <p:oleObj r:id="rId5" imgW="3556000" imgH="444500" progId="Equation.DSMT4">
                    <p:embed/>
                  </p:oleObj>
                </mc:Choice>
                <mc:Fallback>
                  <p:oleObj r:id="rId5" imgW="3556000" imgH="4445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5575" y="3716338"/>
                          <a:ext cx="659447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4" name="TextBox 12">
              <a:extLst>
                <a:ext uri="{FF2B5EF4-FFF2-40B4-BE49-F238E27FC236}">
                  <a16:creationId xmlns:a16="http://schemas.microsoft.com/office/drawing/2014/main" id="{8EC7EEEB-143E-12BB-CD84-E886331C5267}"/>
                </a:ext>
              </a:extLst>
            </p:cNvPr>
            <p:cNvSpPr txBox="1">
              <a:spLocks noChangeArrowheads="1"/>
            </p:cNvSpPr>
            <p:nvPr/>
          </p:nvSpPr>
          <p:spPr bwMode="auto">
            <a:xfrm>
              <a:off x="4139952" y="3933056"/>
              <a:ext cx="72008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R(s)</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5476"/>
                                        </p:tgtEl>
                                        <p:attrNameLst>
                                          <p:attrName>style.visibility</p:attrName>
                                        </p:attrNameLst>
                                      </p:cBhvr>
                                      <p:to>
                                        <p:strVal val="visible"/>
                                      </p:to>
                                    </p:set>
                                    <p:anim calcmode="lin" valueType="num">
                                      <p:cBhvr additive="base">
                                        <p:cTn id="7" dur="500" fill="hold"/>
                                        <p:tgtEl>
                                          <p:spTgt spid="105476"/>
                                        </p:tgtEl>
                                        <p:attrNameLst>
                                          <p:attrName>ppt_x</p:attrName>
                                        </p:attrNameLst>
                                      </p:cBhvr>
                                      <p:tavLst>
                                        <p:tav tm="0">
                                          <p:val>
                                            <p:strVal val="#ppt_x"/>
                                          </p:val>
                                        </p:tav>
                                        <p:tav tm="100000">
                                          <p:val>
                                            <p:strVal val="#ppt_x"/>
                                          </p:val>
                                        </p:tav>
                                      </p:tavLst>
                                    </p:anim>
                                    <p:anim calcmode="lin" valueType="num">
                                      <p:cBhvr additive="base">
                                        <p:cTn id="8" dur="500" fill="hold"/>
                                        <p:tgtEl>
                                          <p:spTgt spid="10547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5477"/>
                                        </p:tgtEl>
                                        <p:attrNameLst>
                                          <p:attrName>style.visibility</p:attrName>
                                        </p:attrNameLst>
                                      </p:cBhvr>
                                      <p:to>
                                        <p:strVal val="visible"/>
                                      </p:to>
                                    </p:set>
                                    <p:anim calcmode="lin" valueType="num">
                                      <p:cBhvr additive="base">
                                        <p:cTn id="13" dur="500" fill="hold"/>
                                        <p:tgtEl>
                                          <p:spTgt spid="105477"/>
                                        </p:tgtEl>
                                        <p:attrNameLst>
                                          <p:attrName>ppt_x</p:attrName>
                                        </p:attrNameLst>
                                      </p:cBhvr>
                                      <p:tavLst>
                                        <p:tav tm="0">
                                          <p:val>
                                            <p:strVal val="#ppt_x"/>
                                          </p:val>
                                        </p:tav>
                                        <p:tav tm="100000">
                                          <p:val>
                                            <p:strVal val="#ppt_x"/>
                                          </p:val>
                                        </p:tav>
                                      </p:tavLst>
                                    </p:anim>
                                    <p:anim calcmode="lin" valueType="num">
                                      <p:cBhvr additive="base">
                                        <p:cTn id="14" dur="500" fill="hold"/>
                                        <p:tgtEl>
                                          <p:spTgt spid="10547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5479"/>
                                        </p:tgtEl>
                                        <p:attrNameLst>
                                          <p:attrName>style.visibility</p:attrName>
                                        </p:attrNameLst>
                                      </p:cBhvr>
                                      <p:to>
                                        <p:strVal val="visible"/>
                                      </p:to>
                                    </p:set>
                                    <p:anim calcmode="lin" valueType="num">
                                      <p:cBhvr additive="base">
                                        <p:cTn id="19" dur="500" fill="hold"/>
                                        <p:tgtEl>
                                          <p:spTgt spid="105479"/>
                                        </p:tgtEl>
                                        <p:attrNameLst>
                                          <p:attrName>ppt_x</p:attrName>
                                        </p:attrNameLst>
                                      </p:cBhvr>
                                      <p:tavLst>
                                        <p:tav tm="0">
                                          <p:val>
                                            <p:strVal val="#ppt_x"/>
                                          </p:val>
                                        </p:tav>
                                        <p:tav tm="100000">
                                          <p:val>
                                            <p:strVal val="#ppt_x"/>
                                          </p:val>
                                        </p:tav>
                                      </p:tavLst>
                                    </p:anim>
                                    <p:anim calcmode="lin" valueType="num">
                                      <p:cBhvr additive="base">
                                        <p:cTn id="20" dur="500" fill="hold"/>
                                        <p:tgtEl>
                                          <p:spTgt spid="10547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05480"/>
                                        </p:tgtEl>
                                        <p:attrNameLst>
                                          <p:attrName>style.visibility</p:attrName>
                                        </p:attrNameLst>
                                      </p:cBhvr>
                                      <p:to>
                                        <p:strVal val="visible"/>
                                      </p:to>
                                    </p:set>
                                    <p:anim calcmode="lin" valueType="num">
                                      <p:cBhvr additive="base">
                                        <p:cTn id="35" dur="500" fill="hold"/>
                                        <p:tgtEl>
                                          <p:spTgt spid="105480"/>
                                        </p:tgtEl>
                                        <p:attrNameLst>
                                          <p:attrName>ppt_x</p:attrName>
                                        </p:attrNameLst>
                                      </p:cBhvr>
                                      <p:tavLst>
                                        <p:tav tm="0">
                                          <p:val>
                                            <p:strVal val="#ppt_x"/>
                                          </p:val>
                                        </p:tav>
                                        <p:tav tm="100000">
                                          <p:val>
                                            <p:strVal val="#ppt_x"/>
                                          </p:val>
                                        </p:tav>
                                      </p:tavLst>
                                    </p:anim>
                                    <p:anim calcmode="lin" valueType="num">
                                      <p:cBhvr additive="base">
                                        <p:cTn id="36" dur="500" fill="hold"/>
                                        <p:tgtEl>
                                          <p:spTgt spid="1054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P spid="105477" grpId="0"/>
      <p:bldP spid="105479" grpId="0"/>
      <p:bldP spid="10548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a:extLst>
              <a:ext uri="{FF2B5EF4-FFF2-40B4-BE49-F238E27FC236}">
                <a16:creationId xmlns:a16="http://schemas.microsoft.com/office/drawing/2014/main" id="{956CB972-ED70-DF99-1A69-7D495DAEAEAF}"/>
              </a:ext>
            </a:extLst>
          </p:cNvPr>
          <p:cNvSpPr>
            <a:spLocks noChangeArrowheads="1"/>
          </p:cNvSpPr>
          <p:nvPr/>
        </p:nvSpPr>
        <p:spPr bwMode="auto">
          <a:xfrm>
            <a:off x="1447800" y="304800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稳态速度误差（偏差）系数</a:t>
            </a:r>
          </a:p>
        </p:txBody>
      </p:sp>
      <p:sp>
        <p:nvSpPr>
          <p:cNvPr id="104453" name="Rectangle 5">
            <a:extLst>
              <a:ext uri="{FF2B5EF4-FFF2-40B4-BE49-F238E27FC236}">
                <a16:creationId xmlns:a16="http://schemas.microsoft.com/office/drawing/2014/main" id="{B91669DC-47BB-E9E5-540B-15FBA68F32D9}"/>
              </a:ext>
            </a:extLst>
          </p:cNvPr>
          <p:cNvSpPr>
            <a:spLocks noChangeArrowheads="1"/>
          </p:cNvSpPr>
          <p:nvPr/>
        </p:nvSpPr>
        <p:spPr bwMode="auto">
          <a:xfrm>
            <a:off x="1447800" y="3621088"/>
            <a:ext cx="5221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solidFill>
                  <a:srgbClr val="FF0000"/>
                </a:solidFill>
                <a:latin typeface="宋体" panose="02010600030101010101" pitchFamily="2" charset="-122"/>
              </a:rPr>
              <a:t>单位速度输入</a:t>
            </a:r>
            <a:r>
              <a:rPr lang="zh-CN" altLang="en-US" sz="2800">
                <a:latin typeface="宋体" panose="02010600030101010101" pitchFamily="2" charset="-122"/>
              </a:rPr>
              <a:t>时系统的稳态偏差</a:t>
            </a:r>
            <a:endParaRPr lang="zh-CN" altLang="en-US" sz="2800">
              <a:latin typeface="Times New Roman" panose="02020603050405020304" pitchFamily="18" charset="0"/>
            </a:endParaRPr>
          </a:p>
        </p:txBody>
      </p:sp>
      <p:sp>
        <p:nvSpPr>
          <p:cNvPr id="104454" name="Rectangle 6">
            <a:extLst>
              <a:ext uri="{FF2B5EF4-FFF2-40B4-BE49-F238E27FC236}">
                <a16:creationId xmlns:a16="http://schemas.microsoft.com/office/drawing/2014/main" id="{240F9698-4829-5139-FE8E-0EFF6A2A0C1A}"/>
              </a:ext>
            </a:extLst>
          </p:cNvPr>
          <p:cNvSpPr>
            <a:spLocks noChangeArrowheads="1"/>
          </p:cNvSpPr>
          <p:nvPr/>
        </p:nvSpPr>
        <p:spPr bwMode="auto">
          <a:xfrm>
            <a:off x="1447800" y="5867400"/>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称为</a:t>
            </a:r>
            <a:r>
              <a:rPr lang="zh-CN" altLang="en-US" sz="2800">
                <a:solidFill>
                  <a:srgbClr val="FF0000"/>
                </a:solidFill>
                <a:latin typeface="Times New Roman" panose="02020603050405020304" pitchFamily="18" charset="0"/>
              </a:rPr>
              <a:t>稳态速度误差系数</a:t>
            </a:r>
            <a:r>
              <a:rPr lang="zh-CN" altLang="en-US" sz="2800">
                <a:latin typeface="Times New Roman" panose="02020603050405020304" pitchFamily="18" charset="0"/>
              </a:rPr>
              <a:t>。</a:t>
            </a:r>
          </a:p>
        </p:txBody>
      </p:sp>
      <p:grpSp>
        <p:nvGrpSpPr>
          <p:cNvPr id="2" name="Group 7">
            <a:extLst>
              <a:ext uri="{FF2B5EF4-FFF2-40B4-BE49-F238E27FC236}">
                <a16:creationId xmlns:a16="http://schemas.microsoft.com/office/drawing/2014/main" id="{90339459-5E4D-F515-04FF-808B16160ED7}"/>
              </a:ext>
            </a:extLst>
          </p:cNvPr>
          <p:cNvGrpSpPr>
            <a:grpSpLocks/>
          </p:cNvGrpSpPr>
          <p:nvPr/>
        </p:nvGrpSpPr>
        <p:grpSpPr bwMode="auto">
          <a:xfrm>
            <a:off x="1447800" y="5140325"/>
            <a:ext cx="3581400" cy="650875"/>
            <a:chOff x="912" y="2278"/>
            <a:chExt cx="2256" cy="410"/>
          </a:xfrm>
        </p:grpSpPr>
        <p:graphicFrame>
          <p:nvGraphicFramePr>
            <p:cNvPr id="33807" name="Object 8">
              <a:extLst>
                <a:ext uri="{FF2B5EF4-FFF2-40B4-BE49-F238E27FC236}">
                  <a16:creationId xmlns:a16="http://schemas.microsoft.com/office/drawing/2014/main" id="{6E44ED3E-2A2B-C8C1-A0AE-7BDDFCD85218}"/>
                </a:ext>
              </a:extLst>
            </p:cNvPr>
            <p:cNvGraphicFramePr>
              <a:graphicFrameLocks noChangeAspect="1"/>
            </p:cNvGraphicFramePr>
            <p:nvPr/>
          </p:nvGraphicFramePr>
          <p:xfrm>
            <a:off x="1680" y="2332"/>
            <a:ext cx="1488" cy="356"/>
          </p:xfrm>
          <a:graphic>
            <a:graphicData uri="http://schemas.openxmlformats.org/presentationml/2006/ole">
              <mc:AlternateContent xmlns:mc="http://schemas.openxmlformats.org/markup-compatibility/2006">
                <mc:Choice xmlns:v="urn:schemas-microsoft-com:vml" Requires="v">
                  <p:oleObj r:id="rId3" imgW="1294838" imgH="304668" progId="Equation.3">
                    <p:embed/>
                  </p:oleObj>
                </mc:Choice>
                <mc:Fallback>
                  <p:oleObj r:id="rId3" imgW="1294838" imgH="304668"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2332"/>
                          <a:ext cx="1488"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08" name="Rectangle 9">
              <a:extLst>
                <a:ext uri="{FF2B5EF4-FFF2-40B4-BE49-F238E27FC236}">
                  <a16:creationId xmlns:a16="http://schemas.microsoft.com/office/drawing/2014/main" id="{628DF5AD-D3A9-6B30-F35B-231D6813ACC1}"/>
                </a:ext>
              </a:extLst>
            </p:cNvPr>
            <p:cNvSpPr>
              <a:spLocks noChangeArrowheads="1"/>
            </p:cNvSpPr>
            <p:nvPr/>
          </p:nvSpPr>
          <p:spPr bwMode="auto">
            <a:xfrm>
              <a:off x="912" y="2278"/>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a:t>
              </a:r>
            </a:p>
          </p:txBody>
        </p:sp>
      </p:grpSp>
      <p:grpSp>
        <p:nvGrpSpPr>
          <p:cNvPr id="3" name="Group 10">
            <a:extLst>
              <a:ext uri="{FF2B5EF4-FFF2-40B4-BE49-F238E27FC236}">
                <a16:creationId xmlns:a16="http://schemas.microsoft.com/office/drawing/2014/main" id="{27CC85D9-3FC6-2A99-DEDB-A27028530A4F}"/>
              </a:ext>
            </a:extLst>
          </p:cNvPr>
          <p:cNvGrpSpPr>
            <a:grpSpLocks/>
          </p:cNvGrpSpPr>
          <p:nvPr/>
        </p:nvGrpSpPr>
        <p:grpSpPr bwMode="auto">
          <a:xfrm>
            <a:off x="1524000" y="2220913"/>
            <a:ext cx="6353175" cy="825500"/>
            <a:chOff x="960" y="3655"/>
            <a:chExt cx="4002" cy="520"/>
          </a:xfrm>
        </p:grpSpPr>
        <p:graphicFrame>
          <p:nvGraphicFramePr>
            <p:cNvPr id="33805" name="Object 11">
              <a:extLst>
                <a:ext uri="{FF2B5EF4-FFF2-40B4-BE49-F238E27FC236}">
                  <a16:creationId xmlns:a16="http://schemas.microsoft.com/office/drawing/2014/main" id="{FAD42DE8-8A33-37E1-6B58-453310D22874}"/>
                </a:ext>
              </a:extLst>
            </p:cNvPr>
            <p:cNvGraphicFramePr>
              <a:graphicFrameLocks noChangeAspect="1"/>
            </p:cNvGraphicFramePr>
            <p:nvPr/>
          </p:nvGraphicFramePr>
          <p:xfrm>
            <a:off x="3252" y="3655"/>
            <a:ext cx="1710" cy="520"/>
          </p:xfrm>
          <a:graphic>
            <a:graphicData uri="http://schemas.openxmlformats.org/presentationml/2006/ole">
              <mc:AlternateContent xmlns:mc="http://schemas.openxmlformats.org/markup-compatibility/2006">
                <mc:Choice xmlns:v="urn:schemas-microsoft-com:vml" Requires="v">
                  <p:oleObj r:id="rId5" imgW="1473200" imgH="444500" progId="Equation.3">
                    <p:embed/>
                  </p:oleObj>
                </mc:Choice>
                <mc:Fallback>
                  <p:oleObj r:id="rId5" imgW="1473200" imgH="4445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2" y="3655"/>
                          <a:ext cx="1710"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06" name="Rectangle 12">
              <a:extLst>
                <a:ext uri="{FF2B5EF4-FFF2-40B4-BE49-F238E27FC236}">
                  <a16:creationId xmlns:a16="http://schemas.microsoft.com/office/drawing/2014/main" id="{13044093-0499-1B0E-E47C-BA8DEE8C8A0B}"/>
                </a:ext>
              </a:extLst>
            </p:cNvPr>
            <p:cNvSpPr>
              <a:spLocks noChangeArrowheads="1"/>
            </p:cNvSpPr>
            <p:nvPr/>
          </p:nvSpPr>
          <p:spPr bwMode="auto">
            <a:xfrm>
              <a:off x="960" y="3705"/>
              <a:ext cx="21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对于单位反馈系统，</a:t>
              </a:r>
            </a:p>
          </p:txBody>
        </p:sp>
      </p:grpSp>
      <p:grpSp>
        <p:nvGrpSpPr>
          <p:cNvPr id="33799" name="Group 13">
            <a:extLst>
              <a:ext uri="{FF2B5EF4-FFF2-40B4-BE49-F238E27FC236}">
                <a16:creationId xmlns:a16="http://schemas.microsoft.com/office/drawing/2014/main" id="{EF548F9E-A4BE-2099-EDD3-A00635061E8B}"/>
              </a:ext>
            </a:extLst>
          </p:cNvPr>
          <p:cNvGrpSpPr>
            <a:grpSpLocks/>
          </p:cNvGrpSpPr>
          <p:nvPr/>
        </p:nvGrpSpPr>
        <p:grpSpPr bwMode="auto">
          <a:xfrm>
            <a:off x="1476375" y="1484313"/>
            <a:ext cx="3540125" cy="893762"/>
            <a:chOff x="912" y="3168"/>
            <a:chExt cx="2230" cy="563"/>
          </a:xfrm>
        </p:grpSpPr>
        <p:graphicFrame>
          <p:nvGraphicFramePr>
            <p:cNvPr id="33803" name="Object 14">
              <a:extLst>
                <a:ext uri="{FF2B5EF4-FFF2-40B4-BE49-F238E27FC236}">
                  <a16:creationId xmlns:a16="http://schemas.microsoft.com/office/drawing/2014/main" id="{F1FA56BD-D203-B529-E868-F4F60D228955}"/>
                </a:ext>
              </a:extLst>
            </p:cNvPr>
            <p:cNvGraphicFramePr>
              <a:graphicFrameLocks noChangeAspect="1"/>
            </p:cNvGraphicFramePr>
            <p:nvPr/>
          </p:nvGraphicFramePr>
          <p:xfrm>
            <a:off x="1728" y="3168"/>
            <a:ext cx="1414" cy="563"/>
          </p:xfrm>
          <a:graphic>
            <a:graphicData uri="http://schemas.openxmlformats.org/presentationml/2006/ole">
              <mc:AlternateContent xmlns:mc="http://schemas.openxmlformats.org/markup-compatibility/2006">
                <mc:Choice xmlns:v="urn:schemas-microsoft-com:vml" Requires="v">
                  <p:oleObj r:id="rId7" imgW="1155700" imgH="457200" progId="Equation.3">
                    <p:embed/>
                  </p:oleObj>
                </mc:Choice>
                <mc:Fallback>
                  <p:oleObj r:id="rId7" imgW="1155700" imgH="4572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8" y="3168"/>
                          <a:ext cx="1414"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04" name="Rectangle 15">
              <a:extLst>
                <a:ext uri="{FF2B5EF4-FFF2-40B4-BE49-F238E27FC236}">
                  <a16:creationId xmlns:a16="http://schemas.microsoft.com/office/drawing/2014/main" id="{6F05288D-F00B-81E8-D513-B7AC8E2EB38E}"/>
                </a:ext>
              </a:extLst>
            </p:cNvPr>
            <p:cNvSpPr>
              <a:spLocks noChangeArrowheads="1"/>
            </p:cNvSpPr>
            <p:nvPr/>
          </p:nvSpPr>
          <p:spPr bwMode="auto">
            <a:xfrm>
              <a:off x="912" y="3225"/>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易知：</a:t>
              </a:r>
            </a:p>
          </p:txBody>
        </p:sp>
      </p:grpSp>
      <p:grpSp>
        <p:nvGrpSpPr>
          <p:cNvPr id="5" name="组合 17">
            <a:extLst>
              <a:ext uri="{FF2B5EF4-FFF2-40B4-BE49-F238E27FC236}">
                <a16:creationId xmlns:a16="http://schemas.microsoft.com/office/drawing/2014/main" id="{9BD3D869-2E8B-7F4C-3FA3-F626E13FC0FF}"/>
              </a:ext>
            </a:extLst>
          </p:cNvPr>
          <p:cNvGrpSpPr>
            <a:grpSpLocks/>
          </p:cNvGrpSpPr>
          <p:nvPr/>
        </p:nvGrpSpPr>
        <p:grpSpPr bwMode="auto">
          <a:xfrm>
            <a:off x="1635125" y="4292600"/>
            <a:ext cx="6310313" cy="796925"/>
            <a:chOff x="1635125" y="4292600"/>
            <a:chExt cx="6310313" cy="796925"/>
          </a:xfrm>
        </p:grpSpPr>
        <p:graphicFrame>
          <p:nvGraphicFramePr>
            <p:cNvPr id="33801" name="Object 4">
              <a:extLst>
                <a:ext uri="{FF2B5EF4-FFF2-40B4-BE49-F238E27FC236}">
                  <a16:creationId xmlns:a16="http://schemas.microsoft.com/office/drawing/2014/main" id="{83397762-3E7D-4944-1A21-259271C997B2}"/>
                </a:ext>
              </a:extLst>
            </p:cNvPr>
            <p:cNvGraphicFramePr>
              <a:graphicFrameLocks noChangeAspect="1"/>
            </p:cNvGraphicFramePr>
            <p:nvPr/>
          </p:nvGraphicFramePr>
          <p:xfrm>
            <a:off x="1635125" y="4292600"/>
            <a:ext cx="6310313" cy="796925"/>
          </p:xfrm>
          <a:graphic>
            <a:graphicData uri="http://schemas.openxmlformats.org/presentationml/2006/ole">
              <mc:AlternateContent xmlns:mc="http://schemas.openxmlformats.org/markup-compatibility/2006">
                <mc:Choice xmlns:v="urn:schemas-microsoft-com:vml" Requires="v">
                  <p:oleObj r:id="rId9" imgW="3441700" imgH="431800" progId="Equation.DSMT4">
                    <p:embed/>
                  </p:oleObj>
                </mc:Choice>
                <mc:Fallback>
                  <p:oleObj r:id="rId9" imgW="3441700" imgH="4318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5125" y="4292600"/>
                          <a:ext cx="631031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02" name="TextBox 16">
              <a:extLst>
                <a:ext uri="{FF2B5EF4-FFF2-40B4-BE49-F238E27FC236}">
                  <a16:creationId xmlns:a16="http://schemas.microsoft.com/office/drawing/2014/main" id="{EB7214B9-BE69-DCCC-02BB-5B10794679EF}"/>
                </a:ext>
              </a:extLst>
            </p:cNvPr>
            <p:cNvSpPr txBox="1">
              <a:spLocks noChangeArrowheads="1"/>
            </p:cNvSpPr>
            <p:nvPr/>
          </p:nvSpPr>
          <p:spPr bwMode="auto">
            <a:xfrm>
              <a:off x="4283968" y="4437112"/>
              <a:ext cx="72008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R(s)</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4451"/>
                                        </p:tgtEl>
                                        <p:attrNameLst>
                                          <p:attrName>style.visibility</p:attrName>
                                        </p:attrNameLst>
                                      </p:cBhvr>
                                      <p:to>
                                        <p:strVal val="visible"/>
                                      </p:to>
                                    </p:set>
                                    <p:anim calcmode="lin" valueType="num">
                                      <p:cBhvr additive="base">
                                        <p:cTn id="13" dur="500" fill="hold"/>
                                        <p:tgtEl>
                                          <p:spTgt spid="104451"/>
                                        </p:tgtEl>
                                        <p:attrNameLst>
                                          <p:attrName>ppt_x</p:attrName>
                                        </p:attrNameLst>
                                      </p:cBhvr>
                                      <p:tavLst>
                                        <p:tav tm="0">
                                          <p:val>
                                            <p:strVal val="#ppt_x"/>
                                          </p:val>
                                        </p:tav>
                                        <p:tav tm="100000">
                                          <p:val>
                                            <p:strVal val="#ppt_x"/>
                                          </p:val>
                                        </p:tav>
                                      </p:tavLst>
                                    </p:anim>
                                    <p:anim calcmode="lin" valueType="num">
                                      <p:cBhvr additive="base">
                                        <p:cTn id="14" dur="500" fill="hold"/>
                                        <p:tgtEl>
                                          <p:spTgt spid="10445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4453"/>
                                        </p:tgtEl>
                                        <p:attrNameLst>
                                          <p:attrName>style.visibility</p:attrName>
                                        </p:attrNameLst>
                                      </p:cBhvr>
                                      <p:to>
                                        <p:strVal val="visible"/>
                                      </p:to>
                                    </p:set>
                                    <p:anim calcmode="lin" valueType="num">
                                      <p:cBhvr additive="base">
                                        <p:cTn id="19" dur="500" fill="hold"/>
                                        <p:tgtEl>
                                          <p:spTgt spid="104453"/>
                                        </p:tgtEl>
                                        <p:attrNameLst>
                                          <p:attrName>ppt_x</p:attrName>
                                        </p:attrNameLst>
                                      </p:cBhvr>
                                      <p:tavLst>
                                        <p:tav tm="0">
                                          <p:val>
                                            <p:strVal val="#ppt_x"/>
                                          </p:val>
                                        </p:tav>
                                        <p:tav tm="100000">
                                          <p:val>
                                            <p:strVal val="#ppt_x"/>
                                          </p:val>
                                        </p:tav>
                                      </p:tavLst>
                                    </p:anim>
                                    <p:anim calcmode="lin" valueType="num">
                                      <p:cBhvr additive="base">
                                        <p:cTn id="20" dur="500" fill="hold"/>
                                        <p:tgtEl>
                                          <p:spTgt spid="10445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04454"/>
                                        </p:tgtEl>
                                        <p:attrNameLst>
                                          <p:attrName>style.visibility</p:attrName>
                                        </p:attrNameLst>
                                      </p:cBhvr>
                                      <p:to>
                                        <p:strVal val="visible"/>
                                      </p:to>
                                    </p:set>
                                    <p:anim calcmode="lin" valueType="num">
                                      <p:cBhvr additive="base">
                                        <p:cTn id="35" dur="500" fill="hold"/>
                                        <p:tgtEl>
                                          <p:spTgt spid="104454"/>
                                        </p:tgtEl>
                                        <p:attrNameLst>
                                          <p:attrName>ppt_x</p:attrName>
                                        </p:attrNameLst>
                                      </p:cBhvr>
                                      <p:tavLst>
                                        <p:tav tm="0">
                                          <p:val>
                                            <p:strVal val="#ppt_x"/>
                                          </p:val>
                                        </p:tav>
                                        <p:tav tm="100000">
                                          <p:val>
                                            <p:strVal val="#ppt_x"/>
                                          </p:val>
                                        </p:tav>
                                      </p:tavLst>
                                    </p:anim>
                                    <p:anim calcmode="lin" valueType="num">
                                      <p:cBhvr additive="base">
                                        <p:cTn id="36" dur="500" fill="hold"/>
                                        <p:tgtEl>
                                          <p:spTgt spid="10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p:bldP spid="104453" grpId="0"/>
      <p:bldP spid="10445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a:extLst>
              <a:ext uri="{FF2B5EF4-FFF2-40B4-BE49-F238E27FC236}">
                <a16:creationId xmlns:a16="http://schemas.microsoft.com/office/drawing/2014/main" id="{7D4115A2-8D4F-5062-B1CC-F96EACF402B5}"/>
              </a:ext>
            </a:extLst>
          </p:cNvPr>
          <p:cNvSpPr>
            <a:spLocks noChangeArrowheads="1"/>
          </p:cNvSpPr>
          <p:nvPr/>
        </p:nvSpPr>
        <p:spPr bwMode="auto">
          <a:xfrm>
            <a:off x="1447800" y="304800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稳态加速度误差（偏差）系数</a:t>
            </a:r>
          </a:p>
        </p:txBody>
      </p:sp>
      <p:sp>
        <p:nvSpPr>
          <p:cNvPr id="103429" name="Rectangle 5">
            <a:extLst>
              <a:ext uri="{FF2B5EF4-FFF2-40B4-BE49-F238E27FC236}">
                <a16:creationId xmlns:a16="http://schemas.microsoft.com/office/drawing/2014/main" id="{C8A990BC-02E8-6B14-55ED-8B708EF52A54}"/>
              </a:ext>
            </a:extLst>
          </p:cNvPr>
          <p:cNvSpPr>
            <a:spLocks noChangeArrowheads="1"/>
          </p:cNvSpPr>
          <p:nvPr/>
        </p:nvSpPr>
        <p:spPr bwMode="auto">
          <a:xfrm>
            <a:off x="1447800" y="3606800"/>
            <a:ext cx="5581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solidFill>
                  <a:srgbClr val="FF0000"/>
                </a:solidFill>
                <a:latin typeface="宋体" panose="02010600030101010101" pitchFamily="2" charset="-122"/>
              </a:rPr>
              <a:t>单位加速度输入</a:t>
            </a:r>
            <a:r>
              <a:rPr lang="zh-CN" altLang="en-US" sz="2800">
                <a:latin typeface="宋体" panose="02010600030101010101" pitchFamily="2" charset="-122"/>
              </a:rPr>
              <a:t>时系统的稳态偏差</a:t>
            </a:r>
            <a:endParaRPr lang="zh-CN" altLang="en-US" sz="2800">
              <a:latin typeface="Times New Roman" panose="02020603050405020304" pitchFamily="18" charset="0"/>
            </a:endParaRPr>
          </a:p>
        </p:txBody>
      </p:sp>
      <p:sp>
        <p:nvSpPr>
          <p:cNvPr id="103430" name="Rectangle 6">
            <a:extLst>
              <a:ext uri="{FF2B5EF4-FFF2-40B4-BE49-F238E27FC236}">
                <a16:creationId xmlns:a16="http://schemas.microsoft.com/office/drawing/2014/main" id="{DD1AF68C-32FB-AAEC-916D-23C7A6C28BD7}"/>
              </a:ext>
            </a:extLst>
          </p:cNvPr>
          <p:cNvSpPr>
            <a:spLocks noChangeArrowheads="1"/>
          </p:cNvSpPr>
          <p:nvPr/>
        </p:nvSpPr>
        <p:spPr bwMode="auto">
          <a:xfrm>
            <a:off x="1447800" y="5700713"/>
            <a:ext cx="4494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称为</a:t>
            </a:r>
            <a:r>
              <a:rPr lang="zh-CN" altLang="en-US" sz="2800">
                <a:solidFill>
                  <a:srgbClr val="FF0000"/>
                </a:solidFill>
                <a:latin typeface="Times New Roman" panose="02020603050405020304" pitchFamily="18" charset="0"/>
              </a:rPr>
              <a:t>稳态加速度误差系数</a:t>
            </a:r>
            <a:r>
              <a:rPr lang="zh-CN" altLang="en-US" sz="2800">
                <a:latin typeface="Times New Roman" panose="02020603050405020304" pitchFamily="18" charset="0"/>
              </a:rPr>
              <a:t>。</a:t>
            </a:r>
          </a:p>
        </p:txBody>
      </p:sp>
      <p:grpSp>
        <p:nvGrpSpPr>
          <p:cNvPr id="2" name="Group 7">
            <a:extLst>
              <a:ext uri="{FF2B5EF4-FFF2-40B4-BE49-F238E27FC236}">
                <a16:creationId xmlns:a16="http://schemas.microsoft.com/office/drawing/2014/main" id="{4E42C002-4E8C-FFE3-108C-78F0276DFBDC}"/>
              </a:ext>
            </a:extLst>
          </p:cNvPr>
          <p:cNvGrpSpPr>
            <a:grpSpLocks/>
          </p:cNvGrpSpPr>
          <p:nvPr/>
        </p:nvGrpSpPr>
        <p:grpSpPr bwMode="auto">
          <a:xfrm>
            <a:off x="1447800" y="5014913"/>
            <a:ext cx="3657600" cy="681037"/>
            <a:chOff x="912" y="2064"/>
            <a:chExt cx="2304" cy="429"/>
          </a:xfrm>
        </p:grpSpPr>
        <p:graphicFrame>
          <p:nvGraphicFramePr>
            <p:cNvPr id="35855" name="Object 8">
              <a:extLst>
                <a:ext uri="{FF2B5EF4-FFF2-40B4-BE49-F238E27FC236}">
                  <a16:creationId xmlns:a16="http://schemas.microsoft.com/office/drawing/2014/main" id="{2EFAC9AC-3B71-EA5C-46EB-3A00326ED91A}"/>
                </a:ext>
              </a:extLst>
            </p:cNvPr>
            <p:cNvGraphicFramePr>
              <a:graphicFrameLocks noChangeAspect="1"/>
            </p:cNvGraphicFramePr>
            <p:nvPr/>
          </p:nvGraphicFramePr>
          <p:xfrm>
            <a:off x="1638" y="2093"/>
            <a:ext cx="1578" cy="400"/>
          </p:xfrm>
          <a:graphic>
            <a:graphicData uri="http://schemas.openxmlformats.org/presentationml/2006/ole">
              <mc:AlternateContent xmlns:mc="http://schemas.openxmlformats.org/markup-compatibility/2006">
                <mc:Choice xmlns:v="urn:schemas-microsoft-com:vml" Requires="v">
                  <p:oleObj r:id="rId3" imgW="1371600" imgH="342900" progId="Equation.3">
                    <p:embed/>
                  </p:oleObj>
                </mc:Choice>
                <mc:Fallback>
                  <p:oleObj r:id="rId3" imgW="1371600" imgH="3429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8" y="2093"/>
                          <a:ext cx="1578"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6" name="Rectangle 9">
              <a:extLst>
                <a:ext uri="{FF2B5EF4-FFF2-40B4-BE49-F238E27FC236}">
                  <a16:creationId xmlns:a16="http://schemas.microsoft.com/office/drawing/2014/main" id="{50D483AA-8E57-9264-23A8-80F991FCA0DC}"/>
                </a:ext>
              </a:extLst>
            </p:cNvPr>
            <p:cNvSpPr>
              <a:spLocks noChangeArrowheads="1"/>
            </p:cNvSpPr>
            <p:nvPr/>
          </p:nvSpPr>
          <p:spPr bwMode="auto">
            <a:xfrm>
              <a:off x="912" y="2064"/>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a:t>
              </a:r>
            </a:p>
          </p:txBody>
        </p:sp>
      </p:grpSp>
      <p:grpSp>
        <p:nvGrpSpPr>
          <p:cNvPr id="3" name="Group 10">
            <a:extLst>
              <a:ext uri="{FF2B5EF4-FFF2-40B4-BE49-F238E27FC236}">
                <a16:creationId xmlns:a16="http://schemas.microsoft.com/office/drawing/2014/main" id="{F594EEED-CBDB-FB0C-2354-6D20E578D0D2}"/>
              </a:ext>
            </a:extLst>
          </p:cNvPr>
          <p:cNvGrpSpPr>
            <a:grpSpLocks/>
          </p:cNvGrpSpPr>
          <p:nvPr/>
        </p:nvGrpSpPr>
        <p:grpSpPr bwMode="auto">
          <a:xfrm>
            <a:off x="1524000" y="2165350"/>
            <a:ext cx="6843713" cy="803275"/>
            <a:chOff x="960" y="3552"/>
            <a:chExt cx="4311" cy="506"/>
          </a:xfrm>
        </p:grpSpPr>
        <p:graphicFrame>
          <p:nvGraphicFramePr>
            <p:cNvPr id="35853" name="Object 11">
              <a:extLst>
                <a:ext uri="{FF2B5EF4-FFF2-40B4-BE49-F238E27FC236}">
                  <a16:creationId xmlns:a16="http://schemas.microsoft.com/office/drawing/2014/main" id="{6F5BF69C-AA95-D2FC-170B-2D0D0EFFC19A}"/>
                </a:ext>
              </a:extLst>
            </p:cNvPr>
            <p:cNvGraphicFramePr>
              <a:graphicFrameLocks noChangeAspect="1"/>
            </p:cNvGraphicFramePr>
            <p:nvPr/>
          </p:nvGraphicFramePr>
          <p:xfrm>
            <a:off x="3024" y="3552"/>
            <a:ext cx="2247" cy="506"/>
          </p:xfrm>
          <a:graphic>
            <a:graphicData uri="http://schemas.openxmlformats.org/presentationml/2006/ole">
              <mc:AlternateContent xmlns:mc="http://schemas.openxmlformats.org/markup-compatibility/2006">
                <mc:Choice xmlns:v="urn:schemas-microsoft-com:vml" Requires="v">
                  <p:oleObj r:id="rId5" imgW="1930400" imgH="431800" progId="Equation.3">
                    <p:embed/>
                  </p:oleObj>
                </mc:Choice>
                <mc:Fallback>
                  <p:oleObj r:id="rId5" imgW="1930400" imgH="4318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 y="3552"/>
                          <a:ext cx="2247"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4" name="Rectangle 12">
              <a:extLst>
                <a:ext uri="{FF2B5EF4-FFF2-40B4-BE49-F238E27FC236}">
                  <a16:creationId xmlns:a16="http://schemas.microsoft.com/office/drawing/2014/main" id="{C20E78BC-509F-AC08-3AD4-08C8CC2BAE66}"/>
                </a:ext>
              </a:extLst>
            </p:cNvPr>
            <p:cNvSpPr>
              <a:spLocks noChangeArrowheads="1"/>
            </p:cNvSpPr>
            <p:nvPr/>
          </p:nvSpPr>
          <p:spPr bwMode="auto">
            <a:xfrm>
              <a:off x="960" y="3609"/>
              <a:ext cx="21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对于单位反馈系统，</a:t>
              </a:r>
            </a:p>
          </p:txBody>
        </p:sp>
      </p:grpSp>
      <p:grpSp>
        <p:nvGrpSpPr>
          <p:cNvPr id="35847" name="Group 13">
            <a:extLst>
              <a:ext uri="{FF2B5EF4-FFF2-40B4-BE49-F238E27FC236}">
                <a16:creationId xmlns:a16="http://schemas.microsoft.com/office/drawing/2014/main" id="{E0D291C7-5108-C36B-4A98-30A63D6A42B6}"/>
              </a:ext>
            </a:extLst>
          </p:cNvPr>
          <p:cNvGrpSpPr>
            <a:grpSpLocks/>
          </p:cNvGrpSpPr>
          <p:nvPr/>
        </p:nvGrpSpPr>
        <p:grpSpPr bwMode="auto">
          <a:xfrm>
            <a:off x="1447800" y="1371600"/>
            <a:ext cx="3048000" cy="844550"/>
            <a:chOff x="912" y="3052"/>
            <a:chExt cx="1920" cy="532"/>
          </a:xfrm>
        </p:grpSpPr>
        <p:graphicFrame>
          <p:nvGraphicFramePr>
            <p:cNvPr id="35851" name="Object 14">
              <a:extLst>
                <a:ext uri="{FF2B5EF4-FFF2-40B4-BE49-F238E27FC236}">
                  <a16:creationId xmlns:a16="http://schemas.microsoft.com/office/drawing/2014/main" id="{A1A6DBF5-ABFD-DF44-06CD-D211F52D1C9F}"/>
                </a:ext>
              </a:extLst>
            </p:cNvPr>
            <p:cNvGraphicFramePr>
              <a:graphicFrameLocks noChangeAspect="1"/>
            </p:cNvGraphicFramePr>
            <p:nvPr/>
          </p:nvGraphicFramePr>
          <p:xfrm>
            <a:off x="1682" y="3052"/>
            <a:ext cx="1150" cy="532"/>
          </p:xfrm>
          <a:graphic>
            <a:graphicData uri="http://schemas.openxmlformats.org/presentationml/2006/ole">
              <mc:AlternateContent xmlns:mc="http://schemas.openxmlformats.org/markup-compatibility/2006">
                <mc:Choice xmlns:v="urn:schemas-microsoft-com:vml" Requires="v">
                  <p:oleObj r:id="rId7" imgW="939392" imgH="431613" progId="Equation.3">
                    <p:embed/>
                  </p:oleObj>
                </mc:Choice>
                <mc:Fallback>
                  <p:oleObj r:id="rId7" imgW="939392" imgH="431613"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2" y="3052"/>
                          <a:ext cx="1150"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2" name="Rectangle 15">
              <a:extLst>
                <a:ext uri="{FF2B5EF4-FFF2-40B4-BE49-F238E27FC236}">
                  <a16:creationId xmlns:a16="http://schemas.microsoft.com/office/drawing/2014/main" id="{3882C511-F4E2-5F5B-B8CD-7B7D3947AAF3}"/>
                </a:ext>
              </a:extLst>
            </p:cNvPr>
            <p:cNvSpPr>
              <a:spLocks noChangeArrowheads="1"/>
            </p:cNvSpPr>
            <p:nvPr/>
          </p:nvSpPr>
          <p:spPr bwMode="auto">
            <a:xfrm>
              <a:off x="912" y="3129"/>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易知：</a:t>
              </a:r>
            </a:p>
          </p:txBody>
        </p:sp>
      </p:grpSp>
      <p:grpSp>
        <p:nvGrpSpPr>
          <p:cNvPr id="5" name="组合 17">
            <a:extLst>
              <a:ext uri="{FF2B5EF4-FFF2-40B4-BE49-F238E27FC236}">
                <a16:creationId xmlns:a16="http://schemas.microsoft.com/office/drawing/2014/main" id="{D51C724D-B6DC-5DF6-DBF0-883F6D602C5E}"/>
              </a:ext>
            </a:extLst>
          </p:cNvPr>
          <p:cNvGrpSpPr>
            <a:grpSpLocks/>
          </p:cNvGrpSpPr>
          <p:nvPr/>
        </p:nvGrpSpPr>
        <p:grpSpPr bwMode="auto">
          <a:xfrm>
            <a:off x="1419225" y="4149725"/>
            <a:ext cx="6543675" cy="796925"/>
            <a:chOff x="1419225" y="4149725"/>
            <a:chExt cx="6543675" cy="796925"/>
          </a:xfrm>
        </p:grpSpPr>
        <p:graphicFrame>
          <p:nvGraphicFramePr>
            <p:cNvPr id="35849" name="Object 4">
              <a:extLst>
                <a:ext uri="{FF2B5EF4-FFF2-40B4-BE49-F238E27FC236}">
                  <a16:creationId xmlns:a16="http://schemas.microsoft.com/office/drawing/2014/main" id="{4569A0FD-6BA5-3ECF-F136-ADD3C1C24FEC}"/>
                </a:ext>
              </a:extLst>
            </p:cNvPr>
            <p:cNvGraphicFramePr>
              <a:graphicFrameLocks noChangeAspect="1"/>
            </p:cNvGraphicFramePr>
            <p:nvPr/>
          </p:nvGraphicFramePr>
          <p:xfrm>
            <a:off x="1419225" y="4149725"/>
            <a:ext cx="6543675" cy="796925"/>
          </p:xfrm>
          <a:graphic>
            <a:graphicData uri="http://schemas.openxmlformats.org/presentationml/2006/ole">
              <mc:AlternateContent xmlns:mc="http://schemas.openxmlformats.org/markup-compatibility/2006">
                <mc:Choice xmlns:v="urn:schemas-microsoft-com:vml" Requires="v">
                  <p:oleObj r:id="rId9" imgW="3568700" imgH="431800" progId="Equation.DSMT4">
                    <p:embed/>
                  </p:oleObj>
                </mc:Choice>
                <mc:Fallback>
                  <p:oleObj r:id="rId9" imgW="3568700" imgH="4318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9225" y="4149725"/>
                          <a:ext cx="654367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0" name="TextBox 16">
              <a:extLst>
                <a:ext uri="{FF2B5EF4-FFF2-40B4-BE49-F238E27FC236}">
                  <a16:creationId xmlns:a16="http://schemas.microsoft.com/office/drawing/2014/main" id="{C6200687-44B8-A63D-6145-F7F2002CC584}"/>
                </a:ext>
              </a:extLst>
            </p:cNvPr>
            <p:cNvSpPr txBox="1">
              <a:spLocks noChangeArrowheads="1"/>
            </p:cNvSpPr>
            <p:nvPr/>
          </p:nvSpPr>
          <p:spPr bwMode="auto">
            <a:xfrm>
              <a:off x="3995936" y="4365104"/>
              <a:ext cx="72008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R(s)</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7"/>
                                        </p:tgtEl>
                                        <p:attrNameLst>
                                          <p:attrName>style.visibility</p:attrName>
                                        </p:attrNameLst>
                                      </p:cBhvr>
                                      <p:to>
                                        <p:strVal val="visible"/>
                                      </p:to>
                                    </p:set>
                                    <p:anim calcmode="lin" valueType="num">
                                      <p:cBhvr additive="base">
                                        <p:cTn id="13" dur="500" fill="hold"/>
                                        <p:tgtEl>
                                          <p:spTgt spid="103427"/>
                                        </p:tgtEl>
                                        <p:attrNameLst>
                                          <p:attrName>ppt_x</p:attrName>
                                        </p:attrNameLst>
                                      </p:cBhvr>
                                      <p:tavLst>
                                        <p:tav tm="0">
                                          <p:val>
                                            <p:strVal val="#ppt_x"/>
                                          </p:val>
                                        </p:tav>
                                        <p:tav tm="100000">
                                          <p:val>
                                            <p:strVal val="#ppt_x"/>
                                          </p:val>
                                        </p:tav>
                                      </p:tavLst>
                                    </p:anim>
                                    <p:anim calcmode="lin" valueType="num">
                                      <p:cBhvr additive="base">
                                        <p:cTn id="14" dur="500" fill="hold"/>
                                        <p:tgtEl>
                                          <p:spTgt spid="10342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9"/>
                                        </p:tgtEl>
                                        <p:attrNameLst>
                                          <p:attrName>style.visibility</p:attrName>
                                        </p:attrNameLst>
                                      </p:cBhvr>
                                      <p:to>
                                        <p:strVal val="visible"/>
                                      </p:to>
                                    </p:set>
                                    <p:anim calcmode="lin" valueType="num">
                                      <p:cBhvr additive="base">
                                        <p:cTn id="19" dur="500" fill="hold"/>
                                        <p:tgtEl>
                                          <p:spTgt spid="103429"/>
                                        </p:tgtEl>
                                        <p:attrNameLst>
                                          <p:attrName>ppt_x</p:attrName>
                                        </p:attrNameLst>
                                      </p:cBhvr>
                                      <p:tavLst>
                                        <p:tav tm="0">
                                          <p:val>
                                            <p:strVal val="#ppt_x"/>
                                          </p:val>
                                        </p:tav>
                                        <p:tav tm="100000">
                                          <p:val>
                                            <p:strVal val="#ppt_x"/>
                                          </p:val>
                                        </p:tav>
                                      </p:tavLst>
                                    </p:anim>
                                    <p:anim calcmode="lin" valueType="num">
                                      <p:cBhvr additive="base">
                                        <p:cTn id="20" dur="500" fill="hold"/>
                                        <p:tgtEl>
                                          <p:spTgt spid="10342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03430"/>
                                        </p:tgtEl>
                                        <p:attrNameLst>
                                          <p:attrName>style.visibility</p:attrName>
                                        </p:attrNameLst>
                                      </p:cBhvr>
                                      <p:to>
                                        <p:strVal val="visible"/>
                                      </p:to>
                                    </p:set>
                                    <p:anim calcmode="lin" valueType="num">
                                      <p:cBhvr additive="base">
                                        <p:cTn id="35" dur="500" fill="hold"/>
                                        <p:tgtEl>
                                          <p:spTgt spid="103430"/>
                                        </p:tgtEl>
                                        <p:attrNameLst>
                                          <p:attrName>ppt_x</p:attrName>
                                        </p:attrNameLst>
                                      </p:cBhvr>
                                      <p:tavLst>
                                        <p:tav tm="0">
                                          <p:val>
                                            <p:strVal val="#ppt_x"/>
                                          </p:val>
                                        </p:tav>
                                        <p:tav tm="100000">
                                          <p:val>
                                            <p:strVal val="#ppt_x"/>
                                          </p:val>
                                        </p:tav>
                                      </p:tavLst>
                                    </p:anim>
                                    <p:anim calcmode="lin" valueType="num">
                                      <p:cBhvr additive="base">
                                        <p:cTn id="36" dur="500" fill="hold"/>
                                        <p:tgtEl>
                                          <p:spTgt spid="1034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p:bldP spid="103429" grpId="0"/>
      <p:bldP spid="10343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F9B3DB2B-BBD1-0021-490A-47B0CB4A4EC0}"/>
              </a:ext>
            </a:extLst>
          </p:cNvPr>
          <p:cNvSpPr>
            <a:spLocks noChangeArrowheads="1"/>
          </p:cNvSpPr>
          <p:nvPr/>
        </p:nvSpPr>
        <p:spPr bwMode="auto">
          <a:xfrm>
            <a:off x="1447800" y="365760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Times New Roman" panose="02020603050405020304" pitchFamily="18" charset="0"/>
              </a:rPr>
              <a:t>结论</a:t>
            </a:r>
            <a:endParaRPr lang="zh-CN" altLang="en-US" sz="2800">
              <a:latin typeface="宋体" panose="02010600030101010101" pitchFamily="2" charset="-122"/>
            </a:endParaRPr>
          </a:p>
        </p:txBody>
      </p:sp>
      <p:sp>
        <p:nvSpPr>
          <p:cNvPr id="102404" name="Rectangle 4">
            <a:extLst>
              <a:ext uri="{FF2B5EF4-FFF2-40B4-BE49-F238E27FC236}">
                <a16:creationId xmlns:a16="http://schemas.microsoft.com/office/drawing/2014/main" id="{01DB1128-E1FF-9D9A-BB97-46E351A604B2}"/>
              </a:ext>
            </a:extLst>
          </p:cNvPr>
          <p:cNvSpPr>
            <a:spLocks noChangeArrowheads="1"/>
          </p:cNvSpPr>
          <p:nvPr/>
        </p:nvSpPr>
        <p:spPr bwMode="auto">
          <a:xfrm>
            <a:off x="1476375" y="4365625"/>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当输入信号形式一定后，系统是否存在稳态误差取决于系统的开环传递函数。</a:t>
            </a:r>
            <a:r>
              <a:rPr lang="zh-CN" altLang="en-US" sz="2800">
                <a:latin typeface="Times New Roman" panose="02020603050405020304" pitchFamily="18" charset="0"/>
              </a:rPr>
              <a:t> </a:t>
            </a:r>
          </a:p>
        </p:txBody>
      </p:sp>
      <p:grpSp>
        <p:nvGrpSpPr>
          <p:cNvPr id="2" name="Group 5">
            <a:extLst>
              <a:ext uri="{FF2B5EF4-FFF2-40B4-BE49-F238E27FC236}">
                <a16:creationId xmlns:a16="http://schemas.microsoft.com/office/drawing/2014/main" id="{76BF5294-B0FF-1488-3FC5-88B7120B8173}"/>
              </a:ext>
            </a:extLst>
          </p:cNvPr>
          <p:cNvGrpSpPr>
            <a:grpSpLocks/>
          </p:cNvGrpSpPr>
          <p:nvPr/>
        </p:nvGrpSpPr>
        <p:grpSpPr bwMode="auto">
          <a:xfrm>
            <a:off x="1524000" y="2819400"/>
            <a:ext cx="6926263" cy="803275"/>
            <a:chOff x="960" y="3312"/>
            <a:chExt cx="4363" cy="506"/>
          </a:xfrm>
        </p:grpSpPr>
        <p:graphicFrame>
          <p:nvGraphicFramePr>
            <p:cNvPr id="37896" name="Object 6">
              <a:extLst>
                <a:ext uri="{FF2B5EF4-FFF2-40B4-BE49-F238E27FC236}">
                  <a16:creationId xmlns:a16="http://schemas.microsoft.com/office/drawing/2014/main" id="{E465FB8B-22C7-F574-8881-DC38D698F680}"/>
                </a:ext>
              </a:extLst>
            </p:cNvPr>
            <p:cNvGraphicFramePr>
              <a:graphicFrameLocks noChangeAspect="1"/>
            </p:cNvGraphicFramePr>
            <p:nvPr/>
          </p:nvGraphicFramePr>
          <p:xfrm>
            <a:off x="2972" y="3312"/>
            <a:ext cx="2351" cy="506"/>
          </p:xfrm>
          <a:graphic>
            <a:graphicData uri="http://schemas.openxmlformats.org/presentationml/2006/ole">
              <mc:AlternateContent xmlns:mc="http://schemas.openxmlformats.org/markup-compatibility/2006">
                <mc:Choice xmlns:v="urn:schemas-microsoft-com:vml" Requires="v">
                  <p:oleObj r:id="rId3" imgW="2019300" imgH="431800" progId="Equation.3">
                    <p:embed/>
                  </p:oleObj>
                </mc:Choice>
                <mc:Fallback>
                  <p:oleObj r:id="rId3" imgW="20193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2" y="3312"/>
                          <a:ext cx="2351"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7" name="Rectangle 7">
              <a:extLst>
                <a:ext uri="{FF2B5EF4-FFF2-40B4-BE49-F238E27FC236}">
                  <a16:creationId xmlns:a16="http://schemas.microsoft.com/office/drawing/2014/main" id="{98D2772D-6734-B168-AA0C-D6A05569F98B}"/>
                </a:ext>
              </a:extLst>
            </p:cNvPr>
            <p:cNvSpPr>
              <a:spLocks noChangeArrowheads="1"/>
            </p:cNvSpPr>
            <p:nvPr/>
          </p:nvSpPr>
          <p:spPr bwMode="auto">
            <a:xfrm>
              <a:off x="960" y="3369"/>
              <a:ext cx="21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对于单位反馈系统，</a:t>
              </a:r>
            </a:p>
          </p:txBody>
        </p:sp>
      </p:grpSp>
      <p:grpSp>
        <p:nvGrpSpPr>
          <p:cNvPr id="37893" name="Group 8">
            <a:extLst>
              <a:ext uri="{FF2B5EF4-FFF2-40B4-BE49-F238E27FC236}">
                <a16:creationId xmlns:a16="http://schemas.microsoft.com/office/drawing/2014/main" id="{71ED86A8-BF01-9C69-7F9F-68071C168AB9}"/>
              </a:ext>
            </a:extLst>
          </p:cNvPr>
          <p:cNvGrpSpPr>
            <a:grpSpLocks/>
          </p:cNvGrpSpPr>
          <p:nvPr/>
        </p:nvGrpSpPr>
        <p:grpSpPr bwMode="auto">
          <a:xfrm>
            <a:off x="1447800" y="1828800"/>
            <a:ext cx="3060700" cy="844550"/>
            <a:chOff x="912" y="2812"/>
            <a:chExt cx="1928" cy="532"/>
          </a:xfrm>
        </p:grpSpPr>
        <p:graphicFrame>
          <p:nvGraphicFramePr>
            <p:cNvPr id="37894" name="Object 9">
              <a:extLst>
                <a:ext uri="{FF2B5EF4-FFF2-40B4-BE49-F238E27FC236}">
                  <a16:creationId xmlns:a16="http://schemas.microsoft.com/office/drawing/2014/main" id="{FECA1444-1904-97F8-4272-9DD7CC7BB56F}"/>
                </a:ext>
              </a:extLst>
            </p:cNvPr>
            <p:cNvGraphicFramePr>
              <a:graphicFrameLocks noChangeAspect="1"/>
            </p:cNvGraphicFramePr>
            <p:nvPr/>
          </p:nvGraphicFramePr>
          <p:xfrm>
            <a:off x="1675" y="2812"/>
            <a:ext cx="1165" cy="532"/>
          </p:xfrm>
          <a:graphic>
            <a:graphicData uri="http://schemas.openxmlformats.org/presentationml/2006/ole">
              <mc:AlternateContent xmlns:mc="http://schemas.openxmlformats.org/markup-compatibility/2006">
                <mc:Choice xmlns:v="urn:schemas-microsoft-com:vml" Requires="v">
                  <p:oleObj r:id="rId5" imgW="952087" imgH="431613" progId="Equation.3">
                    <p:embed/>
                  </p:oleObj>
                </mc:Choice>
                <mc:Fallback>
                  <p:oleObj r:id="rId5" imgW="952087" imgH="431613"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5" y="2812"/>
                          <a:ext cx="1165"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5" name="Rectangle 10">
              <a:extLst>
                <a:ext uri="{FF2B5EF4-FFF2-40B4-BE49-F238E27FC236}">
                  <a16:creationId xmlns:a16="http://schemas.microsoft.com/office/drawing/2014/main" id="{9CC6786D-3982-0B2F-7DF4-0252C6008122}"/>
                </a:ext>
              </a:extLst>
            </p:cNvPr>
            <p:cNvSpPr>
              <a:spLocks noChangeArrowheads="1"/>
            </p:cNvSpPr>
            <p:nvPr/>
          </p:nvSpPr>
          <p:spPr bwMode="auto">
            <a:xfrm>
              <a:off x="912" y="2889"/>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易知：</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03"/>
                                        </p:tgtEl>
                                        <p:attrNameLst>
                                          <p:attrName>style.visibility</p:attrName>
                                        </p:attrNameLst>
                                      </p:cBhvr>
                                      <p:to>
                                        <p:strVal val="visible"/>
                                      </p:to>
                                    </p:set>
                                    <p:anim calcmode="lin" valueType="num">
                                      <p:cBhvr additive="base">
                                        <p:cTn id="13" dur="500" fill="hold"/>
                                        <p:tgtEl>
                                          <p:spTgt spid="102403"/>
                                        </p:tgtEl>
                                        <p:attrNameLst>
                                          <p:attrName>ppt_x</p:attrName>
                                        </p:attrNameLst>
                                      </p:cBhvr>
                                      <p:tavLst>
                                        <p:tav tm="0">
                                          <p:val>
                                            <p:strVal val="#ppt_x"/>
                                          </p:val>
                                        </p:tav>
                                        <p:tav tm="100000">
                                          <p:val>
                                            <p:strVal val="#ppt_x"/>
                                          </p:val>
                                        </p:tav>
                                      </p:tavLst>
                                    </p:anim>
                                    <p:anim calcmode="lin" valueType="num">
                                      <p:cBhvr additive="base">
                                        <p:cTn id="14" dur="500" fill="hold"/>
                                        <p:tgtEl>
                                          <p:spTgt spid="10240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404"/>
                                        </p:tgtEl>
                                        <p:attrNameLst>
                                          <p:attrName>style.visibility</p:attrName>
                                        </p:attrNameLst>
                                      </p:cBhvr>
                                      <p:to>
                                        <p:strVal val="visible"/>
                                      </p:to>
                                    </p:set>
                                    <p:anim calcmode="lin" valueType="num">
                                      <p:cBhvr additive="base">
                                        <p:cTn id="19" dur="500" fill="hold"/>
                                        <p:tgtEl>
                                          <p:spTgt spid="102404"/>
                                        </p:tgtEl>
                                        <p:attrNameLst>
                                          <p:attrName>ppt_x</p:attrName>
                                        </p:attrNameLst>
                                      </p:cBhvr>
                                      <p:tavLst>
                                        <p:tav tm="0">
                                          <p:val>
                                            <p:strVal val="#ppt_x"/>
                                          </p:val>
                                        </p:tav>
                                        <p:tav tm="100000">
                                          <p:val>
                                            <p:strVal val="#ppt_x"/>
                                          </p:val>
                                        </p:tav>
                                      </p:tavLst>
                                    </p:anim>
                                    <p:anim calcmode="lin" valueType="num">
                                      <p:cBhvr additive="base">
                                        <p:cTn id="20" dur="500" fill="hold"/>
                                        <p:tgtEl>
                                          <p:spTgt spid="1024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p:bldP spid="10240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8C95B8C3-AC63-9A52-3F2F-B2B1C9237E08}"/>
              </a:ext>
            </a:extLst>
          </p:cNvPr>
          <p:cNvSpPr>
            <a:spLocks noChangeArrowheads="1"/>
          </p:cNvSpPr>
          <p:nvPr/>
        </p:nvSpPr>
        <p:spPr bwMode="auto">
          <a:xfrm>
            <a:off x="1114425" y="177165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系统类型（型别）</a:t>
            </a:r>
          </a:p>
        </p:txBody>
      </p:sp>
      <p:sp>
        <p:nvSpPr>
          <p:cNvPr id="144388" name="Rectangle 4">
            <a:extLst>
              <a:ext uri="{FF2B5EF4-FFF2-40B4-BE49-F238E27FC236}">
                <a16:creationId xmlns:a16="http://schemas.microsoft.com/office/drawing/2014/main" id="{E219FC8E-7527-7190-1713-65F16AC917D0}"/>
              </a:ext>
            </a:extLst>
          </p:cNvPr>
          <p:cNvSpPr>
            <a:spLocks noChangeArrowheads="1"/>
          </p:cNvSpPr>
          <p:nvPr/>
        </p:nvSpPr>
        <p:spPr bwMode="auto">
          <a:xfrm>
            <a:off x="1222375" y="2609850"/>
            <a:ext cx="631825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将系统的开环传递函数写成如下形式：</a:t>
            </a:r>
            <a:r>
              <a:rPr lang="zh-CN" altLang="en-US" sz="2800">
                <a:latin typeface="Times New Roman" panose="02020603050405020304" pitchFamily="18" charset="0"/>
              </a:rPr>
              <a:t> </a:t>
            </a:r>
          </a:p>
        </p:txBody>
      </p:sp>
      <p:graphicFrame>
        <p:nvGraphicFramePr>
          <p:cNvPr id="144389" name="Object 5">
            <a:extLst>
              <a:ext uri="{FF2B5EF4-FFF2-40B4-BE49-F238E27FC236}">
                <a16:creationId xmlns:a16="http://schemas.microsoft.com/office/drawing/2014/main" id="{4B9C4881-6E3C-8862-BDC3-981FC00F774A}"/>
              </a:ext>
            </a:extLst>
          </p:cNvPr>
          <p:cNvGraphicFramePr>
            <a:graphicFrameLocks noChangeAspect="1"/>
          </p:cNvGraphicFramePr>
          <p:nvPr/>
        </p:nvGraphicFramePr>
        <p:xfrm>
          <a:off x="1474788" y="3355975"/>
          <a:ext cx="6172200" cy="823913"/>
        </p:xfrm>
        <a:graphic>
          <a:graphicData uri="http://schemas.openxmlformats.org/presentationml/2006/ole">
            <mc:AlternateContent xmlns:mc="http://schemas.openxmlformats.org/markup-compatibility/2006">
              <mc:Choice xmlns:v="urn:schemas-microsoft-com:vml" Requires="v">
                <p:oleObj r:id="rId3" imgW="3314700" imgH="444500" progId="Equation.3">
                  <p:embed/>
                </p:oleObj>
              </mc:Choice>
              <mc:Fallback>
                <p:oleObj r:id="rId3" imgW="3314700" imgH="444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788" y="3355975"/>
                        <a:ext cx="61722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4395" name="Rectangle 11">
            <a:extLst>
              <a:ext uri="{FF2B5EF4-FFF2-40B4-BE49-F238E27FC236}">
                <a16:creationId xmlns:a16="http://schemas.microsoft.com/office/drawing/2014/main" id="{23ECD0E7-FC2B-A144-1079-741CC7BFC103}"/>
              </a:ext>
            </a:extLst>
          </p:cNvPr>
          <p:cNvSpPr>
            <a:spLocks noChangeArrowheads="1"/>
          </p:cNvSpPr>
          <p:nvPr/>
        </p:nvSpPr>
        <p:spPr bwMode="auto">
          <a:xfrm>
            <a:off x="1258888" y="4508500"/>
            <a:ext cx="70104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800">
                <a:latin typeface="宋体" panose="02010600030101010101" pitchFamily="2" charset="-122"/>
              </a:rPr>
              <a:t>根据系统开环传递函数中积分环节的多少，当</a:t>
            </a:r>
            <a:r>
              <a:rPr lang="zh-CN" altLang="en-US" sz="2800">
                <a:latin typeface="Times New Roman" panose="02020603050405020304" pitchFamily="18" charset="0"/>
              </a:rPr>
              <a:t> </a:t>
            </a:r>
            <a:r>
              <a:rPr lang="en-US" altLang="zh-CN" sz="2800" i="1">
                <a:latin typeface="Times New Roman" panose="02020603050405020304" pitchFamily="18" charset="0"/>
              </a:rPr>
              <a:t>v </a:t>
            </a:r>
            <a:r>
              <a:rPr lang="en-US" altLang="zh-CN" sz="2800">
                <a:latin typeface="Times New Roman" panose="02020603050405020304" pitchFamily="18" charset="0"/>
              </a:rPr>
              <a:t>= 0, 1, 2, …</a:t>
            </a:r>
            <a:r>
              <a:rPr lang="zh-CN" altLang="en-US" sz="2800">
                <a:latin typeface="宋体" panose="02010600030101010101" pitchFamily="2" charset="-122"/>
              </a:rPr>
              <a:t>时，系统分别称为</a:t>
            </a:r>
            <a:r>
              <a:rPr lang="en-US" altLang="zh-CN" sz="2800">
                <a:solidFill>
                  <a:srgbClr val="FF0000"/>
                </a:solidFill>
                <a:latin typeface="宋体" panose="02010600030101010101" pitchFamily="2" charset="-122"/>
              </a:rPr>
              <a:t>0</a:t>
            </a:r>
            <a:r>
              <a:rPr lang="zh-CN" altLang="en-US" sz="2800">
                <a:solidFill>
                  <a:srgbClr val="FF0000"/>
                </a:solidFill>
                <a:latin typeface="宋体" panose="02010600030101010101" pitchFamily="2" charset="-122"/>
              </a:rPr>
              <a:t>型</a:t>
            </a:r>
            <a:r>
              <a:rPr lang="zh-CN" altLang="en-US" sz="2800">
                <a:latin typeface="宋体" panose="02010600030101010101" pitchFamily="2" charset="-122"/>
              </a:rPr>
              <a:t>、</a:t>
            </a:r>
            <a:r>
              <a:rPr lang="en-US" altLang="zh-CN" sz="2800">
                <a:solidFill>
                  <a:srgbClr val="FF0000"/>
                </a:solidFill>
                <a:latin typeface="宋体" panose="02010600030101010101" pitchFamily="2" charset="-122"/>
              </a:rPr>
              <a:t>I</a:t>
            </a:r>
            <a:r>
              <a:rPr lang="zh-CN" altLang="en-US" sz="2800">
                <a:solidFill>
                  <a:srgbClr val="FF0000"/>
                </a:solidFill>
                <a:latin typeface="宋体" panose="02010600030101010101" pitchFamily="2" charset="-122"/>
              </a:rPr>
              <a:t>型</a:t>
            </a:r>
            <a:r>
              <a:rPr lang="zh-CN" altLang="en-US" sz="2800">
                <a:latin typeface="宋体" panose="02010600030101010101" pitchFamily="2" charset="-122"/>
              </a:rPr>
              <a:t>、</a:t>
            </a:r>
            <a:r>
              <a:rPr lang="en-US" altLang="zh-CN" sz="2800">
                <a:solidFill>
                  <a:srgbClr val="FF0000"/>
                </a:solidFill>
                <a:latin typeface="宋体" panose="02010600030101010101" pitchFamily="2" charset="-122"/>
              </a:rPr>
              <a:t>Ⅱ</a:t>
            </a:r>
            <a:r>
              <a:rPr lang="zh-CN" altLang="en-US" sz="2800">
                <a:solidFill>
                  <a:srgbClr val="FF0000"/>
                </a:solidFill>
                <a:latin typeface="宋体" panose="02010600030101010101" pitchFamily="2" charset="-122"/>
              </a:rPr>
              <a:t>型</a:t>
            </a:r>
            <a:r>
              <a:rPr lang="zh-CN" altLang="en-US" sz="2800">
                <a:latin typeface="宋体" panose="02010600030101010101" pitchFamily="2" charset="-122"/>
              </a:rPr>
              <a:t>、</a:t>
            </a:r>
            <a:r>
              <a:rPr lang="en-US" altLang="zh-CN" sz="2800">
                <a:latin typeface="Times New Roman" panose="02020603050405020304" pitchFamily="18" charset="0"/>
              </a:rPr>
              <a:t>……</a:t>
            </a:r>
            <a:r>
              <a:rPr lang="zh-CN" altLang="en-US" sz="2800">
                <a:latin typeface="宋体" panose="02010600030101010101" pitchFamily="2" charset="-122"/>
              </a:rPr>
              <a:t>系统。 </a:t>
            </a:r>
          </a:p>
        </p:txBody>
      </p:sp>
      <p:sp>
        <p:nvSpPr>
          <p:cNvPr id="39942" name="Rectangle 3">
            <a:extLst>
              <a:ext uri="{FF2B5EF4-FFF2-40B4-BE49-F238E27FC236}">
                <a16:creationId xmlns:a16="http://schemas.microsoft.com/office/drawing/2014/main" id="{1B85CD20-52DA-EC66-A511-772AAC7FD0FD}"/>
              </a:ext>
            </a:extLst>
          </p:cNvPr>
          <p:cNvSpPr>
            <a:spLocks noChangeArrowheads="1"/>
          </p:cNvSpPr>
          <p:nvPr/>
        </p:nvSpPr>
        <p:spPr bwMode="auto">
          <a:xfrm>
            <a:off x="900113" y="908050"/>
            <a:ext cx="7239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rPr>
              <a:t> </a:t>
            </a:r>
            <a:r>
              <a:rPr lang="zh-CN" altLang="en-US" sz="2800" b="1">
                <a:latin typeface="宋体" panose="02010600030101010101" pitchFamily="2" charset="-122"/>
              </a:rPr>
              <a:t>不同的系统结构对稳态误差的影响</a:t>
            </a:r>
            <a:endParaRPr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4388"/>
                                        </p:tgtEl>
                                        <p:attrNameLst>
                                          <p:attrName>style.visibility</p:attrName>
                                        </p:attrNameLst>
                                      </p:cBhvr>
                                      <p:to>
                                        <p:strVal val="visible"/>
                                      </p:to>
                                    </p:set>
                                    <p:anim calcmode="lin" valueType="num">
                                      <p:cBhvr additive="base">
                                        <p:cTn id="7" dur="500" fill="hold"/>
                                        <p:tgtEl>
                                          <p:spTgt spid="144388"/>
                                        </p:tgtEl>
                                        <p:attrNameLst>
                                          <p:attrName>ppt_x</p:attrName>
                                        </p:attrNameLst>
                                      </p:cBhvr>
                                      <p:tavLst>
                                        <p:tav tm="0">
                                          <p:val>
                                            <p:strVal val="#ppt_x"/>
                                          </p:val>
                                        </p:tav>
                                        <p:tav tm="100000">
                                          <p:val>
                                            <p:strVal val="#ppt_x"/>
                                          </p:val>
                                        </p:tav>
                                      </p:tavLst>
                                    </p:anim>
                                    <p:anim calcmode="lin" valueType="num">
                                      <p:cBhvr additive="base">
                                        <p:cTn id="8" dur="500" fill="hold"/>
                                        <p:tgtEl>
                                          <p:spTgt spid="14438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4389"/>
                                        </p:tgtEl>
                                        <p:attrNameLst>
                                          <p:attrName>style.visibility</p:attrName>
                                        </p:attrNameLst>
                                      </p:cBhvr>
                                      <p:to>
                                        <p:strVal val="visible"/>
                                      </p:to>
                                    </p:set>
                                    <p:anim calcmode="lin" valueType="num">
                                      <p:cBhvr additive="base">
                                        <p:cTn id="13" dur="500" fill="hold"/>
                                        <p:tgtEl>
                                          <p:spTgt spid="144389"/>
                                        </p:tgtEl>
                                        <p:attrNameLst>
                                          <p:attrName>ppt_x</p:attrName>
                                        </p:attrNameLst>
                                      </p:cBhvr>
                                      <p:tavLst>
                                        <p:tav tm="0">
                                          <p:val>
                                            <p:strVal val="#ppt_x"/>
                                          </p:val>
                                        </p:tav>
                                        <p:tav tm="100000">
                                          <p:val>
                                            <p:strVal val="#ppt_x"/>
                                          </p:val>
                                        </p:tav>
                                      </p:tavLst>
                                    </p:anim>
                                    <p:anim calcmode="lin" valueType="num">
                                      <p:cBhvr additive="base">
                                        <p:cTn id="14" dur="500" fill="hold"/>
                                        <p:tgtEl>
                                          <p:spTgt spid="14438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4395"/>
                                        </p:tgtEl>
                                        <p:attrNameLst>
                                          <p:attrName>style.visibility</p:attrName>
                                        </p:attrNameLst>
                                      </p:cBhvr>
                                      <p:to>
                                        <p:strVal val="visible"/>
                                      </p:to>
                                    </p:set>
                                    <p:anim calcmode="lin" valueType="num">
                                      <p:cBhvr additive="base">
                                        <p:cTn id="19" dur="500" fill="hold"/>
                                        <p:tgtEl>
                                          <p:spTgt spid="144395"/>
                                        </p:tgtEl>
                                        <p:attrNameLst>
                                          <p:attrName>ppt_x</p:attrName>
                                        </p:attrNameLst>
                                      </p:cBhvr>
                                      <p:tavLst>
                                        <p:tav tm="0">
                                          <p:val>
                                            <p:strVal val="#ppt_x"/>
                                          </p:val>
                                        </p:tav>
                                        <p:tav tm="100000">
                                          <p:val>
                                            <p:strVal val="#ppt_x"/>
                                          </p:val>
                                        </p:tav>
                                      </p:tavLst>
                                    </p:anim>
                                    <p:anim calcmode="lin" valueType="num">
                                      <p:cBhvr additive="base">
                                        <p:cTn id="20" dur="500" fill="hold"/>
                                        <p:tgtEl>
                                          <p:spTgt spid="1443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p:bldP spid="14439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a:extLst>
              <a:ext uri="{FF2B5EF4-FFF2-40B4-BE49-F238E27FC236}">
                <a16:creationId xmlns:a16="http://schemas.microsoft.com/office/drawing/2014/main" id="{9E8E86F6-3D70-4005-4ADE-9A5CBF067AE4}"/>
              </a:ext>
            </a:extLst>
          </p:cNvPr>
          <p:cNvSpPr>
            <a:spLocks noChangeArrowheads="1"/>
          </p:cNvSpPr>
          <p:nvPr/>
        </p:nvSpPr>
        <p:spPr bwMode="auto">
          <a:xfrm>
            <a:off x="1042988" y="4508500"/>
            <a:ext cx="7162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800">
                <a:latin typeface="宋体" panose="02010600030101010101" pitchFamily="2" charset="-122"/>
              </a:rPr>
              <a:t>即系统的稳态偏差（误差）取决于系统的开环增益、输入信号以及开环传递函数中积分环节的个数</a:t>
            </a:r>
            <a:r>
              <a:rPr lang="en-US" altLang="zh-CN" sz="2800" i="1">
                <a:latin typeface="Times New Roman" panose="02020603050405020304" pitchFamily="18" charset="0"/>
              </a:rPr>
              <a:t>v</a:t>
            </a:r>
            <a:r>
              <a:rPr lang="zh-CN" altLang="en-US" sz="2800">
                <a:latin typeface="宋体" panose="02010600030101010101" pitchFamily="2" charset="-122"/>
              </a:rPr>
              <a:t>。</a:t>
            </a:r>
          </a:p>
        </p:txBody>
      </p:sp>
      <p:grpSp>
        <p:nvGrpSpPr>
          <p:cNvPr id="2" name="Group 5">
            <a:extLst>
              <a:ext uri="{FF2B5EF4-FFF2-40B4-BE49-F238E27FC236}">
                <a16:creationId xmlns:a16="http://schemas.microsoft.com/office/drawing/2014/main" id="{53914E91-CD97-CCA3-272D-1F5280E1EDE3}"/>
              </a:ext>
            </a:extLst>
          </p:cNvPr>
          <p:cNvGrpSpPr>
            <a:grpSpLocks/>
          </p:cNvGrpSpPr>
          <p:nvPr/>
        </p:nvGrpSpPr>
        <p:grpSpPr bwMode="auto">
          <a:xfrm>
            <a:off x="971550" y="1628775"/>
            <a:ext cx="6149975" cy="798513"/>
            <a:chOff x="1056" y="2208"/>
            <a:chExt cx="3874" cy="503"/>
          </a:xfrm>
        </p:grpSpPr>
        <p:graphicFrame>
          <p:nvGraphicFramePr>
            <p:cNvPr id="41990" name="Object 6">
              <a:extLst>
                <a:ext uri="{FF2B5EF4-FFF2-40B4-BE49-F238E27FC236}">
                  <a16:creationId xmlns:a16="http://schemas.microsoft.com/office/drawing/2014/main" id="{5B394F4A-51C9-F52B-B99B-16CC5FED5CD6}"/>
                </a:ext>
              </a:extLst>
            </p:cNvPr>
            <p:cNvGraphicFramePr>
              <a:graphicFrameLocks noChangeAspect="1"/>
            </p:cNvGraphicFramePr>
            <p:nvPr/>
          </p:nvGraphicFramePr>
          <p:xfrm>
            <a:off x="1692" y="2208"/>
            <a:ext cx="3238" cy="503"/>
          </p:xfrm>
          <a:graphic>
            <a:graphicData uri="http://schemas.openxmlformats.org/presentationml/2006/ole">
              <mc:AlternateContent xmlns:mc="http://schemas.openxmlformats.org/markup-compatibility/2006">
                <mc:Choice xmlns:v="urn:schemas-microsoft-com:vml" Requires="v">
                  <p:oleObj r:id="rId3" imgW="2692400" imgH="419100" progId="Equation.3">
                    <p:embed/>
                  </p:oleObj>
                </mc:Choice>
                <mc:Fallback>
                  <p:oleObj r:id="rId3" imgW="2692400" imgH="419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 y="2208"/>
                          <a:ext cx="3238"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1" name="Rectangle 7">
              <a:extLst>
                <a:ext uri="{FF2B5EF4-FFF2-40B4-BE49-F238E27FC236}">
                  <a16:creationId xmlns:a16="http://schemas.microsoft.com/office/drawing/2014/main" id="{D8478D01-8854-126F-20F4-BE454D2FF53F}"/>
                </a:ext>
              </a:extLst>
            </p:cNvPr>
            <p:cNvSpPr>
              <a:spLocks noChangeArrowheads="1"/>
            </p:cNvSpPr>
            <p:nvPr/>
          </p:nvSpPr>
          <p:spPr bwMode="auto">
            <a:xfrm>
              <a:off x="1056" y="2247"/>
              <a:ext cx="620"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则：</a:t>
              </a:r>
              <a:r>
                <a:rPr lang="zh-CN" altLang="en-US" sz="2800">
                  <a:latin typeface="Times New Roman" panose="02020603050405020304" pitchFamily="18" charset="0"/>
                </a:rPr>
                <a:t> </a:t>
              </a:r>
            </a:p>
          </p:txBody>
        </p:sp>
      </p:grpSp>
      <p:graphicFrame>
        <p:nvGraphicFramePr>
          <p:cNvPr id="146440" name="Object 8">
            <a:extLst>
              <a:ext uri="{FF2B5EF4-FFF2-40B4-BE49-F238E27FC236}">
                <a16:creationId xmlns:a16="http://schemas.microsoft.com/office/drawing/2014/main" id="{E28564D8-1F9F-FDD0-ADCD-786C034C5041}"/>
              </a:ext>
            </a:extLst>
          </p:cNvPr>
          <p:cNvGraphicFramePr>
            <a:graphicFrameLocks noChangeAspect="1"/>
          </p:cNvGraphicFramePr>
          <p:nvPr/>
        </p:nvGraphicFramePr>
        <p:xfrm>
          <a:off x="2439988" y="2490788"/>
          <a:ext cx="2851150" cy="890587"/>
        </p:xfrm>
        <a:graphic>
          <a:graphicData uri="http://schemas.openxmlformats.org/presentationml/2006/ole">
            <mc:AlternateContent xmlns:mc="http://schemas.openxmlformats.org/markup-compatibility/2006">
              <mc:Choice xmlns:v="urn:schemas-microsoft-com:vml" Requires="v">
                <p:oleObj r:id="rId5" imgW="1460500" imgH="457200" progId="Equation.3">
                  <p:embed/>
                </p:oleObj>
              </mc:Choice>
              <mc:Fallback>
                <p:oleObj r:id="rId5" imgW="1460500" imgH="457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9988" y="2490788"/>
                        <a:ext cx="2851150"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6441" name="Object 9">
            <a:extLst>
              <a:ext uri="{FF2B5EF4-FFF2-40B4-BE49-F238E27FC236}">
                <a16:creationId xmlns:a16="http://schemas.microsoft.com/office/drawing/2014/main" id="{B31D82B7-5020-9403-D5F5-D730FA516B91}"/>
              </a:ext>
            </a:extLst>
          </p:cNvPr>
          <p:cNvGraphicFramePr>
            <a:graphicFrameLocks noChangeAspect="1"/>
          </p:cNvGraphicFramePr>
          <p:nvPr/>
        </p:nvGraphicFramePr>
        <p:xfrm>
          <a:off x="2454275" y="3532188"/>
          <a:ext cx="1758950" cy="1087437"/>
        </p:xfrm>
        <a:graphic>
          <a:graphicData uri="http://schemas.openxmlformats.org/presentationml/2006/ole">
            <mc:AlternateContent xmlns:mc="http://schemas.openxmlformats.org/markup-compatibility/2006">
              <mc:Choice xmlns:v="urn:schemas-microsoft-com:vml" Requires="v">
                <p:oleObj r:id="rId7" imgW="901309" imgH="558558" progId="Equation.3">
                  <p:embed/>
                </p:oleObj>
              </mc:Choice>
              <mc:Fallback>
                <p:oleObj r:id="rId7" imgW="901309" imgH="558558"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4275" y="3532188"/>
                        <a:ext cx="175895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6440"/>
                                        </p:tgtEl>
                                        <p:attrNameLst>
                                          <p:attrName>style.visibility</p:attrName>
                                        </p:attrNameLst>
                                      </p:cBhvr>
                                      <p:to>
                                        <p:strVal val="visible"/>
                                      </p:to>
                                    </p:set>
                                    <p:anim calcmode="lin" valueType="num">
                                      <p:cBhvr additive="base">
                                        <p:cTn id="13" dur="500" fill="hold"/>
                                        <p:tgtEl>
                                          <p:spTgt spid="146440"/>
                                        </p:tgtEl>
                                        <p:attrNameLst>
                                          <p:attrName>ppt_x</p:attrName>
                                        </p:attrNameLst>
                                      </p:cBhvr>
                                      <p:tavLst>
                                        <p:tav tm="0">
                                          <p:val>
                                            <p:strVal val="#ppt_x"/>
                                          </p:val>
                                        </p:tav>
                                        <p:tav tm="100000">
                                          <p:val>
                                            <p:strVal val="#ppt_x"/>
                                          </p:val>
                                        </p:tav>
                                      </p:tavLst>
                                    </p:anim>
                                    <p:anim calcmode="lin" valueType="num">
                                      <p:cBhvr additive="base">
                                        <p:cTn id="14" dur="500" fill="hold"/>
                                        <p:tgtEl>
                                          <p:spTgt spid="1464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6441"/>
                                        </p:tgtEl>
                                        <p:attrNameLst>
                                          <p:attrName>style.visibility</p:attrName>
                                        </p:attrNameLst>
                                      </p:cBhvr>
                                      <p:to>
                                        <p:strVal val="visible"/>
                                      </p:to>
                                    </p:set>
                                    <p:anim calcmode="lin" valueType="num">
                                      <p:cBhvr additive="base">
                                        <p:cTn id="19" dur="500" fill="hold"/>
                                        <p:tgtEl>
                                          <p:spTgt spid="146441"/>
                                        </p:tgtEl>
                                        <p:attrNameLst>
                                          <p:attrName>ppt_x</p:attrName>
                                        </p:attrNameLst>
                                      </p:cBhvr>
                                      <p:tavLst>
                                        <p:tav tm="0">
                                          <p:val>
                                            <p:strVal val="#ppt_x"/>
                                          </p:val>
                                        </p:tav>
                                        <p:tav tm="100000">
                                          <p:val>
                                            <p:strVal val="#ppt_x"/>
                                          </p:val>
                                        </p:tav>
                                      </p:tavLst>
                                    </p:anim>
                                    <p:anim calcmode="lin" valueType="num">
                                      <p:cBhvr additive="base">
                                        <p:cTn id="20" dur="500" fill="hold"/>
                                        <p:tgtEl>
                                          <p:spTgt spid="14644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46435"/>
                                        </p:tgtEl>
                                        <p:attrNameLst>
                                          <p:attrName>style.visibility</p:attrName>
                                        </p:attrNameLst>
                                      </p:cBhvr>
                                      <p:to>
                                        <p:strVal val="visible"/>
                                      </p:to>
                                    </p:set>
                                    <p:animEffect transition="in" filter="blinds(horizontal)">
                                      <p:cBhvr>
                                        <p:cTn id="25" dur="500"/>
                                        <p:tgtEl>
                                          <p:spTgt spid="146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a:extLst>
              <a:ext uri="{FF2B5EF4-FFF2-40B4-BE49-F238E27FC236}">
                <a16:creationId xmlns:a16="http://schemas.microsoft.com/office/drawing/2014/main" id="{559A5347-0DBA-C74A-44E3-421BF9AD651F}"/>
              </a:ext>
            </a:extLst>
          </p:cNvPr>
          <p:cNvSpPr>
            <a:spLocks noChangeArrowheads="1"/>
          </p:cNvSpPr>
          <p:nvPr/>
        </p:nvSpPr>
        <p:spPr bwMode="auto">
          <a:xfrm>
            <a:off x="1331913" y="1916113"/>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0</a:t>
            </a:r>
            <a:r>
              <a:rPr lang="zh-CN" altLang="en-US" sz="2800">
                <a:latin typeface="Times New Roman" panose="02020603050405020304" pitchFamily="18" charset="0"/>
              </a:rPr>
              <a:t>型</a:t>
            </a:r>
            <a:r>
              <a:rPr lang="zh-CN" altLang="en-US" sz="2800">
                <a:latin typeface="宋体" panose="02010600030101010101" pitchFamily="2" charset="-122"/>
              </a:rPr>
              <a:t>系统的稳态误差</a:t>
            </a:r>
            <a:endParaRPr lang="zh-CN" altLang="en-US" sz="2800">
              <a:latin typeface="Times New Roman" panose="02020603050405020304" pitchFamily="18" charset="0"/>
            </a:endParaRPr>
          </a:p>
        </p:txBody>
      </p:sp>
      <p:graphicFrame>
        <p:nvGraphicFramePr>
          <p:cNvPr id="99333" name="Object 5">
            <a:extLst>
              <a:ext uri="{FF2B5EF4-FFF2-40B4-BE49-F238E27FC236}">
                <a16:creationId xmlns:a16="http://schemas.microsoft.com/office/drawing/2014/main" id="{92AEF3F7-C4B8-E18A-3E80-A89575E5739F}"/>
              </a:ext>
            </a:extLst>
          </p:cNvPr>
          <p:cNvGraphicFramePr>
            <a:graphicFrameLocks noChangeAspect="1"/>
          </p:cNvGraphicFramePr>
          <p:nvPr/>
        </p:nvGraphicFramePr>
        <p:xfrm>
          <a:off x="1908175" y="2708275"/>
          <a:ext cx="4800600" cy="800100"/>
        </p:xfrm>
        <a:graphic>
          <a:graphicData uri="http://schemas.openxmlformats.org/presentationml/2006/ole">
            <mc:AlternateContent xmlns:mc="http://schemas.openxmlformats.org/markup-compatibility/2006">
              <mc:Choice xmlns:v="urn:schemas-microsoft-com:vml" Requires="v">
                <p:oleObj r:id="rId3" imgW="2578100" imgH="431800" progId="Equation.3">
                  <p:embed/>
                </p:oleObj>
              </mc:Choice>
              <mc:Fallback>
                <p:oleObj r:id="rId3" imgW="25781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708275"/>
                        <a:ext cx="48006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09A3BF3A-02AD-183C-29D5-AD9382F392CC}"/>
              </a:ext>
            </a:extLst>
          </p:cNvPr>
          <p:cNvGrpSpPr>
            <a:grpSpLocks/>
          </p:cNvGrpSpPr>
          <p:nvPr/>
        </p:nvGrpSpPr>
        <p:grpSpPr bwMode="auto">
          <a:xfrm>
            <a:off x="1868488" y="3681413"/>
            <a:ext cx="6172200" cy="833437"/>
            <a:chOff x="1200" y="2496"/>
            <a:chExt cx="3888" cy="525"/>
          </a:xfrm>
        </p:grpSpPr>
        <p:graphicFrame>
          <p:nvGraphicFramePr>
            <p:cNvPr id="44045" name="Object 7">
              <a:extLst>
                <a:ext uri="{FF2B5EF4-FFF2-40B4-BE49-F238E27FC236}">
                  <a16:creationId xmlns:a16="http://schemas.microsoft.com/office/drawing/2014/main" id="{40517560-E522-483B-F5C5-A3873397222A}"/>
                </a:ext>
              </a:extLst>
            </p:cNvPr>
            <p:cNvGraphicFramePr>
              <a:graphicFrameLocks noChangeAspect="1"/>
            </p:cNvGraphicFramePr>
            <p:nvPr/>
          </p:nvGraphicFramePr>
          <p:xfrm>
            <a:off x="1200" y="2592"/>
            <a:ext cx="1711" cy="362"/>
          </p:xfrm>
          <a:graphic>
            <a:graphicData uri="http://schemas.openxmlformats.org/presentationml/2006/ole">
              <mc:AlternateContent xmlns:mc="http://schemas.openxmlformats.org/markup-compatibility/2006">
                <mc:Choice xmlns:v="urn:schemas-microsoft-com:vml" Requires="v">
                  <p:oleObj r:id="rId5" imgW="1524000" imgH="304800" progId="Equation.3">
                    <p:embed/>
                  </p:oleObj>
                </mc:Choice>
                <mc:Fallback>
                  <p:oleObj r:id="rId5" imgW="1524000" imgH="304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 y="2592"/>
                          <a:ext cx="171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46" name="Object 8">
              <a:extLst>
                <a:ext uri="{FF2B5EF4-FFF2-40B4-BE49-F238E27FC236}">
                  <a16:creationId xmlns:a16="http://schemas.microsoft.com/office/drawing/2014/main" id="{C660AEDB-1FD7-3192-C0D9-2A07E831D0BE}"/>
                </a:ext>
              </a:extLst>
            </p:cNvPr>
            <p:cNvGraphicFramePr>
              <a:graphicFrameLocks noChangeAspect="1"/>
            </p:cNvGraphicFramePr>
            <p:nvPr/>
          </p:nvGraphicFramePr>
          <p:xfrm>
            <a:off x="3631" y="2496"/>
            <a:ext cx="1457" cy="525"/>
          </p:xfrm>
          <a:graphic>
            <a:graphicData uri="http://schemas.openxmlformats.org/presentationml/2006/ole">
              <mc:AlternateContent xmlns:mc="http://schemas.openxmlformats.org/markup-compatibility/2006">
                <mc:Choice xmlns:v="urn:schemas-microsoft-com:vml" Requires="v">
                  <p:oleObj r:id="rId7" imgW="1282700" imgH="457200" progId="Equation.3">
                    <p:embed/>
                  </p:oleObj>
                </mc:Choice>
                <mc:Fallback>
                  <p:oleObj r:id="rId7" imgW="1282700" imgH="457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1" y="2496"/>
                          <a:ext cx="1457"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7" name="AutoShape 9">
              <a:extLst>
                <a:ext uri="{FF2B5EF4-FFF2-40B4-BE49-F238E27FC236}">
                  <a16:creationId xmlns:a16="http://schemas.microsoft.com/office/drawing/2014/main" id="{7C89E1C7-5AF5-6DE8-69F8-2E4FF54C7474}"/>
                </a:ext>
              </a:extLst>
            </p:cNvPr>
            <p:cNvSpPr>
              <a:spLocks noChangeArrowheads="1"/>
            </p:cNvSpPr>
            <p:nvPr/>
          </p:nvSpPr>
          <p:spPr bwMode="auto">
            <a:xfrm>
              <a:off x="3151" y="2640"/>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3" name="Group 10">
            <a:extLst>
              <a:ext uri="{FF2B5EF4-FFF2-40B4-BE49-F238E27FC236}">
                <a16:creationId xmlns:a16="http://schemas.microsoft.com/office/drawing/2014/main" id="{218F8111-F360-1796-4B24-884F66BDC7B7}"/>
              </a:ext>
            </a:extLst>
          </p:cNvPr>
          <p:cNvGrpSpPr>
            <a:grpSpLocks/>
          </p:cNvGrpSpPr>
          <p:nvPr/>
        </p:nvGrpSpPr>
        <p:grpSpPr bwMode="auto">
          <a:xfrm>
            <a:off x="1868488" y="4494213"/>
            <a:ext cx="5410200" cy="787400"/>
            <a:chOff x="1200" y="3008"/>
            <a:chExt cx="3408" cy="496"/>
          </a:xfrm>
        </p:grpSpPr>
        <p:graphicFrame>
          <p:nvGraphicFramePr>
            <p:cNvPr id="44042" name="Object 11">
              <a:extLst>
                <a:ext uri="{FF2B5EF4-FFF2-40B4-BE49-F238E27FC236}">
                  <a16:creationId xmlns:a16="http://schemas.microsoft.com/office/drawing/2014/main" id="{60BA0B3A-8280-771F-D76F-57B937A79FA6}"/>
                </a:ext>
              </a:extLst>
            </p:cNvPr>
            <p:cNvGraphicFramePr>
              <a:graphicFrameLocks noChangeAspect="1"/>
            </p:cNvGraphicFramePr>
            <p:nvPr/>
          </p:nvGraphicFramePr>
          <p:xfrm>
            <a:off x="1200" y="3119"/>
            <a:ext cx="1696" cy="362"/>
          </p:xfrm>
          <a:graphic>
            <a:graphicData uri="http://schemas.openxmlformats.org/presentationml/2006/ole">
              <mc:AlternateContent xmlns:mc="http://schemas.openxmlformats.org/markup-compatibility/2006">
                <mc:Choice xmlns:v="urn:schemas-microsoft-com:vml" Requires="v">
                  <p:oleObj r:id="rId9" imgW="1511300" imgH="304800" progId="Equation.3">
                    <p:embed/>
                  </p:oleObj>
                </mc:Choice>
                <mc:Fallback>
                  <p:oleObj r:id="rId9" imgW="1511300" imgH="3048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0" y="3119"/>
                          <a:ext cx="1696"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43" name="Object 12">
              <a:extLst>
                <a:ext uri="{FF2B5EF4-FFF2-40B4-BE49-F238E27FC236}">
                  <a16:creationId xmlns:a16="http://schemas.microsoft.com/office/drawing/2014/main" id="{7F871EA1-5652-412C-56B7-99746364C76F}"/>
                </a:ext>
              </a:extLst>
            </p:cNvPr>
            <p:cNvGraphicFramePr>
              <a:graphicFrameLocks noChangeAspect="1"/>
            </p:cNvGraphicFramePr>
            <p:nvPr/>
          </p:nvGraphicFramePr>
          <p:xfrm>
            <a:off x="3641" y="3008"/>
            <a:ext cx="967" cy="496"/>
          </p:xfrm>
          <a:graphic>
            <a:graphicData uri="http://schemas.openxmlformats.org/presentationml/2006/ole">
              <mc:AlternateContent xmlns:mc="http://schemas.openxmlformats.org/markup-compatibility/2006">
                <mc:Choice xmlns:v="urn:schemas-microsoft-com:vml" Requires="v">
                  <p:oleObj r:id="rId11" imgW="850531" imgH="431613" progId="Equation.3">
                    <p:embed/>
                  </p:oleObj>
                </mc:Choice>
                <mc:Fallback>
                  <p:oleObj r:id="rId11" imgW="850531" imgH="431613"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1" y="3008"/>
                          <a:ext cx="967"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4" name="AutoShape 13">
              <a:extLst>
                <a:ext uri="{FF2B5EF4-FFF2-40B4-BE49-F238E27FC236}">
                  <a16:creationId xmlns:a16="http://schemas.microsoft.com/office/drawing/2014/main" id="{3FEE7687-EA5A-CA98-BF60-BB6FFB0C669F}"/>
                </a:ext>
              </a:extLst>
            </p:cNvPr>
            <p:cNvSpPr>
              <a:spLocks noChangeArrowheads="1"/>
            </p:cNvSpPr>
            <p:nvPr/>
          </p:nvSpPr>
          <p:spPr bwMode="auto">
            <a:xfrm>
              <a:off x="3151" y="3144"/>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4" name="Group 14">
            <a:extLst>
              <a:ext uri="{FF2B5EF4-FFF2-40B4-BE49-F238E27FC236}">
                <a16:creationId xmlns:a16="http://schemas.microsoft.com/office/drawing/2014/main" id="{2B7531C3-03A9-DA0D-CA5F-A13FDEBF8505}"/>
              </a:ext>
            </a:extLst>
          </p:cNvPr>
          <p:cNvGrpSpPr>
            <a:grpSpLocks/>
          </p:cNvGrpSpPr>
          <p:nvPr/>
        </p:nvGrpSpPr>
        <p:grpSpPr bwMode="auto">
          <a:xfrm>
            <a:off x="1868488" y="5332413"/>
            <a:ext cx="5432425" cy="787400"/>
            <a:chOff x="1200" y="3536"/>
            <a:chExt cx="3422" cy="496"/>
          </a:xfrm>
        </p:grpSpPr>
        <p:graphicFrame>
          <p:nvGraphicFramePr>
            <p:cNvPr id="44039" name="Object 15">
              <a:extLst>
                <a:ext uri="{FF2B5EF4-FFF2-40B4-BE49-F238E27FC236}">
                  <a16:creationId xmlns:a16="http://schemas.microsoft.com/office/drawing/2014/main" id="{9E02112B-C317-9266-C23B-4A2C7324EDD4}"/>
                </a:ext>
              </a:extLst>
            </p:cNvPr>
            <p:cNvGraphicFramePr>
              <a:graphicFrameLocks noChangeAspect="1"/>
            </p:cNvGraphicFramePr>
            <p:nvPr/>
          </p:nvGraphicFramePr>
          <p:xfrm>
            <a:off x="1200" y="3625"/>
            <a:ext cx="1795" cy="407"/>
          </p:xfrm>
          <a:graphic>
            <a:graphicData uri="http://schemas.openxmlformats.org/presentationml/2006/ole">
              <mc:AlternateContent xmlns:mc="http://schemas.openxmlformats.org/markup-compatibility/2006">
                <mc:Choice xmlns:v="urn:schemas-microsoft-com:vml" Requires="v">
                  <p:oleObj r:id="rId13" imgW="1600200" imgH="342900" progId="Equation.3">
                    <p:embed/>
                  </p:oleObj>
                </mc:Choice>
                <mc:Fallback>
                  <p:oleObj r:id="rId13" imgW="1600200" imgH="3429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00" y="3625"/>
                          <a:ext cx="179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40" name="Object 16">
              <a:extLst>
                <a:ext uri="{FF2B5EF4-FFF2-40B4-BE49-F238E27FC236}">
                  <a16:creationId xmlns:a16="http://schemas.microsoft.com/office/drawing/2014/main" id="{0EBD6598-0032-6063-AABC-DBB10106BFB2}"/>
                </a:ext>
              </a:extLst>
            </p:cNvPr>
            <p:cNvGraphicFramePr>
              <a:graphicFrameLocks noChangeAspect="1"/>
            </p:cNvGraphicFramePr>
            <p:nvPr/>
          </p:nvGraphicFramePr>
          <p:xfrm>
            <a:off x="3641" y="3536"/>
            <a:ext cx="981" cy="496"/>
          </p:xfrm>
          <a:graphic>
            <a:graphicData uri="http://schemas.openxmlformats.org/presentationml/2006/ole">
              <mc:AlternateContent xmlns:mc="http://schemas.openxmlformats.org/markup-compatibility/2006">
                <mc:Choice xmlns:v="urn:schemas-microsoft-com:vml" Requires="v">
                  <p:oleObj r:id="rId15" imgW="863225" imgH="431613" progId="Equation.3">
                    <p:embed/>
                  </p:oleObj>
                </mc:Choice>
                <mc:Fallback>
                  <p:oleObj r:id="rId15" imgW="863225" imgH="431613"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41" y="3536"/>
                          <a:ext cx="981"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1" name="AutoShape 17">
              <a:extLst>
                <a:ext uri="{FF2B5EF4-FFF2-40B4-BE49-F238E27FC236}">
                  <a16:creationId xmlns:a16="http://schemas.microsoft.com/office/drawing/2014/main" id="{D32D965D-22A2-06E8-B537-D82DE165F7D1}"/>
                </a:ext>
              </a:extLst>
            </p:cNvPr>
            <p:cNvSpPr>
              <a:spLocks noChangeArrowheads="1"/>
            </p:cNvSpPr>
            <p:nvPr/>
          </p:nvSpPr>
          <p:spPr bwMode="auto">
            <a:xfrm>
              <a:off x="3151" y="3696"/>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 calcmode="lin" valueType="num">
                                      <p:cBhvr additive="base">
                                        <p:cTn id="7" dur="500" fill="hold"/>
                                        <p:tgtEl>
                                          <p:spTgt spid="99332"/>
                                        </p:tgtEl>
                                        <p:attrNameLst>
                                          <p:attrName>ppt_x</p:attrName>
                                        </p:attrNameLst>
                                      </p:cBhvr>
                                      <p:tavLst>
                                        <p:tav tm="0">
                                          <p:val>
                                            <p:strVal val="#ppt_x"/>
                                          </p:val>
                                        </p:tav>
                                        <p:tav tm="100000">
                                          <p:val>
                                            <p:strVal val="#ppt_x"/>
                                          </p:val>
                                        </p:tav>
                                      </p:tavLst>
                                    </p:anim>
                                    <p:anim calcmode="lin" valueType="num">
                                      <p:cBhvr additive="base">
                                        <p:cTn id="8" dur="500" fill="hold"/>
                                        <p:tgtEl>
                                          <p:spTgt spid="993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9333"/>
                                        </p:tgtEl>
                                        <p:attrNameLst>
                                          <p:attrName>style.visibility</p:attrName>
                                        </p:attrNameLst>
                                      </p:cBhvr>
                                      <p:to>
                                        <p:strVal val="visible"/>
                                      </p:to>
                                    </p:set>
                                    <p:anim calcmode="lin" valueType="num">
                                      <p:cBhvr additive="base">
                                        <p:cTn id="13" dur="500" fill="hold"/>
                                        <p:tgtEl>
                                          <p:spTgt spid="99333"/>
                                        </p:tgtEl>
                                        <p:attrNameLst>
                                          <p:attrName>ppt_x</p:attrName>
                                        </p:attrNameLst>
                                      </p:cBhvr>
                                      <p:tavLst>
                                        <p:tav tm="0">
                                          <p:val>
                                            <p:strVal val="#ppt_x"/>
                                          </p:val>
                                        </p:tav>
                                        <p:tav tm="100000">
                                          <p:val>
                                            <p:strVal val="#ppt_x"/>
                                          </p:val>
                                        </p:tav>
                                      </p:tavLst>
                                    </p:anim>
                                    <p:anim calcmode="lin" valueType="num">
                                      <p:cBhvr additive="base">
                                        <p:cTn id="14" dur="500" fill="hold"/>
                                        <p:tgtEl>
                                          <p:spTgt spid="9933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AA1F2757-B661-F38B-5D90-53BF12B1AC87}"/>
              </a:ext>
            </a:extLst>
          </p:cNvPr>
          <p:cNvSpPr>
            <a:spLocks noChangeArrowheads="1"/>
          </p:cNvSpPr>
          <p:nvPr/>
        </p:nvSpPr>
        <p:spPr bwMode="auto">
          <a:xfrm>
            <a:off x="1447800" y="167640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I</a:t>
            </a:r>
            <a:r>
              <a:rPr lang="zh-CN" altLang="en-US" sz="2800">
                <a:latin typeface="Times New Roman" panose="02020603050405020304" pitchFamily="18" charset="0"/>
              </a:rPr>
              <a:t>型</a:t>
            </a:r>
            <a:r>
              <a:rPr lang="zh-CN" altLang="en-US" sz="2800">
                <a:latin typeface="宋体" panose="02010600030101010101" pitchFamily="2" charset="-122"/>
              </a:rPr>
              <a:t>系统的稳态误差</a:t>
            </a:r>
            <a:endParaRPr lang="zh-CN" altLang="en-US" sz="2800">
              <a:latin typeface="Times New Roman" panose="02020603050405020304" pitchFamily="18" charset="0"/>
            </a:endParaRPr>
          </a:p>
        </p:txBody>
      </p:sp>
      <p:graphicFrame>
        <p:nvGraphicFramePr>
          <p:cNvPr id="98308" name="Object 4">
            <a:extLst>
              <a:ext uri="{FF2B5EF4-FFF2-40B4-BE49-F238E27FC236}">
                <a16:creationId xmlns:a16="http://schemas.microsoft.com/office/drawing/2014/main" id="{2C82FC2A-048F-E7AB-02A7-38CC170A052D}"/>
              </a:ext>
            </a:extLst>
          </p:cNvPr>
          <p:cNvGraphicFramePr>
            <a:graphicFrameLocks noChangeAspect="1"/>
          </p:cNvGraphicFramePr>
          <p:nvPr/>
        </p:nvGraphicFramePr>
        <p:xfrm>
          <a:off x="1870075" y="2438400"/>
          <a:ext cx="4870450" cy="800100"/>
        </p:xfrm>
        <a:graphic>
          <a:graphicData uri="http://schemas.openxmlformats.org/presentationml/2006/ole">
            <mc:AlternateContent xmlns:mc="http://schemas.openxmlformats.org/markup-compatibility/2006">
              <mc:Choice xmlns:v="urn:schemas-microsoft-com:vml" Requires="v">
                <p:oleObj r:id="rId3" imgW="2616200" imgH="431800" progId="Equation.3">
                  <p:embed/>
                </p:oleObj>
              </mc:Choice>
              <mc:Fallback>
                <p:oleObj r:id="rId3" imgW="26162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0075" y="2438400"/>
                        <a:ext cx="48704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
            <a:extLst>
              <a:ext uri="{FF2B5EF4-FFF2-40B4-BE49-F238E27FC236}">
                <a16:creationId xmlns:a16="http://schemas.microsoft.com/office/drawing/2014/main" id="{C3BB1592-9DE4-32B7-69C7-0D6696AFFEAD}"/>
              </a:ext>
            </a:extLst>
          </p:cNvPr>
          <p:cNvGrpSpPr>
            <a:grpSpLocks/>
          </p:cNvGrpSpPr>
          <p:nvPr/>
        </p:nvGrpSpPr>
        <p:grpSpPr bwMode="auto">
          <a:xfrm>
            <a:off x="1916113" y="3403600"/>
            <a:ext cx="5930900" cy="833438"/>
            <a:chOff x="1207" y="2112"/>
            <a:chExt cx="3736" cy="525"/>
          </a:xfrm>
        </p:grpSpPr>
        <p:graphicFrame>
          <p:nvGraphicFramePr>
            <p:cNvPr id="46093" name="Object 6">
              <a:extLst>
                <a:ext uri="{FF2B5EF4-FFF2-40B4-BE49-F238E27FC236}">
                  <a16:creationId xmlns:a16="http://schemas.microsoft.com/office/drawing/2014/main" id="{47E0DA70-13DA-D19A-8D59-DFF94C8CB279}"/>
                </a:ext>
              </a:extLst>
            </p:cNvPr>
            <p:cNvGraphicFramePr>
              <a:graphicFrameLocks noChangeAspect="1"/>
            </p:cNvGraphicFramePr>
            <p:nvPr/>
          </p:nvGraphicFramePr>
          <p:xfrm>
            <a:off x="1207" y="2230"/>
            <a:ext cx="1697" cy="362"/>
          </p:xfrm>
          <a:graphic>
            <a:graphicData uri="http://schemas.openxmlformats.org/presentationml/2006/ole">
              <mc:AlternateContent xmlns:mc="http://schemas.openxmlformats.org/markup-compatibility/2006">
                <mc:Choice xmlns:v="urn:schemas-microsoft-com:vml" Requires="v">
                  <p:oleObj r:id="rId5" imgW="1511300" imgH="304800" progId="Equation.3">
                    <p:embed/>
                  </p:oleObj>
                </mc:Choice>
                <mc:Fallback>
                  <p:oleObj r:id="rId5" imgW="1511300" imgH="304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7" y="2230"/>
                          <a:ext cx="169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94" name="Object 7">
              <a:extLst>
                <a:ext uri="{FF2B5EF4-FFF2-40B4-BE49-F238E27FC236}">
                  <a16:creationId xmlns:a16="http://schemas.microsoft.com/office/drawing/2014/main" id="{8B226181-383E-BADB-EDFD-94020250FA08}"/>
                </a:ext>
              </a:extLst>
            </p:cNvPr>
            <p:cNvGraphicFramePr>
              <a:graphicFrameLocks noChangeAspect="1"/>
            </p:cNvGraphicFramePr>
            <p:nvPr/>
          </p:nvGraphicFramePr>
          <p:xfrm>
            <a:off x="3775" y="2112"/>
            <a:ext cx="1168" cy="525"/>
          </p:xfrm>
          <a:graphic>
            <a:graphicData uri="http://schemas.openxmlformats.org/presentationml/2006/ole">
              <mc:AlternateContent xmlns:mc="http://schemas.openxmlformats.org/markup-compatibility/2006">
                <mc:Choice xmlns:v="urn:schemas-microsoft-com:vml" Requires="v">
                  <p:oleObj r:id="rId7" imgW="1028700" imgH="457200" progId="Equation.3">
                    <p:embed/>
                  </p:oleObj>
                </mc:Choice>
                <mc:Fallback>
                  <p:oleObj r:id="rId7" imgW="1028700" imgH="457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5" y="2112"/>
                          <a:ext cx="1168"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95" name="AutoShape 8">
              <a:extLst>
                <a:ext uri="{FF2B5EF4-FFF2-40B4-BE49-F238E27FC236}">
                  <a16:creationId xmlns:a16="http://schemas.microsoft.com/office/drawing/2014/main" id="{4B989649-E492-E1B6-BED3-D8FA2C025AD8}"/>
                </a:ext>
              </a:extLst>
            </p:cNvPr>
            <p:cNvSpPr>
              <a:spLocks noChangeArrowheads="1"/>
            </p:cNvSpPr>
            <p:nvPr/>
          </p:nvSpPr>
          <p:spPr bwMode="auto">
            <a:xfrm>
              <a:off x="3151" y="2256"/>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3" name="Group 9">
            <a:extLst>
              <a:ext uri="{FF2B5EF4-FFF2-40B4-BE49-F238E27FC236}">
                <a16:creationId xmlns:a16="http://schemas.microsoft.com/office/drawing/2014/main" id="{2C5465F3-9F5A-F8DE-3ADB-6BF70F484F09}"/>
              </a:ext>
            </a:extLst>
          </p:cNvPr>
          <p:cNvGrpSpPr>
            <a:grpSpLocks/>
          </p:cNvGrpSpPr>
          <p:nvPr/>
        </p:nvGrpSpPr>
        <p:grpSpPr bwMode="auto">
          <a:xfrm>
            <a:off x="1865313" y="4318000"/>
            <a:ext cx="5830887" cy="823913"/>
            <a:chOff x="1175" y="2624"/>
            <a:chExt cx="3673" cy="519"/>
          </a:xfrm>
        </p:grpSpPr>
        <p:graphicFrame>
          <p:nvGraphicFramePr>
            <p:cNvPr id="46090" name="Object 10">
              <a:extLst>
                <a:ext uri="{FF2B5EF4-FFF2-40B4-BE49-F238E27FC236}">
                  <a16:creationId xmlns:a16="http://schemas.microsoft.com/office/drawing/2014/main" id="{76D0D831-0A42-37BD-D611-45800986B78F}"/>
                </a:ext>
              </a:extLst>
            </p:cNvPr>
            <p:cNvGraphicFramePr>
              <a:graphicFrameLocks noChangeAspect="1"/>
            </p:cNvGraphicFramePr>
            <p:nvPr/>
          </p:nvGraphicFramePr>
          <p:xfrm>
            <a:off x="1175" y="2736"/>
            <a:ext cx="1753" cy="362"/>
          </p:xfrm>
          <a:graphic>
            <a:graphicData uri="http://schemas.openxmlformats.org/presentationml/2006/ole">
              <mc:AlternateContent xmlns:mc="http://schemas.openxmlformats.org/markup-compatibility/2006">
                <mc:Choice xmlns:v="urn:schemas-microsoft-com:vml" Requires="v">
                  <p:oleObj r:id="rId9" imgW="1562100" imgH="304800" progId="Equation.3">
                    <p:embed/>
                  </p:oleObj>
                </mc:Choice>
                <mc:Fallback>
                  <p:oleObj r:id="rId9" imgW="1562100" imgH="3048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5" y="2736"/>
                          <a:ext cx="1753"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91" name="Object 11">
              <a:extLst>
                <a:ext uri="{FF2B5EF4-FFF2-40B4-BE49-F238E27FC236}">
                  <a16:creationId xmlns:a16="http://schemas.microsoft.com/office/drawing/2014/main" id="{19AE5286-4023-34A2-8C6E-BAE168098BB7}"/>
                </a:ext>
              </a:extLst>
            </p:cNvPr>
            <p:cNvGraphicFramePr>
              <a:graphicFrameLocks noChangeAspect="1"/>
            </p:cNvGraphicFramePr>
            <p:nvPr/>
          </p:nvGraphicFramePr>
          <p:xfrm>
            <a:off x="3775" y="2624"/>
            <a:ext cx="1073" cy="519"/>
          </p:xfrm>
          <a:graphic>
            <a:graphicData uri="http://schemas.openxmlformats.org/presentationml/2006/ole">
              <mc:AlternateContent xmlns:mc="http://schemas.openxmlformats.org/markup-compatibility/2006">
                <mc:Choice xmlns:v="urn:schemas-microsoft-com:vml" Requires="v">
                  <p:oleObj r:id="rId11" imgW="901309" imgH="431613" progId="Equation.3">
                    <p:embed/>
                  </p:oleObj>
                </mc:Choice>
                <mc:Fallback>
                  <p:oleObj r:id="rId11" imgW="901309" imgH="431613"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5" y="2624"/>
                          <a:ext cx="107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92" name="AutoShape 12">
              <a:extLst>
                <a:ext uri="{FF2B5EF4-FFF2-40B4-BE49-F238E27FC236}">
                  <a16:creationId xmlns:a16="http://schemas.microsoft.com/office/drawing/2014/main" id="{905F5371-0C68-EDD1-9123-D729BE24BFF5}"/>
                </a:ext>
              </a:extLst>
            </p:cNvPr>
            <p:cNvSpPr>
              <a:spLocks noChangeArrowheads="1"/>
            </p:cNvSpPr>
            <p:nvPr/>
          </p:nvSpPr>
          <p:spPr bwMode="auto">
            <a:xfrm>
              <a:off x="3151" y="2760"/>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4" name="Group 13">
            <a:extLst>
              <a:ext uri="{FF2B5EF4-FFF2-40B4-BE49-F238E27FC236}">
                <a16:creationId xmlns:a16="http://schemas.microsoft.com/office/drawing/2014/main" id="{29F079D9-95FE-602F-2BB8-BACF349B5337}"/>
              </a:ext>
            </a:extLst>
          </p:cNvPr>
          <p:cNvGrpSpPr>
            <a:grpSpLocks/>
          </p:cNvGrpSpPr>
          <p:nvPr/>
        </p:nvGrpSpPr>
        <p:grpSpPr bwMode="auto">
          <a:xfrm>
            <a:off x="1905000" y="5257800"/>
            <a:ext cx="5638800" cy="787400"/>
            <a:chOff x="1200" y="3168"/>
            <a:chExt cx="3552" cy="496"/>
          </a:xfrm>
        </p:grpSpPr>
        <p:graphicFrame>
          <p:nvGraphicFramePr>
            <p:cNvPr id="46087" name="Object 14">
              <a:extLst>
                <a:ext uri="{FF2B5EF4-FFF2-40B4-BE49-F238E27FC236}">
                  <a16:creationId xmlns:a16="http://schemas.microsoft.com/office/drawing/2014/main" id="{AABA85C2-011D-E76C-32B7-527313F4EAA2}"/>
                </a:ext>
              </a:extLst>
            </p:cNvPr>
            <p:cNvGraphicFramePr>
              <a:graphicFrameLocks noChangeAspect="1"/>
            </p:cNvGraphicFramePr>
            <p:nvPr/>
          </p:nvGraphicFramePr>
          <p:xfrm>
            <a:off x="1200" y="3241"/>
            <a:ext cx="1795" cy="407"/>
          </p:xfrm>
          <a:graphic>
            <a:graphicData uri="http://schemas.openxmlformats.org/presentationml/2006/ole">
              <mc:AlternateContent xmlns:mc="http://schemas.openxmlformats.org/markup-compatibility/2006">
                <mc:Choice xmlns:v="urn:schemas-microsoft-com:vml" Requires="v">
                  <p:oleObj r:id="rId13" imgW="1600200" imgH="342900" progId="Equation.3">
                    <p:embed/>
                  </p:oleObj>
                </mc:Choice>
                <mc:Fallback>
                  <p:oleObj r:id="rId13" imgW="1600200" imgH="3429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00" y="3241"/>
                          <a:ext cx="179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88" name="Object 15">
              <a:extLst>
                <a:ext uri="{FF2B5EF4-FFF2-40B4-BE49-F238E27FC236}">
                  <a16:creationId xmlns:a16="http://schemas.microsoft.com/office/drawing/2014/main" id="{DDB98D4D-95FC-44A5-0B07-37A4F2D4B206}"/>
                </a:ext>
              </a:extLst>
            </p:cNvPr>
            <p:cNvGraphicFramePr>
              <a:graphicFrameLocks noChangeAspect="1"/>
            </p:cNvGraphicFramePr>
            <p:nvPr/>
          </p:nvGraphicFramePr>
          <p:xfrm>
            <a:off x="3771" y="3168"/>
            <a:ext cx="981" cy="496"/>
          </p:xfrm>
          <a:graphic>
            <a:graphicData uri="http://schemas.openxmlformats.org/presentationml/2006/ole">
              <mc:AlternateContent xmlns:mc="http://schemas.openxmlformats.org/markup-compatibility/2006">
                <mc:Choice xmlns:v="urn:schemas-microsoft-com:vml" Requires="v">
                  <p:oleObj r:id="rId15" imgW="863225" imgH="431613" progId="Equation.3">
                    <p:embed/>
                  </p:oleObj>
                </mc:Choice>
                <mc:Fallback>
                  <p:oleObj r:id="rId15" imgW="863225" imgH="431613"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1" y="3168"/>
                          <a:ext cx="981"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89" name="AutoShape 16">
              <a:extLst>
                <a:ext uri="{FF2B5EF4-FFF2-40B4-BE49-F238E27FC236}">
                  <a16:creationId xmlns:a16="http://schemas.microsoft.com/office/drawing/2014/main" id="{BF6EB2E2-C3CC-80F5-519A-40FECA1245CC}"/>
                </a:ext>
              </a:extLst>
            </p:cNvPr>
            <p:cNvSpPr>
              <a:spLocks noChangeArrowheads="1"/>
            </p:cNvSpPr>
            <p:nvPr/>
          </p:nvSpPr>
          <p:spPr bwMode="auto">
            <a:xfrm>
              <a:off x="3151" y="3312"/>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8308"/>
                                        </p:tgtEl>
                                        <p:attrNameLst>
                                          <p:attrName>style.visibility</p:attrName>
                                        </p:attrNameLst>
                                      </p:cBhvr>
                                      <p:to>
                                        <p:strVal val="visible"/>
                                      </p:to>
                                    </p:set>
                                    <p:anim calcmode="lin" valueType="num">
                                      <p:cBhvr additive="base">
                                        <p:cTn id="7" dur="500" fill="hold"/>
                                        <p:tgtEl>
                                          <p:spTgt spid="98308"/>
                                        </p:tgtEl>
                                        <p:attrNameLst>
                                          <p:attrName>ppt_x</p:attrName>
                                        </p:attrNameLst>
                                      </p:cBhvr>
                                      <p:tavLst>
                                        <p:tav tm="0">
                                          <p:val>
                                            <p:strVal val="#ppt_x"/>
                                          </p:val>
                                        </p:tav>
                                        <p:tav tm="100000">
                                          <p:val>
                                            <p:strVal val="#ppt_x"/>
                                          </p:val>
                                        </p:tav>
                                      </p:tavLst>
                                    </p:anim>
                                    <p:anim calcmode="lin" valueType="num">
                                      <p:cBhvr additive="base">
                                        <p:cTn id="8" dur="500" fill="hold"/>
                                        <p:tgtEl>
                                          <p:spTgt spid="983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0FF6442A-0A00-B02D-FF9A-E55B4824599B}"/>
              </a:ext>
            </a:extLst>
          </p:cNvPr>
          <p:cNvSpPr>
            <a:spLocks noChangeArrowheads="1"/>
          </p:cNvSpPr>
          <p:nvPr/>
        </p:nvSpPr>
        <p:spPr bwMode="auto">
          <a:xfrm>
            <a:off x="1447800" y="167640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en-US" altLang="zh-CN" sz="2800">
                <a:latin typeface="宋体" panose="02010600030101010101" pitchFamily="2" charset="-122"/>
              </a:rPr>
              <a:t>Ⅱ</a:t>
            </a:r>
            <a:r>
              <a:rPr lang="zh-CN" altLang="en-US" sz="2800">
                <a:latin typeface="Times New Roman" panose="02020603050405020304" pitchFamily="18" charset="0"/>
              </a:rPr>
              <a:t>型</a:t>
            </a:r>
            <a:r>
              <a:rPr lang="zh-CN" altLang="en-US" sz="2800">
                <a:latin typeface="宋体" panose="02010600030101010101" pitchFamily="2" charset="-122"/>
              </a:rPr>
              <a:t>系统的稳态误差</a:t>
            </a:r>
          </a:p>
        </p:txBody>
      </p:sp>
      <p:graphicFrame>
        <p:nvGraphicFramePr>
          <p:cNvPr id="97284" name="Object 4">
            <a:extLst>
              <a:ext uri="{FF2B5EF4-FFF2-40B4-BE49-F238E27FC236}">
                <a16:creationId xmlns:a16="http://schemas.microsoft.com/office/drawing/2014/main" id="{B5E1D4AE-7947-128A-FFE7-11492441B558}"/>
              </a:ext>
            </a:extLst>
          </p:cNvPr>
          <p:cNvGraphicFramePr>
            <a:graphicFrameLocks noChangeAspect="1"/>
          </p:cNvGraphicFramePr>
          <p:nvPr/>
        </p:nvGraphicFramePr>
        <p:xfrm>
          <a:off x="1974850" y="2376488"/>
          <a:ext cx="5035550" cy="823912"/>
        </p:xfrm>
        <a:graphic>
          <a:graphicData uri="http://schemas.openxmlformats.org/presentationml/2006/ole">
            <mc:AlternateContent xmlns:mc="http://schemas.openxmlformats.org/markup-compatibility/2006">
              <mc:Choice xmlns:v="urn:schemas-microsoft-com:vml" Requires="v">
                <p:oleObj r:id="rId3" imgW="2705100" imgH="444500" progId="Equation.3">
                  <p:embed/>
                </p:oleObj>
              </mc:Choice>
              <mc:Fallback>
                <p:oleObj r:id="rId3" imgW="27051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850" y="2376488"/>
                        <a:ext cx="50355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
            <a:extLst>
              <a:ext uri="{FF2B5EF4-FFF2-40B4-BE49-F238E27FC236}">
                <a16:creationId xmlns:a16="http://schemas.microsoft.com/office/drawing/2014/main" id="{F10569EC-CB08-863B-4F0D-E0BABBA910E2}"/>
              </a:ext>
            </a:extLst>
          </p:cNvPr>
          <p:cNvGrpSpPr>
            <a:grpSpLocks/>
          </p:cNvGrpSpPr>
          <p:nvPr/>
        </p:nvGrpSpPr>
        <p:grpSpPr bwMode="auto">
          <a:xfrm>
            <a:off x="1916113" y="3403600"/>
            <a:ext cx="5805487" cy="833438"/>
            <a:chOff x="1207" y="2144"/>
            <a:chExt cx="3657" cy="525"/>
          </a:xfrm>
        </p:grpSpPr>
        <p:graphicFrame>
          <p:nvGraphicFramePr>
            <p:cNvPr id="48141" name="Object 6">
              <a:extLst>
                <a:ext uri="{FF2B5EF4-FFF2-40B4-BE49-F238E27FC236}">
                  <a16:creationId xmlns:a16="http://schemas.microsoft.com/office/drawing/2014/main" id="{5F0CABC3-5027-2A52-6C26-3626797A8044}"/>
                </a:ext>
              </a:extLst>
            </p:cNvPr>
            <p:cNvGraphicFramePr>
              <a:graphicFrameLocks noChangeAspect="1"/>
            </p:cNvGraphicFramePr>
            <p:nvPr/>
          </p:nvGraphicFramePr>
          <p:xfrm>
            <a:off x="1207" y="2256"/>
            <a:ext cx="1697" cy="362"/>
          </p:xfrm>
          <a:graphic>
            <a:graphicData uri="http://schemas.openxmlformats.org/presentationml/2006/ole">
              <mc:AlternateContent xmlns:mc="http://schemas.openxmlformats.org/markup-compatibility/2006">
                <mc:Choice xmlns:v="urn:schemas-microsoft-com:vml" Requires="v">
                  <p:oleObj r:id="rId5" imgW="1511300" imgH="304800" progId="Equation.3">
                    <p:embed/>
                  </p:oleObj>
                </mc:Choice>
                <mc:Fallback>
                  <p:oleObj r:id="rId5" imgW="1511300" imgH="304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7" y="2256"/>
                          <a:ext cx="169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142" name="Object 7">
              <a:extLst>
                <a:ext uri="{FF2B5EF4-FFF2-40B4-BE49-F238E27FC236}">
                  <a16:creationId xmlns:a16="http://schemas.microsoft.com/office/drawing/2014/main" id="{91FC8CD1-98C6-DEAE-15CC-D83293944940}"/>
                </a:ext>
              </a:extLst>
            </p:cNvPr>
            <p:cNvGraphicFramePr>
              <a:graphicFrameLocks noChangeAspect="1"/>
            </p:cNvGraphicFramePr>
            <p:nvPr/>
          </p:nvGraphicFramePr>
          <p:xfrm>
            <a:off x="3696" y="2144"/>
            <a:ext cx="1168" cy="525"/>
          </p:xfrm>
          <a:graphic>
            <a:graphicData uri="http://schemas.openxmlformats.org/presentationml/2006/ole">
              <mc:AlternateContent xmlns:mc="http://schemas.openxmlformats.org/markup-compatibility/2006">
                <mc:Choice xmlns:v="urn:schemas-microsoft-com:vml" Requires="v">
                  <p:oleObj r:id="rId7" imgW="1028700" imgH="457200" progId="Equation.3">
                    <p:embed/>
                  </p:oleObj>
                </mc:Choice>
                <mc:Fallback>
                  <p:oleObj r:id="rId7" imgW="1028700" imgH="457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96" y="2144"/>
                          <a:ext cx="1168"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43" name="AutoShape 8">
              <a:extLst>
                <a:ext uri="{FF2B5EF4-FFF2-40B4-BE49-F238E27FC236}">
                  <a16:creationId xmlns:a16="http://schemas.microsoft.com/office/drawing/2014/main" id="{E4D20D90-561F-A5D3-8C32-0A0FFEA62DD1}"/>
                </a:ext>
              </a:extLst>
            </p:cNvPr>
            <p:cNvSpPr>
              <a:spLocks noChangeArrowheads="1"/>
            </p:cNvSpPr>
            <p:nvPr/>
          </p:nvSpPr>
          <p:spPr bwMode="auto">
            <a:xfrm>
              <a:off x="3151" y="2288"/>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3" name="Group 9">
            <a:extLst>
              <a:ext uri="{FF2B5EF4-FFF2-40B4-BE49-F238E27FC236}">
                <a16:creationId xmlns:a16="http://schemas.microsoft.com/office/drawing/2014/main" id="{4E45DC24-F502-53FE-06CF-A98C70D3BDEA}"/>
              </a:ext>
            </a:extLst>
          </p:cNvPr>
          <p:cNvGrpSpPr>
            <a:grpSpLocks/>
          </p:cNvGrpSpPr>
          <p:nvPr/>
        </p:nvGrpSpPr>
        <p:grpSpPr bwMode="auto">
          <a:xfrm>
            <a:off x="1871663" y="4318000"/>
            <a:ext cx="5626100" cy="823913"/>
            <a:chOff x="1179" y="2720"/>
            <a:chExt cx="3544" cy="519"/>
          </a:xfrm>
        </p:grpSpPr>
        <p:graphicFrame>
          <p:nvGraphicFramePr>
            <p:cNvPr id="48138" name="Object 10">
              <a:extLst>
                <a:ext uri="{FF2B5EF4-FFF2-40B4-BE49-F238E27FC236}">
                  <a16:creationId xmlns:a16="http://schemas.microsoft.com/office/drawing/2014/main" id="{35B13FD6-1819-7F30-20CE-7E1EB7060F40}"/>
                </a:ext>
              </a:extLst>
            </p:cNvPr>
            <p:cNvGraphicFramePr>
              <a:graphicFrameLocks noChangeAspect="1"/>
            </p:cNvGraphicFramePr>
            <p:nvPr/>
          </p:nvGraphicFramePr>
          <p:xfrm>
            <a:off x="1179" y="2832"/>
            <a:ext cx="1739" cy="362"/>
          </p:xfrm>
          <a:graphic>
            <a:graphicData uri="http://schemas.openxmlformats.org/presentationml/2006/ole">
              <mc:AlternateContent xmlns:mc="http://schemas.openxmlformats.org/markup-compatibility/2006">
                <mc:Choice xmlns:v="urn:schemas-microsoft-com:vml" Requires="v">
                  <p:oleObj r:id="rId9" imgW="1548728" imgH="304668" progId="Equation.3">
                    <p:embed/>
                  </p:oleObj>
                </mc:Choice>
                <mc:Fallback>
                  <p:oleObj r:id="rId9" imgW="1548728" imgH="304668"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9" y="2832"/>
                          <a:ext cx="1739"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139" name="Object 11">
              <a:extLst>
                <a:ext uri="{FF2B5EF4-FFF2-40B4-BE49-F238E27FC236}">
                  <a16:creationId xmlns:a16="http://schemas.microsoft.com/office/drawing/2014/main" id="{6A02B939-E030-DEE6-4E83-31B6C881921B}"/>
                </a:ext>
              </a:extLst>
            </p:cNvPr>
            <p:cNvGraphicFramePr>
              <a:graphicFrameLocks noChangeAspect="1"/>
            </p:cNvGraphicFramePr>
            <p:nvPr/>
          </p:nvGraphicFramePr>
          <p:xfrm>
            <a:off x="3741" y="2720"/>
            <a:ext cx="982" cy="519"/>
          </p:xfrm>
          <a:graphic>
            <a:graphicData uri="http://schemas.openxmlformats.org/presentationml/2006/ole">
              <mc:AlternateContent xmlns:mc="http://schemas.openxmlformats.org/markup-compatibility/2006">
                <mc:Choice xmlns:v="urn:schemas-microsoft-com:vml" Requires="v">
                  <p:oleObj r:id="rId11" imgW="825500" imgH="431800" progId="Equation.3">
                    <p:embed/>
                  </p:oleObj>
                </mc:Choice>
                <mc:Fallback>
                  <p:oleObj r:id="rId11" imgW="825500" imgH="4318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1" y="2720"/>
                          <a:ext cx="982"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40" name="AutoShape 12">
              <a:extLst>
                <a:ext uri="{FF2B5EF4-FFF2-40B4-BE49-F238E27FC236}">
                  <a16:creationId xmlns:a16="http://schemas.microsoft.com/office/drawing/2014/main" id="{75D7593E-FBF4-1956-BEC6-5D31DC75E22D}"/>
                </a:ext>
              </a:extLst>
            </p:cNvPr>
            <p:cNvSpPr>
              <a:spLocks noChangeArrowheads="1"/>
            </p:cNvSpPr>
            <p:nvPr/>
          </p:nvSpPr>
          <p:spPr bwMode="auto">
            <a:xfrm>
              <a:off x="3151" y="2856"/>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4" name="Group 13">
            <a:extLst>
              <a:ext uri="{FF2B5EF4-FFF2-40B4-BE49-F238E27FC236}">
                <a16:creationId xmlns:a16="http://schemas.microsoft.com/office/drawing/2014/main" id="{20F31DBD-DC68-9C0D-EA72-108C81E43C8F}"/>
              </a:ext>
            </a:extLst>
          </p:cNvPr>
          <p:cNvGrpSpPr>
            <a:grpSpLocks/>
          </p:cNvGrpSpPr>
          <p:nvPr/>
        </p:nvGrpSpPr>
        <p:grpSpPr bwMode="auto">
          <a:xfrm>
            <a:off x="1871663" y="5257800"/>
            <a:ext cx="5699125" cy="808038"/>
            <a:chOff x="1179" y="3312"/>
            <a:chExt cx="3590" cy="509"/>
          </a:xfrm>
        </p:grpSpPr>
        <p:graphicFrame>
          <p:nvGraphicFramePr>
            <p:cNvPr id="48135" name="Object 14">
              <a:extLst>
                <a:ext uri="{FF2B5EF4-FFF2-40B4-BE49-F238E27FC236}">
                  <a16:creationId xmlns:a16="http://schemas.microsoft.com/office/drawing/2014/main" id="{4C45198D-DF3B-77AD-6E3F-963EEEA4950B}"/>
                </a:ext>
              </a:extLst>
            </p:cNvPr>
            <p:cNvGraphicFramePr>
              <a:graphicFrameLocks noChangeAspect="1"/>
            </p:cNvGraphicFramePr>
            <p:nvPr/>
          </p:nvGraphicFramePr>
          <p:xfrm>
            <a:off x="1179" y="3408"/>
            <a:ext cx="1837" cy="407"/>
          </p:xfrm>
          <a:graphic>
            <a:graphicData uri="http://schemas.openxmlformats.org/presentationml/2006/ole">
              <mc:AlternateContent xmlns:mc="http://schemas.openxmlformats.org/markup-compatibility/2006">
                <mc:Choice xmlns:v="urn:schemas-microsoft-com:vml" Requires="v">
                  <p:oleObj r:id="rId13" imgW="1637589" imgH="342751" progId="Equation.3">
                    <p:embed/>
                  </p:oleObj>
                </mc:Choice>
                <mc:Fallback>
                  <p:oleObj r:id="rId13" imgW="1637589" imgH="342751"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79" y="3408"/>
                          <a:ext cx="183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136" name="Object 15">
              <a:extLst>
                <a:ext uri="{FF2B5EF4-FFF2-40B4-BE49-F238E27FC236}">
                  <a16:creationId xmlns:a16="http://schemas.microsoft.com/office/drawing/2014/main" id="{EE254958-E00A-7E03-E8CD-073565E45329}"/>
                </a:ext>
              </a:extLst>
            </p:cNvPr>
            <p:cNvGraphicFramePr>
              <a:graphicFrameLocks noChangeAspect="1"/>
            </p:cNvGraphicFramePr>
            <p:nvPr/>
          </p:nvGraphicFramePr>
          <p:xfrm>
            <a:off x="3718" y="3312"/>
            <a:ext cx="1051" cy="509"/>
          </p:xfrm>
          <a:graphic>
            <a:graphicData uri="http://schemas.openxmlformats.org/presentationml/2006/ole">
              <mc:AlternateContent xmlns:mc="http://schemas.openxmlformats.org/markup-compatibility/2006">
                <mc:Choice xmlns:v="urn:schemas-microsoft-com:vml" Requires="v">
                  <p:oleObj r:id="rId15" imgW="901309" imgH="431613" progId="Equation.3">
                    <p:embed/>
                  </p:oleObj>
                </mc:Choice>
                <mc:Fallback>
                  <p:oleObj r:id="rId15" imgW="901309" imgH="431613"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18" y="3312"/>
                          <a:ext cx="1051"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7" name="AutoShape 16">
              <a:extLst>
                <a:ext uri="{FF2B5EF4-FFF2-40B4-BE49-F238E27FC236}">
                  <a16:creationId xmlns:a16="http://schemas.microsoft.com/office/drawing/2014/main" id="{1F641F74-79B1-7712-2A76-AE7BDCB0CCC4}"/>
                </a:ext>
              </a:extLst>
            </p:cNvPr>
            <p:cNvSpPr>
              <a:spLocks noChangeArrowheads="1"/>
            </p:cNvSpPr>
            <p:nvPr/>
          </p:nvSpPr>
          <p:spPr bwMode="auto">
            <a:xfrm>
              <a:off x="3151" y="3488"/>
              <a:ext cx="336" cy="192"/>
            </a:xfrm>
            <a:prstGeom prst="rightArrow">
              <a:avLst>
                <a:gd name="adj1" fmla="val 50000"/>
                <a:gd name="adj2" fmla="val 4375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7284"/>
                                        </p:tgtEl>
                                        <p:attrNameLst>
                                          <p:attrName>style.visibility</p:attrName>
                                        </p:attrNameLst>
                                      </p:cBhvr>
                                      <p:to>
                                        <p:strVal val="visible"/>
                                      </p:to>
                                    </p:set>
                                    <p:anim calcmode="lin" valueType="num">
                                      <p:cBhvr additive="base">
                                        <p:cTn id="7" dur="500" fill="hold"/>
                                        <p:tgtEl>
                                          <p:spTgt spid="97284"/>
                                        </p:tgtEl>
                                        <p:attrNameLst>
                                          <p:attrName>ppt_x</p:attrName>
                                        </p:attrNameLst>
                                      </p:cBhvr>
                                      <p:tavLst>
                                        <p:tav tm="0">
                                          <p:val>
                                            <p:strVal val="#ppt_x"/>
                                          </p:val>
                                        </p:tav>
                                        <p:tav tm="100000">
                                          <p:val>
                                            <p:strVal val="#ppt_x"/>
                                          </p:val>
                                        </p:tav>
                                      </p:tavLst>
                                    </p:anim>
                                    <p:anim calcmode="lin" valueType="num">
                                      <p:cBhvr additive="base">
                                        <p:cTn id="8" dur="500" fill="hold"/>
                                        <p:tgtEl>
                                          <p:spTgt spid="972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3">
            <a:extLst>
              <a:ext uri="{FF2B5EF4-FFF2-40B4-BE49-F238E27FC236}">
                <a16:creationId xmlns:a16="http://schemas.microsoft.com/office/drawing/2014/main" id="{AAA03DDC-821B-FAEC-BEB4-F6162E3C5B23}"/>
              </a:ext>
            </a:extLst>
          </p:cNvPr>
          <p:cNvGrpSpPr>
            <a:grpSpLocks/>
          </p:cNvGrpSpPr>
          <p:nvPr/>
        </p:nvGrpSpPr>
        <p:grpSpPr bwMode="auto">
          <a:xfrm>
            <a:off x="539750" y="1125538"/>
            <a:ext cx="8229600" cy="4525962"/>
            <a:chOff x="432" y="1200"/>
            <a:chExt cx="5184" cy="2851"/>
          </a:xfrm>
        </p:grpSpPr>
        <p:sp>
          <p:nvSpPr>
            <p:cNvPr id="50179" name="Rectangle 4">
              <a:extLst>
                <a:ext uri="{FF2B5EF4-FFF2-40B4-BE49-F238E27FC236}">
                  <a16:creationId xmlns:a16="http://schemas.microsoft.com/office/drawing/2014/main" id="{71A85AB1-4052-2D80-38B9-4E2F8E3C9E28}"/>
                </a:ext>
              </a:extLst>
            </p:cNvPr>
            <p:cNvSpPr>
              <a:spLocks noChangeArrowheads="1"/>
            </p:cNvSpPr>
            <p:nvPr/>
          </p:nvSpPr>
          <p:spPr bwMode="auto">
            <a:xfrm>
              <a:off x="1248" y="1200"/>
              <a:ext cx="37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宋体" panose="02010600030101010101" pitchFamily="2" charset="-122"/>
                </a:rPr>
                <a:t>表</a:t>
              </a:r>
              <a:r>
                <a:rPr lang="en-US" altLang="zh-CN" sz="2400">
                  <a:latin typeface="宋体" panose="02010600030101010101" pitchFamily="2" charset="-122"/>
                </a:rPr>
                <a:t>1</a:t>
              </a:r>
              <a:r>
                <a:rPr lang="zh-CN" altLang="en-US" sz="2400">
                  <a:latin typeface="宋体" panose="02010600030101010101" pitchFamily="2" charset="-122"/>
                </a:rPr>
                <a:t>、系统的稳态误差系数及稳态偏差</a:t>
              </a:r>
            </a:p>
          </p:txBody>
        </p:sp>
        <p:grpSp>
          <p:nvGrpSpPr>
            <p:cNvPr id="50180" name="Group 5">
              <a:extLst>
                <a:ext uri="{FF2B5EF4-FFF2-40B4-BE49-F238E27FC236}">
                  <a16:creationId xmlns:a16="http://schemas.microsoft.com/office/drawing/2014/main" id="{7EB8460D-60E9-7958-8113-8724F47A6834}"/>
                </a:ext>
              </a:extLst>
            </p:cNvPr>
            <p:cNvGrpSpPr>
              <a:grpSpLocks/>
            </p:cNvGrpSpPr>
            <p:nvPr/>
          </p:nvGrpSpPr>
          <p:grpSpPr bwMode="auto">
            <a:xfrm>
              <a:off x="432" y="1536"/>
              <a:ext cx="5184" cy="2515"/>
              <a:chOff x="432" y="1488"/>
              <a:chExt cx="5184" cy="2515"/>
            </a:xfrm>
          </p:grpSpPr>
          <p:sp>
            <p:nvSpPr>
              <p:cNvPr id="50181" name="Rectangle 6">
                <a:extLst>
                  <a:ext uri="{FF2B5EF4-FFF2-40B4-BE49-F238E27FC236}">
                    <a16:creationId xmlns:a16="http://schemas.microsoft.com/office/drawing/2014/main" id="{164E7A31-F615-8171-11CB-6F6566F08F6C}"/>
                  </a:ext>
                </a:extLst>
              </p:cNvPr>
              <p:cNvSpPr>
                <a:spLocks noChangeArrowheads="1"/>
              </p:cNvSpPr>
              <p:nvPr/>
            </p:nvSpPr>
            <p:spPr bwMode="auto">
              <a:xfrm>
                <a:off x="4512" y="3491"/>
                <a:ext cx="110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endParaRPr lang="zh-CN" altLang="zh-CN" sz="2600"/>
              </a:p>
            </p:txBody>
          </p:sp>
          <p:sp>
            <p:nvSpPr>
              <p:cNvPr id="50182" name="Rectangle 7">
                <a:extLst>
                  <a:ext uri="{FF2B5EF4-FFF2-40B4-BE49-F238E27FC236}">
                    <a16:creationId xmlns:a16="http://schemas.microsoft.com/office/drawing/2014/main" id="{064AEA46-39BB-BCF1-3102-CC1315DBE79A}"/>
                  </a:ext>
                </a:extLst>
              </p:cNvPr>
              <p:cNvSpPr>
                <a:spLocks noChangeArrowheads="1"/>
              </p:cNvSpPr>
              <p:nvPr/>
            </p:nvSpPr>
            <p:spPr bwMode="auto">
              <a:xfrm>
                <a:off x="3552" y="3491"/>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50183" name="Rectangle 8">
                <a:extLst>
                  <a:ext uri="{FF2B5EF4-FFF2-40B4-BE49-F238E27FC236}">
                    <a16:creationId xmlns:a16="http://schemas.microsoft.com/office/drawing/2014/main" id="{0C562C66-26EB-CE24-0EC8-774EB4837123}"/>
                  </a:ext>
                </a:extLst>
              </p:cNvPr>
              <p:cNvSpPr>
                <a:spLocks noChangeArrowheads="1"/>
              </p:cNvSpPr>
              <p:nvPr/>
            </p:nvSpPr>
            <p:spPr bwMode="auto">
              <a:xfrm>
                <a:off x="2592" y="3491"/>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50184" name="Rectangle 9">
                <a:extLst>
                  <a:ext uri="{FF2B5EF4-FFF2-40B4-BE49-F238E27FC236}">
                    <a16:creationId xmlns:a16="http://schemas.microsoft.com/office/drawing/2014/main" id="{0159BC22-1A2C-0B28-ED27-3C9E159562E8}"/>
                  </a:ext>
                </a:extLst>
              </p:cNvPr>
              <p:cNvSpPr>
                <a:spLocks noChangeArrowheads="1"/>
              </p:cNvSpPr>
              <p:nvPr/>
            </p:nvSpPr>
            <p:spPr bwMode="auto">
              <a:xfrm>
                <a:off x="2064" y="3491"/>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p>
            </p:txBody>
          </p:sp>
          <p:sp>
            <p:nvSpPr>
              <p:cNvPr id="50185" name="Rectangle 10">
                <a:extLst>
                  <a:ext uri="{FF2B5EF4-FFF2-40B4-BE49-F238E27FC236}">
                    <a16:creationId xmlns:a16="http://schemas.microsoft.com/office/drawing/2014/main" id="{2680CC98-E462-3BF8-0B0B-E356F94B536D}"/>
                  </a:ext>
                </a:extLst>
              </p:cNvPr>
              <p:cNvSpPr>
                <a:spLocks noChangeArrowheads="1"/>
              </p:cNvSpPr>
              <p:nvPr/>
            </p:nvSpPr>
            <p:spPr bwMode="auto">
              <a:xfrm>
                <a:off x="1584" y="3491"/>
                <a:ext cx="48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50186" name="Rectangle 11">
                <a:extLst>
                  <a:ext uri="{FF2B5EF4-FFF2-40B4-BE49-F238E27FC236}">
                    <a16:creationId xmlns:a16="http://schemas.microsoft.com/office/drawing/2014/main" id="{26CFC336-0678-193B-19F6-6DB4951AD0B4}"/>
                  </a:ext>
                </a:extLst>
              </p:cNvPr>
              <p:cNvSpPr>
                <a:spLocks noChangeArrowheads="1"/>
              </p:cNvSpPr>
              <p:nvPr/>
            </p:nvSpPr>
            <p:spPr bwMode="auto">
              <a:xfrm>
                <a:off x="1056" y="3491"/>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50187" name="Rectangle 12">
                <a:extLst>
                  <a:ext uri="{FF2B5EF4-FFF2-40B4-BE49-F238E27FC236}">
                    <a16:creationId xmlns:a16="http://schemas.microsoft.com/office/drawing/2014/main" id="{7D7D7399-625E-8655-4C07-6ECA4E89FF48}"/>
                  </a:ext>
                </a:extLst>
              </p:cNvPr>
              <p:cNvSpPr>
                <a:spLocks noChangeArrowheads="1"/>
              </p:cNvSpPr>
              <p:nvPr/>
            </p:nvSpPr>
            <p:spPr bwMode="auto">
              <a:xfrm>
                <a:off x="432" y="3491"/>
                <a:ext cx="62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II</a:t>
                </a:r>
                <a:r>
                  <a:rPr lang="zh-CN" altLang="en-US" sz="2600"/>
                  <a:t>型</a:t>
                </a:r>
              </a:p>
            </p:txBody>
          </p:sp>
          <p:sp>
            <p:nvSpPr>
              <p:cNvPr id="50188" name="Rectangle 13">
                <a:extLst>
                  <a:ext uri="{FF2B5EF4-FFF2-40B4-BE49-F238E27FC236}">
                    <a16:creationId xmlns:a16="http://schemas.microsoft.com/office/drawing/2014/main" id="{64C3017F-6636-96A6-09CB-53AC43588448}"/>
                  </a:ext>
                </a:extLst>
              </p:cNvPr>
              <p:cNvSpPr>
                <a:spLocks noChangeArrowheads="1"/>
              </p:cNvSpPr>
              <p:nvPr/>
            </p:nvSpPr>
            <p:spPr bwMode="auto">
              <a:xfrm>
                <a:off x="4512" y="2979"/>
                <a:ext cx="110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50189" name="Rectangle 14">
                <a:extLst>
                  <a:ext uri="{FF2B5EF4-FFF2-40B4-BE49-F238E27FC236}">
                    <a16:creationId xmlns:a16="http://schemas.microsoft.com/office/drawing/2014/main" id="{605C44C1-62B7-DE1A-1A3D-CD1A945FF3B9}"/>
                  </a:ext>
                </a:extLst>
              </p:cNvPr>
              <p:cNvSpPr>
                <a:spLocks noChangeArrowheads="1"/>
              </p:cNvSpPr>
              <p:nvPr/>
            </p:nvSpPr>
            <p:spPr bwMode="auto">
              <a:xfrm>
                <a:off x="3552" y="2979"/>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endParaRPr lang="zh-CN" altLang="zh-CN" sz="2600"/>
              </a:p>
            </p:txBody>
          </p:sp>
          <p:sp>
            <p:nvSpPr>
              <p:cNvPr id="50190" name="Rectangle 15">
                <a:extLst>
                  <a:ext uri="{FF2B5EF4-FFF2-40B4-BE49-F238E27FC236}">
                    <a16:creationId xmlns:a16="http://schemas.microsoft.com/office/drawing/2014/main" id="{F0911E0C-BB15-B2C2-D465-4066B3ECD972}"/>
                  </a:ext>
                </a:extLst>
              </p:cNvPr>
              <p:cNvSpPr>
                <a:spLocks noChangeArrowheads="1"/>
              </p:cNvSpPr>
              <p:nvPr/>
            </p:nvSpPr>
            <p:spPr bwMode="auto">
              <a:xfrm>
                <a:off x="2592" y="2979"/>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50191" name="Rectangle 16">
                <a:extLst>
                  <a:ext uri="{FF2B5EF4-FFF2-40B4-BE49-F238E27FC236}">
                    <a16:creationId xmlns:a16="http://schemas.microsoft.com/office/drawing/2014/main" id="{9B230647-300D-5D4B-0E68-9BFABA142D8B}"/>
                  </a:ext>
                </a:extLst>
              </p:cNvPr>
              <p:cNvSpPr>
                <a:spLocks noChangeArrowheads="1"/>
              </p:cNvSpPr>
              <p:nvPr/>
            </p:nvSpPr>
            <p:spPr bwMode="auto">
              <a:xfrm>
                <a:off x="2064" y="2979"/>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50192" name="Rectangle 17">
                <a:extLst>
                  <a:ext uri="{FF2B5EF4-FFF2-40B4-BE49-F238E27FC236}">
                    <a16:creationId xmlns:a16="http://schemas.microsoft.com/office/drawing/2014/main" id="{19A60902-549E-3154-8BAD-7D14416CB85C}"/>
                  </a:ext>
                </a:extLst>
              </p:cNvPr>
              <p:cNvSpPr>
                <a:spLocks noChangeArrowheads="1"/>
              </p:cNvSpPr>
              <p:nvPr/>
            </p:nvSpPr>
            <p:spPr bwMode="auto">
              <a:xfrm>
                <a:off x="1584" y="2979"/>
                <a:ext cx="48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p>
            </p:txBody>
          </p:sp>
          <p:sp>
            <p:nvSpPr>
              <p:cNvPr id="50193" name="Rectangle 18">
                <a:extLst>
                  <a:ext uri="{FF2B5EF4-FFF2-40B4-BE49-F238E27FC236}">
                    <a16:creationId xmlns:a16="http://schemas.microsoft.com/office/drawing/2014/main" id="{FCDB5909-DA49-2E81-7A38-BF25FB159E69}"/>
                  </a:ext>
                </a:extLst>
              </p:cNvPr>
              <p:cNvSpPr>
                <a:spLocks noChangeArrowheads="1"/>
              </p:cNvSpPr>
              <p:nvPr/>
            </p:nvSpPr>
            <p:spPr bwMode="auto">
              <a:xfrm>
                <a:off x="1056" y="2979"/>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50194" name="Rectangle 19">
                <a:extLst>
                  <a:ext uri="{FF2B5EF4-FFF2-40B4-BE49-F238E27FC236}">
                    <a16:creationId xmlns:a16="http://schemas.microsoft.com/office/drawing/2014/main" id="{94D76347-A828-CE24-E601-44A3EC2491E4}"/>
                  </a:ext>
                </a:extLst>
              </p:cNvPr>
              <p:cNvSpPr>
                <a:spLocks noChangeArrowheads="1"/>
              </p:cNvSpPr>
              <p:nvPr/>
            </p:nvSpPr>
            <p:spPr bwMode="auto">
              <a:xfrm>
                <a:off x="432" y="2979"/>
                <a:ext cx="62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I</a:t>
                </a:r>
                <a:r>
                  <a:rPr lang="zh-CN" altLang="en-US" sz="2600"/>
                  <a:t>型</a:t>
                </a:r>
              </a:p>
            </p:txBody>
          </p:sp>
          <p:sp>
            <p:nvSpPr>
              <p:cNvPr id="50195" name="Rectangle 20">
                <a:extLst>
                  <a:ext uri="{FF2B5EF4-FFF2-40B4-BE49-F238E27FC236}">
                    <a16:creationId xmlns:a16="http://schemas.microsoft.com/office/drawing/2014/main" id="{2EC4606E-8A11-AF53-21D6-E1E75C3CDE18}"/>
                  </a:ext>
                </a:extLst>
              </p:cNvPr>
              <p:cNvSpPr>
                <a:spLocks noChangeArrowheads="1"/>
              </p:cNvSpPr>
              <p:nvPr/>
            </p:nvSpPr>
            <p:spPr bwMode="auto">
              <a:xfrm>
                <a:off x="4512" y="2467"/>
                <a:ext cx="110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50196" name="Rectangle 21">
                <a:extLst>
                  <a:ext uri="{FF2B5EF4-FFF2-40B4-BE49-F238E27FC236}">
                    <a16:creationId xmlns:a16="http://schemas.microsoft.com/office/drawing/2014/main" id="{7FD7D7B7-B0E4-F382-A73D-150F8EE4CF4B}"/>
                  </a:ext>
                </a:extLst>
              </p:cNvPr>
              <p:cNvSpPr>
                <a:spLocks noChangeArrowheads="1"/>
              </p:cNvSpPr>
              <p:nvPr/>
            </p:nvSpPr>
            <p:spPr bwMode="auto">
              <a:xfrm>
                <a:off x="3552" y="2467"/>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50197" name="Rectangle 22">
                <a:extLst>
                  <a:ext uri="{FF2B5EF4-FFF2-40B4-BE49-F238E27FC236}">
                    <a16:creationId xmlns:a16="http://schemas.microsoft.com/office/drawing/2014/main" id="{EF44B5AF-BA12-5470-7F97-7DCB7114C06A}"/>
                  </a:ext>
                </a:extLst>
              </p:cNvPr>
              <p:cNvSpPr>
                <a:spLocks noChangeArrowheads="1"/>
              </p:cNvSpPr>
              <p:nvPr/>
            </p:nvSpPr>
            <p:spPr bwMode="auto">
              <a:xfrm>
                <a:off x="2592" y="2467"/>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endParaRPr lang="zh-CN" altLang="zh-CN" sz="2600"/>
              </a:p>
            </p:txBody>
          </p:sp>
          <p:sp>
            <p:nvSpPr>
              <p:cNvPr id="50198" name="Rectangle 23">
                <a:extLst>
                  <a:ext uri="{FF2B5EF4-FFF2-40B4-BE49-F238E27FC236}">
                    <a16:creationId xmlns:a16="http://schemas.microsoft.com/office/drawing/2014/main" id="{2BC268A9-330A-D57D-8540-329E29DE40A5}"/>
                  </a:ext>
                </a:extLst>
              </p:cNvPr>
              <p:cNvSpPr>
                <a:spLocks noChangeArrowheads="1"/>
              </p:cNvSpPr>
              <p:nvPr/>
            </p:nvSpPr>
            <p:spPr bwMode="auto">
              <a:xfrm>
                <a:off x="2064" y="2467"/>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50199" name="Rectangle 24">
                <a:extLst>
                  <a:ext uri="{FF2B5EF4-FFF2-40B4-BE49-F238E27FC236}">
                    <a16:creationId xmlns:a16="http://schemas.microsoft.com/office/drawing/2014/main" id="{6CB28E0B-21A5-B04C-4CF4-1323CA160236}"/>
                  </a:ext>
                </a:extLst>
              </p:cNvPr>
              <p:cNvSpPr>
                <a:spLocks noChangeArrowheads="1"/>
              </p:cNvSpPr>
              <p:nvPr/>
            </p:nvSpPr>
            <p:spPr bwMode="auto">
              <a:xfrm>
                <a:off x="1584" y="2467"/>
                <a:ext cx="48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50200" name="Rectangle 25">
                <a:extLst>
                  <a:ext uri="{FF2B5EF4-FFF2-40B4-BE49-F238E27FC236}">
                    <a16:creationId xmlns:a16="http://schemas.microsoft.com/office/drawing/2014/main" id="{1A967596-0E81-D9FA-72E7-EA882E35A46D}"/>
                  </a:ext>
                </a:extLst>
              </p:cNvPr>
              <p:cNvSpPr>
                <a:spLocks noChangeArrowheads="1"/>
              </p:cNvSpPr>
              <p:nvPr/>
            </p:nvSpPr>
            <p:spPr bwMode="auto">
              <a:xfrm>
                <a:off x="1056" y="2467"/>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p>
            </p:txBody>
          </p:sp>
          <p:sp>
            <p:nvSpPr>
              <p:cNvPr id="50201" name="Rectangle 26">
                <a:extLst>
                  <a:ext uri="{FF2B5EF4-FFF2-40B4-BE49-F238E27FC236}">
                    <a16:creationId xmlns:a16="http://schemas.microsoft.com/office/drawing/2014/main" id="{1447CC8D-A1FA-154C-32F5-E5F1D139CCBB}"/>
                  </a:ext>
                </a:extLst>
              </p:cNvPr>
              <p:cNvSpPr>
                <a:spLocks noChangeArrowheads="1"/>
              </p:cNvSpPr>
              <p:nvPr/>
            </p:nvSpPr>
            <p:spPr bwMode="auto">
              <a:xfrm>
                <a:off x="432" y="2467"/>
                <a:ext cx="62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r>
                  <a:rPr lang="zh-CN" altLang="en-US" sz="2600"/>
                  <a:t>型</a:t>
                </a:r>
              </a:p>
            </p:txBody>
          </p:sp>
          <p:sp>
            <p:nvSpPr>
              <p:cNvPr id="50202" name="Rectangle 27">
                <a:extLst>
                  <a:ext uri="{FF2B5EF4-FFF2-40B4-BE49-F238E27FC236}">
                    <a16:creationId xmlns:a16="http://schemas.microsoft.com/office/drawing/2014/main" id="{37A0DD93-9147-6668-DCFB-8F2B75F53014}"/>
                  </a:ext>
                </a:extLst>
              </p:cNvPr>
              <p:cNvSpPr>
                <a:spLocks noChangeArrowheads="1"/>
              </p:cNvSpPr>
              <p:nvPr/>
            </p:nvSpPr>
            <p:spPr bwMode="auto">
              <a:xfrm>
                <a:off x="4512" y="1872"/>
                <a:ext cx="1104"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单位加速度输入</a:t>
                </a:r>
              </a:p>
            </p:txBody>
          </p:sp>
          <p:sp>
            <p:nvSpPr>
              <p:cNvPr id="50203" name="Rectangle 28">
                <a:extLst>
                  <a:ext uri="{FF2B5EF4-FFF2-40B4-BE49-F238E27FC236}">
                    <a16:creationId xmlns:a16="http://schemas.microsoft.com/office/drawing/2014/main" id="{339BDFC7-9667-1133-FFA0-347AC35286DE}"/>
                  </a:ext>
                </a:extLst>
              </p:cNvPr>
              <p:cNvSpPr>
                <a:spLocks noChangeArrowheads="1"/>
              </p:cNvSpPr>
              <p:nvPr/>
            </p:nvSpPr>
            <p:spPr bwMode="auto">
              <a:xfrm>
                <a:off x="3552" y="1872"/>
                <a:ext cx="960"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单位速度输入</a:t>
                </a:r>
              </a:p>
            </p:txBody>
          </p:sp>
          <p:sp>
            <p:nvSpPr>
              <p:cNvPr id="50204" name="Rectangle 29">
                <a:extLst>
                  <a:ext uri="{FF2B5EF4-FFF2-40B4-BE49-F238E27FC236}">
                    <a16:creationId xmlns:a16="http://schemas.microsoft.com/office/drawing/2014/main" id="{CC1117EC-045E-DC51-3B05-3BB4E4BD411C}"/>
                  </a:ext>
                </a:extLst>
              </p:cNvPr>
              <p:cNvSpPr>
                <a:spLocks noChangeArrowheads="1"/>
              </p:cNvSpPr>
              <p:nvPr/>
            </p:nvSpPr>
            <p:spPr bwMode="auto">
              <a:xfrm>
                <a:off x="2592" y="1872"/>
                <a:ext cx="960"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单位阶跃输入</a:t>
                </a:r>
              </a:p>
            </p:txBody>
          </p:sp>
          <p:sp>
            <p:nvSpPr>
              <p:cNvPr id="50205" name="Rectangle 30">
                <a:extLst>
                  <a:ext uri="{FF2B5EF4-FFF2-40B4-BE49-F238E27FC236}">
                    <a16:creationId xmlns:a16="http://schemas.microsoft.com/office/drawing/2014/main" id="{20EE60EA-BA8F-ABC3-BDC3-4FEBAD6F56BC}"/>
                  </a:ext>
                </a:extLst>
              </p:cNvPr>
              <p:cNvSpPr>
                <a:spLocks noChangeArrowheads="1"/>
              </p:cNvSpPr>
              <p:nvPr/>
            </p:nvSpPr>
            <p:spPr bwMode="auto">
              <a:xfrm>
                <a:off x="2064" y="1872"/>
                <a:ext cx="528"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r>
                  <a:rPr lang="en-US" altLang="zh-CN" sz="2700" i="1" baseline="-18000"/>
                  <a:t>a</a:t>
                </a:r>
              </a:p>
            </p:txBody>
          </p:sp>
          <p:sp>
            <p:nvSpPr>
              <p:cNvPr id="50206" name="Rectangle 31">
                <a:extLst>
                  <a:ext uri="{FF2B5EF4-FFF2-40B4-BE49-F238E27FC236}">
                    <a16:creationId xmlns:a16="http://schemas.microsoft.com/office/drawing/2014/main" id="{7823383D-B171-C7B4-5969-768E37EEEDAC}"/>
                  </a:ext>
                </a:extLst>
              </p:cNvPr>
              <p:cNvSpPr>
                <a:spLocks noChangeArrowheads="1"/>
              </p:cNvSpPr>
              <p:nvPr/>
            </p:nvSpPr>
            <p:spPr bwMode="auto">
              <a:xfrm>
                <a:off x="1584" y="1872"/>
                <a:ext cx="480"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r>
                  <a:rPr lang="en-US" altLang="zh-CN" sz="2700" i="1" baseline="-18000"/>
                  <a:t>v</a:t>
                </a:r>
              </a:p>
            </p:txBody>
          </p:sp>
          <p:sp>
            <p:nvSpPr>
              <p:cNvPr id="50207" name="Rectangle 32">
                <a:extLst>
                  <a:ext uri="{FF2B5EF4-FFF2-40B4-BE49-F238E27FC236}">
                    <a16:creationId xmlns:a16="http://schemas.microsoft.com/office/drawing/2014/main" id="{7D192D37-F6D5-8802-1DB5-CC26126D3D00}"/>
                  </a:ext>
                </a:extLst>
              </p:cNvPr>
              <p:cNvSpPr>
                <a:spLocks noChangeArrowheads="1"/>
              </p:cNvSpPr>
              <p:nvPr/>
            </p:nvSpPr>
            <p:spPr bwMode="auto">
              <a:xfrm>
                <a:off x="1056" y="1872"/>
                <a:ext cx="528"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r>
                  <a:rPr lang="en-US" altLang="zh-CN" sz="2700" i="1" baseline="-18000"/>
                  <a:t>p</a:t>
                </a:r>
              </a:p>
            </p:txBody>
          </p:sp>
          <p:sp>
            <p:nvSpPr>
              <p:cNvPr id="50208" name="Rectangle 33">
                <a:extLst>
                  <a:ext uri="{FF2B5EF4-FFF2-40B4-BE49-F238E27FC236}">
                    <a16:creationId xmlns:a16="http://schemas.microsoft.com/office/drawing/2014/main" id="{6890414D-7AAC-C819-E946-FB7B47284C80}"/>
                  </a:ext>
                </a:extLst>
              </p:cNvPr>
              <p:cNvSpPr>
                <a:spLocks noChangeArrowheads="1"/>
              </p:cNvSpPr>
              <p:nvPr/>
            </p:nvSpPr>
            <p:spPr bwMode="auto">
              <a:xfrm>
                <a:off x="2592" y="1488"/>
                <a:ext cx="30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稳态偏差</a:t>
                </a:r>
              </a:p>
            </p:txBody>
          </p:sp>
          <p:sp>
            <p:nvSpPr>
              <p:cNvPr id="50209" name="Rectangle 34">
                <a:extLst>
                  <a:ext uri="{FF2B5EF4-FFF2-40B4-BE49-F238E27FC236}">
                    <a16:creationId xmlns:a16="http://schemas.microsoft.com/office/drawing/2014/main" id="{67DB976C-9198-95D2-44DA-FF5DAB13E18A}"/>
                  </a:ext>
                </a:extLst>
              </p:cNvPr>
              <p:cNvSpPr>
                <a:spLocks noChangeArrowheads="1"/>
              </p:cNvSpPr>
              <p:nvPr/>
            </p:nvSpPr>
            <p:spPr bwMode="auto">
              <a:xfrm>
                <a:off x="1056" y="1488"/>
                <a:ext cx="15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稳态误差系数</a:t>
                </a:r>
              </a:p>
            </p:txBody>
          </p:sp>
          <p:sp>
            <p:nvSpPr>
              <p:cNvPr id="50210" name="Rectangle 35">
                <a:extLst>
                  <a:ext uri="{FF2B5EF4-FFF2-40B4-BE49-F238E27FC236}">
                    <a16:creationId xmlns:a16="http://schemas.microsoft.com/office/drawing/2014/main" id="{C212C47B-4765-4863-039E-D3823CFF4417}"/>
                  </a:ext>
                </a:extLst>
              </p:cNvPr>
              <p:cNvSpPr>
                <a:spLocks noChangeArrowheads="1"/>
              </p:cNvSpPr>
              <p:nvPr/>
            </p:nvSpPr>
            <p:spPr bwMode="auto">
              <a:xfrm>
                <a:off x="432" y="1488"/>
                <a:ext cx="624" cy="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系统类型</a:t>
                </a:r>
              </a:p>
            </p:txBody>
          </p:sp>
          <p:sp>
            <p:nvSpPr>
              <p:cNvPr id="50211" name="Line 36">
                <a:extLst>
                  <a:ext uri="{FF2B5EF4-FFF2-40B4-BE49-F238E27FC236}">
                    <a16:creationId xmlns:a16="http://schemas.microsoft.com/office/drawing/2014/main" id="{44A11E6D-65CB-E3BE-31BF-885C0630F302}"/>
                  </a:ext>
                </a:extLst>
              </p:cNvPr>
              <p:cNvSpPr>
                <a:spLocks noChangeShapeType="1"/>
              </p:cNvSpPr>
              <p:nvPr/>
            </p:nvSpPr>
            <p:spPr bwMode="auto">
              <a:xfrm>
                <a:off x="432" y="1488"/>
                <a:ext cx="518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2" name="Line 37">
                <a:extLst>
                  <a:ext uri="{FF2B5EF4-FFF2-40B4-BE49-F238E27FC236}">
                    <a16:creationId xmlns:a16="http://schemas.microsoft.com/office/drawing/2014/main" id="{A26759A3-7DA8-F35E-3089-AA311B04AF1C}"/>
                  </a:ext>
                </a:extLst>
              </p:cNvPr>
              <p:cNvSpPr>
                <a:spLocks noChangeShapeType="1"/>
              </p:cNvSpPr>
              <p:nvPr/>
            </p:nvSpPr>
            <p:spPr bwMode="auto">
              <a:xfrm>
                <a:off x="432" y="2467"/>
                <a:ext cx="51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3" name="Line 38">
                <a:extLst>
                  <a:ext uri="{FF2B5EF4-FFF2-40B4-BE49-F238E27FC236}">
                    <a16:creationId xmlns:a16="http://schemas.microsoft.com/office/drawing/2014/main" id="{723B062F-F1E6-2A3F-025B-5E1A50737A46}"/>
                  </a:ext>
                </a:extLst>
              </p:cNvPr>
              <p:cNvSpPr>
                <a:spLocks noChangeShapeType="1"/>
              </p:cNvSpPr>
              <p:nvPr/>
            </p:nvSpPr>
            <p:spPr bwMode="auto">
              <a:xfrm>
                <a:off x="432" y="2979"/>
                <a:ext cx="51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4" name="Line 39">
                <a:extLst>
                  <a:ext uri="{FF2B5EF4-FFF2-40B4-BE49-F238E27FC236}">
                    <a16:creationId xmlns:a16="http://schemas.microsoft.com/office/drawing/2014/main" id="{3386A728-9E24-5895-902C-FFAEF0A5237F}"/>
                  </a:ext>
                </a:extLst>
              </p:cNvPr>
              <p:cNvSpPr>
                <a:spLocks noChangeShapeType="1"/>
              </p:cNvSpPr>
              <p:nvPr/>
            </p:nvSpPr>
            <p:spPr bwMode="auto">
              <a:xfrm>
                <a:off x="432" y="3491"/>
                <a:ext cx="51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5" name="Line 40">
                <a:extLst>
                  <a:ext uri="{FF2B5EF4-FFF2-40B4-BE49-F238E27FC236}">
                    <a16:creationId xmlns:a16="http://schemas.microsoft.com/office/drawing/2014/main" id="{ADD99427-0EB8-143B-5ABD-E8B66EE3BDB4}"/>
                  </a:ext>
                </a:extLst>
              </p:cNvPr>
              <p:cNvSpPr>
                <a:spLocks noChangeShapeType="1"/>
              </p:cNvSpPr>
              <p:nvPr/>
            </p:nvSpPr>
            <p:spPr bwMode="auto">
              <a:xfrm>
                <a:off x="432" y="4003"/>
                <a:ext cx="518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6" name="Line 41">
                <a:extLst>
                  <a:ext uri="{FF2B5EF4-FFF2-40B4-BE49-F238E27FC236}">
                    <a16:creationId xmlns:a16="http://schemas.microsoft.com/office/drawing/2014/main" id="{9DC45A6A-923F-01E8-7DF7-ED43FB93C8A9}"/>
                  </a:ext>
                </a:extLst>
              </p:cNvPr>
              <p:cNvSpPr>
                <a:spLocks noChangeShapeType="1"/>
              </p:cNvSpPr>
              <p:nvPr/>
            </p:nvSpPr>
            <p:spPr bwMode="auto">
              <a:xfrm>
                <a:off x="432" y="1488"/>
                <a:ext cx="0" cy="2515"/>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7" name="Line 42">
                <a:extLst>
                  <a:ext uri="{FF2B5EF4-FFF2-40B4-BE49-F238E27FC236}">
                    <a16:creationId xmlns:a16="http://schemas.microsoft.com/office/drawing/2014/main" id="{71937837-0D8F-7323-17BA-66A0D69C77A3}"/>
                  </a:ext>
                </a:extLst>
              </p:cNvPr>
              <p:cNvSpPr>
                <a:spLocks noChangeShapeType="1"/>
              </p:cNvSpPr>
              <p:nvPr/>
            </p:nvSpPr>
            <p:spPr bwMode="auto">
              <a:xfrm>
                <a:off x="1056" y="1488"/>
                <a:ext cx="0" cy="251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8" name="Line 43">
                <a:extLst>
                  <a:ext uri="{FF2B5EF4-FFF2-40B4-BE49-F238E27FC236}">
                    <a16:creationId xmlns:a16="http://schemas.microsoft.com/office/drawing/2014/main" id="{10667326-BF93-C228-0395-2312ABF68185}"/>
                  </a:ext>
                </a:extLst>
              </p:cNvPr>
              <p:cNvSpPr>
                <a:spLocks noChangeShapeType="1"/>
              </p:cNvSpPr>
              <p:nvPr/>
            </p:nvSpPr>
            <p:spPr bwMode="auto">
              <a:xfrm>
                <a:off x="2592" y="1488"/>
                <a:ext cx="0" cy="251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9" name="Line 44">
                <a:extLst>
                  <a:ext uri="{FF2B5EF4-FFF2-40B4-BE49-F238E27FC236}">
                    <a16:creationId xmlns:a16="http://schemas.microsoft.com/office/drawing/2014/main" id="{0BB3E363-AA70-A971-44C0-CB44F2D09AF2}"/>
                  </a:ext>
                </a:extLst>
              </p:cNvPr>
              <p:cNvSpPr>
                <a:spLocks noChangeShapeType="1"/>
              </p:cNvSpPr>
              <p:nvPr/>
            </p:nvSpPr>
            <p:spPr bwMode="auto">
              <a:xfrm>
                <a:off x="5616" y="1488"/>
                <a:ext cx="0" cy="2515"/>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0" name="Line 45">
                <a:extLst>
                  <a:ext uri="{FF2B5EF4-FFF2-40B4-BE49-F238E27FC236}">
                    <a16:creationId xmlns:a16="http://schemas.microsoft.com/office/drawing/2014/main" id="{E2432674-04C8-28ED-6422-0B81F36BA813}"/>
                  </a:ext>
                </a:extLst>
              </p:cNvPr>
              <p:cNvSpPr>
                <a:spLocks noChangeShapeType="1"/>
              </p:cNvSpPr>
              <p:nvPr/>
            </p:nvSpPr>
            <p:spPr bwMode="auto">
              <a:xfrm>
                <a:off x="1584"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1" name="Line 46">
                <a:extLst>
                  <a:ext uri="{FF2B5EF4-FFF2-40B4-BE49-F238E27FC236}">
                    <a16:creationId xmlns:a16="http://schemas.microsoft.com/office/drawing/2014/main" id="{CC5DEAB4-2156-9620-F8AF-CE8658F6F5E5}"/>
                  </a:ext>
                </a:extLst>
              </p:cNvPr>
              <p:cNvSpPr>
                <a:spLocks noChangeShapeType="1"/>
              </p:cNvSpPr>
              <p:nvPr/>
            </p:nvSpPr>
            <p:spPr bwMode="auto">
              <a:xfrm>
                <a:off x="2064"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2" name="Line 47">
                <a:extLst>
                  <a:ext uri="{FF2B5EF4-FFF2-40B4-BE49-F238E27FC236}">
                    <a16:creationId xmlns:a16="http://schemas.microsoft.com/office/drawing/2014/main" id="{B0202996-347B-2D50-5DBC-B2B8EB443303}"/>
                  </a:ext>
                </a:extLst>
              </p:cNvPr>
              <p:cNvSpPr>
                <a:spLocks noChangeShapeType="1"/>
              </p:cNvSpPr>
              <p:nvPr/>
            </p:nvSpPr>
            <p:spPr bwMode="auto">
              <a:xfrm>
                <a:off x="3552"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3" name="Line 48">
                <a:extLst>
                  <a:ext uri="{FF2B5EF4-FFF2-40B4-BE49-F238E27FC236}">
                    <a16:creationId xmlns:a16="http://schemas.microsoft.com/office/drawing/2014/main" id="{C19828AD-7941-E380-042E-8E94ACEA78F9}"/>
                  </a:ext>
                </a:extLst>
              </p:cNvPr>
              <p:cNvSpPr>
                <a:spLocks noChangeShapeType="1"/>
              </p:cNvSpPr>
              <p:nvPr/>
            </p:nvSpPr>
            <p:spPr bwMode="auto">
              <a:xfrm>
                <a:off x="4512"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4" name="Line 49">
                <a:extLst>
                  <a:ext uri="{FF2B5EF4-FFF2-40B4-BE49-F238E27FC236}">
                    <a16:creationId xmlns:a16="http://schemas.microsoft.com/office/drawing/2014/main" id="{201EADB9-309F-5ED9-38D4-557F0BDAA98E}"/>
                  </a:ext>
                </a:extLst>
              </p:cNvPr>
              <p:cNvSpPr>
                <a:spLocks noChangeShapeType="1"/>
              </p:cNvSpPr>
              <p:nvPr/>
            </p:nvSpPr>
            <p:spPr bwMode="auto">
              <a:xfrm>
                <a:off x="1056" y="1872"/>
                <a:ext cx="456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225" name="Object 50">
                <a:extLst>
                  <a:ext uri="{FF2B5EF4-FFF2-40B4-BE49-F238E27FC236}">
                    <a16:creationId xmlns:a16="http://schemas.microsoft.com/office/drawing/2014/main" id="{C9CEB9E5-111A-08CF-A4CB-1AF26D15F0E2}"/>
                  </a:ext>
                </a:extLst>
              </p:cNvPr>
              <p:cNvGraphicFramePr>
                <a:graphicFrameLocks noChangeAspect="1"/>
              </p:cNvGraphicFramePr>
              <p:nvPr/>
            </p:nvGraphicFramePr>
            <p:xfrm>
              <a:off x="2839" y="2491"/>
              <a:ext cx="521" cy="470"/>
            </p:xfrm>
            <a:graphic>
              <a:graphicData uri="http://schemas.openxmlformats.org/presentationml/2006/ole">
                <mc:AlternateContent xmlns:mc="http://schemas.openxmlformats.org/markup-compatibility/2006">
                  <mc:Choice xmlns:v="urn:schemas-microsoft-com:vml" Requires="v">
                    <p:oleObj r:id="rId3" imgW="380835" imgH="393529" progId="Equation.3">
                      <p:embed/>
                    </p:oleObj>
                  </mc:Choice>
                  <mc:Fallback>
                    <p:oleObj r:id="rId3" imgW="380835" imgH="393529"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2491"/>
                            <a:ext cx="521"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0226" name="Object 51">
                <a:extLst>
                  <a:ext uri="{FF2B5EF4-FFF2-40B4-BE49-F238E27FC236}">
                    <a16:creationId xmlns:a16="http://schemas.microsoft.com/office/drawing/2014/main" id="{4DC125B3-0770-3805-4050-916B4C79DFD2}"/>
                  </a:ext>
                </a:extLst>
              </p:cNvPr>
              <p:cNvGraphicFramePr>
                <a:graphicFrameLocks noChangeAspect="1"/>
              </p:cNvGraphicFramePr>
              <p:nvPr/>
            </p:nvGraphicFramePr>
            <p:xfrm>
              <a:off x="3901" y="2984"/>
              <a:ext cx="275" cy="496"/>
            </p:xfrm>
            <a:graphic>
              <a:graphicData uri="http://schemas.openxmlformats.org/presentationml/2006/ole">
                <mc:AlternateContent xmlns:mc="http://schemas.openxmlformats.org/markup-compatibility/2006">
                  <mc:Choice xmlns:v="urn:schemas-microsoft-com:vml" Requires="v">
                    <p:oleObj r:id="rId5" imgW="190417" imgH="393529" progId="Equation.3">
                      <p:embed/>
                    </p:oleObj>
                  </mc:Choice>
                  <mc:Fallback>
                    <p:oleObj r:id="rId5" imgW="190417" imgH="393529" progId="Equation.3">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1" y="2984"/>
                            <a:ext cx="275"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0227" name="Object 52">
                <a:extLst>
                  <a:ext uri="{FF2B5EF4-FFF2-40B4-BE49-F238E27FC236}">
                    <a16:creationId xmlns:a16="http://schemas.microsoft.com/office/drawing/2014/main" id="{3FE738AF-C329-325A-4D7C-D197791A835B}"/>
                  </a:ext>
                </a:extLst>
              </p:cNvPr>
              <p:cNvGraphicFramePr>
                <a:graphicFrameLocks noChangeAspect="1"/>
              </p:cNvGraphicFramePr>
              <p:nvPr/>
            </p:nvGraphicFramePr>
            <p:xfrm>
              <a:off x="4941" y="3488"/>
              <a:ext cx="275" cy="496"/>
            </p:xfrm>
            <a:graphic>
              <a:graphicData uri="http://schemas.openxmlformats.org/presentationml/2006/ole">
                <mc:AlternateContent xmlns:mc="http://schemas.openxmlformats.org/markup-compatibility/2006">
                  <mc:Choice xmlns:v="urn:schemas-microsoft-com:vml" Requires="v">
                    <p:oleObj r:id="rId7" imgW="190417" imgH="393529" progId="Equation.3">
                      <p:embed/>
                    </p:oleObj>
                  </mc:Choice>
                  <mc:Fallback>
                    <p:oleObj r:id="rId7" imgW="190417" imgH="393529" progId="Equation.3">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1" y="3488"/>
                            <a:ext cx="275"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586F5200-6D67-B034-9BDC-9574CD968CE5}"/>
              </a:ext>
            </a:extLst>
          </p:cNvPr>
          <p:cNvSpPr>
            <a:spLocks noChangeArrowheads="1"/>
          </p:cNvSpPr>
          <p:nvPr/>
        </p:nvSpPr>
        <p:spPr bwMode="auto">
          <a:xfrm>
            <a:off x="1331913" y="112553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几点结论</a:t>
            </a:r>
          </a:p>
        </p:txBody>
      </p:sp>
      <p:sp>
        <p:nvSpPr>
          <p:cNvPr id="95236" name="Rectangle 4">
            <a:extLst>
              <a:ext uri="{FF2B5EF4-FFF2-40B4-BE49-F238E27FC236}">
                <a16:creationId xmlns:a16="http://schemas.microsoft.com/office/drawing/2014/main" id="{97ECDD4A-5ACD-21D2-1318-437EB03E339E}"/>
              </a:ext>
            </a:extLst>
          </p:cNvPr>
          <p:cNvSpPr>
            <a:spLocks noChangeArrowheads="1"/>
          </p:cNvSpPr>
          <p:nvPr/>
        </p:nvSpPr>
        <p:spPr bwMode="auto">
          <a:xfrm>
            <a:off x="1258888" y="1844675"/>
            <a:ext cx="7516812"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不同类型的输入信号作用于同一控制系统，</a:t>
            </a:r>
          </a:p>
          <a:p>
            <a:pPr eaLnBrk="1" hangingPunct="1">
              <a:lnSpc>
                <a:spcPct val="115000"/>
              </a:lnSpc>
            </a:pPr>
            <a:r>
              <a:rPr lang="zh-CN" altLang="en-US" sz="2800">
                <a:latin typeface="宋体" panose="02010600030101010101" pitchFamily="2" charset="-122"/>
              </a:rPr>
              <a:t>  其稳态误差不同；相同的输入信号作用于</a:t>
            </a:r>
          </a:p>
          <a:p>
            <a:pPr eaLnBrk="1" hangingPunct="1">
              <a:lnSpc>
                <a:spcPct val="115000"/>
              </a:lnSpc>
            </a:pPr>
            <a:r>
              <a:rPr lang="zh-CN" altLang="en-US" sz="2800">
                <a:latin typeface="宋体" panose="02010600030101010101" pitchFamily="2" charset="-122"/>
              </a:rPr>
              <a:t>  不同类型的控制系统，其稳态误差也不同。 </a:t>
            </a:r>
          </a:p>
        </p:txBody>
      </p:sp>
      <p:sp>
        <p:nvSpPr>
          <p:cNvPr id="95237" name="Rectangle 5">
            <a:extLst>
              <a:ext uri="{FF2B5EF4-FFF2-40B4-BE49-F238E27FC236}">
                <a16:creationId xmlns:a16="http://schemas.microsoft.com/office/drawing/2014/main" id="{71790A39-E916-0E0E-D2CF-07B7E98F4841}"/>
              </a:ext>
            </a:extLst>
          </p:cNvPr>
          <p:cNvSpPr>
            <a:spLocks noChangeArrowheads="1"/>
          </p:cNvSpPr>
          <p:nvPr/>
        </p:nvSpPr>
        <p:spPr bwMode="auto">
          <a:xfrm>
            <a:off x="1403350" y="3500438"/>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系统的稳态误差与其开环增益有关，开环</a:t>
            </a:r>
          </a:p>
          <a:p>
            <a:pPr eaLnBrk="1" hangingPunct="1">
              <a:lnSpc>
                <a:spcPct val="115000"/>
              </a:lnSpc>
            </a:pPr>
            <a:r>
              <a:rPr lang="zh-CN" altLang="en-US" sz="2800">
                <a:latin typeface="宋体" panose="02010600030101010101" pitchFamily="2" charset="-122"/>
              </a:rPr>
              <a:t>  增益越大，稳态误差越小。 </a:t>
            </a:r>
          </a:p>
        </p:txBody>
      </p:sp>
      <p:sp>
        <p:nvSpPr>
          <p:cNvPr id="95238" name="Rectangle 6">
            <a:extLst>
              <a:ext uri="{FF2B5EF4-FFF2-40B4-BE49-F238E27FC236}">
                <a16:creationId xmlns:a16="http://schemas.microsoft.com/office/drawing/2014/main" id="{8F517851-06EA-13F8-90D2-15E892315F0B}"/>
              </a:ext>
            </a:extLst>
          </p:cNvPr>
          <p:cNvSpPr>
            <a:spLocks noChangeArrowheads="1"/>
          </p:cNvSpPr>
          <p:nvPr/>
        </p:nvSpPr>
        <p:spPr bwMode="auto">
          <a:xfrm>
            <a:off x="1403350" y="4652963"/>
            <a:ext cx="71628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在阶跃输入作用下， </a:t>
            </a:r>
            <a:r>
              <a:rPr lang="en-US" altLang="zh-CN" sz="2800">
                <a:latin typeface="宋体" panose="02010600030101010101" pitchFamily="2" charset="-122"/>
              </a:rPr>
              <a:t>0</a:t>
            </a:r>
            <a:r>
              <a:rPr lang="zh-CN" altLang="en-US" sz="2800">
                <a:latin typeface="宋体" panose="02010600030101010101" pitchFamily="2" charset="-122"/>
              </a:rPr>
              <a:t>型系统的稳态误差</a:t>
            </a:r>
          </a:p>
          <a:p>
            <a:pPr eaLnBrk="1" hangingPunct="1">
              <a:lnSpc>
                <a:spcPct val="115000"/>
              </a:lnSpc>
            </a:pPr>
            <a:r>
              <a:rPr lang="zh-CN" altLang="en-US" sz="2800">
                <a:latin typeface="宋体" panose="02010600030101010101" pitchFamily="2" charset="-122"/>
              </a:rPr>
              <a:t>  为定值，常称为</a:t>
            </a:r>
            <a:r>
              <a:rPr lang="zh-CN" altLang="en-US" sz="2800">
                <a:solidFill>
                  <a:srgbClr val="FF0000"/>
                </a:solidFill>
                <a:latin typeface="宋体" panose="02010600030101010101" pitchFamily="2" charset="-122"/>
              </a:rPr>
              <a:t>有差系统</a:t>
            </a:r>
            <a:r>
              <a:rPr lang="zh-CN" altLang="en-US" sz="2800">
                <a:latin typeface="宋体" panose="02010600030101010101" pitchFamily="2" charset="-122"/>
              </a:rPr>
              <a:t>； </a:t>
            </a:r>
            <a:r>
              <a:rPr lang="en-US" altLang="zh-CN" sz="2800">
                <a:latin typeface="宋体" panose="02010600030101010101" pitchFamily="2" charset="-122"/>
              </a:rPr>
              <a:t>I</a:t>
            </a:r>
            <a:r>
              <a:rPr lang="zh-CN" altLang="en-US" sz="2800">
                <a:latin typeface="宋体" panose="02010600030101010101" pitchFamily="2" charset="-122"/>
              </a:rPr>
              <a:t>型系统的稳</a:t>
            </a:r>
          </a:p>
          <a:p>
            <a:pPr eaLnBrk="1" hangingPunct="1">
              <a:lnSpc>
                <a:spcPct val="115000"/>
              </a:lnSpc>
            </a:pPr>
            <a:r>
              <a:rPr lang="zh-CN" altLang="en-US" sz="2800">
                <a:latin typeface="宋体" panose="02010600030101010101" pitchFamily="2" charset="-122"/>
              </a:rPr>
              <a:t>  态误差为</a:t>
            </a:r>
            <a:r>
              <a:rPr lang="en-US" altLang="zh-CN" sz="2800">
                <a:latin typeface="宋体" panose="02010600030101010101" pitchFamily="2" charset="-122"/>
              </a:rPr>
              <a:t>0</a:t>
            </a:r>
            <a:r>
              <a:rPr lang="zh-CN" altLang="en-US" sz="2800">
                <a:latin typeface="宋体" panose="02010600030101010101" pitchFamily="2" charset="-122"/>
              </a:rPr>
              <a:t>，常称为</a:t>
            </a:r>
            <a:r>
              <a:rPr lang="zh-CN" altLang="en-US" sz="2800">
                <a:solidFill>
                  <a:srgbClr val="FF0000"/>
                </a:solidFill>
                <a:latin typeface="宋体" panose="02010600030101010101" pitchFamily="2" charset="-122"/>
              </a:rPr>
              <a:t>一阶无差系统</a:t>
            </a:r>
            <a:r>
              <a:rPr lang="zh-CN" altLang="en-US" sz="2800">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5236"/>
                                        </p:tgtEl>
                                        <p:attrNameLst>
                                          <p:attrName>style.visibility</p:attrName>
                                        </p:attrNameLst>
                                      </p:cBhvr>
                                      <p:to>
                                        <p:strVal val="visible"/>
                                      </p:to>
                                    </p:set>
                                    <p:anim calcmode="lin" valueType="num">
                                      <p:cBhvr additive="base">
                                        <p:cTn id="7" dur="500" fill="hold"/>
                                        <p:tgtEl>
                                          <p:spTgt spid="95236"/>
                                        </p:tgtEl>
                                        <p:attrNameLst>
                                          <p:attrName>ppt_x</p:attrName>
                                        </p:attrNameLst>
                                      </p:cBhvr>
                                      <p:tavLst>
                                        <p:tav tm="0">
                                          <p:val>
                                            <p:strVal val="#ppt_x"/>
                                          </p:val>
                                        </p:tav>
                                        <p:tav tm="100000">
                                          <p:val>
                                            <p:strVal val="#ppt_x"/>
                                          </p:val>
                                        </p:tav>
                                      </p:tavLst>
                                    </p:anim>
                                    <p:anim calcmode="lin" valueType="num">
                                      <p:cBhvr additive="base">
                                        <p:cTn id="8" dur="500" fill="hold"/>
                                        <p:tgtEl>
                                          <p:spTgt spid="952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5237"/>
                                        </p:tgtEl>
                                        <p:attrNameLst>
                                          <p:attrName>style.visibility</p:attrName>
                                        </p:attrNameLst>
                                      </p:cBhvr>
                                      <p:to>
                                        <p:strVal val="visible"/>
                                      </p:to>
                                    </p:set>
                                    <p:anim calcmode="lin" valueType="num">
                                      <p:cBhvr additive="base">
                                        <p:cTn id="13" dur="500" fill="hold"/>
                                        <p:tgtEl>
                                          <p:spTgt spid="95237"/>
                                        </p:tgtEl>
                                        <p:attrNameLst>
                                          <p:attrName>ppt_x</p:attrName>
                                        </p:attrNameLst>
                                      </p:cBhvr>
                                      <p:tavLst>
                                        <p:tav tm="0">
                                          <p:val>
                                            <p:strVal val="#ppt_x"/>
                                          </p:val>
                                        </p:tav>
                                        <p:tav tm="100000">
                                          <p:val>
                                            <p:strVal val="#ppt_x"/>
                                          </p:val>
                                        </p:tav>
                                      </p:tavLst>
                                    </p:anim>
                                    <p:anim calcmode="lin" valueType="num">
                                      <p:cBhvr additive="base">
                                        <p:cTn id="14" dur="500" fill="hold"/>
                                        <p:tgtEl>
                                          <p:spTgt spid="9523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5238"/>
                                        </p:tgtEl>
                                        <p:attrNameLst>
                                          <p:attrName>style.visibility</p:attrName>
                                        </p:attrNameLst>
                                      </p:cBhvr>
                                      <p:to>
                                        <p:strVal val="visible"/>
                                      </p:to>
                                    </p:set>
                                    <p:anim calcmode="lin" valueType="num">
                                      <p:cBhvr additive="base">
                                        <p:cTn id="19" dur="500" fill="hold"/>
                                        <p:tgtEl>
                                          <p:spTgt spid="95238"/>
                                        </p:tgtEl>
                                        <p:attrNameLst>
                                          <p:attrName>ppt_x</p:attrName>
                                        </p:attrNameLst>
                                      </p:cBhvr>
                                      <p:tavLst>
                                        <p:tav tm="0">
                                          <p:val>
                                            <p:strVal val="#ppt_x"/>
                                          </p:val>
                                        </p:tav>
                                        <p:tav tm="100000">
                                          <p:val>
                                            <p:strVal val="#ppt_x"/>
                                          </p:val>
                                        </p:tav>
                                      </p:tavLst>
                                    </p:anim>
                                    <p:anim calcmode="lin" valueType="num">
                                      <p:cBhvr additive="base">
                                        <p:cTn id="20" dur="500" fill="hold"/>
                                        <p:tgtEl>
                                          <p:spTgt spid="952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p:bldP spid="95237" grpId="0"/>
      <p:bldP spid="952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E78B06D7-4964-5A8F-6934-D04ED398776E}"/>
              </a:ext>
            </a:extLst>
          </p:cNvPr>
          <p:cNvSpPr>
            <a:spLocks noChangeArrowheads="1"/>
          </p:cNvSpPr>
          <p:nvPr/>
        </p:nvSpPr>
        <p:spPr bwMode="auto">
          <a:xfrm>
            <a:off x="1042988" y="1704975"/>
            <a:ext cx="71628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0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在速度输入作用下，</a:t>
            </a:r>
            <a:r>
              <a:rPr lang="en-US" altLang="zh-CN" sz="2800">
                <a:latin typeface="宋体" panose="02010600030101010101" pitchFamily="2" charset="-122"/>
              </a:rPr>
              <a:t>II</a:t>
            </a:r>
            <a:r>
              <a:rPr lang="en-US" altLang="zh-CN" sz="2800">
                <a:latin typeface="Times New Roman" panose="02020603050405020304" pitchFamily="18" charset="0"/>
              </a:rPr>
              <a:t> </a:t>
            </a:r>
            <a:r>
              <a:rPr lang="zh-CN" altLang="en-US" sz="2800">
                <a:latin typeface="宋体" panose="02010600030101010101" pitchFamily="2" charset="-122"/>
              </a:rPr>
              <a:t>型系统的稳态误差</a:t>
            </a:r>
          </a:p>
          <a:p>
            <a:pPr eaLnBrk="1" hangingPunct="1">
              <a:lnSpc>
                <a:spcPct val="110000"/>
              </a:lnSpc>
            </a:pPr>
            <a:r>
              <a:rPr lang="zh-CN" altLang="en-US" sz="2800">
                <a:latin typeface="宋体" panose="02010600030101010101" pitchFamily="2" charset="-122"/>
              </a:rPr>
              <a:t>  为</a:t>
            </a:r>
            <a:r>
              <a:rPr lang="zh-CN" altLang="en-US" sz="2800">
                <a:latin typeface="Times New Roman" panose="02020603050405020304" pitchFamily="18" charset="0"/>
              </a:rPr>
              <a:t> </a:t>
            </a:r>
            <a:r>
              <a:rPr lang="en-US" altLang="zh-CN" sz="2800">
                <a:latin typeface="宋体" panose="02010600030101010101" pitchFamily="2" charset="-122"/>
              </a:rPr>
              <a:t>0</a:t>
            </a:r>
            <a:r>
              <a:rPr lang="zh-CN" altLang="en-US" sz="2800">
                <a:latin typeface="宋体" panose="02010600030101010101" pitchFamily="2" charset="-122"/>
              </a:rPr>
              <a:t>，常称为</a:t>
            </a:r>
            <a:r>
              <a:rPr lang="zh-CN" altLang="en-US" sz="2800">
                <a:solidFill>
                  <a:srgbClr val="FF0000"/>
                </a:solidFill>
                <a:latin typeface="宋体" panose="02010600030101010101" pitchFamily="2" charset="-122"/>
              </a:rPr>
              <a:t>二阶无差系统</a:t>
            </a:r>
            <a:r>
              <a:rPr lang="zh-CN" altLang="en-US" sz="2800">
                <a:latin typeface="宋体" panose="02010600030101010101" pitchFamily="2" charset="-122"/>
              </a:rPr>
              <a:t>。 </a:t>
            </a:r>
          </a:p>
        </p:txBody>
      </p:sp>
      <p:sp>
        <p:nvSpPr>
          <p:cNvPr id="51203" name="Rectangle 3">
            <a:extLst>
              <a:ext uri="{FF2B5EF4-FFF2-40B4-BE49-F238E27FC236}">
                <a16:creationId xmlns:a16="http://schemas.microsoft.com/office/drawing/2014/main" id="{D422C252-66FB-B6D9-CCC8-5617B6C52C81}"/>
              </a:ext>
            </a:extLst>
          </p:cNvPr>
          <p:cNvSpPr>
            <a:spLocks noChangeArrowheads="1"/>
          </p:cNvSpPr>
          <p:nvPr/>
        </p:nvSpPr>
        <p:spPr bwMode="auto">
          <a:xfrm>
            <a:off x="1042988" y="2781300"/>
            <a:ext cx="71628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尽管将阶跃输入、速度输入及加速度输入</a:t>
            </a:r>
          </a:p>
          <a:p>
            <a:pPr eaLnBrk="1" hangingPunct="1">
              <a:lnSpc>
                <a:spcPct val="120000"/>
              </a:lnSpc>
            </a:pPr>
            <a:r>
              <a:rPr lang="zh-CN" altLang="en-US" sz="2800">
                <a:latin typeface="宋体" panose="02010600030101010101" pitchFamily="2" charset="-122"/>
              </a:rPr>
              <a:t>  下系统的误差分别称之为位置误差、速度</a:t>
            </a:r>
          </a:p>
          <a:p>
            <a:pPr eaLnBrk="1" hangingPunct="1">
              <a:lnSpc>
                <a:spcPct val="120000"/>
              </a:lnSpc>
            </a:pPr>
            <a:r>
              <a:rPr lang="zh-CN" altLang="en-US" sz="2800">
                <a:latin typeface="宋体" panose="02010600030101010101" pitchFamily="2" charset="-122"/>
              </a:rPr>
              <a:t>  误差和加速度误差，但对速度误差、加速</a:t>
            </a:r>
          </a:p>
          <a:p>
            <a:pPr eaLnBrk="1" hangingPunct="1">
              <a:lnSpc>
                <a:spcPct val="120000"/>
              </a:lnSpc>
            </a:pPr>
            <a:r>
              <a:rPr lang="zh-CN" altLang="en-US" sz="2800">
                <a:latin typeface="宋体" panose="02010600030101010101" pitchFamily="2" charset="-122"/>
              </a:rPr>
              <a:t>  度误差而言并不是指输出与输入的速度、</a:t>
            </a:r>
          </a:p>
          <a:p>
            <a:pPr eaLnBrk="1" hangingPunct="1">
              <a:lnSpc>
                <a:spcPct val="120000"/>
              </a:lnSpc>
            </a:pPr>
            <a:r>
              <a:rPr lang="zh-CN" altLang="en-US" sz="2800">
                <a:latin typeface="宋体" panose="02010600030101010101" pitchFamily="2" charset="-122"/>
              </a:rPr>
              <a:t>  加速度不同，而是指输出与输入之间存在</a:t>
            </a:r>
          </a:p>
          <a:p>
            <a:pPr eaLnBrk="1" hangingPunct="1">
              <a:lnSpc>
                <a:spcPct val="120000"/>
              </a:lnSpc>
            </a:pPr>
            <a:r>
              <a:rPr lang="zh-CN" altLang="en-US" sz="2800">
                <a:latin typeface="宋体" panose="02010600030101010101" pitchFamily="2" charset="-122"/>
              </a:rPr>
              <a:t>  一确定的稳态位置偏差。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slide(fromBottom)">
                                      <p:cBhvr>
                                        <p:cTn id="7" dur="500"/>
                                        <p:tgtEl>
                                          <p:spTgt spid="51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51203"/>
                                        </p:tgtEl>
                                        <p:attrNameLst>
                                          <p:attrName>style.visibility</p:attrName>
                                        </p:attrNameLst>
                                      </p:cBhvr>
                                      <p:to>
                                        <p:strVal val="visible"/>
                                      </p:to>
                                    </p:set>
                                    <p:animEffect transition="in" filter="slide(fromBottom)">
                                      <p:cBhvr>
                                        <p:cTn id="12"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3">
            <a:extLst>
              <a:ext uri="{FF2B5EF4-FFF2-40B4-BE49-F238E27FC236}">
                <a16:creationId xmlns:a16="http://schemas.microsoft.com/office/drawing/2014/main" id="{DA34FE24-BC41-36A8-6CA0-1B2BBC088288}"/>
              </a:ext>
            </a:extLst>
          </p:cNvPr>
          <p:cNvGrpSpPr>
            <a:grpSpLocks/>
          </p:cNvGrpSpPr>
          <p:nvPr/>
        </p:nvGrpSpPr>
        <p:grpSpPr bwMode="auto">
          <a:xfrm>
            <a:off x="2266950" y="838200"/>
            <a:ext cx="4057650" cy="2743200"/>
            <a:chOff x="1428" y="624"/>
            <a:chExt cx="2556" cy="1728"/>
          </a:xfrm>
        </p:grpSpPr>
        <p:grpSp>
          <p:nvGrpSpPr>
            <p:cNvPr id="56361" name="Group 4">
              <a:extLst>
                <a:ext uri="{FF2B5EF4-FFF2-40B4-BE49-F238E27FC236}">
                  <a16:creationId xmlns:a16="http://schemas.microsoft.com/office/drawing/2014/main" id="{4000C04A-98B8-E039-E0B0-F939814FF39F}"/>
                </a:ext>
              </a:extLst>
            </p:cNvPr>
            <p:cNvGrpSpPr>
              <a:grpSpLocks/>
            </p:cNvGrpSpPr>
            <p:nvPr/>
          </p:nvGrpSpPr>
          <p:grpSpPr bwMode="auto">
            <a:xfrm>
              <a:off x="1428" y="624"/>
              <a:ext cx="2556" cy="1527"/>
              <a:chOff x="1428" y="729"/>
              <a:chExt cx="2556" cy="1527"/>
            </a:xfrm>
          </p:grpSpPr>
          <p:sp>
            <p:nvSpPr>
              <p:cNvPr id="56363" name="Line 5">
                <a:extLst>
                  <a:ext uri="{FF2B5EF4-FFF2-40B4-BE49-F238E27FC236}">
                    <a16:creationId xmlns:a16="http://schemas.microsoft.com/office/drawing/2014/main" id="{94959079-6933-6CE8-1F41-16F0784BECBE}"/>
                  </a:ext>
                </a:extLst>
              </p:cNvPr>
              <p:cNvSpPr>
                <a:spLocks noChangeShapeType="1"/>
              </p:cNvSpPr>
              <p:nvPr/>
            </p:nvSpPr>
            <p:spPr bwMode="auto">
              <a:xfrm>
                <a:off x="1924" y="1971"/>
                <a:ext cx="192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4" name="Line 6">
                <a:extLst>
                  <a:ext uri="{FF2B5EF4-FFF2-40B4-BE49-F238E27FC236}">
                    <a16:creationId xmlns:a16="http://schemas.microsoft.com/office/drawing/2014/main" id="{C4336AD1-8DA5-B076-CBB7-7E36D1FF8A8B}"/>
                  </a:ext>
                </a:extLst>
              </p:cNvPr>
              <p:cNvSpPr>
                <a:spLocks noChangeShapeType="1"/>
              </p:cNvSpPr>
              <p:nvPr/>
            </p:nvSpPr>
            <p:spPr bwMode="auto">
              <a:xfrm flipH="1" flipV="1">
                <a:off x="1920" y="864"/>
                <a:ext cx="4" cy="1113"/>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5" name="Line 7">
                <a:extLst>
                  <a:ext uri="{FF2B5EF4-FFF2-40B4-BE49-F238E27FC236}">
                    <a16:creationId xmlns:a16="http://schemas.microsoft.com/office/drawing/2014/main" id="{3F358E36-7223-F46F-82F9-4C0DF7F8AA57}"/>
                  </a:ext>
                </a:extLst>
              </p:cNvPr>
              <p:cNvSpPr>
                <a:spLocks noChangeShapeType="1"/>
              </p:cNvSpPr>
              <p:nvPr/>
            </p:nvSpPr>
            <p:spPr bwMode="auto">
              <a:xfrm flipH="1" flipV="1">
                <a:off x="3360" y="1200"/>
                <a:ext cx="221" cy="19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6366" name="Object 8">
                <a:extLst>
                  <a:ext uri="{FF2B5EF4-FFF2-40B4-BE49-F238E27FC236}">
                    <a16:creationId xmlns:a16="http://schemas.microsoft.com/office/drawing/2014/main" id="{B49EFA61-5A67-9029-F91D-B1626E0A2C74}"/>
                  </a:ext>
                </a:extLst>
              </p:cNvPr>
              <p:cNvGraphicFramePr>
                <a:graphicFrameLocks noChangeAspect="1"/>
              </p:cNvGraphicFramePr>
              <p:nvPr/>
            </p:nvGraphicFramePr>
            <p:xfrm>
              <a:off x="3362" y="1248"/>
              <a:ext cx="622" cy="464"/>
            </p:xfrm>
            <a:graphic>
              <a:graphicData uri="http://schemas.openxmlformats.org/presentationml/2006/ole">
                <mc:AlternateContent xmlns:mc="http://schemas.openxmlformats.org/markup-compatibility/2006">
                  <mc:Choice xmlns:v="urn:schemas-microsoft-com:vml" Requires="v">
                    <p:oleObj r:id="rId3" imgW="533169" imgH="393529" progId="Equation.3">
                      <p:embed/>
                    </p:oleObj>
                  </mc:Choice>
                  <mc:Fallback>
                    <p:oleObj r:id="rId3" imgW="533169" imgH="393529"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2" y="1248"/>
                            <a:ext cx="62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67" name="Rectangle 9">
                <a:extLst>
                  <a:ext uri="{FF2B5EF4-FFF2-40B4-BE49-F238E27FC236}">
                    <a16:creationId xmlns:a16="http://schemas.microsoft.com/office/drawing/2014/main" id="{48E79987-DC2D-978D-5ECA-1B62FBC6E7DC}"/>
                  </a:ext>
                </a:extLst>
              </p:cNvPr>
              <p:cNvSpPr>
                <a:spLocks noChangeArrowheads="1"/>
              </p:cNvSpPr>
              <p:nvPr/>
            </p:nvSpPr>
            <p:spPr bwMode="auto">
              <a:xfrm>
                <a:off x="2747" y="816"/>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68" name="Rectangle 10">
                <a:extLst>
                  <a:ext uri="{FF2B5EF4-FFF2-40B4-BE49-F238E27FC236}">
                    <a16:creationId xmlns:a16="http://schemas.microsoft.com/office/drawing/2014/main" id="{E0AB3740-DD2A-8BF6-328E-A458F14D7DA9}"/>
                  </a:ext>
                </a:extLst>
              </p:cNvPr>
              <p:cNvSpPr>
                <a:spLocks noChangeArrowheads="1"/>
              </p:cNvSpPr>
              <p:nvPr/>
            </p:nvSpPr>
            <p:spPr bwMode="auto">
              <a:xfrm>
                <a:off x="2281" y="1392"/>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solidFill>
                      <a:srgbClr val="FF0000"/>
                    </a:solidFill>
                    <a:latin typeface="Times New Roman" panose="02020603050405020304" pitchFamily="18" charset="0"/>
                  </a:rPr>
                  <a:t>c</a:t>
                </a:r>
                <a:r>
                  <a:rPr lang="en-US" altLang="zh-CN" sz="2800">
                    <a:solidFill>
                      <a:srgbClr val="FF0000"/>
                    </a:solidFill>
                    <a:latin typeface="Times New Roman" panose="02020603050405020304" pitchFamily="18" charset="0"/>
                  </a:rPr>
                  <a:t>(</a:t>
                </a:r>
                <a:r>
                  <a:rPr lang="en-US" altLang="zh-CN" sz="2800" i="1">
                    <a:solidFill>
                      <a:srgbClr val="FF0000"/>
                    </a:solidFill>
                    <a:latin typeface="Times New Roman" panose="02020603050405020304" pitchFamily="18" charset="0"/>
                  </a:rPr>
                  <a:t>t</a:t>
                </a:r>
                <a:r>
                  <a:rPr lang="en-US" altLang="zh-CN" sz="2800">
                    <a:solidFill>
                      <a:srgbClr val="FF0000"/>
                    </a:solidFill>
                    <a:latin typeface="Times New Roman" panose="02020603050405020304" pitchFamily="18" charset="0"/>
                  </a:rPr>
                  <a:t>)</a:t>
                </a:r>
              </a:p>
            </p:txBody>
          </p:sp>
          <p:sp>
            <p:nvSpPr>
              <p:cNvPr id="56369" name="Rectangle 11">
                <a:extLst>
                  <a:ext uri="{FF2B5EF4-FFF2-40B4-BE49-F238E27FC236}">
                    <a16:creationId xmlns:a16="http://schemas.microsoft.com/office/drawing/2014/main" id="{9EA1C861-4224-5E74-90EA-1D727E918FC0}"/>
                  </a:ext>
                </a:extLst>
              </p:cNvPr>
              <p:cNvSpPr>
                <a:spLocks noChangeArrowheads="1"/>
              </p:cNvSpPr>
              <p:nvPr/>
            </p:nvSpPr>
            <p:spPr bwMode="auto">
              <a:xfrm>
                <a:off x="3700" y="1929"/>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t</a:t>
                </a:r>
              </a:p>
            </p:txBody>
          </p:sp>
          <p:sp>
            <p:nvSpPr>
              <p:cNvPr id="56370" name="Rectangle 12">
                <a:extLst>
                  <a:ext uri="{FF2B5EF4-FFF2-40B4-BE49-F238E27FC236}">
                    <a16:creationId xmlns:a16="http://schemas.microsoft.com/office/drawing/2014/main" id="{0A77137B-B74B-F131-11F0-D6A281A35BBD}"/>
                  </a:ext>
                </a:extLst>
              </p:cNvPr>
              <p:cNvSpPr>
                <a:spLocks noChangeArrowheads="1"/>
              </p:cNvSpPr>
              <p:nvPr/>
            </p:nvSpPr>
            <p:spPr bwMode="auto">
              <a:xfrm>
                <a:off x="1732" y="192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0</a:t>
                </a:r>
              </a:p>
            </p:txBody>
          </p:sp>
          <p:sp>
            <p:nvSpPr>
              <p:cNvPr id="56371" name="Rectangle 13">
                <a:extLst>
                  <a:ext uri="{FF2B5EF4-FFF2-40B4-BE49-F238E27FC236}">
                    <a16:creationId xmlns:a16="http://schemas.microsoft.com/office/drawing/2014/main" id="{FE1DABEE-8F7A-1A83-2959-F6BBF1F89EE1}"/>
                  </a:ext>
                </a:extLst>
              </p:cNvPr>
              <p:cNvSpPr>
                <a:spLocks noChangeArrowheads="1"/>
              </p:cNvSpPr>
              <p:nvPr/>
            </p:nvSpPr>
            <p:spPr bwMode="auto">
              <a:xfrm>
                <a:off x="1428" y="910"/>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72" name="Rectangle 14">
                <a:extLst>
                  <a:ext uri="{FF2B5EF4-FFF2-40B4-BE49-F238E27FC236}">
                    <a16:creationId xmlns:a16="http://schemas.microsoft.com/office/drawing/2014/main" id="{D5DAEB50-FCB0-2FC4-E7A3-3D172B954991}"/>
                  </a:ext>
                </a:extLst>
              </p:cNvPr>
              <p:cNvSpPr>
                <a:spLocks noChangeArrowheads="1"/>
              </p:cNvSpPr>
              <p:nvPr/>
            </p:nvSpPr>
            <p:spPr bwMode="auto">
              <a:xfrm>
                <a:off x="1935" y="729"/>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c</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73" name="Line 15">
                <a:extLst>
                  <a:ext uri="{FF2B5EF4-FFF2-40B4-BE49-F238E27FC236}">
                    <a16:creationId xmlns:a16="http://schemas.microsoft.com/office/drawing/2014/main" id="{C618EDE7-6B92-250C-EDE8-66FD572A0BBB}"/>
                  </a:ext>
                </a:extLst>
              </p:cNvPr>
              <p:cNvSpPr>
                <a:spLocks noChangeShapeType="1"/>
              </p:cNvSpPr>
              <p:nvPr/>
            </p:nvSpPr>
            <p:spPr bwMode="auto">
              <a:xfrm>
                <a:off x="1920" y="1152"/>
                <a:ext cx="172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74" name="Freeform 16">
                <a:extLst>
                  <a:ext uri="{FF2B5EF4-FFF2-40B4-BE49-F238E27FC236}">
                    <a16:creationId xmlns:a16="http://schemas.microsoft.com/office/drawing/2014/main" id="{D5641F71-2A8F-29BB-E1B1-10F1600C3E14}"/>
                  </a:ext>
                </a:extLst>
              </p:cNvPr>
              <p:cNvSpPr>
                <a:spLocks noChangeArrowheads="1"/>
              </p:cNvSpPr>
              <p:nvPr/>
            </p:nvSpPr>
            <p:spPr bwMode="auto">
              <a:xfrm>
                <a:off x="1920" y="1008"/>
                <a:ext cx="1728" cy="960"/>
              </a:xfrm>
              <a:custGeom>
                <a:avLst/>
                <a:gdLst>
                  <a:gd name="T0" fmla="*/ 0 w 1728"/>
                  <a:gd name="T1" fmla="*/ 659 h 1088"/>
                  <a:gd name="T2" fmla="*/ 288 w 1728"/>
                  <a:gd name="T3" fmla="*/ 485 h 1088"/>
                  <a:gd name="T4" fmla="*/ 576 w 1728"/>
                  <a:gd name="T5" fmla="*/ 49 h 1088"/>
                  <a:gd name="T6" fmla="*/ 912 w 1728"/>
                  <a:gd name="T7" fmla="*/ 194 h 1088"/>
                  <a:gd name="T8" fmla="*/ 1152 w 1728"/>
                  <a:gd name="T9" fmla="*/ 136 h 1088"/>
                  <a:gd name="T10" fmla="*/ 1296 w 1728"/>
                  <a:gd name="T11" fmla="*/ 165 h 1088"/>
                  <a:gd name="T12" fmla="*/ 1728 w 1728"/>
                  <a:gd name="T13" fmla="*/ 165 h 10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28" h="1088">
                    <a:moveTo>
                      <a:pt x="0" y="1088"/>
                    </a:moveTo>
                    <a:cubicBezTo>
                      <a:pt x="96" y="1028"/>
                      <a:pt x="192" y="968"/>
                      <a:pt x="288" y="800"/>
                    </a:cubicBezTo>
                    <a:cubicBezTo>
                      <a:pt x="384" y="632"/>
                      <a:pt x="472" y="160"/>
                      <a:pt x="576" y="80"/>
                    </a:cubicBezTo>
                    <a:cubicBezTo>
                      <a:pt x="680" y="0"/>
                      <a:pt x="816" y="296"/>
                      <a:pt x="912" y="320"/>
                    </a:cubicBezTo>
                    <a:cubicBezTo>
                      <a:pt x="1008" y="344"/>
                      <a:pt x="1088" y="232"/>
                      <a:pt x="1152" y="224"/>
                    </a:cubicBezTo>
                    <a:cubicBezTo>
                      <a:pt x="1216" y="216"/>
                      <a:pt x="1200" y="264"/>
                      <a:pt x="1296" y="272"/>
                    </a:cubicBezTo>
                    <a:cubicBezTo>
                      <a:pt x="1392" y="280"/>
                      <a:pt x="1560" y="276"/>
                      <a:pt x="1728" y="272"/>
                    </a:cubicBezTo>
                  </a:path>
                </a:pathLst>
              </a:custGeom>
              <a:noFill/>
              <a:ln w="222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75" name="Line 17">
                <a:extLst>
                  <a:ext uri="{FF2B5EF4-FFF2-40B4-BE49-F238E27FC236}">
                    <a16:creationId xmlns:a16="http://schemas.microsoft.com/office/drawing/2014/main" id="{DF6C3874-C80D-38B4-D1E1-DEAF2614ED42}"/>
                  </a:ext>
                </a:extLst>
              </p:cNvPr>
              <p:cNvSpPr>
                <a:spLocks noChangeShapeType="1"/>
              </p:cNvSpPr>
              <p:nvPr/>
            </p:nvSpPr>
            <p:spPr bwMode="auto">
              <a:xfrm>
                <a:off x="3360" y="1152"/>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76" name="Line 18">
                <a:extLst>
                  <a:ext uri="{FF2B5EF4-FFF2-40B4-BE49-F238E27FC236}">
                    <a16:creationId xmlns:a16="http://schemas.microsoft.com/office/drawing/2014/main" id="{9D546F60-81A4-1E62-956C-6FC3538E703A}"/>
                  </a:ext>
                </a:extLst>
              </p:cNvPr>
              <p:cNvSpPr>
                <a:spLocks noChangeShapeType="1"/>
              </p:cNvSpPr>
              <p:nvPr/>
            </p:nvSpPr>
            <p:spPr bwMode="auto">
              <a:xfrm>
                <a:off x="3352" y="960"/>
                <a:ext cx="0" cy="19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77" name="Line 19">
                <a:extLst>
                  <a:ext uri="{FF2B5EF4-FFF2-40B4-BE49-F238E27FC236}">
                    <a16:creationId xmlns:a16="http://schemas.microsoft.com/office/drawing/2014/main" id="{2FDDA80B-C796-9576-1F10-012FBE598C2C}"/>
                  </a:ext>
                </a:extLst>
              </p:cNvPr>
              <p:cNvSpPr>
                <a:spLocks noChangeShapeType="1"/>
              </p:cNvSpPr>
              <p:nvPr/>
            </p:nvSpPr>
            <p:spPr bwMode="auto">
              <a:xfrm flipV="1">
                <a:off x="3352" y="1248"/>
                <a:ext cx="0" cy="19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6362" name="Text Box 20">
              <a:extLst>
                <a:ext uri="{FF2B5EF4-FFF2-40B4-BE49-F238E27FC236}">
                  <a16:creationId xmlns:a16="http://schemas.microsoft.com/office/drawing/2014/main" id="{A009CE3C-8DF4-042D-911C-E1BE1E89CEE5}"/>
                </a:ext>
              </a:extLst>
            </p:cNvPr>
            <p:cNvSpPr txBox="1">
              <a:spLocks noChangeArrowheads="1"/>
            </p:cNvSpPr>
            <p:nvPr/>
          </p:nvSpPr>
          <p:spPr bwMode="auto">
            <a:xfrm>
              <a:off x="1824" y="2064"/>
              <a:ext cx="21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r>
                <a:rPr lang="zh-CN" altLang="en-US" sz="2400">
                  <a:latin typeface="Times New Roman" panose="02020603050405020304" pitchFamily="18" charset="0"/>
                </a:rPr>
                <a:t>型系统的单位阶跃响应</a:t>
              </a:r>
            </a:p>
          </p:txBody>
        </p:sp>
      </p:grpSp>
      <p:grpSp>
        <p:nvGrpSpPr>
          <p:cNvPr id="4" name="Group 21">
            <a:extLst>
              <a:ext uri="{FF2B5EF4-FFF2-40B4-BE49-F238E27FC236}">
                <a16:creationId xmlns:a16="http://schemas.microsoft.com/office/drawing/2014/main" id="{1B832EA4-76E8-92E7-C9F2-4F0BC4090F8F}"/>
              </a:ext>
            </a:extLst>
          </p:cNvPr>
          <p:cNvGrpSpPr>
            <a:grpSpLocks/>
          </p:cNvGrpSpPr>
          <p:nvPr/>
        </p:nvGrpSpPr>
        <p:grpSpPr bwMode="auto">
          <a:xfrm>
            <a:off x="609600" y="3657600"/>
            <a:ext cx="3941763" cy="2819400"/>
            <a:chOff x="384" y="2304"/>
            <a:chExt cx="2483" cy="1776"/>
          </a:xfrm>
        </p:grpSpPr>
        <p:grpSp>
          <p:nvGrpSpPr>
            <p:cNvPr id="56343" name="Group 22">
              <a:extLst>
                <a:ext uri="{FF2B5EF4-FFF2-40B4-BE49-F238E27FC236}">
                  <a16:creationId xmlns:a16="http://schemas.microsoft.com/office/drawing/2014/main" id="{647CF9B3-A3EA-B3A9-800B-8A47DBA6EBD2}"/>
                </a:ext>
              </a:extLst>
            </p:cNvPr>
            <p:cNvGrpSpPr>
              <a:grpSpLocks/>
            </p:cNvGrpSpPr>
            <p:nvPr/>
          </p:nvGrpSpPr>
          <p:grpSpPr bwMode="auto">
            <a:xfrm>
              <a:off x="384" y="2304"/>
              <a:ext cx="2483" cy="1579"/>
              <a:chOff x="384" y="2304"/>
              <a:chExt cx="2483" cy="1579"/>
            </a:xfrm>
          </p:grpSpPr>
          <p:graphicFrame>
            <p:nvGraphicFramePr>
              <p:cNvPr id="56345" name="Object 23">
                <a:extLst>
                  <a:ext uri="{FF2B5EF4-FFF2-40B4-BE49-F238E27FC236}">
                    <a16:creationId xmlns:a16="http://schemas.microsoft.com/office/drawing/2014/main" id="{507F71FB-0BB7-0D4D-7A98-01195D070256}"/>
                  </a:ext>
                </a:extLst>
              </p:cNvPr>
              <p:cNvGraphicFramePr>
                <a:graphicFrameLocks noChangeAspect="1"/>
              </p:cNvGraphicFramePr>
              <p:nvPr/>
            </p:nvGraphicFramePr>
            <p:xfrm>
              <a:off x="2245" y="2928"/>
              <a:ext cx="622" cy="464"/>
            </p:xfrm>
            <a:graphic>
              <a:graphicData uri="http://schemas.openxmlformats.org/presentationml/2006/ole">
                <mc:AlternateContent xmlns:mc="http://schemas.openxmlformats.org/markup-compatibility/2006">
                  <mc:Choice xmlns:v="urn:schemas-microsoft-com:vml" Requires="v">
                    <p:oleObj r:id="rId3" imgW="533169" imgH="393529" progId="Equation.3">
                      <p:embed/>
                    </p:oleObj>
                  </mc:Choice>
                  <mc:Fallback>
                    <p:oleObj r:id="rId3" imgW="533169" imgH="393529"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5" y="2928"/>
                            <a:ext cx="62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46" name="Line 24">
                <a:extLst>
                  <a:ext uri="{FF2B5EF4-FFF2-40B4-BE49-F238E27FC236}">
                    <a16:creationId xmlns:a16="http://schemas.microsoft.com/office/drawing/2014/main" id="{5BB684A1-6500-4182-0F2F-8ABFD8322F52}"/>
                  </a:ext>
                </a:extLst>
              </p:cNvPr>
              <p:cNvSpPr>
                <a:spLocks noChangeShapeType="1"/>
              </p:cNvSpPr>
              <p:nvPr/>
            </p:nvSpPr>
            <p:spPr bwMode="auto">
              <a:xfrm>
                <a:off x="853" y="3591"/>
                <a:ext cx="192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7" name="Line 25">
                <a:extLst>
                  <a:ext uri="{FF2B5EF4-FFF2-40B4-BE49-F238E27FC236}">
                    <a16:creationId xmlns:a16="http://schemas.microsoft.com/office/drawing/2014/main" id="{80395E4E-D78A-E1EA-E8F6-B618E35C0612}"/>
                  </a:ext>
                </a:extLst>
              </p:cNvPr>
              <p:cNvSpPr>
                <a:spLocks noChangeShapeType="1"/>
              </p:cNvSpPr>
              <p:nvPr/>
            </p:nvSpPr>
            <p:spPr bwMode="auto">
              <a:xfrm flipV="1">
                <a:off x="853" y="2425"/>
                <a:ext cx="0" cy="1171"/>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8" name="Line 26">
                <a:extLst>
                  <a:ext uri="{FF2B5EF4-FFF2-40B4-BE49-F238E27FC236}">
                    <a16:creationId xmlns:a16="http://schemas.microsoft.com/office/drawing/2014/main" id="{4FB329F9-7ADF-E56E-4D6D-114C21F989C8}"/>
                  </a:ext>
                </a:extLst>
              </p:cNvPr>
              <p:cNvSpPr>
                <a:spLocks noChangeShapeType="1"/>
              </p:cNvSpPr>
              <p:nvPr/>
            </p:nvSpPr>
            <p:spPr bwMode="auto">
              <a:xfrm flipV="1">
                <a:off x="853" y="2592"/>
                <a:ext cx="1698" cy="999"/>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9" name="Freeform 27">
                <a:extLst>
                  <a:ext uri="{FF2B5EF4-FFF2-40B4-BE49-F238E27FC236}">
                    <a16:creationId xmlns:a16="http://schemas.microsoft.com/office/drawing/2014/main" id="{88F540ED-C2EF-A63D-83F0-DB743507C4ED}"/>
                  </a:ext>
                </a:extLst>
              </p:cNvPr>
              <p:cNvSpPr>
                <a:spLocks noChangeArrowheads="1"/>
              </p:cNvSpPr>
              <p:nvPr/>
            </p:nvSpPr>
            <p:spPr bwMode="auto">
              <a:xfrm>
                <a:off x="853" y="2814"/>
                <a:ext cx="1680" cy="777"/>
              </a:xfrm>
              <a:custGeom>
                <a:avLst/>
                <a:gdLst>
                  <a:gd name="T0" fmla="*/ 0 w 1056"/>
                  <a:gd name="T1" fmla="*/ 1200 h 672"/>
                  <a:gd name="T2" fmla="*/ 2154 w 1056"/>
                  <a:gd name="T3" fmla="*/ 1116 h 672"/>
                  <a:gd name="T4" fmla="*/ 3075 w 1056"/>
                  <a:gd name="T5" fmla="*/ 772 h 672"/>
                  <a:gd name="T6" fmla="*/ 4305 w 1056"/>
                  <a:gd name="T7" fmla="*/ 601 h 672"/>
                  <a:gd name="T8" fmla="*/ 5226 w 1056"/>
                  <a:gd name="T9" fmla="*/ 343 h 672"/>
                  <a:gd name="T10" fmla="*/ 6766 w 1056"/>
                  <a:gd name="T11" fmla="*/ 0 h 6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6" h="672">
                    <a:moveTo>
                      <a:pt x="0" y="672"/>
                    </a:moveTo>
                    <a:cubicBezTo>
                      <a:pt x="128" y="668"/>
                      <a:pt x="256" y="664"/>
                      <a:pt x="336" y="624"/>
                    </a:cubicBezTo>
                    <a:cubicBezTo>
                      <a:pt x="416" y="584"/>
                      <a:pt x="424" y="480"/>
                      <a:pt x="480" y="432"/>
                    </a:cubicBezTo>
                    <a:cubicBezTo>
                      <a:pt x="536" y="384"/>
                      <a:pt x="616" y="376"/>
                      <a:pt x="672" y="336"/>
                    </a:cubicBezTo>
                    <a:cubicBezTo>
                      <a:pt x="728" y="296"/>
                      <a:pt x="752" y="248"/>
                      <a:pt x="816" y="192"/>
                    </a:cubicBezTo>
                    <a:cubicBezTo>
                      <a:pt x="880" y="136"/>
                      <a:pt x="968" y="68"/>
                      <a:pt x="1056" y="0"/>
                    </a:cubicBezTo>
                  </a:path>
                </a:pathLst>
              </a:custGeom>
              <a:noFill/>
              <a:ln w="222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6350" name="Group 28">
                <a:extLst>
                  <a:ext uri="{FF2B5EF4-FFF2-40B4-BE49-F238E27FC236}">
                    <a16:creationId xmlns:a16="http://schemas.microsoft.com/office/drawing/2014/main" id="{718B2EB1-8133-819A-C14D-C4D691AB0A83}"/>
                  </a:ext>
                </a:extLst>
              </p:cNvPr>
              <p:cNvGrpSpPr>
                <a:grpSpLocks/>
              </p:cNvGrpSpPr>
              <p:nvPr/>
            </p:nvGrpSpPr>
            <p:grpSpPr bwMode="auto">
              <a:xfrm>
                <a:off x="2197" y="2573"/>
                <a:ext cx="0" cy="646"/>
                <a:chOff x="2640" y="1856"/>
                <a:chExt cx="0" cy="768"/>
              </a:xfrm>
            </p:grpSpPr>
            <p:sp>
              <p:nvSpPr>
                <p:cNvPr id="56358" name="Line 29">
                  <a:extLst>
                    <a:ext uri="{FF2B5EF4-FFF2-40B4-BE49-F238E27FC236}">
                      <a16:creationId xmlns:a16="http://schemas.microsoft.com/office/drawing/2014/main" id="{A6C59B37-CBE7-1A4A-2246-9C9611DC9D08}"/>
                    </a:ext>
                  </a:extLst>
                </p:cNvPr>
                <p:cNvSpPr>
                  <a:spLocks noChangeShapeType="1"/>
                </p:cNvSpPr>
                <p:nvPr/>
              </p:nvSpPr>
              <p:spPr bwMode="auto">
                <a:xfrm>
                  <a:off x="2640" y="1856"/>
                  <a:ext cx="0" cy="26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59" name="Line 30">
                  <a:extLst>
                    <a:ext uri="{FF2B5EF4-FFF2-40B4-BE49-F238E27FC236}">
                      <a16:creationId xmlns:a16="http://schemas.microsoft.com/office/drawing/2014/main" id="{01EC0F25-E696-499C-9C44-E188C579EDA6}"/>
                    </a:ext>
                  </a:extLst>
                </p:cNvPr>
                <p:cNvSpPr>
                  <a:spLocks noChangeShapeType="1"/>
                </p:cNvSpPr>
                <p:nvPr/>
              </p:nvSpPr>
              <p:spPr bwMode="auto">
                <a:xfrm flipV="1">
                  <a:off x="2640" y="2360"/>
                  <a:ext cx="0" cy="26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60" name="Line 31">
                  <a:extLst>
                    <a:ext uri="{FF2B5EF4-FFF2-40B4-BE49-F238E27FC236}">
                      <a16:creationId xmlns:a16="http://schemas.microsoft.com/office/drawing/2014/main" id="{F16BD6B6-E148-E70E-6874-FD66D1DFCD18}"/>
                    </a:ext>
                  </a:extLst>
                </p:cNvPr>
                <p:cNvSpPr>
                  <a:spLocks noChangeShapeType="1"/>
                </p:cNvSpPr>
                <p:nvPr/>
              </p:nvSpPr>
              <p:spPr bwMode="auto">
                <a:xfrm>
                  <a:off x="2640" y="2114"/>
                  <a:ext cx="0" cy="26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51" name="Line 32">
                <a:extLst>
                  <a:ext uri="{FF2B5EF4-FFF2-40B4-BE49-F238E27FC236}">
                    <a16:creationId xmlns:a16="http://schemas.microsoft.com/office/drawing/2014/main" id="{A6772D87-2BA4-BC2C-BAA2-784FC50CEA81}"/>
                  </a:ext>
                </a:extLst>
              </p:cNvPr>
              <p:cNvSpPr>
                <a:spLocks noChangeShapeType="1"/>
              </p:cNvSpPr>
              <p:nvPr/>
            </p:nvSpPr>
            <p:spPr bwMode="auto">
              <a:xfrm flipH="1" flipV="1">
                <a:off x="2197" y="2905"/>
                <a:ext cx="221" cy="16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52" name="Rectangle 33">
                <a:extLst>
                  <a:ext uri="{FF2B5EF4-FFF2-40B4-BE49-F238E27FC236}">
                    <a16:creationId xmlns:a16="http://schemas.microsoft.com/office/drawing/2014/main" id="{AC995E5B-5BC0-8250-0691-649181F933E3}"/>
                  </a:ext>
                </a:extLst>
              </p:cNvPr>
              <p:cNvSpPr>
                <a:spLocks noChangeArrowheads="1"/>
              </p:cNvSpPr>
              <p:nvPr/>
            </p:nvSpPr>
            <p:spPr bwMode="auto">
              <a:xfrm>
                <a:off x="1237" y="2877"/>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53" name="Rectangle 34">
                <a:extLst>
                  <a:ext uri="{FF2B5EF4-FFF2-40B4-BE49-F238E27FC236}">
                    <a16:creationId xmlns:a16="http://schemas.microsoft.com/office/drawing/2014/main" id="{87F23F36-4FE6-214D-3FB5-E270A5D1190B}"/>
                  </a:ext>
                </a:extLst>
              </p:cNvPr>
              <p:cNvSpPr>
                <a:spLocks noChangeArrowheads="1"/>
              </p:cNvSpPr>
              <p:nvPr/>
            </p:nvSpPr>
            <p:spPr bwMode="auto">
              <a:xfrm>
                <a:off x="1621" y="3200"/>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solidFill>
                      <a:srgbClr val="FF0000"/>
                    </a:solidFill>
                    <a:latin typeface="Times New Roman" panose="02020603050405020304" pitchFamily="18" charset="0"/>
                  </a:rPr>
                  <a:t>c</a:t>
                </a:r>
                <a:r>
                  <a:rPr lang="en-US" altLang="zh-CN" sz="2800">
                    <a:solidFill>
                      <a:srgbClr val="FF0000"/>
                    </a:solidFill>
                    <a:latin typeface="Times New Roman" panose="02020603050405020304" pitchFamily="18" charset="0"/>
                  </a:rPr>
                  <a:t>(</a:t>
                </a:r>
                <a:r>
                  <a:rPr lang="en-US" altLang="zh-CN" sz="2800" i="1">
                    <a:solidFill>
                      <a:srgbClr val="FF0000"/>
                    </a:solidFill>
                    <a:latin typeface="Times New Roman" panose="02020603050405020304" pitchFamily="18" charset="0"/>
                  </a:rPr>
                  <a:t>t</a:t>
                </a:r>
                <a:r>
                  <a:rPr lang="en-US" altLang="zh-CN" sz="2800">
                    <a:solidFill>
                      <a:srgbClr val="FF0000"/>
                    </a:solidFill>
                    <a:latin typeface="Times New Roman" panose="02020603050405020304" pitchFamily="18" charset="0"/>
                  </a:rPr>
                  <a:t>)</a:t>
                </a:r>
              </a:p>
            </p:txBody>
          </p:sp>
          <p:sp>
            <p:nvSpPr>
              <p:cNvPr id="56354" name="Rectangle 35">
                <a:extLst>
                  <a:ext uri="{FF2B5EF4-FFF2-40B4-BE49-F238E27FC236}">
                    <a16:creationId xmlns:a16="http://schemas.microsoft.com/office/drawing/2014/main" id="{3280A4BF-B5F9-4DC2-91A8-E0BAE0588E93}"/>
                  </a:ext>
                </a:extLst>
              </p:cNvPr>
              <p:cNvSpPr>
                <a:spLocks noChangeArrowheads="1"/>
              </p:cNvSpPr>
              <p:nvPr/>
            </p:nvSpPr>
            <p:spPr bwMode="auto">
              <a:xfrm>
                <a:off x="2629" y="3556"/>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t</a:t>
                </a:r>
              </a:p>
            </p:txBody>
          </p:sp>
          <p:sp>
            <p:nvSpPr>
              <p:cNvPr id="56355" name="Rectangle 36">
                <a:extLst>
                  <a:ext uri="{FF2B5EF4-FFF2-40B4-BE49-F238E27FC236}">
                    <a16:creationId xmlns:a16="http://schemas.microsoft.com/office/drawing/2014/main" id="{0FA06A43-FBD5-63D1-16AE-5B13E4C37750}"/>
                  </a:ext>
                </a:extLst>
              </p:cNvPr>
              <p:cNvSpPr>
                <a:spLocks noChangeArrowheads="1"/>
              </p:cNvSpPr>
              <p:nvPr/>
            </p:nvSpPr>
            <p:spPr bwMode="auto">
              <a:xfrm>
                <a:off x="661" y="35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0</a:t>
                </a:r>
              </a:p>
            </p:txBody>
          </p:sp>
          <p:sp>
            <p:nvSpPr>
              <p:cNvPr id="56356" name="Rectangle 37">
                <a:extLst>
                  <a:ext uri="{FF2B5EF4-FFF2-40B4-BE49-F238E27FC236}">
                    <a16:creationId xmlns:a16="http://schemas.microsoft.com/office/drawing/2014/main" id="{65619BF8-07B4-9A3C-4EA4-06D463361271}"/>
                  </a:ext>
                </a:extLst>
              </p:cNvPr>
              <p:cNvSpPr>
                <a:spLocks noChangeArrowheads="1"/>
              </p:cNvSpPr>
              <p:nvPr/>
            </p:nvSpPr>
            <p:spPr bwMode="auto">
              <a:xfrm>
                <a:off x="384" y="2304"/>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57" name="Rectangle 38">
                <a:extLst>
                  <a:ext uri="{FF2B5EF4-FFF2-40B4-BE49-F238E27FC236}">
                    <a16:creationId xmlns:a16="http://schemas.microsoft.com/office/drawing/2014/main" id="{41C595C2-6B80-9EF7-02A9-71D4CCB4BD44}"/>
                  </a:ext>
                </a:extLst>
              </p:cNvPr>
              <p:cNvSpPr>
                <a:spLocks noChangeArrowheads="1"/>
              </p:cNvSpPr>
              <p:nvPr/>
            </p:nvSpPr>
            <p:spPr bwMode="auto">
              <a:xfrm>
                <a:off x="864" y="2304"/>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c</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grpSp>
        <p:sp>
          <p:nvSpPr>
            <p:cNvPr id="56344" name="Rectangle 39">
              <a:extLst>
                <a:ext uri="{FF2B5EF4-FFF2-40B4-BE49-F238E27FC236}">
                  <a16:creationId xmlns:a16="http://schemas.microsoft.com/office/drawing/2014/main" id="{14569B72-9BFB-9D04-69FF-D2C155160D45}"/>
                </a:ext>
              </a:extLst>
            </p:cNvPr>
            <p:cNvSpPr>
              <a:spLocks noChangeArrowheads="1"/>
            </p:cNvSpPr>
            <p:nvPr/>
          </p:nvSpPr>
          <p:spPr bwMode="auto">
            <a:xfrm>
              <a:off x="732" y="3792"/>
              <a:ext cx="21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I</a:t>
              </a:r>
              <a:r>
                <a:rPr lang="zh-CN" altLang="en-US" sz="2400">
                  <a:latin typeface="Times New Roman" panose="02020603050405020304" pitchFamily="18" charset="0"/>
                </a:rPr>
                <a:t>型系统的单位速度响应</a:t>
              </a:r>
            </a:p>
          </p:txBody>
        </p:sp>
      </p:grpSp>
      <p:grpSp>
        <p:nvGrpSpPr>
          <p:cNvPr id="7" name="Group 40">
            <a:extLst>
              <a:ext uri="{FF2B5EF4-FFF2-40B4-BE49-F238E27FC236}">
                <a16:creationId xmlns:a16="http://schemas.microsoft.com/office/drawing/2014/main" id="{A7B19567-DCE1-4365-3075-7497628F1281}"/>
              </a:ext>
            </a:extLst>
          </p:cNvPr>
          <p:cNvGrpSpPr>
            <a:grpSpLocks/>
          </p:cNvGrpSpPr>
          <p:nvPr/>
        </p:nvGrpSpPr>
        <p:grpSpPr bwMode="auto">
          <a:xfrm>
            <a:off x="4745038" y="3657600"/>
            <a:ext cx="4017962" cy="2819400"/>
            <a:chOff x="2989" y="2304"/>
            <a:chExt cx="2531" cy="1776"/>
          </a:xfrm>
        </p:grpSpPr>
        <p:grpSp>
          <p:nvGrpSpPr>
            <p:cNvPr id="56325" name="Group 41">
              <a:extLst>
                <a:ext uri="{FF2B5EF4-FFF2-40B4-BE49-F238E27FC236}">
                  <a16:creationId xmlns:a16="http://schemas.microsoft.com/office/drawing/2014/main" id="{1DA68040-C790-42CB-3F94-2E62E1933C94}"/>
                </a:ext>
              </a:extLst>
            </p:cNvPr>
            <p:cNvGrpSpPr>
              <a:grpSpLocks/>
            </p:cNvGrpSpPr>
            <p:nvPr/>
          </p:nvGrpSpPr>
          <p:grpSpPr bwMode="auto">
            <a:xfrm>
              <a:off x="2989" y="2304"/>
              <a:ext cx="2433" cy="1579"/>
              <a:chOff x="2989" y="2304"/>
              <a:chExt cx="2433" cy="1579"/>
            </a:xfrm>
          </p:grpSpPr>
          <p:graphicFrame>
            <p:nvGraphicFramePr>
              <p:cNvPr id="56327" name="Object 42">
                <a:extLst>
                  <a:ext uri="{FF2B5EF4-FFF2-40B4-BE49-F238E27FC236}">
                    <a16:creationId xmlns:a16="http://schemas.microsoft.com/office/drawing/2014/main" id="{306C1C7F-7F93-7AA8-C7CC-C2759B93BCA1}"/>
                  </a:ext>
                </a:extLst>
              </p:cNvPr>
              <p:cNvGraphicFramePr>
                <a:graphicFrameLocks noChangeAspect="1"/>
              </p:cNvGraphicFramePr>
              <p:nvPr/>
            </p:nvGraphicFramePr>
            <p:xfrm>
              <a:off x="4800" y="2880"/>
              <a:ext cx="622" cy="464"/>
            </p:xfrm>
            <a:graphic>
              <a:graphicData uri="http://schemas.openxmlformats.org/presentationml/2006/ole">
                <mc:AlternateContent xmlns:mc="http://schemas.openxmlformats.org/markup-compatibility/2006">
                  <mc:Choice xmlns:v="urn:schemas-microsoft-com:vml" Requires="v">
                    <p:oleObj r:id="rId3" imgW="533169" imgH="393529" progId="Equation.3">
                      <p:embed/>
                    </p:oleObj>
                  </mc:Choice>
                  <mc:Fallback>
                    <p:oleObj r:id="rId3" imgW="533169" imgH="393529" progId="Equation.3">
                      <p:embed/>
                      <p:pic>
                        <p:nvPicPr>
                          <p:cNvPr id="0"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 y="2880"/>
                            <a:ext cx="62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8" name="Line 43">
                <a:extLst>
                  <a:ext uri="{FF2B5EF4-FFF2-40B4-BE49-F238E27FC236}">
                    <a16:creationId xmlns:a16="http://schemas.microsoft.com/office/drawing/2014/main" id="{13AAE11D-7F07-FB6A-2FF2-6789BAE3E73B}"/>
                  </a:ext>
                </a:extLst>
              </p:cNvPr>
              <p:cNvSpPr>
                <a:spLocks noChangeShapeType="1"/>
              </p:cNvSpPr>
              <p:nvPr/>
            </p:nvSpPr>
            <p:spPr bwMode="auto">
              <a:xfrm>
                <a:off x="3458" y="3591"/>
                <a:ext cx="192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29" name="Line 44">
                <a:extLst>
                  <a:ext uri="{FF2B5EF4-FFF2-40B4-BE49-F238E27FC236}">
                    <a16:creationId xmlns:a16="http://schemas.microsoft.com/office/drawing/2014/main" id="{F757448D-9048-76CA-891E-8E58F850144E}"/>
                  </a:ext>
                </a:extLst>
              </p:cNvPr>
              <p:cNvSpPr>
                <a:spLocks noChangeShapeType="1"/>
              </p:cNvSpPr>
              <p:nvPr/>
            </p:nvSpPr>
            <p:spPr bwMode="auto">
              <a:xfrm flipV="1">
                <a:off x="3458" y="2425"/>
                <a:ext cx="0" cy="1171"/>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6330" name="Group 45">
                <a:extLst>
                  <a:ext uri="{FF2B5EF4-FFF2-40B4-BE49-F238E27FC236}">
                    <a16:creationId xmlns:a16="http://schemas.microsoft.com/office/drawing/2014/main" id="{EEE7B79E-4CF0-A1E1-0864-5B46D302C144}"/>
                  </a:ext>
                </a:extLst>
              </p:cNvPr>
              <p:cNvGrpSpPr>
                <a:grpSpLocks/>
              </p:cNvGrpSpPr>
              <p:nvPr/>
            </p:nvGrpSpPr>
            <p:grpSpPr bwMode="auto">
              <a:xfrm>
                <a:off x="4752" y="2466"/>
                <a:ext cx="0" cy="747"/>
                <a:chOff x="4752" y="2064"/>
                <a:chExt cx="0" cy="888"/>
              </a:xfrm>
            </p:grpSpPr>
            <p:sp>
              <p:nvSpPr>
                <p:cNvPr id="56340" name="Line 46">
                  <a:extLst>
                    <a:ext uri="{FF2B5EF4-FFF2-40B4-BE49-F238E27FC236}">
                      <a16:creationId xmlns:a16="http://schemas.microsoft.com/office/drawing/2014/main" id="{4E7B9A87-2E7B-ABB0-C52C-778977A361B6}"/>
                    </a:ext>
                  </a:extLst>
                </p:cNvPr>
                <p:cNvSpPr>
                  <a:spLocks noChangeShapeType="1"/>
                </p:cNvSpPr>
                <p:nvPr/>
              </p:nvSpPr>
              <p:spPr bwMode="auto">
                <a:xfrm>
                  <a:off x="4752" y="2064"/>
                  <a:ext cx="0" cy="26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1" name="Line 47">
                  <a:extLst>
                    <a:ext uri="{FF2B5EF4-FFF2-40B4-BE49-F238E27FC236}">
                      <a16:creationId xmlns:a16="http://schemas.microsoft.com/office/drawing/2014/main" id="{17617195-438C-AE8F-89B3-2CC3CFB8BB3E}"/>
                    </a:ext>
                  </a:extLst>
                </p:cNvPr>
                <p:cNvSpPr>
                  <a:spLocks noChangeShapeType="1"/>
                </p:cNvSpPr>
                <p:nvPr/>
              </p:nvSpPr>
              <p:spPr bwMode="auto">
                <a:xfrm flipV="1">
                  <a:off x="4752" y="2688"/>
                  <a:ext cx="0" cy="26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42" name="Line 48">
                  <a:extLst>
                    <a:ext uri="{FF2B5EF4-FFF2-40B4-BE49-F238E27FC236}">
                      <a16:creationId xmlns:a16="http://schemas.microsoft.com/office/drawing/2014/main" id="{86457FA3-F365-76A3-A0C2-A4F1302B7E06}"/>
                    </a:ext>
                  </a:extLst>
                </p:cNvPr>
                <p:cNvSpPr>
                  <a:spLocks noChangeShapeType="1"/>
                </p:cNvSpPr>
                <p:nvPr/>
              </p:nvSpPr>
              <p:spPr bwMode="auto">
                <a:xfrm>
                  <a:off x="4752" y="2320"/>
                  <a:ext cx="0" cy="38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31" name="Line 49">
                <a:extLst>
                  <a:ext uri="{FF2B5EF4-FFF2-40B4-BE49-F238E27FC236}">
                    <a16:creationId xmlns:a16="http://schemas.microsoft.com/office/drawing/2014/main" id="{578EFC25-605A-67B0-8AA8-D92A1FBACF66}"/>
                  </a:ext>
                </a:extLst>
              </p:cNvPr>
              <p:cNvSpPr>
                <a:spLocks noChangeShapeType="1"/>
              </p:cNvSpPr>
              <p:nvPr/>
            </p:nvSpPr>
            <p:spPr bwMode="auto">
              <a:xfrm flipH="1" flipV="1">
                <a:off x="4752" y="2869"/>
                <a:ext cx="221" cy="167"/>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2" name="Rectangle 50">
                <a:extLst>
                  <a:ext uri="{FF2B5EF4-FFF2-40B4-BE49-F238E27FC236}">
                    <a16:creationId xmlns:a16="http://schemas.microsoft.com/office/drawing/2014/main" id="{0BB970E6-5881-7DC3-F88F-5497900C3EA3}"/>
                  </a:ext>
                </a:extLst>
              </p:cNvPr>
              <p:cNvSpPr>
                <a:spLocks noChangeArrowheads="1"/>
              </p:cNvSpPr>
              <p:nvPr/>
            </p:nvSpPr>
            <p:spPr bwMode="auto">
              <a:xfrm>
                <a:off x="3947" y="2877"/>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33" name="Rectangle 51">
                <a:extLst>
                  <a:ext uri="{FF2B5EF4-FFF2-40B4-BE49-F238E27FC236}">
                    <a16:creationId xmlns:a16="http://schemas.microsoft.com/office/drawing/2014/main" id="{B8AAFC9E-5E77-F5CD-B4B7-E230BE2CDC9B}"/>
                  </a:ext>
                </a:extLst>
              </p:cNvPr>
              <p:cNvSpPr>
                <a:spLocks noChangeArrowheads="1"/>
              </p:cNvSpPr>
              <p:nvPr/>
            </p:nvSpPr>
            <p:spPr bwMode="auto">
              <a:xfrm>
                <a:off x="4368" y="3233"/>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solidFill>
                      <a:srgbClr val="FF0000"/>
                    </a:solidFill>
                    <a:latin typeface="Times New Roman" panose="02020603050405020304" pitchFamily="18" charset="0"/>
                  </a:rPr>
                  <a:t>c</a:t>
                </a:r>
                <a:r>
                  <a:rPr lang="en-US" altLang="zh-CN" sz="2800">
                    <a:solidFill>
                      <a:srgbClr val="FF0000"/>
                    </a:solidFill>
                    <a:latin typeface="Times New Roman" panose="02020603050405020304" pitchFamily="18" charset="0"/>
                  </a:rPr>
                  <a:t>(</a:t>
                </a:r>
                <a:r>
                  <a:rPr lang="en-US" altLang="zh-CN" sz="2800" i="1">
                    <a:solidFill>
                      <a:srgbClr val="FF0000"/>
                    </a:solidFill>
                    <a:latin typeface="Times New Roman" panose="02020603050405020304" pitchFamily="18" charset="0"/>
                  </a:rPr>
                  <a:t>t</a:t>
                </a:r>
                <a:r>
                  <a:rPr lang="en-US" altLang="zh-CN" sz="2800">
                    <a:solidFill>
                      <a:srgbClr val="FF0000"/>
                    </a:solidFill>
                    <a:latin typeface="Times New Roman" panose="02020603050405020304" pitchFamily="18" charset="0"/>
                  </a:rPr>
                  <a:t>)</a:t>
                </a:r>
              </a:p>
            </p:txBody>
          </p:sp>
          <p:sp>
            <p:nvSpPr>
              <p:cNvPr id="56334" name="Rectangle 52">
                <a:extLst>
                  <a:ext uri="{FF2B5EF4-FFF2-40B4-BE49-F238E27FC236}">
                    <a16:creationId xmlns:a16="http://schemas.microsoft.com/office/drawing/2014/main" id="{AC993531-3421-6318-0A49-BB73FC6ACA2B}"/>
                  </a:ext>
                </a:extLst>
              </p:cNvPr>
              <p:cNvSpPr>
                <a:spLocks noChangeArrowheads="1"/>
              </p:cNvSpPr>
              <p:nvPr/>
            </p:nvSpPr>
            <p:spPr bwMode="auto">
              <a:xfrm>
                <a:off x="5234" y="3556"/>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t</a:t>
                </a:r>
              </a:p>
            </p:txBody>
          </p:sp>
          <p:sp>
            <p:nvSpPr>
              <p:cNvPr id="56335" name="Rectangle 53">
                <a:extLst>
                  <a:ext uri="{FF2B5EF4-FFF2-40B4-BE49-F238E27FC236}">
                    <a16:creationId xmlns:a16="http://schemas.microsoft.com/office/drawing/2014/main" id="{B84A41E6-23F9-A031-7C61-3523AC62E5D0}"/>
                  </a:ext>
                </a:extLst>
              </p:cNvPr>
              <p:cNvSpPr>
                <a:spLocks noChangeArrowheads="1"/>
              </p:cNvSpPr>
              <p:nvPr/>
            </p:nvSpPr>
            <p:spPr bwMode="auto">
              <a:xfrm>
                <a:off x="3266" y="355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0</a:t>
                </a:r>
              </a:p>
            </p:txBody>
          </p:sp>
          <p:sp>
            <p:nvSpPr>
              <p:cNvPr id="56336" name="Rectangle 54">
                <a:extLst>
                  <a:ext uri="{FF2B5EF4-FFF2-40B4-BE49-F238E27FC236}">
                    <a16:creationId xmlns:a16="http://schemas.microsoft.com/office/drawing/2014/main" id="{A172F792-6D71-7A7B-23FC-0BF88925A629}"/>
                  </a:ext>
                </a:extLst>
              </p:cNvPr>
              <p:cNvSpPr>
                <a:spLocks noChangeArrowheads="1"/>
              </p:cNvSpPr>
              <p:nvPr/>
            </p:nvSpPr>
            <p:spPr bwMode="auto">
              <a:xfrm>
                <a:off x="2989" y="2304"/>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37" name="Rectangle 55">
                <a:extLst>
                  <a:ext uri="{FF2B5EF4-FFF2-40B4-BE49-F238E27FC236}">
                    <a16:creationId xmlns:a16="http://schemas.microsoft.com/office/drawing/2014/main" id="{02D76D07-F663-08E2-5141-B9E915E0371E}"/>
                  </a:ext>
                </a:extLst>
              </p:cNvPr>
              <p:cNvSpPr>
                <a:spLocks noChangeArrowheads="1"/>
              </p:cNvSpPr>
              <p:nvPr/>
            </p:nvSpPr>
            <p:spPr bwMode="auto">
              <a:xfrm>
                <a:off x="3469" y="2304"/>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c</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56338" name="Freeform 56">
                <a:extLst>
                  <a:ext uri="{FF2B5EF4-FFF2-40B4-BE49-F238E27FC236}">
                    <a16:creationId xmlns:a16="http://schemas.microsoft.com/office/drawing/2014/main" id="{B42806B4-8B55-4B37-C197-97200E4723D3}"/>
                  </a:ext>
                </a:extLst>
              </p:cNvPr>
              <p:cNvSpPr>
                <a:spLocks noChangeArrowheads="1"/>
              </p:cNvSpPr>
              <p:nvPr/>
            </p:nvSpPr>
            <p:spPr bwMode="auto">
              <a:xfrm>
                <a:off x="3456" y="2466"/>
                <a:ext cx="1457" cy="1130"/>
              </a:xfrm>
              <a:custGeom>
                <a:avLst/>
                <a:gdLst>
                  <a:gd name="T0" fmla="*/ 0 w 1440"/>
                  <a:gd name="T1" fmla="*/ 838 h 1248"/>
                  <a:gd name="T2" fmla="*/ 756 w 1440"/>
                  <a:gd name="T3" fmla="*/ 613 h 1248"/>
                  <a:gd name="T4" fmla="*/ 1509 w 1440"/>
                  <a:gd name="T5" fmla="*/ 0 h 1248"/>
                  <a:gd name="T6" fmla="*/ 0 60000 65536"/>
                  <a:gd name="T7" fmla="*/ 0 60000 65536"/>
                  <a:gd name="T8" fmla="*/ 0 60000 65536"/>
                </a:gdLst>
                <a:ahLst/>
                <a:cxnLst>
                  <a:cxn ang="T6">
                    <a:pos x="T0" y="T1"/>
                  </a:cxn>
                  <a:cxn ang="T7">
                    <a:pos x="T2" y="T3"/>
                  </a:cxn>
                  <a:cxn ang="T8">
                    <a:pos x="T4" y="T5"/>
                  </a:cxn>
                </a:cxnLst>
                <a:rect l="0" t="0" r="r" b="b"/>
                <a:pathLst>
                  <a:path w="1440" h="1248">
                    <a:moveTo>
                      <a:pt x="0" y="1248"/>
                    </a:moveTo>
                    <a:cubicBezTo>
                      <a:pt x="240" y="1184"/>
                      <a:pt x="480" y="1120"/>
                      <a:pt x="720" y="912"/>
                    </a:cubicBezTo>
                    <a:cubicBezTo>
                      <a:pt x="960" y="704"/>
                      <a:pt x="1200" y="352"/>
                      <a:pt x="1440" y="0"/>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39" name="Freeform 57">
                <a:extLst>
                  <a:ext uri="{FF2B5EF4-FFF2-40B4-BE49-F238E27FC236}">
                    <a16:creationId xmlns:a16="http://schemas.microsoft.com/office/drawing/2014/main" id="{FE5FAD51-8F0D-A970-5FE9-2C0211D1E94E}"/>
                  </a:ext>
                </a:extLst>
              </p:cNvPr>
              <p:cNvSpPr>
                <a:spLocks noChangeArrowheads="1"/>
              </p:cNvSpPr>
              <p:nvPr/>
            </p:nvSpPr>
            <p:spPr bwMode="auto">
              <a:xfrm>
                <a:off x="3456" y="2587"/>
                <a:ext cx="1584" cy="1009"/>
              </a:xfrm>
              <a:custGeom>
                <a:avLst/>
                <a:gdLst>
                  <a:gd name="T0" fmla="*/ 0 w 1200"/>
                  <a:gd name="T1" fmla="*/ 600 h 1200"/>
                  <a:gd name="T2" fmla="*/ 1602 w 1200"/>
                  <a:gd name="T3" fmla="*/ 552 h 1200"/>
                  <a:gd name="T4" fmla="*/ 2331 w 1200"/>
                  <a:gd name="T5" fmla="*/ 384 h 1200"/>
                  <a:gd name="T6" fmla="*/ 2768 w 1200"/>
                  <a:gd name="T7" fmla="*/ 312 h 1200"/>
                  <a:gd name="T8" fmla="*/ 3061 w 1200"/>
                  <a:gd name="T9" fmla="*/ 215 h 1200"/>
                  <a:gd name="T10" fmla="*/ 3643 w 1200"/>
                  <a:gd name="T11" fmla="*/ 0 h 12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0" h="1200">
                    <a:moveTo>
                      <a:pt x="0" y="1200"/>
                    </a:moveTo>
                    <a:cubicBezTo>
                      <a:pt x="200" y="1188"/>
                      <a:pt x="400" y="1176"/>
                      <a:pt x="528" y="1104"/>
                    </a:cubicBezTo>
                    <a:cubicBezTo>
                      <a:pt x="656" y="1032"/>
                      <a:pt x="704" y="848"/>
                      <a:pt x="768" y="768"/>
                    </a:cubicBezTo>
                    <a:cubicBezTo>
                      <a:pt x="832" y="688"/>
                      <a:pt x="872" y="680"/>
                      <a:pt x="912" y="624"/>
                    </a:cubicBezTo>
                    <a:cubicBezTo>
                      <a:pt x="952" y="568"/>
                      <a:pt x="960" y="536"/>
                      <a:pt x="1008" y="432"/>
                    </a:cubicBezTo>
                    <a:cubicBezTo>
                      <a:pt x="1056" y="328"/>
                      <a:pt x="1128" y="164"/>
                      <a:pt x="1200" y="0"/>
                    </a:cubicBezTo>
                  </a:path>
                </a:pathLst>
              </a:custGeom>
              <a:noFill/>
              <a:ln w="222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6326" name="Rectangle 58">
              <a:extLst>
                <a:ext uri="{FF2B5EF4-FFF2-40B4-BE49-F238E27FC236}">
                  <a16:creationId xmlns:a16="http://schemas.microsoft.com/office/drawing/2014/main" id="{63478512-BC97-9515-3426-C223FBD6ABFA}"/>
                </a:ext>
              </a:extLst>
            </p:cNvPr>
            <p:cNvSpPr>
              <a:spLocks noChangeArrowheads="1"/>
            </p:cNvSpPr>
            <p:nvPr/>
          </p:nvSpPr>
          <p:spPr bwMode="auto">
            <a:xfrm>
              <a:off x="3164" y="3792"/>
              <a:ext cx="2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II</a:t>
              </a:r>
              <a:r>
                <a:rPr lang="zh-CN" altLang="en-US" sz="2400">
                  <a:latin typeface="Times New Roman" panose="02020603050405020304" pitchFamily="18" charset="0"/>
                </a:rPr>
                <a:t>型系统的单位加速度响应</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a:extLst>
              <a:ext uri="{FF2B5EF4-FFF2-40B4-BE49-F238E27FC236}">
                <a16:creationId xmlns:a16="http://schemas.microsoft.com/office/drawing/2014/main" id="{8A3F3BCB-2A5C-6C7A-695F-F7C6CD831120}"/>
              </a:ext>
            </a:extLst>
          </p:cNvPr>
          <p:cNvSpPr>
            <a:spLocks noChangeArrowheads="1"/>
          </p:cNvSpPr>
          <p:nvPr/>
        </p:nvSpPr>
        <p:spPr bwMode="auto">
          <a:xfrm>
            <a:off x="827088" y="2205038"/>
            <a:ext cx="71628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系统在多个信号共同作用下总的稳态偏差</a:t>
            </a:r>
          </a:p>
          <a:p>
            <a:pPr eaLnBrk="1" hangingPunct="1">
              <a:lnSpc>
                <a:spcPct val="115000"/>
              </a:lnSpc>
            </a:pPr>
            <a:r>
              <a:rPr lang="zh-CN" altLang="en-US" sz="2800">
                <a:latin typeface="宋体" panose="02010600030101010101" pitchFamily="2" charset="-122"/>
              </a:rPr>
              <a:t>  （误差）等于多个信号单独作用下的稳态</a:t>
            </a:r>
          </a:p>
          <a:p>
            <a:pPr eaLnBrk="1" hangingPunct="1">
              <a:lnSpc>
                <a:spcPct val="115000"/>
              </a:lnSpc>
            </a:pPr>
            <a:r>
              <a:rPr lang="zh-CN" altLang="en-US" sz="2800">
                <a:latin typeface="宋体" panose="02010600030101010101" pitchFamily="2" charset="-122"/>
              </a:rPr>
              <a:t>  偏差（误差）之和。 </a:t>
            </a:r>
          </a:p>
        </p:txBody>
      </p:sp>
      <p:grpSp>
        <p:nvGrpSpPr>
          <p:cNvPr id="2" name="Group 4">
            <a:extLst>
              <a:ext uri="{FF2B5EF4-FFF2-40B4-BE49-F238E27FC236}">
                <a16:creationId xmlns:a16="http://schemas.microsoft.com/office/drawing/2014/main" id="{BA12B614-D3F3-F8E2-B70F-E6C8B52522E2}"/>
              </a:ext>
            </a:extLst>
          </p:cNvPr>
          <p:cNvGrpSpPr>
            <a:grpSpLocks/>
          </p:cNvGrpSpPr>
          <p:nvPr/>
        </p:nvGrpSpPr>
        <p:grpSpPr bwMode="auto">
          <a:xfrm>
            <a:off x="1403350" y="3716338"/>
            <a:ext cx="3429000" cy="733425"/>
            <a:chOff x="1104" y="2946"/>
            <a:chExt cx="2160" cy="462"/>
          </a:xfrm>
        </p:grpSpPr>
        <p:graphicFrame>
          <p:nvGraphicFramePr>
            <p:cNvPr id="58377" name="Object 5">
              <a:extLst>
                <a:ext uri="{FF2B5EF4-FFF2-40B4-BE49-F238E27FC236}">
                  <a16:creationId xmlns:a16="http://schemas.microsoft.com/office/drawing/2014/main" id="{06BF0263-0D41-64B9-6133-68FCB78874CE}"/>
                </a:ext>
              </a:extLst>
            </p:cNvPr>
            <p:cNvGraphicFramePr>
              <a:graphicFrameLocks noChangeAspect="1"/>
            </p:cNvGraphicFramePr>
            <p:nvPr/>
          </p:nvGraphicFramePr>
          <p:xfrm>
            <a:off x="1680" y="2946"/>
            <a:ext cx="1584" cy="462"/>
          </p:xfrm>
          <a:graphic>
            <a:graphicData uri="http://schemas.openxmlformats.org/presentationml/2006/ole">
              <mc:AlternateContent xmlns:mc="http://schemas.openxmlformats.org/markup-compatibility/2006">
                <mc:Choice xmlns:v="urn:schemas-microsoft-com:vml" Requires="v">
                  <p:oleObj r:id="rId3" imgW="1536033" imgH="444307" progId="Equation.3">
                    <p:embed/>
                  </p:oleObj>
                </mc:Choice>
                <mc:Fallback>
                  <p:oleObj r:id="rId3" imgW="1536033" imgH="44430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2946"/>
                          <a:ext cx="1584"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8" name="Rectangle 6">
              <a:extLst>
                <a:ext uri="{FF2B5EF4-FFF2-40B4-BE49-F238E27FC236}">
                  <a16:creationId xmlns:a16="http://schemas.microsoft.com/office/drawing/2014/main" id="{2156D2FB-C65C-6781-3131-8DC473F2146F}"/>
                </a:ext>
              </a:extLst>
            </p:cNvPr>
            <p:cNvSpPr>
              <a:spLocks noChangeArrowheads="1"/>
            </p:cNvSpPr>
            <p:nvPr/>
          </p:nvSpPr>
          <p:spPr bwMode="auto">
            <a:xfrm>
              <a:off x="1104" y="2994"/>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如：</a:t>
              </a:r>
            </a:p>
          </p:txBody>
        </p:sp>
      </p:grpSp>
      <p:grpSp>
        <p:nvGrpSpPr>
          <p:cNvPr id="3" name="Group 7">
            <a:extLst>
              <a:ext uri="{FF2B5EF4-FFF2-40B4-BE49-F238E27FC236}">
                <a16:creationId xmlns:a16="http://schemas.microsoft.com/office/drawing/2014/main" id="{5D99E503-9DCA-0DF4-3BF9-17EAE8B43AE2}"/>
              </a:ext>
            </a:extLst>
          </p:cNvPr>
          <p:cNvGrpSpPr>
            <a:grpSpLocks/>
          </p:cNvGrpSpPr>
          <p:nvPr/>
        </p:nvGrpSpPr>
        <p:grpSpPr bwMode="auto">
          <a:xfrm>
            <a:off x="1403350" y="4365625"/>
            <a:ext cx="5410200" cy="814388"/>
            <a:chOff x="1104" y="3423"/>
            <a:chExt cx="3408" cy="513"/>
          </a:xfrm>
        </p:grpSpPr>
        <p:graphicFrame>
          <p:nvGraphicFramePr>
            <p:cNvPr id="58375" name="Object 8">
              <a:extLst>
                <a:ext uri="{FF2B5EF4-FFF2-40B4-BE49-F238E27FC236}">
                  <a16:creationId xmlns:a16="http://schemas.microsoft.com/office/drawing/2014/main" id="{367D9319-C10D-165D-3FC0-4B7FC0C84124}"/>
                </a:ext>
              </a:extLst>
            </p:cNvPr>
            <p:cNvGraphicFramePr>
              <a:graphicFrameLocks noChangeAspect="1"/>
            </p:cNvGraphicFramePr>
            <p:nvPr/>
          </p:nvGraphicFramePr>
          <p:xfrm>
            <a:off x="2832" y="3423"/>
            <a:ext cx="1680" cy="513"/>
          </p:xfrm>
          <a:graphic>
            <a:graphicData uri="http://schemas.openxmlformats.org/presentationml/2006/ole">
              <mc:AlternateContent xmlns:mc="http://schemas.openxmlformats.org/markup-compatibility/2006">
                <mc:Choice xmlns:v="urn:schemas-microsoft-com:vml" Requires="v">
                  <p:oleObj r:id="rId5" imgW="1714500" imgH="520700" progId="Equation.3">
                    <p:embed/>
                  </p:oleObj>
                </mc:Choice>
                <mc:Fallback>
                  <p:oleObj r:id="rId5" imgW="1714500" imgH="5207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3423"/>
                          <a:ext cx="1680"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6" name="Rectangle 9">
              <a:extLst>
                <a:ext uri="{FF2B5EF4-FFF2-40B4-BE49-F238E27FC236}">
                  <a16:creationId xmlns:a16="http://schemas.microsoft.com/office/drawing/2014/main" id="{17336947-A774-0C53-50AF-5BB1FEE274ED}"/>
                </a:ext>
              </a:extLst>
            </p:cNvPr>
            <p:cNvSpPr>
              <a:spLocks noChangeArrowheads="1"/>
            </p:cNvSpPr>
            <p:nvPr/>
          </p:nvSpPr>
          <p:spPr bwMode="auto">
            <a:xfrm>
              <a:off x="1104" y="3471"/>
              <a:ext cx="16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总的稳态偏差：</a:t>
              </a:r>
            </a:p>
          </p:txBody>
        </p:sp>
      </p:grpSp>
      <p:sp>
        <p:nvSpPr>
          <p:cNvPr id="58373" name="Rectangle 10">
            <a:extLst>
              <a:ext uri="{FF2B5EF4-FFF2-40B4-BE49-F238E27FC236}">
                <a16:creationId xmlns:a16="http://schemas.microsoft.com/office/drawing/2014/main" id="{85487E68-FE06-2C40-127B-E1D05F15AF67}"/>
              </a:ext>
            </a:extLst>
          </p:cNvPr>
          <p:cNvSpPr>
            <a:spLocks noChangeArrowheads="1"/>
          </p:cNvSpPr>
          <p:nvPr/>
        </p:nvSpPr>
        <p:spPr bwMode="auto">
          <a:xfrm>
            <a:off x="900113" y="981075"/>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如果输入量非单位量时，其稳态偏差（误</a:t>
            </a:r>
          </a:p>
          <a:p>
            <a:pPr eaLnBrk="1" hangingPunct="1">
              <a:lnSpc>
                <a:spcPct val="115000"/>
              </a:lnSpc>
            </a:pPr>
            <a:r>
              <a:rPr lang="zh-CN" altLang="en-US" sz="2800">
                <a:latin typeface="宋体" panose="02010600030101010101" pitchFamily="2" charset="-122"/>
              </a:rPr>
              <a:t>  差）按比例增加。</a:t>
            </a:r>
            <a:r>
              <a:rPr lang="zh-CN" altLang="en-US" sz="2800">
                <a:latin typeface="Times New Roman" panose="02020603050405020304" pitchFamily="18" charset="0"/>
              </a:rPr>
              <a:t> </a:t>
            </a:r>
          </a:p>
        </p:txBody>
      </p:sp>
      <p:sp>
        <p:nvSpPr>
          <p:cNvPr id="91147" name="Rectangle 11">
            <a:extLst>
              <a:ext uri="{FF2B5EF4-FFF2-40B4-BE49-F238E27FC236}">
                <a16:creationId xmlns:a16="http://schemas.microsoft.com/office/drawing/2014/main" id="{24044586-2D23-D1ED-F486-CDFBB554C0D5}"/>
              </a:ext>
            </a:extLst>
          </p:cNvPr>
          <p:cNvSpPr>
            <a:spLocks noChangeArrowheads="1"/>
          </p:cNvSpPr>
          <p:nvPr/>
        </p:nvSpPr>
        <p:spPr bwMode="auto">
          <a:xfrm>
            <a:off x="900113" y="5229225"/>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稳态误差系数只对相应的阶跃、速度及加</a:t>
            </a:r>
          </a:p>
          <a:p>
            <a:pPr eaLnBrk="1" hangingPunct="1">
              <a:lnSpc>
                <a:spcPct val="115000"/>
              </a:lnSpc>
            </a:pPr>
            <a:r>
              <a:rPr lang="zh-CN" altLang="en-US" sz="2800">
                <a:latin typeface="宋体" panose="02010600030101010101" pitchFamily="2" charset="-122"/>
              </a:rPr>
              <a:t>  速度输入有意义。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1139"/>
                                        </p:tgtEl>
                                        <p:attrNameLst>
                                          <p:attrName>style.visibility</p:attrName>
                                        </p:attrNameLst>
                                      </p:cBhvr>
                                      <p:to>
                                        <p:strVal val="visible"/>
                                      </p:to>
                                    </p:set>
                                    <p:anim calcmode="lin" valueType="num">
                                      <p:cBhvr additive="base">
                                        <p:cTn id="7" dur="500" fill="hold"/>
                                        <p:tgtEl>
                                          <p:spTgt spid="91139"/>
                                        </p:tgtEl>
                                        <p:attrNameLst>
                                          <p:attrName>ppt_x</p:attrName>
                                        </p:attrNameLst>
                                      </p:cBhvr>
                                      <p:tavLst>
                                        <p:tav tm="0">
                                          <p:val>
                                            <p:strVal val="#ppt_x"/>
                                          </p:val>
                                        </p:tav>
                                        <p:tav tm="100000">
                                          <p:val>
                                            <p:strVal val="#ppt_x"/>
                                          </p:val>
                                        </p:tav>
                                      </p:tavLst>
                                    </p:anim>
                                    <p:anim calcmode="lin" valueType="num">
                                      <p:cBhvr additive="base">
                                        <p:cTn id="8" dur="500" fill="hold"/>
                                        <p:tgtEl>
                                          <p:spTgt spid="911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91147"/>
                                        </p:tgtEl>
                                        <p:attrNameLst>
                                          <p:attrName>style.visibility</p:attrName>
                                        </p:attrNameLst>
                                      </p:cBhvr>
                                      <p:to>
                                        <p:strVal val="visible"/>
                                      </p:to>
                                    </p:set>
                                    <p:animEffect transition="in" filter="blinds(horizontal)">
                                      <p:cBhvr>
                                        <p:cTn id="25" dur="500"/>
                                        <p:tgtEl>
                                          <p:spTgt spid="9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P spid="911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5F89A9F-0037-11BB-C7CD-97B7C1EF1559}"/>
              </a:ext>
            </a:extLst>
          </p:cNvPr>
          <p:cNvSpPr>
            <a:spLocks noChangeArrowheads="1"/>
          </p:cNvSpPr>
          <p:nvPr/>
        </p:nvSpPr>
        <p:spPr bwMode="auto">
          <a:xfrm>
            <a:off x="684213" y="1844675"/>
            <a:ext cx="7488237"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宋体" panose="02010600030101010101" pitchFamily="2" charset="-122"/>
              </a:rPr>
              <a:t> </a:t>
            </a:r>
            <a:r>
              <a:rPr lang="zh-CN" altLang="en-US" sz="2800">
                <a:latin typeface="宋体" panose="02010600030101010101" pitchFamily="2" charset="-122"/>
              </a:rPr>
              <a:t>减小和消除稳态误差的方法：提高系统开环增益；增加系统开环传递函数中积分环节的个数；通过顺馈控制或复合控制进行补偿；</a:t>
            </a:r>
            <a:endParaRPr lang="zh-CN" altLang="en-US" sz="2800">
              <a:latin typeface="Times New Roman" panose="02020603050405020304" pitchFamily="18" charset="0"/>
            </a:endParaRPr>
          </a:p>
        </p:txBody>
      </p:sp>
      <p:pic>
        <p:nvPicPr>
          <p:cNvPr id="54275" name="Picture 3">
            <a:extLst>
              <a:ext uri="{FF2B5EF4-FFF2-40B4-BE49-F238E27FC236}">
                <a16:creationId xmlns:a16="http://schemas.microsoft.com/office/drawing/2014/main" id="{0D47A236-F1E8-40AD-F1DE-539DAEE90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3644900"/>
            <a:ext cx="5853112"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4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a:extLst>
              <a:ext uri="{FF2B5EF4-FFF2-40B4-BE49-F238E27FC236}">
                <a16:creationId xmlns:a16="http://schemas.microsoft.com/office/drawing/2014/main" id="{E5336FFA-D07C-AD5E-34A2-92693E11F801}"/>
              </a:ext>
            </a:extLst>
          </p:cNvPr>
          <p:cNvSpPr>
            <a:spLocks noChangeArrowheads="1"/>
          </p:cNvSpPr>
          <p:nvPr/>
        </p:nvSpPr>
        <p:spPr bwMode="auto">
          <a:xfrm>
            <a:off x="663575" y="90805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宋体" panose="02010600030101010101" pitchFamily="2" charset="-122"/>
              </a:rPr>
              <a:t>  </a:t>
            </a:r>
            <a:r>
              <a:rPr lang="zh-CN" altLang="en-US" sz="2800">
                <a:latin typeface="宋体" panose="02010600030101010101" pitchFamily="2" charset="-122"/>
              </a:rPr>
              <a:t>扰动引起的稳态误差和系统总误差</a:t>
            </a:r>
            <a:r>
              <a:rPr lang="zh-CN" altLang="en-US" sz="2800">
                <a:latin typeface="Times New Roman" panose="02020603050405020304" pitchFamily="18" charset="0"/>
              </a:rPr>
              <a:t> </a:t>
            </a:r>
          </a:p>
        </p:txBody>
      </p:sp>
      <p:grpSp>
        <p:nvGrpSpPr>
          <p:cNvPr id="2" name="Group 5">
            <a:extLst>
              <a:ext uri="{FF2B5EF4-FFF2-40B4-BE49-F238E27FC236}">
                <a16:creationId xmlns:a16="http://schemas.microsoft.com/office/drawing/2014/main" id="{89260A18-E440-634F-6462-9C0796E1A938}"/>
              </a:ext>
            </a:extLst>
          </p:cNvPr>
          <p:cNvGrpSpPr>
            <a:grpSpLocks/>
          </p:cNvGrpSpPr>
          <p:nvPr/>
        </p:nvGrpSpPr>
        <p:grpSpPr bwMode="auto">
          <a:xfrm>
            <a:off x="971550" y="2997200"/>
            <a:ext cx="7010400" cy="2173288"/>
            <a:chOff x="864" y="2663"/>
            <a:chExt cx="4416" cy="1369"/>
          </a:xfrm>
        </p:grpSpPr>
        <p:sp>
          <p:nvSpPr>
            <p:cNvPr id="61444" name="Rectangle 6">
              <a:extLst>
                <a:ext uri="{FF2B5EF4-FFF2-40B4-BE49-F238E27FC236}">
                  <a16:creationId xmlns:a16="http://schemas.microsoft.com/office/drawing/2014/main" id="{70483039-2805-BDE8-3828-52C2BA8E8D4B}"/>
                </a:ext>
              </a:extLst>
            </p:cNvPr>
            <p:cNvSpPr>
              <a:spLocks noChangeArrowheads="1"/>
            </p:cNvSpPr>
            <p:nvPr/>
          </p:nvSpPr>
          <p:spPr bwMode="auto">
            <a:xfrm>
              <a:off x="2038"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61445" name="Rectangle 7">
              <a:extLst>
                <a:ext uri="{FF2B5EF4-FFF2-40B4-BE49-F238E27FC236}">
                  <a16:creationId xmlns:a16="http://schemas.microsoft.com/office/drawing/2014/main" id="{6875328E-EE87-6EDC-A722-014CFE4D0843}"/>
                </a:ext>
              </a:extLst>
            </p:cNvPr>
            <p:cNvSpPr>
              <a:spLocks noChangeArrowheads="1"/>
            </p:cNvSpPr>
            <p:nvPr/>
          </p:nvSpPr>
          <p:spPr bwMode="auto">
            <a:xfrm>
              <a:off x="2786" y="3702"/>
              <a:ext cx="623"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61446" name="Line 8">
              <a:extLst>
                <a:ext uri="{FF2B5EF4-FFF2-40B4-BE49-F238E27FC236}">
                  <a16:creationId xmlns:a16="http://schemas.microsoft.com/office/drawing/2014/main" id="{188BBFB8-5999-2AE7-FBCA-5A2697CAC652}"/>
                </a:ext>
              </a:extLst>
            </p:cNvPr>
            <p:cNvSpPr>
              <a:spLocks noChangeShapeType="1"/>
            </p:cNvSpPr>
            <p:nvPr/>
          </p:nvSpPr>
          <p:spPr bwMode="auto">
            <a:xfrm>
              <a:off x="1543"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47" name="Line 9">
              <a:extLst>
                <a:ext uri="{FF2B5EF4-FFF2-40B4-BE49-F238E27FC236}">
                  <a16:creationId xmlns:a16="http://schemas.microsoft.com/office/drawing/2014/main" id="{F7072ABE-1487-95A1-A7A7-1F2FD1120F16}"/>
                </a:ext>
              </a:extLst>
            </p:cNvPr>
            <p:cNvSpPr>
              <a:spLocks noChangeShapeType="1"/>
            </p:cNvSpPr>
            <p:nvPr/>
          </p:nvSpPr>
          <p:spPr bwMode="auto">
            <a:xfrm>
              <a:off x="4408" y="3255"/>
              <a:ext cx="87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48" name="Line 10">
              <a:extLst>
                <a:ext uri="{FF2B5EF4-FFF2-40B4-BE49-F238E27FC236}">
                  <a16:creationId xmlns:a16="http://schemas.microsoft.com/office/drawing/2014/main" id="{8FA53D49-2764-5997-31ED-57735754100B}"/>
                </a:ext>
              </a:extLst>
            </p:cNvPr>
            <p:cNvSpPr>
              <a:spLocks noChangeShapeType="1"/>
            </p:cNvSpPr>
            <p:nvPr/>
          </p:nvSpPr>
          <p:spPr bwMode="auto">
            <a:xfrm>
              <a:off x="4948" y="3255"/>
              <a:ext cx="0" cy="6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9" name="Line 11">
              <a:extLst>
                <a:ext uri="{FF2B5EF4-FFF2-40B4-BE49-F238E27FC236}">
                  <a16:creationId xmlns:a16="http://schemas.microsoft.com/office/drawing/2014/main" id="{41F46E86-F5D6-1913-893B-07CD01D93928}"/>
                </a:ext>
              </a:extLst>
            </p:cNvPr>
            <p:cNvSpPr>
              <a:spLocks noChangeShapeType="1"/>
            </p:cNvSpPr>
            <p:nvPr/>
          </p:nvSpPr>
          <p:spPr bwMode="auto">
            <a:xfrm flipH="1">
              <a:off x="3412" y="3857"/>
              <a:ext cx="15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0" name="Line 12">
              <a:extLst>
                <a:ext uri="{FF2B5EF4-FFF2-40B4-BE49-F238E27FC236}">
                  <a16:creationId xmlns:a16="http://schemas.microsoft.com/office/drawing/2014/main" id="{1984EC48-0491-BF9C-E77F-1782A74CEEAF}"/>
                </a:ext>
              </a:extLst>
            </p:cNvPr>
            <p:cNvSpPr>
              <a:spLocks noChangeShapeType="1"/>
            </p:cNvSpPr>
            <p:nvPr/>
          </p:nvSpPr>
          <p:spPr bwMode="auto">
            <a:xfrm flipH="1">
              <a:off x="1461" y="3857"/>
              <a:ext cx="132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1" name="Line 13">
              <a:extLst>
                <a:ext uri="{FF2B5EF4-FFF2-40B4-BE49-F238E27FC236}">
                  <a16:creationId xmlns:a16="http://schemas.microsoft.com/office/drawing/2014/main" id="{BC36611F-C606-6DCC-2680-3565F6DBFE42}"/>
                </a:ext>
              </a:extLst>
            </p:cNvPr>
            <p:cNvSpPr>
              <a:spLocks noChangeShapeType="1"/>
            </p:cNvSpPr>
            <p:nvPr/>
          </p:nvSpPr>
          <p:spPr bwMode="auto">
            <a:xfrm flipV="1">
              <a:off x="1461" y="3319"/>
              <a:ext cx="0" cy="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2" name="Text Box 14">
              <a:extLst>
                <a:ext uri="{FF2B5EF4-FFF2-40B4-BE49-F238E27FC236}">
                  <a16:creationId xmlns:a16="http://schemas.microsoft.com/office/drawing/2014/main" id="{9F6D04CD-EA6B-EDCE-50F9-191F413B1759}"/>
                </a:ext>
              </a:extLst>
            </p:cNvPr>
            <p:cNvSpPr txBox="1">
              <a:spLocks noChangeArrowheads="1"/>
            </p:cNvSpPr>
            <p:nvPr/>
          </p:nvSpPr>
          <p:spPr bwMode="auto">
            <a:xfrm>
              <a:off x="1305" y="3056"/>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61453" name="Line 15">
              <a:extLst>
                <a:ext uri="{FF2B5EF4-FFF2-40B4-BE49-F238E27FC236}">
                  <a16:creationId xmlns:a16="http://schemas.microsoft.com/office/drawing/2014/main" id="{571AC58C-4A74-67F2-4F02-CF2819569F4D}"/>
                </a:ext>
              </a:extLst>
            </p:cNvPr>
            <p:cNvSpPr>
              <a:spLocks noChangeShapeType="1"/>
            </p:cNvSpPr>
            <p:nvPr/>
          </p:nvSpPr>
          <p:spPr bwMode="auto">
            <a:xfrm>
              <a:off x="920"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4" name="Text Box 16">
              <a:extLst>
                <a:ext uri="{FF2B5EF4-FFF2-40B4-BE49-F238E27FC236}">
                  <a16:creationId xmlns:a16="http://schemas.microsoft.com/office/drawing/2014/main" id="{CB47638B-441C-76AD-AAD1-974B344DDF6A}"/>
                </a:ext>
              </a:extLst>
            </p:cNvPr>
            <p:cNvSpPr txBox="1">
              <a:spLocks noChangeArrowheads="1"/>
            </p:cNvSpPr>
            <p:nvPr/>
          </p:nvSpPr>
          <p:spPr bwMode="auto">
            <a:xfrm>
              <a:off x="864" y="2928"/>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61455" name="Text Box 17">
              <a:extLst>
                <a:ext uri="{FF2B5EF4-FFF2-40B4-BE49-F238E27FC236}">
                  <a16:creationId xmlns:a16="http://schemas.microsoft.com/office/drawing/2014/main" id="{3339871D-55D8-A98E-DB78-616E03811938}"/>
                </a:ext>
              </a:extLst>
            </p:cNvPr>
            <p:cNvSpPr txBox="1">
              <a:spLocks noChangeArrowheads="1"/>
            </p:cNvSpPr>
            <p:nvPr/>
          </p:nvSpPr>
          <p:spPr bwMode="auto">
            <a:xfrm>
              <a:off x="4694" y="2945"/>
              <a:ext cx="4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61456" name="Text Box 18">
              <a:extLst>
                <a:ext uri="{FF2B5EF4-FFF2-40B4-BE49-F238E27FC236}">
                  <a16:creationId xmlns:a16="http://schemas.microsoft.com/office/drawing/2014/main" id="{9B274FBE-ECA0-AA8C-0438-0E689C160BDA}"/>
                </a:ext>
              </a:extLst>
            </p:cNvPr>
            <p:cNvSpPr txBox="1">
              <a:spLocks noChangeArrowheads="1"/>
            </p:cNvSpPr>
            <p:nvPr/>
          </p:nvSpPr>
          <p:spPr bwMode="auto">
            <a:xfrm>
              <a:off x="1052" y="3382"/>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61457" name="Text Box 19">
              <a:extLst>
                <a:ext uri="{FF2B5EF4-FFF2-40B4-BE49-F238E27FC236}">
                  <a16:creationId xmlns:a16="http://schemas.microsoft.com/office/drawing/2014/main" id="{599D49F0-5F35-F0F0-ED6F-8A8DCC9CE4FA}"/>
                </a:ext>
              </a:extLst>
            </p:cNvPr>
            <p:cNvSpPr txBox="1">
              <a:spLocks noChangeArrowheads="1"/>
            </p:cNvSpPr>
            <p:nvPr/>
          </p:nvSpPr>
          <p:spPr bwMode="auto">
            <a:xfrm>
              <a:off x="1492" y="2941"/>
              <a:ext cx="4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61458" name="Line 20">
              <a:extLst>
                <a:ext uri="{FF2B5EF4-FFF2-40B4-BE49-F238E27FC236}">
                  <a16:creationId xmlns:a16="http://schemas.microsoft.com/office/drawing/2014/main" id="{DBE9CBA5-A397-0DC3-3BB5-1969B584BFB6}"/>
                </a:ext>
              </a:extLst>
            </p:cNvPr>
            <p:cNvSpPr>
              <a:spLocks noChangeShapeType="1"/>
            </p:cNvSpPr>
            <p:nvPr/>
          </p:nvSpPr>
          <p:spPr bwMode="auto">
            <a:xfrm>
              <a:off x="1502" y="3471"/>
              <a:ext cx="8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9" name="Rectangle 21">
              <a:extLst>
                <a:ext uri="{FF2B5EF4-FFF2-40B4-BE49-F238E27FC236}">
                  <a16:creationId xmlns:a16="http://schemas.microsoft.com/office/drawing/2014/main" id="{0E3DA633-B1E9-DEF4-AF67-BBA1400CD135}"/>
                </a:ext>
              </a:extLst>
            </p:cNvPr>
            <p:cNvSpPr>
              <a:spLocks noChangeArrowheads="1"/>
            </p:cNvSpPr>
            <p:nvPr/>
          </p:nvSpPr>
          <p:spPr bwMode="auto">
            <a:xfrm>
              <a:off x="3782"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61460" name="Line 22">
              <a:extLst>
                <a:ext uri="{FF2B5EF4-FFF2-40B4-BE49-F238E27FC236}">
                  <a16:creationId xmlns:a16="http://schemas.microsoft.com/office/drawing/2014/main" id="{4EDA4081-B093-2A45-B83E-D14C55979610}"/>
                </a:ext>
              </a:extLst>
            </p:cNvPr>
            <p:cNvSpPr>
              <a:spLocks noChangeShapeType="1"/>
            </p:cNvSpPr>
            <p:nvPr/>
          </p:nvSpPr>
          <p:spPr bwMode="auto">
            <a:xfrm>
              <a:off x="3287"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1" name="Text Box 23">
              <a:extLst>
                <a:ext uri="{FF2B5EF4-FFF2-40B4-BE49-F238E27FC236}">
                  <a16:creationId xmlns:a16="http://schemas.microsoft.com/office/drawing/2014/main" id="{5851474F-1EFF-07E9-E179-C9B79B081832}"/>
                </a:ext>
              </a:extLst>
            </p:cNvPr>
            <p:cNvSpPr txBox="1">
              <a:spLocks noChangeArrowheads="1"/>
            </p:cNvSpPr>
            <p:nvPr/>
          </p:nvSpPr>
          <p:spPr bwMode="auto">
            <a:xfrm>
              <a:off x="3040" y="3062"/>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61462" name="Line 24">
              <a:extLst>
                <a:ext uri="{FF2B5EF4-FFF2-40B4-BE49-F238E27FC236}">
                  <a16:creationId xmlns:a16="http://schemas.microsoft.com/office/drawing/2014/main" id="{C7C61C04-9C8F-08EE-A3DF-F81C46361087}"/>
                </a:ext>
              </a:extLst>
            </p:cNvPr>
            <p:cNvSpPr>
              <a:spLocks noChangeShapeType="1"/>
            </p:cNvSpPr>
            <p:nvPr/>
          </p:nvSpPr>
          <p:spPr bwMode="auto">
            <a:xfrm>
              <a:off x="2664"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3" name="Line 25">
              <a:extLst>
                <a:ext uri="{FF2B5EF4-FFF2-40B4-BE49-F238E27FC236}">
                  <a16:creationId xmlns:a16="http://schemas.microsoft.com/office/drawing/2014/main" id="{228B69AD-CBA1-14D3-2C3D-E65CA2B79769}"/>
                </a:ext>
              </a:extLst>
            </p:cNvPr>
            <p:cNvSpPr>
              <a:spLocks noChangeShapeType="1"/>
            </p:cNvSpPr>
            <p:nvPr/>
          </p:nvSpPr>
          <p:spPr bwMode="auto">
            <a:xfrm>
              <a:off x="3204" y="2663"/>
              <a:ext cx="0" cy="50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4" name="Text Box 26">
              <a:extLst>
                <a:ext uri="{FF2B5EF4-FFF2-40B4-BE49-F238E27FC236}">
                  <a16:creationId xmlns:a16="http://schemas.microsoft.com/office/drawing/2014/main" id="{36406AAF-9FEF-25B8-34F0-C245C50D1D34}"/>
                </a:ext>
              </a:extLst>
            </p:cNvPr>
            <p:cNvSpPr txBox="1">
              <a:spLocks noChangeArrowheads="1"/>
            </p:cNvSpPr>
            <p:nvPr/>
          </p:nvSpPr>
          <p:spPr bwMode="auto">
            <a:xfrm>
              <a:off x="3195" y="2688"/>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N</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61465" name="Text Box 27">
              <a:extLst>
                <a:ext uri="{FF2B5EF4-FFF2-40B4-BE49-F238E27FC236}">
                  <a16:creationId xmlns:a16="http://schemas.microsoft.com/office/drawing/2014/main" id="{CA701DFF-B684-D3D5-FB34-9CF51469DC5C}"/>
                </a:ext>
              </a:extLst>
            </p:cNvPr>
            <p:cNvSpPr txBox="1">
              <a:spLocks noChangeArrowheads="1"/>
            </p:cNvSpPr>
            <p:nvPr/>
          </p:nvSpPr>
          <p:spPr bwMode="auto">
            <a:xfrm>
              <a:off x="3011" y="298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61466" name="Text Box 28">
              <a:extLst>
                <a:ext uri="{FF2B5EF4-FFF2-40B4-BE49-F238E27FC236}">
                  <a16:creationId xmlns:a16="http://schemas.microsoft.com/office/drawing/2014/main" id="{E70B78F1-6F56-FF81-3A91-37403B4F5DB9}"/>
                </a:ext>
              </a:extLst>
            </p:cNvPr>
            <p:cNvSpPr txBox="1">
              <a:spLocks noChangeArrowheads="1"/>
            </p:cNvSpPr>
            <p:nvPr/>
          </p:nvSpPr>
          <p:spPr bwMode="auto">
            <a:xfrm>
              <a:off x="2872" y="3209"/>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61467" name="Oval 29">
              <a:extLst>
                <a:ext uri="{FF2B5EF4-FFF2-40B4-BE49-F238E27FC236}">
                  <a16:creationId xmlns:a16="http://schemas.microsoft.com/office/drawing/2014/main" id="{2A60EFCE-3E22-8B05-4F17-4061789D1E70}"/>
                </a:ext>
              </a:extLst>
            </p:cNvPr>
            <p:cNvSpPr>
              <a:spLocks noChangeArrowheads="1"/>
            </p:cNvSpPr>
            <p:nvPr/>
          </p:nvSpPr>
          <p:spPr bwMode="auto">
            <a:xfrm>
              <a:off x="4920" y="323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anim calcmode="lin" valueType="num">
                                      <p:cBhvr additive="base">
                                        <p:cTn id="7" dur="500" fill="hold"/>
                                        <p:tgtEl>
                                          <p:spTgt spid="90116"/>
                                        </p:tgtEl>
                                        <p:attrNameLst>
                                          <p:attrName>ppt_x</p:attrName>
                                        </p:attrNameLst>
                                      </p:cBhvr>
                                      <p:tavLst>
                                        <p:tav tm="0">
                                          <p:val>
                                            <p:strVal val="#ppt_x"/>
                                          </p:val>
                                        </p:tav>
                                        <p:tav tm="100000">
                                          <p:val>
                                            <p:strVal val="#ppt_x"/>
                                          </p:val>
                                        </p:tav>
                                      </p:tavLst>
                                    </p:anim>
                                    <p:anim calcmode="lin" valueType="num">
                                      <p:cBhvr additive="base">
                                        <p:cTn id="8" dur="500" fill="hold"/>
                                        <p:tgtEl>
                                          <p:spTgt spid="901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1" name="Object 3">
            <a:extLst>
              <a:ext uri="{FF2B5EF4-FFF2-40B4-BE49-F238E27FC236}">
                <a16:creationId xmlns:a16="http://schemas.microsoft.com/office/drawing/2014/main" id="{6CC8F0A7-4467-05AE-EE88-9CE943B20886}"/>
              </a:ext>
            </a:extLst>
          </p:cNvPr>
          <p:cNvGraphicFramePr>
            <a:graphicFrameLocks noChangeAspect="1"/>
          </p:cNvGraphicFramePr>
          <p:nvPr/>
        </p:nvGraphicFramePr>
        <p:xfrm>
          <a:off x="2054225" y="4833938"/>
          <a:ext cx="5727700" cy="804862"/>
        </p:xfrm>
        <a:graphic>
          <a:graphicData uri="http://schemas.openxmlformats.org/presentationml/2006/ole">
            <mc:AlternateContent xmlns:mc="http://schemas.openxmlformats.org/markup-compatibility/2006">
              <mc:Choice xmlns:v="urn:schemas-microsoft-com:vml" Requires="v">
                <p:oleObj r:id="rId3" imgW="3086100" imgH="431800" progId="Equation.3">
                  <p:embed/>
                </p:oleObj>
              </mc:Choice>
              <mc:Fallback>
                <p:oleObj r:id="rId3" imgW="30861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4225" y="4833938"/>
                        <a:ext cx="5727700"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9092" name="Rectangle 4">
            <a:extLst>
              <a:ext uri="{FF2B5EF4-FFF2-40B4-BE49-F238E27FC236}">
                <a16:creationId xmlns:a16="http://schemas.microsoft.com/office/drawing/2014/main" id="{49D4D00F-FBDB-3F0B-9D4E-A0D52716CA45}"/>
              </a:ext>
            </a:extLst>
          </p:cNvPr>
          <p:cNvSpPr>
            <a:spLocks noChangeArrowheads="1"/>
          </p:cNvSpPr>
          <p:nvPr/>
        </p:nvSpPr>
        <p:spPr bwMode="auto">
          <a:xfrm>
            <a:off x="1746250" y="4114800"/>
            <a:ext cx="4806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所以，扰动引起的稳态偏差：</a:t>
            </a:r>
          </a:p>
        </p:txBody>
      </p:sp>
      <p:graphicFrame>
        <p:nvGraphicFramePr>
          <p:cNvPr id="89093" name="Object 5">
            <a:extLst>
              <a:ext uri="{FF2B5EF4-FFF2-40B4-BE49-F238E27FC236}">
                <a16:creationId xmlns:a16="http://schemas.microsoft.com/office/drawing/2014/main" id="{E3DC2355-E908-AB02-0616-D44EB7459EC7}"/>
              </a:ext>
            </a:extLst>
          </p:cNvPr>
          <p:cNvGraphicFramePr>
            <a:graphicFrameLocks noChangeAspect="1"/>
          </p:cNvGraphicFramePr>
          <p:nvPr/>
        </p:nvGraphicFramePr>
        <p:xfrm>
          <a:off x="2119313" y="2362200"/>
          <a:ext cx="4471987" cy="839788"/>
        </p:xfrm>
        <a:graphic>
          <a:graphicData uri="http://schemas.openxmlformats.org/presentationml/2006/ole">
            <mc:AlternateContent xmlns:mc="http://schemas.openxmlformats.org/markup-compatibility/2006">
              <mc:Choice xmlns:v="urn:schemas-microsoft-com:vml" Requires="v">
                <p:oleObj r:id="rId5" imgW="2298700" imgH="431800" progId="Equation.3">
                  <p:embed/>
                </p:oleObj>
              </mc:Choice>
              <mc:Fallback>
                <p:oleObj r:id="rId5" imgW="2298700"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313" y="2362200"/>
                        <a:ext cx="4471987"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3" name="Rectangle 6">
            <a:extLst>
              <a:ext uri="{FF2B5EF4-FFF2-40B4-BE49-F238E27FC236}">
                <a16:creationId xmlns:a16="http://schemas.microsoft.com/office/drawing/2014/main" id="{B9EDACCA-88C9-A55A-B1B1-0EC9C24C12D1}"/>
              </a:ext>
            </a:extLst>
          </p:cNvPr>
          <p:cNvSpPr>
            <a:spLocks noChangeArrowheads="1"/>
          </p:cNvSpPr>
          <p:nvPr/>
        </p:nvSpPr>
        <p:spPr bwMode="auto">
          <a:xfrm>
            <a:off x="1042988" y="1700213"/>
            <a:ext cx="3740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扰动偏差传递函数为：</a:t>
            </a:r>
          </a:p>
        </p:txBody>
      </p:sp>
      <p:grpSp>
        <p:nvGrpSpPr>
          <p:cNvPr id="2" name="Group 7">
            <a:extLst>
              <a:ext uri="{FF2B5EF4-FFF2-40B4-BE49-F238E27FC236}">
                <a16:creationId xmlns:a16="http://schemas.microsoft.com/office/drawing/2014/main" id="{D35FF9E1-B230-D441-3065-A96126ADB2DD}"/>
              </a:ext>
            </a:extLst>
          </p:cNvPr>
          <p:cNvGrpSpPr>
            <a:grpSpLocks/>
          </p:cNvGrpSpPr>
          <p:nvPr/>
        </p:nvGrpSpPr>
        <p:grpSpPr bwMode="auto">
          <a:xfrm>
            <a:off x="1752600" y="3429000"/>
            <a:ext cx="3552825" cy="533400"/>
            <a:chOff x="1104" y="2160"/>
            <a:chExt cx="2238" cy="336"/>
          </a:xfrm>
        </p:grpSpPr>
        <p:graphicFrame>
          <p:nvGraphicFramePr>
            <p:cNvPr id="63496" name="Object 8">
              <a:extLst>
                <a:ext uri="{FF2B5EF4-FFF2-40B4-BE49-F238E27FC236}">
                  <a16:creationId xmlns:a16="http://schemas.microsoft.com/office/drawing/2014/main" id="{FEBAFCDE-E93A-7512-7868-CB612AD8E073}"/>
                </a:ext>
              </a:extLst>
            </p:cNvPr>
            <p:cNvGraphicFramePr>
              <a:graphicFrameLocks noChangeAspect="1"/>
            </p:cNvGraphicFramePr>
            <p:nvPr/>
          </p:nvGraphicFramePr>
          <p:xfrm>
            <a:off x="1697" y="2192"/>
            <a:ext cx="1645" cy="304"/>
          </p:xfrm>
          <a:graphic>
            <a:graphicData uri="http://schemas.openxmlformats.org/presentationml/2006/ole">
              <mc:AlternateContent xmlns:mc="http://schemas.openxmlformats.org/markup-compatibility/2006">
                <mc:Choice xmlns:v="urn:schemas-microsoft-com:vml" Requires="v">
                  <p:oleObj r:id="rId7" imgW="1219200" imgH="228600" progId="Equation.3">
                    <p:embed/>
                  </p:oleObj>
                </mc:Choice>
                <mc:Fallback>
                  <p:oleObj r:id="rId7" imgW="1219200" imgH="228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7" y="2192"/>
                          <a:ext cx="1645"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7" name="Rectangle 9">
              <a:extLst>
                <a:ext uri="{FF2B5EF4-FFF2-40B4-BE49-F238E27FC236}">
                  <a16:creationId xmlns:a16="http://schemas.microsoft.com/office/drawing/2014/main" id="{5801A842-9085-BCEA-15FD-7A5DD5ABBBA5}"/>
                </a:ext>
              </a:extLst>
            </p:cNvPr>
            <p:cNvSpPr>
              <a:spLocks noChangeArrowheads="1"/>
            </p:cNvSpPr>
            <p:nvPr/>
          </p:nvSpPr>
          <p:spPr bwMode="auto">
            <a:xfrm>
              <a:off x="1104" y="2160"/>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即：</a:t>
              </a:r>
            </a:p>
          </p:txBody>
        </p:sp>
      </p:grpSp>
      <p:pic>
        <p:nvPicPr>
          <p:cNvPr id="63495" name="图片 2">
            <a:extLst>
              <a:ext uri="{FF2B5EF4-FFF2-40B4-BE49-F238E27FC236}">
                <a16:creationId xmlns:a16="http://schemas.microsoft.com/office/drawing/2014/main" id="{CF801825-2C8E-69A6-5BFD-AC1ED71A8F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2500" y="63500"/>
            <a:ext cx="50704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9093"/>
                                        </p:tgtEl>
                                        <p:attrNameLst>
                                          <p:attrName>style.visibility</p:attrName>
                                        </p:attrNameLst>
                                      </p:cBhvr>
                                      <p:to>
                                        <p:strVal val="visible"/>
                                      </p:to>
                                    </p:set>
                                    <p:anim calcmode="lin" valueType="num">
                                      <p:cBhvr additive="base">
                                        <p:cTn id="7" dur="500" fill="hold"/>
                                        <p:tgtEl>
                                          <p:spTgt spid="89093"/>
                                        </p:tgtEl>
                                        <p:attrNameLst>
                                          <p:attrName>ppt_x</p:attrName>
                                        </p:attrNameLst>
                                      </p:cBhvr>
                                      <p:tavLst>
                                        <p:tav tm="0">
                                          <p:val>
                                            <p:strVal val="#ppt_x"/>
                                          </p:val>
                                        </p:tav>
                                        <p:tav tm="100000">
                                          <p:val>
                                            <p:strVal val="#ppt_x"/>
                                          </p:val>
                                        </p:tav>
                                      </p:tavLst>
                                    </p:anim>
                                    <p:anim calcmode="lin" valueType="num">
                                      <p:cBhvr additive="base">
                                        <p:cTn id="8" dur="500" fill="hold"/>
                                        <p:tgtEl>
                                          <p:spTgt spid="890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9092"/>
                                        </p:tgtEl>
                                        <p:attrNameLst>
                                          <p:attrName>style.visibility</p:attrName>
                                        </p:attrNameLst>
                                      </p:cBhvr>
                                      <p:to>
                                        <p:strVal val="visible"/>
                                      </p:to>
                                    </p:set>
                                    <p:anim calcmode="lin" valueType="num">
                                      <p:cBhvr additive="base">
                                        <p:cTn id="19" dur="500" fill="hold"/>
                                        <p:tgtEl>
                                          <p:spTgt spid="89092"/>
                                        </p:tgtEl>
                                        <p:attrNameLst>
                                          <p:attrName>ppt_x</p:attrName>
                                        </p:attrNameLst>
                                      </p:cBhvr>
                                      <p:tavLst>
                                        <p:tav tm="0">
                                          <p:val>
                                            <p:strVal val="#ppt_x"/>
                                          </p:val>
                                        </p:tav>
                                        <p:tav tm="100000">
                                          <p:val>
                                            <p:strVal val="#ppt_x"/>
                                          </p:val>
                                        </p:tav>
                                      </p:tavLst>
                                    </p:anim>
                                    <p:anim calcmode="lin" valueType="num">
                                      <p:cBhvr additive="base">
                                        <p:cTn id="20" dur="500" fill="hold"/>
                                        <p:tgtEl>
                                          <p:spTgt spid="8909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9091"/>
                                        </p:tgtEl>
                                        <p:attrNameLst>
                                          <p:attrName>style.visibility</p:attrName>
                                        </p:attrNameLst>
                                      </p:cBhvr>
                                      <p:to>
                                        <p:strVal val="visible"/>
                                      </p:to>
                                    </p:set>
                                    <p:anim calcmode="lin" valueType="num">
                                      <p:cBhvr additive="base">
                                        <p:cTn id="25" dur="500" fill="hold"/>
                                        <p:tgtEl>
                                          <p:spTgt spid="89091"/>
                                        </p:tgtEl>
                                        <p:attrNameLst>
                                          <p:attrName>ppt_x</p:attrName>
                                        </p:attrNameLst>
                                      </p:cBhvr>
                                      <p:tavLst>
                                        <p:tav tm="0">
                                          <p:val>
                                            <p:strVal val="#ppt_x"/>
                                          </p:val>
                                        </p:tav>
                                        <p:tav tm="100000">
                                          <p:val>
                                            <p:strVal val="#ppt_x"/>
                                          </p:val>
                                        </p:tav>
                                      </p:tavLst>
                                    </p:anim>
                                    <p:anim calcmode="lin" valueType="num">
                                      <p:cBhvr additive="base">
                                        <p:cTn id="26" dur="500" fill="hold"/>
                                        <p:tgtEl>
                                          <p:spTgt spid="890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7" name="Object 3">
            <a:extLst>
              <a:ext uri="{FF2B5EF4-FFF2-40B4-BE49-F238E27FC236}">
                <a16:creationId xmlns:a16="http://schemas.microsoft.com/office/drawing/2014/main" id="{C1A6465E-2C7B-2A6A-B08B-DF8DF0A3FC94}"/>
              </a:ext>
            </a:extLst>
          </p:cNvPr>
          <p:cNvGraphicFramePr>
            <a:graphicFrameLocks noChangeAspect="1"/>
          </p:cNvGraphicFramePr>
          <p:nvPr/>
        </p:nvGraphicFramePr>
        <p:xfrm>
          <a:off x="1876425" y="2295525"/>
          <a:ext cx="3802063" cy="804863"/>
        </p:xfrm>
        <a:graphic>
          <a:graphicData uri="http://schemas.openxmlformats.org/presentationml/2006/ole">
            <mc:AlternateContent xmlns:mc="http://schemas.openxmlformats.org/markup-compatibility/2006">
              <mc:Choice xmlns:v="urn:schemas-microsoft-com:vml" Requires="v">
                <p:oleObj r:id="rId3" imgW="2044700" imgH="431800" progId="Equation.3">
                  <p:embed/>
                </p:oleObj>
              </mc:Choice>
              <mc:Fallback>
                <p:oleObj r:id="rId3" imgW="20447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6425" y="2295525"/>
                        <a:ext cx="380206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3" name="Rectangle 4">
            <a:extLst>
              <a:ext uri="{FF2B5EF4-FFF2-40B4-BE49-F238E27FC236}">
                <a16:creationId xmlns:a16="http://schemas.microsoft.com/office/drawing/2014/main" id="{BF07A626-D7A6-835E-867C-51E712938193}"/>
              </a:ext>
            </a:extLst>
          </p:cNvPr>
          <p:cNvSpPr>
            <a:spLocks noChangeArrowheads="1"/>
          </p:cNvSpPr>
          <p:nvPr/>
        </p:nvSpPr>
        <p:spPr bwMode="auto">
          <a:xfrm>
            <a:off x="1600200" y="1600200"/>
            <a:ext cx="3740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由扰动引起的输出为：</a:t>
            </a:r>
          </a:p>
        </p:txBody>
      </p:sp>
      <p:grpSp>
        <p:nvGrpSpPr>
          <p:cNvPr id="2" name="Group 5">
            <a:extLst>
              <a:ext uri="{FF2B5EF4-FFF2-40B4-BE49-F238E27FC236}">
                <a16:creationId xmlns:a16="http://schemas.microsoft.com/office/drawing/2014/main" id="{8F830670-7177-0564-065D-DE0403AB3FC1}"/>
              </a:ext>
            </a:extLst>
          </p:cNvPr>
          <p:cNvGrpSpPr>
            <a:grpSpLocks/>
          </p:cNvGrpSpPr>
          <p:nvPr/>
        </p:nvGrpSpPr>
        <p:grpSpPr bwMode="auto">
          <a:xfrm>
            <a:off x="1600200" y="3276600"/>
            <a:ext cx="6765925" cy="1435100"/>
            <a:chOff x="1008" y="2064"/>
            <a:chExt cx="4262" cy="904"/>
          </a:xfrm>
        </p:grpSpPr>
        <p:graphicFrame>
          <p:nvGraphicFramePr>
            <p:cNvPr id="65546" name="Object 6">
              <a:extLst>
                <a:ext uri="{FF2B5EF4-FFF2-40B4-BE49-F238E27FC236}">
                  <a16:creationId xmlns:a16="http://schemas.microsoft.com/office/drawing/2014/main" id="{C9F505CE-F1BE-8499-F66B-DC74418E1DC4}"/>
                </a:ext>
              </a:extLst>
            </p:cNvPr>
            <p:cNvGraphicFramePr>
              <a:graphicFrameLocks noChangeAspect="1"/>
            </p:cNvGraphicFramePr>
            <p:nvPr/>
          </p:nvGraphicFramePr>
          <p:xfrm>
            <a:off x="1263" y="2468"/>
            <a:ext cx="4007" cy="500"/>
          </p:xfrm>
          <a:graphic>
            <a:graphicData uri="http://schemas.openxmlformats.org/presentationml/2006/ole">
              <mc:AlternateContent xmlns:mc="http://schemas.openxmlformats.org/markup-compatibility/2006">
                <mc:Choice xmlns:v="urn:schemas-microsoft-com:vml" Requires="v">
                  <p:oleObj r:id="rId5" imgW="3530600" imgH="431800" progId="Equation.3">
                    <p:embed/>
                  </p:oleObj>
                </mc:Choice>
                <mc:Fallback>
                  <p:oleObj r:id="rId5" imgW="3530600"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3" y="2468"/>
                          <a:ext cx="4007"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7" name="Rectangle 7">
              <a:extLst>
                <a:ext uri="{FF2B5EF4-FFF2-40B4-BE49-F238E27FC236}">
                  <a16:creationId xmlns:a16="http://schemas.microsoft.com/office/drawing/2014/main" id="{B2D4C051-4F7E-9CC7-7605-444066B10BE5}"/>
                </a:ext>
              </a:extLst>
            </p:cNvPr>
            <p:cNvSpPr>
              <a:spLocks noChangeArrowheads="1"/>
            </p:cNvSpPr>
            <p:nvPr/>
          </p:nvSpPr>
          <p:spPr bwMode="auto">
            <a:xfrm>
              <a:off x="1008" y="2064"/>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即系统误差：</a:t>
              </a:r>
            </a:p>
          </p:txBody>
        </p:sp>
      </p:grpSp>
      <p:grpSp>
        <p:nvGrpSpPr>
          <p:cNvPr id="3" name="Group 8">
            <a:extLst>
              <a:ext uri="{FF2B5EF4-FFF2-40B4-BE49-F238E27FC236}">
                <a16:creationId xmlns:a16="http://schemas.microsoft.com/office/drawing/2014/main" id="{02C87A98-1E92-5681-7C4D-22DC19F3B6ED}"/>
              </a:ext>
            </a:extLst>
          </p:cNvPr>
          <p:cNvGrpSpPr>
            <a:grpSpLocks/>
          </p:cNvGrpSpPr>
          <p:nvPr/>
        </p:nvGrpSpPr>
        <p:grpSpPr bwMode="auto">
          <a:xfrm>
            <a:off x="1600200" y="4800600"/>
            <a:ext cx="6116638" cy="1389063"/>
            <a:chOff x="1008" y="3024"/>
            <a:chExt cx="3853" cy="875"/>
          </a:xfrm>
        </p:grpSpPr>
        <p:graphicFrame>
          <p:nvGraphicFramePr>
            <p:cNvPr id="65544" name="Object 9">
              <a:extLst>
                <a:ext uri="{FF2B5EF4-FFF2-40B4-BE49-F238E27FC236}">
                  <a16:creationId xmlns:a16="http://schemas.microsoft.com/office/drawing/2014/main" id="{C5402150-4804-5B11-0F24-8FD0C78D19E1}"/>
                </a:ext>
              </a:extLst>
            </p:cNvPr>
            <p:cNvGraphicFramePr>
              <a:graphicFrameLocks noChangeAspect="1"/>
            </p:cNvGraphicFramePr>
            <p:nvPr/>
          </p:nvGraphicFramePr>
          <p:xfrm>
            <a:off x="1185" y="3385"/>
            <a:ext cx="3676" cy="514"/>
          </p:xfrm>
          <a:graphic>
            <a:graphicData uri="http://schemas.openxmlformats.org/presentationml/2006/ole">
              <mc:AlternateContent xmlns:mc="http://schemas.openxmlformats.org/markup-compatibility/2006">
                <mc:Choice xmlns:v="urn:schemas-microsoft-com:vml" Requires="v">
                  <p:oleObj r:id="rId7" imgW="3086100" imgH="431800" progId="Equation.3">
                    <p:embed/>
                  </p:oleObj>
                </mc:Choice>
                <mc:Fallback>
                  <p:oleObj r:id="rId7" imgW="3086100" imgH="431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5" y="3385"/>
                          <a:ext cx="3676"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5" name="Rectangle 10">
              <a:extLst>
                <a:ext uri="{FF2B5EF4-FFF2-40B4-BE49-F238E27FC236}">
                  <a16:creationId xmlns:a16="http://schemas.microsoft.com/office/drawing/2014/main" id="{037C39B3-EB67-38F7-9DF5-10DAD4B9C25A}"/>
                </a:ext>
              </a:extLst>
            </p:cNvPr>
            <p:cNvSpPr>
              <a:spLocks noChangeArrowheads="1"/>
            </p:cNvSpPr>
            <p:nvPr/>
          </p:nvSpPr>
          <p:spPr bwMode="auto">
            <a:xfrm>
              <a:off x="1008" y="3024"/>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稳态误差：</a:t>
              </a:r>
            </a:p>
          </p:txBody>
        </p:sp>
      </p:grpSp>
      <p:sp>
        <p:nvSpPr>
          <p:cNvPr id="11" name="Rectangle 4">
            <a:extLst>
              <a:ext uri="{FF2B5EF4-FFF2-40B4-BE49-F238E27FC236}">
                <a16:creationId xmlns:a16="http://schemas.microsoft.com/office/drawing/2014/main" id="{2A37106E-41E3-3109-9CE7-363756F9EDF2}"/>
              </a:ext>
            </a:extLst>
          </p:cNvPr>
          <p:cNvSpPr>
            <a:spLocks noChangeArrowheads="1"/>
          </p:cNvSpPr>
          <p:nvPr/>
        </p:nvSpPr>
        <p:spPr bwMode="auto">
          <a:xfrm>
            <a:off x="250825" y="549275"/>
            <a:ext cx="37020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sz="2800">
                <a:latin typeface="Times New Roman" panose="02020603050405020304" pitchFamily="18" charset="0"/>
              </a:rPr>
              <a:t>扰动引起的稳态误差</a:t>
            </a:r>
          </a:p>
        </p:txBody>
      </p:sp>
      <p:pic>
        <p:nvPicPr>
          <p:cNvPr id="65543" name="图片 11">
            <a:extLst>
              <a:ext uri="{FF2B5EF4-FFF2-40B4-BE49-F238E27FC236}">
                <a16:creationId xmlns:a16="http://schemas.microsoft.com/office/drawing/2014/main" id="{6B3448CA-C4EA-41AA-CD71-4BD950F4980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87800" y="7938"/>
            <a:ext cx="5070475" cy="160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32773"/>
                                        </p:tgtEl>
                                        <p:attrNameLst>
                                          <p:attrName>style.visibility</p:attrName>
                                        </p:attrNameLst>
                                      </p:cBhvr>
                                      <p:to>
                                        <p:strVal val="visible"/>
                                      </p:to>
                                    </p:set>
                                    <p:animEffect transition="in" filter="slide(fromBottom)">
                                      <p:cBhvr>
                                        <p:cTn id="13" dur="500"/>
                                        <p:tgtEl>
                                          <p:spTgt spid="3277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88067"/>
                                        </p:tgtEl>
                                        <p:attrNameLst>
                                          <p:attrName>style.visibility</p:attrName>
                                        </p:attrNameLst>
                                      </p:cBhvr>
                                      <p:to>
                                        <p:strVal val="visible"/>
                                      </p:to>
                                    </p:set>
                                    <p:anim calcmode="lin" valueType="num">
                                      <p:cBhvr additive="base">
                                        <p:cTn id="18" dur="500" fill="hold"/>
                                        <p:tgtEl>
                                          <p:spTgt spid="88067"/>
                                        </p:tgtEl>
                                        <p:attrNameLst>
                                          <p:attrName>ppt_x</p:attrName>
                                        </p:attrNameLst>
                                      </p:cBhvr>
                                      <p:tavLst>
                                        <p:tav tm="0">
                                          <p:val>
                                            <p:strVal val="#ppt_x"/>
                                          </p:val>
                                        </p:tav>
                                        <p:tav tm="100000">
                                          <p:val>
                                            <p:strVal val="#ppt_x"/>
                                          </p:val>
                                        </p:tav>
                                      </p:tavLst>
                                    </p:anim>
                                    <p:anim calcmode="lin" valueType="num">
                                      <p:cBhvr additive="base">
                                        <p:cTn id="19" dur="500" fill="hold"/>
                                        <p:tgtEl>
                                          <p:spTgt spid="88067"/>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CE8E8B45-C58A-50E1-0039-0B085457FE42}"/>
              </a:ext>
            </a:extLst>
          </p:cNvPr>
          <p:cNvSpPr>
            <a:spLocks noChangeArrowheads="1"/>
          </p:cNvSpPr>
          <p:nvPr/>
        </p:nvSpPr>
        <p:spPr bwMode="auto">
          <a:xfrm>
            <a:off x="114300" y="23876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7587" name="Rectangle 4">
            <a:extLst>
              <a:ext uri="{FF2B5EF4-FFF2-40B4-BE49-F238E27FC236}">
                <a16:creationId xmlns:a16="http://schemas.microsoft.com/office/drawing/2014/main" id="{FA4BD2C4-284A-80BB-4D16-40A789F294B8}"/>
              </a:ext>
            </a:extLst>
          </p:cNvPr>
          <p:cNvSpPr>
            <a:spLocks noChangeArrowheads="1"/>
          </p:cNvSpPr>
          <p:nvPr/>
        </p:nvSpPr>
        <p:spPr bwMode="auto">
          <a:xfrm>
            <a:off x="1295400" y="167640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系统总误差</a:t>
            </a:r>
            <a:r>
              <a:rPr lang="zh-CN" altLang="en-US" sz="2800">
                <a:latin typeface="Times New Roman" panose="02020603050405020304" pitchFamily="18" charset="0"/>
              </a:rPr>
              <a:t> </a:t>
            </a:r>
          </a:p>
        </p:txBody>
      </p:sp>
      <p:graphicFrame>
        <p:nvGraphicFramePr>
          <p:cNvPr id="86021" name="Object 5">
            <a:extLst>
              <a:ext uri="{FF2B5EF4-FFF2-40B4-BE49-F238E27FC236}">
                <a16:creationId xmlns:a16="http://schemas.microsoft.com/office/drawing/2014/main" id="{F43A2BE1-1FE3-6445-4982-0569D6EC0F6B}"/>
              </a:ext>
            </a:extLst>
          </p:cNvPr>
          <p:cNvGraphicFramePr>
            <a:graphicFrameLocks noChangeAspect="1"/>
          </p:cNvGraphicFramePr>
          <p:nvPr/>
        </p:nvGraphicFramePr>
        <p:xfrm>
          <a:off x="2444750" y="3429000"/>
          <a:ext cx="2346325" cy="585788"/>
        </p:xfrm>
        <a:graphic>
          <a:graphicData uri="http://schemas.openxmlformats.org/presentationml/2006/ole">
            <mc:AlternateContent xmlns:mc="http://schemas.openxmlformats.org/markup-compatibility/2006">
              <mc:Choice xmlns:v="urn:schemas-microsoft-com:vml" Requires="v">
                <p:oleObj r:id="rId3" imgW="901309" imgH="228501" progId="Equation.3">
                  <p:embed/>
                </p:oleObj>
              </mc:Choice>
              <mc:Fallback>
                <p:oleObj r:id="rId3" imgW="901309" imgH="22850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4750" y="3429000"/>
                        <a:ext cx="2346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22" name="Rectangle 6">
            <a:extLst>
              <a:ext uri="{FF2B5EF4-FFF2-40B4-BE49-F238E27FC236}">
                <a16:creationId xmlns:a16="http://schemas.microsoft.com/office/drawing/2014/main" id="{B7229FE8-4F0F-B4E2-7E60-8474C74F24DD}"/>
              </a:ext>
            </a:extLst>
          </p:cNvPr>
          <p:cNvSpPr>
            <a:spLocks noChangeArrowheads="1"/>
          </p:cNvSpPr>
          <p:nvPr/>
        </p:nvSpPr>
        <p:spPr bwMode="auto">
          <a:xfrm>
            <a:off x="1331913" y="2209800"/>
            <a:ext cx="71262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当系统同时受到输入信号</a:t>
            </a:r>
            <a:r>
              <a:rPr lang="en-US" altLang="zh-CN" sz="2800">
                <a:latin typeface="Times New Roman" panose="02020603050405020304" pitchFamily="18" charset="0"/>
              </a:rPr>
              <a:t>R(</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和扰动信号</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作用时，由叠加原理，系统总的稳态偏差：</a:t>
            </a:r>
          </a:p>
        </p:txBody>
      </p:sp>
      <p:grpSp>
        <p:nvGrpSpPr>
          <p:cNvPr id="2" name="Group 7">
            <a:extLst>
              <a:ext uri="{FF2B5EF4-FFF2-40B4-BE49-F238E27FC236}">
                <a16:creationId xmlns:a16="http://schemas.microsoft.com/office/drawing/2014/main" id="{828C7F8F-670A-FF0D-6EB5-5900E91B6CF2}"/>
              </a:ext>
            </a:extLst>
          </p:cNvPr>
          <p:cNvGrpSpPr>
            <a:grpSpLocks/>
          </p:cNvGrpSpPr>
          <p:nvPr/>
        </p:nvGrpSpPr>
        <p:grpSpPr bwMode="auto">
          <a:xfrm>
            <a:off x="1339850" y="4129088"/>
            <a:ext cx="3305175" cy="1154112"/>
            <a:chOff x="844" y="2601"/>
            <a:chExt cx="2082" cy="727"/>
          </a:xfrm>
        </p:grpSpPr>
        <p:graphicFrame>
          <p:nvGraphicFramePr>
            <p:cNvPr id="67591" name="Object 8">
              <a:extLst>
                <a:ext uri="{FF2B5EF4-FFF2-40B4-BE49-F238E27FC236}">
                  <a16:creationId xmlns:a16="http://schemas.microsoft.com/office/drawing/2014/main" id="{24A4C0CA-5C15-BBDF-F331-295CDE2C562C}"/>
                </a:ext>
              </a:extLst>
            </p:cNvPr>
            <p:cNvGraphicFramePr>
              <a:graphicFrameLocks noChangeAspect="1"/>
            </p:cNvGraphicFramePr>
            <p:nvPr/>
          </p:nvGraphicFramePr>
          <p:xfrm>
            <a:off x="1585" y="2976"/>
            <a:ext cx="1341" cy="352"/>
          </p:xfrm>
          <a:graphic>
            <a:graphicData uri="http://schemas.openxmlformats.org/presentationml/2006/ole">
              <mc:AlternateContent xmlns:mc="http://schemas.openxmlformats.org/markup-compatibility/2006">
                <mc:Choice xmlns:v="urn:schemas-microsoft-com:vml" Requires="v">
                  <p:oleObj r:id="rId5" imgW="863225" imgH="228501" progId="Equation.3">
                    <p:embed/>
                  </p:oleObj>
                </mc:Choice>
                <mc:Fallback>
                  <p:oleObj r:id="rId5" imgW="863225" imgH="228501"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5" y="2976"/>
                          <a:ext cx="1341"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2" name="Rectangle 9">
              <a:extLst>
                <a:ext uri="{FF2B5EF4-FFF2-40B4-BE49-F238E27FC236}">
                  <a16:creationId xmlns:a16="http://schemas.microsoft.com/office/drawing/2014/main" id="{16121206-7373-E29E-5EA6-0D13FCD26798}"/>
                </a:ext>
              </a:extLst>
            </p:cNvPr>
            <p:cNvSpPr>
              <a:spLocks noChangeArrowheads="1"/>
            </p:cNvSpPr>
            <p:nvPr/>
          </p:nvSpPr>
          <p:spPr bwMode="auto">
            <a:xfrm>
              <a:off x="844" y="2601"/>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稳态误差：</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6022"/>
                                        </p:tgtEl>
                                        <p:attrNameLst>
                                          <p:attrName>style.visibility</p:attrName>
                                        </p:attrNameLst>
                                      </p:cBhvr>
                                      <p:to>
                                        <p:strVal val="visible"/>
                                      </p:to>
                                    </p:set>
                                    <p:anim calcmode="lin" valueType="num">
                                      <p:cBhvr additive="base">
                                        <p:cTn id="7" dur="500" fill="hold"/>
                                        <p:tgtEl>
                                          <p:spTgt spid="86022"/>
                                        </p:tgtEl>
                                        <p:attrNameLst>
                                          <p:attrName>ppt_x</p:attrName>
                                        </p:attrNameLst>
                                      </p:cBhvr>
                                      <p:tavLst>
                                        <p:tav tm="0">
                                          <p:val>
                                            <p:strVal val="#ppt_x"/>
                                          </p:val>
                                        </p:tav>
                                        <p:tav tm="100000">
                                          <p:val>
                                            <p:strVal val="#ppt_x"/>
                                          </p:val>
                                        </p:tav>
                                      </p:tavLst>
                                    </p:anim>
                                    <p:anim calcmode="lin" valueType="num">
                                      <p:cBhvr additive="base">
                                        <p:cTn id="8" dur="500" fill="hold"/>
                                        <p:tgtEl>
                                          <p:spTgt spid="860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6021"/>
                                        </p:tgtEl>
                                        <p:attrNameLst>
                                          <p:attrName>style.visibility</p:attrName>
                                        </p:attrNameLst>
                                      </p:cBhvr>
                                      <p:to>
                                        <p:strVal val="visible"/>
                                      </p:to>
                                    </p:set>
                                    <p:anim calcmode="lin" valueType="num">
                                      <p:cBhvr additive="base">
                                        <p:cTn id="13" dur="500" fill="hold"/>
                                        <p:tgtEl>
                                          <p:spTgt spid="86021"/>
                                        </p:tgtEl>
                                        <p:attrNameLst>
                                          <p:attrName>ppt_x</p:attrName>
                                        </p:attrNameLst>
                                      </p:cBhvr>
                                      <p:tavLst>
                                        <p:tav tm="0">
                                          <p:val>
                                            <p:strVal val="#ppt_x"/>
                                          </p:val>
                                        </p:tav>
                                        <p:tav tm="100000">
                                          <p:val>
                                            <p:strVal val="#ppt_x"/>
                                          </p:val>
                                        </p:tav>
                                      </p:tavLst>
                                    </p:anim>
                                    <p:anim calcmode="lin" valueType="num">
                                      <p:cBhvr additive="base">
                                        <p:cTn id="14" dur="500" fill="hold"/>
                                        <p:tgtEl>
                                          <p:spTgt spid="860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Box 1">
            <a:extLst>
              <a:ext uri="{FF2B5EF4-FFF2-40B4-BE49-F238E27FC236}">
                <a16:creationId xmlns:a16="http://schemas.microsoft.com/office/drawing/2014/main" id="{1696EBA9-0370-D367-EE3F-AA7BAF5F5572}"/>
              </a:ext>
            </a:extLst>
          </p:cNvPr>
          <p:cNvSpPr txBox="1">
            <a:spLocks noChangeArrowheads="1"/>
          </p:cNvSpPr>
          <p:nvPr/>
        </p:nvSpPr>
        <p:spPr bwMode="auto">
          <a:xfrm>
            <a:off x="1187450" y="1125538"/>
            <a:ext cx="12620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小结：</a:t>
            </a:r>
          </a:p>
        </p:txBody>
      </p:sp>
      <p:sp>
        <p:nvSpPr>
          <p:cNvPr id="69635" name="TextBox 2">
            <a:extLst>
              <a:ext uri="{FF2B5EF4-FFF2-40B4-BE49-F238E27FC236}">
                <a16:creationId xmlns:a16="http://schemas.microsoft.com/office/drawing/2014/main" id="{02C05361-CFF7-23ED-81D1-C826C6EFE9B5}"/>
              </a:ext>
            </a:extLst>
          </p:cNvPr>
          <p:cNvSpPr txBox="1">
            <a:spLocks noChangeArrowheads="1"/>
          </p:cNvSpPr>
          <p:nvPr/>
        </p:nvSpPr>
        <p:spPr bwMode="auto">
          <a:xfrm>
            <a:off x="971550" y="1773238"/>
            <a:ext cx="75612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    扰动偏差与扰动误差也成比例关系，比例系数为反馈通道的传递函数。当为单位反馈系统时，二者相等。</a:t>
            </a:r>
          </a:p>
        </p:txBody>
      </p:sp>
      <p:sp>
        <p:nvSpPr>
          <p:cNvPr id="69636" name="TextBox 3">
            <a:extLst>
              <a:ext uri="{FF2B5EF4-FFF2-40B4-BE49-F238E27FC236}">
                <a16:creationId xmlns:a16="http://schemas.microsoft.com/office/drawing/2014/main" id="{DC76C5E6-1B46-B35F-42E7-86020CC04103}"/>
              </a:ext>
            </a:extLst>
          </p:cNvPr>
          <p:cNvSpPr txBox="1">
            <a:spLocks noChangeArrowheads="1"/>
          </p:cNvSpPr>
          <p:nvPr/>
        </p:nvSpPr>
        <p:spPr bwMode="auto">
          <a:xfrm>
            <a:off x="971550" y="3357563"/>
            <a:ext cx="74168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dirty="0"/>
              <a:t>    若要完全消除扰动引起的稳态误差，需要增加扰动点前积分环节的个数</a:t>
            </a:r>
            <a:r>
              <a:rPr lang="en-US" altLang="zh-CN" sz="2800" dirty="0"/>
              <a:t>(</a:t>
            </a:r>
            <a:r>
              <a:rPr lang="zh-CN" altLang="en-US" sz="2800" dirty="0"/>
              <a:t>具体视扰动的形式而定）；若要减小扰动引起的稳态误差，则需提高扰动点前环节的增益系数。（具体分析参见其它教材）</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875A67E1-A24F-7EF6-5D9D-8806AFA10FDD}"/>
              </a:ext>
            </a:extLst>
          </p:cNvPr>
          <p:cNvSpPr>
            <a:spLocks noChangeArrowheads="1"/>
          </p:cNvSpPr>
          <p:nvPr/>
        </p:nvSpPr>
        <p:spPr bwMode="auto">
          <a:xfrm>
            <a:off x="468313" y="404813"/>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例题</a:t>
            </a:r>
            <a:endParaRPr lang="zh-CN" altLang="en-US" sz="2800">
              <a:latin typeface="Times New Roman" panose="02020603050405020304" pitchFamily="18" charset="0"/>
            </a:endParaRPr>
          </a:p>
        </p:txBody>
      </p:sp>
      <p:sp>
        <p:nvSpPr>
          <p:cNvPr id="70659" name="Rectangle 4">
            <a:extLst>
              <a:ext uri="{FF2B5EF4-FFF2-40B4-BE49-F238E27FC236}">
                <a16:creationId xmlns:a16="http://schemas.microsoft.com/office/drawing/2014/main" id="{343C86C7-771A-E007-5453-D6FA71273F19}"/>
              </a:ext>
            </a:extLst>
          </p:cNvPr>
          <p:cNvSpPr>
            <a:spLocks noChangeArrowheads="1"/>
          </p:cNvSpPr>
          <p:nvPr/>
        </p:nvSpPr>
        <p:spPr bwMode="auto">
          <a:xfrm>
            <a:off x="755650" y="1844675"/>
            <a:ext cx="723900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试求系统在输入</a:t>
            </a:r>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zh-CN" altLang="en-US" sz="2800">
                <a:latin typeface="Times New Roman" panose="02020603050405020304" pitchFamily="18" charset="0"/>
              </a:rPr>
              <a:t>以及扰动</a:t>
            </a:r>
            <a:r>
              <a:rPr lang="en-US" altLang="zh-CN" sz="2800">
                <a:latin typeface="Times New Roman" panose="02020603050405020304" pitchFamily="18" charset="0"/>
              </a:rPr>
              <a:t>n(t)=-1(t)</a:t>
            </a:r>
            <a:r>
              <a:rPr lang="zh-CN" altLang="en-US" sz="2800">
                <a:latin typeface="Times New Roman" panose="02020603050405020304" pitchFamily="18" charset="0"/>
              </a:rPr>
              <a:t>作用下的稳态误差。</a:t>
            </a:r>
          </a:p>
        </p:txBody>
      </p:sp>
      <p:grpSp>
        <p:nvGrpSpPr>
          <p:cNvPr id="70660" name="Group 5">
            <a:extLst>
              <a:ext uri="{FF2B5EF4-FFF2-40B4-BE49-F238E27FC236}">
                <a16:creationId xmlns:a16="http://schemas.microsoft.com/office/drawing/2014/main" id="{28918B74-4621-689E-BDE3-8FD9F432BCB0}"/>
              </a:ext>
            </a:extLst>
          </p:cNvPr>
          <p:cNvGrpSpPr>
            <a:grpSpLocks/>
          </p:cNvGrpSpPr>
          <p:nvPr/>
        </p:nvGrpSpPr>
        <p:grpSpPr bwMode="auto">
          <a:xfrm>
            <a:off x="971550" y="3357563"/>
            <a:ext cx="7010400" cy="2173287"/>
            <a:chOff x="864" y="2663"/>
            <a:chExt cx="4416" cy="1369"/>
          </a:xfrm>
        </p:grpSpPr>
        <p:sp>
          <p:nvSpPr>
            <p:cNvPr id="70664" name="Rectangle 6">
              <a:extLst>
                <a:ext uri="{FF2B5EF4-FFF2-40B4-BE49-F238E27FC236}">
                  <a16:creationId xmlns:a16="http://schemas.microsoft.com/office/drawing/2014/main" id="{751FA93C-EBFF-D140-E304-3CB770C3C243}"/>
                </a:ext>
              </a:extLst>
            </p:cNvPr>
            <p:cNvSpPr>
              <a:spLocks noChangeArrowheads="1"/>
            </p:cNvSpPr>
            <p:nvPr/>
          </p:nvSpPr>
          <p:spPr bwMode="auto">
            <a:xfrm>
              <a:off x="2038"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70665" name="Rectangle 7">
              <a:extLst>
                <a:ext uri="{FF2B5EF4-FFF2-40B4-BE49-F238E27FC236}">
                  <a16:creationId xmlns:a16="http://schemas.microsoft.com/office/drawing/2014/main" id="{9C3F140C-BF50-1CE4-030D-3C4D3B319CB5}"/>
                </a:ext>
              </a:extLst>
            </p:cNvPr>
            <p:cNvSpPr>
              <a:spLocks noChangeArrowheads="1"/>
            </p:cNvSpPr>
            <p:nvPr/>
          </p:nvSpPr>
          <p:spPr bwMode="auto">
            <a:xfrm>
              <a:off x="2786" y="3702"/>
              <a:ext cx="623"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H(s)=1</a:t>
              </a:r>
            </a:p>
          </p:txBody>
        </p:sp>
        <p:sp>
          <p:nvSpPr>
            <p:cNvPr id="70666" name="Line 8">
              <a:extLst>
                <a:ext uri="{FF2B5EF4-FFF2-40B4-BE49-F238E27FC236}">
                  <a16:creationId xmlns:a16="http://schemas.microsoft.com/office/drawing/2014/main" id="{63DDDFAE-0FB6-0BBE-1A70-E2865106AC3B}"/>
                </a:ext>
              </a:extLst>
            </p:cNvPr>
            <p:cNvSpPr>
              <a:spLocks noChangeShapeType="1"/>
            </p:cNvSpPr>
            <p:nvPr/>
          </p:nvSpPr>
          <p:spPr bwMode="auto">
            <a:xfrm>
              <a:off x="1543"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7" name="Line 9">
              <a:extLst>
                <a:ext uri="{FF2B5EF4-FFF2-40B4-BE49-F238E27FC236}">
                  <a16:creationId xmlns:a16="http://schemas.microsoft.com/office/drawing/2014/main" id="{BAEF3FC5-614B-3D63-866B-B7CA2600EABF}"/>
                </a:ext>
              </a:extLst>
            </p:cNvPr>
            <p:cNvSpPr>
              <a:spLocks noChangeShapeType="1"/>
            </p:cNvSpPr>
            <p:nvPr/>
          </p:nvSpPr>
          <p:spPr bwMode="auto">
            <a:xfrm>
              <a:off x="4408" y="3255"/>
              <a:ext cx="87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8" name="Line 10">
              <a:extLst>
                <a:ext uri="{FF2B5EF4-FFF2-40B4-BE49-F238E27FC236}">
                  <a16:creationId xmlns:a16="http://schemas.microsoft.com/office/drawing/2014/main" id="{D8E07BC7-FC89-DB71-E5BF-9242BB2C921F}"/>
                </a:ext>
              </a:extLst>
            </p:cNvPr>
            <p:cNvSpPr>
              <a:spLocks noChangeShapeType="1"/>
            </p:cNvSpPr>
            <p:nvPr/>
          </p:nvSpPr>
          <p:spPr bwMode="auto">
            <a:xfrm>
              <a:off x="4948" y="3255"/>
              <a:ext cx="0" cy="6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9" name="Line 11">
              <a:extLst>
                <a:ext uri="{FF2B5EF4-FFF2-40B4-BE49-F238E27FC236}">
                  <a16:creationId xmlns:a16="http://schemas.microsoft.com/office/drawing/2014/main" id="{8F9CB90D-8507-8A96-13C4-D75A4857FDE5}"/>
                </a:ext>
              </a:extLst>
            </p:cNvPr>
            <p:cNvSpPr>
              <a:spLocks noChangeShapeType="1"/>
            </p:cNvSpPr>
            <p:nvPr/>
          </p:nvSpPr>
          <p:spPr bwMode="auto">
            <a:xfrm flipH="1">
              <a:off x="3412" y="3857"/>
              <a:ext cx="15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70" name="Line 12">
              <a:extLst>
                <a:ext uri="{FF2B5EF4-FFF2-40B4-BE49-F238E27FC236}">
                  <a16:creationId xmlns:a16="http://schemas.microsoft.com/office/drawing/2014/main" id="{D64ABE0B-6C64-F563-9265-F8407C73BFF2}"/>
                </a:ext>
              </a:extLst>
            </p:cNvPr>
            <p:cNvSpPr>
              <a:spLocks noChangeShapeType="1"/>
            </p:cNvSpPr>
            <p:nvPr/>
          </p:nvSpPr>
          <p:spPr bwMode="auto">
            <a:xfrm flipH="1">
              <a:off x="1461" y="3857"/>
              <a:ext cx="132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1" name="Line 13">
              <a:extLst>
                <a:ext uri="{FF2B5EF4-FFF2-40B4-BE49-F238E27FC236}">
                  <a16:creationId xmlns:a16="http://schemas.microsoft.com/office/drawing/2014/main" id="{133E578F-E81B-1952-C758-95D5C15821BA}"/>
                </a:ext>
              </a:extLst>
            </p:cNvPr>
            <p:cNvSpPr>
              <a:spLocks noChangeShapeType="1"/>
            </p:cNvSpPr>
            <p:nvPr/>
          </p:nvSpPr>
          <p:spPr bwMode="auto">
            <a:xfrm flipV="1">
              <a:off x="1461" y="3319"/>
              <a:ext cx="0" cy="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72" name="Text Box 14">
              <a:extLst>
                <a:ext uri="{FF2B5EF4-FFF2-40B4-BE49-F238E27FC236}">
                  <a16:creationId xmlns:a16="http://schemas.microsoft.com/office/drawing/2014/main" id="{A297F49B-2E1E-2C3C-9F19-BF34B16CD071}"/>
                </a:ext>
              </a:extLst>
            </p:cNvPr>
            <p:cNvSpPr txBox="1">
              <a:spLocks noChangeArrowheads="1"/>
            </p:cNvSpPr>
            <p:nvPr/>
          </p:nvSpPr>
          <p:spPr bwMode="auto">
            <a:xfrm>
              <a:off x="1305" y="3056"/>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70673" name="Line 15">
              <a:extLst>
                <a:ext uri="{FF2B5EF4-FFF2-40B4-BE49-F238E27FC236}">
                  <a16:creationId xmlns:a16="http://schemas.microsoft.com/office/drawing/2014/main" id="{832AA469-32F1-CAB8-FA54-901B764ACF93}"/>
                </a:ext>
              </a:extLst>
            </p:cNvPr>
            <p:cNvSpPr>
              <a:spLocks noChangeShapeType="1"/>
            </p:cNvSpPr>
            <p:nvPr/>
          </p:nvSpPr>
          <p:spPr bwMode="auto">
            <a:xfrm>
              <a:off x="920"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74" name="Text Box 16">
              <a:extLst>
                <a:ext uri="{FF2B5EF4-FFF2-40B4-BE49-F238E27FC236}">
                  <a16:creationId xmlns:a16="http://schemas.microsoft.com/office/drawing/2014/main" id="{73EE9B91-4B68-90F5-27BA-7D3D2697A4BF}"/>
                </a:ext>
              </a:extLst>
            </p:cNvPr>
            <p:cNvSpPr txBox="1">
              <a:spLocks noChangeArrowheads="1"/>
            </p:cNvSpPr>
            <p:nvPr/>
          </p:nvSpPr>
          <p:spPr bwMode="auto">
            <a:xfrm>
              <a:off x="864" y="2928"/>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70675" name="Text Box 17">
              <a:extLst>
                <a:ext uri="{FF2B5EF4-FFF2-40B4-BE49-F238E27FC236}">
                  <a16:creationId xmlns:a16="http://schemas.microsoft.com/office/drawing/2014/main" id="{9978FDF1-877A-F94F-CC12-9E1A5D464108}"/>
                </a:ext>
              </a:extLst>
            </p:cNvPr>
            <p:cNvSpPr txBox="1">
              <a:spLocks noChangeArrowheads="1"/>
            </p:cNvSpPr>
            <p:nvPr/>
          </p:nvSpPr>
          <p:spPr bwMode="auto">
            <a:xfrm>
              <a:off x="4694" y="2945"/>
              <a:ext cx="4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70676" name="Text Box 18">
              <a:extLst>
                <a:ext uri="{FF2B5EF4-FFF2-40B4-BE49-F238E27FC236}">
                  <a16:creationId xmlns:a16="http://schemas.microsoft.com/office/drawing/2014/main" id="{ED918B6E-8F7C-FA47-AA59-0CFCAAEBB64C}"/>
                </a:ext>
              </a:extLst>
            </p:cNvPr>
            <p:cNvSpPr txBox="1">
              <a:spLocks noChangeArrowheads="1"/>
            </p:cNvSpPr>
            <p:nvPr/>
          </p:nvSpPr>
          <p:spPr bwMode="auto">
            <a:xfrm>
              <a:off x="1052" y="3382"/>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0677" name="Text Box 19">
              <a:extLst>
                <a:ext uri="{FF2B5EF4-FFF2-40B4-BE49-F238E27FC236}">
                  <a16:creationId xmlns:a16="http://schemas.microsoft.com/office/drawing/2014/main" id="{EEDCF200-806B-2D42-901E-BF30C6387EF6}"/>
                </a:ext>
              </a:extLst>
            </p:cNvPr>
            <p:cNvSpPr txBox="1">
              <a:spLocks noChangeArrowheads="1"/>
            </p:cNvSpPr>
            <p:nvPr/>
          </p:nvSpPr>
          <p:spPr bwMode="auto">
            <a:xfrm>
              <a:off x="1492" y="2941"/>
              <a:ext cx="4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E</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0678" name="Line 20">
              <a:extLst>
                <a:ext uri="{FF2B5EF4-FFF2-40B4-BE49-F238E27FC236}">
                  <a16:creationId xmlns:a16="http://schemas.microsoft.com/office/drawing/2014/main" id="{532283A4-2B9C-855B-3A55-A0729C23361C}"/>
                </a:ext>
              </a:extLst>
            </p:cNvPr>
            <p:cNvSpPr>
              <a:spLocks noChangeShapeType="1"/>
            </p:cNvSpPr>
            <p:nvPr/>
          </p:nvSpPr>
          <p:spPr bwMode="auto">
            <a:xfrm>
              <a:off x="1502" y="3471"/>
              <a:ext cx="8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9" name="Rectangle 21">
              <a:extLst>
                <a:ext uri="{FF2B5EF4-FFF2-40B4-BE49-F238E27FC236}">
                  <a16:creationId xmlns:a16="http://schemas.microsoft.com/office/drawing/2014/main" id="{AE11E344-D479-2A48-7591-21E879AEA55A}"/>
                </a:ext>
              </a:extLst>
            </p:cNvPr>
            <p:cNvSpPr>
              <a:spLocks noChangeArrowheads="1"/>
            </p:cNvSpPr>
            <p:nvPr/>
          </p:nvSpPr>
          <p:spPr bwMode="auto">
            <a:xfrm>
              <a:off x="3782"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70680" name="Line 22">
              <a:extLst>
                <a:ext uri="{FF2B5EF4-FFF2-40B4-BE49-F238E27FC236}">
                  <a16:creationId xmlns:a16="http://schemas.microsoft.com/office/drawing/2014/main" id="{AA96D9A1-E94D-C4FC-98B5-41BD9C394F6D}"/>
                </a:ext>
              </a:extLst>
            </p:cNvPr>
            <p:cNvSpPr>
              <a:spLocks noChangeShapeType="1"/>
            </p:cNvSpPr>
            <p:nvPr/>
          </p:nvSpPr>
          <p:spPr bwMode="auto">
            <a:xfrm>
              <a:off x="3287"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81" name="Text Box 23">
              <a:extLst>
                <a:ext uri="{FF2B5EF4-FFF2-40B4-BE49-F238E27FC236}">
                  <a16:creationId xmlns:a16="http://schemas.microsoft.com/office/drawing/2014/main" id="{1526DF67-BD63-2879-16B9-1EFE5635691E}"/>
                </a:ext>
              </a:extLst>
            </p:cNvPr>
            <p:cNvSpPr txBox="1">
              <a:spLocks noChangeArrowheads="1"/>
            </p:cNvSpPr>
            <p:nvPr/>
          </p:nvSpPr>
          <p:spPr bwMode="auto">
            <a:xfrm>
              <a:off x="3040" y="3062"/>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70682" name="Line 24">
              <a:extLst>
                <a:ext uri="{FF2B5EF4-FFF2-40B4-BE49-F238E27FC236}">
                  <a16:creationId xmlns:a16="http://schemas.microsoft.com/office/drawing/2014/main" id="{0CC26466-64BF-5530-E84E-9A76C826F9F1}"/>
                </a:ext>
              </a:extLst>
            </p:cNvPr>
            <p:cNvSpPr>
              <a:spLocks noChangeShapeType="1"/>
            </p:cNvSpPr>
            <p:nvPr/>
          </p:nvSpPr>
          <p:spPr bwMode="auto">
            <a:xfrm>
              <a:off x="2664"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83" name="Line 25">
              <a:extLst>
                <a:ext uri="{FF2B5EF4-FFF2-40B4-BE49-F238E27FC236}">
                  <a16:creationId xmlns:a16="http://schemas.microsoft.com/office/drawing/2014/main" id="{3F4044B8-C137-027B-4E99-7702FB8C1192}"/>
                </a:ext>
              </a:extLst>
            </p:cNvPr>
            <p:cNvSpPr>
              <a:spLocks noChangeShapeType="1"/>
            </p:cNvSpPr>
            <p:nvPr/>
          </p:nvSpPr>
          <p:spPr bwMode="auto">
            <a:xfrm>
              <a:off x="3204" y="2663"/>
              <a:ext cx="0" cy="50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84" name="Text Box 26">
              <a:extLst>
                <a:ext uri="{FF2B5EF4-FFF2-40B4-BE49-F238E27FC236}">
                  <a16:creationId xmlns:a16="http://schemas.microsoft.com/office/drawing/2014/main" id="{A0504537-5BCD-A1B5-0FE0-751234C8D9AB}"/>
                </a:ext>
              </a:extLst>
            </p:cNvPr>
            <p:cNvSpPr txBox="1">
              <a:spLocks noChangeArrowheads="1"/>
            </p:cNvSpPr>
            <p:nvPr/>
          </p:nvSpPr>
          <p:spPr bwMode="auto">
            <a:xfrm>
              <a:off x="3195" y="2688"/>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N</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0685" name="Text Box 27">
              <a:extLst>
                <a:ext uri="{FF2B5EF4-FFF2-40B4-BE49-F238E27FC236}">
                  <a16:creationId xmlns:a16="http://schemas.microsoft.com/office/drawing/2014/main" id="{1BD80CA6-DB3A-4F90-66C5-F39700983B15}"/>
                </a:ext>
              </a:extLst>
            </p:cNvPr>
            <p:cNvSpPr txBox="1">
              <a:spLocks noChangeArrowheads="1"/>
            </p:cNvSpPr>
            <p:nvPr/>
          </p:nvSpPr>
          <p:spPr bwMode="auto">
            <a:xfrm>
              <a:off x="3011" y="298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70686" name="Text Box 28">
              <a:extLst>
                <a:ext uri="{FF2B5EF4-FFF2-40B4-BE49-F238E27FC236}">
                  <a16:creationId xmlns:a16="http://schemas.microsoft.com/office/drawing/2014/main" id="{4555AF04-128A-7634-397C-2F7AFB0EB0C0}"/>
                </a:ext>
              </a:extLst>
            </p:cNvPr>
            <p:cNvSpPr txBox="1">
              <a:spLocks noChangeArrowheads="1"/>
            </p:cNvSpPr>
            <p:nvPr/>
          </p:nvSpPr>
          <p:spPr bwMode="auto">
            <a:xfrm>
              <a:off x="2872" y="3209"/>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70687" name="Oval 29">
              <a:extLst>
                <a:ext uri="{FF2B5EF4-FFF2-40B4-BE49-F238E27FC236}">
                  <a16:creationId xmlns:a16="http://schemas.microsoft.com/office/drawing/2014/main" id="{9617579A-0C23-7EC3-7184-0034ACF8A0E7}"/>
                </a:ext>
              </a:extLst>
            </p:cNvPr>
            <p:cNvSpPr>
              <a:spLocks noChangeArrowheads="1"/>
            </p:cNvSpPr>
            <p:nvPr/>
          </p:nvSpPr>
          <p:spPr bwMode="auto">
            <a:xfrm>
              <a:off x="4920" y="323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aphicFrame>
        <p:nvGraphicFramePr>
          <p:cNvPr id="70661" name="Object 43">
            <a:extLst>
              <a:ext uri="{FF2B5EF4-FFF2-40B4-BE49-F238E27FC236}">
                <a16:creationId xmlns:a16="http://schemas.microsoft.com/office/drawing/2014/main" id="{0A0FBFD2-2015-BFED-C153-BCC74A2C73B0}"/>
              </a:ext>
            </a:extLst>
          </p:cNvPr>
          <p:cNvGraphicFramePr>
            <a:graphicFrameLocks noChangeAspect="1"/>
          </p:cNvGraphicFramePr>
          <p:nvPr/>
        </p:nvGraphicFramePr>
        <p:xfrm>
          <a:off x="4284663" y="836613"/>
          <a:ext cx="1966912" cy="792162"/>
        </p:xfrm>
        <a:graphic>
          <a:graphicData uri="http://schemas.openxmlformats.org/presentationml/2006/ole">
            <mc:AlternateContent xmlns:mc="http://schemas.openxmlformats.org/markup-compatibility/2006">
              <mc:Choice xmlns:v="urn:schemas-microsoft-com:vml" Requires="v">
                <p:oleObj r:id="rId3" imgW="977476" imgH="393529" progId="Equation.3">
                  <p:embed/>
                </p:oleObj>
              </mc:Choice>
              <mc:Fallback>
                <p:oleObj r:id="rId3" imgW="977476" imgH="393529" progId="Equation.3">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836613"/>
                        <a:ext cx="196691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2" name="矩形 68">
            <a:extLst>
              <a:ext uri="{FF2B5EF4-FFF2-40B4-BE49-F238E27FC236}">
                <a16:creationId xmlns:a16="http://schemas.microsoft.com/office/drawing/2014/main" id="{983A1C79-3379-7C72-16E9-79BBCC7523F0}"/>
              </a:ext>
            </a:extLst>
          </p:cNvPr>
          <p:cNvSpPr>
            <a:spLocks noChangeArrowheads="1"/>
          </p:cNvSpPr>
          <p:nvPr/>
        </p:nvSpPr>
        <p:spPr bwMode="auto">
          <a:xfrm>
            <a:off x="539750" y="1052513"/>
            <a:ext cx="3775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系统结构图如下，其中</a:t>
            </a:r>
          </a:p>
        </p:txBody>
      </p:sp>
      <p:graphicFrame>
        <p:nvGraphicFramePr>
          <p:cNvPr id="70663" name="Object 44">
            <a:extLst>
              <a:ext uri="{FF2B5EF4-FFF2-40B4-BE49-F238E27FC236}">
                <a16:creationId xmlns:a16="http://schemas.microsoft.com/office/drawing/2014/main" id="{B8EADEC7-7B90-5374-DB77-52BE3327A123}"/>
              </a:ext>
            </a:extLst>
          </p:cNvPr>
          <p:cNvGraphicFramePr>
            <a:graphicFrameLocks noChangeAspect="1"/>
          </p:cNvGraphicFramePr>
          <p:nvPr/>
        </p:nvGraphicFramePr>
        <p:xfrm>
          <a:off x="6516688" y="765175"/>
          <a:ext cx="2219325" cy="938213"/>
        </p:xfrm>
        <a:graphic>
          <a:graphicData uri="http://schemas.openxmlformats.org/presentationml/2006/ole">
            <mc:AlternateContent xmlns:mc="http://schemas.openxmlformats.org/markup-compatibility/2006">
              <mc:Choice xmlns:v="urn:schemas-microsoft-com:vml" Requires="v">
                <p:oleObj r:id="rId5" imgW="990600" imgH="419100" progId="Equation.3">
                  <p:embed/>
                </p:oleObj>
              </mc:Choice>
              <mc:Fallback>
                <p:oleObj r:id="rId5" imgW="990600" imgH="419100"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6688" y="765175"/>
                        <a:ext cx="22193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669D4459-F8D4-8BA4-DD7B-9E3588D0A23B}"/>
              </a:ext>
            </a:extLst>
          </p:cNvPr>
          <p:cNvSpPr>
            <a:spLocks noChangeArrowheads="1"/>
          </p:cNvSpPr>
          <p:nvPr/>
        </p:nvSpPr>
        <p:spPr bwMode="auto">
          <a:xfrm>
            <a:off x="900113" y="908050"/>
            <a:ext cx="71628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latin typeface="宋体" panose="02010600030101010101" pitchFamily="2" charset="-122"/>
              </a:rPr>
              <a:t>解</a:t>
            </a:r>
            <a:r>
              <a:rPr lang="zh-CN" altLang="en-US" sz="2800">
                <a:latin typeface="宋体" panose="02010600030101010101" pitchFamily="2" charset="-122"/>
              </a:rPr>
              <a:t>：</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Times New Roman" panose="02020603050405020304" pitchFamily="18" charset="0"/>
              </a:rPr>
              <a:t>时，系统方框图变为：</a:t>
            </a:r>
          </a:p>
        </p:txBody>
      </p:sp>
      <p:sp>
        <p:nvSpPr>
          <p:cNvPr id="24584" name="Rectangle 34">
            <a:extLst>
              <a:ext uri="{FF2B5EF4-FFF2-40B4-BE49-F238E27FC236}">
                <a16:creationId xmlns:a16="http://schemas.microsoft.com/office/drawing/2014/main" id="{DAA55B3B-BCBC-75C7-A960-E20F7DC6084F}"/>
              </a:ext>
            </a:extLst>
          </p:cNvPr>
          <p:cNvSpPr>
            <a:spLocks noChangeArrowheads="1"/>
          </p:cNvSpPr>
          <p:nvPr/>
        </p:nvSpPr>
        <p:spPr bwMode="auto">
          <a:xfrm>
            <a:off x="468313" y="4005263"/>
            <a:ext cx="3416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系统开环传递函数：</a:t>
            </a:r>
          </a:p>
        </p:txBody>
      </p:sp>
      <p:grpSp>
        <p:nvGrpSpPr>
          <p:cNvPr id="2" name="Group 5">
            <a:extLst>
              <a:ext uri="{FF2B5EF4-FFF2-40B4-BE49-F238E27FC236}">
                <a16:creationId xmlns:a16="http://schemas.microsoft.com/office/drawing/2014/main" id="{44834E13-5DAE-78F5-AC2E-D5B056BC79DE}"/>
              </a:ext>
            </a:extLst>
          </p:cNvPr>
          <p:cNvGrpSpPr>
            <a:grpSpLocks/>
          </p:cNvGrpSpPr>
          <p:nvPr/>
        </p:nvGrpSpPr>
        <p:grpSpPr bwMode="auto">
          <a:xfrm>
            <a:off x="827088" y="1844675"/>
            <a:ext cx="7010400" cy="1752600"/>
            <a:chOff x="864" y="2928"/>
            <a:chExt cx="4416" cy="1104"/>
          </a:xfrm>
        </p:grpSpPr>
        <p:sp>
          <p:nvSpPr>
            <p:cNvPr id="72714" name="Rectangle 6">
              <a:extLst>
                <a:ext uri="{FF2B5EF4-FFF2-40B4-BE49-F238E27FC236}">
                  <a16:creationId xmlns:a16="http://schemas.microsoft.com/office/drawing/2014/main" id="{AFD2C5B4-212D-C557-86D2-1B14F141BD39}"/>
                </a:ext>
              </a:extLst>
            </p:cNvPr>
            <p:cNvSpPr>
              <a:spLocks noChangeArrowheads="1"/>
            </p:cNvSpPr>
            <p:nvPr/>
          </p:nvSpPr>
          <p:spPr bwMode="auto">
            <a:xfrm>
              <a:off x="2038"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72715" name="Rectangle 7">
              <a:extLst>
                <a:ext uri="{FF2B5EF4-FFF2-40B4-BE49-F238E27FC236}">
                  <a16:creationId xmlns:a16="http://schemas.microsoft.com/office/drawing/2014/main" id="{5DBFCCBF-F66A-BD8F-5E8E-8047CA895A97}"/>
                </a:ext>
              </a:extLst>
            </p:cNvPr>
            <p:cNvSpPr>
              <a:spLocks noChangeArrowheads="1"/>
            </p:cNvSpPr>
            <p:nvPr/>
          </p:nvSpPr>
          <p:spPr bwMode="auto">
            <a:xfrm>
              <a:off x="2786" y="3702"/>
              <a:ext cx="623"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H(s)=1</a:t>
              </a:r>
            </a:p>
          </p:txBody>
        </p:sp>
        <p:sp>
          <p:nvSpPr>
            <p:cNvPr id="72716" name="Line 8">
              <a:extLst>
                <a:ext uri="{FF2B5EF4-FFF2-40B4-BE49-F238E27FC236}">
                  <a16:creationId xmlns:a16="http://schemas.microsoft.com/office/drawing/2014/main" id="{8D4566D8-F10A-4B17-6B8E-905888C7F21A}"/>
                </a:ext>
              </a:extLst>
            </p:cNvPr>
            <p:cNvSpPr>
              <a:spLocks noChangeShapeType="1"/>
            </p:cNvSpPr>
            <p:nvPr/>
          </p:nvSpPr>
          <p:spPr bwMode="auto">
            <a:xfrm>
              <a:off x="1543" y="3255"/>
              <a:ext cx="4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7" name="Line 9">
              <a:extLst>
                <a:ext uri="{FF2B5EF4-FFF2-40B4-BE49-F238E27FC236}">
                  <a16:creationId xmlns:a16="http://schemas.microsoft.com/office/drawing/2014/main" id="{52534648-A0AC-C467-C5C0-0BA28149199D}"/>
                </a:ext>
              </a:extLst>
            </p:cNvPr>
            <p:cNvSpPr>
              <a:spLocks noChangeShapeType="1"/>
            </p:cNvSpPr>
            <p:nvPr/>
          </p:nvSpPr>
          <p:spPr bwMode="auto">
            <a:xfrm>
              <a:off x="4408" y="3255"/>
              <a:ext cx="87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8" name="Line 10">
              <a:extLst>
                <a:ext uri="{FF2B5EF4-FFF2-40B4-BE49-F238E27FC236}">
                  <a16:creationId xmlns:a16="http://schemas.microsoft.com/office/drawing/2014/main" id="{815775B6-BCCC-A731-77B3-F5D5E65EDB74}"/>
                </a:ext>
              </a:extLst>
            </p:cNvPr>
            <p:cNvSpPr>
              <a:spLocks noChangeShapeType="1"/>
            </p:cNvSpPr>
            <p:nvPr/>
          </p:nvSpPr>
          <p:spPr bwMode="auto">
            <a:xfrm>
              <a:off x="4948" y="3255"/>
              <a:ext cx="0" cy="6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9" name="Line 11">
              <a:extLst>
                <a:ext uri="{FF2B5EF4-FFF2-40B4-BE49-F238E27FC236}">
                  <a16:creationId xmlns:a16="http://schemas.microsoft.com/office/drawing/2014/main" id="{92C73EF6-7E4D-A0C4-0416-41F6F5898440}"/>
                </a:ext>
              </a:extLst>
            </p:cNvPr>
            <p:cNvSpPr>
              <a:spLocks noChangeShapeType="1"/>
            </p:cNvSpPr>
            <p:nvPr/>
          </p:nvSpPr>
          <p:spPr bwMode="auto">
            <a:xfrm flipH="1">
              <a:off x="3412" y="3857"/>
              <a:ext cx="15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0" name="Line 12">
              <a:extLst>
                <a:ext uri="{FF2B5EF4-FFF2-40B4-BE49-F238E27FC236}">
                  <a16:creationId xmlns:a16="http://schemas.microsoft.com/office/drawing/2014/main" id="{150E95A0-120D-68E5-02C5-B6FB05D9701B}"/>
                </a:ext>
              </a:extLst>
            </p:cNvPr>
            <p:cNvSpPr>
              <a:spLocks noChangeShapeType="1"/>
            </p:cNvSpPr>
            <p:nvPr/>
          </p:nvSpPr>
          <p:spPr bwMode="auto">
            <a:xfrm flipH="1">
              <a:off x="1461" y="3857"/>
              <a:ext cx="132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1" name="Line 13">
              <a:extLst>
                <a:ext uri="{FF2B5EF4-FFF2-40B4-BE49-F238E27FC236}">
                  <a16:creationId xmlns:a16="http://schemas.microsoft.com/office/drawing/2014/main" id="{1D296B15-EADB-92C6-AB19-378F6A61DB57}"/>
                </a:ext>
              </a:extLst>
            </p:cNvPr>
            <p:cNvSpPr>
              <a:spLocks noChangeShapeType="1"/>
            </p:cNvSpPr>
            <p:nvPr/>
          </p:nvSpPr>
          <p:spPr bwMode="auto">
            <a:xfrm flipV="1">
              <a:off x="1461" y="3319"/>
              <a:ext cx="0" cy="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2" name="Text Box 14">
              <a:extLst>
                <a:ext uri="{FF2B5EF4-FFF2-40B4-BE49-F238E27FC236}">
                  <a16:creationId xmlns:a16="http://schemas.microsoft.com/office/drawing/2014/main" id="{10BF0BCE-50DB-A6EB-F08D-801D8F15C919}"/>
                </a:ext>
              </a:extLst>
            </p:cNvPr>
            <p:cNvSpPr txBox="1">
              <a:spLocks noChangeArrowheads="1"/>
            </p:cNvSpPr>
            <p:nvPr/>
          </p:nvSpPr>
          <p:spPr bwMode="auto">
            <a:xfrm>
              <a:off x="1305" y="3056"/>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72723" name="Line 15">
              <a:extLst>
                <a:ext uri="{FF2B5EF4-FFF2-40B4-BE49-F238E27FC236}">
                  <a16:creationId xmlns:a16="http://schemas.microsoft.com/office/drawing/2014/main" id="{4144EEB8-B338-7F23-6DA2-BFA068C01996}"/>
                </a:ext>
              </a:extLst>
            </p:cNvPr>
            <p:cNvSpPr>
              <a:spLocks noChangeShapeType="1"/>
            </p:cNvSpPr>
            <p:nvPr/>
          </p:nvSpPr>
          <p:spPr bwMode="auto">
            <a:xfrm>
              <a:off x="920" y="3255"/>
              <a:ext cx="4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4" name="Text Box 16">
              <a:extLst>
                <a:ext uri="{FF2B5EF4-FFF2-40B4-BE49-F238E27FC236}">
                  <a16:creationId xmlns:a16="http://schemas.microsoft.com/office/drawing/2014/main" id="{5B9C359E-D3CE-9A5A-5665-E58CCD27A9A7}"/>
                </a:ext>
              </a:extLst>
            </p:cNvPr>
            <p:cNvSpPr txBox="1">
              <a:spLocks noChangeArrowheads="1"/>
            </p:cNvSpPr>
            <p:nvPr/>
          </p:nvSpPr>
          <p:spPr bwMode="auto">
            <a:xfrm>
              <a:off x="864" y="2928"/>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72725" name="Text Box 17">
              <a:extLst>
                <a:ext uri="{FF2B5EF4-FFF2-40B4-BE49-F238E27FC236}">
                  <a16:creationId xmlns:a16="http://schemas.microsoft.com/office/drawing/2014/main" id="{6D56F29A-F449-B6C2-E815-BBCB53156B2C}"/>
                </a:ext>
              </a:extLst>
            </p:cNvPr>
            <p:cNvSpPr txBox="1">
              <a:spLocks noChangeArrowheads="1"/>
            </p:cNvSpPr>
            <p:nvPr/>
          </p:nvSpPr>
          <p:spPr bwMode="auto">
            <a:xfrm>
              <a:off x="4694" y="2945"/>
              <a:ext cx="4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72726" name="Text Box 18">
              <a:extLst>
                <a:ext uri="{FF2B5EF4-FFF2-40B4-BE49-F238E27FC236}">
                  <a16:creationId xmlns:a16="http://schemas.microsoft.com/office/drawing/2014/main" id="{8B629406-668F-1F98-D413-E3C84FCFDA9B}"/>
                </a:ext>
              </a:extLst>
            </p:cNvPr>
            <p:cNvSpPr txBox="1">
              <a:spLocks noChangeArrowheads="1"/>
            </p:cNvSpPr>
            <p:nvPr/>
          </p:nvSpPr>
          <p:spPr bwMode="auto">
            <a:xfrm>
              <a:off x="1052" y="3382"/>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2727" name="Text Box 19">
              <a:extLst>
                <a:ext uri="{FF2B5EF4-FFF2-40B4-BE49-F238E27FC236}">
                  <a16:creationId xmlns:a16="http://schemas.microsoft.com/office/drawing/2014/main" id="{E32BD2AF-38B6-4824-AE85-22752635948B}"/>
                </a:ext>
              </a:extLst>
            </p:cNvPr>
            <p:cNvSpPr txBox="1">
              <a:spLocks noChangeArrowheads="1"/>
            </p:cNvSpPr>
            <p:nvPr/>
          </p:nvSpPr>
          <p:spPr bwMode="auto">
            <a:xfrm>
              <a:off x="1492" y="2941"/>
              <a:ext cx="4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2728" name="Line 20">
              <a:extLst>
                <a:ext uri="{FF2B5EF4-FFF2-40B4-BE49-F238E27FC236}">
                  <a16:creationId xmlns:a16="http://schemas.microsoft.com/office/drawing/2014/main" id="{35ACE1BA-84B2-DA4C-CCA3-6DA5729D24FF}"/>
                </a:ext>
              </a:extLst>
            </p:cNvPr>
            <p:cNvSpPr>
              <a:spLocks noChangeShapeType="1"/>
            </p:cNvSpPr>
            <p:nvPr/>
          </p:nvSpPr>
          <p:spPr bwMode="auto">
            <a:xfrm>
              <a:off x="1502" y="3471"/>
              <a:ext cx="8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9" name="Rectangle 21">
              <a:extLst>
                <a:ext uri="{FF2B5EF4-FFF2-40B4-BE49-F238E27FC236}">
                  <a16:creationId xmlns:a16="http://schemas.microsoft.com/office/drawing/2014/main" id="{AA211B6D-C1E5-F47A-7690-AF786CC0AA33}"/>
                </a:ext>
              </a:extLst>
            </p:cNvPr>
            <p:cNvSpPr>
              <a:spLocks noChangeArrowheads="1"/>
            </p:cNvSpPr>
            <p:nvPr/>
          </p:nvSpPr>
          <p:spPr bwMode="auto">
            <a:xfrm>
              <a:off x="3782" y="3100"/>
              <a:ext cx="624"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72730" name="Line 24">
              <a:extLst>
                <a:ext uri="{FF2B5EF4-FFF2-40B4-BE49-F238E27FC236}">
                  <a16:creationId xmlns:a16="http://schemas.microsoft.com/office/drawing/2014/main" id="{15853F82-CC95-7AA1-EDE1-20632F20108F}"/>
                </a:ext>
              </a:extLst>
            </p:cNvPr>
            <p:cNvSpPr>
              <a:spLocks noChangeShapeType="1"/>
            </p:cNvSpPr>
            <p:nvPr/>
          </p:nvSpPr>
          <p:spPr bwMode="auto">
            <a:xfrm flipV="1">
              <a:off x="2664" y="3253"/>
              <a:ext cx="1103" cy="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31" name="Oval 29">
              <a:extLst>
                <a:ext uri="{FF2B5EF4-FFF2-40B4-BE49-F238E27FC236}">
                  <a16:creationId xmlns:a16="http://schemas.microsoft.com/office/drawing/2014/main" id="{EA6E455E-B97A-48D2-26A2-010C27F444A1}"/>
                </a:ext>
              </a:extLst>
            </p:cNvPr>
            <p:cNvSpPr>
              <a:spLocks noChangeArrowheads="1"/>
            </p:cNvSpPr>
            <p:nvPr/>
          </p:nvSpPr>
          <p:spPr bwMode="auto">
            <a:xfrm>
              <a:off x="4920" y="323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aphicFrame>
        <p:nvGraphicFramePr>
          <p:cNvPr id="24578" name="Object 34">
            <a:extLst>
              <a:ext uri="{FF2B5EF4-FFF2-40B4-BE49-F238E27FC236}">
                <a16:creationId xmlns:a16="http://schemas.microsoft.com/office/drawing/2014/main" id="{0A427F2D-2A21-1C95-88C5-CC0B90D673BA}"/>
              </a:ext>
            </a:extLst>
          </p:cNvPr>
          <p:cNvGraphicFramePr>
            <a:graphicFrameLocks noChangeAspect="1"/>
          </p:cNvGraphicFramePr>
          <p:nvPr/>
        </p:nvGraphicFramePr>
        <p:xfrm>
          <a:off x="3851275" y="4076700"/>
          <a:ext cx="4921250" cy="792163"/>
        </p:xfrm>
        <a:graphic>
          <a:graphicData uri="http://schemas.openxmlformats.org/presentationml/2006/ole">
            <mc:AlternateContent xmlns:mc="http://schemas.openxmlformats.org/markup-compatibility/2006">
              <mc:Choice xmlns:v="urn:schemas-microsoft-com:vml" Requires="v">
                <p:oleObj r:id="rId3" imgW="2603500" imgH="419100" progId="Equation.3">
                  <p:embed/>
                </p:oleObj>
              </mc:Choice>
              <mc:Fallback>
                <p:oleObj r:id="rId3" imgW="2603500" imgH="419100"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4076700"/>
                        <a:ext cx="49212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10" name="Object 35">
            <a:extLst>
              <a:ext uri="{FF2B5EF4-FFF2-40B4-BE49-F238E27FC236}">
                <a16:creationId xmlns:a16="http://schemas.microsoft.com/office/drawing/2014/main" id="{56B7CAB8-0F10-6396-EE86-FE360EB833AC}"/>
              </a:ext>
            </a:extLst>
          </p:cNvPr>
          <p:cNvGraphicFramePr>
            <a:graphicFrameLocks noChangeAspect="1"/>
          </p:cNvGraphicFramePr>
          <p:nvPr/>
        </p:nvGraphicFramePr>
        <p:xfrm>
          <a:off x="4211638" y="71438"/>
          <a:ext cx="1966912" cy="792162"/>
        </p:xfrm>
        <a:graphic>
          <a:graphicData uri="http://schemas.openxmlformats.org/presentationml/2006/ole">
            <mc:AlternateContent xmlns:mc="http://schemas.openxmlformats.org/markup-compatibility/2006">
              <mc:Choice xmlns:v="urn:schemas-microsoft-com:vml" Requires="v">
                <p:oleObj r:id="rId5" imgW="977476" imgH="393529" progId="Equation.3">
                  <p:embed/>
                </p:oleObj>
              </mc:Choice>
              <mc:Fallback>
                <p:oleObj r:id="rId5" imgW="977476" imgH="393529"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638" y="71438"/>
                        <a:ext cx="196691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11" name="Object 36">
            <a:extLst>
              <a:ext uri="{FF2B5EF4-FFF2-40B4-BE49-F238E27FC236}">
                <a16:creationId xmlns:a16="http://schemas.microsoft.com/office/drawing/2014/main" id="{51445D7E-13C3-B407-8B59-D4B824A231C2}"/>
              </a:ext>
            </a:extLst>
          </p:cNvPr>
          <p:cNvGraphicFramePr>
            <a:graphicFrameLocks noChangeAspect="1"/>
          </p:cNvGraphicFramePr>
          <p:nvPr/>
        </p:nvGraphicFramePr>
        <p:xfrm>
          <a:off x="6443663" y="0"/>
          <a:ext cx="2219325" cy="938213"/>
        </p:xfrm>
        <a:graphic>
          <a:graphicData uri="http://schemas.openxmlformats.org/presentationml/2006/ole">
            <mc:AlternateContent xmlns:mc="http://schemas.openxmlformats.org/markup-compatibility/2006">
              <mc:Choice xmlns:v="urn:schemas-microsoft-com:vml" Requires="v">
                <p:oleObj r:id="rId7" imgW="990600" imgH="419100" progId="Equation.3">
                  <p:embed/>
                </p:oleObj>
              </mc:Choice>
              <mc:Fallback>
                <p:oleObj r:id="rId7" imgW="990600" imgH="419100"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0"/>
                        <a:ext cx="22193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1" name="Object 37">
            <a:extLst>
              <a:ext uri="{FF2B5EF4-FFF2-40B4-BE49-F238E27FC236}">
                <a16:creationId xmlns:a16="http://schemas.microsoft.com/office/drawing/2014/main" id="{1510CB8E-AA52-95E6-C45A-5B03E7D4937C}"/>
              </a:ext>
            </a:extLst>
          </p:cNvPr>
          <p:cNvGraphicFramePr>
            <a:graphicFrameLocks noChangeAspect="1"/>
          </p:cNvGraphicFramePr>
          <p:nvPr/>
        </p:nvGraphicFramePr>
        <p:xfrm>
          <a:off x="1908175" y="4868863"/>
          <a:ext cx="4097338" cy="622300"/>
        </p:xfrm>
        <a:graphic>
          <a:graphicData uri="http://schemas.openxmlformats.org/presentationml/2006/ole">
            <mc:AlternateContent xmlns:mc="http://schemas.openxmlformats.org/markup-compatibility/2006">
              <mc:Choice xmlns:v="urn:schemas-microsoft-com:vml" Requires="v">
                <p:oleObj r:id="rId9" imgW="1841500" imgH="279400" progId="Equation.3">
                  <p:embed/>
                </p:oleObj>
              </mc:Choice>
              <mc:Fallback>
                <p:oleObj r:id="rId9" imgW="1841500" imgH="279400" progId="Equation.3">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8175" y="4868863"/>
                        <a:ext cx="40973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2" name="Object 38">
            <a:extLst>
              <a:ext uri="{FF2B5EF4-FFF2-40B4-BE49-F238E27FC236}">
                <a16:creationId xmlns:a16="http://schemas.microsoft.com/office/drawing/2014/main" id="{880A44BE-5123-8C52-923D-49431C555E2B}"/>
              </a:ext>
            </a:extLst>
          </p:cNvPr>
          <p:cNvGraphicFramePr>
            <a:graphicFrameLocks noChangeAspect="1"/>
          </p:cNvGraphicFramePr>
          <p:nvPr/>
        </p:nvGraphicFramePr>
        <p:xfrm>
          <a:off x="2411413" y="5516563"/>
          <a:ext cx="2230437" cy="1054100"/>
        </p:xfrm>
        <a:graphic>
          <a:graphicData uri="http://schemas.openxmlformats.org/presentationml/2006/ole">
            <mc:AlternateContent xmlns:mc="http://schemas.openxmlformats.org/markup-compatibility/2006">
              <mc:Choice xmlns:v="urn:schemas-microsoft-com:vml" Requires="v">
                <p:oleObj r:id="rId11" imgW="914400" imgH="431800" progId="Equation.3">
                  <p:embed/>
                </p:oleObj>
              </mc:Choice>
              <mc:Fallback>
                <p:oleObj r:id="rId11" imgW="914400" imgH="431800" progId="Equation.3">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1413" y="5516563"/>
                        <a:ext cx="223043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24584"/>
                                        </p:tgtEl>
                                        <p:attrNameLst>
                                          <p:attrName>style.visibility</p:attrName>
                                        </p:attrNameLst>
                                      </p:cBhvr>
                                      <p:to>
                                        <p:strVal val="visible"/>
                                      </p:to>
                                    </p:set>
                                    <p:animEffect transition="in" filter="blinds(horizontal)">
                                      <p:cBhvr>
                                        <p:cTn id="13" dur="500"/>
                                        <p:tgtEl>
                                          <p:spTgt spid="24584"/>
                                        </p:tgtEl>
                                      </p:cBhvr>
                                    </p:animEffect>
                                  </p:childTnLst>
                                </p:cTn>
                              </p:par>
                              <p:par>
                                <p:cTn id="14" presetID="3" presetClass="entr" presetSubtype="10" fill="hold" nodeType="withEffect">
                                  <p:stCondLst>
                                    <p:cond delay="0"/>
                                  </p:stCondLst>
                                  <p:childTnLst>
                                    <p:set>
                                      <p:cBhvr>
                                        <p:cTn id="15" dur="1" fill="hold">
                                          <p:stCondLst>
                                            <p:cond delay="0"/>
                                          </p:stCondLst>
                                        </p:cTn>
                                        <p:tgtEl>
                                          <p:spTgt spid="24578"/>
                                        </p:tgtEl>
                                        <p:attrNameLst>
                                          <p:attrName>style.visibility</p:attrName>
                                        </p:attrNameLst>
                                      </p:cBhvr>
                                      <p:to>
                                        <p:strVal val="visible"/>
                                      </p:to>
                                    </p:set>
                                    <p:animEffect transition="in" filter="blinds(horizontal)">
                                      <p:cBhvr>
                                        <p:cTn id="16" dur="500"/>
                                        <p:tgtEl>
                                          <p:spTgt spid="2457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458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4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3028962A-6B0F-7019-87A3-3C157BA30A35}"/>
              </a:ext>
            </a:extLst>
          </p:cNvPr>
          <p:cNvSpPr>
            <a:spLocks noChangeArrowheads="1"/>
          </p:cNvSpPr>
          <p:nvPr/>
        </p:nvSpPr>
        <p:spPr bwMode="auto">
          <a:xfrm>
            <a:off x="889000" y="627063"/>
            <a:ext cx="680878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只有扰动作用时</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)=0,n(t)=-1(t),N(s)=-1/s )</a:t>
            </a:r>
          </a:p>
        </p:txBody>
      </p:sp>
      <p:graphicFrame>
        <p:nvGraphicFramePr>
          <p:cNvPr id="25602" name="Object 36">
            <a:extLst>
              <a:ext uri="{FF2B5EF4-FFF2-40B4-BE49-F238E27FC236}">
                <a16:creationId xmlns:a16="http://schemas.microsoft.com/office/drawing/2014/main" id="{1F4DD932-AAA8-52D1-273E-2DAB6AAFAA50}"/>
              </a:ext>
            </a:extLst>
          </p:cNvPr>
          <p:cNvGraphicFramePr>
            <a:graphicFrameLocks noChangeAspect="1"/>
          </p:cNvGraphicFramePr>
          <p:nvPr/>
        </p:nvGraphicFramePr>
        <p:xfrm>
          <a:off x="1187450" y="3141663"/>
          <a:ext cx="6899275" cy="1485900"/>
        </p:xfrm>
        <a:graphic>
          <a:graphicData uri="http://schemas.openxmlformats.org/presentationml/2006/ole">
            <mc:AlternateContent xmlns:mc="http://schemas.openxmlformats.org/markup-compatibility/2006">
              <mc:Choice xmlns:v="urn:schemas-microsoft-com:vml" Requires="v">
                <p:oleObj r:id="rId3" imgW="3771900" imgH="812800" progId="Equation.3">
                  <p:embed/>
                </p:oleObj>
              </mc:Choice>
              <mc:Fallback>
                <p:oleObj r:id="rId3" imgW="3771900" imgH="81280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3141663"/>
                        <a:ext cx="689927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3" name="Object 37">
            <a:extLst>
              <a:ext uri="{FF2B5EF4-FFF2-40B4-BE49-F238E27FC236}">
                <a16:creationId xmlns:a16="http://schemas.microsoft.com/office/drawing/2014/main" id="{57A5E901-F85B-CF1F-7C3B-C42A26EF3F63}"/>
              </a:ext>
            </a:extLst>
          </p:cNvPr>
          <p:cNvGraphicFramePr>
            <a:graphicFrameLocks noChangeAspect="1"/>
          </p:cNvGraphicFramePr>
          <p:nvPr/>
        </p:nvGraphicFramePr>
        <p:xfrm>
          <a:off x="971550" y="4724400"/>
          <a:ext cx="7404100" cy="936625"/>
        </p:xfrm>
        <a:graphic>
          <a:graphicData uri="http://schemas.openxmlformats.org/presentationml/2006/ole">
            <mc:AlternateContent xmlns:mc="http://schemas.openxmlformats.org/markup-compatibility/2006">
              <mc:Choice xmlns:v="urn:schemas-microsoft-com:vml" Requires="v">
                <p:oleObj r:id="rId5" imgW="3314700" imgH="419100" progId="Equation.3">
                  <p:embed/>
                </p:oleObj>
              </mc:Choice>
              <mc:Fallback>
                <p:oleObj r:id="rId5" imgW="3314700" imgH="419100"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4724400"/>
                        <a:ext cx="74041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5606" name="Picture 39">
            <a:extLst>
              <a:ext uri="{FF2B5EF4-FFF2-40B4-BE49-F238E27FC236}">
                <a16:creationId xmlns:a16="http://schemas.microsoft.com/office/drawing/2014/main" id="{C8887BC4-C8FA-58AB-8BF4-5F66B71347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1484313"/>
            <a:ext cx="4722812"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604" name="Object 40">
            <a:extLst>
              <a:ext uri="{FF2B5EF4-FFF2-40B4-BE49-F238E27FC236}">
                <a16:creationId xmlns:a16="http://schemas.microsoft.com/office/drawing/2014/main" id="{42E22066-7E58-F735-6F61-EBEB91689095}"/>
              </a:ext>
            </a:extLst>
          </p:cNvPr>
          <p:cNvGraphicFramePr>
            <a:graphicFrameLocks noChangeAspect="1"/>
          </p:cNvGraphicFramePr>
          <p:nvPr/>
        </p:nvGraphicFramePr>
        <p:xfrm>
          <a:off x="1619250" y="5805488"/>
          <a:ext cx="6108700" cy="747712"/>
        </p:xfrm>
        <a:graphic>
          <a:graphicData uri="http://schemas.openxmlformats.org/presentationml/2006/ole">
            <mc:AlternateContent xmlns:mc="http://schemas.openxmlformats.org/markup-compatibility/2006">
              <mc:Choice xmlns:v="urn:schemas-microsoft-com:vml" Requires="v">
                <p:oleObj r:id="rId8" imgW="1866900" imgH="228600" progId="Equation.3">
                  <p:embed/>
                </p:oleObj>
              </mc:Choice>
              <mc:Fallback>
                <p:oleObj r:id="rId8" imgW="1866900" imgH="228600" progId="Equation.3">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5805488"/>
                        <a:ext cx="610870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9" name="文本框 1">
            <a:extLst>
              <a:ext uri="{FF2B5EF4-FFF2-40B4-BE49-F238E27FC236}">
                <a16:creationId xmlns:a16="http://schemas.microsoft.com/office/drawing/2014/main" id="{5236217F-7314-94A4-AB50-C1016B2E9738}"/>
              </a:ext>
            </a:extLst>
          </p:cNvPr>
          <p:cNvSpPr txBox="1">
            <a:spLocks noChangeArrowheads="1"/>
          </p:cNvSpPr>
          <p:nvPr/>
        </p:nvSpPr>
        <p:spPr bwMode="auto">
          <a:xfrm>
            <a:off x="7207250" y="1673225"/>
            <a:ext cx="1800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sym typeface="Symbol" panose="05050102010706020507" pitchFamily="18" charset="2"/>
              </a:rPr>
              <a:t>单位反馈系统：</a:t>
            </a:r>
            <a:endParaRPr lang="en-US" altLang="zh-CN">
              <a:sym typeface="Symbol" panose="05050102010706020507" pitchFamily="18" charset="2"/>
            </a:endParaRPr>
          </a:p>
          <a:p>
            <a:pPr eaLnBrk="1" hangingPunct="1"/>
            <a:r>
              <a:rPr lang="zh-CN" altLang="en-US">
                <a:sym typeface="Symbol" panose="05050102010706020507" pitchFamily="18" charset="2"/>
              </a:rPr>
              <a:t></a:t>
            </a:r>
            <a:r>
              <a:rPr lang="en-US" altLang="zh-CN">
                <a:sym typeface="Symbol" panose="05050102010706020507" pitchFamily="18" charset="2"/>
              </a:rPr>
              <a:t>(s)=E(s)</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blinds(horizontal)">
                                      <p:cBhvr>
                                        <p:cTn id="7" dur="500"/>
                                        <p:tgtEl>
                                          <p:spTgt spid="256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560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560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256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文本框 1">
            <a:extLst>
              <a:ext uri="{FF2B5EF4-FFF2-40B4-BE49-F238E27FC236}">
                <a16:creationId xmlns:a16="http://schemas.microsoft.com/office/drawing/2014/main" id="{559D9F54-6CB4-0BED-ACC4-75F4A7E87C2F}"/>
              </a:ext>
            </a:extLst>
          </p:cNvPr>
          <p:cNvSpPr txBox="1">
            <a:spLocks noChangeArrowheads="1"/>
          </p:cNvSpPr>
          <p:nvPr/>
        </p:nvSpPr>
        <p:spPr bwMode="auto">
          <a:xfrm>
            <a:off x="1331913" y="2420938"/>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200"/>
              <a:t>作业：</a:t>
            </a:r>
          </a:p>
        </p:txBody>
      </p:sp>
      <p:sp>
        <p:nvSpPr>
          <p:cNvPr id="76803" name="文本框 2">
            <a:extLst>
              <a:ext uri="{FF2B5EF4-FFF2-40B4-BE49-F238E27FC236}">
                <a16:creationId xmlns:a16="http://schemas.microsoft.com/office/drawing/2014/main" id="{FA3B5240-A1A3-19D4-D07C-E2BDC18672C6}"/>
              </a:ext>
            </a:extLst>
          </p:cNvPr>
          <p:cNvSpPr txBox="1">
            <a:spLocks noChangeArrowheads="1"/>
          </p:cNvSpPr>
          <p:nvPr/>
        </p:nvSpPr>
        <p:spPr bwMode="auto">
          <a:xfrm>
            <a:off x="2039938" y="3573463"/>
            <a:ext cx="326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P131</a:t>
            </a:r>
            <a:r>
              <a:rPr lang="zh-CN" altLang="en-US" sz="2800"/>
              <a:t>：</a:t>
            </a:r>
            <a:r>
              <a:rPr lang="en-US" altLang="zh-CN" sz="2800"/>
              <a:t>3-9</a:t>
            </a:r>
            <a:r>
              <a:rPr lang="zh-CN" altLang="en-US" sz="2800"/>
              <a:t>，</a:t>
            </a:r>
            <a:r>
              <a:rPr lang="en-US" altLang="zh-CN" sz="2800"/>
              <a:t>3-11</a:t>
            </a:r>
            <a:endParaRPr lang="zh-CN" altLang="en-US"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4">
            <a:extLst>
              <a:ext uri="{FF2B5EF4-FFF2-40B4-BE49-F238E27FC236}">
                <a16:creationId xmlns:a16="http://schemas.microsoft.com/office/drawing/2014/main" id="{3CBB0C2B-0572-BCE3-C9DB-A10A6A6456E4}"/>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77827" name="Rectangle 6">
            <a:extLst>
              <a:ext uri="{FF2B5EF4-FFF2-40B4-BE49-F238E27FC236}">
                <a16:creationId xmlns:a16="http://schemas.microsoft.com/office/drawing/2014/main" id="{ACF74117-702E-1CC1-5B8D-BD9726928038}"/>
              </a:ext>
            </a:extLst>
          </p:cNvPr>
          <p:cNvSpPr>
            <a:spLocks noChangeArrowheads="1"/>
          </p:cNvSpPr>
          <p:nvPr/>
        </p:nvSpPr>
        <p:spPr bwMode="auto">
          <a:xfrm>
            <a:off x="1689100" y="2089150"/>
            <a:ext cx="5562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77828" name="Rectangle 7">
            <a:extLst>
              <a:ext uri="{FF2B5EF4-FFF2-40B4-BE49-F238E27FC236}">
                <a16:creationId xmlns:a16="http://schemas.microsoft.com/office/drawing/2014/main" id="{AD136C95-F840-4221-2B7D-788B1FE6519E}"/>
              </a:ext>
            </a:extLst>
          </p:cNvPr>
          <p:cNvSpPr>
            <a:spLocks noChangeArrowheads="1"/>
          </p:cNvSpPr>
          <p:nvPr/>
        </p:nvSpPr>
        <p:spPr bwMode="auto">
          <a:xfrm>
            <a:off x="1762125" y="27051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3.2   </a:t>
            </a:r>
            <a:r>
              <a:rPr lang="zh-CN" altLang="en-US" sz="2800">
                <a:latin typeface="Times New Roman" panose="02020603050405020304" pitchFamily="18" charset="0"/>
                <a:ea typeface="黑体" panose="02010609060101010101" pitchFamily="49" charset="-122"/>
              </a:rPr>
              <a:t>二阶系统的时间响应</a:t>
            </a:r>
          </a:p>
        </p:txBody>
      </p:sp>
      <p:sp>
        <p:nvSpPr>
          <p:cNvPr id="77829" name="Rectangle 8">
            <a:extLst>
              <a:ext uri="{FF2B5EF4-FFF2-40B4-BE49-F238E27FC236}">
                <a16:creationId xmlns:a16="http://schemas.microsoft.com/office/drawing/2014/main" id="{1F88DB47-54B0-242A-F7D3-321DF312E838}"/>
              </a:ext>
            </a:extLst>
          </p:cNvPr>
          <p:cNvSpPr>
            <a:spLocks noChangeArrowheads="1"/>
          </p:cNvSpPr>
          <p:nvPr/>
        </p:nvSpPr>
        <p:spPr bwMode="auto">
          <a:xfrm>
            <a:off x="1762125" y="3181350"/>
            <a:ext cx="53340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77830" name="Rectangle 9">
            <a:extLst>
              <a:ext uri="{FF2B5EF4-FFF2-40B4-BE49-F238E27FC236}">
                <a16:creationId xmlns:a16="http://schemas.microsoft.com/office/drawing/2014/main" id="{1E52071D-12BF-AB27-ED2D-7E2CEFD286A4}"/>
              </a:ext>
            </a:extLst>
          </p:cNvPr>
          <p:cNvSpPr>
            <a:spLocks noChangeArrowheads="1"/>
          </p:cNvSpPr>
          <p:nvPr/>
        </p:nvSpPr>
        <p:spPr bwMode="auto">
          <a:xfrm>
            <a:off x="1762125" y="3760788"/>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3.4   </a:t>
            </a:r>
            <a:r>
              <a:rPr lang="zh-CN" altLang="en-US" sz="2800">
                <a:latin typeface="Times New Roman" panose="02020603050405020304" pitchFamily="18" charset="0"/>
                <a:ea typeface="黑体" panose="02010609060101010101" pitchFamily="49" charset="-122"/>
              </a:rPr>
              <a:t>误差分析和计算</a:t>
            </a:r>
          </a:p>
        </p:txBody>
      </p:sp>
      <p:sp>
        <p:nvSpPr>
          <p:cNvPr id="77831" name="Rectangle 9">
            <a:extLst>
              <a:ext uri="{FF2B5EF4-FFF2-40B4-BE49-F238E27FC236}">
                <a16:creationId xmlns:a16="http://schemas.microsoft.com/office/drawing/2014/main" id="{4CE39191-49DA-FC0F-3FDD-BAD2AE117AEC}"/>
              </a:ext>
            </a:extLst>
          </p:cNvPr>
          <p:cNvSpPr>
            <a:spLocks noChangeArrowheads="1"/>
          </p:cNvSpPr>
          <p:nvPr/>
        </p:nvSpPr>
        <p:spPr bwMode="auto">
          <a:xfrm>
            <a:off x="1762125" y="4335463"/>
            <a:ext cx="60467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3.5   </a:t>
            </a:r>
            <a:r>
              <a:rPr lang="zh-CN" altLang="en-US" sz="2800">
                <a:solidFill>
                  <a:srgbClr val="FF0000"/>
                </a:solidFill>
                <a:latin typeface="Times New Roman" panose="02020603050405020304" pitchFamily="18" charset="0"/>
                <a:ea typeface="黑体" panose="02010609060101010101" pitchFamily="49" charset="-122"/>
              </a:rPr>
              <a:t>稳定性分析</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76E48C72-767D-1DB6-9B30-E738F79471B6}"/>
              </a:ext>
            </a:extLst>
          </p:cNvPr>
          <p:cNvGrpSpPr>
            <a:grpSpLocks/>
          </p:cNvGrpSpPr>
          <p:nvPr/>
        </p:nvGrpSpPr>
        <p:grpSpPr bwMode="auto">
          <a:xfrm>
            <a:off x="5464175" y="2425700"/>
            <a:ext cx="2492375" cy="3433763"/>
            <a:chOff x="3456" y="1920"/>
            <a:chExt cx="1570" cy="2163"/>
          </a:xfrm>
        </p:grpSpPr>
        <p:sp>
          <p:nvSpPr>
            <p:cNvPr id="79890" name="Rectangle 4" descr="宽上对角线">
              <a:extLst>
                <a:ext uri="{FF2B5EF4-FFF2-40B4-BE49-F238E27FC236}">
                  <a16:creationId xmlns:a16="http://schemas.microsoft.com/office/drawing/2014/main" id="{EF50F148-B779-923F-F121-7AC567A0B04E}"/>
                </a:ext>
              </a:extLst>
            </p:cNvPr>
            <p:cNvSpPr>
              <a:spLocks noChangeArrowheads="1"/>
            </p:cNvSpPr>
            <p:nvPr/>
          </p:nvSpPr>
          <p:spPr bwMode="auto">
            <a:xfrm>
              <a:off x="3620" y="3552"/>
              <a:ext cx="1104" cy="192"/>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9891" name="Line 5">
              <a:extLst>
                <a:ext uri="{FF2B5EF4-FFF2-40B4-BE49-F238E27FC236}">
                  <a16:creationId xmlns:a16="http://schemas.microsoft.com/office/drawing/2014/main" id="{CFBB2785-015F-FF3C-6171-DF7DDA5EEF83}"/>
                </a:ext>
              </a:extLst>
            </p:cNvPr>
            <p:cNvSpPr>
              <a:spLocks noChangeShapeType="1"/>
            </p:cNvSpPr>
            <p:nvPr/>
          </p:nvSpPr>
          <p:spPr bwMode="auto">
            <a:xfrm>
              <a:off x="3620" y="3552"/>
              <a:ext cx="11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2" name="Oval 6">
              <a:extLst>
                <a:ext uri="{FF2B5EF4-FFF2-40B4-BE49-F238E27FC236}">
                  <a16:creationId xmlns:a16="http://schemas.microsoft.com/office/drawing/2014/main" id="{BA7725D6-3CD5-BC04-73DC-A8C42F01F74C}"/>
                </a:ext>
              </a:extLst>
            </p:cNvPr>
            <p:cNvSpPr>
              <a:spLocks noChangeArrowheads="1"/>
            </p:cNvSpPr>
            <p:nvPr/>
          </p:nvSpPr>
          <p:spPr bwMode="auto">
            <a:xfrm>
              <a:off x="4100" y="3312"/>
              <a:ext cx="96" cy="96"/>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9893" name="Line 7">
              <a:extLst>
                <a:ext uri="{FF2B5EF4-FFF2-40B4-BE49-F238E27FC236}">
                  <a16:creationId xmlns:a16="http://schemas.microsoft.com/office/drawing/2014/main" id="{DC4014B7-D801-73BE-3923-751A1770A40A}"/>
                </a:ext>
              </a:extLst>
            </p:cNvPr>
            <p:cNvSpPr>
              <a:spLocks noChangeShapeType="1"/>
            </p:cNvSpPr>
            <p:nvPr/>
          </p:nvSpPr>
          <p:spPr bwMode="auto">
            <a:xfrm flipH="1">
              <a:off x="4004" y="3408"/>
              <a:ext cx="144"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4" name="Line 8">
              <a:extLst>
                <a:ext uri="{FF2B5EF4-FFF2-40B4-BE49-F238E27FC236}">
                  <a16:creationId xmlns:a16="http://schemas.microsoft.com/office/drawing/2014/main" id="{9305A486-4CAE-027E-875C-F43910A0B0F3}"/>
                </a:ext>
              </a:extLst>
            </p:cNvPr>
            <p:cNvSpPr>
              <a:spLocks noChangeShapeType="1"/>
            </p:cNvSpPr>
            <p:nvPr/>
          </p:nvSpPr>
          <p:spPr bwMode="auto">
            <a:xfrm>
              <a:off x="4148" y="3408"/>
              <a:ext cx="144"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5" name="Line 9">
              <a:extLst>
                <a:ext uri="{FF2B5EF4-FFF2-40B4-BE49-F238E27FC236}">
                  <a16:creationId xmlns:a16="http://schemas.microsoft.com/office/drawing/2014/main" id="{34278036-F435-BE27-9C9A-C975D6A287F0}"/>
                </a:ext>
              </a:extLst>
            </p:cNvPr>
            <p:cNvSpPr>
              <a:spLocks noChangeShapeType="1"/>
            </p:cNvSpPr>
            <p:nvPr/>
          </p:nvSpPr>
          <p:spPr bwMode="auto">
            <a:xfrm flipV="1">
              <a:off x="4148" y="2112"/>
              <a:ext cx="0" cy="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6" name="Oval 10" descr="宽上对角线">
              <a:extLst>
                <a:ext uri="{FF2B5EF4-FFF2-40B4-BE49-F238E27FC236}">
                  <a16:creationId xmlns:a16="http://schemas.microsoft.com/office/drawing/2014/main" id="{0C7C72B8-8F10-B058-946D-636BF36D24A5}"/>
                </a:ext>
              </a:extLst>
            </p:cNvPr>
            <p:cNvSpPr>
              <a:spLocks noChangeArrowheads="1"/>
            </p:cNvSpPr>
            <p:nvPr/>
          </p:nvSpPr>
          <p:spPr bwMode="auto">
            <a:xfrm>
              <a:off x="4004" y="1920"/>
              <a:ext cx="288" cy="288"/>
            </a:xfrm>
            <a:prstGeom prst="ellipse">
              <a:avLst/>
            </a:prstGeom>
            <a:blipFill dpi="0" rotWithShape="0">
              <a:blip r:embed="rId3"/>
              <a:srcRect/>
              <a:tile tx="0" ty="0" sx="100000" sy="100000" flip="none" algn="tl"/>
            </a:blipFill>
            <a:ln w="38100">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9897" name="Text Box 11" descr="宽上对角线">
              <a:extLst>
                <a:ext uri="{FF2B5EF4-FFF2-40B4-BE49-F238E27FC236}">
                  <a16:creationId xmlns:a16="http://schemas.microsoft.com/office/drawing/2014/main" id="{8202D576-2ECC-066A-4B02-9D8979691DC8}"/>
                </a:ext>
              </a:extLst>
            </p:cNvPr>
            <p:cNvSpPr txBox="1">
              <a:spLocks noChangeArrowheads="1"/>
            </p:cNvSpPr>
            <p:nvPr/>
          </p:nvSpPr>
          <p:spPr bwMode="auto">
            <a:xfrm>
              <a:off x="3749" y="192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p>
          </p:txBody>
        </p:sp>
        <p:sp>
          <p:nvSpPr>
            <p:cNvPr id="79898" name="Text Box 12" descr="宽上对角线">
              <a:extLst>
                <a:ext uri="{FF2B5EF4-FFF2-40B4-BE49-F238E27FC236}">
                  <a16:creationId xmlns:a16="http://schemas.microsoft.com/office/drawing/2014/main" id="{61025968-1A3A-5CD1-AAFB-576675327984}"/>
                </a:ext>
              </a:extLst>
            </p:cNvPr>
            <p:cNvSpPr txBox="1">
              <a:spLocks noChangeArrowheads="1"/>
            </p:cNvSpPr>
            <p:nvPr/>
          </p:nvSpPr>
          <p:spPr bwMode="auto">
            <a:xfrm>
              <a:off x="3456" y="3792"/>
              <a:ext cx="157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b</a:t>
              </a:r>
              <a:r>
                <a:rPr lang="zh-CN" altLang="en-US" sz="2400">
                  <a:latin typeface="Times New Roman" panose="02020603050405020304" pitchFamily="18" charset="0"/>
                </a:rPr>
                <a:t>、不稳定的系统</a:t>
              </a:r>
            </a:p>
          </p:txBody>
        </p:sp>
      </p:grpSp>
      <p:grpSp>
        <p:nvGrpSpPr>
          <p:cNvPr id="3" name="Group 13">
            <a:extLst>
              <a:ext uri="{FF2B5EF4-FFF2-40B4-BE49-F238E27FC236}">
                <a16:creationId xmlns:a16="http://schemas.microsoft.com/office/drawing/2014/main" id="{B108903D-9C03-70B1-2361-1504115779E6}"/>
              </a:ext>
            </a:extLst>
          </p:cNvPr>
          <p:cNvGrpSpPr>
            <a:grpSpLocks/>
          </p:cNvGrpSpPr>
          <p:nvPr/>
        </p:nvGrpSpPr>
        <p:grpSpPr bwMode="auto">
          <a:xfrm>
            <a:off x="1258888" y="2349500"/>
            <a:ext cx="3246437" cy="3509963"/>
            <a:chOff x="657" y="1920"/>
            <a:chExt cx="2045" cy="2211"/>
          </a:xfrm>
        </p:grpSpPr>
        <p:sp>
          <p:nvSpPr>
            <p:cNvPr id="79877" name="Oval 14">
              <a:extLst>
                <a:ext uri="{FF2B5EF4-FFF2-40B4-BE49-F238E27FC236}">
                  <a16:creationId xmlns:a16="http://schemas.microsoft.com/office/drawing/2014/main" id="{8F2F4080-F9D0-5F91-6016-AFDB93C4E847}"/>
                </a:ext>
              </a:extLst>
            </p:cNvPr>
            <p:cNvSpPr>
              <a:spLocks noChangeArrowheads="1"/>
            </p:cNvSpPr>
            <p:nvPr/>
          </p:nvSpPr>
          <p:spPr bwMode="auto">
            <a:xfrm>
              <a:off x="1632" y="1920"/>
              <a:ext cx="96" cy="96"/>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9878" name="Line 15">
              <a:extLst>
                <a:ext uri="{FF2B5EF4-FFF2-40B4-BE49-F238E27FC236}">
                  <a16:creationId xmlns:a16="http://schemas.microsoft.com/office/drawing/2014/main" id="{FA8C34C6-1EB8-7E15-740D-A7F21A85F941}"/>
                </a:ext>
              </a:extLst>
            </p:cNvPr>
            <p:cNvSpPr>
              <a:spLocks noChangeShapeType="1"/>
            </p:cNvSpPr>
            <p:nvPr/>
          </p:nvSpPr>
          <p:spPr bwMode="auto">
            <a:xfrm>
              <a:off x="1680" y="1968"/>
              <a:ext cx="0" cy="13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9" name="Oval 16" descr="宽上对角线">
              <a:extLst>
                <a:ext uri="{FF2B5EF4-FFF2-40B4-BE49-F238E27FC236}">
                  <a16:creationId xmlns:a16="http://schemas.microsoft.com/office/drawing/2014/main" id="{EB755DE3-0EC7-5DAE-99C8-C8F9C58F81B0}"/>
                </a:ext>
              </a:extLst>
            </p:cNvPr>
            <p:cNvSpPr>
              <a:spLocks noChangeArrowheads="1"/>
            </p:cNvSpPr>
            <p:nvPr/>
          </p:nvSpPr>
          <p:spPr bwMode="auto">
            <a:xfrm>
              <a:off x="1536" y="3312"/>
              <a:ext cx="288" cy="288"/>
            </a:xfrm>
            <a:prstGeom prst="ellipse">
              <a:avLst/>
            </a:prstGeom>
            <a:blipFill dpi="0" rotWithShape="0">
              <a:blip r:embed="rId3"/>
              <a:srcRect/>
              <a:tile tx="0" ty="0" sx="100000" sy="100000" flip="none" algn="tl"/>
            </a:blipFill>
            <a:ln w="38100">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9880" name="Freeform 17" descr="宽上对角线">
              <a:extLst>
                <a:ext uri="{FF2B5EF4-FFF2-40B4-BE49-F238E27FC236}">
                  <a16:creationId xmlns:a16="http://schemas.microsoft.com/office/drawing/2014/main" id="{8973BF4D-C60A-BC86-2D12-0073A848A939}"/>
                </a:ext>
              </a:extLst>
            </p:cNvPr>
            <p:cNvSpPr>
              <a:spLocks noChangeArrowheads="1"/>
            </p:cNvSpPr>
            <p:nvPr/>
          </p:nvSpPr>
          <p:spPr bwMode="auto">
            <a:xfrm rot="261638">
              <a:off x="1146" y="3418"/>
              <a:ext cx="384" cy="48"/>
            </a:xfrm>
            <a:custGeom>
              <a:avLst/>
              <a:gdLst>
                <a:gd name="T0" fmla="*/ 0 w 672"/>
                <a:gd name="T1" fmla="*/ 0 h 192"/>
                <a:gd name="T2" fmla="*/ 36 w 672"/>
                <a:gd name="T3" fmla="*/ 1 h 192"/>
                <a:gd name="T4" fmla="*/ 71 w 672"/>
                <a:gd name="T5" fmla="*/ 1 h 192"/>
                <a:gd name="T6" fmla="*/ 0 60000 65536"/>
                <a:gd name="T7" fmla="*/ 0 60000 65536"/>
                <a:gd name="T8" fmla="*/ 0 60000 65536"/>
              </a:gdLst>
              <a:ahLst/>
              <a:cxnLst>
                <a:cxn ang="T6">
                  <a:pos x="T0" y="T1"/>
                </a:cxn>
                <a:cxn ang="T7">
                  <a:pos x="T2" y="T3"/>
                </a:cxn>
                <a:cxn ang="T8">
                  <a:pos x="T4" y="T5"/>
                </a:cxn>
              </a:cxnLst>
              <a:rect l="0" t="0" r="r" b="b"/>
              <a:pathLst>
                <a:path w="672" h="192">
                  <a:moveTo>
                    <a:pt x="0" y="0"/>
                  </a:moveTo>
                  <a:cubicBezTo>
                    <a:pt x="112" y="56"/>
                    <a:pt x="224" y="112"/>
                    <a:pt x="336" y="144"/>
                  </a:cubicBezTo>
                  <a:cubicBezTo>
                    <a:pt x="448" y="176"/>
                    <a:pt x="560" y="184"/>
                    <a:pt x="672" y="192"/>
                  </a:cubicBezTo>
                </a:path>
              </a:pathLst>
            </a:custGeom>
            <a:noFill/>
            <a:ln w="381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881" name="Line 18">
              <a:extLst>
                <a:ext uri="{FF2B5EF4-FFF2-40B4-BE49-F238E27FC236}">
                  <a16:creationId xmlns:a16="http://schemas.microsoft.com/office/drawing/2014/main" id="{2F130715-10E1-2E2D-6CBE-F7DD3E4F0236}"/>
                </a:ext>
              </a:extLst>
            </p:cNvPr>
            <p:cNvSpPr>
              <a:spLocks noChangeShapeType="1"/>
            </p:cNvSpPr>
            <p:nvPr/>
          </p:nvSpPr>
          <p:spPr bwMode="auto">
            <a:xfrm flipH="1">
              <a:off x="1056" y="1968"/>
              <a:ext cx="624" cy="12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2" name="Line 19">
              <a:extLst>
                <a:ext uri="{FF2B5EF4-FFF2-40B4-BE49-F238E27FC236}">
                  <a16:creationId xmlns:a16="http://schemas.microsoft.com/office/drawing/2014/main" id="{A6CDD750-01BB-21F2-7A0D-70022BD62E2E}"/>
                </a:ext>
              </a:extLst>
            </p:cNvPr>
            <p:cNvSpPr>
              <a:spLocks noChangeShapeType="1"/>
            </p:cNvSpPr>
            <p:nvPr/>
          </p:nvSpPr>
          <p:spPr bwMode="auto">
            <a:xfrm>
              <a:off x="1680" y="1968"/>
              <a:ext cx="624" cy="12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3" name="Text Box 20" descr="宽上对角线">
              <a:extLst>
                <a:ext uri="{FF2B5EF4-FFF2-40B4-BE49-F238E27FC236}">
                  <a16:creationId xmlns:a16="http://schemas.microsoft.com/office/drawing/2014/main" id="{32FA93F1-AB4A-B5C9-C108-E07B3F4A2397}"/>
                </a:ext>
              </a:extLst>
            </p:cNvPr>
            <p:cNvSpPr txBox="1">
              <a:spLocks noChangeArrowheads="1"/>
            </p:cNvSpPr>
            <p:nvPr/>
          </p:nvSpPr>
          <p:spPr bwMode="auto">
            <a:xfrm>
              <a:off x="1574" y="360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p>
          </p:txBody>
        </p:sp>
        <p:sp>
          <p:nvSpPr>
            <p:cNvPr id="79884" name="Text Box 21" descr="宽上对角线">
              <a:extLst>
                <a:ext uri="{FF2B5EF4-FFF2-40B4-BE49-F238E27FC236}">
                  <a16:creationId xmlns:a16="http://schemas.microsoft.com/office/drawing/2014/main" id="{E436BFEB-D024-6468-6A52-43785E791897}"/>
                </a:ext>
              </a:extLst>
            </p:cNvPr>
            <p:cNvSpPr txBox="1">
              <a:spLocks noChangeArrowheads="1"/>
            </p:cNvSpPr>
            <p:nvPr/>
          </p:nvSpPr>
          <p:spPr bwMode="auto">
            <a:xfrm>
              <a:off x="2400" y="2976"/>
              <a:ext cx="3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r>
                <a:rPr lang="en-US" altLang="zh-CN" sz="24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79885" name="Text Box 22" descr="宽上对角线">
              <a:extLst>
                <a:ext uri="{FF2B5EF4-FFF2-40B4-BE49-F238E27FC236}">
                  <a16:creationId xmlns:a16="http://schemas.microsoft.com/office/drawing/2014/main" id="{2222D21C-D0D3-47F7-5B1A-A0AD6B49D3C3}"/>
                </a:ext>
              </a:extLst>
            </p:cNvPr>
            <p:cNvSpPr txBox="1">
              <a:spLocks noChangeArrowheads="1"/>
            </p:cNvSpPr>
            <p:nvPr/>
          </p:nvSpPr>
          <p:spPr bwMode="auto">
            <a:xfrm>
              <a:off x="657" y="3024"/>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p>
          </p:txBody>
        </p:sp>
        <p:sp>
          <p:nvSpPr>
            <p:cNvPr id="79886" name="Text Box 23" descr="宽上对角线">
              <a:extLst>
                <a:ext uri="{FF2B5EF4-FFF2-40B4-BE49-F238E27FC236}">
                  <a16:creationId xmlns:a16="http://schemas.microsoft.com/office/drawing/2014/main" id="{39C5915E-E933-36E7-F0F1-C127A0089E57}"/>
                </a:ext>
              </a:extLst>
            </p:cNvPr>
            <p:cNvSpPr txBox="1">
              <a:spLocks noChangeArrowheads="1"/>
            </p:cNvSpPr>
            <p:nvPr/>
          </p:nvSpPr>
          <p:spPr bwMode="auto">
            <a:xfrm>
              <a:off x="1047" y="3840"/>
              <a:ext cx="13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r>
                <a:rPr lang="zh-CN" altLang="en-US" sz="2400">
                  <a:latin typeface="Times New Roman" panose="02020603050405020304" pitchFamily="18" charset="0"/>
                </a:rPr>
                <a:t>、稳定的系统</a:t>
              </a:r>
            </a:p>
          </p:txBody>
        </p:sp>
        <p:sp useBgFill="1">
          <p:nvSpPr>
            <p:cNvPr id="79887" name="Oval 24">
              <a:extLst>
                <a:ext uri="{FF2B5EF4-FFF2-40B4-BE49-F238E27FC236}">
                  <a16:creationId xmlns:a16="http://schemas.microsoft.com/office/drawing/2014/main" id="{D63897EB-49AA-82EF-19C6-FDCD3971B91A}"/>
                </a:ext>
              </a:extLst>
            </p:cNvPr>
            <p:cNvSpPr>
              <a:spLocks noChangeArrowheads="1"/>
            </p:cNvSpPr>
            <p:nvPr/>
          </p:nvSpPr>
          <p:spPr bwMode="auto">
            <a:xfrm>
              <a:off x="864" y="3216"/>
              <a:ext cx="288" cy="288"/>
            </a:xfrm>
            <a:prstGeom prst="ellipse">
              <a:avLst/>
            </a:prstGeom>
            <a:ln w="38100">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useBgFill="1">
          <p:nvSpPr>
            <p:cNvPr id="79888" name="Oval 25">
              <a:extLst>
                <a:ext uri="{FF2B5EF4-FFF2-40B4-BE49-F238E27FC236}">
                  <a16:creationId xmlns:a16="http://schemas.microsoft.com/office/drawing/2014/main" id="{4ED60FD7-9ACA-24D4-0AD8-C655314FC099}"/>
                </a:ext>
              </a:extLst>
            </p:cNvPr>
            <p:cNvSpPr>
              <a:spLocks noChangeArrowheads="1"/>
            </p:cNvSpPr>
            <p:nvPr/>
          </p:nvSpPr>
          <p:spPr bwMode="auto">
            <a:xfrm>
              <a:off x="2208" y="3216"/>
              <a:ext cx="288" cy="288"/>
            </a:xfrm>
            <a:prstGeom prst="ellipse">
              <a:avLst/>
            </a:prstGeom>
            <a:ln w="38100">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9889" name="Freeform 26" descr="宽上对角线">
              <a:extLst>
                <a:ext uri="{FF2B5EF4-FFF2-40B4-BE49-F238E27FC236}">
                  <a16:creationId xmlns:a16="http://schemas.microsoft.com/office/drawing/2014/main" id="{B7B5539C-CCAB-10F0-1271-E2B0D7765D11}"/>
                </a:ext>
              </a:extLst>
            </p:cNvPr>
            <p:cNvSpPr>
              <a:spLocks noChangeArrowheads="1"/>
            </p:cNvSpPr>
            <p:nvPr/>
          </p:nvSpPr>
          <p:spPr bwMode="auto">
            <a:xfrm rot="21338362" flipH="1">
              <a:off x="1824" y="3408"/>
              <a:ext cx="384" cy="48"/>
            </a:xfrm>
            <a:custGeom>
              <a:avLst/>
              <a:gdLst>
                <a:gd name="T0" fmla="*/ 0 w 672"/>
                <a:gd name="T1" fmla="*/ 0 h 192"/>
                <a:gd name="T2" fmla="*/ 36 w 672"/>
                <a:gd name="T3" fmla="*/ 1 h 192"/>
                <a:gd name="T4" fmla="*/ 71 w 672"/>
                <a:gd name="T5" fmla="*/ 1 h 192"/>
                <a:gd name="T6" fmla="*/ 0 60000 65536"/>
                <a:gd name="T7" fmla="*/ 0 60000 65536"/>
                <a:gd name="T8" fmla="*/ 0 60000 65536"/>
              </a:gdLst>
              <a:ahLst/>
              <a:cxnLst>
                <a:cxn ang="T6">
                  <a:pos x="T0" y="T1"/>
                </a:cxn>
                <a:cxn ang="T7">
                  <a:pos x="T2" y="T3"/>
                </a:cxn>
                <a:cxn ang="T8">
                  <a:pos x="T4" y="T5"/>
                </a:cxn>
              </a:cxnLst>
              <a:rect l="0" t="0" r="r" b="b"/>
              <a:pathLst>
                <a:path w="672" h="192">
                  <a:moveTo>
                    <a:pt x="0" y="0"/>
                  </a:moveTo>
                  <a:cubicBezTo>
                    <a:pt x="112" y="56"/>
                    <a:pt x="224" y="112"/>
                    <a:pt x="336" y="144"/>
                  </a:cubicBezTo>
                  <a:cubicBezTo>
                    <a:pt x="448" y="176"/>
                    <a:pt x="560" y="184"/>
                    <a:pt x="672" y="192"/>
                  </a:cubicBezTo>
                </a:path>
              </a:pathLst>
            </a:custGeom>
            <a:noFill/>
            <a:ln w="381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220" name="Rectangle 28">
            <a:extLst>
              <a:ext uri="{FF2B5EF4-FFF2-40B4-BE49-F238E27FC236}">
                <a16:creationId xmlns:a16="http://schemas.microsoft.com/office/drawing/2014/main" id="{59D34474-175D-6E28-0773-9B733DFEA912}"/>
              </a:ext>
            </a:extLst>
          </p:cNvPr>
          <p:cNvSpPr>
            <a:spLocks noChangeArrowheads="1"/>
          </p:cNvSpPr>
          <p:nvPr/>
        </p:nvSpPr>
        <p:spPr bwMode="auto">
          <a:xfrm>
            <a:off x="509588" y="914400"/>
            <a:ext cx="541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2800">
                <a:latin typeface="Times New Roman" panose="02020603050405020304" pitchFamily="18" charset="0"/>
                <a:ea typeface="黑体" panose="02010609060101010101" pitchFamily="49" charset="-122"/>
              </a:rPr>
              <a:t>稳定的概念</a:t>
            </a:r>
            <a:endParaRPr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220"/>
                                        </p:tgtEl>
                                        <p:attrNameLst>
                                          <p:attrName>style.visibility</p:attrName>
                                        </p:attrNameLst>
                                      </p:cBhvr>
                                      <p:to>
                                        <p:strVal val="visible"/>
                                      </p:to>
                                    </p:set>
                                    <p:anim calcmode="lin" valueType="num">
                                      <p:cBhvr additive="base">
                                        <p:cTn id="7" dur="500" fill="hold"/>
                                        <p:tgtEl>
                                          <p:spTgt spid="8220"/>
                                        </p:tgtEl>
                                        <p:attrNameLst>
                                          <p:attrName>ppt_x</p:attrName>
                                        </p:attrNameLst>
                                      </p:cBhvr>
                                      <p:tavLst>
                                        <p:tav tm="0">
                                          <p:val>
                                            <p:strVal val="#ppt_x"/>
                                          </p:val>
                                        </p:tav>
                                        <p:tav tm="100000">
                                          <p:val>
                                            <p:strVal val="#ppt_x"/>
                                          </p:val>
                                        </p:tav>
                                      </p:tavLst>
                                    </p:anim>
                                    <p:anim calcmode="lin" valueType="num">
                                      <p:cBhvr additive="base">
                                        <p:cTn id="8" dur="500" fill="hold"/>
                                        <p:tgtEl>
                                          <p:spTgt spid="82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a16="http://schemas.microsoft.com/office/drawing/2014/main" id="{0914936F-05A8-04D4-1081-3890AB8FD967}"/>
              </a:ext>
            </a:extLst>
          </p:cNvPr>
          <p:cNvSpPr>
            <a:spLocks noChangeArrowheads="1"/>
          </p:cNvSpPr>
          <p:nvPr/>
        </p:nvSpPr>
        <p:spPr bwMode="auto">
          <a:xfrm>
            <a:off x="1258888" y="112553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稳定性定义</a:t>
            </a:r>
          </a:p>
        </p:txBody>
      </p:sp>
      <p:sp>
        <p:nvSpPr>
          <p:cNvPr id="9220" name="Rectangle 4">
            <a:extLst>
              <a:ext uri="{FF2B5EF4-FFF2-40B4-BE49-F238E27FC236}">
                <a16:creationId xmlns:a16="http://schemas.microsoft.com/office/drawing/2014/main" id="{77A2D730-9E5F-74EE-8E01-09C80566B89D}"/>
              </a:ext>
            </a:extLst>
          </p:cNvPr>
          <p:cNvSpPr>
            <a:spLocks noChangeArrowheads="1"/>
          </p:cNvSpPr>
          <p:nvPr/>
        </p:nvSpPr>
        <p:spPr bwMode="auto">
          <a:xfrm>
            <a:off x="1331913" y="1844675"/>
            <a:ext cx="70104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原来处于平衡状态的系统，在受到扰动作用后都会偏离原来的平衡状态。若系统在扰动作用消失后，经过一段过渡过程，系统仍然能够回复到原来的平衡状态，则称该系统是</a:t>
            </a:r>
            <a:r>
              <a:rPr lang="zh-CN" altLang="en-US" sz="2800">
                <a:solidFill>
                  <a:srgbClr val="FF0000"/>
                </a:solidFill>
                <a:latin typeface="宋体" panose="02010600030101010101" pitchFamily="2" charset="-122"/>
              </a:rPr>
              <a:t>稳定</a:t>
            </a:r>
            <a:r>
              <a:rPr lang="zh-CN" altLang="en-US" sz="2800">
                <a:latin typeface="宋体" panose="02010600030101010101" pitchFamily="2" charset="-122"/>
              </a:rPr>
              <a:t>的。否则，则称该系统是</a:t>
            </a:r>
            <a:r>
              <a:rPr lang="zh-CN" altLang="en-US" sz="2800">
                <a:solidFill>
                  <a:srgbClr val="FF0000"/>
                </a:solidFill>
                <a:latin typeface="宋体" panose="02010600030101010101" pitchFamily="2" charset="-122"/>
              </a:rPr>
              <a:t>不稳定</a:t>
            </a:r>
            <a:r>
              <a:rPr lang="zh-CN" altLang="en-US" sz="2800">
                <a:latin typeface="宋体" panose="02010600030101010101" pitchFamily="2" charset="-122"/>
              </a:rPr>
              <a:t>的。</a:t>
            </a:r>
            <a:r>
              <a:rPr lang="zh-CN" altLang="en-US" sz="2800">
                <a:latin typeface="Times New Roman" panose="02020603050405020304" pitchFamily="18" charset="0"/>
              </a:rPr>
              <a:t> </a:t>
            </a:r>
          </a:p>
        </p:txBody>
      </p:sp>
      <p:sp>
        <p:nvSpPr>
          <p:cNvPr id="9221" name="Rectangle 5">
            <a:extLst>
              <a:ext uri="{FF2B5EF4-FFF2-40B4-BE49-F238E27FC236}">
                <a16:creationId xmlns:a16="http://schemas.microsoft.com/office/drawing/2014/main" id="{ABA5655F-F5BF-55E2-AD01-234F872843C8}"/>
              </a:ext>
            </a:extLst>
          </p:cNvPr>
          <p:cNvSpPr>
            <a:spLocks noChangeArrowheads="1"/>
          </p:cNvSpPr>
          <p:nvPr/>
        </p:nvSpPr>
        <p:spPr bwMode="auto">
          <a:xfrm>
            <a:off x="1331913" y="4581525"/>
            <a:ext cx="701040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线性系统的稳定性是控制系统自身的固有特性，取决于系统本身的结构和参数，与输入无关。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additive="base">
                                        <p:cTn id="7" dur="500" fill="hold"/>
                                        <p:tgtEl>
                                          <p:spTgt spid="9220"/>
                                        </p:tgtEl>
                                        <p:attrNameLst>
                                          <p:attrName>ppt_x</p:attrName>
                                        </p:attrNameLst>
                                      </p:cBhvr>
                                      <p:tavLst>
                                        <p:tav tm="0">
                                          <p:val>
                                            <p:strVal val="#ppt_x"/>
                                          </p:val>
                                        </p:tav>
                                        <p:tav tm="100000">
                                          <p:val>
                                            <p:strVal val="#ppt_x"/>
                                          </p:val>
                                        </p:tav>
                                      </p:tavLst>
                                    </p:anim>
                                    <p:anim calcmode="lin" valueType="num">
                                      <p:cBhvr additive="base">
                                        <p:cTn id="8"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221"/>
                                        </p:tgtEl>
                                        <p:attrNameLst>
                                          <p:attrName>style.visibility</p:attrName>
                                        </p:attrNameLst>
                                      </p:cBhvr>
                                      <p:to>
                                        <p:strVal val="visible"/>
                                      </p:to>
                                    </p:set>
                                    <p:anim calcmode="lin" valueType="num">
                                      <p:cBhvr additive="base">
                                        <p:cTn id="13" dur="500" fill="hold"/>
                                        <p:tgtEl>
                                          <p:spTgt spid="9221"/>
                                        </p:tgtEl>
                                        <p:attrNameLst>
                                          <p:attrName>ppt_x</p:attrName>
                                        </p:attrNameLst>
                                      </p:cBhvr>
                                      <p:tavLst>
                                        <p:tav tm="0">
                                          <p:val>
                                            <p:strVal val="#ppt_x"/>
                                          </p:val>
                                        </p:tav>
                                        <p:tav tm="100000">
                                          <p:val>
                                            <p:strVal val="#ppt_x"/>
                                          </p:val>
                                        </p:tav>
                                      </p:tavLst>
                                    </p:anim>
                                    <p:anim calcmode="lin" valueType="num">
                                      <p:cBhvr additive="base">
                                        <p:cTn id="14"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a:extLst>
              <a:ext uri="{FF2B5EF4-FFF2-40B4-BE49-F238E27FC236}">
                <a16:creationId xmlns:a16="http://schemas.microsoft.com/office/drawing/2014/main" id="{058FEFFD-7F16-C2DE-ED57-4AAEA61FF839}"/>
              </a:ext>
            </a:extLst>
          </p:cNvPr>
          <p:cNvSpPr>
            <a:spLocks noChangeArrowheads="1"/>
          </p:cNvSpPr>
          <p:nvPr/>
        </p:nvSpPr>
        <p:spPr bwMode="auto">
          <a:xfrm>
            <a:off x="1524000" y="1905000"/>
            <a:ext cx="7010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若系统不论扰动引起的初始偏差有多大，当扰动取消后，系统都能够恢复到原有的平衡状态，则称该系统是</a:t>
            </a:r>
            <a:r>
              <a:rPr lang="zh-CN" altLang="en-US" sz="2800">
                <a:solidFill>
                  <a:srgbClr val="FF0000"/>
                </a:solidFill>
                <a:latin typeface="宋体" panose="02010600030101010101" pitchFamily="2" charset="-122"/>
              </a:rPr>
              <a:t>大范围稳定的</a:t>
            </a:r>
            <a:r>
              <a:rPr lang="zh-CN" altLang="en-US" sz="2800">
                <a:latin typeface="宋体" panose="02010600030101010101" pitchFamily="2" charset="-122"/>
              </a:rPr>
              <a:t>；否则系统就是</a:t>
            </a:r>
            <a:r>
              <a:rPr lang="zh-CN" altLang="en-US" sz="2800">
                <a:solidFill>
                  <a:srgbClr val="FF0000"/>
                </a:solidFill>
                <a:latin typeface="宋体" panose="02010600030101010101" pitchFamily="2" charset="-122"/>
              </a:rPr>
              <a:t>小范围稳定的</a:t>
            </a:r>
            <a:r>
              <a:rPr lang="zh-CN" altLang="en-US" sz="2800">
                <a:latin typeface="宋体" panose="02010600030101010101" pitchFamily="2" charset="-122"/>
              </a:rPr>
              <a:t>。</a:t>
            </a:r>
            <a:r>
              <a:rPr lang="zh-CN" altLang="en-US" sz="2800">
                <a:latin typeface="Times New Roman" panose="02020603050405020304" pitchFamily="18" charset="0"/>
              </a:rPr>
              <a:t> </a:t>
            </a:r>
          </a:p>
        </p:txBody>
      </p:sp>
      <p:sp>
        <p:nvSpPr>
          <p:cNvPr id="10244" name="Rectangle 4">
            <a:extLst>
              <a:ext uri="{FF2B5EF4-FFF2-40B4-BE49-F238E27FC236}">
                <a16:creationId xmlns:a16="http://schemas.microsoft.com/office/drawing/2014/main" id="{6120442D-FD85-CBA2-C047-83F887359651}"/>
              </a:ext>
            </a:extLst>
          </p:cNvPr>
          <p:cNvSpPr>
            <a:spLocks noChangeArrowheads="1"/>
          </p:cNvSpPr>
          <p:nvPr/>
        </p:nvSpPr>
        <p:spPr bwMode="auto">
          <a:xfrm>
            <a:off x="1524000" y="3962400"/>
            <a:ext cx="70104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对于线性系统，小范围稳定一定意味着大范围稳定，当然此时系统必须工作在其线性范围内。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ppt_x"/>
                                          </p:val>
                                        </p:tav>
                                        <p:tav tm="100000">
                                          <p:val>
                                            <p:strVal val="#ppt_x"/>
                                          </p:val>
                                        </p:tav>
                                      </p:tavLst>
                                    </p:anim>
                                    <p:anim calcmode="lin" valueType="num">
                                      <p:cBhvr additive="base">
                                        <p:cTn id="8"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8" name="Group 3">
            <a:extLst>
              <a:ext uri="{FF2B5EF4-FFF2-40B4-BE49-F238E27FC236}">
                <a16:creationId xmlns:a16="http://schemas.microsoft.com/office/drawing/2014/main" id="{A4E79100-F346-3AD3-5DD6-D319F6503065}"/>
              </a:ext>
            </a:extLst>
          </p:cNvPr>
          <p:cNvGrpSpPr>
            <a:grpSpLocks/>
          </p:cNvGrpSpPr>
          <p:nvPr/>
        </p:nvGrpSpPr>
        <p:grpSpPr bwMode="auto">
          <a:xfrm>
            <a:off x="1258888" y="1557338"/>
            <a:ext cx="6299200" cy="1409700"/>
            <a:chOff x="860" y="960"/>
            <a:chExt cx="3968" cy="888"/>
          </a:xfrm>
        </p:grpSpPr>
        <p:graphicFrame>
          <p:nvGraphicFramePr>
            <p:cNvPr id="86028" name="Object 4">
              <a:extLst>
                <a:ext uri="{FF2B5EF4-FFF2-40B4-BE49-F238E27FC236}">
                  <a16:creationId xmlns:a16="http://schemas.microsoft.com/office/drawing/2014/main" id="{C4255A5B-BBE4-9EBC-F0AC-29B261E77AE1}"/>
                </a:ext>
              </a:extLst>
            </p:cNvPr>
            <p:cNvGraphicFramePr>
              <a:graphicFrameLocks noChangeAspect="1"/>
            </p:cNvGraphicFramePr>
            <p:nvPr/>
          </p:nvGraphicFramePr>
          <p:xfrm>
            <a:off x="1076" y="1325"/>
            <a:ext cx="3752" cy="523"/>
          </p:xfrm>
          <a:graphic>
            <a:graphicData uri="http://schemas.openxmlformats.org/presentationml/2006/ole">
              <mc:AlternateContent xmlns:mc="http://schemas.openxmlformats.org/markup-compatibility/2006">
                <mc:Choice xmlns:v="urn:schemas-microsoft-com:vml" Requires="v">
                  <p:oleObj r:id="rId3" imgW="3289300" imgH="457200" progId="Equation.3">
                    <p:embed/>
                  </p:oleObj>
                </mc:Choice>
                <mc:Fallback>
                  <p:oleObj r:id="rId3" imgW="32893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 y="1325"/>
                          <a:ext cx="375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29" name="Rectangle 5">
              <a:extLst>
                <a:ext uri="{FF2B5EF4-FFF2-40B4-BE49-F238E27FC236}">
                  <a16:creationId xmlns:a16="http://schemas.microsoft.com/office/drawing/2014/main" id="{3BEE10B4-1676-893B-19E5-95EA4120B5D5}"/>
                </a:ext>
              </a:extLst>
            </p:cNvPr>
            <p:cNvSpPr>
              <a:spLocks noChangeArrowheads="1"/>
            </p:cNvSpPr>
            <p:nvPr/>
          </p:nvSpPr>
          <p:spPr bwMode="auto">
            <a:xfrm>
              <a:off x="860" y="960"/>
              <a:ext cx="12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考虑系统</a:t>
              </a:r>
            </a:p>
          </p:txBody>
        </p:sp>
      </p:grpSp>
      <p:graphicFrame>
        <p:nvGraphicFramePr>
          <p:cNvPr id="13318" name="Object 6">
            <a:extLst>
              <a:ext uri="{FF2B5EF4-FFF2-40B4-BE49-F238E27FC236}">
                <a16:creationId xmlns:a16="http://schemas.microsoft.com/office/drawing/2014/main" id="{4E35405F-39CB-7C43-BFC8-771E69E74B90}"/>
              </a:ext>
            </a:extLst>
          </p:cNvPr>
          <p:cNvGraphicFramePr>
            <a:graphicFrameLocks noChangeAspect="1"/>
          </p:cNvGraphicFramePr>
          <p:nvPr/>
        </p:nvGraphicFramePr>
        <p:xfrm>
          <a:off x="3419475" y="3284538"/>
          <a:ext cx="3817938" cy="469900"/>
        </p:xfrm>
        <a:graphic>
          <a:graphicData uri="http://schemas.openxmlformats.org/presentationml/2006/ole">
            <mc:AlternateContent xmlns:mc="http://schemas.openxmlformats.org/markup-compatibility/2006">
              <mc:Choice xmlns:v="urn:schemas-microsoft-com:vml" Requires="v">
                <p:oleObj r:id="rId5" imgW="2070100" imgH="254000" progId="Equation.3">
                  <p:embed/>
                </p:oleObj>
              </mc:Choice>
              <mc:Fallback>
                <p:oleObj r:id="rId5" imgW="2070100" imgH="2540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3284538"/>
                        <a:ext cx="38179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9" name="Rectangle 7">
            <a:extLst>
              <a:ext uri="{FF2B5EF4-FFF2-40B4-BE49-F238E27FC236}">
                <a16:creationId xmlns:a16="http://schemas.microsoft.com/office/drawing/2014/main" id="{B375A226-52D7-FC07-D8EE-2785DBA50735}"/>
              </a:ext>
            </a:extLst>
          </p:cNvPr>
          <p:cNvSpPr>
            <a:spLocks noChangeArrowheads="1"/>
          </p:cNvSpPr>
          <p:nvPr/>
        </p:nvSpPr>
        <p:spPr bwMode="auto">
          <a:xfrm>
            <a:off x="684213" y="3284538"/>
            <a:ext cx="312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其特征方程为：</a:t>
            </a:r>
          </a:p>
        </p:txBody>
      </p:sp>
      <p:graphicFrame>
        <p:nvGraphicFramePr>
          <p:cNvPr id="13320" name="Object 8">
            <a:extLst>
              <a:ext uri="{FF2B5EF4-FFF2-40B4-BE49-F238E27FC236}">
                <a16:creationId xmlns:a16="http://schemas.microsoft.com/office/drawing/2014/main" id="{B0E2CB46-AC82-71CF-B5A1-88EA4EACD6D4}"/>
              </a:ext>
            </a:extLst>
          </p:cNvPr>
          <p:cNvGraphicFramePr>
            <a:graphicFrameLocks noChangeAspect="1"/>
          </p:cNvGraphicFramePr>
          <p:nvPr/>
        </p:nvGraphicFramePr>
        <p:xfrm>
          <a:off x="2819400" y="4524375"/>
          <a:ext cx="1001713" cy="504825"/>
        </p:xfrm>
        <a:graphic>
          <a:graphicData uri="http://schemas.openxmlformats.org/presentationml/2006/ole">
            <mc:AlternateContent xmlns:mc="http://schemas.openxmlformats.org/markup-compatibility/2006">
              <mc:Choice xmlns:v="urn:schemas-microsoft-com:vml" Requires="v">
                <p:oleObj r:id="rId7" imgW="418918" imgH="215806" progId="Equation.3">
                  <p:embed/>
                </p:oleObj>
              </mc:Choice>
              <mc:Fallback>
                <p:oleObj r:id="rId7" imgW="418918" imgH="215806"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4524375"/>
                        <a:ext cx="10017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21" name="Rectangle 9">
            <a:extLst>
              <a:ext uri="{FF2B5EF4-FFF2-40B4-BE49-F238E27FC236}">
                <a16:creationId xmlns:a16="http://schemas.microsoft.com/office/drawing/2014/main" id="{93F05E75-9724-6FFE-C69B-E102EEB50F0E}"/>
              </a:ext>
            </a:extLst>
          </p:cNvPr>
          <p:cNvSpPr>
            <a:spLocks noChangeArrowheads="1"/>
          </p:cNvSpPr>
          <p:nvPr/>
        </p:nvSpPr>
        <p:spPr bwMode="auto">
          <a:xfrm>
            <a:off x="1371600" y="3994150"/>
            <a:ext cx="727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对于特征方程的单实根</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，相应瞬态输出为：</a:t>
            </a:r>
          </a:p>
        </p:txBody>
      </p:sp>
      <p:sp>
        <p:nvSpPr>
          <p:cNvPr id="13322" name="Rectangle 10">
            <a:extLst>
              <a:ext uri="{FF2B5EF4-FFF2-40B4-BE49-F238E27FC236}">
                <a16:creationId xmlns:a16="http://schemas.microsoft.com/office/drawing/2014/main" id="{1C0A0DEC-5ED3-0F92-8556-1A049CDD7C83}"/>
              </a:ext>
            </a:extLst>
          </p:cNvPr>
          <p:cNvSpPr>
            <a:spLocks noChangeArrowheads="1"/>
          </p:cNvSpPr>
          <p:nvPr/>
        </p:nvSpPr>
        <p:spPr bwMode="auto">
          <a:xfrm>
            <a:off x="1371600" y="4989513"/>
            <a:ext cx="70866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&lt; 0</a:t>
            </a:r>
            <a:r>
              <a:rPr lang="zh-CN" altLang="en-US" sz="2800">
                <a:latin typeface="Times New Roman" panose="02020603050405020304" pitchFamily="18" charset="0"/>
              </a:rPr>
              <a:t>时，该输出分量指数单调衰减。</a:t>
            </a:r>
          </a:p>
        </p:txBody>
      </p:sp>
      <p:sp>
        <p:nvSpPr>
          <p:cNvPr id="13323" name="Rectangle 11">
            <a:extLst>
              <a:ext uri="{FF2B5EF4-FFF2-40B4-BE49-F238E27FC236}">
                <a16:creationId xmlns:a16="http://schemas.microsoft.com/office/drawing/2014/main" id="{44B46B54-3C98-C00F-0ABD-E9D4A774027D}"/>
              </a:ext>
            </a:extLst>
          </p:cNvPr>
          <p:cNvSpPr>
            <a:spLocks noChangeArrowheads="1"/>
          </p:cNvSpPr>
          <p:nvPr/>
        </p:nvSpPr>
        <p:spPr bwMode="auto">
          <a:xfrm>
            <a:off x="1371600" y="5486400"/>
            <a:ext cx="70866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&gt; 0</a:t>
            </a:r>
            <a:r>
              <a:rPr lang="zh-CN" altLang="en-US" sz="2800">
                <a:latin typeface="Times New Roman" panose="02020603050405020304" pitchFamily="18" charset="0"/>
              </a:rPr>
              <a:t>时，该输出分量指数单调递增。</a:t>
            </a:r>
          </a:p>
        </p:txBody>
      </p:sp>
      <p:sp>
        <p:nvSpPr>
          <p:cNvPr id="13324" name="Rectangle 12">
            <a:extLst>
              <a:ext uri="{FF2B5EF4-FFF2-40B4-BE49-F238E27FC236}">
                <a16:creationId xmlns:a16="http://schemas.microsoft.com/office/drawing/2014/main" id="{D8EDE7B1-8727-F479-B520-E3C5B5C961E2}"/>
              </a:ext>
            </a:extLst>
          </p:cNvPr>
          <p:cNvSpPr>
            <a:spLocks noChangeArrowheads="1"/>
          </p:cNvSpPr>
          <p:nvPr/>
        </p:nvSpPr>
        <p:spPr bwMode="auto">
          <a:xfrm>
            <a:off x="1371600" y="5943600"/>
            <a:ext cx="70866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 </a:t>
            </a:r>
            <a:r>
              <a:rPr lang="en-US" altLang="zh-CN" sz="2800">
                <a:latin typeface="Times New Roman" panose="02020603050405020304" pitchFamily="18" charset="0"/>
              </a:rPr>
              <a:t>0</a:t>
            </a:r>
            <a:r>
              <a:rPr lang="zh-CN" altLang="en-US" sz="2800">
                <a:latin typeface="Times New Roman" panose="02020603050405020304" pitchFamily="18" charset="0"/>
              </a:rPr>
              <a:t>时，该输出分量为常数。</a:t>
            </a:r>
          </a:p>
        </p:txBody>
      </p:sp>
      <p:sp>
        <p:nvSpPr>
          <p:cNvPr id="86026" name="Rectangle 13">
            <a:extLst>
              <a:ext uri="{FF2B5EF4-FFF2-40B4-BE49-F238E27FC236}">
                <a16:creationId xmlns:a16="http://schemas.microsoft.com/office/drawing/2014/main" id="{A5866487-6536-BC0F-3BBD-1279D05727A0}"/>
              </a:ext>
            </a:extLst>
          </p:cNvPr>
          <p:cNvSpPr>
            <a:spLocks noChangeArrowheads="1"/>
          </p:cNvSpPr>
          <p:nvPr/>
        </p:nvSpPr>
        <p:spPr bwMode="auto">
          <a:xfrm>
            <a:off x="1042988" y="908050"/>
            <a:ext cx="541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系统稳定的充分必要条件</a:t>
            </a:r>
            <a:r>
              <a:rPr lang="zh-CN" altLang="en-US" sz="2800" b="1">
                <a:latin typeface="Times New Roman" panose="02020603050405020304" pitchFamily="18" charset="0"/>
              </a:rPr>
              <a:t> </a:t>
            </a:r>
          </a:p>
        </p:txBody>
      </p:sp>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F208EBB9-1510-AB80-BEAE-56FA62BF0EAF}"/>
                  </a:ext>
                </a:extLst>
              </p14:cNvPr>
              <p14:cNvContentPartPr/>
              <p14:nvPr/>
            </p14:nvContentPartPr>
            <p14:xfrm>
              <a:off x="1638360" y="2377440"/>
              <a:ext cx="205920" cy="373680"/>
            </p14:xfrm>
          </p:contentPart>
        </mc:Choice>
        <mc:Fallback xmlns="">
          <p:pic>
            <p:nvPicPr>
              <p:cNvPr id="2" name="墨迹 1">
                <a:extLst>
                  <a:ext uri="{FF2B5EF4-FFF2-40B4-BE49-F238E27FC236}">
                    <a16:creationId xmlns:a16="http://schemas.microsoft.com/office/drawing/2014/main" id="{F208EBB9-1510-AB80-BEAE-56FA62BF0EAF}"/>
                  </a:ext>
                </a:extLst>
              </p:cNvPr>
              <p:cNvPicPr/>
              <p:nvPr/>
            </p:nvPicPr>
            <p:blipFill>
              <a:blip r:embed="rId11"/>
              <a:stretch>
                <a:fillRect/>
              </a:stretch>
            </p:blipFill>
            <p:spPr>
              <a:xfrm>
                <a:off x="1629000" y="2368080"/>
                <a:ext cx="224640" cy="392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 calcmode="lin" valueType="num">
                                      <p:cBhvr additive="base">
                                        <p:cTn id="7" dur="500" fill="hold"/>
                                        <p:tgtEl>
                                          <p:spTgt spid="13319"/>
                                        </p:tgtEl>
                                        <p:attrNameLst>
                                          <p:attrName>ppt_x</p:attrName>
                                        </p:attrNameLst>
                                      </p:cBhvr>
                                      <p:tavLst>
                                        <p:tav tm="0">
                                          <p:val>
                                            <p:strVal val="#ppt_x"/>
                                          </p:val>
                                        </p:tav>
                                        <p:tav tm="100000">
                                          <p:val>
                                            <p:strVal val="#ppt_x"/>
                                          </p:val>
                                        </p:tav>
                                      </p:tavLst>
                                    </p:anim>
                                    <p:anim calcmode="lin" valueType="num">
                                      <p:cBhvr additive="base">
                                        <p:cTn id="8" dur="500" fill="hold"/>
                                        <p:tgtEl>
                                          <p:spTgt spid="1331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318"/>
                                        </p:tgtEl>
                                        <p:attrNameLst>
                                          <p:attrName>style.visibility</p:attrName>
                                        </p:attrNameLst>
                                      </p:cBhvr>
                                      <p:to>
                                        <p:strVal val="visible"/>
                                      </p:to>
                                    </p:set>
                                    <p:anim calcmode="lin" valueType="num">
                                      <p:cBhvr additive="base">
                                        <p:cTn id="13" dur="500" fill="hold"/>
                                        <p:tgtEl>
                                          <p:spTgt spid="13318"/>
                                        </p:tgtEl>
                                        <p:attrNameLst>
                                          <p:attrName>ppt_x</p:attrName>
                                        </p:attrNameLst>
                                      </p:cBhvr>
                                      <p:tavLst>
                                        <p:tav tm="0">
                                          <p:val>
                                            <p:strVal val="#ppt_x"/>
                                          </p:val>
                                        </p:tav>
                                        <p:tav tm="100000">
                                          <p:val>
                                            <p:strVal val="#ppt_x"/>
                                          </p:val>
                                        </p:tav>
                                      </p:tavLst>
                                    </p:anim>
                                    <p:anim calcmode="lin" valueType="num">
                                      <p:cBhvr additive="base">
                                        <p:cTn id="14" dur="500" fill="hold"/>
                                        <p:tgtEl>
                                          <p:spTgt spid="1331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321"/>
                                        </p:tgtEl>
                                        <p:attrNameLst>
                                          <p:attrName>style.visibility</p:attrName>
                                        </p:attrNameLst>
                                      </p:cBhvr>
                                      <p:to>
                                        <p:strVal val="visible"/>
                                      </p:to>
                                    </p:set>
                                    <p:anim calcmode="lin" valueType="num">
                                      <p:cBhvr additive="base">
                                        <p:cTn id="19" dur="500" fill="hold"/>
                                        <p:tgtEl>
                                          <p:spTgt spid="13321"/>
                                        </p:tgtEl>
                                        <p:attrNameLst>
                                          <p:attrName>ppt_x</p:attrName>
                                        </p:attrNameLst>
                                      </p:cBhvr>
                                      <p:tavLst>
                                        <p:tav tm="0">
                                          <p:val>
                                            <p:strVal val="#ppt_x"/>
                                          </p:val>
                                        </p:tav>
                                        <p:tav tm="100000">
                                          <p:val>
                                            <p:strVal val="#ppt_x"/>
                                          </p:val>
                                        </p:tav>
                                      </p:tavLst>
                                    </p:anim>
                                    <p:anim calcmode="lin" valueType="num">
                                      <p:cBhvr additive="base">
                                        <p:cTn id="20" dur="500" fill="hold"/>
                                        <p:tgtEl>
                                          <p:spTgt spid="1332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3320"/>
                                        </p:tgtEl>
                                        <p:attrNameLst>
                                          <p:attrName>style.visibility</p:attrName>
                                        </p:attrNameLst>
                                      </p:cBhvr>
                                      <p:to>
                                        <p:strVal val="visible"/>
                                      </p:to>
                                    </p:set>
                                    <p:anim calcmode="lin" valueType="num">
                                      <p:cBhvr additive="base">
                                        <p:cTn id="25" dur="500" fill="hold"/>
                                        <p:tgtEl>
                                          <p:spTgt spid="13320"/>
                                        </p:tgtEl>
                                        <p:attrNameLst>
                                          <p:attrName>ppt_x</p:attrName>
                                        </p:attrNameLst>
                                      </p:cBhvr>
                                      <p:tavLst>
                                        <p:tav tm="0">
                                          <p:val>
                                            <p:strVal val="#ppt_x"/>
                                          </p:val>
                                        </p:tav>
                                        <p:tav tm="100000">
                                          <p:val>
                                            <p:strVal val="#ppt_x"/>
                                          </p:val>
                                        </p:tav>
                                      </p:tavLst>
                                    </p:anim>
                                    <p:anim calcmode="lin" valueType="num">
                                      <p:cBhvr additive="base">
                                        <p:cTn id="26"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3322"/>
                                        </p:tgtEl>
                                        <p:attrNameLst>
                                          <p:attrName>style.visibility</p:attrName>
                                        </p:attrNameLst>
                                      </p:cBhvr>
                                      <p:to>
                                        <p:strVal val="visible"/>
                                      </p:to>
                                    </p:set>
                                    <p:anim calcmode="lin" valueType="num">
                                      <p:cBhvr additive="base">
                                        <p:cTn id="31" dur="500" fill="hold"/>
                                        <p:tgtEl>
                                          <p:spTgt spid="13322"/>
                                        </p:tgtEl>
                                        <p:attrNameLst>
                                          <p:attrName>ppt_x</p:attrName>
                                        </p:attrNameLst>
                                      </p:cBhvr>
                                      <p:tavLst>
                                        <p:tav tm="0">
                                          <p:val>
                                            <p:strVal val="#ppt_x"/>
                                          </p:val>
                                        </p:tav>
                                        <p:tav tm="100000">
                                          <p:val>
                                            <p:strVal val="#ppt_x"/>
                                          </p:val>
                                        </p:tav>
                                      </p:tavLst>
                                    </p:anim>
                                    <p:anim calcmode="lin" valueType="num">
                                      <p:cBhvr additive="base">
                                        <p:cTn id="32" dur="500" fill="hold"/>
                                        <p:tgtEl>
                                          <p:spTgt spid="1332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3323"/>
                                        </p:tgtEl>
                                        <p:attrNameLst>
                                          <p:attrName>style.visibility</p:attrName>
                                        </p:attrNameLst>
                                      </p:cBhvr>
                                      <p:to>
                                        <p:strVal val="visible"/>
                                      </p:to>
                                    </p:set>
                                    <p:anim calcmode="lin" valueType="num">
                                      <p:cBhvr additive="base">
                                        <p:cTn id="37" dur="500" fill="hold"/>
                                        <p:tgtEl>
                                          <p:spTgt spid="13323"/>
                                        </p:tgtEl>
                                        <p:attrNameLst>
                                          <p:attrName>ppt_x</p:attrName>
                                        </p:attrNameLst>
                                      </p:cBhvr>
                                      <p:tavLst>
                                        <p:tav tm="0">
                                          <p:val>
                                            <p:strVal val="#ppt_x"/>
                                          </p:val>
                                        </p:tav>
                                        <p:tav tm="100000">
                                          <p:val>
                                            <p:strVal val="#ppt_x"/>
                                          </p:val>
                                        </p:tav>
                                      </p:tavLst>
                                    </p:anim>
                                    <p:anim calcmode="lin" valueType="num">
                                      <p:cBhvr additive="base">
                                        <p:cTn id="38" dur="500" fill="hold"/>
                                        <p:tgtEl>
                                          <p:spTgt spid="13323"/>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3324"/>
                                        </p:tgtEl>
                                        <p:attrNameLst>
                                          <p:attrName>style.visibility</p:attrName>
                                        </p:attrNameLst>
                                      </p:cBhvr>
                                      <p:to>
                                        <p:strVal val="visible"/>
                                      </p:to>
                                    </p:set>
                                    <p:anim calcmode="lin" valueType="num">
                                      <p:cBhvr additive="base">
                                        <p:cTn id="43" dur="500" fill="hold"/>
                                        <p:tgtEl>
                                          <p:spTgt spid="13324"/>
                                        </p:tgtEl>
                                        <p:attrNameLst>
                                          <p:attrName>ppt_x</p:attrName>
                                        </p:attrNameLst>
                                      </p:cBhvr>
                                      <p:tavLst>
                                        <p:tav tm="0">
                                          <p:val>
                                            <p:strVal val="#ppt_x"/>
                                          </p:val>
                                        </p:tav>
                                        <p:tav tm="100000">
                                          <p:val>
                                            <p:strVal val="#ppt_x"/>
                                          </p:val>
                                        </p:tav>
                                      </p:tavLst>
                                    </p:anim>
                                    <p:anim calcmode="lin" valueType="num">
                                      <p:cBhvr additive="base">
                                        <p:cTn id="44" dur="500" fill="hold"/>
                                        <p:tgtEl>
                                          <p:spTgt spid="13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P spid="13321" grpId="0"/>
      <p:bldP spid="13322" grpId="0"/>
      <p:bldP spid="13323" grpId="0"/>
      <p:bldP spid="133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F507A0B1-2D60-AC22-F534-5986446B9105}"/>
              </a:ext>
            </a:extLst>
          </p:cNvPr>
          <p:cNvSpPr>
            <a:spLocks noChangeArrowheads="1"/>
          </p:cNvSpPr>
          <p:nvPr/>
        </p:nvSpPr>
        <p:spPr bwMode="auto">
          <a:xfrm>
            <a:off x="1066800" y="1974850"/>
            <a:ext cx="7543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对于特征方程的一对单复根</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j</a:t>
            </a:r>
            <a:r>
              <a:rPr lang="en-US" altLang="zh-CN" sz="2800">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，相应瞬态输出为：</a:t>
            </a:r>
          </a:p>
        </p:txBody>
      </p:sp>
      <p:grpSp>
        <p:nvGrpSpPr>
          <p:cNvPr id="2" name="Group 4">
            <a:extLst>
              <a:ext uri="{FF2B5EF4-FFF2-40B4-BE49-F238E27FC236}">
                <a16:creationId xmlns:a16="http://schemas.microsoft.com/office/drawing/2014/main" id="{2DA40A44-A9A2-BB5C-2BFE-E2BC56845EF9}"/>
              </a:ext>
            </a:extLst>
          </p:cNvPr>
          <p:cNvGrpSpPr>
            <a:grpSpLocks/>
          </p:cNvGrpSpPr>
          <p:nvPr/>
        </p:nvGrpSpPr>
        <p:grpSpPr bwMode="auto">
          <a:xfrm>
            <a:off x="1066800" y="3124200"/>
            <a:ext cx="7162800" cy="1219200"/>
            <a:chOff x="672" y="1968"/>
            <a:chExt cx="4512" cy="768"/>
          </a:xfrm>
        </p:grpSpPr>
        <p:graphicFrame>
          <p:nvGraphicFramePr>
            <p:cNvPr id="88071" name="Object 5">
              <a:extLst>
                <a:ext uri="{FF2B5EF4-FFF2-40B4-BE49-F238E27FC236}">
                  <a16:creationId xmlns:a16="http://schemas.microsoft.com/office/drawing/2014/main" id="{2E108CF8-2229-884E-BDAC-AD17F1964D92}"/>
                </a:ext>
              </a:extLst>
            </p:cNvPr>
            <p:cNvGraphicFramePr>
              <a:graphicFrameLocks noChangeAspect="1"/>
            </p:cNvGraphicFramePr>
            <p:nvPr/>
          </p:nvGraphicFramePr>
          <p:xfrm>
            <a:off x="878" y="1968"/>
            <a:ext cx="4306" cy="347"/>
          </p:xfrm>
          <a:graphic>
            <a:graphicData uri="http://schemas.openxmlformats.org/presentationml/2006/ole">
              <mc:AlternateContent xmlns:mc="http://schemas.openxmlformats.org/markup-compatibility/2006">
                <mc:Choice xmlns:v="urn:schemas-microsoft-com:vml" Requires="v">
                  <p:oleObj r:id="rId3" imgW="3314700" imgH="266700" progId="Equation.3">
                    <p:embed/>
                  </p:oleObj>
                </mc:Choice>
                <mc:Fallback>
                  <p:oleObj r:id="rId3" imgW="3314700" imgH="266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 y="1968"/>
                          <a:ext cx="4306"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72" name="Rectangle 6">
              <a:extLst>
                <a:ext uri="{FF2B5EF4-FFF2-40B4-BE49-F238E27FC236}">
                  <a16:creationId xmlns:a16="http://schemas.microsoft.com/office/drawing/2014/main" id="{8B2ED81A-B95D-07D1-CBC9-8307F723A5FD}"/>
                </a:ext>
              </a:extLst>
            </p:cNvPr>
            <p:cNvSpPr>
              <a:spLocks noChangeArrowheads="1"/>
            </p:cNvSpPr>
            <p:nvPr/>
          </p:nvSpPr>
          <p:spPr bwMode="auto">
            <a:xfrm>
              <a:off x="672" y="2409"/>
              <a:ext cx="2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 </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en-US" altLang="zh-CN" sz="2800">
                  <a:latin typeface="Times New Roman" panose="02020603050405020304" pitchFamily="18" charset="0"/>
                </a:rPr>
                <a:t>= arctg</a:t>
              </a:r>
              <a:r>
                <a:rPr lang="en-US" altLang="zh-CN" sz="2800" i="1">
                  <a:latin typeface="Times New Roman" panose="02020603050405020304" pitchFamily="18" charset="0"/>
                </a:rPr>
                <a:t>B</a:t>
              </a:r>
              <a:r>
                <a:rPr lang="en-US" altLang="zh-CN" sz="2800">
                  <a:latin typeface="Times New Roman" panose="02020603050405020304" pitchFamily="18" charset="0"/>
                </a:rPr>
                <a:t>/</a:t>
              </a:r>
              <a:r>
                <a:rPr lang="en-US" altLang="zh-CN" sz="2800" i="1">
                  <a:latin typeface="Times New Roman" panose="02020603050405020304" pitchFamily="18" charset="0"/>
                </a:rPr>
                <a:t>C</a:t>
              </a:r>
              <a:r>
                <a:rPr lang="zh-CN" altLang="en-US" sz="2800">
                  <a:latin typeface="Times New Roman" panose="02020603050405020304" pitchFamily="18" charset="0"/>
                </a:rPr>
                <a:t>。</a:t>
              </a:r>
            </a:p>
          </p:txBody>
        </p:sp>
      </p:grpSp>
      <p:sp>
        <p:nvSpPr>
          <p:cNvPr id="14343" name="Rectangle 7">
            <a:extLst>
              <a:ext uri="{FF2B5EF4-FFF2-40B4-BE49-F238E27FC236}">
                <a16:creationId xmlns:a16="http://schemas.microsoft.com/office/drawing/2014/main" id="{58C9E7AA-4ECF-8807-F9CC-643FDEE1B7DA}"/>
              </a:ext>
            </a:extLst>
          </p:cNvPr>
          <p:cNvSpPr>
            <a:spLocks noChangeArrowheads="1"/>
          </p:cNvSpPr>
          <p:nvPr/>
        </p:nvSpPr>
        <p:spPr bwMode="auto">
          <a:xfrm>
            <a:off x="1066800" y="4343400"/>
            <a:ext cx="75438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当</a:t>
            </a:r>
            <a:r>
              <a:rPr lang="en-US" altLang="zh-CN" sz="2800">
                <a:latin typeface="宋体" panose="02010600030101010101" pitchFamily="2" charset="-122"/>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&lt; 0</a:t>
            </a:r>
            <a:r>
              <a:rPr lang="zh-CN" altLang="en-US" sz="2800">
                <a:latin typeface="宋体" panose="02010600030101010101" pitchFamily="2" charset="-122"/>
              </a:rPr>
              <a:t>时，该分量为指数衰减的振荡过程。</a:t>
            </a:r>
          </a:p>
        </p:txBody>
      </p:sp>
      <p:sp>
        <p:nvSpPr>
          <p:cNvPr id="14344" name="Rectangle 8">
            <a:extLst>
              <a:ext uri="{FF2B5EF4-FFF2-40B4-BE49-F238E27FC236}">
                <a16:creationId xmlns:a16="http://schemas.microsoft.com/office/drawing/2014/main" id="{653D6BFB-882D-BD73-3FA4-BE798DB84C1B}"/>
              </a:ext>
            </a:extLst>
          </p:cNvPr>
          <p:cNvSpPr>
            <a:spLocks noChangeArrowheads="1"/>
          </p:cNvSpPr>
          <p:nvPr/>
        </p:nvSpPr>
        <p:spPr bwMode="auto">
          <a:xfrm>
            <a:off x="1066800" y="4837113"/>
            <a:ext cx="75438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当</a:t>
            </a:r>
            <a:r>
              <a:rPr lang="en-US" altLang="zh-CN" sz="2800" i="1">
                <a:latin typeface="宋体" panose="02010600030101010101" pitchFamily="2" charset="-122"/>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&gt; 0</a:t>
            </a:r>
            <a:r>
              <a:rPr lang="zh-CN" altLang="en-US" sz="2800">
                <a:latin typeface="宋体" panose="02010600030101010101" pitchFamily="2" charset="-122"/>
              </a:rPr>
              <a:t>时，该分量为指数发散的振荡过程。</a:t>
            </a:r>
          </a:p>
        </p:txBody>
      </p:sp>
      <p:sp>
        <p:nvSpPr>
          <p:cNvPr id="14345" name="Rectangle 9">
            <a:extLst>
              <a:ext uri="{FF2B5EF4-FFF2-40B4-BE49-F238E27FC236}">
                <a16:creationId xmlns:a16="http://schemas.microsoft.com/office/drawing/2014/main" id="{2DADE9FE-D813-FCB3-C7D1-4B03E48C0579}"/>
              </a:ext>
            </a:extLst>
          </p:cNvPr>
          <p:cNvSpPr>
            <a:spLocks noChangeArrowheads="1"/>
          </p:cNvSpPr>
          <p:nvPr/>
        </p:nvSpPr>
        <p:spPr bwMode="auto">
          <a:xfrm>
            <a:off x="1066800" y="5334000"/>
            <a:ext cx="75438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当</a:t>
            </a:r>
            <a:r>
              <a:rPr lang="en-US" altLang="zh-CN" sz="2800" i="1">
                <a:latin typeface="宋体" panose="02010600030101010101" pitchFamily="2" charset="-122"/>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 0</a:t>
            </a:r>
            <a:r>
              <a:rPr lang="zh-CN" altLang="en-US" sz="2800">
                <a:latin typeface="宋体" panose="02010600030101010101" pitchFamily="2" charset="-122"/>
              </a:rPr>
              <a:t>时，该分量为等幅振荡。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343"/>
                                        </p:tgtEl>
                                        <p:attrNameLst>
                                          <p:attrName>style.visibility</p:attrName>
                                        </p:attrNameLst>
                                      </p:cBhvr>
                                      <p:to>
                                        <p:strVal val="visible"/>
                                      </p:to>
                                    </p:set>
                                    <p:anim calcmode="lin" valueType="num">
                                      <p:cBhvr additive="base">
                                        <p:cTn id="13" dur="500" fill="hold"/>
                                        <p:tgtEl>
                                          <p:spTgt spid="14343"/>
                                        </p:tgtEl>
                                        <p:attrNameLst>
                                          <p:attrName>ppt_x</p:attrName>
                                        </p:attrNameLst>
                                      </p:cBhvr>
                                      <p:tavLst>
                                        <p:tav tm="0">
                                          <p:val>
                                            <p:strVal val="#ppt_x"/>
                                          </p:val>
                                        </p:tav>
                                        <p:tav tm="100000">
                                          <p:val>
                                            <p:strVal val="#ppt_x"/>
                                          </p:val>
                                        </p:tav>
                                      </p:tavLst>
                                    </p:anim>
                                    <p:anim calcmode="lin" valueType="num">
                                      <p:cBhvr additive="base">
                                        <p:cTn id="14" dur="500" fill="hold"/>
                                        <p:tgtEl>
                                          <p:spTgt spid="1434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344"/>
                                        </p:tgtEl>
                                        <p:attrNameLst>
                                          <p:attrName>style.visibility</p:attrName>
                                        </p:attrNameLst>
                                      </p:cBhvr>
                                      <p:to>
                                        <p:strVal val="visible"/>
                                      </p:to>
                                    </p:set>
                                    <p:anim calcmode="lin" valueType="num">
                                      <p:cBhvr additive="base">
                                        <p:cTn id="19" dur="500" fill="hold"/>
                                        <p:tgtEl>
                                          <p:spTgt spid="14344"/>
                                        </p:tgtEl>
                                        <p:attrNameLst>
                                          <p:attrName>ppt_x</p:attrName>
                                        </p:attrNameLst>
                                      </p:cBhvr>
                                      <p:tavLst>
                                        <p:tav tm="0">
                                          <p:val>
                                            <p:strVal val="#ppt_x"/>
                                          </p:val>
                                        </p:tav>
                                        <p:tav tm="100000">
                                          <p:val>
                                            <p:strVal val="#ppt_x"/>
                                          </p:val>
                                        </p:tav>
                                      </p:tavLst>
                                    </p:anim>
                                    <p:anim calcmode="lin" valueType="num">
                                      <p:cBhvr additive="base">
                                        <p:cTn id="20" dur="500" fill="hold"/>
                                        <p:tgtEl>
                                          <p:spTgt spid="1434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4345"/>
                                        </p:tgtEl>
                                        <p:attrNameLst>
                                          <p:attrName>style.visibility</p:attrName>
                                        </p:attrNameLst>
                                      </p:cBhvr>
                                      <p:to>
                                        <p:strVal val="visible"/>
                                      </p:to>
                                    </p:set>
                                    <p:anim calcmode="lin" valueType="num">
                                      <p:cBhvr additive="base">
                                        <p:cTn id="25" dur="500" fill="hold"/>
                                        <p:tgtEl>
                                          <p:spTgt spid="14345"/>
                                        </p:tgtEl>
                                        <p:attrNameLst>
                                          <p:attrName>ppt_x</p:attrName>
                                        </p:attrNameLst>
                                      </p:cBhvr>
                                      <p:tavLst>
                                        <p:tav tm="0">
                                          <p:val>
                                            <p:strVal val="#ppt_x"/>
                                          </p:val>
                                        </p:tav>
                                        <p:tav tm="100000">
                                          <p:val>
                                            <p:strVal val="#ppt_x"/>
                                          </p:val>
                                        </p:tav>
                                      </p:tavLst>
                                    </p:anim>
                                    <p:anim calcmode="lin" valueType="num">
                                      <p:cBhvr additive="base">
                                        <p:cTn id="26" dur="500" fill="hold"/>
                                        <p:tgtEl>
                                          <p:spTgt spid="143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P spid="14344" grpId="0"/>
      <p:bldP spid="1434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3" name="Object 3">
            <a:extLst>
              <a:ext uri="{FF2B5EF4-FFF2-40B4-BE49-F238E27FC236}">
                <a16:creationId xmlns:a16="http://schemas.microsoft.com/office/drawing/2014/main" id="{9E10482A-A38D-68B6-C4E7-18853599ECAF}"/>
              </a:ext>
            </a:extLst>
          </p:cNvPr>
          <p:cNvGraphicFramePr>
            <a:graphicFrameLocks noChangeAspect="1"/>
          </p:cNvGraphicFramePr>
          <p:nvPr/>
        </p:nvGraphicFramePr>
        <p:xfrm>
          <a:off x="1600200" y="2819400"/>
          <a:ext cx="3625850" cy="525463"/>
        </p:xfrm>
        <a:graphic>
          <a:graphicData uri="http://schemas.openxmlformats.org/presentationml/2006/ole">
            <mc:AlternateContent xmlns:mc="http://schemas.openxmlformats.org/markup-compatibility/2006">
              <mc:Choice xmlns:v="urn:schemas-microsoft-com:vml" Requires="v">
                <p:oleObj r:id="rId3" imgW="1651000" imgH="241300" progId="Equation.3">
                  <p:embed/>
                </p:oleObj>
              </mc:Choice>
              <mc:Fallback>
                <p:oleObj r:id="rId3" imgW="1651000"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819400"/>
                        <a:ext cx="36258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15" name="Rectangle 4">
            <a:extLst>
              <a:ext uri="{FF2B5EF4-FFF2-40B4-BE49-F238E27FC236}">
                <a16:creationId xmlns:a16="http://schemas.microsoft.com/office/drawing/2014/main" id="{1E70DCEF-0405-87BF-03DF-C536C6F48B2A}"/>
              </a:ext>
            </a:extLst>
          </p:cNvPr>
          <p:cNvSpPr>
            <a:spLocks noChangeArrowheads="1"/>
          </p:cNvSpPr>
          <p:nvPr/>
        </p:nvSpPr>
        <p:spPr bwMode="auto">
          <a:xfrm>
            <a:off x="1325563" y="2093913"/>
            <a:ext cx="5989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对于</a:t>
            </a:r>
            <a:r>
              <a:rPr lang="en-US" altLang="zh-CN" sz="2800" i="1">
                <a:latin typeface="Times New Roman" panose="02020603050405020304" pitchFamily="18" charset="0"/>
              </a:rPr>
              <a:t>r</a:t>
            </a:r>
            <a:r>
              <a:rPr lang="zh-CN" altLang="en-US" sz="2800">
                <a:latin typeface="Times New Roman" panose="02020603050405020304" pitchFamily="18" charset="0"/>
              </a:rPr>
              <a:t>重实根</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，相应的时域分量为：</a:t>
            </a:r>
            <a:endParaRPr lang="zh-CN" altLang="en-US" sz="2800" i="1">
              <a:latin typeface="Times New Roman" panose="02020603050405020304" pitchFamily="18" charset="0"/>
            </a:endParaRPr>
          </a:p>
        </p:txBody>
      </p:sp>
      <p:sp>
        <p:nvSpPr>
          <p:cNvPr id="15365" name="Rectangle 5">
            <a:extLst>
              <a:ext uri="{FF2B5EF4-FFF2-40B4-BE49-F238E27FC236}">
                <a16:creationId xmlns:a16="http://schemas.microsoft.com/office/drawing/2014/main" id="{6083357B-7685-A0F8-4BE0-AEDB6C7C9B42}"/>
              </a:ext>
            </a:extLst>
          </p:cNvPr>
          <p:cNvSpPr>
            <a:spLocks noChangeArrowheads="1"/>
          </p:cNvSpPr>
          <p:nvPr/>
        </p:nvSpPr>
        <p:spPr bwMode="auto">
          <a:xfrm>
            <a:off x="1295400" y="3541713"/>
            <a:ext cx="70866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&lt; 0</a:t>
            </a:r>
            <a:r>
              <a:rPr lang="zh-CN" altLang="en-US" sz="2800">
                <a:latin typeface="Times New Roman" panose="02020603050405020304" pitchFamily="18" charset="0"/>
              </a:rPr>
              <a:t>时，该输出分量指数单调衰减。</a:t>
            </a:r>
          </a:p>
        </p:txBody>
      </p:sp>
      <p:sp>
        <p:nvSpPr>
          <p:cNvPr id="15366" name="Rectangle 6">
            <a:extLst>
              <a:ext uri="{FF2B5EF4-FFF2-40B4-BE49-F238E27FC236}">
                <a16:creationId xmlns:a16="http://schemas.microsoft.com/office/drawing/2014/main" id="{6EFD9D83-8270-8529-206C-80C943C798C6}"/>
              </a:ext>
            </a:extLst>
          </p:cNvPr>
          <p:cNvSpPr>
            <a:spLocks noChangeArrowheads="1"/>
          </p:cNvSpPr>
          <p:nvPr/>
        </p:nvSpPr>
        <p:spPr bwMode="auto">
          <a:xfrm>
            <a:off x="1295400" y="4105275"/>
            <a:ext cx="70866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&gt; 0</a:t>
            </a:r>
            <a:r>
              <a:rPr lang="zh-CN" altLang="en-US" sz="2800">
                <a:latin typeface="Times New Roman" panose="02020603050405020304" pitchFamily="18" charset="0"/>
              </a:rPr>
              <a:t>时，该输出分量指数单调递增。</a:t>
            </a:r>
          </a:p>
        </p:txBody>
      </p:sp>
      <p:sp>
        <p:nvSpPr>
          <p:cNvPr id="15367" name="Rectangle 7">
            <a:extLst>
              <a:ext uri="{FF2B5EF4-FFF2-40B4-BE49-F238E27FC236}">
                <a16:creationId xmlns:a16="http://schemas.microsoft.com/office/drawing/2014/main" id="{9A85AE6C-E6ED-631A-0871-628EE3B46B12}"/>
              </a:ext>
            </a:extLst>
          </p:cNvPr>
          <p:cNvSpPr>
            <a:spLocks noChangeArrowheads="1"/>
          </p:cNvSpPr>
          <p:nvPr/>
        </p:nvSpPr>
        <p:spPr bwMode="auto">
          <a:xfrm>
            <a:off x="1295400" y="4675188"/>
            <a:ext cx="70866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 </a:t>
            </a:r>
            <a:r>
              <a:rPr lang="en-US" altLang="zh-CN" sz="2800">
                <a:latin typeface="Times New Roman" panose="02020603050405020304" pitchFamily="18" charset="0"/>
              </a:rPr>
              <a:t>0</a:t>
            </a:r>
            <a:r>
              <a:rPr lang="zh-CN" altLang="en-US" sz="2800">
                <a:latin typeface="Times New Roman" panose="02020603050405020304" pitchFamily="18" charset="0"/>
              </a:rPr>
              <a:t>时，该输出分量多项式递增。</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ppt_x"/>
                                          </p:val>
                                        </p:tav>
                                        <p:tav tm="100000">
                                          <p:val>
                                            <p:strVal val="#ppt_x"/>
                                          </p:val>
                                        </p:tav>
                                      </p:tavLst>
                                    </p:anim>
                                    <p:anim calcmode="lin" valueType="num">
                                      <p:cBhvr additive="base">
                                        <p:cTn id="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5"/>
                                        </p:tgtEl>
                                        <p:attrNameLst>
                                          <p:attrName>style.visibility</p:attrName>
                                        </p:attrNameLst>
                                      </p:cBhvr>
                                      <p:to>
                                        <p:strVal val="visible"/>
                                      </p:to>
                                    </p:set>
                                    <p:anim calcmode="lin" valueType="num">
                                      <p:cBhvr additive="base">
                                        <p:cTn id="13" dur="500" fill="hold"/>
                                        <p:tgtEl>
                                          <p:spTgt spid="15365"/>
                                        </p:tgtEl>
                                        <p:attrNameLst>
                                          <p:attrName>ppt_x</p:attrName>
                                        </p:attrNameLst>
                                      </p:cBhvr>
                                      <p:tavLst>
                                        <p:tav tm="0">
                                          <p:val>
                                            <p:strVal val="#ppt_x"/>
                                          </p:val>
                                        </p:tav>
                                        <p:tav tm="100000">
                                          <p:val>
                                            <p:strVal val="#ppt_x"/>
                                          </p:val>
                                        </p:tav>
                                      </p:tavLst>
                                    </p:anim>
                                    <p:anim calcmode="lin" valueType="num">
                                      <p:cBhvr additive="base">
                                        <p:cTn id="14"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366"/>
                                        </p:tgtEl>
                                        <p:attrNameLst>
                                          <p:attrName>style.visibility</p:attrName>
                                        </p:attrNameLst>
                                      </p:cBhvr>
                                      <p:to>
                                        <p:strVal val="visible"/>
                                      </p:to>
                                    </p:set>
                                    <p:anim calcmode="lin" valueType="num">
                                      <p:cBhvr additive="base">
                                        <p:cTn id="19" dur="500" fill="hold"/>
                                        <p:tgtEl>
                                          <p:spTgt spid="15366"/>
                                        </p:tgtEl>
                                        <p:attrNameLst>
                                          <p:attrName>ppt_x</p:attrName>
                                        </p:attrNameLst>
                                      </p:cBhvr>
                                      <p:tavLst>
                                        <p:tav tm="0">
                                          <p:val>
                                            <p:strVal val="#ppt_x"/>
                                          </p:val>
                                        </p:tav>
                                        <p:tav tm="100000">
                                          <p:val>
                                            <p:strVal val="#ppt_x"/>
                                          </p:val>
                                        </p:tav>
                                      </p:tavLst>
                                    </p:anim>
                                    <p:anim calcmode="lin" valueType="num">
                                      <p:cBhvr additive="base">
                                        <p:cTn id="20"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5367"/>
                                        </p:tgtEl>
                                        <p:attrNameLst>
                                          <p:attrName>style.visibility</p:attrName>
                                        </p:attrNameLst>
                                      </p:cBhvr>
                                      <p:to>
                                        <p:strVal val="visible"/>
                                      </p:to>
                                    </p:set>
                                    <p:anim calcmode="lin" valueType="num">
                                      <p:cBhvr additive="base">
                                        <p:cTn id="25" dur="500" fill="hold"/>
                                        <p:tgtEl>
                                          <p:spTgt spid="15367"/>
                                        </p:tgtEl>
                                        <p:attrNameLst>
                                          <p:attrName>ppt_x</p:attrName>
                                        </p:attrNameLst>
                                      </p:cBhvr>
                                      <p:tavLst>
                                        <p:tav tm="0">
                                          <p:val>
                                            <p:strVal val="#ppt_x"/>
                                          </p:val>
                                        </p:tav>
                                        <p:tav tm="100000">
                                          <p:val>
                                            <p:strVal val="#ppt_x"/>
                                          </p:val>
                                        </p:tav>
                                      </p:tavLst>
                                    </p:anim>
                                    <p:anim calcmode="lin" valueType="num">
                                      <p:cBhvr additive="base">
                                        <p:cTn id="26"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P spid="15366" grpId="0"/>
      <p:bldP spid="1536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135029E5-D7AA-8F2E-3095-6AB928686B3A}"/>
              </a:ext>
            </a:extLst>
          </p:cNvPr>
          <p:cNvSpPr>
            <a:spLocks noChangeArrowheads="1"/>
          </p:cNvSpPr>
          <p:nvPr/>
        </p:nvSpPr>
        <p:spPr bwMode="auto">
          <a:xfrm>
            <a:off x="1187450" y="1773238"/>
            <a:ext cx="7391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综上所述，不论系统特征方程的特征根为何种形式，线性系统稳定的充要条件为：</a:t>
            </a:r>
            <a:r>
              <a:rPr lang="zh-CN" altLang="en-US" sz="2800" b="1">
                <a:solidFill>
                  <a:srgbClr val="FF0000"/>
                </a:solidFill>
                <a:latin typeface="宋体" panose="02010600030101010101" pitchFamily="2" charset="-122"/>
              </a:rPr>
              <a:t>所有特征根均为负数或具有负的实数部分</a:t>
            </a:r>
            <a:r>
              <a:rPr lang="zh-CN" altLang="en-US" sz="2800" b="1">
                <a:latin typeface="宋体" panose="02010600030101010101" pitchFamily="2" charset="-122"/>
              </a:rPr>
              <a:t>；</a:t>
            </a:r>
            <a:r>
              <a:rPr lang="zh-CN" altLang="en-US" sz="2800">
                <a:latin typeface="宋体" panose="02010600030101010101" pitchFamily="2" charset="-122"/>
              </a:rPr>
              <a:t>即：</a:t>
            </a:r>
            <a:r>
              <a:rPr lang="zh-CN" altLang="en-US" sz="2800" b="1">
                <a:solidFill>
                  <a:srgbClr val="FF0000"/>
                </a:solidFill>
                <a:latin typeface="宋体" panose="02010600030101010101" pitchFamily="2" charset="-122"/>
              </a:rPr>
              <a:t>所有特征根均在复数平面的左半部分</a:t>
            </a:r>
            <a:r>
              <a:rPr lang="zh-CN" altLang="en-US" sz="2800" b="1">
                <a:latin typeface="宋体" panose="02010600030101010101" pitchFamily="2" charset="-122"/>
              </a:rPr>
              <a:t>。</a:t>
            </a:r>
            <a:endParaRPr lang="zh-CN" altLang="en-US" sz="2800">
              <a:latin typeface="宋体" panose="02010600030101010101" pitchFamily="2" charset="-122"/>
            </a:endParaRPr>
          </a:p>
        </p:txBody>
      </p:sp>
      <p:sp>
        <p:nvSpPr>
          <p:cNvPr id="17412" name="Rectangle 4">
            <a:extLst>
              <a:ext uri="{FF2B5EF4-FFF2-40B4-BE49-F238E27FC236}">
                <a16:creationId xmlns:a16="http://schemas.microsoft.com/office/drawing/2014/main" id="{CF226472-D4B4-35B6-8446-178A76D1D6C2}"/>
              </a:ext>
            </a:extLst>
          </p:cNvPr>
          <p:cNvSpPr>
            <a:spLocks noChangeArrowheads="1"/>
          </p:cNvSpPr>
          <p:nvPr/>
        </p:nvSpPr>
        <p:spPr bwMode="auto">
          <a:xfrm>
            <a:off x="1187450" y="3830638"/>
            <a:ext cx="73152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由于特征根就是系统的极点，因此，线性系统稳定的充要条件也可表述为：</a:t>
            </a:r>
            <a:r>
              <a:rPr lang="zh-CN" altLang="en-US" sz="2800" b="1">
                <a:solidFill>
                  <a:srgbClr val="FF0000"/>
                </a:solidFill>
                <a:latin typeface="宋体" panose="02010600030101010101" pitchFamily="2" charset="-122"/>
              </a:rPr>
              <a:t>系统的极点均在</a:t>
            </a:r>
            <a:r>
              <a:rPr lang="en-US" altLang="zh-CN" sz="2800" b="1" i="1">
                <a:solidFill>
                  <a:srgbClr val="FF0000"/>
                </a:solidFill>
                <a:latin typeface="Times New Roman" panose="02020603050405020304" pitchFamily="18" charset="0"/>
              </a:rPr>
              <a:t>s</a:t>
            </a:r>
            <a:r>
              <a:rPr lang="zh-CN" altLang="en-US" sz="2800" b="1">
                <a:solidFill>
                  <a:srgbClr val="FF0000"/>
                </a:solidFill>
                <a:latin typeface="宋体" panose="02010600030101010101" pitchFamily="2" charset="-122"/>
              </a:rPr>
              <a:t>平面的左半平面</a:t>
            </a:r>
            <a:r>
              <a:rPr lang="zh-CN" altLang="en-US" sz="2800" b="1">
                <a:latin typeface="宋体" panose="02010600030101010101" pitchFamily="2" charset="-122"/>
              </a:rPr>
              <a:t>。</a:t>
            </a:r>
            <a:r>
              <a:rPr lang="zh-CN" altLang="en-US" sz="2800">
                <a:latin typeface="宋体" panose="02010600030101010101" pitchFamily="2" charset="-122"/>
              </a:rPr>
              <a:t> </a:t>
            </a:r>
          </a:p>
        </p:txBody>
      </p:sp>
      <p:sp>
        <p:nvSpPr>
          <p:cNvPr id="17413" name="Rectangle 5">
            <a:extLst>
              <a:ext uri="{FF2B5EF4-FFF2-40B4-BE49-F238E27FC236}">
                <a16:creationId xmlns:a16="http://schemas.microsoft.com/office/drawing/2014/main" id="{1543780A-D53A-C044-C874-DE88087CE7B8}"/>
              </a:ext>
            </a:extLst>
          </p:cNvPr>
          <p:cNvSpPr>
            <a:spLocks noChangeArrowheads="1"/>
          </p:cNvSpPr>
          <p:nvPr/>
        </p:nvSpPr>
        <p:spPr bwMode="auto">
          <a:xfrm>
            <a:off x="1111250" y="5354638"/>
            <a:ext cx="7315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显然，稳定性与零点无关。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ppt_x"/>
                                          </p:val>
                                        </p:tav>
                                        <p:tav tm="100000">
                                          <p:val>
                                            <p:strVal val="#ppt_x"/>
                                          </p:val>
                                        </p:tav>
                                      </p:tavLst>
                                    </p:anim>
                                    <p:anim calcmode="lin" valueType="num">
                                      <p:cBhvr additive="base">
                                        <p:cTn id="8"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7413"/>
                                        </p:tgtEl>
                                        <p:attrNameLst>
                                          <p:attrName>style.visibility</p:attrName>
                                        </p:attrNameLst>
                                      </p:cBhvr>
                                      <p:to>
                                        <p:strVal val="visible"/>
                                      </p:to>
                                    </p:set>
                                    <p:anim calcmode="lin" valueType="num">
                                      <p:cBhvr additive="base">
                                        <p:cTn id="13" dur="500" fill="hold"/>
                                        <p:tgtEl>
                                          <p:spTgt spid="17413"/>
                                        </p:tgtEl>
                                        <p:attrNameLst>
                                          <p:attrName>ppt_x</p:attrName>
                                        </p:attrNameLst>
                                      </p:cBhvr>
                                      <p:tavLst>
                                        <p:tav tm="0">
                                          <p:val>
                                            <p:strVal val="#ppt_x"/>
                                          </p:val>
                                        </p:tav>
                                        <p:tav tm="100000">
                                          <p:val>
                                            <p:strVal val="#ppt_x"/>
                                          </p:val>
                                        </p:tav>
                                      </p:tavLst>
                                    </p:anim>
                                    <p:anim calcmode="lin" valueType="num">
                                      <p:cBhvr additive="base">
                                        <p:cTn id="14"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p:bldP spid="174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4">
            <a:extLst>
              <a:ext uri="{FF2B5EF4-FFF2-40B4-BE49-F238E27FC236}">
                <a16:creationId xmlns:a16="http://schemas.microsoft.com/office/drawing/2014/main" id="{2D2EFB00-AFE7-F16D-5CD3-04AA7E7F4E49}"/>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E9270F-373E-407E-B9BD-59379A66FF4B}" type="datetime1">
              <a:rPr lang="en-US" altLang="zh-CN" smtClean="0"/>
              <a:pPr/>
              <a:t>9/28/2025</a:t>
            </a:fld>
            <a:endParaRPr lang="en-US" altLang="zh-CN"/>
          </a:p>
        </p:txBody>
      </p:sp>
      <p:sp>
        <p:nvSpPr>
          <p:cNvPr id="94211" name="灯片编号占位符 6">
            <a:extLst>
              <a:ext uri="{FF2B5EF4-FFF2-40B4-BE49-F238E27FC236}">
                <a16:creationId xmlns:a16="http://schemas.microsoft.com/office/drawing/2014/main" id="{376D2284-27CE-EB20-0592-8284577B335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805399-CF53-41F4-941B-76EEB4E1043A}" type="slidenum">
              <a:rPr altLang="zh-CN"/>
              <a:pPr/>
              <a:t>48</a:t>
            </a:fld>
            <a:endParaRPr lang="zh-CN" altLang="zh-CN"/>
          </a:p>
        </p:txBody>
      </p:sp>
      <p:sp>
        <p:nvSpPr>
          <p:cNvPr id="94212" name="Rectangle 3">
            <a:extLst>
              <a:ext uri="{FF2B5EF4-FFF2-40B4-BE49-F238E27FC236}">
                <a16:creationId xmlns:a16="http://schemas.microsoft.com/office/drawing/2014/main" id="{509268C5-CE8C-3E9C-62B4-99B365342B19}"/>
              </a:ext>
            </a:extLst>
          </p:cNvPr>
          <p:cNvSpPr>
            <a:spLocks noChangeArrowheads="1"/>
          </p:cNvSpPr>
          <p:nvPr/>
        </p:nvSpPr>
        <p:spPr bwMode="auto">
          <a:xfrm>
            <a:off x="1352550" y="2598738"/>
            <a:ext cx="7010400"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    我们不能将系统设计为临界稳定，由于分析时依赖的模型通常是简化或线性化的，或者由于实际系统参数的时变特性等因素的影响，在实际中可能成为不稳定的系统，因此，系统必须具备一定的</a:t>
            </a:r>
            <a:r>
              <a:rPr lang="zh-CN" altLang="en-US" sz="2800">
                <a:solidFill>
                  <a:srgbClr val="FF0000"/>
                </a:solidFill>
                <a:latin typeface="宋体" panose="02010600030101010101" pitchFamily="2" charset="-122"/>
              </a:rPr>
              <a:t>稳定裕量</a:t>
            </a:r>
            <a:r>
              <a:rPr lang="zh-CN" altLang="en-US" sz="2800">
                <a:latin typeface="宋体" panose="02010600030101010101" pitchFamily="2" charset="-122"/>
              </a:rPr>
              <a:t>，以保证其在实际工作时处于稳定状态。</a:t>
            </a:r>
            <a:r>
              <a:rPr lang="zh-CN" altLang="en-US" sz="2800">
                <a:latin typeface="Times New Roman" panose="02020603050405020304" pitchFamily="18" charset="0"/>
              </a:rPr>
              <a:t> </a:t>
            </a:r>
          </a:p>
        </p:txBody>
      </p:sp>
      <p:sp>
        <p:nvSpPr>
          <p:cNvPr id="300034" name="Rectangle 2">
            <a:extLst>
              <a:ext uri="{FF2B5EF4-FFF2-40B4-BE49-F238E27FC236}">
                <a16:creationId xmlns:a16="http://schemas.microsoft.com/office/drawing/2014/main" id="{A471FAE7-2D54-9FD2-0A2B-DDA0787424A2}"/>
              </a:ext>
            </a:extLst>
          </p:cNvPr>
          <p:cNvSpPr>
            <a:spLocks noChangeArrowheads="1"/>
          </p:cNvSpPr>
          <p:nvPr/>
        </p:nvSpPr>
        <p:spPr bwMode="auto">
          <a:xfrm>
            <a:off x="1352550" y="5634038"/>
            <a:ext cx="7086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    经典控制论中，临界稳定也视为不稳定。</a:t>
            </a:r>
          </a:p>
        </p:txBody>
      </p:sp>
      <p:sp>
        <p:nvSpPr>
          <p:cNvPr id="94214" name="文本框 1">
            <a:extLst>
              <a:ext uri="{FF2B5EF4-FFF2-40B4-BE49-F238E27FC236}">
                <a16:creationId xmlns:a16="http://schemas.microsoft.com/office/drawing/2014/main" id="{8030ECDD-9026-617D-404E-BC01D75A6389}"/>
              </a:ext>
            </a:extLst>
          </p:cNvPr>
          <p:cNvSpPr txBox="1">
            <a:spLocks noChangeArrowheads="1"/>
          </p:cNvSpPr>
          <p:nvPr/>
        </p:nvSpPr>
        <p:spPr bwMode="auto">
          <a:xfrm>
            <a:off x="1339850" y="492125"/>
            <a:ext cx="684212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dirty="0">
                <a:latin typeface="宋体" panose="02010600030101010101" pitchFamily="2" charset="-122"/>
              </a:rPr>
              <a:t>    如果有一对（或多对）共轭复数极点和</a:t>
            </a:r>
            <a:r>
              <a:rPr lang="en-US" altLang="zh-CN" sz="2800" dirty="0">
                <a:latin typeface="宋体" panose="02010600030101010101" pitchFamily="2" charset="-122"/>
              </a:rPr>
              <a:t>/</a:t>
            </a:r>
            <a:r>
              <a:rPr lang="zh-CN" altLang="en-US" sz="2800" dirty="0">
                <a:latin typeface="宋体" panose="02010600030101010101" pitchFamily="2" charset="-122"/>
              </a:rPr>
              <a:t>或一个（或多个）极点位于虚轴上，而其余极点均位于</a:t>
            </a:r>
            <a:r>
              <a:rPr lang="en-US" altLang="zh-CN" sz="2800" dirty="0">
                <a:latin typeface="宋体" panose="02010600030101010101" pitchFamily="2" charset="-122"/>
              </a:rPr>
              <a:t>[s]</a:t>
            </a:r>
            <a:r>
              <a:rPr lang="zh-CN" altLang="en-US" sz="2800" dirty="0">
                <a:latin typeface="宋体" panose="02010600030101010101" pitchFamily="2" charset="-122"/>
              </a:rPr>
              <a:t>平面的左半平面，则系统处于</a:t>
            </a:r>
            <a:r>
              <a:rPr lang="zh-CN" altLang="en-US" sz="2800" dirty="0">
                <a:solidFill>
                  <a:srgbClr val="FF0000"/>
                </a:solidFill>
                <a:latin typeface="宋体" panose="02010600030101010101" pitchFamily="2" charset="-122"/>
              </a:rPr>
              <a:t>临界稳定状态</a:t>
            </a:r>
            <a:r>
              <a:rPr lang="zh-CN" altLang="en-US" sz="2800" dirty="0">
                <a:latin typeface="宋体" panose="02010600030101010101" pitchFamily="2"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0034"/>
                                        </p:tgtEl>
                                        <p:attrNameLst>
                                          <p:attrName>style.visibility</p:attrName>
                                        </p:attrNameLst>
                                      </p:cBhvr>
                                      <p:to>
                                        <p:strVal val="visible"/>
                                      </p:to>
                                    </p:set>
                                    <p:anim calcmode="lin" valueType="num">
                                      <p:cBhvr additive="base">
                                        <p:cTn id="7" dur="500" fill="hold"/>
                                        <p:tgtEl>
                                          <p:spTgt spid="300034"/>
                                        </p:tgtEl>
                                        <p:attrNameLst>
                                          <p:attrName>ppt_x</p:attrName>
                                        </p:attrNameLst>
                                      </p:cBhvr>
                                      <p:tavLst>
                                        <p:tav tm="0">
                                          <p:val>
                                            <p:strVal val="#ppt_x"/>
                                          </p:val>
                                        </p:tav>
                                        <p:tav tm="100000">
                                          <p:val>
                                            <p:strVal val="#ppt_x"/>
                                          </p:val>
                                        </p:tav>
                                      </p:tavLst>
                                    </p:anim>
                                    <p:anim calcmode="lin" valueType="num">
                                      <p:cBhvr additive="base">
                                        <p:cTn id="8" dur="500" fill="hold"/>
                                        <p:tgtEl>
                                          <p:spTgt spid="3000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框 1">
            <a:extLst>
              <a:ext uri="{FF2B5EF4-FFF2-40B4-BE49-F238E27FC236}">
                <a16:creationId xmlns:a16="http://schemas.microsoft.com/office/drawing/2014/main" id="{5EDA77CE-8D7D-064C-78CE-1355B3CF9B34}"/>
              </a:ext>
            </a:extLst>
          </p:cNvPr>
          <p:cNvSpPr txBox="1">
            <a:spLocks noChangeArrowheads="1"/>
          </p:cNvSpPr>
          <p:nvPr/>
        </p:nvSpPr>
        <p:spPr bwMode="auto">
          <a:xfrm>
            <a:off x="1042988" y="692150"/>
            <a:ext cx="29546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600" dirty="0"/>
              <a:t>本节知识要点</a:t>
            </a:r>
          </a:p>
        </p:txBody>
      </p:sp>
      <p:sp>
        <p:nvSpPr>
          <p:cNvPr id="4" name="文本框 3">
            <a:extLst>
              <a:ext uri="{FF2B5EF4-FFF2-40B4-BE49-F238E27FC236}">
                <a16:creationId xmlns:a16="http://schemas.microsoft.com/office/drawing/2014/main" id="{5A0841FB-A5D2-01F2-8AE7-08C81645AA25}"/>
              </a:ext>
            </a:extLst>
          </p:cNvPr>
          <p:cNvSpPr txBox="1">
            <a:spLocks noChangeArrowheads="1"/>
          </p:cNvSpPr>
          <p:nvPr/>
        </p:nvSpPr>
        <p:spPr bwMode="auto">
          <a:xfrm flipH="1">
            <a:off x="1020147" y="2019301"/>
            <a:ext cx="7200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误差和偏差的关系</a:t>
            </a:r>
          </a:p>
        </p:txBody>
      </p:sp>
      <p:sp>
        <p:nvSpPr>
          <p:cNvPr id="5" name="文本框 4">
            <a:extLst>
              <a:ext uri="{FF2B5EF4-FFF2-40B4-BE49-F238E27FC236}">
                <a16:creationId xmlns:a16="http://schemas.microsoft.com/office/drawing/2014/main" id="{E5B61349-77AD-E96D-54B2-6D4659E87896}"/>
              </a:ext>
            </a:extLst>
          </p:cNvPr>
          <p:cNvSpPr txBox="1">
            <a:spLocks noChangeArrowheads="1"/>
          </p:cNvSpPr>
          <p:nvPr/>
        </p:nvSpPr>
        <p:spPr bwMode="auto">
          <a:xfrm flipH="1">
            <a:off x="1010798" y="3276668"/>
            <a:ext cx="410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稳态误差系数</a:t>
            </a:r>
          </a:p>
        </p:txBody>
      </p:sp>
      <p:sp>
        <p:nvSpPr>
          <p:cNvPr id="6" name="文本框 5">
            <a:extLst>
              <a:ext uri="{FF2B5EF4-FFF2-40B4-BE49-F238E27FC236}">
                <a16:creationId xmlns:a16="http://schemas.microsoft.com/office/drawing/2014/main" id="{B085A1F4-6B02-FA6A-9217-5E023875AD54}"/>
              </a:ext>
            </a:extLst>
          </p:cNvPr>
          <p:cNvSpPr txBox="1">
            <a:spLocks noChangeArrowheads="1"/>
          </p:cNvSpPr>
          <p:nvPr/>
        </p:nvSpPr>
        <p:spPr bwMode="auto">
          <a:xfrm flipH="1">
            <a:off x="1008331" y="3970781"/>
            <a:ext cx="410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系统类型（型别）</a:t>
            </a:r>
          </a:p>
        </p:txBody>
      </p:sp>
      <p:sp>
        <p:nvSpPr>
          <p:cNvPr id="7" name="文本框 6">
            <a:extLst>
              <a:ext uri="{FF2B5EF4-FFF2-40B4-BE49-F238E27FC236}">
                <a16:creationId xmlns:a16="http://schemas.microsoft.com/office/drawing/2014/main" id="{F51B9DDE-9759-1888-D33D-D44B10465AB6}"/>
              </a:ext>
            </a:extLst>
          </p:cNvPr>
          <p:cNvSpPr txBox="1">
            <a:spLocks noChangeArrowheads="1"/>
          </p:cNvSpPr>
          <p:nvPr/>
        </p:nvSpPr>
        <p:spPr bwMode="auto">
          <a:xfrm flipH="1">
            <a:off x="1020147" y="4581128"/>
            <a:ext cx="6110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稳定性的特征根判据</a:t>
            </a:r>
          </a:p>
        </p:txBody>
      </p:sp>
      <p:sp>
        <p:nvSpPr>
          <p:cNvPr id="8" name="文本框 7">
            <a:extLst>
              <a:ext uri="{FF2B5EF4-FFF2-40B4-BE49-F238E27FC236}">
                <a16:creationId xmlns:a16="http://schemas.microsoft.com/office/drawing/2014/main" id="{F51B9DDE-9759-1888-D33D-D44B10465AB6}"/>
              </a:ext>
            </a:extLst>
          </p:cNvPr>
          <p:cNvSpPr txBox="1">
            <a:spLocks noChangeArrowheads="1"/>
          </p:cNvSpPr>
          <p:nvPr/>
        </p:nvSpPr>
        <p:spPr bwMode="auto">
          <a:xfrm flipH="1">
            <a:off x="1010798" y="2630303"/>
            <a:ext cx="6110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稳态误差的基本计算公式</a:t>
            </a:r>
          </a:p>
        </p:txBody>
      </p:sp>
    </p:spTree>
    <p:extLst>
      <p:ext uri="{BB962C8B-B14F-4D97-AF65-F5344CB8AC3E}">
        <p14:creationId xmlns:p14="http://schemas.microsoft.com/office/powerpoint/2010/main" val="736361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6D1D2D0-F03D-C130-A5B9-4616C0205DDC}"/>
              </a:ext>
            </a:extLst>
          </p:cNvPr>
          <p:cNvSpPr>
            <a:spLocks noChangeArrowheads="1"/>
          </p:cNvSpPr>
          <p:nvPr/>
        </p:nvSpPr>
        <p:spPr bwMode="auto">
          <a:xfrm>
            <a:off x="395288" y="2151063"/>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3. 0</a:t>
            </a:r>
            <a:r>
              <a:rPr lang="zh-CN" altLang="zh-CN" sz="2800"/>
              <a:t>型系统对阶跃输入</a:t>
            </a:r>
            <a:r>
              <a:rPr lang="zh-CN" altLang="en-US" sz="2800"/>
              <a:t>信号下的误差如何</a:t>
            </a:r>
            <a:r>
              <a:rPr lang="zh-CN" altLang="zh-CN" sz="2800"/>
              <a:t>？</a:t>
            </a:r>
            <a:endParaRPr lang="zh-CN" altLang="en-US" sz="2800"/>
          </a:p>
        </p:txBody>
      </p:sp>
      <p:sp>
        <p:nvSpPr>
          <p:cNvPr id="14" name="矩形 13">
            <a:extLst>
              <a:ext uri="{FF2B5EF4-FFF2-40B4-BE49-F238E27FC236}">
                <a16:creationId xmlns:a16="http://schemas.microsoft.com/office/drawing/2014/main" id="{FDF9A4CB-A341-E7ED-5241-524D027CE0EB}"/>
              </a:ext>
            </a:extLst>
          </p:cNvPr>
          <p:cNvSpPr>
            <a:spLocks noChangeArrowheads="1"/>
          </p:cNvSpPr>
          <p:nvPr/>
        </p:nvSpPr>
        <p:spPr bwMode="auto">
          <a:xfrm>
            <a:off x="411163" y="2673350"/>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4. I</a:t>
            </a:r>
            <a:r>
              <a:rPr lang="zh-CN" altLang="zh-CN" sz="2800"/>
              <a:t>型系统对阶跃输入</a:t>
            </a:r>
            <a:r>
              <a:rPr lang="zh-CN" altLang="en-US" sz="2800"/>
              <a:t>信号下的误差如何</a:t>
            </a:r>
            <a:r>
              <a:rPr lang="zh-CN" altLang="zh-CN" sz="2800"/>
              <a:t>？</a:t>
            </a:r>
            <a:endParaRPr lang="zh-CN" altLang="en-US" sz="2800"/>
          </a:p>
        </p:txBody>
      </p:sp>
      <p:sp>
        <p:nvSpPr>
          <p:cNvPr id="15" name="矩形 14">
            <a:extLst>
              <a:ext uri="{FF2B5EF4-FFF2-40B4-BE49-F238E27FC236}">
                <a16:creationId xmlns:a16="http://schemas.microsoft.com/office/drawing/2014/main" id="{8BEBA653-5139-69A0-4976-BF9D4B8EFD40}"/>
              </a:ext>
            </a:extLst>
          </p:cNvPr>
          <p:cNvSpPr>
            <a:spLocks noChangeArrowheads="1"/>
          </p:cNvSpPr>
          <p:nvPr/>
        </p:nvSpPr>
        <p:spPr bwMode="auto">
          <a:xfrm>
            <a:off x="411163" y="1058863"/>
            <a:ext cx="5788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1.</a:t>
            </a:r>
            <a:r>
              <a:rPr lang="zh-CN" altLang="en-US" sz="2800"/>
              <a:t> 系统的类型</a:t>
            </a:r>
            <a:r>
              <a:rPr lang="en-US" altLang="zh-CN" sz="2800"/>
              <a:t>/</a:t>
            </a:r>
            <a:r>
              <a:rPr lang="zh-CN" altLang="en-US" sz="2800"/>
              <a:t>型别是如何定义的？ </a:t>
            </a:r>
          </a:p>
        </p:txBody>
      </p:sp>
      <p:sp>
        <p:nvSpPr>
          <p:cNvPr id="16" name="矩形 15">
            <a:extLst>
              <a:ext uri="{FF2B5EF4-FFF2-40B4-BE49-F238E27FC236}">
                <a16:creationId xmlns:a16="http://schemas.microsoft.com/office/drawing/2014/main" id="{A3A084DF-4ACA-9296-CEB8-9E7155D1A6B3}"/>
              </a:ext>
            </a:extLst>
          </p:cNvPr>
          <p:cNvSpPr>
            <a:spLocks noChangeArrowheads="1"/>
          </p:cNvSpPr>
          <p:nvPr/>
        </p:nvSpPr>
        <p:spPr bwMode="auto">
          <a:xfrm>
            <a:off x="395288" y="1582738"/>
            <a:ext cx="52911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2.</a:t>
            </a:r>
            <a:r>
              <a:rPr lang="zh-CN" altLang="en-US" sz="2800"/>
              <a:t> 影响稳态误差的因素有哪些？ </a:t>
            </a:r>
          </a:p>
        </p:txBody>
      </p:sp>
      <p:sp>
        <p:nvSpPr>
          <p:cNvPr id="17" name="矩形 16">
            <a:extLst>
              <a:ext uri="{FF2B5EF4-FFF2-40B4-BE49-F238E27FC236}">
                <a16:creationId xmlns:a16="http://schemas.microsoft.com/office/drawing/2014/main" id="{1EF67AFF-828F-203B-CBAE-005B377F478A}"/>
              </a:ext>
            </a:extLst>
          </p:cNvPr>
          <p:cNvSpPr>
            <a:spLocks noChangeArrowheads="1"/>
          </p:cNvSpPr>
          <p:nvPr/>
        </p:nvSpPr>
        <p:spPr bwMode="auto">
          <a:xfrm>
            <a:off x="396875" y="3197225"/>
            <a:ext cx="9118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5. 0</a:t>
            </a:r>
            <a:r>
              <a:rPr lang="zh-CN" altLang="zh-CN" sz="2800"/>
              <a:t>型系统对</a:t>
            </a:r>
            <a:r>
              <a:rPr lang="zh-CN" altLang="en-US" sz="2800"/>
              <a:t>坡斜输入和加速度输入信号下的误差如何</a:t>
            </a:r>
            <a:r>
              <a:rPr lang="zh-CN" altLang="zh-CN" sz="2800"/>
              <a:t>？</a:t>
            </a:r>
            <a:endParaRPr lang="zh-CN" altLang="en-US" sz="2800"/>
          </a:p>
        </p:txBody>
      </p:sp>
      <p:sp>
        <p:nvSpPr>
          <p:cNvPr id="19" name="矩形 18">
            <a:extLst>
              <a:ext uri="{FF2B5EF4-FFF2-40B4-BE49-F238E27FC236}">
                <a16:creationId xmlns:a16="http://schemas.microsoft.com/office/drawing/2014/main" id="{7FE399D2-5C76-F84C-58DB-0D7D7ECD050A}"/>
              </a:ext>
            </a:extLst>
          </p:cNvPr>
          <p:cNvSpPr>
            <a:spLocks noChangeArrowheads="1"/>
          </p:cNvSpPr>
          <p:nvPr/>
        </p:nvSpPr>
        <p:spPr bwMode="auto">
          <a:xfrm>
            <a:off x="395288" y="3705225"/>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6. I</a:t>
            </a:r>
            <a:r>
              <a:rPr lang="zh-CN" altLang="zh-CN" sz="2800"/>
              <a:t>型系统对</a:t>
            </a:r>
            <a:r>
              <a:rPr lang="zh-CN" altLang="en-US" sz="2800"/>
              <a:t>斜坡输入信号下的误差如何</a:t>
            </a:r>
            <a:r>
              <a:rPr lang="zh-CN" altLang="zh-CN" sz="2800"/>
              <a:t>？</a:t>
            </a:r>
            <a:endParaRPr lang="zh-CN" altLang="en-US" sz="2800"/>
          </a:p>
        </p:txBody>
      </p:sp>
      <p:sp>
        <p:nvSpPr>
          <p:cNvPr id="10" name="矩形 9">
            <a:extLst>
              <a:ext uri="{FF2B5EF4-FFF2-40B4-BE49-F238E27FC236}">
                <a16:creationId xmlns:a16="http://schemas.microsoft.com/office/drawing/2014/main" id="{B8ABBD6A-189C-2EA1-A1CA-645A0A1400BB}"/>
              </a:ext>
            </a:extLst>
          </p:cNvPr>
          <p:cNvSpPr>
            <a:spLocks noChangeArrowheads="1"/>
          </p:cNvSpPr>
          <p:nvPr/>
        </p:nvSpPr>
        <p:spPr bwMode="auto">
          <a:xfrm>
            <a:off x="395288" y="4227513"/>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7. I</a:t>
            </a:r>
            <a:r>
              <a:rPr lang="zh-CN" altLang="zh-CN" sz="2800"/>
              <a:t>型系统对</a:t>
            </a:r>
            <a:r>
              <a:rPr lang="zh-CN" altLang="en-US" sz="2800"/>
              <a:t>加速度输入信号下的误差如何</a:t>
            </a:r>
            <a:r>
              <a:rPr lang="zh-CN" altLang="zh-CN" sz="2800"/>
              <a:t>？</a:t>
            </a:r>
            <a:endParaRPr lang="zh-CN" altLang="en-US" sz="2800"/>
          </a:p>
        </p:txBody>
      </p:sp>
      <p:sp>
        <p:nvSpPr>
          <p:cNvPr id="11" name="矩形 10">
            <a:extLst>
              <a:ext uri="{FF2B5EF4-FFF2-40B4-BE49-F238E27FC236}">
                <a16:creationId xmlns:a16="http://schemas.microsoft.com/office/drawing/2014/main" id="{1D0076CB-62D9-64B5-EB6E-54629CAF95A0}"/>
              </a:ext>
            </a:extLst>
          </p:cNvPr>
          <p:cNvSpPr>
            <a:spLocks noChangeArrowheads="1"/>
          </p:cNvSpPr>
          <p:nvPr/>
        </p:nvSpPr>
        <p:spPr bwMode="auto">
          <a:xfrm>
            <a:off x="395288" y="4691063"/>
            <a:ext cx="77866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8. I I</a:t>
            </a:r>
            <a:r>
              <a:rPr lang="zh-CN" altLang="zh-CN" sz="2800"/>
              <a:t>型系统对</a:t>
            </a:r>
            <a:r>
              <a:rPr lang="zh-CN" altLang="en-US" sz="2800"/>
              <a:t>加速度输入信号下的误差如何</a:t>
            </a:r>
            <a:r>
              <a:rPr lang="zh-CN" altLang="zh-CN" sz="2800"/>
              <a:t>？</a:t>
            </a:r>
            <a:endParaRPr lang="zh-CN" altLang="en-US" sz="2800"/>
          </a:p>
        </p:txBody>
      </p:sp>
      <p:sp>
        <p:nvSpPr>
          <p:cNvPr id="12" name="矩形 11">
            <a:extLst>
              <a:ext uri="{FF2B5EF4-FFF2-40B4-BE49-F238E27FC236}">
                <a16:creationId xmlns:a16="http://schemas.microsoft.com/office/drawing/2014/main" id="{9D313BCA-F2E8-5257-6C86-8FFE893D4924}"/>
              </a:ext>
            </a:extLst>
          </p:cNvPr>
          <p:cNvSpPr>
            <a:spLocks noChangeArrowheads="1"/>
          </p:cNvSpPr>
          <p:nvPr/>
        </p:nvSpPr>
        <p:spPr bwMode="auto">
          <a:xfrm>
            <a:off x="395288" y="5199063"/>
            <a:ext cx="90344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9. I I</a:t>
            </a:r>
            <a:r>
              <a:rPr lang="zh-CN" altLang="zh-CN" sz="2800"/>
              <a:t>型系统对</a:t>
            </a:r>
            <a:r>
              <a:rPr lang="zh-CN" altLang="en-US" sz="2800"/>
              <a:t>阶跃输入和速度输入信号下的误差如何</a:t>
            </a:r>
            <a:r>
              <a:rPr lang="zh-CN" altLang="zh-CN" sz="2800"/>
              <a:t>？</a:t>
            </a:r>
            <a:endParaRPr lang="zh-CN" altLang="en-US" sz="2800"/>
          </a:p>
        </p:txBody>
      </p:sp>
      <p:sp>
        <p:nvSpPr>
          <p:cNvPr id="21" name="矩形 20">
            <a:extLst>
              <a:ext uri="{FF2B5EF4-FFF2-40B4-BE49-F238E27FC236}">
                <a16:creationId xmlns:a16="http://schemas.microsoft.com/office/drawing/2014/main" id="{319355AA-3A7B-BD97-0F6B-989219626B1F}"/>
              </a:ext>
            </a:extLst>
          </p:cNvPr>
          <p:cNvSpPr>
            <a:spLocks noChangeArrowheads="1"/>
          </p:cNvSpPr>
          <p:nvPr/>
        </p:nvSpPr>
        <p:spPr bwMode="auto">
          <a:xfrm>
            <a:off x="250825" y="5732463"/>
            <a:ext cx="8283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10.</a:t>
            </a:r>
            <a:r>
              <a:rPr lang="zh-CN" altLang="en-US" sz="2800"/>
              <a:t>减小控制信号作用下稳态误差的措施有哪些？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1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randombar(horizontal)">
                                      <p:cBhvr>
                                        <p:cTn id="25" dur="500"/>
                                        <p:tgtEl>
                                          <p:spTgt spid="1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randombar(horizontal)">
                                      <p:cBhvr>
                                        <p:cTn id="30" dur="500"/>
                                        <p:tgtEl>
                                          <p:spTgt spid="1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1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randombar(horizontal)">
                                      <p:cBhvr>
                                        <p:cTn id="35" dur="500"/>
                                        <p:tgtEl>
                                          <p:spTgt spid="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1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randombar(horizontal)">
                                      <p:cBhvr>
                                        <p:cTn id="40" dur="500"/>
                                        <p:tgtEl>
                                          <p:spTgt spid="1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1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randombar(horizontal)">
                                      <p:cBhvr>
                                        <p:cTn id="45" dur="500"/>
                                        <p:tgtEl>
                                          <p:spTgt spid="1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4" presetClass="entr" presetSubtype="10"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randombar(horizontal)">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10" grpId="0"/>
      <p:bldP spid="11" grpId="0"/>
      <p:bldP spid="12"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03547F5B-EF1E-EB10-7A94-06BAF213DD1B}"/>
              </a:ext>
            </a:extLst>
          </p:cNvPr>
          <p:cNvSpPr>
            <a:spLocks noChangeArrowheads="1"/>
          </p:cNvSpPr>
          <p:nvPr/>
        </p:nvSpPr>
        <p:spPr bwMode="auto">
          <a:xfrm>
            <a:off x="2843213" y="2708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14691" name="Rectangle 4">
            <a:extLst>
              <a:ext uri="{FF2B5EF4-FFF2-40B4-BE49-F238E27FC236}">
                <a16:creationId xmlns:a16="http://schemas.microsoft.com/office/drawing/2014/main" id="{E741B5C0-89C7-62DE-657F-F498B15229B0}"/>
              </a:ext>
            </a:extLst>
          </p:cNvPr>
          <p:cNvSpPr>
            <a:spLocks noChangeArrowheads="1"/>
          </p:cNvSpPr>
          <p:nvPr/>
        </p:nvSpPr>
        <p:spPr bwMode="auto">
          <a:xfrm>
            <a:off x="2555875" y="4897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10" name="对象 9">
            <a:extLst>
              <a:ext uri="{FF2B5EF4-FFF2-40B4-BE49-F238E27FC236}">
                <a16:creationId xmlns:a16="http://schemas.microsoft.com/office/drawing/2014/main" id="{11D28B5F-91C8-E3D4-4410-48E48693881E}"/>
              </a:ext>
            </a:extLst>
          </p:cNvPr>
          <p:cNvGraphicFramePr>
            <a:graphicFrameLocks noChangeAspect="1"/>
          </p:cNvGraphicFramePr>
          <p:nvPr/>
        </p:nvGraphicFramePr>
        <p:xfrm>
          <a:off x="5629275" y="581025"/>
          <a:ext cx="2997200" cy="1036638"/>
        </p:xfrm>
        <a:graphic>
          <a:graphicData uri="http://schemas.openxmlformats.org/presentationml/2006/ole">
            <mc:AlternateContent xmlns:mc="http://schemas.openxmlformats.org/markup-compatibility/2006">
              <mc:Choice xmlns:v="urn:schemas-microsoft-com:vml" Requires="v">
                <p:oleObj r:id="rId2" imgW="1054100" imgH="368300" progId="Equation.3">
                  <p:embed/>
                </p:oleObj>
              </mc:Choice>
              <mc:Fallback>
                <p:oleObj r:id="rId2" imgW="1054100" imgH="368300" progId="Equation.3">
                  <p:embed/>
                  <p:pic>
                    <p:nvPicPr>
                      <p:cNvPr id="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9275" y="581025"/>
                        <a:ext cx="29972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文本框 10">
            <a:extLst>
              <a:ext uri="{FF2B5EF4-FFF2-40B4-BE49-F238E27FC236}">
                <a16:creationId xmlns:a16="http://schemas.microsoft.com/office/drawing/2014/main" id="{A1F3A731-59D4-495F-4A76-F3955B0638BF}"/>
              </a:ext>
            </a:extLst>
          </p:cNvPr>
          <p:cNvSpPr txBox="1">
            <a:spLocks noChangeArrowheads="1"/>
          </p:cNvSpPr>
          <p:nvPr/>
        </p:nvSpPr>
        <p:spPr bwMode="auto">
          <a:xfrm>
            <a:off x="250825" y="838200"/>
            <a:ext cx="55086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11.</a:t>
            </a:r>
            <a:r>
              <a:rPr lang="zh-CN" altLang="en-US" sz="2800"/>
              <a:t>某闭环系统的开环传递函数为：</a:t>
            </a:r>
          </a:p>
        </p:txBody>
      </p:sp>
      <p:sp>
        <p:nvSpPr>
          <p:cNvPr id="13" name="矩形 12">
            <a:extLst>
              <a:ext uri="{FF2B5EF4-FFF2-40B4-BE49-F238E27FC236}">
                <a16:creationId xmlns:a16="http://schemas.microsoft.com/office/drawing/2014/main" id="{8302C2C9-EB40-E71D-BD36-9D24FA2EF39A}"/>
              </a:ext>
            </a:extLst>
          </p:cNvPr>
          <p:cNvSpPr>
            <a:spLocks noChangeArrowheads="1"/>
          </p:cNvSpPr>
          <p:nvPr/>
        </p:nvSpPr>
        <p:spPr bwMode="auto">
          <a:xfrm>
            <a:off x="766763" y="2081213"/>
            <a:ext cx="3459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系统为</a:t>
            </a:r>
            <a:r>
              <a:rPr lang="zh-CN" altLang="en-US" sz="2800" u="sng"/>
              <a:t>      </a:t>
            </a:r>
            <a:r>
              <a:rPr lang="zh-CN" altLang="en-US" sz="2800"/>
              <a:t>型系统；</a:t>
            </a:r>
          </a:p>
        </p:txBody>
      </p:sp>
      <p:sp>
        <p:nvSpPr>
          <p:cNvPr id="14" name="矩形 13">
            <a:extLst>
              <a:ext uri="{FF2B5EF4-FFF2-40B4-BE49-F238E27FC236}">
                <a16:creationId xmlns:a16="http://schemas.microsoft.com/office/drawing/2014/main" id="{E23FC6B9-39BD-79BF-FD4D-50D3E3D12FA4}"/>
              </a:ext>
            </a:extLst>
          </p:cNvPr>
          <p:cNvSpPr>
            <a:spLocks noChangeArrowheads="1"/>
          </p:cNvSpPr>
          <p:nvPr/>
        </p:nvSpPr>
        <p:spPr bwMode="auto">
          <a:xfrm>
            <a:off x="755650" y="2665413"/>
            <a:ext cx="6772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系统在输入信号</a:t>
            </a:r>
            <a:r>
              <a:rPr lang="en-US" altLang="zh-CN" sz="2800"/>
              <a:t>1(t)</a:t>
            </a:r>
            <a:r>
              <a:rPr lang="zh-CN" altLang="en-US" sz="2800"/>
              <a:t>作用下的误差为</a:t>
            </a:r>
            <a:r>
              <a:rPr lang="zh-CN" altLang="en-US" sz="2800" u="sng"/>
              <a:t>    </a:t>
            </a:r>
            <a:r>
              <a:rPr lang="zh-CN" altLang="en-US" sz="2800"/>
              <a:t>；</a:t>
            </a:r>
          </a:p>
        </p:txBody>
      </p:sp>
      <p:sp>
        <p:nvSpPr>
          <p:cNvPr id="15" name="矩形 14">
            <a:extLst>
              <a:ext uri="{FF2B5EF4-FFF2-40B4-BE49-F238E27FC236}">
                <a16:creationId xmlns:a16="http://schemas.microsoft.com/office/drawing/2014/main" id="{05A84B8E-0369-7010-D8C0-9DB4C72B5FF8}"/>
              </a:ext>
            </a:extLst>
          </p:cNvPr>
          <p:cNvSpPr>
            <a:spLocks noChangeArrowheads="1"/>
          </p:cNvSpPr>
          <p:nvPr/>
        </p:nvSpPr>
        <p:spPr bwMode="auto">
          <a:xfrm>
            <a:off x="790575" y="3203575"/>
            <a:ext cx="6381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系统在输入信号</a:t>
            </a:r>
            <a:r>
              <a:rPr lang="en-US" altLang="zh-CN" sz="2800"/>
              <a:t>t</a:t>
            </a:r>
            <a:r>
              <a:rPr lang="zh-CN" altLang="en-US" sz="2800"/>
              <a:t>作用下的误差为</a:t>
            </a:r>
            <a:r>
              <a:rPr lang="zh-CN" altLang="en-US" sz="2800" u="sng"/>
              <a:t>    </a:t>
            </a:r>
            <a:r>
              <a:rPr lang="zh-CN" altLang="en-US" sz="2800"/>
              <a:t>；</a:t>
            </a:r>
          </a:p>
        </p:txBody>
      </p:sp>
      <p:pic>
        <p:nvPicPr>
          <p:cNvPr id="54287" name="Picture 15">
            <a:extLst>
              <a:ext uri="{FF2B5EF4-FFF2-40B4-BE49-F238E27FC236}">
                <a16:creationId xmlns:a16="http://schemas.microsoft.com/office/drawing/2014/main" id="{6E092008-D8ED-F1A0-83E0-D5C9A8D94B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13" y="3860800"/>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4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9">
            <a:extLst>
              <a:ext uri="{FF2B5EF4-FFF2-40B4-BE49-F238E27FC236}">
                <a16:creationId xmlns:a16="http://schemas.microsoft.com/office/drawing/2014/main" id="{A92A0B39-3BD0-7F02-3DC4-93A649B46AFC}"/>
              </a:ext>
            </a:extLst>
          </p:cNvPr>
          <p:cNvSpPr>
            <a:spLocks noChangeArrowheads="1"/>
          </p:cNvSpPr>
          <p:nvPr/>
        </p:nvSpPr>
        <p:spPr bwMode="auto">
          <a:xfrm>
            <a:off x="611188" y="908050"/>
            <a:ext cx="6046787"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3.4   </a:t>
            </a:r>
            <a:r>
              <a:rPr lang="zh-CN" altLang="en-US" sz="2800">
                <a:solidFill>
                  <a:srgbClr val="FF0000"/>
                </a:solidFill>
                <a:latin typeface="Times New Roman" panose="02020603050405020304" pitchFamily="18" charset="0"/>
                <a:ea typeface="黑体" panose="02010609060101010101" pitchFamily="49" charset="-122"/>
              </a:rPr>
              <a:t>误差分析和计算</a:t>
            </a:r>
          </a:p>
        </p:txBody>
      </p:sp>
      <p:grpSp>
        <p:nvGrpSpPr>
          <p:cNvPr id="4" name="Group 6">
            <a:extLst>
              <a:ext uri="{FF2B5EF4-FFF2-40B4-BE49-F238E27FC236}">
                <a16:creationId xmlns:a16="http://schemas.microsoft.com/office/drawing/2014/main" id="{D74B54C9-C391-BB40-37A3-B53FA3D584ED}"/>
              </a:ext>
            </a:extLst>
          </p:cNvPr>
          <p:cNvGrpSpPr>
            <a:grpSpLocks/>
          </p:cNvGrpSpPr>
          <p:nvPr/>
        </p:nvGrpSpPr>
        <p:grpSpPr bwMode="auto">
          <a:xfrm>
            <a:off x="1020763" y="2225675"/>
            <a:ext cx="4324350" cy="1562100"/>
            <a:chOff x="1310" y="2088"/>
            <a:chExt cx="2944" cy="984"/>
          </a:xfrm>
        </p:grpSpPr>
        <p:sp>
          <p:nvSpPr>
            <p:cNvPr id="115719" name="Rectangle 7">
              <a:extLst>
                <a:ext uri="{FF2B5EF4-FFF2-40B4-BE49-F238E27FC236}">
                  <a16:creationId xmlns:a16="http://schemas.microsoft.com/office/drawing/2014/main" id="{3416F042-75C8-5BB2-23A1-8A9649D4E497}"/>
                </a:ext>
              </a:extLst>
            </p:cNvPr>
            <p:cNvSpPr>
              <a:spLocks noChangeArrowheads="1"/>
            </p:cNvSpPr>
            <p:nvPr/>
          </p:nvSpPr>
          <p:spPr bwMode="auto">
            <a:xfrm>
              <a:off x="2609" y="2739"/>
              <a:ext cx="695" cy="33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115720" name="Line 8">
              <a:extLst>
                <a:ext uri="{FF2B5EF4-FFF2-40B4-BE49-F238E27FC236}">
                  <a16:creationId xmlns:a16="http://schemas.microsoft.com/office/drawing/2014/main" id="{0E6716C3-687C-5104-E958-E6890CAEFF03}"/>
                </a:ext>
              </a:extLst>
            </p:cNvPr>
            <p:cNvSpPr>
              <a:spLocks noChangeShapeType="1"/>
            </p:cNvSpPr>
            <p:nvPr/>
          </p:nvSpPr>
          <p:spPr bwMode="auto">
            <a:xfrm>
              <a:off x="2054" y="2412"/>
              <a:ext cx="55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1" name="Line 9">
              <a:extLst>
                <a:ext uri="{FF2B5EF4-FFF2-40B4-BE49-F238E27FC236}">
                  <a16:creationId xmlns:a16="http://schemas.microsoft.com/office/drawing/2014/main" id="{B4628854-4BB2-8A49-0B5F-A2670AEFA19E}"/>
                </a:ext>
              </a:extLst>
            </p:cNvPr>
            <p:cNvSpPr>
              <a:spLocks noChangeShapeType="1"/>
            </p:cNvSpPr>
            <p:nvPr/>
          </p:nvSpPr>
          <p:spPr bwMode="auto">
            <a:xfrm>
              <a:off x="3304" y="2404"/>
              <a:ext cx="8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2" name="Line 10">
              <a:extLst>
                <a:ext uri="{FF2B5EF4-FFF2-40B4-BE49-F238E27FC236}">
                  <a16:creationId xmlns:a16="http://schemas.microsoft.com/office/drawing/2014/main" id="{118F2892-CAA7-7DB8-ED34-D702B295C116}"/>
                </a:ext>
              </a:extLst>
            </p:cNvPr>
            <p:cNvSpPr>
              <a:spLocks noChangeShapeType="1"/>
            </p:cNvSpPr>
            <p:nvPr/>
          </p:nvSpPr>
          <p:spPr bwMode="auto">
            <a:xfrm flipH="1">
              <a:off x="3751" y="2404"/>
              <a:ext cx="0" cy="5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3" name="Line 11">
              <a:extLst>
                <a:ext uri="{FF2B5EF4-FFF2-40B4-BE49-F238E27FC236}">
                  <a16:creationId xmlns:a16="http://schemas.microsoft.com/office/drawing/2014/main" id="{959E98FB-235B-F3AF-6DBE-E31B3E14FA07}"/>
                </a:ext>
              </a:extLst>
            </p:cNvPr>
            <p:cNvSpPr>
              <a:spLocks noChangeShapeType="1"/>
            </p:cNvSpPr>
            <p:nvPr/>
          </p:nvSpPr>
          <p:spPr bwMode="auto">
            <a:xfrm flipH="1" flipV="1">
              <a:off x="3304" y="2906"/>
              <a:ext cx="4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4" name="Line 12">
              <a:extLst>
                <a:ext uri="{FF2B5EF4-FFF2-40B4-BE49-F238E27FC236}">
                  <a16:creationId xmlns:a16="http://schemas.microsoft.com/office/drawing/2014/main" id="{411C8A2C-44E4-202B-F73E-E42AA7B1CEC0}"/>
                </a:ext>
              </a:extLst>
            </p:cNvPr>
            <p:cNvSpPr>
              <a:spLocks noChangeShapeType="1"/>
            </p:cNvSpPr>
            <p:nvPr/>
          </p:nvSpPr>
          <p:spPr bwMode="auto">
            <a:xfrm flipH="1">
              <a:off x="1961" y="2906"/>
              <a:ext cx="64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5" name="Line 13">
              <a:extLst>
                <a:ext uri="{FF2B5EF4-FFF2-40B4-BE49-F238E27FC236}">
                  <a16:creationId xmlns:a16="http://schemas.microsoft.com/office/drawing/2014/main" id="{34ED85F5-FB99-027E-2C63-9B2F4607661A}"/>
                </a:ext>
              </a:extLst>
            </p:cNvPr>
            <p:cNvSpPr>
              <a:spLocks noChangeShapeType="1"/>
            </p:cNvSpPr>
            <p:nvPr/>
          </p:nvSpPr>
          <p:spPr bwMode="auto">
            <a:xfrm flipV="1">
              <a:off x="1968" y="2488"/>
              <a:ext cx="0" cy="41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6" name="Text Box 14">
              <a:extLst>
                <a:ext uri="{FF2B5EF4-FFF2-40B4-BE49-F238E27FC236}">
                  <a16:creationId xmlns:a16="http://schemas.microsoft.com/office/drawing/2014/main" id="{BDBDEFC7-D02F-7870-AC48-C74E194F4491}"/>
                </a:ext>
              </a:extLst>
            </p:cNvPr>
            <p:cNvSpPr txBox="1">
              <a:spLocks noChangeArrowheads="1"/>
            </p:cNvSpPr>
            <p:nvPr/>
          </p:nvSpPr>
          <p:spPr bwMode="auto">
            <a:xfrm>
              <a:off x="1822" y="2246"/>
              <a:ext cx="33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115727" name="Line 15">
              <a:extLst>
                <a:ext uri="{FF2B5EF4-FFF2-40B4-BE49-F238E27FC236}">
                  <a16:creationId xmlns:a16="http://schemas.microsoft.com/office/drawing/2014/main" id="{D9F2BCAE-45BE-6648-D83E-1817D6ABDCD5}"/>
                </a:ext>
              </a:extLst>
            </p:cNvPr>
            <p:cNvSpPr>
              <a:spLocks noChangeShapeType="1"/>
            </p:cNvSpPr>
            <p:nvPr/>
          </p:nvSpPr>
          <p:spPr bwMode="auto">
            <a:xfrm>
              <a:off x="1321" y="2411"/>
              <a:ext cx="55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8" name="Text Box 16">
              <a:extLst>
                <a:ext uri="{FF2B5EF4-FFF2-40B4-BE49-F238E27FC236}">
                  <a16:creationId xmlns:a16="http://schemas.microsoft.com/office/drawing/2014/main" id="{B328BD50-111B-7270-D778-0A2EACAAC143}"/>
                </a:ext>
              </a:extLst>
            </p:cNvPr>
            <p:cNvSpPr txBox="1">
              <a:spLocks noChangeArrowheads="1"/>
            </p:cNvSpPr>
            <p:nvPr/>
          </p:nvSpPr>
          <p:spPr bwMode="auto">
            <a:xfrm>
              <a:off x="1310" y="2112"/>
              <a:ext cx="4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15729" name="Text Box 17">
              <a:extLst>
                <a:ext uri="{FF2B5EF4-FFF2-40B4-BE49-F238E27FC236}">
                  <a16:creationId xmlns:a16="http://schemas.microsoft.com/office/drawing/2014/main" id="{41888141-A405-F971-C863-02FD60F7D836}"/>
                </a:ext>
              </a:extLst>
            </p:cNvPr>
            <p:cNvSpPr txBox="1">
              <a:spLocks noChangeArrowheads="1"/>
            </p:cNvSpPr>
            <p:nvPr/>
          </p:nvSpPr>
          <p:spPr bwMode="auto">
            <a:xfrm>
              <a:off x="3767" y="2088"/>
              <a:ext cx="4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15730" name="Text Box 18">
              <a:extLst>
                <a:ext uri="{FF2B5EF4-FFF2-40B4-BE49-F238E27FC236}">
                  <a16:creationId xmlns:a16="http://schemas.microsoft.com/office/drawing/2014/main" id="{D6E7BDD2-DCE2-F90C-724E-C664B286316C}"/>
                </a:ext>
              </a:extLst>
            </p:cNvPr>
            <p:cNvSpPr txBox="1">
              <a:spLocks noChangeArrowheads="1"/>
            </p:cNvSpPr>
            <p:nvPr/>
          </p:nvSpPr>
          <p:spPr bwMode="auto">
            <a:xfrm>
              <a:off x="1545" y="2579"/>
              <a:ext cx="4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15731" name="Text Box 19">
              <a:extLst>
                <a:ext uri="{FF2B5EF4-FFF2-40B4-BE49-F238E27FC236}">
                  <a16:creationId xmlns:a16="http://schemas.microsoft.com/office/drawing/2014/main" id="{F4A966B2-FFD1-84C4-9F1D-741DA5211292}"/>
                </a:ext>
              </a:extLst>
            </p:cNvPr>
            <p:cNvSpPr txBox="1">
              <a:spLocks noChangeArrowheads="1"/>
            </p:cNvSpPr>
            <p:nvPr/>
          </p:nvSpPr>
          <p:spPr bwMode="auto">
            <a:xfrm>
              <a:off x="2051" y="2116"/>
              <a:ext cx="4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15732" name="Line 20">
              <a:extLst>
                <a:ext uri="{FF2B5EF4-FFF2-40B4-BE49-F238E27FC236}">
                  <a16:creationId xmlns:a16="http://schemas.microsoft.com/office/drawing/2014/main" id="{7E9425C6-E9C8-9F18-1D69-D507E7F60E0F}"/>
                </a:ext>
              </a:extLst>
            </p:cNvPr>
            <p:cNvSpPr>
              <a:spLocks noChangeShapeType="1"/>
            </p:cNvSpPr>
            <p:nvPr/>
          </p:nvSpPr>
          <p:spPr bwMode="auto">
            <a:xfrm>
              <a:off x="2008" y="2621"/>
              <a:ext cx="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33" name="Rectangle 21">
              <a:extLst>
                <a:ext uri="{FF2B5EF4-FFF2-40B4-BE49-F238E27FC236}">
                  <a16:creationId xmlns:a16="http://schemas.microsoft.com/office/drawing/2014/main" id="{6FFB4383-423D-CBF4-2B80-BBFA81CB1F0E}"/>
                </a:ext>
              </a:extLst>
            </p:cNvPr>
            <p:cNvSpPr>
              <a:spLocks noChangeArrowheads="1"/>
            </p:cNvSpPr>
            <p:nvPr/>
          </p:nvSpPr>
          <p:spPr bwMode="auto">
            <a:xfrm>
              <a:off x="2609" y="2238"/>
              <a:ext cx="695" cy="33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15734" name="Oval 22">
              <a:extLst>
                <a:ext uri="{FF2B5EF4-FFF2-40B4-BE49-F238E27FC236}">
                  <a16:creationId xmlns:a16="http://schemas.microsoft.com/office/drawing/2014/main" id="{6291BAB4-FAC0-1665-12FA-09B2BB53FE02}"/>
                </a:ext>
              </a:extLst>
            </p:cNvPr>
            <p:cNvSpPr>
              <a:spLocks noChangeArrowheads="1"/>
            </p:cNvSpPr>
            <p:nvPr/>
          </p:nvSpPr>
          <p:spPr bwMode="auto">
            <a:xfrm>
              <a:off x="3729" y="2384"/>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aphicFrame>
        <p:nvGraphicFramePr>
          <p:cNvPr id="21" name="对象 20">
            <a:extLst>
              <a:ext uri="{FF2B5EF4-FFF2-40B4-BE49-F238E27FC236}">
                <a16:creationId xmlns:a16="http://schemas.microsoft.com/office/drawing/2014/main" id="{A0BDACA1-A269-9868-F087-A22B68AD2970}"/>
              </a:ext>
            </a:extLst>
          </p:cNvPr>
          <p:cNvGraphicFramePr>
            <a:graphicFrameLocks noChangeAspect="1"/>
          </p:cNvGraphicFramePr>
          <p:nvPr/>
        </p:nvGraphicFramePr>
        <p:xfrm>
          <a:off x="5803900" y="2593975"/>
          <a:ext cx="1863725" cy="895350"/>
        </p:xfrm>
        <a:graphic>
          <a:graphicData uri="http://schemas.openxmlformats.org/presentationml/2006/ole">
            <mc:AlternateContent xmlns:mc="http://schemas.openxmlformats.org/markup-compatibility/2006">
              <mc:Choice xmlns:v="urn:schemas-microsoft-com:vml" Requires="v">
                <p:oleObj r:id="rId2" imgW="685800" imgH="330200" progId="Equation.3">
                  <p:embed/>
                </p:oleObj>
              </mc:Choice>
              <mc:Fallback>
                <p:oleObj r:id="rId2" imgW="685800" imgH="330200" progId="Equation.3">
                  <p:embed/>
                  <p:pic>
                    <p:nvPicPr>
                      <p:cNvPr id="0" name="对象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2593975"/>
                        <a:ext cx="186372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 name="对象 21">
            <a:extLst>
              <a:ext uri="{FF2B5EF4-FFF2-40B4-BE49-F238E27FC236}">
                <a16:creationId xmlns:a16="http://schemas.microsoft.com/office/drawing/2014/main" id="{04DDCC07-1605-0963-1484-E69D6659B59F}"/>
              </a:ext>
            </a:extLst>
          </p:cNvPr>
          <p:cNvGraphicFramePr>
            <a:graphicFrameLocks noChangeAspect="1"/>
          </p:cNvGraphicFramePr>
          <p:nvPr/>
        </p:nvGraphicFramePr>
        <p:xfrm>
          <a:off x="2566988" y="4292600"/>
          <a:ext cx="3382962" cy="625475"/>
        </p:xfrm>
        <a:graphic>
          <a:graphicData uri="http://schemas.openxmlformats.org/presentationml/2006/ole">
            <mc:AlternateContent xmlns:mc="http://schemas.openxmlformats.org/markup-compatibility/2006">
              <mc:Choice xmlns:v="urn:schemas-microsoft-com:vml" Requires="v">
                <p:oleObj r:id="rId4" imgW="1511300" imgH="279400" progId="Equation.3">
                  <p:embed/>
                </p:oleObj>
              </mc:Choice>
              <mc:Fallback>
                <p:oleObj r:id="rId4" imgW="1511300" imgH="279400" progId="Equation.3">
                  <p:embed/>
                  <p:pic>
                    <p:nvPicPr>
                      <p:cNvPr id="0" name="对象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988" y="4292600"/>
                        <a:ext cx="33829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对象 22">
            <a:extLst>
              <a:ext uri="{FF2B5EF4-FFF2-40B4-BE49-F238E27FC236}">
                <a16:creationId xmlns:a16="http://schemas.microsoft.com/office/drawing/2014/main" id="{E4BED76C-C862-7E10-8524-BCE11F141037}"/>
              </a:ext>
            </a:extLst>
          </p:cNvPr>
          <p:cNvGraphicFramePr>
            <a:graphicFrameLocks noChangeAspect="1"/>
          </p:cNvGraphicFramePr>
          <p:nvPr/>
        </p:nvGraphicFramePr>
        <p:xfrm>
          <a:off x="1633538" y="5084763"/>
          <a:ext cx="3609975" cy="850900"/>
        </p:xfrm>
        <a:graphic>
          <a:graphicData uri="http://schemas.openxmlformats.org/presentationml/2006/ole">
            <mc:AlternateContent xmlns:mc="http://schemas.openxmlformats.org/markup-compatibility/2006">
              <mc:Choice xmlns:v="urn:schemas-microsoft-com:vml" Requires="v">
                <p:oleObj r:id="rId6" imgW="1828800" imgH="431800" progId="Equation.3">
                  <p:embed/>
                </p:oleObj>
              </mc:Choice>
              <mc:Fallback>
                <p:oleObj r:id="rId6" imgW="1828800" imgH="431800" progId="Equation.3">
                  <p:embed/>
                  <p:pic>
                    <p:nvPicPr>
                      <p:cNvPr id="0" name="对象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3538" y="5084763"/>
                        <a:ext cx="360997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570</TotalTime>
  <Words>2828</Words>
  <Application>Microsoft Office PowerPoint</Application>
  <PresentationFormat>全屏显示(4:3)</PresentationFormat>
  <Paragraphs>378</Paragraphs>
  <Slides>52</Slides>
  <Notes>40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62" baseType="lpstr">
      <vt:lpstr>宋体</vt:lpstr>
      <vt:lpstr>Arial</vt:lpstr>
      <vt:lpstr>Calibri</vt:lpstr>
      <vt:lpstr>Symbol</vt:lpstr>
      <vt:lpstr>Times New Roman</vt:lpstr>
      <vt:lpstr>Verdana</vt:lpstr>
      <vt:lpstr>Wingdings</vt:lpstr>
      <vt:lpstr>Profile</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AIMIN FANG</cp:lastModifiedBy>
  <cp:revision>128</cp:revision>
  <dcterms:created xsi:type="dcterms:W3CDTF">2011-07-28T02:52:00Z</dcterms:created>
  <dcterms:modified xsi:type="dcterms:W3CDTF">2025-09-28T11:27:03Z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