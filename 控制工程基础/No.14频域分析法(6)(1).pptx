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482" r:id="rId2"/>
    <p:sldId id="702" r:id="rId3"/>
    <p:sldId id="565" r:id="rId4"/>
    <p:sldId id="566" r:id="rId5"/>
    <p:sldId id="703" r:id="rId6"/>
    <p:sldId id="568" r:id="rId7"/>
    <p:sldId id="569" r:id="rId8"/>
    <p:sldId id="704" r:id="rId9"/>
    <p:sldId id="571" r:id="rId10"/>
    <p:sldId id="705" r:id="rId11"/>
    <p:sldId id="706" r:id="rId12"/>
    <p:sldId id="658" r:id="rId13"/>
    <p:sldId id="659" r:id="rId14"/>
    <p:sldId id="660" r:id="rId15"/>
    <p:sldId id="575" r:id="rId16"/>
    <p:sldId id="576" r:id="rId17"/>
    <p:sldId id="577" r:id="rId18"/>
    <p:sldId id="578" r:id="rId19"/>
    <p:sldId id="579" r:id="rId20"/>
    <p:sldId id="580" r:id="rId21"/>
    <p:sldId id="600" r:id="rId22"/>
    <p:sldId id="581" r:id="rId23"/>
    <p:sldId id="395" r:id="rId24"/>
    <p:sldId id="424" r:id="rId25"/>
    <p:sldId id="426" r:id="rId26"/>
    <p:sldId id="396" r:id="rId27"/>
    <p:sldId id="425" r:id="rId28"/>
    <p:sldId id="427" r:id="rId29"/>
    <p:sldId id="397" r:id="rId30"/>
    <p:sldId id="398" r:id="rId31"/>
    <p:sldId id="399" r:id="rId32"/>
    <p:sldId id="400" r:id="rId33"/>
    <p:sldId id="401" r:id="rId34"/>
    <p:sldId id="402" r:id="rId35"/>
    <p:sldId id="403" r:id="rId36"/>
    <p:sldId id="404" r:id="rId37"/>
    <p:sldId id="405" r:id="rId38"/>
    <p:sldId id="582" r:id="rId39"/>
    <p:sldId id="583" r:id="rId40"/>
    <p:sldId id="584" r:id="rId41"/>
    <p:sldId id="585" r:id="rId42"/>
    <p:sldId id="586" r:id="rId43"/>
    <p:sldId id="587" r:id="rId44"/>
    <p:sldId id="588" r:id="rId45"/>
    <p:sldId id="602" r:id="rId46"/>
    <p:sldId id="603" r:id="rId47"/>
    <p:sldId id="589" r:id="rId48"/>
    <p:sldId id="696" r:id="rId49"/>
    <p:sldId id="700" r:id="rId50"/>
    <p:sldId id="701" r:id="rId5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3866"/>
  </p:normalViewPr>
  <p:slideViewPr>
    <p:cSldViewPr showGuides="1">
      <p:cViewPr varScale="1">
        <p:scale>
          <a:sx n="70" d="100"/>
          <a:sy n="70" d="100"/>
        </p:scale>
        <p:origin x="990" y="39"/>
      </p:cViewPr>
      <p:guideLst>
        <p:guide orient="horz" pos="2162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A99AE4-74C8-47F4-9F62-F9B05530D8D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0618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06169-7F15-4B6C-84B6-60B661CB37E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53695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1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485E0E1-DECF-4333-AC3A-19D26EFE7242}" type="slidenum">
              <a:rPr lang="en-US" altLang="zh-CN" smtClean="0">
                <a:latin typeface="Arial" panose="020B0604020202020204" pitchFamily="34" charset="0"/>
              </a:rPr>
              <a:pPr/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FDEDA9-5DB9-4FB7-BB7B-C06BC4A49163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FB0C45-FD5C-41A8-B1F3-BF2100C2FC75}" type="slidenum">
              <a:rPr lang="en-US" altLang="zh-CN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BA6453D-F835-4A1A-8E5A-2FAA3296E43B}" type="slidenum">
              <a:rPr lang="en-US" altLang="zh-CN" smtClean="0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8DA284D-C994-4D33-BCF8-75D1C3A5C3F7}" type="slidenum">
              <a:rPr lang="en-US" altLang="zh-CN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16B9077-15DD-43A2-8BEA-87A1FCA5B8B8}" type="slidenum">
              <a:rPr lang="en-US" altLang="zh-CN" smtClean="0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8913ACE-3EC0-426E-8840-C98C05C84A13}" type="slidenum">
              <a:rPr lang="en-US" altLang="zh-CN" smtClean="0">
                <a:latin typeface="Arial" panose="020B0604020202020204" pitchFamily="34" charset="0"/>
              </a:rPr>
              <a:pPr/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369C673-5D11-4311-87E1-3AE0888D1666}" type="slidenum">
              <a:rPr lang="en-US" altLang="zh-CN" smtClean="0">
                <a:latin typeface="Arial" panose="020B0604020202020204" pitchFamily="34" charset="0"/>
              </a:rPr>
              <a:pPr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3DB14DA-FB2D-4E3F-82A4-9CB04A380A7C}" type="slidenum">
              <a:rPr lang="en-US" altLang="zh-CN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D99E32-71EC-4D43-9006-D322363B7145}" type="slidenum">
              <a:rPr lang="en-US" altLang="zh-CN" smtClean="0">
                <a:latin typeface="Arial" panose="020B0604020202020204" pitchFamily="34" charset="0"/>
              </a:rPr>
              <a:pPr/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50B7737-18CF-48CC-AFDB-9F51C04D416D}" type="slidenum">
              <a:rPr lang="en-US" altLang="zh-CN" smtClean="0">
                <a:latin typeface="Arial" panose="020B0604020202020204" pitchFamily="34" charset="0"/>
              </a:rPr>
              <a:pPr/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17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451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18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656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19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861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20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065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22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373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23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577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26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987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29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397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30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601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31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806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32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011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33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216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34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421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35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625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36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830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37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035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38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240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39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445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43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957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47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1469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D34B46-FC29-4FFC-9C6E-DFE2C60A838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4.bin"/><Relationship Id="rId21" Type="http://schemas.openxmlformats.org/officeDocument/2006/relationships/oleObject" Target="../embeddings/oleObject13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1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25.wmf"/><Relationship Id="rId26" Type="http://schemas.openxmlformats.org/officeDocument/2006/relationships/image" Target="../media/image28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7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5.bin"/><Relationship Id="rId25" Type="http://schemas.openxmlformats.org/officeDocument/2006/relationships/oleObject" Target="../embeddings/oleObject29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.wmf"/><Relationship Id="rId20" Type="http://schemas.openxmlformats.org/officeDocument/2006/relationships/image" Target="../media/image1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2.bin"/><Relationship Id="rId24" Type="http://schemas.openxmlformats.org/officeDocument/2006/relationships/image" Target="../media/image27.wmf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23" Type="http://schemas.openxmlformats.org/officeDocument/2006/relationships/oleObject" Target="../embeddings/oleObject28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9.wmf"/><Relationship Id="rId22" Type="http://schemas.openxmlformats.org/officeDocument/2006/relationships/image" Target="../media/image2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oleObject" Target="../embeddings/oleObject31.bin"/><Relationship Id="rId7" Type="http://schemas.openxmlformats.org/officeDocument/2006/relationships/image" Target="../media/image31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3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34.bin"/><Relationship Id="rId4" Type="http://schemas.openxmlformats.org/officeDocument/2006/relationships/image" Target="../media/image30.wmf"/><Relationship Id="rId9" Type="http://schemas.openxmlformats.org/officeDocument/2006/relationships/image" Target="../media/image3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17.wmf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7.wmf"/><Relationship Id="rId7" Type="http://schemas.openxmlformats.org/officeDocument/2006/relationships/oleObject" Target="../embeddings/oleObject38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8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7" Type="http://schemas.openxmlformats.org/officeDocument/2006/relationships/image" Target="../media/image56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40.bin"/><Relationship Id="rId7" Type="http://schemas.openxmlformats.org/officeDocument/2006/relationships/image" Target="../media/image60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40.bin"/><Relationship Id="rId7" Type="http://schemas.openxmlformats.org/officeDocument/2006/relationships/image" Target="../media/image77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9" Type="http://schemas.openxmlformats.org/officeDocument/2006/relationships/image" Target="../media/image7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7" Type="http://schemas.openxmlformats.org/officeDocument/2006/relationships/image" Target="../media/image85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4"/>
          <p:cNvSpPr txBox="1"/>
          <p:nvPr/>
        </p:nvSpPr>
        <p:spPr>
          <a:xfrm>
            <a:off x="2124075" y="692150"/>
            <a:ext cx="341630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频率特性</a:t>
            </a:r>
          </a:p>
        </p:txBody>
      </p:sp>
      <p:sp>
        <p:nvSpPr>
          <p:cNvPr id="7170" name="Rectangle 5"/>
          <p:cNvSpPr/>
          <p:nvPr/>
        </p:nvSpPr>
        <p:spPr>
          <a:xfrm>
            <a:off x="1403350" y="2522538"/>
            <a:ext cx="5562600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7171" name="Rectangle 6"/>
          <p:cNvSpPr/>
          <p:nvPr/>
        </p:nvSpPr>
        <p:spPr>
          <a:xfrm>
            <a:off x="1403350" y="3132138"/>
            <a:ext cx="5486400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7172" name="Rectangle 8"/>
          <p:cNvSpPr/>
          <p:nvPr/>
        </p:nvSpPr>
        <p:spPr>
          <a:xfrm>
            <a:off x="1403350" y="3643313"/>
            <a:ext cx="5545138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7173" name="Rectangle 9"/>
          <p:cNvSpPr/>
          <p:nvPr/>
        </p:nvSpPr>
        <p:spPr>
          <a:xfrm>
            <a:off x="1403350" y="4291013"/>
            <a:ext cx="6553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7174" name="Rectangle 11"/>
          <p:cNvSpPr/>
          <p:nvPr/>
        </p:nvSpPr>
        <p:spPr>
          <a:xfrm>
            <a:off x="1403350" y="1916113"/>
            <a:ext cx="4648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7175" name="Rectangle 9"/>
          <p:cNvSpPr/>
          <p:nvPr/>
        </p:nvSpPr>
        <p:spPr>
          <a:xfrm>
            <a:off x="1403350" y="4899025"/>
            <a:ext cx="6553200" cy="6127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7176" name="Rectangle 9"/>
          <p:cNvSpPr/>
          <p:nvPr/>
        </p:nvSpPr>
        <p:spPr>
          <a:xfrm>
            <a:off x="1403350" y="5451475"/>
            <a:ext cx="6913563" cy="674688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331913" y="1033463"/>
            <a:ext cx="338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相位裕量和幅值裕量：</a:t>
            </a: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5219700" y="2060575"/>
          <a:ext cx="3733800" cy="284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33116" imgH="2150364" progId="SmartDraw.2">
                  <p:embed/>
                </p:oleObj>
              </mc:Choice>
              <mc:Fallback>
                <p:oleObj r:id="rId3" imgW="2833116" imgH="2150364" progId="SmartDraw.2">
                  <p:embed/>
                  <p:pic>
                    <p:nvPicPr>
                      <p:cNvPr id="133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060575"/>
                        <a:ext cx="3733800" cy="284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5795963" y="4868863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某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开环稳定</a:t>
            </a:r>
            <a:r>
              <a:rPr lang="zh-CN" altLang="en-US">
                <a:latin typeface="Times New Roman" panose="02020603050405020304" pitchFamily="18" charset="0"/>
              </a:rPr>
              <a:t>系统的极坐标图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84213" y="3213100"/>
            <a:ext cx="4464050" cy="2171700"/>
            <a:chOff x="612" y="2932"/>
            <a:chExt cx="4512" cy="1368"/>
          </a:xfrm>
        </p:grpSpPr>
        <p:graphicFrame>
          <p:nvGraphicFramePr>
            <p:cNvPr id="50184" name="Object 10"/>
            <p:cNvGraphicFramePr>
              <a:graphicFrameLocks noChangeAspect="1"/>
            </p:cNvGraphicFramePr>
            <p:nvPr/>
          </p:nvGraphicFramePr>
          <p:xfrm>
            <a:off x="685" y="3022"/>
            <a:ext cx="72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57002" imgH="203112" progId="Equation.3">
                    <p:embed/>
                  </p:oleObj>
                </mc:Choice>
                <mc:Fallback>
                  <p:oleObj r:id="rId5" imgW="457002" imgH="203112" progId="Equation.3">
                    <p:embed/>
                    <p:pic>
                      <p:nvPicPr>
                        <p:cNvPr id="5018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" y="3022"/>
                          <a:ext cx="72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5" name="Rectangle 11"/>
            <p:cNvSpPr>
              <a:spLocks noChangeArrowheads="1"/>
            </p:cNvSpPr>
            <p:nvPr/>
          </p:nvSpPr>
          <p:spPr bwMode="auto">
            <a:xfrm>
              <a:off x="1558" y="2932"/>
              <a:ext cx="1437" cy="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GB" sz="2400" b="1">
                  <a:latin typeface="仿宋_GB2312"/>
                  <a:ea typeface="仿宋_GB2312"/>
                  <a:cs typeface="仿宋_GB2312"/>
                </a:rPr>
                <a:t>的</a:t>
              </a:r>
              <a:r>
                <a:rPr lang="zh-CN" altLang="en-US" sz="2400" b="1">
                  <a:latin typeface="仿宋_GB2312"/>
                  <a:ea typeface="仿宋_GB2312"/>
                  <a:cs typeface="仿宋_GB2312"/>
                </a:rPr>
                <a:t>轨迹对</a:t>
              </a:r>
            </a:p>
          </p:txBody>
        </p:sp>
        <p:graphicFrame>
          <p:nvGraphicFramePr>
            <p:cNvPr id="50186" name="Object 12"/>
            <p:cNvGraphicFramePr>
              <a:graphicFrameLocks noChangeAspect="1"/>
            </p:cNvGraphicFramePr>
            <p:nvPr/>
          </p:nvGraphicFramePr>
          <p:xfrm>
            <a:off x="3305" y="3015"/>
            <a:ext cx="7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07780" imgH="203112" progId="Equation.3">
                    <p:embed/>
                  </p:oleObj>
                </mc:Choice>
                <mc:Fallback>
                  <p:oleObj r:id="rId7" imgW="507780" imgH="203112" progId="Equation.3">
                    <p:embed/>
                    <p:pic>
                      <p:nvPicPr>
                        <p:cNvPr id="5018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5" y="3015"/>
                          <a:ext cx="72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7" name="Rectangle 13"/>
            <p:cNvSpPr>
              <a:spLocks noChangeArrowheads="1"/>
            </p:cNvSpPr>
            <p:nvPr/>
          </p:nvSpPr>
          <p:spPr bwMode="auto">
            <a:xfrm>
              <a:off x="612" y="3249"/>
              <a:ext cx="4512" cy="1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2400" b="1">
                  <a:latin typeface="仿宋_GB2312"/>
                  <a:ea typeface="仿宋_GB2312"/>
                  <a:cs typeface="仿宋_GB2312"/>
                </a:rPr>
                <a:t>点的靠近程度，可以用来度量稳定裕量。在实际系统中常用相位裕量和增益裕量表示。 </a:t>
              </a:r>
            </a:p>
          </p:txBody>
        </p:sp>
      </p:grp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684213" y="1916113"/>
            <a:ext cx="49768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  <a:ea typeface="仿宋_GB2312"/>
                <a:cs typeface="仿宋_GB2312"/>
              </a:rPr>
              <a:t>二者统称为稳定裕量，用于研究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仿宋_GB2312"/>
                <a:cs typeface="仿宋_GB2312"/>
              </a:rPr>
              <a:t>系统的相对稳定性。</a:t>
            </a:r>
          </a:p>
        </p:txBody>
      </p:sp>
      <p:sp>
        <p:nvSpPr>
          <p:cNvPr id="50183" name="Rectangle 8"/>
          <p:cNvSpPr>
            <a:spLocks noChangeArrowheads="1"/>
          </p:cNvSpPr>
          <p:nvPr/>
        </p:nvSpPr>
        <p:spPr bwMode="auto">
          <a:xfrm>
            <a:off x="611188" y="188913"/>
            <a:ext cx="53340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稳定性裕量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  <p:bldP spid="133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755650" y="8366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GB" sz="2400" b="1">
                <a:latin typeface="楷体_GB2312" pitchFamily="49" charset="-122"/>
                <a:ea typeface="楷体_GB2312" pitchFamily="49" charset="-122"/>
              </a:rPr>
              <a:t>相位裕量、相角裕度</a:t>
            </a:r>
            <a:endParaRPr lang="en-GB" altLang="zh-CN" sz="2400" b="1">
              <a:latin typeface="楷体_GB2312" pitchFamily="49" charset="-122"/>
              <a:ea typeface="楷体_GB2312" pitchFamily="49" charset="-122"/>
              <a:sym typeface="Wingdings 2" panose="05020102010507070707" pitchFamily="18" charset="2"/>
            </a:endParaRP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4284663" y="908050"/>
          <a:ext cx="2397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6780" imgH="164814" progId="Equation.3">
                  <p:embed/>
                </p:oleObj>
              </mc:Choice>
              <mc:Fallback>
                <p:oleObj r:id="rId3" imgW="126780" imgH="164814" progId="Equation.3">
                  <p:embed/>
                  <p:pic>
                    <p:nvPicPr>
                      <p:cNvPr id="522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908050"/>
                        <a:ext cx="239712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042988" y="1741488"/>
            <a:ext cx="3587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设系统的</a:t>
            </a:r>
            <a:r>
              <a:rPr lang="zh-CN" altLang="en-US" sz="2400" b="1">
                <a:latin typeface="Times New Roman" panose="02020603050405020304" pitchFamily="18" charset="0"/>
              </a:rPr>
              <a:t>幅值穿越频率</a:t>
            </a:r>
            <a:r>
              <a:rPr lang="zh-CN" altLang="en-GB" sz="2400" b="1">
                <a:latin typeface="Times New Roman" panose="02020603050405020304" pitchFamily="18" charset="0"/>
              </a:rPr>
              <a:t>为</a:t>
            </a:r>
            <a:endParaRPr lang="zh-CN" altLang="en-GB" sz="2400" b="1">
              <a:latin typeface="Arial" panose="020B0604020202020204" pitchFamily="34" charset="0"/>
            </a:endParaRP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4643438" y="1773238"/>
          <a:ext cx="3413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03112" imgH="228501" progId="Equation.3">
                  <p:embed/>
                </p:oleObj>
              </mc:Choice>
              <mc:Fallback>
                <p:oleObj r:id="rId5" imgW="203112" imgH="228501" progId="Equation.3">
                  <p:embed/>
                  <p:pic>
                    <p:nvPicPr>
                      <p:cNvPr id="14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773238"/>
                        <a:ext cx="3413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1403350" y="2349500"/>
          <a:ext cx="3024188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39900" imgH="254000" progId="Equation.DSMT4">
                  <p:embed/>
                </p:oleObj>
              </mc:Choice>
              <mc:Fallback>
                <p:oleObj r:id="rId7" imgW="1739900" imgH="254000" progId="Equation.DSMT4">
                  <p:embed/>
                  <p:pic>
                    <p:nvPicPr>
                      <p:cNvPr id="14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349500"/>
                        <a:ext cx="3024188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827088" y="2997200"/>
            <a:ext cx="2808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定义相位裕量为：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1042988" y="3581400"/>
          <a:ext cx="28543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663700" imgH="508000" progId="Equation.3">
                  <p:embed/>
                </p:oleObj>
              </mc:Choice>
              <mc:Fallback>
                <p:oleObj r:id="rId9" imgW="1663700" imgH="508000" progId="Equation.3">
                  <p:embed/>
                  <p:pic>
                    <p:nvPicPr>
                      <p:cNvPr id="143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81400"/>
                        <a:ext cx="285432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827088" y="4797425"/>
            <a:ext cx="7010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     相角裕度的含义是，对于闭环稳定系统，如果开环相频特性再滞后</a:t>
            </a:r>
            <a:r>
              <a:rPr lang="en-GB" altLang="zh-CN" sz="2400" b="1">
                <a:latin typeface="Times New Roman" panose="02020603050405020304" pitchFamily="18" charset="0"/>
              </a:rPr>
              <a:t>γ</a:t>
            </a:r>
            <a:r>
              <a:rPr lang="zh-CN" altLang="en-GB" sz="2400" b="1">
                <a:latin typeface="Times New Roman" panose="02020603050405020304" pitchFamily="18" charset="0"/>
              </a:rPr>
              <a:t>度，则系统将变为临界稳定。</a:t>
            </a:r>
          </a:p>
        </p:txBody>
      </p:sp>
      <p:sp>
        <p:nvSpPr>
          <p:cNvPr id="14363" name="Line 27"/>
          <p:cNvSpPr>
            <a:spLocks noChangeShapeType="1"/>
          </p:cNvSpPr>
          <p:nvPr/>
        </p:nvSpPr>
        <p:spPr bwMode="auto">
          <a:xfrm flipH="1">
            <a:off x="5334000" y="3581400"/>
            <a:ext cx="3810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4953000" y="4217988"/>
            <a:ext cx="7175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临界稳</a:t>
            </a:r>
          </a:p>
          <a:p>
            <a:pPr eaLnBrk="1" hangingPunct="1"/>
            <a:r>
              <a:rPr lang="zh-CN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定系统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5181600" y="1509713"/>
            <a:ext cx="3429000" cy="2806700"/>
            <a:chOff x="3264" y="951"/>
            <a:chExt cx="2160" cy="1768"/>
          </a:xfrm>
        </p:grpSpPr>
        <p:sp>
          <p:nvSpPr>
            <p:cNvPr id="52240" name="AutoShape 10"/>
            <p:cNvSpPr>
              <a:spLocks noChangeArrowheads="1"/>
            </p:cNvSpPr>
            <p:nvPr/>
          </p:nvSpPr>
          <p:spPr bwMode="auto">
            <a:xfrm>
              <a:off x="3744" y="1248"/>
              <a:ext cx="1180" cy="1134"/>
            </a:xfrm>
            <a:prstGeom prst="flowChartConnector">
              <a:avLst/>
            </a:prstGeom>
            <a:solidFill>
              <a:schemeClr val="accent1"/>
            </a:solidFill>
            <a:ln w="28575">
              <a:solidFill>
                <a:srgbClr val="003366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2241" name="Line 11"/>
            <p:cNvSpPr>
              <a:spLocks noChangeShapeType="1"/>
            </p:cNvSpPr>
            <p:nvPr/>
          </p:nvSpPr>
          <p:spPr bwMode="auto">
            <a:xfrm>
              <a:off x="3391" y="1813"/>
              <a:ext cx="1769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2" name="Line 12"/>
            <p:cNvSpPr>
              <a:spLocks noChangeShapeType="1"/>
            </p:cNvSpPr>
            <p:nvPr/>
          </p:nvSpPr>
          <p:spPr bwMode="auto">
            <a:xfrm flipV="1">
              <a:off x="4298" y="951"/>
              <a:ext cx="0" cy="158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3" name="Freeform 13"/>
            <p:cNvSpPr>
              <a:spLocks noChangeArrowheads="1"/>
            </p:cNvSpPr>
            <p:nvPr/>
          </p:nvSpPr>
          <p:spPr bwMode="auto">
            <a:xfrm>
              <a:off x="3572" y="1632"/>
              <a:ext cx="726" cy="952"/>
            </a:xfrm>
            <a:custGeom>
              <a:avLst/>
              <a:gdLst>
                <a:gd name="T0" fmla="*/ 726 w 726"/>
                <a:gd name="T1" fmla="*/ 181 h 952"/>
                <a:gd name="T2" fmla="*/ 454 w 726"/>
                <a:gd name="T3" fmla="*/ 45 h 952"/>
                <a:gd name="T4" fmla="*/ 136 w 726"/>
                <a:gd name="T5" fmla="*/ 453 h 952"/>
                <a:gd name="T6" fmla="*/ 0 w 726"/>
                <a:gd name="T7" fmla="*/ 952 h 9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6" h="952">
                  <a:moveTo>
                    <a:pt x="726" y="181"/>
                  </a:moveTo>
                  <a:cubicBezTo>
                    <a:pt x="639" y="90"/>
                    <a:pt x="552" y="0"/>
                    <a:pt x="454" y="45"/>
                  </a:cubicBezTo>
                  <a:cubicBezTo>
                    <a:pt x="356" y="90"/>
                    <a:pt x="212" y="302"/>
                    <a:pt x="136" y="453"/>
                  </a:cubicBezTo>
                  <a:cubicBezTo>
                    <a:pt x="60" y="604"/>
                    <a:pt x="23" y="861"/>
                    <a:pt x="0" y="952"/>
                  </a:cubicBezTo>
                </a:path>
              </a:pathLst>
            </a:custGeom>
            <a:noFill/>
            <a:ln w="28575">
              <a:solidFill>
                <a:srgbClr val="003366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44" name="Object 14"/>
            <p:cNvGraphicFramePr>
              <a:graphicFrameLocks noChangeAspect="1"/>
            </p:cNvGraphicFramePr>
            <p:nvPr/>
          </p:nvGraphicFramePr>
          <p:xfrm>
            <a:off x="5232" y="1776"/>
            <a:ext cx="192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215619" imgH="177569" progId="Equation.3">
                    <p:embed/>
                  </p:oleObj>
                </mc:Choice>
                <mc:Fallback>
                  <p:oleObj r:id="rId11" imgW="215619" imgH="177569" progId="Equation.3">
                    <p:embed/>
                    <p:pic>
                      <p:nvPicPr>
                        <p:cNvPr id="5224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776"/>
                          <a:ext cx="192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45" name="Object 15"/>
            <p:cNvGraphicFramePr>
              <a:graphicFrameLocks noChangeAspect="1"/>
            </p:cNvGraphicFramePr>
            <p:nvPr/>
          </p:nvGraphicFramePr>
          <p:xfrm>
            <a:off x="4368" y="1008"/>
            <a:ext cx="19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215619" imgH="164885" progId="Equation.3">
                    <p:embed/>
                  </p:oleObj>
                </mc:Choice>
                <mc:Fallback>
                  <p:oleObj r:id="rId13" imgW="215619" imgH="164885" progId="Equation.3">
                    <p:embed/>
                    <p:pic>
                      <p:nvPicPr>
                        <p:cNvPr id="5224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008"/>
                          <a:ext cx="19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46" name="Line 16"/>
            <p:cNvSpPr>
              <a:spLocks noChangeShapeType="1"/>
            </p:cNvSpPr>
            <p:nvPr/>
          </p:nvSpPr>
          <p:spPr bwMode="auto">
            <a:xfrm flipV="1">
              <a:off x="3754" y="1813"/>
              <a:ext cx="544" cy="181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7" name="Arc 17"/>
            <p:cNvSpPr>
              <a:spLocks noChangeArrowheads="1"/>
            </p:cNvSpPr>
            <p:nvPr/>
          </p:nvSpPr>
          <p:spPr bwMode="auto">
            <a:xfrm rot="6765167">
              <a:off x="3938" y="1255"/>
              <a:ext cx="633" cy="755"/>
            </a:xfrm>
            <a:custGeom>
              <a:avLst/>
              <a:gdLst>
                <a:gd name="T0" fmla="*/ 10 w 20152"/>
                <a:gd name="T1" fmla="*/ 0 h 18968"/>
                <a:gd name="T2" fmla="*/ 20 w 20152"/>
                <a:gd name="T3" fmla="*/ 18 h 18968"/>
                <a:gd name="T4" fmla="*/ 10 w 20152"/>
                <a:gd name="T5" fmla="*/ 0 h 18968"/>
                <a:gd name="T6" fmla="*/ 20 w 20152"/>
                <a:gd name="T7" fmla="*/ 18 h 18968"/>
                <a:gd name="T8" fmla="*/ 0 w 20152"/>
                <a:gd name="T9" fmla="*/ 30 h 18968"/>
                <a:gd name="T10" fmla="*/ 10 w 20152"/>
                <a:gd name="T11" fmla="*/ 0 h 189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52" h="18968" fill="none">
                  <a:moveTo>
                    <a:pt x="10333" y="-1"/>
                  </a:moveTo>
                  <a:cubicBezTo>
                    <a:pt x="14829" y="2449"/>
                    <a:pt x="18309" y="6416"/>
                    <a:pt x="20152" y="11192"/>
                  </a:cubicBezTo>
                </a:path>
                <a:path w="20152" h="18968" stroke="0">
                  <a:moveTo>
                    <a:pt x="10333" y="-1"/>
                  </a:moveTo>
                  <a:cubicBezTo>
                    <a:pt x="14829" y="2449"/>
                    <a:pt x="18309" y="6416"/>
                    <a:pt x="20152" y="11192"/>
                  </a:cubicBezTo>
                  <a:lnTo>
                    <a:pt x="0" y="18968"/>
                  </a:lnTo>
                  <a:lnTo>
                    <a:pt x="10333" y="-1"/>
                  </a:lnTo>
                  <a:close/>
                </a:path>
              </a:pathLst>
            </a:custGeom>
            <a:noFill/>
            <a:ln w="25400">
              <a:solidFill>
                <a:srgbClr val="003366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48" name="Object 18"/>
            <p:cNvGraphicFramePr>
              <a:graphicFrameLocks noChangeAspect="1"/>
            </p:cNvGraphicFramePr>
            <p:nvPr/>
          </p:nvGraphicFramePr>
          <p:xfrm>
            <a:off x="4320" y="1895"/>
            <a:ext cx="336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406224" imgH="228501" progId="Equation.3">
                    <p:embed/>
                  </p:oleObj>
                </mc:Choice>
                <mc:Fallback>
                  <p:oleObj r:id="rId15" imgW="406224" imgH="228501" progId="Equation.3">
                    <p:embed/>
                    <p:pic>
                      <p:nvPicPr>
                        <p:cNvPr id="5224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895"/>
                          <a:ext cx="336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49" name="Object 19"/>
            <p:cNvGraphicFramePr>
              <a:graphicFrameLocks noChangeAspect="1"/>
            </p:cNvGraphicFramePr>
            <p:nvPr/>
          </p:nvGraphicFramePr>
          <p:xfrm>
            <a:off x="3844" y="1813"/>
            <a:ext cx="17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26780" imgH="164814" progId="Equation.3">
                    <p:embed/>
                  </p:oleObj>
                </mc:Choice>
                <mc:Fallback>
                  <p:oleObj r:id="rId17" imgW="126780" imgH="164814" progId="Equation.3">
                    <p:embed/>
                    <p:pic>
                      <p:nvPicPr>
                        <p:cNvPr id="5224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4" y="1813"/>
                          <a:ext cx="173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0" name="Rectangle 20"/>
            <p:cNvSpPr>
              <a:spLocks noChangeArrowheads="1"/>
            </p:cNvSpPr>
            <p:nvPr/>
          </p:nvSpPr>
          <p:spPr bwMode="auto">
            <a:xfrm>
              <a:off x="3552" y="1632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-1</a:t>
              </a:r>
              <a:endParaRPr lang="en-US" altLang="zh-CN" sz="16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51" name="Line 21"/>
            <p:cNvSpPr>
              <a:spLocks noChangeShapeType="1"/>
            </p:cNvSpPr>
            <p:nvPr/>
          </p:nvSpPr>
          <p:spPr bwMode="auto">
            <a:xfrm flipV="1">
              <a:off x="4298" y="1405"/>
              <a:ext cx="454" cy="40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2" name="Rectangle 22"/>
            <p:cNvSpPr>
              <a:spLocks noChangeArrowheads="1"/>
            </p:cNvSpPr>
            <p:nvPr/>
          </p:nvSpPr>
          <p:spPr bwMode="auto">
            <a:xfrm>
              <a:off x="4615" y="145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2400">
                  <a:solidFill>
                    <a:schemeClr val="tx2"/>
                  </a:solidFill>
                  <a:latin typeface="Arial" panose="020B0604020202020204" pitchFamily="34" charset="0"/>
                </a:rPr>
                <a:t>1</a:t>
              </a:r>
              <a:endParaRPr lang="en-US" altLang="zh-CN" sz="2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2253" name="Object 23"/>
            <p:cNvGraphicFramePr>
              <a:graphicFrameLocks noChangeAspect="1"/>
            </p:cNvGraphicFramePr>
            <p:nvPr/>
          </p:nvGraphicFramePr>
          <p:xfrm>
            <a:off x="3648" y="2544"/>
            <a:ext cx="768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888614" imgH="203112" progId="Equation.3">
                    <p:embed/>
                  </p:oleObj>
                </mc:Choice>
                <mc:Fallback>
                  <p:oleObj r:id="rId19" imgW="888614" imgH="203112" progId="Equation.3">
                    <p:embed/>
                    <p:pic>
                      <p:nvPicPr>
                        <p:cNvPr id="52253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544"/>
                          <a:ext cx="768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4" name="Line 24"/>
            <p:cNvSpPr>
              <a:spLocks noChangeShapeType="1"/>
            </p:cNvSpPr>
            <p:nvPr/>
          </p:nvSpPr>
          <p:spPr bwMode="auto">
            <a:xfrm flipH="1" flipV="1">
              <a:off x="3618" y="2403"/>
              <a:ext cx="90" cy="136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55" name="Object 25"/>
            <p:cNvGraphicFramePr>
              <a:graphicFrameLocks noChangeAspect="1"/>
            </p:cNvGraphicFramePr>
            <p:nvPr/>
          </p:nvGraphicFramePr>
          <p:xfrm>
            <a:off x="3744" y="2016"/>
            <a:ext cx="21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203112" imgH="228501" progId="Equation.3">
                    <p:embed/>
                  </p:oleObj>
                </mc:Choice>
                <mc:Fallback>
                  <p:oleObj r:id="rId21" imgW="203112" imgH="228501" progId="Equation.3">
                    <p:embed/>
                    <p:pic>
                      <p:nvPicPr>
                        <p:cNvPr id="52255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016"/>
                          <a:ext cx="21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6" name="Freeform 26"/>
            <p:cNvSpPr>
              <a:spLocks noChangeArrowheads="1"/>
            </p:cNvSpPr>
            <p:nvPr/>
          </p:nvSpPr>
          <p:spPr bwMode="auto">
            <a:xfrm>
              <a:off x="3552" y="1586"/>
              <a:ext cx="720" cy="1054"/>
            </a:xfrm>
            <a:custGeom>
              <a:avLst/>
              <a:gdLst>
                <a:gd name="T0" fmla="*/ 0 w 720"/>
                <a:gd name="T1" fmla="*/ 1054 h 1054"/>
                <a:gd name="T2" fmla="*/ 46 w 720"/>
                <a:gd name="T3" fmla="*/ 628 h 1054"/>
                <a:gd name="T4" fmla="*/ 192 w 720"/>
                <a:gd name="T5" fmla="*/ 190 h 1054"/>
                <a:gd name="T6" fmla="*/ 480 w 720"/>
                <a:gd name="T7" fmla="*/ 0 h 1054"/>
                <a:gd name="T8" fmla="*/ 720 w 720"/>
                <a:gd name="T9" fmla="*/ 190 h 10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0" h="1054">
                  <a:moveTo>
                    <a:pt x="0" y="1054"/>
                  </a:moveTo>
                  <a:cubicBezTo>
                    <a:pt x="8" y="983"/>
                    <a:pt x="14" y="772"/>
                    <a:pt x="46" y="628"/>
                  </a:cubicBezTo>
                  <a:cubicBezTo>
                    <a:pt x="78" y="484"/>
                    <a:pt x="120" y="295"/>
                    <a:pt x="192" y="190"/>
                  </a:cubicBezTo>
                  <a:cubicBezTo>
                    <a:pt x="264" y="85"/>
                    <a:pt x="392" y="0"/>
                    <a:pt x="480" y="0"/>
                  </a:cubicBezTo>
                  <a:cubicBezTo>
                    <a:pt x="568" y="0"/>
                    <a:pt x="670" y="151"/>
                    <a:pt x="720" y="19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7" name="Freeform 29"/>
            <p:cNvSpPr>
              <a:spLocks noChangeArrowheads="1"/>
            </p:cNvSpPr>
            <p:nvPr/>
          </p:nvSpPr>
          <p:spPr bwMode="auto">
            <a:xfrm>
              <a:off x="3264" y="1456"/>
              <a:ext cx="1008" cy="1136"/>
            </a:xfrm>
            <a:custGeom>
              <a:avLst/>
              <a:gdLst>
                <a:gd name="T0" fmla="*/ 0 w 1008"/>
                <a:gd name="T1" fmla="*/ 1136 h 1136"/>
                <a:gd name="T2" fmla="*/ 192 w 1008"/>
                <a:gd name="T3" fmla="*/ 512 h 1136"/>
                <a:gd name="T4" fmla="*/ 432 w 1008"/>
                <a:gd name="T5" fmla="*/ 128 h 1136"/>
                <a:gd name="T6" fmla="*/ 720 w 1008"/>
                <a:gd name="T7" fmla="*/ 32 h 1136"/>
                <a:gd name="T8" fmla="*/ 1008 w 1008"/>
                <a:gd name="T9" fmla="*/ 320 h 1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8" h="1136">
                  <a:moveTo>
                    <a:pt x="0" y="1136"/>
                  </a:moveTo>
                  <a:cubicBezTo>
                    <a:pt x="60" y="908"/>
                    <a:pt x="120" y="680"/>
                    <a:pt x="192" y="512"/>
                  </a:cubicBezTo>
                  <a:cubicBezTo>
                    <a:pt x="264" y="344"/>
                    <a:pt x="344" y="208"/>
                    <a:pt x="432" y="128"/>
                  </a:cubicBezTo>
                  <a:cubicBezTo>
                    <a:pt x="520" y="48"/>
                    <a:pt x="624" y="0"/>
                    <a:pt x="720" y="32"/>
                  </a:cubicBezTo>
                  <a:cubicBezTo>
                    <a:pt x="816" y="64"/>
                    <a:pt x="960" y="272"/>
                    <a:pt x="1008" y="320"/>
                  </a:cubicBezTo>
                </a:path>
              </a:pathLst>
            </a:cu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66" name="Line 30"/>
          <p:cNvSpPr>
            <a:spLocks noChangeShapeType="1"/>
          </p:cNvSpPr>
          <p:nvPr/>
        </p:nvSpPr>
        <p:spPr bwMode="auto">
          <a:xfrm flipH="1" flipV="1">
            <a:off x="4953000" y="3352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4343400" y="3048000"/>
            <a:ext cx="838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>
                <a:latin typeface="Times New Roman" panose="02020603050405020304" pitchFamily="18" charset="0"/>
              </a:rPr>
              <a:t>不稳定系统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1187450" y="5661025"/>
            <a:ext cx="5137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0000"/>
                </a:solidFill>
                <a:latin typeface="仿宋_GB2312"/>
                <a:ea typeface="仿宋_GB2312"/>
                <a:cs typeface="仿宋_GB2312"/>
              </a:rPr>
              <a:t>γ&gt;0</a:t>
            </a:r>
            <a:r>
              <a:rPr lang="zh-CN" altLang="en-US" sz="2400" b="1">
                <a:solidFill>
                  <a:srgbClr val="FF0000"/>
                </a:solidFill>
                <a:latin typeface="仿宋_GB2312"/>
                <a:ea typeface="仿宋_GB2312"/>
                <a:cs typeface="仿宋_GB2312"/>
              </a:rPr>
              <a:t>，闭环系统稳定，否则不稳定。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14340" grpId="1"/>
      <p:bldP spid="14343" grpId="0"/>
      <p:bldP spid="14345" grpId="0"/>
      <p:bldP spid="14364" grpId="0"/>
      <p:bldP spid="14367" grpId="0"/>
      <p:bldP spid="143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205038"/>
            <a:ext cx="3662363" cy="349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187450" y="981075"/>
            <a:ext cx="3240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Bode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图上的相位裕量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5219700" y="3003550"/>
          <a:ext cx="316865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30400" imgH="482600" progId="Equation.DSMT4">
                  <p:embed/>
                </p:oleObj>
              </mc:Choice>
              <mc:Fallback>
                <p:oleObj r:id="rId4" imgW="1930400" imgH="482600" progId="Equation.DSMT4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003550"/>
                        <a:ext cx="316865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5292725" y="4365625"/>
          <a:ext cx="23749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53643" imgH="215806" progId="Equation.3">
                  <p:embed/>
                </p:oleObj>
              </mc:Choice>
              <mc:Fallback>
                <p:oleObj r:id="rId6" imgW="1053643" imgH="215806" progId="Equation.3">
                  <p:embed/>
                  <p:pic>
                    <p:nvPicPr>
                      <p:cNvPr id="153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365625"/>
                        <a:ext cx="23749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341438"/>
            <a:ext cx="4692650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3130550" y="2565400"/>
            <a:ext cx="73025" cy="7143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3059113" y="2133600"/>
          <a:ext cx="3524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4957" imgH="190335" progId="Equation.3">
                  <p:embed/>
                </p:oleObj>
              </mc:Choice>
              <mc:Fallback>
                <p:oleObj r:id="rId4" imgW="164957" imgH="190335" progId="Equation.3">
                  <p:embed/>
                  <p:pic>
                    <p:nvPicPr>
                      <p:cNvPr id="163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133600"/>
                        <a:ext cx="352425" cy="40640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3130550" y="2638425"/>
            <a:ext cx="0" cy="1944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>
            <a:off x="3130550" y="4583113"/>
            <a:ext cx="4318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3346450" y="4149725"/>
            <a:ext cx="0" cy="4333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3419475" y="4149725"/>
          <a:ext cx="2317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4102" imgH="177492" progId="Equation.3">
                  <p:embed/>
                </p:oleObj>
              </mc:Choice>
              <mc:Fallback>
                <p:oleObj r:id="rId6" imgW="114102" imgH="177492" progId="Equation.3">
                  <p:embed/>
                  <p:pic>
                    <p:nvPicPr>
                      <p:cNvPr id="163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149725"/>
                        <a:ext cx="231775" cy="360363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Line 9"/>
          <p:cNvSpPr>
            <a:spLocks noChangeShapeType="1"/>
          </p:cNvSpPr>
          <p:nvPr/>
        </p:nvSpPr>
        <p:spPr bwMode="auto">
          <a:xfrm flipH="1">
            <a:off x="2698750" y="4583113"/>
            <a:ext cx="504825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>
            <a:off x="2843213" y="4583113"/>
            <a:ext cx="0" cy="287337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2195513" y="4532313"/>
            <a:ext cx="431800" cy="366712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Arial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>
            <a:off x="2627313" y="4870450"/>
            <a:ext cx="576262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5940425" y="2492375"/>
            <a:ext cx="2808288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Arial" panose="020B0604020202020204" pitchFamily="34" charset="0"/>
              </a:rPr>
              <a:t>先找到和</a:t>
            </a:r>
            <a:r>
              <a:rPr lang="en-US" altLang="zh-CN" sz="2400" b="1">
                <a:latin typeface="Arial" panose="020B0604020202020204" pitchFamily="34" charset="0"/>
              </a:rPr>
              <a:t>0dB</a:t>
            </a:r>
            <a:r>
              <a:rPr lang="zh-CN" altLang="en-US" sz="2400" b="1">
                <a:latin typeface="Arial" panose="020B0604020202020204" pitchFamily="34" charset="0"/>
              </a:rPr>
              <a:t>线相交处的幅值穿越频率 ；相位裕量为该频率处的相位与 </a:t>
            </a:r>
            <a:r>
              <a:rPr lang="en-US" altLang="zh-CN" sz="2400" b="1">
                <a:latin typeface="Arial" panose="020B0604020202020204" pitchFamily="34" charset="0"/>
              </a:rPr>
              <a:t>-180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 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相位之差</a:t>
            </a:r>
            <a:r>
              <a:rPr lang="zh-CN" altLang="en-US" sz="2400" b="1"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3492500" y="1916113"/>
            <a:ext cx="157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幅值穿越频率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1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nimBg="1"/>
      <p:bldP spid="16395" grpId="0" animBg="1"/>
      <p:bldP spid="16397" grpId="0"/>
      <p:bldP spid="1639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684213" y="906463"/>
            <a:ext cx="32115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GB" sz="2400" b="1">
                <a:latin typeface="楷体_GB2312" pitchFamily="49" charset="-122"/>
                <a:ea typeface="楷体_GB2312" pitchFamily="49" charset="-122"/>
              </a:rPr>
              <a:t>增益裕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量</a:t>
            </a:r>
            <a:r>
              <a:rPr lang="zh-CN" altLang="en-GB" sz="2400" b="1">
                <a:latin typeface="楷体_GB2312" pitchFamily="49" charset="-122"/>
                <a:ea typeface="楷体_GB2312" pitchFamily="49" charset="-122"/>
              </a:rPr>
              <a:t>、幅值裕量</a:t>
            </a:r>
            <a:endParaRPr lang="en-GB" altLang="zh-CN" sz="2400" b="1">
              <a:latin typeface="楷体_GB2312" pitchFamily="49" charset="-122"/>
              <a:ea typeface="楷体_GB2312" pitchFamily="49" charset="-122"/>
              <a:sym typeface="Wingdings 2" panose="05020102010507070707" pitchFamily="18" charset="2"/>
            </a:endParaRP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3924300" y="981075"/>
          <a:ext cx="3587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8600" imgH="241300" progId="Equation.3">
                  <p:embed/>
                </p:oleObj>
              </mc:Choice>
              <mc:Fallback>
                <p:oleObj r:id="rId3" imgW="228600" imgH="241300" progId="Equation.3">
                  <p:embed/>
                  <p:pic>
                    <p:nvPicPr>
                      <p:cNvPr id="583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981075"/>
                        <a:ext cx="3587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755650" y="3252788"/>
            <a:ext cx="2349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定义幅值裕量为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3059113" y="3213100"/>
          <a:ext cx="22860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35100" imgH="469900" progId="Equation.3">
                  <p:embed/>
                </p:oleObj>
              </mc:Choice>
              <mc:Fallback>
                <p:oleObj r:id="rId5" imgW="1435100" imgH="469900" progId="Equation.3">
                  <p:embed/>
                  <p:pic>
                    <p:nvPicPr>
                      <p:cNvPr id="174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213100"/>
                        <a:ext cx="22860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827088" y="3933825"/>
            <a:ext cx="29702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幅值裕量的含义是：</a:t>
            </a:r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755650" y="4259263"/>
            <a:ext cx="7239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      对于闭环稳定系统，如果系统开环幅频特性再增大</a:t>
            </a:r>
            <a:r>
              <a:rPr lang="en-GB" altLang="zh-CN" sz="2400" b="1">
                <a:latin typeface="Times New Roman" panose="02020603050405020304" pitchFamily="18" charset="0"/>
              </a:rPr>
              <a:t>Kg</a:t>
            </a:r>
            <a:r>
              <a:rPr lang="zh-CN" altLang="en-GB" sz="2400" b="1">
                <a:latin typeface="Times New Roman" panose="02020603050405020304" pitchFamily="18" charset="0"/>
              </a:rPr>
              <a:t>倍，则系统将变为临界稳定状态。</a:t>
            </a:r>
            <a:endParaRPr lang="zh-CN" altLang="en-GB" sz="2400" b="1">
              <a:latin typeface="Arial" panose="020B0604020202020204" pitchFamily="34" charset="0"/>
            </a:endParaRPr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1752600" y="5486400"/>
          <a:ext cx="45608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794000" imgH="279400" progId="Equation.3">
                  <p:embed/>
                </p:oleObj>
              </mc:Choice>
              <mc:Fallback>
                <p:oleObj r:id="rId7" imgW="2794000" imgH="279400" progId="Equation.3">
                  <p:embed/>
                  <p:pic>
                    <p:nvPicPr>
                      <p:cNvPr id="174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486400"/>
                        <a:ext cx="45608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900113" y="1668463"/>
            <a:ext cx="4164012" cy="488950"/>
            <a:chOff x="720" y="1132"/>
            <a:chExt cx="2405" cy="308"/>
          </a:xfrm>
        </p:grpSpPr>
        <p:sp>
          <p:nvSpPr>
            <p:cNvPr id="58411" name="Rectangle 4"/>
            <p:cNvSpPr>
              <a:spLocks noChangeArrowheads="1"/>
            </p:cNvSpPr>
            <p:nvPr/>
          </p:nvSpPr>
          <p:spPr bwMode="auto">
            <a:xfrm>
              <a:off x="720" y="1132"/>
              <a:ext cx="20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GB" sz="2400" b="1">
                  <a:latin typeface="Times New Roman" panose="02020603050405020304" pitchFamily="18" charset="0"/>
                </a:rPr>
                <a:t>设系统的相位</a:t>
              </a:r>
              <a:r>
                <a:rPr lang="zh-CN" altLang="en-US" sz="2400" b="1">
                  <a:latin typeface="Times New Roman" panose="02020603050405020304" pitchFamily="18" charset="0"/>
                </a:rPr>
                <a:t>穿越</a:t>
              </a:r>
              <a:r>
                <a:rPr lang="zh-CN" altLang="en-GB" sz="2400" b="1">
                  <a:latin typeface="Times New Roman" panose="02020603050405020304" pitchFamily="18" charset="0"/>
                </a:rPr>
                <a:t>频率为</a:t>
              </a:r>
              <a:endParaRPr lang="zh-CN" altLang="en-US" sz="2400" b="1">
                <a:latin typeface="Arial" panose="020B0604020202020204" pitchFamily="34" charset="0"/>
              </a:endParaRPr>
            </a:p>
          </p:txBody>
        </p:sp>
        <p:graphicFrame>
          <p:nvGraphicFramePr>
            <p:cNvPr id="58412" name="Object 11"/>
            <p:cNvGraphicFramePr>
              <a:graphicFrameLocks noChangeAspect="1"/>
            </p:cNvGraphicFramePr>
            <p:nvPr/>
          </p:nvGraphicFramePr>
          <p:xfrm>
            <a:off x="2882" y="1152"/>
            <a:ext cx="24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203112" imgH="241195" progId="Equation.3">
                    <p:embed/>
                  </p:oleObj>
                </mc:Choice>
                <mc:Fallback>
                  <p:oleObj r:id="rId9" imgW="203112" imgH="241195" progId="Equation.3">
                    <p:embed/>
                    <p:pic>
                      <p:nvPicPr>
                        <p:cNvPr id="5841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2" y="1152"/>
                          <a:ext cx="24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900113" y="2205038"/>
            <a:ext cx="3879850" cy="879475"/>
            <a:chOff x="612" y="1389"/>
            <a:chExt cx="2444" cy="554"/>
          </a:xfrm>
        </p:grpSpPr>
        <p:graphicFrame>
          <p:nvGraphicFramePr>
            <p:cNvPr id="58409" name="Object 5"/>
            <p:cNvGraphicFramePr>
              <a:graphicFrameLocks noChangeAspect="1"/>
            </p:cNvGraphicFramePr>
            <p:nvPr/>
          </p:nvGraphicFramePr>
          <p:xfrm>
            <a:off x="612" y="1632"/>
            <a:ext cx="244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2222500" imgH="279400" progId="Equation.3">
                    <p:embed/>
                  </p:oleObj>
                </mc:Choice>
                <mc:Fallback>
                  <p:oleObj r:id="rId11" imgW="2222500" imgH="279400" progId="Equation.3">
                    <p:embed/>
                    <p:pic>
                      <p:nvPicPr>
                        <p:cNvPr id="5840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632"/>
                          <a:ext cx="2444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10" name="Text Box 12"/>
            <p:cNvSpPr txBox="1">
              <a:spLocks noChangeArrowheads="1"/>
            </p:cNvSpPr>
            <p:nvPr/>
          </p:nvSpPr>
          <p:spPr bwMode="auto">
            <a:xfrm>
              <a:off x="703" y="1389"/>
              <a:ext cx="12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  <a:ea typeface="仿宋_GB2312"/>
                  <a:cs typeface="仿宋_GB2312"/>
                </a:rPr>
                <a:t>在该频率处，</a:t>
              </a:r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5076825" y="304800"/>
            <a:ext cx="3767138" cy="3135313"/>
            <a:chOff x="3198" y="192"/>
            <a:chExt cx="2373" cy="1975"/>
          </a:xfrm>
        </p:grpSpPr>
        <p:sp>
          <p:nvSpPr>
            <p:cNvPr id="58387" name="AutoShape 13"/>
            <p:cNvSpPr>
              <a:spLocks noChangeArrowheads="1"/>
            </p:cNvSpPr>
            <p:nvPr/>
          </p:nvSpPr>
          <p:spPr bwMode="auto">
            <a:xfrm>
              <a:off x="3936" y="432"/>
              <a:ext cx="1180" cy="1134"/>
            </a:xfrm>
            <a:prstGeom prst="flowChartConnector">
              <a:avLst/>
            </a:prstGeom>
            <a:solidFill>
              <a:srgbClr val="CCFFFF"/>
            </a:solidFill>
            <a:ln w="28575">
              <a:solidFill>
                <a:srgbClr val="003366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8388" name="Line 14"/>
            <p:cNvSpPr>
              <a:spLocks noChangeShapeType="1"/>
            </p:cNvSpPr>
            <p:nvPr/>
          </p:nvSpPr>
          <p:spPr bwMode="auto">
            <a:xfrm>
              <a:off x="3583" y="997"/>
              <a:ext cx="1769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9" name="Line 15"/>
            <p:cNvSpPr>
              <a:spLocks noChangeShapeType="1"/>
            </p:cNvSpPr>
            <p:nvPr/>
          </p:nvSpPr>
          <p:spPr bwMode="auto">
            <a:xfrm flipV="1">
              <a:off x="4512" y="240"/>
              <a:ext cx="0" cy="158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0" name="Freeform 16"/>
            <p:cNvSpPr>
              <a:spLocks noChangeArrowheads="1"/>
            </p:cNvSpPr>
            <p:nvPr/>
          </p:nvSpPr>
          <p:spPr bwMode="auto">
            <a:xfrm>
              <a:off x="3764" y="816"/>
              <a:ext cx="726" cy="952"/>
            </a:xfrm>
            <a:custGeom>
              <a:avLst/>
              <a:gdLst>
                <a:gd name="T0" fmla="*/ 726 w 726"/>
                <a:gd name="T1" fmla="*/ 181 h 952"/>
                <a:gd name="T2" fmla="*/ 454 w 726"/>
                <a:gd name="T3" fmla="*/ 45 h 952"/>
                <a:gd name="T4" fmla="*/ 136 w 726"/>
                <a:gd name="T5" fmla="*/ 453 h 952"/>
                <a:gd name="T6" fmla="*/ 0 w 726"/>
                <a:gd name="T7" fmla="*/ 952 h 9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6" h="952">
                  <a:moveTo>
                    <a:pt x="726" y="181"/>
                  </a:moveTo>
                  <a:cubicBezTo>
                    <a:pt x="639" y="90"/>
                    <a:pt x="552" y="0"/>
                    <a:pt x="454" y="45"/>
                  </a:cubicBezTo>
                  <a:cubicBezTo>
                    <a:pt x="356" y="90"/>
                    <a:pt x="212" y="302"/>
                    <a:pt x="136" y="453"/>
                  </a:cubicBezTo>
                  <a:cubicBezTo>
                    <a:pt x="60" y="604"/>
                    <a:pt x="23" y="861"/>
                    <a:pt x="0" y="952"/>
                  </a:cubicBezTo>
                </a:path>
              </a:pathLst>
            </a:custGeom>
            <a:noFill/>
            <a:ln w="28575">
              <a:solidFill>
                <a:srgbClr val="003366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1" name="Line 17"/>
            <p:cNvSpPr>
              <a:spLocks noChangeShapeType="1"/>
            </p:cNvSpPr>
            <p:nvPr/>
          </p:nvSpPr>
          <p:spPr bwMode="auto">
            <a:xfrm flipV="1">
              <a:off x="4082" y="589"/>
              <a:ext cx="0" cy="40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8392" name="Object 18"/>
            <p:cNvGraphicFramePr>
              <a:graphicFrameLocks noChangeAspect="1"/>
            </p:cNvGraphicFramePr>
            <p:nvPr/>
          </p:nvGraphicFramePr>
          <p:xfrm>
            <a:off x="5375" y="981"/>
            <a:ext cx="196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215619" imgH="177569" progId="Equation.3">
                    <p:embed/>
                  </p:oleObj>
                </mc:Choice>
                <mc:Fallback>
                  <p:oleObj r:id="rId13" imgW="215619" imgH="177569" progId="Equation.3">
                    <p:embed/>
                    <p:pic>
                      <p:nvPicPr>
                        <p:cNvPr id="5839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981"/>
                          <a:ext cx="196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3" name="Object 19"/>
            <p:cNvGraphicFramePr>
              <a:graphicFrameLocks noChangeAspect="1"/>
            </p:cNvGraphicFramePr>
            <p:nvPr/>
          </p:nvGraphicFramePr>
          <p:xfrm>
            <a:off x="4560" y="192"/>
            <a:ext cx="19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215619" imgH="164885" progId="Equation.3">
                    <p:embed/>
                  </p:oleObj>
                </mc:Choice>
                <mc:Fallback>
                  <p:oleObj r:id="rId15" imgW="215619" imgH="164885" progId="Equation.3">
                    <p:embed/>
                    <p:pic>
                      <p:nvPicPr>
                        <p:cNvPr id="5839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92"/>
                          <a:ext cx="19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94" name="Line 20"/>
            <p:cNvSpPr>
              <a:spLocks noChangeShapeType="1"/>
            </p:cNvSpPr>
            <p:nvPr/>
          </p:nvSpPr>
          <p:spPr bwMode="auto">
            <a:xfrm>
              <a:off x="3991" y="679"/>
              <a:ext cx="91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5" name="Line 21"/>
            <p:cNvSpPr>
              <a:spLocks noChangeShapeType="1"/>
            </p:cNvSpPr>
            <p:nvPr/>
          </p:nvSpPr>
          <p:spPr bwMode="auto">
            <a:xfrm flipH="1">
              <a:off x="4490" y="679"/>
              <a:ext cx="227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8396" name="Object 22"/>
            <p:cNvGraphicFramePr>
              <a:graphicFrameLocks noChangeAspect="1"/>
            </p:cNvGraphicFramePr>
            <p:nvPr/>
          </p:nvGraphicFramePr>
          <p:xfrm>
            <a:off x="4160" y="381"/>
            <a:ext cx="273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266469" imgH="444114" progId="Equation.3">
                    <p:embed/>
                  </p:oleObj>
                </mc:Choice>
                <mc:Fallback>
                  <p:oleObj r:id="rId17" imgW="266469" imgH="444114" progId="Equation.3">
                    <p:embed/>
                    <p:pic>
                      <p:nvPicPr>
                        <p:cNvPr id="58396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" y="381"/>
                          <a:ext cx="273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97" name="Rectangle 23"/>
            <p:cNvSpPr>
              <a:spLocks noChangeArrowheads="1"/>
            </p:cNvSpPr>
            <p:nvPr/>
          </p:nvSpPr>
          <p:spPr bwMode="auto">
            <a:xfrm>
              <a:off x="3744" y="816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-1</a:t>
              </a:r>
              <a:endParaRPr lang="en-US" altLang="zh-CN" sz="16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398" name="Line 24"/>
            <p:cNvSpPr>
              <a:spLocks noChangeShapeType="1"/>
            </p:cNvSpPr>
            <p:nvPr/>
          </p:nvSpPr>
          <p:spPr bwMode="auto">
            <a:xfrm flipV="1">
              <a:off x="4490" y="589"/>
              <a:ext cx="454" cy="40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9" name="Rectangle 25"/>
            <p:cNvSpPr>
              <a:spLocks noChangeArrowheads="1"/>
            </p:cNvSpPr>
            <p:nvPr/>
          </p:nvSpPr>
          <p:spPr bwMode="auto">
            <a:xfrm>
              <a:off x="4807" y="63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2400">
                  <a:solidFill>
                    <a:schemeClr val="tx2"/>
                  </a:solidFill>
                  <a:latin typeface="Arial" panose="020B0604020202020204" pitchFamily="34" charset="0"/>
                </a:rPr>
                <a:t>1</a:t>
              </a:r>
              <a:endParaRPr lang="en-US" altLang="zh-CN" sz="2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8400" name="Object 26"/>
            <p:cNvGraphicFramePr>
              <a:graphicFrameLocks noChangeAspect="1"/>
            </p:cNvGraphicFramePr>
            <p:nvPr/>
          </p:nvGraphicFramePr>
          <p:xfrm>
            <a:off x="3840" y="1728"/>
            <a:ext cx="768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888614" imgH="203112" progId="Equation.3">
                    <p:embed/>
                  </p:oleObj>
                </mc:Choice>
                <mc:Fallback>
                  <p:oleObj r:id="rId19" imgW="888614" imgH="203112" progId="Equation.3">
                    <p:embed/>
                    <p:pic>
                      <p:nvPicPr>
                        <p:cNvPr id="5840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728"/>
                          <a:ext cx="768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01" name="Line 27"/>
            <p:cNvSpPr>
              <a:spLocks noChangeShapeType="1"/>
            </p:cNvSpPr>
            <p:nvPr/>
          </p:nvSpPr>
          <p:spPr bwMode="auto">
            <a:xfrm flipH="1" flipV="1">
              <a:off x="3810" y="1587"/>
              <a:ext cx="90" cy="136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2" name="Freeform 28"/>
            <p:cNvSpPr>
              <a:spLocks noChangeArrowheads="1"/>
            </p:cNvSpPr>
            <p:nvPr/>
          </p:nvSpPr>
          <p:spPr bwMode="auto">
            <a:xfrm>
              <a:off x="3744" y="770"/>
              <a:ext cx="720" cy="1054"/>
            </a:xfrm>
            <a:custGeom>
              <a:avLst/>
              <a:gdLst>
                <a:gd name="T0" fmla="*/ 0 w 720"/>
                <a:gd name="T1" fmla="*/ 1054 h 1054"/>
                <a:gd name="T2" fmla="*/ 46 w 720"/>
                <a:gd name="T3" fmla="*/ 628 h 1054"/>
                <a:gd name="T4" fmla="*/ 192 w 720"/>
                <a:gd name="T5" fmla="*/ 190 h 1054"/>
                <a:gd name="T6" fmla="*/ 480 w 720"/>
                <a:gd name="T7" fmla="*/ 0 h 1054"/>
                <a:gd name="T8" fmla="*/ 720 w 720"/>
                <a:gd name="T9" fmla="*/ 190 h 10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0" h="1054">
                  <a:moveTo>
                    <a:pt x="0" y="1054"/>
                  </a:moveTo>
                  <a:cubicBezTo>
                    <a:pt x="8" y="983"/>
                    <a:pt x="14" y="772"/>
                    <a:pt x="46" y="628"/>
                  </a:cubicBezTo>
                  <a:cubicBezTo>
                    <a:pt x="78" y="484"/>
                    <a:pt x="120" y="295"/>
                    <a:pt x="192" y="190"/>
                  </a:cubicBezTo>
                  <a:cubicBezTo>
                    <a:pt x="264" y="85"/>
                    <a:pt x="392" y="0"/>
                    <a:pt x="480" y="0"/>
                  </a:cubicBezTo>
                  <a:cubicBezTo>
                    <a:pt x="568" y="0"/>
                    <a:pt x="670" y="151"/>
                    <a:pt x="720" y="19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3" name="Line 29"/>
            <p:cNvSpPr>
              <a:spLocks noChangeShapeType="1"/>
            </p:cNvSpPr>
            <p:nvPr/>
          </p:nvSpPr>
          <p:spPr bwMode="auto">
            <a:xfrm flipH="1">
              <a:off x="3552" y="1440"/>
              <a:ext cx="24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4" name="Text Box 30"/>
            <p:cNvSpPr txBox="1">
              <a:spLocks noChangeArrowheads="1"/>
            </p:cNvSpPr>
            <p:nvPr/>
          </p:nvSpPr>
          <p:spPr bwMode="auto">
            <a:xfrm>
              <a:off x="3312" y="1841"/>
              <a:ext cx="452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临界稳</a:t>
              </a:r>
            </a:p>
            <a:p>
              <a:pPr eaLnBrk="1" hangingPunct="1"/>
              <a:r>
                <a:rPr lang="zh-CN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定系统</a:t>
              </a:r>
            </a:p>
          </p:txBody>
        </p:sp>
        <p:sp>
          <p:nvSpPr>
            <p:cNvPr id="58405" name="Freeform 31"/>
            <p:cNvSpPr>
              <a:spLocks noChangeArrowheads="1"/>
            </p:cNvSpPr>
            <p:nvPr/>
          </p:nvSpPr>
          <p:spPr bwMode="auto">
            <a:xfrm>
              <a:off x="3456" y="640"/>
              <a:ext cx="1008" cy="1136"/>
            </a:xfrm>
            <a:custGeom>
              <a:avLst/>
              <a:gdLst>
                <a:gd name="T0" fmla="*/ 0 w 1008"/>
                <a:gd name="T1" fmla="*/ 1136 h 1136"/>
                <a:gd name="T2" fmla="*/ 192 w 1008"/>
                <a:gd name="T3" fmla="*/ 512 h 1136"/>
                <a:gd name="T4" fmla="*/ 432 w 1008"/>
                <a:gd name="T5" fmla="*/ 128 h 1136"/>
                <a:gd name="T6" fmla="*/ 720 w 1008"/>
                <a:gd name="T7" fmla="*/ 32 h 1136"/>
                <a:gd name="T8" fmla="*/ 1008 w 1008"/>
                <a:gd name="T9" fmla="*/ 320 h 1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8" h="1136">
                  <a:moveTo>
                    <a:pt x="0" y="1136"/>
                  </a:moveTo>
                  <a:cubicBezTo>
                    <a:pt x="60" y="908"/>
                    <a:pt x="120" y="680"/>
                    <a:pt x="192" y="512"/>
                  </a:cubicBezTo>
                  <a:cubicBezTo>
                    <a:pt x="264" y="344"/>
                    <a:pt x="344" y="208"/>
                    <a:pt x="432" y="128"/>
                  </a:cubicBezTo>
                  <a:cubicBezTo>
                    <a:pt x="520" y="48"/>
                    <a:pt x="624" y="0"/>
                    <a:pt x="720" y="32"/>
                  </a:cubicBezTo>
                  <a:cubicBezTo>
                    <a:pt x="816" y="64"/>
                    <a:pt x="960" y="272"/>
                    <a:pt x="1008" y="320"/>
                  </a:cubicBezTo>
                </a:path>
              </a:pathLst>
            </a:cu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6" name="Line 32"/>
            <p:cNvSpPr>
              <a:spLocks noChangeShapeType="1"/>
            </p:cNvSpPr>
            <p:nvPr/>
          </p:nvSpPr>
          <p:spPr bwMode="auto">
            <a:xfrm flipH="1" flipV="1">
              <a:off x="3424" y="102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7" name="Text Box 33"/>
            <p:cNvSpPr txBox="1">
              <a:spLocks noChangeArrowheads="1"/>
            </p:cNvSpPr>
            <p:nvPr/>
          </p:nvSpPr>
          <p:spPr bwMode="auto">
            <a:xfrm>
              <a:off x="3198" y="618"/>
              <a:ext cx="52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不稳定系统</a:t>
              </a:r>
            </a:p>
          </p:txBody>
        </p:sp>
        <p:graphicFrame>
          <p:nvGraphicFramePr>
            <p:cNvPr id="58408" name="Object 34"/>
            <p:cNvGraphicFramePr>
              <a:graphicFrameLocks noChangeAspect="1"/>
            </p:cNvGraphicFramePr>
            <p:nvPr/>
          </p:nvGraphicFramePr>
          <p:xfrm>
            <a:off x="4032" y="912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203112" imgH="241195" progId="Equation.3">
                    <p:embed/>
                  </p:oleObj>
                </mc:Choice>
                <mc:Fallback>
                  <p:oleObj r:id="rId9" imgW="203112" imgH="241195" progId="Equation.3">
                    <p:embed/>
                    <p:pic>
                      <p:nvPicPr>
                        <p:cNvPr id="58408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912"/>
                          <a:ext cx="20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43" name="Object 35"/>
          <p:cNvGraphicFramePr>
            <a:graphicFrameLocks noChangeAspect="1"/>
          </p:cNvGraphicFramePr>
          <p:nvPr/>
        </p:nvGraphicFramePr>
        <p:xfrm>
          <a:off x="5076825" y="5084763"/>
          <a:ext cx="6858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431613" imgH="241195" progId="Equation.3">
                  <p:embed/>
                </p:oleObj>
              </mc:Choice>
              <mc:Fallback>
                <p:oleObj r:id="rId21" imgW="431613" imgH="241195" progId="Equation.3">
                  <p:embed/>
                  <p:pic>
                    <p:nvPicPr>
                      <p:cNvPr id="1744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5084763"/>
                        <a:ext cx="685800" cy="3825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4" name="Text Box 36"/>
          <p:cNvSpPr txBox="1">
            <a:spLocks noChangeArrowheads="1"/>
          </p:cNvSpPr>
          <p:nvPr/>
        </p:nvSpPr>
        <p:spPr bwMode="auto">
          <a:xfrm>
            <a:off x="5724525" y="5084763"/>
            <a:ext cx="3148013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  <a:cs typeface="仿宋_GB2312"/>
              </a:rPr>
              <a:t>系统稳定，否则不稳定。</a:t>
            </a:r>
          </a:p>
        </p:txBody>
      </p:sp>
      <p:sp>
        <p:nvSpPr>
          <p:cNvPr id="17445" name="Text Box 37"/>
          <p:cNvSpPr txBox="1">
            <a:spLocks noChangeArrowheads="1"/>
          </p:cNvSpPr>
          <p:nvPr/>
        </p:nvSpPr>
        <p:spPr bwMode="auto">
          <a:xfrm>
            <a:off x="900113" y="5105400"/>
            <a:ext cx="360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仿宋_GB2312"/>
                <a:cs typeface="仿宋_GB2312"/>
              </a:rPr>
              <a:t>幅值裕量若用分贝表示：</a:t>
            </a:r>
          </a:p>
        </p:txBody>
      </p:sp>
      <p:graphicFrame>
        <p:nvGraphicFramePr>
          <p:cNvPr id="17446" name="Object 38"/>
          <p:cNvGraphicFramePr>
            <a:graphicFrameLocks noChangeAspect="1"/>
          </p:cNvGraphicFramePr>
          <p:nvPr/>
        </p:nvGraphicFramePr>
        <p:xfrm>
          <a:off x="6516688" y="6021388"/>
          <a:ext cx="1066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634725" imgH="241195" progId="Equation.3">
                  <p:embed/>
                </p:oleObj>
              </mc:Choice>
              <mc:Fallback>
                <p:oleObj r:id="rId23" imgW="634725" imgH="241195" progId="Equation.3">
                  <p:embed/>
                  <p:pic>
                    <p:nvPicPr>
                      <p:cNvPr id="17446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6021388"/>
                        <a:ext cx="1066800" cy="406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7" name="Text Box 39"/>
          <p:cNvSpPr txBox="1">
            <a:spLocks noChangeArrowheads="1"/>
          </p:cNvSpPr>
          <p:nvPr/>
        </p:nvSpPr>
        <p:spPr bwMode="auto">
          <a:xfrm>
            <a:off x="5003800" y="602138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最佳值：</a:t>
            </a:r>
          </a:p>
        </p:txBody>
      </p:sp>
      <p:graphicFrame>
        <p:nvGraphicFramePr>
          <p:cNvPr id="17448" name="Object 40"/>
          <p:cNvGraphicFramePr>
            <a:graphicFrameLocks noChangeAspect="1"/>
          </p:cNvGraphicFramePr>
          <p:nvPr/>
        </p:nvGraphicFramePr>
        <p:xfrm>
          <a:off x="1752600" y="6037263"/>
          <a:ext cx="9906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634725" imgH="241195" progId="Equation.3">
                  <p:embed/>
                </p:oleObj>
              </mc:Choice>
              <mc:Fallback>
                <p:oleObj r:id="rId25" imgW="634725" imgH="241195" progId="Equation.3">
                  <p:embed/>
                  <p:pic>
                    <p:nvPicPr>
                      <p:cNvPr id="1744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6037263"/>
                        <a:ext cx="990600" cy="3778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9" name="Text Box 41"/>
          <p:cNvSpPr txBox="1">
            <a:spLocks noChangeArrowheads="1"/>
          </p:cNvSpPr>
          <p:nvPr/>
        </p:nvSpPr>
        <p:spPr bwMode="auto">
          <a:xfrm>
            <a:off x="2819400" y="6019800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系统稳定。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  <p:bldP spid="17416" grpId="0"/>
      <p:bldP spid="17417" grpId="0"/>
      <p:bldP spid="17444" grpId="0" animBg="1"/>
      <p:bldP spid="17445" grpId="0"/>
      <p:bldP spid="17447" grpId="0"/>
      <p:bldP spid="174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565400"/>
            <a:ext cx="3517900" cy="335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Line 3"/>
          <p:cNvSpPr>
            <a:spLocks noChangeShapeType="1"/>
          </p:cNvSpPr>
          <p:nvPr/>
        </p:nvSpPr>
        <p:spPr bwMode="auto">
          <a:xfrm flipV="1">
            <a:off x="1979613" y="2924175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Line 4"/>
          <p:cNvSpPr>
            <a:spLocks noChangeShapeType="1"/>
          </p:cNvSpPr>
          <p:nvPr/>
        </p:nvSpPr>
        <p:spPr bwMode="auto">
          <a:xfrm>
            <a:off x="1979613" y="306863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4859338" y="2492375"/>
          <a:ext cx="3357562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87500" imgH="889000" progId="Equation.DSMT4">
                  <p:embed/>
                </p:oleObj>
              </mc:Choice>
              <mc:Fallback>
                <p:oleObj r:id="rId4" imgW="1587500" imgH="889000" progId="Equation.DSMT4">
                  <p:embed/>
                  <p:pic>
                    <p:nvPicPr>
                      <p:cNvPr id="18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492375"/>
                        <a:ext cx="3357562" cy="188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1908175" y="2636838"/>
            <a:ext cx="709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Arial" panose="020B0604020202020204" pitchFamily="34" charset="0"/>
              </a:rPr>
              <a:t>M</a:t>
            </a:r>
            <a:r>
              <a:rPr lang="el-GR" altLang="zh-CN" b="1">
                <a:latin typeface="Arial" panose="020B0604020202020204" pitchFamily="34" charset="0"/>
              </a:rPr>
              <a:t>π</a:t>
            </a:r>
            <a:endParaRPr lang="el-GR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1116013" y="908050"/>
            <a:ext cx="3311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Bode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图上的幅值裕量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/>
      <p:bldP spid="184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3132138" y="981075"/>
          <a:ext cx="405288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06600" imgH="279400" progId="Equation.DSMT4">
                  <p:embed/>
                </p:oleObj>
              </mc:Choice>
              <mc:Fallback>
                <p:oleObj r:id="rId3" imgW="2006600" imgH="279400" progId="Equation.DSMT4">
                  <p:embed/>
                  <p:pic>
                    <p:nvPicPr>
                      <p:cNvPr id="194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981075"/>
                        <a:ext cx="4052887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844675"/>
            <a:ext cx="4692650" cy="443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3563938" y="5302250"/>
            <a:ext cx="71437" cy="7143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 flipV="1">
            <a:off x="3563938" y="3070225"/>
            <a:ext cx="0" cy="2303463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3563938" y="3502025"/>
            <a:ext cx="1295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4427538" y="3070225"/>
            <a:ext cx="0" cy="4318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4654550" y="3094038"/>
          <a:ext cx="6238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30057" imgH="241195" progId="Equation.DSMT4">
                  <p:embed/>
                </p:oleObj>
              </mc:Choice>
              <mc:Fallback>
                <p:oleObj r:id="rId6" imgW="330057" imgH="241195" progId="Equation.DSMT4">
                  <p:embed/>
                  <p:pic>
                    <p:nvPicPr>
                      <p:cNvPr id="194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550" y="3094038"/>
                        <a:ext cx="623888" cy="455612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/>
          <p:cNvGraphicFramePr>
            <a:graphicFrameLocks noChangeAspect="1"/>
          </p:cNvGraphicFramePr>
          <p:nvPr/>
        </p:nvGraphicFramePr>
        <p:xfrm>
          <a:off x="3419475" y="2636838"/>
          <a:ext cx="365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7569" imgH="202936" progId="Equation.3">
                  <p:embed/>
                </p:oleObj>
              </mc:Choice>
              <mc:Fallback>
                <p:oleObj r:id="rId8" imgW="177569" imgH="202936" progId="Equation.3">
                  <p:embed/>
                  <p:pic>
                    <p:nvPicPr>
                      <p:cNvPr id="194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636838"/>
                        <a:ext cx="365125" cy="41910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5867400" y="2636838"/>
            <a:ext cx="252095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Arial" panose="020B0604020202020204" pitchFamily="34" charset="0"/>
              </a:rPr>
              <a:t>先找到相位交界频率，幅值裕量为</a:t>
            </a:r>
            <a:r>
              <a:rPr lang="en-US" altLang="zh-CN" sz="2400" b="1">
                <a:latin typeface="Arial" panose="020B0604020202020204" pitchFamily="34" charset="0"/>
              </a:rPr>
              <a:t>0DB</a:t>
            </a:r>
            <a:r>
              <a:rPr lang="zh-CN" altLang="en-US" sz="2400" b="1">
                <a:latin typeface="Arial" panose="020B0604020202020204" pitchFamily="34" charset="0"/>
              </a:rPr>
              <a:t>值与该频率处的幅频特性值之差（单位是分贝） 。 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 flipH="1">
            <a:off x="3635375" y="2349500"/>
            <a:ext cx="144463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3635375" y="1901825"/>
            <a:ext cx="171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相位穿越频率</a:t>
            </a:r>
          </a:p>
        </p:txBody>
      </p:sp>
      <p:graphicFrame>
        <p:nvGraphicFramePr>
          <p:cNvPr id="62477" name="Object 13"/>
          <p:cNvGraphicFramePr>
            <a:graphicFrameLocks noChangeAspect="1"/>
          </p:cNvGraphicFramePr>
          <p:nvPr/>
        </p:nvGraphicFramePr>
        <p:xfrm>
          <a:off x="827088" y="188913"/>
          <a:ext cx="31718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752600" imgH="469900" progId="Equation.DSMT4">
                  <p:embed/>
                </p:oleObj>
              </mc:Choice>
              <mc:Fallback>
                <p:oleObj r:id="rId10" imgW="1752600" imgH="469900" progId="Equation.DSMT4">
                  <p:embed/>
                  <p:pic>
                    <p:nvPicPr>
                      <p:cNvPr id="624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88913"/>
                        <a:ext cx="31718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10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10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/>
      <p:bldP spid="19466" grpId="0"/>
      <p:bldP spid="194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827088" y="692150"/>
            <a:ext cx="76327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Arial" panose="020B0604020202020204" pitchFamily="34" charset="0"/>
              </a:rPr>
              <a:t>  </a:t>
            </a:r>
            <a:r>
              <a:rPr lang="zh-CN" altLang="en-US" sz="2800" b="1">
                <a:latin typeface="Arial" panose="020B0604020202020204" pitchFamily="34" charset="0"/>
              </a:rPr>
              <a:t>现假设有两个开环稳定的系统，其中一个闭环稳定，标记为系统</a:t>
            </a:r>
            <a:r>
              <a:rPr lang="en-US" altLang="zh-CN" sz="2800" b="1">
                <a:latin typeface="Arial" panose="020B0604020202020204" pitchFamily="34" charset="0"/>
              </a:rPr>
              <a:t>1</a:t>
            </a:r>
            <a:r>
              <a:rPr lang="zh-CN" altLang="en-US" sz="2800" b="1">
                <a:latin typeface="Arial" panose="020B0604020202020204" pitchFamily="34" charset="0"/>
              </a:rPr>
              <a:t>， 另一个闭环不稳定，标记为系统</a:t>
            </a:r>
            <a:r>
              <a:rPr lang="en-US" altLang="zh-CN" sz="2800" b="1">
                <a:latin typeface="Arial" panose="020B0604020202020204" pitchFamily="34" charset="0"/>
              </a:rPr>
              <a:t>2</a:t>
            </a:r>
            <a:r>
              <a:rPr lang="zh-CN" altLang="en-US" sz="2800" b="1">
                <a:latin typeface="Arial" panose="020B0604020202020204" pitchFamily="34" charset="0"/>
              </a:rPr>
              <a:t>。这两系统的</a:t>
            </a:r>
            <a:r>
              <a:rPr lang="en-US" altLang="zh-CN" sz="2800" b="1">
                <a:latin typeface="Arial" panose="020B0604020202020204" pitchFamily="34" charset="0"/>
              </a:rPr>
              <a:t>Nyquist</a:t>
            </a:r>
            <a:r>
              <a:rPr lang="zh-CN" altLang="en-US" sz="2800" b="1">
                <a:latin typeface="Arial" panose="020B0604020202020204" pitchFamily="34" charset="0"/>
              </a:rPr>
              <a:t>图如下：</a:t>
            </a: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420938"/>
            <a:ext cx="4233862" cy="335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311275" y="711200"/>
            <a:ext cx="3805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这两系统的相应</a:t>
            </a:r>
            <a:r>
              <a:rPr lang="en-US" altLang="zh-CN" sz="2400" b="1">
                <a:latin typeface="Arial" panose="020B0604020202020204" pitchFamily="34" charset="0"/>
              </a:rPr>
              <a:t>Bode</a:t>
            </a:r>
            <a:r>
              <a:rPr lang="zh-CN" altLang="en-US" sz="2400" b="1">
                <a:latin typeface="Arial" panose="020B0604020202020204" pitchFamily="34" charset="0"/>
              </a:rPr>
              <a:t>图为</a:t>
            </a:r>
            <a:r>
              <a:rPr lang="en-US" altLang="zh-CN" sz="2400" b="1"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1341438"/>
            <a:ext cx="4692650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205038"/>
            <a:ext cx="3662362" cy="349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3132138" y="6021388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系统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1----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稳定的系统</a:t>
            </a:r>
          </a:p>
        </p:txBody>
      </p:sp>
      <p:sp>
        <p:nvSpPr>
          <p:cNvPr id="21510" name="Freeform 6"/>
          <p:cNvSpPr>
            <a:spLocks noChangeArrowheads="1"/>
          </p:cNvSpPr>
          <p:nvPr/>
        </p:nvSpPr>
        <p:spPr bwMode="auto">
          <a:xfrm>
            <a:off x="7135813" y="2576513"/>
            <a:ext cx="12700" cy="2300287"/>
          </a:xfrm>
          <a:custGeom>
            <a:avLst/>
            <a:gdLst>
              <a:gd name="T0" fmla="*/ 0 w 8"/>
              <a:gd name="T1" fmla="*/ 2147483646 h 1449"/>
              <a:gd name="T2" fmla="*/ 20161250 w 8"/>
              <a:gd name="T3" fmla="*/ 0 h 144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" h="1449">
                <a:moveTo>
                  <a:pt x="0" y="1449"/>
                </a:moveTo>
                <a:lnTo>
                  <a:pt x="8" y="0"/>
                </a:lnTo>
              </a:path>
            </a:pathLst>
          </a:cu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7164388" y="3068638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7740650" y="2565400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13" name="Object 9"/>
          <p:cNvGraphicFramePr>
            <a:graphicFrameLocks noChangeAspect="1"/>
          </p:cNvGraphicFramePr>
          <p:nvPr/>
        </p:nvGraphicFramePr>
        <p:xfrm>
          <a:off x="7799388" y="2584450"/>
          <a:ext cx="11779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71252" imgH="241195" progId="Equation.DSMT4">
                  <p:embed/>
                </p:oleObj>
              </mc:Choice>
              <mc:Fallback>
                <p:oleObj r:id="rId5" imgW="571252" imgH="241195" progId="Equation.DSMT4">
                  <p:embed/>
                  <p:pic>
                    <p:nvPicPr>
                      <p:cNvPr id="215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9388" y="2584450"/>
                        <a:ext cx="1177925" cy="496888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6372225" y="2565400"/>
            <a:ext cx="0" cy="201612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 flipH="1">
            <a:off x="5867400" y="4581525"/>
            <a:ext cx="504825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6084888" y="458152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17" name="Object 13"/>
          <p:cNvGraphicFramePr>
            <a:graphicFrameLocks noChangeAspect="1"/>
          </p:cNvGraphicFramePr>
          <p:nvPr/>
        </p:nvGraphicFramePr>
        <p:xfrm>
          <a:off x="5027613" y="4468813"/>
          <a:ext cx="8429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93529" imgH="228501" progId="Equation.DSMT4">
                  <p:embed/>
                </p:oleObj>
              </mc:Choice>
              <mc:Fallback>
                <p:oleObj r:id="rId7" imgW="393529" imgH="228501" progId="Equation.DSMT4">
                  <p:embed/>
                  <p:pic>
                    <p:nvPicPr>
                      <p:cNvPr id="215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7613" y="4468813"/>
                        <a:ext cx="842962" cy="48895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3924300" y="2349500"/>
            <a:ext cx="735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0 dB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9" grpId="0"/>
      <p:bldP spid="215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557338"/>
            <a:ext cx="4319587" cy="320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549275"/>
            <a:ext cx="3811587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971550" y="5157788"/>
            <a:ext cx="2201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Nyquist Diagram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5651500" y="5229225"/>
            <a:ext cx="1906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Bode Diagram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2484438" y="5805488"/>
            <a:ext cx="3743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系统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2------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不稳定的系统</a:t>
            </a:r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 flipV="1">
            <a:off x="6443663" y="1844675"/>
            <a:ext cx="0" cy="25923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6443663" y="1844675"/>
            <a:ext cx="1008062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7235825" y="1844675"/>
            <a:ext cx="0" cy="14446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 flipV="1">
            <a:off x="7235825" y="1989138"/>
            <a:ext cx="0" cy="287337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7235825" y="1412875"/>
            <a:ext cx="0" cy="431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 flipH="1">
            <a:off x="7235825" y="1773238"/>
            <a:ext cx="50482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41" name="Object 13"/>
          <p:cNvGraphicFramePr>
            <a:graphicFrameLocks noChangeAspect="1"/>
          </p:cNvGraphicFramePr>
          <p:nvPr/>
        </p:nvGraphicFramePr>
        <p:xfrm>
          <a:off x="7885113" y="1433513"/>
          <a:ext cx="9175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58558" imgH="241195" progId="Equation.DSMT4">
                  <p:embed/>
                </p:oleObj>
              </mc:Choice>
              <mc:Fallback>
                <p:oleObj r:id="rId5" imgW="558558" imgH="241195" progId="Equation.DSMT4">
                  <p:embed/>
                  <p:pic>
                    <p:nvPicPr>
                      <p:cNvPr id="225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1433513"/>
                        <a:ext cx="917575" cy="396875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4284663" y="1773238"/>
            <a:ext cx="735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0 dB</a:t>
            </a:r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6516688" y="1989138"/>
            <a:ext cx="0" cy="25923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 flipH="1">
            <a:off x="5580063" y="4581525"/>
            <a:ext cx="93662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5" name="Line 17"/>
          <p:cNvSpPr>
            <a:spLocks noChangeShapeType="1"/>
          </p:cNvSpPr>
          <p:nvPr/>
        </p:nvSpPr>
        <p:spPr bwMode="auto">
          <a:xfrm>
            <a:off x="5867400" y="4221163"/>
            <a:ext cx="0" cy="2159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 flipV="1">
            <a:off x="5867400" y="4581525"/>
            <a:ext cx="0" cy="2159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5867400" y="44370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 flipH="1">
            <a:off x="4284663" y="4508500"/>
            <a:ext cx="15827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49" name="Object 21"/>
          <p:cNvGraphicFramePr>
            <a:graphicFrameLocks noChangeAspect="1"/>
          </p:cNvGraphicFramePr>
          <p:nvPr/>
        </p:nvGraphicFramePr>
        <p:xfrm>
          <a:off x="3563938" y="4508500"/>
          <a:ext cx="6842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55292" imgH="203024" progId="Equation.DSMT4">
                  <p:embed/>
                </p:oleObj>
              </mc:Choice>
              <mc:Fallback>
                <p:oleObj r:id="rId7" imgW="355292" imgH="203024" progId="Equation.DSMT4">
                  <p:embed/>
                  <p:pic>
                    <p:nvPicPr>
                      <p:cNvPr id="2254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508500"/>
                        <a:ext cx="684212" cy="390525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10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3" grpId="0"/>
      <p:bldP spid="22534" grpId="0"/>
      <p:bldP spid="225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735013" y="981075"/>
            <a:ext cx="5632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zh-CN" altLang="en-US" sz="2400" b="1">
                <a:ea typeface="楷体_GB2312" pitchFamily="49" charset="-122"/>
              </a:rPr>
              <a:t>关于相位裕量和幅值裕量的几点说明：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971550" y="1844675"/>
            <a:ext cx="72929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/>
              <a:t>1</a:t>
            </a:r>
            <a:r>
              <a:rPr lang="zh-CN" altLang="en-US" sz="2400" b="1"/>
              <a:t>）二者均表示极坐标图对临界点的靠近程度，可以用来作为设计准则来确定系统的相对稳定性。</a:t>
            </a: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900113" y="2997200"/>
            <a:ext cx="72723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/>
              <a:t>2</a:t>
            </a:r>
            <a:r>
              <a:rPr lang="zh-CN" altLang="en-US" sz="2400" b="1"/>
              <a:t>）对于最小相位系统，只有当二者均为正时，系统稳定。事实上，相位裕量大于零可作为系统稳定性的可靠判据，幅值裕量大于零时系统不一定稳定。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1042988" y="4508500"/>
            <a:ext cx="7364412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400" b="1"/>
              <a:t>3</a:t>
            </a:r>
            <a:r>
              <a:rPr lang="zh-CN" altLang="en-US" sz="2400" b="1"/>
              <a:t>）对于最小相位系统，当相位裕量在</a:t>
            </a:r>
            <a:r>
              <a:rPr lang="en-US" altLang="zh-CN" sz="2400" b="1"/>
              <a:t>30°</a:t>
            </a:r>
            <a:r>
              <a:rPr lang="zh-CN" altLang="en-US" sz="2400" b="1"/>
              <a:t>至</a:t>
            </a:r>
            <a:r>
              <a:rPr lang="en-US" altLang="zh-CN" sz="2400" b="1"/>
              <a:t>60°</a:t>
            </a:r>
            <a:r>
              <a:rPr lang="zh-CN" altLang="en-US" sz="2400" b="1"/>
              <a:t>之间时，</a:t>
            </a:r>
            <a:r>
              <a:rPr lang="en-US" altLang="zh-CN" sz="2400" b="1"/>
              <a:t>Bode</a:t>
            </a:r>
            <a:r>
              <a:rPr lang="zh-CN" altLang="en-US" sz="2400" b="1"/>
              <a:t>图上幅频特性曲线穿越</a:t>
            </a:r>
            <a:r>
              <a:rPr lang="en-US" altLang="zh-CN" sz="2400" b="1"/>
              <a:t>0dB</a:t>
            </a:r>
            <a:r>
              <a:rPr lang="zh-CN" altLang="en-US" sz="2400" b="1"/>
              <a:t>线的斜率大于</a:t>
            </a:r>
            <a:r>
              <a:rPr lang="en-US" altLang="zh-CN" sz="2400" b="1"/>
              <a:t>-40dB/dec</a:t>
            </a:r>
            <a:r>
              <a:rPr lang="zh-CN" altLang="en-US" sz="2400" b="1"/>
              <a:t>，这样的系统稳定程度较高。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3F6A4D5-5EF5-4E75-964A-2004A5B6C175}" type="datetime1">
              <a:rPr lang="zh-CN" altLang="en-US" smtClean="0"/>
              <a:pPr/>
              <a:t>2025/10/22</a:t>
            </a:fld>
            <a:endParaRPr lang="en-US" altLang="zh-CN"/>
          </a:p>
        </p:txBody>
      </p:sp>
      <p:sp>
        <p:nvSpPr>
          <p:cNvPr id="72707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16B37E7-2011-44F7-B500-FECC6BB7D9F6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72709" name="Text Box 4"/>
          <p:cNvSpPr txBox="1">
            <a:spLocks noChangeArrowheads="1"/>
          </p:cNvSpPr>
          <p:nvPr/>
        </p:nvSpPr>
        <p:spPr bwMode="auto">
          <a:xfrm>
            <a:off x="900113" y="476250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例：</a:t>
            </a:r>
            <a:endParaRPr lang="en-US" altLang="zh-CN" sz="2400" b="1">
              <a:latin typeface="Arial" panose="020B0604020202020204" pitchFamily="34" charset="0"/>
            </a:endParaRPr>
          </a:p>
        </p:txBody>
      </p:sp>
      <p:graphicFrame>
        <p:nvGraphicFramePr>
          <p:cNvPr id="72710" name="Object 5"/>
          <p:cNvGraphicFramePr>
            <a:graphicFrameLocks noChangeAspect="1"/>
          </p:cNvGraphicFramePr>
          <p:nvPr/>
        </p:nvGraphicFramePr>
        <p:xfrm>
          <a:off x="1811338" y="379413"/>
          <a:ext cx="2882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55700" imgH="381000" progId="Equation.3">
                  <p:embed/>
                </p:oleObj>
              </mc:Choice>
              <mc:Fallback>
                <p:oleObj name="公式" r:id="rId2" imgW="1155700" imgH="381000" progId="Equation.3">
                  <p:embed/>
                  <p:pic>
                    <p:nvPicPr>
                      <p:cNvPr id="727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379413"/>
                        <a:ext cx="2882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2654300" y="1760538"/>
            <a:ext cx="19843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Bode</a:t>
            </a:r>
            <a:r>
              <a:rPr lang="zh-CN" altLang="en-US" sz="2400" b="1">
                <a:latin typeface="Arial" panose="020B0604020202020204" pitchFamily="34" charset="0"/>
              </a:rPr>
              <a:t>图如下</a:t>
            </a:r>
            <a:r>
              <a:rPr lang="en-US" altLang="zh-CN" sz="2400" b="1"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49227" name="Picture 7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990725"/>
            <a:ext cx="7242175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231" name="Line 79"/>
          <p:cNvSpPr>
            <a:spLocks noChangeShapeType="1"/>
          </p:cNvSpPr>
          <p:nvPr/>
        </p:nvSpPr>
        <p:spPr bwMode="auto">
          <a:xfrm>
            <a:off x="2916238" y="5589588"/>
            <a:ext cx="0" cy="360362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232" name="Text Box 80"/>
          <p:cNvSpPr txBox="1">
            <a:spLocks noChangeArrowheads="1"/>
          </p:cNvSpPr>
          <p:nvPr/>
        </p:nvSpPr>
        <p:spPr bwMode="auto">
          <a:xfrm>
            <a:off x="2987675" y="5589588"/>
            <a:ext cx="530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45</a:t>
            </a:r>
            <a:r>
              <a:rPr lang="en-US" altLang="zh-CN" sz="1800" b="1">
                <a:latin typeface="Arial" panose="020B0604020202020204" pitchFamily="34" charset="0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49233" name="Text Box 81"/>
          <p:cNvSpPr txBox="1">
            <a:spLocks noChangeArrowheads="1"/>
          </p:cNvSpPr>
          <p:nvPr/>
        </p:nvSpPr>
        <p:spPr bwMode="auto">
          <a:xfrm>
            <a:off x="1908175" y="2422525"/>
            <a:ext cx="51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-40</a:t>
            </a:r>
          </a:p>
        </p:txBody>
      </p:sp>
      <p:sp>
        <p:nvSpPr>
          <p:cNvPr id="49234" name="Text Box 82"/>
          <p:cNvSpPr txBox="1">
            <a:spLocks noChangeArrowheads="1"/>
          </p:cNvSpPr>
          <p:nvPr/>
        </p:nvSpPr>
        <p:spPr bwMode="auto">
          <a:xfrm>
            <a:off x="3132138" y="3500438"/>
            <a:ext cx="514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-20</a:t>
            </a:r>
          </a:p>
        </p:txBody>
      </p:sp>
      <p:sp>
        <p:nvSpPr>
          <p:cNvPr id="49235" name="Text Box 83"/>
          <p:cNvSpPr txBox="1">
            <a:spLocks noChangeArrowheads="1"/>
          </p:cNvSpPr>
          <p:nvPr/>
        </p:nvSpPr>
        <p:spPr bwMode="auto">
          <a:xfrm>
            <a:off x="4932363" y="3789363"/>
            <a:ext cx="514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-40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4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9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/>
      <p:bldP spid="49233" grpId="0"/>
      <p:bldP spid="49234" grpId="0"/>
      <p:bldP spid="492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DC6EB4-1CE8-4F85-B259-90F1C256AE36}" type="datetime1">
              <a:rPr lang="zh-CN" altLang="en-US" smtClean="0"/>
              <a:pPr/>
              <a:t>2025/10/22</a:t>
            </a:fld>
            <a:endParaRPr lang="en-US" altLang="zh-CN"/>
          </a:p>
        </p:txBody>
      </p:sp>
      <p:sp>
        <p:nvSpPr>
          <p:cNvPr id="73731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A0B9A4B-D4AD-4768-9BED-73F23CBD7D16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73733" name="Text Box 4"/>
          <p:cNvSpPr txBox="1">
            <a:spLocks noChangeArrowheads="1"/>
          </p:cNvSpPr>
          <p:nvPr/>
        </p:nvSpPr>
        <p:spPr bwMode="auto">
          <a:xfrm>
            <a:off x="1455738" y="5476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1">
              <a:latin typeface="Arial" panose="020B0604020202020204" pitchFamily="34" charset="0"/>
            </a:endParaRPr>
          </a:p>
        </p:txBody>
      </p:sp>
      <p:sp>
        <p:nvSpPr>
          <p:cNvPr id="73734" name="Text Box 5"/>
          <p:cNvSpPr txBox="1">
            <a:spLocks noChangeArrowheads="1"/>
          </p:cNvSpPr>
          <p:nvPr/>
        </p:nvSpPr>
        <p:spPr bwMode="auto">
          <a:xfrm>
            <a:off x="1311275" y="566738"/>
            <a:ext cx="2143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相应的根轨迹</a:t>
            </a:r>
            <a:r>
              <a:rPr lang="en-US" altLang="zh-CN" sz="2400" b="1"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737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84313"/>
            <a:ext cx="6211888" cy="422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3736" name="Object 10"/>
          <p:cNvGraphicFramePr>
            <a:graphicFrameLocks noChangeAspect="1"/>
          </p:cNvGraphicFramePr>
          <p:nvPr/>
        </p:nvGraphicFramePr>
        <p:xfrm>
          <a:off x="6372225" y="549275"/>
          <a:ext cx="237807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55700" imgH="381000" progId="Equation.3">
                  <p:embed/>
                </p:oleObj>
              </mc:Choice>
              <mc:Fallback>
                <p:oleObj name="公式" r:id="rId3" imgW="1155700" imgH="381000" progId="Equation.3">
                  <p:embed/>
                  <p:pic>
                    <p:nvPicPr>
                      <p:cNvPr id="7373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49275"/>
                        <a:ext cx="237807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200" dirty="0"/>
              <a:t>2025/10/22</a:t>
            </a:fld>
            <a:endParaRPr lang="zh-CN" altLang="en-US" sz="1200" dirty="0"/>
          </a:p>
        </p:txBody>
      </p:sp>
      <p:sp>
        <p:nvSpPr>
          <p:cNvPr id="61442" name="页脚占位符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r>
              <a:rPr lang="en-US" altLang="zh-CN" sz="1200" dirty="0"/>
              <a:t>Lujx</a:t>
            </a:r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/>
              <a:t>15</a:t>
            </a:fld>
            <a:endParaRPr lang="en-US" altLang="zh-CN" sz="1200" dirty="0"/>
          </a:p>
        </p:txBody>
      </p:sp>
      <p:sp>
        <p:nvSpPr>
          <p:cNvPr id="61444" name="Text Box 2"/>
          <p:cNvSpPr txBox="1"/>
          <p:nvPr/>
        </p:nvSpPr>
        <p:spPr>
          <a:xfrm>
            <a:off x="1908175" y="404813"/>
            <a:ext cx="5921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61445" name="Object 3"/>
          <p:cNvGraphicFramePr>
            <a:graphicFrameLocks noChangeAspect="1"/>
          </p:cNvGraphicFramePr>
          <p:nvPr/>
        </p:nvGraphicFramePr>
        <p:xfrm>
          <a:off x="3348038" y="260350"/>
          <a:ext cx="260826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41400" imgH="368300" progId="Equation.3">
                  <p:embed/>
                </p:oleObj>
              </mc:Choice>
              <mc:Fallback>
                <p:oleObj r:id="rId2" imgW="1041400" imgH="3683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48038" y="260350"/>
                        <a:ext cx="2608262" cy="922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1380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450" y="1773238"/>
            <a:ext cx="6840538" cy="4183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381" name="Text Box 5"/>
          <p:cNvSpPr txBox="1"/>
          <p:nvPr/>
        </p:nvSpPr>
        <p:spPr>
          <a:xfrm>
            <a:off x="1527175" y="1000125"/>
            <a:ext cx="2051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Bode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图如下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01382" name="Line 6"/>
          <p:cNvSpPr/>
          <p:nvPr/>
        </p:nvSpPr>
        <p:spPr>
          <a:xfrm>
            <a:off x="3779838" y="3068638"/>
            <a:ext cx="0" cy="2376487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1383" name="Line 7"/>
          <p:cNvSpPr/>
          <p:nvPr/>
        </p:nvSpPr>
        <p:spPr>
          <a:xfrm flipH="1">
            <a:off x="2987675" y="5445125"/>
            <a:ext cx="7921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1384" name="Line 8"/>
          <p:cNvSpPr/>
          <p:nvPr/>
        </p:nvSpPr>
        <p:spPr>
          <a:xfrm>
            <a:off x="3276600" y="5300663"/>
            <a:ext cx="0" cy="1444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01385" name="Line 9"/>
          <p:cNvSpPr/>
          <p:nvPr/>
        </p:nvSpPr>
        <p:spPr>
          <a:xfrm flipH="1" flipV="1">
            <a:off x="3348038" y="5373688"/>
            <a:ext cx="64770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1386" name="Text Box 10"/>
          <p:cNvSpPr txBox="1"/>
          <p:nvPr/>
        </p:nvSpPr>
        <p:spPr>
          <a:xfrm>
            <a:off x="3995738" y="5734050"/>
            <a:ext cx="2600325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&lt;0,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表明系统不稳定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01387" name="Freeform 11"/>
          <p:cNvSpPr/>
          <p:nvPr/>
        </p:nvSpPr>
        <p:spPr>
          <a:xfrm>
            <a:off x="4267200" y="3379788"/>
            <a:ext cx="900113" cy="142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0" t="0" r="0" b="0"/>
            <a:pathLst>
              <a:path w="567" h="9">
                <a:moveTo>
                  <a:pt x="0" y="0"/>
                </a:moveTo>
                <a:lnTo>
                  <a:pt x="567" y="9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388" name="Line 12"/>
          <p:cNvSpPr/>
          <p:nvPr/>
        </p:nvSpPr>
        <p:spPr>
          <a:xfrm>
            <a:off x="4859338" y="3141663"/>
            <a:ext cx="0" cy="2873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01389" name="Line 13"/>
          <p:cNvSpPr/>
          <p:nvPr/>
        </p:nvSpPr>
        <p:spPr>
          <a:xfrm flipH="1">
            <a:off x="4932363" y="2708275"/>
            <a:ext cx="576262" cy="5762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1390" name="Text Box 14"/>
          <p:cNvSpPr txBox="1"/>
          <p:nvPr/>
        </p:nvSpPr>
        <p:spPr>
          <a:xfrm>
            <a:off x="5632450" y="2414588"/>
            <a:ext cx="2922588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Kg&gt;0dB,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表明系统稳定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01391" name="Text Box 15"/>
          <p:cNvSpPr txBox="1"/>
          <p:nvPr/>
        </p:nvSpPr>
        <p:spPr>
          <a:xfrm>
            <a:off x="4067176" y="3097749"/>
            <a:ext cx="852124" cy="338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20lgK</a:t>
            </a:r>
            <a:r>
              <a:rPr lang="en-US" altLang="zh-CN" sz="1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graphicFrame>
        <p:nvGraphicFramePr>
          <p:cNvPr id="101392" name="Object 16"/>
          <p:cNvGraphicFramePr>
            <a:graphicFrameLocks noChangeAspect="1"/>
          </p:cNvGraphicFramePr>
          <p:nvPr/>
        </p:nvGraphicFramePr>
        <p:xfrm>
          <a:off x="5076825" y="3429000"/>
          <a:ext cx="45720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4165" imgH="177800" progId="Equation.3">
                  <p:embed/>
                </p:oleObj>
              </mc:Choice>
              <mc:Fallback>
                <p:oleObj r:id="rId2" imgW="304165" imgH="1778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76825" y="3429000"/>
                        <a:ext cx="457200" cy="2682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93" name="Rectangle 17"/>
          <p:cNvSpPr/>
          <p:nvPr/>
        </p:nvSpPr>
        <p:spPr>
          <a:xfrm>
            <a:off x="5724525" y="4797425"/>
            <a:ext cx="316865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当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K&gt;K</a:t>
            </a:r>
            <a:r>
              <a:rPr lang="en-US" altLang="zh-CN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,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系统由不稳定变为稳定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019800" y="1134461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劳斯判据应用？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0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10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6" dur="500"/>
                                        <p:tgtEl>
                                          <p:spTgt spid="10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/>
      <p:bldP spid="101386" grpId="0"/>
      <p:bldP spid="101390" grpId="0"/>
      <p:bldP spid="101391" grpId="0"/>
      <p:bldP spid="101393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200" dirty="0"/>
              <a:t>2025/10/22</a:t>
            </a:fld>
            <a:endParaRPr lang="zh-CN" altLang="en-US" sz="1200" dirty="0"/>
          </a:p>
        </p:txBody>
      </p:sp>
      <p:sp>
        <p:nvSpPr>
          <p:cNvPr id="62466" name="页脚占位符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r>
              <a:rPr lang="en-US" altLang="zh-CN" sz="1200" dirty="0"/>
              <a:t>Lujx</a:t>
            </a:r>
          </a:p>
        </p:txBody>
      </p:sp>
      <p:sp>
        <p:nvSpPr>
          <p:cNvPr id="62467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/>
              <a:t>16</a:t>
            </a:fld>
            <a:endParaRPr lang="en-US" altLang="zh-CN" sz="1200" dirty="0"/>
          </a:p>
        </p:txBody>
      </p:sp>
      <p:pic>
        <p:nvPicPr>
          <p:cNvPr id="62468" name="Picture 2"/>
          <p:cNvPicPr>
            <a:picLocks noChangeAspect="1"/>
          </p:cNvPicPr>
          <p:nvPr/>
        </p:nvPicPr>
        <p:blipFill>
          <a:blip r:embed="rId2">
            <a:lum contrast="54000"/>
          </a:blip>
          <a:stretch>
            <a:fillRect/>
          </a:stretch>
        </p:blipFill>
        <p:spPr>
          <a:xfrm rot="-139791">
            <a:off x="1042988" y="1196975"/>
            <a:ext cx="7543800" cy="493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69" name="Text Box 3"/>
          <p:cNvSpPr txBox="1"/>
          <p:nvPr/>
        </p:nvSpPr>
        <p:spPr>
          <a:xfrm>
            <a:off x="1311275" y="495300"/>
            <a:ext cx="15113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根轨迹为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02404" name="Rectangle 4"/>
          <p:cNvSpPr/>
          <p:nvPr/>
        </p:nvSpPr>
        <p:spPr>
          <a:xfrm>
            <a:off x="1476375" y="1196975"/>
            <a:ext cx="3095625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当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K&gt;K</a:t>
            </a:r>
            <a:r>
              <a:rPr lang="en-US" altLang="zh-CN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,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系统是稳定的。</a:t>
            </a:r>
          </a:p>
        </p:txBody>
      </p:sp>
      <p:graphicFrame>
        <p:nvGraphicFramePr>
          <p:cNvPr id="62471" name="Object 5"/>
          <p:cNvGraphicFramePr>
            <a:graphicFrameLocks noChangeAspect="1"/>
          </p:cNvGraphicFramePr>
          <p:nvPr/>
        </p:nvGraphicFramePr>
        <p:xfrm>
          <a:off x="6372225" y="260350"/>
          <a:ext cx="232092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41400" imgH="368300" progId="Equation.3">
                  <p:embed/>
                </p:oleObj>
              </mc:Choice>
              <mc:Fallback>
                <p:oleObj r:id="rId3" imgW="1041400" imgH="3683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72225" y="260350"/>
                        <a:ext cx="2320925" cy="820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2"/>
          <p:cNvSpPr txBox="1"/>
          <p:nvPr/>
        </p:nvSpPr>
        <p:spPr>
          <a:xfrm>
            <a:off x="519113" y="908050"/>
            <a:ext cx="10287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例：</a:t>
            </a:r>
          </a:p>
        </p:txBody>
      </p:sp>
      <p:sp>
        <p:nvSpPr>
          <p:cNvPr id="63490" name="Text Box 3"/>
          <p:cNvSpPr txBox="1"/>
          <p:nvPr/>
        </p:nvSpPr>
        <p:spPr>
          <a:xfrm>
            <a:off x="950913" y="1752600"/>
            <a:ext cx="580707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一系统前向通道和反馈通道的传递函数分别为：</a:t>
            </a:r>
          </a:p>
        </p:txBody>
      </p:sp>
      <p:graphicFrame>
        <p:nvGraphicFramePr>
          <p:cNvPr id="63491" name="Object 2"/>
          <p:cNvGraphicFramePr>
            <a:graphicFrameLocks noChangeAspect="1"/>
          </p:cNvGraphicFramePr>
          <p:nvPr/>
        </p:nvGraphicFramePr>
        <p:xfrm>
          <a:off x="1547813" y="2349500"/>
          <a:ext cx="305752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20165" imgH="381000" progId="Equation.3">
                  <p:embed/>
                </p:oleObj>
              </mc:Choice>
              <mc:Fallback>
                <p:oleObj r:id="rId3" imgW="1320165" imgH="3810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813" y="2349500"/>
                        <a:ext cx="3057525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Text Box 5"/>
          <p:cNvSpPr txBox="1"/>
          <p:nvPr/>
        </p:nvSpPr>
        <p:spPr>
          <a:xfrm>
            <a:off x="5003800" y="2565400"/>
            <a:ext cx="509588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和 </a:t>
            </a:r>
          </a:p>
        </p:txBody>
      </p:sp>
      <p:graphicFrame>
        <p:nvGraphicFramePr>
          <p:cNvPr id="63493" name="Object 3"/>
          <p:cNvGraphicFramePr>
            <a:graphicFrameLocks noChangeAspect="1"/>
          </p:cNvGraphicFramePr>
          <p:nvPr/>
        </p:nvGraphicFramePr>
        <p:xfrm>
          <a:off x="5940425" y="2636838"/>
          <a:ext cx="11525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82600" imgH="190500" progId="Equation.3">
                  <p:embed/>
                </p:oleObj>
              </mc:Choice>
              <mc:Fallback>
                <p:oleObj r:id="rId3" imgW="482600" imgH="1905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0425" y="2636838"/>
                        <a:ext cx="1152525" cy="455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4" name="Text Box 7"/>
          <p:cNvSpPr txBox="1"/>
          <p:nvPr/>
        </p:nvSpPr>
        <p:spPr>
          <a:xfrm>
            <a:off x="900113" y="3644900"/>
            <a:ext cx="693102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求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K=1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时系统的相位裕量和幅值裕量，并判断系统的稳定性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2"/>
          <p:cNvSpPr txBox="1"/>
          <p:nvPr/>
        </p:nvSpPr>
        <p:spPr>
          <a:xfrm>
            <a:off x="539750" y="644525"/>
            <a:ext cx="5921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27651" name="Text Box 3"/>
          <p:cNvSpPr txBox="1"/>
          <p:nvPr/>
        </p:nvSpPr>
        <p:spPr>
          <a:xfrm>
            <a:off x="1239838" y="1187450"/>
            <a:ext cx="36195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将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s=j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代入开环传递函数有</a:t>
            </a:r>
          </a:p>
        </p:txBody>
      </p:sp>
      <p:graphicFrame>
        <p:nvGraphicFramePr>
          <p:cNvPr id="27652" name="Object 2"/>
          <p:cNvGraphicFramePr>
            <a:graphicFrameLocks noChangeAspect="1"/>
          </p:cNvGraphicFramePr>
          <p:nvPr/>
        </p:nvGraphicFramePr>
        <p:xfrm>
          <a:off x="1725613" y="1916113"/>
          <a:ext cx="43942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16100" imgH="381000" progId="Equation.3">
                  <p:embed/>
                </p:oleObj>
              </mc:Choice>
              <mc:Fallback>
                <p:oleObj r:id="rId3" imgW="1816100" imgH="3810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613" y="1916113"/>
                        <a:ext cx="4394200" cy="922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5"/>
          <p:cNvSpPr txBox="1"/>
          <p:nvPr/>
        </p:nvSpPr>
        <p:spPr>
          <a:xfrm>
            <a:off x="879475" y="3049588"/>
            <a:ext cx="3836988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幅频特性和相频特性分别为：</a:t>
            </a:r>
          </a:p>
        </p:txBody>
      </p:sp>
      <p:graphicFrame>
        <p:nvGraphicFramePr>
          <p:cNvPr id="27654" name="Object 3"/>
          <p:cNvGraphicFramePr>
            <a:graphicFrameLocks noChangeAspect="1"/>
          </p:cNvGraphicFramePr>
          <p:nvPr/>
        </p:nvGraphicFramePr>
        <p:xfrm>
          <a:off x="2484438" y="3573463"/>
          <a:ext cx="33432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11300" imgH="393700" progId="Equation.3">
                  <p:embed/>
                </p:oleObj>
              </mc:Choice>
              <mc:Fallback>
                <p:oleObj r:id="rId3" imgW="1511300" imgH="3937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84438" y="3573463"/>
                        <a:ext cx="3343275" cy="869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4"/>
          <p:cNvGraphicFramePr>
            <a:graphicFrameLocks noChangeAspect="1"/>
          </p:cNvGraphicFramePr>
          <p:nvPr/>
        </p:nvGraphicFramePr>
        <p:xfrm>
          <a:off x="2411413" y="4797425"/>
          <a:ext cx="40640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77365" imgH="215900" progId="Equation.3">
                  <p:embed/>
                </p:oleObj>
              </mc:Choice>
              <mc:Fallback>
                <p:oleObj r:id="rId3" imgW="1777365" imgH="2159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1413" y="4797425"/>
                        <a:ext cx="406400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/>
          <p:nvPr/>
        </p:nvSpPr>
        <p:spPr>
          <a:xfrm>
            <a:off x="735013" y="971550"/>
            <a:ext cx="6861175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令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=-180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来求相位穿越频率 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. </a:t>
            </a:r>
          </a:p>
        </p:txBody>
      </p:sp>
      <p:graphicFrame>
        <p:nvGraphicFramePr>
          <p:cNvPr id="28675" name="Object 2"/>
          <p:cNvGraphicFramePr>
            <a:graphicFrameLocks noChangeAspect="1"/>
          </p:cNvGraphicFramePr>
          <p:nvPr/>
        </p:nvGraphicFramePr>
        <p:xfrm>
          <a:off x="1511300" y="1916113"/>
          <a:ext cx="50212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97100" imgH="215900" progId="Equation.3">
                  <p:embed/>
                </p:oleObj>
              </mc:Choice>
              <mc:Fallback>
                <p:oleObj r:id="rId3" imgW="2197100" imgH="2159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11300" y="1916113"/>
                        <a:ext cx="5021263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3"/>
          <p:cNvGraphicFramePr>
            <a:graphicFrameLocks noChangeAspect="1"/>
          </p:cNvGraphicFramePr>
          <p:nvPr/>
        </p:nvGraphicFramePr>
        <p:xfrm>
          <a:off x="2614613" y="2749550"/>
          <a:ext cx="11795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45465" imgH="203200" progId="Equation.3">
                  <p:embed/>
                </p:oleObj>
              </mc:Choice>
              <mc:Fallback>
                <p:oleObj r:id="rId3" imgW="545465" imgH="2032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14613" y="2749550"/>
                        <a:ext cx="1179512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4"/>
          <p:cNvGraphicFramePr>
            <a:graphicFrameLocks noChangeAspect="1"/>
          </p:cNvGraphicFramePr>
          <p:nvPr/>
        </p:nvGraphicFramePr>
        <p:xfrm>
          <a:off x="1547813" y="3429000"/>
          <a:ext cx="4495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32000" imgH="482600" progId="Equation.3">
                  <p:embed/>
                </p:oleObj>
              </mc:Choice>
              <mc:Fallback>
                <p:oleObj r:id="rId3" imgW="2032000" imgH="4826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813" y="3429000"/>
                        <a:ext cx="44958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5"/>
          <p:cNvGraphicFramePr>
            <a:graphicFrameLocks noChangeAspect="1"/>
          </p:cNvGraphicFramePr>
          <p:nvPr/>
        </p:nvGraphicFramePr>
        <p:xfrm>
          <a:off x="2198688" y="4979988"/>
          <a:ext cx="2157412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5200" imgH="431800" progId="Equation.DSMT4">
                  <p:embed/>
                </p:oleObj>
              </mc:Choice>
              <mc:Fallback>
                <p:oleObj r:id="rId3" imgW="965200" imgH="4318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98688" y="4979988"/>
                        <a:ext cx="2157412" cy="963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/>
          <p:nvPr/>
        </p:nvSpPr>
        <p:spPr>
          <a:xfrm>
            <a:off x="808038" y="900113"/>
            <a:ext cx="486568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为求相位裕量，需先求出幅值穿越频率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4521200" y="3333750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1600" imgH="190500" progId="Equation.3">
                  <p:embed/>
                </p:oleObj>
              </mc:Choice>
              <mc:Fallback>
                <p:oleObj r:id="rId3" imgW="101600" imgH="1905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21200" y="3333750"/>
                        <a:ext cx="1016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3"/>
          <p:cNvGraphicFramePr>
            <a:graphicFrameLocks noChangeAspect="1"/>
          </p:cNvGraphicFramePr>
          <p:nvPr/>
        </p:nvGraphicFramePr>
        <p:xfrm>
          <a:off x="1979613" y="1844675"/>
          <a:ext cx="37369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88465" imgH="393700" progId="Equation.3">
                  <p:embed/>
                </p:oleObj>
              </mc:Choice>
              <mc:Fallback>
                <p:oleObj r:id="rId3" imgW="1688465" imgH="3937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79613" y="1844675"/>
                        <a:ext cx="3736975" cy="869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Text Box 5"/>
          <p:cNvSpPr txBox="1"/>
          <p:nvPr/>
        </p:nvSpPr>
        <p:spPr>
          <a:xfrm>
            <a:off x="735013" y="1839913"/>
            <a:ext cx="50958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令 </a:t>
            </a:r>
          </a:p>
        </p:txBody>
      </p:sp>
      <p:sp>
        <p:nvSpPr>
          <p:cNvPr id="29702" name="Text Box 6"/>
          <p:cNvSpPr txBox="1"/>
          <p:nvPr/>
        </p:nvSpPr>
        <p:spPr>
          <a:xfrm>
            <a:off x="735013" y="2976563"/>
            <a:ext cx="950912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可求出</a:t>
            </a:r>
          </a:p>
        </p:txBody>
      </p:sp>
      <p:graphicFrame>
        <p:nvGraphicFramePr>
          <p:cNvPr id="29703" name="Object 4"/>
          <p:cNvGraphicFramePr>
            <a:graphicFrameLocks noChangeAspect="1"/>
          </p:cNvGraphicFramePr>
          <p:nvPr/>
        </p:nvGraphicFramePr>
        <p:xfrm>
          <a:off x="2633663" y="3251200"/>
          <a:ext cx="24431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27100" imgH="190500" progId="Equation.3">
                  <p:embed/>
                </p:oleObj>
              </mc:Choice>
              <mc:Fallback>
                <p:oleObj r:id="rId3" imgW="927100" imgH="1905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33663" y="3251200"/>
                        <a:ext cx="2443162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5"/>
          <p:cNvGraphicFramePr>
            <a:graphicFrameLocks noChangeAspect="1"/>
          </p:cNvGraphicFramePr>
          <p:nvPr/>
        </p:nvGraphicFramePr>
        <p:xfrm>
          <a:off x="1476375" y="4076700"/>
          <a:ext cx="52546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98700" imgH="215900" progId="Equation.3">
                  <p:embed/>
                </p:oleObj>
              </mc:Choice>
              <mc:Fallback>
                <p:oleObj r:id="rId3" imgW="2298700" imgH="2159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76375" y="4076700"/>
                        <a:ext cx="5254625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6"/>
          <p:cNvGraphicFramePr>
            <a:graphicFrameLocks noChangeAspect="1"/>
          </p:cNvGraphicFramePr>
          <p:nvPr/>
        </p:nvGraphicFramePr>
        <p:xfrm>
          <a:off x="2411413" y="4797425"/>
          <a:ext cx="28225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31265" imgH="228600" progId="Equation.DSMT4">
                  <p:embed/>
                </p:oleObj>
              </mc:Choice>
              <mc:Fallback>
                <p:oleObj r:id="rId3" imgW="1231265" imgH="2286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11413" y="4797425"/>
                        <a:ext cx="2822575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Text Box 10"/>
          <p:cNvSpPr txBox="1"/>
          <p:nvPr/>
        </p:nvSpPr>
        <p:spPr>
          <a:xfrm>
            <a:off x="879475" y="5568950"/>
            <a:ext cx="6573838" cy="396875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Verdana" panose="020B0604030504040204" pitchFamily="34" charset="0"/>
                <a:ea typeface="宋体" panose="02010600030101010101" pitchFamily="2" charset="-122"/>
              </a:rPr>
              <a:t>因为相位裕量和幅值裕量均大于零，所以闭环系统稳定。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701" grpId="0"/>
      <p:bldP spid="29702" grpId="0"/>
      <p:bldP spid="2970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文本框 1"/>
          <p:cNvSpPr txBox="1"/>
          <p:nvPr/>
        </p:nvSpPr>
        <p:spPr>
          <a:xfrm>
            <a:off x="755650" y="2852738"/>
            <a:ext cx="6270625" cy="7381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作业：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P227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5-17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）（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        </a:t>
            </a:r>
            <a:endParaRPr lang="zh-CN" altLang="en-US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ext Box 4"/>
          <p:cNvSpPr txBox="1"/>
          <p:nvPr/>
        </p:nvSpPr>
        <p:spPr>
          <a:xfrm>
            <a:off x="2124075" y="692150"/>
            <a:ext cx="341630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频率特性</a:t>
            </a:r>
          </a:p>
        </p:txBody>
      </p:sp>
      <p:sp>
        <p:nvSpPr>
          <p:cNvPr id="72706" name="Rectangle 5"/>
          <p:cNvSpPr/>
          <p:nvPr/>
        </p:nvSpPr>
        <p:spPr>
          <a:xfrm>
            <a:off x="1403350" y="2522538"/>
            <a:ext cx="5562600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72707" name="Rectangle 6"/>
          <p:cNvSpPr/>
          <p:nvPr/>
        </p:nvSpPr>
        <p:spPr>
          <a:xfrm>
            <a:off x="1403350" y="3132138"/>
            <a:ext cx="5486400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72708" name="Rectangle 8"/>
          <p:cNvSpPr/>
          <p:nvPr/>
        </p:nvSpPr>
        <p:spPr>
          <a:xfrm>
            <a:off x="1403350" y="3643313"/>
            <a:ext cx="5545138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72709" name="Rectangle 9"/>
          <p:cNvSpPr/>
          <p:nvPr/>
        </p:nvSpPr>
        <p:spPr>
          <a:xfrm>
            <a:off x="1403350" y="4291013"/>
            <a:ext cx="6553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72710" name="Rectangle 11"/>
          <p:cNvSpPr/>
          <p:nvPr/>
        </p:nvSpPr>
        <p:spPr>
          <a:xfrm>
            <a:off x="1403350" y="1916113"/>
            <a:ext cx="4648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72711" name="Rectangle 9"/>
          <p:cNvSpPr/>
          <p:nvPr/>
        </p:nvSpPr>
        <p:spPr>
          <a:xfrm>
            <a:off x="1403350" y="4899025"/>
            <a:ext cx="6553200" cy="6127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72712" name="Rectangle 9"/>
          <p:cNvSpPr/>
          <p:nvPr/>
        </p:nvSpPr>
        <p:spPr>
          <a:xfrm>
            <a:off x="1403350" y="5451475"/>
            <a:ext cx="6913563" cy="674688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Text Box 4"/>
          <p:cNvSpPr txBox="1"/>
          <p:nvPr/>
        </p:nvSpPr>
        <p:spPr>
          <a:xfrm>
            <a:off x="827088" y="3500438"/>
            <a:ext cx="7194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现在以一个单位反馈系统为例，闭环传函可表示为：</a:t>
            </a:r>
          </a:p>
        </p:txBody>
      </p:sp>
      <p:graphicFrame>
        <p:nvGraphicFramePr>
          <p:cNvPr id="101381" name="Object 5"/>
          <p:cNvGraphicFramePr>
            <a:graphicFrameLocks noChangeAspect="1"/>
          </p:cNvGraphicFramePr>
          <p:nvPr/>
        </p:nvGraphicFramePr>
        <p:xfrm>
          <a:off x="1979613" y="4076700"/>
          <a:ext cx="35560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48765" imgH="381000" progId="Equation.3">
                  <p:embed/>
                </p:oleObj>
              </mc:Choice>
              <mc:Fallback>
                <p:oleObj r:id="rId3" imgW="1548765" imgH="3810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613" y="4076700"/>
                        <a:ext cx="3556000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2" name="Text Box 6"/>
          <p:cNvSpPr txBox="1"/>
          <p:nvPr/>
        </p:nvSpPr>
        <p:spPr>
          <a:xfrm>
            <a:off x="1116013" y="5084763"/>
            <a:ext cx="712946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将闭环幅频和相频特性分别用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cl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和 来表示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1383" name="Text Box 7"/>
          <p:cNvSpPr txBox="1"/>
          <p:nvPr/>
        </p:nvSpPr>
        <p:spPr>
          <a:xfrm>
            <a:off x="1331913" y="1844675"/>
            <a:ext cx="2720975" cy="461963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可采用矢量求法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101384" name="Text Box 8"/>
          <p:cNvSpPr txBox="1"/>
          <p:nvPr/>
        </p:nvSpPr>
        <p:spPr>
          <a:xfrm>
            <a:off x="1331913" y="2349500"/>
            <a:ext cx="5146675" cy="460375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可采用</a:t>
            </a:r>
            <a:r>
              <a:rPr lang="zh-CN" altLang="en-US" sz="2400" dirty="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等</a:t>
            </a:r>
            <a:r>
              <a:rPr lang="en-US" altLang="zh-CN" sz="2400" dirty="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M-N</a:t>
            </a:r>
            <a:r>
              <a:rPr lang="zh-CN" altLang="en-US" sz="2400" dirty="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圆法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和尼柯尔斯图法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74758" name="Text Box 3"/>
          <p:cNvSpPr txBox="1"/>
          <p:nvPr/>
        </p:nvSpPr>
        <p:spPr>
          <a:xfrm>
            <a:off x="611188" y="476250"/>
            <a:ext cx="5905500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</a:pPr>
            <a:r>
              <a:rPr lang="en-US" altLang="zh-CN" sz="2800" b="1" dirty="0">
                <a:latin typeface="Verdana" panose="020B0604030504040204" pitchFamily="34" charset="0"/>
                <a:ea typeface="黑体" panose="02010609060101010101" pitchFamily="49" charset="-122"/>
              </a:rPr>
              <a:t>4.5 </a:t>
            </a:r>
            <a:r>
              <a:rPr lang="zh-CN" altLang="en-US" sz="2800" b="1" dirty="0">
                <a:latin typeface="Verdana" panose="020B0604030504040204" pitchFamily="34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74759" name="Text Box 4"/>
          <p:cNvSpPr txBox="1"/>
          <p:nvPr/>
        </p:nvSpPr>
        <p:spPr>
          <a:xfrm>
            <a:off x="971550" y="1125538"/>
            <a:ext cx="3698875" cy="522287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Verdana" panose="020B0604030504040204" pitchFamily="34" charset="0"/>
                <a:ea typeface="宋体" panose="02010600030101010101" pitchFamily="2" charset="-122"/>
              </a:rPr>
              <a:t>闭环频率特性的求取</a:t>
            </a:r>
          </a:p>
        </p:txBody>
      </p:sp>
      <p:sp>
        <p:nvSpPr>
          <p:cNvPr id="10" name="Text Box 7"/>
          <p:cNvSpPr txBox="1"/>
          <p:nvPr/>
        </p:nvSpPr>
        <p:spPr>
          <a:xfrm>
            <a:off x="1331913" y="2852738"/>
            <a:ext cx="4079875" cy="460375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可采用相关软件工具求取。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/>
      <p:bldP spid="101382" grpId="0"/>
      <p:bldP spid="101383" grpId="0"/>
      <p:bldP spid="101384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200" dirty="0"/>
              <a:t>2025/10/22</a:t>
            </a:fld>
            <a:endParaRPr lang="zh-CN" altLang="en-US" sz="1200" dirty="0"/>
          </a:p>
        </p:txBody>
      </p:sp>
      <p:sp>
        <p:nvSpPr>
          <p:cNvPr id="76802" name="页脚占位符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r>
              <a:rPr lang="en-US" altLang="zh-CN" sz="1200" dirty="0"/>
              <a:t>Jixia Lu</a:t>
            </a:r>
          </a:p>
        </p:txBody>
      </p:sp>
      <p:sp>
        <p:nvSpPr>
          <p:cNvPr id="76803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/>
              <a:t>24</a:t>
            </a:fld>
            <a:endParaRPr lang="en-US" altLang="zh-CN" sz="1200" dirty="0"/>
          </a:p>
        </p:txBody>
      </p:sp>
      <p:pic>
        <p:nvPicPr>
          <p:cNvPr id="76804" name="Picture 10"/>
          <p:cNvPicPr>
            <a:picLocks noChangeAspect="1"/>
          </p:cNvPicPr>
          <p:nvPr/>
        </p:nvPicPr>
        <p:blipFill>
          <a:blip r:embed="rId2">
            <a:lum contrast="48000"/>
          </a:blip>
          <a:srcRect t="2536" b="3957"/>
          <a:stretch>
            <a:fillRect/>
          </a:stretch>
        </p:blipFill>
        <p:spPr>
          <a:xfrm>
            <a:off x="1258888" y="549275"/>
            <a:ext cx="6411912" cy="49911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6805" name="Object 11"/>
          <p:cNvGraphicFramePr>
            <a:graphicFrameLocks noChangeAspect="1"/>
          </p:cNvGraphicFramePr>
          <p:nvPr/>
        </p:nvGraphicFramePr>
        <p:xfrm>
          <a:off x="4140200" y="5373688"/>
          <a:ext cx="410368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63700" imgH="393700" progId="Equation.3">
                  <p:embed/>
                </p:oleObj>
              </mc:Choice>
              <mc:Fallback>
                <p:oleObj r:id="rId3" imgW="1663700" imgH="3937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0200" y="5373688"/>
                        <a:ext cx="4103688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12"/>
          <p:cNvGraphicFramePr>
            <a:graphicFrameLocks noChangeAspect="1"/>
          </p:cNvGraphicFramePr>
          <p:nvPr/>
        </p:nvGraphicFramePr>
        <p:xfrm>
          <a:off x="539750" y="5589588"/>
          <a:ext cx="294957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77365" imgH="431800" progId="Equation.3">
                  <p:embed/>
                </p:oleObj>
              </mc:Choice>
              <mc:Fallback>
                <p:oleObj r:id="rId3" imgW="1777365" imgH="4318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9750" y="5589588"/>
                        <a:ext cx="2949575" cy="715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200" dirty="0"/>
              <a:t>2025/10/22</a:t>
            </a:fld>
            <a:endParaRPr lang="zh-CN" altLang="en-US" sz="1200" dirty="0"/>
          </a:p>
        </p:txBody>
      </p:sp>
      <p:sp>
        <p:nvSpPr>
          <p:cNvPr id="77826" name="页脚占位符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r>
              <a:rPr lang="en-US" altLang="zh-CN" sz="1200" dirty="0"/>
              <a:t>Jixia Lu</a:t>
            </a:r>
          </a:p>
        </p:txBody>
      </p:sp>
      <p:sp>
        <p:nvSpPr>
          <p:cNvPr id="77827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/>
              <a:t>25</a:t>
            </a:fld>
            <a:endParaRPr lang="en-US" altLang="zh-CN" sz="1200" dirty="0"/>
          </a:p>
        </p:txBody>
      </p:sp>
      <p:pic>
        <p:nvPicPr>
          <p:cNvPr id="77828" name="Picture 10"/>
          <p:cNvPicPr>
            <a:picLocks noChangeAspect="1"/>
          </p:cNvPicPr>
          <p:nvPr/>
        </p:nvPicPr>
        <p:blipFill>
          <a:blip r:embed="rId2"/>
          <a:srcRect l="4942" r="3851"/>
          <a:stretch>
            <a:fillRect/>
          </a:stretch>
        </p:blipFill>
        <p:spPr>
          <a:xfrm>
            <a:off x="468313" y="620713"/>
            <a:ext cx="5976937" cy="56022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7829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588" y="1268413"/>
            <a:ext cx="1555750" cy="4492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2"/>
          <p:cNvSpPr txBox="1"/>
          <p:nvPr/>
        </p:nvSpPr>
        <p:spPr>
          <a:xfrm>
            <a:off x="1384300" y="765175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闭环幅频特性图绘制如下：</a:t>
            </a:r>
          </a:p>
        </p:txBody>
      </p:sp>
      <p:pic>
        <p:nvPicPr>
          <p:cNvPr id="7885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8363">
            <a:off x="1403350" y="1844675"/>
            <a:ext cx="6516688" cy="4203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7" name="Picture 4"/>
          <p:cNvPicPr>
            <a:picLocks noChangeAspect="1"/>
          </p:cNvPicPr>
          <p:nvPr/>
        </p:nvPicPr>
        <p:blipFill>
          <a:blip r:embed="rId2">
            <a:lum contrast="6000"/>
          </a:blip>
          <a:stretch>
            <a:fillRect/>
          </a:stretch>
        </p:blipFill>
        <p:spPr>
          <a:xfrm>
            <a:off x="31750" y="188913"/>
            <a:ext cx="5745163" cy="546258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776913" y="1341438"/>
          <a:ext cx="320357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69365" imgH="381000" progId="Equation.3">
                  <p:embed/>
                </p:oleObj>
              </mc:Choice>
              <mc:Fallback>
                <p:oleObj r:id="rId3" imgW="1269365" imgH="3810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76913" y="1341438"/>
                        <a:ext cx="3203575" cy="960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837113" y="3573463"/>
          <a:ext cx="432117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77365" imgH="355600" progId="Equation.3">
                  <p:embed/>
                </p:oleObj>
              </mc:Choice>
              <mc:Fallback>
                <p:oleObj r:id="rId3" imgW="1777365" imgH="3556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37113" y="3573463"/>
                        <a:ext cx="4321175" cy="865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200" dirty="0"/>
              <a:t>2025/10/22</a:t>
            </a:fld>
            <a:endParaRPr lang="zh-CN" altLang="en-US" sz="1200" dirty="0"/>
          </a:p>
        </p:txBody>
      </p:sp>
      <p:sp>
        <p:nvSpPr>
          <p:cNvPr id="81922" name="页脚占位符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r>
              <a:rPr lang="en-US" altLang="zh-CN" sz="1200" dirty="0"/>
              <a:t>Jixia Lu</a:t>
            </a:r>
          </a:p>
        </p:txBody>
      </p:sp>
      <p:sp>
        <p:nvSpPr>
          <p:cNvPr id="81923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/>
              <a:t>28</a:t>
            </a:fld>
            <a:endParaRPr lang="en-US" altLang="zh-CN" sz="1200" dirty="0"/>
          </a:p>
        </p:txBody>
      </p:sp>
      <p:pic>
        <p:nvPicPr>
          <p:cNvPr id="81924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13" y="549275"/>
            <a:ext cx="5313362" cy="5851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25" name="Line 9"/>
          <p:cNvSpPr/>
          <p:nvPr/>
        </p:nvSpPr>
        <p:spPr>
          <a:xfrm>
            <a:off x="7740650" y="1125538"/>
            <a:ext cx="0" cy="4608512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26" name="Line 10"/>
          <p:cNvSpPr/>
          <p:nvPr/>
        </p:nvSpPr>
        <p:spPr>
          <a:xfrm>
            <a:off x="6877050" y="1773238"/>
            <a:ext cx="1655763" cy="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27" name="Text Box 11"/>
          <p:cNvSpPr txBox="1"/>
          <p:nvPr/>
        </p:nvSpPr>
        <p:spPr>
          <a:xfrm>
            <a:off x="7000875" y="1282700"/>
            <a:ext cx="4508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</a:p>
        </p:txBody>
      </p:sp>
      <p:sp>
        <p:nvSpPr>
          <p:cNvPr id="81928" name="Text Box 12"/>
          <p:cNvSpPr txBox="1"/>
          <p:nvPr/>
        </p:nvSpPr>
        <p:spPr>
          <a:xfrm>
            <a:off x="7864475" y="1282700"/>
            <a:ext cx="376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81929" name="Text Box 13"/>
          <p:cNvSpPr txBox="1"/>
          <p:nvPr/>
        </p:nvSpPr>
        <p:spPr>
          <a:xfrm>
            <a:off x="7000875" y="1930400"/>
            <a:ext cx="506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</a:p>
        </p:txBody>
      </p:sp>
      <p:sp>
        <p:nvSpPr>
          <p:cNvPr id="81930" name="Text Box 14"/>
          <p:cNvSpPr txBox="1"/>
          <p:nvPr/>
        </p:nvSpPr>
        <p:spPr>
          <a:xfrm>
            <a:off x="7019925" y="4652963"/>
            <a:ext cx="619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81931" name="Text Box 15"/>
          <p:cNvSpPr txBox="1"/>
          <p:nvPr/>
        </p:nvSpPr>
        <p:spPr>
          <a:xfrm>
            <a:off x="7019925" y="3284538"/>
            <a:ext cx="506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81932" name="Text Box 16"/>
          <p:cNvSpPr txBox="1"/>
          <p:nvPr/>
        </p:nvSpPr>
        <p:spPr>
          <a:xfrm>
            <a:off x="7019925" y="3933825"/>
            <a:ext cx="506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81933" name="Text Box 17"/>
          <p:cNvSpPr txBox="1"/>
          <p:nvPr/>
        </p:nvSpPr>
        <p:spPr>
          <a:xfrm>
            <a:off x="7019925" y="2565400"/>
            <a:ext cx="506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81934" name="Line 18"/>
          <p:cNvSpPr/>
          <p:nvPr/>
        </p:nvSpPr>
        <p:spPr>
          <a:xfrm>
            <a:off x="6948488" y="2492375"/>
            <a:ext cx="1439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35" name="Line 19"/>
          <p:cNvSpPr/>
          <p:nvPr/>
        </p:nvSpPr>
        <p:spPr>
          <a:xfrm>
            <a:off x="6948488" y="3141663"/>
            <a:ext cx="1439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36" name="Line 20"/>
          <p:cNvSpPr/>
          <p:nvPr/>
        </p:nvSpPr>
        <p:spPr>
          <a:xfrm>
            <a:off x="6948488" y="3860800"/>
            <a:ext cx="1439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37" name="Line 21"/>
          <p:cNvSpPr/>
          <p:nvPr/>
        </p:nvSpPr>
        <p:spPr>
          <a:xfrm>
            <a:off x="6948488" y="4581525"/>
            <a:ext cx="1439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38" name="Line 22"/>
          <p:cNvSpPr/>
          <p:nvPr/>
        </p:nvSpPr>
        <p:spPr>
          <a:xfrm>
            <a:off x="6948488" y="5373688"/>
            <a:ext cx="1439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39" name="Text Box 23"/>
          <p:cNvSpPr txBox="1"/>
          <p:nvPr/>
        </p:nvSpPr>
        <p:spPr>
          <a:xfrm>
            <a:off x="7864475" y="1979613"/>
            <a:ext cx="652463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-20</a:t>
            </a:r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81940" name="Text Box 24"/>
          <p:cNvSpPr txBox="1"/>
          <p:nvPr/>
        </p:nvSpPr>
        <p:spPr>
          <a:xfrm>
            <a:off x="7812088" y="2636838"/>
            <a:ext cx="652462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-30</a:t>
            </a:r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81941" name="Text Box 25"/>
          <p:cNvSpPr txBox="1"/>
          <p:nvPr/>
        </p:nvSpPr>
        <p:spPr>
          <a:xfrm>
            <a:off x="7812088" y="3357563"/>
            <a:ext cx="652462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-60</a:t>
            </a:r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81942" name="Text Box 26"/>
          <p:cNvSpPr txBox="1"/>
          <p:nvPr/>
        </p:nvSpPr>
        <p:spPr>
          <a:xfrm>
            <a:off x="7812088" y="4005263"/>
            <a:ext cx="7937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-120</a:t>
            </a:r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5" name="Picture 2"/>
          <p:cNvPicPr>
            <a:picLocks noChangeAspect="1"/>
          </p:cNvPicPr>
          <p:nvPr/>
        </p:nvPicPr>
        <p:blipFill>
          <a:blip r:embed="rId3">
            <a:lum contrast="29999"/>
          </a:blip>
          <a:srcRect r="5692"/>
          <a:stretch>
            <a:fillRect/>
          </a:stretch>
        </p:blipFill>
        <p:spPr>
          <a:xfrm>
            <a:off x="1116013" y="1628775"/>
            <a:ext cx="6553200" cy="4094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6" name="Text Box 3"/>
          <p:cNvSpPr txBox="1"/>
          <p:nvPr/>
        </p:nvSpPr>
        <p:spPr>
          <a:xfrm>
            <a:off x="900113" y="476250"/>
            <a:ext cx="727233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闭环相频特性图绘制如下：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3"/>
          <p:cNvSpPr txBox="1"/>
          <p:nvPr/>
        </p:nvSpPr>
        <p:spPr>
          <a:xfrm>
            <a:off x="684213" y="765175"/>
            <a:ext cx="3698875" cy="523875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Verdana" panose="020B0604030504040204" pitchFamily="34" charset="0"/>
                <a:ea typeface="宋体" panose="02010600030101010101" pitchFamily="2" charset="-122"/>
              </a:rPr>
              <a:t>闭环系统的频域指标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971550" y="1773238"/>
            <a:ext cx="6010275" cy="4479925"/>
            <a:chOff x="612" y="891"/>
            <a:chExt cx="3786" cy="2822"/>
          </a:xfrm>
        </p:grpSpPr>
        <p:sp>
          <p:nvSpPr>
            <p:cNvPr id="84995" name="Line 5"/>
            <p:cNvSpPr/>
            <p:nvPr/>
          </p:nvSpPr>
          <p:spPr>
            <a:xfrm flipV="1">
              <a:off x="1474" y="1117"/>
              <a:ext cx="0" cy="19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4996" name="Line 6"/>
            <p:cNvSpPr/>
            <p:nvPr/>
          </p:nvSpPr>
          <p:spPr>
            <a:xfrm>
              <a:off x="1474" y="3113"/>
              <a:ext cx="26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4997" name="Freeform 7"/>
            <p:cNvSpPr/>
            <p:nvPr/>
          </p:nvSpPr>
          <p:spPr>
            <a:xfrm>
              <a:off x="1476" y="1381"/>
              <a:ext cx="2311" cy="1142"/>
            </a:xfrm>
            <a:custGeom>
              <a:avLst/>
              <a:gdLst/>
              <a:ahLst/>
              <a:cxnLst>
                <a:cxn ang="0">
                  <a:pos x="0" y="363"/>
                </a:cxn>
                <a:cxn ang="0">
                  <a:pos x="149" y="339"/>
                </a:cxn>
                <a:cxn ang="0">
                  <a:pos x="270" y="280"/>
                </a:cxn>
                <a:cxn ang="0">
                  <a:pos x="451" y="189"/>
                </a:cxn>
                <a:cxn ang="0">
                  <a:pos x="769" y="53"/>
                </a:cxn>
                <a:cxn ang="0">
                  <a:pos x="1041" y="53"/>
                </a:cxn>
                <a:cxn ang="0">
                  <a:pos x="1449" y="371"/>
                </a:cxn>
                <a:cxn ang="0">
                  <a:pos x="1767" y="688"/>
                </a:cxn>
                <a:cxn ang="0">
                  <a:pos x="1994" y="915"/>
                </a:cxn>
                <a:cxn ang="0">
                  <a:pos x="2311" y="1142"/>
                </a:cxn>
              </a:cxnLst>
              <a:rect l="0" t="0" r="0" b="0"/>
              <a:pathLst>
                <a:path w="2311" h="1142">
                  <a:moveTo>
                    <a:pt x="0" y="363"/>
                  </a:moveTo>
                  <a:cubicBezTo>
                    <a:pt x="25" y="359"/>
                    <a:pt x="104" y="353"/>
                    <a:pt x="149" y="339"/>
                  </a:cubicBezTo>
                  <a:cubicBezTo>
                    <a:pt x="194" y="325"/>
                    <a:pt x="220" y="305"/>
                    <a:pt x="270" y="280"/>
                  </a:cubicBezTo>
                  <a:cubicBezTo>
                    <a:pt x="320" y="255"/>
                    <a:pt x="368" y="227"/>
                    <a:pt x="451" y="189"/>
                  </a:cubicBezTo>
                  <a:cubicBezTo>
                    <a:pt x="534" y="151"/>
                    <a:pt x="671" y="76"/>
                    <a:pt x="769" y="53"/>
                  </a:cubicBezTo>
                  <a:cubicBezTo>
                    <a:pt x="867" y="30"/>
                    <a:pt x="928" y="0"/>
                    <a:pt x="1041" y="53"/>
                  </a:cubicBezTo>
                  <a:cubicBezTo>
                    <a:pt x="1154" y="106"/>
                    <a:pt x="1328" y="265"/>
                    <a:pt x="1449" y="371"/>
                  </a:cubicBezTo>
                  <a:cubicBezTo>
                    <a:pt x="1570" y="477"/>
                    <a:pt x="1676" y="597"/>
                    <a:pt x="1767" y="688"/>
                  </a:cubicBezTo>
                  <a:cubicBezTo>
                    <a:pt x="1858" y="779"/>
                    <a:pt x="1903" y="839"/>
                    <a:pt x="1994" y="915"/>
                  </a:cubicBezTo>
                  <a:cubicBezTo>
                    <a:pt x="2085" y="991"/>
                    <a:pt x="2258" y="1104"/>
                    <a:pt x="2311" y="114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998" name="Line 8"/>
            <p:cNvSpPr/>
            <p:nvPr/>
          </p:nvSpPr>
          <p:spPr>
            <a:xfrm>
              <a:off x="1474" y="1752"/>
              <a:ext cx="145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4999" name="Line 9"/>
            <p:cNvSpPr/>
            <p:nvPr/>
          </p:nvSpPr>
          <p:spPr>
            <a:xfrm>
              <a:off x="1474" y="2115"/>
              <a:ext cx="181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0" name="Line 10"/>
            <p:cNvSpPr/>
            <p:nvPr/>
          </p:nvSpPr>
          <p:spPr>
            <a:xfrm>
              <a:off x="1474" y="2432"/>
              <a:ext cx="217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1" name="Text Box 11"/>
            <p:cNvSpPr txBox="1"/>
            <p:nvPr/>
          </p:nvSpPr>
          <p:spPr>
            <a:xfrm>
              <a:off x="1053" y="1625"/>
              <a:ext cx="45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M(0)</a:t>
              </a:r>
            </a:p>
          </p:txBody>
        </p:sp>
        <p:sp>
          <p:nvSpPr>
            <p:cNvPr id="85002" name="Text Box 12"/>
            <p:cNvSpPr txBox="1"/>
            <p:nvPr/>
          </p:nvSpPr>
          <p:spPr>
            <a:xfrm>
              <a:off x="612" y="1979"/>
              <a:ext cx="87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0.707M(0)</a:t>
              </a:r>
            </a:p>
          </p:txBody>
        </p:sp>
        <p:sp>
          <p:nvSpPr>
            <p:cNvPr id="85003" name="Text Box 13"/>
            <p:cNvSpPr txBox="1"/>
            <p:nvPr/>
          </p:nvSpPr>
          <p:spPr>
            <a:xfrm>
              <a:off x="793" y="2296"/>
              <a:ext cx="69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0.5M(0)</a:t>
              </a:r>
            </a:p>
          </p:txBody>
        </p:sp>
        <p:sp>
          <p:nvSpPr>
            <p:cNvPr id="85004" name="Line 14"/>
            <p:cNvSpPr/>
            <p:nvPr/>
          </p:nvSpPr>
          <p:spPr>
            <a:xfrm>
              <a:off x="3288" y="2115"/>
              <a:ext cx="0" cy="9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5" name="Line 15"/>
            <p:cNvSpPr/>
            <p:nvPr/>
          </p:nvSpPr>
          <p:spPr>
            <a:xfrm>
              <a:off x="3651" y="2432"/>
              <a:ext cx="0" cy="6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6" name="Line 16"/>
            <p:cNvSpPr/>
            <p:nvPr/>
          </p:nvSpPr>
          <p:spPr>
            <a:xfrm>
              <a:off x="2925" y="1752"/>
              <a:ext cx="0" cy="13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7" name="Line 17"/>
            <p:cNvSpPr/>
            <p:nvPr/>
          </p:nvSpPr>
          <p:spPr>
            <a:xfrm>
              <a:off x="2381" y="1389"/>
              <a:ext cx="0" cy="17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8" name="Line 18"/>
            <p:cNvSpPr/>
            <p:nvPr/>
          </p:nvSpPr>
          <p:spPr>
            <a:xfrm flipH="1">
              <a:off x="1474" y="1389"/>
              <a:ext cx="90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9" name="Text Box 19"/>
            <p:cNvSpPr txBox="1"/>
            <p:nvPr/>
          </p:nvSpPr>
          <p:spPr>
            <a:xfrm>
              <a:off x="1156" y="1298"/>
              <a:ext cx="27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M</a:t>
              </a:r>
              <a:r>
                <a:rPr lang="en-US" altLang="zh-CN" baseline="-25000" dirty="0">
                  <a:latin typeface="Verdana" panose="020B0604030504040204" pitchFamily="34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85010" name="Line 20"/>
            <p:cNvSpPr/>
            <p:nvPr/>
          </p:nvSpPr>
          <p:spPr>
            <a:xfrm>
              <a:off x="1474" y="1525"/>
              <a:ext cx="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11" name="Line 21"/>
            <p:cNvSpPr/>
            <p:nvPr/>
          </p:nvSpPr>
          <p:spPr>
            <a:xfrm>
              <a:off x="2018" y="1525"/>
              <a:ext cx="0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12" name="Line 22"/>
            <p:cNvSpPr/>
            <p:nvPr/>
          </p:nvSpPr>
          <p:spPr>
            <a:xfrm>
              <a:off x="2018" y="1525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13" name="Line 23"/>
            <p:cNvSpPr/>
            <p:nvPr/>
          </p:nvSpPr>
          <p:spPr>
            <a:xfrm>
              <a:off x="2200" y="152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85014" name="Text Box 24"/>
            <p:cNvSpPr txBox="1"/>
            <p:nvPr/>
          </p:nvSpPr>
          <p:spPr>
            <a:xfrm rot="-5400000">
              <a:off x="1982" y="1507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</a:t>
              </a:r>
            </a:p>
          </p:txBody>
        </p:sp>
        <p:graphicFrame>
          <p:nvGraphicFramePr>
            <p:cNvPr id="85015" name="Object 25"/>
            <p:cNvGraphicFramePr>
              <a:graphicFrameLocks noChangeAspect="1"/>
            </p:cNvGraphicFramePr>
            <p:nvPr/>
          </p:nvGraphicFramePr>
          <p:xfrm>
            <a:off x="1882" y="3158"/>
            <a:ext cx="227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41300" imgH="228600" progId="Equation.DSMT4">
                    <p:embed/>
                  </p:oleObj>
                </mc:Choice>
                <mc:Fallback>
                  <p:oleObj r:id="rId3" imgW="241300" imgH="228600" progId="Equation.DSMT4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82" y="3158"/>
                          <a:ext cx="227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16" name="Object 26"/>
            <p:cNvGraphicFramePr>
              <a:graphicFrameLocks noChangeAspect="1"/>
            </p:cNvGraphicFramePr>
            <p:nvPr/>
          </p:nvGraphicFramePr>
          <p:xfrm>
            <a:off x="2290" y="3158"/>
            <a:ext cx="18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90500" imgH="228600" progId="Equation.DSMT4">
                    <p:embed/>
                  </p:oleObj>
                </mc:Choice>
                <mc:Fallback>
                  <p:oleObj r:id="rId3" imgW="190500" imgH="228600" progId="Equation.DSMT4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290" y="3158"/>
                          <a:ext cx="189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17" name="Object 27"/>
            <p:cNvGraphicFramePr>
              <a:graphicFrameLocks noChangeAspect="1"/>
            </p:cNvGraphicFramePr>
            <p:nvPr/>
          </p:nvGraphicFramePr>
          <p:xfrm>
            <a:off x="3152" y="3158"/>
            <a:ext cx="18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90500" imgH="228600" progId="Equation.DSMT4">
                    <p:embed/>
                  </p:oleObj>
                </mc:Choice>
                <mc:Fallback>
                  <p:oleObj r:id="rId3" imgW="190500" imgH="228600" progId="Equation.DSMT4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52" y="3158"/>
                          <a:ext cx="189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18" name="Object 28"/>
            <p:cNvGraphicFramePr>
              <a:graphicFrameLocks noChangeAspect="1"/>
            </p:cNvGraphicFramePr>
            <p:nvPr/>
          </p:nvGraphicFramePr>
          <p:xfrm>
            <a:off x="2789" y="3158"/>
            <a:ext cx="17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77800" imgH="228600" progId="Equation.DSMT4">
                    <p:embed/>
                  </p:oleObj>
                </mc:Choice>
                <mc:Fallback>
                  <p:oleObj r:id="rId3" imgW="177800" imgH="228600" progId="Equation.DSMT4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789" y="3158"/>
                          <a:ext cx="177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19" name="Object 29"/>
            <p:cNvGraphicFramePr>
              <a:graphicFrameLocks noChangeAspect="1"/>
            </p:cNvGraphicFramePr>
            <p:nvPr/>
          </p:nvGraphicFramePr>
          <p:xfrm>
            <a:off x="3560" y="3158"/>
            <a:ext cx="19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90500" imgH="228600" progId="Equation.DSMT4">
                    <p:embed/>
                  </p:oleObj>
                </mc:Choice>
                <mc:Fallback>
                  <p:oleObj r:id="rId3" imgW="190500" imgH="228600" progId="Equation.DSMT4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60" y="3158"/>
                          <a:ext cx="190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20" name="Text Box 30"/>
            <p:cNvSpPr txBox="1"/>
            <p:nvPr/>
          </p:nvSpPr>
          <p:spPr>
            <a:xfrm>
              <a:off x="1247" y="891"/>
              <a:ext cx="46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M(</a:t>
              </a:r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85021" name="Text Box 31"/>
            <p:cNvSpPr txBox="1"/>
            <p:nvPr/>
          </p:nvSpPr>
          <p:spPr>
            <a:xfrm>
              <a:off x="1292" y="3067"/>
              <a:ext cx="2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5022" name="Text Box 32"/>
            <p:cNvSpPr txBox="1"/>
            <p:nvPr/>
          </p:nvSpPr>
          <p:spPr>
            <a:xfrm>
              <a:off x="4183" y="3032"/>
              <a:ext cx="21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</a:p>
          </p:txBody>
        </p:sp>
        <p:sp>
          <p:nvSpPr>
            <p:cNvPr id="85023" name="Text Box 33"/>
            <p:cNvSpPr txBox="1"/>
            <p:nvPr/>
          </p:nvSpPr>
          <p:spPr>
            <a:xfrm>
              <a:off x="1824" y="3463"/>
              <a:ext cx="14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000" b="1" dirty="0">
                  <a:latin typeface="Verdana" panose="020B0604030504040204" pitchFamily="34" charset="0"/>
                  <a:ea typeface="宋体" panose="02010600030101010101" pitchFamily="2" charset="-122"/>
                </a:rPr>
                <a:t>闭环系统幅频特性</a:t>
              </a:r>
            </a:p>
          </p:txBody>
        </p:sp>
      </p:grpSp>
      <p:pic>
        <p:nvPicPr>
          <p:cNvPr id="85087" name="图片 85086">
            <a:extLst>
              <a:ext uri="{FF2B5EF4-FFF2-40B4-BE49-F238E27FC236}">
                <a16:creationId xmlns:a16="http://schemas.microsoft.com/office/drawing/2014/main" id="{E4D193D6-F0D0-19C1-9B1F-DED2CA4371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2070" y="90485"/>
            <a:ext cx="3455988" cy="28252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Picture 4"/>
          <p:cNvPicPr>
            <a:picLocks noChangeAspect="1"/>
          </p:cNvPicPr>
          <p:nvPr/>
        </p:nvPicPr>
        <p:blipFill>
          <a:blip r:embed="rId3"/>
          <a:srcRect t="4437" b="7118"/>
          <a:stretch>
            <a:fillRect/>
          </a:stretch>
        </p:blipFill>
        <p:spPr>
          <a:xfrm>
            <a:off x="1331913" y="3573463"/>
            <a:ext cx="6156325" cy="2879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7042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150" y="0"/>
            <a:ext cx="4716463" cy="35163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0" name="Text Box 8"/>
          <p:cNvSpPr txBox="1"/>
          <p:nvPr/>
        </p:nvSpPr>
        <p:spPr>
          <a:xfrm>
            <a:off x="395288" y="836613"/>
            <a:ext cx="34766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零频幅值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400" b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1" name="Text Box 9"/>
          <p:cNvSpPr txBox="1"/>
          <p:nvPr/>
        </p:nvSpPr>
        <p:spPr>
          <a:xfrm>
            <a:off x="395288" y="4508500"/>
            <a:ext cx="34766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复现频率</a:t>
            </a:r>
            <a:r>
              <a:rPr lang="zh-CN" altLang="en-US" sz="2000" b="1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="1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</a:p>
        </p:txBody>
      </p:sp>
      <p:pic>
        <p:nvPicPr>
          <p:cNvPr id="8909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663" y="0"/>
            <a:ext cx="4859337" cy="36226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sp>
        <p:nvSpPr>
          <p:cNvPr id="33803" name="Text Box 11"/>
          <p:cNvSpPr txBox="1"/>
          <p:nvPr/>
        </p:nvSpPr>
        <p:spPr>
          <a:xfrm>
            <a:off x="323850" y="1628775"/>
            <a:ext cx="3960813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表示频率接近于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时，系统输出幅值与输入幅值之比。</a:t>
            </a:r>
          </a:p>
        </p:txBody>
      </p:sp>
      <p:sp>
        <p:nvSpPr>
          <p:cNvPr id="33804" name="Text Box 12"/>
          <p:cNvSpPr txBox="1"/>
          <p:nvPr/>
        </p:nvSpPr>
        <p:spPr>
          <a:xfrm>
            <a:off x="539750" y="2636838"/>
            <a:ext cx="4248150" cy="1844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通过零频幅值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M(0)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是否为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，可判断系统是否为无静差系统。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M(0)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值越接近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，有差系统的稳态误差越小。</a:t>
            </a:r>
          </a:p>
        </p:txBody>
      </p:sp>
      <p:sp>
        <p:nvSpPr>
          <p:cNvPr id="33805" name="Text Box 13"/>
          <p:cNvSpPr txBox="1"/>
          <p:nvPr/>
        </p:nvSpPr>
        <p:spPr>
          <a:xfrm>
            <a:off x="827088" y="4941888"/>
            <a:ext cx="7704137" cy="12969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取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为反映低频输入信号的允许误差， </a:t>
            </a:r>
            <a:r>
              <a:rPr lang="en-US" altLang="zh-CN" sz="2400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为闭环幅频特性与零频幅值之差第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次达到时的频率，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0~ </a:t>
            </a:r>
            <a:r>
              <a:rPr lang="en-US" altLang="zh-CN" sz="2400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频率范围称为复现带宽。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0" grpId="0"/>
      <p:bldP spid="33801" grpId="0"/>
      <p:bldP spid="33803" grpId="0"/>
      <p:bldP spid="33804" grpId="0"/>
      <p:bldP spid="3380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38" name="Text Box 34"/>
          <p:cNvSpPr txBox="1"/>
          <p:nvPr/>
        </p:nvSpPr>
        <p:spPr>
          <a:xfrm>
            <a:off x="755650" y="1125538"/>
            <a:ext cx="34766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相对谐振峰值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, M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23939" name="Text Box 35"/>
          <p:cNvSpPr txBox="1"/>
          <p:nvPr/>
        </p:nvSpPr>
        <p:spPr>
          <a:xfrm>
            <a:off x="684213" y="2349500"/>
            <a:ext cx="304958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=M(j)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max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/M(0)</a:t>
            </a:r>
            <a:endParaRPr lang="en-US" altLang="zh-CN" sz="2400" b="1" baseline="-25000" dirty="0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23941" name="Text Box 37"/>
          <p:cNvSpPr txBox="1"/>
          <p:nvPr/>
        </p:nvSpPr>
        <p:spPr>
          <a:xfrm>
            <a:off x="611188" y="3716338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谐振频率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</a:p>
        </p:txBody>
      </p:sp>
      <p:sp>
        <p:nvSpPr>
          <p:cNvPr id="123942" name="Text Box 38"/>
          <p:cNvSpPr txBox="1"/>
          <p:nvPr/>
        </p:nvSpPr>
        <p:spPr>
          <a:xfrm>
            <a:off x="755650" y="4581525"/>
            <a:ext cx="7985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对应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处的频率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通常该频率反映闭环系统的响应速度。 </a:t>
            </a:r>
          </a:p>
        </p:txBody>
      </p:sp>
      <p:pic>
        <p:nvPicPr>
          <p:cNvPr id="91141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663" y="0"/>
            <a:ext cx="4859337" cy="36226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12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2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38" grpId="0"/>
      <p:bldP spid="123939" grpId="0"/>
      <p:bldP spid="123941" grpId="0"/>
      <p:bldP spid="12394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971550" y="1989138"/>
            <a:ext cx="13843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令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s=j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, </a:t>
            </a:r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2484438" y="1916113"/>
          <a:ext cx="4946650" cy="171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628900" imgH="914400" progId="Equation.DSMT4">
                  <p:embed/>
                </p:oleObj>
              </mc:Choice>
              <mc:Fallback>
                <p:oleObj r:id="rId3" imgW="2628900" imgH="9144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4438" y="1916113"/>
                        <a:ext cx="4946650" cy="171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Text Box 4"/>
          <p:cNvSpPr txBox="1"/>
          <p:nvPr/>
        </p:nvSpPr>
        <p:spPr>
          <a:xfrm>
            <a:off x="1042988" y="836613"/>
            <a:ext cx="33321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对于标准的二阶系统： </a:t>
            </a:r>
          </a:p>
        </p:txBody>
      </p:sp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4500563" y="549275"/>
          <a:ext cx="425608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55800" imgH="457200" progId="Equation.DSMT4">
                  <p:embed/>
                </p:oleObj>
              </mc:Choice>
              <mc:Fallback>
                <p:oleObj r:id="rId3" imgW="1955800" imgH="4572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00563" y="549275"/>
                        <a:ext cx="4256087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/>
          <p:nvPr/>
        </p:nvGrpSpPr>
        <p:grpSpPr>
          <a:xfrm>
            <a:off x="3708400" y="4437063"/>
            <a:ext cx="2978150" cy="647700"/>
            <a:chOff x="1791" y="2750"/>
            <a:chExt cx="1876" cy="408"/>
          </a:xfrm>
        </p:grpSpPr>
        <p:graphicFrame>
          <p:nvGraphicFramePr>
            <p:cNvPr id="93190" name="Object 10"/>
            <p:cNvGraphicFramePr>
              <a:graphicFrameLocks noChangeAspect="1"/>
            </p:cNvGraphicFramePr>
            <p:nvPr/>
          </p:nvGraphicFramePr>
          <p:xfrm>
            <a:off x="2200" y="2750"/>
            <a:ext cx="1467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914400" imgH="254000" progId="Equation.3">
                    <p:embed/>
                  </p:oleObj>
                </mc:Choice>
                <mc:Fallback>
                  <p:oleObj r:id="rId3" imgW="914400" imgH="25400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00" y="2750"/>
                          <a:ext cx="1467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191" name="AutoShape 11"/>
            <p:cNvSpPr/>
            <p:nvPr/>
          </p:nvSpPr>
          <p:spPr>
            <a:xfrm>
              <a:off x="1791" y="2976"/>
              <a:ext cx="182" cy="46"/>
            </a:xfrm>
            <a:prstGeom prst="rightArrow">
              <a:avLst>
                <a:gd name="adj1" fmla="val 50000"/>
                <a:gd name="adj2" fmla="val 98839"/>
              </a:avLst>
            </a:prstGeom>
            <a:solidFill>
              <a:schemeClr val="accent1"/>
            </a:solidFill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Text Box 9"/>
          <p:cNvSpPr txBox="1"/>
          <p:nvPr/>
        </p:nvSpPr>
        <p:spPr>
          <a:xfrm>
            <a:off x="2843213" y="5805488"/>
            <a:ext cx="530383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表示只有当阻尼比小于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0.707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时，存在谐振 。 </a:t>
            </a: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1476375" y="5157788"/>
          <a:ext cx="28003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57300" imgH="228600" progId="Equation.3">
                  <p:embed/>
                </p:oleObj>
              </mc:Choice>
              <mc:Fallback>
                <p:oleObj r:id="rId3" imgW="1257300" imgH="2286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76375" y="5157788"/>
                        <a:ext cx="2800350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331913" y="4076700"/>
            <a:ext cx="2954337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令幅值对频率求导，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20" grpId="0"/>
      <p:bldP spid="9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/>
          <p:nvPr/>
        </p:nvSpPr>
        <p:spPr>
          <a:xfrm>
            <a:off x="1331913" y="692150"/>
            <a:ext cx="5476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代入幅值计算公式，可获得谐振峰值： </a:t>
            </a: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2195513" y="1916113"/>
          <a:ext cx="3960812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87500" imgH="419100" progId="Equation.3">
                  <p:embed/>
                </p:oleObj>
              </mc:Choice>
              <mc:Fallback>
                <p:oleObj r:id="rId3" imgW="1587500" imgH="4191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513" y="1916113"/>
                        <a:ext cx="3960812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4"/>
          <p:cNvSpPr txBox="1"/>
          <p:nvPr/>
        </p:nvSpPr>
        <p:spPr>
          <a:xfrm>
            <a:off x="1042988" y="3213100"/>
            <a:ext cx="7200900" cy="1844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一般来说，谐振峰值可以反映闭环稳定系统的相对稳定性 。通常讲，谐振峰值越大，系统阶跃响应的超调量就越大 。对于大多数控制系统来说，谐振峰值的最佳取值为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1.1 ~ 1.5.</a:t>
            </a:r>
          </a:p>
        </p:txBody>
      </p:sp>
      <p:sp>
        <p:nvSpPr>
          <p:cNvPr id="37893" name="Line 5"/>
          <p:cNvSpPr/>
          <p:nvPr/>
        </p:nvSpPr>
        <p:spPr>
          <a:xfrm flipV="1">
            <a:off x="6372225" y="2276475"/>
            <a:ext cx="287338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894" name="Text Box 6"/>
          <p:cNvSpPr txBox="1"/>
          <p:nvPr/>
        </p:nvSpPr>
        <p:spPr>
          <a:xfrm>
            <a:off x="6699250" y="1901825"/>
            <a:ext cx="1335088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仅和阻尼比</a:t>
            </a:r>
          </a:p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 有关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2" grpId="0"/>
      <p:bldP spid="3789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/>
          <p:nvPr/>
        </p:nvSpPr>
        <p:spPr>
          <a:xfrm>
            <a:off x="900113" y="836613"/>
            <a:ext cx="23796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截止频率 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38915" name="Text Box 3"/>
          <p:cNvSpPr txBox="1"/>
          <p:nvPr/>
        </p:nvSpPr>
        <p:spPr>
          <a:xfrm>
            <a:off x="1116013" y="1628775"/>
            <a:ext cx="7488237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截止频率指闭环幅频特性值下降至零频幅值的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70.7%,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或闭环对数幅频特性值下降至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- 3 dB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时的频率。</a:t>
            </a:r>
          </a:p>
        </p:txBody>
      </p:sp>
      <p:pic>
        <p:nvPicPr>
          <p:cNvPr id="38921" name="Picture 9"/>
          <p:cNvPicPr>
            <a:picLocks noChangeAspect="1"/>
          </p:cNvPicPr>
          <p:nvPr/>
        </p:nvPicPr>
        <p:blipFill>
          <a:blip r:embed="rId3"/>
          <a:srcRect t="4437" b="7118"/>
          <a:stretch>
            <a:fillRect/>
          </a:stretch>
        </p:blipFill>
        <p:spPr>
          <a:xfrm>
            <a:off x="3995738" y="2708275"/>
            <a:ext cx="5003800" cy="2339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22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3141663"/>
            <a:ext cx="3708400" cy="27654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/>
          <p:nvPr/>
        </p:nvSpPr>
        <p:spPr>
          <a:xfrm>
            <a:off x="755650" y="3883025"/>
            <a:ext cx="1276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带宽 </a:t>
            </a:r>
          </a:p>
        </p:txBody>
      </p:sp>
      <p:sp>
        <p:nvSpPr>
          <p:cNvPr id="39939" name="Text Box 3"/>
          <p:cNvSpPr txBox="1"/>
          <p:nvPr/>
        </p:nvSpPr>
        <p:spPr>
          <a:xfrm>
            <a:off x="1042988" y="4652963"/>
            <a:ext cx="60436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闭环系统幅值不低于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-3dB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对应的频率范围。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40" name="Text Box 4"/>
          <p:cNvSpPr txBox="1"/>
          <p:nvPr/>
        </p:nvSpPr>
        <p:spPr>
          <a:xfrm>
            <a:off x="1042988" y="5354638"/>
            <a:ext cx="6840537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带宽越大，控制系统的响应速度越快。但抑制噪声能力减弱。</a:t>
            </a:r>
          </a:p>
        </p:txBody>
      </p:sp>
      <p:sp>
        <p:nvSpPr>
          <p:cNvPr id="39941" name="Text Box 5"/>
          <p:cNvSpPr txBox="1"/>
          <p:nvPr/>
        </p:nvSpPr>
        <p:spPr>
          <a:xfrm>
            <a:off x="827088" y="260350"/>
            <a:ext cx="24018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对于二阶系统： </a:t>
            </a:r>
          </a:p>
        </p:txBody>
      </p:sp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2359025" y="649288"/>
          <a:ext cx="4824413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19300" imgH="381000" progId="Equation.3">
                  <p:embed/>
                </p:oleObj>
              </mc:Choice>
              <mc:Fallback>
                <p:oleObj r:id="rId3" imgW="2019300" imgH="3810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9025" y="649288"/>
                        <a:ext cx="4824413" cy="909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Text Box 7"/>
          <p:cNvSpPr txBox="1"/>
          <p:nvPr/>
        </p:nvSpPr>
        <p:spPr>
          <a:xfrm>
            <a:off x="900113" y="1608138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可求出</a:t>
            </a:r>
          </a:p>
        </p:txBody>
      </p:sp>
      <p:graphicFrame>
        <p:nvGraphicFramePr>
          <p:cNvPr id="39944" name="Object 8"/>
          <p:cNvGraphicFramePr>
            <a:graphicFrameLocks noChangeAspect="1"/>
          </p:cNvGraphicFramePr>
          <p:nvPr/>
        </p:nvGraphicFramePr>
        <p:xfrm>
          <a:off x="2287588" y="1873250"/>
          <a:ext cx="5113337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81200" imgH="381000" progId="Equation.3">
                  <p:embed/>
                </p:oleObj>
              </mc:Choice>
              <mc:Fallback>
                <p:oleObj r:id="rId3" imgW="1981200" imgH="3810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7588" y="1873250"/>
                        <a:ext cx="5113337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Text Box 9"/>
          <p:cNvSpPr txBox="1"/>
          <p:nvPr/>
        </p:nvSpPr>
        <p:spPr>
          <a:xfrm>
            <a:off x="1135063" y="3025775"/>
            <a:ext cx="4953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也反映一个稳定系统的响应速度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39" grpId="0"/>
      <p:bldP spid="39940" grpId="0"/>
      <p:bldP spid="39941" grpId="0"/>
      <p:bldP spid="39943" grpId="0"/>
      <p:bldP spid="3994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ext Box 4"/>
          <p:cNvSpPr txBox="1"/>
          <p:nvPr/>
        </p:nvSpPr>
        <p:spPr>
          <a:xfrm>
            <a:off x="2124075" y="692150"/>
            <a:ext cx="341630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频率特性</a:t>
            </a:r>
          </a:p>
        </p:txBody>
      </p:sp>
      <p:sp>
        <p:nvSpPr>
          <p:cNvPr id="101378" name="Rectangle 5"/>
          <p:cNvSpPr/>
          <p:nvPr/>
        </p:nvSpPr>
        <p:spPr>
          <a:xfrm>
            <a:off x="1403350" y="2522538"/>
            <a:ext cx="5562600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101379" name="Rectangle 6"/>
          <p:cNvSpPr/>
          <p:nvPr/>
        </p:nvSpPr>
        <p:spPr>
          <a:xfrm>
            <a:off x="1403350" y="3132138"/>
            <a:ext cx="5486400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101380" name="Rectangle 8"/>
          <p:cNvSpPr/>
          <p:nvPr/>
        </p:nvSpPr>
        <p:spPr>
          <a:xfrm>
            <a:off x="1403350" y="3643313"/>
            <a:ext cx="5545138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101381" name="Rectangle 9"/>
          <p:cNvSpPr/>
          <p:nvPr/>
        </p:nvSpPr>
        <p:spPr>
          <a:xfrm>
            <a:off x="1403350" y="4291013"/>
            <a:ext cx="6553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101382" name="Rectangle 11"/>
          <p:cNvSpPr/>
          <p:nvPr/>
        </p:nvSpPr>
        <p:spPr>
          <a:xfrm>
            <a:off x="1403350" y="1916113"/>
            <a:ext cx="4648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101383" name="Rectangle 9"/>
          <p:cNvSpPr/>
          <p:nvPr/>
        </p:nvSpPr>
        <p:spPr>
          <a:xfrm>
            <a:off x="1403350" y="4899025"/>
            <a:ext cx="6553200" cy="6080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101384" name="Rectangle 9"/>
          <p:cNvSpPr/>
          <p:nvPr/>
        </p:nvSpPr>
        <p:spPr>
          <a:xfrm>
            <a:off x="1403350" y="5451475"/>
            <a:ext cx="6913563" cy="674688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3"/>
          <p:cNvSpPr/>
          <p:nvPr/>
        </p:nvSpPr>
        <p:spPr>
          <a:xfrm>
            <a:off x="468313" y="458788"/>
            <a:ext cx="6840537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控制系统设计的性能指标及指标转换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2" name="Text Box 4"/>
          <p:cNvSpPr txBox="1"/>
          <p:nvPr/>
        </p:nvSpPr>
        <p:spPr>
          <a:xfrm>
            <a:off x="1219200" y="1981200"/>
            <a:ext cx="7086600" cy="5826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稳态精度：稳态误差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ss</a:t>
            </a:r>
          </a:p>
        </p:txBody>
      </p:sp>
      <p:sp>
        <p:nvSpPr>
          <p:cNvPr id="22533" name="Text Box 5"/>
          <p:cNvSpPr txBox="1"/>
          <p:nvPr/>
        </p:nvSpPr>
        <p:spPr>
          <a:xfrm>
            <a:off x="1219200" y="2590800"/>
            <a:ext cx="7086600" cy="5826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过渡过程响应特性</a:t>
            </a:r>
          </a:p>
        </p:txBody>
      </p:sp>
      <p:sp>
        <p:nvSpPr>
          <p:cNvPr id="22536" name="Text Box 8"/>
          <p:cNvSpPr txBox="1"/>
          <p:nvPr/>
        </p:nvSpPr>
        <p:spPr>
          <a:xfrm>
            <a:off x="1600200" y="3160713"/>
            <a:ext cx="7086600" cy="209232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时域：上升时间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、超调量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、调节时间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频域：谐振峰值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、谐振频率</a:t>
            </a:r>
            <a:r>
              <a:rPr lang="zh-CN" altLang="en-US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、带宽</a:t>
            </a:r>
            <a:r>
              <a:rPr lang="zh-CN" altLang="en-US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增益交界频率</a:t>
            </a:r>
            <a:r>
              <a:rPr lang="zh-CN" altLang="en-US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、增益裕量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Kg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、相位</a:t>
            </a:r>
          </a:p>
          <a:p>
            <a:pPr>
              <a:lnSpc>
                <a:spcPct val="115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     裕量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69638" name="Rectangle 3"/>
          <p:cNvSpPr/>
          <p:nvPr/>
        </p:nvSpPr>
        <p:spPr>
          <a:xfrm>
            <a:off x="827088" y="1158875"/>
            <a:ext cx="6840537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控制系统设计的性能指标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3" grpId="0"/>
      <p:bldP spid="22536" grpId="0"/>
      <p:bldP spid="6963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3"/>
          <p:cNvSpPr/>
          <p:nvPr/>
        </p:nvSpPr>
        <p:spPr>
          <a:xfrm>
            <a:off x="539750" y="357188"/>
            <a:ext cx="6840538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控制系统设计的性能指标及指标转换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0" name="Rectangle 3"/>
          <p:cNvSpPr/>
          <p:nvPr/>
        </p:nvSpPr>
        <p:spPr>
          <a:xfrm>
            <a:off x="790575" y="1036638"/>
            <a:ext cx="7489825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控制系统设计的指标转换（二阶欠阻尼系统）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1" name="TextBox 3"/>
          <p:cNvSpPr txBox="1"/>
          <p:nvPr/>
        </p:nvSpPr>
        <p:spPr>
          <a:xfrm>
            <a:off x="971550" y="1989138"/>
            <a:ext cx="712787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）反映系统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阻尼程度（平稳性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）的指标之间的关系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339975" y="2708275"/>
          <a:ext cx="3621088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65300" imgH="1651000" progId="Equation.3">
                  <p:embed/>
                </p:oleObj>
              </mc:Choice>
              <mc:Fallback>
                <p:oleObj r:id="rId2" imgW="1765300" imgH="16510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39975" y="2708275"/>
                        <a:ext cx="3621088" cy="338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410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3"/>
          <p:cNvSpPr/>
          <p:nvPr/>
        </p:nvSpPr>
        <p:spPr>
          <a:xfrm>
            <a:off x="611188" y="354013"/>
            <a:ext cx="6840537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控制系统设计的性能指标及指标转换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498" name="Rectangle 3"/>
          <p:cNvSpPr/>
          <p:nvPr/>
        </p:nvSpPr>
        <p:spPr>
          <a:xfrm>
            <a:off x="827088" y="1049338"/>
            <a:ext cx="7489825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控制系统设计的指标转换（二阶欠阻尼系统）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6" name="TextBox 3"/>
          <p:cNvSpPr txBox="1"/>
          <p:nvPr/>
        </p:nvSpPr>
        <p:spPr>
          <a:xfrm>
            <a:off x="971550" y="1989138"/>
            <a:ext cx="589597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）反映系统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响应快速性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的指标之间的关系</a:t>
            </a: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323850" y="2636838"/>
          <a:ext cx="4056063" cy="271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11400" imgH="1549400" progId="Equation.3">
                  <p:embed/>
                </p:oleObj>
              </mc:Choice>
              <mc:Fallback>
                <p:oleObj r:id="rId2" imgW="2311400" imgH="15494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3850" y="2636838"/>
                        <a:ext cx="4056063" cy="2719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4"/>
          <p:cNvGraphicFramePr>
            <a:graphicFrameLocks noChangeAspect="1"/>
          </p:cNvGraphicFramePr>
          <p:nvPr/>
        </p:nvGraphicFramePr>
        <p:xfrm>
          <a:off x="4932363" y="2708275"/>
          <a:ext cx="3952875" cy="266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36800" imgH="1574800" progId="Equation.3">
                  <p:embed/>
                </p:oleObj>
              </mc:Choice>
              <mc:Fallback>
                <p:oleObj r:id="rId2" imgW="2336800" imgH="15748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2363" y="2708275"/>
                        <a:ext cx="3952875" cy="2665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TextBox 7"/>
          <p:cNvSpPr txBox="1"/>
          <p:nvPr/>
        </p:nvSpPr>
        <p:spPr>
          <a:xfrm>
            <a:off x="4211638" y="3429000"/>
            <a:ext cx="492125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  <p:bldP spid="51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3"/>
          <p:cNvSpPr/>
          <p:nvPr/>
        </p:nvSpPr>
        <p:spPr>
          <a:xfrm>
            <a:off x="539750" y="404813"/>
            <a:ext cx="6840538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控制系统设计的性能指标及指标转换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" name="Rectangle 3"/>
          <p:cNvSpPr/>
          <p:nvPr/>
        </p:nvSpPr>
        <p:spPr>
          <a:xfrm>
            <a:off x="827088" y="950913"/>
            <a:ext cx="7489825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控制系统设计的指标转换（高阶系统）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" name="TextBox 3"/>
          <p:cNvSpPr txBox="1"/>
          <p:nvPr/>
        </p:nvSpPr>
        <p:spPr>
          <a:xfrm>
            <a:off x="971550" y="1989138"/>
            <a:ext cx="2338388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一组经验公式：</a:t>
            </a: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1547813" y="2997200"/>
          <a:ext cx="5167312" cy="221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41600" imgH="1130300" progId="Equation.3">
                  <p:embed/>
                </p:oleObj>
              </mc:Choice>
              <mc:Fallback>
                <p:oleObj r:id="rId2" imgW="2641600" imgH="11303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47813" y="2997200"/>
                        <a:ext cx="5167312" cy="2211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4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ext Box 4"/>
          <p:cNvSpPr txBox="1"/>
          <p:nvPr/>
        </p:nvSpPr>
        <p:spPr>
          <a:xfrm>
            <a:off x="2124075" y="692150"/>
            <a:ext cx="341630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频率特性</a:t>
            </a:r>
          </a:p>
        </p:txBody>
      </p:sp>
      <p:sp>
        <p:nvSpPr>
          <p:cNvPr id="108546" name="Rectangle 5"/>
          <p:cNvSpPr/>
          <p:nvPr/>
        </p:nvSpPr>
        <p:spPr>
          <a:xfrm>
            <a:off x="1403350" y="2522538"/>
            <a:ext cx="5562600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108547" name="Rectangle 6"/>
          <p:cNvSpPr/>
          <p:nvPr/>
        </p:nvSpPr>
        <p:spPr>
          <a:xfrm>
            <a:off x="1403350" y="3132138"/>
            <a:ext cx="5486400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108548" name="Rectangle 8"/>
          <p:cNvSpPr/>
          <p:nvPr/>
        </p:nvSpPr>
        <p:spPr>
          <a:xfrm>
            <a:off x="1403350" y="3643313"/>
            <a:ext cx="5545138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108549" name="Rectangle 9"/>
          <p:cNvSpPr/>
          <p:nvPr/>
        </p:nvSpPr>
        <p:spPr>
          <a:xfrm>
            <a:off x="1403350" y="4291013"/>
            <a:ext cx="6553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108550" name="Rectangle 11"/>
          <p:cNvSpPr/>
          <p:nvPr/>
        </p:nvSpPr>
        <p:spPr>
          <a:xfrm>
            <a:off x="1403350" y="1916113"/>
            <a:ext cx="4648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108551" name="Rectangle 9"/>
          <p:cNvSpPr/>
          <p:nvPr/>
        </p:nvSpPr>
        <p:spPr>
          <a:xfrm>
            <a:off x="1403350" y="4899025"/>
            <a:ext cx="6553200" cy="6080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108552" name="Rectangle 9"/>
          <p:cNvSpPr/>
          <p:nvPr/>
        </p:nvSpPr>
        <p:spPr>
          <a:xfrm>
            <a:off x="1403350" y="5451475"/>
            <a:ext cx="6913563" cy="6080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5"/>
          <p:cNvSpPr/>
          <p:nvPr/>
        </p:nvSpPr>
        <p:spPr>
          <a:xfrm>
            <a:off x="-23812" y="115888"/>
            <a:ext cx="4892675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希望对数幅频特性曲线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0594" name="TextBox 3"/>
          <p:cNvSpPr txBox="1"/>
          <p:nvPr/>
        </p:nvSpPr>
        <p:spPr>
          <a:xfrm>
            <a:off x="0" y="631825"/>
            <a:ext cx="7894638" cy="954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低频段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提供尽可能高的增益和较大的斜率，以满足系统稳态误差的要求；</a:t>
            </a:r>
          </a:p>
        </p:txBody>
      </p:sp>
      <p:pic>
        <p:nvPicPr>
          <p:cNvPr id="110595" name="图片 1"/>
          <p:cNvPicPr>
            <a:picLocks noChangeAspect="1"/>
          </p:cNvPicPr>
          <p:nvPr/>
        </p:nvPicPr>
        <p:blipFill>
          <a:blip r:embed="rId2"/>
          <a:srcRect l="7037" t="51050" r="8379" b="6950"/>
          <a:stretch>
            <a:fillRect/>
          </a:stretch>
        </p:blipFill>
        <p:spPr>
          <a:xfrm>
            <a:off x="827088" y="1652588"/>
            <a:ext cx="3984625" cy="25288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596" name="图片 2"/>
          <p:cNvPicPr>
            <a:picLocks noChangeAspect="1"/>
          </p:cNvPicPr>
          <p:nvPr/>
        </p:nvPicPr>
        <p:blipFill>
          <a:blip r:embed="rId3"/>
          <a:srcRect l="13596" t="44749" r="6593" b="12201"/>
          <a:stretch>
            <a:fillRect/>
          </a:stretch>
        </p:blipFill>
        <p:spPr>
          <a:xfrm>
            <a:off x="5008563" y="1560513"/>
            <a:ext cx="3722687" cy="2678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597" name="图片 3"/>
          <p:cNvPicPr>
            <a:picLocks noChangeAspect="1"/>
          </p:cNvPicPr>
          <p:nvPr/>
        </p:nvPicPr>
        <p:blipFill>
          <a:blip r:embed="rId4"/>
          <a:srcRect l="15070" t="35300" r="6685" b="23750"/>
          <a:stretch>
            <a:fillRect/>
          </a:stretch>
        </p:blipFill>
        <p:spPr>
          <a:xfrm>
            <a:off x="2555875" y="4164013"/>
            <a:ext cx="3898900" cy="2716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extBox 4"/>
          <p:cNvSpPr txBox="1"/>
          <p:nvPr/>
        </p:nvSpPr>
        <p:spPr>
          <a:xfrm>
            <a:off x="250825" y="333375"/>
            <a:ext cx="7896225" cy="954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中频段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穿越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0dB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线的斜率限制在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-20dB/dec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左右，并保证足够带宽，以满足系统稳定性的要求；</a:t>
            </a:r>
          </a:p>
        </p:txBody>
      </p:sp>
      <p:pic>
        <p:nvPicPr>
          <p:cNvPr id="111618" name="图片 3"/>
          <p:cNvPicPr>
            <a:picLocks noChangeAspect="1"/>
          </p:cNvPicPr>
          <p:nvPr/>
        </p:nvPicPr>
        <p:blipFill>
          <a:blip r:embed="rId2"/>
          <a:srcRect l="9801" t="41599" r="3389" b="16402"/>
          <a:stretch>
            <a:fillRect/>
          </a:stretch>
        </p:blipFill>
        <p:spPr>
          <a:xfrm>
            <a:off x="9525" y="1835150"/>
            <a:ext cx="4465638" cy="2881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619" name="图片 4"/>
          <p:cNvPicPr>
            <a:picLocks noChangeAspect="1"/>
          </p:cNvPicPr>
          <p:nvPr/>
        </p:nvPicPr>
        <p:blipFill>
          <a:blip r:embed="rId3"/>
          <a:srcRect l="7996" t="35300" r="2394" b="17450"/>
          <a:stretch>
            <a:fillRect/>
          </a:stretch>
        </p:blipFill>
        <p:spPr>
          <a:xfrm>
            <a:off x="4518025" y="1476375"/>
            <a:ext cx="4608513" cy="3240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001861" y="5157192"/>
            <a:ext cx="4394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和</a:t>
            </a:r>
            <a:r>
              <a:rPr lang="en-US" altLang="zh-CN" sz="2800" dirty="0"/>
              <a:t>-40</a:t>
            </a:r>
            <a:r>
              <a:rPr lang="zh-CN" altLang="en-US" sz="2800" dirty="0"/>
              <a:t>斜率穿越做比较分析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extBox 5"/>
          <p:cNvSpPr txBox="1"/>
          <p:nvPr/>
        </p:nvSpPr>
        <p:spPr>
          <a:xfrm>
            <a:off x="395288" y="692150"/>
            <a:ext cx="7894637" cy="954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高频段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应尽可能快地衰减，以减小高频噪声对系统的干扰。</a:t>
            </a:r>
          </a:p>
        </p:txBody>
      </p:sp>
      <p:grpSp>
        <p:nvGrpSpPr>
          <p:cNvPr id="3" name="Group 4"/>
          <p:cNvGrpSpPr/>
          <p:nvPr/>
        </p:nvGrpSpPr>
        <p:grpSpPr>
          <a:xfrm>
            <a:off x="1670050" y="1916113"/>
            <a:ext cx="5346700" cy="3657600"/>
            <a:chOff x="816" y="1200"/>
            <a:chExt cx="3368" cy="2304"/>
          </a:xfrm>
        </p:grpSpPr>
        <p:sp>
          <p:nvSpPr>
            <p:cNvPr id="112643" name="Rectangle 5" descr="宽上对角线"/>
            <p:cNvSpPr/>
            <p:nvPr/>
          </p:nvSpPr>
          <p:spPr>
            <a:xfrm>
              <a:off x="3408" y="2112"/>
              <a:ext cx="96" cy="139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222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  <a:ea typeface="仿宋_GB2312"/>
              </a:endParaRPr>
            </a:p>
          </p:txBody>
        </p:sp>
        <p:sp>
          <p:nvSpPr>
            <p:cNvPr id="112644" name="Line 6"/>
            <p:cNvSpPr/>
            <p:nvPr/>
          </p:nvSpPr>
          <p:spPr>
            <a:xfrm>
              <a:off x="1008" y="2112"/>
              <a:ext cx="3120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12645" name="Line 7"/>
            <p:cNvSpPr/>
            <p:nvPr/>
          </p:nvSpPr>
          <p:spPr>
            <a:xfrm flipV="1">
              <a:off x="1008" y="1280"/>
              <a:ext cx="0" cy="217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12646" name="Line 8"/>
            <p:cNvSpPr/>
            <p:nvPr/>
          </p:nvSpPr>
          <p:spPr>
            <a:xfrm>
              <a:off x="1392" y="1920"/>
              <a:ext cx="1028" cy="384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47" name="Line 9"/>
            <p:cNvSpPr/>
            <p:nvPr/>
          </p:nvSpPr>
          <p:spPr>
            <a:xfrm>
              <a:off x="2420" y="2304"/>
              <a:ext cx="412" cy="28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48" name="Line 10"/>
            <p:cNvSpPr/>
            <p:nvPr/>
          </p:nvSpPr>
          <p:spPr>
            <a:xfrm flipV="1">
              <a:off x="2420" y="2112"/>
              <a:ext cx="0" cy="52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12649" name="Text Box 11"/>
            <p:cNvSpPr txBox="1"/>
            <p:nvPr/>
          </p:nvSpPr>
          <p:spPr>
            <a:xfrm>
              <a:off x="816" y="1968"/>
              <a:ext cx="212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0</a:t>
              </a:r>
            </a:p>
          </p:txBody>
        </p:sp>
        <p:sp>
          <p:nvSpPr>
            <p:cNvPr id="112650" name="Text Box 12"/>
            <p:cNvSpPr txBox="1"/>
            <p:nvPr/>
          </p:nvSpPr>
          <p:spPr>
            <a:xfrm>
              <a:off x="3936" y="2064"/>
              <a:ext cx="248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ea typeface="仿宋_GB2312"/>
                  <a:sym typeface="Symbol" panose="05050102010706020507" pitchFamily="18" charset="2"/>
                </a:rPr>
                <a:t></a:t>
              </a:r>
              <a:endParaRPr lang="en-US" altLang="zh-CN" i="1" dirty="0">
                <a:latin typeface="Times New Roman" panose="02020603050405020304" pitchFamily="18" charset="0"/>
                <a:ea typeface="仿宋_GB2312"/>
              </a:endParaRPr>
            </a:p>
          </p:txBody>
        </p:sp>
        <p:sp>
          <p:nvSpPr>
            <p:cNvPr id="112651" name="Text Box 13"/>
            <p:cNvSpPr txBox="1"/>
            <p:nvPr/>
          </p:nvSpPr>
          <p:spPr>
            <a:xfrm>
              <a:off x="1008" y="1200"/>
              <a:ext cx="483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ea typeface="仿宋_GB2312"/>
                </a:rPr>
                <a:t>L</a:t>
              </a:r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  <a:ea typeface="仿宋_GB2312"/>
                  <a:sym typeface="Symbol" panose="05050102010706020507" pitchFamily="18" charset="2"/>
                </a:rPr>
                <a:t></a:t>
              </a:r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)</a:t>
              </a:r>
            </a:p>
          </p:txBody>
        </p:sp>
        <p:sp>
          <p:nvSpPr>
            <p:cNvPr id="112652" name="Text Box 14"/>
            <p:cNvSpPr txBox="1"/>
            <p:nvPr/>
          </p:nvSpPr>
          <p:spPr>
            <a:xfrm>
              <a:off x="1748" y="2040"/>
              <a:ext cx="384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ea typeface="仿宋_GB2312"/>
                  <a:sym typeface="Symbol" panose="05050102010706020507" pitchFamily="18" charset="2"/>
                </a:rPr>
                <a:t></a:t>
              </a:r>
              <a:r>
                <a:rPr lang="en-US" altLang="zh-CN" i="1" baseline="-18000" dirty="0">
                  <a:latin typeface="Times New Roman" panose="02020603050405020304" pitchFamily="18" charset="0"/>
                  <a:ea typeface="仿宋_GB2312"/>
                </a:rPr>
                <a:t>c</a:t>
              </a:r>
            </a:p>
          </p:txBody>
        </p:sp>
        <p:sp>
          <p:nvSpPr>
            <p:cNvPr id="112653" name="Text Box 15"/>
            <p:cNvSpPr txBox="1"/>
            <p:nvPr/>
          </p:nvSpPr>
          <p:spPr>
            <a:xfrm>
              <a:off x="1644" y="1824"/>
              <a:ext cx="372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-20</a:t>
              </a:r>
            </a:p>
          </p:txBody>
        </p:sp>
        <p:sp>
          <p:nvSpPr>
            <p:cNvPr id="112654" name="Text Box 16"/>
            <p:cNvSpPr txBox="1"/>
            <p:nvPr/>
          </p:nvSpPr>
          <p:spPr>
            <a:xfrm>
              <a:off x="2460" y="2160"/>
              <a:ext cx="372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-40</a:t>
              </a:r>
            </a:p>
          </p:txBody>
        </p:sp>
        <p:sp>
          <p:nvSpPr>
            <p:cNvPr id="112655" name="Line 17"/>
            <p:cNvSpPr/>
            <p:nvPr/>
          </p:nvSpPr>
          <p:spPr>
            <a:xfrm>
              <a:off x="1008" y="1680"/>
              <a:ext cx="384" cy="24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56" name="Text Box 18"/>
            <p:cNvSpPr txBox="1"/>
            <p:nvPr/>
          </p:nvSpPr>
          <p:spPr>
            <a:xfrm>
              <a:off x="1200" y="1584"/>
              <a:ext cx="372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-40</a:t>
              </a:r>
            </a:p>
          </p:txBody>
        </p:sp>
        <p:sp>
          <p:nvSpPr>
            <p:cNvPr id="112657" name="Line 19"/>
            <p:cNvSpPr/>
            <p:nvPr/>
          </p:nvSpPr>
          <p:spPr>
            <a:xfrm>
              <a:off x="1392" y="1920"/>
              <a:ext cx="0" cy="19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12658" name="Text Box 20"/>
            <p:cNvSpPr txBox="1"/>
            <p:nvPr/>
          </p:nvSpPr>
          <p:spPr>
            <a:xfrm>
              <a:off x="2208" y="1824"/>
              <a:ext cx="576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1/</a:t>
              </a:r>
              <a:r>
                <a:rPr lang="en-US" altLang="zh-CN" i="1" dirty="0">
                  <a:latin typeface="Times New Roman" panose="02020603050405020304" pitchFamily="18" charset="0"/>
                  <a:ea typeface="仿宋_GB2312"/>
                </a:rPr>
                <a:t>T</a:t>
              </a:r>
              <a:r>
                <a:rPr lang="en-US" altLang="zh-CN" baseline="-18000" dirty="0">
                  <a:latin typeface="Times New Roman" panose="02020603050405020304" pitchFamily="18" charset="0"/>
                  <a:ea typeface="仿宋_GB2312"/>
                </a:rPr>
                <a:t>3</a:t>
              </a:r>
            </a:p>
          </p:txBody>
        </p:sp>
        <p:sp>
          <p:nvSpPr>
            <p:cNvPr id="112659" name="Text Box 21"/>
            <p:cNvSpPr txBox="1"/>
            <p:nvPr/>
          </p:nvSpPr>
          <p:spPr>
            <a:xfrm>
              <a:off x="1200" y="2064"/>
              <a:ext cx="576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1/</a:t>
              </a:r>
              <a:r>
                <a:rPr lang="en-US" altLang="zh-CN" i="1" dirty="0">
                  <a:latin typeface="Times New Roman" panose="02020603050405020304" pitchFamily="18" charset="0"/>
                  <a:ea typeface="仿宋_GB2312"/>
                </a:rPr>
                <a:t>T</a:t>
              </a:r>
              <a:r>
                <a:rPr lang="en-US" altLang="zh-CN" baseline="-18000" dirty="0">
                  <a:latin typeface="Times New Roman" panose="02020603050405020304" pitchFamily="18" charset="0"/>
                  <a:ea typeface="仿宋_GB2312"/>
                </a:rPr>
                <a:t>2</a:t>
              </a:r>
            </a:p>
          </p:txBody>
        </p:sp>
        <p:sp>
          <p:nvSpPr>
            <p:cNvPr id="112660" name="Line 22"/>
            <p:cNvSpPr/>
            <p:nvPr/>
          </p:nvSpPr>
          <p:spPr>
            <a:xfrm>
              <a:off x="1392" y="2304"/>
              <a:ext cx="0" cy="33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12661" name="Line 23"/>
            <p:cNvSpPr/>
            <p:nvPr/>
          </p:nvSpPr>
          <p:spPr>
            <a:xfrm>
              <a:off x="1412" y="2592"/>
              <a:ext cx="100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triangle" w="med" len="med"/>
              <a:tailEnd type="triangle" w="med" len="med"/>
            </a:ln>
          </p:spPr>
        </p:sp>
        <p:sp>
          <p:nvSpPr>
            <p:cNvPr id="112662" name="Rectangle 24"/>
            <p:cNvSpPr/>
            <p:nvPr/>
          </p:nvSpPr>
          <p:spPr>
            <a:xfrm>
              <a:off x="1760" y="2304"/>
              <a:ext cx="228" cy="32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仿宋_GB2312"/>
                </a:rPr>
                <a:t>h</a:t>
              </a:r>
            </a:p>
          </p:txBody>
        </p:sp>
        <p:sp>
          <p:nvSpPr>
            <p:cNvPr id="112663" name="Line 25"/>
            <p:cNvSpPr/>
            <p:nvPr/>
          </p:nvSpPr>
          <p:spPr>
            <a:xfrm>
              <a:off x="2832" y="2592"/>
              <a:ext cx="336" cy="43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64" name="Line 26"/>
            <p:cNvSpPr/>
            <p:nvPr/>
          </p:nvSpPr>
          <p:spPr>
            <a:xfrm>
              <a:off x="3168" y="3024"/>
              <a:ext cx="192" cy="43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65" name="Line 27"/>
            <p:cNvSpPr/>
            <p:nvPr/>
          </p:nvSpPr>
          <p:spPr>
            <a:xfrm flipV="1">
              <a:off x="2832" y="2112"/>
              <a:ext cx="0" cy="48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12666" name="Line 28"/>
            <p:cNvSpPr/>
            <p:nvPr/>
          </p:nvSpPr>
          <p:spPr>
            <a:xfrm flipV="1">
              <a:off x="3168" y="2112"/>
              <a:ext cx="0" cy="91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12667" name="Line 29"/>
            <p:cNvSpPr/>
            <p:nvPr/>
          </p:nvSpPr>
          <p:spPr>
            <a:xfrm>
              <a:off x="3408" y="2112"/>
              <a:ext cx="0" cy="139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68" name="Text Box 30"/>
            <p:cNvSpPr txBox="1"/>
            <p:nvPr/>
          </p:nvSpPr>
          <p:spPr>
            <a:xfrm>
              <a:off x="3590" y="2221"/>
              <a:ext cx="308" cy="97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仿宋_GB2312"/>
                </a:rPr>
                <a:t>小</a:t>
              </a:r>
            </a:p>
            <a:p>
              <a:r>
                <a:rPr lang="zh-CN" altLang="en-US" dirty="0">
                  <a:latin typeface="Times New Roman" panose="02020603050405020304" pitchFamily="18" charset="0"/>
                  <a:ea typeface="仿宋_GB2312"/>
                </a:rPr>
                <a:t>参</a:t>
              </a:r>
            </a:p>
            <a:p>
              <a:r>
                <a:rPr lang="zh-CN" altLang="en-US" dirty="0">
                  <a:latin typeface="Times New Roman" panose="02020603050405020304" pitchFamily="18" charset="0"/>
                  <a:ea typeface="仿宋_GB2312"/>
                </a:rPr>
                <a:t>数</a:t>
              </a:r>
            </a:p>
            <a:p>
              <a:r>
                <a:rPr lang="zh-CN" altLang="en-US" dirty="0">
                  <a:latin typeface="Times New Roman" panose="02020603050405020304" pitchFamily="18" charset="0"/>
                  <a:ea typeface="仿宋_GB2312"/>
                </a:rPr>
                <a:t>区</a:t>
              </a:r>
            </a:p>
          </p:txBody>
        </p:sp>
        <p:sp>
          <p:nvSpPr>
            <p:cNvPr id="112669" name="Text Box 31"/>
            <p:cNvSpPr txBox="1"/>
            <p:nvPr/>
          </p:nvSpPr>
          <p:spPr>
            <a:xfrm>
              <a:off x="2592" y="1824"/>
              <a:ext cx="576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1/</a:t>
              </a:r>
              <a:r>
                <a:rPr lang="en-US" altLang="zh-CN" i="1" dirty="0">
                  <a:latin typeface="Times New Roman" panose="02020603050405020304" pitchFamily="18" charset="0"/>
                  <a:ea typeface="仿宋_GB2312"/>
                </a:rPr>
                <a:t>T</a:t>
              </a:r>
              <a:r>
                <a:rPr lang="en-US" altLang="zh-CN" baseline="-18000" dirty="0">
                  <a:latin typeface="Times New Roman" panose="02020603050405020304" pitchFamily="18" charset="0"/>
                  <a:ea typeface="仿宋_GB2312"/>
                </a:rPr>
                <a:t>4</a:t>
              </a:r>
            </a:p>
          </p:txBody>
        </p:sp>
        <p:sp>
          <p:nvSpPr>
            <p:cNvPr id="112670" name="Text Box 32"/>
            <p:cNvSpPr txBox="1"/>
            <p:nvPr/>
          </p:nvSpPr>
          <p:spPr>
            <a:xfrm>
              <a:off x="2928" y="1824"/>
              <a:ext cx="576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1/</a:t>
              </a:r>
              <a:r>
                <a:rPr lang="en-US" altLang="zh-CN" i="1" dirty="0">
                  <a:latin typeface="Times New Roman" panose="02020603050405020304" pitchFamily="18" charset="0"/>
                  <a:ea typeface="仿宋_GB2312"/>
                </a:rPr>
                <a:t>T</a:t>
              </a:r>
              <a:r>
                <a:rPr lang="en-US" altLang="zh-CN" baseline="-18000" dirty="0">
                  <a:latin typeface="Times New Roman" panose="02020603050405020304" pitchFamily="18" charset="0"/>
                  <a:ea typeface="仿宋_GB2312"/>
                </a:rPr>
                <a:t>5</a:t>
              </a:r>
            </a:p>
          </p:txBody>
        </p:sp>
        <p:sp>
          <p:nvSpPr>
            <p:cNvPr id="112671" name="Text Box 33"/>
            <p:cNvSpPr txBox="1"/>
            <p:nvPr/>
          </p:nvSpPr>
          <p:spPr>
            <a:xfrm>
              <a:off x="2652" y="2688"/>
              <a:ext cx="372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-60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ext Box 4"/>
          <p:cNvSpPr txBox="1"/>
          <p:nvPr/>
        </p:nvSpPr>
        <p:spPr>
          <a:xfrm>
            <a:off x="2124075" y="692150"/>
            <a:ext cx="341630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频率特性</a:t>
            </a:r>
          </a:p>
        </p:txBody>
      </p:sp>
      <p:sp>
        <p:nvSpPr>
          <p:cNvPr id="113666" name="Rectangle 5"/>
          <p:cNvSpPr/>
          <p:nvPr/>
        </p:nvSpPr>
        <p:spPr>
          <a:xfrm>
            <a:off x="1403350" y="2163763"/>
            <a:ext cx="5562600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113667" name="Rectangle 6"/>
          <p:cNvSpPr/>
          <p:nvPr/>
        </p:nvSpPr>
        <p:spPr>
          <a:xfrm>
            <a:off x="1403350" y="2773363"/>
            <a:ext cx="5486400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113668" name="Rectangle 8"/>
          <p:cNvSpPr/>
          <p:nvPr/>
        </p:nvSpPr>
        <p:spPr>
          <a:xfrm>
            <a:off x="1403350" y="3284538"/>
            <a:ext cx="5545138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113669" name="Rectangle 9"/>
          <p:cNvSpPr/>
          <p:nvPr/>
        </p:nvSpPr>
        <p:spPr>
          <a:xfrm>
            <a:off x="1403350" y="3932238"/>
            <a:ext cx="6553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113670" name="Rectangle 11"/>
          <p:cNvSpPr/>
          <p:nvPr/>
        </p:nvSpPr>
        <p:spPr>
          <a:xfrm>
            <a:off x="1403350" y="1557338"/>
            <a:ext cx="4648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113671" name="Rectangle 9"/>
          <p:cNvSpPr/>
          <p:nvPr/>
        </p:nvSpPr>
        <p:spPr>
          <a:xfrm>
            <a:off x="1403350" y="4540250"/>
            <a:ext cx="6553200" cy="6080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113672" name="Rectangle 9"/>
          <p:cNvSpPr/>
          <p:nvPr/>
        </p:nvSpPr>
        <p:spPr>
          <a:xfrm>
            <a:off x="1403350" y="5092700"/>
            <a:ext cx="6913563" cy="6080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  <p:sp>
        <p:nvSpPr>
          <p:cNvPr id="113673" name="文本框 2"/>
          <p:cNvSpPr txBox="1"/>
          <p:nvPr/>
        </p:nvSpPr>
        <p:spPr>
          <a:xfrm>
            <a:off x="2554288" y="5699125"/>
            <a:ext cx="3262312" cy="10144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6000" dirty="0">
                <a:latin typeface="Verdana" panose="020B0604030504040204" pitchFamily="34" charset="0"/>
                <a:ea typeface="宋体" panose="02010600030101010101" pitchFamily="2" charset="-122"/>
              </a:rPr>
              <a:t>本章结束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63525" y="252413"/>
            <a:ext cx="3805238" cy="20300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</a:rPr>
              <a:t>1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. Nyquist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稳定性判据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:</a:t>
            </a: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无积分环节时：</a:t>
            </a: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有积分环节时：</a:t>
            </a:r>
          </a:p>
        </p:txBody>
      </p:sp>
      <p:sp>
        <p:nvSpPr>
          <p:cNvPr id="8" name="矩形 7"/>
          <p:cNvSpPr/>
          <p:nvPr/>
        </p:nvSpPr>
        <p:spPr>
          <a:xfrm>
            <a:off x="223838" y="2416175"/>
            <a:ext cx="8462962" cy="9531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</a:rPr>
              <a:t>2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什么是</a:t>
            </a:r>
            <a:r>
              <a:rPr lang="zh-CN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相位裕量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？其</a:t>
            </a:r>
            <a:r>
              <a:rPr lang="zh-CN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物理含义是什么？其与稳定性的关系如何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9" name="矩形 8"/>
          <p:cNvSpPr/>
          <p:nvPr/>
        </p:nvSpPr>
        <p:spPr>
          <a:xfrm>
            <a:off x="214313" y="3546475"/>
            <a:ext cx="8462962" cy="9531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</a:rPr>
              <a:t>3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什么是增益</a:t>
            </a:r>
            <a:r>
              <a:rPr lang="zh-CN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裕量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？其</a:t>
            </a:r>
            <a:r>
              <a:rPr lang="zh-CN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物理含义是什么？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通常情况下</a:t>
            </a:r>
            <a:r>
              <a:rPr lang="zh-CN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其与稳定性的关系如何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（最小相位系统）？</a:t>
            </a:r>
          </a:p>
        </p:txBody>
      </p:sp>
      <p:sp>
        <p:nvSpPr>
          <p:cNvPr id="10" name="矩形 9"/>
          <p:cNvSpPr/>
          <p:nvPr/>
        </p:nvSpPr>
        <p:spPr>
          <a:xfrm>
            <a:off x="211138" y="4675188"/>
            <a:ext cx="8462962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</a:rPr>
              <a:t>4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在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Bode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图上如何找相位裕量？</a:t>
            </a:r>
          </a:p>
        </p:txBody>
      </p:sp>
      <p:sp>
        <p:nvSpPr>
          <p:cNvPr id="11" name="矩形 10"/>
          <p:cNvSpPr/>
          <p:nvPr/>
        </p:nvSpPr>
        <p:spPr>
          <a:xfrm>
            <a:off x="211138" y="5394325"/>
            <a:ext cx="8462962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</a:rPr>
              <a:t>5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在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Bode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图上如何找增益裕量？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198A7A-5139-407A-92B9-37F61CC41DAB}" type="datetime1">
              <a:rPr lang="zh-CN" altLang="en-US"/>
              <a:pPr>
                <a:defRPr/>
              </a:pPr>
              <a:t>2025/10/22</a:t>
            </a:fld>
            <a:endParaRPr lang="en-US" altLang="zh-CN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Jixia Lu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8AA63E-10CF-4445-BFCF-4D11652941D1}" type="slidenum">
              <a:rPr lang="en-US" altLang="zh-CN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11270" name="Text Box 4"/>
          <p:cNvSpPr txBox="1">
            <a:spLocks noChangeArrowheads="1"/>
          </p:cNvSpPr>
          <p:nvPr/>
        </p:nvSpPr>
        <p:spPr bwMode="auto">
          <a:xfrm>
            <a:off x="395288" y="149977"/>
            <a:ext cx="5966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:</a:t>
            </a:r>
          </a:p>
        </p:txBody>
      </p:sp>
      <p:graphicFrame>
        <p:nvGraphicFramePr>
          <p:cNvPr id="11266" name="Object 5"/>
          <p:cNvGraphicFramePr>
            <a:graphicFrameLocks noChangeAspect="1"/>
          </p:cNvGraphicFramePr>
          <p:nvPr/>
        </p:nvGraphicFramePr>
        <p:xfrm>
          <a:off x="1259632" y="-25437"/>
          <a:ext cx="4661018" cy="905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58920" imgH="419040" progId="Equation.3">
                  <p:embed/>
                </p:oleObj>
              </mc:Choice>
              <mc:Fallback>
                <p:oleObj name="公式" r:id="rId2" imgW="2158920" imgH="419040" progId="Equation.3">
                  <p:embed/>
                  <p:pic>
                    <p:nvPicPr>
                      <p:cNvPr id="112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-25437"/>
                        <a:ext cx="4661018" cy="905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7956550" y="3573463"/>
            <a:ext cx="820738" cy="701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dirty="0"/>
              <a:t>Bode</a:t>
            </a:r>
          </a:p>
          <a:p>
            <a:pPr eaLnBrk="1" hangingPunct="1"/>
            <a:r>
              <a:rPr lang="en-US" altLang="zh-CN" sz="2000" dirty="0"/>
              <a:t> </a:t>
            </a:r>
            <a:r>
              <a:rPr lang="zh-CN" altLang="en-US" sz="2000" dirty="0"/>
              <a:t>图</a:t>
            </a:r>
            <a:endParaRPr lang="en-US" altLang="zh-CN" sz="2000" dirty="0"/>
          </a:p>
        </p:txBody>
      </p:sp>
      <p:pic>
        <p:nvPicPr>
          <p:cNvPr id="5121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628775"/>
            <a:ext cx="6983412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187624" y="908011"/>
            <a:ext cx="6213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试估计：高频处对数幅频特性的斜率是多少</a:t>
            </a:r>
            <a:r>
              <a:rPr lang="en-US" altLang="zh-CN" sz="2000" dirty="0">
                <a:solidFill>
                  <a:srgbClr val="FF0000"/>
                </a:solidFill>
              </a:rPr>
              <a:t>dB/</a:t>
            </a:r>
            <a:r>
              <a:rPr lang="en-US" altLang="zh-CN" sz="2000" dirty="0" err="1">
                <a:solidFill>
                  <a:srgbClr val="FF0000"/>
                </a:solidFill>
              </a:rPr>
              <a:t>dec</a:t>
            </a:r>
            <a:r>
              <a:rPr lang="zh-CN" altLang="en-US" sz="2000" dirty="0">
                <a:solidFill>
                  <a:srgbClr val="FF0000"/>
                </a:solidFill>
              </a:rPr>
              <a:t>？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           </a:t>
            </a:r>
            <a:r>
              <a:rPr lang="zh-CN" altLang="en-US" sz="2000" dirty="0">
                <a:solidFill>
                  <a:srgbClr val="FF0000"/>
                </a:solidFill>
              </a:rPr>
              <a:t>高频处对数相频特性的相位是多少度</a:t>
            </a:r>
          </a:p>
        </p:txBody>
      </p:sp>
    </p:spTree>
    <p:extLst>
      <p:ext uri="{BB962C8B-B14F-4D97-AF65-F5344CB8AC3E}">
        <p14:creationId xmlns:p14="http://schemas.microsoft.com/office/powerpoint/2010/main" val="122982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9" grpId="0" animBg="1"/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9782E20-5357-4975-AB15-E35593EEEE28}" type="datetime1">
              <a:rPr lang="zh-CN" altLang="en-US"/>
              <a:pPr>
                <a:defRPr/>
              </a:pPr>
              <a:t>2025/10/22</a:t>
            </a:fld>
            <a:endParaRPr lang="en-US" altLang="zh-CN"/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Jixia Lu</a:t>
            </a: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F37F2-0D3F-4AA1-8748-A1347B83AD15}" type="slidenum">
              <a:rPr lang="en-US" altLang="zh-CN"/>
              <a:pPr>
                <a:defRPr/>
              </a:pPr>
              <a:t>50</a:t>
            </a:fld>
            <a:endParaRPr lang="en-US" altLang="zh-CN"/>
          </a:p>
        </p:txBody>
      </p:sp>
      <p:grpSp>
        <p:nvGrpSpPr>
          <p:cNvPr id="53253" name="组合 14"/>
          <p:cNvGrpSpPr>
            <a:grpSpLocks/>
          </p:cNvGrpSpPr>
          <p:nvPr/>
        </p:nvGrpSpPr>
        <p:grpSpPr bwMode="auto">
          <a:xfrm>
            <a:off x="179388" y="260350"/>
            <a:ext cx="8753475" cy="6124575"/>
            <a:chOff x="179388" y="260350"/>
            <a:chExt cx="8753475" cy="6124575"/>
          </a:xfrm>
        </p:grpSpPr>
        <p:pic>
          <p:nvPicPr>
            <p:cNvPr id="53254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388" y="476250"/>
              <a:ext cx="8753475" cy="5908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55" name="Line 7"/>
            <p:cNvSpPr>
              <a:spLocks noChangeShapeType="1"/>
            </p:cNvSpPr>
            <p:nvPr/>
          </p:nvSpPr>
          <p:spPr bwMode="auto">
            <a:xfrm>
              <a:off x="2555875" y="1484313"/>
              <a:ext cx="1511300" cy="79216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6" name="Line 8"/>
            <p:cNvSpPr>
              <a:spLocks noChangeShapeType="1"/>
            </p:cNvSpPr>
            <p:nvPr/>
          </p:nvSpPr>
          <p:spPr bwMode="auto">
            <a:xfrm>
              <a:off x="4067175" y="2276475"/>
              <a:ext cx="1512888" cy="28733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7" name="Line 9"/>
            <p:cNvSpPr>
              <a:spLocks noChangeShapeType="1"/>
            </p:cNvSpPr>
            <p:nvPr/>
          </p:nvSpPr>
          <p:spPr bwMode="auto">
            <a:xfrm>
              <a:off x="5580063" y="2565400"/>
              <a:ext cx="1584325" cy="936625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8" name="Line 10"/>
            <p:cNvSpPr>
              <a:spLocks noChangeShapeType="1"/>
            </p:cNvSpPr>
            <p:nvPr/>
          </p:nvSpPr>
          <p:spPr bwMode="auto">
            <a:xfrm>
              <a:off x="7164388" y="3500438"/>
              <a:ext cx="1368425" cy="935037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9" name="Line 11"/>
            <p:cNvSpPr>
              <a:spLocks noChangeShapeType="1"/>
            </p:cNvSpPr>
            <p:nvPr/>
          </p:nvSpPr>
          <p:spPr bwMode="auto">
            <a:xfrm flipH="1" flipV="1">
              <a:off x="1763713" y="836613"/>
              <a:ext cx="792162" cy="649287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0" name="Line 12"/>
            <p:cNvSpPr>
              <a:spLocks noChangeShapeType="1"/>
            </p:cNvSpPr>
            <p:nvPr/>
          </p:nvSpPr>
          <p:spPr bwMode="auto">
            <a:xfrm>
              <a:off x="2555875" y="260350"/>
              <a:ext cx="1511300" cy="79216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1" name="Line 13"/>
            <p:cNvSpPr>
              <a:spLocks noChangeShapeType="1"/>
            </p:cNvSpPr>
            <p:nvPr/>
          </p:nvSpPr>
          <p:spPr bwMode="auto">
            <a:xfrm>
              <a:off x="4067175" y="1052513"/>
              <a:ext cx="1512888" cy="28733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2" name="Line 14"/>
            <p:cNvSpPr>
              <a:spLocks noChangeShapeType="1"/>
            </p:cNvSpPr>
            <p:nvPr/>
          </p:nvSpPr>
          <p:spPr bwMode="auto">
            <a:xfrm>
              <a:off x="5580063" y="1341438"/>
              <a:ext cx="1584325" cy="93662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3" name="Line 15"/>
            <p:cNvSpPr>
              <a:spLocks noChangeShapeType="1"/>
            </p:cNvSpPr>
            <p:nvPr/>
          </p:nvSpPr>
          <p:spPr bwMode="auto">
            <a:xfrm>
              <a:off x="7164388" y="2276475"/>
              <a:ext cx="1368425" cy="93503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562724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449</TotalTime>
  <Words>1718</Words>
  <Application>Microsoft Office PowerPoint</Application>
  <PresentationFormat>全屏显示(4:3)</PresentationFormat>
  <Paragraphs>288</Paragraphs>
  <Slides>50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50</vt:i4>
      </vt:variant>
    </vt:vector>
  </HeadingPairs>
  <TitlesOfParts>
    <vt:vector size="63" baseType="lpstr">
      <vt:lpstr>仿宋_GB2312</vt:lpstr>
      <vt:lpstr>楷体_GB2312</vt:lpstr>
      <vt:lpstr>宋体</vt:lpstr>
      <vt:lpstr>Arial</vt:lpstr>
      <vt:lpstr>Calibri</vt:lpstr>
      <vt:lpstr>Times New Roman</vt:lpstr>
      <vt:lpstr>Verdana</vt:lpstr>
      <vt:lpstr>Wingdings</vt:lpstr>
      <vt:lpstr>Profile</vt:lpstr>
      <vt:lpstr>SmartDraw.2</vt:lpstr>
      <vt:lpstr>Equation.3</vt:lpstr>
      <vt:lpstr>Equation.DSMT4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AIMIN FANG</cp:lastModifiedBy>
  <cp:revision>160</cp:revision>
  <dcterms:created xsi:type="dcterms:W3CDTF">2011-07-28T08:27:52Z</dcterms:created>
  <dcterms:modified xsi:type="dcterms:W3CDTF">2025-10-22T13:18:49Z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2052-11.8.6.9023</vt:lpwstr>
  </property>
</Properties>
</file>