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3"/>
  </p:notesMasterIdLst>
  <p:handoutMasterIdLst>
    <p:handoutMasterId r:id="rId44"/>
  </p:handoutMasterIdLst>
  <p:sldIdLst>
    <p:sldId id="371" r:id="rId2"/>
    <p:sldId id="578" r:id="rId3"/>
    <p:sldId id="579" r:id="rId4"/>
    <p:sldId id="580" r:id="rId5"/>
    <p:sldId id="581" r:id="rId6"/>
    <p:sldId id="445" r:id="rId7"/>
    <p:sldId id="465" r:id="rId8"/>
    <p:sldId id="568" r:id="rId9"/>
    <p:sldId id="569" r:id="rId10"/>
    <p:sldId id="570" r:id="rId11"/>
    <p:sldId id="571" r:id="rId12"/>
    <p:sldId id="572" r:id="rId13"/>
    <p:sldId id="573" r:id="rId14"/>
    <p:sldId id="574" r:id="rId15"/>
    <p:sldId id="575" r:id="rId16"/>
    <p:sldId id="576" r:id="rId17"/>
    <p:sldId id="577" r:id="rId18"/>
    <p:sldId id="455" r:id="rId19"/>
    <p:sldId id="456" r:id="rId20"/>
    <p:sldId id="457" r:id="rId21"/>
    <p:sldId id="458" r:id="rId22"/>
    <p:sldId id="459" r:id="rId23"/>
    <p:sldId id="460" r:id="rId24"/>
    <p:sldId id="461" r:id="rId25"/>
    <p:sldId id="462" r:id="rId26"/>
    <p:sldId id="463" r:id="rId27"/>
    <p:sldId id="464" r:id="rId28"/>
    <p:sldId id="472" r:id="rId29"/>
    <p:sldId id="468" r:id="rId30"/>
    <p:sldId id="536" r:id="rId31"/>
    <p:sldId id="537" r:id="rId32"/>
    <p:sldId id="538" r:id="rId33"/>
    <p:sldId id="539" r:id="rId34"/>
    <p:sldId id="582" r:id="rId35"/>
    <p:sldId id="540" r:id="rId36"/>
    <p:sldId id="541" r:id="rId37"/>
    <p:sldId id="542" r:id="rId38"/>
    <p:sldId id="543" r:id="rId39"/>
    <p:sldId id="544" r:id="rId40"/>
    <p:sldId id="545" r:id="rId41"/>
    <p:sldId id="546" r:id="rId42"/>
  </p:sldIdLst>
  <p:sldSz cx="9144000" cy="6858000" type="screen4x3"/>
  <p:notesSz cx="6669088" cy="9926638"/>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23">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p:cViewPr varScale="1">
        <p:scale>
          <a:sx n="70" d="100"/>
          <a:sy n="70" d="100"/>
        </p:scale>
        <p:origin x="990" y="45"/>
      </p:cViewPr>
      <p:guideLst>
        <p:guide orient="horz" pos="2123"/>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6DCC5E4-A65B-3C00-6E5F-0DCEB90270E1}"/>
              </a:ext>
            </a:extLst>
          </p:cNvPr>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9219" name="Rectangle 3">
            <a:extLst>
              <a:ext uri="{FF2B5EF4-FFF2-40B4-BE49-F238E27FC236}">
                <a16:creationId xmlns:a16="http://schemas.microsoft.com/office/drawing/2014/main" id="{C0101286-24D0-AD6D-B2B5-BF8F7AD9D84C}"/>
              </a:ext>
            </a:extLst>
          </p:cNvPr>
          <p:cNvSpPr>
            <a:spLocks noGrp="1" noChangeArrowheads="1"/>
          </p:cNvSpPr>
          <p:nvPr>
            <p:ph type="dt" sz="quarter"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9220" name="Rectangle 4">
            <a:extLst>
              <a:ext uri="{FF2B5EF4-FFF2-40B4-BE49-F238E27FC236}">
                <a16:creationId xmlns:a16="http://schemas.microsoft.com/office/drawing/2014/main" id="{C62C170D-24B3-838E-1099-42403FB1AAC6}"/>
              </a:ext>
            </a:extLst>
          </p:cNvPr>
          <p:cNvSpPr>
            <a:spLocks noGrp="1" noChangeArrowheads="1"/>
          </p:cNvSpPr>
          <p:nvPr>
            <p:ph type="ftr" sz="quarter" idx="2"/>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9221" name="Rectangle 5">
            <a:extLst>
              <a:ext uri="{FF2B5EF4-FFF2-40B4-BE49-F238E27FC236}">
                <a16:creationId xmlns:a16="http://schemas.microsoft.com/office/drawing/2014/main" id="{19EAB0F9-1ED3-664D-7C09-800122610855}"/>
              </a:ext>
            </a:extLst>
          </p:cNvPr>
          <p:cNvSpPr>
            <a:spLocks noGrp="1" noChangeArrowheads="1"/>
          </p:cNvSpPr>
          <p:nvPr>
            <p:ph type="sldNum" sz="quarter" idx="3"/>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noProof="1">
                <a:latin typeface="Arial" panose="020B0604020202020204" pitchFamily="34" charset="0"/>
              </a:defRPr>
            </a:lvl1pPr>
          </a:lstStyle>
          <a:p>
            <a:fld id="{F3DE27CB-01D9-4CF8-ADC3-EB1D8472D22E}" type="slidenum">
              <a:rPr altLang="zh-CN"/>
              <a:pPr/>
              <a:t>‹#›</a:t>
            </a:fld>
            <a:endParaRPr lang="zh-CN"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022BBD9-AA67-1779-EE57-5F91F49C49D0}"/>
              </a:ext>
            </a:extLst>
          </p:cNvPr>
          <p:cNvSpPr>
            <a:spLocks noGrp="1" noChangeArrowheads="1"/>
          </p:cNvSpPr>
          <p:nvPr>
            <p:ph type="hdr" sz="quarter"/>
          </p:nvPr>
        </p:nvSpPr>
        <p:spPr bwMode="auto">
          <a:xfrm>
            <a:off x="0" y="0"/>
            <a:ext cx="288925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defRPr>
            </a:lvl1pPr>
          </a:lstStyle>
          <a:p>
            <a:pPr>
              <a:defRPr/>
            </a:pPr>
            <a:endParaRPr lang="en-US" altLang="zh-CN"/>
          </a:p>
        </p:txBody>
      </p:sp>
      <p:sp>
        <p:nvSpPr>
          <p:cNvPr id="8195" name="Rectangle 3">
            <a:extLst>
              <a:ext uri="{FF2B5EF4-FFF2-40B4-BE49-F238E27FC236}">
                <a16:creationId xmlns:a16="http://schemas.microsoft.com/office/drawing/2014/main" id="{B27B5210-D6C1-630E-CD6B-88BB21CCC265}"/>
              </a:ext>
            </a:extLst>
          </p:cNvPr>
          <p:cNvSpPr>
            <a:spLocks noGrp="1" noChangeArrowheads="1"/>
          </p:cNvSpPr>
          <p:nvPr>
            <p:ph type="dt" idx="1"/>
          </p:nvPr>
        </p:nvSpPr>
        <p:spPr bwMode="auto">
          <a:xfrm>
            <a:off x="3778250" y="0"/>
            <a:ext cx="288925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defRPr>
            </a:lvl1pPr>
          </a:lstStyle>
          <a:p>
            <a:pPr>
              <a:defRPr/>
            </a:pPr>
            <a:endParaRPr lang="en-US" altLang="zh-CN"/>
          </a:p>
        </p:txBody>
      </p:sp>
      <p:sp>
        <p:nvSpPr>
          <p:cNvPr id="3076" name="Rectangle 4">
            <a:extLst>
              <a:ext uri="{FF2B5EF4-FFF2-40B4-BE49-F238E27FC236}">
                <a16:creationId xmlns:a16="http://schemas.microsoft.com/office/drawing/2014/main" id="{8B1129E6-475D-0173-E6D5-9C6FBDBDEE67}"/>
              </a:ext>
            </a:extLst>
          </p:cNvPr>
          <p:cNvSpPr>
            <a:spLocks noGrp="1" noRot="1" noChangeAspect="1" noChangeArrowheads="1" noTextEdit="1"/>
          </p:cNvSpPr>
          <p:nvPr>
            <p:ph type="sldImg" idx="4294967295"/>
          </p:nvPr>
        </p:nvSpPr>
        <p:spPr bwMode="auto">
          <a:xfrm>
            <a:off x="852488" y="744538"/>
            <a:ext cx="4964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B84DA968-ECED-0D72-1A82-A4B4635EAC8D}"/>
              </a:ext>
            </a:extLst>
          </p:cNvPr>
          <p:cNvSpPr>
            <a:spLocks noGrp="1" noChangeArrowheads="1"/>
          </p:cNvSpPr>
          <p:nvPr>
            <p:ph type="body" sz="quarter" idx="3"/>
          </p:nvPr>
        </p:nvSpPr>
        <p:spPr bwMode="auto">
          <a:xfrm>
            <a:off x="666750" y="4714875"/>
            <a:ext cx="5335588" cy="44672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198" name="Rectangle 6">
            <a:extLst>
              <a:ext uri="{FF2B5EF4-FFF2-40B4-BE49-F238E27FC236}">
                <a16:creationId xmlns:a16="http://schemas.microsoft.com/office/drawing/2014/main" id="{9E5BE45C-F24A-3926-42D9-F877D3F16AC4}"/>
              </a:ext>
            </a:extLst>
          </p:cNvPr>
          <p:cNvSpPr>
            <a:spLocks noGrp="1" noChangeArrowheads="1"/>
          </p:cNvSpPr>
          <p:nvPr>
            <p:ph type="ftr" sz="quarter" idx="4"/>
          </p:nvPr>
        </p:nvSpPr>
        <p:spPr bwMode="auto">
          <a:xfrm>
            <a:off x="0" y="9428163"/>
            <a:ext cx="2889250" cy="4968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defRPr>
            </a:lvl1pPr>
          </a:lstStyle>
          <a:p>
            <a:pPr>
              <a:defRPr/>
            </a:pPr>
            <a:endParaRPr lang="en-US" altLang="zh-CN"/>
          </a:p>
        </p:txBody>
      </p:sp>
      <p:sp>
        <p:nvSpPr>
          <p:cNvPr id="8199" name="Rectangle 7">
            <a:extLst>
              <a:ext uri="{FF2B5EF4-FFF2-40B4-BE49-F238E27FC236}">
                <a16:creationId xmlns:a16="http://schemas.microsoft.com/office/drawing/2014/main" id="{791296CB-506F-AD4D-5605-C918F28493F9}"/>
              </a:ext>
            </a:extLst>
          </p:cNvPr>
          <p:cNvSpPr>
            <a:spLocks noGrp="1" noChangeArrowheads="1"/>
          </p:cNvSpPr>
          <p:nvPr>
            <p:ph type="sldNum" sz="quarter" idx="5"/>
          </p:nvPr>
        </p:nvSpPr>
        <p:spPr bwMode="auto">
          <a:xfrm>
            <a:off x="3778250" y="9428163"/>
            <a:ext cx="2889250" cy="496887"/>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sz="1200" noProof="1">
                <a:latin typeface="Arial" panose="020B0604020202020204" pitchFamily="34" charset="0"/>
              </a:defRPr>
            </a:lvl1pPr>
          </a:lstStyle>
          <a:p>
            <a:fld id="{519205DD-AFE4-4DFA-A5C3-0DB57AF2EE9D}" type="slidenum">
              <a:rPr altLang="zh-CN"/>
              <a:pPr/>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BC75F00E-8EF2-BDA6-4AFF-3E142B9D7F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FF1E6DF-132B-468F-9F75-4525FBA9FFD6}" type="slidenum">
              <a:rPr altLang="zh-CN" sz="1800"/>
              <a:pPr/>
              <a:t>1</a:t>
            </a:fld>
            <a:endParaRPr lang="zh-CN" altLang="zh-CN" sz="1800"/>
          </a:p>
        </p:txBody>
      </p:sp>
      <p:sp>
        <p:nvSpPr>
          <p:cNvPr id="6147" name="Rectangle 2">
            <a:extLst>
              <a:ext uri="{FF2B5EF4-FFF2-40B4-BE49-F238E27FC236}">
                <a16:creationId xmlns:a16="http://schemas.microsoft.com/office/drawing/2014/main" id="{BED55548-349B-6510-F7E1-BB86CBEE0DB7}"/>
              </a:ext>
            </a:extLst>
          </p:cNvPr>
          <p:cNvSpPr>
            <a:spLocks noGrp="1" noRot="1" noChangeAspect="1" noChangeArrowheads="1" noTextEdit="1"/>
          </p:cNvSpPr>
          <p:nvPr>
            <p:ph type="sldImg" idx="4294967295"/>
          </p:nvPr>
        </p:nvSpPr>
        <p:spPr>
          <a:ln/>
        </p:spPr>
      </p:sp>
      <p:sp>
        <p:nvSpPr>
          <p:cNvPr id="6148" name="Rectangle 3">
            <a:extLst>
              <a:ext uri="{FF2B5EF4-FFF2-40B4-BE49-F238E27FC236}">
                <a16:creationId xmlns:a16="http://schemas.microsoft.com/office/drawing/2014/main" id="{0B81CAC3-476E-1ACD-C56E-EA5CF3B27D89}"/>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BF89EF88-426E-B766-DF94-42ADB869C6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E5E262F-654A-4815-AACF-4E47F252EF11}" type="slidenum">
              <a:rPr altLang="zh-CN" sz="1800"/>
              <a:pPr/>
              <a:t>3</a:t>
            </a:fld>
            <a:endParaRPr lang="zh-CN" altLang="zh-CN" sz="1800"/>
          </a:p>
        </p:txBody>
      </p:sp>
      <p:sp>
        <p:nvSpPr>
          <p:cNvPr id="9219" name="Rectangle 2">
            <a:extLst>
              <a:ext uri="{FF2B5EF4-FFF2-40B4-BE49-F238E27FC236}">
                <a16:creationId xmlns:a16="http://schemas.microsoft.com/office/drawing/2014/main" id="{96859DC4-67F6-AE7F-6C8C-619668779C45}"/>
              </a:ext>
            </a:extLst>
          </p:cNvPr>
          <p:cNvSpPr>
            <a:spLocks noGrp="1" noRot="1" noChangeAspect="1" noChangeArrowheads="1" noTextEdit="1"/>
          </p:cNvSpPr>
          <p:nvPr>
            <p:ph type="sldImg" idx="4294967295"/>
          </p:nvPr>
        </p:nvSpPr>
        <p:spPr>
          <a:ln/>
        </p:spPr>
      </p:sp>
      <p:sp>
        <p:nvSpPr>
          <p:cNvPr id="9220" name="Rectangle 3">
            <a:extLst>
              <a:ext uri="{FF2B5EF4-FFF2-40B4-BE49-F238E27FC236}">
                <a16:creationId xmlns:a16="http://schemas.microsoft.com/office/drawing/2014/main" id="{83385DC2-95C8-B2EE-BB83-3E212DCDA0CE}"/>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F0F6CCF4-FB39-34F1-4CD2-74E7DDA46F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571D270F-6302-45B7-8B40-7024055299A8}" type="slidenum">
              <a:rPr altLang="zh-CN" sz="1800"/>
              <a:pPr/>
              <a:t>6</a:t>
            </a:fld>
            <a:endParaRPr lang="zh-CN" altLang="zh-CN" sz="1800"/>
          </a:p>
        </p:txBody>
      </p:sp>
      <p:sp>
        <p:nvSpPr>
          <p:cNvPr id="13315" name="Rectangle 2">
            <a:extLst>
              <a:ext uri="{FF2B5EF4-FFF2-40B4-BE49-F238E27FC236}">
                <a16:creationId xmlns:a16="http://schemas.microsoft.com/office/drawing/2014/main" id="{6DB4DB3A-B875-EE3C-F5BE-AC72BD63CC34}"/>
              </a:ext>
            </a:extLst>
          </p:cNvPr>
          <p:cNvSpPr>
            <a:spLocks noGrp="1" noRot="1" noChangeAspect="1" noChangeArrowheads="1" noTextEdit="1"/>
          </p:cNvSpPr>
          <p:nvPr>
            <p:ph type="sldImg" idx="4294967295"/>
          </p:nvPr>
        </p:nvSpPr>
        <p:spPr>
          <a:ln/>
        </p:spPr>
      </p:sp>
      <p:sp>
        <p:nvSpPr>
          <p:cNvPr id="13316" name="Rectangle 3">
            <a:extLst>
              <a:ext uri="{FF2B5EF4-FFF2-40B4-BE49-F238E27FC236}">
                <a16:creationId xmlns:a16="http://schemas.microsoft.com/office/drawing/2014/main" id="{0DD175F4-4C05-3E8D-3602-F22081A4B92C}"/>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1F70CECE-112D-561B-5BFC-1DCAF42406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2775D06-40AB-4778-BD38-9EC592989CB0}" type="slidenum">
              <a:rPr altLang="zh-CN" sz="1800"/>
              <a:pPr/>
              <a:t>8</a:t>
            </a:fld>
            <a:endParaRPr lang="zh-CN" altLang="zh-CN" sz="1800"/>
          </a:p>
        </p:txBody>
      </p:sp>
      <p:sp>
        <p:nvSpPr>
          <p:cNvPr id="15363" name="Rectangle 2">
            <a:extLst>
              <a:ext uri="{FF2B5EF4-FFF2-40B4-BE49-F238E27FC236}">
                <a16:creationId xmlns:a16="http://schemas.microsoft.com/office/drawing/2014/main" id="{5682A22E-3974-25FA-B73C-7AFC62258481}"/>
              </a:ext>
            </a:extLst>
          </p:cNvPr>
          <p:cNvSpPr>
            <a:spLocks noGrp="1" noRot="1" noChangeAspect="1" noChangeArrowheads="1" noTextEdit="1"/>
          </p:cNvSpPr>
          <p:nvPr>
            <p:ph type="sldImg" idx="4294967295"/>
          </p:nvPr>
        </p:nvSpPr>
        <p:spPr>
          <a:ln/>
        </p:spPr>
      </p:sp>
      <p:sp>
        <p:nvSpPr>
          <p:cNvPr id="15364" name="Rectangle 3">
            <a:extLst>
              <a:ext uri="{FF2B5EF4-FFF2-40B4-BE49-F238E27FC236}">
                <a16:creationId xmlns:a16="http://schemas.microsoft.com/office/drawing/2014/main" id="{68D7566C-5F77-692D-E3B4-619336298EE8}"/>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63A0903C-BDEF-2666-8D79-5349A37A6D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AB7F7CD-7B3B-4181-AF2E-3B1A860572CC}" type="slidenum">
              <a:rPr altLang="zh-CN" sz="1800"/>
              <a:pPr/>
              <a:t>9</a:t>
            </a:fld>
            <a:endParaRPr lang="zh-CN" altLang="zh-CN" sz="1800"/>
          </a:p>
        </p:txBody>
      </p:sp>
      <p:sp>
        <p:nvSpPr>
          <p:cNvPr id="17411" name="Rectangle 2">
            <a:extLst>
              <a:ext uri="{FF2B5EF4-FFF2-40B4-BE49-F238E27FC236}">
                <a16:creationId xmlns:a16="http://schemas.microsoft.com/office/drawing/2014/main" id="{EDEED7A5-61FB-4CB0-78B9-F31EA8934AA5}"/>
              </a:ext>
            </a:extLst>
          </p:cNvPr>
          <p:cNvSpPr>
            <a:spLocks noGrp="1" noRot="1" noChangeAspect="1" noChangeArrowheads="1" noTextEdit="1"/>
          </p:cNvSpPr>
          <p:nvPr>
            <p:ph type="sldImg" idx="4294967295"/>
          </p:nvPr>
        </p:nvSpPr>
        <p:spPr>
          <a:ln/>
        </p:spPr>
      </p:sp>
      <p:sp>
        <p:nvSpPr>
          <p:cNvPr id="17412" name="Rectangle 3">
            <a:extLst>
              <a:ext uri="{FF2B5EF4-FFF2-40B4-BE49-F238E27FC236}">
                <a16:creationId xmlns:a16="http://schemas.microsoft.com/office/drawing/2014/main" id="{3741401A-3A2B-767E-630A-DE04FA477B12}"/>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F83D1AEC-D5B3-13DE-DD20-60F9FFF21E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4388263-F4DC-4321-8AA3-AFE314348E90}" type="slidenum">
              <a:rPr altLang="zh-CN" sz="1800"/>
              <a:pPr/>
              <a:t>10</a:t>
            </a:fld>
            <a:endParaRPr lang="zh-CN" altLang="zh-CN" sz="1800"/>
          </a:p>
        </p:txBody>
      </p:sp>
      <p:sp>
        <p:nvSpPr>
          <p:cNvPr id="19459" name="Rectangle 2">
            <a:extLst>
              <a:ext uri="{FF2B5EF4-FFF2-40B4-BE49-F238E27FC236}">
                <a16:creationId xmlns:a16="http://schemas.microsoft.com/office/drawing/2014/main" id="{13CFC732-671A-B075-36CD-11B912D2AB15}"/>
              </a:ext>
            </a:extLst>
          </p:cNvPr>
          <p:cNvSpPr>
            <a:spLocks noGrp="1" noRot="1" noChangeAspect="1" noChangeArrowheads="1" noTextEdit="1"/>
          </p:cNvSpPr>
          <p:nvPr>
            <p:ph type="sldImg" idx="4294967295"/>
          </p:nvPr>
        </p:nvSpPr>
        <p:spPr>
          <a:ln/>
        </p:spPr>
      </p:sp>
      <p:sp>
        <p:nvSpPr>
          <p:cNvPr id="19460" name="Rectangle 3">
            <a:extLst>
              <a:ext uri="{FF2B5EF4-FFF2-40B4-BE49-F238E27FC236}">
                <a16:creationId xmlns:a16="http://schemas.microsoft.com/office/drawing/2014/main" id="{7D1FF88E-26CA-1298-66A0-E0AB4603CC78}"/>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D878D9C9-75D7-BE18-2CB4-F7742670DE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4A62C45-D999-407B-916F-33ED8DFAF397}" type="slidenum">
              <a:rPr altLang="zh-CN" sz="1800"/>
              <a:pPr/>
              <a:t>11</a:t>
            </a:fld>
            <a:endParaRPr lang="zh-CN" altLang="zh-CN" sz="1800"/>
          </a:p>
        </p:txBody>
      </p:sp>
      <p:sp>
        <p:nvSpPr>
          <p:cNvPr id="21507" name="Rectangle 2">
            <a:extLst>
              <a:ext uri="{FF2B5EF4-FFF2-40B4-BE49-F238E27FC236}">
                <a16:creationId xmlns:a16="http://schemas.microsoft.com/office/drawing/2014/main" id="{0B124C65-000A-67FE-2457-CED1AE72CA7B}"/>
              </a:ext>
            </a:extLst>
          </p:cNvPr>
          <p:cNvSpPr>
            <a:spLocks noGrp="1" noRot="1" noChangeAspect="1" noChangeArrowheads="1" noTextEdit="1"/>
          </p:cNvSpPr>
          <p:nvPr>
            <p:ph type="sldImg" idx="4294967295"/>
          </p:nvPr>
        </p:nvSpPr>
        <p:spPr>
          <a:ln/>
        </p:spPr>
      </p:sp>
      <p:sp>
        <p:nvSpPr>
          <p:cNvPr id="21508" name="Rectangle 3">
            <a:extLst>
              <a:ext uri="{FF2B5EF4-FFF2-40B4-BE49-F238E27FC236}">
                <a16:creationId xmlns:a16="http://schemas.microsoft.com/office/drawing/2014/main" id="{E5A32312-C1AB-4FA9-4DE2-C922C45611F2}"/>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151C1AD1-4B7A-93C8-175D-AFBFCBFBF5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62250DB-6796-4E82-A6E4-38DE90B82726}" type="slidenum">
              <a:rPr altLang="zh-CN" sz="1800"/>
              <a:pPr/>
              <a:t>12</a:t>
            </a:fld>
            <a:endParaRPr lang="zh-CN" altLang="zh-CN" sz="1800"/>
          </a:p>
        </p:txBody>
      </p:sp>
      <p:sp>
        <p:nvSpPr>
          <p:cNvPr id="23555" name="Rectangle 2">
            <a:extLst>
              <a:ext uri="{FF2B5EF4-FFF2-40B4-BE49-F238E27FC236}">
                <a16:creationId xmlns:a16="http://schemas.microsoft.com/office/drawing/2014/main" id="{D0ED2294-C733-7D27-1CEA-0417A270E1A2}"/>
              </a:ext>
            </a:extLst>
          </p:cNvPr>
          <p:cNvSpPr>
            <a:spLocks noGrp="1" noRot="1" noChangeAspect="1" noChangeArrowheads="1" noTextEdit="1"/>
          </p:cNvSpPr>
          <p:nvPr>
            <p:ph type="sldImg" idx="4294967295"/>
          </p:nvPr>
        </p:nvSpPr>
        <p:spPr>
          <a:ln/>
        </p:spPr>
      </p:sp>
      <p:sp>
        <p:nvSpPr>
          <p:cNvPr id="23556" name="Rectangle 3">
            <a:extLst>
              <a:ext uri="{FF2B5EF4-FFF2-40B4-BE49-F238E27FC236}">
                <a16:creationId xmlns:a16="http://schemas.microsoft.com/office/drawing/2014/main" id="{6CB1B13A-2B88-F093-74D7-8AEEAAF4F946}"/>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83923A3F-F60D-F18D-3451-DADF50E4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BE32CBE9-C657-4F40-B581-786F1212BFA5}" type="slidenum">
              <a:rPr altLang="zh-CN" sz="1800"/>
              <a:pPr/>
              <a:t>13</a:t>
            </a:fld>
            <a:endParaRPr lang="zh-CN" altLang="zh-CN" sz="1800"/>
          </a:p>
        </p:txBody>
      </p:sp>
      <p:sp>
        <p:nvSpPr>
          <p:cNvPr id="25603" name="Rectangle 2">
            <a:extLst>
              <a:ext uri="{FF2B5EF4-FFF2-40B4-BE49-F238E27FC236}">
                <a16:creationId xmlns:a16="http://schemas.microsoft.com/office/drawing/2014/main" id="{614D0950-CD21-217C-D4A5-AC0484BA7E1E}"/>
              </a:ext>
            </a:extLst>
          </p:cNvPr>
          <p:cNvSpPr>
            <a:spLocks noGrp="1" noRot="1" noChangeAspect="1" noChangeArrowheads="1" noTextEdit="1"/>
          </p:cNvSpPr>
          <p:nvPr>
            <p:ph type="sldImg" idx="4294967295"/>
          </p:nvPr>
        </p:nvSpPr>
        <p:spPr>
          <a:ln/>
        </p:spPr>
      </p:sp>
      <p:sp>
        <p:nvSpPr>
          <p:cNvPr id="25604" name="Rectangle 3">
            <a:extLst>
              <a:ext uri="{FF2B5EF4-FFF2-40B4-BE49-F238E27FC236}">
                <a16:creationId xmlns:a16="http://schemas.microsoft.com/office/drawing/2014/main" id="{1978EB98-865E-8D7A-B619-90303B074DC8}"/>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0CEC3F6D-B077-4888-1987-662B3CEE1C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99F2BD72-5AC7-4CE2-A0EA-3EB6226F8517}" type="slidenum">
              <a:rPr altLang="zh-CN" sz="1800"/>
              <a:pPr/>
              <a:t>14</a:t>
            </a:fld>
            <a:endParaRPr lang="zh-CN" altLang="zh-CN" sz="1800"/>
          </a:p>
        </p:txBody>
      </p:sp>
      <p:sp>
        <p:nvSpPr>
          <p:cNvPr id="27651" name="Rectangle 2">
            <a:extLst>
              <a:ext uri="{FF2B5EF4-FFF2-40B4-BE49-F238E27FC236}">
                <a16:creationId xmlns:a16="http://schemas.microsoft.com/office/drawing/2014/main" id="{6058E7E4-ED92-3FD7-C3B8-CC788E9F1698}"/>
              </a:ext>
            </a:extLst>
          </p:cNvPr>
          <p:cNvSpPr>
            <a:spLocks noGrp="1" noRot="1" noChangeAspect="1" noChangeArrowheads="1" noTextEdit="1"/>
          </p:cNvSpPr>
          <p:nvPr>
            <p:ph type="sldImg" idx="4294967295"/>
          </p:nvPr>
        </p:nvSpPr>
        <p:spPr>
          <a:ln/>
        </p:spPr>
      </p:sp>
      <p:sp>
        <p:nvSpPr>
          <p:cNvPr id="27652" name="Rectangle 3">
            <a:extLst>
              <a:ext uri="{FF2B5EF4-FFF2-40B4-BE49-F238E27FC236}">
                <a16:creationId xmlns:a16="http://schemas.microsoft.com/office/drawing/2014/main" id="{81B9BA4A-8A7D-7C7B-3E65-F39C179D4287}"/>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2178BC8C-778E-C128-7FF9-90BA4D1257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365DC4D-3AEE-4C70-AD2F-56CDCD3EC3A2}" type="slidenum">
              <a:rPr altLang="zh-CN" sz="1800"/>
              <a:pPr/>
              <a:t>15</a:t>
            </a:fld>
            <a:endParaRPr lang="zh-CN" altLang="zh-CN" sz="1800"/>
          </a:p>
        </p:txBody>
      </p:sp>
      <p:sp>
        <p:nvSpPr>
          <p:cNvPr id="29699" name="Rectangle 2">
            <a:extLst>
              <a:ext uri="{FF2B5EF4-FFF2-40B4-BE49-F238E27FC236}">
                <a16:creationId xmlns:a16="http://schemas.microsoft.com/office/drawing/2014/main" id="{453F79B4-AADE-8BE2-10FB-A5DDA3030BD1}"/>
              </a:ext>
            </a:extLst>
          </p:cNvPr>
          <p:cNvSpPr>
            <a:spLocks noGrp="1" noRot="1" noChangeAspect="1" noChangeArrowheads="1" noTextEdit="1"/>
          </p:cNvSpPr>
          <p:nvPr>
            <p:ph type="sldImg" idx="4294967295"/>
          </p:nvPr>
        </p:nvSpPr>
        <p:spPr>
          <a:ln/>
        </p:spPr>
      </p:sp>
      <p:sp>
        <p:nvSpPr>
          <p:cNvPr id="29700" name="Rectangle 3">
            <a:extLst>
              <a:ext uri="{FF2B5EF4-FFF2-40B4-BE49-F238E27FC236}">
                <a16:creationId xmlns:a16="http://schemas.microsoft.com/office/drawing/2014/main" id="{3BCC8F77-75F8-1CA6-E07B-67B38572BFCF}"/>
              </a:ext>
            </a:extLst>
          </p:cNvPr>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4B449B0F-D712-58C4-B728-EE69FE698C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01E6436E-F594-417A-865B-010F8364E65F}" type="slidenum">
              <a:rPr altLang="zh-CN" sz="1800"/>
              <a:pPr/>
              <a:t>18</a:t>
            </a:fld>
            <a:endParaRPr lang="zh-CN" altLang="zh-CN" sz="1800"/>
          </a:p>
        </p:txBody>
      </p:sp>
      <p:sp>
        <p:nvSpPr>
          <p:cNvPr id="33795" name="Rectangle 2">
            <a:extLst>
              <a:ext uri="{FF2B5EF4-FFF2-40B4-BE49-F238E27FC236}">
                <a16:creationId xmlns:a16="http://schemas.microsoft.com/office/drawing/2014/main" id="{1C5A2B13-4FF6-CE44-4FB7-2E3149772C92}"/>
              </a:ext>
            </a:extLst>
          </p:cNvPr>
          <p:cNvSpPr>
            <a:spLocks noGrp="1" noRot="1" noChangeAspect="1" noChangeArrowheads="1" noTextEdit="1"/>
          </p:cNvSpPr>
          <p:nvPr>
            <p:ph type="sldImg" idx="4294967295"/>
          </p:nvPr>
        </p:nvSpPr>
        <p:spPr>
          <a:ln/>
        </p:spPr>
      </p:sp>
      <p:sp>
        <p:nvSpPr>
          <p:cNvPr id="33796" name="Rectangle 3">
            <a:extLst>
              <a:ext uri="{FF2B5EF4-FFF2-40B4-BE49-F238E27FC236}">
                <a16:creationId xmlns:a16="http://schemas.microsoft.com/office/drawing/2014/main" id="{45A3076E-8395-8A48-7938-C495F5BAD1D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A50D7F6F-73A5-A309-1FBC-E0C26C16DB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4BD9C94-B397-4625-B4CF-C2D386CD463E}" type="slidenum">
              <a:rPr altLang="zh-CN" sz="1800"/>
              <a:pPr/>
              <a:t>19</a:t>
            </a:fld>
            <a:endParaRPr lang="zh-CN" altLang="zh-CN" sz="1800"/>
          </a:p>
        </p:txBody>
      </p:sp>
      <p:sp>
        <p:nvSpPr>
          <p:cNvPr id="35843" name="Rectangle 2">
            <a:extLst>
              <a:ext uri="{FF2B5EF4-FFF2-40B4-BE49-F238E27FC236}">
                <a16:creationId xmlns:a16="http://schemas.microsoft.com/office/drawing/2014/main" id="{78CEFC06-7F43-8543-A2DC-C3C69DB51C3D}"/>
              </a:ext>
            </a:extLst>
          </p:cNvPr>
          <p:cNvSpPr>
            <a:spLocks noGrp="1" noRot="1" noChangeAspect="1" noChangeArrowheads="1" noTextEdit="1"/>
          </p:cNvSpPr>
          <p:nvPr>
            <p:ph type="sldImg" idx="4294967295"/>
          </p:nvPr>
        </p:nvSpPr>
        <p:spPr>
          <a:ln/>
        </p:spPr>
      </p:sp>
      <p:sp>
        <p:nvSpPr>
          <p:cNvPr id="35844" name="Rectangle 3">
            <a:extLst>
              <a:ext uri="{FF2B5EF4-FFF2-40B4-BE49-F238E27FC236}">
                <a16:creationId xmlns:a16="http://schemas.microsoft.com/office/drawing/2014/main" id="{F38BE5E3-6B8E-122E-7382-93A4D6199E2B}"/>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E7B1EA78-4A54-F7F4-FF9C-545655CCA1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CD22049E-91F9-4D2F-AACC-D04358574E88}" type="slidenum">
              <a:rPr altLang="zh-CN" sz="1800"/>
              <a:pPr/>
              <a:t>20</a:t>
            </a:fld>
            <a:endParaRPr lang="zh-CN" altLang="zh-CN" sz="1800"/>
          </a:p>
        </p:txBody>
      </p:sp>
      <p:sp>
        <p:nvSpPr>
          <p:cNvPr id="37891" name="Rectangle 2">
            <a:extLst>
              <a:ext uri="{FF2B5EF4-FFF2-40B4-BE49-F238E27FC236}">
                <a16:creationId xmlns:a16="http://schemas.microsoft.com/office/drawing/2014/main" id="{7A473F48-8C4C-4B25-EDB2-226DDF038688}"/>
              </a:ext>
            </a:extLst>
          </p:cNvPr>
          <p:cNvSpPr>
            <a:spLocks noGrp="1" noRot="1" noChangeAspect="1" noChangeArrowheads="1" noTextEdit="1"/>
          </p:cNvSpPr>
          <p:nvPr>
            <p:ph type="sldImg" idx="4294967295"/>
          </p:nvPr>
        </p:nvSpPr>
        <p:spPr>
          <a:ln/>
        </p:spPr>
      </p:sp>
      <p:sp>
        <p:nvSpPr>
          <p:cNvPr id="37892" name="Rectangle 3">
            <a:extLst>
              <a:ext uri="{FF2B5EF4-FFF2-40B4-BE49-F238E27FC236}">
                <a16:creationId xmlns:a16="http://schemas.microsoft.com/office/drawing/2014/main" id="{743FD04B-6A74-E787-EA7B-F8E86AC3AE50}"/>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95FE7FD1-FF5B-F9EF-65DA-45A771FBF2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B05F3DD-F24E-4536-A3AE-768FF964D341}" type="slidenum">
              <a:rPr altLang="zh-CN" sz="1800"/>
              <a:pPr/>
              <a:t>21</a:t>
            </a:fld>
            <a:endParaRPr lang="zh-CN" altLang="zh-CN" sz="1800"/>
          </a:p>
        </p:txBody>
      </p:sp>
      <p:sp>
        <p:nvSpPr>
          <p:cNvPr id="39939" name="Rectangle 2">
            <a:extLst>
              <a:ext uri="{FF2B5EF4-FFF2-40B4-BE49-F238E27FC236}">
                <a16:creationId xmlns:a16="http://schemas.microsoft.com/office/drawing/2014/main" id="{1F3B696E-A3CA-6F9A-E82A-FBFB1BCBA092}"/>
              </a:ext>
            </a:extLst>
          </p:cNvPr>
          <p:cNvSpPr>
            <a:spLocks noGrp="1" noRot="1" noChangeAspect="1" noChangeArrowheads="1" noTextEdit="1"/>
          </p:cNvSpPr>
          <p:nvPr>
            <p:ph type="sldImg" idx="4294967295"/>
          </p:nvPr>
        </p:nvSpPr>
        <p:spPr>
          <a:ln/>
        </p:spPr>
      </p:sp>
      <p:sp>
        <p:nvSpPr>
          <p:cNvPr id="39940" name="Rectangle 3">
            <a:extLst>
              <a:ext uri="{FF2B5EF4-FFF2-40B4-BE49-F238E27FC236}">
                <a16:creationId xmlns:a16="http://schemas.microsoft.com/office/drawing/2014/main" id="{ACB24051-AA66-3399-EDCA-5E6140C9A6A9}"/>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F5420D55-B5A6-8A5E-2947-831D47F36C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DA75DDBA-5934-4F99-BF26-A2AFC4EF2E18}" type="slidenum">
              <a:rPr altLang="zh-CN" sz="1800"/>
              <a:pPr/>
              <a:t>22</a:t>
            </a:fld>
            <a:endParaRPr lang="zh-CN" altLang="zh-CN" sz="1800"/>
          </a:p>
        </p:txBody>
      </p:sp>
      <p:sp>
        <p:nvSpPr>
          <p:cNvPr id="41987" name="Rectangle 2">
            <a:extLst>
              <a:ext uri="{FF2B5EF4-FFF2-40B4-BE49-F238E27FC236}">
                <a16:creationId xmlns:a16="http://schemas.microsoft.com/office/drawing/2014/main" id="{091F2023-0664-C5EA-78A7-8929C0C589BF}"/>
              </a:ext>
            </a:extLst>
          </p:cNvPr>
          <p:cNvSpPr>
            <a:spLocks noGrp="1" noRot="1" noChangeAspect="1" noChangeArrowheads="1" noTextEdit="1"/>
          </p:cNvSpPr>
          <p:nvPr>
            <p:ph type="sldImg" idx="4294967295"/>
          </p:nvPr>
        </p:nvSpPr>
        <p:spPr>
          <a:ln/>
        </p:spPr>
      </p:sp>
      <p:sp>
        <p:nvSpPr>
          <p:cNvPr id="41988" name="Rectangle 3">
            <a:extLst>
              <a:ext uri="{FF2B5EF4-FFF2-40B4-BE49-F238E27FC236}">
                <a16:creationId xmlns:a16="http://schemas.microsoft.com/office/drawing/2014/main" id="{25324174-A38F-D11F-2675-9F90436811E7}"/>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88355C18-5145-D790-35EB-ED2B86D74C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49443FD-E233-4246-8A3D-0208923D07C5}" type="slidenum">
              <a:rPr altLang="zh-CN" sz="1800"/>
              <a:pPr/>
              <a:t>23</a:t>
            </a:fld>
            <a:endParaRPr lang="zh-CN" altLang="zh-CN" sz="1800"/>
          </a:p>
        </p:txBody>
      </p:sp>
      <p:sp>
        <p:nvSpPr>
          <p:cNvPr id="44035" name="Rectangle 2">
            <a:extLst>
              <a:ext uri="{FF2B5EF4-FFF2-40B4-BE49-F238E27FC236}">
                <a16:creationId xmlns:a16="http://schemas.microsoft.com/office/drawing/2014/main" id="{AA8ABABC-271B-CD72-4FC2-825EB4B43A3D}"/>
              </a:ext>
            </a:extLst>
          </p:cNvPr>
          <p:cNvSpPr>
            <a:spLocks noGrp="1" noRot="1" noChangeAspect="1" noChangeArrowheads="1" noTextEdit="1"/>
          </p:cNvSpPr>
          <p:nvPr>
            <p:ph type="sldImg" idx="4294967295"/>
          </p:nvPr>
        </p:nvSpPr>
        <p:spPr>
          <a:ln/>
        </p:spPr>
      </p:sp>
      <p:sp>
        <p:nvSpPr>
          <p:cNvPr id="44036" name="Rectangle 3">
            <a:extLst>
              <a:ext uri="{FF2B5EF4-FFF2-40B4-BE49-F238E27FC236}">
                <a16:creationId xmlns:a16="http://schemas.microsoft.com/office/drawing/2014/main" id="{3E304CC7-7E0A-06AC-5CB1-4133B9AED803}"/>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FC1823E-06CE-5DFC-AA04-4B678C3A4C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5DF9B2A-C258-44E8-9E2B-D4CE4019DC18}" type="slidenum">
              <a:rPr altLang="zh-CN" sz="1800"/>
              <a:pPr/>
              <a:t>24</a:t>
            </a:fld>
            <a:endParaRPr lang="zh-CN" altLang="zh-CN" sz="1800"/>
          </a:p>
        </p:txBody>
      </p:sp>
      <p:sp>
        <p:nvSpPr>
          <p:cNvPr id="46083" name="Rectangle 2">
            <a:extLst>
              <a:ext uri="{FF2B5EF4-FFF2-40B4-BE49-F238E27FC236}">
                <a16:creationId xmlns:a16="http://schemas.microsoft.com/office/drawing/2014/main" id="{3CA65399-DC93-FAF1-0D1D-D09D24DB6A4E}"/>
              </a:ext>
            </a:extLst>
          </p:cNvPr>
          <p:cNvSpPr>
            <a:spLocks noGrp="1" noRot="1" noChangeAspect="1" noChangeArrowheads="1" noTextEdit="1"/>
          </p:cNvSpPr>
          <p:nvPr>
            <p:ph type="sldImg" idx="4294967295"/>
          </p:nvPr>
        </p:nvSpPr>
        <p:spPr>
          <a:ln/>
        </p:spPr>
      </p:sp>
      <p:sp>
        <p:nvSpPr>
          <p:cNvPr id="46084" name="Rectangle 3">
            <a:extLst>
              <a:ext uri="{FF2B5EF4-FFF2-40B4-BE49-F238E27FC236}">
                <a16:creationId xmlns:a16="http://schemas.microsoft.com/office/drawing/2014/main" id="{3AE4BD52-3D0E-982A-72FD-0295CC19F84D}"/>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855B5B05-1EC2-8A67-03F2-9379AE209C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9D64474-D56E-4485-BEF8-6D4F28F5B723}" type="slidenum">
              <a:rPr altLang="zh-CN" sz="1800"/>
              <a:pPr/>
              <a:t>27</a:t>
            </a:fld>
            <a:endParaRPr lang="zh-CN" altLang="zh-CN" sz="1800"/>
          </a:p>
        </p:txBody>
      </p:sp>
      <p:sp>
        <p:nvSpPr>
          <p:cNvPr id="50179" name="Rectangle 2">
            <a:extLst>
              <a:ext uri="{FF2B5EF4-FFF2-40B4-BE49-F238E27FC236}">
                <a16:creationId xmlns:a16="http://schemas.microsoft.com/office/drawing/2014/main" id="{418271F0-AEFC-7D21-A3FC-B9FD224B7484}"/>
              </a:ext>
            </a:extLst>
          </p:cNvPr>
          <p:cNvSpPr>
            <a:spLocks noGrp="1" noRot="1" noChangeAspect="1" noChangeArrowheads="1" noTextEdit="1"/>
          </p:cNvSpPr>
          <p:nvPr>
            <p:ph type="sldImg" idx="4294967295"/>
          </p:nvPr>
        </p:nvSpPr>
        <p:spPr>
          <a:ln/>
        </p:spPr>
      </p:sp>
      <p:sp>
        <p:nvSpPr>
          <p:cNvPr id="50180" name="Rectangle 3">
            <a:extLst>
              <a:ext uri="{FF2B5EF4-FFF2-40B4-BE49-F238E27FC236}">
                <a16:creationId xmlns:a16="http://schemas.microsoft.com/office/drawing/2014/main" id="{67CF1C05-EEF9-8342-BF46-94C2BF435FB6}"/>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818C5067-09D7-F449-8A16-ABB2F419CA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F993057-0F55-4348-BF7B-F805B0C46A04}" type="slidenum">
              <a:rPr altLang="zh-CN" sz="1800"/>
              <a:pPr/>
              <a:t>29</a:t>
            </a:fld>
            <a:endParaRPr lang="zh-CN" altLang="zh-CN" sz="1800"/>
          </a:p>
        </p:txBody>
      </p:sp>
      <p:sp>
        <p:nvSpPr>
          <p:cNvPr id="53251" name="Rectangle 2">
            <a:extLst>
              <a:ext uri="{FF2B5EF4-FFF2-40B4-BE49-F238E27FC236}">
                <a16:creationId xmlns:a16="http://schemas.microsoft.com/office/drawing/2014/main" id="{7083EE5C-9C32-76B7-703C-F594DB795891}"/>
              </a:ext>
            </a:extLst>
          </p:cNvPr>
          <p:cNvSpPr>
            <a:spLocks noGrp="1" noRot="1" noChangeAspect="1" noChangeArrowheads="1" noTextEdit="1"/>
          </p:cNvSpPr>
          <p:nvPr>
            <p:ph type="sldImg" idx="4294967295"/>
          </p:nvPr>
        </p:nvSpPr>
        <p:spPr>
          <a:ln/>
        </p:spPr>
      </p:sp>
      <p:sp>
        <p:nvSpPr>
          <p:cNvPr id="53252" name="Rectangle 3">
            <a:extLst>
              <a:ext uri="{FF2B5EF4-FFF2-40B4-BE49-F238E27FC236}">
                <a16:creationId xmlns:a16="http://schemas.microsoft.com/office/drawing/2014/main" id="{441AA675-C738-D809-24DB-A1A4B84983DE}"/>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CC804AD1-8683-EDD6-FD54-8E78453D0591}"/>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A52ED46B-DE9F-45B1-9F71-6E28F54CAE29}" type="slidenum">
              <a:rPr altLang="zh-CN">
                <a:latin typeface="Arial" panose="020B0604020202020204" pitchFamily="34" charset="0"/>
              </a:rPr>
              <a:pPr/>
              <a:t>30</a:t>
            </a:fld>
            <a:endParaRPr lang="zh-CN" altLang="zh-CN">
              <a:latin typeface="Arial" panose="020B0604020202020204" pitchFamily="34" charset="0"/>
            </a:endParaRPr>
          </a:p>
        </p:txBody>
      </p:sp>
      <p:sp>
        <p:nvSpPr>
          <p:cNvPr id="55299" name="Rectangle 2">
            <a:extLst>
              <a:ext uri="{FF2B5EF4-FFF2-40B4-BE49-F238E27FC236}">
                <a16:creationId xmlns:a16="http://schemas.microsoft.com/office/drawing/2014/main" id="{834DE8FF-481C-DDA1-1106-D3247A8C5EB8}"/>
              </a:ext>
            </a:extLst>
          </p:cNvPr>
          <p:cNvSpPr>
            <a:spLocks noGrp="1" noRot="1" noChangeAspect="1" noChangeArrowheads="1" noTextEdit="1"/>
          </p:cNvSpPr>
          <p:nvPr>
            <p:ph type="sldImg" idx="4294967295"/>
          </p:nvPr>
        </p:nvSpPr>
        <p:spPr>
          <a:ln/>
        </p:spPr>
      </p:sp>
      <p:sp>
        <p:nvSpPr>
          <p:cNvPr id="55300" name="Rectangle 3">
            <a:extLst>
              <a:ext uri="{FF2B5EF4-FFF2-40B4-BE49-F238E27FC236}">
                <a16:creationId xmlns:a16="http://schemas.microsoft.com/office/drawing/2014/main" id="{F9BED1B6-2490-D414-0983-06FA83D4F702}"/>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D4F3C94E-AA90-C517-26C1-615789FB4192}"/>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2F1A175A-83A1-423A-8F73-2358EFCBD6B8}" type="slidenum">
              <a:rPr altLang="zh-CN">
                <a:latin typeface="Arial" panose="020B0604020202020204" pitchFamily="34" charset="0"/>
              </a:rPr>
              <a:pPr/>
              <a:t>31</a:t>
            </a:fld>
            <a:endParaRPr lang="zh-CN" altLang="zh-CN">
              <a:latin typeface="Arial" panose="020B0604020202020204" pitchFamily="34" charset="0"/>
            </a:endParaRPr>
          </a:p>
        </p:txBody>
      </p:sp>
      <p:sp>
        <p:nvSpPr>
          <p:cNvPr id="57347" name="Rectangle 2">
            <a:extLst>
              <a:ext uri="{FF2B5EF4-FFF2-40B4-BE49-F238E27FC236}">
                <a16:creationId xmlns:a16="http://schemas.microsoft.com/office/drawing/2014/main" id="{31E2AA06-0879-8E90-1808-64A46E020109}"/>
              </a:ext>
            </a:extLst>
          </p:cNvPr>
          <p:cNvSpPr>
            <a:spLocks noGrp="1" noRot="1" noChangeAspect="1" noChangeArrowheads="1" noTextEdit="1"/>
          </p:cNvSpPr>
          <p:nvPr>
            <p:ph type="sldImg" idx="4294967295"/>
          </p:nvPr>
        </p:nvSpPr>
        <p:spPr>
          <a:ln/>
        </p:spPr>
      </p:sp>
      <p:sp>
        <p:nvSpPr>
          <p:cNvPr id="57348" name="Rectangle 3">
            <a:extLst>
              <a:ext uri="{FF2B5EF4-FFF2-40B4-BE49-F238E27FC236}">
                <a16:creationId xmlns:a16="http://schemas.microsoft.com/office/drawing/2014/main" id="{11B49550-2E14-C3EA-1C50-1470F91FBB4A}"/>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9FA073B9-6756-02A3-2707-B08918A561EF}"/>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3E85803-752F-4E76-8900-7BEE7E6CC4B4}" type="slidenum">
              <a:rPr altLang="zh-CN">
                <a:latin typeface="Arial" panose="020B0604020202020204" pitchFamily="34" charset="0"/>
              </a:rPr>
              <a:pPr/>
              <a:t>32</a:t>
            </a:fld>
            <a:endParaRPr lang="zh-CN" altLang="zh-CN">
              <a:latin typeface="Arial" panose="020B0604020202020204" pitchFamily="34" charset="0"/>
            </a:endParaRPr>
          </a:p>
        </p:txBody>
      </p:sp>
      <p:sp>
        <p:nvSpPr>
          <p:cNvPr id="59395" name="Rectangle 2">
            <a:extLst>
              <a:ext uri="{FF2B5EF4-FFF2-40B4-BE49-F238E27FC236}">
                <a16:creationId xmlns:a16="http://schemas.microsoft.com/office/drawing/2014/main" id="{09DD1B9B-7E25-0941-7651-A6ECF6A22986}"/>
              </a:ext>
            </a:extLst>
          </p:cNvPr>
          <p:cNvSpPr>
            <a:spLocks noGrp="1" noRot="1" noChangeAspect="1" noChangeArrowheads="1" noTextEdit="1"/>
          </p:cNvSpPr>
          <p:nvPr>
            <p:ph type="sldImg" idx="4294967295"/>
          </p:nvPr>
        </p:nvSpPr>
        <p:spPr>
          <a:ln/>
        </p:spPr>
      </p:sp>
      <p:sp>
        <p:nvSpPr>
          <p:cNvPr id="59396" name="Rectangle 3">
            <a:extLst>
              <a:ext uri="{FF2B5EF4-FFF2-40B4-BE49-F238E27FC236}">
                <a16:creationId xmlns:a16="http://schemas.microsoft.com/office/drawing/2014/main" id="{528D252A-B58E-1285-2B42-5C3E4521F0E6}"/>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B90118C1-F38C-5090-8EC6-893D8B4E19EA}"/>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A772212-262E-4581-B372-92906B6E8D9E}" type="slidenum">
              <a:rPr altLang="zh-CN">
                <a:latin typeface="Arial" panose="020B0604020202020204" pitchFamily="34" charset="0"/>
              </a:rPr>
              <a:pPr/>
              <a:t>33</a:t>
            </a:fld>
            <a:endParaRPr lang="zh-CN" altLang="zh-CN">
              <a:latin typeface="Arial" panose="020B0604020202020204" pitchFamily="34" charset="0"/>
            </a:endParaRPr>
          </a:p>
        </p:txBody>
      </p:sp>
      <p:sp>
        <p:nvSpPr>
          <p:cNvPr id="61443" name="Rectangle 2">
            <a:extLst>
              <a:ext uri="{FF2B5EF4-FFF2-40B4-BE49-F238E27FC236}">
                <a16:creationId xmlns:a16="http://schemas.microsoft.com/office/drawing/2014/main" id="{1DA26602-ACC6-775A-A335-2F9CCE053F95}"/>
              </a:ext>
            </a:extLst>
          </p:cNvPr>
          <p:cNvSpPr>
            <a:spLocks noGrp="1" noRot="1" noChangeAspect="1" noChangeArrowheads="1" noTextEdit="1"/>
          </p:cNvSpPr>
          <p:nvPr>
            <p:ph type="sldImg" idx="4294967295"/>
          </p:nvPr>
        </p:nvSpPr>
        <p:spPr>
          <a:ln/>
        </p:spPr>
      </p:sp>
      <p:sp>
        <p:nvSpPr>
          <p:cNvPr id="61444" name="Rectangle 3">
            <a:extLst>
              <a:ext uri="{FF2B5EF4-FFF2-40B4-BE49-F238E27FC236}">
                <a16:creationId xmlns:a16="http://schemas.microsoft.com/office/drawing/2014/main" id="{389C7C77-FF15-B982-C501-0E1289506D08}"/>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8B829E2E-87F3-ACFB-68D2-91EC6CEE1166}"/>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FC6483E-BB5A-4B2B-A12D-BF214DA045A5}" type="slidenum">
              <a:rPr altLang="zh-CN">
                <a:latin typeface="Arial" panose="020B0604020202020204" pitchFamily="34" charset="0"/>
              </a:rPr>
              <a:pPr/>
              <a:t>35</a:t>
            </a:fld>
            <a:endParaRPr lang="zh-CN" altLang="zh-CN">
              <a:latin typeface="Arial" panose="020B0604020202020204" pitchFamily="34" charset="0"/>
            </a:endParaRPr>
          </a:p>
        </p:txBody>
      </p:sp>
      <p:sp>
        <p:nvSpPr>
          <p:cNvPr id="63491" name="Rectangle 2">
            <a:extLst>
              <a:ext uri="{FF2B5EF4-FFF2-40B4-BE49-F238E27FC236}">
                <a16:creationId xmlns:a16="http://schemas.microsoft.com/office/drawing/2014/main" id="{F2C377D9-448F-7D9B-1BBC-5E8F1177B0AE}"/>
              </a:ext>
            </a:extLst>
          </p:cNvPr>
          <p:cNvSpPr>
            <a:spLocks noGrp="1" noRot="1" noChangeAspect="1" noChangeArrowheads="1" noTextEdit="1"/>
          </p:cNvSpPr>
          <p:nvPr>
            <p:ph type="sldImg" idx="4294967295"/>
          </p:nvPr>
        </p:nvSpPr>
        <p:spPr>
          <a:ln/>
        </p:spPr>
      </p:sp>
      <p:sp>
        <p:nvSpPr>
          <p:cNvPr id="63492" name="Rectangle 3">
            <a:extLst>
              <a:ext uri="{FF2B5EF4-FFF2-40B4-BE49-F238E27FC236}">
                <a16:creationId xmlns:a16="http://schemas.microsoft.com/office/drawing/2014/main" id="{108E1D57-FF4C-7200-0037-0D23EF942DD1}"/>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7DA49655-A6F0-561C-6231-09712299BC1E}"/>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EBF630DD-A209-4B3C-B256-1B0436986713}" type="slidenum">
              <a:rPr altLang="zh-CN">
                <a:latin typeface="Arial" panose="020B0604020202020204" pitchFamily="34" charset="0"/>
              </a:rPr>
              <a:pPr/>
              <a:t>38</a:t>
            </a:fld>
            <a:endParaRPr lang="zh-CN" altLang="zh-CN">
              <a:latin typeface="Arial" panose="020B0604020202020204" pitchFamily="34" charset="0"/>
            </a:endParaRPr>
          </a:p>
        </p:txBody>
      </p:sp>
      <p:sp>
        <p:nvSpPr>
          <p:cNvPr id="67587" name="Rectangle 2">
            <a:extLst>
              <a:ext uri="{FF2B5EF4-FFF2-40B4-BE49-F238E27FC236}">
                <a16:creationId xmlns:a16="http://schemas.microsoft.com/office/drawing/2014/main" id="{7ECA86DF-DFDC-946A-784E-858013B1988D}"/>
              </a:ext>
            </a:extLst>
          </p:cNvPr>
          <p:cNvSpPr>
            <a:spLocks noGrp="1" noRot="1" noChangeAspect="1" noChangeArrowheads="1" noTextEdit="1"/>
          </p:cNvSpPr>
          <p:nvPr>
            <p:ph type="sldImg" idx="4294967295"/>
          </p:nvPr>
        </p:nvSpPr>
        <p:spPr>
          <a:ln/>
        </p:spPr>
      </p:sp>
      <p:sp>
        <p:nvSpPr>
          <p:cNvPr id="67588" name="Rectangle 3">
            <a:extLst>
              <a:ext uri="{FF2B5EF4-FFF2-40B4-BE49-F238E27FC236}">
                <a16:creationId xmlns:a16="http://schemas.microsoft.com/office/drawing/2014/main" id="{EFEFF31D-2FD3-E3D5-D2D3-AB779306E4F1}"/>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50F5E9E-5521-ED7A-AED2-6FF3F300FB5A}"/>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469FCBE8-DA1F-4E7D-9348-BAC7DC6093E9}" type="slidenum">
              <a:rPr altLang="zh-CN">
                <a:latin typeface="Arial" panose="020B0604020202020204" pitchFamily="34" charset="0"/>
              </a:rPr>
              <a:pPr/>
              <a:t>39</a:t>
            </a:fld>
            <a:endParaRPr lang="zh-CN" altLang="zh-CN">
              <a:latin typeface="Arial" panose="020B0604020202020204" pitchFamily="34" charset="0"/>
            </a:endParaRPr>
          </a:p>
        </p:txBody>
      </p:sp>
      <p:sp>
        <p:nvSpPr>
          <p:cNvPr id="69635" name="Rectangle 2">
            <a:extLst>
              <a:ext uri="{FF2B5EF4-FFF2-40B4-BE49-F238E27FC236}">
                <a16:creationId xmlns:a16="http://schemas.microsoft.com/office/drawing/2014/main" id="{F98D1A6C-1B1C-4959-5678-86CDFD29E0ED}"/>
              </a:ext>
            </a:extLst>
          </p:cNvPr>
          <p:cNvSpPr>
            <a:spLocks noGrp="1" noRot="1" noChangeAspect="1" noChangeArrowheads="1" noTextEdit="1"/>
          </p:cNvSpPr>
          <p:nvPr>
            <p:ph type="sldImg" idx="4294967295"/>
          </p:nvPr>
        </p:nvSpPr>
        <p:spPr>
          <a:ln/>
        </p:spPr>
      </p:sp>
      <p:sp>
        <p:nvSpPr>
          <p:cNvPr id="69636" name="Rectangle 3">
            <a:extLst>
              <a:ext uri="{FF2B5EF4-FFF2-40B4-BE49-F238E27FC236}">
                <a16:creationId xmlns:a16="http://schemas.microsoft.com/office/drawing/2014/main" id="{69622A24-7435-42CC-288C-60C0408E61DE}"/>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79DFCF5-C283-952B-F591-552002BC7285}"/>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17C2AB1-1BD1-46C9-8EBE-396A86B38CAE}" type="slidenum">
              <a:rPr altLang="zh-CN">
                <a:latin typeface="Arial" panose="020B0604020202020204" pitchFamily="34" charset="0"/>
              </a:rPr>
              <a:pPr/>
              <a:t>40</a:t>
            </a:fld>
            <a:endParaRPr lang="zh-CN" altLang="zh-CN">
              <a:latin typeface="Arial" panose="020B0604020202020204" pitchFamily="34" charset="0"/>
            </a:endParaRPr>
          </a:p>
        </p:txBody>
      </p:sp>
      <p:sp>
        <p:nvSpPr>
          <p:cNvPr id="71683" name="Rectangle 2">
            <a:extLst>
              <a:ext uri="{FF2B5EF4-FFF2-40B4-BE49-F238E27FC236}">
                <a16:creationId xmlns:a16="http://schemas.microsoft.com/office/drawing/2014/main" id="{D97056E5-1E7A-DA55-7538-A0B6EC4B72A4}"/>
              </a:ext>
            </a:extLst>
          </p:cNvPr>
          <p:cNvSpPr>
            <a:spLocks noGrp="1" noRot="1" noChangeAspect="1" noChangeArrowheads="1" noTextEdit="1"/>
          </p:cNvSpPr>
          <p:nvPr>
            <p:ph type="sldImg" idx="4294967295"/>
          </p:nvPr>
        </p:nvSpPr>
        <p:spPr>
          <a:ln/>
        </p:spPr>
      </p:sp>
      <p:sp>
        <p:nvSpPr>
          <p:cNvPr id="71684" name="Rectangle 3">
            <a:extLst>
              <a:ext uri="{FF2B5EF4-FFF2-40B4-BE49-F238E27FC236}">
                <a16:creationId xmlns:a16="http://schemas.microsoft.com/office/drawing/2014/main" id="{44A81EF8-003C-D2DF-140E-216342AD013E}"/>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E948D13F-95CE-D96E-7A7C-4B921834E23F}"/>
              </a:ext>
            </a:extLst>
          </p:cNvPr>
          <p:cNvSpPr>
            <a:spLocks noGrp="1" noChangeArrowheads="1"/>
          </p:cNvSpPr>
          <p:nvPr>
            <p:ph type="sldNum" sz="quarter" idx="5"/>
          </p:nvPr>
        </p:nvSpPr>
        <p:spPr>
          <a:xfrm>
            <a:off x="3884613" y="8685213"/>
            <a:ext cx="2971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127F0756-3285-4630-92FC-457C8B163940}" type="slidenum">
              <a:rPr altLang="zh-CN">
                <a:latin typeface="Arial" panose="020B0604020202020204" pitchFamily="34" charset="0"/>
              </a:rPr>
              <a:pPr/>
              <a:t>41</a:t>
            </a:fld>
            <a:endParaRPr lang="zh-CN" altLang="zh-CN">
              <a:latin typeface="Arial" panose="020B0604020202020204" pitchFamily="34" charset="0"/>
            </a:endParaRPr>
          </a:p>
        </p:txBody>
      </p:sp>
      <p:sp>
        <p:nvSpPr>
          <p:cNvPr id="73731" name="Rectangle 2">
            <a:extLst>
              <a:ext uri="{FF2B5EF4-FFF2-40B4-BE49-F238E27FC236}">
                <a16:creationId xmlns:a16="http://schemas.microsoft.com/office/drawing/2014/main" id="{D555EC59-EFEE-BE37-2779-A9DD7D537DE0}"/>
              </a:ext>
            </a:extLst>
          </p:cNvPr>
          <p:cNvSpPr>
            <a:spLocks noGrp="1" noRot="1" noChangeAspect="1" noChangeArrowheads="1" noTextEdit="1"/>
          </p:cNvSpPr>
          <p:nvPr>
            <p:ph type="sldImg" idx="4294967295"/>
          </p:nvPr>
        </p:nvSpPr>
        <p:spPr>
          <a:ln/>
        </p:spPr>
      </p:sp>
      <p:sp>
        <p:nvSpPr>
          <p:cNvPr id="73732" name="Rectangle 3">
            <a:extLst>
              <a:ext uri="{FF2B5EF4-FFF2-40B4-BE49-F238E27FC236}">
                <a16:creationId xmlns:a16="http://schemas.microsoft.com/office/drawing/2014/main" id="{F9C61461-C6E8-CB66-BFEB-20EC8383A2D7}"/>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4FCFB3F-2226-577E-FB66-410174D7483A}"/>
              </a:ext>
            </a:extLst>
          </p:cNvPr>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6146" name="Rectangle 2"/>
          <p:cNvSpPr>
            <a:spLocks noGrp="1" noChangeArrowheads="1"/>
          </p:cNvSpPr>
          <p:nvPr>
            <p:ph type="ctrTitle"/>
          </p:nvPr>
        </p:nvSpPr>
        <p:spPr>
          <a:xfrm>
            <a:off x="685800" y="990600"/>
            <a:ext cx="7772400" cy="1371600"/>
          </a:xfrm>
        </p:spPr>
        <p:txBody>
          <a:bodyPr/>
          <a:lstStyle>
            <a:lvl1pPr>
              <a:defRPr sz="4000"/>
            </a:lvl1pPr>
          </a:lstStyle>
          <a:p>
            <a:r>
              <a:rPr lang="zh-CN" altLang="en-US" noProof="1"/>
              <a:t>单击此处编辑母版标题样式</a:t>
            </a:r>
          </a:p>
        </p:txBody>
      </p:sp>
      <p:sp>
        <p:nvSpPr>
          <p:cNvPr id="6147" name="Rectangle 3"/>
          <p:cNvSpPr>
            <a:spLocks noGrp="1" noChangeArrowheads="1"/>
          </p:cNvSpPr>
          <p:nvPr>
            <p:ph type="subTitle" idx="1"/>
          </p:nvPr>
        </p:nvSpPr>
        <p:spPr>
          <a:xfrm>
            <a:off x="1447800" y="3429000"/>
            <a:ext cx="7010400" cy="1600200"/>
          </a:xfrm>
        </p:spPr>
        <p:txBody>
          <a:bodyPr/>
          <a:lstStyle>
            <a:lvl1pPr marL="0" indent="0">
              <a:buFont typeface="Wingdings" panose="05000000000000000000" pitchFamily="2" charset="2"/>
              <a:buNone/>
              <a:defRPr sz="2800"/>
            </a:lvl1pPr>
          </a:lstStyle>
          <a:p>
            <a:r>
              <a:rPr lang="zh-CN" altLang="en-US" noProof="1"/>
              <a:t>单击此处编辑母版副标题样式</a:t>
            </a:r>
          </a:p>
        </p:txBody>
      </p:sp>
      <p:sp>
        <p:nvSpPr>
          <p:cNvPr id="3" name="Rectangle 4">
            <a:extLst>
              <a:ext uri="{FF2B5EF4-FFF2-40B4-BE49-F238E27FC236}">
                <a16:creationId xmlns:a16="http://schemas.microsoft.com/office/drawing/2014/main" id="{E63CD659-04EB-352B-4BDA-C1C8AC01E663}"/>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B7B3E3AA-50FF-F1A9-0865-0590F91C01A1}"/>
              </a:ext>
            </a:extLst>
          </p:cNvPr>
          <p:cNvSpPr>
            <a:spLocks noGrp="1" noChangeArrowheads="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561C811-9616-FAC3-2727-7458AEEC49F8}"/>
              </a:ext>
            </a:extLst>
          </p:cNvPr>
          <p:cNvSpPr>
            <a:spLocks noGrp="1" noChangeArrowheads="1"/>
          </p:cNvSpPr>
          <p:nvPr>
            <p:ph type="sldNum" sz="quarter" idx="12"/>
          </p:nvPr>
        </p:nvSpPr>
        <p:spPr>
          <a:xfrm>
            <a:off x="6553200" y="6248400"/>
            <a:ext cx="1905000" cy="457200"/>
          </a:xfrm>
        </p:spPr>
        <p:txBody>
          <a:bodyPr/>
          <a:lstStyle>
            <a:lvl1pPr>
              <a:defRPr/>
            </a:lvl1pPr>
          </a:lstStyle>
          <a:p>
            <a:fld id="{4FC7FB37-781A-4DB0-8886-0F565F8CF407}" type="slidenum">
              <a:rPr altLang="zh-CN"/>
              <a:pPr/>
              <a:t>‹#›</a:t>
            </a:fld>
            <a:endParaRPr lang="zh-CN" altLang="zh-CN"/>
          </a:p>
        </p:txBody>
      </p:sp>
    </p:spTree>
    <p:extLst>
      <p:ext uri="{BB962C8B-B14F-4D97-AF65-F5344CB8AC3E}">
        <p14:creationId xmlns:p14="http://schemas.microsoft.com/office/powerpoint/2010/main" val="3685602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66245FDE-D45E-991D-A75C-34DB35532D0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2E9A75E5-E1EB-0611-A7BB-793563B18AF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CA67BAEB-E9BE-4890-C005-C27C13A20CB3}"/>
              </a:ext>
            </a:extLst>
          </p:cNvPr>
          <p:cNvSpPr>
            <a:spLocks noGrp="1" noChangeArrowheads="1"/>
          </p:cNvSpPr>
          <p:nvPr>
            <p:ph type="sldNum" sz="quarter" idx="12"/>
          </p:nvPr>
        </p:nvSpPr>
        <p:spPr>
          <a:ln/>
        </p:spPr>
        <p:txBody>
          <a:bodyPr/>
          <a:lstStyle>
            <a:lvl1pPr>
              <a:defRPr/>
            </a:lvl1pPr>
          </a:lstStyle>
          <a:p>
            <a:fld id="{503E0B70-0A91-4C0E-A904-E58F123574EB}" type="slidenum">
              <a:rPr altLang="zh-CN"/>
              <a:pPr/>
              <a:t>‹#›</a:t>
            </a:fld>
            <a:endParaRPr lang="zh-CN" altLang="zh-CN"/>
          </a:p>
        </p:txBody>
      </p:sp>
    </p:spTree>
    <p:extLst>
      <p:ext uri="{BB962C8B-B14F-4D97-AF65-F5344CB8AC3E}">
        <p14:creationId xmlns:p14="http://schemas.microsoft.com/office/powerpoint/2010/main" val="4019570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a:extLst>
              <a:ext uri="{FF2B5EF4-FFF2-40B4-BE49-F238E27FC236}">
                <a16:creationId xmlns:a16="http://schemas.microsoft.com/office/drawing/2014/main" id="{0E5AC461-D9F4-6AAC-832F-2C341C8C7D1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4DD5E5A2-290D-81A6-36F5-587E1DCCAFB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9F84247C-74A4-FF0F-EAAA-7CFFF5E39E5F}"/>
              </a:ext>
            </a:extLst>
          </p:cNvPr>
          <p:cNvSpPr>
            <a:spLocks noGrp="1" noChangeArrowheads="1"/>
          </p:cNvSpPr>
          <p:nvPr>
            <p:ph type="sldNum" sz="quarter" idx="12"/>
          </p:nvPr>
        </p:nvSpPr>
        <p:spPr>
          <a:ln/>
        </p:spPr>
        <p:txBody>
          <a:bodyPr/>
          <a:lstStyle>
            <a:lvl1pPr>
              <a:defRPr/>
            </a:lvl1pPr>
          </a:lstStyle>
          <a:p>
            <a:fld id="{63AE52C0-5EC7-463C-A3BD-F7140F555DCD}" type="slidenum">
              <a:rPr altLang="zh-CN"/>
              <a:pPr/>
              <a:t>‹#›</a:t>
            </a:fld>
            <a:endParaRPr lang="zh-CN" altLang="zh-CN"/>
          </a:p>
        </p:txBody>
      </p:sp>
    </p:spTree>
    <p:extLst>
      <p:ext uri="{BB962C8B-B14F-4D97-AF65-F5344CB8AC3E}">
        <p14:creationId xmlns:p14="http://schemas.microsoft.com/office/powerpoint/2010/main" val="226802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a:extLst>
              <a:ext uri="{FF2B5EF4-FFF2-40B4-BE49-F238E27FC236}">
                <a16:creationId xmlns:a16="http://schemas.microsoft.com/office/drawing/2014/main" id="{B1A47F47-4689-1E6E-EAAD-FFA6FDAAE22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FF25FCD7-F1D8-4D1F-3737-BDBF23B8264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2AC4AF06-3BBA-DAC6-6681-2A0C33A00F49}"/>
              </a:ext>
            </a:extLst>
          </p:cNvPr>
          <p:cNvSpPr>
            <a:spLocks noGrp="1" noChangeArrowheads="1"/>
          </p:cNvSpPr>
          <p:nvPr>
            <p:ph type="sldNum" sz="quarter" idx="12"/>
          </p:nvPr>
        </p:nvSpPr>
        <p:spPr>
          <a:ln/>
        </p:spPr>
        <p:txBody>
          <a:bodyPr/>
          <a:lstStyle>
            <a:lvl1pPr>
              <a:defRPr/>
            </a:lvl1pPr>
          </a:lstStyle>
          <a:p>
            <a:fld id="{E4AF8F54-2C1B-4B6E-8D36-09FDC2E9D811}" type="slidenum">
              <a:rPr altLang="zh-CN"/>
              <a:pPr/>
              <a:t>‹#›</a:t>
            </a:fld>
            <a:endParaRPr lang="zh-CN" altLang="zh-CN"/>
          </a:p>
        </p:txBody>
      </p:sp>
    </p:spTree>
    <p:extLst>
      <p:ext uri="{BB962C8B-B14F-4D97-AF65-F5344CB8AC3E}">
        <p14:creationId xmlns:p14="http://schemas.microsoft.com/office/powerpoint/2010/main" val="3614360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a:extLst>
              <a:ext uri="{FF2B5EF4-FFF2-40B4-BE49-F238E27FC236}">
                <a16:creationId xmlns:a16="http://schemas.microsoft.com/office/drawing/2014/main" id="{7C7F7887-9370-E4AC-6B97-764170C996D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7">
            <a:extLst>
              <a:ext uri="{FF2B5EF4-FFF2-40B4-BE49-F238E27FC236}">
                <a16:creationId xmlns:a16="http://schemas.microsoft.com/office/drawing/2014/main" id="{01328624-BEFB-DC47-3585-4CFE5292299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a:extLst>
              <a:ext uri="{FF2B5EF4-FFF2-40B4-BE49-F238E27FC236}">
                <a16:creationId xmlns:a16="http://schemas.microsoft.com/office/drawing/2014/main" id="{5B4EEB1D-A280-12A3-4688-32D6E995E508}"/>
              </a:ext>
            </a:extLst>
          </p:cNvPr>
          <p:cNvSpPr>
            <a:spLocks noGrp="1" noChangeArrowheads="1"/>
          </p:cNvSpPr>
          <p:nvPr>
            <p:ph type="sldNum" sz="quarter" idx="12"/>
          </p:nvPr>
        </p:nvSpPr>
        <p:spPr>
          <a:ln/>
        </p:spPr>
        <p:txBody>
          <a:bodyPr/>
          <a:lstStyle>
            <a:lvl1pPr>
              <a:defRPr/>
            </a:lvl1pPr>
          </a:lstStyle>
          <a:p>
            <a:fld id="{70A6D568-AC72-4E54-B870-3BE7484F93A8}" type="slidenum">
              <a:rPr altLang="zh-CN"/>
              <a:pPr/>
              <a:t>‹#›</a:t>
            </a:fld>
            <a:endParaRPr lang="zh-CN" altLang="zh-CN"/>
          </a:p>
        </p:txBody>
      </p:sp>
    </p:spTree>
    <p:extLst>
      <p:ext uri="{BB962C8B-B14F-4D97-AF65-F5344CB8AC3E}">
        <p14:creationId xmlns:p14="http://schemas.microsoft.com/office/powerpoint/2010/main" val="1930225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a:extLst>
              <a:ext uri="{FF2B5EF4-FFF2-40B4-BE49-F238E27FC236}">
                <a16:creationId xmlns:a16="http://schemas.microsoft.com/office/drawing/2014/main" id="{D66002D0-8C8B-6639-D774-503B3CEE143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7">
            <a:extLst>
              <a:ext uri="{FF2B5EF4-FFF2-40B4-BE49-F238E27FC236}">
                <a16:creationId xmlns:a16="http://schemas.microsoft.com/office/drawing/2014/main" id="{36E9BFED-90DD-FED0-787A-62589A3DBB3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a:extLst>
              <a:ext uri="{FF2B5EF4-FFF2-40B4-BE49-F238E27FC236}">
                <a16:creationId xmlns:a16="http://schemas.microsoft.com/office/drawing/2014/main" id="{3D7442AA-1413-CD70-494B-9B1356D4B631}"/>
              </a:ext>
            </a:extLst>
          </p:cNvPr>
          <p:cNvSpPr>
            <a:spLocks noGrp="1" noChangeArrowheads="1"/>
          </p:cNvSpPr>
          <p:nvPr>
            <p:ph type="sldNum" sz="quarter" idx="12"/>
          </p:nvPr>
        </p:nvSpPr>
        <p:spPr>
          <a:ln/>
        </p:spPr>
        <p:txBody>
          <a:bodyPr/>
          <a:lstStyle>
            <a:lvl1pPr>
              <a:defRPr/>
            </a:lvl1pPr>
          </a:lstStyle>
          <a:p>
            <a:fld id="{E8658212-90C7-4C05-A834-CA914AF46F5A}" type="slidenum">
              <a:rPr altLang="zh-CN"/>
              <a:pPr/>
              <a:t>‹#›</a:t>
            </a:fld>
            <a:endParaRPr lang="zh-CN" altLang="zh-CN"/>
          </a:p>
        </p:txBody>
      </p:sp>
    </p:spTree>
    <p:extLst>
      <p:ext uri="{BB962C8B-B14F-4D97-AF65-F5344CB8AC3E}">
        <p14:creationId xmlns:p14="http://schemas.microsoft.com/office/powerpoint/2010/main" val="191151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FC42A02C-EDA2-F95F-FC10-4766EB1B229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7">
            <a:extLst>
              <a:ext uri="{FF2B5EF4-FFF2-40B4-BE49-F238E27FC236}">
                <a16:creationId xmlns:a16="http://schemas.microsoft.com/office/drawing/2014/main" id="{75055943-AFC3-3627-C5A8-88BA3509BE3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a:extLst>
              <a:ext uri="{FF2B5EF4-FFF2-40B4-BE49-F238E27FC236}">
                <a16:creationId xmlns:a16="http://schemas.microsoft.com/office/drawing/2014/main" id="{57D6F300-0939-4816-B8B8-7B3F01C5385F}"/>
              </a:ext>
            </a:extLst>
          </p:cNvPr>
          <p:cNvSpPr>
            <a:spLocks noGrp="1" noChangeArrowheads="1"/>
          </p:cNvSpPr>
          <p:nvPr>
            <p:ph type="sldNum" sz="quarter" idx="12"/>
          </p:nvPr>
        </p:nvSpPr>
        <p:spPr>
          <a:ln/>
        </p:spPr>
        <p:txBody>
          <a:bodyPr/>
          <a:lstStyle>
            <a:lvl1pPr>
              <a:defRPr/>
            </a:lvl1pPr>
          </a:lstStyle>
          <a:p>
            <a:fld id="{BF28294F-06C0-4A42-9D7E-9347D0B1C708}" type="slidenum">
              <a:rPr altLang="zh-CN"/>
              <a:pPr/>
              <a:t>‹#›</a:t>
            </a:fld>
            <a:endParaRPr lang="zh-CN" altLang="zh-CN"/>
          </a:p>
        </p:txBody>
      </p:sp>
    </p:spTree>
    <p:extLst>
      <p:ext uri="{BB962C8B-B14F-4D97-AF65-F5344CB8AC3E}">
        <p14:creationId xmlns:p14="http://schemas.microsoft.com/office/powerpoint/2010/main" val="3876936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a:extLst>
              <a:ext uri="{FF2B5EF4-FFF2-40B4-BE49-F238E27FC236}">
                <a16:creationId xmlns:a16="http://schemas.microsoft.com/office/drawing/2014/main" id="{C478BEB6-E035-F7AE-C299-5294185E59F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6C16D9E1-3E6E-DDF7-CA73-5240CBA8DB0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0860EF8E-2EDB-04AC-FD71-C8B266DC45FF}"/>
              </a:ext>
            </a:extLst>
          </p:cNvPr>
          <p:cNvSpPr>
            <a:spLocks noGrp="1" noChangeArrowheads="1"/>
          </p:cNvSpPr>
          <p:nvPr>
            <p:ph type="sldNum" sz="quarter" idx="12"/>
          </p:nvPr>
        </p:nvSpPr>
        <p:spPr>
          <a:ln/>
        </p:spPr>
        <p:txBody>
          <a:bodyPr/>
          <a:lstStyle>
            <a:lvl1pPr>
              <a:defRPr/>
            </a:lvl1pPr>
          </a:lstStyle>
          <a:p>
            <a:fld id="{D1192CD3-268E-48C1-A3B1-570C068D9692}" type="slidenum">
              <a:rPr altLang="zh-CN"/>
              <a:pPr/>
              <a:t>‹#›</a:t>
            </a:fld>
            <a:endParaRPr lang="zh-CN" altLang="zh-CN"/>
          </a:p>
        </p:txBody>
      </p:sp>
    </p:spTree>
    <p:extLst>
      <p:ext uri="{BB962C8B-B14F-4D97-AF65-F5344CB8AC3E}">
        <p14:creationId xmlns:p14="http://schemas.microsoft.com/office/powerpoint/2010/main" val="234094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a:extLst>
              <a:ext uri="{FF2B5EF4-FFF2-40B4-BE49-F238E27FC236}">
                <a16:creationId xmlns:a16="http://schemas.microsoft.com/office/drawing/2014/main" id="{D4CBD449-4EA6-B67E-8926-B2BF6642E73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a:extLst>
              <a:ext uri="{FF2B5EF4-FFF2-40B4-BE49-F238E27FC236}">
                <a16:creationId xmlns:a16="http://schemas.microsoft.com/office/drawing/2014/main" id="{AE0EBA61-4701-B2A3-C3CA-61C7183F197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a:extLst>
              <a:ext uri="{FF2B5EF4-FFF2-40B4-BE49-F238E27FC236}">
                <a16:creationId xmlns:a16="http://schemas.microsoft.com/office/drawing/2014/main" id="{50CC3A9D-244B-BE08-FBCC-D6CD1D743C93}"/>
              </a:ext>
            </a:extLst>
          </p:cNvPr>
          <p:cNvSpPr>
            <a:spLocks noGrp="1" noChangeArrowheads="1"/>
          </p:cNvSpPr>
          <p:nvPr>
            <p:ph type="sldNum" sz="quarter" idx="12"/>
          </p:nvPr>
        </p:nvSpPr>
        <p:spPr>
          <a:ln/>
        </p:spPr>
        <p:txBody>
          <a:bodyPr/>
          <a:lstStyle>
            <a:lvl1pPr>
              <a:defRPr/>
            </a:lvl1pPr>
          </a:lstStyle>
          <a:p>
            <a:fld id="{177564EE-7652-47A5-9D0E-95B4089AE3D2}" type="slidenum">
              <a:rPr altLang="zh-CN"/>
              <a:pPr/>
              <a:t>‹#›</a:t>
            </a:fld>
            <a:endParaRPr lang="zh-CN" altLang="zh-CN"/>
          </a:p>
        </p:txBody>
      </p:sp>
    </p:spTree>
    <p:extLst>
      <p:ext uri="{BB962C8B-B14F-4D97-AF65-F5344CB8AC3E}">
        <p14:creationId xmlns:p14="http://schemas.microsoft.com/office/powerpoint/2010/main" val="3590198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980DA85A-148B-8774-238F-6A21E57BB15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13A3B994-4EC9-8FE1-7668-68B8D30C8E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2E649029-1739-EE3F-54BE-1801A9501E17}"/>
              </a:ext>
            </a:extLst>
          </p:cNvPr>
          <p:cNvSpPr>
            <a:spLocks noGrp="1" noChangeArrowheads="1"/>
          </p:cNvSpPr>
          <p:nvPr>
            <p:ph type="sldNum" sz="quarter" idx="12"/>
          </p:nvPr>
        </p:nvSpPr>
        <p:spPr>
          <a:ln/>
        </p:spPr>
        <p:txBody>
          <a:bodyPr/>
          <a:lstStyle>
            <a:lvl1pPr>
              <a:defRPr/>
            </a:lvl1pPr>
          </a:lstStyle>
          <a:p>
            <a:fld id="{D013BF0A-FC99-4BCD-B52B-7313D9DB33FF}" type="slidenum">
              <a:rPr altLang="zh-CN"/>
              <a:pPr/>
              <a:t>‹#›</a:t>
            </a:fld>
            <a:endParaRPr lang="zh-CN" altLang="zh-CN"/>
          </a:p>
        </p:txBody>
      </p:sp>
    </p:spTree>
    <p:extLst>
      <p:ext uri="{BB962C8B-B14F-4D97-AF65-F5344CB8AC3E}">
        <p14:creationId xmlns:p14="http://schemas.microsoft.com/office/powerpoint/2010/main" val="727986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571500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566738" y="304800"/>
            <a:ext cx="5854700" cy="571500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a:extLst>
              <a:ext uri="{FF2B5EF4-FFF2-40B4-BE49-F238E27FC236}">
                <a16:creationId xmlns:a16="http://schemas.microsoft.com/office/drawing/2014/main" id="{4CA8158B-2D29-80DA-125E-B1CCEF290A6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a:extLst>
              <a:ext uri="{FF2B5EF4-FFF2-40B4-BE49-F238E27FC236}">
                <a16:creationId xmlns:a16="http://schemas.microsoft.com/office/drawing/2014/main" id="{A80C435E-F012-BFAE-68B3-20AA42992D9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E1B3F97E-43CD-2AB7-BBA1-AB3B86D45658}"/>
              </a:ext>
            </a:extLst>
          </p:cNvPr>
          <p:cNvSpPr>
            <a:spLocks noGrp="1" noChangeArrowheads="1"/>
          </p:cNvSpPr>
          <p:nvPr>
            <p:ph type="sldNum" sz="quarter" idx="12"/>
          </p:nvPr>
        </p:nvSpPr>
        <p:spPr>
          <a:ln/>
        </p:spPr>
        <p:txBody>
          <a:bodyPr/>
          <a:lstStyle>
            <a:lvl1pPr>
              <a:defRPr/>
            </a:lvl1pPr>
          </a:lstStyle>
          <a:p>
            <a:fld id="{15970C3D-3353-47B3-8F31-4DDAE55D14E0}" type="slidenum">
              <a:rPr altLang="zh-CN"/>
              <a:pPr/>
              <a:t>‹#›</a:t>
            </a:fld>
            <a:endParaRPr lang="zh-CN" altLang="zh-CN"/>
          </a:p>
        </p:txBody>
      </p:sp>
    </p:spTree>
    <p:extLst>
      <p:ext uri="{BB962C8B-B14F-4D97-AF65-F5344CB8AC3E}">
        <p14:creationId xmlns:p14="http://schemas.microsoft.com/office/powerpoint/2010/main" val="3917469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5B9D30D-E200-D945-D125-34752782A479}"/>
              </a:ext>
            </a:extLst>
          </p:cNvPr>
          <p:cNvSpPr>
            <a:spLocks noGrp="1" noChangeArrowheads="1"/>
          </p:cNvSpPr>
          <p:nvPr>
            <p:ph type="title" idx="4294967295"/>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305738C5-20C1-8E70-DF52-853BEDF6A7FA}"/>
              </a:ext>
            </a:extLst>
          </p:cNvPr>
          <p:cNvSpPr>
            <a:spLocks noGrp="1" noChangeArrowheads="1"/>
          </p:cNvSpPr>
          <p:nvPr>
            <p:ph type="body" idx="4294967295"/>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a:extLst>
              <a:ext uri="{FF2B5EF4-FFF2-40B4-BE49-F238E27FC236}">
                <a16:creationId xmlns:a16="http://schemas.microsoft.com/office/drawing/2014/main" id="{AB469B13-F820-B735-2A69-0FAA2E81161D}"/>
              </a:ext>
            </a:extLst>
          </p:cNvPr>
          <p:cNvSpPr>
            <a:spLocks noChangeArrowheads="1"/>
          </p:cNvSpPr>
          <p:nvPr/>
        </p:nvSpPr>
        <p:spPr bwMode="auto">
          <a:xfrm>
            <a:off x="609600" y="1566863"/>
            <a:ext cx="7958138"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0 w 1000"/>
              <a:gd name="T11" fmla="*/ 0 h 1000"/>
              <a:gd name="T12" fmla="*/ 2147483646 w 1000"/>
              <a:gd name="T13" fmla="*/ 0 h 10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1029" name="Line 5">
            <a:extLst>
              <a:ext uri="{FF2B5EF4-FFF2-40B4-BE49-F238E27FC236}">
                <a16:creationId xmlns:a16="http://schemas.microsoft.com/office/drawing/2014/main" id="{66BAC6C0-CDFF-3BB8-BF45-F01739E73E6A}"/>
              </a:ext>
            </a:extLst>
          </p:cNvPr>
          <p:cNvSpPr>
            <a:spLocks noChangeShapeType="1"/>
          </p:cNvSpPr>
          <p:nvPr/>
        </p:nvSpPr>
        <p:spPr bwMode="auto">
          <a:xfrm flipV="1">
            <a:off x="609600" y="6172200"/>
            <a:ext cx="79248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6" name="Rectangle 6">
            <a:extLst>
              <a:ext uri="{FF2B5EF4-FFF2-40B4-BE49-F238E27FC236}">
                <a16:creationId xmlns:a16="http://schemas.microsoft.com/office/drawing/2014/main" id="{4B7DF008-C291-8BD2-0B47-87B7C637BD11}"/>
              </a:ext>
            </a:extLst>
          </p:cNvPr>
          <p:cNvSpPr>
            <a:spLocks noGrp="1" noChangeArrowheads="1"/>
          </p:cNvSpPr>
          <p:nvPr>
            <p:ph type="dt" sz="half" idx="2"/>
          </p:nvPr>
        </p:nvSpPr>
        <p:spPr bwMode="auto">
          <a:xfrm>
            <a:off x="609600" y="6245225"/>
            <a:ext cx="19812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vl1pPr>
          </a:lstStyle>
          <a:p>
            <a:pPr>
              <a:defRPr/>
            </a:pPr>
            <a:endParaRPr lang="en-US" altLang="zh-CN"/>
          </a:p>
        </p:txBody>
      </p:sp>
      <p:sp>
        <p:nvSpPr>
          <p:cNvPr id="5127" name="Rectangle 7">
            <a:extLst>
              <a:ext uri="{FF2B5EF4-FFF2-40B4-BE49-F238E27FC236}">
                <a16:creationId xmlns:a16="http://schemas.microsoft.com/office/drawing/2014/main" id="{CF2D4B87-5687-A6F8-A60E-3B6D87848CF3}"/>
              </a:ext>
            </a:extLst>
          </p:cNvPr>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vl1pPr>
          </a:lstStyle>
          <a:p>
            <a:pPr>
              <a:defRPr/>
            </a:pPr>
            <a:endParaRPr lang="en-US" altLang="zh-CN"/>
          </a:p>
        </p:txBody>
      </p:sp>
      <p:sp>
        <p:nvSpPr>
          <p:cNvPr id="5128" name="Rectangle 8">
            <a:extLst>
              <a:ext uri="{FF2B5EF4-FFF2-40B4-BE49-F238E27FC236}">
                <a16:creationId xmlns:a16="http://schemas.microsoft.com/office/drawing/2014/main" id="{1203C970-A7AF-29FF-7C03-3F73FD55B700}"/>
              </a:ext>
            </a:extLst>
          </p:cNvPr>
          <p:cNvSpPr>
            <a:spLocks noGrp="1" noChangeArrowheads="1"/>
          </p:cNvSpPr>
          <p:nvPr>
            <p:ph type="sldNum" sz="quarter" idx="4"/>
          </p:nvPr>
        </p:nvSpPr>
        <p:spPr bwMode="auto">
          <a:xfrm>
            <a:off x="6553200" y="6245225"/>
            <a:ext cx="1981200" cy="47625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200" noProof="1"/>
            </a:lvl1pPr>
          </a:lstStyle>
          <a:p>
            <a:fld id="{BE4198A6-99A0-4BE9-B717-C223D9414D75}" type="slidenum">
              <a:rPr altLang="zh-CN"/>
              <a:pPr/>
              <a:t>‹#›</a:t>
            </a:fld>
            <a:endParaRPr lang="zh-CN" altLang="zh-CN"/>
          </a:p>
        </p:txBody>
      </p:sp>
    </p:spTree>
  </p:cSld>
  <p:clrMap bg1="lt1" tx1="dk1" bg2="lt2" tx2="dk2" accent1="accent1" accent2="accent2" accent3="accent3" accent4="accent4" accent5="accent5" accent6="accent6" hlink="hlink" folHlink="folHlink"/>
  <p:sldLayoutIdLst>
    <p:sldLayoutId id="2147483709"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oleObject" Target="../embeddings/oleObject5.bin"/><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wmf"/><Relationship Id="rId5" Type="http://schemas.openxmlformats.org/officeDocument/2006/relationships/oleObject" Target="../embeddings/oleObject10.bin"/><Relationship Id="rId4" Type="http://schemas.openxmlformats.org/officeDocument/2006/relationships/image" Target="../media/image10.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wmf"/></Relationships>
</file>

<file path=ppt/slides/_rels/slide12.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wmf"/><Relationship Id="rId5" Type="http://schemas.openxmlformats.org/officeDocument/2006/relationships/oleObject" Target="../embeddings/oleObject13.bin"/><Relationship Id="rId10" Type="http://schemas.openxmlformats.org/officeDocument/2006/relationships/image" Target="../media/image11.wmf"/><Relationship Id="rId4" Type="http://schemas.openxmlformats.org/officeDocument/2006/relationships/image" Target="../media/image12.wmf"/><Relationship Id="rId9"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20.bin"/><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19.wmf"/><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8.bin"/><Relationship Id="rId14" Type="http://schemas.openxmlformats.org/officeDocument/2006/relationships/image" Target="../media/image20.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1.wmf"/></Relationships>
</file>

<file path=ppt/slides/_rels/slide1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2.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3.bin"/><Relationship Id="rId1" Type="http://schemas.openxmlformats.org/officeDocument/2006/relationships/slideLayout" Target="../slideLayouts/slideLayout7.xml"/><Relationship Id="rId5" Type="http://schemas.openxmlformats.org/officeDocument/2006/relationships/image" Target="../media/image24.wmf"/><Relationship Id="rId4" Type="http://schemas.openxmlformats.org/officeDocument/2006/relationships/oleObject" Target="../embeddings/oleObject24.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5.bin"/><Relationship Id="rId7" Type="http://schemas.openxmlformats.org/officeDocument/2006/relationships/oleObject" Target="../embeddings/oleObject27.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26.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28.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9.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0.wmf"/></Relationships>
</file>

<file path=ppt/slides/_rels/slide23.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oleObject" Target="../embeddings/oleObject32.bin"/><Relationship Id="rId4" Type="http://schemas.openxmlformats.org/officeDocument/2006/relationships/image" Target="../media/image31.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3.wmf"/><Relationship Id="rId7" Type="http://schemas.openxmlformats.org/officeDocument/2006/relationships/image" Target="../media/image35.wmf"/><Relationship Id="rId2" Type="http://schemas.openxmlformats.org/officeDocument/2006/relationships/oleObject" Target="../embeddings/oleObject34.bin"/><Relationship Id="rId1" Type="http://schemas.openxmlformats.org/officeDocument/2006/relationships/slideLayout" Target="../slideLayouts/slideLayout7.xml"/><Relationship Id="rId6" Type="http://schemas.openxmlformats.org/officeDocument/2006/relationships/oleObject" Target="../embeddings/oleObject36.bin"/><Relationship Id="rId5" Type="http://schemas.openxmlformats.org/officeDocument/2006/relationships/image" Target="../media/image34.wmf"/><Relationship Id="rId4" Type="http://schemas.openxmlformats.org/officeDocument/2006/relationships/oleObject" Target="../embeddings/oleObject35.bin"/></Relationships>
</file>

<file path=ppt/slides/_rels/slide2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6.bin"/><Relationship Id="rId1" Type="http://schemas.openxmlformats.org/officeDocument/2006/relationships/slideLayout" Target="../slideLayouts/slideLayout7.xml"/><Relationship Id="rId5" Type="http://schemas.openxmlformats.org/officeDocument/2006/relationships/image" Target="../media/image36.wmf"/><Relationship Id="rId4" Type="http://schemas.openxmlformats.org/officeDocument/2006/relationships/oleObject" Target="../embeddings/oleObject37.bin"/></Relationships>
</file>

<file path=ppt/slides/_rels/slide27.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8.wmf"/><Relationship Id="rId5" Type="http://schemas.openxmlformats.org/officeDocument/2006/relationships/oleObject" Target="../embeddings/oleObject39.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41.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image" Target="../media/image41.emf"/><Relationship Id="rId7" Type="http://schemas.openxmlformats.org/officeDocument/2006/relationships/oleObject" Target="../embeddings/oleObject43.bin"/><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43.emf"/><Relationship Id="rId5" Type="http://schemas.openxmlformats.org/officeDocument/2006/relationships/image" Target="../media/image42.wmf"/><Relationship Id="rId4" Type="http://schemas.openxmlformats.org/officeDocument/2006/relationships/oleObject" Target="../embeddings/oleObject42.bin"/></Relationships>
</file>

<file path=ppt/slides/_rels/slide36.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50.wmf"/><Relationship Id="rId2" Type="http://schemas.openxmlformats.org/officeDocument/2006/relationships/image" Target="../media/image45.wmf"/><Relationship Id="rId1" Type="http://schemas.openxmlformats.org/officeDocument/2006/relationships/slideLayout" Target="../slideLayouts/slideLayout7.xml"/><Relationship Id="rId6" Type="http://schemas.openxmlformats.org/officeDocument/2006/relationships/image" Target="../media/image47.wmf"/><Relationship Id="rId11" Type="http://schemas.openxmlformats.org/officeDocument/2006/relationships/oleObject" Target="../embeddings/oleObject48.bin"/><Relationship Id="rId5" Type="http://schemas.openxmlformats.org/officeDocument/2006/relationships/oleObject" Target="../embeddings/oleObject45.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47.bin"/></Relationships>
</file>

<file path=ppt/slides/_rels/slide37.xml.rels><?xml version="1.0" encoding="UTF-8" standalone="yes"?>
<Relationships xmlns="http://schemas.openxmlformats.org/package/2006/relationships"><Relationship Id="rId3" Type="http://schemas.openxmlformats.org/officeDocument/2006/relationships/image" Target="../media/image51.wmf"/><Relationship Id="rId7" Type="http://schemas.openxmlformats.org/officeDocument/2006/relationships/image" Target="../media/image53.wmf"/><Relationship Id="rId2" Type="http://schemas.openxmlformats.org/officeDocument/2006/relationships/oleObject" Target="../embeddings/oleObject49.bin"/><Relationship Id="rId1" Type="http://schemas.openxmlformats.org/officeDocument/2006/relationships/slideLayout" Target="../slideLayouts/slideLayout7.xml"/><Relationship Id="rId6" Type="http://schemas.openxmlformats.org/officeDocument/2006/relationships/oleObject" Target="../embeddings/oleObject51.bin"/><Relationship Id="rId5" Type="http://schemas.openxmlformats.org/officeDocument/2006/relationships/image" Target="../media/image52.wmf"/><Relationship Id="rId4" Type="http://schemas.openxmlformats.org/officeDocument/2006/relationships/oleObject" Target="../embeddings/oleObject50.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54.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55.wmf"/></Relationships>
</file>

<file path=ppt/slides/_rels/slide40.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57.wmf"/><Relationship Id="rId5" Type="http://schemas.openxmlformats.org/officeDocument/2006/relationships/oleObject" Target="../embeddings/oleObject55.bin"/><Relationship Id="rId10" Type="http://schemas.openxmlformats.org/officeDocument/2006/relationships/image" Target="../media/image59.wmf"/><Relationship Id="rId4" Type="http://schemas.openxmlformats.org/officeDocument/2006/relationships/image" Target="../media/image56.wmf"/><Relationship Id="rId9" Type="http://schemas.openxmlformats.org/officeDocument/2006/relationships/oleObject" Target="../embeddings/oleObject57.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59.wmf"/><Relationship Id="rId5" Type="http://schemas.openxmlformats.org/officeDocument/2006/relationships/oleObject" Target="../embeddings/oleObject57.bin"/><Relationship Id="rId4" Type="http://schemas.openxmlformats.org/officeDocument/2006/relationships/image" Target="../media/image5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a:extLst>
              <a:ext uri="{FF2B5EF4-FFF2-40B4-BE49-F238E27FC236}">
                <a16:creationId xmlns:a16="http://schemas.microsoft.com/office/drawing/2014/main" id="{64E46D8F-2B94-E1D0-35E4-20413CBCBF46}"/>
              </a:ext>
            </a:extLst>
          </p:cNvPr>
          <p:cNvSpPr txBox="1">
            <a:spLocks noChangeArrowheads="1"/>
          </p:cNvSpPr>
          <p:nvPr/>
        </p:nvSpPr>
        <p:spPr bwMode="auto">
          <a:xfrm>
            <a:off x="2051050" y="720725"/>
            <a:ext cx="38782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3</a:t>
            </a:r>
            <a:r>
              <a:rPr lang="zh-CN" altLang="en-US" sz="3600">
                <a:latin typeface="Times New Roman" panose="02020603050405020304" pitchFamily="18" charset="0"/>
                <a:ea typeface="华文新魏" panose="02010800040101010101" pitchFamily="2" charset="-122"/>
              </a:rPr>
              <a:t>章  时域分析法</a:t>
            </a:r>
          </a:p>
        </p:txBody>
      </p:sp>
      <p:sp>
        <p:nvSpPr>
          <p:cNvPr id="5123" name="Rectangle 6">
            <a:extLst>
              <a:ext uri="{FF2B5EF4-FFF2-40B4-BE49-F238E27FC236}">
                <a16:creationId xmlns:a16="http://schemas.microsoft.com/office/drawing/2014/main" id="{EECAF05F-603F-8181-DFB5-7E263721D173}"/>
              </a:ext>
            </a:extLst>
          </p:cNvPr>
          <p:cNvSpPr>
            <a:spLocks noChangeArrowheads="1"/>
          </p:cNvSpPr>
          <p:nvPr/>
        </p:nvSpPr>
        <p:spPr bwMode="auto">
          <a:xfrm>
            <a:off x="1689100" y="2089150"/>
            <a:ext cx="55626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 3.1   </a:t>
            </a:r>
            <a:r>
              <a:rPr lang="zh-CN" altLang="en-US" sz="2800">
                <a:latin typeface="Times New Roman" panose="02020603050405020304" pitchFamily="18" charset="0"/>
                <a:ea typeface="黑体" panose="02010609060101010101" pitchFamily="49" charset="-122"/>
              </a:rPr>
              <a:t>一阶系统的时间响应</a:t>
            </a:r>
          </a:p>
        </p:txBody>
      </p:sp>
      <p:sp>
        <p:nvSpPr>
          <p:cNvPr id="5124" name="Rectangle 7">
            <a:extLst>
              <a:ext uri="{FF2B5EF4-FFF2-40B4-BE49-F238E27FC236}">
                <a16:creationId xmlns:a16="http://schemas.microsoft.com/office/drawing/2014/main" id="{5ADF96D4-6FCA-AD3F-2380-2A9077F96263}"/>
              </a:ext>
            </a:extLst>
          </p:cNvPr>
          <p:cNvSpPr>
            <a:spLocks noChangeArrowheads="1"/>
          </p:cNvSpPr>
          <p:nvPr/>
        </p:nvSpPr>
        <p:spPr bwMode="auto">
          <a:xfrm>
            <a:off x="1762125" y="27051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3.2   </a:t>
            </a:r>
            <a:r>
              <a:rPr lang="zh-CN" altLang="en-US" sz="2800">
                <a:latin typeface="Times New Roman" panose="02020603050405020304" pitchFamily="18" charset="0"/>
                <a:ea typeface="黑体" panose="02010609060101010101" pitchFamily="49" charset="-122"/>
              </a:rPr>
              <a:t>二阶系统的时间响应</a:t>
            </a:r>
          </a:p>
        </p:txBody>
      </p:sp>
      <p:sp>
        <p:nvSpPr>
          <p:cNvPr id="5125" name="Rectangle 8">
            <a:extLst>
              <a:ext uri="{FF2B5EF4-FFF2-40B4-BE49-F238E27FC236}">
                <a16:creationId xmlns:a16="http://schemas.microsoft.com/office/drawing/2014/main" id="{36DEAF07-8580-64D2-A894-DA0ECCEAF044}"/>
              </a:ext>
            </a:extLst>
          </p:cNvPr>
          <p:cNvSpPr>
            <a:spLocks noChangeArrowheads="1"/>
          </p:cNvSpPr>
          <p:nvPr/>
        </p:nvSpPr>
        <p:spPr bwMode="auto">
          <a:xfrm>
            <a:off x="1762125" y="3181350"/>
            <a:ext cx="53340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3.3   </a:t>
            </a:r>
            <a:r>
              <a:rPr lang="zh-CN" altLang="en-US" sz="2800">
                <a:latin typeface="Times New Roman" panose="02020603050405020304" pitchFamily="18" charset="0"/>
                <a:ea typeface="黑体" panose="02010609060101010101" pitchFamily="49" charset="-122"/>
              </a:rPr>
              <a:t>高阶系统的时间响应</a:t>
            </a:r>
          </a:p>
        </p:txBody>
      </p:sp>
      <p:sp>
        <p:nvSpPr>
          <p:cNvPr id="5126" name="Rectangle 9">
            <a:extLst>
              <a:ext uri="{FF2B5EF4-FFF2-40B4-BE49-F238E27FC236}">
                <a16:creationId xmlns:a16="http://schemas.microsoft.com/office/drawing/2014/main" id="{E1BFE641-6B5A-4958-F3E6-26AA60620584}"/>
              </a:ext>
            </a:extLst>
          </p:cNvPr>
          <p:cNvSpPr>
            <a:spLocks noChangeArrowheads="1"/>
          </p:cNvSpPr>
          <p:nvPr/>
        </p:nvSpPr>
        <p:spPr bwMode="auto">
          <a:xfrm>
            <a:off x="1762125" y="3760788"/>
            <a:ext cx="60467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3.4   </a:t>
            </a:r>
            <a:r>
              <a:rPr lang="zh-CN" altLang="en-US" sz="2800">
                <a:latin typeface="Times New Roman" panose="02020603050405020304" pitchFamily="18" charset="0"/>
                <a:ea typeface="黑体" panose="02010609060101010101" pitchFamily="49" charset="-122"/>
              </a:rPr>
              <a:t>误差分析和计算</a:t>
            </a:r>
          </a:p>
        </p:txBody>
      </p:sp>
      <p:sp>
        <p:nvSpPr>
          <p:cNvPr id="5127" name="Rectangle 9">
            <a:extLst>
              <a:ext uri="{FF2B5EF4-FFF2-40B4-BE49-F238E27FC236}">
                <a16:creationId xmlns:a16="http://schemas.microsoft.com/office/drawing/2014/main" id="{4DBB046A-834D-DB99-5F9C-66EABB4DF130}"/>
              </a:ext>
            </a:extLst>
          </p:cNvPr>
          <p:cNvSpPr>
            <a:spLocks noChangeArrowheads="1"/>
          </p:cNvSpPr>
          <p:nvPr/>
        </p:nvSpPr>
        <p:spPr bwMode="auto">
          <a:xfrm>
            <a:off x="1762125" y="4335463"/>
            <a:ext cx="6046788"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3.5   </a:t>
            </a:r>
            <a:r>
              <a:rPr lang="zh-CN" altLang="en-US" sz="2800">
                <a:solidFill>
                  <a:srgbClr val="FF0000"/>
                </a:solidFill>
                <a:latin typeface="Times New Roman" panose="02020603050405020304" pitchFamily="18" charset="0"/>
                <a:ea typeface="黑体" panose="02010609060101010101" pitchFamily="49" charset="-122"/>
              </a:rPr>
              <a:t>稳定性分析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1" name="Group 6">
            <a:extLst>
              <a:ext uri="{FF2B5EF4-FFF2-40B4-BE49-F238E27FC236}">
                <a16:creationId xmlns:a16="http://schemas.microsoft.com/office/drawing/2014/main" id="{007DA91D-3F48-8FD7-82F4-D3F3615ACAB5}"/>
              </a:ext>
            </a:extLst>
          </p:cNvPr>
          <p:cNvGrpSpPr>
            <a:grpSpLocks/>
          </p:cNvGrpSpPr>
          <p:nvPr/>
        </p:nvGrpSpPr>
        <p:grpSpPr bwMode="auto">
          <a:xfrm>
            <a:off x="1020763" y="2225675"/>
            <a:ext cx="4324350" cy="1562100"/>
            <a:chOff x="1310" y="2088"/>
            <a:chExt cx="2944" cy="984"/>
          </a:xfrm>
        </p:grpSpPr>
        <p:sp>
          <p:nvSpPr>
            <p:cNvPr id="7175" name="Rectangle 7">
              <a:extLst>
                <a:ext uri="{FF2B5EF4-FFF2-40B4-BE49-F238E27FC236}">
                  <a16:creationId xmlns:a16="http://schemas.microsoft.com/office/drawing/2014/main" id="{6EBCACFF-5061-67D3-A6AA-77BD524EFC4D}"/>
                </a:ext>
              </a:extLst>
            </p:cNvPr>
            <p:cNvSpPr>
              <a:spLocks noChangeArrowheads="1"/>
            </p:cNvSpPr>
            <p:nvPr/>
          </p:nvSpPr>
          <p:spPr bwMode="auto">
            <a:xfrm>
              <a:off x="2609" y="2739"/>
              <a:ext cx="695" cy="33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H(s)</a:t>
              </a:r>
            </a:p>
          </p:txBody>
        </p:sp>
        <p:sp>
          <p:nvSpPr>
            <p:cNvPr id="7176" name="Line 8">
              <a:extLst>
                <a:ext uri="{FF2B5EF4-FFF2-40B4-BE49-F238E27FC236}">
                  <a16:creationId xmlns:a16="http://schemas.microsoft.com/office/drawing/2014/main" id="{11FAC6AA-C97D-B97D-99D9-F85CE0E1A194}"/>
                </a:ext>
              </a:extLst>
            </p:cNvPr>
            <p:cNvSpPr>
              <a:spLocks noChangeShapeType="1"/>
            </p:cNvSpPr>
            <p:nvPr/>
          </p:nvSpPr>
          <p:spPr bwMode="auto">
            <a:xfrm>
              <a:off x="2054" y="2412"/>
              <a:ext cx="556"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7" name="Line 9">
              <a:extLst>
                <a:ext uri="{FF2B5EF4-FFF2-40B4-BE49-F238E27FC236}">
                  <a16:creationId xmlns:a16="http://schemas.microsoft.com/office/drawing/2014/main" id="{7073099C-A784-8B05-55CE-3EDC548409B4}"/>
                </a:ext>
              </a:extLst>
            </p:cNvPr>
            <p:cNvSpPr>
              <a:spLocks noChangeShapeType="1"/>
            </p:cNvSpPr>
            <p:nvPr/>
          </p:nvSpPr>
          <p:spPr bwMode="auto">
            <a:xfrm>
              <a:off x="3304" y="2404"/>
              <a:ext cx="8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8" name="Line 10">
              <a:extLst>
                <a:ext uri="{FF2B5EF4-FFF2-40B4-BE49-F238E27FC236}">
                  <a16:creationId xmlns:a16="http://schemas.microsoft.com/office/drawing/2014/main" id="{4B03A971-0BD0-D5AF-A377-62630EDE85F2}"/>
                </a:ext>
              </a:extLst>
            </p:cNvPr>
            <p:cNvSpPr>
              <a:spLocks noChangeShapeType="1"/>
            </p:cNvSpPr>
            <p:nvPr/>
          </p:nvSpPr>
          <p:spPr bwMode="auto">
            <a:xfrm flipH="1">
              <a:off x="3751" y="2404"/>
              <a:ext cx="0" cy="5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9" name="Line 11">
              <a:extLst>
                <a:ext uri="{FF2B5EF4-FFF2-40B4-BE49-F238E27FC236}">
                  <a16:creationId xmlns:a16="http://schemas.microsoft.com/office/drawing/2014/main" id="{04C594DA-4E67-26A0-E801-853A2B579753}"/>
                </a:ext>
              </a:extLst>
            </p:cNvPr>
            <p:cNvSpPr>
              <a:spLocks noChangeShapeType="1"/>
            </p:cNvSpPr>
            <p:nvPr/>
          </p:nvSpPr>
          <p:spPr bwMode="auto">
            <a:xfrm flipH="1" flipV="1">
              <a:off x="3304" y="2906"/>
              <a:ext cx="46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0" name="Line 12">
              <a:extLst>
                <a:ext uri="{FF2B5EF4-FFF2-40B4-BE49-F238E27FC236}">
                  <a16:creationId xmlns:a16="http://schemas.microsoft.com/office/drawing/2014/main" id="{EA716758-D4F5-9519-5846-6F0B323AB086}"/>
                </a:ext>
              </a:extLst>
            </p:cNvPr>
            <p:cNvSpPr>
              <a:spLocks noChangeShapeType="1"/>
            </p:cNvSpPr>
            <p:nvPr/>
          </p:nvSpPr>
          <p:spPr bwMode="auto">
            <a:xfrm flipH="1">
              <a:off x="1961" y="2906"/>
              <a:ext cx="649"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1" name="Line 13">
              <a:extLst>
                <a:ext uri="{FF2B5EF4-FFF2-40B4-BE49-F238E27FC236}">
                  <a16:creationId xmlns:a16="http://schemas.microsoft.com/office/drawing/2014/main" id="{9677AE63-0203-4B3B-06E6-E0058E310D00}"/>
                </a:ext>
              </a:extLst>
            </p:cNvPr>
            <p:cNvSpPr>
              <a:spLocks noChangeShapeType="1"/>
            </p:cNvSpPr>
            <p:nvPr/>
          </p:nvSpPr>
          <p:spPr bwMode="auto">
            <a:xfrm flipV="1">
              <a:off x="1968" y="2488"/>
              <a:ext cx="0" cy="41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2" name="Text Box 14">
              <a:extLst>
                <a:ext uri="{FF2B5EF4-FFF2-40B4-BE49-F238E27FC236}">
                  <a16:creationId xmlns:a16="http://schemas.microsoft.com/office/drawing/2014/main" id="{B98BCD50-EBE1-9630-E1BE-9964C3D3140B}"/>
                </a:ext>
              </a:extLst>
            </p:cNvPr>
            <p:cNvSpPr txBox="1">
              <a:spLocks noChangeArrowheads="1"/>
            </p:cNvSpPr>
            <p:nvPr/>
          </p:nvSpPr>
          <p:spPr bwMode="auto">
            <a:xfrm>
              <a:off x="1822" y="2246"/>
              <a:ext cx="33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3200">
                  <a:latin typeface="Times New Roman" panose="02020603050405020304" pitchFamily="18" charset="0"/>
                  <a:sym typeface="Symbol" panose="05050102010706020507" pitchFamily="18" charset="2"/>
                </a:rPr>
                <a:t></a:t>
              </a:r>
              <a:endParaRPr lang="en-US" altLang="zh-CN" sz="3200">
                <a:latin typeface="Times New Roman" panose="02020603050405020304" pitchFamily="18" charset="0"/>
              </a:endParaRPr>
            </a:p>
          </p:txBody>
        </p:sp>
        <p:sp>
          <p:nvSpPr>
            <p:cNvPr id="7183" name="Line 15">
              <a:extLst>
                <a:ext uri="{FF2B5EF4-FFF2-40B4-BE49-F238E27FC236}">
                  <a16:creationId xmlns:a16="http://schemas.microsoft.com/office/drawing/2014/main" id="{300AC2A9-8943-DC27-BC35-C4E4C594998E}"/>
                </a:ext>
              </a:extLst>
            </p:cNvPr>
            <p:cNvSpPr>
              <a:spLocks noChangeShapeType="1"/>
            </p:cNvSpPr>
            <p:nvPr/>
          </p:nvSpPr>
          <p:spPr bwMode="auto">
            <a:xfrm>
              <a:off x="1321" y="2411"/>
              <a:ext cx="55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84" name="Text Box 16">
              <a:extLst>
                <a:ext uri="{FF2B5EF4-FFF2-40B4-BE49-F238E27FC236}">
                  <a16:creationId xmlns:a16="http://schemas.microsoft.com/office/drawing/2014/main" id="{9BA5FD03-0F1C-9AAF-E697-C8BDEC83BD9D}"/>
                </a:ext>
              </a:extLst>
            </p:cNvPr>
            <p:cNvSpPr txBox="1">
              <a:spLocks noChangeArrowheads="1"/>
            </p:cNvSpPr>
            <p:nvPr/>
          </p:nvSpPr>
          <p:spPr bwMode="auto">
            <a:xfrm>
              <a:off x="1310" y="2112"/>
              <a:ext cx="47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R</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185" name="Text Box 17">
              <a:extLst>
                <a:ext uri="{FF2B5EF4-FFF2-40B4-BE49-F238E27FC236}">
                  <a16:creationId xmlns:a16="http://schemas.microsoft.com/office/drawing/2014/main" id="{4792EC01-35BB-9ACB-7D1F-0B8469B145CD}"/>
                </a:ext>
              </a:extLst>
            </p:cNvPr>
            <p:cNvSpPr txBox="1">
              <a:spLocks noChangeArrowheads="1"/>
            </p:cNvSpPr>
            <p:nvPr/>
          </p:nvSpPr>
          <p:spPr bwMode="auto">
            <a:xfrm>
              <a:off x="3767" y="2088"/>
              <a:ext cx="4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C</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186" name="Text Box 18">
              <a:extLst>
                <a:ext uri="{FF2B5EF4-FFF2-40B4-BE49-F238E27FC236}">
                  <a16:creationId xmlns:a16="http://schemas.microsoft.com/office/drawing/2014/main" id="{EF98D05A-1E67-3235-D9D1-F507E28482E7}"/>
                </a:ext>
              </a:extLst>
            </p:cNvPr>
            <p:cNvSpPr txBox="1">
              <a:spLocks noChangeArrowheads="1"/>
            </p:cNvSpPr>
            <p:nvPr/>
          </p:nvSpPr>
          <p:spPr bwMode="auto">
            <a:xfrm>
              <a:off x="1545" y="2579"/>
              <a:ext cx="4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B</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187" name="Text Box 19">
              <a:extLst>
                <a:ext uri="{FF2B5EF4-FFF2-40B4-BE49-F238E27FC236}">
                  <a16:creationId xmlns:a16="http://schemas.microsoft.com/office/drawing/2014/main" id="{3055855E-C62B-55B4-5EF8-C7D8734F74EF}"/>
                </a:ext>
              </a:extLst>
            </p:cNvPr>
            <p:cNvSpPr txBox="1">
              <a:spLocks noChangeArrowheads="1"/>
            </p:cNvSpPr>
            <p:nvPr/>
          </p:nvSpPr>
          <p:spPr bwMode="auto">
            <a:xfrm>
              <a:off x="2051" y="2116"/>
              <a:ext cx="4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r>
                <a:rPr lang="en-US" altLang="zh-CN" sz="2400" i="1">
                  <a:latin typeface="Times New Roman" panose="02020603050405020304" pitchFamily="18" charset="0"/>
                </a:rPr>
                <a:t> </a:t>
              </a:r>
              <a:r>
                <a:rPr lang="en-US" altLang="zh-CN" sz="2400">
                  <a:latin typeface="Times New Roman" panose="02020603050405020304" pitchFamily="18" charset="0"/>
                </a:rPr>
                <a:t>(</a:t>
              </a:r>
              <a:r>
                <a:rPr lang="en-US" altLang="zh-CN" sz="2400" i="1">
                  <a:latin typeface="Times New Roman" panose="02020603050405020304" pitchFamily="18" charset="0"/>
                </a:rPr>
                <a:t>s</a:t>
              </a:r>
              <a:r>
                <a:rPr lang="en-US" altLang="zh-CN" sz="2400">
                  <a:latin typeface="Times New Roman" panose="02020603050405020304" pitchFamily="18" charset="0"/>
                </a:rPr>
                <a:t>)</a:t>
              </a:r>
            </a:p>
          </p:txBody>
        </p:sp>
        <p:sp>
          <p:nvSpPr>
            <p:cNvPr id="7188" name="Line 20">
              <a:extLst>
                <a:ext uri="{FF2B5EF4-FFF2-40B4-BE49-F238E27FC236}">
                  <a16:creationId xmlns:a16="http://schemas.microsoft.com/office/drawing/2014/main" id="{7499D5F9-6399-FAF7-39E7-16E0902311D6}"/>
                </a:ext>
              </a:extLst>
            </p:cNvPr>
            <p:cNvSpPr>
              <a:spLocks noChangeShapeType="1"/>
            </p:cNvSpPr>
            <p:nvPr/>
          </p:nvSpPr>
          <p:spPr bwMode="auto">
            <a:xfrm>
              <a:off x="2008" y="2621"/>
              <a:ext cx="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89" name="Rectangle 21">
              <a:extLst>
                <a:ext uri="{FF2B5EF4-FFF2-40B4-BE49-F238E27FC236}">
                  <a16:creationId xmlns:a16="http://schemas.microsoft.com/office/drawing/2014/main" id="{3B0446CF-30F3-1BD8-6324-AE622EAA569D}"/>
                </a:ext>
              </a:extLst>
            </p:cNvPr>
            <p:cNvSpPr>
              <a:spLocks noChangeArrowheads="1"/>
            </p:cNvSpPr>
            <p:nvPr/>
          </p:nvSpPr>
          <p:spPr bwMode="auto">
            <a:xfrm>
              <a:off x="2609" y="2238"/>
              <a:ext cx="695" cy="33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a:latin typeface="Times New Roman" panose="02020603050405020304" pitchFamily="18" charset="0"/>
                </a:rPr>
                <a:t>G(s)</a:t>
              </a:r>
            </a:p>
          </p:txBody>
        </p:sp>
        <p:sp>
          <p:nvSpPr>
            <p:cNvPr id="7190" name="Oval 22">
              <a:extLst>
                <a:ext uri="{FF2B5EF4-FFF2-40B4-BE49-F238E27FC236}">
                  <a16:creationId xmlns:a16="http://schemas.microsoft.com/office/drawing/2014/main" id="{C41406C2-9E63-1F7E-8D38-7905AE3D052B}"/>
                </a:ext>
              </a:extLst>
            </p:cNvPr>
            <p:cNvSpPr>
              <a:spLocks noChangeArrowheads="1"/>
            </p:cNvSpPr>
            <p:nvPr/>
          </p:nvSpPr>
          <p:spPr bwMode="auto">
            <a:xfrm>
              <a:off x="3729" y="2384"/>
              <a:ext cx="48" cy="48"/>
            </a:xfrm>
            <a:prstGeom prst="ellipse">
              <a:avLst/>
            </a:prstGeom>
            <a:solidFill>
              <a:schemeClr val="tx1"/>
            </a:solidFill>
            <a:ln w="22225">
              <a:solidFill>
                <a:schemeClr val="tx1"/>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aphicFrame>
        <p:nvGraphicFramePr>
          <p:cNvPr id="7172" name="对象 20">
            <a:extLst>
              <a:ext uri="{FF2B5EF4-FFF2-40B4-BE49-F238E27FC236}">
                <a16:creationId xmlns:a16="http://schemas.microsoft.com/office/drawing/2014/main" id="{4C4F9EA1-C86C-C5C6-CC4E-2BB49BE7D178}"/>
              </a:ext>
            </a:extLst>
          </p:cNvPr>
          <p:cNvGraphicFramePr>
            <a:graphicFrameLocks noChangeAspect="1"/>
          </p:cNvGraphicFramePr>
          <p:nvPr/>
        </p:nvGraphicFramePr>
        <p:xfrm>
          <a:off x="5803900" y="2593975"/>
          <a:ext cx="1863725" cy="895350"/>
        </p:xfrm>
        <a:graphic>
          <a:graphicData uri="http://schemas.openxmlformats.org/presentationml/2006/ole">
            <mc:AlternateContent xmlns:mc="http://schemas.openxmlformats.org/markup-compatibility/2006">
              <mc:Choice xmlns:v="urn:schemas-microsoft-com:vml" Requires="v">
                <p:oleObj r:id="rId2" imgW="685800" imgH="330200" progId="Equation.3">
                  <p:embed/>
                </p:oleObj>
              </mc:Choice>
              <mc:Fallback>
                <p:oleObj r:id="rId2" imgW="685800" imgH="330200" progId="Equation.3">
                  <p:embed/>
                  <p:pic>
                    <p:nvPicPr>
                      <p:cNvPr id="0" name="对象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900" y="2593975"/>
                        <a:ext cx="1863725"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73" name="对象 21">
            <a:extLst>
              <a:ext uri="{FF2B5EF4-FFF2-40B4-BE49-F238E27FC236}">
                <a16:creationId xmlns:a16="http://schemas.microsoft.com/office/drawing/2014/main" id="{2BF749F2-DF61-4CDD-35BC-D78CAB3F83CA}"/>
              </a:ext>
            </a:extLst>
          </p:cNvPr>
          <p:cNvGraphicFramePr>
            <a:graphicFrameLocks noChangeAspect="1"/>
          </p:cNvGraphicFramePr>
          <p:nvPr/>
        </p:nvGraphicFramePr>
        <p:xfrm>
          <a:off x="2566988" y="4292600"/>
          <a:ext cx="3382962" cy="625475"/>
        </p:xfrm>
        <a:graphic>
          <a:graphicData uri="http://schemas.openxmlformats.org/presentationml/2006/ole">
            <mc:AlternateContent xmlns:mc="http://schemas.openxmlformats.org/markup-compatibility/2006">
              <mc:Choice xmlns:v="urn:schemas-microsoft-com:vml" Requires="v">
                <p:oleObj r:id="rId4" imgW="1511300" imgH="279400" progId="Equation.3">
                  <p:embed/>
                </p:oleObj>
              </mc:Choice>
              <mc:Fallback>
                <p:oleObj r:id="rId4" imgW="1511300" imgH="279400" progId="Equation.3">
                  <p:embed/>
                  <p:pic>
                    <p:nvPicPr>
                      <p:cNvPr id="0" name="对象 2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6988" y="4292600"/>
                        <a:ext cx="3382962"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74" name="对象 22">
            <a:extLst>
              <a:ext uri="{FF2B5EF4-FFF2-40B4-BE49-F238E27FC236}">
                <a16:creationId xmlns:a16="http://schemas.microsoft.com/office/drawing/2014/main" id="{E32A1DC7-E4AE-C87F-F1F6-9A01984B47AA}"/>
              </a:ext>
            </a:extLst>
          </p:cNvPr>
          <p:cNvGraphicFramePr>
            <a:graphicFrameLocks noChangeAspect="1"/>
          </p:cNvGraphicFramePr>
          <p:nvPr/>
        </p:nvGraphicFramePr>
        <p:xfrm>
          <a:off x="1633538" y="5084763"/>
          <a:ext cx="3609975" cy="850900"/>
        </p:xfrm>
        <a:graphic>
          <a:graphicData uri="http://schemas.openxmlformats.org/presentationml/2006/ole">
            <mc:AlternateContent xmlns:mc="http://schemas.openxmlformats.org/markup-compatibility/2006">
              <mc:Choice xmlns:v="urn:schemas-microsoft-com:vml" Requires="v">
                <p:oleObj r:id="rId6" imgW="1828800" imgH="431800" progId="Equation.3">
                  <p:embed/>
                </p:oleObj>
              </mc:Choice>
              <mc:Fallback>
                <p:oleObj r:id="rId6" imgW="1828800" imgH="431800" progId="Equation.3">
                  <p:embed/>
                  <p:pic>
                    <p:nvPicPr>
                      <p:cNvPr id="0" name="对象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3538" y="5084763"/>
                        <a:ext cx="360997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文本框 1">
            <a:extLst>
              <a:ext uri="{FF2B5EF4-FFF2-40B4-BE49-F238E27FC236}">
                <a16:creationId xmlns:a16="http://schemas.microsoft.com/office/drawing/2014/main" id="{420516C9-522E-1227-8AD4-08434537B9D4}"/>
              </a:ext>
            </a:extLst>
          </p:cNvPr>
          <p:cNvSpPr txBox="1">
            <a:spLocks noChangeArrowheads="1"/>
          </p:cNvSpPr>
          <p:nvPr/>
        </p:nvSpPr>
        <p:spPr bwMode="auto">
          <a:xfrm>
            <a:off x="899592" y="798513"/>
            <a:ext cx="29543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3600" dirty="0"/>
              <a:t>上节知识要点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3">
            <a:extLst>
              <a:ext uri="{FF2B5EF4-FFF2-40B4-BE49-F238E27FC236}">
                <a16:creationId xmlns:a16="http://schemas.microsoft.com/office/drawing/2014/main" id="{AA06DFC2-7376-9A36-A54C-74D56A9AE0F8}"/>
              </a:ext>
            </a:extLst>
          </p:cNvPr>
          <p:cNvGrpSpPr>
            <a:grpSpLocks/>
          </p:cNvGrpSpPr>
          <p:nvPr/>
        </p:nvGrpSpPr>
        <p:grpSpPr bwMode="auto">
          <a:xfrm>
            <a:off x="539750" y="1125538"/>
            <a:ext cx="8229600" cy="4525962"/>
            <a:chOff x="432" y="1200"/>
            <a:chExt cx="5184" cy="2851"/>
          </a:xfrm>
        </p:grpSpPr>
        <p:sp>
          <p:nvSpPr>
            <p:cNvPr id="8195" name="Rectangle 4">
              <a:extLst>
                <a:ext uri="{FF2B5EF4-FFF2-40B4-BE49-F238E27FC236}">
                  <a16:creationId xmlns:a16="http://schemas.microsoft.com/office/drawing/2014/main" id="{9FA55CBE-B83B-636F-921D-FBB95919C252}"/>
                </a:ext>
              </a:extLst>
            </p:cNvPr>
            <p:cNvSpPr>
              <a:spLocks noChangeArrowheads="1"/>
            </p:cNvSpPr>
            <p:nvPr/>
          </p:nvSpPr>
          <p:spPr bwMode="auto">
            <a:xfrm>
              <a:off x="1248" y="1200"/>
              <a:ext cx="37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latin typeface="宋体" panose="02010600030101010101" pitchFamily="2" charset="-122"/>
                </a:rPr>
                <a:t>表</a:t>
              </a:r>
              <a:r>
                <a:rPr lang="en-US" altLang="zh-CN" sz="2400">
                  <a:latin typeface="宋体" panose="02010600030101010101" pitchFamily="2" charset="-122"/>
                </a:rPr>
                <a:t>1</a:t>
              </a:r>
              <a:r>
                <a:rPr lang="zh-CN" altLang="en-US" sz="2400">
                  <a:latin typeface="宋体" panose="02010600030101010101" pitchFamily="2" charset="-122"/>
                </a:rPr>
                <a:t>、系统的稳态误差系数及稳态偏差</a:t>
              </a:r>
            </a:p>
          </p:txBody>
        </p:sp>
        <p:grpSp>
          <p:nvGrpSpPr>
            <p:cNvPr id="8196" name="Group 5">
              <a:extLst>
                <a:ext uri="{FF2B5EF4-FFF2-40B4-BE49-F238E27FC236}">
                  <a16:creationId xmlns:a16="http://schemas.microsoft.com/office/drawing/2014/main" id="{C757BB4D-9802-672A-0B33-F203ADCC210A}"/>
                </a:ext>
              </a:extLst>
            </p:cNvPr>
            <p:cNvGrpSpPr>
              <a:grpSpLocks/>
            </p:cNvGrpSpPr>
            <p:nvPr/>
          </p:nvGrpSpPr>
          <p:grpSpPr bwMode="auto">
            <a:xfrm>
              <a:off x="432" y="1536"/>
              <a:ext cx="5184" cy="2515"/>
              <a:chOff x="432" y="1488"/>
              <a:chExt cx="5184" cy="2515"/>
            </a:xfrm>
          </p:grpSpPr>
          <p:sp>
            <p:nvSpPr>
              <p:cNvPr id="8197" name="Rectangle 6">
                <a:extLst>
                  <a:ext uri="{FF2B5EF4-FFF2-40B4-BE49-F238E27FC236}">
                    <a16:creationId xmlns:a16="http://schemas.microsoft.com/office/drawing/2014/main" id="{1F843183-5B77-81FB-D08D-7BC133D0A62B}"/>
                  </a:ext>
                </a:extLst>
              </p:cNvPr>
              <p:cNvSpPr>
                <a:spLocks noChangeArrowheads="1"/>
              </p:cNvSpPr>
              <p:nvPr/>
            </p:nvSpPr>
            <p:spPr bwMode="auto">
              <a:xfrm>
                <a:off x="4512" y="3491"/>
                <a:ext cx="110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endParaRPr lang="zh-CN" altLang="zh-CN" sz="2600"/>
              </a:p>
            </p:txBody>
          </p:sp>
          <p:sp>
            <p:nvSpPr>
              <p:cNvPr id="8198" name="Rectangle 7">
                <a:extLst>
                  <a:ext uri="{FF2B5EF4-FFF2-40B4-BE49-F238E27FC236}">
                    <a16:creationId xmlns:a16="http://schemas.microsoft.com/office/drawing/2014/main" id="{57717908-C8C8-98E8-2F41-042C9AC4EF70}"/>
                  </a:ext>
                </a:extLst>
              </p:cNvPr>
              <p:cNvSpPr>
                <a:spLocks noChangeArrowheads="1"/>
              </p:cNvSpPr>
              <p:nvPr/>
            </p:nvSpPr>
            <p:spPr bwMode="auto">
              <a:xfrm>
                <a:off x="3552" y="3491"/>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8199" name="Rectangle 8">
                <a:extLst>
                  <a:ext uri="{FF2B5EF4-FFF2-40B4-BE49-F238E27FC236}">
                    <a16:creationId xmlns:a16="http://schemas.microsoft.com/office/drawing/2014/main" id="{73CD7CE4-C4D2-4253-40CA-3B82C85B74A8}"/>
                  </a:ext>
                </a:extLst>
              </p:cNvPr>
              <p:cNvSpPr>
                <a:spLocks noChangeArrowheads="1"/>
              </p:cNvSpPr>
              <p:nvPr/>
            </p:nvSpPr>
            <p:spPr bwMode="auto">
              <a:xfrm>
                <a:off x="2592" y="3491"/>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8200" name="Rectangle 9">
                <a:extLst>
                  <a:ext uri="{FF2B5EF4-FFF2-40B4-BE49-F238E27FC236}">
                    <a16:creationId xmlns:a16="http://schemas.microsoft.com/office/drawing/2014/main" id="{30878328-6727-9031-CF61-B301880041EE}"/>
                  </a:ext>
                </a:extLst>
              </p:cNvPr>
              <p:cNvSpPr>
                <a:spLocks noChangeArrowheads="1"/>
              </p:cNvSpPr>
              <p:nvPr/>
            </p:nvSpPr>
            <p:spPr bwMode="auto">
              <a:xfrm>
                <a:off x="2064" y="3491"/>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p>
            </p:txBody>
          </p:sp>
          <p:sp>
            <p:nvSpPr>
              <p:cNvPr id="8201" name="Rectangle 10">
                <a:extLst>
                  <a:ext uri="{FF2B5EF4-FFF2-40B4-BE49-F238E27FC236}">
                    <a16:creationId xmlns:a16="http://schemas.microsoft.com/office/drawing/2014/main" id="{168AD900-C06D-31C7-3882-3C9BBB1A4E8D}"/>
                  </a:ext>
                </a:extLst>
              </p:cNvPr>
              <p:cNvSpPr>
                <a:spLocks noChangeArrowheads="1"/>
              </p:cNvSpPr>
              <p:nvPr/>
            </p:nvSpPr>
            <p:spPr bwMode="auto">
              <a:xfrm>
                <a:off x="1584" y="3491"/>
                <a:ext cx="48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8202" name="Rectangle 11">
                <a:extLst>
                  <a:ext uri="{FF2B5EF4-FFF2-40B4-BE49-F238E27FC236}">
                    <a16:creationId xmlns:a16="http://schemas.microsoft.com/office/drawing/2014/main" id="{877F161A-610D-8189-D689-2C9A084B385F}"/>
                  </a:ext>
                </a:extLst>
              </p:cNvPr>
              <p:cNvSpPr>
                <a:spLocks noChangeArrowheads="1"/>
              </p:cNvSpPr>
              <p:nvPr/>
            </p:nvSpPr>
            <p:spPr bwMode="auto">
              <a:xfrm>
                <a:off x="1056" y="3491"/>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8203" name="Rectangle 12">
                <a:extLst>
                  <a:ext uri="{FF2B5EF4-FFF2-40B4-BE49-F238E27FC236}">
                    <a16:creationId xmlns:a16="http://schemas.microsoft.com/office/drawing/2014/main" id="{B6FAAB3E-DA11-BD26-CA06-81EB115A6E20}"/>
                  </a:ext>
                </a:extLst>
              </p:cNvPr>
              <p:cNvSpPr>
                <a:spLocks noChangeArrowheads="1"/>
              </p:cNvSpPr>
              <p:nvPr/>
            </p:nvSpPr>
            <p:spPr bwMode="auto">
              <a:xfrm>
                <a:off x="432" y="3491"/>
                <a:ext cx="62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II</a:t>
                </a:r>
                <a:r>
                  <a:rPr lang="zh-CN" altLang="en-US" sz="2600"/>
                  <a:t>型</a:t>
                </a:r>
              </a:p>
            </p:txBody>
          </p:sp>
          <p:sp>
            <p:nvSpPr>
              <p:cNvPr id="8204" name="Rectangle 13">
                <a:extLst>
                  <a:ext uri="{FF2B5EF4-FFF2-40B4-BE49-F238E27FC236}">
                    <a16:creationId xmlns:a16="http://schemas.microsoft.com/office/drawing/2014/main" id="{A1A511C2-31CE-64AE-E96B-32117D26F0D7}"/>
                  </a:ext>
                </a:extLst>
              </p:cNvPr>
              <p:cNvSpPr>
                <a:spLocks noChangeArrowheads="1"/>
              </p:cNvSpPr>
              <p:nvPr/>
            </p:nvSpPr>
            <p:spPr bwMode="auto">
              <a:xfrm>
                <a:off x="4512" y="2979"/>
                <a:ext cx="110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8205" name="Rectangle 14">
                <a:extLst>
                  <a:ext uri="{FF2B5EF4-FFF2-40B4-BE49-F238E27FC236}">
                    <a16:creationId xmlns:a16="http://schemas.microsoft.com/office/drawing/2014/main" id="{16911FE0-C614-BD96-3393-8B1FAD9521AD}"/>
                  </a:ext>
                </a:extLst>
              </p:cNvPr>
              <p:cNvSpPr>
                <a:spLocks noChangeArrowheads="1"/>
              </p:cNvSpPr>
              <p:nvPr/>
            </p:nvSpPr>
            <p:spPr bwMode="auto">
              <a:xfrm>
                <a:off x="3552" y="2979"/>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endParaRPr lang="zh-CN" altLang="zh-CN" sz="2600"/>
              </a:p>
            </p:txBody>
          </p:sp>
          <p:sp>
            <p:nvSpPr>
              <p:cNvPr id="8206" name="Rectangle 15">
                <a:extLst>
                  <a:ext uri="{FF2B5EF4-FFF2-40B4-BE49-F238E27FC236}">
                    <a16:creationId xmlns:a16="http://schemas.microsoft.com/office/drawing/2014/main" id="{47408526-BD0F-FBAA-022D-8784D35B2806}"/>
                  </a:ext>
                </a:extLst>
              </p:cNvPr>
              <p:cNvSpPr>
                <a:spLocks noChangeArrowheads="1"/>
              </p:cNvSpPr>
              <p:nvPr/>
            </p:nvSpPr>
            <p:spPr bwMode="auto">
              <a:xfrm>
                <a:off x="2592" y="2979"/>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8207" name="Rectangle 16">
                <a:extLst>
                  <a:ext uri="{FF2B5EF4-FFF2-40B4-BE49-F238E27FC236}">
                    <a16:creationId xmlns:a16="http://schemas.microsoft.com/office/drawing/2014/main" id="{8DD63722-0D6B-AA19-1CFE-2042799D9854}"/>
                  </a:ext>
                </a:extLst>
              </p:cNvPr>
              <p:cNvSpPr>
                <a:spLocks noChangeArrowheads="1"/>
              </p:cNvSpPr>
              <p:nvPr/>
            </p:nvSpPr>
            <p:spPr bwMode="auto">
              <a:xfrm>
                <a:off x="2064" y="2979"/>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8208" name="Rectangle 17">
                <a:extLst>
                  <a:ext uri="{FF2B5EF4-FFF2-40B4-BE49-F238E27FC236}">
                    <a16:creationId xmlns:a16="http://schemas.microsoft.com/office/drawing/2014/main" id="{E80CD2DF-A6C0-97F0-3CC0-20F9DCD32F20}"/>
                  </a:ext>
                </a:extLst>
              </p:cNvPr>
              <p:cNvSpPr>
                <a:spLocks noChangeArrowheads="1"/>
              </p:cNvSpPr>
              <p:nvPr/>
            </p:nvSpPr>
            <p:spPr bwMode="auto">
              <a:xfrm>
                <a:off x="1584" y="2979"/>
                <a:ext cx="48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p>
            </p:txBody>
          </p:sp>
          <p:sp>
            <p:nvSpPr>
              <p:cNvPr id="8209" name="Rectangle 18">
                <a:extLst>
                  <a:ext uri="{FF2B5EF4-FFF2-40B4-BE49-F238E27FC236}">
                    <a16:creationId xmlns:a16="http://schemas.microsoft.com/office/drawing/2014/main" id="{242FF378-E624-18BF-9660-B56D3F348FF2}"/>
                  </a:ext>
                </a:extLst>
              </p:cNvPr>
              <p:cNvSpPr>
                <a:spLocks noChangeArrowheads="1"/>
              </p:cNvSpPr>
              <p:nvPr/>
            </p:nvSpPr>
            <p:spPr bwMode="auto">
              <a:xfrm>
                <a:off x="1056" y="2979"/>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8210" name="Rectangle 19">
                <a:extLst>
                  <a:ext uri="{FF2B5EF4-FFF2-40B4-BE49-F238E27FC236}">
                    <a16:creationId xmlns:a16="http://schemas.microsoft.com/office/drawing/2014/main" id="{620BFE44-3670-B019-205C-576E4CC3BDD7}"/>
                  </a:ext>
                </a:extLst>
              </p:cNvPr>
              <p:cNvSpPr>
                <a:spLocks noChangeArrowheads="1"/>
              </p:cNvSpPr>
              <p:nvPr/>
            </p:nvSpPr>
            <p:spPr bwMode="auto">
              <a:xfrm>
                <a:off x="432" y="2979"/>
                <a:ext cx="62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I</a:t>
                </a:r>
                <a:r>
                  <a:rPr lang="zh-CN" altLang="en-US" sz="2600"/>
                  <a:t>型</a:t>
                </a:r>
              </a:p>
            </p:txBody>
          </p:sp>
          <p:sp>
            <p:nvSpPr>
              <p:cNvPr id="8211" name="Rectangle 20">
                <a:extLst>
                  <a:ext uri="{FF2B5EF4-FFF2-40B4-BE49-F238E27FC236}">
                    <a16:creationId xmlns:a16="http://schemas.microsoft.com/office/drawing/2014/main" id="{4C4A70BC-FCDF-9529-C614-06259AA81CC0}"/>
                  </a:ext>
                </a:extLst>
              </p:cNvPr>
              <p:cNvSpPr>
                <a:spLocks noChangeArrowheads="1"/>
              </p:cNvSpPr>
              <p:nvPr/>
            </p:nvSpPr>
            <p:spPr bwMode="auto">
              <a:xfrm>
                <a:off x="4512" y="2467"/>
                <a:ext cx="110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8212" name="Rectangle 21">
                <a:extLst>
                  <a:ext uri="{FF2B5EF4-FFF2-40B4-BE49-F238E27FC236}">
                    <a16:creationId xmlns:a16="http://schemas.microsoft.com/office/drawing/2014/main" id="{56C81BA2-794E-3F7D-1996-EAC7A8845DF1}"/>
                  </a:ext>
                </a:extLst>
              </p:cNvPr>
              <p:cNvSpPr>
                <a:spLocks noChangeArrowheads="1"/>
              </p:cNvSpPr>
              <p:nvPr/>
            </p:nvSpPr>
            <p:spPr bwMode="auto">
              <a:xfrm>
                <a:off x="3552" y="2467"/>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sym typeface="Symbol" panose="05050102010706020507" pitchFamily="18" charset="2"/>
                  </a:rPr>
                  <a:t></a:t>
                </a:r>
                <a:endParaRPr lang="en-US" altLang="zh-CN" sz="2600"/>
              </a:p>
            </p:txBody>
          </p:sp>
          <p:sp>
            <p:nvSpPr>
              <p:cNvPr id="8213" name="Rectangle 22">
                <a:extLst>
                  <a:ext uri="{FF2B5EF4-FFF2-40B4-BE49-F238E27FC236}">
                    <a16:creationId xmlns:a16="http://schemas.microsoft.com/office/drawing/2014/main" id="{F1E3EBA6-1858-E2FB-9C34-E81CC75E50E7}"/>
                  </a:ext>
                </a:extLst>
              </p:cNvPr>
              <p:cNvSpPr>
                <a:spLocks noChangeArrowheads="1"/>
              </p:cNvSpPr>
              <p:nvPr/>
            </p:nvSpPr>
            <p:spPr bwMode="auto">
              <a:xfrm>
                <a:off x="2592" y="2467"/>
                <a:ext cx="96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endParaRPr lang="zh-CN" altLang="zh-CN" sz="2600"/>
              </a:p>
            </p:txBody>
          </p:sp>
          <p:sp>
            <p:nvSpPr>
              <p:cNvPr id="8214" name="Rectangle 23">
                <a:extLst>
                  <a:ext uri="{FF2B5EF4-FFF2-40B4-BE49-F238E27FC236}">
                    <a16:creationId xmlns:a16="http://schemas.microsoft.com/office/drawing/2014/main" id="{8A481ABD-840C-72D3-22BE-DA04752089D9}"/>
                  </a:ext>
                </a:extLst>
              </p:cNvPr>
              <p:cNvSpPr>
                <a:spLocks noChangeArrowheads="1"/>
              </p:cNvSpPr>
              <p:nvPr/>
            </p:nvSpPr>
            <p:spPr bwMode="auto">
              <a:xfrm>
                <a:off x="2064" y="2467"/>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8215" name="Rectangle 24">
                <a:extLst>
                  <a:ext uri="{FF2B5EF4-FFF2-40B4-BE49-F238E27FC236}">
                    <a16:creationId xmlns:a16="http://schemas.microsoft.com/office/drawing/2014/main" id="{0214AAA0-8611-FD1F-64A0-B5BB6E909E28}"/>
                  </a:ext>
                </a:extLst>
              </p:cNvPr>
              <p:cNvSpPr>
                <a:spLocks noChangeArrowheads="1"/>
              </p:cNvSpPr>
              <p:nvPr/>
            </p:nvSpPr>
            <p:spPr bwMode="auto">
              <a:xfrm>
                <a:off x="1584" y="2467"/>
                <a:ext cx="480"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p>
            </p:txBody>
          </p:sp>
          <p:sp>
            <p:nvSpPr>
              <p:cNvPr id="8216" name="Rectangle 25">
                <a:extLst>
                  <a:ext uri="{FF2B5EF4-FFF2-40B4-BE49-F238E27FC236}">
                    <a16:creationId xmlns:a16="http://schemas.microsoft.com/office/drawing/2014/main" id="{E876EAC7-1FE2-18DD-4358-9912DE13C0F7}"/>
                  </a:ext>
                </a:extLst>
              </p:cNvPr>
              <p:cNvSpPr>
                <a:spLocks noChangeArrowheads="1"/>
              </p:cNvSpPr>
              <p:nvPr/>
            </p:nvSpPr>
            <p:spPr bwMode="auto">
              <a:xfrm>
                <a:off x="1056" y="2467"/>
                <a:ext cx="52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p>
            </p:txBody>
          </p:sp>
          <p:sp>
            <p:nvSpPr>
              <p:cNvPr id="8217" name="Rectangle 26">
                <a:extLst>
                  <a:ext uri="{FF2B5EF4-FFF2-40B4-BE49-F238E27FC236}">
                    <a16:creationId xmlns:a16="http://schemas.microsoft.com/office/drawing/2014/main" id="{2C4566C5-FCF7-DAF5-0EB9-56DEAAAE1FCC}"/>
                  </a:ext>
                </a:extLst>
              </p:cNvPr>
              <p:cNvSpPr>
                <a:spLocks noChangeArrowheads="1"/>
              </p:cNvSpPr>
              <p:nvPr/>
            </p:nvSpPr>
            <p:spPr bwMode="auto">
              <a:xfrm>
                <a:off x="432" y="2467"/>
                <a:ext cx="624"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a:t>0</a:t>
                </a:r>
                <a:r>
                  <a:rPr lang="zh-CN" altLang="en-US" sz="2600"/>
                  <a:t>型</a:t>
                </a:r>
              </a:p>
            </p:txBody>
          </p:sp>
          <p:sp>
            <p:nvSpPr>
              <p:cNvPr id="8218" name="Rectangle 27">
                <a:extLst>
                  <a:ext uri="{FF2B5EF4-FFF2-40B4-BE49-F238E27FC236}">
                    <a16:creationId xmlns:a16="http://schemas.microsoft.com/office/drawing/2014/main" id="{1E8AD7B6-BB9C-E327-5625-5E658DB7C138}"/>
                  </a:ext>
                </a:extLst>
              </p:cNvPr>
              <p:cNvSpPr>
                <a:spLocks noChangeArrowheads="1"/>
              </p:cNvSpPr>
              <p:nvPr/>
            </p:nvSpPr>
            <p:spPr bwMode="auto">
              <a:xfrm>
                <a:off x="4512" y="1872"/>
                <a:ext cx="1104"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单位加速度输入</a:t>
                </a:r>
              </a:p>
            </p:txBody>
          </p:sp>
          <p:sp>
            <p:nvSpPr>
              <p:cNvPr id="8219" name="Rectangle 28">
                <a:extLst>
                  <a:ext uri="{FF2B5EF4-FFF2-40B4-BE49-F238E27FC236}">
                    <a16:creationId xmlns:a16="http://schemas.microsoft.com/office/drawing/2014/main" id="{00C84CC3-D6AB-41FB-63DF-A7019CE37658}"/>
                  </a:ext>
                </a:extLst>
              </p:cNvPr>
              <p:cNvSpPr>
                <a:spLocks noChangeArrowheads="1"/>
              </p:cNvSpPr>
              <p:nvPr/>
            </p:nvSpPr>
            <p:spPr bwMode="auto">
              <a:xfrm>
                <a:off x="3552" y="1872"/>
                <a:ext cx="960"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单位速度输入</a:t>
                </a:r>
              </a:p>
            </p:txBody>
          </p:sp>
          <p:sp>
            <p:nvSpPr>
              <p:cNvPr id="8220" name="Rectangle 29">
                <a:extLst>
                  <a:ext uri="{FF2B5EF4-FFF2-40B4-BE49-F238E27FC236}">
                    <a16:creationId xmlns:a16="http://schemas.microsoft.com/office/drawing/2014/main" id="{75427189-1140-A7F2-92B9-A48276ED871A}"/>
                  </a:ext>
                </a:extLst>
              </p:cNvPr>
              <p:cNvSpPr>
                <a:spLocks noChangeArrowheads="1"/>
              </p:cNvSpPr>
              <p:nvPr/>
            </p:nvSpPr>
            <p:spPr bwMode="auto">
              <a:xfrm>
                <a:off x="2592" y="1872"/>
                <a:ext cx="960"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单位阶跃输入</a:t>
                </a:r>
              </a:p>
            </p:txBody>
          </p:sp>
          <p:sp>
            <p:nvSpPr>
              <p:cNvPr id="8221" name="Rectangle 30">
                <a:extLst>
                  <a:ext uri="{FF2B5EF4-FFF2-40B4-BE49-F238E27FC236}">
                    <a16:creationId xmlns:a16="http://schemas.microsoft.com/office/drawing/2014/main" id="{B3586E54-C8C5-2998-F602-204B35B03CA5}"/>
                  </a:ext>
                </a:extLst>
              </p:cNvPr>
              <p:cNvSpPr>
                <a:spLocks noChangeArrowheads="1"/>
              </p:cNvSpPr>
              <p:nvPr/>
            </p:nvSpPr>
            <p:spPr bwMode="auto">
              <a:xfrm>
                <a:off x="2064" y="1872"/>
                <a:ext cx="528"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r>
                  <a:rPr lang="en-US" altLang="zh-CN" sz="2700" i="1" baseline="-18000"/>
                  <a:t>a</a:t>
                </a:r>
              </a:p>
            </p:txBody>
          </p:sp>
          <p:sp>
            <p:nvSpPr>
              <p:cNvPr id="8222" name="Rectangle 31">
                <a:extLst>
                  <a:ext uri="{FF2B5EF4-FFF2-40B4-BE49-F238E27FC236}">
                    <a16:creationId xmlns:a16="http://schemas.microsoft.com/office/drawing/2014/main" id="{A3BD3129-B6CC-6274-48B7-B75A0E5029CD}"/>
                  </a:ext>
                </a:extLst>
              </p:cNvPr>
              <p:cNvSpPr>
                <a:spLocks noChangeArrowheads="1"/>
              </p:cNvSpPr>
              <p:nvPr/>
            </p:nvSpPr>
            <p:spPr bwMode="auto">
              <a:xfrm>
                <a:off x="1584" y="1872"/>
                <a:ext cx="480"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r>
                  <a:rPr lang="en-US" altLang="zh-CN" sz="2700" i="1" baseline="-18000"/>
                  <a:t>v</a:t>
                </a:r>
              </a:p>
            </p:txBody>
          </p:sp>
          <p:sp>
            <p:nvSpPr>
              <p:cNvPr id="8223" name="Rectangle 32">
                <a:extLst>
                  <a:ext uri="{FF2B5EF4-FFF2-40B4-BE49-F238E27FC236}">
                    <a16:creationId xmlns:a16="http://schemas.microsoft.com/office/drawing/2014/main" id="{72D18FAF-C540-716B-B2F0-EA7E6C327191}"/>
                  </a:ext>
                </a:extLst>
              </p:cNvPr>
              <p:cNvSpPr>
                <a:spLocks noChangeArrowheads="1"/>
              </p:cNvSpPr>
              <p:nvPr/>
            </p:nvSpPr>
            <p:spPr bwMode="auto">
              <a:xfrm>
                <a:off x="1056" y="1872"/>
                <a:ext cx="528" cy="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en-US" altLang="zh-CN" sz="2600" i="1"/>
                  <a:t>K</a:t>
                </a:r>
                <a:r>
                  <a:rPr lang="en-US" altLang="zh-CN" sz="2700" i="1" baseline="-18000"/>
                  <a:t>p</a:t>
                </a:r>
              </a:p>
            </p:txBody>
          </p:sp>
          <p:sp>
            <p:nvSpPr>
              <p:cNvPr id="8224" name="Rectangle 33">
                <a:extLst>
                  <a:ext uri="{FF2B5EF4-FFF2-40B4-BE49-F238E27FC236}">
                    <a16:creationId xmlns:a16="http://schemas.microsoft.com/office/drawing/2014/main" id="{5AE259C7-8969-8A7A-E959-BDE5D7869919}"/>
                  </a:ext>
                </a:extLst>
              </p:cNvPr>
              <p:cNvSpPr>
                <a:spLocks noChangeArrowheads="1"/>
              </p:cNvSpPr>
              <p:nvPr/>
            </p:nvSpPr>
            <p:spPr bwMode="auto">
              <a:xfrm>
                <a:off x="2592" y="1488"/>
                <a:ext cx="30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稳态偏差</a:t>
                </a:r>
              </a:p>
            </p:txBody>
          </p:sp>
          <p:sp>
            <p:nvSpPr>
              <p:cNvPr id="8225" name="Rectangle 34">
                <a:extLst>
                  <a:ext uri="{FF2B5EF4-FFF2-40B4-BE49-F238E27FC236}">
                    <a16:creationId xmlns:a16="http://schemas.microsoft.com/office/drawing/2014/main" id="{3DDC74F2-1C88-4039-AB42-789207227B88}"/>
                  </a:ext>
                </a:extLst>
              </p:cNvPr>
              <p:cNvSpPr>
                <a:spLocks noChangeArrowheads="1"/>
              </p:cNvSpPr>
              <p:nvPr/>
            </p:nvSpPr>
            <p:spPr bwMode="auto">
              <a:xfrm>
                <a:off x="1056" y="1488"/>
                <a:ext cx="153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稳态误差系数</a:t>
                </a:r>
              </a:p>
            </p:txBody>
          </p:sp>
          <p:sp>
            <p:nvSpPr>
              <p:cNvPr id="8226" name="Rectangle 35">
                <a:extLst>
                  <a:ext uri="{FF2B5EF4-FFF2-40B4-BE49-F238E27FC236}">
                    <a16:creationId xmlns:a16="http://schemas.microsoft.com/office/drawing/2014/main" id="{B25226A9-3E4C-9BAE-FB2D-5E5D54B40825}"/>
                  </a:ext>
                </a:extLst>
              </p:cNvPr>
              <p:cNvSpPr>
                <a:spLocks noChangeArrowheads="1"/>
              </p:cNvSpPr>
              <p:nvPr/>
            </p:nvSpPr>
            <p:spPr bwMode="auto">
              <a:xfrm>
                <a:off x="432" y="1488"/>
                <a:ext cx="624" cy="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spcBef>
                    <a:spcPct val="20000"/>
                  </a:spcBef>
                  <a:buClr>
                    <a:schemeClr val="accent2"/>
                  </a:buClr>
                  <a:buFont typeface="Wingdings" panose="05000000000000000000" pitchFamily="2" charset="2"/>
                  <a:buNone/>
                </a:pPr>
                <a:r>
                  <a:rPr lang="zh-CN" altLang="en-US" sz="2600"/>
                  <a:t>系统类型</a:t>
                </a:r>
              </a:p>
            </p:txBody>
          </p:sp>
          <p:sp>
            <p:nvSpPr>
              <p:cNvPr id="8227" name="Line 36">
                <a:extLst>
                  <a:ext uri="{FF2B5EF4-FFF2-40B4-BE49-F238E27FC236}">
                    <a16:creationId xmlns:a16="http://schemas.microsoft.com/office/drawing/2014/main" id="{3AA437C3-D018-36E6-C460-C0C54B7C5B80}"/>
                  </a:ext>
                </a:extLst>
              </p:cNvPr>
              <p:cNvSpPr>
                <a:spLocks noChangeShapeType="1"/>
              </p:cNvSpPr>
              <p:nvPr/>
            </p:nvSpPr>
            <p:spPr bwMode="auto">
              <a:xfrm>
                <a:off x="432" y="1488"/>
                <a:ext cx="518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 name="Line 37">
                <a:extLst>
                  <a:ext uri="{FF2B5EF4-FFF2-40B4-BE49-F238E27FC236}">
                    <a16:creationId xmlns:a16="http://schemas.microsoft.com/office/drawing/2014/main" id="{5CD7FF4D-F276-07EB-48D9-0A39DB288215}"/>
                  </a:ext>
                </a:extLst>
              </p:cNvPr>
              <p:cNvSpPr>
                <a:spLocks noChangeShapeType="1"/>
              </p:cNvSpPr>
              <p:nvPr/>
            </p:nvSpPr>
            <p:spPr bwMode="auto">
              <a:xfrm>
                <a:off x="432" y="2467"/>
                <a:ext cx="518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 name="Line 38">
                <a:extLst>
                  <a:ext uri="{FF2B5EF4-FFF2-40B4-BE49-F238E27FC236}">
                    <a16:creationId xmlns:a16="http://schemas.microsoft.com/office/drawing/2014/main" id="{3FD2B05A-C5BA-6ADE-0275-05C8D0A76E80}"/>
                  </a:ext>
                </a:extLst>
              </p:cNvPr>
              <p:cNvSpPr>
                <a:spLocks noChangeShapeType="1"/>
              </p:cNvSpPr>
              <p:nvPr/>
            </p:nvSpPr>
            <p:spPr bwMode="auto">
              <a:xfrm>
                <a:off x="432" y="2979"/>
                <a:ext cx="518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 name="Line 39">
                <a:extLst>
                  <a:ext uri="{FF2B5EF4-FFF2-40B4-BE49-F238E27FC236}">
                    <a16:creationId xmlns:a16="http://schemas.microsoft.com/office/drawing/2014/main" id="{DE59A206-FF66-758A-DB93-D1981F2C7FAB}"/>
                  </a:ext>
                </a:extLst>
              </p:cNvPr>
              <p:cNvSpPr>
                <a:spLocks noChangeShapeType="1"/>
              </p:cNvSpPr>
              <p:nvPr/>
            </p:nvSpPr>
            <p:spPr bwMode="auto">
              <a:xfrm>
                <a:off x="432" y="3491"/>
                <a:ext cx="518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 name="Line 40">
                <a:extLst>
                  <a:ext uri="{FF2B5EF4-FFF2-40B4-BE49-F238E27FC236}">
                    <a16:creationId xmlns:a16="http://schemas.microsoft.com/office/drawing/2014/main" id="{32D48CB3-4885-D480-184F-210646389B0F}"/>
                  </a:ext>
                </a:extLst>
              </p:cNvPr>
              <p:cNvSpPr>
                <a:spLocks noChangeShapeType="1"/>
              </p:cNvSpPr>
              <p:nvPr/>
            </p:nvSpPr>
            <p:spPr bwMode="auto">
              <a:xfrm>
                <a:off x="432" y="4003"/>
                <a:ext cx="518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 name="Line 41">
                <a:extLst>
                  <a:ext uri="{FF2B5EF4-FFF2-40B4-BE49-F238E27FC236}">
                    <a16:creationId xmlns:a16="http://schemas.microsoft.com/office/drawing/2014/main" id="{0D93A570-D721-390E-6B68-22841C80AC72}"/>
                  </a:ext>
                </a:extLst>
              </p:cNvPr>
              <p:cNvSpPr>
                <a:spLocks noChangeShapeType="1"/>
              </p:cNvSpPr>
              <p:nvPr/>
            </p:nvSpPr>
            <p:spPr bwMode="auto">
              <a:xfrm>
                <a:off x="432" y="1488"/>
                <a:ext cx="0" cy="2515"/>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 name="Line 42">
                <a:extLst>
                  <a:ext uri="{FF2B5EF4-FFF2-40B4-BE49-F238E27FC236}">
                    <a16:creationId xmlns:a16="http://schemas.microsoft.com/office/drawing/2014/main" id="{868E418D-8619-5047-D837-8983B6E74729}"/>
                  </a:ext>
                </a:extLst>
              </p:cNvPr>
              <p:cNvSpPr>
                <a:spLocks noChangeShapeType="1"/>
              </p:cNvSpPr>
              <p:nvPr/>
            </p:nvSpPr>
            <p:spPr bwMode="auto">
              <a:xfrm>
                <a:off x="1056" y="1488"/>
                <a:ext cx="0" cy="251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4" name="Line 43">
                <a:extLst>
                  <a:ext uri="{FF2B5EF4-FFF2-40B4-BE49-F238E27FC236}">
                    <a16:creationId xmlns:a16="http://schemas.microsoft.com/office/drawing/2014/main" id="{FC601767-2CAF-BE12-9E17-23B605D668B9}"/>
                  </a:ext>
                </a:extLst>
              </p:cNvPr>
              <p:cNvSpPr>
                <a:spLocks noChangeShapeType="1"/>
              </p:cNvSpPr>
              <p:nvPr/>
            </p:nvSpPr>
            <p:spPr bwMode="auto">
              <a:xfrm>
                <a:off x="2592" y="1488"/>
                <a:ext cx="0" cy="251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5" name="Line 44">
                <a:extLst>
                  <a:ext uri="{FF2B5EF4-FFF2-40B4-BE49-F238E27FC236}">
                    <a16:creationId xmlns:a16="http://schemas.microsoft.com/office/drawing/2014/main" id="{76D7B98E-3FF0-14FD-5877-41E55B01E9F3}"/>
                  </a:ext>
                </a:extLst>
              </p:cNvPr>
              <p:cNvSpPr>
                <a:spLocks noChangeShapeType="1"/>
              </p:cNvSpPr>
              <p:nvPr/>
            </p:nvSpPr>
            <p:spPr bwMode="auto">
              <a:xfrm>
                <a:off x="5616" y="1488"/>
                <a:ext cx="0" cy="2515"/>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 name="Line 45">
                <a:extLst>
                  <a:ext uri="{FF2B5EF4-FFF2-40B4-BE49-F238E27FC236}">
                    <a16:creationId xmlns:a16="http://schemas.microsoft.com/office/drawing/2014/main" id="{8793772A-3EDF-87F2-40A1-C6A89DBC9717}"/>
                  </a:ext>
                </a:extLst>
              </p:cNvPr>
              <p:cNvSpPr>
                <a:spLocks noChangeShapeType="1"/>
              </p:cNvSpPr>
              <p:nvPr/>
            </p:nvSpPr>
            <p:spPr bwMode="auto">
              <a:xfrm>
                <a:off x="1584" y="1872"/>
                <a:ext cx="0" cy="213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 name="Line 46">
                <a:extLst>
                  <a:ext uri="{FF2B5EF4-FFF2-40B4-BE49-F238E27FC236}">
                    <a16:creationId xmlns:a16="http://schemas.microsoft.com/office/drawing/2014/main" id="{25AC7CC2-B998-58E4-859E-F7142DDBB746}"/>
                  </a:ext>
                </a:extLst>
              </p:cNvPr>
              <p:cNvSpPr>
                <a:spLocks noChangeShapeType="1"/>
              </p:cNvSpPr>
              <p:nvPr/>
            </p:nvSpPr>
            <p:spPr bwMode="auto">
              <a:xfrm>
                <a:off x="2064" y="1872"/>
                <a:ext cx="0" cy="213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 name="Line 47">
                <a:extLst>
                  <a:ext uri="{FF2B5EF4-FFF2-40B4-BE49-F238E27FC236}">
                    <a16:creationId xmlns:a16="http://schemas.microsoft.com/office/drawing/2014/main" id="{EA66C15D-C54F-BAA0-B743-33FB9C98E6D2}"/>
                  </a:ext>
                </a:extLst>
              </p:cNvPr>
              <p:cNvSpPr>
                <a:spLocks noChangeShapeType="1"/>
              </p:cNvSpPr>
              <p:nvPr/>
            </p:nvSpPr>
            <p:spPr bwMode="auto">
              <a:xfrm>
                <a:off x="3552" y="1872"/>
                <a:ext cx="0" cy="213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 name="Line 48">
                <a:extLst>
                  <a:ext uri="{FF2B5EF4-FFF2-40B4-BE49-F238E27FC236}">
                    <a16:creationId xmlns:a16="http://schemas.microsoft.com/office/drawing/2014/main" id="{B3D40221-A3CC-BF39-CB46-E0A077F872A3}"/>
                  </a:ext>
                </a:extLst>
              </p:cNvPr>
              <p:cNvSpPr>
                <a:spLocks noChangeShapeType="1"/>
              </p:cNvSpPr>
              <p:nvPr/>
            </p:nvSpPr>
            <p:spPr bwMode="auto">
              <a:xfrm>
                <a:off x="4512" y="1872"/>
                <a:ext cx="0" cy="213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 name="Line 49">
                <a:extLst>
                  <a:ext uri="{FF2B5EF4-FFF2-40B4-BE49-F238E27FC236}">
                    <a16:creationId xmlns:a16="http://schemas.microsoft.com/office/drawing/2014/main" id="{7E845135-2783-A8BB-4B83-9ADF31D0DD9D}"/>
                  </a:ext>
                </a:extLst>
              </p:cNvPr>
              <p:cNvSpPr>
                <a:spLocks noChangeShapeType="1"/>
              </p:cNvSpPr>
              <p:nvPr/>
            </p:nvSpPr>
            <p:spPr bwMode="auto">
              <a:xfrm>
                <a:off x="1056" y="1872"/>
                <a:ext cx="456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8241" name="Object 50">
                <a:extLst>
                  <a:ext uri="{FF2B5EF4-FFF2-40B4-BE49-F238E27FC236}">
                    <a16:creationId xmlns:a16="http://schemas.microsoft.com/office/drawing/2014/main" id="{61E2306D-5B22-3665-CC5B-7F8B54AAD8F9}"/>
                  </a:ext>
                </a:extLst>
              </p:cNvPr>
              <p:cNvGraphicFramePr>
                <a:graphicFrameLocks noChangeAspect="1"/>
              </p:cNvGraphicFramePr>
              <p:nvPr/>
            </p:nvGraphicFramePr>
            <p:xfrm>
              <a:off x="2839" y="2491"/>
              <a:ext cx="521" cy="470"/>
            </p:xfrm>
            <a:graphic>
              <a:graphicData uri="http://schemas.openxmlformats.org/presentationml/2006/ole">
                <mc:AlternateContent xmlns:mc="http://schemas.openxmlformats.org/markup-compatibility/2006">
                  <mc:Choice xmlns:v="urn:schemas-microsoft-com:vml" Requires="v">
                    <p:oleObj r:id="rId3" imgW="380835" imgH="393529" progId="Equation.3">
                      <p:embed/>
                    </p:oleObj>
                  </mc:Choice>
                  <mc:Fallback>
                    <p:oleObj r:id="rId3" imgW="380835" imgH="393529"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9" y="2491"/>
                            <a:ext cx="521" cy="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42" name="Object 51">
                <a:extLst>
                  <a:ext uri="{FF2B5EF4-FFF2-40B4-BE49-F238E27FC236}">
                    <a16:creationId xmlns:a16="http://schemas.microsoft.com/office/drawing/2014/main" id="{783F596D-3DB8-4A21-41E8-380C69D64BB9}"/>
                  </a:ext>
                </a:extLst>
              </p:cNvPr>
              <p:cNvGraphicFramePr>
                <a:graphicFrameLocks noChangeAspect="1"/>
              </p:cNvGraphicFramePr>
              <p:nvPr/>
            </p:nvGraphicFramePr>
            <p:xfrm>
              <a:off x="3901" y="2984"/>
              <a:ext cx="275" cy="496"/>
            </p:xfrm>
            <a:graphic>
              <a:graphicData uri="http://schemas.openxmlformats.org/presentationml/2006/ole">
                <mc:AlternateContent xmlns:mc="http://schemas.openxmlformats.org/markup-compatibility/2006">
                  <mc:Choice xmlns:v="urn:schemas-microsoft-com:vml" Requires="v">
                    <p:oleObj r:id="rId5" imgW="190417" imgH="393529" progId="Equation.3">
                      <p:embed/>
                    </p:oleObj>
                  </mc:Choice>
                  <mc:Fallback>
                    <p:oleObj r:id="rId5" imgW="190417" imgH="393529" progId="Equation.3">
                      <p:embed/>
                      <p:pic>
                        <p:nvPicPr>
                          <p:cNvPr id="0" name="Object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1" y="2984"/>
                            <a:ext cx="275"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43" name="Object 52">
                <a:extLst>
                  <a:ext uri="{FF2B5EF4-FFF2-40B4-BE49-F238E27FC236}">
                    <a16:creationId xmlns:a16="http://schemas.microsoft.com/office/drawing/2014/main" id="{CEE1A687-63B2-EFB9-A990-604914ED7C13}"/>
                  </a:ext>
                </a:extLst>
              </p:cNvPr>
              <p:cNvGraphicFramePr>
                <a:graphicFrameLocks noChangeAspect="1"/>
              </p:cNvGraphicFramePr>
              <p:nvPr/>
            </p:nvGraphicFramePr>
            <p:xfrm>
              <a:off x="4941" y="3488"/>
              <a:ext cx="275" cy="496"/>
            </p:xfrm>
            <a:graphic>
              <a:graphicData uri="http://schemas.openxmlformats.org/presentationml/2006/ole">
                <mc:AlternateContent xmlns:mc="http://schemas.openxmlformats.org/markup-compatibility/2006">
                  <mc:Choice xmlns:v="urn:schemas-microsoft-com:vml" Requires="v">
                    <p:oleObj r:id="rId7" imgW="190417" imgH="393529" progId="Equation.3">
                      <p:embed/>
                    </p:oleObj>
                  </mc:Choice>
                  <mc:Fallback>
                    <p:oleObj r:id="rId7" imgW="190417" imgH="393529" progId="Equation.3">
                      <p:embed/>
                      <p:pic>
                        <p:nvPicPr>
                          <p:cNvPr id="0"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1" y="3488"/>
                            <a:ext cx="275"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C77D202C-804F-DE6A-C504-9C38341A5B1D}"/>
              </a:ext>
            </a:extLst>
          </p:cNvPr>
          <p:cNvSpPr>
            <a:spLocks noChangeArrowheads="1"/>
          </p:cNvSpPr>
          <p:nvPr/>
        </p:nvSpPr>
        <p:spPr bwMode="auto">
          <a:xfrm>
            <a:off x="395288" y="2151063"/>
            <a:ext cx="7786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3. 0</a:t>
            </a:r>
            <a:r>
              <a:rPr lang="zh-CN" altLang="zh-CN" sz="2800"/>
              <a:t>型系统对阶跃输入</a:t>
            </a:r>
            <a:r>
              <a:rPr lang="zh-CN" altLang="en-US" sz="2800"/>
              <a:t>信号下的误差如何</a:t>
            </a:r>
            <a:r>
              <a:rPr lang="zh-CN" altLang="zh-CN" sz="2800"/>
              <a:t>？</a:t>
            </a:r>
            <a:endParaRPr lang="zh-CN" altLang="en-US" sz="2800"/>
          </a:p>
        </p:txBody>
      </p:sp>
      <p:sp>
        <p:nvSpPr>
          <p:cNvPr id="14" name="矩形 13">
            <a:extLst>
              <a:ext uri="{FF2B5EF4-FFF2-40B4-BE49-F238E27FC236}">
                <a16:creationId xmlns:a16="http://schemas.microsoft.com/office/drawing/2014/main" id="{F70D0105-7071-9040-7D88-0C4E5DA6D19D}"/>
              </a:ext>
            </a:extLst>
          </p:cNvPr>
          <p:cNvSpPr>
            <a:spLocks noChangeArrowheads="1"/>
          </p:cNvSpPr>
          <p:nvPr/>
        </p:nvSpPr>
        <p:spPr bwMode="auto">
          <a:xfrm>
            <a:off x="411163" y="2673350"/>
            <a:ext cx="7786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4. I</a:t>
            </a:r>
            <a:r>
              <a:rPr lang="zh-CN" altLang="zh-CN" sz="2800"/>
              <a:t>型系统对阶跃输入</a:t>
            </a:r>
            <a:r>
              <a:rPr lang="zh-CN" altLang="en-US" sz="2800"/>
              <a:t>信号下的误差如何</a:t>
            </a:r>
            <a:r>
              <a:rPr lang="zh-CN" altLang="zh-CN" sz="2800"/>
              <a:t>？</a:t>
            </a:r>
            <a:endParaRPr lang="zh-CN" altLang="en-US" sz="2800"/>
          </a:p>
        </p:txBody>
      </p:sp>
      <p:sp>
        <p:nvSpPr>
          <p:cNvPr id="15" name="矩形 14">
            <a:extLst>
              <a:ext uri="{FF2B5EF4-FFF2-40B4-BE49-F238E27FC236}">
                <a16:creationId xmlns:a16="http://schemas.microsoft.com/office/drawing/2014/main" id="{97F5E0E9-883F-A145-4853-814A5FFB9704}"/>
              </a:ext>
            </a:extLst>
          </p:cNvPr>
          <p:cNvSpPr>
            <a:spLocks noChangeArrowheads="1"/>
          </p:cNvSpPr>
          <p:nvPr/>
        </p:nvSpPr>
        <p:spPr bwMode="auto">
          <a:xfrm>
            <a:off x="411163" y="1058863"/>
            <a:ext cx="5788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1.</a:t>
            </a:r>
            <a:r>
              <a:rPr lang="zh-CN" altLang="en-US" sz="2800"/>
              <a:t> 系统的类型</a:t>
            </a:r>
            <a:r>
              <a:rPr lang="en-US" altLang="zh-CN" sz="2800"/>
              <a:t>/</a:t>
            </a:r>
            <a:r>
              <a:rPr lang="zh-CN" altLang="en-US" sz="2800"/>
              <a:t>型别是如何定义的？ </a:t>
            </a:r>
          </a:p>
        </p:txBody>
      </p:sp>
      <p:sp>
        <p:nvSpPr>
          <p:cNvPr id="16" name="矩形 15">
            <a:extLst>
              <a:ext uri="{FF2B5EF4-FFF2-40B4-BE49-F238E27FC236}">
                <a16:creationId xmlns:a16="http://schemas.microsoft.com/office/drawing/2014/main" id="{D9CF0150-3714-8CF5-2C45-B771736AA12D}"/>
              </a:ext>
            </a:extLst>
          </p:cNvPr>
          <p:cNvSpPr>
            <a:spLocks noChangeArrowheads="1"/>
          </p:cNvSpPr>
          <p:nvPr/>
        </p:nvSpPr>
        <p:spPr bwMode="auto">
          <a:xfrm>
            <a:off x="395288" y="1582738"/>
            <a:ext cx="52911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2.</a:t>
            </a:r>
            <a:r>
              <a:rPr lang="zh-CN" altLang="en-US" sz="2800"/>
              <a:t> 影响稳态误差的因素有哪些？ </a:t>
            </a:r>
          </a:p>
        </p:txBody>
      </p:sp>
      <p:sp>
        <p:nvSpPr>
          <p:cNvPr id="17" name="矩形 16">
            <a:extLst>
              <a:ext uri="{FF2B5EF4-FFF2-40B4-BE49-F238E27FC236}">
                <a16:creationId xmlns:a16="http://schemas.microsoft.com/office/drawing/2014/main" id="{EB99E592-B953-A9D6-31EF-507119CF96C5}"/>
              </a:ext>
            </a:extLst>
          </p:cNvPr>
          <p:cNvSpPr>
            <a:spLocks noChangeArrowheads="1"/>
          </p:cNvSpPr>
          <p:nvPr/>
        </p:nvSpPr>
        <p:spPr bwMode="auto">
          <a:xfrm>
            <a:off x="396875" y="3197225"/>
            <a:ext cx="9118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5. 0</a:t>
            </a:r>
            <a:r>
              <a:rPr lang="zh-CN" altLang="zh-CN" sz="2800"/>
              <a:t>型系统对</a:t>
            </a:r>
            <a:r>
              <a:rPr lang="zh-CN" altLang="en-US" sz="2800"/>
              <a:t>坡斜输入和加速度输入信号下的误差如何</a:t>
            </a:r>
            <a:r>
              <a:rPr lang="zh-CN" altLang="zh-CN" sz="2800"/>
              <a:t>？</a:t>
            </a:r>
            <a:endParaRPr lang="zh-CN" altLang="en-US" sz="2800"/>
          </a:p>
        </p:txBody>
      </p:sp>
      <p:sp>
        <p:nvSpPr>
          <p:cNvPr id="19" name="矩形 18">
            <a:extLst>
              <a:ext uri="{FF2B5EF4-FFF2-40B4-BE49-F238E27FC236}">
                <a16:creationId xmlns:a16="http://schemas.microsoft.com/office/drawing/2014/main" id="{72A7FDE4-329C-C0BB-12F2-6FE704EF8533}"/>
              </a:ext>
            </a:extLst>
          </p:cNvPr>
          <p:cNvSpPr>
            <a:spLocks noChangeArrowheads="1"/>
          </p:cNvSpPr>
          <p:nvPr/>
        </p:nvSpPr>
        <p:spPr bwMode="auto">
          <a:xfrm>
            <a:off x="395288" y="3705225"/>
            <a:ext cx="7786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6. I</a:t>
            </a:r>
            <a:r>
              <a:rPr lang="zh-CN" altLang="zh-CN" sz="2800"/>
              <a:t>型系统对</a:t>
            </a:r>
            <a:r>
              <a:rPr lang="zh-CN" altLang="en-US" sz="2800"/>
              <a:t>斜坡输入信号下的误差如何</a:t>
            </a:r>
            <a:r>
              <a:rPr lang="zh-CN" altLang="zh-CN" sz="2800"/>
              <a:t>？</a:t>
            </a:r>
            <a:endParaRPr lang="zh-CN" altLang="en-US" sz="2800"/>
          </a:p>
        </p:txBody>
      </p:sp>
      <p:sp>
        <p:nvSpPr>
          <p:cNvPr id="10" name="矩形 9">
            <a:extLst>
              <a:ext uri="{FF2B5EF4-FFF2-40B4-BE49-F238E27FC236}">
                <a16:creationId xmlns:a16="http://schemas.microsoft.com/office/drawing/2014/main" id="{D7037312-ADF7-D191-7E9A-97D72F0EABA2}"/>
              </a:ext>
            </a:extLst>
          </p:cNvPr>
          <p:cNvSpPr>
            <a:spLocks noChangeArrowheads="1"/>
          </p:cNvSpPr>
          <p:nvPr/>
        </p:nvSpPr>
        <p:spPr bwMode="auto">
          <a:xfrm>
            <a:off x="395288" y="4227513"/>
            <a:ext cx="7786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7. I</a:t>
            </a:r>
            <a:r>
              <a:rPr lang="zh-CN" altLang="zh-CN" sz="2800"/>
              <a:t>型系统对</a:t>
            </a:r>
            <a:r>
              <a:rPr lang="zh-CN" altLang="en-US" sz="2800"/>
              <a:t>加速度输入信号下的误差如何</a:t>
            </a:r>
            <a:r>
              <a:rPr lang="zh-CN" altLang="zh-CN" sz="2800"/>
              <a:t>？</a:t>
            </a:r>
            <a:endParaRPr lang="zh-CN" altLang="en-US" sz="2800"/>
          </a:p>
        </p:txBody>
      </p:sp>
      <p:sp>
        <p:nvSpPr>
          <p:cNvPr id="11" name="矩形 10">
            <a:extLst>
              <a:ext uri="{FF2B5EF4-FFF2-40B4-BE49-F238E27FC236}">
                <a16:creationId xmlns:a16="http://schemas.microsoft.com/office/drawing/2014/main" id="{326CF975-6263-8483-73CA-8BA7AC4A204D}"/>
              </a:ext>
            </a:extLst>
          </p:cNvPr>
          <p:cNvSpPr>
            <a:spLocks noChangeArrowheads="1"/>
          </p:cNvSpPr>
          <p:nvPr/>
        </p:nvSpPr>
        <p:spPr bwMode="auto">
          <a:xfrm>
            <a:off x="395288" y="4691063"/>
            <a:ext cx="77866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8. I I</a:t>
            </a:r>
            <a:r>
              <a:rPr lang="zh-CN" altLang="zh-CN" sz="2800"/>
              <a:t>型系统对</a:t>
            </a:r>
            <a:r>
              <a:rPr lang="zh-CN" altLang="en-US" sz="2800"/>
              <a:t>加速度输入信号下的误差如何</a:t>
            </a:r>
            <a:r>
              <a:rPr lang="zh-CN" altLang="zh-CN" sz="2800"/>
              <a:t>？</a:t>
            </a:r>
            <a:endParaRPr lang="zh-CN" altLang="en-US" sz="2800"/>
          </a:p>
        </p:txBody>
      </p:sp>
      <p:sp>
        <p:nvSpPr>
          <p:cNvPr id="12" name="矩形 11">
            <a:extLst>
              <a:ext uri="{FF2B5EF4-FFF2-40B4-BE49-F238E27FC236}">
                <a16:creationId xmlns:a16="http://schemas.microsoft.com/office/drawing/2014/main" id="{16FC6251-B1E5-708B-DBC1-2B943E9AEA0A}"/>
              </a:ext>
            </a:extLst>
          </p:cNvPr>
          <p:cNvSpPr>
            <a:spLocks noChangeArrowheads="1"/>
          </p:cNvSpPr>
          <p:nvPr/>
        </p:nvSpPr>
        <p:spPr bwMode="auto">
          <a:xfrm>
            <a:off x="395288" y="5199063"/>
            <a:ext cx="90344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9. I I</a:t>
            </a:r>
            <a:r>
              <a:rPr lang="zh-CN" altLang="zh-CN" sz="2800"/>
              <a:t>型系统对</a:t>
            </a:r>
            <a:r>
              <a:rPr lang="zh-CN" altLang="en-US" sz="2800"/>
              <a:t>阶跃输入和速度输入信号下的误差如何</a:t>
            </a:r>
            <a:r>
              <a:rPr lang="zh-CN" altLang="zh-CN" sz="2800"/>
              <a:t>？</a:t>
            </a:r>
            <a:endParaRPr lang="zh-CN" altLang="en-US" sz="2800"/>
          </a:p>
        </p:txBody>
      </p:sp>
      <p:sp>
        <p:nvSpPr>
          <p:cNvPr id="21" name="矩形 20">
            <a:extLst>
              <a:ext uri="{FF2B5EF4-FFF2-40B4-BE49-F238E27FC236}">
                <a16:creationId xmlns:a16="http://schemas.microsoft.com/office/drawing/2014/main" id="{8BAD0869-DC5E-F58F-8E51-9C5835F2E715}"/>
              </a:ext>
            </a:extLst>
          </p:cNvPr>
          <p:cNvSpPr>
            <a:spLocks noChangeArrowheads="1"/>
          </p:cNvSpPr>
          <p:nvPr/>
        </p:nvSpPr>
        <p:spPr bwMode="auto">
          <a:xfrm>
            <a:off x="250825" y="5732463"/>
            <a:ext cx="8283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10.</a:t>
            </a:r>
            <a:r>
              <a:rPr lang="zh-CN" altLang="en-US" sz="2800"/>
              <a:t>减小控制信号作用下稳态误差的措施有哪些？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4" presetClass="entr" presetSubtype="1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randombar(horizontal)">
                                      <p:cBhvr>
                                        <p:cTn id="15" dur="500"/>
                                        <p:tgtEl>
                                          <p:spTgt spid="1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4" presetClass="entr" presetSubtype="10"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randombar(horizontal)">
                                      <p:cBhvr>
                                        <p:cTn id="20" dur="500"/>
                                        <p:tgtEl>
                                          <p:spTgt spid="1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4" presetClass="entr" presetSubtype="1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randombar(horizontal)">
                                      <p:cBhvr>
                                        <p:cTn id="25" dur="500"/>
                                        <p:tgtEl>
                                          <p:spTgt spid="1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4" presetClass="entr" presetSubtype="10"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randombar(horizontal)">
                                      <p:cBhvr>
                                        <p:cTn id="30" dur="500"/>
                                        <p:tgtEl>
                                          <p:spTgt spid="1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4" presetClass="entr" presetSubtype="1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randombar(horizontal)">
                                      <p:cBhvr>
                                        <p:cTn id="35" dur="500"/>
                                        <p:tgtEl>
                                          <p:spTgt spid="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4" presetClass="entr" presetSubtype="1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randombar(horizontal)">
                                      <p:cBhvr>
                                        <p:cTn id="40" dur="500"/>
                                        <p:tgtEl>
                                          <p:spTgt spid="1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4" presetClass="entr" presetSubtype="1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randombar(horizontal)">
                                      <p:cBhvr>
                                        <p:cTn id="45" dur="500"/>
                                        <p:tgtEl>
                                          <p:spTgt spid="1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4" presetClass="entr" presetSubtype="10" fill="hold"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randombar(horizontal)">
                                      <p:cBhvr>
                                        <p:cTn id="5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9" grpId="0"/>
      <p:bldP spid="10" grpId="0"/>
      <p:bldP spid="11" grpId="0"/>
      <p:bldP spid="12"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B1C5A435-804D-D811-8198-E5C138544497}"/>
              </a:ext>
            </a:extLst>
          </p:cNvPr>
          <p:cNvSpPr>
            <a:spLocks noChangeArrowheads="1"/>
          </p:cNvSpPr>
          <p:nvPr/>
        </p:nvSpPr>
        <p:spPr bwMode="auto">
          <a:xfrm>
            <a:off x="2843213" y="2708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sp>
        <p:nvSpPr>
          <p:cNvPr id="11267" name="Rectangle 4">
            <a:extLst>
              <a:ext uri="{FF2B5EF4-FFF2-40B4-BE49-F238E27FC236}">
                <a16:creationId xmlns:a16="http://schemas.microsoft.com/office/drawing/2014/main" id="{D760FA84-4BDB-64AD-142A-B6012037CE91}"/>
              </a:ext>
            </a:extLst>
          </p:cNvPr>
          <p:cNvSpPr>
            <a:spLocks noChangeArrowheads="1"/>
          </p:cNvSpPr>
          <p:nvPr/>
        </p:nvSpPr>
        <p:spPr bwMode="auto">
          <a:xfrm>
            <a:off x="2555875" y="48974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endParaRPr lang="zh-CN" altLang="en-US"/>
          </a:p>
        </p:txBody>
      </p:sp>
      <p:graphicFrame>
        <p:nvGraphicFramePr>
          <p:cNvPr id="10" name="对象 9">
            <a:extLst>
              <a:ext uri="{FF2B5EF4-FFF2-40B4-BE49-F238E27FC236}">
                <a16:creationId xmlns:a16="http://schemas.microsoft.com/office/drawing/2014/main" id="{9F882942-01CE-81CD-17A3-061019110BC3}"/>
              </a:ext>
            </a:extLst>
          </p:cNvPr>
          <p:cNvGraphicFramePr>
            <a:graphicFrameLocks noChangeAspect="1"/>
          </p:cNvGraphicFramePr>
          <p:nvPr/>
        </p:nvGraphicFramePr>
        <p:xfrm>
          <a:off x="5629275" y="581025"/>
          <a:ext cx="2997200" cy="1036638"/>
        </p:xfrm>
        <a:graphic>
          <a:graphicData uri="http://schemas.openxmlformats.org/presentationml/2006/ole">
            <mc:AlternateContent xmlns:mc="http://schemas.openxmlformats.org/markup-compatibility/2006">
              <mc:Choice xmlns:v="urn:schemas-microsoft-com:vml" Requires="v">
                <p:oleObj r:id="rId2" imgW="1054100" imgH="368300" progId="Equation.3">
                  <p:embed/>
                </p:oleObj>
              </mc:Choice>
              <mc:Fallback>
                <p:oleObj r:id="rId2" imgW="1054100" imgH="368300" progId="Equation.3">
                  <p:embed/>
                  <p:pic>
                    <p:nvPicPr>
                      <p:cNvPr id="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9275" y="581025"/>
                        <a:ext cx="299720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文本框 10">
            <a:extLst>
              <a:ext uri="{FF2B5EF4-FFF2-40B4-BE49-F238E27FC236}">
                <a16:creationId xmlns:a16="http://schemas.microsoft.com/office/drawing/2014/main" id="{1FB46BAF-BDF0-F9EE-476B-8158A78618E5}"/>
              </a:ext>
            </a:extLst>
          </p:cNvPr>
          <p:cNvSpPr txBox="1">
            <a:spLocks noChangeArrowheads="1"/>
          </p:cNvSpPr>
          <p:nvPr/>
        </p:nvSpPr>
        <p:spPr bwMode="auto">
          <a:xfrm>
            <a:off x="250825" y="838200"/>
            <a:ext cx="55086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11.</a:t>
            </a:r>
            <a:r>
              <a:rPr lang="zh-CN" altLang="en-US" sz="2800"/>
              <a:t>某闭环系统的开环传递函数为：</a:t>
            </a:r>
          </a:p>
        </p:txBody>
      </p:sp>
      <p:sp>
        <p:nvSpPr>
          <p:cNvPr id="13" name="矩形 12">
            <a:extLst>
              <a:ext uri="{FF2B5EF4-FFF2-40B4-BE49-F238E27FC236}">
                <a16:creationId xmlns:a16="http://schemas.microsoft.com/office/drawing/2014/main" id="{B952C2EC-7894-B35B-93CB-23C60DD71E60}"/>
              </a:ext>
            </a:extLst>
          </p:cNvPr>
          <p:cNvSpPr>
            <a:spLocks noChangeArrowheads="1"/>
          </p:cNvSpPr>
          <p:nvPr/>
        </p:nvSpPr>
        <p:spPr bwMode="auto">
          <a:xfrm>
            <a:off x="766763" y="2081213"/>
            <a:ext cx="3459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系统为</a:t>
            </a:r>
            <a:r>
              <a:rPr lang="zh-CN" altLang="en-US" sz="2800" u="sng"/>
              <a:t>      </a:t>
            </a:r>
            <a:r>
              <a:rPr lang="zh-CN" altLang="en-US" sz="2800"/>
              <a:t>型系统；</a:t>
            </a:r>
          </a:p>
        </p:txBody>
      </p:sp>
      <p:sp>
        <p:nvSpPr>
          <p:cNvPr id="14" name="矩形 13">
            <a:extLst>
              <a:ext uri="{FF2B5EF4-FFF2-40B4-BE49-F238E27FC236}">
                <a16:creationId xmlns:a16="http://schemas.microsoft.com/office/drawing/2014/main" id="{1BFA395C-FBF3-646F-340E-C5E59AF6F43E}"/>
              </a:ext>
            </a:extLst>
          </p:cNvPr>
          <p:cNvSpPr>
            <a:spLocks noChangeArrowheads="1"/>
          </p:cNvSpPr>
          <p:nvPr/>
        </p:nvSpPr>
        <p:spPr bwMode="auto">
          <a:xfrm>
            <a:off x="755650" y="2665413"/>
            <a:ext cx="6772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系统在输入信号</a:t>
            </a:r>
            <a:r>
              <a:rPr lang="en-US" altLang="zh-CN" sz="2800"/>
              <a:t>1(t)</a:t>
            </a:r>
            <a:r>
              <a:rPr lang="zh-CN" altLang="en-US" sz="2800"/>
              <a:t>作用下的误差为</a:t>
            </a:r>
            <a:r>
              <a:rPr lang="zh-CN" altLang="en-US" sz="2800" u="sng"/>
              <a:t>    </a:t>
            </a:r>
            <a:r>
              <a:rPr lang="zh-CN" altLang="en-US" sz="2800"/>
              <a:t>；</a:t>
            </a:r>
          </a:p>
        </p:txBody>
      </p:sp>
      <p:sp>
        <p:nvSpPr>
          <p:cNvPr id="15" name="矩形 14">
            <a:extLst>
              <a:ext uri="{FF2B5EF4-FFF2-40B4-BE49-F238E27FC236}">
                <a16:creationId xmlns:a16="http://schemas.microsoft.com/office/drawing/2014/main" id="{CC89868C-85E1-D6D8-53CD-E956746886B4}"/>
              </a:ext>
            </a:extLst>
          </p:cNvPr>
          <p:cNvSpPr>
            <a:spLocks noChangeArrowheads="1"/>
          </p:cNvSpPr>
          <p:nvPr/>
        </p:nvSpPr>
        <p:spPr bwMode="auto">
          <a:xfrm>
            <a:off x="790575" y="3203575"/>
            <a:ext cx="6381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t>系统在输入信号</a:t>
            </a:r>
            <a:r>
              <a:rPr lang="en-US" altLang="zh-CN" sz="2800"/>
              <a:t>t</a:t>
            </a:r>
            <a:r>
              <a:rPr lang="zh-CN" altLang="en-US" sz="2800"/>
              <a:t>作用下的误差为</a:t>
            </a:r>
            <a:r>
              <a:rPr lang="zh-CN" altLang="en-US" sz="2800" u="sng"/>
              <a:t>    </a:t>
            </a:r>
            <a:r>
              <a:rPr lang="zh-CN" altLang="en-US" sz="2800"/>
              <a:t>；</a:t>
            </a:r>
          </a:p>
        </p:txBody>
      </p:sp>
      <p:pic>
        <p:nvPicPr>
          <p:cNvPr id="54287" name="Picture 15">
            <a:extLst>
              <a:ext uri="{FF2B5EF4-FFF2-40B4-BE49-F238E27FC236}">
                <a16:creationId xmlns:a16="http://schemas.microsoft.com/office/drawing/2014/main" id="{5125025E-B6B8-CE17-105F-E4BC039AFC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313" y="3860800"/>
            <a:ext cx="8353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42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a:extLst>
              <a:ext uri="{FF2B5EF4-FFF2-40B4-BE49-F238E27FC236}">
                <a16:creationId xmlns:a16="http://schemas.microsoft.com/office/drawing/2014/main" id="{A4C90272-60CB-582C-59AD-DEDDD459FC00}"/>
              </a:ext>
            </a:extLst>
          </p:cNvPr>
          <p:cNvSpPr>
            <a:spLocks noChangeArrowheads="1"/>
          </p:cNvSpPr>
          <p:nvPr/>
        </p:nvSpPr>
        <p:spPr bwMode="auto">
          <a:xfrm>
            <a:off x="611188" y="2836863"/>
            <a:ext cx="73152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由于特征根就是系统的极点，因此，线性系统稳定的充要条件也可表述为：</a:t>
            </a:r>
            <a:r>
              <a:rPr lang="zh-CN" altLang="en-US" sz="2800" b="1">
                <a:solidFill>
                  <a:srgbClr val="FF0000"/>
                </a:solidFill>
                <a:latin typeface="宋体" panose="02010600030101010101" pitchFamily="2" charset="-122"/>
              </a:rPr>
              <a:t>系统的极点均在</a:t>
            </a:r>
            <a:r>
              <a:rPr lang="en-US" altLang="zh-CN" sz="2800" b="1" i="1">
                <a:solidFill>
                  <a:srgbClr val="FF0000"/>
                </a:solidFill>
                <a:latin typeface="Times New Roman" panose="02020603050405020304" pitchFamily="18" charset="0"/>
              </a:rPr>
              <a:t>s</a:t>
            </a:r>
            <a:r>
              <a:rPr lang="zh-CN" altLang="en-US" sz="2800" b="1">
                <a:solidFill>
                  <a:srgbClr val="FF0000"/>
                </a:solidFill>
                <a:latin typeface="宋体" panose="02010600030101010101" pitchFamily="2" charset="-122"/>
              </a:rPr>
              <a:t>平面的左半平面</a:t>
            </a:r>
            <a:r>
              <a:rPr lang="zh-CN" altLang="en-US" sz="2800" b="1">
                <a:latin typeface="宋体" panose="02010600030101010101" pitchFamily="2" charset="-122"/>
              </a:rPr>
              <a:t>。</a:t>
            </a:r>
            <a:r>
              <a:rPr lang="zh-CN" altLang="en-US" sz="2800">
                <a:latin typeface="宋体" panose="02010600030101010101" pitchFamily="2" charset="-122"/>
              </a:rPr>
              <a:t> </a:t>
            </a:r>
          </a:p>
        </p:txBody>
      </p:sp>
      <p:sp>
        <p:nvSpPr>
          <p:cNvPr id="17413" name="Rectangle 5">
            <a:extLst>
              <a:ext uri="{FF2B5EF4-FFF2-40B4-BE49-F238E27FC236}">
                <a16:creationId xmlns:a16="http://schemas.microsoft.com/office/drawing/2014/main" id="{67A5E3F3-0EFE-3640-12F8-0833DE508434}"/>
              </a:ext>
            </a:extLst>
          </p:cNvPr>
          <p:cNvSpPr>
            <a:spLocks noChangeArrowheads="1"/>
          </p:cNvSpPr>
          <p:nvPr/>
        </p:nvSpPr>
        <p:spPr bwMode="auto">
          <a:xfrm>
            <a:off x="755650" y="4724400"/>
            <a:ext cx="7315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稳定性与零点无关。</a:t>
            </a:r>
          </a:p>
        </p:txBody>
      </p:sp>
      <p:sp>
        <p:nvSpPr>
          <p:cNvPr id="12292" name="文本框 1">
            <a:extLst>
              <a:ext uri="{FF2B5EF4-FFF2-40B4-BE49-F238E27FC236}">
                <a16:creationId xmlns:a16="http://schemas.microsoft.com/office/drawing/2014/main" id="{2C8DBD42-09B8-6A16-1E4E-BA6E665CCC78}"/>
              </a:ext>
            </a:extLst>
          </p:cNvPr>
          <p:cNvSpPr txBox="1">
            <a:spLocks noChangeArrowheads="1"/>
          </p:cNvSpPr>
          <p:nvPr/>
        </p:nvSpPr>
        <p:spPr bwMode="auto">
          <a:xfrm>
            <a:off x="736600" y="1930400"/>
            <a:ext cx="26336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zh-CN" sz="3200" b="1"/>
              <a:t>特征根判据：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2"/>
                                        </p:tgtEl>
                                        <p:attrNameLst>
                                          <p:attrName>style.visibility</p:attrName>
                                        </p:attrNameLst>
                                      </p:cBhvr>
                                      <p:to>
                                        <p:strVal val="visible"/>
                                      </p:to>
                                    </p:set>
                                    <p:anim calcmode="lin" valueType="num">
                                      <p:cBhvr additive="base">
                                        <p:cTn id="7" dur="500" fill="hold"/>
                                        <p:tgtEl>
                                          <p:spTgt spid="17412"/>
                                        </p:tgtEl>
                                        <p:attrNameLst>
                                          <p:attrName>ppt_x</p:attrName>
                                        </p:attrNameLst>
                                      </p:cBhvr>
                                      <p:tavLst>
                                        <p:tav tm="0">
                                          <p:val>
                                            <p:strVal val="#ppt_x"/>
                                          </p:val>
                                        </p:tav>
                                        <p:tav tm="100000">
                                          <p:val>
                                            <p:strVal val="#ppt_x"/>
                                          </p:val>
                                        </p:tav>
                                      </p:tavLst>
                                    </p:anim>
                                    <p:anim calcmode="lin" valueType="num">
                                      <p:cBhvr additive="base">
                                        <p:cTn id="8" dur="500" fill="hold"/>
                                        <p:tgtEl>
                                          <p:spTgt spid="1741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3"/>
                                        </p:tgtEl>
                                        <p:attrNameLst>
                                          <p:attrName>style.visibility</p:attrName>
                                        </p:attrNameLst>
                                      </p:cBhvr>
                                      <p:to>
                                        <p:strVal val="visible"/>
                                      </p:to>
                                    </p:set>
                                    <p:anim calcmode="lin" valueType="num">
                                      <p:cBhvr additive="base">
                                        <p:cTn id="13" dur="500" fill="hold"/>
                                        <p:tgtEl>
                                          <p:spTgt spid="17413"/>
                                        </p:tgtEl>
                                        <p:attrNameLst>
                                          <p:attrName>ppt_x</p:attrName>
                                        </p:attrNameLst>
                                      </p:cBhvr>
                                      <p:tavLst>
                                        <p:tav tm="0">
                                          <p:val>
                                            <p:strVal val="#ppt_x"/>
                                          </p:val>
                                        </p:tav>
                                        <p:tav tm="100000">
                                          <p:val>
                                            <p:strVal val="#ppt_x"/>
                                          </p:val>
                                        </p:tav>
                                      </p:tavLst>
                                    </p:anim>
                                    <p:anim calcmode="lin" valueType="num">
                                      <p:cBhvr additive="base">
                                        <p:cTn id="14"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p:bldP spid="174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4">
            <a:extLst>
              <a:ext uri="{FF2B5EF4-FFF2-40B4-BE49-F238E27FC236}">
                <a16:creationId xmlns:a16="http://schemas.microsoft.com/office/drawing/2014/main" id="{2D2EFB00-AFE7-F16D-5CD3-04AA7E7F4E49}"/>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BE9270F-373E-407E-B9BD-59379A66FF4B}" type="datetime1">
              <a:rPr lang="en-US" altLang="zh-CN" smtClean="0"/>
              <a:pPr/>
              <a:t>10/4/2025</a:t>
            </a:fld>
            <a:endParaRPr lang="en-US" altLang="zh-CN"/>
          </a:p>
        </p:txBody>
      </p:sp>
      <p:sp>
        <p:nvSpPr>
          <p:cNvPr id="94211" name="灯片编号占位符 6">
            <a:extLst>
              <a:ext uri="{FF2B5EF4-FFF2-40B4-BE49-F238E27FC236}">
                <a16:creationId xmlns:a16="http://schemas.microsoft.com/office/drawing/2014/main" id="{376D2284-27CE-EB20-0592-8284577B335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8B805399-CF53-41F4-941B-76EEB4E1043A}" type="slidenum">
              <a:rPr altLang="zh-CN"/>
              <a:pPr/>
              <a:t>7</a:t>
            </a:fld>
            <a:endParaRPr lang="zh-CN" altLang="zh-CN"/>
          </a:p>
        </p:txBody>
      </p:sp>
      <p:sp>
        <p:nvSpPr>
          <p:cNvPr id="94212" name="Rectangle 3">
            <a:extLst>
              <a:ext uri="{FF2B5EF4-FFF2-40B4-BE49-F238E27FC236}">
                <a16:creationId xmlns:a16="http://schemas.microsoft.com/office/drawing/2014/main" id="{509268C5-CE8C-3E9C-62B4-99B365342B19}"/>
              </a:ext>
            </a:extLst>
          </p:cNvPr>
          <p:cNvSpPr>
            <a:spLocks noChangeArrowheads="1"/>
          </p:cNvSpPr>
          <p:nvPr/>
        </p:nvSpPr>
        <p:spPr bwMode="auto">
          <a:xfrm>
            <a:off x="1352550" y="2598738"/>
            <a:ext cx="7010400"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    我们不能将系统设计为临界稳定，由于分析时依赖的模型通常是简化或线性化的，或者由于实际系统参数的时变特性等因素的影响，在实际中可能成为不稳定的系统，因此，系统必须具备一定的</a:t>
            </a:r>
            <a:r>
              <a:rPr lang="zh-CN" altLang="en-US" sz="2800">
                <a:solidFill>
                  <a:srgbClr val="FF0000"/>
                </a:solidFill>
                <a:latin typeface="宋体" panose="02010600030101010101" pitchFamily="2" charset="-122"/>
              </a:rPr>
              <a:t>稳定裕量</a:t>
            </a:r>
            <a:r>
              <a:rPr lang="zh-CN" altLang="en-US" sz="2800">
                <a:latin typeface="宋体" panose="02010600030101010101" pitchFamily="2" charset="-122"/>
              </a:rPr>
              <a:t>，以保证其在实际工作时处于稳定状态。</a:t>
            </a:r>
            <a:r>
              <a:rPr lang="zh-CN" altLang="en-US" sz="2800">
                <a:latin typeface="Times New Roman" panose="02020603050405020304" pitchFamily="18" charset="0"/>
              </a:rPr>
              <a:t> </a:t>
            </a:r>
          </a:p>
        </p:txBody>
      </p:sp>
      <p:sp>
        <p:nvSpPr>
          <p:cNvPr id="300034" name="Rectangle 2">
            <a:extLst>
              <a:ext uri="{FF2B5EF4-FFF2-40B4-BE49-F238E27FC236}">
                <a16:creationId xmlns:a16="http://schemas.microsoft.com/office/drawing/2014/main" id="{A471FAE7-2D54-9FD2-0A2B-DDA0787424A2}"/>
              </a:ext>
            </a:extLst>
          </p:cNvPr>
          <p:cNvSpPr>
            <a:spLocks noChangeArrowheads="1"/>
          </p:cNvSpPr>
          <p:nvPr/>
        </p:nvSpPr>
        <p:spPr bwMode="auto">
          <a:xfrm>
            <a:off x="1352550" y="5634038"/>
            <a:ext cx="70866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    经典控制论中，临界稳定也视为不稳定。</a:t>
            </a:r>
          </a:p>
        </p:txBody>
      </p:sp>
      <p:sp>
        <p:nvSpPr>
          <p:cNvPr id="94214" name="文本框 1">
            <a:extLst>
              <a:ext uri="{FF2B5EF4-FFF2-40B4-BE49-F238E27FC236}">
                <a16:creationId xmlns:a16="http://schemas.microsoft.com/office/drawing/2014/main" id="{8030ECDD-9026-617D-404E-BC01D75A6389}"/>
              </a:ext>
            </a:extLst>
          </p:cNvPr>
          <p:cNvSpPr txBox="1">
            <a:spLocks noChangeArrowheads="1"/>
          </p:cNvSpPr>
          <p:nvPr/>
        </p:nvSpPr>
        <p:spPr bwMode="auto">
          <a:xfrm>
            <a:off x="1339850" y="492125"/>
            <a:ext cx="6842125"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dirty="0">
                <a:latin typeface="宋体" panose="02010600030101010101" pitchFamily="2" charset="-122"/>
              </a:rPr>
              <a:t>    如果有一对（或多对）共轭复数极点和</a:t>
            </a:r>
            <a:r>
              <a:rPr lang="en-US" altLang="zh-CN" sz="2800" dirty="0">
                <a:latin typeface="宋体" panose="02010600030101010101" pitchFamily="2" charset="-122"/>
              </a:rPr>
              <a:t>/</a:t>
            </a:r>
            <a:r>
              <a:rPr lang="zh-CN" altLang="en-US" sz="2800" dirty="0">
                <a:latin typeface="宋体" panose="02010600030101010101" pitchFamily="2" charset="-122"/>
              </a:rPr>
              <a:t>或一个（或多个）极点位于虚轴上，而其余极点均位于</a:t>
            </a:r>
            <a:r>
              <a:rPr lang="en-US" altLang="zh-CN" sz="2800" dirty="0">
                <a:latin typeface="宋体" panose="02010600030101010101" pitchFamily="2" charset="-122"/>
              </a:rPr>
              <a:t>[s]</a:t>
            </a:r>
            <a:r>
              <a:rPr lang="zh-CN" altLang="en-US" sz="2800" dirty="0">
                <a:latin typeface="宋体" panose="02010600030101010101" pitchFamily="2" charset="-122"/>
              </a:rPr>
              <a:t>平面的左半平面，则系统处于</a:t>
            </a:r>
            <a:r>
              <a:rPr lang="zh-CN" altLang="en-US" sz="2800" dirty="0">
                <a:solidFill>
                  <a:srgbClr val="FF0000"/>
                </a:solidFill>
                <a:latin typeface="宋体" panose="02010600030101010101" pitchFamily="2" charset="-122"/>
              </a:rPr>
              <a:t>临界稳定状态</a:t>
            </a:r>
            <a:r>
              <a:rPr lang="zh-CN" altLang="en-US" sz="2800" dirty="0">
                <a:latin typeface="宋体" panose="02010600030101010101" pitchFamily="2" charset="-122"/>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0034"/>
                                        </p:tgtEl>
                                        <p:attrNameLst>
                                          <p:attrName>style.visibility</p:attrName>
                                        </p:attrNameLst>
                                      </p:cBhvr>
                                      <p:to>
                                        <p:strVal val="visible"/>
                                      </p:to>
                                    </p:set>
                                    <p:anim calcmode="lin" valueType="num">
                                      <p:cBhvr additive="base">
                                        <p:cTn id="7" dur="500" fill="hold"/>
                                        <p:tgtEl>
                                          <p:spTgt spid="300034"/>
                                        </p:tgtEl>
                                        <p:attrNameLst>
                                          <p:attrName>ppt_x</p:attrName>
                                        </p:attrNameLst>
                                      </p:cBhvr>
                                      <p:tavLst>
                                        <p:tav tm="0">
                                          <p:val>
                                            <p:strVal val="#ppt_x"/>
                                          </p:val>
                                        </p:tav>
                                        <p:tav tm="100000">
                                          <p:val>
                                            <p:strVal val="#ppt_x"/>
                                          </p:val>
                                        </p:tav>
                                      </p:tavLst>
                                    </p:anim>
                                    <p:anim calcmode="lin" valueType="num">
                                      <p:cBhvr additive="base">
                                        <p:cTn id="8" dur="500" fill="hold"/>
                                        <p:tgtEl>
                                          <p:spTgt spid="3000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32F4BDE9-4C1A-FAB9-588B-6AE9F8B2489C}"/>
              </a:ext>
            </a:extLst>
          </p:cNvPr>
          <p:cNvSpPr>
            <a:spLocks noChangeArrowheads="1"/>
          </p:cNvSpPr>
          <p:nvPr/>
        </p:nvSpPr>
        <p:spPr bwMode="auto">
          <a:xfrm>
            <a:off x="900113" y="639763"/>
            <a:ext cx="5976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908050" indent="-436563">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304925" indent="-395288">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93863" indent="-38735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93913" indent="-398463">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511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30083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655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922713" indent="-398463"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 typeface="Wingdings" panose="05000000000000000000" pitchFamily="2" charset="2"/>
              <a:buChar char="l"/>
            </a:pPr>
            <a:r>
              <a:rPr lang="zh-CN" altLang="en-US" sz="2800">
                <a:latin typeface="Times New Roman" panose="02020603050405020304" pitchFamily="18" charset="0"/>
                <a:ea typeface="黑体" panose="02010609060101010101" pitchFamily="49" charset="-122"/>
              </a:rPr>
              <a:t>劳思（</a:t>
            </a:r>
            <a:r>
              <a:rPr lang="en-US" altLang="zh-CN" sz="2800">
                <a:latin typeface="Times New Roman" panose="02020603050405020304" pitchFamily="18" charset="0"/>
                <a:ea typeface="黑体" panose="02010609060101010101" pitchFamily="49" charset="-122"/>
              </a:rPr>
              <a:t>Routh</a:t>
            </a:r>
            <a:r>
              <a:rPr lang="zh-CN" altLang="en-US" sz="2800">
                <a:latin typeface="Times New Roman" panose="02020603050405020304" pitchFamily="18" charset="0"/>
                <a:ea typeface="黑体" panose="02010609060101010101" pitchFamily="49" charset="-122"/>
              </a:rPr>
              <a:t>）稳定判据 </a:t>
            </a:r>
          </a:p>
        </p:txBody>
      </p:sp>
      <p:sp>
        <p:nvSpPr>
          <p:cNvPr id="18436" name="Rectangle 4">
            <a:extLst>
              <a:ext uri="{FF2B5EF4-FFF2-40B4-BE49-F238E27FC236}">
                <a16:creationId xmlns:a16="http://schemas.microsoft.com/office/drawing/2014/main" id="{119F36C4-394E-1B6E-4909-BB776647BDF3}"/>
              </a:ext>
            </a:extLst>
          </p:cNvPr>
          <p:cNvSpPr>
            <a:spLocks noChangeArrowheads="1"/>
          </p:cNvSpPr>
          <p:nvPr/>
        </p:nvSpPr>
        <p:spPr bwMode="auto">
          <a:xfrm>
            <a:off x="1403350" y="3068638"/>
            <a:ext cx="632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系统稳定的必要条件</a:t>
            </a:r>
            <a:r>
              <a:rPr lang="zh-CN" altLang="en-US" sz="2800">
                <a:latin typeface="Times New Roman" panose="02020603050405020304" pitchFamily="18" charset="0"/>
              </a:rPr>
              <a:t> </a:t>
            </a:r>
          </a:p>
        </p:txBody>
      </p:sp>
      <p:grpSp>
        <p:nvGrpSpPr>
          <p:cNvPr id="2" name="Group 5">
            <a:extLst>
              <a:ext uri="{FF2B5EF4-FFF2-40B4-BE49-F238E27FC236}">
                <a16:creationId xmlns:a16="http://schemas.microsoft.com/office/drawing/2014/main" id="{4F65C525-8A1A-291A-934F-C094AA5DCF7B}"/>
              </a:ext>
            </a:extLst>
          </p:cNvPr>
          <p:cNvGrpSpPr>
            <a:grpSpLocks/>
          </p:cNvGrpSpPr>
          <p:nvPr/>
        </p:nvGrpSpPr>
        <p:grpSpPr bwMode="auto">
          <a:xfrm>
            <a:off x="1403350" y="3616325"/>
            <a:ext cx="6299200" cy="2409825"/>
            <a:chOff x="960" y="2409"/>
            <a:chExt cx="3968" cy="1518"/>
          </a:xfrm>
        </p:grpSpPr>
        <p:graphicFrame>
          <p:nvGraphicFramePr>
            <p:cNvPr id="14342" name="Object 6">
              <a:extLst>
                <a:ext uri="{FF2B5EF4-FFF2-40B4-BE49-F238E27FC236}">
                  <a16:creationId xmlns:a16="http://schemas.microsoft.com/office/drawing/2014/main" id="{CF9A4C83-377E-2EE0-0FCE-2DAF1FB518F5}"/>
                </a:ext>
              </a:extLst>
            </p:cNvPr>
            <p:cNvGraphicFramePr>
              <a:graphicFrameLocks noChangeAspect="1"/>
            </p:cNvGraphicFramePr>
            <p:nvPr/>
          </p:nvGraphicFramePr>
          <p:xfrm>
            <a:off x="1248" y="2894"/>
            <a:ext cx="2807" cy="553"/>
          </p:xfrm>
          <a:graphic>
            <a:graphicData uri="http://schemas.openxmlformats.org/presentationml/2006/ole">
              <mc:AlternateContent xmlns:mc="http://schemas.openxmlformats.org/markup-compatibility/2006">
                <mc:Choice xmlns:v="urn:schemas-microsoft-com:vml" Requires="v">
                  <p:oleObj r:id="rId3" imgW="2438400" imgH="482600" progId="Equation.3">
                    <p:embed/>
                  </p:oleObj>
                </mc:Choice>
                <mc:Fallback>
                  <p:oleObj r:id="rId3" imgW="2438400" imgH="482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 y="2894"/>
                          <a:ext cx="2807"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343" name="Rectangle 7">
              <a:extLst>
                <a:ext uri="{FF2B5EF4-FFF2-40B4-BE49-F238E27FC236}">
                  <a16:creationId xmlns:a16="http://schemas.microsoft.com/office/drawing/2014/main" id="{AEBF6725-F119-DA40-4170-86B1B4E89F9F}"/>
                </a:ext>
              </a:extLst>
            </p:cNvPr>
            <p:cNvSpPr>
              <a:spLocks noChangeArrowheads="1"/>
            </p:cNvSpPr>
            <p:nvPr/>
          </p:nvSpPr>
          <p:spPr bwMode="auto">
            <a:xfrm>
              <a:off x="960" y="2409"/>
              <a:ext cx="238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系统的特征方程为：</a:t>
              </a:r>
            </a:p>
          </p:txBody>
        </p:sp>
        <p:sp>
          <p:nvSpPr>
            <p:cNvPr id="14344" name="Rectangle 8">
              <a:extLst>
                <a:ext uri="{FF2B5EF4-FFF2-40B4-BE49-F238E27FC236}">
                  <a16:creationId xmlns:a16="http://schemas.microsoft.com/office/drawing/2014/main" id="{382703D7-DD7D-7FBD-6D32-83FA8B6E2389}"/>
                </a:ext>
              </a:extLst>
            </p:cNvPr>
            <p:cNvSpPr>
              <a:spLocks noChangeArrowheads="1"/>
            </p:cNvSpPr>
            <p:nvPr/>
          </p:nvSpPr>
          <p:spPr bwMode="auto">
            <a:xfrm>
              <a:off x="960" y="3600"/>
              <a:ext cx="39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其中，</a:t>
              </a:r>
              <a:r>
                <a:rPr lang="en-US" altLang="zh-CN" sz="2800" i="1">
                  <a:latin typeface="Times New Roman" panose="02020603050405020304" pitchFamily="18" charset="0"/>
                </a:rPr>
                <a:t>p</a:t>
              </a:r>
              <a:r>
                <a:rPr lang="en-US" altLang="zh-CN" sz="2900" i="1" baseline="-18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i</a:t>
              </a:r>
              <a:r>
                <a:rPr lang="en-US" altLang="zh-CN" sz="2800">
                  <a:latin typeface="Times New Roman" panose="02020603050405020304" pitchFamily="18" charset="0"/>
                </a:rPr>
                <a:t>=0,1,2,…,</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zh-CN" altLang="en-US" sz="2800">
                  <a:latin typeface="Times New Roman" panose="02020603050405020304" pitchFamily="18" charset="0"/>
                </a:rPr>
                <a:t>为系统的特征根。</a:t>
              </a:r>
            </a:p>
          </p:txBody>
        </p:sp>
      </p:grpSp>
      <p:sp>
        <p:nvSpPr>
          <p:cNvPr id="18441" name="Rectangle 9">
            <a:extLst>
              <a:ext uri="{FF2B5EF4-FFF2-40B4-BE49-F238E27FC236}">
                <a16:creationId xmlns:a16="http://schemas.microsoft.com/office/drawing/2014/main" id="{4AD9B039-3746-1A6B-66D8-62B018BBC4BB}"/>
              </a:ext>
            </a:extLst>
          </p:cNvPr>
          <p:cNvSpPr>
            <a:spLocks noChangeArrowheads="1"/>
          </p:cNvSpPr>
          <p:nvPr/>
        </p:nvSpPr>
        <p:spPr bwMode="auto">
          <a:xfrm>
            <a:off x="1425575" y="1849438"/>
            <a:ext cx="706437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优点：无需求解特征根，直接通过特征方程的系数判别系统的稳定性。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41"/>
                                        </p:tgtEl>
                                        <p:attrNameLst>
                                          <p:attrName>style.visibility</p:attrName>
                                        </p:attrNameLst>
                                      </p:cBhvr>
                                      <p:to>
                                        <p:strVal val="visible"/>
                                      </p:to>
                                    </p:set>
                                    <p:anim calcmode="lin" valueType="num">
                                      <p:cBhvr additive="base">
                                        <p:cTn id="7" dur="500" fill="hold"/>
                                        <p:tgtEl>
                                          <p:spTgt spid="18441"/>
                                        </p:tgtEl>
                                        <p:attrNameLst>
                                          <p:attrName>ppt_x</p:attrName>
                                        </p:attrNameLst>
                                      </p:cBhvr>
                                      <p:tavLst>
                                        <p:tav tm="0">
                                          <p:val>
                                            <p:strVal val="#ppt_x"/>
                                          </p:val>
                                        </p:tav>
                                        <p:tav tm="100000">
                                          <p:val>
                                            <p:strVal val="#ppt_x"/>
                                          </p:val>
                                        </p:tav>
                                      </p:tavLst>
                                    </p:anim>
                                    <p:anim calcmode="lin" valueType="num">
                                      <p:cBhvr additive="base">
                                        <p:cTn id="8" dur="500" fill="hold"/>
                                        <p:tgtEl>
                                          <p:spTgt spid="1844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436"/>
                                        </p:tgtEl>
                                        <p:attrNameLst>
                                          <p:attrName>style.visibility</p:attrName>
                                        </p:attrNameLst>
                                      </p:cBhvr>
                                      <p:to>
                                        <p:strVal val="visible"/>
                                      </p:to>
                                    </p:set>
                                    <p:anim calcmode="lin" valueType="num">
                                      <p:cBhvr additive="base">
                                        <p:cTn id="13" dur="500" fill="hold"/>
                                        <p:tgtEl>
                                          <p:spTgt spid="18436"/>
                                        </p:tgtEl>
                                        <p:attrNameLst>
                                          <p:attrName>ppt_x</p:attrName>
                                        </p:attrNameLst>
                                      </p:cBhvr>
                                      <p:tavLst>
                                        <p:tav tm="0">
                                          <p:val>
                                            <p:strVal val="#ppt_x"/>
                                          </p:val>
                                        </p:tav>
                                        <p:tav tm="100000">
                                          <p:val>
                                            <p:strVal val="#ppt_x"/>
                                          </p:val>
                                        </p:tav>
                                      </p:tavLst>
                                    </p:anim>
                                    <p:anim calcmode="lin" valueType="num">
                                      <p:cBhvr additive="base">
                                        <p:cTn id="14"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P spid="184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7AD842A8-153C-F281-285C-A0C9EF236914}"/>
              </a:ext>
            </a:extLst>
          </p:cNvPr>
          <p:cNvSpPr>
            <a:spLocks noChangeArrowheads="1"/>
          </p:cNvSpPr>
          <p:nvPr/>
        </p:nvSpPr>
        <p:spPr bwMode="auto">
          <a:xfrm>
            <a:off x="1258888" y="1125538"/>
            <a:ext cx="701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由根与系数的关系可以求得：</a:t>
            </a:r>
          </a:p>
        </p:txBody>
      </p:sp>
      <p:graphicFrame>
        <p:nvGraphicFramePr>
          <p:cNvPr id="19460" name="Object 4">
            <a:extLst>
              <a:ext uri="{FF2B5EF4-FFF2-40B4-BE49-F238E27FC236}">
                <a16:creationId xmlns:a16="http://schemas.microsoft.com/office/drawing/2014/main" id="{3F66E597-663A-9E4B-7EAD-7B15F3514A28}"/>
              </a:ext>
            </a:extLst>
          </p:cNvPr>
          <p:cNvGraphicFramePr>
            <a:graphicFrameLocks noChangeAspect="1"/>
          </p:cNvGraphicFramePr>
          <p:nvPr/>
        </p:nvGraphicFramePr>
        <p:xfrm>
          <a:off x="1763713" y="1773238"/>
          <a:ext cx="5300662" cy="4194175"/>
        </p:xfrm>
        <a:graphic>
          <a:graphicData uri="http://schemas.openxmlformats.org/presentationml/2006/ole">
            <mc:AlternateContent xmlns:mc="http://schemas.openxmlformats.org/markup-compatibility/2006">
              <mc:Choice xmlns:v="urn:schemas-microsoft-com:vml" Requires="v">
                <p:oleObj r:id="rId3" imgW="3289300" imgH="2603500" progId="Equation.3">
                  <p:embed/>
                </p:oleObj>
              </mc:Choice>
              <mc:Fallback>
                <p:oleObj r:id="rId3" imgW="3289300" imgH="2603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773238"/>
                        <a:ext cx="5300662"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388" name="Object 6">
            <a:extLst>
              <a:ext uri="{FF2B5EF4-FFF2-40B4-BE49-F238E27FC236}">
                <a16:creationId xmlns:a16="http://schemas.microsoft.com/office/drawing/2014/main" id="{6BF14527-1E66-D02B-00C7-87EDBCECFB88}"/>
              </a:ext>
            </a:extLst>
          </p:cNvPr>
          <p:cNvGraphicFramePr>
            <a:graphicFrameLocks noChangeAspect="1"/>
          </p:cNvGraphicFramePr>
          <p:nvPr/>
        </p:nvGraphicFramePr>
        <p:xfrm>
          <a:off x="1331913" y="260350"/>
          <a:ext cx="4456112" cy="877888"/>
        </p:xfrm>
        <a:graphic>
          <a:graphicData uri="http://schemas.openxmlformats.org/presentationml/2006/ole">
            <mc:AlternateContent xmlns:mc="http://schemas.openxmlformats.org/markup-compatibility/2006">
              <mc:Choice xmlns:v="urn:schemas-microsoft-com:vml" Requires="v">
                <p:oleObj r:id="rId5" imgW="2438400" imgH="482600" progId="Equation.3">
                  <p:embed/>
                </p:oleObj>
              </mc:Choice>
              <mc:Fallback>
                <p:oleObj r:id="rId5" imgW="2438400" imgH="482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260350"/>
                        <a:ext cx="4456112"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ppt_x"/>
                                          </p:val>
                                        </p:tav>
                                        <p:tav tm="100000">
                                          <p:val>
                                            <p:strVal val="#ppt_x"/>
                                          </p:val>
                                        </p:tav>
                                      </p:tavLst>
                                    </p:anim>
                                    <p:anim calcmode="lin" valueType="num">
                                      <p:cBhvr additive="base">
                                        <p:cTn id="8"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CEB81972-B9DC-55E8-F752-9EF29CE2BF8B}"/>
              </a:ext>
            </a:extLst>
          </p:cNvPr>
          <p:cNvSpPr>
            <a:spLocks noChangeArrowheads="1"/>
          </p:cNvSpPr>
          <p:nvPr/>
        </p:nvSpPr>
        <p:spPr bwMode="auto">
          <a:xfrm>
            <a:off x="1371600" y="2071688"/>
            <a:ext cx="70866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若使全部特征根</a:t>
            </a:r>
            <a:r>
              <a:rPr lang="en-US" altLang="zh-CN" sz="2800" i="1">
                <a:latin typeface="Times New Roman" panose="02020603050405020304" pitchFamily="18" charset="0"/>
              </a:rPr>
              <a:t>p</a:t>
            </a:r>
            <a:r>
              <a:rPr lang="en-US" altLang="zh-CN" sz="2900" i="1" baseline="-18000">
                <a:latin typeface="Times New Roman" panose="02020603050405020304" pitchFamily="18" charset="0"/>
              </a:rPr>
              <a:t>i</a:t>
            </a:r>
            <a:r>
              <a:rPr lang="zh-CN" altLang="en-US" sz="2800">
                <a:latin typeface="宋体" panose="02010600030101010101" pitchFamily="2" charset="-122"/>
              </a:rPr>
              <a:t>若均具有负实部，则要求特征方程的各项系数</a:t>
            </a:r>
            <a:r>
              <a:rPr lang="en-US" altLang="zh-CN" sz="2800" i="1">
                <a:latin typeface="Times New Roman" panose="02020603050405020304" pitchFamily="18" charset="0"/>
              </a:rPr>
              <a:t>a</a:t>
            </a:r>
            <a:r>
              <a:rPr lang="en-US" altLang="zh-CN" sz="2900" i="1" baseline="-18000">
                <a:latin typeface="Times New Roman" panose="02020603050405020304" pitchFamily="18" charset="0"/>
              </a:rPr>
              <a:t>i</a:t>
            </a:r>
            <a:r>
              <a:rPr lang="en-US" altLang="zh-CN" sz="2800">
                <a:latin typeface="Times New Roman" panose="02020603050405020304" pitchFamily="18" charset="0"/>
              </a:rPr>
              <a:t>(</a:t>
            </a:r>
            <a:r>
              <a:rPr lang="en-US" altLang="zh-CN" sz="2800" i="1">
                <a:latin typeface="Times New Roman" panose="02020603050405020304" pitchFamily="18" charset="0"/>
              </a:rPr>
              <a:t>i </a:t>
            </a:r>
            <a:r>
              <a:rPr lang="en-US" altLang="zh-CN" sz="2800">
                <a:latin typeface="Times New Roman" panose="02020603050405020304" pitchFamily="18" charset="0"/>
              </a:rPr>
              <a:t>= 0, 1, 2, …, </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zh-CN" altLang="en-US" sz="2800">
                <a:latin typeface="宋体" panose="02010600030101010101" pitchFamily="2" charset="-122"/>
              </a:rPr>
              <a:t>均大于零，即：</a:t>
            </a:r>
            <a:r>
              <a:rPr lang="zh-CN" altLang="en-US" sz="2800">
                <a:latin typeface="Times New Roman" panose="02020603050405020304" pitchFamily="18" charset="0"/>
              </a:rPr>
              <a:t> </a:t>
            </a:r>
          </a:p>
        </p:txBody>
      </p:sp>
      <p:sp>
        <p:nvSpPr>
          <p:cNvPr id="20484" name="Rectangle 4">
            <a:extLst>
              <a:ext uri="{FF2B5EF4-FFF2-40B4-BE49-F238E27FC236}">
                <a16:creationId xmlns:a16="http://schemas.microsoft.com/office/drawing/2014/main" id="{9C000A3D-ED3B-F734-F9E0-B183F83B4699}"/>
              </a:ext>
            </a:extLst>
          </p:cNvPr>
          <p:cNvSpPr>
            <a:spLocks noChangeArrowheads="1"/>
          </p:cNvSpPr>
          <p:nvPr/>
        </p:nvSpPr>
        <p:spPr bwMode="auto">
          <a:xfrm>
            <a:off x="1447800" y="4433888"/>
            <a:ext cx="7086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注意，该条件仅为系统稳定的必要条件。</a:t>
            </a:r>
            <a:r>
              <a:rPr lang="zh-CN" altLang="en-US" sz="2800">
                <a:latin typeface="Times New Roman" panose="02020603050405020304" pitchFamily="18" charset="0"/>
              </a:rPr>
              <a:t> </a:t>
            </a:r>
          </a:p>
        </p:txBody>
      </p:sp>
      <p:sp>
        <p:nvSpPr>
          <p:cNvPr id="20485" name="Rectangle 5">
            <a:extLst>
              <a:ext uri="{FF2B5EF4-FFF2-40B4-BE49-F238E27FC236}">
                <a16:creationId xmlns:a16="http://schemas.microsoft.com/office/drawing/2014/main" id="{6B88298B-E7AF-E140-392D-8F24ACC3F50A}"/>
              </a:ext>
            </a:extLst>
          </p:cNvPr>
          <p:cNvSpPr>
            <a:spLocks noChangeArrowheads="1"/>
          </p:cNvSpPr>
          <p:nvPr/>
        </p:nvSpPr>
        <p:spPr bwMode="auto">
          <a:xfrm>
            <a:off x="2438400" y="3686175"/>
            <a:ext cx="571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solidFill>
                  <a:srgbClr val="FF0000"/>
                </a:solidFill>
                <a:latin typeface="Times New Roman" panose="02020603050405020304" pitchFamily="18" charset="0"/>
              </a:rPr>
              <a:t>a</a:t>
            </a:r>
            <a:r>
              <a:rPr lang="en-US" altLang="zh-CN" sz="2900" i="1" baseline="-18000">
                <a:solidFill>
                  <a:srgbClr val="FF0000"/>
                </a:solidFill>
                <a:latin typeface="Times New Roman" panose="02020603050405020304" pitchFamily="18" charset="0"/>
              </a:rPr>
              <a:t>i</a:t>
            </a:r>
            <a:r>
              <a:rPr lang="en-US" altLang="zh-CN" sz="2800">
                <a:solidFill>
                  <a:srgbClr val="FF0000"/>
                </a:solidFill>
                <a:latin typeface="Times New Roman" panose="02020603050405020304" pitchFamily="18" charset="0"/>
              </a:rPr>
              <a:t>&gt;0              (</a:t>
            </a:r>
            <a:r>
              <a:rPr lang="en-US" altLang="zh-CN" sz="2800" i="1">
                <a:solidFill>
                  <a:srgbClr val="FF0000"/>
                </a:solidFill>
                <a:latin typeface="Times New Roman" panose="02020603050405020304" pitchFamily="18" charset="0"/>
              </a:rPr>
              <a:t>i </a:t>
            </a:r>
            <a:r>
              <a:rPr lang="en-US" altLang="zh-CN" sz="2800">
                <a:solidFill>
                  <a:srgbClr val="FF0000"/>
                </a:solidFill>
                <a:latin typeface="Times New Roman" panose="02020603050405020304" pitchFamily="18" charset="0"/>
              </a:rPr>
              <a:t>= 0, 1, 2, …, </a:t>
            </a:r>
            <a:r>
              <a:rPr lang="en-US" altLang="zh-CN" sz="2800" i="1">
                <a:solidFill>
                  <a:srgbClr val="FF0000"/>
                </a:solidFill>
                <a:latin typeface="Times New Roman" panose="02020603050405020304" pitchFamily="18" charset="0"/>
              </a:rPr>
              <a:t>n</a:t>
            </a:r>
            <a:r>
              <a:rPr lang="en-US" altLang="zh-CN" sz="2800">
                <a:solidFill>
                  <a:srgbClr val="FF0000"/>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0485"/>
                                        </p:tgtEl>
                                        <p:attrNameLst>
                                          <p:attrName>style.visibility</p:attrName>
                                        </p:attrNameLst>
                                      </p:cBhvr>
                                      <p:to>
                                        <p:strVal val="visible"/>
                                      </p:to>
                                    </p:set>
                                    <p:anim calcmode="lin" valueType="num">
                                      <p:cBhvr additive="base">
                                        <p:cTn id="7" dur="500" fill="hold"/>
                                        <p:tgtEl>
                                          <p:spTgt spid="20485"/>
                                        </p:tgtEl>
                                        <p:attrNameLst>
                                          <p:attrName>ppt_x</p:attrName>
                                        </p:attrNameLst>
                                      </p:cBhvr>
                                      <p:tavLst>
                                        <p:tav tm="0">
                                          <p:val>
                                            <p:strVal val="#ppt_x"/>
                                          </p:val>
                                        </p:tav>
                                        <p:tav tm="100000">
                                          <p:val>
                                            <p:strVal val="#ppt_x"/>
                                          </p:val>
                                        </p:tav>
                                      </p:tavLst>
                                    </p:anim>
                                    <p:anim calcmode="lin" valueType="num">
                                      <p:cBhvr additive="base">
                                        <p:cTn id="8" dur="500" fill="hold"/>
                                        <p:tgtEl>
                                          <p:spTgt spid="2048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484"/>
                                        </p:tgtEl>
                                        <p:attrNameLst>
                                          <p:attrName>style.visibility</p:attrName>
                                        </p:attrNameLst>
                                      </p:cBhvr>
                                      <p:to>
                                        <p:strVal val="visible"/>
                                      </p:to>
                                    </p:set>
                                    <p:anim calcmode="lin" valueType="num">
                                      <p:cBhvr additive="base">
                                        <p:cTn id="13" dur="500" fill="hold"/>
                                        <p:tgtEl>
                                          <p:spTgt spid="20484"/>
                                        </p:tgtEl>
                                        <p:attrNameLst>
                                          <p:attrName>ppt_x</p:attrName>
                                        </p:attrNameLst>
                                      </p:cBhvr>
                                      <p:tavLst>
                                        <p:tav tm="0">
                                          <p:val>
                                            <p:strVal val="#ppt_x"/>
                                          </p:val>
                                        </p:tav>
                                        <p:tav tm="100000">
                                          <p:val>
                                            <p:strVal val="#ppt_x"/>
                                          </p:val>
                                        </p:tav>
                                      </p:tavLst>
                                    </p:anim>
                                    <p:anim calcmode="lin" valueType="num">
                                      <p:cBhvr additive="base">
                                        <p:cTn id="14" dur="500" fill="hold"/>
                                        <p:tgtEl>
                                          <p:spTgt spid="204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p:bldP spid="2048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FA82F970-855C-0756-B395-E8323718BC68}"/>
              </a:ext>
            </a:extLst>
          </p:cNvPr>
          <p:cNvSpPr>
            <a:spLocks noChangeArrowheads="1"/>
          </p:cNvSpPr>
          <p:nvPr/>
        </p:nvSpPr>
        <p:spPr bwMode="auto">
          <a:xfrm>
            <a:off x="900113" y="1052513"/>
            <a:ext cx="7162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b="1">
                <a:latin typeface="宋体" panose="02010600030101010101" pitchFamily="2" charset="-122"/>
              </a:rPr>
              <a:t> </a:t>
            </a:r>
            <a:r>
              <a:rPr lang="zh-CN" altLang="en-US" sz="2800" b="1">
                <a:latin typeface="宋体" panose="02010600030101010101" pitchFamily="2" charset="-122"/>
              </a:rPr>
              <a:t>系统稳定的充要条件</a:t>
            </a:r>
            <a:r>
              <a:rPr lang="en-US" altLang="zh-CN" sz="2800" b="1">
                <a:latin typeface="Times New Roman" panose="02020603050405020304" pitchFamily="18" charset="0"/>
              </a:rPr>
              <a:t>——</a:t>
            </a:r>
            <a:r>
              <a:rPr lang="zh-CN" altLang="en-US" sz="2800" b="1">
                <a:latin typeface="宋体" panose="02010600030101010101" pitchFamily="2" charset="-122"/>
              </a:rPr>
              <a:t>劳思稳定判据 </a:t>
            </a:r>
            <a:r>
              <a:rPr lang="zh-CN" altLang="en-US" sz="2800" b="1">
                <a:latin typeface="Times New Roman" panose="02020603050405020304" pitchFamily="18" charset="0"/>
              </a:rPr>
              <a:t> </a:t>
            </a:r>
          </a:p>
        </p:txBody>
      </p:sp>
      <p:grpSp>
        <p:nvGrpSpPr>
          <p:cNvPr id="2" name="Group 4">
            <a:extLst>
              <a:ext uri="{FF2B5EF4-FFF2-40B4-BE49-F238E27FC236}">
                <a16:creationId xmlns:a16="http://schemas.microsoft.com/office/drawing/2014/main" id="{029B8E40-772E-C31D-7020-EFE38A0E360D}"/>
              </a:ext>
            </a:extLst>
          </p:cNvPr>
          <p:cNvGrpSpPr>
            <a:grpSpLocks/>
          </p:cNvGrpSpPr>
          <p:nvPr/>
        </p:nvGrpSpPr>
        <p:grpSpPr bwMode="auto">
          <a:xfrm>
            <a:off x="1187450" y="2205038"/>
            <a:ext cx="7239000" cy="2971800"/>
            <a:chOff x="864" y="1632"/>
            <a:chExt cx="4560" cy="1872"/>
          </a:xfrm>
        </p:grpSpPr>
        <p:sp>
          <p:nvSpPr>
            <p:cNvPr id="20484" name="Rectangle 5">
              <a:extLst>
                <a:ext uri="{FF2B5EF4-FFF2-40B4-BE49-F238E27FC236}">
                  <a16:creationId xmlns:a16="http://schemas.microsoft.com/office/drawing/2014/main" id="{BDB605C6-F8E2-1E0C-16FF-B0A5F830AFB5}"/>
                </a:ext>
              </a:extLst>
            </p:cNvPr>
            <p:cNvSpPr>
              <a:spLocks noChangeArrowheads="1"/>
            </p:cNvSpPr>
            <p:nvPr/>
          </p:nvSpPr>
          <p:spPr bwMode="auto">
            <a:xfrm>
              <a:off x="864" y="2496"/>
              <a:ext cx="4560"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其中，</a:t>
              </a:r>
              <a:r>
                <a:rPr lang="en-US" altLang="zh-CN" sz="2800" i="1">
                  <a:latin typeface="Times New Roman" panose="02020603050405020304" pitchFamily="18" charset="0"/>
                </a:rPr>
                <a:t>a</a:t>
              </a:r>
              <a:r>
                <a:rPr lang="en-US" altLang="zh-CN" sz="2900" i="1" baseline="-18000">
                  <a:latin typeface="Times New Roman" panose="02020603050405020304" pitchFamily="18" charset="0"/>
                </a:rPr>
                <a:t>i</a:t>
              </a:r>
              <a:r>
                <a:rPr lang="en-US" altLang="zh-CN" sz="2800">
                  <a:latin typeface="Times New Roman" panose="02020603050405020304" pitchFamily="18" charset="0"/>
                </a:rPr>
                <a:t>&gt;0 (</a:t>
              </a:r>
              <a:r>
                <a:rPr lang="en-US" altLang="zh-CN" sz="2800" i="1">
                  <a:latin typeface="Times New Roman" panose="02020603050405020304" pitchFamily="18" charset="0"/>
                </a:rPr>
                <a:t>i</a:t>
              </a:r>
              <a:r>
                <a:rPr lang="en-US" altLang="zh-CN" sz="2800">
                  <a:latin typeface="Times New Roman" panose="02020603050405020304" pitchFamily="18" charset="0"/>
                </a:rPr>
                <a:t>=0,1,2,…,</a:t>
              </a:r>
              <a:r>
                <a:rPr lang="en-US" altLang="zh-CN" sz="2800" i="1">
                  <a:latin typeface="Times New Roman" panose="02020603050405020304" pitchFamily="18" charset="0"/>
                </a:rPr>
                <a:t>n</a:t>
              </a:r>
              <a:r>
                <a:rPr lang="en-US" altLang="zh-CN" sz="2800">
                  <a:latin typeface="Times New Roman" panose="02020603050405020304" pitchFamily="18" charset="0"/>
                </a:rPr>
                <a:t>)</a:t>
              </a:r>
              <a:r>
                <a:rPr lang="zh-CN" altLang="en-US" sz="2800">
                  <a:latin typeface="宋体" panose="02010600030101010101" pitchFamily="2" charset="-122"/>
                </a:rPr>
                <a:t>，即满足系统稳定的必要条件。</a:t>
              </a:r>
              <a:r>
                <a:rPr lang="zh-CN" altLang="en-US" sz="2800">
                  <a:latin typeface="Times New Roman" panose="02020603050405020304" pitchFamily="18" charset="0"/>
                </a:rPr>
                <a:t> </a:t>
              </a:r>
            </a:p>
          </p:txBody>
        </p:sp>
        <p:graphicFrame>
          <p:nvGraphicFramePr>
            <p:cNvPr id="20485" name="Object 6">
              <a:extLst>
                <a:ext uri="{FF2B5EF4-FFF2-40B4-BE49-F238E27FC236}">
                  <a16:creationId xmlns:a16="http://schemas.microsoft.com/office/drawing/2014/main" id="{64F2F6B8-68B4-8142-A47B-66F6BDC37E7A}"/>
                </a:ext>
              </a:extLst>
            </p:cNvPr>
            <p:cNvGraphicFramePr>
              <a:graphicFrameLocks noChangeAspect="1"/>
            </p:cNvGraphicFramePr>
            <p:nvPr/>
          </p:nvGraphicFramePr>
          <p:xfrm>
            <a:off x="1248" y="2115"/>
            <a:ext cx="3552" cy="333"/>
          </p:xfrm>
          <a:graphic>
            <a:graphicData uri="http://schemas.openxmlformats.org/presentationml/2006/ole">
              <mc:AlternateContent xmlns:mc="http://schemas.openxmlformats.org/markup-compatibility/2006">
                <mc:Choice xmlns:v="urn:schemas-microsoft-com:vml" Requires="v">
                  <p:oleObj r:id="rId3" imgW="2946400" imgH="279400" progId="Equation.3">
                    <p:embed/>
                  </p:oleObj>
                </mc:Choice>
                <mc:Fallback>
                  <p:oleObj r:id="rId3" imgW="2946400" imgH="2794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8" y="2115"/>
                          <a:ext cx="3552"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486" name="Rectangle 7">
              <a:extLst>
                <a:ext uri="{FF2B5EF4-FFF2-40B4-BE49-F238E27FC236}">
                  <a16:creationId xmlns:a16="http://schemas.microsoft.com/office/drawing/2014/main" id="{115CD1CD-BDE3-849D-9BFC-99CF2AC0F1B1}"/>
                </a:ext>
              </a:extLst>
            </p:cNvPr>
            <p:cNvSpPr>
              <a:spLocks noChangeArrowheads="1"/>
            </p:cNvSpPr>
            <p:nvPr/>
          </p:nvSpPr>
          <p:spPr bwMode="auto">
            <a:xfrm>
              <a:off x="864" y="1632"/>
              <a:ext cx="23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考虑系统的特征方程：</a:t>
              </a:r>
            </a:p>
          </p:txBody>
        </p:sp>
        <p:sp>
          <p:nvSpPr>
            <p:cNvPr id="20487" name="Rectangle 8">
              <a:extLst>
                <a:ext uri="{FF2B5EF4-FFF2-40B4-BE49-F238E27FC236}">
                  <a16:creationId xmlns:a16="http://schemas.microsoft.com/office/drawing/2014/main" id="{85CAAA74-BAD3-AC76-DE54-6C33FDFD49D7}"/>
                </a:ext>
              </a:extLst>
            </p:cNvPr>
            <p:cNvSpPr>
              <a:spLocks noChangeArrowheads="1"/>
            </p:cNvSpPr>
            <p:nvPr/>
          </p:nvSpPr>
          <p:spPr bwMode="auto">
            <a:xfrm>
              <a:off x="864" y="3177"/>
              <a:ext cx="35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宋体" panose="02010600030101010101" pitchFamily="2" charset="-122"/>
                </a:rPr>
                <a:t>劳斯稳定判据的判别过程如下：</a:t>
              </a:r>
              <a:r>
                <a:rPr lang="zh-CN" altLang="en-US" sz="2800">
                  <a:latin typeface="Times New Roman" panose="02020603050405020304" pitchFamily="18"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BBBFAD42-0E36-C0B6-BBA8-909D35F5E81E}"/>
              </a:ext>
            </a:extLst>
          </p:cNvPr>
          <p:cNvSpPr>
            <a:spLocks noChangeArrowheads="1"/>
          </p:cNvSpPr>
          <p:nvPr/>
        </p:nvSpPr>
        <p:spPr bwMode="auto">
          <a:xfrm>
            <a:off x="1403350" y="1125538"/>
            <a:ext cx="678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宋体" panose="02010600030101010101" pitchFamily="2" charset="-122"/>
              </a:rPr>
              <a:t> </a:t>
            </a:r>
            <a:r>
              <a:rPr lang="zh-CN" altLang="en-US" sz="2800">
                <a:latin typeface="宋体" panose="02010600030101010101" pitchFamily="2" charset="-122"/>
              </a:rPr>
              <a:t>列出劳斯阵列</a:t>
            </a:r>
            <a:r>
              <a:rPr lang="zh-CN" altLang="en-US" sz="2800">
                <a:latin typeface="Times New Roman" panose="02020603050405020304" pitchFamily="18" charset="0"/>
              </a:rPr>
              <a:t> </a:t>
            </a:r>
          </a:p>
        </p:txBody>
      </p:sp>
      <p:graphicFrame>
        <p:nvGraphicFramePr>
          <p:cNvPr id="22532" name="Object 4">
            <a:extLst>
              <a:ext uri="{FF2B5EF4-FFF2-40B4-BE49-F238E27FC236}">
                <a16:creationId xmlns:a16="http://schemas.microsoft.com/office/drawing/2014/main" id="{25C1863A-977B-611B-CBFD-200A5A8014B4}"/>
              </a:ext>
            </a:extLst>
          </p:cNvPr>
          <p:cNvGraphicFramePr>
            <a:graphicFrameLocks noChangeAspect="1"/>
          </p:cNvGraphicFramePr>
          <p:nvPr/>
        </p:nvGraphicFramePr>
        <p:xfrm>
          <a:off x="1524000" y="5521325"/>
          <a:ext cx="1914525" cy="803275"/>
        </p:xfrm>
        <a:graphic>
          <a:graphicData uri="http://schemas.openxmlformats.org/presentationml/2006/ole">
            <mc:AlternateContent xmlns:mc="http://schemas.openxmlformats.org/markup-compatibility/2006">
              <mc:Choice xmlns:v="urn:schemas-microsoft-com:vml" Requires="v">
                <p:oleObj r:id="rId3" imgW="1028254" imgH="431613" progId="Equation.3">
                  <p:embed/>
                </p:oleObj>
              </mc:Choice>
              <mc:Fallback>
                <p:oleObj r:id="rId3" imgW="1028254"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521325"/>
                        <a:ext cx="1914525"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2533" name="Object 5">
            <a:extLst>
              <a:ext uri="{FF2B5EF4-FFF2-40B4-BE49-F238E27FC236}">
                <a16:creationId xmlns:a16="http://schemas.microsoft.com/office/drawing/2014/main" id="{1B13CF20-1497-D44E-54CA-DD5B9E9E71D5}"/>
              </a:ext>
            </a:extLst>
          </p:cNvPr>
          <p:cNvGraphicFramePr>
            <a:graphicFrameLocks noChangeAspect="1"/>
          </p:cNvGraphicFramePr>
          <p:nvPr/>
        </p:nvGraphicFramePr>
        <p:xfrm>
          <a:off x="3727450" y="5521325"/>
          <a:ext cx="1966913" cy="803275"/>
        </p:xfrm>
        <a:graphic>
          <a:graphicData uri="http://schemas.openxmlformats.org/presentationml/2006/ole">
            <mc:AlternateContent xmlns:mc="http://schemas.openxmlformats.org/markup-compatibility/2006">
              <mc:Choice xmlns:v="urn:schemas-microsoft-com:vml" Requires="v">
                <p:oleObj r:id="rId5" imgW="1054100" imgH="431800" progId="Equation.3">
                  <p:embed/>
                </p:oleObj>
              </mc:Choice>
              <mc:Fallback>
                <p:oleObj r:id="rId5" imgW="1054100" imgH="4318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27450" y="5521325"/>
                        <a:ext cx="1966913"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a:extLst>
              <a:ext uri="{FF2B5EF4-FFF2-40B4-BE49-F238E27FC236}">
                <a16:creationId xmlns:a16="http://schemas.microsoft.com/office/drawing/2014/main" id="{E2E2785E-1228-937C-EC16-DE04C430B390}"/>
              </a:ext>
            </a:extLst>
          </p:cNvPr>
          <p:cNvGrpSpPr>
            <a:grpSpLocks/>
          </p:cNvGrpSpPr>
          <p:nvPr/>
        </p:nvGrpSpPr>
        <p:grpSpPr bwMode="auto">
          <a:xfrm>
            <a:off x="6002338" y="5521325"/>
            <a:ext cx="2519362" cy="803275"/>
            <a:chOff x="3781" y="3478"/>
            <a:chExt cx="1587" cy="506"/>
          </a:xfrm>
        </p:grpSpPr>
        <p:graphicFrame>
          <p:nvGraphicFramePr>
            <p:cNvPr id="22538" name="Object 7">
              <a:extLst>
                <a:ext uri="{FF2B5EF4-FFF2-40B4-BE49-F238E27FC236}">
                  <a16:creationId xmlns:a16="http://schemas.microsoft.com/office/drawing/2014/main" id="{A4361FEF-7FF6-D6B2-D23D-59EB9DC01DCB}"/>
                </a:ext>
              </a:extLst>
            </p:cNvPr>
            <p:cNvGraphicFramePr>
              <a:graphicFrameLocks noChangeAspect="1"/>
            </p:cNvGraphicFramePr>
            <p:nvPr/>
          </p:nvGraphicFramePr>
          <p:xfrm>
            <a:off x="3781" y="3478"/>
            <a:ext cx="1234" cy="506"/>
          </p:xfrm>
          <a:graphic>
            <a:graphicData uri="http://schemas.openxmlformats.org/presentationml/2006/ole">
              <mc:AlternateContent xmlns:mc="http://schemas.openxmlformats.org/markup-compatibility/2006">
                <mc:Choice xmlns:v="urn:schemas-microsoft-com:vml" Requires="v">
                  <p:oleObj r:id="rId7" imgW="1054100" imgH="431800" progId="Equation.3">
                    <p:embed/>
                  </p:oleObj>
                </mc:Choice>
                <mc:Fallback>
                  <p:oleObj r:id="rId7" imgW="1054100" imgH="4318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1" y="3478"/>
                          <a:ext cx="1234"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2539" name="Rectangle 8">
              <a:extLst>
                <a:ext uri="{FF2B5EF4-FFF2-40B4-BE49-F238E27FC236}">
                  <a16:creationId xmlns:a16="http://schemas.microsoft.com/office/drawing/2014/main" id="{39AB6D4B-2538-916C-5AB9-5A6B01994753}"/>
                </a:ext>
              </a:extLst>
            </p:cNvPr>
            <p:cNvSpPr>
              <a:spLocks noChangeArrowheads="1"/>
            </p:cNvSpPr>
            <p:nvPr/>
          </p:nvSpPr>
          <p:spPr bwMode="auto">
            <a:xfrm>
              <a:off x="5028" y="348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a:t>
              </a:r>
            </a:p>
          </p:txBody>
        </p:sp>
      </p:grpSp>
      <p:grpSp>
        <p:nvGrpSpPr>
          <p:cNvPr id="3" name="Group 9">
            <a:extLst>
              <a:ext uri="{FF2B5EF4-FFF2-40B4-BE49-F238E27FC236}">
                <a16:creationId xmlns:a16="http://schemas.microsoft.com/office/drawing/2014/main" id="{675FCA10-B795-01B8-310D-567185E5CC67}"/>
              </a:ext>
            </a:extLst>
          </p:cNvPr>
          <p:cNvGrpSpPr>
            <a:grpSpLocks/>
          </p:cNvGrpSpPr>
          <p:nvPr/>
        </p:nvGrpSpPr>
        <p:grpSpPr bwMode="auto">
          <a:xfrm>
            <a:off x="1447800" y="1828800"/>
            <a:ext cx="5257800" cy="3549650"/>
            <a:chOff x="912" y="1152"/>
            <a:chExt cx="3312" cy="2236"/>
          </a:xfrm>
        </p:grpSpPr>
        <p:sp>
          <p:nvSpPr>
            <p:cNvPr id="22536" name="Rectangle 10">
              <a:extLst>
                <a:ext uri="{FF2B5EF4-FFF2-40B4-BE49-F238E27FC236}">
                  <a16:creationId xmlns:a16="http://schemas.microsoft.com/office/drawing/2014/main" id="{DD57578F-C9A0-AC2A-D439-A673913B066F}"/>
                </a:ext>
              </a:extLst>
            </p:cNvPr>
            <p:cNvSpPr>
              <a:spLocks noChangeArrowheads="1"/>
            </p:cNvSpPr>
            <p:nvPr/>
          </p:nvSpPr>
          <p:spPr bwMode="auto">
            <a:xfrm>
              <a:off x="912" y="1152"/>
              <a:ext cx="3312" cy="2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90000"/>
                </a:lnSpc>
              </a:pPr>
              <a:r>
                <a:rPr lang="en-US" altLang="zh-CN" sz="2800" i="1">
                  <a:latin typeface="Times New Roman" panose="02020603050405020304" pitchFamily="18" charset="0"/>
                </a:rPr>
                <a:t>s</a:t>
              </a:r>
              <a:r>
                <a:rPr lang="en-US" altLang="zh-CN" sz="2900" i="1" baseline="30000">
                  <a:latin typeface="Times New Roman" panose="02020603050405020304" pitchFamily="18" charset="0"/>
                </a:rPr>
                <a:t>n</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0   	</a:t>
              </a:r>
              <a:r>
                <a:rPr lang="en-US" altLang="zh-CN" sz="2800" i="1">
                  <a:latin typeface="Times New Roman" panose="02020603050405020304" pitchFamily="18" charset="0"/>
                </a:rPr>
                <a:t>a</a:t>
              </a:r>
              <a:r>
                <a:rPr lang="en-US" altLang="zh-CN" sz="2900" baseline="-18000">
                  <a:latin typeface="Times New Roman" panose="02020603050405020304" pitchFamily="18" charset="0"/>
                </a:rPr>
                <a:t>2   	</a:t>
              </a:r>
              <a:r>
                <a:rPr lang="en-US" altLang="zh-CN" sz="2800" i="1">
                  <a:latin typeface="Times New Roman" panose="02020603050405020304" pitchFamily="18" charset="0"/>
                </a:rPr>
                <a:t>a</a:t>
              </a:r>
              <a:r>
                <a:rPr lang="en-US" altLang="zh-CN" sz="2900" baseline="-18000">
                  <a:latin typeface="Times New Roman" panose="02020603050405020304" pitchFamily="18" charset="0"/>
                </a:rPr>
                <a:t>4   	</a:t>
              </a:r>
              <a:r>
                <a:rPr lang="en-US" altLang="zh-CN" sz="2800" i="1">
                  <a:latin typeface="Times New Roman" panose="02020603050405020304" pitchFamily="18" charset="0"/>
                </a:rPr>
                <a:t>a</a:t>
              </a:r>
              <a:r>
                <a:rPr lang="en-US" altLang="zh-CN" sz="2900" baseline="-18000">
                  <a:latin typeface="Times New Roman" panose="02020603050405020304" pitchFamily="18" charset="0"/>
                </a:rPr>
                <a:t>6  	</a:t>
              </a:r>
              <a:r>
                <a:rPr lang="en-US" altLang="zh-CN" sz="2800">
                  <a:latin typeface="Times New Roman" panose="02020603050405020304" pitchFamily="18" charset="0"/>
                </a:rPr>
                <a:t>…</a:t>
              </a:r>
            </a:p>
            <a:p>
              <a:pPr algn="just" eaLnBrk="1" hangingPunct="1">
                <a:lnSpc>
                  <a:spcPct val="90000"/>
                </a:lnSpc>
              </a:pPr>
              <a:r>
                <a:rPr lang="en-US" altLang="zh-CN" sz="2800" i="1">
                  <a:latin typeface="Times New Roman" panose="02020603050405020304" pitchFamily="18" charset="0"/>
                </a:rPr>
                <a:t>s</a:t>
              </a:r>
              <a:r>
                <a:rPr lang="en-US" altLang="zh-CN" sz="2900" i="1" baseline="30000">
                  <a:latin typeface="Times New Roman" panose="02020603050405020304" pitchFamily="18" charset="0"/>
                </a:rPr>
                <a:t>n</a:t>
              </a:r>
              <a:r>
                <a:rPr lang="en-US" altLang="zh-CN" sz="2900" baseline="30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1   	</a:t>
              </a:r>
              <a:r>
                <a:rPr lang="en-US" altLang="zh-CN" sz="2800" i="1">
                  <a:latin typeface="Times New Roman" panose="02020603050405020304" pitchFamily="18" charset="0"/>
                </a:rPr>
                <a:t>a</a:t>
              </a:r>
              <a:r>
                <a:rPr lang="en-US" altLang="zh-CN" sz="2900" baseline="-18000">
                  <a:latin typeface="Times New Roman" panose="02020603050405020304" pitchFamily="18" charset="0"/>
                </a:rPr>
                <a:t>3   	</a:t>
              </a:r>
              <a:r>
                <a:rPr lang="en-US" altLang="zh-CN" sz="2800" i="1">
                  <a:latin typeface="Times New Roman" panose="02020603050405020304" pitchFamily="18" charset="0"/>
                </a:rPr>
                <a:t>a</a:t>
              </a:r>
              <a:r>
                <a:rPr lang="en-US" altLang="zh-CN" sz="2900" baseline="-18000">
                  <a:latin typeface="Times New Roman" panose="02020603050405020304" pitchFamily="18" charset="0"/>
                </a:rPr>
                <a:t>5   	</a:t>
              </a:r>
              <a:r>
                <a:rPr lang="en-US" altLang="zh-CN" sz="2800" i="1">
                  <a:latin typeface="Times New Roman" panose="02020603050405020304" pitchFamily="18" charset="0"/>
                </a:rPr>
                <a:t>a</a:t>
              </a:r>
              <a:r>
                <a:rPr lang="en-US" altLang="zh-CN" sz="2900" baseline="-18000">
                  <a:latin typeface="Times New Roman" panose="02020603050405020304" pitchFamily="18" charset="0"/>
                </a:rPr>
                <a:t>7  	</a:t>
              </a:r>
              <a:r>
                <a:rPr lang="en-US" altLang="zh-CN" sz="2800">
                  <a:latin typeface="Times New Roman" panose="02020603050405020304" pitchFamily="18" charset="0"/>
                </a:rPr>
                <a:t>…</a:t>
              </a:r>
            </a:p>
            <a:p>
              <a:pPr algn="just" eaLnBrk="1" hangingPunct="1">
                <a:lnSpc>
                  <a:spcPct val="90000"/>
                </a:lnSpc>
              </a:pPr>
              <a:r>
                <a:rPr lang="en-US" altLang="zh-CN" sz="2800" i="1">
                  <a:latin typeface="Times New Roman" panose="02020603050405020304" pitchFamily="18" charset="0"/>
                </a:rPr>
                <a:t>s</a:t>
              </a:r>
              <a:r>
                <a:rPr lang="en-US" altLang="zh-CN" sz="2900" i="1" baseline="30000">
                  <a:latin typeface="Times New Roman" panose="02020603050405020304" pitchFamily="18" charset="0"/>
                </a:rPr>
                <a:t>n</a:t>
              </a:r>
              <a:r>
                <a:rPr lang="en-US" altLang="zh-CN" sz="2900" baseline="30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b</a:t>
              </a:r>
              <a:r>
                <a:rPr lang="en-US" altLang="zh-CN" sz="2900" baseline="-18000">
                  <a:latin typeface="Times New Roman" panose="02020603050405020304" pitchFamily="18" charset="0"/>
                </a:rPr>
                <a:t>1	</a:t>
              </a:r>
              <a:r>
                <a:rPr lang="en-US" altLang="zh-CN" sz="2800" i="1">
                  <a:latin typeface="Times New Roman" panose="02020603050405020304" pitchFamily="18" charset="0"/>
                </a:rPr>
                <a:t>b</a:t>
              </a:r>
              <a:r>
                <a:rPr lang="en-US" altLang="zh-CN" sz="2900" baseline="-18000">
                  <a:latin typeface="Times New Roman" panose="02020603050405020304" pitchFamily="18" charset="0"/>
                </a:rPr>
                <a:t>2	</a:t>
              </a:r>
              <a:r>
                <a:rPr lang="en-US" altLang="zh-CN" sz="2800" i="1">
                  <a:latin typeface="Times New Roman" panose="02020603050405020304" pitchFamily="18" charset="0"/>
                </a:rPr>
                <a:t>b</a:t>
              </a:r>
              <a:r>
                <a:rPr lang="en-US" altLang="zh-CN" sz="2900" baseline="-18000">
                  <a:latin typeface="Times New Roman" panose="02020603050405020304" pitchFamily="18" charset="0"/>
                </a:rPr>
                <a:t>3	</a:t>
              </a:r>
              <a:r>
                <a:rPr lang="en-US" altLang="zh-CN" sz="2800" i="1">
                  <a:latin typeface="Times New Roman" panose="02020603050405020304" pitchFamily="18" charset="0"/>
                </a:rPr>
                <a:t>b</a:t>
              </a:r>
              <a:r>
                <a:rPr lang="en-US" altLang="zh-CN" sz="2900" baseline="-18000">
                  <a:latin typeface="Times New Roman" panose="02020603050405020304" pitchFamily="18" charset="0"/>
                </a:rPr>
                <a:t>4  	</a:t>
              </a:r>
              <a:r>
                <a:rPr lang="en-US" altLang="zh-CN" sz="2800">
                  <a:latin typeface="Times New Roman" panose="02020603050405020304" pitchFamily="18" charset="0"/>
                </a:rPr>
                <a:t>…</a:t>
              </a:r>
              <a:endParaRPr lang="en-US" altLang="zh-CN" sz="2900" baseline="-30000">
                <a:latin typeface="Times New Roman" panose="02020603050405020304" pitchFamily="18" charset="0"/>
              </a:endParaRPr>
            </a:p>
            <a:p>
              <a:pPr algn="just" eaLnBrk="1" hangingPunct="1">
                <a:lnSpc>
                  <a:spcPct val="90000"/>
                </a:lnSpc>
              </a:pPr>
              <a:r>
                <a:rPr lang="en-US" altLang="zh-CN" sz="2800" i="1">
                  <a:latin typeface="Times New Roman" panose="02020603050405020304" pitchFamily="18" charset="0"/>
                </a:rPr>
                <a:t>s</a:t>
              </a:r>
              <a:r>
                <a:rPr lang="en-US" altLang="zh-CN" sz="2900" i="1" baseline="30000">
                  <a:latin typeface="Times New Roman" panose="02020603050405020304" pitchFamily="18" charset="0"/>
                </a:rPr>
                <a:t>n</a:t>
              </a:r>
              <a:r>
                <a:rPr lang="en-US" altLang="zh-CN" sz="2900" baseline="30000">
                  <a:latin typeface="Times New Roman" panose="02020603050405020304" pitchFamily="18" charset="0"/>
                </a:rPr>
                <a:t>-3</a:t>
              </a:r>
              <a:r>
                <a:rPr lang="en-US" altLang="zh-CN" sz="28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1</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2</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3</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c</a:t>
              </a:r>
              <a:r>
                <a:rPr lang="en-US" altLang="zh-CN" sz="2900" baseline="-18000">
                  <a:latin typeface="Times New Roman" panose="02020603050405020304" pitchFamily="18" charset="0"/>
                </a:rPr>
                <a:t>4  	</a:t>
              </a:r>
              <a:r>
                <a:rPr lang="en-US" altLang="zh-CN" sz="2800">
                  <a:latin typeface="Times New Roman" panose="02020603050405020304" pitchFamily="18" charset="0"/>
                </a:rPr>
                <a:t>…</a:t>
              </a:r>
            </a:p>
            <a:p>
              <a:pPr algn="just" eaLnBrk="1" hangingPunct="1">
                <a:lnSpc>
                  <a:spcPct val="90000"/>
                </a:lnSpc>
              </a:pPr>
              <a:r>
                <a:rPr lang="en-US" altLang="zh-CN" sz="2800" i="1">
                  <a:latin typeface="Times New Roman" panose="02020603050405020304" pitchFamily="18" charset="0"/>
                </a:rPr>
                <a:t>s</a:t>
              </a:r>
              <a:r>
                <a:rPr lang="en-US" altLang="zh-CN" sz="2900" i="1" baseline="30000">
                  <a:latin typeface="Times New Roman" panose="02020603050405020304" pitchFamily="18" charset="0"/>
                </a:rPr>
                <a:t>n</a:t>
              </a:r>
              <a:r>
                <a:rPr lang="en-US" altLang="zh-CN" sz="2900" baseline="30000">
                  <a:latin typeface="Times New Roman" panose="02020603050405020304" pitchFamily="18" charset="0"/>
                </a:rPr>
                <a:t>-4</a:t>
              </a:r>
              <a:r>
                <a:rPr lang="en-US" altLang="zh-CN" sz="2800">
                  <a:latin typeface="Times New Roman" panose="02020603050405020304" pitchFamily="18" charset="0"/>
                </a:rPr>
                <a:t>	</a:t>
              </a:r>
              <a:r>
                <a:rPr lang="en-US" altLang="zh-CN" sz="2800" i="1">
                  <a:latin typeface="Times New Roman" panose="02020603050405020304" pitchFamily="18" charset="0"/>
                </a:rPr>
                <a:t>d</a:t>
              </a:r>
              <a:r>
                <a:rPr lang="en-US" altLang="zh-CN" sz="2900" baseline="-18000">
                  <a:latin typeface="Times New Roman" panose="02020603050405020304" pitchFamily="18" charset="0"/>
                </a:rPr>
                <a:t>1</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d</a:t>
              </a:r>
              <a:r>
                <a:rPr lang="en-US" altLang="zh-CN" sz="2900" baseline="-18000">
                  <a:latin typeface="Times New Roman" panose="02020603050405020304" pitchFamily="18" charset="0"/>
                </a:rPr>
                <a:t>2</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d</a:t>
              </a:r>
              <a:r>
                <a:rPr lang="en-US" altLang="zh-CN" sz="2900" baseline="-18000">
                  <a:latin typeface="Times New Roman" panose="02020603050405020304" pitchFamily="18" charset="0"/>
                </a:rPr>
                <a:t>3</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d</a:t>
              </a:r>
              <a:r>
                <a:rPr lang="en-US" altLang="zh-CN" sz="2900" baseline="-18000">
                  <a:latin typeface="Times New Roman" panose="02020603050405020304" pitchFamily="18" charset="0"/>
                </a:rPr>
                <a:t>4  	</a:t>
              </a:r>
              <a:r>
                <a:rPr lang="en-US" altLang="zh-CN" sz="2800">
                  <a:latin typeface="Times New Roman" panose="02020603050405020304" pitchFamily="18" charset="0"/>
                </a:rPr>
                <a:t>…</a:t>
              </a:r>
            </a:p>
            <a:p>
              <a:pPr algn="just" eaLnBrk="1" hangingPunct="1">
                <a:lnSpc>
                  <a:spcPct val="90000"/>
                </a:lnSpc>
              </a:pPr>
              <a:r>
                <a:rPr lang="en-US" altLang="zh-CN" sz="2800" i="1">
                  <a:latin typeface="Times New Roman" panose="02020603050405020304" pitchFamily="18" charset="0"/>
                </a:rPr>
                <a:t>……</a:t>
              </a:r>
              <a:endParaRPr lang="en-US" altLang="zh-CN" sz="2800">
                <a:latin typeface="Times New Roman" panose="02020603050405020304" pitchFamily="18" charset="0"/>
              </a:endParaRPr>
            </a:p>
            <a:p>
              <a:pPr algn="just" eaLnBrk="1" hangingPunct="1">
                <a:lnSpc>
                  <a:spcPct val="90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e</a:t>
              </a:r>
              <a:r>
                <a:rPr lang="en-US" altLang="zh-CN" sz="2900" baseline="-18000">
                  <a:latin typeface="Times New Roman" panose="02020603050405020304" pitchFamily="18" charset="0"/>
                </a:rPr>
                <a:t>1</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e</a:t>
              </a:r>
              <a:r>
                <a:rPr lang="en-US" altLang="zh-CN" sz="2900" baseline="-18000">
                  <a:latin typeface="Times New Roman" panose="02020603050405020304" pitchFamily="18" charset="0"/>
                </a:rPr>
                <a:t>2</a:t>
              </a:r>
            </a:p>
            <a:p>
              <a:pPr algn="just" eaLnBrk="1" hangingPunct="1">
                <a:lnSpc>
                  <a:spcPct val="90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f</a:t>
              </a:r>
              <a:r>
                <a:rPr lang="en-US" altLang="zh-CN" sz="2900" baseline="-18000">
                  <a:latin typeface="Times New Roman" panose="02020603050405020304" pitchFamily="18" charset="0"/>
                </a:rPr>
                <a:t>1</a:t>
              </a:r>
            </a:p>
            <a:p>
              <a:pPr algn="just" eaLnBrk="1" hangingPunct="1">
                <a:lnSpc>
                  <a:spcPct val="90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0</a:t>
              </a:r>
              <a:r>
                <a:rPr lang="en-US" altLang="zh-CN" sz="2800">
                  <a:latin typeface="Times New Roman" panose="02020603050405020304" pitchFamily="18" charset="0"/>
                </a:rPr>
                <a:t>	</a:t>
              </a:r>
              <a:r>
                <a:rPr lang="en-US" altLang="zh-CN" sz="2800" i="1">
                  <a:latin typeface="Times New Roman" panose="02020603050405020304" pitchFamily="18" charset="0"/>
                </a:rPr>
                <a:t>g</a:t>
              </a:r>
              <a:r>
                <a:rPr lang="en-US" altLang="zh-CN" sz="2900" baseline="-18000">
                  <a:latin typeface="Times New Roman" panose="02020603050405020304" pitchFamily="18" charset="0"/>
                </a:rPr>
                <a:t>1</a:t>
              </a:r>
              <a:endParaRPr lang="en-US" altLang="zh-CN" sz="2800">
                <a:latin typeface="Times New Roman" panose="02020603050405020304" pitchFamily="18" charset="0"/>
              </a:endParaRPr>
            </a:p>
          </p:txBody>
        </p:sp>
        <p:sp>
          <p:nvSpPr>
            <p:cNvPr id="22537" name="Line 11">
              <a:extLst>
                <a:ext uri="{FF2B5EF4-FFF2-40B4-BE49-F238E27FC236}">
                  <a16:creationId xmlns:a16="http://schemas.microsoft.com/office/drawing/2014/main" id="{995E491D-E53B-A469-D62A-A97AA6D3FAF8}"/>
                </a:ext>
              </a:extLst>
            </p:cNvPr>
            <p:cNvSpPr>
              <a:spLocks noChangeShapeType="1"/>
            </p:cNvSpPr>
            <p:nvPr/>
          </p:nvSpPr>
          <p:spPr bwMode="auto">
            <a:xfrm>
              <a:off x="1392" y="1200"/>
              <a:ext cx="0" cy="2160"/>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2535" name="Object 14">
            <a:extLst>
              <a:ext uri="{FF2B5EF4-FFF2-40B4-BE49-F238E27FC236}">
                <a16:creationId xmlns:a16="http://schemas.microsoft.com/office/drawing/2014/main" id="{A851B422-A2D0-A29A-5B57-19B0EF98320D}"/>
              </a:ext>
            </a:extLst>
          </p:cNvPr>
          <p:cNvGraphicFramePr>
            <a:graphicFrameLocks noChangeAspect="1"/>
          </p:cNvGraphicFramePr>
          <p:nvPr/>
        </p:nvGraphicFramePr>
        <p:xfrm>
          <a:off x="900113" y="476250"/>
          <a:ext cx="5638800" cy="528638"/>
        </p:xfrm>
        <a:graphic>
          <a:graphicData uri="http://schemas.openxmlformats.org/presentationml/2006/ole">
            <mc:AlternateContent xmlns:mc="http://schemas.openxmlformats.org/markup-compatibility/2006">
              <mc:Choice xmlns:v="urn:schemas-microsoft-com:vml" Requires="v">
                <p:oleObj r:id="rId9" imgW="2946400" imgH="279400" progId="Equation.3">
                  <p:embed/>
                </p:oleObj>
              </mc:Choice>
              <mc:Fallback>
                <p:oleObj r:id="rId9" imgW="2946400" imgH="279400"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76250"/>
                        <a:ext cx="56388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2532"/>
                                        </p:tgtEl>
                                        <p:attrNameLst>
                                          <p:attrName>style.visibility</p:attrName>
                                        </p:attrNameLst>
                                      </p:cBhvr>
                                      <p:to>
                                        <p:strVal val="visible"/>
                                      </p:to>
                                    </p:set>
                                    <p:anim calcmode="lin" valueType="num">
                                      <p:cBhvr additive="base">
                                        <p:cTn id="13" dur="500" fill="hold"/>
                                        <p:tgtEl>
                                          <p:spTgt spid="22532"/>
                                        </p:tgtEl>
                                        <p:attrNameLst>
                                          <p:attrName>ppt_x</p:attrName>
                                        </p:attrNameLst>
                                      </p:cBhvr>
                                      <p:tavLst>
                                        <p:tav tm="0">
                                          <p:val>
                                            <p:strVal val="#ppt_x"/>
                                          </p:val>
                                        </p:tav>
                                        <p:tav tm="100000">
                                          <p:val>
                                            <p:strVal val="#ppt_x"/>
                                          </p:val>
                                        </p:tav>
                                      </p:tavLst>
                                    </p:anim>
                                    <p:anim calcmode="lin" valueType="num">
                                      <p:cBhvr additive="base">
                                        <p:cTn id="14" dur="500" fill="hold"/>
                                        <p:tgtEl>
                                          <p:spTgt spid="2253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2533"/>
                                        </p:tgtEl>
                                        <p:attrNameLst>
                                          <p:attrName>style.visibility</p:attrName>
                                        </p:attrNameLst>
                                      </p:cBhvr>
                                      <p:to>
                                        <p:strVal val="visible"/>
                                      </p:to>
                                    </p:set>
                                    <p:anim calcmode="lin" valueType="num">
                                      <p:cBhvr additive="base">
                                        <p:cTn id="19" dur="500" fill="hold"/>
                                        <p:tgtEl>
                                          <p:spTgt spid="22533"/>
                                        </p:tgtEl>
                                        <p:attrNameLst>
                                          <p:attrName>ppt_x</p:attrName>
                                        </p:attrNameLst>
                                      </p:cBhvr>
                                      <p:tavLst>
                                        <p:tav tm="0">
                                          <p:val>
                                            <p:strVal val="#ppt_x"/>
                                          </p:val>
                                        </p:tav>
                                        <p:tav tm="100000">
                                          <p:val>
                                            <p:strVal val="#ppt_x"/>
                                          </p:val>
                                        </p:tav>
                                      </p:tavLst>
                                    </p:anim>
                                    <p:anim calcmode="lin" valueType="num">
                                      <p:cBhvr additive="base">
                                        <p:cTn id="20"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8" name="Group 3">
            <a:extLst>
              <a:ext uri="{FF2B5EF4-FFF2-40B4-BE49-F238E27FC236}">
                <a16:creationId xmlns:a16="http://schemas.microsoft.com/office/drawing/2014/main" id="{F21F45A7-E9E1-9C19-4BE9-278CA338FCEE}"/>
              </a:ext>
            </a:extLst>
          </p:cNvPr>
          <p:cNvGrpSpPr>
            <a:grpSpLocks/>
          </p:cNvGrpSpPr>
          <p:nvPr/>
        </p:nvGrpSpPr>
        <p:grpSpPr bwMode="auto">
          <a:xfrm>
            <a:off x="1600200" y="1981200"/>
            <a:ext cx="6705600" cy="796925"/>
            <a:chOff x="1008" y="1248"/>
            <a:chExt cx="4224" cy="502"/>
          </a:xfrm>
        </p:grpSpPr>
        <p:graphicFrame>
          <p:nvGraphicFramePr>
            <p:cNvPr id="24586" name="Object 4">
              <a:extLst>
                <a:ext uri="{FF2B5EF4-FFF2-40B4-BE49-F238E27FC236}">
                  <a16:creationId xmlns:a16="http://schemas.microsoft.com/office/drawing/2014/main" id="{9080303D-C645-5749-C682-AC05C6246543}"/>
                </a:ext>
              </a:extLst>
            </p:cNvPr>
            <p:cNvGraphicFramePr>
              <a:graphicFrameLocks noChangeAspect="1"/>
            </p:cNvGraphicFramePr>
            <p:nvPr/>
          </p:nvGraphicFramePr>
          <p:xfrm>
            <a:off x="1008" y="1248"/>
            <a:ext cx="1152" cy="502"/>
          </p:xfrm>
          <a:graphic>
            <a:graphicData uri="http://schemas.openxmlformats.org/presentationml/2006/ole">
              <mc:AlternateContent xmlns:mc="http://schemas.openxmlformats.org/markup-compatibility/2006">
                <mc:Choice xmlns:v="urn:schemas-microsoft-com:vml" Requires="v">
                  <p:oleObj r:id="rId3" imgW="990170" imgH="431613" progId="Equation.3">
                    <p:embed/>
                  </p:oleObj>
                </mc:Choice>
                <mc:Fallback>
                  <p:oleObj r:id="rId3" imgW="990170"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8" y="1248"/>
                          <a:ext cx="1152"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7" name="Object 5">
              <a:extLst>
                <a:ext uri="{FF2B5EF4-FFF2-40B4-BE49-F238E27FC236}">
                  <a16:creationId xmlns:a16="http://schemas.microsoft.com/office/drawing/2014/main" id="{E515905D-A084-C025-FACD-301550E552D0}"/>
                </a:ext>
              </a:extLst>
            </p:cNvPr>
            <p:cNvGraphicFramePr>
              <a:graphicFrameLocks noChangeAspect="1"/>
            </p:cNvGraphicFramePr>
            <p:nvPr/>
          </p:nvGraphicFramePr>
          <p:xfrm>
            <a:off x="2317" y="1248"/>
            <a:ext cx="1163" cy="502"/>
          </p:xfrm>
          <a:graphic>
            <a:graphicData uri="http://schemas.openxmlformats.org/presentationml/2006/ole">
              <mc:AlternateContent xmlns:mc="http://schemas.openxmlformats.org/markup-compatibility/2006">
                <mc:Choice xmlns:v="urn:schemas-microsoft-com:vml" Requires="v">
                  <p:oleObj r:id="rId5" imgW="1002865" imgH="431613" progId="Equation.3">
                    <p:embed/>
                  </p:oleObj>
                </mc:Choice>
                <mc:Fallback>
                  <p:oleObj r:id="rId5" imgW="1002865" imgH="431613"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7" y="1248"/>
                          <a:ext cx="1163"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4588" name="Group 6">
              <a:extLst>
                <a:ext uri="{FF2B5EF4-FFF2-40B4-BE49-F238E27FC236}">
                  <a16:creationId xmlns:a16="http://schemas.microsoft.com/office/drawing/2014/main" id="{306FF9E8-EBD3-491D-6583-25A59CDA5BF6}"/>
                </a:ext>
              </a:extLst>
            </p:cNvPr>
            <p:cNvGrpSpPr>
              <a:grpSpLocks/>
            </p:cNvGrpSpPr>
            <p:nvPr/>
          </p:nvGrpSpPr>
          <p:grpSpPr bwMode="auto">
            <a:xfrm>
              <a:off x="3685" y="1248"/>
              <a:ext cx="1547" cy="502"/>
              <a:chOff x="3685" y="1248"/>
              <a:chExt cx="1547" cy="502"/>
            </a:xfrm>
          </p:grpSpPr>
          <p:graphicFrame>
            <p:nvGraphicFramePr>
              <p:cNvPr id="24589" name="Object 7">
                <a:extLst>
                  <a:ext uri="{FF2B5EF4-FFF2-40B4-BE49-F238E27FC236}">
                    <a16:creationId xmlns:a16="http://schemas.microsoft.com/office/drawing/2014/main" id="{D36CF25D-A85D-FCAB-9561-790CBCE064E2}"/>
                  </a:ext>
                </a:extLst>
              </p:cNvPr>
              <p:cNvGraphicFramePr>
                <a:graphicFrameLocks noChangeAspect="1"/>
              </p:cNvGraphicFramePr>
              <p:nvPr/>
            </p:nvGraphicFramePr>
            <p:xfrm>
              <a:off x="3685" y="1248"/>
              <a:ext cx="1163" cy="502"/>
            </p:xfrm>
            <a:graphic>
              <a:graphicData uri="http://schemas.openxmlformats.org/presentationml/2006/ole">
                <mc:AlternateContent xmlns:mc="http://schemas.openxmlformats.org/markup-compatibility/2006">
                  <mc:Choice xmlns:v="urn:schemas-microsoft-com:vml" Requires="v">
                    <p:oleObj r:id="rId7" imgW="1002865" imgH="431613" progId="Equation.3">
                      <p:embed/>
                    </p:oleObj>
                  </mc:Choice>
                  <mc:Fallback>
                    <p:oleObj r:id="rId7" imgW="1002865" imgH="431613"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85" y="1248"/>
                            <a:ext cx="1163"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90" name="Rectangle 8">
                <a:extLst>
                  <a:ext uri="{FF2B5EF4-FFF2-40B4-BE49-F238E27FC236}">
                    <a16:creationId xmlns:a16="http://schemas.microsoft.com/office/drawing/2014/main" id="{C3F56D0F-E71E-8699-F1A6-8E856662B0C6}"/>
                  </a:ext>
                </a:extLst>
              </p:cNvPr>
              <p:cNvSpPr>
                <a:spLocks noChangeArrowheads="1"/>
              </p:cNvSpPr>
              <p:nvPr/>
            </p:nvSpPr>
            <p:spPr bwMode="auto">
              <a:xfrm>
                <a:off x="4892" y="1248"/>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a:t>
                </a:r>
              </a:p>
            </p:txBody>
          </p:sp>
        </p:grpSp>
      </p:grpSp>
      <p:sp>
        <p:nvSpPr>
          <p:cNvPr id="23561" name="Rectangle 9">
            <a:extLst>
              <a:ext uri="{FF2B5EF4-FFF2-40B4-BE49-F238E27FC236}">
                <a16:creationId xmlns:a16="http://schemas.microsoft.com/office/drawing/2014/main" id="{7350B268-CD4B-514C-064C-D9FE725B0E29}"/>
              </a:ext>
            </a:extLst>
          </p:cNvPr>
          <p:cNvSpPr>
            <a:spLocks noChangeArrowheads="1"/>
          </p:cNvSpPr>
          <p:nvPr/>
        </p:nvSpPr>
        <p:spPr bwMode="auto">
          <a:xfrm>
            <a:off x="1447800" y="4419600"/>
            <a:ext cx="72390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在上述计算过程中，为了简化数学运算，可以用一个正整数去除或乘某一整行，这时并不改变系统稳定性的结论。</a:t>
            </a:r>
            <a:r>
              <a:rPr lang="zh-CN" altLang="en-US" sz="2800">
                <a:latin typeface="Times New Roman" panose="02020603050405020304" pitchFamily="18" charset="0"/>
              </a:rPr>
              <a:t> </a:t>
            </a:r>
          </a:p>
        </p:txBody>
      </p:sp>
      <p:grpSp>
        <p:nvGrpSpPr>
          <p:cNvPr id="4" name="Group 10">
            <a:extLst>
              <a:ext uri="{FF2B5EF4-FFF2-40B4-BE49-F238E27FC236}">
                <a16:creationId xmlns:a16="http://schemas.microsoft.com/office/drawing/2014/main" id="{BA333E06-B42A-84E7-BB40-FAA9021FF3A9}"/>
              </a:ext>
            </a:extLst>
          </p:cNvPr>
          <p:cNvGrpSpPr>
            <a:grpSpLocks/>
          </p:cNvGrpSpPr>
          <p:nvPr/>
        </p:nvGrpSpPr>
        <p:grpSpPr bwMode="auto">
          <a:xfrm>
            <a:off x="1544638" y="2971800"/>
            <a:ext cx="6767512" cy="1281113"/>
            <a:chOff x="973" y="1872"/>
            <a:chExt cx="4263" cy="807"/>
          </a:xfrm>
        </p:grpSpPr>
        <p:graphicFrame>
          <p:nvGraphicFramePr>
            <p:cNvPr id="24581" name="Object 11">
              <a:extLst>
                <a:ext uri="{FF2B5EF4-FFF2-40B4-BE49-F238E27FC236}">
                  <a16:creationId xmlns:a16="http://schemas.microsoft.com/office/drawing/2014/main" id="{7D383833-D72C-D2DA-3321-135AB0832B30}"/>
                </a:ext>
              </a:extLst>
            </p:cNvPr>
            <p:cNvGraphicFramePr>
              <a:graphicFrameLocks noChangeAspect="1"/>
            </p:cNvGraphicFramePr>
            <p:nvPr/>
          </p:nvGraphicFramePr>
          <p:xfrm>
            <a:off x="973" y="1872"/>
            <a:ext cx="1235" cy="538"/>
          </p:xfrm>
          <a:graphic>
            <a:graphicData uri="http://schemas.openxmlformats.org/presentationml/2006/ole">
              <mc:AlternateContent xmlns:mc="http://schemas.openxmlformats.org/markup-compatibility/2006">
                <mc:Choice xmlns:v="urn:schemas-microsoft-com:vml" Requires="v">
                  <p:oleObj r:id="rId9" imgW="990170" imgH="431613" progId="Equation.3">
                    <p:embed/>
                  </p:oleObj>
                </mc:Choice>
                <mc:Fallback>
                  <p:oleObj r:id="rId9" imgW="990170" imgH="431613"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3" y="1872"/>
                          <a:ext cx="1235"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2" name="Object 12">
              <a:extLst>
                <a:ext uri="{FF2B5EF4-FFF2-40B4-BE49-F238E27FC236}">
                  <a16:creationId xmlns:a16="http://schemas.microsoft.com/office/drawing/2014/main" id="{7F909B9F-FBA9-FECD-F24C-B83D1E6A37A1}"/>
                </a:ext>
              </a:extLst>
            </p:cNvPr>
            <p:cNvGraphicFramePr>
              <a:graphicFrameLocks noChangeAspect="1"/>
            </p:cNvGraphicFramePr>
            <p:nvPr/>
          </p:nvGraphicFramePr>
          <p:xfrm>
            <a:off x="2317" y="1872"/>
            <a:ext cx="1235" cy="538"/>
          </p:xfrm>
          <a:graphic>
            <a:graphicData uri="http://schemas.openxmlformats.org/presentationml/2006/ole">
              <mc:AlternateContent xmlns:mc="http://schemas.openxmlformats.org/markup-compatibility/2006">
                <mc:Choice xmlns:v="urn:schemas-microsoft-com:vml" Requires="v">
                  <p:oleObj r:id="rId11" imgW="990170" imgH="431613" progId="Equation.3">
                    <p:embed/>
                  </p:oleObj>
                </mc:Choice>
                <mc:Fallback>
                  <p:oleObj r:id="rId11" imgW="990170" imgH="431613"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17" y="1872"/>
                          <a:ext cx="1235"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3" name="Object 13">
              <a:extLst>
                <a:ext uri="{FF2B5EF4-FFF2-40B4-BE49-F238E27FC236}">
                  <a16:creationId xmlns:a16="http://schemas.microsoft.com/office/drawing/2014/main" id="{CD13BF92-1E3F-B27F-62B2-CBA3D9F42DD8}"/>
                </a:ext>
              </a:extLst>
            </p:cNvPr>
            <p:cNvGraphicFramePr>
              <a:graphicFrameLocks noChangeAspect="1"/>
            </p:cNvGraphicFramePr>
            <p:nvPr/>
          </p:nvGraphicFramePr>
          <p:xfrm>
            <a:off x="3648" y="1872"/>
            <a:ext cx="1248" cy="537"/>
          </p:xfrm>
          <a:graphic>
            <a:graphicData uri="http://schemas.openxmlformats.org/presentationml/2006/ole">
              <mc:AlternateContent xmlns:mc="http://schemas.openxmlformats.org/markup-compatibility/2006">
                <mc:Choice xmlns:v="urn:schemas-microsoft-com:vml" Requires="v">
                  <p:oleObj r:id="rId13" imgW="1002865" imgH="431613" progId="Equation.3">
                    <p:embed/>
                  </p:oleObj>
                </mc:Choice>
                <mc:Fallback>
                  <p:oleObj r:id="rId13" imgW="1002865" imgH="431613"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48" y="1872"/>
                          <a:ext cx="1248"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4" name="Rectangle 14">
              <a:extLst>
                <a:ext uri="{FF2B5EF4-FFF2-40B4-BE49-F238E27FC236}">
                  <a16:creationId xmlns:a16="http://schemas.microsoft.com/office/drawing/2014/main" id="{86EA5ABB-2C26-1E39-FF0C-40802A169B68}"/>
                </a:ext>
              </a:extLst>
            </p:cNvPr>
            <p:cNvSpPr>
              <a:spLocks noChangeArrowheads="1"/>
            </p:cNvSpPr>
            <p:nvPr/>
          </p:nvSpPr>
          <p:spPr bwMode="auto">
            <a:xfrm>
              <a:off x="4896" y="1881"/>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a:t>
              </a:r>
            </a:p>
          </p:txBody>
        </p:sp>
        <p:sp>
          <p:nvSpPr>
            <p:cNvPr id="24585" name="Text Box 15">
              <a:extLst>
                <a:ext uri="{FF2B5EF4-FFF2-40B4-BE49-F238E27FC236}">
                  <a16:creationId xmlns:a16="http://schemas.microsoft.com/office/drawing/2014/main" id="{7605B721-153F-419C-9DE8-7FE77AC6ED67}"/>
                </a:ext>
              </a:extLst>
            </p:cNvPr>
            <p:cNvSpPr txBox="1">
              <a:spLocks noChangeArrowheads="1"/>
            </p:cNvSpPr>
            <p:nvPr/>
          </p:nvSpPr>
          <p:spPr bwMode="auto">
            <a:xfrm>
              <a:off x="998" y="2352"/>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3561"/>
                                        </p:tgtEl>
                                        <p:attrNameLst>
                                          <p:attrName>style.visibility</p:attrName>
                                        </p:attrNameLst>
                                      </p:cBhvr>
                                      <p:to>
                                        <p:strVal val="visible"/>
                                      </p:to>
                                    </p:set>
                                    <p:anim calcmode="lin" valueType="num">
                                      <p:cBhvr additive="base">
                                        <p:cTn id="13" dur="500" fill="hold"/>
                                        <p:tgtEl>
                                          <p:spTgt spid="23561"/>
                                        </p:tgtEl>
                                        <p:attrNameLst>
                                          <p:attrName>ppt_x</p:attrName>
                                        </p:attrNameLst>
                                      </p:cBhvr>
                                      <p:tavLst>
                                        <p:tav tm="0">
                                          <p:val>
                                            <p:strVal val="#ppt_x"/>
                                          </p:val>
                                        </p:tav>
                                        <p:tav tm="100000">
                                          <p:val>
                                            <p:strVal val="#ppt_x"/>
                                          </p:val>
                                        </p:tav>
                                      </p:tavLst>
                                    </p:anim>
                                    <p:anim calcmode="lin" valueType="num">
                                      <p:cBhvr additive="base">
                                        <p:cTn id="14" dur="500" fill="hold"/>
                                        <p:tgtEl>
                                          <p:spTgt spid="235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53573D46-58B3-6CAE-6606-4E4A5DBCA3B5}"/>
              </a:ext>
            </a:extLst>
          </p:cNvPr>
          <p:cNvSpPr>
            <a:spLocks noChangeArrowheads="1"/>
          </p:cNvSpPr>
          <p:nvPr/>
        </p:nvSpPr>
        <p:spPr bwMode="auto">
          <a:xfrm>
            <a:off x="114300" y="23876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6627" name="Rectangle 4">
            <a:extLst>
              <a:ext uri="{FF2B5EF4-FFF2-40B4-BE49-F238E27FC236}">
                <a16:creationId xmlns:a16="http://schemas.microsoft.com/office/drawing/2014/main" id="{00AB4181-F600-8555-0EDE-30AEF6A2BF23}"/>
              </a:ext>
            </a:extLst>
          </p:cNvPr>
          <p:cNvSpPr>
            <a:spLocks noChangeArrowheads="1"/>
          </p:cNvSpPr>
          <p:nvPr/>
        </p:nvSpPr>
        <p:spPr bwMode="auto">
          <a:xfrm>
            <a:off x="1116013" y="1052513"/>
            <a:ext cx="678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宋体" panose="02010600030101010101" pitchFamily="2" charset="-122"/>
              </a:rPr>
              <a:t> </a:t>
            </a:r>
            <a:r>
              <a:rPr lang="zh-CN" altLang="en-US" sz="2800">
                <a:latin typeface="宋体" panose="02010600030101010101" pitchFamily="2" charset="-122"/>
              </a:rPr>
              <a:t>用劳斯判据</a:t>
            </a:r>
            <a:r>
              <a:rPr lang="zh-CN" altLang="en-US" sz="2800">
                <a:latin typeface="Times New Roman" panose="02020603050405020304" pitchFamily="18" charset="0"/>
              </a:rPr>
              <a:t>判别系统稳定性</a:t>
            </a:r>
          </a:p>
        </p:txBody>
      </p:sp>
      <p:sp>
        <p:nvSpPr>
          <p:cNvPr id="24581" name="Rectangle 5">
            <a:extLst>
              <a:ext uri="{FF2B5EF4-FFF2-40B4-BE49-F238E27FC236}">
                <a16:creationId xmlns:a16="http://schemas.microsoft.com/office/drawing/2014/main" id="{0BF93DE3-E58C-90F5-3693-7E6D3C98BE89}"/>
              </a:ext>
            </a:extLst>
          </p:cNvPr>
          <p:cNvSpPr>
            <a:spLocks noChangeArrowheads="1"/>
          </p:cNvSpPr>
          <p:nvPr/>
        </p:nvSpPr>
        <p:spPr bwMode="auto">
          <a:xfrm>
            <a:off x="1258888" y="1844675"/>
            <a:ext cx="7086600"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宋体" panose="02010600030101010101" pitchFamily="2" charset="-122"/>
              </a:rPr>
              <a:t>考察劳斯阵列表中第一列各数的符号，如果</a:t>
            </a:r>
            <a:r>
              <a:rPr lang="zh-CN" altLang="en-US" sz="2800">
                <a:solidFill>
                  <a:srgbClr val="FF0000"/>
                </a:solidFill>
                <a:latin typeface="宋体" panose="02010600030101010101" pitchFamily="2" charset="-122"/>
              </a:rPr>
              <a:t>第一列中各数</a:t>
            </a:r>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0</a:t>
            </a:r>
            <a:r>
              <a:rPr lang="zh-CN" altLang="en-US" sz="2800">
                <a:solidFill>
                  <a:srgbClr val="FF0000"/>
                </a:solidFill>
                <a:latin typeface="宋体" panose="02010600030101010101" pitchFamily="2" charset="-122"/>
              </a:rPr>
              <a:t>、</a:t>
            </a:r>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1</a:t>
            </a:r>
            <a:r>
              <a:rPr lang="zh-CN" altLang="en-US" sz="2800">
                <a:solidFill>
                  <a:srgbClr val="FF0000"/>
                </a:solidFill>
                <a:latin typeface="宋体" panose="02010600030101010101" pitchFamily="2" charset="-122"/>
              </a:rPr>
              <a:t>、</a:t>
            </a:r>
            <a:r>
              <a:rPr lang="en-US" altLang="zh-CN" sz="2800" i="1">
                <a:solidFill>
                  <a:srgbClr val="FF0000"/>
                </a:solidFill>
                <a:latin typeface="Times New Roman" panose="02020603050405020304" pitchFamily="18" charset="0"/>
              </a:rPr>
              <a:t>b</a:t>
            </a:r>
            <a:r>
              <a:rPr lang="en-US" altLang="zh-CN" sz="2900" baseline="-18000">
                <a:solidFill>
                  <a:srgbClr val="FF0000"/>
                </a:solidFill>
                <a:latin typeface="Times New Roman" panose="02020603050405020304" pitchFamily="18" charset="0"/>
              </a:rPr>
              <a:t>1</a:t>
            </a:r>
            <a:r>
              <a:rPr lang="zh-CN" altLang="en-US" sz="2800">
                <a:solidFill>
                  <a:srgbClr val="FF0000"/>
                </a:solidFill>
                <a:latin typeface="宋体" panose="02010600030101010101" pitchFamily="2" charset="-122"/>
              </a:rPr>
              <a:t>、</a:t>
            </a:r>
            <a:r>
              <a:rPr lang="en-US" altLang="zh-CN" sz="2800" i="1">
                <a:solidFill>
                  <a:srgbClr val="FF0000"/>
                </a:solidFill>
                <a:latin typeface="Times New Roman" panose="02020603050405020304" pitchFamily="18" charset="0"/>
              </a:rPr>
              <a:t>c</a:t>
            </a:r>
            <a:r>
              <a:rPr lang="en-US" altLang="zh-CN" sz="2900" baseline="-18000">
                <a:solidFill>
                  <a:srgbClr val="FF0000"/>
                </a:solidFill>
                <a:latin typeface="Times New Roman" panose="02020603050405020304" pitchFamily="18" charset="0"/>
              </a:rPr>
              <a:t>1</a:t>
            </a:r>
            <a:r>
              <a:rPr lang="zh-CN" altLang="en-US" sz="2800">
                <a:solidFill>
                  <a:srgbClr val="FF0000"/>
                </a:solidFill>
                <a:latin typeface="宋体" panose="02010600030101010101" pitchFamily="2" charset="-122"/>
              </a:rPr>
              <a:t>、</a:t>
            </a:r>
            <a:r>
              <a:rPr lang="en-US" altLang="zh-CN" sz="2800">
                <a:solidFill>
                  <a:srgbClr val="FF0000"/>
                </a:solidFill>
                <a:latin typeface="Times New Roman" panose="02020603050405020304" pitchFamily="18" charset="0"/>
              </a:rPr>
              <a:t>……</a:t>
            </a:r>
            <a:r>
              <a:rPr lang="zh-CN" altLang="en-US" sz="2800">
                <a:solidFill>
                  <a:srgbClr val="FF0000"/>
                </a:solidFill>
                <a:latin typeface="宋体" panose="02010600030101010101" pitchFamily="2" charset="-122"/>
              </a:rPr>
              <a:t>的符号相同，则表示系统具有正实部特征根的个数等于零，系统稳定</a:t>
            </a:r>
            <a:r>
              <a:rPr lang="zh-CN" altLang="en-US" sz="2800">
                <a:latin typeface="宋体" panose="02010600030101010101" pitchFamily="2" charset="-122"/>
              </a:rPr>
              <a:t>；如果符号不同，系统不稳定，且符号改变的次数等于系统具有的正实</a:t>
            </a:r>
          </a:p>
          <a:p>
            <a:pPr eaLnBrk="1" hangingPunct="1">
              <a:lnSpc>
                <a:spcPct val="115000"/>
              </a:lnSpc>
            </a:pPr>
            <a:r>
              <a:rPr lang="zh-CN" altLang="en-US" sz="2800">
                <a:latin typeface="宋体" panose="02010600030101010101" pitchFamily="2" charset="-122"/>
              </a:rPr>
              <a:t>部特征根的个数。</a:t>
            </a:r>
            <a:r>
              <a:rPr lang="zh-CN" altLang="en-US" sz="2800">
                <a:latin typeface="Times New Roman" panose="02020603050405020304" pitchFamily="18" charset="0"/>
              </a:rPr>
              <a:t> </a:t>
            </a:r>
          </a:p>
        </p:txBody>
      </p:sp>
      <p:sp>
        <p:nvSpPr>
          <p:cNvPr id="24582" name="Rectangle 6">
            <a:extLst>
              <a:ext uri="{FF2B5EF4-FFF2-40B4-BE49-F238E27FC236}">
                <a16:creationId xmlns:a16="http://schemas.microsoft.com/office/drawing/2014/main" id="{7E056CAD-90B7-784C-B2F3-7EBFCD1E0119}"/>
              </a:ext>
            </a:extLst>
          </p:cNvPr>
          <p:cNvSpPr>
            <a:spLocks noChangeArrowheads="1"/>
          </p:cNvSpPr>
          <p:nvPr/>
        </p:nvSpPr>
        <p:spPr bwMode="auto">
          <a:xfrm>
            <a:off x="1258888" y="4941888"/>
            <a:ext cx="7086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通常</a:t>
            </a:r>
            <a:r>
              <a:rPr lang="en-US" altLang="zh-CN" sz="2800" i="1">
                <a:latin typeface="Times New Roman" panose="02020603050405020304" pitchFamily="18" charset="0"/>
              </a:rPr>
              <a:t>a</a:t>
            </a:r>
            <a:r>
              <a:rPr lang="en-US" altLang="zh-CN" sz="2900" baseline="-18000">
                <a:latin typeface="Times New Roman" panose="02020603050405020304" pitchFamily="18" charset="0"/>
              </a:rPr>
              <a:t>0 </a:t>
            </a:r>
            <a:r>
              <a:rPr lang="en-US" altLang="zh-CN" sz="2800">
                <a:latin typeface="Times New Roman" panose="02020603050405020304" pitchFamily="18" charset="0"/>
              </a:rPr>
              <a:t>&gt; 0</a:t>
            </a:r>
            <a:r>
              <a:rPr lang="zh-CN" altLang="en-US" sz="2800">
                <a:latin typeface="宋体" panose="02010600030101010101" pitchFamily="2" charset="-122"/>
              </a:rPr>
              <a:t>，因此，劳斯稳定判据可以简述为</a:t>
            </a:r>
            <a:r>
              <a:rPr lang="zh-CN" altLang="en-US" sz="2800" b="1">
                <a:solidFill>
                  <a:srgbClr val="FF0000"/>
                </a:solidFill>
                <a:latin typeface="宋体" panose="02010600030101010101" pitchFamily="2" charset="-122"/>
              </a:rPr>
              <a:t>劳斯阵列表中第一列的各数均大于零</a:t>
            </a:r>
            <a:r>
              <a:rPr lang="zh-CN" altLang="en-US" sz="2800">
                <a:latin typeface="宋体" panose="02010600030101010101"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81"/>
                                        </p:tgtEl>
                                        <p:attrNameLst>
                                          <p:attrName>style.visibility</p:attrName>
                                        </p:attrNameLst>
                                      </p:cBhvr>
                                      <p:to>
                                        <p:strVal val="visible"/>
                                      </p:to>
                                    </p:set>
                                    <p:anim calcmode="lin" valueType="num">
                                      <p:cBhvr additive="base">
                                        <p:cTn id="7" dur="500" fill="hold"/>
                                        <p:tgtEl>
                                          <p:spTgt spid="24581"/>
                                        </p:tgtEl>
                                        <p:attrNameLst>
                                          <p:attrName>ppt_x</p:attrName>
                                        </p:attrNameLst>
                                      </p:cBhvr>
                                      <p:tavLst>
                                        <p:tav tm="0">
                                          <p:val>
                                            <p:strVal val="#ppt_x"/>
                                          </p:val>
                                        </p:tav>
                                        <p:tav tm="100000">
                                          <p:val>
                                            <p:strVal val="#ppt_x"/>
                                          </p:val>
                                        </p:tav>
                                      </p:tavLst>
                                    </p:anim>
                                    <p:anim calcmode="lin" valueType="num">
                                      <p:cBhvr additive="base">
                                        <p:cTn id="8" dur="500" fill="hold"/>
                                        <p:tgtEl>
                                          <p:spTgt spid="2458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582"/>
                                        </p:tgtEl>
                                        <p:attrNameLst>
                                          <p:attrName>style.visibility</p:attrName>
                                        </p:attrNameLst>
                                      </p:cBhvr>
                                      <p:to>
                                        <p:strVal val="visible"/>
                                      </p:to>
                                    </p:set>
                                    <p:anim calcmode="lin" valueType="num">
                                      <p:cBhvr additive="base">
                                        <p:cTn id="13" dur="500" fill="hold"/>
                                        <p:tgtEl>
                                          <p:spTgt spid="24582"/>
                                        </p:tgtEl>
                                        <p:attrNameLst>
                                          <p:attrName>ppt_x</p:attrName>
                                        </p:attrNameLst>
                                      </p:cBhvr>
                                      <p:tavLst>
                                        <p:tav tm="0">
                                          <p:val>
                                            <p:strVal val="#ppt_x"/>
                                          </p:val>
                                        </p:tav>
                                        <p:tav tm="100000">
                                          <p:val>
                                            <p:strVal val="#ppt_x"/>
                                          </p:val>
                                        </p:tav>
                                      </p:tavLst>
                                    </p:anim>
                                    <p:anim calcmode="lin" valueType="num">
                                      <p:cBhvr additive="base">
                                        <p:cTn id="14" dur="500" fill="hold"/>
                                        <p:tgtEl>
                                          <p:spTgt spid="245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7EB3D93C-AB90-9932-62FB-2961DE2C90E7}"/>
              </a:ext>
            </a:extLst>
          </p:cNvPr>
          <p:cNvSpPr>
            <a:spLocks noChangeArrowheads="1"/>
          </p:cNvSpPr>
          <p:nvPr/>
        </p:nvSpPr>
        <p:spPr bwMode="auto">
          <a:xfrm>
            <a:off x="1187450" y="404813"/>
            <a:ext cx="678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宋体" panose="02010600030101010101" pitchFamily="2" charset="-122"/>
              </a:rPr>
              <a:t> </a:t>
            </a:r>
            <a:r>
              <a:rPr lang="zh-CN" altLang="en-US" sz="2800">
                <a:latin typeface="宋体" panose="02010600030101010101" pitchFamily="2" charset="-122"/>
              </a:rPr>
              <a:t>例题</a:t>
            </a:r>
            <a:endParaRPr lang="zh-CN" altLang="en-US" sz="2800">
              <a:latin typeface="Times New Roman" panose="02020603050405020304" pitchFamily="18" charset="0"/>
            </a:endParaRPr>
          </a:p>
        </p:txBody>
      </p:sp>
      <p:grpSp>
        <p:nvGrpSpPr>
          <p:cNvPr id="28675" name="Group 4">
            <a:extLst>
              <a:ext uri="{FF2B5EF4-FFF2-40B4-BE49-F238E27FC236}">
                <a16:creationId xmlns:a16="http://schemas.microsoft.com/office/drawing/2014/main" id="{E1668991-C052-2F7D-E46D-8F0382E5E534}"/>
              </a:ext>
            </a:extLst>
          </p:cNvPr>
          <p:cNvGrpSpPr>
            <a:grpSpLocks/>
          </p:cNvGrpSpPr>
          <p:nvPr/>
        </p:nvGrpSpPr>
        <p:grpSpPr bwMode="auto">
          <a:xfrm>
            <a:off x="1187450" y="1052513"/>
            <a:ext cx="6781800" cy="1571625"/>
            <a:chOff x="864" y="969"/>
            <a:chExt cx="4272" cy="990"/>
          </a:xfrm>
        </p:grpSpPr>
        <p:sp>
          <p:nvSpPr>
            <p:cNvPr id="28682" name="Rectangle 5">
              <a:extLst>
                <a:ext uri="{FF2B5EF4-FFF2-40B4-BE49-F238E27FC236}">
                  <a16:creationId xmlns:a16="http://schemas.microsoft.com/office/drawing/2014/main" id="{1A2094F1-A266-5CAD-DAC8-724A1E94B2E2}"/>
                </a:ext>
              </a:extLst>
            </p:cNvPr>
            <p:cNvSpPr>
              <a:spLocks noChangeArrowheads="1"/>
            </p:cNvSpPr>
            <p:nvPr/>
          </p:nvSpPr>
          <p:spPr bwMode="auto">
            <a:xfrm>
              <a:off x="864" y="969"/>
              <a:ext cx="42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设系统的特征方程为：</a:t>
              </a:r>
            </a:p>
          </p:txBody>
        </p:sp>
        <p:graphicFrame>
          <p:nvGraphicFramePr>
            <p:cNvPr id="28683" name="Object 6">
              <a:extLst>
                <a:ext uri="{FF2B5EF4-FFF2-40B4-BE49-F238E27FC236}">
                  <a16:creationId xmlns:a16="http://schemas.microsoft.com/office/drawing/2014/main" id="{A91295DD-3AB4-07C4-12A7-A4C9757F77F9}"/>
                </a:ext>
              </a:extLst>
            </p:cNvPr>
            <p:cNvGraphicFramePr>
              <a:graphicFrameLocks noChangeAspect="1"/>
            </p:cNvGraphicFramePr>
            <p:nvPr/>
          </p:nvGraphicFramePr>
          <p:xfrm>
            <a:off x="1200" y="1318"/>
            <a:ext cx="2592" cy="314"/>
          </p:xfrm>
          <a:graphic>
            <a:graphicData uri="http://schemas.openxmlformats.org/presentationml/2006/ole">
              <mc:AlternateContent xmlns:mc="http://schemas.openxmlformats.org/markup-compatibility/2006">
                <mc:Choice xmlns:v="urn:schemas-microsoft-com:vml" Requires="v">
                  <p:oleObj r:id="rId3" imgW="1993900" imgH="241300" progId="Equation.3">
                    <p:embed/>
                  </p:oleObj>
                </mc:Choice>
                <mc:Fallback>
                  <p:oleObj r:id="rId3" imgW="1993900" imgH="2413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 y="1318"/>
                          <a:ext cx="2592"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8684" name="Rectangle 7">
              <a:extLst>
                <a:ext uri="{FF2B5EF4-FFF2-40B4-BE49-F238E27FC236}">
                  <a16:creationId xmlns:a16="http://schemas.microsoft.com/office/drawing/2014/main" id="{D42DA7A2-E689-EB3C-7684-75B8419AC331}"/>
                </a:ext>
              </a:extLst>
            </p:cNvPr>
            <p:cNvSpPr>
              <a:spLocks noChangeArrowheads="1"/>
            </p:cNvSpPr>
            <p:nvPr/>
          </p:nvSpPr>
          <p:spPr bwMode="auto">
            <a:xfrm>
              <a:off x="864" y="1632"/>
              <a:ext cx="42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应用劳斯稳定判据判别系统的稳定性。</a:t>
              </a:r>
            </a:p>
          </p:txBody>
        </p:sp>
      </p:grpSp>
      <p:sp>
        <p:nvSpPr>
          <p:cNvPr id="25608" name="Rectangle 8">
            <a:extLst>
              <a:ext uri="{FF2B5EF4-FFF2-40B4-BE49-F238E27FC236}">
                <a16:creationId xmlns:a16="http://schemas.microsoft.com/office/drawing/2014/main" id="{8274CABC-9368-7BDC-EA9A-7E3943A6D61D}"/>
              </a:ext>
            </a:extLst>
          </p:cNvPr>
          <p:cNvSpPr>
            <a:spLocks noChangeArrowheads="1"/>
          </p:cNvSpPr>
          <p:nvPr/>
        </p:nvSpPr>
        <p:spPr bwMode="auto">
          <a:xfrm>
            <a:off x="1222375" y="2790825"/>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b="1">
                <a:latin typeface="Times New Roman" panose="02020603050405020304" pitchFamily="18" charset="0"/>
              </a:rPr>
              <a:t>解</a:t>
            </a:r>
            <a:r>
              <a:rPr lang="zh-CN" altLang="en-US" sz="2800">
                <a:latin typeface="Times New Roman" panose="02020603050405020304" pitchFamily="18" charset="0"/>
              </a:rPr>
              <a:t>：劳斯阵列如下：</a:t>
            </a:r>
          </a:p>
        </p:txBody>
      </p:sp>
      <p:grpSp>
        <p:nvGrpSpPr>
          <p:cNvPr id="3" name="Group 9">
            <a:extLst>
              <a:ext uri="{FF2B5EF4-FFF2-40B4-BE49-F238E27FC236}">
                <a16:creationId xmlns:a16="http://schemas.microsoft.com/office/drawing/2014/main" id="{A3477F14-FE63-89ED-633F-C757A45685F9}"/>
              </a:ext>
            </a:extLst>
          </p:cNvPr>
          <p:cNvGrpSpPr>
            <a:grpSpLocks/>
          </p:cNvGrpSpPr>
          <p:nvPr/>
        </p:nvGrpSpPr>
        <p:grpSpPr bwMode="auto">
          <a:xfrm>
            <a:off x="1908175" y="3357563"/>
            <a:ext cx="5257800" cy="1628775"/>
            <a:chOff x="1536" y="2910"/>
            <a:chExt cx="3312" cy="1026"/>
          </a:xfrm>
        </p:grpSpPr>
        <p:sp>
          <p:nvSpPr>
            <p:cNvPr id="28680" name="Rectangle 10">
              <a:extLst>
                <a:ext uri="{FF2B5EF4-FFF2-40B4-BE49-F238E27FC236}">
                  <a16:creationId xmlns:a16="http://schemas.microsoft.com/office/drawing/2014/main" id="{A789CF39-6F6B-E882-F00B-C99101DCF09D}"/>
                </a:ext>
              </a:extLst>
            </p:cNvPr>
            <p:cNvSpPr>
              <a:spLocks noChangeArrowheads="1"/>
            </p:cNvSpPr>
            <p:nvPr/>
          </p:nvSpPr>
          <p:spPr bwMode="auto">
            <a:xfrm>
              <a:off x="1536" y="2910"/>
              <a:ext cx="3312" cy="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90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3</a:t>
              </a:r>
              <a:r>
                <a:rPr lang="en-US" altLang="zh-CN" sz="2800">
                  <a:latin typeface="Times New Roman" panose="02020603050405020304" pitchFamily="18" charset="0"/>
                </a:rPr>
                <a:t>	1</a:t>
              </a:r>
              <a:r>
                <a:rPr lang="en-US" altLang="zh-CN" sz="2900" i="1" baseline="-30000">
                  <a:latin typeface="Times New Roman" panose="02020603050405020304" pitchFamily="18" charset="0"/>
                </a:rPr>
                <a:t>	</a:t>
              </a:r>
              <a:r>
                <a:rPr lang="en-US" altLang="zh-CN" sz="2800">
                  <a:latin typeface="Times New Roman" panose="02020603050405020304" pitchFamily="18" charset="0"/>
                </a:rPr>
                <a:t>100</a:t>
              </a:r>
            </a:p>
            <a:p>
              <a:pPr algn="just" eaLnBrk="1" hangingPunct="1">
                <a:lnSpc>
                  <a:spcPct val="90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2</a:t>
              </a:r>
              <a:r>
                <a:rPr lang="en-US" altLang="zh-CN" sz="2800">
                  <a:latin typeface="Times New Roman" panose="02020603050405020304" pitchFamily="18" charset="0"/>
                </a:rPr>
                <a:t>	4</a:t>
              </a:r>
              <a:r>
                <a:rPr lang="en-US" altLang="zh-CN" sz="2900" i="1" baseline="-30000">
                  <a:latin typeface="Times New Roman" panose="02020603050405020304" pitchFamily="18" charset="0"/>
                </a:rPr>
                <a:t>	</a:t>
              </a:r>
              <a:r>
                <a:rPr lang="en-US" altLang="zh-CN" sz="2800">
                  <a:latin typeface="Times New Roman" panose="02020603050405020304" pitchFamily="18" charset="0"/>
                </a:rPr>
                <a:t>500</a:t>
              </a:r>
            </a:p>
            <a:p>
              <a:pPr algn="just" eaLnBrk="1" hangingPunct="1">
                <a:lnSpc>
                  <a:spcPct val="90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1</a:t>
              </a:r>
              <a:r>
                <a:rPr lang="en-US" altLang="zh-CN" sz="2800">
                  <a:latin typeface="Times New Roman" panose="02020603050405020304" pitchFamily="18" charset="0"/>
                </a:rPr>
                <a:t>	-25     0</a:t>
              </a:r>
              <a:endParaRPr lang="en-US" altLang="zh-CN" sz="2900" baseline="-18000">
                <a:latin typeface="Times New Roman" panose="02020603050405020304" pitchFamily="18" charset="0"/>
              </a:endParaRPr>
            </a:p>
            <a:p>
              <a:pPr algn="just" eaLnBrk="1" hangingPunct="1">
                <a:lnSpc>
                  <a:spcPct val="90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0</a:t>
              </a:r>
              <a:r>
                <a:rPr lang="en-US" altLang="zh-CN" sz="2800">
                  <a:latin typeface="Times New Roman" panose="02020603050405020304" pitchFamily="18" charset="0"/>
                </a:rPr>
                <a:t>	500	0</a:t>
              </a:r>
              <a:endParaRPr lang="en-US" altLang="zh-CN" sz="2900" baseline="-18000">
                <a:latin typeface="Times New Roman" panose="02020603050405020304" pitchFamily="18" charset="0"/>
              </a:endParaRPr>
            </a:p>
          </p:txBody>
        </p:sp>
        <p:sp>
          <p:nvSpPr>
            <p:cNvPr id="28681" name="Line 11">
              <a:extLst>
                <a:ext uri="{FF2B5EF4-FFF2-40B4-BE49-F238E27FC236}">
                  <a16:creationId xmlns:a16="http://schemas.microsoft.com/office/drawing/2014/main" id="{B8C88777-A1CE-CA9A-36F4-A0A9B20ED9FD}"/>
                </a:ext>
              </a:extLst>
            </p:cNvPr>
            <p:cNvSpPr>
              <a:spLocks noChangeShapeType="1"/>
            </p:cNvSpPr>
            <p:nvPr/>
          </p:nvSpPr>
          <p:spPr bwMode="auto">
            <a:xfrm>
              <a:off x="1968" y="2976"/>
              <a:ext cx="0" cy="932"/>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5612" name="Rectangle 12">
            <a:extLst>
              <a:ext uri="{FF2B5EF4-FFF2-40B4-BE49-F238E27FC236}">
                <a16:creationId xmlns:a16="http://schemas.microsoft.com/office/drawing/2014/main" id="{3496FB08-485E-7802-E200-BCE1B1DD2F90}"/>
              </a:ext>
            </a:extLst>
          </p:cNvPr>
          <p:cNvSpPr>
            <a:spLocks noChangeArrowheads="1"/>
          </p:cNvSpPr>
          <p:nvPr/>
        </p:nvSpPr>
        <p:spPr bwMode="auto">
          <a:xfrm>
            <a:off x="4727575" y="3233738"/>
            <a:ext cx="3962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劳斯阵列第一列中元素符号改变了两次，表明系统具有两个正实部的极点，故系统不稳定。</a:t>
            </a:r>
          </a:p>
        </p:txBody>
      </p:sp>
      <p:sp>
        <p:nvSpPr>
          <p:cNvPr id="25613" name="Rectangle 13">
            <a:extLst>
              <a:ext uri="{FF2B5EF4-FFF2-40B4-BE49-F238E27FC236}">
                <a16:creationId xmlns:a16="http://schemas.microsoft.com/office/drawing/2014/main" id="{5A8ED22D-DC55-E3FA-B715-E91393324DDF}"/>
              </a:ext>
            </a:extLst>
          </p:cNvPr>
          <p:cNvSpPr>
            <a:spLocks noChangeArrowheads="1"/>
          </p:cNvSpPr>
          <p:nvPr/>
        </p:nvSpPr>
        <p:spPr bwMode="auto">
          <a:xfrm>
            <a:off x="1222375" y="5076825"/>
            <a:ext cx="7315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事实上系统包含了三个极点：</a:t>
            </a:r>
            <a:r>
              <a:rPr lang="en-US" altLang="zh-CN" sz="2800">
                <a:latin typeface="Times New Roman" panose="02020603050405020304" pitchFamily="18" charset="0"/>
              </a:rPr>
              <a:t>0.406+</a:t>
            </a:r>
            <a:r>
              <a:rPr lang="en-US" altLang="zh-CN" sz="2800" i="1">
                <a:latin typeface="Times New Roman" panose="02020603050405020304" pitchFamily="18" charset="0"/>
              </a:rPr>
              <a:t>j</a:t>
            </a:r>
            <a:r>
              <a:rPr lang="en-US" altLang="zh-CN" sz="2800">
                <a:latin typeface="Times New Roman" panose="02020603050405020304" pitchFamily="18" charset="0"/>
              </a:rPr>
              <a:t>10.185</a:t>
            </a:r>
            <a:r>
              <a:rPr lang="zh-CN" altLang="en-US" sz="2800">
                <a:latin typeface="Times New Roman" panose="02020603050405020304" pitchFamily="18" charset="0"/>
              </a:rPr>
              <a:t>、</a:t>
            </a:r>
          </a:p>
          <a:p>
            <a:pPr eaLnBrk="1" hangingPunct="1">
              <a:lnSpc>
                <a:spcPct val="115000"/>
              </a:lnSpc>
            </a:pPr>
            <a:r>
              <a:rPr lang="en-US" altLang="zh-CN" sz="2800">
                <a:latin typeface="Times New Roman" panose="02020603050405020304" pitchFamily="18" charset="0"/>
              </a:rPr>
              <a:t>0.406-</a:t>
            </a:r>
            <a:r>
              <a:rPr lang="en-US" altLang="zh-CN" sz="2800" i="1">
                <a:latin typeface="Times New Roman" panose="02020603050405020304" pitchFamily="18" charset="0"/>
              </a:rPr>
              <a:t>j</a:t>
            </a:r>
            <a:r>
              <a:rPr lang="en-US" altLang="zh-CN" sz="2800">
                <a:latin typeface="Times New Roman" panose="02020603050405020304" pitchFamily="18" charset="0"/>
              </a:rPr>
              <a:t>10.185</a:t>
            </a:r>
            <a:r>
              <a:rPr lang="zh-CN" altLang="en-US" sz="2800">
                <a:latin typeface="Times New Roman" panose="02020603050405020304" pitchFamily="18" charset="0"/>
              </a:rPr>
              <a:t>、 </a:t>
            </a:r>
            <a:r>
              <a:rPr lang="en-US" altLang="zh-CN" sz="2800">
                <a:latin typeface="Times New Roman" panose="02020603050405020304" pitchFamily="18" charset="0"/>
              </a:rPr>
              <a:t>-4.812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5608"/>
                                        </p:tgtEl>
                                        <p:attrNameLst>
                                          <p:attrName>style.visibility</p:attrName>
                                        </p:attrNameLst>
                                      </p:cBhvr>
                                      <p:to>
                                        <p:strVal val="visible"/>
                                      </p:to>
                                    </p:set>
                                    <p:anim calcmode="lin" valueType="num">
                                      <p:cBhvr additive="base">
                                        <p:cTn id="7" dur="500" fill="hold"/>
                                        <p:tgtEl>
                                          <p:spTgt spid="25608"/>
                                        </p:tgtEl>
                                        <p:attrNameLst>
                                          <p:attrName>ppt_x</p:attrName>
                                        </p:attrNameLst>
                                      </p:cBhvr>
                                      <p:tavLst>
                                        <p:tav tm="0">
                                          <p:val>
                                            <p:strVal val="#ppt_x"/>
                                          </p:val>
                                        </p:tav>
                                        <p:tav tm="100000">
                                          <p:val>
                                            <p:strVal val="#ppt_x"/>
                                          </p:val>
                                        </p:tav>
                                      </p:tavLst>
                                    </p:anim>
                                    <p:anim calcmode="lin" valueType="num">
                                      <p:cBhvr additive="base">
                                        <p:cTn id="8" dur="500" fill="hold"/>
                                        <p:tgtEl>
                                          <p:spTgt spid="2560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5612"/>
                                        </p:tgtEl>
                                        <p:attrNameLst>
                                          <p:attrName>style.visibility</p:attrName>
                                        </p:attrNameLst>
                                      </p:cBhvr>
                                      <p:to>
                                        <p:strVal val="visible"/>
                                      </p:to>
                                    </p:set>
                                    <p:anim calcmode="lin" valueType="num">
                                      <p:cBhvr additive="base">
                                        <p:cTn id="19" dur="500" fill="hold"/>
                                        <p:tgtEl>
                                          <p:spTgt spid="25612"/>
                                        </p:tgtEl>
                                        <p:attrNameLst>
                                          <p:attrName>ppt_x</p:attrName>
                                        </p:attrNameLst>
                                      </p:cBhvr>
                                      <p:tavLst>
                                        <p:tav tm="0">
                                          <p:val>
                                            <p:strVal val="#ppt_x"/>
                                          </p:val>
                                        </p:tav>
                                        <p:tav tm="100000">
                                          <p:val>
                                            <p:strVal val="#ppt_x"/>
                                          </p:val>
                                        </p:tav>
                                      </p:tavLst>
                                    </p:anim>
                                    <p:anim calcmode="lin" valueType="num">
                                      <p:cBhvr additive="base">
                                        <p:cTn id="20" dur="500" fill="hold"/>
                                        <p:tgtEl>
                                          <p:spTgt spid="2561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5613"/>
                                        </p:tgtEl>
                                        <p:attrNameLst>
                                          <p:attrName>style.visibility</p:attrName>
                                        </p:attrNameLst>
                                      </p:cBhvr>
                                      <p:to>
                                        <p:strVal val="visible"/>
                                      </p:to>
                                    </p:set>
                                    <p:anim calcmode="lin" valueType="num">
                                      <p:cBhvr additive="base">
                                        <p:cTn id="25" dur="500" fill="hold"/>
                                        <p:tgtEl>
                                          <p:spTgt spid="25613"/>
                                        </p:tgtEl>
                                        <p:attrNameLst>
                                          <p:attrName>ppt_x</p:attrName>
                                        </p:attrNameLst>
                                      </p:cBhvr>
                                      <p:tavLst>
                                        <p:tav tm="0">
                                          <p:val>
                                            <p:strVal val="#ppt_x"/>
                                          </p:val>
                                        </p:tav>
                                        <p:tav tm="100000">
                                          <p:val>
                                            <p:strVal val="#ppt_x"/>
                                          </p:val>
                                        </p:tav>
                                      </p:tavLst>
                                    </p:anim>
                                    <p:anim calcmode="lin" valueType="num">
                                      <p:cBhvr additive="base">
                                        <p:cTn id="26" dur="500" fill="hold"/>
                                        <p:tgtEl>
                                          <p:spTgt spid="25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8" grpId="0"/>
      <p:bldP spid="25612" grpId="0"/>
      <p:bldP spid="256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13">
            <a:extLst>
              <a:ext uri="{FF2B5EF4-FFF2-40B4-BE49-F238E27FC236}">
                <a16:creationId xmlns:a16="http://schemas.microsoft.com/office/drawing/2014/main" id="{7C48C58B-7ACE-CB32-F514-04085C17AFA1}"/>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FD3CE830-F693-4401-AE22-741CD114D871}" type="datetime1">
              <a:rPr lang="en-US" altLang="zh-CN" smtClean="0"/>
              <a:pPr/>
              <a:t>10/4/2025</a:t>
            </a:fld>
            <a:endParaRPr lang="en-US" altLang="zh-CN"/>
          </a:p>
        </p:txBody>
      </p:sp>
      <p:sp>
        <p:nvSpPr>
          <p:cNvPr id="30723" name="灯片编号占位符 15">
            <a:extLst>
              <a:ext uri="{FF2B5EF4-FFF2-40B4-BE49-F238E27FC236}">
                <a16:creationId xmlns:a16="http://schemas.microsoft.com/office/drawing/2014/main" id="{411C2544-BB7F-6A9B-0FB2-44EF5F87AC3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6E9B7BBD-CB76-4D11-8B61-4187C6D5B8FF}" type="slidenum">
              <a:rPr altLang="zh-CN"/>
              <a:pPr/>
              <a:t>16</a:t>
            </a:fld>
            <a:endParaRPr lang="zh-CN" altLang="zh-CN"/>
          </a:p>
        </p:txBody>
      </p:sp>
      <p:sp>
        <p:nvSpPr>
          <p:cNvPr id="30724" name="Rectangle 3">
            <a:extLst>
              <a:ext uri="{FF2B5EF4-FFF2-40B4-BE49-F238E27FC236}">
                <a16:creationId xmlns:a16="http://schemas.microsoft.com/office/drawing/2014/main" id="{C98C2830-5179-F1BD-489F-140C03F7EB3B}"/>
              </a:ext>
            </a:extLst>
          </p:cNvPr>
          <p:cNvSpPr>
            <a:spLocks noChangeArrowheads="1"/>
          </p:cNvSpPr>
          <p:nvPr/>
        </p:nvSpPr>
        <p:spPr bwMode="auto">
          <a:xfrm>
            <a:off x="990600" y="869950"/>
            <a:ext cx="716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低阶系统的劳斯稳定判据 </a:t>
            </a:r>
            <a:r>
              <a:rPr lang="zh-CN" altLang="en-US" sz="2800">
                <a:latin typeface="Times New Roman" panose="02020603050405020304" pitchFamily="18" charset="0"/>
              </a:rPr>
              <a:t> </a:t>
            </a:r>
          </a:p>
        </p:txBody>
      </p:sp>
      <p:sp>
        <p:nvSpPr>
          <p:cNvPr id="241668" name="Rectangle 4">
            <a:extLst>
              <a:ext uri="{FF2B5EF4-FFF2-40B4-BE49-F238E27FC236}">
                <a16:creationId xmlns:a16="http://schemas.microsoft.com/office/drawing/2014/main" id="{993EE1CB-25DF-A308-01DD-C90B62654353}"/>
              </a:ext>
            </a:extLst>
          </p:cNvPr>
          <p:cNvSpPr>
            <a:spLocks noChangeArrowheads="1"/>
          </p:cNvSpPr>
          <p:nvPr/>
        </p:nvSpPr>
        <p:spPr bwMode="auto">
          <a:xfrm>
            <a:off x="1371600" y="1797050"/>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宋体" panose="02010600030101010101" pitchFamily="2" charset="-122"/>
              </a:rPr>
              <a:t> </a:t>
            </a:r>
            <a:r>
              <a:rPr lang="zh-CN" altLang="en-US" sz="2800">
                <a:latin typeface="宋体" panose="02010600030101010101" pitchFamily="2" charset="-122"/>
              </a:rPr>
              <a:t>二阶系统</a:t>
            </a:r>
            <a:endParaRPr lang="zh-CN" altLang="en-US" sz="2800">
              <a:latin typeface="Times New Roman" panose="02020603050405020304" pitchFamily="18" charset="0"/>
            </a:endParaRPr>
          </a:p>
        </p:txBody>
      </p:sp>
      <p:graphicFrame>
        <p:nvGraphicFramePr>
          <p:cNvPr id="241669" name="Object 5">
            <a:extLst>
              <a:ext uri="{FF2B5EF4-FFF2-40B4-BE49-F238E27FC236}">
                <a16:creationId xmlns:a16="http://schemas.microsoft.com/office/drawing/2014/main" id="{8FEE95E0-24EA-ECCC-FD99-D07D95113143}"/>
              </a:ext>
            </a:extLst>
          </p:cNvPr>
          <p:cNvGraphicFramePr>
            <a:graphicFrameLocks noChangeAspect="1"/>
          </p:cNvGraphicFramePr>
          <p:nvPr/>
        </p:nvGraphicFramePr>
        <p:xfrm>
          <a:off x="1908175" y="2487613"/>
          <a:ext cx="3516313" cy="546100"/>
        </p:xfrm>
        <a:graphic>
          <a:graphicData uri="http://schemas.openxmlformats.org/presentationml/2006/ole">
            <mc:AlternateContent xmlns:mc="http://schemas.openxmlformats.org/markup-compatibility/2006">
              <mc:Choice xmlns:v="urn:schemas-microsoft-com:vml" Requires="v">
                <p:oleObj r:id="rId2" imgW="1612900" imgH="254000" progId="Equation.3">
                  <p:embed/>
                </p:oleObj>
              </mc:Choice>
              <mc:Fallback>
                <p:oleObj r:id="rId2" imgW="1612900" imgH="2540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2487613"/>
                        <a:ext cx="3516313"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6">
            <a:extLst>
              <a:ext uri="{FF2B5EF4-FFF2-40B4-BE49-F238E27FC236}">
                <a16:creationId xmlns:a16="http://schemas.microsoft.com/office/drawing/2014/main" id="{74C2496B-FD08-DA9C-1C74-13FBDF6D681E}"/>
              </a:ext>
            </a:extLst>
          </p:cNvPr>
          <p:cNvGrpSpPr>
            <a:grpSpLocks/>
          </p:cNvGrpSpPr>
          <p:nvPr/>
        </p:nvGrpSpPr>
        <p:grpSpPr bwMode="auto">
          <a:xfrm>
            <a:off x="1892300" y="3014663"/>
            <a:ext cx="3216275" cy="1968500"/>
            <a:chOff x="1190" y="2073"/>
            <a:chExt cx="2026" cy="1240"/>
          </a:xfrm>
        </p:grpSpPr>
        <p:sp>
          <p:nvSpPr>
            <p:cNvPr id="30731" name="Rectangle 7">
              <a:extLst>
                <a:ext uri="{FF2B5EF4-FFF2-40B4-BE49-F238E27FC236}">
                  <a16:creationId xmlns:a16="http://schemas.microsoft.com/office/drawing/2014/main" id="{06A5944D-865D-B535-2305-643081755222}"/>
                </a:ext>
              </a:extLst>
            </p:cNvPr>
            <p:cNvSpPr>
              <a:spLocks noChangeArrowheads="1"/>
            </p:cNvSpPr>
            <p:nvPr/>
          </p:nvSpPr>
          <p:spPr bwMode="auto">
            <a:xfrm>
              <a:off x="1190" y="2073"/>
              <a:ext cx="16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劳斯阵列为：</a:t>
              </a:r>
            </a:p>
          </p:txBody>
        </p:sp>
        <p:grpSp>
          <p:nvGrpSpPr>
            <p:cNvPr id="30732" name="Group 8">
              <a:extLst>
                <a:ext uri="{FF2B5EF4-FFF2-40B4-BE49-F238E27FC236}">
                  <a16:creationId xmlns:a16="http://schemas.microsoft.com/office/drawing/2014/main" id="{B6ED6B1E-7E44-2612-1442-971C579DCE38}"/>
                </a:ext>
              </a:extLst>
            </p:cNvPr>
            <p:cNvGrpSpPr>
              <a:grpSpLocks/>
            </p:cNvGrpSpPr>
            <p:nvPr/>
          </p:nvGrpSpPr>
          <p:grpSpPr bwMode="auto">
            <a:xfrm>
              <a:off x="1248" y="2448"/>
              <a:ext cx="1968" cy="865"/>
              <a:chOff x="1248" y="2448"/>
              <a:chExt cx="1968" cy="865"/>
            </a:xfrm>
          </p:grpSpPr>
          <p:sp>
            <p:nvSpPr>
              <p:cNvPr id="30733" name="Rectangle 9">
                <a:extLst>
                  <a:ext uri="{FF2B5EF4-FFF2-40B4-BE49-F238E27FC236}">
                    <a16:creationId xmlns:a16="http://schemas.microsoft.com/office/drawing/2014/main" id="{69CE6B0A-692F-25D8-5C18-53F725842253}"/>
                  </a:ext>
                </a:extLst>
              </p:cNvPr>
              <p:cNvSpPr>
                <a:spLocks noChangeArrowheads="1"/>
              </p:cNvSpPr>
              <p:nvPr/>
            </p:nvSpPr>
            <p:spPr bwMode="auto">
              <a:xfrm>
                <a:off x="1248" y="2448"/>
                <a:ext cx="1968"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r>
                  <a:rPr lang="en-US" altLang="zh-CN" sz="2800" i="1">
                    <a:latin typeface="Times New Roman" panose="02020603050405020304" pitchFamily="18" charset="0"/>
                  </a:rPr>
                  <a:t>s</a:t>
                </a:r>
                <a:r>
                  <a:rPr lang="en-US" altLang="zh-CN" sz="2900" baseline="22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0</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2</a:t>
                </a:r>
              </a:p>
              <a:p>
                <a:pPr algn="just"/>
                <a:r>
                  <a:rPr lang="en-US" altLang="zh-CN" sz="2800" i="1">
                    <a:latin typeface="Times New Roman" panose="02020603050405020304" pitchFamily="18" charset="0"/>
                  </a:rPr>
                  <a:t>s</a:t>
                </a:r>
                <a:r>
                  <a:rPr lang="en-US" altLang="zh-CN" sz="2900" baseline="22000">
                    <a:latin typeface="Times New Roman" panose="02020603050405020304" pitchFamily="18" charset="0"/>
                  </a:rPr>
                  <a:t>1</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1	</a:t>
                </a:r>
                <a:r>
                  <a:rPr lang="en-US" altLang="zh-CN" sz="2800">
                    <a:latin typeface="Times New Roman" panose="02020603050405020304" pitchFamily="18" charset="0"/>
                  </a:rPr>
                  <a:t>0</a:t>
                </a:r>
              </a:p>
              <a:p>
                <a:pPr algn="just"/>
                <a:r>
                  <a:rPr lang="en-US" altLang="zh-CN" sz="2800" i="1">
                    <a:latin typeface="Times New Roman" panose="02020603050405020304" pitchFamily="18" charset="0"/>
                  </a:rPr>
                  <a:t>s</a:t>
                </a:r>
                <a:r>
                  <a:rPr lang="en-US" altLang="zh-CN" sz="2900" baseline="22000">
                    <a:latin typeface="Times New Roman" panose="02020603050405020304" pitchFamily="18" charset="0"/>
                  </a:rPr>
                  <a:t>0</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2</a:t>
                </a:r>
              </a:p>
            </p:txBody>
          </p:sp>
          <p:sp>
            <p:nvSpPr>
              <p:cNvPr id="30734" name="Line 10">
                <a:extLst>
                  <a:ext uri="{FF2B5EF4-FFF2-40B4-BE49-F238E27FC236}">
                    <a16:creationId xmlns:a16="http://schemas.microsoft.com/office/drawing/2014/main" id="{052F0028-2BEA-C919-2D5A-3E2CD9C149C5}"/>
                  </a:ext>
                </a:extLst>
              </p:cNvPr>
              <p:cNvSpPr>
                <a:spLocks noChangeShapeType="1"/>
              </p:cNvSpPr>
              <p:nvPr/>
            </p:nvSpPr>
            <p:spPr bwMode="auto">
              <a:xfrm>
                <a:off x="1680" y="2544"/>
                <a:ext cx="0" cy="76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 name="Group 11">
            <a:extLst>
              <a:ext uri="{FF2B5EF4-FFF2-40B4-BE49-F238E27FC236}">
                <a16:creationId xmlns:a16="http://schemas.microsoft.com/office/drawing/2014/main" id="{9E22C619-36B3-3BD9-2032-2AAC99802B4E}"/>
              </a:ext>
            </a:extLst>
          </p:cNvPr>
          <p:cNvGrpSpPr>
            <a:grpSpLocks/>
          </p:cNvGrpSpPr>
          <p:nvPr/>
        </p:nvGrpSpPr>
        <p:grpSpPr bwMode="auto">
          <a:xfrm>
            <a:off x="1901825" y="5072063"/>
            <a:ext cx="5873750" cy="1128712"/>
            <a:chOff x="1196" y="3369"/>
            <a:chExt cx="3700" cy="711"/>
          </a:xfrm>
        </p:grpSpPr>
        <p:sp>
          <p:nvSpPr>
            <p:cNvPr id="30729" name="Rectangle 12">
              <a:extLst>
                <a:ext uri="{FF2B5EF4-FFF2-40B4-BE49-F238E27FC236}">
                  <a16:creationId xmlns:a16="http://schemas.microsoft.com/office/drawing/2014/main" id="{08279677-33B0-34BB-B4E6-4188010B59BB}"/>
                </a:ext>
              </a:extLst>
            </p:cNvPr>
            <p:cNvSpPr>
              <a:spLocks noChangeArrowheads="1"/>
            </p:cNvSpPr>
            <p:nvPr/>
          </p:nvSpPr>
          <p:spPr bwMode="auto">
            <a:xfrm>
              <a:off x="1614" y="3753"/>
              <a:ext cx="18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0</a:t>
              </a:r>
              <a:r>
                <a:rPr lang="en-US" altLang="zh-CN" sz="2800">
                  <a:solidFill>
                    <a:srgbClr val="FF0000"/>
                  </a:solidFill>
                  <a:latin typeface="Times New Roman" panose="02020603050405020304" pitchFamily="18" charset="0"/>
                </a:rPr>
                <a:t>&gt;0</a:t>
              </a:r>
              <a:r>
                <a:rPr lang="zh-CN" altLang="en-US" sz="2800">
                  <a:solidFill>
                    <a:srgbClr val="FF0000"/>
                  </a:solidFill>
                  <a:latin typeface="宋体" panose="02010600030101010101" pitchFamily="2" charset="-122"/>
                </a:rPr>
                <a:t>，</a:t>
              </a:r>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1</a:t>
              </a:r>
              <a:r>
                <a:rPr lang="en-US" altLang="zh-CN" sz="2800">
                  <a:solidFill>
                    <a:srgbClr val="FF0000"/>
                  </a:solidFill>
                  <a:latin typeface="Times New Roman" panose="02020603050405020304" pitchFamily="18" charset="0"/>
                </a:rPr>
                <a:t>&gt;0</a:t>
              </a:r>
              <a:r>
                <a:rPr lang="zh-CN" altLang="en-US" sz="2800">
                  <a:solidFill>
                    <a:srgbClr val="FF0000"/>
                  </a:solidFill>
                  <a:latin typeface="宋体" panose="02010600030101010101" pitchFamily="2" charset="-122"/>
                </a:rPr>
                <a:t>，</a:t>
              </a:r>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2</a:t>
              </a:r>
              <a:r>
                <a:rPr lang="en-US" altLang="zh-CN" sz="2800">
                  <a:solidFill>
                    <a:srgbClr val="FF0000"/>
                  </a:solidFill>
                  <a:latin typeface="Times New Roman" panose="02020603050405020304" pitchFamily="18" charset="0"/>
                </a:rPr>
                <a:t>&gt;0</a:t>
              </a:r>
            </a:p>
          </p:txBody>
        </p:sp>
        <p:sp>
          <p:nvSpPr>
            <p:cNvPr id="30730" name="Rectangle 13">
              <a:extLst>
                <a:ext uri="{FF2B5EF4-FFF2-40B4-BE49-F238E27FC236}">
                  <a16:creationId xmlns:a16="http://schemas.microsoft.com/office/drawing/2014/main" id="{F745F687-DE00-159C-4A39-73B299DAEDD4}"/>
                </a:ext>
              </a:extLst>
            </p:cNvPr>
            <p:cNvSpPr>
              <a:spLocks noChangeArrowheads="1"/>
            </p:cNvSpPr>
            <p:nvPr/>
          </p:nvSpPr>
          <p:spPr bwMode="auto">
            <a:xfrm>
              <a:off x="1196" y="3369"/>
              <a:ext cx="37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宋体" panose="02010600030101010101" pitchFamily="2" charset="-122"/>
                </a:rPr>
                <a:t>从而，二阶系统稳定的充要条件为：</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1668"/>
                                        </p:tgtEl>
                                        <p:attrNameLst>
                                          <p:attrName>style.visibility</p:attrName>
                                        </p:attrNameLst>
                                      </p:cBhvr>
                                      <p:to>
                                        <p:strVal val="visible"/>
                                      </p:to>
                                    </p:set>
                                    <p:anim calcmode="lin" valueType="num">
                                      <p:cBhvr additive="base">
                                        <p:cTn id="7" dur="500" fill="hold"/>
                                        <p:tgtEl>
                                          <p:spTgt spid="241668"/>
                                        </p:tgtEl>
                                        <p:attrNameLst>
                                          <p:attrName>ppt_x</p:attrName>
                                        </p:attrNameLst>
                                      </p:cBhvr>
                                      <p:tavLst>
                                        <p:tav tm="0">
                                          <p:val>
                                            <p:strVal val="#ppt_x"/>
                                          </p:val>
                                        </p:tav>
                                        <p:tav tm="100000">
                                          <p:val>
                                            <p:strVal val="#ppt_x"/>
                                          </p:val>
                                        </p:tav>
                                      </p:tavLst>
                                    </p:anim>
                                    <p:anim calcmode="lin" valueType="num">
                                      <p:cBhvr additive="base">
                                        <p:cTn id="8" dur="500" fill="hold"/>
                                        <p:tgtEl>
                                          <p:spTgt spid="24166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1669"/>
                                        </p:tgtEl>
                                        <p:attrNameLst>
                                          <p:attrName>style.visibility</p:attrName>
                                        </p:attrNameLst>
                                      </p:cBhvr>
                                      <p:to>
                                        <p:strVal val="visible"/>
                                      </p:to>
                                    </p:set>
                                    <p:anim calcmode="lin" valueType="num">
                                      <p:cBhvr additive="base">
                                        <p:cTn id="13" dur="500" fill="hold"/>
                                        <p:tgtEl>
                                          <p:spTgt spid="241669"/>
                                        </p:tgtEl>
                                        <p:attrNameLst>
                                          <p:attrName>ppt_x</p:attrName>
                                        </p:attrNameLst>
                                      </p:cBhvr>
                                      <p:tavLst>
                                        <p:tav tm="0">
                                          <p:val>
                                            <p:strVal val="#ppt_x"/>
                                          </p:val>
                                        </p:tav>
                                        <p:tav tm="100000">
                                          <p:val>
                                            <p:strVal val="#ppt_x"/>
                                          </p:val>
                                        </p:tav>
                                      </p:tavLst>
                                    </p:anim>
                                    <p:anim calcmode="lin" valueType="num">
                                      <p:cBhvr additive="base">
                                        <p:cTn id="14" dur="500" fill="hold"/>
                                        <p:tgtEl>
                                          <p:spTgt spid="24166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13">
            <a:extLst>
              <a:ext uri="{FF2B5EF4-FFF2-40B4-BE49-F238E27FC236}">
                <a16:creationId xmlns:a16="http://schemas.microsoft.com/office/drawing/2014/main" id="{DBF40408-67A1-F9E8-E16C-63E743106E00}"/>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6999E8D-2234-4862-A7A4-22648990710F}" type="datetime1">
              <a:rPr lang="en-US" altLang="zh-CN" smtClean="0"/>
              <a:pPr/>
              <a:t>10/4/2025</a:t>
            </a:fld>
            <a:endParaRPr lang="en-US" altLang="zh-CN"/>
          </a:p>
        </p:txBody>
      </p:sp>
      <p:sp>
        <p:nvSpPr>
          <p:cNvPr id="31747" name="灯片编号占位符 15">
            <a:extLst>
              <a:ext uri="{FF2B5EF4-FFF2-40B4-BE49-F238E27FC236}">
                <a16:creationId xmlns:a16="http://schemas.microsoft.com/office/drawing/2014/main" id="{B5797E96-481E-6F61-894B-D3A1051BE22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fld id="{35132A95-69CB-48AC-B34D-A955FC944337}" type="slidenum">
              <a:rPr altLang="zh-CN"/>
              <a:pPr/>
              <a:t>17</a:t>
            </a:fld>
            <a:endParaRPr lang="zh-CN" altLang="zh-CN"/>
          </a:p>
        </p:txBody>
      </p:sp>
      <p:sp>
        <p:nvSpPr>
          <p:cNvPr id="31748" name="Rectangle 3">
            <a:extLst>
              <a:ext uri="{FF2B5EF4-FFF2-40B4-BE49-F238E27FC236}">
                <a16:creationId xmlns:a16="http://schemas.microsoft.com/office/drawing/2014/main" id="{B156E709-6734-6EA0-DAB1-93AA4A662B3B}"/>
              </a:ext>
            </a:extLst>
          </p:cNvPr>
          <p:cNvSpPr>
            <a:spLocks noChangeArrowheads="1"/>
          </p:cNvSpPr>
          <p:nvPr/>
        </p:nvSpPr>
        <p:spPr bwMode="auto">
          <a:xfrm>
            <a:off x="1120775" y="889000"/>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宋体" panose="02010600030101010101" pitchFamily="2" charset="-122"/>
              </a:rPr>
              <a:t> </a:t>
            </a:r>
            <a:r>
              <a:rPr lang="zh-CN" altLang="en-US" sz="2800">
                <a:latin typeface="宋体" panose="02010600030101010101" pitchFamily="2" charset="-122"/>
              </a:rPr>
              <a:t>三阶系统</a:t>
            </a:r>
            <a:endParaRPr lang="zh-CN" altLang="en-US" sz="2800">
              <a:latin typeface="Times New Roman" panose="02020603050405020304" pitchFamily="18" charset="0"/>
            </a:endParaRPr>
          </a:p>
        </p:txBody>
      </p:sp>
      <p:graphicFrame>
        <p:nvGraphicFramePr>
          <p:cNvPr id="242692" name="Object 4">
            <a:extLst>
              <a:ext uri="{FF2B5EF4-FFF2-40B4-BE49-F238E27FC236}">
                <a16:creationId xmlns:a16="http://schemas.microsoft.com/office/drawing/2014/main" id="{7800C437-17C6-F896-EDB5-E1DC822BC37F}"/>
              </a:ext>
            </a:extLst>
          </p:cNvPr>
          <p:cNvGraphicFramePr>
            <a:graphicFrameLocks noChangeAspect="1"/>
          </p:cNvGraphicFramePr>
          <p:nvPr/>
        </p:nvGraphicFramePr>
        <p:xfrm>
          <a:off x="1908175" y="1682750"/>
          <a:ext cx="4184650" cy="523875"/>
        </p:xfrm>
        <a:graphic>
          <a:graphicData uri="http://schemas.openxmlformats.org/presentationml/2006/ole">
            <mc:AlternateContent xmlns:mc="http://schemas.openxmlformats.org/markup-compatibility/2006">
              <mc:Choice xmlns:v="urn:schemas-microsoft-com:vml" Requires="v">
                <p:oleObj r:id="rId2" imgW="2019300" imgH="254000" progId="Equation.3">
                  <p:embed/>
                </p:oleObj>
              </mc:Choice>
              <mc:Fallback>
                <p:oleObj r:id="rId2" imgW="2019300" imgH="2540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1682750"/>
                        <a:ext cx="4184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5">
            <a:extLst>
              <a:ext uri="{FF2B5EF4-FFF2-40B4-BE49-F238E27FC236}">
                <a16:creationId xmlns:a16="http://schemas.microsoft.com/office/drawing/2014/main" id="{7C42A51A-B70C-9828-6C65-F07716F4F8EA}"/>
              </a:ext>
            </a:extLst>
          </p:cNvPr>
          <p:cNvGrpSpPr>
            <a:grpSpLocks/>
          </p:cNvGrpSpPr>
          <p:nvPr/>
        </p:nvGrpSpPr>
        <p:grpSpPr bwMode="auto">
          <a:xfrm>
            <a:off x="1825625" y="2230438"/>
            <a:ext cx="4876800" cy="2573337"/>
            <a:chOff x="1152" y="1497"/>
            <a:chExt cx="3072" cy="1621"/>
          </a:xfrm>
        </p:grpSpPr>
        <p:sp>
          <p:nvSpPr>
            <p:cNvPr id="31754" name="Rectangle 6">
              <a:extLst>
                <a:ext uri="{FF2B5EF4-FFF2-40B4-BE49-F238E27FC236}">
                  <a16:creationId xmlns:a16="http://schemas.microsoft.com/office/drawing/2014/main" id="{EE64D97F-A98E-60EB-CFE6-39A3E5D29892}"/>
                </a:ext>
              </a:extLst>
            </p:cNvPr>
            <p:cNvSpPr>
              <a:spLocks noChangeArrowheads="1"/>
            </p:cNvSpPr>
            <p:nvPr/>
          </p:nvSpPr>
          <p:spPr bwMode="auto">
            <a:xfrm>
              <a:off x="1152" y="1497"/>
              <a:ext cx="16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劳斯阵列为：</a:t>
              </a:r>
            </a:p>
          </p:txBody>
        </p:sp>
        <p:grpSp>
          <p:nvGrpSpPr>
            <p:cNvPr id="31755" name="Group 7">
              <a:extLst>
                <a:ext uri="{FF2B5EF4-FFF2-40B4-BE49-F238E27FC236}">
                  <a16:creationId xmlns:a16="http://schemas.microsoft.com/office/drawing/2014/main" id="{F6A692AA-A6B4-26B6-84C5-38E203F70EB1}"/>
                </a:ext>
              </a:extLst>
            </p:cNvPr>
            <p:cNvGrpSpPr>
              <a:grpSpLocks/>
            </p:cNvGrpSpPr>
            <p:nvPr/>
          </p:nvGrpSpPr>
          <p:grpSpPr bwMode="auto">
            <a:xfrm>
              <a:off x="1200" y="1824"/>
              <a:ext cx="3024" cy="1294"/>
              <a:chOff x="1200" y="1920"/>
              <a:chExt cx="3024" cy="1294"/>
            </a:xfrm>
          </p:grpSpPr>
          <p:sp>
            <p:nvSpPr>
              <p:cNvPr id="31756" name="Rectangle 8">
                <a:extLst>
                  <a:ext uri="{FF2B5EF4-FFF2-40B4-BE49-F238E27FC236}">
                    <a16:creationId xmlns:a16="http://schemas.microsoft.com/office/drawing/2014/main" id="{1E09918E-43F7-C1E2-FA2E-A66D2F0A0752}"/>
                  </a:ext>
                </a:extLst>
              </p:cNvPr>
              <p:cNvSpPr>
                <a:spLocks noChangeArrowheads="1"/>
              </p:cNvSpPr>
              <p:nvPr/>
            </p:nvSpPr>
            <p:spPr bwMode="auto">
              <a:xfrm>
                <a:off x="1200" y="1920"/>
                <a:ext cx="3024" cy="1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15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3</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0</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2</a:t>
                </a:r>
              </a:p>
              <a:p>
                <a:pPr algn="just">
                  <a:lnSpc>
                    <a:spcPct val="115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1</a:t>
                </a:r>
                <a:r>
                  <a:rPr lang="en-US" altLang="zh-CN" sz="2900" i="1" baseline="-300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3</a:t>
                </a:r>
              </a:p>
              <a:p>
                <a:pPr algn="just">
                  <a:lnSpc>
                    <a:spcPct val="115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1</a:t>
                </a:r>
                <a:r>
                  <a:rPr lang="en-US" altLang="zh-CN" sz="2800">
                    <a:latin typeface="Times New Roman" panose="02020603050405020304" pitchFamily="18" charset="0"/>
                  </a:rPr>
                  <a:t>	         			0</a:t>
                </a:r>
              </a:p>
              <a:p>
                <a:pPr algn="just">
                  <a:lnSpc>
                    <a:spcPct val="115000"/>
                  </a:lnSpc>
                </a:pPr>
                <a:r>
                  <a:rPr lang="en-US" altLang="zh-CN" sz="2800" i="1">
                    <a:latin typeface="Times New Roman" panose="02020603050405020304" pitchFamily="18" charset="0"/>
                  </a:rPr>
                  <a:t>s</a:t>
                </a:r>
                <a:r>
                  <a:rPr lang="en-US" altLang="zh-CN" sz="2900" baseline="30000">
                    <a:latin typeface="Times New Roman" panose="02020603050405020304" pitchFamily="18" charset="0"/>
                  </a:rPr>
                  <a:t>0	</a:t>
                </a:r>
                <a:r>
                  <a:rPr lang="en-US" altLang="zh-CN" sz="2800">
                    <a:latin typeface="Times New Roman" panose="02020603050405020304" pitchFamily="18" charset="0"/>
                  </a:rPr>
                  <a:t>	</a:t>
                </a:r>
                <a:r>
                  <a:rPr lang="en-US" altLang="zh-CN" sz="2800" i="1">
                    <a:latin typeface="Times New Roman" panose="02020603050405020304" pitchFamily="18" charset="0"/>
                  </a:rPr>
                  <a:t>a</a:t>
                </a:r>
                <a:r>
                  <a:rPr lang="en-US" altLang="zh-CN" sz="2900" baseline="-18000">
                    <a:latin typeface="Times New Roman" panose="02020603050405020304" pitchFamily="18" charset="0"/>
                  </a:rPr>
                  <a:t>3</a:t>
                </a:r>
              </a:p>
            </p:txBody>
          </p:sp>
          <p:graphicFrame>
            <p:nvGraphicFramePr>
              <p:cNvPr id="31757" name="Object 9">
                <a:extLst>
                  <a:ext uri="{FF2B5EF4-FFF2-40B4-BE49-F238E27FC236}">
                    <a16:creationId xmlns:a16="http://schemas.microsoft.com/office/drawing/2014/main" id="{068ED450-59D3-ADC6-F272-7F048A03BD2B}"/>
                  </a:ext>
                </a:extLst>
              </p:cNvPr>
              <p:cNvGraphicFramePr>
                <a:graphicFrameLocks noChangeAspect="1"/>
              </p:cNvGraphicFramePr>
              <p:nvPr/>
            </p:nvGraphicFramePr>
            <p:xfrm>
              <a:off x="1942" y="2607"/>
              <a:ext cx="1299" cy="305"/>
            </p:xfrm>
            <a:graphic>
              <a:graphicData uri="http://schemas.openxmlformats.org/presentationml/2006/ole">
                <mc:AlternateContent xmlns:mc="http://schemas.openxmlformats.org/markup-compatibility/2006">
                  <mc:Choice xmlns:v="urn:schemas-microsoft-com:vml" Requires="v">
                    <p:oleObj r:id="rId4" imgW="1040948" imgH="228501" progId="Equation.3">
                      <p:embed/>
                    </p:oleObj>
                  </mc:Choice>
                  <mc:Fallback>
                    <p:oleObj r:id="rId4" imgW="1040948" imgH="228501"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2" y="2607"/>
                            <a:ext cx="1299"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58" name="Line 10">
                <a:extLst>
                  <a:ext uri="{FF2B5EF4-FFF2-40B4-BE49-F238E27FC236}">
                    <a16:creationId xmlns:a16="http://schemas.microsoft.com/office/drawing/2014/main" id="{DC53C4BF-34C8-E4F1-E59E-A802DBB417F6}"/>
                  </a:ext>
                </a:extLst>
              </p:cNvPr>
              <p:cNvSpPr>
                <a:spLocks noChangeShapeType="1"/>
              </p:cNvSpPr>
              <p:nvPr/>
            </p:nvSpPr>
            <p:spPr bwMode="auto">
              <a:xfrm>
                <a:off x="1680" y="2016"/>
                <a:ext cx="0" cy="1152"/>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 name="Group 11">
            <a:extLst>
              <a:ext uri="{FF2B5EF4-FFF2-40B4-BE49-F238E27FC236}">
                <a16:creationId xmlns:a16="http://schemas.microsoft.com/office/drawing/2014/main" id="{EE370818-B40C-FA6E-724E-B9B0AA78164A}"/>
              </a:ext>
            </a:extLst>
          </p:cNvPr>
          <p:cNvGrpSpPr>
            <a:grpSpLocks/>
          </p:cNvGrpSpPr>
          <p:nvPr/>
        </p:nvGrpSpPr>
        <p:grpSpPr bwMode="auto">
          <a:xfrm>
            <a:off x="1825625" y="4745038"/>
            <a:ext cx="6248400" cy="1516062"/>
            <a:chOff x="1152" y="3081"/>
            <a:chExt cx="3936" cy="955"/>
          </a:xfrm>
        </p:grpSpPr>
        <p:sp>
          <p:nvSpPr>
            <p:cNvPr id="31752" name="Rectangle 12">
              <a:extLst>
                <a:ext uri="{FF2B5EF4-FFF2-40B4-BE49-F238E27FC236}">
                  <a16:creationId xmlns:a16="http://schemas.microsoft.com/office/drawing/2014/main" id="{4C889736-7E5B-EDAD-B891-3A6BF9C3763A}"/>
                </a:ext>
              </a:extLst>
            </p:cNvPr>
            <p:cNvSpPr>
              <a:spLocks noChangeArrowheads="1"/>
            </p:cNvSpPr>
            <p:nvPr/>
          </p:nvSpPr>
          <p:spPr bwMode="auto">
            <a:xfrm>
              <a:off x="1152" y="3081"/>
              <a:ext cx="37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2800">
                  <a:latin typeface="宋体" panose="02010600030101010101" pitchFamily="2" charset="-122"/>
                </a:rPr>
                <a:t>从而，三阶系统稳定的充要条件为：</a:t>
              </a:r>
            </a:p>
          </p:txBody>
        </p:sp>
        <p:sp>
          <p:nvSpPr>
            <p:cNvPr id="31753" name="Rectangle 13">
              <a:extLst>
                <a:ext uri="{FF2B5EF4-FFF2-40B4-BE49-F238E27FC236}">
                  <a16:creationId xmlns:a16="http://schemas.microsoft.com/office/drawing/2014/main" id="{D691E3A2-680E-037C-AC51-424DFC144B74}"/>
                </a:ext>
              </a:extLst>
            </p:cNvPr>
            <p:cNvSpPr>
              <a:spLocks noChangeArrowheads="1"/>
            </p:cNvSpPr>
            <p:nvPr/>
          </p:nvSpPr>
          <p:spPr bwMode="auto">
            <a:xfrm>
              <a:off x="1152" y="3360"/>
              <a:ext cx="3936"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solidFill>
                    <a:srgbClr val="FF0000"/>
                  </a:solidFill>
                  <a:latin typeface="宋体" panose="02010600030101010101" pitchFamily="2" charset="-122"/>
                </a:rPr>
                <a:t>特征方程的各项系数大于零，且：</a:t>
              </a:r>
            </a:p>
            <a:p>
              <a:pPr eaLnBrk="1" hangingPunct="1">
                <a:lnSpc>
                  <a:spcPct val="115000"/>
                </a:lnSpc>
              </a:pPr>
              <a:r>
                <a:rPr lang="zh-CN" altLang="en-US" sz="2800" i="1">
                  <a:solidFill>
                    <a:srgbClr val="FF0000"/>
                  </a:solidFill>
                  <a:latin typeface="Times New Roman" panose="02020603050405020304" pitchFamily="18" charset="0"/>
                </a:rPr>
                <a:t>                  </a:t>
              </a:r>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1</a:t>
              </a:r>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2</a:t>
              </a:r>
              <a:r>
                <a:rPr lang="en-US" altLang="zh-CN" sz="2800">
                  <a:solidFill>
                    <a:srgbClr val="FF0000"/>
                  </a:solidFill>
                  <a:latin typeface="宋体" panose="02010600030101010101" pitchFamily="2" charset="-122"/>
                </a:rPr>
                <a:t>-</a:t>
              </a:r>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0</a:t>
              </a:r>
              <a:r>
                <a:rPr lang="en-US" altLang="zh-CN" sz="2800" i="1">
                  <a:solidFill>
                    <a:srgbClr val="FF0000"/>
                  </a:solidFill>
                  <a:latin typeface="Times New Roman" panose="02020603050405020304" pitchFamily="18" charset="0"/>
                </a:rPr>
                <a:t>a</a:t>
              </a:r>
              <a:r>
                <a:rPr lang="en-US" altLang="zh-CN" sz="2900" baseline="-18000">
                  <a:solidFill>
                    <a:srgbClr val="FF0000"/>
                  </a:solidFill>
                  <a:latin typeface="Times New Roman" panose="02020603050405020304" pitchFamily="18" charset="0"/>
                </a:rPr>
                <a:t>3</a:t>
              </a:r>
              <a:r>
                <a:rPr lang="en-US" altLang="zh-CN" sz="2800">
                  <a:solidFill>
                    <a:srgbClr val="FF0000"/>
                  </a:solidFill>
                  <a:latin typeface="Times New Roman" panose="02020603050405020304" pitchFamily="18" charset="0"/>
                </a:rPr>
                <a:t>&gt;0 </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2692"/>
                                        </p:tgtEl>
                                        <p:attrNameLst>
                                          <p:attrName>style.visibility</p:attrName>
                                        </p:attrNameLst>
                                      </p:cBhvr>
                                      <p:to>
                                        <p:strVal val="visible"/>
                                      </p:to>
                                    </p:set>
                                    <p:anim calcmode="lin" valueType="num">
                                      <p:cBhvr additive="base">
                                        <p:cTn id="7" dur="500" fill="hold"/>
                                        <p:tgtEl>
                                          <p:spTgt spid="242692"/>
                                        </p:tgtEl>
                                        <p:attrNameLst>
                                          <p:attrName>ppt_x</p:attrName>
                                        </p:attrNameLst>
                                      </p:cBhvr>
                                      <p:tavLst>
                                        <p:tav tm="0">
                                          <p:val>
                                            <p:strVal val="#ppt_x"/>
                                          </p:val>
                                        </p:tav>
                                        <p:tav tm="100000">
                                          <p:val>
                                            <p:strVal val="#ppt_x"/>
                                          </p:val>
                                        </p:tav>
                                      </p:tavLst>
                                    </p:anim>
                                    <p:anim calcmode="lin" valueType="num">
                                      <p:cBhvr additive="base">
                                        <p:cTn id="8" dur="500" fill="hold"/>
                                        <p:tgtEl>
                                          <p:spTgt spid="2426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975AFD97-1732-6A37-DCC4-4C339AEF9A4F}"/>
              </a:ext>
            </a:extLst>
          </p:cNvPr>
          <p:cNvSpPr>
            <a:spLocks noChangeArrowheads="1"/>
          </p:cNvSpPr>
          <p:nvPr/>
        </p:nvSpPr>
        <p:spPr bwMode="auto">
          <a:xfrm>
            <a:off x="1258888" y="1052513"/>
            <a:ext cx="7162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b="1">
                <a:latin typeface="宋体" panose="02010600030101010101" pitchFamily="2" charset="-122"/>
              </a:rPr>
              <a:t> </a:t>
            </a:r>
            <a:r>
              <a:rPr lang="zh-CN" altLang="en-US" sz="2800" b="1">
                <a:latin typeface="宋体" panose="02010600030101010101" pitchFamily="2" charset="-122"/>
              </a:rPr>
              <a:t>劳斯阵列的特殊情况 </a:t>
            </a:r>
            <a:r>
              <a:rPr lang="zh-CN" altLang="en-US" sz="2800" b="1">
                <a:latin typeface="Times New Roman" panose="02020603050405020304" pitchFamily="18" charset="0"/>
              </a:rPr>
              <a:t> </a:t>
            </a:r>
          </a:p>
        </p:txBody>
      </p:sp>
      <p:sp>
        <p:nvSpPr>
          <p:cNvPr id="32772" name="Rectangle 4">
            <a:extLst>
              <a:ext uri="{FF2B5EF4-FFF2-40B4-BE49-F238E27FC236}">
                <a16:creationId xmlns:a16="http://schemas.microsoft.com/office/drawing/2014/main" id="{C59D5039-B787-BB06-D855-36672575E360}"/>
              </a:ext>
            </a:extLst>
          </p:cNvPr>
          <p:cNvSpPr>
            <a:spLocks noChangeArrowheads="1"/>
          </p:cNvSpPr>
          <p:nvPr/>
        </p:nvSpPr>
        <p:spPr bwMode="auto">
          <a:xfrm>
            <a:off x="1403350" y="1628775"/>
            <a:ext cx="7010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宋体" panose="02010600030101010101" pitchFamily="2" charset="-122"/>
              </a:rPr>
              <a:t> </a:t>
            </a:r>
            <a:r>
              <a:rPr lang="zh-CN" altLang="en-US" sz="2800">
                <a:latin typeface="宋体" panose="02010600030101010101" pitchFamily="2" charset="-122"/>
              </a:rPr>
              <a:t>劳斯阵列表某一行中的第一列元素等于</a:t>
            </a:r>
          </a:p>
          <a:p>
            <a:pPr eaLnBrk="1" hangingPunct="1"/>
            <a:r>
              <a:rPr lang="zh-CN" altLang="en-US" sz="2800">
                <a:latin typeface="宋体" panose="02010600030101010101" pitchFamily="2" charset="-122"/>
              </a:rPr>
              <a:t>   零，但其余各项不等于零或不全为零。</a:t>
            </a:r>
          </a:p>
        </p:txBody>
      </p:sp>
      <p:sp>
        <p:nvSpPr>
          <p:cNvPr id="32773" name="Rectangle 5">
            <a:extLst>
              <a:ext uri="{FF2B5EF4-FFF2-40B4-BE49-F238E27FC236}">
                <a16:creationId xmlns:a16="http://schemas.microsoft.com/office/drawing/2014/main" id="{C45EF025-5BC5-72C0-7578-081E23540C56}"/>
              </a:ext>
            </a:extLst>
          </p:cNvPr>
          <p:cNvSpPr>
            <a:spLocks noChangeArrowheads="1"/>
          </p:cNvSpPr>
          <p:nvPr/>
        </p:nvSpPr>
        <p:spPr bwMode="auto">
          <a:xfrm>
            <a:off x="1403350" y="2551113"/>
            <a:ext cx="72009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solidFill>
                  <a:srgbClr val="FF0000"/>
                </a:solidFill>
                <a:latin typeface="宋体" panose="02010600030101010101" pitchFamily="2" charset="-122"/>
              </a:rPr>
              <a:t>处理方法</a:t>
            </a:r>
            <a:r>
              <a:rPr lang="zh-CN" altLang="en-US" sz="2800">
                <a:latin typeface="宋体" panose="02010600030101010101" pitchFamily="2" charset="-122"/>
              </a:rPr>
              <a:t>：用一个很小的正数</a:t>
            </a:r>
            <a:r>
              <a:rPr lang="zh-CN" altLang="en-US" sz="2800">
                <a:latin typeface="Times New Roman" panose="02020603050405020304" pitchFamily="18" charset="0"/>
              </a:rPr>
              <a:t> </a:t>
            </a:r>
            <a:r>
              <a:rPr lang="zh-CN" altLang="en-US" sz="2800" i="1">
                <a:latin typeface="Times New Roman" panose="02020603050405020304" pitchFamily="18" charset="0"/>
                <a:sym typeface="Symbol" panose="05050102010706020507" pitchFamily="18" charset="2"/>
              </a:rPr>
              <a:t></a:t>
            </a:r>
            <a:r>
              <a:rPr lang="zh-CN" altLang="en-US" sz="2800" i="1">
                <a:latin typeface="Times New Roman" panose="02020603050405020304" pitchFamily="18" charset="0"/>
              </a:rPr>
              <a:t>  </a:t>
            </a:r>
            <a:r>
              <a:rPr lang="zh-CN" altLang="en-US" sz="2800">
                <a:latin typeface="宋体" panose="02010600030101010101" pitchFamily="2" charset="-122"/>
              </a:rPr>
              <a:t>代替该行第一列的零，并据此计算出阵列中的其余</a:t>
            </a:r>
          </a:p>
          <a:p>
            <a:pPr eaLnBrk="1" hangingPunct="1">
              <a:lnSpc>
                <a:spcPct val="115000"/>
              </a:lnSpc>
            </a:pPr>
            <a:r>
              <a:rPr lang="zh-CN" altLang="en-US" sz="2800">
                <a:latin typeface="宋体" panose="02010600030101010101" pitchFamily="2" charset="-122"/>
              </a:rPr>
              <a:t>各项。然后令</a:t>
            </a:r>
            <a:r>
              <a:rPr lang="zh-CN" altLang="en-US" sz="2800" i="1">
                <a:latin typeface="Times New Roman" panose="02020603050405020304" pitchFamily="18" charset="0"/>
                <a:sym typeface="Symbol" panose="05050102010706020507" pitchFamily="18" charset="2"/>
              </a:rPr>
              <a:t></a:t>
            </a:r>
            <a:r>
              <a:rPr lang="zh-CN" altLang="en-US" sz="2800">
                <a:latin typeface="Times New Roman" panose="02020603050405020304" pitchFamily="18" charset="0"/>
              </a:rPr>
              <a:t> </a:t>
            </a:r>
            <a:r>
              <a:rPr lang="zh-CN" altLang="en-US" sz="2800">
                <a:latin typeface="宋体" panose="02010600030101010101" pitchFamily="2" charset="-122"/>
                <a:sym typeface="Symbol" panose="05050102010706020507" pitchFamily="18" charset="2"/>
              </a:rPr>
              <a:t></a:t>
            </a:r>
            <a:r>
              <a:rPr lang="en-US" altLang="zh-CN" sz="2800">
                <a:latin typeface="宋体" panose="02010600030101010101" pitchFamily="2" charset="-122"/>
              </a:rPr>
              <a:t>0</a:t>
            </a:r>
            <a:r>
              <a:rPr lang="zh-CN" altLang="en-US" sz="2800">
                <a:latin typeface="宋体" panose="02010600030101010101" pitchFamily="2" charset="-122"/>
              </a:rPr>
              <a:t>，按前述方法进行判别。</a:t>
            </a:r>
          </a:p>
        </p:txBody>
      </p:sp>
      <p:sp>
        <p:nvSpPr>
          <p:cNvPr id="32774" name="Rectangle 6">
            <a:extLst>
              <a:ext uri="{FF2B5EF4-FFF2-40B4-BE49-F238E27FC236}">
                <a16:creationId xmlns:a16="http://schemas.microsoft.com/office/drawing/2014/main" id="{8905CBE1-30A2-3D8F-E812-1622FA7AD1D1}"/>
              </a:ext>
            </a:extLst>
          </p:cNvPr>
          <p:cNvSpPr>
            <a:spLocks noChangeArrowheads="1"/>
          </p:cNvSpPr>
          <p:nvPr/>
        </p:nvSpPr>
        <p:spPr bwMode="auto">
          <a:xfrm>
            <a:off x="1403350" y="4113213"/>
            <a:ext cx="66294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宋体" panose="02010600030101010101" pitchFamily="2" charset="-122"/>
              </a:rPr>
              <a:t>如果零</a:t>
            </a:r>
            <a:r>
              <a:rPr lang="en-US" altLang="zh-CN" sz="2800">
                <a:latin typeface="宋体" panose="02010600030101010101" pitchFamily="2" charset="-122"/>
              </a:rPr>
              <a:t>(</a:t>
            </a:r>
            <a:r>
              <a:rPr lang="en-US" altLang="zh-CN" sz="2800">
                <a:latin typeface="Times New Roman" panose="02020603050405020304" pitchFamily="18" charset="0"/>
              </a:rPr>
              <a:t> </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宋体" panose="02010600030101010101" pitchFamily="2" charset="-122"/>
              </a:rPr>
              <a:t>)</a:t>
            </a:r>
            <a:r>
              <a:rPr lang="zh-CN" altLang="en-US" sz="2800">
                <a:latin typeface="宋体" panose="02010600030101010101" pitchFamily="2" charset="-122"/>
              </a:rPr>
              <a:t>上下两项的符号相同，则系统存在一对虚根，处于临界稳定状态；如果零</a:t>
            </a:r>
            <a:r>
              <a:rPr lang="en-US" altLang="zh-CN" sz="2800">
                <a:latin typeface="宋体" panose="02010600030101010101" pitchFamily="2" charset="-122"/>
              </a:rPr>
              <a:t>(</a:t>
            </a:r>
            <a:r>
              <a:rPr lang="en-US" altLang="zh-CN" sz="2800">
                <a:latin typeface="Times New Roman" panose="02020603050405020304" pitchFamily="18" charset="0"/>
              </a:rPr>
              <a:t> </a:t>
            </a:r>
            <a:r>
              <a:rPr lang="en-US" altLang="zh-CN" sz="2800" i="1">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 </a:t>
            </a:r>
            <a:r>
              <a:rPr lang="en-US" altLang="zh-CN" sz="2800">
                <a:latin typeface="宋体" panose="02010600030101010101" pitchFamily="2" charset="-122"/>
              </a:rPr>
              <a:t>)</a:t>
            </a:r>
            <a:r>
              <a:rPr lang="zh-CN" altLang="en-US" sz="2800">
                <a:latin typeface="宋体" panose="02010600030101010101" pitchFamily="2" charset="-122"/>
              </a:rPr>
              <a:t>上下两项的符号不同，则表明有符号变化，系统不稳定。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anim calcmode="lin" valueType="num">
                                      <p:cBhvr additive="base">
                                        <p:cTn id="7" dur="500" fill="hold"/>
                                        <p:tgtEl>
                                          <p:spTgt spid="32772"/>
                                        </p:tgtEl>
                                        <p:attrNameLst>
                                          <p:attrName>ppt_x</p:attrName>
                                        </p:attrNameLst>
                                      </p:cBhvr>
                                      <p:tavLst>
                                        <p:tav tm="0">
                                          <p:val>
                                            <p:strVal val="#ppt_x"/>
                                          </p:val>
                                        </p:tav>
                                        <p:tav tm="100000">
                                          <p:val>
                                            <p:strVal val="#ppt_x"/>
                                          </p:val>
                                        </p:tav>
                                      </p:tavLst>
                                    </p:anim>
                                    <p:anim calcmode="lin" valueType="num">
                                      <p:cBhvr additive="base">
                                        <p:cTn id="8" dur="500" fill="hold"/>
                                        <p:tgtEl>
                                          <p:spTgt spid="3277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773"/>
                                        </p:tgtEl>
                                        <p:attrNameLst>
                                          <p:attrName>style.visibility</p:attrName>
                                        </p:attrNameLst>
                                      </p:cBhvr>
                                      <p:to>
                                        <p:strVal val="visible"/>
                                      </p:to>
                                    </p:set>
                                    <p:anim calcmode="lin" valueType="num">
                                      <p:cBhvr additive="base">
                                        <p:cTn id="13" dur="500" fill="hold"/>
                                        <p:tgtEl>
                                          <p:spTgt spid="32773"/>
                                        </p:tgtEl>
                                        <p:attrNameLst>
                                          <p:attrName>ppt_x</p:attrName>
                                        </p:attrNameLst>
                                      </p:cBhvr>
                                      <p:tavLst>
                                        <p:tav tm="0">
                                          <p:val>
                                            <p:strVal val="#ppt_x"/>
                                          </p:val>
                                        </p:tav>
                                        <p:tav tm="100000">
                                          <p:val>
                                            <p:strVal val="#ppt_x"/>
                                          </p:val>
                                        </p:tav>
                                      </p:tavLst>
                                    </p:anim>
                                    <p:anim calcmode="lin" valueType="num">
                                      <p:cBhvr additive="base">
                                        <p:cTn id="14" dur="500" fill="hold"/>
                                        <p:tgtEl>
                                          <p:spTgt spid="3277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2774"/>
                                        </p:tgtEl>
                                        <p:attrNameLst>
                                          <p:attrName>style.visibility</p:attrName>
                                        </p:attrNameLst>
                                      </p:cBhvr>
                                      <p:to>
                                        <p:strVal val="visible"/>
                                      </p:to>
                                    </p:set>
                                    <p:anim calcmode="lin" valueType="num">
                                      <p:cBhvr additive="base">
                                        <p:cTn id="19" dur="500" fill="hold"/>
                                        <p:tgtEl>
                                          <p:spTgt spid="32774"/>
                                        </p:tgtEl>
                                        <p:attrNameLst>
                                          <p:attrName>ppt_x</p:attrName>
                                        </p:attrNameLst>
                                      </p:cBhvr>
                                      <p:tavLst>
                                        <p:tav tm="0">
                                          <p:val>
                                            <p:strVal val="#ppt_x"/>
                                          </p:val>
                                        </p:tav>
                                        <p:tav tm="100000">
                                          <p:val>
                                            <p:strVal val="#ppt_x"/>
                                          </p:val>
                                        </p:tav>
                                      </p:tavLst>
                                    </p:anim>
                                    <p:anim calcmode="lin" valueType="num">
                                      <p:cBhvr additive="base">
                                        <p:cTn id="20" dur="500" fill="hold"/>
                                        <p:tgtEl>
                                          <p:spTgt spid="327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p:bldP spid="32773" grpId="0"/>
      <p:bldP spid="3277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8" name="Object 4">
            <a:extLst>
              <a:ext uri="{FF2B5EF4-FFF2-40B4-BE49-F238E27FC236}">
                <a16:creationId xmlns:a16="http://schemas.microsoft.com/office/drawing/2014/main" id="{1D1A73CB-09B9-276B-8CE1-F51286853E16}"/>
              </a:ext>
            </a:extLst>
          </p:cNvPr>
          <p:cNvGraphicFramePr>
            <a:graphicFrameLocks noChangeAspect="1"/>
          </p:cNvGraphicFramePr>
          <p:nvPr/>
        </p:nvGraphicFramePr>
        <p:xfrm>
          <a:off x="1979613" y="928688"/>
          <a:ext cx="3455987" cy="508000"/>
        </p:xfrm>
        <a:graphic>
          <a:graphicData uri="http://schemas.openxmlformats.org/presentationml/2006/ole">
            <mc:AlternateContent xmlns:mc="http://schemas.openxmlformats.org/markup-compatibility/2006">
              <mc:Choice xmlns:v="urn:schemas-microsoft-com:vml" Requires="v">
                <p:oleObj r:id="rId3" imgW="1295400" imgH="190500" progId="Equation.3">
                  <p:embed/>
                </p:oleObj>
              </mc:Choice>
              <mc:Fallback>
                <p:oleObj r:id="rId3" imgW="1295400" imgH="190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928688"/>
                        <a:ext cx="345598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19" name="Text Box 5">
            <a:extLst>
              <a:ext uri="{FF2B5EF4-FFF2-40B4-BE49-F238E27FC236}">
                <a16:creationId xmlns:a16="http://schemas.microsoft.com/office/drawing/2014/main" id="{93A13F44-6B98-36CF-3D4C-AFCBB4B548D2}"/>
              </a:ext>
            </a:extLst>
          </p:cNvPr>
          <p:cNvSpPr txBox="1">
            <a:spLocks noChangeArrowheads="1"/>
          </p:cNvSpPr>
          <p:nvPr/>
        </p:nvSpPr>
        <p:spPr bwMode="auto">
          <a:xfrm>
            <a:off x="879475" y="568325"/>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例：</a:t>
            </a:r>
          </a:p>
        </p:txBody>
      </p:sp>
      <p:sp>
        <p:nvSpPr>
          <p:cNvPr id="34820" name="Text Box 7">
            <a:extLst>
              <a:ext uri="{FF2B5EF4-FFF2-40B4-BE49-F238E27FC236}">
                <a16:creationId xmlns:a16="http://schemas.microsoft.com/office/drawing/2014/main" id="{D2B44366-A72D-081F-FA6C-1CF382F31D8D}"/>
              </a:ext>
            </a:extLst>
          </p:cNvPr>
          <p:cNvSpPr txBox="1">
            <a:spLocks noChangeArrowheads="1"/>
          </p:cNvSpPr>
          <p:nvPr/>
        </p:nvSpPr>
        <p:spPr bwMode="auto">
          <a:xfrm>
            <a:off x="755650" y="1844675"/>
            <a:ext cx="3384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解：劳斯阵列如下：</a:t>
            </a:r>
          </a:p>
        </p:txBody>
      </p:sp>
      <p:graphicFrame>
        <p:nvGraphicFramePr>
          <p:cNvPr id="93192" name="Object 8">
            <a:extLst>
              <a:ext uri="{FF2B5EF4-FFF2-40B4-BE49-F238E27FC236}">
                <a16:creationId xmlns:a16="http://schemas.microsoft.com/office/drawing/2014/main" id="{9573609E-E067-2283-2F8F-12B950A370ED}"/>
              </a:ext>
            </a:extLst>
          </p:cNvPr>
          <p:cNvGraphicFramePr>
            <a:graphicFrameLocks noChangeAspect="1"/>
          </p:cNvGraphicFramePr>
          <p:nvPr/>
        </p:nvGraphicFramePr>
        <p:xfrm>
          <a:off x="5003800" y="1916113"/>
          <a:ext cx="3600450" cy="2930525"/>
        </p:xfrm>
        <a:graphic>
          <a:graphicData uri="http://schemas.openxmlformats.org/presentationml/2006/ole">
            <mc:AlternateContent xmlns:mc="http://schemas.openxmlformats.org/markup-compatibility/2006">
              <mc:Choice xmlns:v="urn:schemas-microsoft-com:vml" Requires="v">
                <p:oleObj r:id="rId5" imgW="1295400" imgH="1054100" progId="Equation.3">
                  <p:embed/>
                </p:oleObj>
              </mc:Choice>
              <mc:Fallback>
                <p:oleObj r:id="rId5" imgW="1295400" imgH="10541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3800" y="1916113"/>
                        <a:ext cx="3600450"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193" name="Object 9">
            <a:extLst>
              <a:ext uri="{FF2B5EF4-FFF2-40B4-BE49-F238E27FC236}">
                <a16:creationId xmlns:a16="http://schemas.microsoft.com/office/drawing/2014/main" id="{F5823A0F-3132-0207-6ABC-B5D790F385DC}"/>
              </a:ext>
            </a:extLst>
          </p:cNvPr>
          <p:cNvGraphicFramePr>
            <a:graphicFrameLocks noChangeAspect="1"/>
          </p:cNvGraphicFramePr>
          <p:nvPr/>
        </p:nvGraphicFramePr>
        <p:xfrm>
          <a:off x="5148263" y="5084763"/>
          <a:ext cx="2665412" cy="966787"/>
        </p:xfrm>
        <a:graphic>
          <a:graphicData uri="http://schemas.openxmlformats.org/presentationml/2006/ole">
            <mc:AlternateContent xmlns:mc="http://schemas.openxmlformats.org/markup-compatibility/2006">
              <mc:Choice xmlns:v="urn:schemas-microsoft-com:vml" Requires="v">
                <p:oleObj r:id="rId7" imgW="1155700" imgH="419100" progId="Equation.3">
                  <p:embed/>
                </p:oleObj>
              </mc:Choice>
              <mc:Fallback>
                <p:oleObj r:id="rId7" imgW="1155700" imgH="419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263" y="5084763"/>
                        <a:ext cx="2665412"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194" name="Line 10">
            <a:extLst>
              <a:ext uri="{FF2B5EF4-FFF2-40B4-BE49-F238E27FC236}">
                <a16:creationId xmlns:a16="http://schemas.microsoft.com/office/drawing/2014/main" id="{13154A0C-21D3-662C-509A-16BDCCBE19CA}"/>
              </a:ext>
            </a:extLst>
          </p:cNvPr>
          <p:cNvSpPr>
            <a:spLocks noChangeShapeType="1"/>
          </p:cNvSpPr>
          <p:nvPr/>
        </p:nvSpPr>
        <p:spPr bwMode="auto">
          <a:xfrm>
            <a:off x="5148263" y="6021388"/>
            <a:ext cx="252095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195" name="Text Box 11">
            <a:extLst>
              <a:ext uri="{FF2B5EF4-FFF2-40B4-BE49-F238E27FC236}">
                <a16:creationId xmlns:a16="http://schemas.microsoft.com/office/drawing/2014/main" id="{C25B4410-9260-8729-ECE7-D66246A5FD0C}"/>
              </a:ext>
            </a:extLst>
          </p:cNvPr>
          <p:cNvSpPr txBox="1">
            <a:spLocks noChangeArrowheads="1"/>
          </p:cNvSpPr>
          <p:nvPr/>
        </p:nvSpPr>
        <p:spPr bwMode="auto">
          <a:xfrm>
            <a:off x="682625" y="5229225"/>
            <a:ext cx="37401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符号变化两次，有两个</a:t>
            </a:r>
          </a:p>
          <a:p>
            <a:pPr eaLnBrk="1" hangingPunct="1"/>
            <a:r>
              <a:rPr lang="zh-CN" altLang="en-US" sz="2800"/>
              <a:t>右根，系统不稳定。</a:t>
            </a:r>
          </a:p>
        </p:txBody>
      </p:sp>
      <p:grpSp>
        <p:nvGrpSpPr>
          <p:cNvPr id="6" name="组合 5">
            <a:extLst>
              <a:ext uri="{FF2B5EF4-FFF2-40B4-BE49-F238E27FC236}">
                <a16:creationId xmlns:a16="http://schemas.microsoft.com/office/drawing/2014/main" id="{BC5250A6-5848-C712-46DC-A18979745700}"/>
              </a:ext>
            </a:extLst>
          </p:cNvPr>
          <p:cNvGrpSpPr>
            <a:grpSpLocks/>
          </p:cNvGrpSpPr>
          <p:nvPr/>
        </p:nvGrpSpPr>
        <p:grpSpPr bwMode="auto">
          <a:xfrm>
            <a:off x="1116013" y="2565400"/>
            <a:ext cx="1943100" cy="2519363"/>
            <a:chOff x="1757" y="4040"/>
            <a:chExt cx="3060" cy="3968"/>
          </a:xfrm>
        </p:grpSpPr>
        <p:cxnSp>
          <p:nvCxnSpPr>
            <p:cNvPr id="2" name="直接连接符 1">
              <a:extLst>
                <a:ext uri="{FF2B5EF4-FFF2-40B4-BE49-F238E27FC236}">
                  <a16:creationId xmlns:a16="http://schemas.microsoft.com/office/drawing/2014/main" id="{1A3A40D2-2534-5E91-18CE-9A7D5CDE8B3D}"/>
                </a:ext>
              </a:extLst>
            </p:cNvPr>
            <p:cNvCxnSpPr/>
            <p:nvPr/>
          </p:nvCxnSpPr>
          <p:spPr>
            <a:xfrm>
              <a:off x="2649" y="4208"/>
              <a:ext cx="15" cy="3688"/>
            </a:xfrm>
            <a:prstGeom prst="line">
              <a:avLst/>
            </a:prstGeom>
          </p:spPr>
          <p:style>
            <a:lnRef idx="1">
              <a:schemeClr val="accent1"/>
            </a:lnRef>
            <a:fillRef idx="0">
              <a:schemeClr val="accent1"/>
            </a:fillRef>
            <a:effectRef idx="0">
              <a:schemeClr val="accent1"/>
            </a:effectRef>
            <a:fontRef idx="minor">
              <a:schemeClr val="tx1"/>
            </a:fontRef>
          </p:style>
        </p:cxnSp>
        <p:grpSp>
          <p:nvGrpSpPr>
            <p:cNvPr id="34827" name="组合 4">
              <a:extLst>
                <a:ext uri="{FF2B5EF4-FFF2-40B4-BE49-F238E27FC236}">
                  <a16:creationId xmlns:a16="http://schemas.microsoft.com/office/drawing/2014/main" id="{2C32C6A9-C3DA-9A4E-C1A4-DACF202EB74B}"/>
                </a:ext>
              </a:extLst>
            </p:cNvPr>
            <p:cNvGrpSpPr>
              <a:grpSpLocks/>
            </p:cNvGrpSpPr>
            <p:nvPr/>
          </p:nvGrpSpPr>
          <p:grpSpPr bwMode="auto">
            <a:xfrm>
              <a:off x="1757" y="4040"/>
              <a:ext cx="3060" cy="3968"/>
              <a:chOff x="1757" y="4040"/>
              <a:chExt cx="3060" cy="3968"/>
            </a:xfrm>
          </p:grpSpPr>
          <p:graphicFrame>
            <p:nvGraphicFramePr>
              <p:cNvPr id="34828" name="Object 6">
                <a:extLst>
                  <a:ext uri="{FF2B5EF4-FFF2-40B4-BE49-F238E27FC236}">
                    <a16:creationId xmlns:a16="http://schemas.microsoft.com/office/drawing/2014/main" id="{8DCC3327-8D37-006D-F608-068E7BBD51E9}"/>
                  </a:ext>
                </a:extLst>
              </p:cNvPr>
              <p:cNvGraphicFramePr>
                <a:graphicFrameLocks noChangeAspect="1"/>
              </p:cNvGraphicFramePr>
              <p:nvPr/>
            </p:nvGraphicFramePr>
            <p:xfrm>
              <a:off x="1870" y="4040"/>
              <a:ext cx="2947" cy="2475"/>
            </p:xfrm>
            <a:graphic>
              <a:graphicData uri="http://schemas.openxmlformats.org/presentationml/2006/ole">
                <mc:AlternateContent xmlns:mc="http://schemas.openxmlformats.org/markup-compatibility/2006">
                  <mc:Choice xmlns:v="urn:schemas-microsoft-com:vml" Requires="v">
                    <p:oleObj r:id="rId9" imgW="711200" imgH="596900" progId="Equation.3">
                      <p:embed/>
                    </p:oleObj>
                  </mc:Choice>
                  <mc:Fallback>
                    <p:oleObj r:id="rId9" imgW="711200" imgH="5969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70" y="4040"/>
                            <a:ext cx="2947" cy="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9" name="文本框 2">
                <a:extLst>
                  <a:ext uri="{FF2B5EF4-FFF2-40B4-BE49-F238E27FC236}">
                    <a16:creationId xmlns:a16="http://schemas.microsoft.com/office/drawing/2014/main" id="{D0570603-BA63-0FE1-930B-A96357DBE5CC}"/>
                  </a:ext>
                </a:extLst>
              </p:cNvPr>
              <p:cNvSpPr txBox="1">
                <a:spLocks noChangeArrowheads="1"/>
              </p:cNvSpPr>
              <p:nvPr/>
            </p:nvSpPr>
            <p:spPr bwMode="auto">
              <a:xfrm>
                <a:off x="1757" y="6421"/>
                <a:ext cx="7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s</a:t>
                </a:r>
                <a:r>
                  <a:rPr lang="en-US" altLang="zh-CN" sz="2000" baseline="30000">
                    <a:latin typeface="Tahoma" panose="020B0604030504040204" pitchFamily="34" charset="0"/>
                  </a:rPr>
                  <a:t>1</a:t>
                </a:r>
              </a:p>
            </p:txBody>
          </p:sp>
          <p:sp>
            <p:nvSpPr>
              <p:cNvPr id="34830" name="文本框 3">
                <a:extLst>
                  <a:ext uri="{FF2B5EF4-FFF2-40B4-BE49-F238E27FC236}">
                    <a16:creationId xmlns:a16="http://schemas.microsoft.com/office/drawing/2014/main" id="{84072F09-4327-E037-781B-BA1A381D5579}"/>
                  </a:ext>
                </a:extLst>
              </p:cNvPr>
              <p:cNvSpPr txBox="1">
                <a:spLocks noChangeArrowheads="1"/>
              </p:cNvSpPr>
              <p:nvPr/>
            </p:nvSpPr>
            <p:spPr bwMode="auto">
              <a:xfrm>
                <a:off x="1757" y="7186"/>
                <a:ext cx="700"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i="1">
                    <a:latin typeface="Times New Roman" panose="02020603050405020304" pitchFamily="18" charset="0"/>
                  </a:rPr>
                  <a:t>s</a:t>
                </a:r>
                <a:r>
                  <a:rPr lang="en-US" altLang="zh-CN" sz="2800" i="1" baseline="30000">
                    <a:latin typeface="Times New Roman" panose="02020603050405020304" pitchFamily="18" charset="0"/>
                  </a:rPr>
                  <a:t>0</a:t>
                </a: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931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319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93195"/>
                                        </p:tgtEl>
                                        <p:attrNameLst>
                                          <p:attrName>style.visibility</p:attrName>
                                        </p:attrNameLst>
                                      </p:cBhvr>
                                      <p:to>
                                        <p:strVal val="visible"/>
                                      </p:to>
                                    </p:set>
                                    <p:animEffect transition="in" filter="blinds(horizontal)">
                                      <p:cBhvr>
                                        <p:cTn id="19" dur="500"/>
                                        <p:tgtEl>
                                          <p:spTgt spid="9319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93193"/>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55" presetClass="entr" presetSubtype="0" fill="hold" nodeType="clickEffect">
                                  <p:stCondLst>
                                    <p:cond delay="0"/>
                                  </p:stCondLst>
                                  <p:childTnLst>
                                    <p:set>
                                      <p:cBhvr>
                                        <p:cTn id="27" dur="1" fill="hold">
                                          <p:stCondLst>
                                            <p:cond delay="0"/>
                                          </p:stCondLst>
                                        </p:cTn>
                                        <p:tgtEl>
                                          <p:spTgt spid="93194"/>
                                        </p:tgtEl>
                                        <p:attrNameLst>
                                          <p:attrName>style.visibility</p:attrName>
                                        </p:attrNameLst>
                                      </p:cBhvr>
                                      <p:to>
                                        <p:strVal val="visible"/>
                                      </p:to>
                                    </p:set>
                                    <p:anim calcmode="lin" valueType="num">
                                      <p:cBhvr>
                                        <p:cTn id="28" dur="1000" fill="hold"/>
                                        <p:tgtEl>
                                          <p:spTgt spid="93194"/>
                                        </p:tgtEl>
                                        <p:attrNameLst>
                                          <p:attrName>ppt_w</p:attrName>
                                        </p:attrNameLst>
                                      </p:cBhvr>
                                      <p:tavLst>
                                        <p:tav tm="0">
                                          <p:val>
                                            <p:strVal val="#ppt_w*0.70"/>
                                          </p:val>
                                        </p:tav>
                                        <p:tav tm="100000">
                                          <p:val>
                                            <p:strVal val="#ppt_w"/>
                                          </p:val>
                                        </p:tav>
                                      </p:tavLst>
                                    </p:anim>
                                    <p:anim calcmode="lin" valueType="num">
                                      <p:cBhvr>
                                        <p:cTn id="29" dur="1000" fill="hold"/>
                                        <p:tgtEl>
                                          <p:spTgt spid="93194"/>
                                        </p:tgtEl>
                                        <p:attrNameLst>
                                          <p:attrName>ppt_h</p:attrName>
                                        </p:attrNameLst>
                                      </p:cBhvr>
                                      <p:tavLst>
                                        <p:tav tm="0">
                                          <p:val>
                                            <p:strVal val="#ppt_h"/>
                                          </p:val>
                                        </p:tav>
                                        <p:tav tm="100000">
                                          <p:val>
                                            <p:strVal val="#ppt_h"/>
                                          </p:val>
                                        </p:tav>
                                      </p:tavLst>
                                    </p:anim>
                                    <p:animEffect transition="in" filter="fade">
                                      <p:cBhvr>
                                        <p:cTn id="30" dur="1000"/>
                                        <p:tgtEl>
                                          <p:spTgt spid="93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1EB5646E-4598-B2A1-9A62-73BA89D5C82F}"/>
              </a:ext>
            </a:extLst>
          </p:cNvPr>
          <p:cNvSpPr>
            <a:spLocks noChangeArrowheads="1"/>
          </p:cNvSpPr>
          <p:nvPr/>
        </p:nvSpPr>
        <p:spPr bwMode="auto">
          <a:xfrm>
            <a:off x="1187450" y="981075"/>
            <a:ext cx="1250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例如：</a:t>
            </a:r>
          </a:p>
        </p:txBody>
      </p:sp>
      <p:graphicFrame>
        <p:nvGraphicFramePr>
          <p:cNvPr id="36867" name="Object 4">
            <a:extLst>
              <a:ext uri="{FF2B5EF4-FFF2-40B4-BE49-F238E27FC236}">
                <a16:creationId xmlns:a16="http://schemas.microsoft.com/office/drawing/2014/main" id="{FEF8E06E-7965-7001-B798-9FC2BEC4EF4F}"/>
              </a:ext>
            </a:extLst>
          </p:cNvPr>
          <p:cNvGraphicFramePr>
            <a:graphicFrameLocks noChangeAspect="1"/>
          </p:cNvGraphicFramePr>
          <p:nvPr/>
        </p:nvGraphicFramePr>
        <p:xfrm>
          <a:off x="1857375" y="2133600"/>
          <a:ext cx="4235450" cy="496888"/>
        </p:xfrm>
        <a:graphic>
          <a:graphicData uri="http://schemas.openxmlformats.org/presentationml/2006/ole">
            <mc:AlternateContent xmlns:mc="http://schemas.openxmlformats.org/markup-compatibility/2006">
              <mc:Choice xmlns:v="urn:schemas-microsoft-com:vml" Requires="v">
                <p:oleObj r:id="rId3" imgW="2044700" imgH="241300" progId="Equation.3">
                  <p:embed/>
                </p:oleObj>
              </mc:Choice>
              <mc:Fallback>
                <p:oleObj r:id="rId3" imgW="20447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75" y="2133600"/>
                        <a:ext cx="423545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5">
            <a:extLst>
              <a:ext uri="{FF2B5EF4-FFF2-40B4-BE49-F238E27FC236}">
                <a16:creationId xmlns:a16="http://schemas.microsoft.com/office/drawing/2014/main" id="{448C9587-D2F1-BCEB-3BA2-9748E26DC197}"/>
              </a:ext>
            </a:extLst>
          </p:cNvPr>
          <p:cNvGrpSpPr>
            <a:grpSpLocks/>
          </p:cNvGrpSpPr>
          <p:nvPr/>
        </p:nvGrpSpPr>
        <p:grpSpPr bwMode="auto">
          <a:xfrm>
            <a:off x="1828800" y="2895600"/>
            <a:ext cx="3657600" cy="3081338"/>
            <a:chOff x="1152" y="2064"/>
            <a:chExt cx="2304" cy="1941"/>
          </a:xfrm>
        </p:grpSpPr>
        <p:sp>
          <p:nvSpPr>
            <p:cNvPr id="36873" name="Rectangle 6">
              <a:extLst>
                <a:ext uri="{FF2B5EF4-FFF2-40B4-BE49-F238E27FC236}">
                  <a16:creationId xmlns:a16="http://schemas.microsoft.com/office/drawing/2014/main" id="{24BFF0EF-ACED-9BB5-7C96-5F009221DAC9}"/>
                </a:ext>
              </a:extLst>
            </p:cNvPr>
            <p:cNvSpPr>
              <a:spLocks noChangeArrowheads="1"/>
            </p:cNvSpPr>
            <p:nvPr/>
          </p:nvSpPr>
          <p:spPr bwMode="auto">
            <a:xfrm>
              <a:off x="1152" y="2064"/>
              <a:ext cx="2304" cy="1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4</a:t>
              </a:r>
              <a:r>
                <a:rPr lang="en-US" altLang="zh-CN" sz="2800">
                  <a:latin typeface="Times New Roman" panose="02020603050405020304" pitchFamily="18" charset="0"/>
                </a:rPr>
                <a:t>	1	3	2</a:t>
              </a:r>
              <a:endParaRPr lang="en-US" altLang="zh-CN" sz="2900" baseline="-18000">
                <a:latin typeface="Times New Roman" panose="02020603050405020304" pitchFamily="18" charset="0"/>
              </a:endParaRP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3</a:t>
              </a:r>
              <a:r>
                <a:rPr lang="en-US" altLang="zh-CN" sz="2800">
                  <a:latin typeface="Times New Roman" panose="02020603050405020304" pitchFamily="18" charset="0"/>
                </a:rPr>
                <a:t>	3	3	0</a:t>
              </a:r>
            </a:p>
            <a:p>
              <a:pPr algn="just" eaLnBrk="1" hangingPunct="1"/>
              <a:r>
                <a:rPr lang="en-US" altLang="zh-CN" sz="2800">
                  <a:latin typeface="Times New Roman" panose="02020603050405020304" pitchFamily="18" charset="0"/>
                </a:rPr>
                <a:t>	1	1	0</a:t>
              </a:r>
              <a:endParaRPr lang="en-US" altLang="zh-CN" sz="2900" baseline="-18000">
                <a:latin typeface="Times New Roman" panose="02020603050405020304" pitchFamily="18" charset="0"/>
              </a:endParaRP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2</a:t>
              </a:r>
              <a:r>
                <a:rPr lang="en-US" altLang="zh-CN" sz="2800">
                  <a:latin typeface="Times New Roman" panose="02020603050405020304" pitchFamily="18" charset="0"/>
                </a:rPr>
                <a:t>	2	2</a:t>
              </a:r>
            </a:p>
            <a:p>
              <a:pPr algn="just" eaLnBrk="1" hangingPunct="1"/>
              <a:r>
                <a:rPr lang="en-US" altLang="zh-CN" sz="2800">
                  <a:latin typeface="Times New Roman" panose="02020603050405020304" pitchFamily="18" charset="0"/>
                </a:rPr>
                <a:t>	1	1</a:t>
              </a:r>
              <a:endParaRPr lang="en-US" altLang="zh-CN" sz="2900" baseline="-18000">
                <a:latin typeface="Times New Roman" panose="02020603050405020304" pitchFamily="18" charset="0"/>
              </a:endParaRP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1	</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(0)</a:t>
              </a: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0	</a:t>
              </a:r>
              <a:r>
                <a:rPr lang="en-US" altLang="zh-CN" sz="2800">
                  <a:latin typeface="Times New Roman" panose="02020603050405020304" pitchFamily="18" charset="0"/>
                </a:rPr>
                <a:t>1</a:t>
              </a:r>
              <a:endParaRPr lang="en-US" altLang="zh-CN" sz="2900" baseline="-18000">
                <a:latin typeface="Times New Roman" panose="02020603050405020304" pitchFamily="18" charset="0"/>
              </a:endParaRPr>
            </a:p>
          </p:txBody>
        </p:sp>
        <p:sp>
          <p:nvSpPr>
            <p:cNvPr id="36874" name="Line 7">
              <a:extLst>
                <a:ext uri="{FF2B5EF4-FFF2-40B4-BE49-F238E27FC236}">
                  <a16:creationId xmlns:a16="http://schemas.microsoft.com/office/drawing/2014/main" id="{23E4D7DD-FAB3-B259-953F-04B7E1E430E1}"/>
                </a:ext>
              </a:extLst>
            </p:cNvPr>
            <p:cNvSpPr>
              <a:spLocks noChangeShapeType="1"/>
            </p:cNvSpPr>
            <p:nvPr/>
          </p:nvSpPr>
          <p:spPr bwMode="auto">
            <a:xfrm>
              <a:off x="1584" y="2112"/>
              <a:ext cx="0" cy="1824"/>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3800" name="Rectangle 8">
            <a:extLst>
              <a:ext uri="{FF2B5EF4-FFF2-40B4-BE49-F238E27FC236}">
                <a16:creationId xmlns:a16="http://schemas.microsoft.com/office/drawing/2014/main" id="{A4DF15D7-253D-36F2-39E1-825C9D235334}"/>
              </a:ext>
            </a:extLst>
          </p:cNvPr>
          <p:cNvSpPr>
            <a:spLocks noChangeArrowheads="1"/>
          </p:cNvSpPr>
          <p:nvPr/>
        </p:nvSpPr>
        <p:spPr bwMode="auto">
          <a:xfrm>
            <a:off x="5105400" y="2847975"/>
            <a:ext cx="37877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劳斯阵列第一列</a:t>
            </a:r>
            <a:r>
              <a:rPr lang="zh-CN" altLang="en-US" sz="2800">
                <a:latin typeface="宋体" panose="02010600030101010101" pitchFamily="2" charset="-122"/>
              </a:rPr>
              <a:t>零</a:t>
            </a:r>
            <a:r>
              <a:rPr lang="en-US" altLang="zh-CN" sz="2800">
                <a:latin typeface="宋体" panose="02010600030101010101" pitchFamily="2" charset="-122"/>
              </a:rPr>
              <a:t>(</a:t>
            </a:r>
            <a:r>
              <a:rPr lang="en-US" altLang="zh-CN" sz="2800" i="1">
                <a:latin typeface="Times New Roman" panose="02020603050405020304" pitchFamily="18" charset="0"/>
                <a:sym typeface="Symbol" panose="05050102010706020507" pitchFamily="18" charset="2"/>
              </a:rPr>
              <a:t></a:t>
            </a:r>
            <a:r>
              <a:rPr lang="en-US" altLang="zh-CN" sz="2800">
                <a:latin typeface="宋体" panose="02010600030101010101" pitchFamily="2" charset="-122"/>
              </a:rPr>
              <a:t>)</a:t>
            </a:r>
          </a:p>
          <a:p>
            <a:pPr eaLnBrk="1" hangingPunct="1"/>
            <a:r>
              <a:rPr lang="zh-CN" altLang="en-US" sz="2800">
                <a:latin typeface="宋体" panose="02010600030101010101" pitchFamily="2" charset="-122"/>
              </a:rPr>
              <a:t>上下两项的符号相同</a:t>
            </a:r>
            <a:r>
              <a:rPr lang="zh-CN" altLang="en-US" sz="2800">
                <a:latin typeface="Times New Roman" panose="02020603050405020304" pitchFamily="18" charset="0"/>
              </a:rPr>
              <a:t>，表明系统有一对虚根。系统临界稳定。</a:t>
            </a:r>
          </a:p>
        </p:txBody>
      </p:sp>
      <p:grpSp>
        <p:nvGrpSpPr>
          <p:cNvPr id="3" name="Group 9">
            <a:extLst>
              <a:ext uri="{FF2B5EF4-FFF2-40B4-BE49-F238E27FC236}">
                <a16:creationId xmlns:a16="http://schemas.microsoft.com/office/drawing/2014/main" id="{584F00CD-48C6-BD26-1F10-6B17264CB1F8}"/>
              </a:ext>
            </a:extLst>
          </p:cNvPr>
          <p:cNvGrpSpPr>
            <a:grpSpLocks/>
          </p:cNvGrpSpPr>
          <p:nvPr/>
        </p:nvGrpSpPr>
        <p:grpSpPr bwMode="auto">
          <a:xfrm>
            <a:off x="5105400" y="4648200"/>
            <a:ext cx="3581400" cy="1419225"/>
            <a:chOff x="3216" y="2802"/>
            <a:chExt cx="2256" cy="894"/>
          </a:xfrm>
        </p:grpSpPr>
        <p:sp>
          <p:nvSpPr>
            <p:cNvPr id="36871" name="Rectangle 10">
              <a:extLst>
                <a:ext uri="{FF2B5EF4-FFF2-40B4-BE49-F238E27FC236}">
                  <a16:creationId xmlns:a16="http://schemas.microsoft.com/office/drawing/2014/main" id="{817D3262-EEE9-484E-2612-2E2E2699AD5D}"/>
                </a:ext>
              </a:extLst>
            </p:cNvPr>
            <p:cNvSpPr>
              <a:spLocks noChangeArrowheads="1"/>
            </p:cNvSpPr>
            <p:nvPr/>
          </p:nvSpPr>
          <p:spPr bwMode="auto">
            <a:xfrm>
              <a:off x="3216" y="2802"/>
              <a:ext cx="2256"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事实上，系统特征根如下：</a:t>
              </a:r>
            </a:p>
          </p:txBody>
        </p:sp>
        <p:sp>
          <p:nvSpPr>
            <p:cNvPr id="36872" name="Rectangle 11">
              <a:extLst>
                <a:ext uri="{FF2B5EF4-FFF2-40B4-BE49-F238E27FC236}">
                  <a16:creationId xmlns:a16="http://schemas.microsoft.com/office/drawing/2014/main" id="{F8927422-FE43-1040-CFB1-5F6E94521334}"/>
                </a:ext>
              </a:extLst>
            </p:cNvPr>
            <p:cNvSpPr>
              <a:spLocks noChangeArrowheads="1"/>
            </p:cNvSpPr>
            <p:nvPr/>
          </p:nvSpPr>
          <p:spPr bwMode="auto">
            <a:xfrm>
              <a:off x="3504" y="3408"/>
              <a:ext cx="17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2400">
                  <a:latin typeface="Times New Roman" panose="02020603050405020304" pitchFamily="18" charset="0"/>
                </a:rPr>
                <a:t>－</a:t>
              </a:r>
              <a:r>
                <a:rPr lang="en-US" altLang="zh-CN" sz="2400">
                  <a:latin typeface="Times New Roman" panose="02020603050405020304" pitchFamily="18" charset="0"/>
                </a:rPr>
                <a:t>1</a:t>
              </a:r>
              <a:r>
                <a:rPr lang="zh-CN" altLang="en-US" sz="2400">
                  <a:latin typeface="Times New Roman" panose="02020603050405020304" pitchFamily="18" charset="0"/>
                </a:rPr>
                <a:t>、－</a:t>
              </a:r>
              <a:r>
                <a:rPr lang="en-US" altLang="zh-CN" sz="2400">
                  <a:latin typeface="Times New Roman" panose="02020603050405020304" pitchFamily="18" charset="0"/>
                </a:rPr>
                <a:t>2</a:t>
              </a:r>
              <a:r>
                <a:rPr lang="zh-CN" altLang="en-US" sz="2400">
                  <a:latin typeface="Times New Roman" panose="02020603050405020304" pitchFamily="18" charset="0"/>
                </a:rPr>
                <a:t>、</a:t>
              </a:r>
              <a:r>
                <a:rPr lang="en-US" altLang="zh-CN" sz="2400">
                  <a:latin typeface="Times New Roman" panose="02020603050405020304" pitchFamily="18" charset="0"/>
                </a:rPr>
                <a:t>±</a:t>
              </a:r>
              <a:r>
                <a:rPr lang="en-US" altLang="zh-CN" sz="2400">
                  <a:latin typeface="Arial" panose="020B0604020202020204" pitchFamily="34" charset="0"/>
                </a:rPr>
                <a:t> </a:t>
              </a:r>
              <a:r>
                <a:rPr lang="en-US" altLang="zh-CN" sz="2400" i="1">
                  <a:latin typeface="Times New Roman" panose="02020603050405020304" pitchFamily="18" charset="0"/>
                </a:rPr>
                <a:t>j</a:t>
              </a:r>
              <a:endParaRPr lang="en-US" altLang="zh-CN" sz="2400">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800"/>
                                        </p:tgtEl>
                                        <p:attrNameLst>
                                          <p:attrName>style.visibility</p:attrName>
                                        </p:attrNameLst>
                                      </p:cBhvr>
                                      <p:to>
                                        <p:strVal val="visible"/>
                                      </p:to>
                                    </p:set>
                                    <p:anim calcmode="lin" valueType="num">
                                      <p:cBhvr additive="base">
                                        <p:cTn id="13" dur="500" fill="hold"/>
                                        <p:tgtEl>
                                          <p:spTgt spid="33800"/>
                                        </p:tgtEl>
                                        <p:attrNameLst>
                                          <p:attrName>ppt_x</p:attrName>
                                        </p:attrNameLst>
                                      </p:cBhvr>
                                      <p:tavLst>
                                        <p:tav tm="0">
                                          <p:val>
                                            <p:strVal val="#ppt_x"/>
                                          </p:val>
                                        </p:tav>
                                        <p:tav tm="100000">
                                          <p:val>
                                            <p:strVal val="#ppt_x"/>
                                          </p:val>
                                        </p:tav>
                                      </p:tavLst>
                                    </p:anim>
                                    <p:anim calcmode="lin" valueType="num">
                                      <p:cBhvr additive="base">
                                        <p:cTn id="14" dur="500" fill="hold"/>
                                        <p:tgtEl>
                                          <p:spTgt spid="3380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36BBCC7B-0571-36F3-5248-305EFE33BF5A}"/>
              </a:ext>
            </a:extLst>
          </p:cNvPr>
          <p:cNvSpPr>
            <a:spLocks noChangeArrowheads="1"/>
          </p:cNvSpPr>
          <p:nvPr/>
        </p:nvSpPr>
        <p:spPr bwMode="auto">
          <a:xfrm>
            <a:off x="1116013" y="908050"/>
            <a:ext cx="701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q"/>
            </a:pPr>
            <a:r>
              <a:rPr lang="en-US" altLang="zh-CN" sz="2800">
                <a:latin typeface="宋体" panose="02010600030101010101" pitchFamily="2" charset="-122"/>
              </a:rPr>
              <a:t> </a:t>
            </a:r>
            <a:r>
              <a:rPr lang="zh-CN" altLang="en-US" sz="2800">
                <a:latin typeface="宋体" panose="02010600030101010101" pitchFamily="2" charset="-122"/>
              </a:rPr>
              <a:t>劳斯阵列表某一行全为零</a:t>
            </a:r>
          </a:p>
        </p:txBody>
      </p:sp>
      <p:sp>
        <p:nvSpPr>
          <p:cNvPr id="58371" name="Rectangle 4">
            <a:extLst>
              <a:ext uri="{FF2B5EF4-FFF2-40B4-BE49-F238E27FC236}">
                <a16:creationId xmlns:a16="http://schemas.microsoft.com/office/drawing/2014/main" id="{B473C642-ADEB-22C6-C751-48836EE7619F}"/>
              </a:ext>
            </a:extLst>
          </p:cNvPr>
          <p:cNvSpPr>
            <a:spLocks noChangeArrowheads="1"/>
          </p:cNvSpPr>
          <p:nvPr/>
        </p:nvSpPr>
        <p:spPr bwMode="auto">
          <a:xfrm>
            <a:off x="1403350" y="1700213"/>
            <a:ext cx="6781800"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宋体" panose="02010600030101010101" pitchFamily="2" charset="-122"/>
              </a:rPr>
              <a:t>劳斯阵列出现全零行表明系统在</a:t>
            </a:r>
            <a:r>
              <a:rPr lang="en-US" altLang="zh-CN" sz="2800" i="1">
                <a:latin typeface="Times New Roman" panose="02020603050405020304" pitchFamily="18" charset="0"/>
              </a:rPr>
              <a:t>s</a:t>
            </a:r>
            <a:r>
              <a:rPr lang="zh-CN" altLang="en-US" sz="2800">
                <a:latin typeface="宋体" panose="02010600030101010101" pitchFamily="2" charset="-122"/>
              </a:rPr>
              <a:t>平面有</a:t>
            </a:r>
            <a:r>
              <a:rPr lang="zh-CN" altLang="en-US" sz="2800">
                <a:solidFill>
                  <a:srgbClr val="CC3300"/>
                </a:solidFill>
                <a:latin typeface="宋体" panose="02010600030101010101" pitchFamily="2" charset="-122"/>
              </a:rPr>
              <a:t>对称分布的根</a:t>
            </a:r>
            <a:r>
              <a:rPr lang="zh-CN" altLang="en-US" sz="2800">
                <a:latin typeface="宋体" panose="02010600030101010101" pitchFamily="2" charset="-122"/>
              </a:rPr>
              <a:t>，即存在</a:t>
            </a:r>
            <a:r>
              <a:rPr lang="zh-CN" altLang="en-US" sz="2800">
                <a:solidFill>
                  <a:srgbClr val="CC3300"/>
                </a:solidFill>
                <a:latin typeface="宋体" panose="02010600030101010101" pitchFamily="2" charset="-122"/>
              </a:rPr>
              <a:t>大小相等符号相反的实根</a:t>
            </a:r>
            <a:r>
              <a:rPr lang="zh-CN" altLang="en-US" sz="2800">
                <a:latin typeface="宋体" panose="02010600030101010101" pitchFamily="2" charset="-122"/>
              </a:rPr>
              <a:t>和（或）一对</a:t>
            </a:r>
            <a:r>
              <a:rPr lang="zh-CN" altLang="en-US" sz="2800">
                <a:solidFill>
                  <a:srgbClr val="CC3300"/>
                </a:solidFill>
                <a:latin typeface="宋体" panose="02010600030101010101" pitchFamily="2" charset="-122"/>
              </a:rPr>
              <a:t>共轭虚根</a:t>
            </a:r>
            <a:r>
              <a:rPr lang="zh-CN" altLang="en-US" sz="2800">
                <a:latin typeface="宋体" panose="02010600030101010101" pitchFamily="2" charset="-122"/>
              </a:rPr>
              <a:t>和（或）</a:t>
            </a:r>
            <a:r>
              <a:rPr lang="zh-CN" altLang="en-US" sz="2800">
                <a:solidFill>
                  <a:srgbClr val="CC3300"/>
                </a:solidFill>
                <a:latin typeface="宋体" panose="02010600030101010101" pitchFamily="2" charset="-122"/>
              </a:rPr>
              <a:t>对称于实轴的两对共轭复根</a:t>
            </a:r>
            <a:r>
              <a:rPr lang="zh-CN" altLang="en-US" sz="2800">
                <a:latin typeface="宋体" panose="02010600030101010101" pitchFamily="2" charset="-122"/>
              </a:rPr>
              <a:t>；或存在更多这种大小相等，但在</a:t>
            </a:r>
            <a:r>
              <a:rPr lang="en-US" altLang="zh-CN" sz="2800" i="1">
                <a:latin typeface="Times New Roman" panose="02020603050405020304" pitchFamily="18" charset="0"/>
              </a:rPr>
              <a:t>s</a:t>
            </a:r>
            <a:r>
              <a:rPr lang="zh-CN" altLang="en-US" sz="2800">
                <a:latin typeface="宋体" panose="02010600030101010101" pitchFamily="2" charset="-122"/>
              </a:rPr>
              <a:t>平面位置径向相反的根。 </a:t>
            </a:r>
          </a:p>
        </p:txBody>
      </p:sp>
      <p:grpSp>
        <p:nvGrpSpPr>
          <p:cNvPr id="2" name="Group 5">
            <a:extLst>
              <a:ext uri="{FF2B5EF4-FFF2-40B4-BE49-F238E27FC236}">
                <a16:creationId xmlns:a16="http://schemas.microsoft.com/office/drawing/2014/main" id="{94FF0840-A67E-BCEF-33DB-F9E9E77CB6C6}"/>
              </a:ext>
            </a:extLst>
          </p:cNvPr>
          <p:cNvGrpSpPr>
            <a:grpSpLocks/>
          </p:cNvGrpSpPr>
          <p:nvPr/>
        </p:nvGrpSpPr>
        <p:grpSpPr bwMode="auto">
          <a:xfrm>
            <a:off x="1555750" y="4214813"/>
            <a:ext cx="1981200" cy="1828800"/>
            <a:chOff x="1008" y="2784"/>
            <a:chExt cx="1248" cy="1152"/>
          </a:xfrm>
        </p:grpSpPr>
        <p:sp>
          <p:nvSpPr>
            <p:cNvPr id="38951" name="Line 6">
              <a:extLst>
                <a:ext uri="{FF2B5EF4-FFF2-40B4-BE49-F238E27FC236}">
                  <a16:creationId xmlns:a16="http://schemas.microsoft.com/office/drawing/2014/main" id="{F91A1507-01B5-875A-E612-125F73965833}"/>
                </a:ext>
              </a:extLst>
            </p:cNvPr>
            <p:cNvSpPr>
              <a:spLocks noChangeShapeType="1"/>
            </p:cNvSpPr>
            <p:nvPr/>
          </p:nvSpPr>
          <p:spPr bwMode="auto">
            <a:xfrm>
              <a:off x="1008" y="3456"/>
              <a:ext cx="120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2" name="Line 7">
              <a:extLst>
                <a:ext uri="{FF2B5EF4-FFF2-40B4-BE49-F238E27FC236}">
                  <a16:creationId xmlns:a16="http://schemas.microsoft.com/office/drawing/2014/main" id="{BAD1B91F-09F5-6FFD-A585-58D7253FAB28}"/>
                </a:ext>
              </a:extLst>
            </p:cNvPr>
            <p:cNvSpPr>
              <a:spLocks noChangeShapeType="1"/>
            </p:cNvSpPr>
            <p:nvPr/>
          </p:nvSpPr>
          <p:spPr bwMode="auto">
            <a:xfrm flipV="1">
              <a:off x="1584" y="2928"/>
              <a:ext cx="0" cy="1008"/>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53" name="Line 8">
              <a:extLst>
                <a:ext uri="{FF2B5EF4-FFF2-40B4-BE49-F238E27FC236}">
                  <a16:creationId xmlns:a16="http://schemas.microsoft.com/office/drawing/2014/main" id="{A89733AF-C8F7-5541-C43D-049EC952EBA3}"/>
                </a:ext>
              </a:extLst>
            </p:cNvPr>
            <p:cNvSpPr>
              <a:spLocks noChangeShapeType="1"/>
            </p:cNvSpPr>
            <p:nvPr/>
          </p:nvSpPr>
          <p:spPr bwMode="auto">
            <a:xfrm flipH="1">
              <a:off x="1152" y="3408"/>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54" name="Line 9">
              <a:extLst>
                <a:ext uri="{FF2B5EF4-FFF2-40B4-BE49-F238E27FC236}">
                  <a16:creationId xmlns:a16="http://schemas.microsoft.com/office/drawing/2014/main" id="{C3A9AE60-5C41-EFDD-B947-AE5320F6D22D}"/>
                </a:ext>
              </a:extLst>
            </p:cNvPr>
            <p:cNvSpPr>
              <a:spLocks noChangeShapeType="1"/>
            </p:cNvSpPr>
            <p:nvPr/>
          </p:nvSpPr>
          <p:spPr bwMode="auto">
            <a:xfrm>
              <a:off x="1152" y="3408"/>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55" name="Line 10">
              <a:extLst>
                <a:ext uri="{FF2B5EF4-FFF2-40B4-BE49-F238E27FC236}">
                  <a16:creationId xmlns:a16="http://schemas.microsoft.com/office/drawing/2014/main" id="{DA59BB48-39B8-D19C-6D9F-AED9E53257F1}"/>
                </a:ext>
              </a:extLst>
            </p:cNvPr>
            <p:cNvSpPr>
              <a:spLocks noChangeShapeType="1"/>
            </p:cNvSpPr>
            <p:nvPr/>
          </p:nvSpPr>
          <p:spPr bwMode="auto">
            <a:xfrm flipH="1">
              <a:off x="1920" y="3408"/>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56" name="Line 11">
              <a:extLst>
                <a:ext uri="{FF2B5EF4-FFF2-40B4-BE49-F238E27FC236}">
                  <a16:creationId xmlns:a16="http://schemas.microsoft.com/office/drawing/2014/main" id="{BFF20AE2-57DF-D48C-CF9E-F5D6C0CD9384}"/>
                </a:ext>
              </a:extLst>
            </p:cNvPr>
            <p:cNvSpPr>
              <a:spLocks noChangeShapeType="1"/>
            </p:cNvSpPr>
            <p:nvPr/>
          </p:nvSpPr>
          <p:spPr bwMode="auto">
            <a:xfrm>
              <a:off x="1920" y="3408"/>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57" name="Text Box 12">
              <a:extLst>
                <a:ext uri="{FF2B5EF4-FFF2-40B4-BE49-F238E27FC236}">
                  <a16:creationId xmlns:a16="http://schemas.microsoft.com/office/drawing/2014/main" id="{20C06A4A-09AF-BE2B-4CD5-07116E19AF72}"/>
                </a:ext>
              </a:extLst>
            </p:cNvPr>
            <p:cNvSpPr txBox="1">
              <a:spLocks noChangeArrowheads="1"/>
            </p:cNvSpPr>
            <p:nvPr/>
          </p:nvSpPr>
          <p:spPr bwMode="auto">
            <a:xfrm>
              <a:off x="2024" y="3408"/>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38958" name="Text Box 13">
              <a:extLst>
                <a:ext uri="{FF2B5EF4-FFF2-40B4-BE49-F238E27FC236}">
                  <a16:creationId xmlns:a16="http://schemas.microsoft.com/office/drawing/2014/main" id="{B41257B5-44F5-8111-1645-51952E3567A2}"/>
                </a:ext>
              </a:extLst>
            </p:cNvPr>
            <p:cNvSpPr txBox="1">
              <a:spLocks noChangeArrowheads="1"/>
            </p:cNvSpPr>
            <p:nvPr/>
          </p:nvSpPr>
          <p:spPr bwMode="auto">
            <a:xfrm>
              <a:off x="1283" y="2784"/>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a:t>
              </a:r>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38959" name="Text Box 14">
              <a:extLst>
                <a:ext uri="{FF2B5EF4-FFF2-40B4-BE49-F238E27FC236}">
                  <a16:creationId xmlns:a16="http://schemas.microsoft.com/office/drawing/2014/main" id="{4D7DF552-1624-F094-F816-FFAFDF198FCC}"/>
                </a:ext>
              </a:extLst>
            </p:cNvPr>
            <p:cNvSpPr txBox="1">
              <a:spLocks noChangeArrowheads="1"/>
            </p:cNvSpPr>
            <p:nvPr/>
          </p:nvSpPr>
          <p:spPr bwMode="auto">
            <a:xfrm>
              <a:off x="1392" y="34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38960" name="Text Box 15">
              <a:extLst>
                <a:ext uri="{FF2B5EF4-FFF2-40B4-BE49-F238E27FC236}">
                  <a16:creationId xmlns:a16="http://schemas.microsoft.com/office/drawing/2014/main" id="{E4A3B4AA-0667-8F7A-CB8F-26D374F04559}"/>
                </a:ext>
              </a:extLst>
            </p:cNvPr>
            <p:cNvSpPr txBox="1">
              <a:spLocks noChangeArrowheads="1"/>
            </p:cNvSpPr>
            <p:nvPr/>
          </p:nvSpPr>
          <p:spPr bwMode="auto">
            <a:xfrm>
              <a:off x="1056" y="3408"/>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sp>
          <p:nvSpPr>
            <p:cNvPr id="38961" name="Text Box 16">
              <a:extLst>
                <a:ext uri="{FF2B5EF4-FFF2-40B4-BE49-F238E27FC236}">
                  <a16:creationId xmlns:a16="http://schemas.microsoft.com/office/drawing/2014/main" id="{EB0C0A17-FEC5-4C2B-0ADE-ADDF4F6DCBDE}"/>
                </a:ext>
              </a:extLst>
            </p:cNvPr>
            <p:cNvSpPr txBox="1">
              <a:spLocks noChangeArrowheads="1"/>
            </p:cNvSpPr>
            <p:nvPr/>
          </p:nvSpPr>
          <p:spPr bwMode="auto">
            <a:xfrm>
              <a:off x="1852" y="34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grpSp>
      <p:grpSp>
        <p:nvGrpSpPr>
          <p:cNvPr id="3" name="Group 17">
            <a:extLst>
              <a:ext uri="{FF2B5EF4-FFF2-40B4-BE49-F238E27FC236}">
                <a16:creationId xmlns:a16="http://schemas.microsoft.com/office/drawing/2014/main" id="{358078DB-E6BB-C4A3-9F60-7187833D4BE9}"/>
              </a:ext>
            </a:extLst>
          </p:cNvPr>
          <p:cNvGrpSpPr>
            <a:grpSpLocks/>
          </p:cNvGrpSpPr>
          <p:nvPr/>
        </p:nvGrpSpPr>
        <p:grpSpPr bwMode="auto">
          <a:xfrm>
            <a:off x="3841750" y="4214813"/>
            <a:ext cx="1981200" cy="1828800"/>
            <a:chOff x="2448" y="2784"/>
            <a:chExt cx="1248" cy="1152"/>
          </a:xfrm>
        </p:grpSpPr>
        <p:sp>
          <p:nvSpPr>
            <p:cNvPr id="38940" name="Line 18">
              <a:extLst>
                <a:ext uri="{FF2B5EF4-FFF2-40B4-BE49-F238E27FC236}">
                  <a16:creationId xmlns:a16="http://schemas.microsoft.com/office/drawing/2014/main" id="{EEE7463F-1744-00D8-E19B-A0016502E318}"/>
                </a:ext>
              </a:extLst>
            </p:cNvPr>
            <p:cNvSpPr>
              <a:spLocks noChangeShapeType="1"/>
            </p:cNvSpPr>
            <p:nvPr/>
          </p:nvSpPr>
          <p:spPr bwMode="auto">
            <a:xfrm>
              <a:off x="2448" y="3456"/>
              <a:ext cx="120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1" name="Line 19">
              <a:extLst>
                <a:ext uri="{FF2B5EF4-FFF2-40B4-BE49-F238E27FC236}">
                  <a16:creationId xmlns:a16="http://schemas.microsoft.com/office/drawing/2014/main" id="{05FB06F2-97FB-139B-B75F-E83FB56C4230}"/>
                </a:ext>
              </a:extLst>
            </p:cNvPr>
            <p:cNvSpPr>
              <a:spLocks noChangeShapeType="1"/>
            </p:cNvSpPr>
            <p:nvPr/>
          </p:nvSpPr>
          <p:spPr bwMode="auto">
            <a:xfrm flipV="1">
              <a:off x="3024" y="2928"/>
              <a:ext cx="0" cy="1008"/>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42" name="Line 20">
              <a:extLst>
                <a:ext uri="{FF2B5EF4-FFF2-40B4-BE49-F238E27FC236}">
                  <a16:creationId xmlns:a16="http://schemas.microsoft.com/office/drawing/2014/main" id="{FB73DCE1-16AC-24C6-135E-EF709434761E}"/>
                </a:ext>
              </a:extLst>
            </p:cNvPr>
            <p:cNvSpPr>
              <a:spLocks noChangeShapeType="1"/>
            </p:cNvSpPr>
            <p:nvPr/>
          </p:nvSpPr>
          <p:spPr bwMode="auto">
            <a:xfrm flipH="1">
              <a:off x="2976" y="3120"/>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3" name="Line 21">
              <a:extLst>
                <a:ext uri="{FF2B5EF4-FFF2-40B4-BE49-F238E27FC236}">
                  <a16:creationId xmlns:a16="http://schemas.microsoft.com/office/drawing/2014/main" id="{F8058D7B-1339-76E5-1413-FCA3DA848DB2}"/>
                </a:ext>
              </a:extLst>
            </p:cNvPr>
            <p:cNvSpPr>
              <a:spLocks noChangeShapeType="1"/>
            </p:cNvSpPr>
            <p:nvPr/>
          </p:nvSpPr>
          <p:spPr bwMode="auto">
            <a:xfrm>
              <a:off x="2976" y="3120"/>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4" name="Line 22">
              <a:extLst>
                <a:ext uri="{FF2B5EF4-FFF2-40B4-BE49-F238E27FC236}">
                  <a16:creationId xmlns:a16="http://schemas.microsoft.com/office/drawing/2014/main" id="{752A2DE8-6966-262E-0DFE-6F1249951188}"/>
                </a:ext>
              </a:extLst>
            </p:cNvPr>
            <p:cNvSpPr>
              <a:spLocks noChangeShapeType="1"/>
            </p:cNvSpPr>
            <p:nvPr/>
          </p:nvSpPr>
          <p:spPr bwMode="auto">
            <a:xfrm flipH="1">
              <a:off x="2976" y="3696"/>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5" name="Line 23">
              <a:extLst>
                <a:ext uri="{FF2B5EF4-FFF2-40B4-BE49-F238E27FC236}">
                  <a16:creationId xmlns:a16="http://schemas.microsoft.com/office/drawing/2014/main" id="{5251FC46-09F8-58B8-9359-CB7900064FAE}"/>
                </a:ext>
              </a:extLst>
            </p:cNvPr>
            <p:cNvSpPr>
              <a:spLocks noChangeShapeType="1"/>
            </p:cNvSpPr>
            <p:nvPr/>
          </p:nvSpPr>
          <p:spPr bwMode="auto">
            <a:xfrm>
              <a:off x="2976" y="3696"/>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46" name="Text Box 24">
              <a:extLst>
                <a:ext uri="{FF2B5EF4-FFF2-40B4-BE49-F238E27FC236}">
                  <a16:creationId xmlns:a16="http://schemas.microsoft.com/office/drawing/2014/main" id="{67812702-D4F8-7F50-647B-F16CC339EFB4}"/>
                </a:ext>
              </a:extLst>
            </p:cNvPr>
            <p:cNvSpPr txBox="1">
              <a:spLocks noChangeArrowheads="1"/>
            </p:cNvSpPr>
            <p:nvPr/>
          </p:nvSpPr>
          <p:spPr bwMode="auto">
            <a:xfrm>
              <a:off x="3464" y="3408"/>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38947" name="Text Box 25">
              <a:extLst>
                <a:ext uri="{FF2B5EF4-FFF2-40B4-BE49-F238E27FC236}">
                  <a16:creationId xmlns:a16="http://schemas.microsoft.com/office/drawing/2014/main" id="{234D2A2C-3C83-C43A-6B10-68AD5397B038}"/>
                </a:ext>
              </a:extLst>
            </p:cNvPr>
            <p:cNvSpPr txBox="1">
              <a:spLocks noChangeArrowheads="1"/>
            </p:cNvSpPr>
            <p:nvPr/>
          </p:nvSpPr>
          <p:spPr bwMode="auto">
            <a:xfrm>
              <a:off x="2723" y="2784"/>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a:t>
              </a:r>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38948" name="Text Box 26">
              <a:extLst>
                <a:ext uri="{FF2B5EF4-FFF2-40B4-BE49-F238E27FC236}">
                  <a16:creationId xmlns:a16="http://schemas.microsoft.com/office/drawing/2014/main" id="{2F763911-D88D-DE5B-6EB6-4A36E97FE63B}"/>
                </a:ext>
              </a:extLst>
            </p:cNvPr>
            <p:cNvSpPr txBox="1">
              <a:spLocks noChangeArrowheads="1"/>
            </p:cNvSpPr>
            <p:nvPr/>
          </p:nvSpPr>
          <p:spPr bwMode="auto">
            <a:xfrm>
              <a:off x="2832" y="34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38949" name="Text Box 27">
              <a:extLst>
                <a:ext uri="{FF2B5EF4-FFF2-40B4-BE49-F238E27FC236}">
                  <a16:creationId xmlns:a16="http://schemas.microsoft.com/office/drawing/2014/main" id="{187A1530-0705-9EB1-F912-1E7F0E0A2F3E}"/>
                </a:ext>
              </a:extLst>
            </p:cNvPr>
            <p:cNvSpPr txBox="1">
              <a:spLocks noChangeArrowheads="1"/>
            </p:cNvSpPr>
            <p:nvPr/>
          </p:nvSpPr>
          <p:spPr bwMode="auto">
            <a:xfrm>
              <a:off x="3055" y="3576"/>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-ja</a:t>
              </a:r>
            </a:p>
          </p:txBody>
        </p:sp>
        <p:sp>
          <p:nvSpPr>
            <p:cNvPr id="38950" name="Text Box 28">
              <a:extLst>
                <a:ext uri="{FF2B5EF4-FFF2-40B4-BE49-F238E27FC236}">
                  <a16:creationId xmlns:a16="http://schemas.microsoft.com/office/drawing/2014/main" id="{BB8C1E96-2F59-B22F-5F88-EC15D91406A6}"/>
                </a:ext>
              </a:extLst>
            </p:cNvPr>
            <p:cNvSpPr txBox="1">
              <a:spLocks noChangeArrowheads="1"/>
            </p:cNvSpPr>
            <p:nvPr/>
          </p:nvSpPr>
          <p:spPr bwMode="auto">
            <a:xfrm>
              <a:off x="3047" y="3016"/>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ja</a:t>
              </a:r>
            </a:p>
          </p:txBody>
        </p:sp>
      </p:grpSp>
      <p:grpSp>
        <p:nvGrpSpPr>
          <p:cNvPr id="4" name="Group 29">
            <a:extLst>
              <a:ext uri="{FF2B5EF4-FFF2-40B4-BE49-F238E27FC236}">
                <a16:creationId xmlns:a16="http://schemas.microsoft.com/office/drawing/2014/main" id="{C86AF9A3-A327-F720-6290-259FC2F31ACF}"/>
              </a:ext>
            </a:extLst>
          </p:cNvPr>
          <p:cNvGrpSpPr>
            <a:grpSpLocks/>
          </p:cNvGrpSpPr>
          <p:nvPr/>
        </p:nvGrpSpPr>
        <p:grpSpPr bwMode="auto">
          <a:xfrm>
            <a:off x="6037263" y="4214813"/>
            <a:ext cx="1995487" cy="1905000"/>
            <a:chOff x="3831" y="2784"/>
            <a:chExt cx="1257" cy="1200"/>
          </a:xfrm>
        </p:grpSpPr>
        <p:sp>
          <p:nvSpPr>
            <p:cNvPr id="38919" name="Line 30">
              <a:extLst>
                <a:ext uri="{FF2B5EF4-FFF2-40B4-BE49-F238E27FC236}">
                  <a16:creationId xmlns:a16="http://schemas.microsoft.com/office/drawing/2014/main" id="{3978D9DA-9679-0D6E-D84D-B0F8676F3C4E}"/>
                </a:ext>
              </a:extLst>
            </p:cNvPr>
            <p:cNvSpPr>
              <a:spLocks noChangeShapeType="1"/>
            </p:cNvSpPr>
            <p:nvPr/>
          </p:nvSpPr>
          <p:spPr bwMode="auto">
            <a:xfrm>
              <a:off x="3840" y="3456"/>
              <a:ext cx="1200" cy="0"/>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0" name="Line 31">
              <a:extLst>
                <a:ext uri="{FF2B5EF4-FFF2-40B4-BE49-F238E27FC236}">
                  <a16:creationId xmlns:a16="http://schemas.microsoft.com/office/drawing/2014/main" id="{7A948481-C152-A68B-00FB-3FCA72863B7F}"/>
                </a:ext>
              </a:extLst>
            </p:cNvPr>
            <p:cNvSpPr>
              <a:spLocks noChangeShapeType="1"/>
            </p:cNvSpPr>
            <p:nvPr/>
          </p:nvSpPr>
          <p:spPr bwMode="auto">
            <a:xfrm flipV="1">
              <a:off x="4416" y="2928"/>
              <a:ext cx="0" cy="1008"/>
            </a:xfrm>
            <a:prstGeom prst="line">
              <a:avLst/>
            </a:prstGeom>
            <a:noFill/>
            <a:ln w="222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921" name="Line 32">
              <a:extLst>
                <a:ext uri="{FF2B5EF4-FFF2-40B4-BE49-F238E27FC236}">
                  <a16:creationId xmlns:a16="http://schemas.microsoft.com/office/drawing/2014/main" id="{8E8CE403-7CF8-0EE9-B52C-86B6DE1AE63E}"/>
                </a:ext>
              </a:extLst>
            </p:cNvPr>
            <p:cNvSpPr>
              <a:spLocks noChangeShapeType="1"/>
            </p:cNvSpPr>
            <p:nvPr/>
          </p:nvSpPr>
          <p:spPr bwMode="auto">
            <a:xfrm flipH="1">
              <a:off x="4032" y="3120"/>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2" name="Line 33">
              <a:extLst>
                <a:ext uri="{FF2B5EF4-FFF2-40B4-BE49-F238E27FC236}">
                  <a16:creationId xmlns:a16="http://schemas.microsoft.com/office/drawing/2014/main" id="{2D7B4725-758E-FFB0-3DBF-AE44FAD359A5}"/>
                </a:ext>
              </a:extLst>
            </p:cNvPr>
            <p:cNvSpPr>
              <a:spLocks noChangeShapeType="1"/>
            </p:cNvSpPr>
            <p:nvPr/>
          </p:nvSpPr>
          <p:spPr bwMode="auto">
            <a:xfrm>
              <a:off x="4032" y="3120"/>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3" name="Line 34">
              <a:extLst>
                <a:ext uri="{FF2B5EF4-FFF2-40B4-BE49-F238E27FC236}">
                  <a16:creationId xmlns:a16="http://schemas.microsoft.com/office/drawing/2014/main" id="{6402EC44-2285-CFCB-2D8E-65BC3151C372}"/>
                </a:ext>
              </a:extLst>
            </p:cNvPr>
            <p:cNvSpPr>
              <a:spLocks noChangeShapeType="1"/>
            </p:cNvSpPr>
            <p:nvPr/>
          </p:nvSpPr>
          <p:spPr bwMode="auto">
            <a:xfrm flipH="1">
              <a:off x="4032" y="3696"/>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4" name="Line 35">
              <a:extLst>
                <a:ext uri="{FF2B5EF4-FFF2-40B4-BE49-F238E27FC236}">
                  <a16:creationId xmlns:a16="http://schemas.microsoft.com/office/drawing/2014/main" id="{78858FA1-64CD-DA66-9B99-E8FA7103AA40}"/>
                </a:ext>
              </a:extLst>
            </p:cNvPr>
            <p:cNvSpPr>
              <a:spLocks noChangeShapeType="1"/>
            </p:cNvSpPr>
            <p:nvPr/>
          </p:nvSpPr>
          <p:spPr bwMode="auto">
            <a:xfrm>
              <a:off x="4032" y="3696"/>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5" name="Text Box 36">
              <a:extLst>
                <a:ext uri="{FF2B5EF4-FFF2-40B4-BE49-F238E27FC236}">
                  <a16:creationId xmlns:a16="http://schemas.microsoft.com/office/drawing/2014/main" id="{965E4596-63E6-1C04-02C4-AEBD8F2A592D}"/>
                </a:ext>
              </a:extLst>
            </p:cNvPr>
            <p:cNvSpPr txBox="1">
              <a:spLocks noChangeArrowheads="1"/>
            </p:cNvSpPr>
            <p:nvPr/>
          </p:nvSpPr>
          <p:spPr bwMode="auto">
            <a:xfrm>
              <a:off x="4856" y="3408"/>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38926" name="Text Box 37">
              <a:extLst>
                <a:ext uri="{FF2B5EF4-FFF2-40B4-BE49-F238E27FC236}">
                  <a16:creationId xmlns:a16="http://schemas.microsoft.com/office/drawing/2014/main" id="{BC143D91-8809-E7D9-D5C5-3D2ABADA7BB7}"/>
                </a:ext>
              </a:extLst>
            </p:cNvPr>
            <p:cNvSpPr txBox="1">
              <a:spLocks noChangeArrowheads="1"/>
            </p:cNvSpPr>
            <p:nvPr/>
          </p:nvSpPr>
          <p:spPr bwMode="auto">
            <a:xfrm>
              <a:off x="4115" y="2784"/>
              <a:ext cx="3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a:t>
              </a:r>
              <a:r>
                <a:rPr lang="en-US" altLang="zh-CN" sz="2400" i="1">
                  <a:latin typeface="Times New Roman" panose="02020603050405020304" pitchFamily="18" charset="0"/>
                  <a:sym typeface="Symbol" panose="05050102010706020507" pitchFamily="18" charset="2"/>
                </a:rPr>
                <a:t></a:t>
              </a:r>
              <a:endParaRPr lang="en-US" altLang="zh-CN" sz="2400" i="1">
                <a:latin typeface="Times New Roman" panose="02020603050405020304" pitchFamily="18" charset="0"/>
              </a:endParaRPr>
            </a:p>
          </p:txBody>
        </p:sp>
        <p:sp>
          <p:nvSpPr>
            <p:cNvPr id="38927" name="Text Box 38">
              <a:extLst>
                <a:ext uri="{FF2B5EF4-FFF2-40B4-BE49-F238E27FC236}">
                  <a16:creationId xmlns:a16="http://schemas.microsoft.com/office/drawing/2014/main" id="{5927B4B3-3EE0-7E08-F8C1-7478C50D48A7}"/>
                </a:ext>
              </a:extLst>
            </p:cNvPr>
            <p:cNvSpPr txBox="1">
              <a:spLocks noChangeArrowheads="1"/>
            </p:cNvSpPr>
            <p:nvPr/>
          </p:nvSpPr>
          <p:spPr bwMode="auto">
            <a:xfrm>
              <a:off x="4224" y="34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a:latin typeface="Times New Roman" panose="02020603050405020304" pitchFamily="18" charset="0"/>
                </a:rPr>
                <a:t>0</a:t>
              </a:r>
            </a:p>
          </p:txBody>
        </p:sp>
        <p:sp>
          <p:nvSpPr>
            <p:cNvPr id="38928" name="Text Box 39">
              <a:extLst>
                <a:ext uri="{FF2B5EF4-FFF2-40B4-BE49-F238E27FC236}">
                  <a16:creationId xmlns:a16="http://schemas.microsoft.com/office/drawing/2014/main" id="{8FB0D84E-A8D7-2593-B41E-62A9044E4138}"/>
                </a:ext>
              </a:extLst>
            </p:cNvPr>
            <p:cNvSpPr txBox="1">
              <a:spLocks noChangeArrowheads="1"/>
            </p:cNvSpPr>
            <p:nvPr/>
          </p:nvSpPr>
          <p:spPr bwMode="auto">
            <a:xfrm>
              <a:off x="3831" y="3360"/>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sp>
          <p:nvSpPr>
            <p:cNvPr id="38929" name="Text Box 40">
              <a:extLst>
                <a:ext uri="{FF2B5EF4-FFF2-40B4-BE49-F238E27FC236}">
                  <a16:creationId xmlns:a16="http://schemas.microsoft.com/office/drawing/2014/main" id="{2F059ECA-AB78-30BF-A691-2812697396D6}"/>
                </a:ext>
              </a:extLst>
            </p:cNvPr>
            <p:cNvSpPr txBox="1">
              <a:spLocks noChangeArrowheads="1"/>
            </p:cNvSpPr>
            <p:nvPr/>
          </p:nvSpPr>
          <p:spPr bwMode="auto">
            <a:xfrm>
              <a:off x="4656" y="336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a</a:t>
              </a:r>
            </a:p>
          </p:txBody>
        </p:sp>
        <p:sp>
          <p:nvSpPr>
            <p:cNvPr id="38930" name="Line 41">
              <a:extLst>
                <a:ext uri="{FF2B5EF4-FFF2-40B4-BE49-F238E27FC236}">
                  <a16:creationId xmlns:a16="http://schemas.microsoft.com/office/drawing/2014/main" id="{B2A6B3FB-D253-80BC-8372-9E418DBC84D7}"/>
                </a:ext>
              </a:extLst>
            </p:cNvPr>
            <p:cNvSpPr>
              <a:spLocks noChangeShapeType="1"/>
            </p:cNvSpPr>
            <p:nvPr/>
          </p:nvSpPr>
          <p:spPr bwMode="auto">
            <a:xfrm flipH="1">
              <a:off x="4656" y="3120"/>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1" name="Line 42">
              <a:extLst>
                <a:ext uri="{FF2B5EF4-FFF2-40B4-BE49-F238E27FC236}">
                  <a16:creationId xmlns:a16="http://schemas.microsoft.com/office/drawing/2014/main" id="{924B3C3F-78DA-64E6-7AD5-4C0BB5478871}"/>
                </a:ext>
              </a:extLst>
            </p:cNvPr>
            <p:cNvSpPr>
              <a:spLocks noChangeShapeType="1"/>
            </p:cNvSpPr>
            <p:nvPr/>
          </p:nvSpPr>
          <p:spPr bwMode="auto">
            <a:xfrm>
              <a:off x="4656" y="3120"/>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2" name="Line 43">
              <a:extLst>
                <a:ext uri="{FF2B5EF4-FFF2-40B4-BE49-F238E27FC236}">
                  <a16:creationId xmlns:a16="http://schemas.microsoft.com/office/drawing/2014/main" id="{ACE62F9C-2E83-1C6A-559E-981D17D10EFA}"/>
                </a:ext>
              </a:extLst>
            </p:cNvPr>
            <p:cNvSpPr>
              <a:spLocks noChangeShapeType="1"/>
            </p:cNvSpPr>
            <p:nvPr/>
          </p:nvSpPr>
          <p:spPr bwMode="auto">
            <a:xfrm flipH="1">
              <a:off x="4656" y="3696"/>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3" name="Line 44">
              <a:extLst>
                <a:ext uri="{FF2B5EF4-FFF2-40B4-BE49-F238E27FC236}">
                  <a16:creationId xmlns:a16="http://schemas.microsoft.com/office/drawing/2014/main" id="{8390A023-F8F9-D794-91F8-7A922E287533}"/>
                </a:ext>
              </a:extLst>
            </p:cNvPr>
            <p:cNvSpPr>
              <a:spLocks noChangeShapeType="1"/>
            </p:cNvSpPr>
            <p:nvPr/>
          </p:nvSpPr>
          <p:spPr bwMode="auto">
            <a:xfrm>
              <a:off x="4656" y="3696"/>
              <a:ext cx="96" cy="96"/>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4" name="Line 45">
              <a:extLst>
                <a:ext uri="{FF2B5EF4-FFF2-40B4-BE49-F238E27FC236}">
                  <a16:creationId xmlns:a16="http://schemas.microsoft.com/office/drawing/2014/main" id="{0E4723CC-621B-B9C0-DD5C-EA83E82CF2B0}"/>
                </a:ext>
              </a:extLst>
            </p:cNvPr>
            <p:cNvSpPr>
              <a:spLocks noChangeShapeType="1"/>
            </p:cNvSpPr>
            <p:nvPr/>
          </p:nvSpPr>
          <p:spPr bwMode="auto">
            <a:xfrm>
              <a:off x="4080" y="3744"/>
              <a:ext cx="624" cy="0"/>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5" name="Line 46">
              <a:extLst>
                <a:ext uri="{FF2B5EF4-FFF2-40B4-BE49-F238E27FC236}">
                  <a16:creationId xmlns:a16="http://schemas.microsoft.com/office/drawing/2014/main" id="{B89653FF-5D60-3A63-0A4F-B6935FEFA2B7}"/>
                </a:ext>
              </a:extLst>
            </p:cNvPr>
            <p:cNvSpPr>
              <a:spLocks noChangeShapeType="1"/>
            </p:cNvSpPr>
            <p:nvPr/>
          </p:nvSpPr>
          <p:spPr bwMode="auto">
            <a:xfrm>
              <a:off x="4080" y="3168"/>
              <a:ext cx="624" cy="0"/>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6" name="Line 47">
              <a:extLst>
                <a:ext uri="{FF2B5EF4-FFF2-40B4-BE49-F238E27FC236}">
                  <a16:creationId xmlns:a16="http://schemas.microsoft.com/office/drawing/2014/main" id="{9C520198-5235-9A5B-E9C2-C4897C735C4A}"/>
                </a:ext>
              </a:extLst>
            </p:cNvPr>
            <p:cNvSpPr>
              <a:spLocks noChangeShapeType="1"/>
            </p:cNvSpPr>
            <p:nvPr/>
          </p:nvSpPr>
          <p:spPr bwMode="auto">
            <a:xfrm>
              <a:off x="4080" y="3168"/>
              <a:ext cx="0" cy="576"/>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7" name="Line 48">
              <a:extLst>
                <a:ext uri="{FF2B5EF4-FFF2-40B4-BE49-F238E27FC236}">
                  <a16:creationId xmlns:a16="http://schemas.microsoft.com/office/drawing/2014/main" id="{4A744087-8E48-B135-AD26-4581C5F78A4A}"/>
                </a:ext>
              </a:extLst>
            </p:cNvPr>
            <p:cNvSpPr>
              <a:spLocks noChangeShapeType="1"/>
            </p:cNvSpPr>
            <p:nvPr/>
          </p:nvSpPr>
          <p:spPr bwMode="auto">
            <a:xfrm>
              <a:off x="4704" y="3168"/>
              <a:ext cx="0" cy="576"/>
            </a:xfrm>
            <a:prstGeom prst="line">
              <a:avLst/>
            </a:prstGeom>
            <a:noFill/>
            <a:ln w="22225">
              <a:solidFill>
                <a:schemeClr val="tx1"/>
              </a:solidFill>
              <a:prstDash val="dash"/>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38" name="Text Box 49">
              <a:extLst>
                <a:ext uri="{FF2B5EF4-FFF2-40B4-BE49-F238E27FC236}">
                  <a16:creationId xmlns:a16="http://schemas.microsoft.com/office/drawing/2014/main" id="{8D6A5341-BE4F-CC28-A6E8-9F155457FA9E}"/>
                </a:ext>
              </a:extLst>
            </p:cNvPr>
            <p:cNvSpPr txBox="1">
              <a:spLocks noChangeArrowheads="1"/>
            </p:cNvSpPr>
            <p:nvPr/>
          </p:nvSpPr>
          <p:spPr bwMode="auto">
            <a:xfrm>
              <a:off x="4119" y="3696"/>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-jb</a:t>
              </a:r>
            </a:p>
          </p:txBody>
        </p:sp>
        <p:sp>
          <p:nvSpPr>
            <p:cNvPr id="38939" name="Text Box 50">
              <a:extLst>
                <a:ext uri="{FF2B5EF4-FFF2-40B4-BE49-F238E27FC236}">
                  <a16:creationId xmlns:a16="http://schemas.microsoft.com/office/drawing/2014/main" id="{7B1D40BE-4DAE-9976-505D-E36D6204859F}"/>
                </a:ext>
              </a:extLst>
            </p:cNvPr>
            <p:cNvSpPr txBox="1">
              <a:spLocks noChangeArrowheads="1"/>
            </p:cNvSpPr>
            <p:nvPr/>
          </p:nvSpPr>
          <p:spPr bwMode="auto">
            <a:xfrm>
              <a:off x="4416" y="2880"/>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400" i="1">
                  <a:latin typeface="Times New Roman" panose="02020603050405020304" pitchFamily="18" charset="0"/>
                </a:rPr>
                <a:t>jb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8371"/>
                                        </p:tgtEl>
                                        <p:attrNameLst>
                                          <p:attrName>style.visibility</p:attrName>
                                        </p:attrNameLst>
                                      </p:cBhvr>
                                      <p:to>
                                        <p:strVal val="visible"/>
                                      </p:to>
                                    </p:set>
                                    <p:animEffect transition="in" filter="blinds(horizontal)">
                                      <p:cBhvr>
                                        <p:cTn id="7" dur="500"/>
                                        <p:tgtEl>
                                          <p:spTgt spid="583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500" fill="hold"/>
                                        <p:tgtEl>
                                          <p:spTgt spid="4"/>
                                        </p:tgtEl>
                                        <p:attrNameLst>
                                          <p:attrName>ppt_x</p:attrName>
                                        </p:attrNameLst>
                                      </p:cBhvr>
                                      <p:tavLst>
                                        <p:tav tm="0">
                                          <p:val>
                                            <p:strVal val="#ppt_x"/>
                                          </p:val>
                                        </p:tav>
                                        <p:tav tm="100000">
                                          <p:val>
                                            <p:strVal val="#ppt_x"/>
                                          </p:val>
                                        </p:tav>
                                      </p:tavLst>
                                    </p:anim>
                                    <p:anim calcmode="lin" valueType="num">
                                      <p:cBhvr additive="base">
                                        <p:cTn id="2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a:extLst>
              <a:ext uri="{FF2B5EF4-FFF2-40B4-BE49-F238E27FC236}">
                <a16:creationId xmlns:a16="http://schemas.microsoft.com/office/drawing/2014/main" id="{20328BF6-222B-900F-DC26-D3D299ED32AE}"/>
              </a:ext>
            </a:extLst>
          </p:cNvPr>
          <p:cNvSpPr>
            <a:spLocks noChangeArrowheads="1"/>
          </p:cNvSpPr>
          <p:nvPr/>
        </p:nvSpPr>
        <p:spPr bwMode="auto">
          <a:xfrm>
            <a:off x="1258888" y="3213100"/>
            <a:ext cx="67818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宋体" panose="02010600030101010101" pitchFamily="2" charset="-122"/>
              </a:rPr>
              <a:t>令辅助多项式等于零得到辅助方程，解此方程可得这些成对的特征根。显然，</a:t>
            </a:r>
            <a:r>
              <a:rPr lang="zh-CN" altLang="en-US" sz="2800">
                <a:solidFill>
                  <a:srgbClr val="FF0000"/>
                </a:solidFill>
                <a:latin typeface="宋体" panose="02010600030101010101" pitchFamily="2" charset="-122"/>
              </a:rPr>
              <a:t>辅助</a:t>
            </a:r>
          </a:p>
          <a:p>
            <a:pPr eaLnBrk="1" hangingPunct="1">
              <a:lnSpc>
                <a:spcPct val="115000"/>
              </a:lnSpc>
            </a:pPr>
            <a:r>
              <a:rPr lang="zh-CN" altLang="en-US" sz="2800">
                <a:solidFill>
                  <a:srgbClr val="FF0000"/>
                </a:solidFill>
                <a:latin typeface="宋体" panose="02010600030101010101" pitchFamily="2" charset="-122"/>
              </a:rPr>
              <a:t>多项式的阶次总是偶数</a:t>
            </a:r>
            <a:r>
              <a:rPr lang="zh-CN" altLang="en-US" sz="2800">
                <a:latin typeface="宋体" panose="02010600030101010101" pitchFamily="2" charset="-122"/>
              </a:rPr>
              <a:t>。 </a:t>
            </a:r>
          </a:p>
        </p:txBody>
      </p:sp>
      <p:sp>
        <p:nvSpPr>
          <p:cNvPr id="40963" name="Rectangle 4">
            <a:extLst>
              <a:ext uri="{FF2B5EF4-FFF2-40B4-BE49-F238E27FC236}">
                <a16:creationId xmlns:a16="http://schemas.microsoft.com/office/drawing/2014/main" id="{344A9C0C-466B-DF43-C657-3C67F05BC160}"/>
              </a:ext>
            </a:extLst>
          </p:cNvPr>
          <p:cNvSpPr>
            <a:spLocks noChangeArrowheads="1"/>
          </p:cNvSpPr>
          <p:nvPr/>
        </p:nvSpPr>
        <p:spPr bwMode="auto">
          <a:xfrm>
            <a:off x="1258888" y="1689100"/>
            <a:ext cx="7058025"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solidFill>
                  <a:srgbClr val="FF0000"/>
                </a:solidFill>
                <a:latin typeface="宋体" panose="02010600030101010101" pitchFamily="2" charset="-122"/>
              </a:rPr>
              <a:t>处理方法</a:t>
            </a:r>
            <a:r>
              <a:rPr lang="zh-CN" altLang="en-US" sz="2800">
                <a:latin typeface="宋体" panose="02010600030101010101" pitchFamily="2" charset="-122"/>
              </a:rPr>
              <a:t>：利用该零行上面一行元素构成辅助多项式，取辅助多项式导数的系数代替该零行，继续计算劳斯阵列中其余各项。 </a:t>
            </a:r>
          </a:p>
        </p:txBody>
      </p:sp>
      <p:grpSp>
        <p:nvGrpSpPr>
          <p:cNvPr id="2" name="Group 5">
            <a:extLst>
              <a:ext uri="{FF2B5EF4-FFF2-40B4-BE49-F238E27FC236}">
                <a16:creationId xmlns:a16="http://schemas.microsoft.com/office/drawing/2014/main" id="{89731922-8EF5-F8D9-AFDD-64888301634A}"/>
              </a:ext>
            </a:extLst>
          </p:cNvPr>
          <p:cNvGrpSpPr>
            <a:grpSpLocks/>
          </p:cNvGrpSpPr>
          <p:nvPr/>
        </p:nvGrpSpPr>
        <p:grpSpPr bwMode="auto">
          <a:xfrm>
            <a:off x="1252538" y="4813300"/>
            <a:ext cx="6975475" cy="1106488"/>
            <a:chOff x="908" y="3120"/>
            <a:chExt cx="4394" cy="697"/>
          </a:xfrm>
        </p:grpSpPr>
        <p:sp>
          <p:nvSpPr>
            <p:cNvPr id="40965" name="Rectangle 6">
              <a:extLst>
                <a:ext uri="{FF2B5EF4-FFF2-40B4-BE49-F238E27FC236}">
                  <a16:creationId xmlns:a16="http://schemas.microsoft.com/office/drawing/2014/main" id="{C68BAF5F-F26D-7F53-29F0-D38634A72870}"/>
                </a:ext>
              </a:extLst>
            </p:cNvPr>
            <p:cNvSpPr>
              <a:spLocks noChangeArrowheads="1"/>
            </p:cNvSpPr>
            <p:nvPr/>
          </p:nvSpPr>
          <p:spPr bwMode="auto">
            <a:xfrm>
              <a:off x="908" y="3120"/>
              <a:ext cx="7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例如：</a:t>
              </a:r>
            </a:p>
          </p:txBody>
        </p:sp>
        <p:graphicFrame>
          <p:nvGraphicFramePr>
            <p:cNvPr id="40966" name="Object 7">
              <a:extLst>
                <a:ext uri="{FF2B5EF4-FFF2-40B4-BE49-F238E27FC236}">
                  <a16:creationId xmlns:a16="http://schemas.microsoft.com/office/drawing/2014/main" id="{9A0FBB40-C51A-CFA9-4AC2-12E9AC9CB980}"/>
                </a:ext>
              </a:extLst>
            </p:cNvPr>
            <p:cNvGraphicFramePr>
              <a:graphicFrameLocks noChangeAspect="1"/>
            </p:cNvGraphicFramePr>
            <p:nvPr/>
          </p:nvGraphicFramePr>
          <p:xfrm>
            <a:off x="960" y="3504"/>
            <a:ext cx="4342" cy="313"/>
          </p:xfrm>
          <a:graphic>
            <a:graphicData uri="http://schemas.openxmlformats.org/presentationml/2006/ole">
              <mc:AlternateContent xmlns:mc="http://schemas.openxmlformats.org/markup-compatibility/2006">
                <mc:Choice xmlns:v="urn:schemas-microsoft-com:vml" Requires="v">
                  <p:oleObj r:id="rId3" imgW="3327400" imgH="241300" progId="Equation.3">
                    <p:embed/>
                  </p:oleObj>
                </mc:Choice>
                <mc:Fallback>
                  <p:oleObj r:id="rId3" imgW="3327400" imgH="2413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 y="3504"/>
                          <a:ext cx="4342"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 calcmode="lin" valueType="num">
                                      <p:cBhvr additive="base">
                                        <p:cTn id="7" dur="500" fill="hold"/>
                                        <p:tgtEl>
                                          <p:spTgt spid="35843"/>
                                        </p:tgtEl>
                                        <p:attrNameLst>
                                          <p:attrName>ppt_x</p:attrName>
                                        </p:attrNameLst>
                                      </p:cBhvr>
                                      <p:tavLst>
                                        <p:tav tm="0">
                                          <p:val>
                                            <p:strVal val="#ppt_x"/>
                                          </p:val>
                                        </p:tav>
                                        <p:tav tm="100000">
                                          <p:val>
                                            <p:strVal val="#ppt_x"/>
                                          </p:val>
                                        </p:tav>
                                      </p:tavLst>
                                    </p:anim>
                                    <p:anim calcmode="lin" valueType="num">
                                      <p:cBhvr additive="base">
                                        <p:cTn id="8" dur="500" fill="hold"/>
                                        <p:tgtEl>
                                          <p:spTgt spid="3584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83489D9F-BF85-C322-0952-425E689D0005}"/>
              </a:ext>
            </a:extLst>
          </p:cNvPr>
          <p:cNvGrpSpPr>
            <a:grpSpLocks/>
          </p:cNvGrpSpPr>
          <p:nvPr/>
        </p:nvGrpSpPr>
        <p:grpSpPr bwMode="auto">
          <a:xfrm>
            <a:off x="2590800" y="3184525"/>
            <a:ext cx="4724400" cy="536575"/>
            <a:chOff x="1728" y="2054"/>
            <a:chExt cx="2976" cy="338"/>
          </a:xfrm>
        </p:grpSpPr>
        <p:graphicFrame>
          <p:nvGraphicFramePr>
            <p:cNvPr id="43022" name="Object 4">
              <a:extLst>
                <a:ext uri="{FF2B5EF4-FFF2-40B4-BE49-F238E27FC236}">
                  <a16:creationId xmlns:a16="http://schemas.microsoft.com/office/drawing/2014/main" id="{271125E1-D137-7451-11F0-D22559EF7F99}"/>
                </a:ext>
              </a:extLst>
            </p:cNvPr>
            <p:cNvGraphicFramePr>
              <a:graphicFrameLocks noChangeAspect="1"/>
            </p:cNvGraphicFramePr>
            <p:nvPr/>
          </p:nvGraphicFramePr>
          <p:xfrm>
            <a:off x="3528" y="2054"/>
            <a:ext cx="1176" cy="338"/>
          </p:xfrm>
          <a:graphic>
            <a:graphicData uri="http://schemas.openxmlformats.org/presentationml/2006/ole">
              <mc:AlternateContent xmlns:mc="http://schemas.openxmlformats.org/markup-compatibility/2006">
                <mc:Choice xmlns:v="urn:schemas-microsoft-com:vml" Requires="v">
                  <p:oleObj r:id="rId3" imgW="838200" imgH="241300" progId="Equation.3">
                    <p:embed/>
                  </p:oleObj>
                </mc:Choice>
                <mc:Fallback>
                  <p:oleObj r:id="rId3" imgW="8382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8" y="2054"/>
                          <a:ext cx="117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3" name="AutoShape 5">
              <a:extLst>
                <a:ext uri="{FF2B5EF4-FFF2-40B4-BE49-F238E27FC236}">
                  <a16:creationId xmlns:a16="http://schemas.microsoft.com/office/drawing/2014/main" id="{96BD3D7D-39E6-9B41-5DAE-6BB80AC9214D}"/>
                </a:ext>
              </a:extLst>
            </p:cNvPr>
            <p:cNvSpPr>
              <a:spLocks noChangeArrowheads="1"/>
            </p:cNvSpPr>
            <p:nvPr/>
          </p:nvSpPr>
          <p:spPr bwMode="auto">
            <a:xfrm>
              <a:off x="1728" y="2112"/>
              <a:ext cx="1296" cy="240"/>
            </a:xfrm>
            <a:prstGeom prst="roundRect">
              <a:avLst>
                <a:gd name="adj" fmla="val 16667"/>
              </a:avLst>
            </a:prstGeom>
            <a:noFill/>
            <a:ln w="222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3024" name="AutoShape 6">
              <a:extLst>
                <a:ext uri="{FF2B5EF4-FFF2-40B4-BE49-F238E27FC236}">
                  <a16:creationId xmlns:a16="http://schemas.microsoft.com/office/drawing/2014/main" id="{4F1C415C-BBB6-0727-A727-1F579AFB3052}"/>
                </a:ext>
              </a:extLst>
            </p:cNvPr>
            <p:cNvSpPr>
              <a:spLocks noChangeArrowheads="1"/>
            </p:cNvSpPr>
            <p:nvPr/>
          </p:nvSpPr>
          <p:spPr bwMode="auto">
            <a:xfrm>
              <a:off x="3168" y="2160"/>
              <a:ext cx="336" cy="144"/>
            </a:xfrm>
            <a:prstGeom prst="rightArrow">
              <a:avLst>
                <a:gd name="adj1" fmla="val 50000"/>
                <a:gd name="adj2" fmla="val 5829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3" name="Group 7">
            <a:extLst>
              <a:ext uri="{FF2B5EF4-FFF2-40B4-BE49-F238E27FC236}">
                <a16:creationId xmlns:a16="http://schemas.microsoft.com/office/drawing/2014/main" id="{7C86FF70-8C30-47F6-8C9F-915E5968D397}"/>
              </a:ext>
            </a:extLst>
          </p:cNvPr>
          <p:cNvGrpSpPr>
            <a:grpSpLocks/>
          </p:cNvGrpSpPr>
          <p:nvPr/>
        </p:nvGrpSpPr>
        <p:grpSpPr bwMode="auto">
          <a:xfrm>
            <a:off x="2590800" y="4038600"/>
            <a:ext cx="4403725" cy="536575"/>
            <a:chOff x="1728" y="2592"/>
            <a:chExt cx="2774" cy="338"/>
          </a:xfrm>
        </p:grpSpPr>
        <p:graphicFrame>
          <p:nvGraphicFramePr>
            <p:cNvPr id="43019" name="Object 8">
              <a:extLst>
                <a:ext uri="{FF2B5EF4-FFF2-40B4-BE49-F238E27FC236}">
                  <a16:creationId xmlns:a16="http://schemas.microsoft.com/office/drawing/2014/main" id="{9E5C360F-4780-72DC-B57A-66E10B18B95A}"/>
                </a:ext>
              </a:extLst>
            </p:cNvPr>
            <p:cNvGraphicFramePr>
              <a:graphicFrameLocks noChangeAspect="1"/>
            </p:cNvGraphicFramePr>
            <p:nvPr/>
          </p:nvGraphicFramePr>
          <p:xfrm>
            <a:off x="3504" y="2592"/>
            <a:ext cx="998" cy="338"/>
          </p:xfrm>
          <a:graphic>
            <a:graphicData uri="http://schemas.openxmlformats.org/presentationml/2006/ole">
              <mc:AlternateContent xmlns:mc="http://schemas.openxmlformats.org/markup-compatibility/2006">
                <mc:Choice xmlns:v="urn:schemas-microsoft-com:vml" Requires="v">
                  <p:oleObj r:id="rId5" imgW="710891" imgH="241195" progId="Equation.3">
                    <p:embed/>
                  </p:oleObj>
                </mc:Choice>
                <mc:Fallback>
                  <p:oleObj r:id="rId5" imgW="710891" imgH="241195"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4" y="2592"/>
                          <a:ext cx="99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0" name="AutoShape 9">
              <a:extLst>
                <a:ext uri="{FF2B5EF4-FFF2-40B4-BE49-F238E27FC236}">
                  <a16:creationId xmlns:a16="http://schemas.microsoft.com/office/drawing/2014/main" id="{BBC6CD6B-8287-566A-76C9-48139BD65C92}"/>
                </a:ext>
              </a:extLst>
            </p:cNvPr>
            <p:cNvSpPr>
              <a:spLocks noChangeArrowheads="1"/>
            </p:cNvSpPr>
            <p:nvPr/>
          </p:nvSpPr>
          <p:spPr bwMode="auto">
            <a:xfrm flipH="1">
              <a:off x="2640" y="2688"/>
              <a:ext cx="768" cy="144"/>
            </a:xfrm>
            <a:prstGeom prst="rightArrow">
              <a:avLst>
                <a:gd name="adj1" fmla="val 50000"/>
                <a:gd name="adj2" fmla="val 133235"/>
              </a:avLst>
            </a:prstGeom>
            <a:solidFill>
              <a:srgbClr val="FF0000"/>
            </a:solidFill>
            <a:ln w="22225">
              <a:solidFill>
                <a:srgbClr val="FF0000"/>
              </a:solidFill>
              <a:miter lim="800000"/>
              <a:headEnd/>
              <a:tailEnd/>
            </a:ln>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43021" name="AutoShape 10">
              <a:extLst>
                <a:ext uri="{FF2B5EF4-FFF2-40B4-BE49-F238E27FC236}">
                  <a16:creationId xmlns:a16="http://schemas.microsoft.com/office/drawing/2014/main" id="{66DD8A58-4C2C-2656-6B0D-C10812DDC8CC}"/>
                </a:ext>
              </a:extLst>
            </p:cNvPr>
            <p:cNvSpPr>
              <a:spLocks noChangeArrowheads="1"/>
            </p:cNvSpPr>
            <p:nvPr/>
          </p:nvSpPr>
          <p:spPr bwMode="auto">
            <a:xfrm>
              <a:off x="1728" y="2640"/>
              <a:ext cx="720" cy="240"/>
            </a:xfrm>
            <a:prstGeom prst="roundRect">
              <a:avLst>
                <a:gd name="adj" fmla="val 16667"/>
              </a:avLst>
            </a:prstGeom>
            <a:noFill/>
            <a:ln w="222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grpSp>
        <p:nvGrpSpPr>
          <p:cNvPr id="4" name="Group 11">
            <a:extLst>
              <a:ext uri="{FF2B5EF4-FFF2-40B4-BE49-F238E27FC236}">
                <a16:creationId xmlns:a16="http://schemas.microsoft.com/office/drawing/2014/main" id="{6EFACF8B-F679-6771-6A3D-247E021916B7}"/>
              </a:ext>
            </a:extLst>
          </p:cNvPr>
          <p:cNvGrpSpPr>
            <a:grpSpLocks/>
          </p:cNvGrpSpPr>
          <p:nvPr/>
        </p:nvGrpSpPr>
        <p:grpSpPr bwMode="auto">
          <a:xfrm>
            <a:off x="4419600" y="4572000"/>
            <a:ext cx="4191000" cy="2012950"/>
            <a:chOff x="2784" y="2880"/>
            <a:chExt cx="2640" cy="1268"/>
          </a:xfrm>
        </p:grpSpPr>
        <p:sp>
          <p:nvSpPr>
            <p:cNvPr id="43017" name="Rectangle 12">
              <a:extLst>
                <a:ext uri="{FF2B5EF4-FFF2-40B4-BE49-F238E27FC236}">
                  <a16:creationId xmlns:a16="http://schemas.microsoft.com/office/drawing/2014/main" id="{5AB236FA-70A4-E13A-72F3-8D2C3EDC6264}"/>
                </a:ext>
              </a:extLst>
            </p:cNvPr>
            <p:cNvSpPr>
              <a:spLocks noChangeArrowheads="1"/>
            </p:cNvSpPr>
            <p:nvPr/>
          </p:nvSpPr>
          <p:spPr bwMode="auto">
            <a:xfrm>
              <a:off x="2832" y="3552"/>
              <a:ext cx="259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rPr>
                <a:t>-1</a:t>
              </a:r>
              <a:r>
                <a:rPr lang="zh-CN" altLang="en-US" sz="2800">
                  <a:latin typeface="Times New Roman" panose="02020603050405020304" pitchFamily="18" charset="0"/>
                </a:rPr>
                <a:t>、</a:t>
              </a:r>
              <a:r>
                <a:rPr lang="en-US" altLang="zh-CN" sz="2800">
                  <a:latin typeface="Times New Roman" panose="02020603050405020304" pitchFamily="18" charset="0"/>
                </a:rPr>
                <a:t>-1 ±</a:t>
              </a:r>
              <a:r>
                <a:rPr lang="en-US" altLang="zh-CN" sz="2800">
                  <a:latin typeface="Arial" panose="020B0604020202020204" pitchFamily="34" charset="0"/>
                </a:rPr>
                <a:t> </a:t>
              </a:r>
              <a:r>
                <a:rPr lang="en-US" altLang="zh-CN" sz="2800" i="1">
                  <a:latin typeface="Times New Roman" panose="02020603050405020304" pitchFamily="18" charset="0"/>
                </a:rPr>
                <a:t>j</a:t>
              </a:r>
              <a:r>
                <a:rPr lang="en-US" altLang="zh-CN" sz="2800">
                  <a:latin typeface="Times New Roman" panose="02020603050405020304" pitchFamily="18" charset="0"/>
                </a:rPr>
                <a:t>2</a:t>
              </a:r>
              <a:r>
                <a:rPr lang="zh-CN" altLang="en-US" sz="2800">
                  <a:latin typeface="Times New Roman" panose="02020603050405020304" pitchFamily="18" charset="0"/>
                </a:rPr>
                <a:t>、 </a:t>
              </a:r>
              <a:r>
                <a:rPr lang="en-US" altLang="zh-CN" sz="2800">
                  <a:solidFill>
                    <a:srgbClr val="FF0000"/>
                  </a:solidFill>
                  <a:latin typeface="Times New Roman" panose="02020603050405020304" pitchFamily="18" charset="0"/>
                </a:rPr>
                <a:t>-1 ±</a:t>
              </a:r>
              <a:r>
                <a:rPr lang="en-US" altLang="zh-CN" sz="2800">
                  <a:solidFill>
                    <a:srgbClr val="FF0000"/>
                  </a:solidFill>
                  <a:latin typeface="Arial" panose="020B0604020202020204" pitchFamily="34" charset="0"/>
                </a:rPr>
                <a:t> </a:t>
              </a:r>
              <a:r>
                <a:rPr lang="en-US" altLang="zh-CN" sz="2800" i="1">
                  <a:solidFill>
                    <a:srgbClr val="FF0000"/>
                  </a:solidFill>
                  <a:latin typeface="Times New Roman" panose="02020603050405020304" pitchFamily="18" charset="0"/>
                </a:rPr>
                <a:t>j</a:t>
              </a:r>
              <a:r>
                <a:rPr lang="zh-CN" altLang="en-US" sz="2800">
                  <a:latin typeface="Times New Roman" panose="02020603050405020304" pitchFamily="18" charset="0"/>
                </a:rPr>
                <a:t>、</a:t>
              </a:r>
              <a:r>
                <a:rPr lang="en-US" altLang="zh-CN" sz="2800">
                  <a:solidFill>
                    <a:srgbClr val="FF0000"/>
                  </a:solidFill>
                  <a:latin typeface="Times New Roman" panose="02020603050405020304" pitchFamily="18" charset="0"/>
                </a:rPr>
                <a:t>1 ±</a:t>
              </a:r>
              <a:r>
                <a:rPr lang="en-US" altLang="zh-CN" sz="2800">
                  <a:solidFill>
                    <a:srgbClr val="FF0000"/>
                  </a:solidFill>
                  <a:latin typeface="Arial" panose="020B0604020202020204" pitchFamily="34" charset="0"/>
                </a:rPr>
                <a:t> </a:t>
              </a:r>
              <a:r>
                <a:rPr lang="en-US" altLang="zh-CN" sz="2800" i="1">
                  <a:solidFill>
                    <a:srgbClr val="FF0000"/>
                  </a:solidFill>
                  <a:latin typeface="Times New Roman" panose="02020603050405020304" pitchFamily="18" charset="0"/>
                </a:rPr>
                <a:t>j</a:t>
              </a:r>
            </a:p>
          </p:txBody>
        </p:sp>
        <p:sp>
          <p:nvSpPr>
            <p:cNvPr id="43018" name="Rectangle 13">
              <a:extLst>
                <a:ext uri="{FF2B5EF4-FFF2-40B4-BE49-F238E27FC236}">
                  <a16:creationId xmlns:a16="http://schemas.microsoft.com/office/drawing/2014/main" id="{274BCA89-F7EE-983B-68E1-9739FB6F12F8}"/>
                </a:ext>
              </a:extLst>
            </p:cNvPr>
            <p:cNvSpPr>
              <a:spLocks noChangeArrowheads="1"/>
            </p:cNvSpPr>
            <p:nvPr/>
          </p:nvSpPr>
          <p:spPr bwMode="auto">
            <a:xfrm>
              <a:off x="2784" y="2880"/>
              <a:ext cx="2640" cy="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显然，系统不稳定。其特征根如下：</a:t>
              </a:r>
            </a:p>
          </p:txBody>
        </p:sp>
      </p:grpSp>
      <p:grpSp>
        <p:nvGrpSpPr>
          <p:cNvPr id="5" name="Group 14">
            <a:extLst>
              <a:ext uri="{FF2B5EF4-FFF2-40B4-BE49-F238E27FC236}">
                <a16:creationId xmlns:a16="http://schemas.microsoft.com/office/drawing/2014/main" id="{781496DF-2FB7-1778-E0E9-C9BD5ACBD753}"/>
              </a:ext>
            </a:extLst>
          </p:cNvPr>
          <p:cNvGrpSpPr>
            <a:grpSpLocks/>
          </p:cNvGrpSpPr>
          <p:nvPr/>
        </p:nvGrpSpPr>
        <p:grpSpPr bwMode="auto">
          <a:xfrm>
            <a:off x="1600200" y="1066800"/>
            <a:ext cx="4800600" cy="4789488"/>
            <a:chOff x="1008" y="672"/>
            <a:chExt cx="3024" cy="3017"/>
          </a:xfrm>
        </p:grpSpPr>
        <p:sp>
          <p:nvSpPr>
            <p:cNvPr id="43015" name="Rectangle 15">
              <a:extLst>
                <a:ext uri="{FF2B5EF4-FFF2-40B4-BE49-F238E27FC236}">
                  <a16:creationId xmlns:a16="http://schemas.microsoft.com/office/drawing/2014/main" id="{B62D4030-F2B8-9BD4-1362-AC2453212106}"/>
                </a:ext>
              </a:extLst>
            </p:cNvPr>
            <p:cNvSpPr>
              <a:spLocks noChangeArrowheads="1"/>
            </p:cNvSpPr>
            <p:nvPr/>
          </p:nvSpPr>
          <p:spPr bwMode="auto">
            <a:xfrm>
              <a:off x="1008" y="672"/>
              <a:ext cx="3024" cy="3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7</a:t>
              </a:r>
              <a:r>
                <a:rPr lang="en-US" altLang="zh-CN" sz="2800">
                  <a:latin typeface="Times New Roman" panose="02020603050405020304" pitchFamily="18" charset="0"/>
                </a:rPr>
                <a:t>	1	7	4	28</a:t>
              </a:r>
              <a:endParaRPr lang="en-US" altLang="zh-CN" sz="2900" baseline="-18000">
                <a:latin typeface="Times New Roman" panose="02020603050405020304" pitchFamily="18" charset="0"/>
              </a:endParaRP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6</a:t>
              </a:r>
              <a:r>
                <a:rPr lang="en-US" altLang="zh-CN" sz="2800">
                  <a:latin typeface="Times New Roman" panose="02020603050405020304" pitchFamily="18" charset="0"/>
                </a:rPr>
                <a:t>	3	5	12	20</a:t>
              </a: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5</a:t>
              </a:r>
              <a:r>
                <a:rPr lang="en-US" altLang="zh-CN" sz="2800">
                  <a:latin typeface="Times New Roman" panose="02020603050405020304" pitchFamily="18" charset="0"/>
                </a:rPr>
                <a:t>	16/3	0	64/3	0</a:t>
              </a:r>
            </a:p>
            <a:p>
              <a:pPr algn="just" eaLnBrk="1" hangingPunct="1"/>
              <a:r>
                <a:rPr lang="en-US" altLang="zh-CN" sz="2800">
                  <a:latin typeface="Times New Roman" panose="02020603050405020304" pitchFamily="18" charset="0"/>
                </a:rPr>
                <a:t>	1	0	4	0</a:t>
              </a: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4</a:t>
              </a:r>
              <a:r>
                <a:rPr lang="en-US" altLang="zh-CN" sz="2800">
                  <a:latin typeface="Times New Roman" panose="02020603050405020304" pitchFamily="18" charset="0"/>
                </a:rPr>
                <a:t>	5	0	20</a:t>
              </a:r>
            </a:p>
            <a:p>
              <a:pPr algn="just" eaLnBrk="1" hangingPunct="1"/>
              <a:r>
                <a:rPr lang="en-US" altLang="zh-CN" sz="2800">
                  <a:latin typeface="Times New Roman" panose="02020603050405020304" pitchFamily="18" charset="0"/>
                </a:rPr>
                <a:t>	1	0	4</a:t>
              </a: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3</a:t>
              </a:r>
              <a:r>
                <a:rPr lang="en-US" altLang="zh-CN" sz="2800">
                  <a:latin typeface="Times New Roman" panose="02020603050405020304" pitchFamily="18" charset="0"/>
                </a:rPr>
                <a:t>	</a:t>
              </a:r>
              <a:r>
                <a:rPr lang="en-US" altLang="zh-CN" sz="2800">
                  <a:solidFill>
                    <a:srgbClr val="FF0000"/>
                  </a:solidFill>
                  <a:latin typeface="Times New Roman" panose="02020603050405020304" pitchFamily="18" charset="0"/>
                </a:rPr>
                <a:t>0	0</a:t>
              </a:r>
            </a:p>
            <a:p>
              <a:pPr algn="just" eaLnBrk="1" hangingPunct="1"/>
              <a:r>
                <a:rPr lang="en-US" altLang="zh-CN" sz="2800">
                  <a:latin typeface="Times New Roman" panose="02020603050405020304" pitchFamily="18" charset="0"/>
                </a:rPr>
                <a:t>	4	0</a:t>
              </a: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2</a:t>
              </a:r>
              <a:r>
                <a:rPr lang="en-US" altLang="zh-CN" sz="2800">
                  <a:latin typeface="Times New Roman" panose="02020603050405020304" pitchFamily="18" charset="0"/>
                </a:rPr>
                <a:t>	</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(0) 	4</a:t>
              </a: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1	</a:t>
              </a:r>
              <a:r>
                <a:rPr lang="en-US" altLang="zh-CN" sz="2800">
                  <a:latin typeface="Times New Roman" panose="02020603050405020304" pitchFamily="18" charset="0"/>
                </a:rPr>
                <a:t>-16/</a:t>
              </a:r>
              <a:r>
                <a:rPr lang="en-US" altLang="zh-CN" sz="2800" i="1">
                  <a:latin typeface="Times New Roman" panose="02020603050405020304" pitchFamily="18" charset="0"/>
                  <a:sym typeface="Symbol" panose="05050102010706020507" pitchFamily="18" charset="2"/>
                </a:rPr>
                <a:t></a:t>
              </a:r>
              <a:endParaRPr lang="en-US" altLang="zh-CN" sz="2800">
                <a:latin typeface="Times New Roman" panose="02020603050405020304" pitchFamily="18" charset="0"/>
              </a:endParaRPr>
            </a:p>
            <a:p>
              <a:pPr algn="just" eaLnBrk="1" hangingPunct="1"/>
              <a:r>
                <a:rPr lang="en-US" altLang="zh-CN" sz="2800" i="1">
                  <a:latin typeface="Times New Roman" panose="02020603050405020304" pitchFamily="18" charset="0"/>
                </a:rPr>
                <a:t>s</a:t>
              </a:r>
              <a:r>
                <a:rPr lang="en-US" altLang="zh-CN" sz="2900" baseline="30000">
                  <a:latin typeface="Times New Roman" panose="02020603050405020304" pitchFamily="18" charset="0"/>
                </a:rPr>
                <a:t>0	</a:t>
              </a:r>
              <a:r>
                <a:rPr lang="en-US" altLang="zh-CN" sz="2800">
                  <a:latin typeface="Times New Roman" panose="02020603050405020304" pitchFamily="18" charset="0"/>
                </a:rPr>
                <a:t>4</a:t>
              </a:r>
            </a:p>
          </p:txBody>
        </p:sp>
        <p:sp>
          <p:nvSpPr>
            <p:cNvPr id="43016" name="Line 16">
              <a:extLst>
                <a:ext uri="{FF2B5EF4-FFF2-40B4-BE49-F238E27FC236}">
                  <a16:creationId xmlns:a16="http://schemas.microsoft.com/office/drawing/2014/main" id="{EA8252D6-2FD8-D9C4-2829-62BB77252F1C}"/>
                </a:ext>
              </a:extLst>
            </p:cNvPr>
            <p:cNvSpPr>
              <a:spLocks noChangeShapeType="1"/>
            </p:cNvSpPr>
            <p:nvPr/>
          </p:nvSpPr>
          <p:spPr bwMode="auto">
            <a:xfrm>
              <a:off x="1392" y="720"/>
              <a:ext cx="0" cy="2928"/>
            </a:xfrm>
            <a:prstGeom prst="line">
              <a:avLst/>
            </a:prstGeom>
            <a:noFill/>
            <a:ln w="22225">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43014" name="Object 19">
            <a:extLst>
              <a:ext uri="{FF2B5EF4-FFF2-40B4-BE49-F238E27FC236}">
                <a16:creationId xmlns:a16="http://schemas.microsoft.com/office/drawing/2014/main" id="{058333E4-A3B1-11E8-177B-092EF7CF0F64}"/>
              </a:ext>
            </a:extLst>
          </p:cNvPr>
          <p:cNvGraphicFramePr>
            <a:graphicFrameLocks noChangeAspect="1"/>
          </p:cNvGraphicFramePr>
          <p:nvPr/>
        </p:nvGraphicFramePr>
        <p:xfrm>
          <a:off x="1042988" y="188913"/>
          <a:ext cx="6892925" cy="496887"/>
        </p:xfrm>
        <a:graphic>
          <a:graphicData uri="http://schemas.openxmlformats.org/presentationml/2006/ole">
            <mc:AlternateContent xmlns:mc="http://schemas.openxmlformats.org/markup-compatibility/2006">
              <mc:Choice xmlns:v="urn:schemas-microsoft-com:vml" Requires="v">
                <p:oleObj r:id="rId7" imgW="3327400" imgH="241300" progId="Equation.3">
                  <p:embed/>
                </p:oleObj>
              </mc:Choice>
              <mc:Fallback>
                <p:oleObj r:id="rId7" imgW="3327400" imgH="24130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188913"/>
                        <a:ext cx="68929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a:extLst>
              <a:ext uri="{FF2B5EF4-FFF2-40B4-BE49-F238E27FC236}">
                <a16:creationId xmlns:a16="http://schemas.microsoft.com/office/drawing/2014/main" id="{A3F9AEE8-8D66-E1C2-E09A-13F4D81F2518}"/>
              </a:ext>
            </a:extLst>
          </p:cNvPr>
          <p:cNvSpPr>
            <a:spLocks noChangeArrowheads="1"/>
          </p:cNvSpPr>
          <p:nvPr/>
        </p:nvSpPr>
        <p:spPr bwMode="auto">
          <a:xfrm>
            <a:off x="1331913" y="1746250"/>
            <a:ext cx="716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b="1">
                <a:latin typeface="宋体" panose="02010600030101010101" pitchFamily="2" charset="-122"/>
              </a:rPr>
              <a:t> </a:t>
            </a:r>
            <a:r>
              <a:rPr lang="zh-CN" altLang="en-US" sz="2800" b="1">
                <a:latin typeface="宋体" panose="02010600030101010101" pitchFamily="2" charset="-122"/>
              </a:rPr>
              <a:t>用劳斯判据判断系统的相对稳定性</a:t>
            </a:r>
            <a:r>
              <a:rPr lang="zh-CN" altLang="en-US" sz="2800" b="1">
                <a:latin typeface="Times New Roman" panose="02020603050405020304" pitchFamily="18" charset="0"/>
              </a:rPr>
              <a:t> </a:t>
            </a:r>
          </a:p>
        </p:txBody>
      </p:sp>
      <p:sp>
        <p:nvSpPr>
          <p:cNvPr id="37892" name="Rectangle 4">
            <a:extLst>
              <a:ext uri="{FF2B5EF4-FFF2-40B4-BE49-F238E27FC236}">
                <a16:creationId xmlns:a16="http://schemas.microsoft.com/office/drawing/2014/main" id="{DBF33030-C0A9-CCDF-75E8-632F4AD946F5}"/>
              </a:ext>
            </a:extLst>
          </p:cNvPr>
          <p:cNvSpPr>
            <a:spLocks noChangeArrowheads="1"/>
          </p:cNvSpPr>
          <p:nvPr/>
        </p:nvSpPr>
        <p:spPr bwMode="auto">
          <a:xfrm>
            <a:off x="1331913" y="2225675"/>
            <a:ext cx="7010400" cy="156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宋体" panose="02010600030101010101" pitchFamily="2" charset="-122"/>
              </a:rPr>
              <a:t>系统相对稳定性</a:t>
            </a:r>
            <a:r>
              <a:rPr lang="zh-CN" altLang="en-US" sz="2800">
                <a:latin typeface="Times New Roman" panose="02020603050405020304" pitchFamily="18" charset="0"/>
              </a:rPr>
              <a:t>可通过极点距虚轴的距离来表征。为了使系统具有良好的动态响应，常希望极点与虚轴具有一定的距离。</a:t>
            </a:r>
          </a:p>
        </p:txBody>
      </p:sp>
      <p:sp>
        <p:nvSpPr>
          <p:cNvPr id="37893" name="Rectangle 5">
            <a:extLst>
              <a:ext uri="{FF2B5EF4-FFF2-40B4-BE49-F238E27FC236}">
                <a16:creationId xmlns:a16="http://schemas.microsoft.com/office/drawing/2014/main" id="{074EB123-1BCF-EF3A-BE33-82F3CE27DDC3}"/>
              </a:ext>
            </a:extLst>
          </p:cNvPr>
          <p:cNvSpPr>
            <a:spLocks noChangeArrowheads="1"/>
          </p:cNvSpPr>
          <p:nvPr/>
        </p:nvSpPr>
        <p:spPr bwMode="auto">
          <a:xfrm>
            <a:off x="1331913" y="3789363"/>
            <a:ext cx="7343775"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为此，可将原 </a:t>
            </a:r>
            <a:r>
              <a:rPr lang="en-US" altLang="zh-CN" sz="2800" i="1">
                <a:latin typeface="Times New Roman" panose="02020603050405020304" pitchFamily="18" charset="0"/>
              </a:rPr>
              <a:t>s</a:t>
            </a:r>
            <a:r>
              <a:rPr lang="en-US" altLang="zh-CN" sz="2800">
                <a:latin typeface="Times New Roman" panose="02020603050405020304" pitchFamily="18" charset="0"/>
              </a:rPr>
              <a:t> </a:t>
            </a:r>
            <a:r>
              <a:rPr lang="zh-CN" altLang="en-US" sz="2800">
                <a:latin typeface="Times New Roman" panose="02020603050405020304" pitchFamily="18" charset="0"/>
              </a:rPr>
              <a:t>平面虚轴向左平移期望的最小距离</a:t>
            </a:r>
            <a:r>
              <a:rPr lang="en-US" altLang="zh-CN" sz="2800" i="1">
                <a:latin typeface="Times New Roman" panose="02020603050405020304" pitchFamily="18" charset="0"/>
              </a:rPr>
              <a:t>a</a:t>
            </a:r>
            <a:r>
              <a:rPr lang="zh-CN" altLang="en-US" sz="2800">
                <a:latin typeface="Times New Roman" panose="02020603050405020304" pitchFamily="18" charset="0"/>
              </a:rPr>
              <a:t>，即用 </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en-US" altLang="zh-CN" sz="2800" i="1">
                <a:latin typeface="Times New Roman" panose="02020603050405020304" pitchFamily="18" charset="0"/>
              </a:rPr>
              <a:t>a </a:t>
            </a:r>
            <a:r>
              <a:rPr lang="zh-CN" altLang="en-US" sz="2800">
                <a:latin typeface="Times New Roman" panose="02020603050405020304" pitchFamily="18" charset="0"/>
              </a:rPr>
              <a:t>替换原特征方程中的</a:t>
            </a:r>
            <a:r>
              <a:rPr lang="en-US" altLang="zh-CN" sz="2800" i="1">
                <a:latin typeface="Times New Roman" panose="02020603050405020304" pitchFamily="18" charset="0"/>
              </a:rPr>
              <a:t>s</a:t>
            </a:r>
            <a:r>
              <a:rPr lang="zh-CN" altLang="en-US" sz="2800">
                <a:latin typeface="Times New Roman" panose="02020603050405020304" pitchFamily="18" charset="0"/>
              </a:rPr>
              <a:t>，得到新的特征方程，再利用劳斯判据即可判断系统的特征根是否位于垂线</a:t>
            </a:r>
            <a:r>
              <a:rPr lang="en-US" altLang="zh-CN" sz="2800" i="1">
                <a:latin typeface="Times New Roman" panose="02020603050405020304" pitchFamily="18" charset="0"/>
              </a:rPr>
              <a:t>s = </a:t>
            </a:r>
            <a:r>
              <a:rPr lang="en-US" altLang="zh-CN" sz="2800">
                <a:latin typeface="Times New Roman" panose="02020603050405020304" pitchFamily="18" charset="0"/>
              </a:rPr>
              <a:t>–</a:t>
            </a:r>
            <a:r>
              <a:rPr lang="en-US" altLang="zh-CN" sz="2800" i="1">
                <a:latin typeface="Times New Roman" panose="02020603050405020304" pitchFamily="18" charset="0"/>
              </a:rPr>
              <a:t>a</a:t>
            </a:r>
            <a:r>
              <a:rPr lang="zh-CN" altLang="en-US" sz="2800">
                <a:latin typeface="Times New Roman" panose="02020603050405020304" pitchFamily="18" charset="0"/>
              </a:rPr>
              <a:t>的左边。</a:t>
            </a:r>
          </a:p>
        </p:txBody>
      </p:sp>
      <p:sp>
        <p:nvSpPr>
          <p:cNvPr id="45061" name="Rectangle 3">
            <a:extLst>
              <a:ext uri="{FF2B5EF4-FFF2-40B4-BE49-F238E27FC236}">
                <a16:creationId xmlns:a16="http://schemas.microsoft.com/office/drawing/2014/main" id="{4591CDBE-EFDA-C764-E6D5-2D5F54CBB49D}"/>
              </a:ext>
            </a:extLst>
          </p:cNvPr>
          <p:cNvSpPr>
            <a:spLocks noChangeArrowheads="1"/>
          </p:cNvSpPr>
          <p:nvPr/>
        </p:nvSpPr>
        <p:spPr bwMode="auto">
          <a:xfrm>
            <a:off x="755650" y="908050"/>
            <a:ext cx="7162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2800" b="1">
                <a:latin typeface="宋体" panose="02010600030101010101" pitchFamily="2" charset="-122"/>
              </a:rPr>
              <a:t> 劳斯判据的应用</a:t>
            </a:r>
            <a:r>
              <a:rPr lang="zh-CN" altLang="en-US" sz="2800" b="1">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additive="base">
                                        <p:cTn id="7" dur="500" fill="hold"/>
                                        <p:tgtEl>
                                          <p:spTgt spid="37892"/>
                                        </p:tgtEl>
                                        <p:attrNameLst>
                                          <p:attrName>ppt_x</p:attrName>
                                        </p:attrNameLst>
                                      </p:cBhvr>
                                      <p:tavLst>
                                        <p:tav tm="0">
                                          <p:val>
                                            <p:strVal val="#ppt_x"/>
                                          </p:val>
                                        </p:tav>
                                        <p:tav tm="100000">
                                          <p:val>
                                            <p:strVal val="#ppt_x"/>
                                          </p:val>
                                        </p:tav>
                                      </p:tavLst>
                                    </p:anim>
                                    <p:anim calcmode="lin" valueType="num">
                                      <p:cBhvr additive="base">
                                        <p:cTn id="8"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3"/>
                                        </p:tgtEl>
                                        <p:attrNameLst>
                                          <p:attrName>style.visibility</p:attrName>
                                        </p:attrNameLst>
                                      </p:cBhvr>
                                      <p:to>
                                        <p:strVal val="visible"/>
                                      </p:to>
                                    </p:set>
                                    <p:anim calcmode="lin" valueType="num">
                                      <p:cBhvr additive="base">
                                        <p:cTn id="13" dur="500" fill="hold"/>
                                        <p:tgtEl>
                                          <p:spTgt spid="37893"/>
                                        </p:tgtEl>
                                        <p:attrNameLst>
                                          <p:attrName>ppt_x</p:attrName>
                                        </p:attrNameLst>
                                      </p:cBhvr>
                                      <p:tavLst>
                                        <p:tav tm="0">
                                          <p:val>
                                            <p:strVal val="#ppt_x"/>
                                          </p:val>
                                        </p:tav>
                                        <p:tav tm="100000">
                                          <p:val>
                                            <p:strVal val="#ppt_x"/>
                                          </p:val>
                                        </p:tav>
                                      </p:tavLst>
                                    </p:anim>
                                    <p:anim calcmode="lin" valueType="num">
                                      <p:cBhvr additive="base">
                                        <p:cTn id="14"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p:bldP spid="3789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4">
            <a:extLst>
              <a:ext uri="{FF2B5EF4-FFF2-40B4-BE49-F238E27FC236}">
                <a16:creationId xmlns:a16="http://schemas.microsoft.com/office/drawing/2014/main" id="{6B09CB8F-FE91-7DF6-3A45-9221956D6618}"/>
              </a:ext>
            </a:extLst>
          </p:cNvPr>
          <p:cNvSpPr txBox="1">
            <a:spLocks noChangeArrowheads="1"/>
          </p:cNvSpPr>
          <p:nvPr/>
        </p:nvSpPr>
        <p:spPr bwMode="auto">
          <a:xfrm>
            <a:off x="592138" y="314325"/>
            <a:ext cx="803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latin typeface="Arial Black" panose="020B0A04020102020204" pitchFamily="34" charset="0"/>
              </a:rPr>
              <a:t>例：</a:t>
            </a:r>
          </a:p>
        </p:txBody>
      </p:sp>
      <p:sp>
        <p:nvSpPr>
          <p:cNvPr id="47107" name="Text Box 5">
            <a:extLst>
              <a:ext uri="{FF2B5EF4-FFF2-40B4-BE49-F238E27FC236}">
                <a16:creationId xmlns:a16="http://schemas.microsoft.com/office/drawing/2014/main" id="{11370869-6387-FFC3-50D7-B7F56D60A24B}"/>
              </a:ext>
            </a:extLst>
          </p:cNvPr>
          <p:cNvSpPr txBox="1">
            <a:spLocks noChangeArrowheads="1"/>
          </p:cNvSpPr>
          <p:nvPr/>
        </p:nvSpPr>
        <p:spPr bwMode="auto">
          <a:xfrm>
            <a:off x="1331913" y="333375"/>
            <a:ext cx="32781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t>设系统的特征方程为：</a:t>
            </a:r>
          </a:p>
        </p:txBody>
      </p:sp>
      <p:graphicFrame>
        <p:nvGraphicFramePr>
          <p:cNvPr id="47108" name="Object 2">
            <a:extLst>
              <a:ext uri="{FF2B5EF4-FFF2-40B4-BE49-F238E27FC236}">
                <a16:creationId xmlns:a16="http://schemas.microsoft.com/office/drawing/2014/main" id="{7DFE0F50-0627-11AE-EFDD-CD9267BD7B6B}"/>
              </a:ext>
            </a:extLst>
          </p:cNvPr>
          <p:cNvGraphicFramePr>
            <a:graphicFrameLocks noChangeAspect="1"/>
          </p:cNvGraphicFramePr>
          <p:nvPr/>
        </p:nvGraphicFramePr>
        <p:xfrm>
          <a:off x="5003800" y="333375"/>
          <a:ext cx="2519363" cy="396875"/>
        </p:xfrm>
        <a:graphic>
          <a:graphicData uri="http://schemas.openxmlformats.org/presentationml/2006/ole">
            <mc:AlternateContent xmlns:mc="http://schemas.openxmlformats.org/markup-compatibility/2006">
              <mc:Choice xmlns:v="urn:schemas-microsoft-com:vml" Requires="v">
                <p:oleObj r:id="rId2" imgW="1295400" imgH="203200" progId="Equation.3">
                  <p:embed/>
                </p:oleObj>
              </mc:Choice>
              <mc:Fallback>
                <p:oleObj r:id="rId2" imgW="1295400" imgH="2032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3800" y="333375"/>
                        <a:ext cx="2519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09" name="Text Box 7">
            <a:extLst>
              <a:ext uri="{FF2B5EF4-FFF2-40B4-BE49-F238E27FC236}">
                <a16:creationId xmlns:a16="http://schemas.microsoft.com/office/drawing/2014/main" id="{4D731CEC-B180-338A-A242-01B7285193ED}"/>
              </a:ext>
            </a:extLst>
          </p:cNvPr>
          <p:cNvSpPr txBox="1">
            <a:spLocks noChangeArrowheads="1"/>
          </p:cNvSpPr>
          <p:nvPr/>
        </p:nvSpPr>
        <p:spPr bwMode="auto">
          <a:xfrm>
            <a:off x="827088" y="1052513"/>
            <a:ext cx="7777162"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50000"/>
              </a:lnSpc>
            </a:pPr>
            <a:r>
              <a:rPr lang="zh-CN" altLang="en-US" sz="2400" b="1"/>
              <a:t>试判断该系统有几个特征方程根位于与虚轴平行的直线</a:t>
            </a:r>
            <a:r>
              <a:rPr lang="en-US" altLang="zh-CN" sz="2400" b="1"/>
              <a:t>s=-1</a:t>
            </a:r>
            <a:r>
              <a:rPr lang="zh-CN" altLang="en-US" sz="2400" b="1"/>
              <a:t>的右侧？</a:t>
            </a:r>
          </a:p>
        </p:txBody>
      </p:sp>
      <p:sp>
        <p:nvSpPr>
          <p:cNvPr id="57352" name="Text Box 8">
            <a:extLst>
              <a:ext uri="{FF2B5EF4-FFF2-40B4-BE49-F238E27FC236}">
                <a16:creationId xmlns:a16="http://schemas.microsoft.com/office/drawing/2014/main" id="{B0CABA92-088A-AC92-5D21-7FEB8E84BED4}"/>
              </a:ext>
            </a:extLst>
          </p:cNvPr>
          <p:cNvSpPr txBox="1">
            <a:spLocks noChangeArrowheads="1"/>
          </p:cNvSpPr>
          <p:nvPr/>
        </p:nvSpPr>
        <p:spPr bwMode="auto">
          <a:xfrm>
            <a:off x="735013" y="2473325"/>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t>解：</a:t>
            </a:r>
          </a:p>
        </p:txBody>
      </p:sp>
      <p:sp>
        <p:nvSpPr>
          <p:cNvPr id="57353" name="Text Box 9">
            <a:extLst>
              <a:ext uri="{FF2B5EF4-FFF2-40B4-BE49-F238E27FC236}">
                <a16:creationId xmlns:a16="http://schemas.microsoft.com/office/drawing/2014/main" id="{91233190-B281-8A4A-FB50-070188DB1AB1}"/>
              </a:ext>
            </a:extLst>
          </p:cNvPr>
          <p:cNvSpPr txBox="1">
            <a:spLocks noChangeArrowheads="1"/>
          </p:cNvSpPr>
          <p:nvPr/>
        </p:nvSpPr>
        <p:spPr bwMode="auto">
          <a:xfrm>
            <a:off x="1476375" y="2420938"/>
            <a:ext cx="693261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50000"/>
              </a:lnSpc>
            </a:pPr>
            <a:r>
              <a:rPr lang="zh-CN" altLang="en-US" sz="2400" b="1"/>
              <a:t>令</a:t>
            </a:r>
            <a:r>
              <a:rPr lang="en-US" altLang="zh-CN" sz="2400" b="1"/>
              <a:t>s=z-1,</a:t>
            </a:r>
            <a:r>
              <a:rPr lang="zh-CN" altLang="en-US" sz="2400" b="1"/>
              <a:t>代入特征方程，整理后得以</a:t>
            </a:r>
            <a:r>
              <a:rPr lang="en-US" altLang="zh-CN" sz="2400" b="1"/>
              <a:t>z</a:t>
            </a:r>
            <a:r>
              <a:rPr lang="zh-CN" altLang="en-US" sz="2400" b="1"/>
              <a:t>为变量的系统特征方程，再对此方程应用劳斯判据。</a:t>
            </a:r>
          </a:p>
        </p:txBody>
      </p:sp>
      <p:graphicFrame>
        <p:nvGraphicFramePr>
          <p:cNvPr id="57355" name="Object 3">
            <a:extLst>
              <a:ext uri="{FF2B5EF4-FFF2-40B4-BE49-F238E27FC236}">
                <a16:creationId xmlns:a16="http://schemas.microsoft.com/office/drawing/2014/main" id="{880755A9-FED1-D426-BB4E-E5805412FD36}"/>
              </a:ext>
            </a:extLst>
          </p:cNvPr>
          <p:cNvGraphicFramePr>
            <a:graphicFrameLocks noChangeAspect="1"/>
          </p:cNvGraphicFramePr>
          <p:nvPr/>
        </p:nvGraphicFramePr>
        <p:xfrm>
          <a:off x="2339975" y="3573463"/>
          <a:ext cx="4608513" cy="485775"/>
        </p:xfrm>
        <a:graphic>
          <a:graphicData uri="http://schemas.openxmlformats.org/presentationml/2006/ole">
            <mc:AlternateContent xmlns:mc="http://schemas.openxmlformats.org/markup-compatibility/2006">
              <mc:Choice xmlns:v="urn:schemas-microsoft-com:vml" Requires="v">
                <p:oleObj r:id="rId4" imgW="2171700" imgH="228600" progId="Equation.3">
                  <p:embed/>
                </p:oleObj>
              </mc:Choice>
              <mc:Fallback>
                <p:oleObj r:id="rId4" imgW="217170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3573463"/>
                        <a:ext cx="460851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6" name="Text Box 12">
            <a:extLst>
              <a:ext uri="{FF2B5EF4-FFF2-40B4-BE49-F238E27FC236}">
                <a16:creationId xmlns:a16="http://schemas.microsoft.com/office/drawing/2014/main" id="{6804270E-6AE7-E0EA-3632-E47F7EE9FBA5}"/>
              </a:ext>
            </a:extLst>
          </p:cNvPr>
          <p:cNvSpPr txBox="1">
            <a:spLocks noChangeArrowheads="1"/>
          </p:cNvSpPr>
          <p:nvPr/>
        </p:nvSpPr>
        <p:spPr bwMode="auto">
          <a:xfrm>
            <a:off x="971550" y="4149725"/>
            <a:ext cx="17319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t>整理可得：</a:t>
            </a:r>
          </a:p>
        </p:txBody>
      </p:sp>
      <p:graphicFrame>
        <p:nvGraphicFramePr>
          <p:cNvPr id="57357" name="Object 4">
            <a:extLst>
              <a:ext uri="{FF2B5EF4-FFF2-40B4-BE49-F238E27FC236}">
                <a16:creationId xmlns:a16="http://schemas.microsoft.com/office/drawing/2014/main" id="{F1DD278F-826F-525D-0552-45B9A2B07734}"/>
              </a:ext>
            </a:extLst>
          </p:cNvPr>
          <p:cNvGraphicFramePr>
            <a:graphicFrameLocks noChangeAspect="1"/>
          </p:cNvGraphicFramePr>
          <p:nvPr/>
        </p:nvGraphicFramePr>
        <p:xfrm>
          <a:off x="2555875" y="4652963"/>
          <a:ext cx="3024188" cy="465137"/>
        </p:xfrm>
        <a:graphic>
          <a:graphicData uri="http://schemas.openxmlformats.org/presentationml/2006/ole">
            <mc:AlternateContent xmlns:mc="http://schemas.openxmlformats.org/markup-compatibility/2006">
              <mc:Choice xmlns:v="urn:schemas-microsoft-com:vml" Requires="v">
                <p:oleObj r:id="rId6" imgW="1320227" imgH="203112" progId="Equation.3">
                  <p:embed/>
                </p:oleObj>
              </mc:Choice>
              <mc:Fallback>
                <p:oleObj r:id="rId6" imgW="1320227" imgH="203112"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4652963"/>
                        <a:ext cx="3024188"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8" name="Text Box 14">
            <a:extLst>
              <a:ext uri="{FF2B5EF4-FFF2-40B4-BE49-F238E27FC236}">
                <a16:creationId xmlns:a16="http://schemas.microsoft.com/office/drawing/2014/main" id="{ECD89A29-F463-AFDD-E6C7-514D8BC92397}"/>
              </a:ext>
            </a:extLst>
          </p:cNvPr>
          <p:cNvSpPr txBox="1">
            <a:spLocks noChangeArrowheads="1"/>
          </p:cNvSpPr>
          <p:nvPr/>
        </p:nvSpPr>
        <p:spPr bwMode="auto">
          <a:xfrm>
            <a:off x="1311275" y="5281613"/>
            <a:ext cx="2351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t>列劳斯阵列为：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35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735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73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35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57358"/>
                                        </p:tgtEl>
                                        <p:attrNameLst>
                                          <p:attrName>style.visibility</p:attrName>
                                        </p:attrNameLst>
                                      </p:cBhvr>
                                      <p:to>
                                        <p:strVal val="visible"/>
                                      </p:to>
                                    </p:set>
                                    <p:anim calcmode="lin" valueType="num">
                                      <p:cBhvr>
                                        <p:cTn id="25" dur="1000" fill="hold"/>
                                        <p:tgtEl>
                                          <p:spTgt spid="57358"/>
                                        </p:tgtEl>
                                        <p:attrNameLst>
                                          <p:attrName>ppt_w</p:attrName>
                                        </p:attrNameLst>
                                      </p:cBhvr>
                                      <p:tavLst>
                                        <p:tav tm="0">
                                          <p:val>
                                            <p:strVal val="#ppt_w*0.70"/>
                                          </p:val>
                                        </p:tav>
                                        <p:tav tm="100000">
                                          <p:val>
                                            <p:strVal val="#ppt_w"/>
                                          </p:val>
                                        </p:tav>
                                      </p:tavLst>
                                    </p:anim>
                                    <p:anim calcmode="lin" valueType="num">
                                      <p:cBhvr>
                                        <p:cTn id="26" dur="1000" fill="hold"/>
                                        <p:tgtEl>
                                          <p:spTgt spid="57358"/>
                                        </p:tgtEl>
                                        <p:attrNameLst>
                                          <p:attrName>ppt_h</p:attrName>
                                        </p:attrNameLst>
                                      </p:cBhvr>
                                      <p:tavLst>
                                        <p:tav tm="0">
                                          <p:val>
                                            <p:strVal val="#ppt_h"/>
                                          </p:val>
                                        </p:tav>
                                        <p:tav tm="100000">
                                          <p:val>
                                            <p:strVal val="#ppt_h"/>
                                          </p:val>
                                        </p:tav>
                                      </p:tavLst>
                                    </p:anim>
                                    <p:animEffect transition="in" filter="fade">
                                      <p:cBhvr>
                                        <p:cTn id="27" dur="1000"/>
                                        <p:tgtEl>
                                          <p:spTgt spid="57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2" grpId="0"/>
      <p:bldP spid="57353" grpId="0"/>
      <p:bldP spid="57356" grpId="0"/>
      <p:bldP spid="5735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420" name="Object 2">
            <a:extLst>
              <a:ext uri="{FF2B5EF4-FFF2-40B4-BE49-F238E27FC236}">
                <a16:creationId xmlns:a16="http://schemas.microsoft.com/office/drawing/2014/main" id="{F9A3CFC9-AA76-D3CC-68F8-C0C7D33BABDD}"/>
              </a:ext>
            </a:extLst>
          </p:cNvPr>
          <p:cNvGraphicFramePr>
            <a:graphicFrameLocks noChangeAspect="1"/>
          </p:cNvGraphicFramePr>
          <p:nvPr/>
        </p:nvGraphicFramePr>
        <p:xfrm>
          <a:off x="1547813" y="981075"/>
          <a:ext cx="3024187" cy="465138"/>
        </p:xfrm>
        <a:graphic>
          <a:graphicData uri="http://schemas.openxmlformats.org/presentationml/2006/ole">
            <mc:AlternateContent xmlns:mc="http://schemas.openxmlformats.org/markup-compatibility/2006">
              <mc:Choice xmlns:v="urn:schemas-microsoft-com:vml" Requires="v">
                <p:oleObj r:id="rId2" imgW="1320227" imgH="203112" progId="Equation.3">
                  <p:embed/>
                </p:oleObj>
              </mc:Choice>
              <mc:Fallback>
                <p:oleObj r:id="rId2" imgW="1320227" imgH="203112"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981075"/>
                        <a:ext cx="302418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421" name="Object 3">
            <a:extLst>
              <a:ext uri="{FF2B5EF4-FFF2-40B4-BE49-F238E27FC236}">
                <a16:creationId xmlns:a16="http://schemas.microsoft.com/office/drawing/2014/main" id="{CF33257A-D6FE-C747-C225-92F0BF825CD6}"/>
              </a:ext>
            </a:extLst>
          </p:cNvPr>
          <p:cNvGraphicFramePr>
            <a:graphicFrameLocks noChangeAspect="1"/>
          </p:cNvGraphicFramePr>
          <p:nvPr/>
        </p:nvGraphicFramePr>
        <p:xfrm>
          <a:off x="1042988" y="2133600"/>
          <a:ext cx="2087562" cy="2030413"/>
        </p:xfrm>
        <a:graphic>
          <a:graphicData uri="http://schemas.openxmlformats.org/presentationml/2006/ole">
            <mc:AlternateContent xmlns:mc="http://schemas.openxmlformats.org/markup-compatibility/2006">
              <mc:Choice xmlns:v="urn:schemas-microsoft-com:vml" Requires="v">
                <p:oleObj r:id="rId4" imgW="939800" imgH="914400" progId="Equation.3">
                  <p:embed/>
                </p:oleObj>
              </mc:Choice>
              <mc:Fallback>
                <p:oleObj r:id="rId4" imgW="939800" imgH="9144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2988" y="2133600"/>
                        <a:ext cx="2087562"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422" name="Text Box 6">
            <a:extLst>
              <a:ext uri="{FF2B5EF4-FFF2-40B4-BE49-F238E27FC236}">
                <a16:creationId xmlns:a16="http://schemas.microsoft.com/office/drawing/2014/main" id="{439C96CF-9237-CB89-1545-9D7EDB27812B}"/>
              </a:ext>
            </a:extLst>
          </p:cNvPr>
          <p:cNvSpPr txBox="1">
            <a:spLocks noChangeArrowheads="1"/>
          </p:cNvSpPr>
          <p:nvPr/>
        </p:nvSpPr>
        <p:spPr bwMode="auto">
          <a:xfrm>
            <a:off x="808038" y="4643438"/>
            <a:ext cx="77962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t>由第一列元素可见，系统有两个特征方程根在平行于虚轴的直线</a:t>
            </a:r>
            <a:r>
              <a:rPr lang="en-US" altLang="zh-CN" sz="2400" b="1"/>
              <a:t>s=-1</a:t>
            </a:r>
            <a:r>
              <a:rPr lang="zh-CN" altLang="en-US" sz="2400" b="1"/>
              <a:t>的右侧。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4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2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55" presetClass="entr" presetSubtype="0" fill="hold" grpId="0" nodeType="clickEffect">
                                  <p:stCondLst>
                                    <p:cond delay="0"/>
                                  </p:stCondLst>
                                  <p:childTnLst>
                                    <p:set>
                                      <p:cBhvr>
                                        <p:cTn id="12" dur="1" fill="hold">
                                          <p:stCondLst>
                                            <p:cond delay="0"/>
                                          </p:stCondLst>
                                        </p:cTn>
                                        <p:tgtEl>
                                          <p:spTgt spid="60422"/>
                                        </p:tgtEl>
                                        <p:attrNameLst>
                                          <p:attrName>style.visibility</p:attrName>
                                        </p:attrNameLst>
                                      </p:cBhvr>
                                      <p:to>
                                        <p:strVal val="visible"/>
                                      </p:to>
                                    </p:set>
                                    <p:anim calcmode="lin" valueType="num">
                                      <p:cBhvr>
                                        <p:cTn id="13" dur="1000" fill="hold"/>
                                        <p:tgtEl>
                                          <p:spTgt spid="60422"/>
                                        </p:tgtEl>
                                        <p:attrNameLst>
                                          <p:attrName>ppt_w</p:attrName>
                                        </p:attrNameLst>
                                      </p:cBhvr>
                                      <p:tavLst>
                                        <p:tav tm="0">
                                          <p:val>
                                            <p:strVal val="#ppt_w*0.70"/>
                                          </p:val>
                                        </p:tav>
                                        <p:tav tm="100000">
                                          <p:val>
                                            <p:strVal val="#ppt_w"/>
                                          </p:val>
                                        </p:tav>
                                      </p:tavLst>
                                    </p:anim>
                                    <p:anim calcmode="lin" valueType="num">
                                      <p:cBhvr>
                                        <p:cTn id="14" dur="1000" fill="hold"/>
                                        <p:tgtEl>
                                          <p:spTgt spid="60422"/>
                                        </p:tgtEl>
                                        <p:attrNameLst>
                                          <p:attrName>ppt_h</p:attrName>
                                        </p:attrNameLst>
                                      </p:cBhvr>
                                      <p:tavLst>
                                        <p:tav tm="0">
                                          <p:val>
                                            <p:strVal val="#ppt_h"/>
                                          </p:val>
                                        </p:tav>
                                        <p:tav tm="100000">
                                          <p:val>
                                            <p:strVal val="#ppt_h"/>
                                          </p:val>
                                        </p:tav>
                                      </p:tavLst>
                                    </p:anim>
                                    <p:animEffect transition="in" filter="fade">
                                      <p:cBhvr>
                                        <p:cTn id="15" dur="1000"/>
                                        <p:tgtEl>
                                          <p:spTgt spid="60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a:extLst>
              <a:ext uri="{FF2B5EF4-FFF2-40B4-BE49-F238E27FC236}">
                <a16:creationId xmlns:a16="http://schemas.microsoft.com/office/drawing/2014/main" id="{F9F96C58-E9C9-2D44-A218-27521D6528CC}"/>
              </a:ext>
            </a:extLst>
          </p:cNvPr>
          <p:cNvSpPr>
            <a:spLocks noChangeArrowheads="1"/>
          </p:cNvSpPr>
          <p:nvPr/>
        </p:nvSpPr>
        <p:spPr bwMode="auto">
          <a:xfrm>
            <a:off x="684213" y="1700213"/>
            <a:ext cx="2444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latin typeface="Times New Roman" panose="02020603050405020304" pitchFamily="18" charset="0"/>
              </a:rPr>
              <a:t>例如：已知</a:t>
            </a:r>
          </a:p>
        </p:txBody>
      </p:sp>
      <p:graphicFrame>
        <p:nvGraphicFramePr>
          <p:cNvPr id="49155" name="Object 4">
            <a:extLst>
              <a:ext uri="{FF2B5EF4-FFF2-40B4-BE49-F238E27FC236}">
                <a16:creationId xmlns:a16="http://schemas.microsoft.com/office/drawing/2014/main" id="{7DDAC73E-28F0-88EA-B536-A9DA2C1A4605}"/>
              </a:ext>
            </a:extLst>
          </p:cNvPr>
          <p:cNvGraphicFramePr>
            <a:graphicFrameLocks noChangeAspect="1"/>
          </p:cNvGraphicFramePr>
          <p:nvPr/>
        </p:nvGraphicFramePr>
        <p:xfrm>
          <a:off x="3203575" y="1773238"/>
          <a:ext cx="4024313" cy="496887"/>
        </p:xfrm>
        <a:graphic>
          <a:graphicData uri="http://schemas.openxmlformats.org/presentationml/2006/ole">
            <mc:AlternateContent xmlns:mc="http://schemas.openxmlformats.org/markup-compatibility/2006">
              <mc:Choice xmlns:v="urn:schemas-microsoft-com:vml" Requires="v">
                <p:oleObj r:id="rId3" imgW="1943100" imgH="241300" progId="Equation.3">
                  <p:embed/>
                </p:oleObj>
              </mc:Choice>
              <mc:Fallback>
                <p:oleObj r:id="rId3" imgW="19431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1773238"/>
                        <a:ext cx="4024313"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56" name="Rectangle 5">
            <a:extLst>
              <a:ext uri="{FF2B5EF4-FFF2-40B4-BE49-F238E27FC236}">
                <a16:creationId xmlns:a16="http://schemas.microsoft.com/office/drawing/2014/main" id="{B7863181-8F1B-9460-6D0A-0E2458ED4884}"/>
              </a:ext>
            </a:extLst>
          </p:cNvPr>
          <p:cNvSpPr>
            <a:spLocks noChangeArrowheads="1"/>
          </p:cNvSpPr>
          <p:nvPr/>
        </p:nvSpPr>
        <p:spPr bwMode="auto">
          <a:xfrm>
            <a:off x="1476375" y="2420938"/>
            <a:ext cx="6934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若要求特征根的实部均小于</a:t>
            </a:r>
            <a:r>
              <a:rPr lang="en-US" altLang="zh-CN" sz="2800">
                <a:latin typeface="Times New Roman" panose="02020603050405020304" pitchFamily="18" charset="0"/>
              </a:rPr>
              <a:t>-1</a:t>
            </a:r>
            <a:r>
              <a:rPr lang="zh-CN" altLang="en-US" sz="2800">
                <a:latin typeface="Times New Roman" panose="02020603050405020304" pitchFamily="18" charset="0"/>
              </a:rPr>
              <a:t>，判断</a:t>
            </a:r>
            <a:r>
              <a:rPr lang="en-US" altLang="zh-CN" sz="2800" i="1">
                <a:latin typeface="Times New Roman" panose="02020603050405020304" pitchFamily="18" charset="0"/>
              </a:rPr>
              <a:t>K</a:t>
            </a:r>
            <a:r>
              <a:rPr lang="zh-CN" altLang="en-US" sz="2800">
                <a:latin typeface="Times New Roman" panose="02020603050405020304" pitchFamily="18" charset="0"/>
              </a:rPr>
              <a:t>的取值范围。</a:t>
            </a:r>
          </a:p>
        </p:txBody>
      </p:sp>
      <p:sp>
        <p:nvSpPr>
          <p:cNvPr id="38918" name="Rectangle 6">
            <a:extLst>
              <a:ext uri="{FF2B5EF4-FFF2-40B4-BE49-F238E27FC236}">
                <a16:creationId xmlns:a16="http://schemas.microsoft.com/office/drawing/2014/main" id="{80A15B6A-146C-7A7E-29A6-1A577D70688D}"/>
              </a:ext>
            </a:extLst>
          </p:cNvPr>
          <p:cNvSpPr>
            <a:spLocks noChangeArrowheads="1"/>
          </p:cNvSpPr>
          <p:nvPr/>
        </p:nvSpPr>
        <p:spPr bwMode="auto">
          <a:xfrm>
            <a:off x="1447800" y="3581400"/>
            <a:ext cx="69342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b="1">
                <a:latin typeface="Times New Roman" panose="02020603050405020304" pitchFamily="18" charset="0"/>
              </a:rPr>
              <a:t>解</a:t>
            </a:r>
            <a:r>
              <a:rPr lang="zh-CN" altLang="en-US" sz="2800">
                <a:latin typeface="Times New Roman" panose="02020603050405020304" pitchFamily="18" charset="0"/>
              </a:rPr>
              <a:t>：令</a:t>
            </a:r>
            <a:r>
              <a:rPr lang="en-US" altLang="zh-CN" sz="2800" i="1">
                <a:latin typeface="Times New Roman" panose="02020603050405020304" pitchFamily="18" charset="0"/>
              </a:rPr>
              <a:t>s</a:t>
            </a:r>
            <a:r>
              <a:rPr lang="en-US" altLang="zh-CN" sz="2800">
                <a:latin typeface="Times New Roman" panose="02020603050405020304" pitchFamily="18" charset="0"/>
                <a:sym typeface="Symbol" panose="05050102010706020507" pitchFamily="18" charset="2"/>
              </a:rPr>
              <a:t>z</a:t>
            </a:r>
            <a:r>
              <a:rPr lang="en-US" altLang="zh-CN" sz="2800" i="1">
                <a:latin typeface="Times New Roman" panose="02020603050405020304" pitchFamily="18" charset="0"/>
              </a:rPr>
              <a:t> </a:t>
            </a:r>
            <a:r>
              <a:rPr lang="en-US" altLang="zh-CN" sz="2800">
                <a:latin typeface="Times New Roman" panose="02020603050405020304" pitchFamily="18" charset="0"/>
              </a:rPr>
              <a:t>- 1</a:t>
            </a:r>
            <a:r>
              <a:rPr lang="zh-CN" altLang="en-US" sz="2800">
                <a:latin typeface="Times New Roman" panose="02020603050405020304" pitchFamily="18" charset="0"/>
              </a:rPr>
              <a:t>：</a:t>
            </a:r>
          </a:p>
        </p:txBody>
      </p:sp>
      <p:graphicFrame>
        <p:nvGraphicFramePr>
          <p:cNvPr id="38919" name="Object 7">
            <a:extLst>
              <a:ext uri="{FF2B5EF4-FFF2-40B4-BE49-F238E27FC236}">
                <a16:creationId xmlns:a16="http://schemas.microsoft.com/office/drawing/2014/main" id="{7574DFE8-C258-704B-F003-1F139D9B0E47}"/>
              </a:ext>
            </a:extLst>
          </p:cNvPr>
          <p:cNvGraphicFramePr>
            <a:graphicFrameLocks noChangeAspect="1"/>
          </p:cNvGraphicFramePr>
          <p:nvPr/>
        </p:nvGraphicFramePr>
        <p:xfrm>
          <a:off x="3922713" y="3667125"/>
          <a:ext cx="4575175" cy="522288"/>
        </p:xfrm>
        <a:graphic>
          <a:graphicData uri="http://schemas.openxmlformats.org/presentationml/2006/ole">
            <mc:AlternateContent xmlns:mc="http://schemas.openxmlformats.org/markup-compatibility/2006">
              <mc:Choice xmlns:v="urn:schemas-microsoft-com:vml" Requires="v">
                <p:oleObj r:id="rId5" imgW="2209800" imgH="254000" progId="Equation.3">
                  <p:embed/>
                </p:oleObj>
              </mc:Choice>
              <mc:Fallback>
                <p:oleObj r:id="rId5" imgW="2209800" imgH="2540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2713" y="3667125"/>
                        <a:ext cx="4575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20" name="Rectangle 8">
            <a:extLst>
              <a:ext uri="{FF2B5EF4-FFF2-40B4-BE49-F238E27FC236}">
                <a16:creationId xmlns:a16="http://schemas.microsoft.com/office/drawing/2014/main" id="{67BF2E44-1FD6-F041-7320-67923697EBBA}"/>
              </a:ext>
            </a:extLst>
          </p:cNvPr>
          <p:cNvSpPr>
            <a:spLocks noChangeArrowheads="1"/>
          </p:cNvSpPr>
          <p:nvPr/>
        </p:nvSpPr>
        <p:spPr bwMode="auto">
          <a:xfrm>
            <a:off x="1447800" y="4240213"/>
            <a:ext cx="69342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latin typeface="Times New Roman" panose="02020603050405020304" pitchFamily="18" charset="0"/>
              </a:rPr>
              <a:t>要使</a:t>
            </a:r>
            <a:r>
              <a:rPr lang="en-US" altLang="zh-CN" sz="2800" i="1">
                <a:latin typeface="Times New Roman" panose="02020603050405020304" pitchFamily="18" charset="0"/>
              </a:rPr>
              <a:t>D</a:t>
            </a:r>
            <a:r>
              <a:rPr lang="en-US" altLang="zh-CN" sz="2800">
                <a:latin typeface="Times New Roman" panose="02020603050405020304" pitchFamily="18" charset="0"/>
              </a:rPr>
              <a:t>(</a:t>
            </a:r>
            <a:r>
              <a:rPr lang="en-US" altLang="zh-CN" sz="2800" i="1">
                <a:latin typeface="Times New Roman" panose="02020603050405020304" pitchFamily="18" charset="0"/>
              </a:rPr>
              <a:t>z</a:t>
            </a:r>
            <a:r>
              <a:rPr lang="en-US" altLang="zh-CN" sz="2800">
                <a:latin typeface="Times New Roman" panose="02020603050405020304" pitchFamily="18" charset="0"/>
              </a:rPr>
              <a:t>)</a:t>
            </a:r>
            <a:r>
              <a:rPr lang="zh-CN" altLang="en-US" sz="2800">
                <a:latin typeface="Times New Roman" panose="02020603050405020304" pitchFamily="18" charset="0"/>
              </a:rPr>
              <a:t>的特征根实部均小于</a:t>
            </a:r>
            <a:r>
              <a:rPr lang="en-US" altLang="zh-CN" sz="2800">
                <a:latin typeface="Times New Roman" panose="02020603050405020304" pitchFamily="18" charset="0"/>
              </a:rPr>
              <a:t>0</a:t>
            </a:r>
            <a:r>
              <a:rPr lang="zh-CN" altLang="en-US" sz="2800">
                <a:latin typeface="Times New Roman" panose="02020603050405020304" pitchFamily="18" charset="0"/>
              </a:rPr>
              <a:t>，即</a:t>
            </a:r>
            <a:r>
              <a:rPr lang="en-US" altLang="zh-CN" sz="2800" i="1">
                <a:latin typeface="Times New Roman" panose="02020603050405020304" pitchFamily="18" charset="0"/>
              </a:rPr>
              <a:t>D</a:t>
            </a:r>
            <a:r>
              <a:rPr lang="en-US" altLang="zh-CN" sz="2800">
                <a:latin typeface="Times New Roman" panose="02020603050405020304" pitchFamily="18" charset="0"/>
              </a:rPr>
              <a:t>(</a:t>
            </a:r>
            <a:r>
              <a:rPr lang="en-US" altLang="zh-CN" sz="2800" i="1">
                <a:latin typeface="Times New Roman" panose="02020603050405020304" pitchFamily="18" charset="0"/>
              </a:rPr>
              <a:t>s</a:t>
            </a:r>
            <a:r>
              <a:rPr lang="en-US" altLang="zh-CN" sz="2800">
                <a:latin typeface="Times New Roman" panose="02020603050405020304" pitchFamily="18" charset="0"/>
              </a:rPr>
              <a:t>)</a:t>
            </a:r>
            <a:r>
              <a:rPr lang="zh-CN" altLang="en-US" sz="2800">
                <a:latin typeface="Times New Roman" panose="02020603050405020304" pitchFamily="18" charset="0"/>
              </a:rPr>
              <a:t>的特征根实部均小于－</a:t>
            </a:r>
            <a:r>
              <a:rPr lang="en-US" altLang="zh-CN" sz="2800">
                <a:latin typeface="Times New Roman" panose="02020603050405020304" pitchFamily="18" charset="0"/>
              </a:rPr>
              <a:t>1</a:t>
            </a:r>
            <a:r>
              <a:rPr lang="zh-CN" altLang="en-US" sz="2800">
                <a:latin typeface="Times New Roman" panose="02020603050405020304" pitchFamily="18" charset="0"/>
              </a:rPr>
              <a:t>，通过列劳斯表知：</a:t>
            </a:r>
          </a:p>
        </p:txBody>
      </p:sp>
      <p:graphicFrame>
        <p:nvGraphicFramePr>
          <p:cNvPr id="38921" name="Object 9">
            <a:extLst>
              <a:ext uri="{FF2B5EF4-FFF2-40B4-BE49-F238E27FC236}">
                <a16:creationId xmlns:a16="http://schemas.microsoft.com/office/drawing/2014/main" id="{6F24D4B7-834A-68F8-A1D7-3BC978A3F1DE}"/>
              </a:ext>
            </a:extLst>
          </p:cNvPr>
          <p:cNvGraphicFramePr>
            <a:graphicFrameLocks noChangeAspect="1"/>
          </p:cNvGraphicFramePr>
          <p:nvPr/>
        </p:nvGraphicFramePr>
        <p:xfrm>
          <a:off x="2133600" y="5410200"/>
          <a:ext cx="2155825" cy="941388"/>
        </p:xfrm>
        <a:graphic>
          <a:graphicData uri="http://schemas.openxmlformats.org/presentationml/2006/ole">
            <mc:AlternateContent xmlns:mc="http://schemas.openxmlformats.org/markup-compatibility/2006">
              <mc:Choice xmlns:v="urn:schemas-microsoft-com:vml" Requires="v">
                <p:oleObj r:id="rId7" imgW="1041400" imgH="457200" progId="Equation.3">
                  <p:embed/>
                </p:oleObj>
              </mc:Choice>
              <mc:Fallback>
                <p:oleObj r:id="rId7" imgW="1041400" imgH="457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5410200"/>
                        <a:ext cx="2155825"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Group 10">
            <a:extLst>
              <a:ext uri="{FF2B5EF4-FFF2-40B4-BE49-F238E27FC236}">
                <a16:creationId xmlns:a16="http://schemas.microsoft.com/office/drawing/2014/main" id="{BA0EBE0C-5982-1FF6-4C4F-844DB522815D}"/>
              </a:ext>
            </a:extLst>
          </p:cNvPr>
          <p:cNvGrpSpPr>
            <a:grpSpLocks/>
          </p:cNvGrpSpPr>
          <p:nvPr/>
        </p:nvGrpSpPr>
        <p:grpSpPr bwMode="auto">
          <a:xfrm>
            <a:off x="4648200" y="5449888"/>
            <a:ext cx="2667000" cy="811212"/>
            <a:chOff x="2640" y="1193"/>
            <a:chExt cx="1680" cy="511"/>
          </a:xfrm>
        </p:grpSpPr>
        <p:graphicFrame>
          <p:nvGraphicFramePr>
            <p:cNvPr id="49163" name="Object 11">
              <a:extLst>
                <a:ext uri="{FF2B5EF4-FFF2-40B4-BE49-F238E27FC236}">
                  <a16:creationId xmlns:a16="http://schemas.microsoft.com/office/drawing/2014/main" id="{CDC16AEF-4A5B-AA8F-FD89-41AB745E92D9}"/>
                </a:ext>
              </a:extLst>
            </p:cNvPr>
            <p:cNvGraphicFramePr>
              <a:graphicFrameLocks noChangeAspect="1"/>
            </p:cNvGraphicFramePr>
            <p:nvPr/>
          </p:nvGraphicFramePr>
          <p:xfrm>
            <a:off x="3376" y="1193"/>
            <a:ext cx="944" cy="511"/>
          </p:xfrm>
          <a:graphic>
            <a:graphicData uri="http://schemas.openxmlformats.org/presentationml/2006/ole">
              <mc:AlternateContent xmlns:mc="http://schemas.openxmlformats.org/markup-compatibility/2006">
                <mc:Choice xmlns:v="urn:schemas-microsoft-com:vml" Requires="v">
                  <p:oleObj r:id="rId9" imgW="723586" imgH="393529" progId="Equation.3">
                    <p:embed/>
                  </p:oleObj>
                </mc:Choice>
                <mc:Fallback>
                  <p:oleObj r:id="rId9" imgW="723586" imgH="393529"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76" y="1193"/>
                          <a:ext cx="944" cy="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64" name="AutoShape 12">
              <a:extLst>
                <a:ext uri="{FF2B5EF4-FFF2-40B4-BE49-F238E27FC236}">
                  <a16:creationId xmlns:a16="http://schemas.microsoft.com/office/drawing/2014/main" id="{66AEF154-A1D3-D8E7-6115-4739E7A394AB}"/>
                </a:ext>
              </a:extLst>
            </p:cNvPr>
            <p:cNvSpPr>
              <a:spLocks noChangeArrowheads="1"/>
            </p:cNvSpPr>
            <p:nvPr/>
          </p:nvSpPr>
          <p:spPr bwMode="auto">
            <a:xfrm>
              <a:off x="2640" y="1344"/>
              <a:ext cx="480" cy="192"/>
            </a:xfrm>
            <a:prstGeom prst="rightArrow">
              <a:avLst>
                <a:gd name="adj1" fmla="val 50000"/>
                <a:gd name="adj2" fmla="val 62500"/>
              </a:avLst>
            </a:prstGeom>
            <a:solidFill>
              <a:srgbClr val="0000FF"/>
            </a:solidFill>
            <a:ln>
              <a:noFill/>
            </a:ln>
            <a:extLst>
              <a:ext uri="{91240B29-F687-4F45-9708-019B960494DF}">
                <a14:hiddenLine xmlns:a14="http://schemas.microsoft.com/office/drawing/2010/main" w="222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grpSp>
      <p:sp>
        <p:nvSpPr>
          <p:cNvPr id="49162" name="Rectangle 3">
            <a:extLst>
              <a:ext uri="{FF2B5EF4-FFF2-40B4-BE49-F238E27FC236}">
                <a16:creationId xmlns:a16="http://schemas.microsoft.com/office/drawing/2014/main" id="{0A7CBDDD-CF85-19A1-E96C-9FC761591BA1}"/>
              </a:ext>
            </a:extLst>
          </p:cNvPr>
          <p:cNvSpPr>
            <a:spLocks noChangeArrowheads="1"/>
          </p:cNvSpPr>
          <p:nvPr/>
        </p:nvSpPr>
        <p:spPr bwMode="auto">
          <a:xfrm>
            <a:off x="611188" y="908050"/>
            <a:ext cx="806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Ø"/>
            </a:pPr>
            <a:r>
              <a:rPr lang="en-US" altLang="zh-CN" sz="2800" b="1">
                <a:latin typeface="宋体" panose="02010600030101010101" pitchFamily="2" charset="-122"/>
              </a:rPr>
              <a:t> </a:t>
            </a:r>
            <a:r>
              <a:rPr lang="zh-CN" altLang="en-US" sz="2800" b="1">
                <a:latin typeface="宋体" panose="02010600030101010101" pitchFamily="2" charset="-122"/>
              </a:rPr>
              <a:t>用劳斯判据可以确定参数的取值范围</a:t>
            </a:r>
            <a:r>
              <a:rPr lang="zh-CN" altLang="en-US" sz="2800" b="1">
                <a:latin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 calcmode="lin" valueType="num">
                                      <p:cBhvr additive="base">
                                        <p:cTn id="7" dur="500" fill="hold"/>
                                        <p:tgtEl>
                                          <p:spTgt spid="38918"/>
                                        </p:tgtEl>
                                        <p:attrNameLst>
                                          <p:attrName>ppt_x</p:attrName>
                                        </p:attrNameLst>
                                      </p:cBhvr>
                                      <p:tavLst>
                                        <p:tav tm="0">
                                          <p:val>
                                            <p:strVal val="#ppt_x"/>
                                          </p:val>
                                        </p:tav>
                                        <p:tav tm="100000">
                                          <p:val>
                                            <p:strVal val="#ppt_x"/>
                                          </p:val>
                                        </p:tav>
                                      </p:tavLst>
                                    </p:anim>
                                    <p:anim calcmode="lin" valueType="num">
                                      <p:cBhvr additive="base">
                                        <p:cTn id="8" dur="500" fill="hold"/>
                                        <p:tgtEl>
                                          <p:spTgt spid="3891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8919"/>
                                        </p:tgtEl>
                                        <p:attrNameLst>
                                          <p:attrName>style.visibility</p:attrName>
                                        </p:attrNameLst>
                                      </p:cBhvr>
                                      <p:to>
                                        <p:strVal val="visible"/>
                                      </p:to>
                                    </p:set>
                                    <p:anim calcmode="lin" valueType="num">
                                      <p:cBhvr additive="base">
                                        <p:cTn id="13" dur="500" fill="hold"/>
                                        <p:tgtEl>
                                          <p:spTgt spid="38919"/>
                                        </p:tgtEl>
                                        <p:attrNameLst>
                                          <p:attrName>ppt_x</p:attrName>
                                        </p:attrNameLst>
                                      </p:cBhvr>
                                      <p:tavLst>
                                        <p:tav tm="0">
                                          <p:val>
                                            <p:strVal val="#ppt_x"/>
                                          </p:val>
                                        </p:tav>
                                        <p:tav tm="100000">
                                          <p:val>
                                            <p:strVal val="#ppt_x"/>
                                          </p:val>
                                        </p:tav>
                                      </p:tavLst>
                                    </p:anim>
                                    <p:anim calcmode="lin" valueType="num">
                                      <p:cBhvr additive="base">
                                        <p:cTn id="14" dur="500" fill="hold"/>
                                        <p:tgtEl>
                                          <p:spTgt spid="3891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8920"/>
                                        </p:tgtEl>
                                        <p:attrNameLst>
                                          <p:attrName>style.visibility</p:attrName>
                                        </p:attrNameLst>
                                      </p:cBhvr>
                                      <p:to>
                                        <p:strVal val="visible"/>
                                      </p:to>
                                    </p:set>
                                    <p:anim calcmode="lin" valueType="num">
                                      <p:cBhvr additive="base">
                                        <p:cTn id="19" dur="500" fill="hold"/>
                                        <p:tgtEl>
                                          <p:spTgt spid="38920"/>
                                        </p:tgtEl>
                                        <p:attrNameLst>
                                          <p:attrName>ppt_x</p:attrName>
                                        </p:attrNameLst>
                                      </p:cBhvr>
                                      <p:tavLst>
                                        <p:tav tm="0">
                                          <p:val>
                                            <p:strVal val="#ppt_x"/>
                                          </p:val>
                                        </p:tav>
                                        <p:tav tm="100000">
                                          <p:val>
                                            <p:strVal val="#ppt_x"/>
                                          </p:val>
                                        </p:tav>
                                      </p:tavLst>
                                    </p:anim>
                                    <p:anim calcmode="lin" valueType="num">
                                      <p:cBhvr additive="base">
                                        <p:cTn id="20" dur="500" fill="hold"/>
                                        <p:tgtEl>
                                          <p:spTgt spid="3892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8921"/>
                                        </p:tgtEl>
                                        <p:attrNameLst>
                                          <p:attrName>style.visibility</p:attrName>
                                        </p:attrNameLst>
                                      </p:cBhvr>
                                      <p:to>
                                        <p:strVal val="visible"/>
                                      </p:to>
                                    </p:set>
                                    <p:anim calcmode="lin" valueType="num">
                                      <p:cBhvr additive="base">
                                        <p:cTn id="25" dur="500" fill="hold"/>
                                        <p:tgtEl>
                                          <p:spTgt spid="38921"/>
                                        </p:tgtEl>
                                        <p:attrNameLst>
                                          <p:attrName>ppt_x</p:attrName>
                                        </p:attrNameLst>
                                      </p:cBhvr>
                                      <p:tavLst>
                                        <p:tav tm="0">
                                          <p:val>
                                            <p:strVal val="#ppt_x"/>
                                          </p:val>
                                        </p:tav>
                                        <p:tav tm="100000">
                                          <p:val>
                                            <p:strVal val="#ppt_x"/>
                                          </p:val>
                                        </p:tav>
                                      </p:tavLst>
                                    </p:anim>
                                    <p:anim calcmode="lin" valueType="num">
                                      <p:cBhvr additive="base">
                                        <p:cTn id="26" dur="500" fill="hold"/>
                                        <p:tgtEl>
                                          <p:spTgt spid="3892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P spid="389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框 1">
            <a:extLst>
              <a:ext uri="{FF2B5EF4-FFF2-40B4-BE49-F238E27FC236}">
                <a16:creationId xmlns:a16="http://schemas.microsoft.com/office/drawing/2014/main" id="{03245A35-E7C2-496C-0FDC-C80726FF37AD}"/>
              </a:ext>
            </a:extLst>
          </p:cNvPr>
          <p:cNvSpPr txBox="1">
            <a:spLocks noChangeArrowheads="1"/>
          </p:cNvSpPr>
          <p:nvPr/>
        </p:nvSpPr>
        <p:spPr bwMode="auto">
          <a:xfrm>
            <a:off x="1331913" y="2420938"/>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zh-CN" altLang="en-US" sz="3200"/>
              <a:t>作业：</a:t>
            </a:r>
          </a:p>
        </p:txBody>
      </p:sp>
      <p:sp>
        <p:nvSpPr>
          <p:cNvPr id="51203" name="文本框 2">
            <a:extLst>
              <a:ext uri="{FF2B5EF4-FFF2-40B4-BE49-F238E27FC236}">
                <a16:creationId xmlns:a16="http://schemas.microsoft.com/office/drawing/2014/main" id="{CC0E925A-6485-6506-767D-5291C7BFB486}"/>
              </a:ext>
            </a:extLst>
          </p:cNvPr>
          <p:cNvSpPr txBox="1">
            <a:spLocks noChangeArrowheads="1"/>
          </p:cNvSpPr>
          <p:nvPr/>
        </p:nvSpPr>
        <p:spPr bwMode="auto">
          <a:xfrm>
            <a:off x="2039938" y="3573463"/>
            <a:ext cx="5713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r>
              <a:rPr lang="en-US" altLang="zh-CN" sz="2800"/>
              <a:t>P132</a:t>
            </a:r>
            <a:r>
              <a:rPr lang="zh-CN" altLang="en-US" sz="2800"/>
              <a:t>：</a:t>
            </a:r>
            <a:r>
              <a:rPr lang="en-US" altLang="zh-CN" sz="2800"/>
              <a:t>3-16(4)(5)</a:t>
            </a:r>
            <a:r>
              <a:rPr lang="zh-CN" altLang="en-US" sz="2800"/>
              <a:t>，</a:t>
            </a:r>
            <a:r>
              <a:rPr lang="en-US" altLang="zh-CN" sz="2800"/>
              <a:t>3-17(3)(5)</a:t>
            </a:r>
            <a:endParaRPr lang="zh-CN" altLang="en-US" sz="2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a:extLst>
              <a:ext uri="{FF2B5EF4-FFF2-40B4-BE49-F238E27FC236}">
                <a16:creationId xmlns:a16="http://schemas.microsoft.com/office/drawing/2014/main" id="{64DF4D45-F16F-1D1D-9D7F-47CB4D994222}"/>
              </a:ext>
            </a:extLst>
          </p:cNvPr>
          <p:cNvSpPr txBox="1">
            <a:spLocks noChangeArrowheads="1"/>
          </p:cNvSpPr>
          <p:nvPr/>
        </p:nvSpPr>
        <p:spPr bwMode="auto">
          <a:xfrm>
            <a:off x="2051050" y="720725"/>
            <a:ext cx="38782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3</a:t>
            </a:r>
            <a:r>
              <a:rPr lang="zh-CN" altLang="en-US" sz="3600">
                <a:latin typeface="Times New Roman" panose="02020603050405020304" pitchFamily="18" charset="0"/>
                <a:ea typeface="华文新魏" panose="02010800040101010101" pitchFamily="2" charset="-122"/>
              </a:rPr>
              <a:t>章  时域分析法</a:t>
            </a:r>
          </a:p>
        </p:txBody>
      </p:sp>
      <p:sp>
        <p:nvSpPr>
          <p:cNvPr id="52227" name="Rectangle 6">
            <a:extLst>
              <a:ext uri="{FF2B5EF4-FFF2-40B4-BE49-F238E27FC236}">
                <a16:creationId xmlns:a16="http://schemas.microsoft.com/office/drawing/2014/main" id="{AC469FFA-419F-C4B3-B140-70C898056506}"/>
              </a:ext>
            </a:extLst>
          </p:cNvPr>
          <p:cNvSpPr>
            <a:spLocks noChangeArrowheads="1"/>
          </p:cNvSpPr>
          <p:nvPr/>
        </p:nvSpPr>
        <p:spPr bwMode="auto">
          <a:xfrm>
            <a:off x="1690688" y="1779588"/>
            <a:ext cx="55626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 3.1   </a:t>
            </a:r>
            <a:r>
              <a:rPr lang="zh-CN" altLang="en-US" sz="2800">
                <a:latin typeface="Times New Roman" panose="02020603050405020304" pitchFamily="18" charset="0"/>
                <a:ea typeface="黑体" panose="02010609060101010101" pitchFamily="49" charset="-122"/>
              </a:rPr>
              <a:t>一阶系统的时间响应</a:t>
            </a:r>
          </a:p>
        </p:txBody>
      </p:sp>
      <p:sp>
        <p:nvSpPr>
          <p:cNvPr id="52228" name="Rectangle 7">
            <a:extLst>
              <a:ext uri="{FF2B5EF4-FFF2-40B4-BE49-F238E27FC236}">
                <a16:creationId xmlns:a16="http://schemas.microsoft.com/office/drawing/2014/main" id="{C6070280-F05D-4538-0D29-EDF85CDD1F7A}"/>
              </a:ext>
            </a:extLst>
          </p:cNvPr>
          <p:cNvSpPr>
            <a:spLocks noChangeArrowheads="1"/>
          </p:cNvSpPr>
          <p:nvPr/>
        </p:nvSpPr>
        <p:spPr bwMode="auto">
          <a:xfrm>
            <a:off x="1763713" y="239395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3.2   </a:t>
            </a:r>
            <a:r>
              <a:rPr lang="zh-CN" altLang="en-US" sz="2800">
                <a:latin typeface="Times New Roman" panose="02020603050405020304" pitchFamily="18" charset="0"/>
                <a:ea typeface="黑体" panose="02010609060101010101" pitchFamily="49" charset="-122"/>
              </a:rPr>
              <a:t>二阶系统的时间响应</a:t>
            </a:r>
          </a:p>
        </p:txBody>
      </p:sp>
      <p:sp>
        <p:nvSpPr>
          <p:cNvPr id="52229" name="Rectangle 8">
            <a:extLst>
              <a:ext uri="{FF2B5EF4-FFF2-40B4-BE49-F238E27FC236}">
                <a16:creationId xmlns:a16="http://schemas.microsoft.com/office/drawing/2014/main" id="{B2578B28-578E-7275-7B47-883815B85C29}"/>
              </a:ext>
            </a:extLst>
          </p:cNvPr>
          <p:cNvSpPr>
            <a:spLocks noChangeArrowheads="1"/>
          </p:cNvSpPr>
          <p:nvPr/>
        </p:nvSpPr>
        <p:spPr bwMode="auto">
          <a:xfrm>
            <a:off x="1763713" y="2871788"/>
            <a:ext cx="53340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3.3   </a:t>
            </a:r>
            <a:r>
              <a:rPr lang="zh-CN" altLang="en-US" sz="2800">
                <a:latin typeface="Times New Roman" panose="02020603050405020304" pitchFamily="18" charset="0"/>
                <a:ea typeface="黑体" panose="02010609060101010101" pitchFamily="49" charset="-122"/>
              </a:rPr>
              <a:t>高阶系统的时间响应</a:t>
            </a:r>
          </a:p>
        </p:txBody>
      </p:sp>
      <p:sp>
        <p:nvSpPr>
          <p:cNvPr id="52230" name="Rectangle 9">
            <a:extLst>
              <a:ext uri="{FF2B5EF4-FFF2-40B4-BE49-F238E27FC236}">
                <a16:creationId xmlns:a16="http://schemas.microsoft.com/office/drawing/2014/main" id="{C7E849B5-E3C1-CECB-83F1-36D877C343B1}"/>
              </a:ext>
            </a:extLst>
          </p:cNvPr>
          <p:cNvSpPr>
            <a:spLocks noChangeArrowheads="1"/>
          </p:cNvSpPr>
          <p:nvPr/>
        </p:nvSpPr>
        <p:spPr bwMode="auto">
          <a:xfrm>
            <a:off x="1763713" y="3451225"/>
            <a:ext cx="60467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3.4   </a:t>
            </a:r>
            <a:r>
              <a:rPr lang="zh-CN" altLang="en-US" sz="2800">
                <a:latin typeface="Times New Roman" panose="02020603050405020304" pitchFamily="18" charset="0"/>
                <a:ea typeface="黑体" panose="02010609060101010101" pitchFamily="49" charset="-122"/>
              </a:rPr>
              <a:t>误差分析和计算</a:t>
            </a:r>
          </a:p>
        </p:txBody>
      </p:sp>
      <p:sp>
        <p:nvSpPr>
          <p:cNvPr id="52231" name="Rectangle 9">
            <a:extLst>
              <a:ext uri="{FF2B5EF4-FFF2-40B4-BE49-F238E27FC236}">
                <a16:creationId xmlns:a16="http://schemas.microsoft.com/office/drawing/2014/main" id="{CD03A4BA-D2FF-33EF-E396-256D2319BF2D}"/>
              </a:ext>
            </a:extLst>
          </p:cNvPr>
          <p:cNvSpPr>
            <a:spLocks noChangeArrowheads="1"/>
          </p:cNvSpPr>
          <p:nvPr/>
        </p:nvSpPr>
        <p:spPr bwMode="auto">
          <a:xfrm>
            <a:off x="1763713" y="4025900"/>
            <a:ext cx="60467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3.5   </a:t>
            </a:r>
            <a:r>
              <a:rPr lang="zh-CN" altLang="en-US" sz="2800">
                <a:latin typeface="Times New Roman" panose="02020603050405020304" pitchFamily="18" charset="0"/>
                <a:ea typeface="黑体" panose="02010609060101010101" pitchFamily="49" charset="-122"/>
              </a:rPr>
              <a:t>稳定性分析</a:t>
            </a:r>
          </a:p>
        </p:txBody>
      </p:sp>
      <p:sp>
        <p:nvSpPr>
          <p:cNvPr id="52232" name="文本框 2">
            <a:extLst>
              <a:ext uri="{FF2B5EF4-FFF2-40B4-BE49-F238E27FC236}">
                <a16:creationId xmlns:a16="http://schemas.microsoft.com/office/drawing/2014/main" id="{D54E2D94-5472-B0C3-F301-2524EC9C3FE0}"/>
              </a:ext>
            </a:extLst>
          </p:cNvPr>
          <p:cNvSpPr txBox="1">
            <a:spLocks noChangeArrowheads="1"/>
          </p:cNvSpPr>
          <p:nvPr/>
        </p:nvSpPr>
        <p:spPr bwMode="auto">
          <a:xfrm>
            <a:off x="2697163" y="4941888"/>
            <a:ext cx="3262312"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6000"/>
              <a:t>本章结束</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4">
            <a:extLst>
              <a:ext uri="{FF2B5EF4-FFF2-40B4-BE49-F238E27FC236}">
                <a16:creationId xmlns:a16="http://schemas.microsoft.com/office/drawing/2014/main" id="{6D0C85A8-D81E-77FD-1867-F97CE59EBE5D}"/>
              </a:ext>
            </a:extLst>
          </p:cNvPr>
          <p:cNvSpPr txBox="1">
            <a:spLocks noChangeArrowheads="1"/>
          </p:cNvSpPr>
          <p:nvPr/>
        </p:nvSpPr>
        <p:spPr bwMode="auto">
          <a:xfrm>
            <a:off x="2124075" y="692150"/>
            <a:ext cx="341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4</a:t>
            </a:r>
            <a:r>
              <a:rPr lang="zh-CN" altLang="en-US" sz="3600">
                <a:latin typeface="Times New Roman" panose="02020603050405020304" pitchFamily="18" charset="0"/>
                <a:ea typeface="华文新魏" panose="02010800040101010101" pitchFamily="2" charset="-122"/>
              </a:rPr>
              <a:t>章  频率特性</a:t>
            </a:r>
          </a:p>
        </p:txBody>
      </p:sp>
      <p:sp>
        <p:nvSpPr>
          <p:cNvPr id="54275" name="Rectangle 5">
            <a:extLst>
              <a:ext uri="{FF2B5EF4-FFF2-40B4-BE49-F238E27FC236}">
                <a16:creationId xmlns:a16="http://schemas.microsoft.com/office/drawing/2014/main" id="{47E8B08A-D7A7-EAC4-4136-5AF752CECFE8}"/>
              </a:ext>
            </a:extLst>
          </p:cNvPr>
          <p:cNvSpPr>
            <a:spLocks noChangeArrowheads="1"/>
          </p:cNvSpPr>
          <p:nvPr/>
        </p:nvSpPr>
        <p:spPr bwMode="auto">
          <a:xfrm>
            <a:off x="1403350" y="2522538"/>
            <a:ext cx="556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4.2  </a:t>
            </a:r>
            <a:r>
              <a:rPr lang="zh-CN" altLang="en-US" sz="2800">
                <a:latin typeface="Times New Roman" panose="02020603050405020304" pitchFamily="18" charset="0"/>
                <a:ea typeface="黑体" panose="02010609060101010101" pitchFamily="49" charset="-122"/>
              </a:rPr>
              <a:t>典型环节的频率特性图</a:t>
            </a:r>
          </a:p>
        </p:txBody>
      </p:sp>
      <p:sp>
        <p:nvSpPr>
          <p:cNvPr id="54276" name="Rectangle 6">
            <a:extLst>
              <a:ext uri="{FF2B5EF4-FFF2-40B4-BE49-F238E27FC236}">
                <a16:creationId xmlns:a16="http://schemas.microsoft.com/office/drawing/2014/main" id="{7E7CD1C7-694A-8F04-3E4F-3AD05BD9172E}"/>
              </a:ext>
            </a:extLst>
          </p:cNvPr>
          <p:cNvSpPr>
            <a:spLocks noChangeArrowheads="1"/>
          </p:cNvSpPr>
          <p:nvPr/>
        </p:nvSpPr>
        <p:spPr bwMode="auto">
          <a:xfrm>
            <a:off x="1403350" y="3132138"/>
            <a:ext cx="5486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4.3  </a:t>
            </a:r>
            <a:r>
              <a:rPr lang="zh-CN" altLang="en-US" sz="2800">
                <a:latin typeface="Times New Roman" panose="02020603050405020304" pitchFamily="18" charset="0"/>
                <a:ea typeface="黑体" panose="02010609060101010101" pitchFamily="49" charset="-122"/>
              </a:rPr>
              <a:t>系统开环频率特性图</a:t>
            </a:r>
          </a:p>
        </p:txBody>
      </p:sp>
      <p:sp>
        <p:nvSpPr>
          <p:cNvPr id="54277" name="Rectangle 8">
            <a:extLst>
              <a:ext uri="{FF2B5EF4-FFF2-40B4-BE49-F238E27FC236}">
                <a16:creationId xmlns:a16="http://schemas.microsoft.com/office/drawing/2014/main" id="{3A3086EA-ECFB-9B71-BADE-51ED26183959}"/>
              </a:ext>
            </a:extLst>
          </p:cNvPr>
          <p:cNvSpPr>
            <a:spLocks noChangeArrowheads="1"/>
          </p:cNvSpPr>
          <p:nvPr/>
        </p:nvSpPr>
        <p:spPr bwMode="auto">
          <a:xfrm>
            <a:off x="1403350" y="3643313"/>
            <a:ext cx="5545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4.4  </a:t>
            </a:r>
            <a:r>
              <a:rPr lang="zh-CN" altLang="en-US" sz="2800">
                <a:latin typeface="Times New Roman" panose="02020603050405020304" pitchFamily="18" charset="0"/>
                <a:ea typeface="黑体" panose="02010609060101010101" pitchFamily="49" charset="-122"/>
              </a:rPr>
              <a:t>频域稳定性判据</a:t>
            </a:r>
          </a:p>
        </p:txBody>
      </p:sp>
      <p:sp>
        <p:nvSpPr>
          <p:cNvPr id="54278" name="Rectangle 9">
            <a:extLst>
              <a:ext uri="{FF2B5EF4-FFF2-40B4-BE49-F238E27FC236}">
                <a16:creationId xmlns:a16="http://schemas.microsoft.com/office/drawing/2014/main" id="{896BAD94-72B6-DA55-C4C2-8E47B40EC83E}"/>
              </a:ext>
            </a:extLst>
          </p:cNvPr>
          <p:cNvSpPr>
            <a:spLocks noChangeArrowheads="1"/>
          </p:cNvSpPr>
          <p:nvPr/>
        </p:nvSpPr>
        <p:spPr bwMode="auto">
          <a:xfrm>
            <a:off x="1403350" y="4291013"/>
            <a:ext cx="65532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4.5  </a:t>
            </a:r>
            <a:r>
              <a:rPr lang="zh-CN" altLang="en-US" sz="2800">
                <a:latin typeface="Times New Roman" panose="02020603050405020304" pitchFamily="18" charset="0"/>
                <a:ea typeface="黑体" panose="02010609060101010101" pitchFamily="49" charset="-122"/>
              </a:rPr>
              <a:t>闭环控制系统的频率特性</a:t>
            </a:r>
          </a:p>
        </p:txBody>
      </p:sp>
      <p:sp>
        <p:nvSpPr>
          <p:cNvPr id="54279" name="Rectangle 11">
            <a:extLst>
              <a:ext uri="{FF2B5EF4-FFF2-40B4-BE49-F238E27FC236}">
                <a16:creationId xmlns:a16="http://schemas.microsoft.com/office/drawing/2014/main" id="{469DFB00-A2A7-913A-CE69-991C159425D8}"/>
              </a:ext>
            </a:extLst>
          </p:cNvPr>
          <p:cNvSpPr>
            <a:spLocks noChangeArrowheads="1"/>
          </p:cNvSpPr>
          <p:nvPr/>
        </p:nvSpPr>
        <p:spPr bwMode="auto">
          <a:xfrm>
            <a:off x="1403350" y="1916113"/>
            <a:ext cx="46482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4.1</a:t>
            </a:r>
            <a:r>
              <a:rPr lang="en-US" altLang="zh-CN" sz="2800" b="1">
                <a:latin typeface="Times New Roman" panose="02020603050405020304" pitchFamily="18" charset="0"/>
                <a:ea typeface="黑体" panose="02010609060101010101" pitchFamily="49" charset="-122"/>
              </a:rPr>
              <a:t>  </a:t>
            </a:r>
            <a:r>
              <a:rPr lang="zh-CN" altLang="en-US" sz="2800">
                <a:latin typeface="Times New Roman" panose="02020603050405020304" pitchFamily="18" charset="0"/>
                <a:ea typeface="黑体" panose="02010609060101010101" pitchFamily="49" charset="-122"/>
              </a:rPr>
              <a:t>频率特性的基本概念</a:t>
            </a:r>
          </a:p>
        </p:txBody>
      </p:sp>
      <p:sp>
        <p:nvSpPr>
          <p:cNvPr id="54280" name="Rectangle 9">
            <a:extLst>
              <a:ext uri="{FF2B5EF4-FFF2-40B4-BE49-F238E27FC236}">
                <a16:creationId xmlns:a16="http://schemas.microsoft.com/office/drawing/2014/main" id="{EBF4197A-3415-9B95-F280-19BCE0B66B98}"/>
              </a:ext>
            </a:extLst>
          </p:cNvPr>
          <p:cNvSpPr>
            <a:spLocks noChangeArrowheads="1"/>
          </p:cNvSpPr>
          <p:nvPr/>
        </p:nvSpPr>
        <p:spPr bwMode="auto">
          <a:xfrm>
            <a:off x="1403350" y="4899025"/>
            <a:ext cx="65532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4.6  </a:t>
            </a:r>
            <a:r>
              <a:rPr lang="zh-CN" altLang="en-US" sz="2800">
                <a:latin typeface="Times New Roman" panose="02020603050405020304" pitchFamily="18" charset="0"/>
                <a:ea typeface="黑体" panose="02010609060101010101" pitchFamily="49" charset="-122"/>
              </a:rPr>
              <a:t>频域指标与时域性能指标间的关系</a:t>
            </a:r>
          </a:p>
        </p:txBody>
      </p:sp>
      <p:sp>
        <p:nvSpPr>
          <p:cNvPr id="54281" name="Rectangle 9">
            <a:extLst>
              <a:ext uri="{FF2B5EF4-FFF2-40B4-BE49-F238E27FC236}">
                <a16:creationId xmlns:a16="http://schemas.microsoft.com/office/drawing/2014/main" id="{966BB5F5-E1B8-DA49-1871-7A4D40E449A4}"/>
              </a:ext>
            </a:extLst>
          </p:cNvPr>
          <p:cNvSpPr>
            <a:spLocks noChangeArrowheads="1"/>
          </p:cNvSpPr>
          <p:nvPr/>
        </p:nvSpPr>
        <p:spPr bwMode="auto">
          <a:xfrm>
            <a:off x="1403350" y="5451475"/>
            <a:ext cx="69135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4.7  </a:t>
            </a:r>
            <a:r>
              <a:rPr lang="zh-CN" altLang="en-US" sz="2800">
                <a:latin typeface="Times New Roman" panose="02020603050405020304" pitchFamily="18" charset="0"/>
                <a:ea typeface="黑体" panose="02010609060101010101" pitchFamily="49" charset="-122"/>
              </a:rPr>
              <a:t>用系统开环频率特性分析闭环系统性能</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a:extLst>
              <a:ext uri="{FF2B5EF4-FFF2-40B4-BE49-F238E27FC236}">
                <a16:creationId xmlns:a16="http://schemas.microsoft.com/office/drawing/2014/main" id="{87102A1C-FC51-8697-93AB-229A660758A7}"/>
              </a:ext>
            </a:extLst>
          </p:cNvPr>
          <p:cNvSpPr>
            <a:spLocks noChangeArrowheads="1"/>
          </p:cNvSpPr>
          <p:nvPr/>
        </p:nvSpPr>
        <p:spPr bwMode="auto">
          <a:xfrm>
            <a:off x="1331913" y="1700213"/>
            <a:ext cx="35210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时域分析的缺陷</a:t>
            </a:r>
            <a:r>
              <a:rPr lang="zh-CN" altLang="en-US" sz="2800">
                <a:latin typeface="Times New Roman" panose="02020603050405020304" pitchFamily="18" charset="0"/>
                <a:ea typeface="黑体" panose="02010609060101010101" pitchFamily="49" charset="-122"/>
              </a:rPr>
              <a:t> </a:t>
            </a:r>
            <a:r>
              <a:rPr lang="zh-CN" altLang="en-US" sz="2800" b="1">
                <a:latin typeface="Times New Roman" panose="02020603050405020304" pitchFamily="18" charset="0"/>
              </a:rPr>
              <a:t> </a:t>
            </a:r>
          </a:p>
        </p:txBody>
      </p:sp>
      <p:sp>
        <p:nvSpPr>
          <p:cNvPr id="8197" name="Text Box 5">
            <a:extLst>
              <a:ext uri="{FF2B5EF4-FFF2-40B4-BE49-F238E27FC236}">
                <a16:creationId xmlns:a16="http://schemas.microsoft.com/office/drawing/2014/main" id="{B76E4E22-BB8E-110B-E2A4-E0ED037D6C25}"/>
              </a:ext>
            </a:extLst>
          </p:cNvPr>
          <p:cNvSpPr txBox="1">
            <a:spLocks noChangeArrowheads="1"/>
          </p:cNvSpPr>
          <p:nvPr/>
        </p:nvSpPr>
        <p:spPr bwMode="auto">
          <a:xfrm>
            <a:off x="1462088" y="2555875"/>
            <a:ext cx="7010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高阶系统的分析难以进行</a:t>
            </a:r>
            <a:r>
              <a:rPr lang="zh-CN" altLang="en-US" sz="2800">
                <a:latin typeface="Times New Roman" panose="02020603050405020304" pitchFamily="18" charset="0"/>
              </a:rPr>
              <a:t>；</a:t>
            </a:r>
          </a:p>
        </p:txBody>
      </p:sp>
      <p:sp>
        <p:nvSpPr>
          <p:cNvPr id="8198" name="Text Box 6">
            <a:extLst>
              <a:ext uri="{FF2B5EF4-FFF2-40B4-BE49-F238E27FC236}">
                <a16:creationId xmlns:a16="http://schemas.microsoft.com/office/drawing/2014/main" id="{754D7E27-B972-5BBB-2FF4-14D76F5FD121}"/>
              </a:ext>
            </a:extLst>
          </p:cNvPr>
          <p:cNvSpPr txBox="1">
            <a:spLocks noChangeArrowheads="1"/>
          </p:cNvSpPr>
          <p:nvPr/>
        </p:nvSpPr>
        <p:spPr bwMode="auto">
          <a:xfrm>
            <a:off x="1476375" y="3089275"/>
            <a:ext cx="70104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Times New Roman" panose="02020603050405020304" pitchFamily="18" charset="0"/>
              </a:rPr>
              <a:t>当系统响应不满足要求时，</a:t>
            </a:r>
            <a:r>
              <a:rPr lang="zh-CN" altLang="en-US" sz="2800">
                <a:latin typeface="宋体" panose="02010600030101010101" pitchFamily="2" charset="-122"/>
              </a:rPr>
              <a:t>难以看出如何调整系统参数和结构变化来改善系统性能；</a:t>
            </a:r>
            <a:r>
              <a:rPr lang="zh-CN" altLang="en-US" sz="2800">
                <a:latin typeface="Times New Roman" panose="02020603050405020304" pitchFamily="18" charset="0"/>
              </a:rPr>
              <a:t> </a:t>
            </a:r>
          </a:p>
        </p:txBody>
      </p:sp>
      <p:sp>
        <p:nvSpPr>
          <p:cNvPr id="8199" name="Text Box 7">
            <a:extLst>
              <a:ext uri="{FF2B5EF4-FFF2-40B4-BE49-F238E27FC236}">
                <a16:creationId xmlns:a16="http://schemas.microsoft.com/office/drawing/2014/main" id="{0177268C-3C19-1AF8-2AB6-17D3C9A7156A}"/>
              </a:ext>
            </a:extLst>
          </p:cNvPr>
          <p:cNvSpPr txBox="1">
            <a:spLocks noChangeArrowheads="1"/>
          </p:cNvSpPr>
          <p:nvPr/>
        </p:nvSpPr>
        <p:spPr bwMode="auto">
          <a:xfrm>
            <a:off x="1476375" y="4149725"/>
            <a:ext cx="7010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当系统某些元件的传递函数难以列写时，</a:t>
            </a:r>
          </a:p>
          <a:p>
            <a:pPr eaLnBrk="1" hangingPunct="1">
              <a:lnSpc>
                <a:spcPct val="115000"/>
              </a:lnSpc>
            </a:pPr>
            <a:r>
              <a:rPr lang="zh-CN" altLang="en-US" sz="2800">
                <a:latin typeface="宋体" panose="02010600030101010101" pitchFamily="2" charset="-122"/>
              </a:rPr>
              <a:t>  整个系统的分析工作将无法进行。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 calcmode="lin" valueType="num">
                                      <p:cBhvr>
                                        <p:cTn id="7" dur="500" fill="hold"/>
                                        <p:tgtEl>
                                          <p:spTgt spid="8197"/>
                                        </p:tgtEl>
                                        <p:attrNameLst>
                                          <p:attrName>ppt_x</p:attrName>
                                        </p:attrNameLst>
                                      </p:cBhvr>
                                      <p:tavLst>
                                        <p:tav tm="0">
                                          <p:val>
                                            <p:strVal val="#ppt_x"/>
                                          </p:val>
                                        </p:tav>
                                        <p:tav tm="100000">
                                          <p:val>
                                            <p:strVal val="#ppt_x"/>
                                          </p:val>
                                        </p:tav>
                                      </p:tavLst>
                                    </p:anim>
                                    <p:anim calcmode="lin" valueType="num">
                                      <p:cBhvr>
                                        <p:cTn id="8"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198"/>
                                        </p:tgtEl>
                                        <p:attrNameLst>
                                          <p:attrName>style.visibility</p:attrName>
                                        </p:attrNameLst>
                                      </p:cBhvr>
                                      <p:to>
                                        <p:strVal val="visible"/>
                                      </p:to>
                                    </p:set>
                                    <p:anim calcmode="lin" valueType="num">
                                      <p:cBhvr>
                                        <p:cTn id="13" dur="500" fill="hold"/>
                                        <p:tgtEl>
                                          <p:spTgt spid="8198"/>
                                        </p:tgtEl>
                                        <p:attrNameLst>
                                          <p:attrName>ppt_x</p:attrName>
                                        </p:attrNameLst>
                                      </p:cBhvr>
                                      <p:tavLst>
                                        <p:tav tm="0">
                                          <p:val>
                                            <p:strVal val="#ppt_x"/>
                                          </p:val>
                                        </p:tav>
                                        <p:tav tm="100000">
                                          <p:val>
                                            <p:strVal val="#ppt_x"/>
                                          </p:val>
                                        </p:tav>
                                      </p:tavLst>
                                    </p:anim>
                                    <p:anim calcmode="lin" valueType="num">
                                      <p:cBhvr>
                                        <p:cTn id="14" dur="500" fill="hold"/>
                                        <p:tgtEl>
                                          <p:spTgt spid="819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199"/>
                                        </p:tgtEl>
                                        <p:attrNameLst>
                                          <p:attrName>style.visibility</p:attrName>
                                        </p:attrNameLst>
                                      </p:cBhvr>
                                      <p:to>
                                        <p:strVal val="visible"/>
                                      </p:to>
                                    </p:set>
                                    <p:anim calcmode="lin" valueType="num">
                                      <p:cBhvr>
                                        <p:cTn id="19" dur="500" fill="hold"/>
                                        <p:tgtEl>
                                          <p:spTgt spid="8199"/>
                                        </p:tgtEl>
                                        <p:attrNameLst>
                                          <p:attrName>ppt_x</p:attrName>
                                        </p:attrNameLst>
                                      </p:cBhvr>
                                      <p:tavLst>
                                        <p:tav tm="0">
                                          <p:val>
                                            <p:strVal val="#ppt_x"/>
                                          </p:val>
                                        </p:tav>
                                        <p:tav tm="100000">
                                          <p:val>
                                            <p:strVal val="#ppt_x"/>
                                          </p:val>
                                        </p:tav>
                                      </p:tavLst>
                                    </p:anim>
                                    <p:anim calcmode="lin" valueType="num">
                                      <p:cBhvr>
                                        <p:cTn id="20" dur="500" fill="hold"/>
                                        <p:tgtEl>
                                          <p:spTgt spid="81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p:bldP spid="8198" grpId="0"/>
      <p:bldP spid="819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a:extLst>
              <a:ext uri="{FF2B5EF4-FFF2-40B4-BE49-F238E27FC236}">
                <a16:creationId xmlns:a16="http://schemas.microsoft.com/office/drawing/2014/main" id="{63F12B88-7859-B3A7-9303-1539A569D9C5}"/>
              </a:ext>
            </a:extLst>
          </p:cNvPr>
          <p:cNvSpPr>
            <a:spLocks noChangeArrowheads="1"/>
          </p:cNvSpPr>
          <p:nvPr/>
        </p:nvSpPr>
        <p:spPr bwMode="auto">
          <a:xfrm>
            <a:off x="1116013" y="1125538"/>
            <a:ext cx="3749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en-US" altLang="zh-CN" sz="2800">
                <a:latin typeface="Times New Roman" panose="02020603050405020304" pitchFamily="18" charset="0"/>
                <a:ea typeface="黑体" panose="02010609060101010101" pitchFamily="49" charset="-122"/>
              </a:rPr>
              <a:t> </a:t>
            </a:r>
            <a:r>
              <a:rPr lang="zh-CN" altLang="en-US" sz="2800" b="1">
                <a:latin typeface="宋体" panose="02010600030101010101" pitchFamily="2" charset="-122"/>
              </a:rPr>
              <a:t>频域分析的目的</a:t>
            </a:r>
            <a:endParaRPr lang="zh-CN" altLang="en-US" sz="2800" b="1">
              <a:latin typeface="Times New Roman" panose="02020603050405020304" pitchFamily="18" charset="0"/>
            </a:endParaRPr>
          </a:p>
        </p:txBody>
      </p:sp>
      <p:sp>
        <p:nvSpPr>
          <p:cNvPr id="9220" name="Text Box 4">
            <a:extLst>
              <a:ext uri="{FF2B5EF4-FFF2-40B4-BE49-F238E27FC236}">
                <a16:creationId xmlns:a16="http://schemas.microsoft.com/office/drawing/2014/main" id="{4F5963C5-862D-C520-2DE4-CF63082A007F}"/>
              </a:ext>
            </a:extLst>
          </p:cNvPr>
          <p:cNvSpPr txBox="1">
            <a:spLocks noChangeArrowheads="1"/>
          </p:cNvSpPr>
          <p:nvPr/>
        </p:nvSpPr>
        <p:spPr bwMode="auto">
          <a:xfrm>
            <a:off x="1331913" y="1700213"/>
            <a:ext cx="70104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solidFill>
                  <a:srgbClr val="CC3300"/>
                </a:solidFill>
                <a:latin typeface="宋体" panose="02010600030101010101" pitchFamily="2" charset="-122"/>
              </a:rPr>
              <a:t>频域分析</a:t>
            </a:r>
            <a:r>
              <a:rPr lang="zh-CN" altLang="en-US" sz="2800">
                <a:latin typeface="宋体" panose="02010600030101010101" pitchFamily="2" charset="-122"/>
              </a:rPr>
              <a:t>：以输入信号的频率为变量，在频率域，研究系统的结构参数与性能的关系。</a:t>
            </a:r>
            <a:endParaRPr lang="zh-CN" altLang="en-US" sz="2800">
              <a:latin typeface="Times New Roman" panose="02020603050405020304" pitchFamily="18" charset="0"/>
            </a:endParaRPr>
          </a:p>
        </p:txBody>
      </p:sp>
      <p:sp>
        <p:nvSpPr>
          <p:cNvPr id="9221" name="Text Box 5">
            <a:extLst>
              <a:ext uri="{FF2B5EF4-FFF2-40B4-BE49-F238E27FC236}">
                <a16:creationId xmlns:a16="http://schemas.microsoft.com/office/drawing/2014/main" id="{89BA0D47-3B2A-DE89-AC79-13E8174F7B3F}"/>
              </a:ext>
            </a:extLst>
          </p:cNvPr>
          <p:cNvSpPr txBox="1">
            <a:spLocks noChangeArrowheads="1"/>
          </p:cNvSpPr>
          <p:nvPr/>
        </p:nvSpPr>
        <p:spPr bwMode="auto">
          <a:xfrm>
            <a:off x="1258888" y="3213100"/>
            <a:ext cx="736917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无需求解微分方程，图解</a:t>
            </a:r>
            <a:r>
              <a:rPr lang="en-US" altLang="zh-CN" sz="2800">
                <a:latin typeface="宋体" panose="02010600030101010101" pitchFamily="2" charset="-122"/>
              </a:rPr>
              <a:t>(</a:t>
            </a:r>
            <a:r>
              <a:rPr lang="zh-CN" altLang="en-US" sz="2800">
                <a:latin typeface="宋体" panose="02010600030101010101" pitchFamily="2" charset="-122"/>
              </a:rPr>
              <a:t>频率特性图</a:t>
            </a:r>
            <a:r>
              <a:rPr lang="en-US" altLang="zh-CN" sz="2800">
                <a:latin typeface="宋体" panose="02010600030101010101" pitchFamily="2" charset="-122"/>
              </a:rPr>
              <a:t>)</a:t>
            </a:r>
            <a:r>
              <a:rPr lang="zh-CN" altLang="en-US" sz="2800">
                <a:latin typeface="宋体" panose="02010600030101010101" pitchFamily="2" charset="-122"/>
              </a:rPr>
              <a:t>法</a:t>
            </a:r>
          </a:p>
          <a:p>
            <a:pPr eaLnBrk="1" hangingPunct="1">
              <a:lnSpc>
                <a:spcPct val="115000"/>
              </a:lnSpc>
            </a:pPr>
            <a:r>
              <a:rPr lang="zh-CN" altLang="en-US" sz="2800">
                <a:latin typeface="宋体" panose="02010600030101010101" pitchFamily="2" charset="-122"/>
              </a:rPr>
              <a:t>  间接揭示系统性能并指明改进性能的方向；</a:t>
            </a:r>
          </a:p>
        </p:txBody>
      </p:sp>
      <p:sp>
        <p:nvSpPr>
          <p:cNvPr id="9222" name="Text Box 6">
            <a:extLst>
              <a:ext uri="{FF2B5EF4-FFF2-40B4-BE49-F238E27FC236}">
                <a16:creationId xmlns:a16="http://schemas.microsoft.com/office/drawing/2014/main" id="{EA3B3C96-6C01-CCD4-6AF2-ADE58E9E4DED}"/>
              </a:ext>
            </a:extLst>
          </p:cNvPr>
          <p:cNvSpPr txBox="1">
            <a:spLocks noChangeArrowheads="1"/>
          </p:cNvSpPr>
          <p:nvPr/>
        </p:nvSpPr>
        <p:spPr bwMode="auto">
          <a:xfrm>
            <a:off x="1346200" y="4248150"/>
            <a:ext cx="701040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易于实验分析； </a:t>
            </a:r>
          </a:p>
        </p:txBody>
      </p:sp>
      <p:sp>
        <p:nvSpPr>
          <p:cNvPr id="9223" name="Text Box 7">
            <a:extLst>
              <a:ext uri="{FF2B5EF4-FFF2-40B4-BE49-F238E27FC236}">
                <a16:creationId xmlns:a16="http://schemas.microsoft.com/office/drawing/2014/main" id="{C119C5AC-59DC-0379-634B-624089C17AA1}"/>
              </a:ext>
            </a:extLst>
          </p:cNvPr>
          <p:cNvSpPr txBox="1">
            <a:spLocks noChangeArrowheads="1"/>
          </p:cNvSpPr>
          <p:nvPr/>
        </p:nvSpPr>
        <p:spPr bwMode="auto">
          <a:xfrm>
            <a:off x="1346200" y="2690813"/>
            <a:ext cx="70104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solidFill>
                  <a:srgbClr val="CC3300"/>
                </a:solidFill>
                <a:latin typeface="宋体" panose="02010600030101010101" pitchFamily="2" charset="-122"/>
              </a:rPr>
              <a:t>优点：</a:t>
            </a:r>
            <a:endParaRPr lang="zh-CN" altLang="en-US" sz="2800">
              <a:solidFill>
                <a:srgbClr val="CC3300"/>
              </a:solidFill>
              <a:latin typeface="Times New Roman" panose="02020603050405020304" pitchFamily="18" charset="0"/>
            </a:endParaRPr>
          </a:p>
        </p:txBody>
      </p:sp>
      <p:sp>
        <p:nvSpPr>
          <p:cNvPr id="9224" name="Text Box 8">
            <a:extLst>
              <a:ext uri="{FF2B5EF4-FFF2-40B4-BE49-F238E27FC236}">
                <a16:creationId xmlns:a16="http://schemas.microsoft.com/office/drawing/2014/main" id="{7C597A4A-C2AC-0AC1-121D-466DAA3F04FD}"/>
              </a:ext>
            </a:extLst>
          </p:cNvPr>
          <p:cNvSpPr txBox="1">
            <a:spLocks noChangeArrowheads="1"/>
          </p:cNvSpPr>
          <p:nvPr/>
        </p:nvSpPr>
        <p:spPr bwMode="auto">
          <a:xfrm>
            <a:off x="1346200" y="4748213"/>
            <a:ext cx="70104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可推广应用于某些非线性系统（如含有延</a:t>
            </a:r>
          </a:p>
          <a:p>
            <a:pPr eaLnBrk="1" hangingPunct="1">
              <a:lnSpc>
                <a:spcPct val="115000"/>
              </a:lnSpc>
            </a:pPr>
            <a:r>
              <a:rPr lang="zh-CN" altLang="en-US" sz="2800">
                <a:latin typeface="宋体" panose="02010600030101010101" pitchFamily="2" charset="-122"/>
              </a:rPr>
              <a:t>  滞环节的系统）； </a:t>
            </a:r>
          </a:p>
        </p:txBody>
      </p:sp>
      <p:sp>
        <p:nvSpPr>
          <p:cNvPr id="9225" name="Text Box 9">
            <a:extLst>
              <a:ext uri="{FF2B5EF4-FFF2-40B4-BE49-F238E27FC236}">
                <a16:creationId xmlns:a16="http://schemas.microsoft.com/office/drawing/2014/main" id="{F68F6FC8-B6EB-D939-CDC2-9E8CCB6E88CE}"/>
              </a:ext>
            </a:extLst>
          </p:cNvPr>
          <p:cNvSpPr txBox="1">
            <a:spLocks noChangeArrowheads="1"/>
          </p:cNvSpPr>
          <p:nvPr/>
        </p:nvSpPr>
        <p:spPr bwMode="auto">
          <a:xfrm>
            <a:off x="1346200" y="5738813"/>
            <a:ext cx="70104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Times New Roman" panose="02020603050405020304" pitchFamily="18" charset="0"/>
              </a:rPr>
              <a:t> </a:t>
            </a:r>
            <a:r>
              <a:rPr lang="zh-CN" altLang="en-US" sz="2800">
                <a:latin typeface="宋体" panose="02010600030101010101" pitchFamily="2" charset="-122"/>
              </a:rPr>
              <a:t>可方便设计出能有效抑制噪声的系统。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anim calcmode="lin" valueType="num">
                                      <p:cBhvr>
                                        <p:cTn id="7" dur="500" fill="hold"/>
                                        <p:tgtEl>
                                          <p:spTgt spid="9220"/>
                                        </p:tgtEl>
                                        <p:attrNameLst>
                                          <p:attrName>ppt_x</p:attrName>
                                        </p:attrNameLst>
                                      </p:cBhvr>
                                      <p:tavLst>
                                        <p:tav tm="0">
                                          <p:val>
                                            <p:strVal val="#ppt_x"/>
                                          </p:val>
                                        </p:tav>
                                        <p:tav tm="100000">
                                          <p:val>
                                            <p:strVal val="#ppt_x"/>
                                          </p:val>
                                        </p:tav>
                                      </p:tavLst>
                                    </p:anim>
                                    <p:anim calcmode="lin" valueType="num">
                                      <p:cBhvr>
                                        <p:cTn id="8"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23"/>
                                        </p:tgtEl>
                                        <p:attrNameLst>
                                          <p:attrName>style.visibility</p:attrName>
                                        </p:attrNameLst>
                                      </p:cBhvr>
                                      <p:to>
                                        <p:strVal val="visible"/>
                                      </p:to>
                                    </p:set>
                                    <p:anim calcmode="lin" valueType="num">
                                      <p:cBhvr>
                                        <p:cTn id="13" dur="500" fill="hold"/>
                                        <p:tgtEl>
                                          <p:spTgt spid="9223"/>
                                        </p:tgtEl>
                                        <p:attrNameLst>
                                          <p:attrName>ppt_x</p:attrName>
                                        </p:attrNameLst>
                                      </p:cBhvr>
                                      <p:tavLst>
                                        <p:tav tm="0">
                                          <p:val>
                                            <p:strVal val="#ppt_x"/>
                                          </p:val>
                                        </p:tav>
                                        <p:tav tm="100000">
                                          <p:val>
                                            <p:strVal val="#ppt_x"/>
                                          </p:val>
                                        </p:tav>
                                      </p:tavLst>
                                    </p:anim>
                                    <p:anim calcmode="lin" valueType="num">
                                      <p:cBhvr>
                                        <p:cTn id="14" dur="500" fill="hold"/>
                                        <p:tgtEl>
                                          <p:spTgt spid="922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221"/>
                                        </p:tgtEl>
                                        <p:attrNameLst>
                                          <p:attrName>style.visibility</p:attrName>
                                        </p:attrNameLst>
                                      </p:cBhvr>
                                      <p:to>
                                        <p:strVal val="visible"/>
                                      </p:to>
                                    </p:set>
                                    <p:anim calcmode="lin" valueType="num">
                                      <p:cBhvr>
                                        <p:cTn id="19" dur="500" fill="hold"/>
                                        <p:tgtEl>
                                          <p:spTgt spid="9221"/>
                                        </p:tgtEl>
                                        <p:attrNameLst>
                                          <p:attrName>ppt_x</p:attrName>
                                        </p:attrNameLst>
                                      </p:cBhvr>
                                      <p:tavLst>
                                        <p:tav tm="0">
                                          <p:val>
                                            <p:strVal val="#ppt_x"/>
                                          </p:val>
                                        </p:tav>
                                        <p:tav tm="100000">
                                          <p:val>
                                            <p:strVal val="#ppt_x"/>
                                          </p:val>
                                        </p:tav>
                                      </p:tavLst>
                                    </p:anim>
                                    <p:anim calcmode="lin" valueType="num">
                                      <p:cBhvr>
                                        <p:cTn id="20"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22"/>
                                        </p:tgtEl>
                                        <p:attrNameLst>
                                          <p:attrName>style.visibility</p:attrName>
                                        </p:attrNameLst>
                                      </p:cBhvr>
                                      <p:to>
                                        <p:strVal val="visible"/>
                                      </p:to>
                                    </p:set>
                                    <p:anim calcmode="lin" valueType="num">
                                      <p:cBhvr>
                                        <p:cTn id="25" dur="500" fill="hold"/>
                                        <p:tgtEl>
                                          <p:spTgt spid="9222"/>
                                        </p:tgtEl>
                                        <p:attrNameLst>
                                          <p:attrName>ppt_x</p:attrName>
                                        </p:attrNameLst>
                                      </p:cBhvr>
                                      <p:tavLst>
                                        <p:tav tm="0">
                                          <p:val>
                                            <p:strVal val="#ppt_x"/>
                                          </p:val>
                                        </p:tav>
                                        <p:tav tm="100000">
                                          <p:val>
                                            <p:strVal val="#ppt_x"/>
                                          </p:val>
                                        </p:tav>
                                      </p:tavLst>
                                    </p:anim>
                                    <p:anim calcmode="lin" valueType="num">
                                      <p:cBhvr>
                                        <p:cTn id="26"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224"/>
                                        </p:tgtEl>
                                        <p:attrNameLst>
                                          <p:attrName>style.visibility</p:attrName>
                                        </p:attrNameLst>
                                      </p:cBhvr>
                                      <p:to>
                                        <p:strVal val="visible"/>
                                      </p:to>
                                    </p:set>
                                    <p:anim calcmode="lin" valueType="num">
                                      <p:cBhvr>
                                        <p:cTn id="31" dur="500" fill="hold"/>
                                        <p:tgtEl>
                                          <p:spTgt spid="9224"/>
                                        </p:tgtEl>
                                        <p:attrNameLst>
                                          <p:attrName>ppt_x</p:attrName>
                                        </p:attrNameLst>
                                      </p:cBhvr>
                                      <p:tavLst>
                                        <p:tav tm="0">
                                          <p:val>
                                            <p:strVal val="#ppt_x"/>
                                          </p:val>
                                        </p:tav>
                                        <p:tav tm="100000">
                                          <p:val>
                                            <p:strVal val="#ppt_x"/>
                                          </p:val>
                                        </p:tav>
                                      </p:tavLst>
                                    </p:anim>
                                    <p:anim calcmode="lin" valueType="num">
                                      <p:cBhvr>
                                        <p:cTn id="32" dur="500" fill="hold"/>
                                        <p:tgtEl>
                                          <p:spTgt spid="922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225"/>
                                        </p:tgtEl>
                                        <p:attrNameLst>
                                          <p:attrName>style.visibility</p:attrName>
                                        </p:attrNameLst>
                                      </p:cBhvr>
                                      <p:to>
                                        <p:strVal val="visible"/>
                                      </p:to>
                                    </p:set>
                                    <p:anim calcmode="lin" valueType="num">
                                      <p:cBhvr>
                                        <p:cTn id="37" dur="500" fill="hold"/>
                                        <p:tgtEl>
                                          <p:spTgt spid="9225"/>
                                        </p:tgtEl>
                                        <p:attrNameLst>
                                          <p:attrName>ppt_x</p:attrName>
                                        </p:attrNameLst>
                                      </p:cBhvr>
                                      <p:tavLst>
                                        <p:tav tm="0">
                                          <p:val>
                                            <p:strVal val="#ppt_x"/>
                                          </p:val>
                                        </p:tav>
                                        <p:tav tm="100000">
                                          <p:val>
                                            <p:strVal val="#ppt_x"/>
                                          </p:val>
                                        </p:tav>
                                      </p:tavLst>
                                    </p:anim>
                                    <p:anim calcmode="lin" valueType="num">
                                      <p:cBhvr>
                                        <p:cTn id="38" dur="500" fill="hold"/>
                                        <p:tgtEl>
                                          <p:spTgt spid="92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1" grpId="0"/>
      <p:bldP spid="9222" grpId="0"/>
      <p:bldP spid="9223" grpId="0"/>
      <p:bldP spid="9224" grpId="0"/>
      <p:bldP spid="922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4">
            <a:extLst>
              <a:ext uri="{FF2B5EF4-FFF2-40B4-BE49-F238E27FC236}">
                <a16:creationId xmlns:a16="http://schemas.microsoft.com/office/drawing/2014/main" id="{298ADCA6-9D68-5C92-EE30-9F2E40691949}"/>
              </a:ext>
            </a:extLst>
          </p:cNvPr>
          <p:cNvSpPr txBox="1">
            <a:spLocks noChangeArrowheads="1"/>
          </p:cNvSpPr>
          <p:nvPr/>
        </p:nvSpPr>
        <p:spPr bwMode="auto">
          <a:xfrm>
            <a:off x="2124075" y="692150"/>
            <a:ext cx="34163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3600">
                <a:latin typeface="Times New Roman" panose="02020603050405020304" pitchFamily="18" charset="0"/>
                <a:ea typeface="华文新魏" panose="02010800040101010101" pitchFamily="2" charset="-122"/>
              </a:rPr>
              <a:t>第</a:t>
            </a:r>
            <a:r>
              <a:rPr lang="en-US" altLang="zh-CN" sz="3600">
                <a:latin typeface="Times New Roman" panose="02020603050405020304" pitchFamily="18" charset="0"/>
                <a:ea typeface="华文新魏" panose="02010800040101010101" pitchFamily="2" charset="-122"/>
              </a:rPr>
              <a:t>4</a:t>
            </a:r>
            <a:r>
              <a:rPr lang="zh-CN" altLang="en-US" sz="3600">
                <a:latin typeface="Times New Roman" panose="02020603050405020304" pitchFamily="18" charset="0"/>
                <a:ea typeface="华文新魏" panose="02010800040101010101" pitchFamily="2" charset="-122"/>
              </a:rPr>
              <a:t>章  频率特性</a:t>
            </a:r>
          </a:p>
        </p:txBody>
      </p:sp>
      <p:sp>
        <p:nvSpPr>
          <p:cNvPr id="60419" name="Rectangle 5">
            <a:extLst>
              <a:ext uri="{FF2B5EF4-FFF2-40B4-BE49-F238E27FC236}">
                <a16:creationId xmlns:a16="http://schemas.microsoft.com/office/drawing/2014/main" id="{7349F3B9-A9EF-1BD8-D24C-4CBEF99A7234}"/>
              </a:ext>
            </a:extLst>
          </p:cNvPr>
          <p:cNvSpPr>
            <a:spLocks noChangeArrowheads="1"/>
          </p:cNvSpPr>
          <p:nvPr/>
        </p:nvSpPr>
        <p:spPr bwMode="auto">
          <a:xfrm>
            <a:off x="1403350" y="2522538"/>
            <a:ext cx="5562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4.2  </a:t>
            </a:r>
            <a:r>
              <a:rPr lang="zh-CN" altLang="en-US" sz="2800">
                <a:latin typeface="Times New Roman" panose="02020603050405020304" pitchFamily="18" charset="0"/>
                <a:ea typeface="黑体" panose="02010609060101010101" pitchFamily="49" charset="-122"/>
              </a:rPr>
              <a:t>典型环节的频率特性图</a:t>
            </a:r>
          </a:p>
        </p:txBody>
      </p:sp>
      <p:sp>
        <p:nvSpPr>
          <p:cNvPr id="60420" name="Rectangle 6">
            <a:extLst>
              <a:ext uri="{FF2B5EF4-FFF2-40B4-BE49-F238E27FC236}">
                <a16:creationId xmlns:a16="http://schemas.microsoft.com/office/drawing/2014/main" id="{D9E7AB21-8387-113F-E052-CCA51BA543FE}"/>
              </a:ext>
            </a:extLst>
          </p:cNvPr>
          <p:cNvSpPr>
            <a:spLocks noChangeArrowheads="1"/>
          </p:cNvSpPr>
          <p:nvPr/>
        </p:nvSpPr>
        <p:spPr bwMode="auto">
          <a:xfrm>
            <a:off x="1403350" y="3132138"/>
            <a:ext cx="5486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2800">
                <a:latin typeface="Times New Roman" panose="02020603050405020304" pitchFamily="18" charset="0"/>
                <a:ea typeface="黑体" panose="02010609060101010101" pitchFamily="49" charset="-122"/>
              </a:rPr>
              <a:t>4.3  </a:t>
            </a:r>
            <a:r>
              <a:rPr lang="zh-CN" altLang="en-US" sz="2800">
                <a:latin typeface="Times New Roman" panose="02020603050405020304" pitchFamily="18" charset="0"/>
                <a:ea typeface="黑体" panose="02010609060101010101" pitchFamily="49" charset="-122"/>
              </a:rPr>
              <a:t>系统开环频率特性图</a:t>
            </a:r>
          </a:p>
        </p:txBody>
      </p:sp>
      <p:sp>
        <p:nvSpPr>
          <p:cNvPr id="60421" name="Rectangle 8">
            <a:extLst>
              <a:ext uri="{FF2B5EF4-FFF2-40B4-BE49-F238E27FC236}">
                <a16:creationId xmlns:a16="http://schemas.microsoft.com/office/drawing/2014/main" id="{7F7EF3CC-F477-C2D8-B1D3-3FDD93C5F4D5}"/>
              </a:ext>
            </a:extLst>
          </p:cNvPr>
          <p:cNvSpPr>
            <a:spLocks noChangeArrowheads="1"/>
          </p:cNvSpPr>
          <p:nvPr/>
        </p:nvSpPr>
        <p:spPr bwMode="auto">
          <a:xfrm>
            <a:off x="1403350" y="3643313"/>
            <a:ext cx="5545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4.4  </a:t>
            </a:r>
            <a:r>
              <a:rPr lang="zh-CN" altLang="en-US" sz="2800">
                <a:latin typeface="Times New Roman" panose="02020603050405020304" pitchFamily="18" charset="0"/>
                <a:ea typeface="黑体" panose="02010609060101010101" pitchFamily="49" charset="-122"/>
              </a:rPr>
              <a:t>频域稳定性判据</a:t>
            </a:r>
          </a:p>
        </p:txBody>
      </p:sp>
      <p:sp>
        <p:nvSpPr>
          <p:cNvPr id="60422" name="Rectangle 9">
            <a:extLst>
              <a:ext uri="{FF2B5EF4-FFF2-40B4-BE49-F238E27FC236}">
                <a16:creationId xmlns:a16="http://schemas.microsoft.com/office/drawing/2014/main" id="{6F6FE363-94D3-06D1-A8AE-1A07B5E7F1DB}"/>
              </a:ext>
            </a:extLst>
          </p:cNvPr>
          <p:cNvSpPr>
            <a:spLocks noChangeArrowheads="1"/>
          </p:cNvSpPr>
          <p:nvPr/>
        </p:nvSpPr>
        <p:spPr bwMode="auto">
          <a:xfrm>
            <a:off x="1403350" y="4291013"/>
            <a:ext cx="65532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4.5  </a:t>
            </a:r>
            <a:r>
              <a:rPr lang="zh-CN" altLang="en-US" sz="2800">
                <a:latin typeface="Times New Roman" panose="02020603050405020304" pitchFamily="18" charset="0"/>
                <a:ea typeface="黑体" panose="02010609060101010101" pitchFamily="49" charset="-122"/>
              </a:rPr>
              <a:t>闭环控制系统的频率特性</a:t>
            </a:r>
          </a:p>
        </p:txBody>
      </p:sp>
      <p:sp>
        <p:nvSpPr>
          <p:cNvPr id="60423" name="Rectangle 11">
            <a:extLst>
              <a:ext uri="{FF2B5EF4-FFF2-40B4-BE49-F238E27FC236}">
                <a16:creationId xmlns:a16="http://schemas.microsoft.com/office/drawing/2014/main" id="{CA295938-BBF1-4157-9DA1-7CD59FCC9B9E}"/>
              </a:ext>
            </a:extLst>
          </p:cNvPr>
          <p:cNvSpPr>
            <a:spLocks noChangeArrowheads="1"/>
          </p:cNvSpPr>
          <p:nvPr/>
        </p:nvSpPr>
        <p:spPr bwMode="auto">
          <a:xfrm>
            <a:off x="1403350" y="1916113"/>
            <a:ext cx="4648200"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solidFill>
                  <a:srgbClr val="FF0000"/>
                </a:solidFill>
                <a:latin typeface="Times New Roman" panose="02020603050405020304" pitchFamily="18" charset="0"/>
                <a:ea typeface="黑体" panose="02010609060101010101" pitchFamily="49" charset="-122"/>
              </a:rPr>
              <a:t>4.1</a:t>
            </a:r>
            <a:r>
              <a:rPr lang="en-US" altLang="zh-CN" sz="2800" b="1">
                <a:solidFill>
                  <a:srgbClr val="FF0000"/>
                </a:solidFill>
                <a:latin typeface="Times New Roman" panose="02020603050405020304" pitchFamily="18" charset="0"/>
                <a:ea typeface="黑体" panose="02010609060101010101" pitchFamily="49" charset="-122"/>
              </a:rPr>
              <a:t>  </a:t>
            </a:r>
            <a:r>
              <a:rPr lang="zh-CN" altLang="en-US" sz="2800">
                <a:solidFill>
                  <a:srgbClr val="FF0000"/>
                </a:solidFill>
                <a:latin typeface="Times New Roman" panose="02020603050405020304" pitchFamily="18" charset="0"/>
                <a:ea typeface="黑体" panose="02010609060101010101" pitchFamily="49" charset="-122"/>
              </a:rPr>
              <a:t>频率特性的基本概念</a:t>
            </a:r>
          </a:p>
        </p:txBody>
      </p:sp>
      <p:sp>
        <p:nvSpPr>
          <p:cNvPr id="60424" name="Rectangle 9">
            <a:extLst>
              <a:ext uri="{FF2B5EF4-FFF2-40B4-BE49-F238E27FC236}">
                <a16:creationId xmlns:a16="http://schemas.microsoft.com/office/drawing/2014/main" id="{EDE4BB3D-4A9E-D28F-5829-2CCD3EC76120}"/>
              </a:ext>
            </a:extLst>
          </p:cNvPr>
          <p:cNvSpPr>
            <a:spLocks noChangeArrowheads="1"/>
          </p:cNvSpPr>
          <p:nvPr/>
        </p:nvSpPr>
        <p:spPr bwMode="auto">
          <a:xfrm>
            <a:off x="1403350" y="4899025"/>
            <a:ext cx="65532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4.6  </a:t>
            </a:r>
            <a:r>
              <a:rPr lang="zh-CN" altLang="en-US" sz="2800">
                <a:latin typeface="Times New Roman" panose="02020603050405020304" pitchFamily="18" charset="0"/>
                <a:ea typeface="黑体" panose="02010609060101010101" pitchFamily="49" charset="-122"/>
              </a:rPr>
              <a:t>频域指标与时域性能指标间的关系</a:t>
            </a:r>
          </a:p>
        </p:txBody>
      </p:sp>
      <p:sp>
        <p:nvSpPr>
          <p:cNvPr id="60425" name="Rectangle 9">
            <a:extLst>
              <a:ext uri="{FF2B5EF4-FFF2-40B4-BE49-F238E27FC236}">
                <a16:creationId xmlns:a16="http://schemas.microsoft.com/office/drawing/2014/main" id="{BC7727FE-C7BB-69EF-FEAD-277BEFF9C4D1}"/>
              </a:ext>
            </a:extLst>
          </p:cNvPr>
          <p:cNvSpPr>
            <a:spLocks noChangeArrowheads="1"/>
          </p:cNvSpPr>
          <p:nvPr/>
        </p:nvSpPr>
        <p:spPr bwMode="auto">
          <a:xfrm>
            <a:off x="1403350" y="5451475"/>
            <a:ext cx="69135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a:latin typeface="Times New Roman" panose="02020603050405020304" pitchFamily="18" charset="0"/>
                <a:ea typeface="黑体" panose="02010609060101010101" pitchFamily="49" charset="-122"/>
              </a:rPr>
              <a:t>4.7  </a:t>
            </a:r>
            <a:r>
              <a:rPr lang="zh-CN" altLang="en-US" sz="2800">
                <a:latin typeface="Times New Roman" panose="02020603050405020304" pitchFamily="18" charset="0"/>
                <a:ea typeface="黑体" panose="02010609060101010101" pitchFamily="49" charset="-122"/>
              </a:rPr>
              <a:t>用系统开环频率特性分析闭环系统性能</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EB98669-7ADC-7EE5-D9F1-73138FC666E6}"/>
              </a:ext>
            </a:extLst>
          </p:cNvPr>
          <p:cNvSpPr txBox="1"/>
          <p:nvPr/>
        </p:nvSpPr>
        <p:spPr>
          <a:xfrm>
            <a:off x="971600" y="980728"/>
            <a:ext cx="1980029" cy="523220"/>
          </a:xfrm>
          <a:prstGeom prst="rect">
            <a:avLst/>
          </a:prstGeom>
          <a:noFill/>
        </p:spPr>
        <p:txBody>
          <a:bodyPr wrap="none" rtlCol="0">
            <a:spAutoFit/>
          </a:bodyPr>
          <a:lstStyle/>
          <a:p>
            <a:r>
              <a:rPr lang="zh-CN" altLang="en-US" sz="2800" dirty="0"/>
              <a:t>预备知识：</a:t>
            </a:r>
          </a:p>
        </p:txBody>
      </p:sp>
      <p:sp>
        <p:nvSpPr>
          <p:cNvPr id="3" name="文本框 2">
            <a:extLst>
              <a:ext uri="{FF2B5EF4-FFF2-40B4-BE49-F238E27FC236}">
                <a16:creationId xmlns:a16="http://schemas.microsoft.com/office/drawing/2014/main" id="{9A31E58A-524D-5AE9-2B6E-4004FEA52F09}"/>
              </a:ext>
            </a:extLst>
          </p:cNvPr>
          <p:cNvSpPr txBox="1"/>
          <p:nvPr/>
        </p:nvSpPr>
        <p:spPr>
          <a:xfrm>
            <a:off x="2684303" y="980728"/>
            <a:ext cx="3775393" cy="523220"/>
          </a:xfrm>
          <a:prstGeom prst="rect">
            <a:avLst/>
          </a:prstGeom>
          <a:noFill/>
        </p:spPr>
        <p:txBody>
          <a:bodyPr wrap="none" rtlCol="0">
            <a:spAutoFit/>
          </a:bodyPr>
          <a:lstStyle/>
          <a:p>
            <a:r>
              <a:rPr lang="zh-CN" altLang="en-US" sz="2800" dirty="0"/>
              <a:t>复数的幅值和相位计算</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1E906C0-3F45-A0BF-FDAE-67301BBC733E}"/>
                  </a:ext>
                </a:extLst>
              </p:cNvPr>
              <p:cNvSpPr txBox="1"/>
              <p:nvPr/>
            </p:nvSpPr>
            <p:spPr>
              <a:xfrm>
                <a:off x="1475656" y="2420888"/>
                <a:ext cx="322204" cy="430887"/>
              </a:xfrm>
              <a:prstGeom prst="rect">
                <a:avLst/>
              </a:prstGeom>
              <a:noFill/>
            </p:spPr>
            <p:txBody>
              <a:bodyPr wrap="none" lIns="0" tIns="0" rIns="0" bIns="0" rtlCol="0">
                <a:spAutoFit/>
              </a:bodyPr>
              <a:lstStyle/>
              <a:p>
                <a14:m>
                  <m:oMath xmlns:m="http://schemas.openxmlformats.org/officeDocument/2006/math">
                    <m:r>
                      <a:rPr lang="en-US" altLang="zh-CN" sz="2800" b="0" i="1" smtClean="0">
                        <a:latin typeface="Cambria Math" panose="02040503050406030204" pitchFamily="18" charset="0"/>
                      </a:rPr>
                      <m:t>2</m:t>
                    </m:r>
                  </m:oMath>
                </a14:m>
                <a:r>
                  <a:rPr lang="en-US" altLang="zh-CN" sz="2800" dirty="0"/>
                  <a:t>j</a:t>
                </a:r>
                <a:endParaRPr lang="zh-CN" altLang="en-US" sz="2800" dirty="0"/>
              </a:p>
            </p:txBody>
          </p:sp>
        </mc:Choice>
        <mc:Fallback xmlns="">
          <p:sp>
            <p:nvSpPr>
              <p:cNvPr id="4" name="文本框 3">
                <a:extLst>
                  <a:ext uri="{FF2B5EF4-FFF2-40B4-BE49-F238E27FC236}">
                    <a16:creationId xmlns:a16="http://schemas.microsoft.com/office/drawing/2014/main" id="{41E906C0-3F45-A0BF-FDAE-67301BBC733E}"/>
                  </a:ext>
                </a:extLst>
              </p:cNvPr>
              <p:cNvSpPr txBox="1">
                <a:spLocks noRot="1" noChangeAspect="1" noMove="1" noResize="1" noEditPoints="1" noAdjustHandles="1" noChangeArrowheads="1" noChangeShapeType="1" noTextEdit="1"/>
              </p:cNvSpPr>
              <p:nvPr/>
            </p:nvSpPr>
            <p:spPr>
              <a:xfrm>
                <a:off x="1475656" y="2420888"/>
                <a:ext cx="322204" cy="430887"/>
              </a:xfrm>
              <a:prstGeom prst="rect">
                <a:avLst/>
              </a:prstGeom>
              <a:blipFill>
                <a:blip r:embed="rId2"/>
                <a:stretch>
                  <a:fillRect l="-5660" t="-26761" r="-66038" b="-47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40F32B2-A526-D942-2CD8-D84A99328767}"/>
                  </a:ext>
                </a:extLst>
              </p:cNvPr>
              <p:cNvSpPr txBox="1"/>
              <p:nvPr/>
            </p:nvSpPr>
            <p:spPr>
              <a:xfrm>
                <a:off x="2720925" y="2193838"/>
                <a:ext cx="461408" cy="8849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1</m:t>
                          </m:r>
                        </m:num>
                        <m:den>
                          <m:r>
                            <a:rPr lang="en-US" altLang="zh-CN" sz="2800" b="0" i="1" smtClean="0">
                              <a:latin typeface="Cambria Math" panose="02040503050406030204" pitchFamily="18" charset="0"/>
                            </a:rPr>
                            <m:t>2</m:t>
                          </m:r>
                          <m:r>
                            <a:rPr lang="en-US" altLang="zh-CN" sz="2800" b="0" i="1" smtClean="0">
                              <a:latin typeface="Cambria Math" panose="02040503050406030204" pitchFamily="18" charset="0"/>
                            </a:rPr>
                            <m:t>𝑗</m:t>
                          </m:r>
                        </m:den>
                      </m:f>
                    </m:oMath>
                  </m:oMathPara>
                </a14:m>
                <a:endParaRPr lang="zh-CN" altLang="en-US" sz="2800" dirty="0"/>
              </a:p>
            </p:txBody>
          </p:sp>
        </mc:Choice>
        <mc:Fallback xmlns="">
          <p:sp>
            <p:nvSpPr>
              <p:cNvPr id="5" name="文本框 4">
                <a:extLst>
                  <a:ext uri="{FF2B5EF4-FFF2-40B4-BE49-F238E27FC236}">
                    <a16:creationId xmlns:a16="http://schemas.microsoft.com/office/drawing/2014/main" id="{940F32B2-A526-D942-2CD8-D84A99328767}"/>
                  </a:ext>
                </a:extLst>
              </p:cNvPr>
              <p:cNvSpPr txBox="1">
                <a:spLocks noRot="1" noChangeAspect="1" noMove="1" noResize="1" noEditPoints="1" noAdjustHandles="1" noChangeArrowheads="1" noChangeShapeType="1" noTextEdit="1"/>
              </p:cNvSpPr>
              <p:nvPr/>
            </p:nvSpPr>
            <p:spPr>
              <a:xfrm>
                <a:off x="2720925" y="2193838"/>
                <a:ext cx="461408" cy="88498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4AE690B-16BB-C4BC-D11E-7D2FAE113099}"/>
                  </a:ext>
                </a:extLst>
              </p:cNvPr>
              <p:cNvSpPr txBox="1"/>
              <p:nvPr/>
            </p:nvSpPr>
            <p:spPr>
              <a:xfrm>
                <a:off x="4641586" y="3838019"/>
                <a:ext cx="888641" cy="8849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num>
                        <m:den>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den>
                      </m:f>
                    </m:oMath>
                  </m:oMathPara>
                </a14:m>
                <a:endParaRPr lang="zh-CN" altLang="en-US" sz="2800" dirty="0"/>
              </a:p>
            </p:txBody>
          </p:sp>
        </mc:Choice>
        <mc:Fallback xmlns="">
          <p:sp>
            <p:nvSpPr>
              <p:cNvPr id="6" name="文本框 5">
                <a:extLst>
                  <a:ext uri="{FF2B5EF4-FFF2-40B4-BE49-F238E27FC236}">
                    <a16:creationId xmlns:a16="http://schemas.microsoft.com/office/drawing/2014/main" id="{74AE690B-16BB-C4BC-D11E-7D2FAE113099}"/>
                  </a:ext>
                </a:extLst>
              </p:cNvPr>
              <p:cNvSpPr txBox="1">
                <a:spLocks noRot="1" noChangeAspect="1" noMove="1" noResize="1" noEditPoints="1" noAdjustHandles="1" noChangeArrowheads="1" noChangeShapeType="1" noTextEdit="1"/>
              </p:cNvSpPr>
              <p:nvPr/>
            </p:nvSpPr>
            <p:spPr>
              <a:xfrm>
                <a:off x="4641586" y="3838019"/>
                <a:ext cx="888641" cy="884986"/>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DD45471-61DB-9585-6578-B2ECB166681B}"/>
                  </a:ext>
                </a:extLst>
              </p:cNvPr>
              <p:cNvSpPr txBox="1"/>
              <p:nvPr/>
            </p:nvSpPr>
            <p:spPr>
              <a:xfrm>
                <a:off x="4127678" y="2420887"/>
                <a:ext cx="88864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oMath>
                  </m:oMathPara>
                </a14:m>
                <a:endParaRPr lang="zh-CN" altLang="en-US" sz="2800" dirty="0"/>
              </a:p>
            </p:txBody>
          </p:sp>
        </mc:Choice>
        <mc:Fallback xmlns="">
          <p:sp>
            <p:nvSpPr>
              <p:cNvPr id="7" name="文本框 6">
                <a:extLst>
                  <a:ext uri="{FF2B5EF4-FFF2-40B4-BE49-F238E27FC236}">
                    <a16:creationId xmlns:a16="http://schemas.microsoft.com/office/drawing/2014/main" id="{4DD45471-61DB-9585-6578-B2ECB166681B}"/>
                  </a:ext>
                </a:extLst>
              </p:cNvPr>
              <p:cNvSpPr txBox="1">
                <a:spLocks noRot="1" noChangeAspect="1" noMove="1" noResize="1" noEditPoints="1" noAdjustHandles="1" noChangeArrowheads="1" noChangeShapeType="1" noTextEdit="1"/>
              </p:cNvSpPr>
              <p:nvPr/>
            </p:nvSpPr>
            <p:spPr>
              <a:xfrm>
                <a:off x="4127678" y="2420887"/>
                <a:ext cx="888641" cy="430887"/>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EE872D4-2EC4-B7EB-4105-2B1A35783697}"/>
                  </a:ext>
                </a:extLst>
              </p:cNvPr>
              <p:cNvSpPr txBox="1"/>
              <p:nvPr/>
            </p:nvSpPr>
            <p:spPr>
              <a:xfrm>
                <a:off x="5724128" y="2449451"/>
                <a:ext cx="115634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oMath>
                  </m:oMathPara>
                </a14:m>
                <a:endParaRPr lang="zh-CN" altLang="en-US" sz="2800" dirty="0"/>
              </a:p>
            </p:txBody>
          </p:sp>
        </mc:Choice>
        <mc:Fallback xmlns="">
          <p:sp>
            <p:nvSpPr>
              <p:cNvPr id="8" name="文本框 7">
                <a:extLst>
                  <a:ext uri="{FF2B5EF4-FFF2-40B4-BE49-F238E27FC236}">
                    <a16:creationId xmlns:a16="http://schemas.microsoft.com/office/drawing/2014/main" id="{BEE872D4-2EC4-B7EB-4105-2B1A35783697}"/>
                  </a:ext>
                </a:extLst>
              </p:cNvPr>
              <p:cNvSpPr txBox="1">
                <a:spLocks noRot="1" noChangeAspect="1" noMove="1" noResize="1" noEditPoints="1" noAdjustHandles="1" noChangeArrowheads="1" noChangeShapeType="1" noTextEdit="1"/>
              </p:cNvSpPr>
              <p:nvPr/>
            </p:nvSpPr>
            <p:spPr>
              <a:xfrm>
                <a:off x="5724128" y="2449451"/>
                <a:ext cx="1156342" cy="430887"/>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CEA8BC5-DB6E-7C73-0C06-541B319D8BF9}"/>
                  </a:ext>
                </a:extLst>
              </p:cNvPr>
              <p:cNvSpPr txBox="1"/>
              <p:nvPr/>
            </p:nvSpPr>
            <p:spPr>
              <a:xfrm>
                <a:off x="1116137" y="4017695"/>
                <a:ext cx="88864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oMath>
                  </m:oMathPara>
                </a14:m>
                <a:endParaRPr lang="zh-CN" altLang="en-US" sz="2800" dirty="0"/>
              </a:p>
            </p:txBody>
          </p:sp>
        </mc:Choice>
        <mc:Fallback xmlns="">
          <p:sp>
            <p:nvSpPr>
              <p:cNvPr id="9" name="文本框 8">
                <a:extLst>
                  <a:ext uri="{FF2B5EF4-FFF2-40B4-BE49-F238E27FC236}">
                    <a16:creationId xmlns:a16="http://schemas.microsoft.com/office/drawing/2014/main" id="{ACEA8BC5-DB6E-7C73-0C06-541B319D8BF9}"/>
                  </a:ext>
                </a:extLst>
              </p:cNvPr>
              <p:cNvSpPr txBox="1">
                <a:spLocks noRot="1" noChangeAspect="1" noMove="1" noResize="1" noEditPoints="1" noAdjustHandles="1" noChangeArrowheads="1" noChangeShapeType="1" noTextEdit="1"/>
              </p:cNvSpPr>
              <p:nvPr/>
            </p:nvSpPr>
            <p:spPr>
              <a:xfrm>
                <a:off x="1116137" y="4017695"/>
                <a:ext cx="888641" cy="4308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7">
                <a:extLst>
                  <a:ext uri="{FF2B5EF4-FFF2-40B4-BE49-F238E27FC236}">
                    <a16:creationId xmlns:a16="http://schemas.microsoft.com/office/drawing/2014/main" id="{BEE872D4-2EC4-B7EB-4105-2B1A35783697}"/>
                  </a:ext>
                </a:extLst>
              </p:cNvPr>
              <p:cNvSpPr txBox="1"/>
              <p:nvPr/>
            </p:nvSpPr>
            <p:spPr>
              <a:xfrm>
                <a:off x="2555776" y="4029301"/>
                <a:ext cx="1156342" cy="430887"/>
              </a:xfrm>
              <a:prstGeom prst="rect">
                <a:avLst/>
              </a:prstGeom>
              <a:noFill/>
            </p:spPr>
            <p:txBody>
              <a:bodyPr wrap="none" lIns="0" tIns="0" rIns="0" bIns="0" rtlCol="0">
                <a:spAutoFit/>
              </a:bodyPr>
              <a:ls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oMath>
                  </m:oMathPara>
                </a14:m>
                <a:endParaRPr lang="zh-CN" altLang="en-US" sz="2800" dirty="0"/>
              </a:p>
            </p:txBody>
          </p:sp>
        </mc:Choice>
        <mc:Fallback xmlns="">
          <p:sp>
            <p:nvSpPr>
              <p:cNvPr id="10" name="文本框 7">
                <a:extLst>
                  <a:ext uri="{FF2B5EF4-FFF2-40B4-BE49-F238E27FC236}">
                    <a16:creationId xmlns:a16="http://schemas.microsoft.com/office/drawing/2014/main" id="{BEE872D4-2EC4-B7EB-4105-2B1A35783697}"/>
                  </a:ext>
                </a:extLst>
              </p:cNvPr>
              <p:cNvSpPr txBox="1">
                <a:spLocks noRot="1" noChangeAspect="1" noMove="1" noResize="1" noEditPoints="1" noAdjustHandles="1" noChangeArrowheads="1" noChangeShapeType="1" noTextEdit="1"/>
              </p:cNvSpPr>
              <p:nvPr/>
            </p:nvSpPr>
            <p:spPr>
              <a:xfrm>
                <a:off x="2555776" y="4029301"/>
                <a:ext cx="1156342" cy="430887"/>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9865B73-AC4B-8524-3960-CCB7E091B442}"/>
                  </a:ext>
                </a:extLst>
              </p:cNvPr>
              <p:cNvSpPr txBox="1"/>
              <p:nvPr/>
            </p:nvSpPr>
            <p:spPr>
              <a:xfrm>
                <a:off x="6459695" y="3861048"/>
                <a:ext cx="1156342" cy="88498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sz="2800" i="1" smtClean="0">
                              <a:latin typeface="Cambria Math" panose="02040503050406030204" pitchFamily="18" charset="0"/>
                            </a:rPr>
                          </m:ctrlPr>
                        </m:fPr>
                        <m:num>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num>
                        <m:den>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den>
                      </m:f>
                    </m:oMath>
                  </m:oMathPara>
                </a14:m>
                <a:endParaRPr lang="zh-CN" altLang="en-US" sz="2800" dirty="0"/>
              </a:p>
            </p:txBody>
          </p:sp>
        </mc:Choice>
        <mc:Fallback xmlns="">
          <p:sp>
            <p:nvSpPr>
              <p:cNvPr id="11" name="文本框 10">
                <a:extLst>
                  <a:ext uri="{FF2B5EF4-FFF2-40B4-BE49-F238E27FC236}">
                    <a16:creationId xmlns:a16="http://schemas.microsoft.com/office/drawing/2014/main" id="{99865B73-AC4B-8524-3960-CCB7E091B442}"/>
                  </a:ext>
                </a:extLst>
              </p:cNvPr>
              <p:cNvSpPr txBox="1">
                <a:spLocks noRot="1" noChangeAspect="1" noMove="1" noResize="1" noEditPoints="1" noAdjustHandles="1" noChangeArrowheads="1" noChangeShapeType="1" noTextEdit="1"/>
              </p:cNvSpPr>
              <p:nvPr/>
            </p:nvSpPr>
            <p:spPr>
              <a:xfrm>
                <a:off x="6459695" y="3861048"/>
                <a:ext cx="1156342" cy="884986"/>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7D34D48-504B-6159-2439-B6723DE38907}"/>
                  </a:ext>
                </a:extLst>
              </p:cNvPr>
              <p:cNvSpPr txBox="1"/>
              <p:nvPr/>
            </p:nvSpPr>
            <p:spPr>
              <a:xfrm>
                <a:off x="1259632" y="5420311"/>
                <a:ext cx="224696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12" name="文本框 11">
                <a:extLst>
                  <a:ext uri="{FF2B5EF4-FFF2-40B4-BE49-F238E27FC236}">
                    <a16:creationId xmlns:a16="http://schemas.microsoft.com/office/drawing/2014/main" id="{47D34D48-504B-6159-2439-B6723DE38907}"/>
                  </a:ext>
                </a:extLst>
              </p:cNvPr>
              <p:cNvSpPr txBox="1">
                <a:spLocks noRot="1" noChangeAspect="1" noMove="1" noResize="1" noEditPoints="1" noAdjustHandles="1" noChangeArrowheads="1" noChangeShapeType="1" noTextEdit="1"/>
              </p:cNvSpPr>
              <p:nvPr/>
            </p:nvSpPr>
            <p:spPr>
              <a:xfrm>
                <a:off x="1259632" y="5420311"/>
                <a:ext cx="2246962" cy="43088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1">
                <a:extLst>
                  <a:ext uri="{FF2B5EF4-FFF2-40B4-BE49-F238E27FC236}">
                    <a16:creationId xmlns:a16="http://schemas.microsoft.com/office/drawing/2014/main" id="{47D34D48-504B-6159-2439-B6723DE38907}"/>
                  </a:ext>
                </a:extLst>
              </p:cNvPr>
              <p:cNvSpPr txBox="1"/>
              <p:nvPr/>
            </p:nvSpPr>
            <p:spPr>
              <a:xfrm>
                <a:off x="4272895" y="5445223"/>
                <a:ext cx="2514663" cy="430887"/>
              </a:xfrm>
              <a:prstGeom prst="rect">
                <a:avLst/>
              </a:prstGeom>
              <a:noFill/>
            </p:spPr>
            <p:txBody>
              <a:bodyPr wrap="none" lIns="0" tIns="0" rIns="0" bIns="0" rtlCol="0">
                <a:spAutoFit/>
              </a:bodyPr>
              <a:ls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𝑗</m:t>
                      </m:r>
                      <m:r>
                        <a:rPr lang="en-US" altLang="zh-CN" sz="2800" b="0" i="1" smtClean="0">
                          <a:latin typeface="Cambria Math" panose="02040503050406030204" pitchFamily="18" charset="0"/>
                        </a:rPr>
                        <m:t>)</m:t>
                      </m:r>
                    </m:oMath>
                  </m:oMathPara>
                </a14:m>
                <a:endParaRPr lang="zh-CN" altLang="en-US" sz="2800" dirty="0"/>
              </a:p>
            </p:txBody>
          </p:sp>
        </mc:Choice>
        <mc:Fallback xmlns="">
          <p:sp>
            <p:nvSpPr>
              <p:cNvPr id="13" name="文本框 11">
                <a:extLst>
                  <a:ext uri="{FF2B5EF4-FFF2-40B4-BE49-F238E27FC236}">
                    <a16:creationId xmlns:a16="http://schemas.microsoft.com/office/drawing/2014/main" id="{47D34D48-504B-6159-2439-B6723DE38907}"/>
                  </a:ext>
                </a:extLst>
              </p:cNvPr>
              <p:cNvSpPr txBox="1">
                <a:spLocks noRot="1" noChangeAspect="1" noMove="1" noResize="1" noEditPoints="1" noAdjustHandles="1" noChangeArrowheads="1" noChangeShapeType="1" noTextEdit="1"/>
              </p:cNvSpPr>
              <p:nvPr/>
            </p:nvSpPr>
            <p:spPr>
              <a:xfrm>
                <a:off x="4272895" y="5445223"/>
                <a:ext cx="2514663" cy="430887"/>
              </a:xfrm>
              <a:prstGeom prst="rect">
                <a:avLst/>
              </a:prstGeom>
              <a:blipFill>
                <a:blip r:embed="rId11"/>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24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DEC7C1DD-8FD0-5E39-536C-A6A8464D0365}"/>
              </a:ext>
            </a:extLst>
          </p:cNvPr>
          <p:cNvSpPr>
            <a:spLocks noChangeArrowheads="1"/>
          </p:cNvSpPr>
          <p:nvPr/>
        </p:nvSpPr>
        <p:spPr bwMode="auto">
          <a:xfrm>
            <a:off x="1066800" y="990600"/>
            <a:ext cx="4876800"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lang="en-US" altLang="zh-CN" sz="2800" b="1">
                <a:latin typeface="Times New Roman" panose="02020603050405020304" pitchFamily="18" charset="0"/>
                <a:ea typeface="黑体" panose="02010609060101010101" pitchFamily="49" charset="-122"/>
              </a:rPr>
              <a:t>4.1  </a:t>
            </a:r>
            <a:r>
              <a:rPr lang="zh-CN" altLang="en-US" sz="2800">
                <a:latin typeface="Times New Roman" panose="02020603050405020304" pitchFamily="18" charset="0"/>
                <a:ea typeface="黑体" panose="02010609060101010101" pitchFamily="49" charset="-122"/>
              </a:rPr>
              <a:t>频率特性的基本概念</a:t>
            </a:r>
          </a:p>
        </p:txBody>
      </p:sp>
      <p:sp>
        <p:nvSpPr>
          <p:cNvPr id="10244" name="Rectangle 4">
            <a:extLst>
              <a:ext uri="{FF2B5EF4-FFF2-40B4-BE49-F238E27FC236}">
                <a16:creationId xmlns:a16="http://schemas.microsoft.com/office/drawing/2014/main" id="{B5AED4F3-18E1-9844-015C-B2CB9E8CB90D}"/>
              </a:ext>
            </a:extLst>
          </p:cNvPr>
          <p:cNvSpPr>
            <a:spLocks noChangeArrowheads="1"/>
          </p:cNvSpPr>
          <p:nvPr/>
        </p:nvSpPr>
        <p:spPr bwMode="auto">
          <a:xfrm>
            <a:off x="1371600" y="1766888"/>
            <a:ext cx="5105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l"/>
            </a:pPr>
            <a:r>
              <a:rPr lang="zh-CN" altLang="en-US" sz="2800" b="1">
                <a:latin typeface="宋体" panose="02010600030101010101" pitchFamily="2" charset="-122"/>
              </a:rPr>
              <a:t>频率响应和频率特性</a:t>
            </a:r>
          </a:p>
        </p:txBody>
      </p:sp>
      <p:pic>
        <p:nvPicPr>
          <p:cNvPr id="10" name="Picture 3">
            <a:extLst>
              <a:ext uri="{FF2B5EF4-FFF2-40B4-BE49-F238E27FC236}">
                <a16:creationId xmlns:a16="http://schemas.microsoft.com/office/drawing/2014/main" id="{D9ED7D18-36C8-7E90-3F65-4CBC4DE546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781300"/>
            <a:ext cx="2830512"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Object 4">
            <a:extLst>
              <a:ext uri="{FF2B5EF4-FFF2-40B4-BE49-F238E27FC236}">
                <a16:creationId xmlns:a16="http://schemas.microsoft.com/office/drawing/2014/main" id="{08456F2D-6009-1574-14CD-7E2E460E6E0A}"/>
              </a:ext>
            </a:extLst>
          </p:cNvPr>
          <p:cNvGraphicFramePr>
            <a:graphicFrameLocks noChangeAspect="1"/>
          </p:cNvGraphicFramePr>
          <p:nvPr/>
        </p:nvGraphicFramePr>
        <p:xfrm>
          <a:off x="3506788" y="3619500"/>
          <a:ext cx="2057400" cy="628650"/>
        </p:xfrm>
        <a:graphic>
          <a:graphicData uri="http://schemas.openxmlformats.org/presentationml/2006/ole">
            <mc:AlternateContent xmlns:mc="http://schemas.openxmlformats.org/markup-compatibility/2006">
              <mc:Choice xmlns:v="urn:schemas-microsoft-com:vml" Requires="v">
                <p:oleObj r:id="rId4" imgW="2432304" imgH="740664" progId="">
                  <p:embed/>
                </p:oleObj>
              </mc:Choice>
              <mc:Fallback>
                <p:oleObj r:id="rId4" imgW="2432304" imgH="740664"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6788" y="3619500"/>
                        <a:ext cx="20574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12" name="Picture 5">
            <a:extLst>
              <a:ext uri="{FF2B5EF4-FFF2-40B4-BE49-F238E27FC236}">
                <a16:creationId xmlns:a16="http://schemas.microsoft.com/office/drawing/2014/main" id="{1294DE90-3B51-5A5B-E830-0409AFBB94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7988" y="2781300"/>
            <a:ext cx="289560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Object 10">
            <a:extLst>
              <a:ext uri="{FF2B5EF4-FFF2-40B4-BE49-F238E27FC236}">
                <a16:creationId xmlns:a16="http://schemas.microsoft.com/office/drawing/2014/main" id="{2D7F8B71-3845-5693-7051-EE0A52599319}"/>
              </a:ext>
            </a:extLst>
          </p:cNvPr>
          <p:cNvGraphicFramePr>
            <a:graphicFrameLocks noChangeAspect="1"/>
          </p:cNvGraphicFramePr>
          <p:nvPr/>
        </p:nvGraphicFramePr>
        <p:xfrm>
          <a:off x="4268788" y="3314700"/>
          <a:ext cx="469900" cy="288925"/>
        </p:xfrm>
        <a:graphic>
          <a:graphicData uri="http://schemas.openxmlformats.org/presentationml/2006/ole">
            <mc:AlternateContent xmlns:mc="http://schemas.openxmlformats.org/markup-compatibility/2006">
              <mc:Choice xmlns:v="urn:schemas-microsoft-com:vml" Requires="v">
                <p:oleObj r:id="rId7" imgW="330057" imgH="203112" progId="Equation.3">
                  <p:embed/>
                </p:oleObj>
              </mc:Choice>
              <mc:Fallback>
                <p:oleObj r:id="rId7" imgW="330057" imgH="203112"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8788" y="3314700"/>
                        <a:ext cx="4699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p:cTn id="7" dur="500" fill="hold"/>
                                        <p:tgtEl>
                                          <p:spTgt spid="10244"/>
                                        </p:tgtEl>
                                        <p:attrNameLst>
                                          <p:attrName>ppt_x</p:attrName>
                                        </p:attrNameLst>
                                      </p:cBhvr>
                                      <p:tavLst>
                                        <p:tav tm="0">
                                          <p:val>
                                            <p:strVal val="#ppt_x"/>
                                          </p:val>
                                        </p:tav>
                                        <p:tav tm="100000">
                                          <p:val>
                                            <p:strVal val="#ppt_x"/>
                                          </p:val>
                                        </p:tav>
                                      </p:tavLst>
                                    </p:anim>
                                    <p:anim calcmode="lin" valueType="num">
                                      <p:cBhvr>
                                        <p:cTn id="8" dur="500" fill="hold"/>
                                        <p:tgtEl>
                                          <p:spTgt spid="1024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ppt_x</p:attrName>
                                        </p:attrNameLst>
                                      </p:cBhvr>
                                      <p:tavLst>
                                        <p:tav tm="0">
                                          <p:val>
                                            <p:strVal val="0-#ppt_w/2"/>
                                          </p:val>
                                        </p:tav>
                                        <p:tav tm="100000">
                                          <p:val>
                                            <p:strVal val="#ppt_x"/>
                                          </p:val>
                                        </p:tav>
                                      </p:tavLst>
                                    </p:anim>
                                    <p:anim calcmode="lin" valueType="num">
                                      <p:cBhvr>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ppt_x</p:attrName>
                                        </p:attrNameLst>
                                      </p:cBhvr>
                                      <p:tavLst>
                                        <p:tav tm="0">
                                          <p:val>
                                            <p:strVal val="0-#ppt_w/2"/>
                                          </p:val>
                                        </p:tav>
                                        <p:tav tm="100000">
                                          <p:val>
                                            <p:strVal val="#ppt_x"/>
                                          </p:val>
                                        </p:tav>
                                      </p:tavLst>
                                    </p:anim>
                                    <p:anim calcmode="lin" valueType="num">
                                      <p:cBhvr>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ppt_x</p:attrName>
                                        </p:attrNameLst>
                                      </p:cBhvr>
                                      <p:tavLst>
                                        <p:tav tm="0">
                                          <p:val>
                                            <p:strVal val="0-#ppt_w/2"/>
                                          </p:val>
                                        </p:tav>
                                        <p:tav tm="100000">
                                          <p:val>
                                            <p:strVal val="#ppt_x"/>
                                          </p:val>
                                        </p:tav>
                                      </p:tavLst>
                                    </p:anim>
                                    <p:anim calcmode="lin" valueType="num">
                                      <p:cBhvr>
                                        <p:cTn id="26"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ppt_x</p:attrName>
                                        </p:attrNameLst>
                                      </p:cBhvr>
                                      <p:tavLst>
                                        <p:tav tm="0">
                                          <p:val>
                                            <p:strVal val="0-#ppt_w/2"/>
                                          </p:val>
                                        </p:tav>
                                        <p:tav tm="100000">
                                          <p:val>
                                            <p:strVal val="#ppt_x"/>
                                          </p:val>
                                        </p:tav>
                                      </p:tavLst>
                                    </p:anim>
                                    <p:anim calcmode="lin" valueType="num">
                                      <p:cBhvr>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Box 1">
            <a:extLst>
              <a:ext uri="{FF2B5EF4-FFF2-40B4-BE49-F238E27FC236}">
                <a16:creationId xmlns:a16="http://schemas.microsoft.com/office/drawing/2014/main" id="{E960A9B9-C640-E3FF-2FDC-6DD6B3EC6AF5}"/>
              </a:ext>
            </a:extLst>
          </p:cNvPr>
          <p:cNvSpPr txBox="1">
            <a:spLocks noChangeArrowheads="1"/>
          </p:cNvSpPr>
          <p:nvPr/>
        </p:nvSpPr>
        <p:spPr bwMode="auto">
          <a:xfrm>
            <a:off x="827088" y="765175"/>
            <a:ext cx="2505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以</a:t>
            </a:r>
            <a:r>
              <a:rPr lang="en-US" altLang="zh-CN" sz="2400"/>
              <a:t>RC</a:t>
            </a:r>
            <a:r>
              <a:rPr lang="zh-CN" altLang="en-US" sz="2400"/>
              <a:t>电路为例：</a:t>
            </a:r>
          </a:p>
        </p:txBody>
      </p:sp>
      <p:grpSp>
        <p:nvGrpSpPr>
          <p:cNvPr id="64515" name="组合 20">
            <a:extLst>
              <a:ext uri="{FF2B5EF4-FFF2-40B4-BE49-F238E27FC236}">
                <a16:creationId xmlns:a16="http://schemas.microsoft.com/office/drawing/2014/main" id="{37951EBA-1DEE-BED0-53A6-CFC72FFA5509}"/>
              </a:ext>
            </a:extLst>
          </p:cNvPr>
          <p:cNvGrpSpPr>
            <a:grpSpLocks/>
          </p:cNvGrpSpPr>
          <p:nvPr/>
        </p:nvGrpSpPr>
        <p:grpSpPr bwMode="auto">
          <a:xfrm>
            <a:off x="3492500" y="260350"/>
            <a:ext cx="3111500" cy="1046163"/>
            <a:chOff x="3491880" y="260648"/>
            <a:chExt cx="3112236" cy="1045840"/>
          </a:xfrm>
        </p:grpSpPr>
        <p:sp>
          <p:nvSpPr>
            <p:cNvPr id="64525" name="Rectangle 20">
              <a:extLst>
                <a:ext uri="{FF2B5EF4-FFF2-40B4-BE49-F238E27FC236}">
                  <a16:creationId xmlns:a16="http://schemas.microsoft.com/office/drawing/2014/main" id="{488DE792-764F-30E3-C399-EC8198EC2E45}"/>
                </a:ext>
              </a:extLst>
            </p:cNvPr>
            <p:cNvSpPr>
              <a:spLocks noChangeArrowheads="1"/>
            </p:cNvSpPr>
            <p:nvPr/>
          </p:nvSpPr>
          <p:spPr bwMode="auto">
            <a:xfrm>
              <a:off x="4618856" y="544488"/>
              <a:ext cx="457200" cy="1524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sz="2000">
                <a:latin typeface="Times New Roman" panose="02020603050405020304" pitchFamily="18" charset="0"/>
              </a:endParaRPr>
            </a:p>
          </p:txBody>
        </p:sp>
        <p:sp>
          <p:nvSpPr>
            <p:cNvPr id="64526" name="Line 21">
              <a:extLst>
                <a:ext uri="{FF2B5EF4-FFF2-40B4-BE49-F238E27FC236}">
                  <a16:creationId xmlns:a16="http://schemas.microsoft.com/office/drawing/2014/main" id="{323E4C49-186C-E28C-1B6D-635629884F10}"/>
                </a:ext>
              </a:extLst>
            </p:cNvPr>
            <p:cNvSpPr>
              <a:spLocks noChangeShapeType="1"/>
            </p:cNvSpPr>
            <p:nvPr/>
          </p:nvSpPr>
          <p:spPr bwMode="auto">
            <a:xfrm flipH="1">
              <a:off x="4085456" y="620688"/>
              <a:ext cx="5334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27" name="Line 22">
              <a:extLst>
                <a:ext uri="{FF2B5EF4-FFF2-40B4-BE49-F238E27FC236}">
                  <a16:creationId xmlns:a16="http://schemas.microsoft.com/office/drawing/2014/main" id="{F01C076A-5A03-9B98-1D50-A12874F8EE4D}"/>
                </a:ext>
              </a:extLst>
            </p:cNvPr>
            <p:cNvSpPr>
              <a:spLocks noChangeShapeType="1"/>
            </p:cNvSpPr>
            <p:nvPr/>
          </p:nvSpPr>
          <p:spPr bwMode="auto">
            <a:xfrm>
              <a:off x="5076056" y="620688"/>
              <a:ext cx="8382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28" name="Line 23">
              <a:extLst>
                <a:ext uri="{FF2B5EF4-FFF2-40B4-BE49-F238E27FC236}">
                  <a16:creationId xmlns:a16="http://schemas.microsoft.com/office/drawing/2014/main" id="{4EE054F5-71C3-BFFE-AD5C-D28DFB67D624}"/>
                </a:ext>
              </a:extLst>
            </p:cNvPr>
            <p:cNvSpPr>
              <a:spLocks noChangeShapeType="1"/>
            </p:cNvSpPr>
            <p:nvPr/>
          </p:nvSpPr>
          <p:spPr bwMode="auto">
            <a:xfrm>
              <a:off x="5533256" y="620688"/>
              <a:ext cx="0" cy="3048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29" name="Line 24">
              <a:extLst>
                <a:ext uri="{FF2B5EF4-FFF2-40B4-BE49-F238E27FC236}">
                  <a16:creationId xmlns:a16="http://schemas.microsoft.com/office/drawing/2014/main" id="{B852CB88-5957-036B-2009-60612E85FCA3}"/>
                </a:ext>
              </a:extLst>
            </p:cNvPr>
            <p:cNvSpPr>
              <a:spLocks noChangeShapeType="1"/>
            </p:cNvSpPr>
            <p:nvPr/>
          </p:nvSpPr>
          <p:spPr bwMode="auto">
            <a:xfrm>
              <a:off x="5457056" y="925488"/>
              <a:ext cx="1524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0" name="Line 25">
              <a:extLst>
                <a:ext uri="{FF2B5EF4-FFF2-40B4-BE49-F238E27FC236}">
                  <a16:creationId xmlns:a16="http://schemas.microsoft.com/office/drawing/2014/main" id="{4DCDF489-BB4B-6662-1563-0A316B31488B}"/>
                </a:ext>
              </a:extLst>
            </p:cNvPr>
            <p:cNvSpPr>
              <a:spLocks noChangeShapeType="1"/>
            </p:cNvSpPr>
            <p:nvPr/>
          </p:nvSpPr>
          <p:spPr bwMode="auto">
            <a:xfrm>
              <a:off x="5457056" y="1001688"/>
              <a:ext cx="1524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1" name="Line 26">
              <a:extLst>
                <a:ext uri="{FF2B5EF4-FFF2-40B4-BE49-F238E27FC236}">
                  <a16:creationId xmlns:a16="http://schemas.microsoft.com/office/drawing/2014/main" id="{0FEA5DC9-529F-E07B-ABDD-277DF1C336AC}"/>
                </a:ext>
              </a:extLst>
            </p:cNvPr>
            <p:cNvSpPr>
              <a:spLocks noChangeShapeType="1"/>
            </p:cNvSpPr>
            <p:nvPr/>
          </p:nvSpPr>
          <p:spPr bwMode="auto">
            <a:xfrm>
              <a:off x="5533256" y="1001688"/>
              <a:ext cx="0" cy="3048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2" name="Line 27">
              <a:extLst>
                <a:ext uri="{FF2B5EF4-FFF2-40B4-BE49-F238E27FC236}">
                  <a16:creationId xmlns:a16="http://schemas.microsoft.com/office/drawing/2014/main" id="{E565F0F0-02C5-D81F-72D6-D428125C4967}"/>
                </a:ext>
              </a:extLst>
            </p:cNvPr>
            <p:cNvSpPr>
              <a:spLocks noChangeShapeType="1"/>
            </p:cNvSpPr>
            <p:nvPr/>
          </p:nvSpPr>
          <p:spPr bwMode="auto">
            <a:xfrm>
              <a:off x="4085456" y="1306488"/>
              <a:ext cx="18288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3" name="Freeform 29">
              <a:extLst>
                <a:ext uri="{FF2B5EF4-FFF2-40B4-BE49-F238E27FC236}">
                  <a16:creationId xmlns:a16="http://schemas.microsoft.com/office/drawing/2014/main" id="{1317950C-1A1F-7859-1C33-D060B6364934}"/>
                </a:ext>
              </a:extLst>
            </p:cNvPr>
            <p:cNvSpPr>
              <a:spLocks noChangeArrowheads="1"/>
            </p:cNvSpPr>
            <p:nvPr/>
          </p:nvSpPr>
          <p:spPr bwMode="auto">
            <a:xfrm>
              <a:off x="4771256" y="781026"/>
              <a:ext cx="538163" cy="277812"/>
            </a:xfrm>
            <a:custGeom>
              <a:avLst/>
              <a:gdLst>
                <a:gd name="T0" fmla="*/ 0 w 339"/>
                <a:gd name="T1" fmla="*/ 2147483646 h 175"/>
                <a:gd name="T2" fmla="*/ 2147483646 w 339"/>
                <a:gd name="T3" fmla="*/ 2147483646 h 175"/>
                <a:gd name="T4" fmla="*/ 2147483646 w 339"/>
                <a:gd name="T5" fmla="*/ 2147483646 h 175"/>
                <a:gd name="T6" fmla="*/ 0 60000 65536"/>
                <a:gd name="T7" fmla="*/ 0 60000 65536"/>
                <a:gd name="T8" fmla="*/ 0 60000 65536"/>
              </a:gdLst>
              <a:ahLst/>
              <a:cxnLst>
                <a:cxn ang="T6">
                  <a:pos x="T0" y="T1"/>
                </a:cxn>
                <a:cxn ang="T7">
                  <a:pos x="T2" y="T3"/>
                </a:cxn>
                <a:cxn ang="T8">
                  <a:pos x="T4" y="T5"/>
                </a:cxn>
              </a:cxnLst>
              <a:rect l="0" t="0" r="r" b="b"/>
              <a:pathLst>
                <a:path w="339" h="175">
                  <a:moveTo>
                    <a:pt x="0" y="27"/>
                  </a:moveTo>
                  <a:cubicBezTo>
                    <a:pt x="47" y="27"/>
                    <a:pt x="227" y="0"/>
                    <a:pt x="283" y="25"/>
                  </a:cubicBezTo>
                  <a:cubicBezTo>
                    <a:pt x="339" y="50"/>
                    <a:pt x="324" y="144"/>
                    <a:pt x="335" y="175"/>
                  </a:cubicBezTo>
                </a:path>
              </a:pathLst>
            </a:custGeom>
            <a:noFill/>
            <a:ln w="9525">
              <a:solidFill>
                <a:schemeClr val="tx1"/>
              </a:solidFill>
              <a:miter lim="800000"/>
              <a:headE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534" name="Line 33">
              <a:extLst>
                <a:ext uri="{FF2B5EF4-FFF2-40B4-BE49-F238E27FC236}">
                  <a16:creationId xmlns:a16="http://schemas.microsoft.com/office/drawing/2014/main" id="{34646C9F-0E0D-A878-476D-866340E93925}"/>
                </a:ext>
              </a:extLst>
            </p:cNvPr>
            <p:cNvSpPr>
              <a:spLocks noChangeShapeType="1"/>
            </p:cNvSpPr>
            <p:nvPr/>
          </p:nvSpPr>
          <p:spPr bwMode="auto">
            <a:xfrm>
              <a:off x="4237856" y="620688"/>
              <a:ext cx="0" cy="685800"/>
            </a:xfrm>
            <a:prstGeom prst="line">
              <a:avLst/>
            </a:prstGeom>
            <a:noFill/>
            <a:ln w="9525">
              <a:solidFill>
                <a:schemeClr val="tx1"/>
              </a:solidFill>
              <a:miter lim="800000"/>
              <a:headEnd type="triangle" w="med"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4535" name="Line 34">
              <a:extLst>
                <a:ext uri="{FF2B5EF4-FFF2-40B4-BE49-F238E27FC236}">
                  <a16:creationId xmlns:a16="http://schemas.microsoft.com/office/drawing/2014/main" id="{271096FF-BC67-62FF-99B5-D7163ABF2C1F}"/>
                </a:ext>
              </a:extLst>
            </p:cNvPr>
            <p:cNvSpPr>
              <a:spLocks noChangeShapeType="1"/>
            </p:cNvSpPr>
            <p:nvPr/>
          </p:nvSpPr>
          <p:spPr bwMode="auto">
            <a:xfrm>
              <a:off x="5838056" y="620688"/>
              <a:ext cx="0" cy="685800"/>
            </a:xfrm>
            <a:prstGeom prst="line">
              <a:avLst/>
            </a:prstGeom>
            <a:noFill/>
            <a:ln w="9525">
              <a:solidFill>
                <a:schemeClr val="tx1"/>
              </a:solidFill>
              <a:miter lim="800000"/>
              <a:headEnd type="triangle" w="med"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64536" name="Text Box 36">
              <a:extLst>
                <a:ext uri="{FF2B5EF4-FFF2-40B4-BE49-F238E27FC236}">
                  <a16:creationId xmlns:a16="http://schemas.microsoft.com/office/drawing/2014/main" id="{E378E7D0-1C33-B901-A041-3B52CF3F34D7}"/>
                </a:ext>
              </a:extLst>
            </p:cNvPr>
            <p:cNvSpPr txBox="1">
              <a:spLocks noChangeArrowheads="1"/>
            </p:cNvSpPr>
            <p:nvPr/>
          </p:nvSpPr>
          <p:spPr bwMode="auto">
            <a:xfrm>
              <a:off x="5533256" y="849288"/>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latin typeface="Times New Roman" panose="02020603050405020304" pitchFamily="18" charset="0"/>
                </a:rPr>
                <a:t>C</a:t>
              </a:r>
            </a:p>
          </p:txBody>
        </p:sp>
        <p:pic>
          <p:nvPicPr>
            <p:cNvPr id="64537" name="Object 41">
              <a:extLst>
                <a:ext uri="{FF2B5EF4-FFF2-40B4-BE49-F238E27FC236}">
                  <a16:creationId xmlns:a16="http://schemas.microsoft.com/office/drawing/2014/main" id="{0B1FD1E3-948B-C61E-3339-8E9021EE9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773088"/>
              <a:ext cx="12700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38" name="TextBox 17">
              <a:extLst>
                <a:ext uri="{FF2B5EF4-FFF2-40B4-BE49-F238E27FC236}">
                  <a16:creationId xmlns:a16="http://schemas.microsoft.com/office/drawing/2014/main" id="{02D8B790-8958-A200-99E0-080959A98F8E}"/>
                </a:ext>
              </a:extLst>
            </p:cNvPr>
            <p:cNvSpPr txBox="1">
              <a:spLocks noChangeArrowheads="1"/>
            </p:cNvSpPr>
            <p:nvPr/>
          </p:nvSpPr>
          <p:spPr bwMode="auto">
            <a:xfrm>
              <a:off x="3491880" y="764704"/>
              <a:ext cx="6174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u</a:t>
              </a:r>
              <a:r>
                <a:rPr lang="en-US" altLang="zh-CN" sz="1600" baseline="-25000"/>
                <a:t>i</a:t>
              </a:r>
              <a:r>
                <a:rPr lang="en-US" altLang="zh-CN" sz="1600"/>
                <a:t>(t)</a:t>
              </a:r>
              <a:endParaRPr lang="zh-CN" altLang="en-US" sz="1600" baseline="-25000"/>
            </a:p>
          </p:txBody>
        </p:sp>
        <p:sp>
          <p:nvSpPr>
            <p:cNvPr id="64539" name="TextBox 18">
              <a:extLst>
                <a:ext uri="{FF2B5EF4-FFF2-40B4-BE49-F238E27FC236}">
                  <a16:creationId xmlns:a16="http://schemas.microsoft.com/office/drawing/2014/main" id="{3B710517-D8F5-6EBA-50B6-B61AD1B8FBAC}"/>
                </a:ext>
              </a:extLst>
            </p:cNvPr>
            <p:cNvSpPr txBox="1">
              <a:spLocks noChangeArrowheads="1"/>
            </p:cNvSpPr>
            <p:nvPr/>
          </p:nvSpPr>
          <p:spPr bwMode="auto">
            <a:xfrm>
              <a:off x="5940152" y="764704"/>
              <a:ext cx="6639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u</a:t>
              </a:r>
              <a:r>
                <a:rPr lang="en-US" altLang="zh-CN" sz="1600" baseline="-25000"/>
                <a:t>o</a:t>
              </a:r>
              <a:r>
                <a:rPr lang="en-US" altLang="zh-CN" sz="1600"/>
                <a:t>(t)</a:t>
              </a:r>
              <a:endParaRPr lang="zh-CN" altLang="en-US" sz="1600" baseline="-25000"/>
            </a:p>
          </p:txBody>
        </p:sp>
        <p:sp>
          <p:nvSpPr>
            <p:cNvPr id="64540" name="TextBox 19">
              <a:extLst>
                <a:ext uri="{FF2B5EF4-FFF2-40B4-BE49-F238E27FC236}">
                  <a16:creationId xmlns:a16="http://schemas.microsoft.com/office/drawing/2014/main" id="{B4DCFF73-A5D2-1E5A-B688-4AE9A30D4ABB}"/>
                </a:ext>
              </a:extLst>
            </p:cNvPr>
            <p:cNvSpPr txBox="1">
              <a:spLocks noChangeArrowheads="1"/>
            </p:cNvSpPr>
            <p:nvPr/>
          </p:nvSpPr>
          <p:spPr bwMode="auto">
            <a:xfrm>
              <a:off x="4644008" y="260648"/>
              <a:ext cx="32733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en-US" altLang="zh-CN" sz="1600"/>
                <a:t>R</a:t>
              </a:r>
              <a:endParaRPr lang="zh-CN" altLang="en-US" sz="1600"/>
            </a:p>
          </p:txBody>
        </p:sp>
      </p:grpSp>
      <p:graphicFrame>
        <p:nvGraphicFramePr>
          <p:cNvPr id="5167" name="Object 47">
            <a:extLst>
              <a:ext uri="{FF2B5EF4-FFF2-40B4-BE49-F238E27FC236}">
                <a16:creationId xmlns:a16="http://schemas.microsoft.com/office/drawing/2014/main" id="{393CC38C-A2EF-C3D9-F66C-BB2857E48842}"/>
              </a:ext>
            </a:extLst>
          </p:cNvPr>
          <p:cNvGraphicFramePr>
            <a:graphicFrameLocks noChangeAspect="1"/>
          </p:cNvGraphicFramePr>
          <p:nvPr/>
        </p:nvGraphicFramePr>
        <p:xfrm>
          <a:off x="2843213" y="1773238"/>
          <a:ext cx="2205037" cy="790575"/>
        </p:xfrm>
        <a:graphic>
          <a:graphicData uri="http://schemas.openxmlformats.org/presentationml/2006/ole">
            <mc:AlternateContent xmlns:mc="http://schemas.openxmlformats.org/markup-compatibility/2006">
              <mc:Choice xmlns:v="urn:schemas-microsoft-com:vml" Requires="v">
                <p:oleObj r:id="rId3" imgW="1345616" imgH="444307" progId="Equation.3">
                  <p:embed/>
                </p:oleObj>
              </mc:Choice>
              <mc:Fallback>
                <p:oleObj r:id="rId3" imgW="1345616" imgH="444307" progId="Equation.3">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1773238"/>
                        <a:ext cx="2205037"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168" name="Object 48">
            <a:extLst>
              <a:ext uri="{FF2B5EF4-FFF2-40B4-BE49-F238E27FC236}">
                <a16:creationId xmlns:a16="http://schemas.microsoft.com/office/drawing/2014/main" id="{831FCE86-4733-6C8C-4C80-60875A29162A}"/>
              </a:ext>
            </a:extLst>
          </p:cNvPr>
          <p:cNvGraphicFramePr>
            <a:graphicFrameLocks noChangeAspect="1"/>
          </p:cNvGraphicFramePr>
          <p:nvPr/>
        </p:nvGraphicFramePr>
        <p:xfrm>
          <a:off x="5003800" y="1773238"/>
          <a:ext cx="990600" cy="749300"/>
        </p:xfrm>
        <a:graphic>
          <a:graphicData uri="http://schemas.openxmlformats.org/presentationml/2006/ole">
            <mc:AlternateContent xmlns:mc="http://schemas.openxmlformats.org/markup-compatibility/2006">
              <mc:Choice xmlns:v="urn:schemas-microsoft-com:vml" Requires="v">
                <p:oleObj r:id="rId5" imgW="520474" imgH="393529" progId="Equation.3">
                  <p:embed/>
                </p:oleObj>
              </mc:Choice>
              <mc:Fallback>
                <p:oleObj r:id="rId5" imgW="520474" imgH="393529" progId="Equation.3">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3800" y="1773238"/>
                        <a:ext cx="9906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57" name="TextBox 23">
            <a:extLst>
              <a:ext uri="{FF2B5EF4-FFF2-40B4-BE49-F238E27FC236}">
                <a16:creationId xmlns:a16="http://schemas.microsoft.com/office/drawing/2014/main" id="{2D297FF2-26DD-10A8-351F-BBCE7D61E78C}"/>
              </a:ext>
            </a:extLst>
          </p:cNvPr>
          <p:cNvSpPr txBox="1">
            <a:spLocks noChangeArrowheads="1"/>
          </p:cNvSpPr>
          <p:nvPr/>
        </p:nvSpPr>
        <p:spPr bwMode="auto">
          <a:xfrm>
            <a:off x="611188" y="1844675"/>
            <a:ext cx="203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传递函数为：</a:t>
            </a:r>
          </a:p>
        </p:txBody>
      </p:sp>
      <p:sp>
        <p:nvSpPr>
          <p:cNvPr id="2058" name="TextBox 24">
            <a:extLst>
              <a:ext uri="{FF2B5EF4-FFF2-40B4-BE49-F238E27FC236}">
                <a16:creationId xmlns:a16="http://schemas.microsoft.com/office/drawing/2014/main" id="{8DDACDA7-5905-828A-5689-9C1648D33693}"/>
              </a:ext>
            </a:extLst>
          </p:cNvPr>
          <p:cNvSpPr txBox="1">
            <a:spLocks noChangeArrowheads="1"/>
          </p:cNvSpPr>
          <p:nvPr/>
        </p:nvSpPr>
        <p:spPr bwMode="auto">
          <a:xfrm>
            <a:off x="755650" y="2924175"/>
            <a:ext cx="3570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当输入电压为正弦信号：</a:t>
            </a:r>
          </a:p>
        </p:txBody>
      </p:sp>
      <p:graphicFrame>
        <p:nvGraphicFramePr>
          <p:cNvPr id="2052" name="Object 4">
            <a:extLst>
              <a:ext uri="{FF2B5EF4-FFF2-40B4-BE49-F238E27FC236}">
                <a16:creationId xmlns:a16="http://schemas.microsoft.com/office/drawing/2014/main" id="{2CFD98B4-181C-0921-B64A-D0F521C217B3}"/>
              </a:ext>
            </a:extLst>
          </p:cNvPr>
          <p:cNvGraphicFramePr>
            <a:graphicFrameLocks noChangeAspect="1"/>
          </p:cNvGraphicFramePr>
          <p:nvPr/>
        </p:nvGraphicFramePr>
        <p:xfrm>
          <a:off x="4211638" y="2997200"/>
          <a:ext cx="1876425" cy="422275"/>
        </p:xfrm>
        <a:graphic>
          <a:graphicData uri="http://schemas.openxmlformats.org/presentationml/2006/ole">
            <mc:AlternateContent xmlns:mc="http://schemas.openxmlformats.org/markup-compatibility/2006">
              <mc:Choice xmlns:v="urn:schemas-microsoft-com:vml" Requires="v">
                <p:oleObj r:id="rId7" imgW="1016000" imgH="228600" progId="Equation.3">
                  <p:embed/>
                </p:oleObj>
              </mc:Choice>
              <mc:Fallback>
                <p:oleObj r:id="rId7" imgW="10160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638" y="2997200"/>
                        <a:ext cx="18764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59" name="TextBox 26">
            <a:extLst>
              <a:ext uri="{FF2B5EF4-FFF2-40B4-BE49-F238E27FC236}">
                <a16:creationId xmlns:a16="http://schemas.microsoft.com/office/drawing/2014/main" id="{9AA4F3A0-831A-38A9-9D4A-4EDC238EBD8B}"/>
              </a:ext>
            </a:extLst>
          </p:cNvPr>
          <p:cNvSpPr txBox="1">
            <a:spLocks noChangeArrowheads="1"/>
          </p:cNvSpPr>
          <p:nvPr/>
        </p:nvSpPr>
        <p:spPr bwMode="auto">
          <a:xfrm>
            <a:off x="755650" y="3716338"/>
            <a:ext cx="480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该电路系统的输出电压可求得为：</a:t>
            </a:r>
          </a:p>
        </p:txBody>
      </p:sp>
      <p:graphicFrame>
        <p:nvGraphicFramePr>
          <p:cNvPr id="2053" name="Object 5">
            <a:extLst>
              <a:ext uri="{FF2B5EF4-FFF2-40B4-BE49-F238E27FC236}">
                <a16:creationId xmlns:a16="http://schemas.microsoft.com/office/drawing/2014/main" id="{539395C8-5BED-1624-2189-E7218A513D0D}"/>
              </a:ext>
            </a:extLst>
          </p:cNvPr>
          <p:cNvGraphicFramePr>
            <a:graphicFrameLocks noChangeAspect="1"/>
          </p:cNvGraphicFramePr>
          <p:nvPr/>
        </p:nvGraphicFramePr>
        <p:xfrm>
          <a:off x="2051050" y="4437063"/>
          <a:ext cx="4960938" cy="792162"/>
        </p:xfrm>
        <a:graphic>
          <a:graphicData uri="http://schemas.openxmlformats.org/presentationml/2006/ole">
            <mc:AlternateContent xmlns:mc="http://schemas.openxmlformats.org/markup-compatibility/2006">
              <mc:Choice xmlns:v="urn:schemas-microsoft-com:vml" Requires="v">
                <p:oleObj r:id="rId9" imgW="3022600" imgH="482600" progId="Equation.3">
                  <p:embed/>
                </p:oleObj>
              </mc:Choice>
              <mc:Fallback>
                <p:oleObj r:id="rId9" imgW="3022600" imgH="4826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1050" y="4437063"/>
                        <a:ext cx="496093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60" name="TextBox 28">
            <a:extLst>
              <a:ext uri="{FF2B5EF4-FFF2-40B4-BE49-F238E27FC236}">
                <a16:creationId xmlns:a16="http://schemas.microsoft.com/office/drawing/2014/main" id="{D9317F9C-3854-780E-9871-6A3408659CD1}"/>
              </a:ext>
            </a:extLst>
          </p:cNvPr>
          <p:cNvSpPr txBox="1">
            <a:spLocks noChangeArrowheads="1"/>
          </p:cNvSpPr>
          <p:nvPr/>
        </p:nvSpPr>
        <p:spPr bwMode="auto">
          <a:xfrm>
            <a:off x="1042988" y="544512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其中，</a:t>
            </a:r>
          </a:p>
        </p:txBody>
      </p:sp>
      <p:graphicFrame>
        <p:nvGraphicFramePr>
          <p:cNvPr id="2054" name="Object 6">
            <a:extLst>
              <a:ext uri="{FF2B5EF4-FFF2-40B4-BE49-F238E27FC236}">
                <a16:creationId xmlns:a16="http://schemas.microsoft.com/office/drawing/2014/main" id="{867F1F8F-A9DB-9FDB-3EDB-15341A8E2920}"/>
              </a:ext>
            </a:extLst>
          </p:cNvPr>
          <p:cNvGraphicFramePr>
            <a:graphicFrameLocks noChangeAspect="1"/>
          </p:cNvGraphicFramePr>
          <p:nvPr/>
        </p:nvGraphicFramePr>
        <p:xfrm>
          <a:off x="2124075" y="5516563"/>
          <a:ext cx="2249488" cy="360362"/>
        </p:xfrm>
        <a:graphic>
          <a:graphicData uri="http://schemas.openxmlformats.org/presentationml/2006/ole">
            <mc:AlternateContent xmlns:mc="http://schemas.openxmlformats.org/markup-compatibility/2006">
              <mc:Choice xmlns:v="urn:schemas-microsoft-com:vml" Requires="v">
                <p:oleObj r:id="rId11" imgW="1269449" imgH="203112" progId="Equation.3">
                  <p:embed/>
                </p:oleObj>
              </mc:Choice>
              <mc:Fallback>
                <p:oleObj r:id="rId11" imgW="1269449" imgH="203112"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24075" y="5516563"/>
                        <a:ext cx="224948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slide(fromBottom)">
                                      <p:cBhvr>
                                        <p:cTn id="7" dur="500"/>
                                        <p:tgtEl>
                                          <p:spTgt spid="20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5167"/>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2" presetClass="entr" presetSubtype="4" fill="hold" nodeType="clickEffect">
                                  <p:stCondLst>
                                    <p:cond delay="0"/>
                                  </p:stCondLst>
                                  <p:childTnLst>
                                    <p:set>
                                      <p:cBhvr>
                                        <p:cTn id="15" dur="1" fill="hold">
                                          <p:stCondLst>
                                            <p:cond delay="0"/>
                                          </p:stCondLst>
                                        </p:cTn>
                                        <p:tgtEl>
                                          <p:spTgt spid="5168"/>
                                        </p:tgtEl>
                                        <p:attrNameLst>
                                          <p:attrName>style.visibility</p:attrName>
                                        </p:attrNameLst>
                                      </p:cBhvr>
                                      <p:to>
                                        <p:strVal val="visible"/>
                                      </p:to>
                                    </p:set>
                                    <p:animEffect transition="in" filter="slide(fromBottom)">
                                      <p:cBhvr>
                                        <p:cTn id="16" dur="500"/>
                                        <p:tgtEl>
                                          <p:spTgt spid="51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2058"/>
                                        </p:tgtEl>
                                        <p:attrNameLst>
                                          <p:attrName>style.visibility</p:attrName>
                                        </p:attrNameLst>
                                      </p:cBhvr>
                                      <p:to>
                                        <p:strVal val="visible"/>
                                      </p:to>
                                    </p:set>
                                    <p:animEffect transition="in" filter="slide(fromBottom)">
                                      <p:cBhvr>
                                        <p:cTn id="21" dur="500"/>
                                        <p:tgtEl>
                                          <p:spTgt spid="205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2052"/>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2059"/>
                                        </p:tgtEl>
                                        <p:attrNameLst>
                                          <p:attrName>style.visibility</p:attrName>
                                        </p:attrNameLst>
                                      </p:cBhvr>
                                      <p:to>
                                        <p:strVal val="visible"/>
                                      </p:to>
                                    </p:set>
                                    <p:animEffect transition="in" filter="slide(fromBottom)">
                                      <p:cBhvr>
                                        <p:cTn id="30" dur="500"/>
                                        <p:tgtEl>
                                          <p:spTgt spid="205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5" presetClass="entr" presetSubtype="0" fill="hold" nodeType="clickEffect">
                                  <p:stCondLst>
                                    <p:cond delay="0"/>
                                  </p:stCondLst>
                                  <p:childTnLst>
                                    <p:set>
                                      <p:cBhvr>
                                        <p:cTn id="34" dur="1" fill="hold">
                                          <p:stCondLst>
                                            <p:cond delay="0"/>
                                          </p:stCondLst>
                                        </p:cTn>
                                        <p:tgtEl>
                                          <p:spTgt spid="2053"/>
                                        </p:tgtEl>
                                        <p:attrNameLst>
                                          <p:attrName>style.visibility</p:attrName>
                                        </p:attrNameLst>
                                      </p:cBhvr>
                                      <p:to>
                                        <p:strVal val="visible"/>
                                      </p:to>
                                    </p:set>
                                    <p:anim calcmode="lin" valueType="num">
                                      <p:cBhvr>
                                        <p:cTn id="35" dur="1000" fill="hold"/>
                                        <p:tgtEl>
                                          <p:spTgt spid="2053"/>
                                        </p:tgtEl>
                                        <p:attrNameLst>
                                          <p:attrName>ppt_w</p:attrName>
                                        </p:attrNameLst>
                                      </p:cBhvr>
                                      <p:tavLst>
                                        <p:tav tm="0">
                                          <p:val>
                                            <p:strVal val="#ppt_w*0.70"/>
                                          </p:val>
                                        </p:tav>
                                        <p:tav tm="100000">
                                          <p:val>
                                            <p:strVal val="#ppt_w"/>
                                          </p:val>
                                        </p:tav>
                                      </p:tavLst>
                                    </p:anim>
                                    <p:anim calcmode="lin" valueType="num">
                                      <p:cBhvr>
                                        <p:cTn id="36" dur="1000" fill="hold"/>
                                        <p:tgtEl>
                                          <p:spTgt spid="2053"/>
                                        </p:tgtEl>
                                        <p:attrNameLst>
                                          <p:attrName>ppt_h</p:attrName>
                                        </p:attrNameLst>
                                      </p:cBhvr>
                                      <p:tavLst>
                                        <p:tav tm="0">
                                          <p:val>
                                            <p:strVal val="#ppt_h"/>
                                          </p:val>
                                        </p:tav>
                                        <p:tav tm="100000">
                                          <p:val>
                                            <p:strVal val="#ppt_h"/>
                                          </p:val>
                                        </p:tav>
                                      </p:tavLst>
                                    </p:anim>
                                    <p:animEffect transition="in" filter="fade">
                                      <p:cBhvr>
                                        <p:cTn id="37" dur="1000"/>
                                        <p:tgtEl>
                                          <p:spTgt spid="205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nodeType="clickEffect">
                                  <p:stCondLst>
                                    <p:cond delay="0"/>
                                  </p:stCondLst>
                                  <p:childTnLst>
                                    <p:set>
                                      <p:cBhvr>
                                        <p:cTn id="41" dur="1" fill="hold">
                                          <p:stCondLst>
                                            <p:cond delay="0"/>
                                          </p:stCondLst>
                                        </p:cTn>
                                        <p:tgtEl>
                                          <p:spTgt spid="2054"/>
                                        </p:tgtEl>
                                        <p:attrNameLst>
                                          <p:attrName>style.visibility</p:attrName>
                                        </p:attrNameLst>
                                      </p:cBhvr>
                                      <p:to>
                                        <p:strVal val="visible"/>
                                      </p:to>
                                    </p:set>
                                    <p:animEffect transition="in" filter="slide(fromBottom)">
                                      <p:cBhvr>
                                        <p:cTn id="42" dur="500"/>
                                        <p:tgtEl>
                                          <p:spTgt spid="2054"/>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2060"/>
                                        </p:tgtEl>
                                        <p:attrNameLst>
                                          <p:attrName>style.visibility</p:attrName>
                                        </p:attrNameLst>
                                      </p:cBhvr>
                                      <p:to>
                                        <p:strVal val="visible"/>
                                      </p:to>
                                    </p:set>
                                    <p:animEffect transition="in" filter="slide(fromBottom)">
                                      <p:cBhvr>
                                        <p:cTn id="45"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p:bldP spid="2058" grpId="0"/>
      <p:bldP spid="2059" grpId="0"/>
      <p:bldP spid="206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TextBox 2">
            <a:extLst>
              <a:ext uri="{FF2B5EF4-FFF2-40B4-BE49-F238E27FC236}">
                <a16:creationId xmlns:a16="http://schemas.microsoft.com/office/drawing/2014/main" id="{96D8FA57-2FA7-98B6-BB4E-D6DDE102F9F0}"/>
              </a:ext>
            </a:extLst>
          </p:cNvPr>
          <p:cNvSpPr txBox="1">
            <a:spLocks noChangeArrowheads="1"/>
          </p:cNvSpPr>
          <p:nvPr/>
        </p:nvSpPr>
        <p:spPr bwMode="auto">
          <a:xfrm>
            <a:off x="611188" y="188913"/>
            <a:ext cx="2647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输出的稳态解为：</a:t>
            </a:r>
          </a:p>
        </p:txBody>
      </p:sp>
      <p:graphicFrame>
        <p:nvGraphicFramePr>
          <p:cNvPr id="3074" name="Object 2">
            <a:extLst>
              <a:ext uri="{FF2B5EF4-FFF2-40B4-BE49-F238E27FC236}">
                <a16:creationId xmlns:a16="http://schemas.microsoft.com/office/drawing/2014/main" id="{C1D869C8-0390-98B8-FF9B-92AB9ADE4C51}"/>
              </a:ext>
            </a:extLst>
          </p:cNvPr>
          <p:cNvGraphicFramePr>
            <a:graphicFrameLocks noChangeAspect="1"/>
          </p:cNvGraphicFramePr>
          <p:nvPr/>
        </p:nvGraphicFramePr>
        <p:xfrm>
          <a:off x="1619250" y="647700"/>
          <a:ext cx="4432300" cy="876300"/>
        </p:xfrm>
        <a:graphic>
          <a:graphicData uri="http://schemas.openxmlformats.org/presentationml/2006/ole">
            <mc:AlternateContent xmlns:mc="http://schemas.openxmlformats.org/markup-compatibility/2006">
              <mc:Choice xmlns:v="urn:schemas-microsoft-com:vml" Requires="v">
                <p:oleObj r:id="rId2" imgW="2311400" imgH="457200" progId="Equation.3">
                  <p:embed/>
                </p:oleObj>
              </mc:Choice>
              <mc:Fallback>
                <p:oleObj r:id="rId2" imgW="2311400" imgH="4572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647700"/>
                        <a:ext cx="44323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8" name="TextBox 4">
            <a:extLst>
              <a:ext uri="{FF2B5EF4-FFF2-40B4-BE49-F238E27FC236}">
                <a16:creationId xmlns:a16="http://schemas.microsoft.com/office/drawing/2014/main" id="{F3201475-E682-0E05-A35E-05D4861C6E07}"/>
              </a:ext>
            </a:extLst>
          </p:cNvPr>
          <p:cNvSpPr txBox="1">
            <a:spLocks noChangeArrowheads="1"/>
          </p:cNvSpPr>
          <p:nvPr/>
        </p:nvSpPr>
        <p:spPr bwMode="auto">
          <a:xfrm>
            <a:off x="684213" y="1655763"/>
            <a:ext cx="4800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输出电压与输入电压的幅值比为：</a:t>
            </a:r>
          </a:p>
        </p:txBody>
      </p:sp>
      <p:graphicFrame>
        <p:nvGraphicFramePr>
          <p:cNvPr id="3075" name="Object 3">
            <a:extLst>
              <a:ext uri="{FF2B5EF4-FFF2-40B4-BE49-F238E27FC236}">
                <a16:creationId xmlns:a16="http://schemas.microsoft.com/office/drawing/2014/main" id="{E63359A6-C3EF-0579-119F-8496DF73117E}"/>
              </a:ext>
            </a:extLst>
          </p:cNvPr>
          <p:cNvGraphicFramePr>
            <a:graphicFrameLocks noChangeAspect="1"/>
          </p:cNvGraphicFramePr>
          <p:nvPr/>
        </p:nvGraphicFramePr>
        <p:xfrm>
          <a:off x="976313" y="2305050"/>
          <a:ext cx="6035675" cy="882650"/>
        </p:xfrm>
        <a:graphic>
          <a:graphicData uri="http://schemas.openxmlformats.org/presentationml/2006/ole">
            <mc:AlternateContent xmlns:mc="http://schemas.openxmlformats.org/markup-compatibility/2006">
              <mc:Choice xmlns:v="urn:schemas-microsoft-com:vml" Requires="v">
                <p:oleObj r:id="rId4" imgW="3213100" imgH="469900" progId="Equation.3">
                  <p:embed/>
                </p:oleObj>
              </mc:Choice>
              <mc:Fallback>
                <p:oleObj r:id="rId4" imgW="3213100" imgH="469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6313" y="2305050"/>
                        <a:ext cx="6035675"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79" name="TextBox 6">
            <a:extLst>
              <a:ext uri="{FF2B5EF4-FFF2-40B4-BE49-F238E27FC236}">
                <a16:creationId xmlns:a16="http://schemas.microsoft.com/office/drawing/2014/main" id="{3BBB2A38-B054-DF1E-C659-23B8A3E78767}"/>
              </a:ext>
            </a:extLst>
          </p:cNvPr>
          <p:cNvSpPr txBox="1">
            <a:spLocks noChangeArrowheads="1"/>
          </p:cNvSpPr>
          <p:nvPr/>
        </p:nvSpPr>
        <p:spPr bwMode="auto">
          <a:xfrm>
            <a:off x="611188" y="3384550"/>
            <a:ext cx="4802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a:t>输出电压与输入电压的相位差为：</a:t>
            </a:r>
          </a:p>
        </p:txBody>
      </p:sp>
      <p:graphicFrame>
        <p:nvGraphicFramePr>
          <p:cNvPr id="3076" name="Object 4">
            <a:extLst>
              <a:ext uri="{FF2B5EF4-FFF2-40B4-BE49-F238E27FC236}">
                <a16:creationId xmlns:a16="http://schemas.microsoft.com/office/drawing/2014/main" id="{E8733C5C-A94A-8F7D-729A-87C5152771FB}"/>
              </a:ext>
            </a:extLst>
          </p:cNvPr>
          <p:cNvGraphicFramePr>
            <a:graphicFrameLocks noChangeAspect="1"/>
          </p:cNvGraphicFramePr>
          <p:nvPr/>
        </p:nvGraphicFramePr>
        <p:xfrm>
          <a:off x="1692275" y="4103688"/>
          <a:ext cx="4152900" cy="433387"/>
        </p:xfrm>
        <a:graphic>
          <a:graphicData uri="http://schemas.openxmlformats.org/presentationml/2006/ole">
            <mc:AlternateContent xmlns:mc="http://schemas.openxmlformats.org/markup-compatibility/2006">
              <mc:Choice xmlns:v="urn:schemas-microsoft-com:vml" Requires="v">
                <p:oleObj r:id="rId6" imgW="1955800" imgH="203200" progId="Equation.3">
                  <p:embed/>
                </p:oleObj>
              </mc:Choice>
              <mc:Fallback>
                <p:oleObj r:id="rId6" imgW="1955800" imgH="2032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4103688"/>
                        <a:ext cx="415290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080" name="矩形 8">
            <a:extLst>
              <a:ext uri="{FF2B5EF4-FFF2-40B4-BE49-F238E27FC236}">
                <a16:creationId xmlns:a16="http://schemas.microsoft.com/office/drawing/2014/main" id="{0090EB9D-780A-02B8-1DA5-E1D080BD738E}"/>
              </a:ext>
            </a:extLst>
          </p:cNvPr>
          <p:cNvSpPr>
            <a:spLocks noChangeArrowheads="1"/>
          </p:cNvSpPr>
          <p:nvPr/>
        </p:nvSpPr>
        <p:spPr bwMode="auto">
          <a:xfrm>
            <a:off x="684213" y="4724400"/>
            <a:ext cx="8208962"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400" b="1">
                <a:solidFill>
                  <a:schemeClr val="tx2"/>
                </a:solidFill>
                <a:latin typeface="宋体" panose="02010600030101010101" pitchFamily="2" charset="-122"/>
              </a:rPr>
              <a:t>该例表明，稳定的线性定常系统在正弦激励下的稳态输出仍然为同频率的正弦信号，且输出与输入的幅值比为</a:t>
            </a:r>
            <a:r>
              <a:rPr lang="en-US" altLang="zh-CN" sz="2400" b="1">
                <a:solidFill>
                  <a:schemeClr val="tx2"/>
                </a:solidFill>
                <a:latin typeface="Times New Roman" panose="02020603050405020304" pitchFamily="18" charset="0"/>
              </a:rPr>
              <a:t>|</a:t>
            </a:r>
            <a:r>
              <a:rPr lang="en-US" altLang="zh-CN" sz="2400" b="1" i="1">
                <a:solidFill>
                  <a:schemeClr val="tx2"/>
                </a:solidFill>
                <a:latin typeface="Times New Roman" panose="02020603050405020304" pitchFamily="18" charset="0"/>
              </a:rPr>
              <a:t>G</a:t>
            </a:r>
            <a:r>
              <a:rPr lang="en-US" altLang="zh-CN" sz="2400" b="1">
                <a:solidFill>
                  <a:schemeClr val="tx2"/>
                </a:solidFill>
                <a:latin typeface="Times New Roman" panose="02020603050405020304" pitchFamily="18" charset="0"/>
              </a:rPr>
              <a:t>(</a:t>
            </a:r>
            <a:r>
              <a:rPr lang="en-US" altLang="zh-CN" sz="2400" b="1" i="1">
                <a:solidFill>
                  <a:schemeClr val="tx2"/>
                </a:solidFill>
                <a:latin typeface="Times New Roman" panose="02020603050405020304" pitchFamily="18" charset="0"/>
              </a:rPr>
              <a:t>j</a:t>
            </a:r>
            <a:r>
              <a:rPr lang="en-US" altLang="zh-CN" sz="2400" b="1" i="1">
                <a:solidFill>
                  <a:schemeClr val="tx2"/>
                </a:solidFill>
                <a:latin typeface="Times New Roman" panose="02020603050405020304" pitchFamily="18" charset="0"/>
                <a:sym typeface="Symbol" panose="05050102010706020507" pitchFamily="18" charset="2"/>
              </a:rPr>
              <a:t></a:t>
            </a:r>
            <a:r>
              <a:rPr lang="en-US" altLang="zh-CN" sz="2400" b="1">
                <a:solidFill>
                  <a:schemeClr val="tx2"/>
                </a:solidFill>
                <a:latin typeface="Times New Roman" panose="02020603050405020304" pitchFamily="18" charset="0"/>
              </a:rPr>
              <a:t>)|</a:t>
            </a:r>
            <a:r>
              <a:rPr lang="zh-CN" altLang="en-US" sz="2400" b="1" i="1">
                <a:solidFill>
                  <a:schemeClr val="tx2"/>
                </a:solidFill>
                <a:latin typeface="宋体" panose="02010600030101010101" pitchFamily="2" charset="-122"/>
              </a:rPr>
              <a:t>，</a:t>
            </a:r>
            <a:r>
              <a:rPr lang="zh-CN" altLang="en-US" sz="2400" b="1">
                <a:solidFill>
                  <a:schemeClr val="tx2"/>
                </a:solidFill>
                <a:latin typeface="宋体" panose="02010600030101010101" pitchFamily="2" charset="-122"/>
              </a:rPr>
              <a:t>相位差为</a:t>
            </a:r>
            <a:r>
              <a:rPr lang="zh-CN" altLang="en-US" sz="2400" b="1" i="1">
                <a:solidFill>
                  <a:schemeClr val="tx2"/>
                </a:solidFill>
                <a:latin typeface="Times New Roman" panose="02020603050405020304" pitchFamily="18" charset="0"/>
                <a:sym typeface="Symbol" panose="05050102010706020507" pitchFamily="18" charset="2"/>
              </a:rPr>
              <a:t></a:t>
            </a:r>
            <a:r>
              <a:rPr lang="en-US" altLang="zh-CN" sz="2400" b="1" i="1">
                <a:solidFill>
                  <a:schemeClr val="tx2"/>
                </a:solidFill>
                <a:latin typeface="Times New Roman" panose="02020603050405020304" pitchFamily="18" charset="0"/>
              </a:rPr>
              <a:t>G</a:t>
            </a:r>
            <a:r>
              <a:rPr lang="en-US" altLang="zh-CN" sz="2400" b="1">
                <a:solidFill>
                  <a:schemeClr val="tx2"/>
                </a:solidFill>
                <a:latin typeface="Times New Roman" panose="02020603050405020304" pitchFamily="18" charset="0"/>
              </a:rPr>
              <a:t>(</a:t>
            </a:r>
            <a:r>
              <a:rPr lang="en-US" altLang="zh-CN" sz="2400" b="1" i="1">
                <a:solidFill>
                  <a:schemeClr val="tx2"/>
                </a:solidFill>
                <a:latin typeface="Times New Roman" panose="02020603050405020304" pitchFamily="18" charset="0"/>
              </a:rPr>
              <a:t>j</a:t>
            </a:r>
            <a:r>
              <a:rPr lang="en-US" altLang="zh-CN" sz="2400" b="1" i="1">
                <a:solidFill>
                  <a:schemeClr val="tx2"/>
                </a:solidFill>
                <a:latin typeface="Times New Roman" panose="02020603050405020304" pitchFamily="18" charset="0"/>
                <a:sym typeface="Symbol" panose="05050102010706020507" pitchFamily="18" charset="2"/>
              </a:rPr>
              <a:t></a:t>
            </a:r>
            <a:r>
              <a:rPr lang="en-US" altLang="zh-CN" sz="2400" b="1">
                <a:solidFill>
                  <a:schemeClr val="tx2"/>
                </a:solidFill>
                <a:latin typeface="Times New Roman" panose="02020603050405020304" pitchFamily="18" charset="0"/>
              </a:rPr>
              <a:t>)</a:t>
            </a:r>
            <a:r>
              <a:rPr lang="zh-CN" altLang="en-US" sz="2400" b="1" i="1">
                <a:solidFill>
                  <a:schemeClr val="tx2"/>
                </a:solidFill>
                <a:latin typeface="宋体" panose="02010600030101010101" pitchFamily="2" charset="-122"/>
              </a:rPr>
              <a:t>。</a:t>
            </a:r>
            <a:endParaRPr lang="zh-CN" altLang="en-US" sz="2400" b="1">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slide(fromBottom)">
                                      <p:cBhvr>
                                        <p:cTn id="7" dur="500"/>
                                        <p:tgtEl>
                                          <p:spTgt spid="3074"/>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077"/>
                                        </p:tgtEl>
                                        <p:attrNameLst>
                                          <p:attrName>style.visibility</p:attrName>
                                        </p:attrNameLst>
                                      </p:cBhvr>
                                      <p:to>
                                        <p:strVal val="visible"/>
                                      </p:to>
                                    </p:set>
                                    <p:animEffect transition="in" filter="slide(fromBottom)">
                                      <p:cBhvr>
                                        <p:cTn id="10" dur="500"/>
                                        <p:tgtEl>
                                          <p:spTgt spid="307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3078"/>
                                        </p:tgtEl>
                                        <p:attrNameLst>
                                          <p:attrName>style.visibility</p:attrName>
                                        </p:attrNameLst>
                                      </p:cBhvr>
                                      <p:to>
                                        <p:strVal val="visible"/>
                                      </p:to>
                                    </p:set>
                                    <p:animEffect transition="in" filter="slide(fromBottom)">
                                      <p:cBhvr>
                                        <p:cTn id="15" dur="500"/>
                                        <p:tgtEl>
                                          <p:spTgt spid="3078"/>
                                        </p:tgtEl>
                                      </p:cBhvr>
                                    </p:animEffect>
                                  </p:childTnLst>
                                </p:cTn>
                              </p:par>
                              <p:par>
                                <p:cTn id="16" presetID="12" presetClass="entr" presetSubtype="4" fill="hold" nodeType="withEffect">
                                  <p:stCondLst>
                                    <p:cond delay="0"/>
                                  </p:stCondLst>
                                  <p:childTnLst>
                                    <p:set>
                                      <p:cBhvr>
                                        <p:cTn id="17" dur="1" fill="hold">
                                          <p:stCondLst>
                                            <p:cond delay="0"/>
                                          </p:stCondLst>
                                        </p:cTn>
                                        <p:tgtEl>
                                          <p:spTgt spid="3075"/>
                                        </p:tgtEl>
                                        <p:attrNameLst>
                                          <p:attrName>style.visibility</p:attrName>
                                        </p:attrNameLst>
                                      </p:cBhvr>
                                      <p:to>
                                        <p:strVal val="visible"/>
                                      </p:to>
                                    </p:set>
                                    <p:animEffect transition="in" filter="slide(fromBottom)">
                                      <p:cBhvr>
                                        <p:cTn id="18" dur="500"/>
                                        <p:tgtEl>
                                          <p:spTgt spid="307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3079"/>
                                        </p:tgtEl>
                                        <p:attrNameLst>
                                          <p:attrName>style.visibility</p:attrName>
                                        </p:attrNameLst>
                                      </p:cBhvr>
                                      <p:to>
                                        <p:strVal val="visible"/>
                                      </p:to>
                                    </p:set>
                                    <p:animEffect transition="in" filter="slide(fromBottom)">
                                      <p:cBhvr>
                                        <p:cTn id="23" dur="500"/>
                                        <p:tgtEl>
                                          <p:spTgt spid="3079"/>
                                        </p:tgtEl>
                                      </p:cBhvr>
                                    </p:animEffect>
                                  </p:childTnLst>
                                </p:cTn>
                              </p:par>
                              <p:par>
                                <p:cTn id="24" presetID="12" presetClass="entr" presetSubtype="4" fill="hold" nodeType="withEffect">
                                  <p:stCondLst>
                                    <p:cond delay="0"/>
                                  </p:stCondLst>
                                  <p:childTnLst>
                                    <p:set>
                                      <p:cBhvr>
                                        <p:cTn id="25" dur="1" fill="hold">
                                          <p:stCondLst>
                                            <p:cond delay="0"/>
                                          </p:stCondLst>
                                        </p:cTn>
                                        <p:tgtEl>
                                          <p:spTgt spid="3076"/>
                                        </p:tgtEl>
                                        <p:attrNameLst>
                                          <p:attrName>style.visibility</p:attrName>
                                        </p:attrNameLst>
                                      </p:cBhvr>
                                      <p:to>
                                        <p:strVal val="visible"/>
                                      </p:to>
                                    </p:set>
                                    <p:animEffect transition="in" filter="slide(fromBottom)">
                                      <p:cBhvr>
                                        <p:cTn id="26" dur="500"/>
                                        <p:tgtEl>
                                          <p:spTgt spid="307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3080"/>
                                        </p:tgtEl>
                                        <p:attrNameLst>
                                          <p:attrName>style.visibility</p:attrName>
                                        </p:attrNameLst>
                                      </p:cBhvr>
                                      <p:to>
                                        <p:strVal val="visible"/>
                                      </p:to>
                                    </p:set>
                                    <p:anim calcmode="lin" valueType="num">
                                      <p:cBhvr>
                                        <p:cTn id="31" dur="1000" fill="hold"/>
                                        <p:tgtEl>
                                          <p:spTgt spid="3080"/>
                                        </p:tgtEl>
                                        <p:attrNameLst>
                                          <p:attrName>ppt_w</p:attrName>
                                        </p:attrNameLst>
                                      </p:cBhvr>
                                      <p:tavLst>
                                        <p:tav tm="0">
                                          <p:val>
                                            <p:strVal val="#ppt_w*0.70"/>
                                          </p:val>
                                        </p:tav>
                                        <p:tav tm="100000">
                                          <p:val>
                                            <p:strVal val="#ppt_w"/>
                                          </p:val>
                                        </p:tav>
                                      </p:tavLst>
                                    </p:anim>
                                    <p:anim calcmode="lin" valueType="num">
                                      <p:cBhvr>
                                        <p:cTn id="32" dur="1000" fill="hold"/>
                                        <p:tgtEl>
                                          <p:spTgt spid="3080"/>
                                        </p:tgtEl>
                                        <p:attrNameLst>
                                          <p:attrName>ppt_h</p:attrName>
                                        </p:attrNameLst>
                                      </p:cBhvr>
                                      <p:tavLst>
                                        <p:tav tm="0">
                                          <p:val>
                                            <p:strVal val="#ppt_h"/>
                                          </p:val>
                                        </p:tav>
                                        <p:tav tm="100000">
                                          <p:val>
                                            <p:strVal val="#ppt_h"/>
                                          </p:val>
                                        </p:tav>
                                      </p:tavLst>
                                    </p:anim>
                                    <p:animEffect transition="in" filter="fade">
                                      <p:cBhvr>
                                        <p:cTn id="33" dur="10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7" grpId="0"/>
      <p:bldP spid="3078" grpId="0"/>
      <p:bldP spid="3079" grpId="0"/>
      <p:bldP spid="308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A51C8286-270D-7C16-A120-90DACCA4DDA3}"/>
              </a:ext>
            </a:extLst>
          </p:cNvPr>
          <p:cNvSpPr>
            <a:spLocks noChangeArrowheads="1"/>
          </p:cNvSpPr>
          <p:nvPr/>
        </p:nvSpPr>
        <p:spPr bwMode="auto">
          <a:xfrm>
            <a:off x="468313" y="404813"/>
            <a:ext cx="78486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solidFill>
                  <a:srgbClr val="CC3300"/>
                </a:solidFill>
                <a:latin typeface="宋体" panose="02010600030101010101" pitchFamily="2" charset="-122"/>
              </a:rPr>
              <a:t>频率响应</a:t>
            </a:r>
            <a:r>
              <a:rPr lang="zh-CN" altLang="en-US" sz="2800">
                <a:latin typeface="宋体" panose="02010600030101010101" pitchFamily="2" charset="-122"/>
              </a:rPr>
              <a:t>：系统对正弦输入信号的稳态响应。</a:t>
            </a:r>
          </a:p>
        </p:txBody>
      </p:sp>
      <p:sp>
        <p:nvSpPr>
          <p:cNvPr id="15364" name="Rectangle 4">
            <a:extLst>
              <a:ext uri="{FF2B5EF4-FFF2-40B4-BE49-F238E27FC236}">
                <a16:creationId xmlns:a16="http://schemas.microsoft.com/office/drawing/2014/main" id="{ED301A5E-F5E5-A2A6-2611-749A01F61A7B}"/>
              </a:ext>
            </a:extLst>
          </p:cNvPr>
          <p:cNvSpPr>
            <a:spLocks noChangeArrowheads="1"/>
          </p:cNvSpPr>
          <p:nvPr/>
        </p:nvSpPr>
        <p:spPr bwMode="auto">
          <a:xfrm>
            <a:off x="468313" y="1052513"/>
            <a:ext cx="8066087"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solidFill>
                  <a:srgbClr val="CC3300"/>
                </a:solidFill>
                <a:latin typeface="宋体" panose="02010600030101010101" pitchFamily="2" charset="-122"/>
              </a:rPr>
              <a:t>频率特性</a:t>
            </a:r>
            <a:r>
              <a:rPr lang="zh-CN" altLang="en-US" sz="2800">
                <a:latin typeface="宋体" panose="02010600030101010101" pitchFamily="2" charset="-122"/>
              </a:rPr>
              <a:t>：系统在不同频率的正弦信号输入</a:t>
            </a:r>
          </a:p>
          <a:p>
            <a:pPr eaLnBrk="1" hangingPunct="1">
              <a:lnSpc>
                <a:spcPct val="115000"/>
              </a:lnSpc>
            </a:pPr>
            <a:r>
              <a:rPr lang="zh-CN" altLang="en-US" sz="2800">
                <a:latin typeface="Times New Roman" panose="02020603050405020304" pitchFamily="18" charset="0"/>
              </a:rPr>
              <a:t>                        </a:t>
            </a:r>
            <a:r>
              <a:rPr lang="zh-CN" altLang="en-US" sz="2800">
                <a:latin typeface="宋体" panose="02010600030101010101" pitchFamily="2" charset="-122"/>
              </a:rPr>
              <a:t>时，其稳态输出与输入信号幅值比</a:t>
            </a:r>
          </a:p>
          <a:p>
            <a:pPr eaLnBrk="1" hangingPunct="1">
              <a:lnSpc>
                <a:spcPct val="115000"/>
              </a:lnSpc>
            </a:pPr>
            <a:r>
              <a:rPr lang="zh-CN" altLang="en-US" sz="2800">
                <a:latin typeface="宋体" panose="02010600030101010101" pitchFamily="2" charset="-122"/>
              </a:rPr>
              <a:t>            和相位差随频率而变化</a:t>
            </a:r>
            <a:r>
              <a:rPr lang="en-US" altLang="zh-CN" sz="2800">
                <a:latin typeface="宋体" panose="02010600030101010101" pitchFamily="2" charset="-122"/>
              </a:rPr>
              <a:t>(</a:t>
            </a:r>
            <a:r>
              <a:rPr lang="en-US" altLang="zh-CN" sz="2800" i="1">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由</a:t>
            </a:r>
            <a:r>
              <a:rPr lang="en-US" altLang="zh-CN" sz="2800">
                <a:latin typeface="Times New Roman" panose="02020603050405020304" pitchFamily="18" charset="0"/>
              </a:rPr>
              <a:t>0</a:t>
            </a:r>
            <a:r>
              <a:rPr lang="zh-CN" altLang="en-US" sz="2800">
                <a:latin typeface="宋体" panose="02010600030101010101" pitchFamily="2" charset="-122"/>
              </a:rPr>
              <a:t>变到</a:t>
            </a:r>
            <a:r>
              <a:rPr lang="zh-CN" altLang="en-US"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p>
          <a:p>
            <a:pPr eaLnBrk="1" hangingPunct="1">
              <a:lnSpc>
                <a:spcPct val="115000"/>
              </a:lnSpc>
            </a:pPr>
            <a:r>
              <a:rPr lang="zh-CN" altLang="en-US" sz="2800">
                <a:latin typeface="Times New Roman" panose="02020603050405020304" pitchFamily="18" charset="0"/>
              </a:rPr>
              <a:t>                        </a:t>
            </a:r>
            <a:r>
              <a:rPr lang="zh-CN" altLang="en-US" sz="2800">
                <a:latin typeface="宋体" panose="02010600030101010101" pitchFamily="2" charset="-122"/>
              </a:rPr>
              <a:t>的特性。</a:t>
            </a:r>
          </a:p>
        </p:txBody>
      </p:sp>
      <p:sp>
        <p:nvSpPr>
          <p:cNvPr id="15365" name="Rectangle 5">
            <a:extLst>
              <a:ext uri="{FF2B5EF4-FFF2-40B4-BE49-F238E27FC236}">
                <a16:creationId xmlns:a16="http://schemas.microsoft.com/office/drawing/2014/main" id="{6D567406-C40D-4CB4-2C04-F6E46AA4A4C7}"/>
              </a:ext>
            </a:extLst>
          </p:cNvPr>
          <p:cNvSpPr>
            <a:spLocks noChangeArrowheads="1"/>
          </p:cNvSpPr>
          <p:nvPr/>
        </p:nvSpPr>
        <p:spPr bwMode="auto">
          <a:xfrm>
            <a:off x="611188" y="5157788"/>
            <a:ext cx="78486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pPr>
            <a:r>
              <a:rPr lang="zh-CN" altLang="en-US" sz="2800">
                <a:solidFill>
                  <a:srgbClr val="CC3300"/>
                </a:solidFill>
                <a:latin typeface="宋体" panose="02010600030101010101" pitchFamily="2" charset="-122"/>
              </a:rPr>
              <a:t>幅频特性与相频特性一起构成系统的频率特性，可用指数形式表示：</a:t>
            </a:r>
            <a:r>
              <a:rPr lang="zh-CN" altLang="en-US" sz="2800" i="1">
                <a:solidFill>
                  <a:srgbClr val="CC3300"/>
                </a:solidFill>
                <a:latin typeface="Times New Roman" panose="02020603050405020304" pitchFamily="18" charset="0"/>
              </a:rPr>
              <a:t> </a:t>
            </a:r>
          </a:p>
        </p:txBody>
      </p:sp>
      <p:sp>
        <p:nvSpPr>
          <p:cNvPr id="15366" name="Rectangle 6">
            <a:extLst>
              <a:ext uri="{FF2B5EF4-FFF2-40B4-BE49-F238E27FC236}">
                <a16:creationId xmlns:a16="http://schemas.microsoft.com/office/drawing/2014/main" id="{116162AC-2053-8027-738E-32B30A95ABCF}"/>
              </a:ext>
            </a:extLst>
          </p:cNvPr>
          <p:cNvSpPr>
            <a:spLocks noChangeArrowheads="1"/>
          </p:cNvSpPr>
          <p:nvPr/>
        </p:nvSpPr>
        <p:spPr bwMode="auto">
          <a:xfrm>
            <a:off x="395288" y="3141663"/>
            <a:ext cx="754380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solidFill>
                  <a:srgbClr val="CC3300"/>
                </a:solidFill>
                <a:latin typeface="宋体" panose="02010600030101010101" pitchFamily="2" charset="-122"/>
              </a:rPr>
              <a:t>幅频特性</a:t>
            </a:r>
            <a:r>
              <a:rPr lang="zh-CN" altLang="en-US" sz="2800">
                <a:latin typeface="宋体" panose="02010600030101010101" pitchFamily="2" charset="-122"/>
              </a:rPr>
              <a:t>：当</a:t>
            </a:r>
            <a:r>
              <a:rPr lang="zh-CN" altLang="en-US" sz="2800" i="1">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由</a:t>
            </a:r>
            <a:r>
              <a:rPr lang="en-US" altLang="zh-CN" sz="2800">
                <a:latin typeface="Times New Roman" panose="02020603050405020304" pitchFamily="18" charset="0"/>
              </a:rPr>
              <a:t>0</a:t>
            </a:r>
            <a:r>
              <a:rPr lang="zh-CN" altLang="en-US" sz="2800">
                <a:latin typeface="宋体" panose="02010600030101010101" pitchFamily="2" charset="-122"/>
              </a:rPr>
              <a:t>到</a:t>
            </a:r>
            <a:r>
              <a:rPr lang="zh-CN" altLang="en-US" sz="2800">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变化时，</a:t>
            </a:r>
            <a:r>
              <a:rPr lang="en-US" altLang="zh-CN" sz="2800" i="1">
                <a:latin typeface="Times New Roman" panose="02020603050405020304" pitchFamily="18" charset="0"/>
              </a:rPr>
              <a:t>|G</a:t>
            </a:r>
            <a:r>
              <a:rPr lang="en-US" altLang="zh-CN" sz="2800">
                <a:latin typeface="Times New Roman" panose="02020603050405020304" pitchFamily="18" charset="0"/>
              </a:rPr>
              <a:t>(</a:t>
            </a:r>
            <a:r>
              <a:rPr lang="en-US" altLang="zh-CN" sz="2800" i="1">
                <a:latin typeface="Times New Roman" panose="02020603050405020304" pitchFamily="18" charset="0"/>
              </a:rPr>
              <a:t>j</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zh-CN" altLang="en-US" sz="2800">
                <a:latin typeface="宋体" panose="02010600030101010101" pitchFamily="2" charset="-122"/>
              </a:rPr>
              <a:t>的变</a:t>
            </a:r>
          </a:p>
          <a:p>
            <a:pPr eaLnBrk="1" hangingPunct="1">
              <a:lnSpc>
                <a:spcPct val="115000"/>
              </a:lnSpc>
            </a:pPr>
            <a:r>
              <a:rPr lang="zh-CN" altLang="en-US" sz="2800">
                <a:latin typeface="宋体" panose="02010600030101010101" pitchFamily="2" charset="-122"/>
              </a:rPr>
              <a:t>            化特性，记为</a:t>
            </a:r>
            <a:r>
              <a:rPr lang="en-US" altLang="zh-CN" sz="2800" i="1">
                <a:solidFill>
                  <a:srgbClr val="CC3300"/>
                </a:solidFill>
                <a:latin typeface="Times New Roman" panose="02020603050405020304" pitchFamily="18" charset="0"/>
              </a:rPr>
              <a:t>A</a:t>
            </a:r>
            <a:r>
              <a:rPr lang="en-US" altLang="zh-CN" sz="2800">
                <a:solidFill>
                  <a:srgbClr val="CC3300"/>
                </a:solidFill>
                <a:latin typeface="Times New Roman" panose="02020603050405020304" pitchFamily="18" charset="0"/>
              </a:rPr>
              <a:t>(</a:t>
            </a:r>
            <a:r>
              <a:rPr lang="en-US" altLang="zh-CN" sz="2800" i="1">
                <a:solidFill>
                  <a:srgbClr val="CC3300"/>
                </a:solidFill>
                <a:latin typeface="Times New Roman" panose="02020603050405020304" pitchFamily="18" charset="0"/>
                <a:sym typeface="Symbol" panose="05050102010706020507" pitchFamily="18" charset="2"/>
              </a:rPr>
              <a:t></a:t>
            </a:r>
            <a:r>
              <a:rPr lang="en-US" altLang="zh-CN" sz="2800">
                <a:solidFill>
                  <a:srgbClr val="CC3300"/>
                </a:solidFill>
                <a:latin typeface="Times New Roman" panose="02020603050405020304" pitchFamily="18" charset="0"/>
              </a:rPr>
              <a:t>)</a:t>
            </a:r>
            <a:r>
              <a:rPr lang="zh-CN" altLang="en-US" sz="2800">
                <a:latin typeface="Times New Roman" panose="02020603050405020304" pitchFamily="18" charset="0"/>
              </a:rPr>
              <a:t>。</a:t>
            </a:r>
          </a:p>
        </p:txBody>
      </p:sp>
      <p:sp>
        <p:nvSpPr>
          <p:cNvPr id="15367" name="Rectangle 7">
            <a:extLst>
              <a:ext uri="{FF2B5EF4-FFF2-40B4-BE49-F238E27FC236}">
                <a16:creationId xmlns:a16="http://schemas.microsoft.com/office/drawing/2014/main" id="{D42122C6-D9FA-C6DD-3E7F-E1D62D020575}"/>
              </a:ext>
            </a:extLst>
          </p:cNvPr>
          <p:cNvSpPr>
            <a:spLocks noChangeArrowheads="1"/>
          </p:cNvSpPr>
          <p:nvPr/>
        </p:nvSpPr>
        <p:spPr bwMode="auto">
          <a:xfrm>
            <a:off x="466725" y="4078288"/>
            <a:ext cx="7993063"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solidFill>
                  <a:srgbClr val="CC3300"/>
                </a:solidFill>
                <a:latin typeface="宋体" panose="02010600030101010101" pitchFamily="2" charset="-122"/>
              </a:rPr>
              <a:t>相频特性</a:t>
            </a:r>
            <a:r>
              <a:rPr lang="zh-CN" altLang="en-US" sz="2800">
                <a:latin typeface="宋体" panose="02010600030101010101" pitchFamily="2" charset="-122"/>
              </a:rPr>
              <a:t>：当</a:t>
            </a:r>
            <a:r>
              <a:rPr lang="zh-CN" altLang="en-US" sz="2800" i="1">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由</a:t>
            </a:r>
            <a:r>
              <a:rPr lang="en-US" altLang="zh-CN" sz="2800">
                <a:latin typeface="Times New Roman" panose="02020603050405020304" pitchFamily="18" charset="0"/>
              </a:rPr>
              <a:t>0</a:t>
            </a:r>
            <a:r>
              <a:rPr lang="zh-CN" altLang="en-US" sz="2800">
                <a:latin typeface="宋体" panose="02010600030101010101" pitchFamily="2" charset="-122"/>
              </a:rPr>
              <a:t>到</a:t>
            </a:r>
            <a:r>
              <a:rPr lang="zh-CN" altLang="en-US" sz="2800">
                <a:latin typeface="Times New Roman" panose="02020603050405020304" pitchFamily="18" charset="0"/>
                <a:sym typeface="Symbol" panose="05050102010706020507" pitchFamily="18" charset="2"/>
              </a:rPr>
              <a:t></a:t>
            </a:r>
            <a:r>
              <a:rPr lang="zh-CN" altLang="en-US" sz="2800">
                <a:latin typeface="宋体" panose="02010600030101010101" pitchFamily="2" charset="-122"/>
              </a:rPr>
              <a:t>变化时，</a:t>
            </a:r>
            <a:r>
              <a:rPr lang="zh-CN" altLang="en-US" sz="2800">
                <a:latin typeface="Times New Roman" panose="02020603050405020304" pitchFamily="18" charset="0"/>
                <a:sym typeface="Symbol" panose="05050102010706020507" pitchFamily="18" charset="2"/>
              </a:rPr>
              <a:t></a:t>
            </a:r>
            <a:r>
              <a:rPr lang="en-US" altLang="zh-CN" sz="2800" i="1">
                <a:latin typeface="Times New Roman" panose="02020603050405020304" pitchFamily="18" charset="0"/>
              </a:rPr>
              <a:t>G</a:t>
            </a:r>
            <a:r>
              <a:rPr lang="en-US" altLang="zh-CN" sz="2800">
                <a:latin typeface="Times New Roman" panose="02020603050405020304" pitchFamily="18" charset="0"/>
              </a:rPr>
              <a:t>(</a:t>
            </a:r>
            <a:r>
              <a:rPr lang="en-US" altLang="zh-CN" sz="2800" i="1">
                <a:latin typeface="Times New Roman" panose="02020603050405020304" pitchFamily="18" charset="0"/>
              </a:rPr>
              <a:t>j</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zh-CN" altLang="en-US" sz="2800">
                <a:latin typeface="宋体" panose="02010600030101010101" pitchFamily="2" charset="-122"/>
              </a:rPr>
              <a:t>的变</a:t>
            </a:r>
          </a:p>
          <a:p>
            <a:pPr eaLnBrk="1" hangingPunct="1">
              <a:lnSpc>
                <a:spcPct val="115000"/>
              </a:lnSpc>
            </a:pPr>
            <a:r>
              <a:rPr lang="zh-CN" altLang="en-US" sz="2800">
                <a:latin typeface="宋体" panose="02010600030101010101" pitchFamily="2" charset="-122"/>
              </a:rPr>
              <a:t>            化特性称为相频特性，记为</a:t>
            </a:r>
            <a:r>
              <a:rPr lang="zh-CN" altLang="en-US" sz="2800" i="1">
                <a:solidFill>
                  <a:srgbClr val="CC3300"/>
                </a:solidFill>
                <a:latin typeface="Times New Roman" panose="02020603050405020304" pitchFamily="18" charset="0"/>
                <a:sym typeface="Symbol" panose="05050102010706020507" pitchFamily="18" charset="2"/>
              </a:rPr>
              <a:t></a:t>
            </a:r>
            <a:r>
              <a:rPr lang="en-US" altLang="zh-CN" sz="2800">
                <a:solidFill>
                  <a:srgbClr val="CC3300"/>
                </a:solidFill>
                <a:latin typeface="Times New Roman" panose="02020603050405020304" pitchFamily="18" charset="0"/>
              </a:rPr>
              <a:t>(</a:t>
            </a:r>
            <a:r>
              <a:rPr lang="en-US" altLang="zh-CN" sz="2800" i="1">
                <a:solidFill>
                  <a:srgbClr val="CC3300"/>
                </a:solidFill>
                <a:latin typeface="Times New Roman" panose="02020603050405020304" pitchFamily="18" charset="0"/>
                <a:sym typeface="Symbol" panose="05050102010706020507" pitchFamily="18" charset="2"/>
              </a:rPr>
              <a:t></a:t>
            </a:r>
            <a:r>
              <a:rPr lang="en-US" altLang="zh-CN" sz="2800">
                <a:solidFill>
                  <a:srgbClr val="CC3300"/>
                </a:solidFill>
                <a:latin typeface="Times New Roman" panose="02020603050405020304" pitchFamily="18" charset="0"/>
              </a:rPr>
              <a:t>)</a:t>
            </a:r>
            <a:r>
              <a:rPr lang="zh-CN" altLang="en-US" sz="2800">
                <a:latin typeface="Times New Roman" panose="02020603050405020304" pitchFamily="18" charset="0"/>
              </a:rPr>
              <a:t>。</a:t>
            </a:r>
            <a:endParaRPr lang="zh-CN" altLang="en-US" sz="2800">
              <a:latin typeface="宋体" panose="02010600030101010101" pitchFamily="2" charset="-122"/>
            </a:endParaRPr>
          </a:p>
        </p:txBody>
      </p:sp>
      <p:graphicFrame>
        <p:nvGraphicFramePr>
          <p:cNvPr id="44040" name="Object 8">
            <a:extLst>
              <a:ext uri="{FF2B5EF4-FFF2-40B4-BE49-F238E27FC236}">
                <a16:creationId xmlns:a16="http://schemas.microsoft.com/office/drawing/2014/main" id="{B10077A7-2DF6-439F-E5F6-2A2421EB8719}"/>
              </a:ext>
            </a:extLst>
          </p:cNvPr>
          <p:cNvGraphicFramePr>
            <a:graphicFrameLocks noChangeAspect="1"/>
          </p:cNvGraphicFramePr>
          <p:nvPr/>
        </p:nvGraphicFramePr>
        <p:xfrm>
          <a:off x="3924300" y="5805488"/>
          <a:ext cx="2376488" cy="441325"/>
        </p:xfrm>
        <a:graphic>
          <a:graphicData uri="http://schemas.openxmlformats.org/presentationml/2006/ole">
            <mc:AlternateContent xmlns:mc="http://schemas.openxmlformats.org/markup-compatibility/2006">
              <mc:Choice xmlns:v="urn:schemas-microsoft-com:vml" Requires="v">
                <p:oleObj r:id="rId3" imgW="1231366" imgH="228501" progId="Equation.3">
                  <p:embed/>
                </p:oleObj>
              </mc:Choice>
              <mc:Fallback>
                <p:oleObj r:id="rId3" imgW="1231366" imgH="228501"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300" y="5805488"/>
                        <a:ext cx="23764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 calcmode="lin" valueType="num">
                                      <p:cBhvr>
                                        <p:cTn id="7" dur="500" fill="hold"/>
                                        <p:tgtEl>
                                          <p:spTgt spid="15364"/>
                                        </p:tgtEl>
                                        <p:attrNameLst>
                                          <p:attrName>ppt_x</p:attrName>
                                        </p:attrNameLst>
                                      </p:cBhvr>
                                      <p:tavLst>
                                        <p:tav tm="0">
                                          <p:val>
                                            <p:strVal val="#ppt_x"/>
                                          </p:val>
                                        </p:tav>
                                        <p:tav tm="100000">
                                          <p:val>
                                            <p:strVal val="#ppt_x"/>
                                          </p:val>
                                        </p:tav>
                                      </p:tavLst>
                                    </p:anim>
                                    <p:anim calcmode="lin" valueType="num">
                                      <p:cBhvr>
                                        <p:cTn id="8" dur="500" fill="hold"/>
                                        <p:tgtEl>
                                          <p:spTgt spid="1536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6"/>
                                        </p:tgtEl>
                                        <p:attrNameLst>
                                          <p:attrName>style.visibility</p:attrName>
                                        </p:attrNameLst>
                                      </p:cBhvr>
                                      <p:to>
                                        <p:strVal val="visible"/>
                                      </p:to>
                                    </p:set>
                                    <p:anim calcmode="lin" valueType="num">
                                      <p:cBhvr>
                                        <p:cTn id="13" dur="500" fill="hold"/>
                                        <p:tgtEl>
                                          <p:spTgt spid="15366"/>
                                        </p:tgtEl>
                                        <p:attrNameLst>
                                          <p:attrName>ppt_x</p:attrName>
                                        </p:attrNameLst>
                                      </p:cBhvr>
                                      <p:tavLst>
                                        <p:tav tm="0">
                                          <p:val>
                                            <p:strVal val="#ppt_x"/>
                                          </p:val>
                                        </p:tav>
                                        <p:tav tm="100000">
                                          <p:val>
                                            <p:strVal val="#ppt_x"/>
                                          </p:val>
                                        </p:tav>
                                      </p:tavLst>
                                    </p:anim>
                                    <p:anim calcmode="lin" valueType="num">
                                      <p:cBhvr>
                                        <p:cTn id="14"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7"/>
                                        </p:tgtEl>
                                        <p:attrNameLst>
                                          <p:attrName>style.visibility</p:attrName>
                                        </p:attrNameLst>
                                      </p:cBhvr>
                                      <p:to>
                                        <p:strVal val="visible"/>
                                      </p:to>
                                    </p:set>
                                    <p:anim calcmode="lin" valueType="num">
                                      <p:cBhvr>
                                        <p:cTn id="19" dur="500" fill="hold"/>
                                        <p:tgtEl>
                                          <p:spTgt spid="15367"/>
                                        </p:tgtEl>
                                        <p:attrNameLst>
                                          <p:attrName>ppt_x</p:attrName>
                                        </p:attrNameLst>
                                      </p:cBhvr>
                                      <p:tavLst>
                                        <p:tav tm="0">
                                          <p:val>
                                            <p:strVal val="#ppt_x"/>
                                          </p:val>
                                        </p:tav>
                                        <p:tav tm="100000">
                                          <p:val>
                                            <p:strVal val="#ppt_x"/>
                                          </p:val>
                                        </p:tav>
                                      </p:tavLst>
                                    </p:anim>
                                    <p:anim calcmode="lin" valueType="num">
                                      <p:cBhvr>
                                        <p:cTn id="20"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5"/>
                                        </p:tgtEl>
                                        <p:attrNameLst>
                                          <p:attrName>style.visibility</p:attrName>
                                        </p:attrNameLst>
                                      </p:cBhvr>
                                      <p:to>
                                        <p:strVal val="visible"/>
                                      </p:to>
                                    </p:set>
                                    <p:anim calcmode="lin" valueType="num">
                                      <p:cBhvr>
                                        <p:cTn id="25" dur="500" fill="hold"/>
                                        <p:tgtEl>
                                          <p:spTgt spid="15365"/>
                                        </p:tgtEl>
                                        <p:attrNameLst>
                                          <p:attrName>ppt_x</p:attrName>
                                        </p:attrNameLst>
                                      </p:cBhvr>
                                      <p:tavLst>
                                        <p:tav tm="0">
                                          <p:val>
                                            <p:strVal val="#ppt_x"/>
                                          </p:val>
                                        </p:tav>
                                        <p:tav tm="100000">
                                          <p:val>
                                            <p:strVal val="#ppt_x"/>
                                          </p:val>
                                        </p:tav>
                                      </p:tavLst>
                                    </p:anim>
                                    <p:anim calcmode="lin" valueType="num">
                                      <p:cBhvr>
                                        <p:cTn id="26" dur="500" fill="hold"/>
                                        <p:tgtEl>
                                          <p:spTgt spid="15365"/>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44040"/>
                                        </p:tgtEl>
                                        <p:attrNameLst>
                                          <p:attrName>style.visibility</p:attrName>
                                        </p:attrNameLst>
                                      </p:cBhvr>
                                      <p:to>
                                        <p:strVal val="visible"/>
                                      </p:to>
                                    </p:set>
                                    <p:animEffect transition="in" filter="blinds(horizontal)">
                                      <p:cBhvr>
                                        <p:cTn id="31" dur="500"/>
                                        <p:tgtEl>
                                          <p:spTgt spid="44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P spid="15365" grpId="0"/>
      <p:bldP spid="15366" grpId="0"/>
      <p:bldP spid="1536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a:extLst>
              <a:ext uri="{FF2B5EF4-FFF2-40B4-BE49-F238E27FC236}">
                <a16:creationId xmlns:a16="http://schemas.microsoft.com/office/drawing/2014/main" id="{611DEE4B-C548-669F-3783-71B3E887BC21}"/>
              </a:ext>
            </a:extLst>
          </p:cNvPr>
          <p:cNvSpPr>
            <a:spLocks noChangeArrowheads="1"/>
          </p:cNvSpPr>
          <p:nvPr/>
        </p:nvSpPr>
        <p:spPr bwMode="auto">
          <a:xfrm>
            <a:off x="1403350" y="1873250"/>
            <a:ext cx="71628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i="1">
                <a:latin typeface="Times New Roman" panose="02020603050405020304" pitchFamily="18" charset="0"/>
              </a:rPr>
              <a:t> </a:t>
            </a:r>
            <a:r>
              <a:rPr lang="zh-CN" altLang="en-US" sz="2800">
                <a:latin typeface="宋体" panose="02010600030101010101" pitchFamily="2" charset="-122"/>
              </a:rPr>
              <a:t>频率特性是传递函数的特例，是定义在复</a:t>
            </a:r>
          </a:p>
          <a:p>
            <a:pPr eaLnBrk="1" hangingPunct="1">
              <a:lnSpc>
                <a:spcPct val="115000"/>
              </a:lnSpc>
            </a:pPr>
            <a:r>
              <a:rPr lang="zh-CN" altLang="en-US" sz="2800">
                <a:latin typeface="Times New Roman" panose="02020603050405020304" pitchFamily="18" charset="0"/>
              </a:rPr>
              <a:t>    </a:t>
            </a:r>
            <a:r>
              <a:rPr lang="zh-CN" altLang="en-US" sz="2800">
                <a:latin typeface="宋体" panose="02010600030101010101" pitchFamily="2" charset="-122"/>
              </a:rPr>
              <a:t>平面虚轴上的传递函数，因此频率特性与</a:t>
            </a:r>
          </a:p>
          <a:p>
            <a:pPr eaLnBrk="1" hangingPunct="1">
              <a:lnSpc>
                <a:spcPct val="115000"/>
              </a:lnSpc>
            </a:pPr>
            <a:r>
              <a:rPr lang="zh-CN" altLang="en-US" sz="2800">
                <a:latin typeface="宋体" panose="02010600030101010101" pitchFamily="2" charset="-122"/>
              </a:rPr>
              <a:t>  系统的微分方程、传递函数一样反映了系</a:t>
            </a:r>
          </a:p>
          <a:p>
            <a:pPr eaLnBrk="1" hangingPunct="1">
              <a:lnSpc>
                <a:spcPct val="115000"/>
              </a:lnSpc>
            </a:pPr>
            <a:r>
              <a:rPr lang="zh-CN" altLang="en-US" sz="2800">
                <a:latin typeface="宋体" panose="02010600030101010101" pitchFamily="2" charset="-122"/>
              </a:rPr>
              <a:t>  统的固有特性。</a:t>
            </a:r>
            <a:r>
              <a:rPr lang="zh-CN" altLang="en-US" sz="2800" i="1">
                <a:latin typeface="Times New Roman" panose="02020603050405020304" pitchFamily="18" charset="0"/>
              </a:rPr>
              <a:t> </a:t>
            </a:r>
          </a:p>
        </p:txBody>
      </p:sp>
      <p:sp>
        <p:nvSpPr>
          <p:cNvPr id="18437" name="Rectangle 5">
            <a:extLst>
              <a:ext uri="{FF2B5EF4-FFF2-40B4-BE49-F238E27FC236}">
                <a16:creationId xmlns:a16="http://schemas.microsoft.com/office/drawing/2014/main" id="{613F84CD-91D6-413E-A1D2-0620BC46F4B6}"/>
              </a:ext>
            </a:extLst>
          </p:cNvPr>
          <p:cNvSpPr>
            <a:spLocks noChangeArrowheads="1"/>
          </p:cNvSpPr>
          <p:nvPr/>
        </p:nvSpPr>
        <p:spPr bwMode="auto">
          <a:xfrm>
            <a:off x="1403350" y="3933825"/>
            <a:ext cx="7162800"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q"/>
            </a:pPr>
            <a:r>
              <a:rPr lang="en-US" altLang="zh-CN" sz="2800">
                <a:latin typeface="Times New Roman" panose="02020603050405020304" pitchFamily="18" charset="0"/>
              </a:rPr>
              <a:t> </a:t>
            </a:r>
            <a:r>
              <a:rPr lang="zh-CN" altLang="en-US" sz="2800">
                <a:latin typeface="宋体" panose="02010600030101010101" pitchFamily="2" charset="-122"/>
              </a:rPr>
              <a:t>尽管频率特性是一种稳态响应，但系统的</a:t>
            </a:r>
          </a:p>
          <a:p>
            <a:pPr eaLnBrk="1" hangingPunct="1">
              <a:lnSpc>
                <a:spcPct val="115000"/>
              </a:lnSpc>
            </a:pPr>
            <a:r>
              <a:rPr lang="zh-CN" altLang="en-US" sz="2800">
                <a:latin typeface="宋体" panose="02010600030101010101" pitchFamily="2" charset="-122"/>
              </a:rPr>
              <a:t>  频率特性与传递函数一样包含了系统或元</a:t>
            </a:r>
          </a:p>
          <a:p>
            <a:pPr eaLnBrk="1" hangingPunct="1">
              <a:lnSpc>
                <a:spcPct val="115000"/>
              </a:lnSpc>
            </a:pPr>
            <a:r>
              <a:rPr lang="zh-CN" altLang="en-US" sz="2800">
                <a:latin typeface="宋体" panose="02010600030101010101" pitchFamily="2" charset="-122"/>
              </a:rPr>
              <a:t>  部件的全部动态结构参数，因此，系统动</a:t>
            </a:r>
          </a:p>
          <a:p>
            <a:pPr eaLnBrk="1" hangingPunct="1">
              <a:lnSpc>
                <a:spcPct val="115000"/>
              </a:lnSpc>
            </a:pPr>
            <a:r>
              <a:rPr lang="zh-CN" altLang="en-US" sz="2800">
                <a:latin typeface="宋体" panose="02010600030101010101" pitchFamily="2" charset="-122"/>
              </a:rPr>
              <a:t>  态过程的规律性也全寓于其中。 </a:t>
            </a:r>
          </a:p>
        </p:txBody>
      </p:sp>
      <p:sp>
        <p:nvSpPr>
          <p:cNvPr id="68612" name="Text Box 3">
            <a:extLst>
              <a:ext uri="{FF2B5EF4-FFF2-40B4-BE49-F238E27FC236}">
                <a16:creationId xmlns:a16="http://schemas.microsoft.com/office/drawing/2014/main" id="{17EBFEF2-631C-08A5-8F29-BDD8C96ACC41}"/>
              </a:ext>
            </a:extLst>
          </p:cNvPr>
          <p:cNvSpPr txBox="1">
            <a:spLocks noChangeArrowheads="1"/>
          </p:cNvSpPr>
          <p:nvPr/>
        </p:nvSpPr>
        <p:spPr bwMode="auto">
          <a:xfrm>
            <a:off x="827088" y="981075"/>
            <a:ext cx="70104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频率特性与传递函数的关系 </a:t>
            </a:r>
          </a:p>
        </p:txBody>
      </p:sp>
      <p:graphicFrame>
        <p:nvGraphicFramePr>
          <p:cNvPr id="6" name="Object 4">
            <a:extLst>
              <a:ext uri="{FF2B5EF4-FFF2-40B4-BE49-F238E27FC236}">
                <a16:creationId xmlns:a16="http://schemas.microsoft.com/office/drawing/2014/main" id="{22AC5305-3D57-CC3C-CE02-CE514A999273}"/>
              </a:ext>
            </a:extLst>
          </p:cNvPr>
          <p:cNvGraphicFramePr>
            <a:graphicFrameLocks noChangeAspect="1"/>
          </p:cNvGraphicFramePr>
          <p:nvPr/>
        </p:nvGraphicFramePr>
        <p:xfrm>
          <a:off x="5940425" y="981075"/>
          <a:ext cx="2438400" cy="593725"/>
        </p:xfrm>
        <a:graphic>
          <a:graphicData uri="http://schemas.openxmlformats.org/presentationml/2006/ole">
            <mc:AlternateContent xmlns:mc="http://schemas.openxmlformats.org/markup-compatibility/2006">
              <mc:Choice xmlns:v="urn:schemas-microsoft-com:vml" Requires="v">
                <p:oleObj r:id="rId3" imgW="1180588" imgH="291973" progId="Equation.3">
                  <p:embed/>
                </p:oleObj>
              </mc:Choice>
              <mc:Fallback>
                <p:oleObj r:id="rId3" imgW="1180588" imgH="29197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981075"/>
                        <a:ext cx="24384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8614" name="Rectangle 3">
            <a:extLst>
              <a:ext uri="{FF2B5EF4-FFF2-40B4-BE49-F238E27FC236}">
                <a16:creationId xmlns:a16="http://schemas.microsoft.com/office/drawing/2014/main" id="{729BE9DE-78DC-CBDD-7B3B-02602FBBAE55}"/>
              </a:ext>
            </a:extLst>
          </p:cNvPr>
          <p:cNvSpPr>
            <a:spLocks noChangeArrowheads="1"/>
          </p:cNvSpPr>
          <p:nvPr/>
        </p:nvSpPr>
        <p:spPr bwMode="auto">
          <a:xfrm>
            <a:off x="468313" y="188913"/>
            <a:ext cx="5105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marL="457200" indent="-457200">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buFont typeface="Wingdings" panose="05000000000000000000" pitchFamily="2" charset="2"/>
              <a:buChar char="ü"/>
            </a:pPr>
            <a:r>
              <a:rPr lang="zh-CN" altLang="en-US" sz="2800" b="1">
                <a:latin typeface="宋体" panose="02010600030101010101" pitchFamily="2" charset="-122"/>
              </a:rPr>
              <a:t>频率特性的物理意义</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ppt_x"/>
                                          </p:val>
                                        </p:tav>
                                        <p:tav tm="100000">
                                          <p:val>
                                            <p:strVal val="#ppt_x"/>
                                          </p:val>
                                        </p:tav>
                                      </p:tavLst>
                                    </p:anim>
                                    <p:anim calcmode="lin" valueType="num">
                                      <p:cBhvr>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6"/>
                                        </p:tgtEl>
                                        <p:attrNameLst>
                                          <p:attrName>style.visibility</p:attrName>
                                        </p:attrNameLst>
                                      </p:cBhvr>
                                      <p:to>
                                        <p:strVal val="visible"/>
                                      </p:to>
                                    </p:set>
                                    <p:anim calcmode="lin" valueType="num">
                                      <p:cBhvr>
                                        <p:cTn id="13" dur="500" fill="hold"/>
                                        <p:tgtEl>
                                          <p:spTgt spid="18436"/>
                                        </p:tgtEl>
                                        <p:attrNameLst>
                                          <p:attrName>ppt_x</p:attrName>
                                        </p:attrNameLst>
                                      </p:cBhvr>
                                      <p:tavLst>
                                        <p:tav tm="0">
                                          <p:val>
                                            <p:strVal val="#ppt_x"/>
                                          </p:val>
                                        </p:tav>
                                        <p:tav tm="100000">
                                          <p:val>
                                            <p:strVal val="#ppt_x"/>
                                          </p:val>
                                        </p:tav>
                                      </p:tavLst>
                                    </p:anim>
                                    <p:anim calcmode="lin" valueType="num">
                                      <p:cBhvr>
                                        <p:cTn id="14"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37"/>
                                        </p:tgtEl>
                                        <p:attrNameLst>
                                          <p:attrName>style.visibility</p:attrName>
                                        </p:attrNameLst>
                                      </p:cBhvr>
                                      <p:to>
                                        <p:strVal val="visible"/>
                                      </p:to>
                                    </p:set>
                                    <p:anim calcmode="lin" valueType="num">
                                      <p:cBhvr>
                                        <p:cTn id="19" dur="500" fill="hold"/>
                                        <p:tgtEl>
                                          <p:spTgt spid="18437"/>
                                        </p:tgtEl>
                                        <p:attrNameLst>
                                          <p:attrName>ppt_x</p:attrName>
                                        </p:attrNameLst>
                                      </p:cBhvr>
                                      <p:tavLst>
                                        <p:tav tm="0">
                                          <p:val>
                                            <p:strVal val="#ppt_x"/>
                                          </p:val>
                                        </p:tav>
                                        <p:tav tm="100000">
                                          <p:val>
                                            <p:strVal val="#ppt_x"/>
                                          </p:val>
                                        </p:tav>
                                      </p:tavLst>
                                    </p:anim>
                                    <p:anim calcmode="lin" valueType="num">
                                      <p:cBhvr>
                                        <p:cTn id="20"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P spid="1843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Text Box 5">
            <a:extLst>
              <a:ext uri="{FF2B5EF4-FFF2-40B4-BE49-F238E27FC236}">
                <a16:creationId xmlns:a16="http://schemas.microsoft.com/office/drawing/2014/main" id="{4E0734E4-11A8-C6DD-2FD6-3A6B2936E532}"/>
              </a:ext>
            </a:extLst>
          </p:cNvPr>
          <p:cNvSpPr txBox="1">
            <a:spLocks noChangeArrowheads="1"/>
          </p:cNvSpPr>
          <p:nvPr/>
        </p:nvSpPr>
        <p:spPr bwMode="auto">
          <a:xfrm>
            <a:off x="539750" y="908050"/>
            <a:ext cx="744855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lnSpc>
                <a:spcPct val="115000"/>
              </a:lnSpc>
              <a:buFont typeface="Wingdings" panose="05000000000000000000" pitchFamily="2" charset="2"/>
              <a:buChar char="Ø"/>
            </a:pPr>
            <a:r>
              <a:rPr lang="en-US" altLang="zh-CN" sz="2800">
                <a:latin typeface="宋体" panose="02010600030101010101" pitchFamily="2" charset="-122"/>
              </a:rPr>
              <a:t> </a:t>
            </a:r>
            <a:r>
              <a:rPr lang="zh-CN" altLang="en-US" sz="2800">
                <a:latin typeface="宋体" panose="02010600030101010101" pitchFamily="2" charset="-122"/>
              </a:rPr>
              <a:t>可反映系统对不同频率信号的“复现能力” </a:t>
            </a:r>
          </a:p>
        </p:txBody>
      </p:sp>
      <p:graphicFrame>
        <p:nvGraphicFramePr>
          <p:cNvPr id="21507" name="Object 8">
            <a:extLst>
              <a:ext uri="{FF2B5EF4-FFF2-40B4-BE49-F238E27FC236}">
                <a16:creationId xmlns:a16="http://schemas.microsoft.com/office/drawing/2014/main" id="{2847A339-CA2F-B859-35F8-B43FDDFF4233}"/>
              </a:ext>
            </a:extLst>
          </p:cNvPr>
          <p:cNvGraphicFramePr>
            <a:graphicFrameLocks noChangeAspect="1"/>
          </p:cNvGraphicFramePr>
          <p:nvPr/>
        </p:nvGraphicFramePr>
        <p:xfrm>
          <a:off x="7092950" y="1768475"/>
          <a:ext cx="1633538" cy="739775"/>
        </p:xfrm>
        <a:graphic>
          <a:graphicData uri="http://schemas.openxmlformats.org/presentationml/2006/ole">
            <mc:AlternateContent xmlns:mc="http://schemas.openxmlformats.org/markup-compatibility/2006">
              <mc:Choice xmlns:v="urn:schemas-microsoft-com:vml" Requires="v">
                <p:oleObj r:id="rId3" imgW="837836" imgH="393529" progId="Equation.DSMT4">
                  <p:embed/>
                </p:oleObj>
              </mc:Choice>
              <mc:Fallback>
                <p:oleObj r:id="rId3" imgW="837836" imgH="393529"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2950" y="1768475"/>
                        <a:ext cx="163353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508" name="Object 12">
            <a:extLst>
              <a:ext uri="{FF2B5EF4-FFF2-40B4-BE49-F238E27FC236}">
                <a16:creationId xmlns:a16="http://schemas.microsoft.com/office/drawing/2014/main" id="{018E8EE5-4E82-5A60-BCCE-C67C184B295D}"/>
              </a:ext>
            </a:extLst>
          </p:cNvPr>
          <p:cNvGraphicFramePr>
            <a:graphicFrameLocks noChangeAspect="1"/>
          </p:cNvGraphicFramePr>
          <p:nvPr/>
        </p:nvGraphicFramePr>
        <p:xfrm>
          <a:off x="3348038" y="2682875"/>
          <a:ext cx="3365500" cy="801688"/>
        </p:xfrm>
        <a:graphic>
          <a:graphicData uri="http://schemas.openxmlformats.org/presentationml/2006/ole">
            <mc:AlternateContent xmlns:mc="http://schemas.openxmlformats.org/markup-compatibility/2006">
              <mc:Choice xmlns:v="urn:schemas-microsoft-com:vml" Requires="v">
                <p:oleObj r:id="rId5" imgW="1765300" imgH="419100" progId="Equation.DSMT4">
                  <p:embed/>
                </p:oleObj>
              </mc:Choice>
              <mc:Fallback>
                <p:oleObj r:id="rId5" imgW="1765300" imgH="4191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8038" y="2682875"/>
                        <a:ext cx="33655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77" name="TextBox 13">
            <a:extLst>
              <a:ext uri="{FF2B5EF4-FFF2-40B4-BE49-F238E27FC236}">
                <a16:creationId xmlns:a16="http://schemas.microsoft.com/office/drawing/2014/main" id="{F67AA679-C050-2C74-E7A2-C6076F708274}"/>
              </a:ext>
            </a:extLst>
          </p:cNvPr>
          <p:cNvSpPr txBox="1">
            <a:spLocks noChangeArrowheads="1"/>
          </p:cNvSpPr>
          <p:nvPr/>
        </p:nvSpPr>
        <p:spPr bwMode="auto">
          <a:xfrm>
            <a:off x="765175" y="1876425"/>
            <a:ext cx="816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以前面的电气系统为例，其传递函数为：            </a:t>
            </a:r>
          </a:p>
        </p:txBody>
      </p:sp>
      <p:graphicFrame>
        <p:nvGraphicFramePr>
          <p:cNvPr id="7170" name="Object 3">
            <a:extLst>
              <a:ext uri="{FF2B5EF4-FFF2-40B4-BE49-F238E27FC236}">
                <a16:creationId xmlns:a16="http://schemas.microsoft.com/office/drawing/2014/main" id="{81516ECE-8905-7C82-E0A0-1AC50F6A50E4}"/>
              </a:ext>
            </a:extLst>
          </p:cNvPr>
          <p:cNvGraphicFramePr>
            <a:graphicFrameLocks noChangeAspect="1"/>
          </p:cNvGraphicFramePr>
          <p:nvPr/>
        </p:nvGraphicFramePr>
        <p:xfrm>
          <a:off x="3346450" y="3686175"/>
          <a:ext cx="3455988" cy="857250"/>
        </p:xfrm>
        <a:graphic>
          <a:graphicData uri="http://schemas.openxmlformats.org/presentationml/2006/ole">
            <mc:AlternateContent xmlns:mc="http://schemas.openxmlformats.org/markup-compatibility/2006">
              <mc:Choice xmlns:v="urn:schemas-microsoft-com:vml" Requires="v">
                <p:oleObj r:id="rId7" imgW="1752600" imgH="431800" progId="Equation.DSMT4">
                  <p:embed/>
                </p:oleObj>
              </mc:Choice>
              <mc:Fallback>
                <p:oleObj r:id="rId7" imgW="1752600" imgH="4318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6450" y="3686175"/>
                        <a:ext cx="3455988"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12" name="Object 4">
            <a:extLst>
              <a:ext uri="{FF2B5EF4-FFF2-40B4-BE49-F238E27FC236}">
                <a16:creationId xmlns:a16="http://schemas.microsoft.com/office/drawing/2014/main" id="{93914534-4343-575F-61EB-69F1A992654B}"/>
              </a:ext>
            </a:extLst>
          </p:cNvPr>
          <p:cNvGraphicFramePr>
            <a:graphicFrameLocks noChangeAspect="1"/>
          </p:cNvGraphicFramePr>
          <p:nvPr/>
        </p:nvGraphicFramePr>
        <p:xfrm>
          <a:off x="3346450" y="5084763"/>
          <a:ext cx="3967163" cy="431800"/>
        </p:xfrm>
        <a:graphic>
          <a:graphicData uri="http://schemas.openxmlformats.org/presentationml/2006/ole">
            <mc:AlternateContent xmlns:mc="http://schemas.openxmlformats.org/markup-compatibility/2006">
              <mc:Choice xmlns:v="urn:schemas-microsoft-com:vml" Requires="v">
                <p:oleObj r:id="rId9" imgW="2095500" imgH="228600" progId="Equation.3">
                  <p:embed/>
                </p:oleObj>
              </mc:Choice>
              <mc:Fallback>
                <p:oleObj r:id="rId9" imgW="2095500" imgH="228600"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46450" y="5084763"/>
                        <a:ext cx="39671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12" name="文本框 3">
            <a:extLst>
              <a:ext uri="{FF2B5EF4-FFF2-40B4-BE49-F238E27FC236}">
                <a16:creationId xmlns:a16="http://schemas.microsoft.com/office/drawing/2014/main" id="{841883AC-8297-B563-74AD-121D96B41C87}"/>
              </a:ext>
            </a:extLst>
          </p:cNvPr>
          <p:cNvSpPr txBox="1">
            <a:spLocks noChangeArrowheads="1"/>
          </p:cNvSpPr>
          <p:nvPr/>
        </p:nvSpPr>
        <p:spPr bwMode="auto">
          <a:xfrm>
            <a:off x="1008063" y="2763838"/>
            <a:ext cx="2339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频率特性为：</a:t>
            </a:r>
          </a:p>
        </p:txBody>
      </p:sp>
      <p:sp>
        <p:nvSpPr>
          <p:cNvPr id="21513" name="文本框 14">
            <a:extLst>
              <a:ext uri="{FF2B5EF4-FFF2-40B4-BE49-F238E27FC236}">
                <a16:creationId xmlns:a16="http://schemas.microsoft.com/office/drawing/2014/main" id="{9947C877-64C3-ACCC-B214-62F8C02A7B1E}"/>
              </a:ext>
            </a:extLst>
          </p:cNvPr>
          <p:cNvSpPr txBox="1">
            <a:spLocks noChangeArrowheads="1"/>
          </p:cNvSpPr>
          <p:nvPr/>
        </p:nvSpPr>
        <p:spPr bwMode="auto">
          <a:xfrm>
            <a:off x="1025525" y="3763963"/>
            <a:ext cx="2339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幅频特性为：</a:t>
            </a:r>
          </a:p>
        </p:txBody>
      </p:sp>
      <p:sp>
        <p:nvSpPr>
          <p:cNvPr id="21514" name="文本框 15">
            <a:extLst>
              <a:ext uri="{FF2B5EF4-FFF2-40B4-BE49-F238E27FC236}">
                <a16:creationId xmlns:a16="http://schemas.microsoft.com/office/drawing/2014/main" id="{C658B3F7-A6B3-7115-9756-93291BB66F96}"/>
              </a:ext>
            </a:extLst>
          </p:cNvPr>
          <p:cNvSpPr txBox="1">
            <a:spLocks noChangeArrowheads="1"/>
          </p:cNvSpPr>
          <p:nvPr/>
        </p:nvSpPr>
        <p:spPr bwMode="auto">
          <a:xfrm>
            <a:off x="1008063" y="4935538"/>
            <a:ext cx="23383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r>
              <a:rPr lang="zh-CN" altLang="en-US" sz="2800"/>
              <a:t>相频特性为：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50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1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17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51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74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p:bldP spid="7177" grpId="0"/>
      <p:bldP spid="21512" grpId="0"/>
      <p:bldP spid="21513" grpId="0"/>
      <p:bldP spid="215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5" name="Rectangle 7">
            <a:extLst>
              <a:ext uri="{FF2B5EF4-FFF2-40B4-BE49-F238E27FC236}">
                <a16:creationId xmlns:a16="http://schemas.microsoft.com/office/drawing/2014/main" id="{341FCCAE-7E71-74C7-280E-9A33A8187856}"/>
              </a:ext>
            </a:extLst>
          </p:cNvPr>
          <p:cNvSpPr>
            <a:spLocks noChangeArrowheads="1"/>
          </p:cNvSpPr>
          <p:nvPr/>
        </p:nvSpPr>
        <p:spPr bwMode="auto">
          <a:xfrm>
            <a:off x="900113" y="2736850"/>
            <a:ext cx="72739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&lt;&lt;1</a:t>
            </a:r>
            <a:r>
              <a:rPr lang="zh-CN" altLang="en-US" sz="2800">
                <a:latin typeface="Times New Roman" panose="02020603050405020304" pitchFamily="18" charset="0"/>
              </a:rPr>
              <a:t>时，</a:t>
            </a:r>
            <a:r>
              <a:rPr lang="zh-CN" altLang="en-US" sz="2800" i="1">
                <a:latin typeface="Times New Roman" panose="02020603050405020304" pitchFamily="18" charset="0"/>
              </a:rPr>
              <a:t>  </a:t>
            </a:r>
            <a:r>
              <a:rPr lang="en-US" altLang="zh-CN" sz="2800" i="1">
                <a:latin typeface="Times New Roman" panose="02020603050405020304" pitchFamily="18" charset="0"/>
              </a:rPr>
              <a:t>A</a:t>
            </a:r>
            <a:r>
              <a:rPr lang="en-US" altLang="zh-CN" sz="28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1	</a:t>
            </a:r>
            <a:r>
              <a:rPr lang="en-US" altLang="zh-CN" sz="2800" i="1">
                <a:latin typeface="Times New Roman" panose="02020603050405020304" pitchFamily="18" charset="0"/>
              </a:rPr>
              <a:t>	 </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0</a:t>
            </a:r>
            <a:r>
              <a:rPr lang="en-US" altLang="zh-CN" sz="2800">
                <a:latin typeface="Times New Roman" panose="02020603050405020304" pitchFamily="18" charset="0"/>
                <a:sym typeface="Symbol" panose="05050102010706020507" pitchFamily="18" charset="2"/>
              </a:rPr>
              <a:t></a:t>
            </a:r>
            <a:endParaRPr lang="en-US" altLang="zh-CN" sz="2800">
              <a:latin typeface="Times New Roman" panose="02020603050405020304" pitchFamily="18" charset="0"/>
            </a:endParaRPr>
          </a:p>
        </p:txBody>
      </p:sp>
      <p:sp>
        <p:nvSpPr>
          <p:cNvPr id="17416" name="Rectangle 8">
            <a:extLst>
              <a:ext uri="{FF2B5EF4-FFF2-40B4-BE49-F238E27FC236}">
                <a16:creationId xmlns:a16="http://schemas.microsoft.com/office/drawing/2014/main" id="{ADB69D08-668E-0B89-2F4E-881343E60A81}"/>
              </a:ext>
            </a:extLst>
          </p:cNvPr>
          <p:cNvSpPr>
            <a:spLocks noChangeArrowheads="1"/>
          </p:cNvSpPr>
          <p:nvPr/>
        </p:nvSpPr>
        <p:spPr bwMode="auto">
          <a:xfrm>
            <a:off x="900113" y="3567113"/>
            <a:ext cx="6589712"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a:lnSpc>
                <a:spcPct val="115000"/>
              </a:lnSpc>
            </a:pPr>
            <a:r>
              <a:rPr lang="zh-CN" altLang="en-US" sz="2800">
                <a:latin typeface="Times New Roman" panose="02020603050405020304" pitchFamily="18" charset="0"/>
              </a:rPr>
              <a:t>当</a:t>
            </a:r>
            <a:r>
              <a:rPr lang="en-US" altLang="zh-CN" sz="2800" i="1">
                <a:latin typeface="Times New Roman" panose="02020603050405020304" pitchFamily="18" charset="0"/>
              </a:rPr>
              <a:t>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&gt;&gt;1</a:t>
            </a:r>
            <a:r>
              <a:rPr lang="zh-CN" altLang="en-US" sz="2800">
                <a:latin typeface="Times New Roman" panose="02020603050405020304" pitchFamily="18" charset="0"/>
              </a:rPr>
              <a:t>时，</a:t>
            </a:r>
            <a:r>
              <a:rPr lang="zh-CN" altLang="en-US" sz="2800" i="1">
                <a:latin typeface="Times New Roman" panose="02020603050405020304" pitchFamily="18" charset="0"/>
              </a:rPr>
              <a:t> </a:t>
            </a:r>
            <a:r>
              <a:rPr lang="en-US" altLang="zh-CN" sz="2800" i="1">
                <a:latin typeface="Times New Roman" panose="02020603050405020304" pitchFamily="18" charset="0"/>
              </a:rPr>
              <a:t>A</a:t>
            </a:r>
            <a:r>
              <a:rPr lang="en-US" altLang="zh-CN" sz="28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1/</a:t>
            </a:r>
            <a:r>
              <a:rPr lang="en-US" altLang="zh-CN" sz="2800" i="1">
                <a:latin typeface="Times New Roman" panose="02020603050405020304" pitchFamily="18" charset="0"/>
              </a:rPr>
              <a:t>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a:t>
            </a:r>
            <a:r>
              <a:rPr lang="en-US" altLang="zh-CN" sz="2800" i="1">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a:t>
            </a:r>
            <a:r>
              <a:rPr lang="en-US" altLang="zh-CN" sz="2800">
                <a:latin typeface="Times New Roman" panose="02020603050405020304" pitchFamily="18" charset="0"/>
                <a:sym typeface="Symbol" panose="05050102010706020507" pitchFamily="18" charset="2"/>
              </a:rPr>
              <a:t></a:t>
            </a:r>
            <a:r>
              <a:rPr lang="en-US" altLang="zh-CN" sz="2800">
                <a:latin typeface="Times New Roman" panose="02020603050405020304" pitchFamily="18" charset="0"/>
              </a:rPr>
              <a:t> -90</a:t>
            </a:r>
            <a:r>
              <a:rPr lang="en-US" altLang="zh-CN" sz="2800">
                <a:latin typeface="Times New Roman" panose="02020603050405020304" pitchFamily="18" charset="0"/>
                <a:sym typeface="Symbol" panose="05050102010706020507" pitchFamily="18" charset="2"/>
              </a:rPr>
              <a:t></a:t>
            </a:r>
            <a:endParaRPr lang="en-US" altLang="zh-CN" sz="2800">
              <a:latin typeface="Times New Roman" panose="02020603050405020304" pitchFamily="18" charset="0"/>
            </a:endParaRPr>
          </a:p>
        </p:txBody>
      </p:sp>
      <p:graphicFrame>
        <p:nvGraphicFramePr>
          <p:cNvPr id="72708" name="Object 3">
            <a:extLst>
              <a:ext uri="{FF2B5EF4-FFF2-40B4-BE49-F238E27FC236}">
                <a16:creationId xmlns:a16="http://schemas.microsoft.com/office/drawing/2014/main" id="{0A125FD9-20E7-8C9B-8519-8F0227E77DC9}"/>
              </a:ext>
            </a:extLst>
          </p:cNvPr>
          <p:cNvGraphicFramePr>
            <a:graphicFrameLocks noChangeAspect="1"/>
          </p:cNvGraphicFramePr>
          <p:nvPr/>
        </p:nvGraphicFramePr>
        <p:xfrm>
          <a:off x="539750" y="1700213"/>
          <a:ext cx="3455988" cy="857250"/>
        </p:xfrm>
        <a:graphic>
          <a:graphicData uri="http://schemas.openxmlformats.org/presentationml/2006/ole">
            <mc:AlternateContent xmlns:mc="http://schemas.openxmlformats.org/markup-compatibility/2006">
              <mc:Choice xmlns:v="urn:schemas-microsoft-com:vml" Requires="v">
                <p:oleObj r:id="rId3" imgW="1752600" imgH="431800" progId="Equation.DSMT4">
                  <p:embed/>
                </p:oleObj>
              </mc:Choice>
              <mc:Fallback>
                <p:oleObj r:id="rId3" imgW="1752600" imgH="4318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700213"/>
                        <a:ext cx="3455988"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09" name="Object 4">
            <a:extLst>
              <a:ext uri="{FF2B5EF4-FFF2-40B4-BE49-F238E27FC236}">
                <a16:creationId xmlns:a16="http://schemas.microsoft.com/office/drawing/2014/main" id="{796D7107-06C8-5F1F-2980-F07E1DDA8661}"/>
              </a:ext>
            </a:extLst>
          </p:cNvPr>
          <p:cNvGraphicFramePr>
            <a:graphicFrameLocks noChangeAspect="1"/>
          </p:cNvGraphicFramePr>
          <p:nvPr/>
        </p:nvGraphicFramePr>
        <p:xfrm>
          <a:off x="4643438" y="1989138"/>
          <a:ext cx="3967162" cy="431800"/>
        </p:xfrm>
        <a:graphic>
          <a:graphicData uri="http://schemas.openxmlformats.org/presentationml/2006/ole">
            <mc:AlternateContent xmlns:mc="http://schemas.openxmlformats.org/markup-compatibility/2006">
              <mc:Choice xmlns:v="urn:schemas-microsoft-com:vml" Requires="v">
                <p:oleObj r:id="rId5" imgW="2095500" imgH="228600" progId="Equation.3">
                  <p:embed/>
                </p:oleObj>
              </mc:Choice>
              <mc:Fallback>
                <p:oleObj r:id="rId5" imgW="20955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1989138"/>
                        <a:ext cx="39671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 name="Rectangle 7">
            <a:extLst>
              <a:ext uri="{FF2B5EF4-FFF2-40B4-BE49-F238E27FC236}">
                <a16:creationId xmlns:a16="http://schemas.microsoft.com/office/drawing/2014/main" id="{A9522D91-513C-1629-4C54-CDCD7B413DD5}"/>
              </a:ext>
            </a:extLst>
          </p:cNvPr>
          <p:cNvSpPr>
            <a:spLocks noChangeArrowheads="1"/>
          </p:cNvSpPr>
          <p:nvPr/>
        </p:nvSpPr>
        <p:spPr bwMode="auto">
          <a:xfrm>
            <a:off x="827088" y="4437063"/>
            <a:ext cx="7273925"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just" eaLnBrk="1" hangingPunct="1">
              <a:lnSpc>
                <a:spcPct val="115000"/>
              </a:lnSpc>
            </a:pPr>
            <a:r>
              <a:rPr lang="zh-CN" altLang="en-US" sz="2800">
                <a:latin typeface="Times New Roman" panose="02020603050405020304" pitchFamily="18" charset="0"/>
              </a:rPr>
              <a:t>由幅频和相频特性表达式可见</a:t>
            </a:r>
            <a:r>
              <a:rPr lang="zh-CN" altLang="en-US" sz="2800"/>
              <a:t>实际工程系统的“低通”滤波器作用。</a:t>
            </a:r>
            <a:endParaRPr lang="zh-CN" altLang="en-US" sz="2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5"/>
                                        </p:tgtEl>
                                        <p:attrNameLst>
                                          <p:attrName>style.visibility</p:attrName>
                                        </p:attrNameLst>
                                      </p:cBhvr>
                                      <p:to>
                                        <p:strVal val="visible"/>
                                      </p:to>
                                    </p:set>
                                    <p:anim calcmode="lin" valueType="num">
                                      <p:cBhvr>
                                        <p:cTn id="7" dur="500" fill="hold"/>
                                        <p:tgtEl>
                                          <p:spTgt spid="17415"/>
                                        </p:tgtEl>
                                        <p:attrNameLst>
                                          <p:attrName>ppt_x</p:attrName>
                                        </p:attrNameLst>
                                      </p:cBhvr>
                                      <p:tavLst>
                                        <p:tav tm="0">
                                          <p:val>
                                            <p:strVal val="#ppt_x"/>
                                          </p:val>
                                        </p:tav>
                                        <p:tav tm="100000">
                                          <p:val>
                                            <p:strVal val="#ppt_x"/>
                                          </p:val>
                                        </p:tav>
                                      </p:tavLst>
                                    </p:anim>
                                    <p:anim calcmode="lin" valueType="num">
                                      <p:cBhvr>
                                        <p:cTn id="8" dur="500" fill="hold"/>
                                        <p:tgtEl>
                                          <p:spTgt spid="1741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6"/>
                                        </p:tgtEl>
                                        <p:attrNameLst>
                                          <p:attrName>style.visibility</p:attrName>
                                        </p:attrNameLst>
                                      </p:cBhvr>
                                      <p:to>
                                        <p:strVal val="visible"/>
                                      </p:to>
                                    </p:set>
                                    <p:anim calcmode="lin" valueType="num">
                                      <p:cBhvr>
                                        <p:cTn id="13" dur="500" fill="hold"/>
                                        <p:tgtEl>
                                          <p:spTgt spid="17416"/>
                                        </p:tgtEl>
                                        <p:attrNameLst>
                                          <p:attrName>ppt_x</p:attrName>
                                        </p:attrNameLst>
                                      </p:cBhvr>
                                      <p:tavLst>
                                        <p:tav tm="0">
                                          <p:val>
                                            <p:strVal val="#ppt_x"/>
                                          </p:val>
                                        </p:tav>
                                        <p:tav tm="100000">
                                          <p:val>
                                            <p:strVal val="#ppt_x"/>
                                          </p:val>
                                        </p:tav>
                                      </p:tavLst>
                                    </p:anim>
                                    <p:anim calcmode="lin" valueType="num">
                                      <p:cBhvr>
                                        <p:cTn id="14" dur="500" fill="hold"/>
                                        <p:tgtEl>
                                          <p:spTgt spid="1741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p:bldP spid="17416" grpId="0"/>
      <p:bldP spid="8" grpId="0"/>
    </p:bldLst>
  </p:timing>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Profile</Template>
  <TotalTime>355</TotalTime>
  <Words>2496</Words>
  <Application>Microsoft Office PowerPoint</Application>
  <PresentationFormat>全屏显示(4:3)</PresentationFormat>
  <Paragraphs>328</Paragraphs>
  <Slides>41</Slides>
  <Notes>29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41</vt:i4>
      </vt:variant>
    </vt:vector>
  </HeadingPairs>
  <TitlesOfParts>
    <vt:vector size="53" baseType="lpstr">
      <vt:lpstr>宋体</vt:lpstr>
      <vt:lpstr>Arial</vt:lpstr>
      <vt:lpstr>Arial Black</vt:lpstr>
      <vt:lpstr>Cambria Math</vt:lpstr>
      <vt:lpstr>Symbol</vt:lpstr>
      <vt:lpstr>Tahoma</vt:lpstr>
      <vt:lpstr>Times New Roman</vt:lpstr>
      <vt:lpstr>Verdana</vt:lpstr>
      <vt:lpstr>Wingdings</vt:lpstr>
      <vt:lpstr>Profile</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AIMIN FANG</cp:lastModifiedBy>
  <cp:revision>126</cp:revision>
  <dcterms:created xsi:type="dcterms:W3CDTF">2011-07-28T02:52:00Z</dcterms:created>
  <dcterms:modified xsi:type="dcterms:W3CDTF">2025-10-03T23:50:06Z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2052-11.8.6.9023</vt:lpwstr>
  </property>
</Properties>
</file>