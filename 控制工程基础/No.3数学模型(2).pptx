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331" r:id="rId2"/>
    <p:sldId id="742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88" r:id="rId18"/>
    <p:sldId id="389" r:id="rId19"/>
    <p:sldId id="390" r:id="rId20"/>
    <p:sldId id="391" r:id="rId21"/>
    <p:sldId id="392" r:id="rId22"/>
    <p:sldId id="393" r:id="rId23"/>
    <p:sldId id="395" r:id="rId24"/>
    <p:sldId id="707" r:id="rId25"/>
    <p:sldId id="640" r:id="rId26"/>
    <p:sldId id="396" r:id="rId27"/>
    <p:sldId id="376" r:id="rId28"/>
    <p:sldId id="397" r:id="rId29"/>
    <p:sldId id="378" r:id="rId30"/>
    <p:sldId id="379" r:id="rId31"/>
    <p:sldId id="380" r:id="rId32"/>
    <p:sldId id="573" r:id="rId33"/>
    <p:sldId id="574" r:id="rId34"/>
    <p:sldId id="575" r:id="rId35"/>
    <p:sldId id="576" r:id="rId36"/>
    <p:sldId id="577" r:id="rId37"/>
    <p:sldId id="601" r:id="rId38"/>
    <p:sldId id="602" r:id="rId39"/>
    <p:sldId id="732" r:id="rId40"/>
  </p:sldIdLst>
  <p:sldSz cx="9144000" cy="6858000" type="screen4x3"/>
  <p:notesSz cx="6669088" cy="99266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-133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5C97C8-D7E0-4658-A7CD-547A2D5180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57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1262DE7-0565-4C8E-82BE-A414E887E5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3743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6F2557-2500-4F90-AD77-94B2D2D1FFC1}" type="slidenum">
              <a:rPr altLang="zh-CN" smtClean="0">
                <a:latin typeface="Arial" panose="020B0604020202020204" pitchFamily="34" charset="0"/>
              </a:rPr>
              <a:pPr/>
              <a:t>1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F07A29-9325-4401-8C79-ED4FF34CD935}" type="slidenum">
              <a:rPr altLang="zh-CN" smtClean="0">
                <a:latin typeface="Arial" panose="020B0604020202020204" pitchFamily="34" charset="0"/>
              </a:rPr>
              <a:pPr/>
              <a:t>3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50E03D-8082-4BCD-8C5C-115D8A548C9B}" type="slidenum">
              <a:rPr altLang="zh-CN" smtClean="0">
                <a:latin typeface="Arial" panose="020B0604020202020204" pitchFamily="34" charset="0"/>
              </a:rPr>
              <a:pPr/>
              <a:t>4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417ABB0-3D05-4BB2-8476-6951C8AE8DAE}" type="slidenum">
              <a:rPr altLang="zh-CN" smtClean="0">
                <a:latin typeface="Arial" panose="020B0604020202020204" pitchFamily="34" charset="0"/>
              </a:rPr>
              <a:pPr/>
              <a:t>5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CB27E5B-E839-413D-B9E2-C6D3EDC000F0}" type="slidenum">
              <a:rPr altLang="zh-CN" smtClean="0">
                <a:latin typeface="Arial" panose="020B0604020202020204" pitchFamily="34" charset="0"/>
              </a:rPr>
              <a:pPr/>
              <a:t>6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1DCB02C-FE9D-45F7-AD77-D4196EBB4FC1}" type="slidenum">
              <a:rPr altLang="zh-CN" smtClean="0">
                <a:latin typeface="Arial" panose="020B0604020202020204" pitchFamily="34" charset="0"/>
              </a:rPr>
              <a:pPr/>
              <a:t>7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FD94EE-253A-4EFA-B70F-F804B71010CF}" type="slidenum">
              <a:rPr altLang="zh-CN" smtClean="0">
                <a:latin typeface="Arial" panose="020B0604020202020204" pitchFamily="34" charset="0"/>
              </a:rPr>
              <a:pPr/>
              <a:t>8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6966EA-29F3-4980-A75D-B464795EE2C3}" type="slidenum">
              <a:rPr altLang="zh-CN" smtClean="0">
                <a:latin typeface="Arial" panose="020B0604020202020204" pitchFamily="34" charset="0"/>
              </a:rPr>
              <a:pPr/>
              <a:t>9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906457-CB45-4976-B404-4074B5A91636}" type="slidenum">
              <a:rPr altLang="zh-CN" smtClean="0">
                <a:latin typeface="Arial" panose="020B0604020202020204" pitchFamily="34" charset="0"/>
              </a:rPr>
              <a:pPr/>
              <a:t>10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5C5259E-5D84-45B2-8B99-D53EC6F9A010}" type="slidenum">
              <a:rPr altLang="zh-CN" smtClean="0">
                <a:latin typeface="Arial" panose="020B0604020202020204" pitchFamily="34" charset="0"/>
              </a:rPr>
              <a:pPr/>
              <a:t>11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C734B8-A4AA-432C-9A7E-DA2A2957AB3A}" type="slidenum">
              <a:rPr altLang="zh-CN" smtClean="0">
                <a:latin typeface="Arial" panose="020B0604020202020204" pitchFamily="34" charset="0"/>
              </a:rPr>
              <a:pPr/>
              <a:t>12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B0FFEE-648D-4BC2-BA60-9490A29173DE}" type="slidenum">
              <a:rPr altLang="zh-CN" smtClean="0">
                <a:latin typeface="Arial" panose="020B0604020202020204" pitchFamily="34" charset="0"/>
              </a:rPr>
              <a:pPr/>
              <a:t>13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EF4708-4308-4B9F-A4AA-21127221B647}" type="slidenum">
              <a:rPr altLang="zh-CN" smtClean="0">
                <a:latin typeface="Arial" panose="020B0604020202020204" pitchFamily="34" charset="0"/>
              </a:rPr>
              <a:pPr/>
              <a:t>14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E242B2-5FB4-4299-80E8-5556362321B6}" type="slidenum">
              <a:rPr altLang="zh-CN" smtClean="0">
                <a:latin typeface="Arial" panose="020B0604020202020204" pitchFamily="34" charset="0"/>
              </a:rPr>
              <a:pPr/>
              <a:t>15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90B9F2-785A-4678-ABDD-EA0A953875F4}" type="slidenum">
              <a:rPr altLang="zh-CN" smtClean="0">
                <a:latin typeface="Arial" panose="020B0604020202020204" pitchFamily="34" charset="0"/>
              </a:rPr>
              <a:pPr/>
              <a:t>16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B5EE00-C14D-4128-82CA-08EFECE0CF64}" type="slidenum">
              <a:rPr altLang="zh-CN" smtClean="0">
                <a:latin typeface="Arial" panose="020B0604020202020204" pitchFamily="34" charset="0"/>
              </a:rPr>
              <a:pPr/>
              <a:t>17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9357BC5-566F-4680-8A21-96444C11FC87}" type="slidenum">
              <a:rPr altLang="zh-CN" smtClean="0">
                <a:latin typeface="Arial" panose="020B0604020202020204" pitchFamily="34" charset="0"/>
              </a:rPr>
              <a:pPr/>
              <a:t>18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0519ED8-6945-495E-8105-EA4B396D81CB}" type="slidenum">
              <a:rPr altLang="zh-CN" smtClean="0">
                <a:latin typeface="Arial" panose="020B0604020202020204" pitchFamily="34" charset="0"/>
              </a:rPr>
              <a:pPr/>
              <a:t>19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DF3D99E-EC3D-4152-B010-012388DEE81D}" type="slidenum">
              <a:rPr altLang="zh-CN" smtClean="0">
                <a:latin typeface="Arial" panose="020B0604020202020204" pitchFamily="34" charset="0"/>
              </a:rPr>
              <a:pPr/>
              <a:t>20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5783B3-0C4C-49DE-BE24-14688EB048BE}" type="slidenum">
              <a:rPr altLang="zh-CN" smtClean="0">
                <a:latin typeface="Arial" panose="020B0604020202020204" pitchFamily="34" charset="0"/>
              </a:rPr>
              <a:pPr/>
              <a:t>21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2AB451-E743-46D7-A97B-4CF2D1617D50}" type="slidenum">
              <a:rPr altLang="zh-CN" smtClean="0">
                <a:latin typeface="Arial" panose="020B0604020202020204" pitchFamily="34" charset="0"/>
              </a:rPr>
              <a:pPr/>
              <a:t>22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E6FE77-0DF4-45E9-A290-0F9783853A69}" type="slidenum">
              <a:rPr altLang="zh-CN" smtClean="0">
                <a:latin typeface="Arial" panose="020B0604020202020204" pitchFamily="34" charset="0"/>
              </a:rPr>
              <a:pPr/>
              <a:t>25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2144EA-AC2E-490A-AEDE-24719D84FA62}" type="slidenum">
              <a:rPr altLang="zh-CN" smtClean="0">
                <a:latin typeface="Arial" panose="020B0604020202020204" pitchFamily="34" charset="0"/>
              </a:rPr>
              <a:pPr/>
              <a:t>27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9176826-A7A5-45AD-BCC8-C3DC62A30695}" type="slidenum">
              <a:rPr altLang="zh-CN" smtClean="0">
                <a:latin typeface="Arial" panose="020B0604020202020204" pitchFamily="34" charset="0"/>
              </a:rPr>
              <a:pPr/>
              <a:t>28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F9CD98-BD98-409A-9EDB-4BC1D99E814E}" type="slidenum">
              <a:rPr altLang="zh-CN" smtClean="0">
                <a:latin typeface="Arial" panose="020B0604020202020204" pitchFamily="34" charset="0"/>
              </a:rPr>
              <a:pPr/>
              <a:t>29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9A46E0-155C-4E21-BFB0-89FAF7B8D86B}" type="slidenum">
              <a:rPr altLang="zh-CN" smtClean="0">
                <a:latin typeface="Arial" panose="020B0604020202020204" pitchFamily="34" charset="0"/>
              </a:rPr>
              <a:pPr/>
              <a:t>30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976AB3-DA01-4A3B-BEBD-4D7385986C4A}" type="slidenum">
              <a:rPr altLang="zh-CN" smtClean="0">
                <a:latin typeface="Arial" panose="020B0604020202020204" pitchFamily="34" charset="0"/>
              </a:rPr>
              <a:pPr/>
              <a:t>31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D9C01E-ADF8-46DE-AFB9-4BE76495CD19}" type="slidenum">
              <a:rPr altLang="zh-CN" smtClean="0">
                <a:latin typeface="Arial" panose="020B0604020202020204" pitchFamily="34" charset="0"/>
              </a:rPr>
              <a:pPr/>
              <a:t>33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71293B-36F6-4DB5-AF9E-B8608A4E3FFC}" type="slidenum">
              <a:rPr altLang="zh-CN" smtClean="0">
                <a:latin typeface="Arial" panose="020B0604020202020204" pitchFamily="34" charset="0"/>
              </a:rPr>
              <a:pPr/>
              <a:t>34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F19DE1-154D-47B6-962F-E6BA90ADEEEF}" type="slidenum">
              <a:rPr altLang="zh-CN" smtClean="0">
                <a:latin typeface="Arial" panose="020B0604020202020204" pitchFamily="34" charset="0"/>
              </a:rPr>
              <a:pPr/>
              <a:t>37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910C96-B303-48D3-9282-936FE0ACFE2D}" type="slidenum">
              <a:rPr altLang="zh-CN" smtClean="0">
                <a:latin typeface="Arial" panose="020B0604020202020204" pitchFamily="34" charset="0"/>
              </a:rPr>
              <a:pPr/>
              <a:t>38</a:t>
            </a:fld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7B80B-95E5-4963-A3D2-761D5FC80BCC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D5F81-AD81-4020-AA45-AC68A47B19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60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4D8CD-8C6D-41CA-BAE6-A0D43AA71802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2C982-0F7E-4C32-820B-DF610EA5F2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00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0D74A-EE17-4CCB-9F8B-8B603E720077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64FA6-B069-4E5A-90C2-CC6EAEBB24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3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89F7C-E9CA-46D9-B3E8-23284E8CC89B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676B5-B612-4531-93F7-1BBEF0230F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1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D979D-D800-480E-AAEE-1DDBF0F913A7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D2C6E-7FE5-46CA-8734-AEA5B0A665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28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B043F-60F9-47C5-9808-BCCF55943D70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984AA-286C-41F4-8E42-36EF9B0094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20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3E234-533E-4ED1-A518-E52B725339F1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D7DB3-BC2E-4282-B313-B115412241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82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08ED9-229A-41B4-9F76-C2BE9C5FB6FE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9F9A5-8EA3-417C-A211-49FDF72952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228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101D5-FCBA-4EAE-A35E-4EBC38A5140F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9567E-9E81-4FAE-9772-A7CB0DA11F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943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EE23D-BFA1-4C28-A10F-9869F69012A0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83805-F284-4172-B87F-0A8D8DB86A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57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049B3-A868-4324-914B-C3D4E3ABB8AB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30C0B-3AD4-42E4-9027-BC59657529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124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67364-77B1-47A6-818A-014D565B845B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2350F-8C8E-460A-B0BC-53CC76855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29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fld id="{74271418-7AC7-4BF4-B0BB-4E035D9B01C7}" type="datetime1">
              <a:rPr lang="zh-CN" altLang="en-US"/>
              <a:pPr>
                <a:defRPr/>
              </a:pPr>
              <a:t>2025/9/10</a:t>
            </a:fld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fld id="{96FE9DAC-671D-4829-AFC1-5948668E0C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8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7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2.wmf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1.bin"/><Relationship Id="rId11" Type="http://schemas.openxmlformats.org/officeDocument/2006/relationships/oleObject" Target="../embeddings/oleObject44.bin"/><Relationship Id="rId5" Type="http://schemas.openxmlformats.org/officeDocument/2006/relationships/image" Target="../media/image41.wmf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4" Type="http://schemas.openxmlformats.org/officeDocument/2006/relationships/oleObject" Target="../embeddings/oleObject40.bin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6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5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9.png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5.wmf"/><Relationship Id="rId4" Type="http://schemas.openxmlformats.org/officeDocument/2006/relationships/image" Target="../media/image69.png"/><Relationship Id="rId9" Type="http://schemas.openxmlformats.org/officeDocument/2006/relationships/oleObject" Target="../embeddings/oleObject7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7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1.wmf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84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1AFB561-4EEF-40A6-A268-4E762BFC93DF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1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92D3A8C-10F6-4C2D-AB52-D80CF2D97F2C}" type="slidenum">
              <a:rPr altLang="zh-CN" smtClean="0"/>
              <a:pPr/>
              <a:t>1</a:t>
            </a:fld>
            <a:endParaRPr lang="zh-CN" altLang="zh-CN" smtClean="0"/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2339975" y="728663"/>
            <a:ext cx="34163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数学模型</a:t>
            </a:r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979613" y="2449513"/>
            <a:ext cx="3775075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拉氏变换和反变换</a:t>
            </a:r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1979613" y="2997200"/>
            <a:ext cx="2338387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2.3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传递函数</a:t>
            </a:r>
          </a:p>
        </p:txBody>
      </p:sp>
      <p:sp>
        <p:nvSpPr>
          <p:cNvPr id="5127" name="Rectangle 6"/>
          <p:cNvSpPr>
            <a:spLocks noChangeArrowheads="1"/>
          </p:cNvSpPr>
          <p:nvPr/>
        </p:nvSpPr>
        <p:spPr bwMode="auto">
          <a:xfrm>
            <a:off x="1979613" y="4206875"/>
            <a:ext cx="485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非线性数学模型的线性化</a:t>
            </a:r>
          </a:p>
        </p:txBody>
      </p:sp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1978025" y="3570288"/>
            <a:ext cx="4494213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系统方框图和信号流图</a:t>
            </a:r>
          </a:p>
        </p:txBody>
      </p:sp>
      <p:sp>
        <p:nvSpPr>
          <p:cNvPr id="5129" name="Rectangle 8"/>
          <p:cNvSpPr>
            <a:spLocks noChangeArrowheads="1"/>
          </p:cNvSpPr>
          <p:nvPr/>
        </p:nvSpPr>
        <p:spPr bwMode="auto">
          <a:xfrm>
            <a:off x="1979613" y="4645025"/>
            <a:ext cx="5211762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2.6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控制系统传递函数推导举例</a:t>
            </a:r>
          </a:p>
        </p:txBody>
      </p:sp>
      <p:sp>
        <p:nvSpPr>
          <p:cNvPr id="5130" name="Rectangle 11"/>
          <p:cNvSpPr>
            <a:spLocks noChangeArrowheads="1"/>
          </p:cNvSpPr>
          <p:nvPr/>
        </p:nvSpPr>
        <p:spPr bwMode="auto">
          <a:xfrm>
            <a:off x="1979613" y="1916113"/>
            <a:ext cx="4852987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控制系统的运动微分方程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问答环节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什么是反馈？什么是反馈工作原理？</a:t>
            </a:r>
            <a:endParaRPr lang="en-US" altLang="zh-CN" dirty="0" smtClean="0"/>
          </a:p>
          <a:p>
            <a:r>
              <a:rPr lang="zh-CN" altLang="en-US" dirty="0"/>
              <a:t>反馈系统的基本组成元件有哪些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/>
              <a:t>我们对控制系统有哪三个方面的要求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五</a:t>
            </a:r>
            <a:r>
              <a:rPr lang="zh-CN" altLang="en-US" dirty="0"/>
              <a:t>种外作用</a:t>
            </a:r>
            <a:r>
              <a:rPr lang="zh-CN" altLang="en-US" dirty="0" smtClean="0"/>
              <a:t>信号及拉氏变换。</a:t>
            </a:r>
            <a:endParaRPr lang="en-US" altLang="zh-CN" dirty="0" smtClean="0"/>
          </a:p>
          <a:p>
            <a:r>
              <a:rPr lang="zh-CN" altLang="en-US" dirty="0" smtClean="0"/>
              <a:t>拉</a:t>
            </a:r>
            <a:r>
              <a:rPr lang="zh-CN" altLang="en-US" dirty="0"/>
              <a:t>氏</a:t>
            </a:r>
            <a:r>
              <a:rPr lang="zh-CN" altLang="en-US" dirty="0" smtClean="0"/>
              <a:t>变换性质应用。</a:t>
            </a:r>
            <a:endParaRPr lang="en-US" altLang="zh-CN" dirty="0" smtClean="0"/>
          </a:p>
          <a:p>
            <a:r>
              <a:rPr lang="zh-CN" altLang="en-US" dirty="0"/>
              <a:t>什么是相似系统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/>
              <a:t>系统的阶次和储能元件的关系如何</a:t>
            </a:r>
            <a:r>
              <a:rPr lang="zh-CN" altLang="en-US" dirty="0" smtClean="0"/>
              <a:t>？试说出四种储能元件。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04D8CD-8C6D-41CA-BAE6-A0D43AA71802}" type="datetime1">
              <a:rPr lang="zh-CN" altLang="en-US" smtClean="0"/>
              <a:pPr>
                <a:defRPr/>
              </a:pPr>
              <a:t>2025/9/10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56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08FF2B-48A2-41EF-A8EC-FCF9107EF761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256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9A487B3-339D-44D3-BFA3-4B997A4A87CA}" type="slidenum">
              <a:rPr altLang="zh-CN" smtClean="0"/>
              <a:pPr/>
              <a:t>3</a:t>
            </a:fld>
            <a:endParaRPr lang="zh-CN" altLang="zh-CN" smtClean="0"/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971550" y="1052513"/>
            <a:ext cx="520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拉氏反变换</a:t>
            </a:r>
            <a:r>
              <a:rPr lang="en-US" altLang="zh-CN" sz="2800" b="1">
                <a:latin typeface="Times New Roman" panose="02020603050405020304" pitchFamily="18" charset="0"/>
              </a:rPr>
              <a:t>--</a:t>
            </a:r>
            <a:r>
              <a:rPr lang="zh-CN" altLang="en-US" sz="2800" b="1">
                <a:latin typeface="Times New Roman" panose="02020603050405020304" pitchFamily="18" charset="0"/>
              </a:rPr>
              <a:t>部分分式展开法  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1143000" y="199548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部分分式法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504950" y="2605088"/>
            <a:ext cx="725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如果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的拉氏变换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已分解成为下列分量：</a:t>
            </a: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1562100" y="3200400"/>
            <a:ext cx="4076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)+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)+…+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1498600" y="3733800"/>
            <a:ext cx="701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假定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), …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的拉氏反变换可以容易地求出，则：</a:t>
            </a: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1600200" y="48895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lang="en-US" altLang="zh-CN" sz="2800">
                <a:latin typeface="Times New Roman" panose="02020603050405020304" pitchFamily="18" charset="0"/>
              </a:rPr>
              <a:t>[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)] = 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lang="en-US" altLang="zh-CN" sz="2800">
                <a:latin typeface="Times New Roman" panose="02020603050405020304" pitchFamily="18" charset="0"/>
              </a:rPr>
              <a:t>[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)]+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lang="en-US" altLang="zh-CN" sz="2800">
                <a:latin typeface="Times New Roman" panose="02020603050405020304" pitchFamily="18" charset="0"/>
              </a:rPr>
              <a:t>[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)]+…+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900" baseline="30000">
                <a:latin typeface="Times New Roman" panose="02020603050405020304" pitchFamily="18" charset="0"/>
              </a:rPr>
              <a:t>-1</a:t>
            </a:r>
            <a:r>
              <a:rPr lang="en-US" altLang="zh-CN" sz="2800">
                <a:latin typeface="Times New Roman" panose="02020603050405020304" pitchFamily="18" charset="0"/>
              </a:rPr>
              <a:t>[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)]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2924175" y="5500688"/>
            <a:ext cx="3629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50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= 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 + 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baseline="-18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 + … + 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  <p:bldP spid="60420" grpId="0"/>
      <p:bldP spid="60421" grpId="0"/>
      <p:bldP spid="60422" grpId="0"/>
      <p:bldP spid="60423" grpId="0"/>
      <p:bldP spid="604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27DF49B-454C-4A59-A595-1D2DE6C9E21E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2765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067763-BA01-4A79-9335-AD1896E849F0}" type="slidenum">
              <a:rPr altLang="zh-CN" smtClean="0"/>
              <a:pPr/>
              <a:t>4</a:t>
            </a:fld>
            <a:endParaRPr lang="zh-CN" altLang="zh-CN" smtClean="0"/>
          </a:p>
        </p:txBody>
      </p:sp>
      <p:graphicFrame>
        <p:nvGraphicFramePr>
          <p:cNvPr id="27652" name="Object 2"/>
          <p:cNvGraphicFramePr>
            <a:graphicFrameLocks noChangeAspect="1"/>
          </p:cNvGraphicFramePr>
          <p:nvPr/>
        </p:nvGraphicFramePr>
        <p:xfrm>
          <a:off x="1085850" y="1836738"/>
          <a:ext cx="64579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r:id="rId4" imgW="3276600" imgH="457200" progId="Equation.3">
                  <p:embed/>
                </p:oleObj>
              </mc:Choice>
              <mc:Fallback>
                <p:oleObj r:id="rId4" imgW="32766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1836738"/>
                        <a:ext cx="645795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1512888" y="3524250"/>
          <a:ext cx="48990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r:id="rId6" imgW="2692400" imgH="457200" progId="Equation.3">
                  <p:embed/>
                </p:oleObj>
              </mc:Choice>
              <mc:Fallback>
                <p:oleObj r:id="rId6" imgW="26924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3524250"/>
                        <a:ext cx="489902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4"/>
          <p:cNvSpPr>
            <a:spLocks noChangeArrowheads="1"/>
          </p:cNvSpPr>
          <p:nvPr/>
        </p:nvSpPr>
        <p:spPr bwMode="auto">
          <a:xfrm>
            <a:off x="1116013" y="1052513"/>
            <a:ext cx="374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在控制理论中，通常：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1076325" y="2855913"/>
            <a:ext cx="76104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为了应用上述方法，将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写成下面的形式：</a:t>
            </a: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1066800" y="4456113"/>
            <a:ext cx="7620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式中，</a:t>
            </a:r>
            <a:r>
              <a:rPr lang="zh-CN" altLang="en-US" sz="2800" i="1">
                <a:latin typeface="Times New Roman" panose="02020603050405020304" pitchFamily="18" charset="0"/>
              </a:rPr>
              <a:t>使</a:t>
            </a:r>
            <a:r>
              <a:rPr lang="zh-CN" altLang="en-US" sz="2800">
                <a:latin typeface="宋体" panose="02010600030101010101" pitchFamily="2" charset="-122"/>
              </a:rPr>
              <a:t>方程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)=0</a:t>
            </a:r>
            <a:r>
              <a:rPr lang="zh-CN" altLang="en-US" sz="2800">
                <a:latin typeface="宋体" panose="02010600030101010101" pitchFamily="2" charset="-122"/>
              </a:rPr>
              <a:t>的点，称为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的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极点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en-US" altLang="zh-CN" sz="2900" i="1" baseline="-30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18000">
                <a:latin typeface="Times New Roman" panose="02020603050405020304" pitchFamily="18" charset="0"/>
              </a:rPr>
              <a:t>0</a:t>
            </a:r>
            <a:r>
              <a:rPr lang="en-US" altLang="zh-CN" sz="2900" baseline="-30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en-US" altLang="zh-CN" sz="2800">
                <a:latin typeface="Times New Roman" panose="02020603050405020304" pitchFamily="18" charset="0"/>
              </a:rPr>
              <a:t>= 0,1,…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</a:rPr>
              <a:t>m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1066800" y="5589588"/>
            <a:ext cx="58451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此时，即可将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展开成部分分式。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  <p:bldP spid="59398" grpId="0"/>
      <p:bldP spid="593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1D25A0-B662-49D2-9678-77CEBC8DEA31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2969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0B6243-97F2-4916-9B76-E611B5EE2C58}" type="slidenum">
              <a:rPr altLang="zh-CN" smtClean="0"/>
              <a:pPr/>
              <a:t>5</a:t>
            </a:fld>
            <a:endParaRPr lang="zh-CN" altLang="zh-CN" smtClean="0"/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971550" y="10525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只含有不同的实数极点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1295400" y="2133600"/>
          <a:ext cx="68580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1" r:id="rId4" imgW="3835400" imgH="495300" progId="Equation.3">
                  <p:embed/>
                </p:oleObj>
              </mc:Choice>
              <mc:Fallback>
                <p:oleObj r:id="rId4" imgW="3835400" imgH="495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68580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371600" y="4073525"/>
          <a:ext cx="403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2" r:id="rId6" imgW="1777229" imgH="279279" progId="Equation.3">
                  <p:embed/>
                </p:oleObj>
              </mc:Choice>
              <mc:Fallback>
                <p:oleObj r:id="rId6" imgW="1777229" imgH="27927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73525"/>
                        <a:ext cx="4038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1219200" y="3235325"/>
            <a:ext cx="7037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式中，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为常数，称为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en-US" altLang="zh-CN" sz="2800">
                <a:latin typeface="Times New Roman" panose="02020603050405020304" pitchFamily="18" charset="0"/>
              </a:rPr>
              <a:t>= 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极点处的留数。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219200" y="4953000"/>
            <a:ext cx="6096000" cy="955675"/>
            <a:chOff x="768" y="3024"/>
            <a:chExt cx="3840" cy="602"/>
          </a:xfrm>
        </p:grpSpPr>
        <p:graphicFrame>
          <p:nvGraphicFramePr>
            <p:cNvPr id="29705" name="Object 7"/>
            <p:cNvGraphicFramePr>
              <a:graphicFrameLocks noChangeAspect="1"/>
            </p:cNvGraphicFramePr>
            <p:nvPr/>
          </p:nvGraphicFramePr>
          <p:xfrm>
            <a:off x="1536" y="3024"/>
            <a:ext cx="3072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3" r:id="rId8" imgW="2768600" imgH="546100" progId="Equation.3">
                    <p:embed/>
                  </p:oleObj>
                </mc:Choice>
                <mc:Fallback>
                  <p:oleObj r:id="rId8" imgW="2768600" imgH="546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024"/>
                          <a:ext cx="3072" cy="6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Rectangle 8"/>
            <p:cNvSpPr>
              <a:spLocks noChangeArrowheads="1"/>
            </p:cNvSpPr>
            <p:nvPr/>
          </p:nvSpPr>
          <p:spPr bwMode="auto">
            <a:xfrm>
              <a:off x="768" y="3081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于是：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4273E4-0D3E-4207-A55E-FD6D6B373770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3174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F1E9D2-62EF-4DAD-B5DE-C626F6131123}" type="slidenum">
              <a:rPr altLang="zh-CN" smtClean="0"/>
              <a:pPr/>
              <a:t>6</a:t>
            </a:fld>
            <a:endParaRPr lang="zh-CN" altLang="zh-CN" smtClean="0"/>
          </a:p>
        </p:txBody>
      </p:sp>
      <p:grpSp>
        <p:nvGrpSpPr>
          <p:cNvPr id="31748" name="Group 2"/>
          <p:cNvGrpSpPr>
            <a:grpSpLocks/>
          </p:cNvGrpSpPr>
          <p:nvPr/>
        </p:nvGrpSpPr>
        <p:grpSpPr bwMode="auto">
          <a:xfrm>
            <a:off x="755650" y="1628775"/>
            <a:ext cx="5638800" cy="960438"/>
            <a:chOff x="576" y="691"/>
            <a:chExt cx="3552" cy="605"/>
          </a:xfrm>
        </p:grpSpPr>
        <p:sp>
          <p:nvSpPr>
            <p:cNvPr id="31754" name="Rectangle 3"/>
            <p:cNvSpPr>
              <a:spLocks noChangeArrowheads="1"/>
            </p:cNvSpPr>
            <p:nvPr/>
          </p:nvSpPr>
          <p:spPr bwMode="auto">
            <a:xfrm>
              <a:off x="576" y="787"/>
              <a:ext cx="2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例</a:t>
              </a:r>
              <a:r>
                <a:rPr lang="zh-CN" altLang="en-US" sz="2800">
                  <a:latin typeface="宋体" panose="02010600030101010101" pitchFamily="2" charset="-122"/>
                </a:rPr>
                <a:t>：求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55" name="Object 4"/>
            <p:cNvGraphicFramePr>
              <a:graphicFrameLocks noChangeAspect="1"/>
            </p:cNvGraphicFramePr>
            <p:nvPr/>
          </p:nvGraphicFramePr>
          <p:xfrm>
            <a:off x="1344" y="691"/>
            <a:ext cx="1584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9" r:id="rId4" imgW="1435100" imgH="533400" progId="Equation.3">
                    <p:embed/>
                  </p:oleObj>
                </mc:Choice>
                <mc:Fallback>
                  <p:oleObj r:id="rId4" imgW="1435100" imgH="533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691"/>
                          <a:ext cx="1584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6" name="Rectangle 5"/>
            <p:cNvSpPr>
              <a:spLocks noChangeArrowheads="1"/>
            </p:cNvSpPr>
            <p:nvPr/>
          </p:nvSpPr>
          <p:spPr bwMode="auto">
            <a:xfrm>
              <a:off x="2892" y="777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的原函数。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30300" y="2633663"/>
            <a:ext cx="7696200" cy="935037"/>
            <a:chOff x="576" y="1427"/>
            <a:chExt cx="4848" cy="589"/>
          </a:xfrm>
        </p:grpSpPr>
        <p:sp>
          <p:nvSpPr>
            <p:cNvPr id="31752" name="Rectangle 7"/>
            <p:cNvSpPr>
              <a:spLocks noChangeArrowheads="1"/>
            </p:cNvSpPr>
            <p:nvPr/>
          </p:nvSpPr>
          <p:spPr bwMode="auto">
            <a:xfrm>
              <a:off x="576" y="1536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解</a:t>
              </a:r>
              <a:r>
                <a:rPr lang="zh-CN" altLang="en-US" sz="2800">
                  <a:latin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31753" name="Object 8"/>
            <p:cNvGraphicFramePr>
              <a:graphicFrameLocks noChangeAspect="1"/>
            </p:cNvGraphicFramePr>
            <p:nvPr/>
          </p:nvGraphicFramePr>
          <p:xfrm>
            <a:off x="1008" y="1427"/>
            <a:ext cx="4416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0" r:id="rId6" imgW="4000500" imgH="533400" progId="Equation.3">
                    <p:embed/>
                  </p:oleObj>
                </mc:Choice>
                <mc:Fallback>
                  <p:oleObj r:id="rId6" imgW="4000500" imgH="533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427"/>
                          <a:ext cx="4416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1816100" y="3873500"/>
          <a:ext cx="50736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1" r:id="rId8" imgW="2984500" imgH="584200" progId="Equation.3">
                  <p:embed/>
                </p:oleObj>
              </mc:Choice>
              <mc:Fallback>
                <p:oleObj r:id="rId8" imgW="2984500" imgH="584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873500"/>
                        <a:ext cx="50736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1816100" y="5108575"/>
          <a:ext cx="52578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2" r:id="rId10" imgW="3086100" imgH="584200" progId="Equation.3">
                  <p:embed/>
                </p:oleObj>
              </mc:Choice>
              <mc:Fallback>
                <p:oleObj r:id="rId10" imgW="3086100" imgH="584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5108575"/>
                        <a:ext cx="52578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E193CC-EB26-446A-810C-E94A9703E682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337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90A3EA7-FC9A-4328-90A5-BD281DE2C26F}" type="slidenum">
              <a:rPr altLang="zh-CN" smtClean="0"/>
              <a:pPr/>
              <a:t>7</a:t>
            </a:fld>
            <a:endParaRPr lang="zh-CN" altLang="zh-CN" smtClean="0"/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/>
        </p:nvGraphicFramePr>
        <p:xfrm>
          <a:off x="1752600" y="1905000"/>
          <a:ext cx="51054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r:id="rId4" imgW="3187700" imgH="584200" progId="Equation.3">
                  <p:embed/>
                </p:oleObj>
              </mc:Choice>
              <mc:Fallback>
                <p:oleObj r:id="rId4" imgW="3187700" imgH="584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05000"/>
                        <a:ext cx="51054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1676400" y="4495800"/>
          <a:ext cx="56419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r:id="rId6" imgW="2997200" imgH="393700" progId="Equation.3">
                  <p:embed/>
                </p:oleObj>
              </mc:Choice>
              <mc:Fallback>
                <p:oleObj r:id="rId6" imgW="29972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95800"/>
                        <a:ext cx="56419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44650" y="3187700"/>
            <a:ext cx="5137150" cy="774700"/>
            <a:chOff x="1036" y="2008"/>
            <a:chExt cx="3236" cy="488"/>
          </a:xfrm>
        </p:grpSpPr>
        <p:graphicFrame>
          <p:nvGraphicFramePr>
            <p:cNvPr id="33799" name="Object 5"/>
            <p:cNvGraphicFramePr>
              <a:graphicFrameLocks noChangeAspect="1"/>
            </p:cNvGraphicFramePr>
            <p:nvPr/>
          </p:nvGraphicFramePr>
          <p:xfrm>
            <a:off x="1584" y="2008"/>
            <a:ext cx="268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7" r:id="rId8" imgW="2463800" imgH="444500" progId="Equation.3">
                    <p:embed/>
                  </p:oleObj>
                </mc:Choice>
                <mc:Fallback>
                  <p:oleObj r:id="rId8" imgW="2463800" imgH="444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008"/>
                          <a:ext cx="268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0" name="Rectangle 6"/>
            <p:cNvSpPr>
              <a:spLocks noChangeArrowheads="1"/>
            </p:cNvSpPr>
            <p:nvPr/>
          </p:nvSpPr>
          <p:spPr bwMode="auto">
            <a:xfrm>
              <a:off x="1036" y="2073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E5FDE0-7662-4BA6-84C8-5C8621A4AC21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358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98C710-E852-4571-9709-04A2DDDFF74E}" type="slidenum">
              <a:rPr altLang="zh-CN" smtClean="0"/>
              <a:pPr/>
              <a:t>8</a:t>
            </a:fld>
            <a:endParaRPr lang="zh-CN" altLang="zh-CN" smtClean="0"/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900113" y="11255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含有重极点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1219200" y="2000250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设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存在</a:t>
            </a:r>
            <a:r>
              <a:rPr lang="en-US" altLang="zh-CN" sz="2800" i="1">
                <a:latin typeface="Times New Roman" panose="02020603050405020304" pitchFamily="18" charset="0"/>
              </a:rPr>
              <a:t>r</a:t>
            </a:r>
            <a:r>
              <a:rPr lang="zh-CN" altLang="en-US" sz="2800">
                <a:latin typeface="宋体" panose="02010600030101010101" pitchFamily="2" charset="-122"/>
              </a:rPr>
              <a:t>重极点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baseline="-200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宋体" panose="02010600030101010101" pitchFamily="2" charset="-122"/>
              </a:rPr>
              <a:t>，其余极点均不同，则：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331913" y="2781300"/>
          <a:ext cx="53959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5" r:id="rId4" imgW="2692400" imgH="457200" progId="Equation.3">
                  <p:embed/>
                </p:oleObj>
              </mc:Choice>
              <mc:Fallback>
                <p:oleObj r:id="rId4" imgW="2692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81300"/>
                        <a:ext cx="53959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1219200" y="5272088"/>
            <a:ext cx="6780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式中，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r</a:t>
            </a:r>
            <a:r>
              <a:rPr lang="en-US" altLang="zh-CN" sz="2900" baseline="-20000">
                <a:latin typeface="Times New Roman" panose="02020603050405020304" pitchFamily="18" charset="0"/>
              </a:rPr>
              <a:t>+1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…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利用前面的方法求解。</a:t>
            </a:r>
          </a:p>
        </p:txBody>
      </p:sp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1371600" y="4049713"/>
          <a:ext cx="74676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r:id="rId6" imgW="3987800" imgH="431800" progId="Equation.3">
                  <p:embed/>
                </p:oleObj>
              </mc:Choice>
              <mc:Fallback>
                <p:oleObj r:id="rId6" imgW="39878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049713"/>
                        <a:ext cx="74676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471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B63DA2-2655-4383-93A6-68D0FBC74A1C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3789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AF1EB4-4353-41BD-9410-648ED880B34C}" type="slidenum">
              <a:rPr altLang="zh-CN" smtClean="0"/>
              <a:pPr/>
              <a:t>9</a:t>
            </a:fld>
            <a:endParaRPr lang="zh-CN" altLang="zh-CN" smtClean="0"/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/>
        </p:nvGraphicFramePr>
        <p:xfrm>
          <a:off x="1616075" y="792163"/>
          <a:ext cx="401320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0" r:id="rId4" imgW="1675673" imgH="266584" progId="Equation.3">
                  <p:embed/>
                </p:oleObj>
              </mc:Choice>
              <mc:Fallback>
                <p:oleObj r:id="rId4" imgW="1675673" imgH="26658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792163"/>
                        <a:ext cx="4013200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616075" y="1630363"/>
          <a:ext cx="4843463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1" r:id="rId6" imgW="2019300" imgH="469900" progId="Equation.3">
                  <p:embed/>
                </p:oleObj>
              </mc:Choice>
              <mc:Fallback>
                <p:oleObj r:id="rId6" imgW="20193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630363"/>
                        <a:ext cx="4843463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657350" y="2882900"/>
          <a:ext cx="5368925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2" r:id="rId8" imgW="2235200" imgH="520700" progId="Equation.3">
                  <p:embed/>
                </p:oleObj>
              </mc:Choice>
              <mc:Fallback>
                <p:oleObj r:id="rId8" imgW="2235200" imgH="520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2882900"/>
                        <a:ext cx="5368925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92275" y="4221163"/>
            <a:ext cx="6248400" cy="1871662"/>
            <a:chOff x="1104" y="2928"/>
            <a:chExt cx="3936" cy="1179"/>
          </a:xfrm>
        </p:grpSpPr>
        <p:graphicFrame>
          <p:nvGraphicFramePr>
            <p:cNvPr id="37896" name="Object 6"/>
            <p:cNvGraphicFramePr>
              <a:graphicFrameLocks noChangeAspect="1"/>
            </p:cNvGraphicFramePr>
            <p:nvPr/>
          </p:nvGraphicFramePr>
          <p:xfrm>
            <a:off x="1104" y="3312"/>
            <a:ext cx="3936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3" r:id="rId10" imgW="2603500" imgH="520700" progId="Equation.3">
                    <p:embed/>
                  </p:oleObj>
                </mc:Choice>
                <mc:Fallback>
                  <p:oleObj r:id="rId10" imgW="2603500" imgH="520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312"/>
                          <a:ext cx="3936" cy="7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7" name="Rectangle 7"/>
            <p:cNvSpPr>
              <a:spLocks noChangeArrowheads="1"/>
            </p:cNvSpPr>
            <p:nvPr/>
          </p:nvSpPr>
          <p:spPr bwMode="auto">
            <a:xfrm>
              <a:off x="1152" y="2928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……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73181A9-8BCE-47E6-B438-61F63DA7F81D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399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8B8479F-1054-4680-97A6-660E33F94FFA}" type="slidenum">
              <a:rPr altLang="zh-CN" smtClean="0"/>
              <a:pPr/>
              <a:t>10</a:t>
            </a:fld>
            <a:endParaRPr lang="zh-CN" altLang="zh-CN" smtClean="0"/>
          </a:p>
        </p:txBody>
      </p:sp>
      <p:grpSp>
        <p:nvGrpSpPr>
          <p:cNvPr id="88068" name="Group 2"/>
          <p:cNvGrpSpPr>
            <a:grpSpLocks/>
          </p:cNvGrpSpPr>
          <p:nvPr/>
        </p:nvGrpSpPr>
        <p:grpSpPr bwMode="auto">
          <a:xfrm>
            <a:off x="1346200" y="1693863"/>
            <a:ext cx="4222750" cy="1808162"/>
            <a:chOff x="764" y="720"/>
            <a:chExt cx="2464" cy="970"/>
          </a:xfrm>
        </p:grpSpPr>
        <p:graphicFrame>
          <p:nvGraphicFramePr>
            <p:cNvPr id="39945" name="Object 3"/>
            <p:cNvGraphicFramePr>
              <a:graphicFrameLocks noChangeAspect="1"/>
            </p:cNvGraphicFramePr>
            <p:nvPr/>
          </p:nvGraphicFramePr>
          <p:xfrm>
            <a:off x="1458" y="1113"/>
            <a:ext cx="1770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1" r:id="rId4" imgW="1397000" imgH="457200" progId="Equation.3">
                    <p:embed/>
                  </p:oleObj>
                </mc:Choice>
                <mc:Fallback>
                  <p:oleObj r:id="rId4" imgW="1397000" imgH="457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1113"/>
                          <a:ext cx="1770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6" name="Rectangle 4"/>
            <p:cNvSpPr>
              <a:spLocks noChangeArrowheads="1"/>
            </p:cNvSpPr>
            <p:nvPr/>
          </p:nvSpPr>
          <p:spPr bwMode="auto">
            <a:xfrm>
              <a:off x="764" y="720"/>
              <a:ext cx="216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注意到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zh-CN" altLang="en-US" sz="2800">
                  <a:latin typeface="Times New Roman" panose="02020603050405020304" pitchFamily="18" charset="0"/>
                </a:rPr>
                <a:t>查附录</a:t>
              </a:r>
              <a:r>
                <a:rPr lang="en-US" altLang="zh-CN" sz="2800">
                  <a:latin typeface="Times New Roman" panose="02020603050405020304" pitchFamily="18" charset="0"/>
                </a:rPr>
                <a:t>A</a:t>
              </a:r>
              <a:r>
                <a:rPr lang="zh-CN" altLang="en-US" sz="2800">
                  <a:latin typeface="Times New Roman" panose="02020603050405020304" pitchFamily="18" charset="0"/>
                </a:rPr>
                <a:t>）：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403350" y="3340100"/>
            <a:ext cx="7651750" cy="2933700"/>
            <a:chOff x="748" y="1968"/>
            <a:chExt cx="4820" cy="1848"/>
          </a:xfrm>
        </p:grpSpPr>
        <p:graphicFrame>
          <p:nvGraphicFramePr>
            <p:cNvPr id="39943" name="Object 6"/>
            <p:cNvGraphicFramePr>
              <a:graphicFrameLocks noChangeAspect="1"/>
            </p:cNvGraphicFramePr>
            <p:nvPr/>
          </p:nvGraphicFramePr>
          <p:xfrm>
            <a:off x="1175" y="2352"/>
            <a:ext cx="4393" cy="1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2" r:id="rId6" imgW="2882900" imgH="965200" progId="Equation.3">
                    <p:embed/>
                  </p:oleObj>
                </mc:Choice>
                <mc:Fallback>
                  <p:oleObj r:id="rId6" imgW="2882900" imgH="965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2352"/>
                          <a:ext cx="4393" cy="1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748" y="1968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所以：</a:t>
              </a:r>
            </a:p>
          </p:txBody>
        </p:sp>
      </p:grp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609600" y="274638"/>
          <a:ext cx="806132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r:id="rId8" imgW="4305300" imgH="431800" progId="Equation.3">
                  <p:embed/>
                </p:oleObj>
              </mc:Choice>
              <mc:Fallback>
                <p:oleObj r:id="rId8" imgW="43053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4638"/>
                        <a:ext cx="806132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A2E3B6-7C6D-4A56-9C50-13911BEFD7B1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4198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772957-0481-4294-AA57-4FD44610F146}" type="slidenum">
              <a:rPr altLang="zh-CN" smtClean="0"/>
              <a:pPr/>
              <a:t>11</a:t>
            </a:fld>
            <a:endParaRPr lang="zh-CN" altLang="zh-CN" smtClean="0"/>
          </a:p>
        </p:txBody>
      </p:sp>
      <p:grpSp>
        <p:nvGrpSpPr>
          <p:cNvPr id="41988" name="Group 2"/>
          <p:cNvGrpSpPr>
            <a:grpSpLocks/>
          </p:cNvGrpSpPr>
          <p:nvPr/>
        </p:nvGrpSpPr>
        <p:grpSpPr bwMode="auto">
          <a:xfrm>
            <a:off x="1116013" y="836613"/>
            <a:ext cx="5638800" cy="801687"/>
            <a:chOff x="576" y="808"/>
            <a:chExt cx="3552" cy="505"/>
          </a:xfrm>
        </p:grpSpPr>
        <p:sp>
          <p:nvSpPr>
            <p:cNvPr id="41994" name="Rectangle 3"/>
            <p:cNvSpPr>
              <a:spLocks noChangeArrowheads="1"/>
            </p:cNvSpPr>
            <p:nvPr/>
          </p:nvSpPr>
          <p:spPr bwMode="auto">
            <a:xfrm>
              <a:off x="576" y="834"/>
              <a:ext cx="2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例</a:t>
              </a:r>
              <a:r>
                <a:rPr lang="zh-CN" altLang="en-US" sz="2800">
                  <a:latin typeface="宋体" panose="02010600030101010101" pitchFamily="2" charset="-122"/>
                </a:rPr>
                <a:t>：求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995" name="Rectangle 4"/>
            <p:cNvSpPr>
              <a:spLocks noChangeArrowheads="1"/>
            </p:cNvSpPr>
            <p:nvPr/>
          </p:nvSpPr>
          <p:spPr bwMode="auto">
            <a:xfrm>
              <a:off x="2892" y="839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宋体" panose="02010600030101010101" pitchFamily="2" charset="-122"/>
                </a:rPr>
                <a:t>的原函数。</a:t>
              </a:r>
            </a:p>
          </p:txBody>
        </p:sp>
        <p:graphicFrame>
          <p:nvGraphicFramePr>
            <p:cNvPr id="41996" name="Object 5"/>
            <p:cNvGraphicFramePr>
              <a:graphicFrameLocks noChangeAspect="1"/>
            </p:cNvGraphicFramePr>
            <p:nvPr/>
          </p:nvGraphicFramePr>
          <p:xfrm>
            <a:off x="1336" y="808"/>
            <a:ext cx="1584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9" r:id="rId4" imgW="1548728" imgH="495085" progId="Equation.3">
                    <p:embed/>
                  </p:oleObj>
                </mc:Choice>
                <mc:Fallback>
                  <p:oleObj r:id="rId4" imgW="1548728" imgH="49508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808"/>
                          <a:ext cx="1584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16013" y="1844675"/>
            <a:ext cx="4495800" cy="849313"/>
            <a:chOff x="576" y="1248"/>
            <a:chExt cx="2832" cy="535"/>
          </a:xfrm>
        </p:grpSpPr>
        <p:sp>
          <p:nvSpPr>
            <p:cNvPr id="41992" name="Rectangle 7"/>
            <p:cNvSpPr>
              <a:spLocks noChangeArrowheads="1"/>
            </p:cNvSpPr>
            <p:nvPr/>
          </p:nvSpPr>
          <p:spPr bwMode="auto">
            <a:xfrm>
              <a:off x="576" y="1296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解</a:t>
              </a:r>
              <a:r>
                <a:rPr lang="zh-CN" altLang="en-US" sz="2800">
                  <a:latin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41993" name="Object 8"/>
            <p:cNvGraphicFramePr>
              <a:graphicFrameLocks noChangeAspect="1"/>
            </p:cNvGraphicFramePr>
            <p:nvPr/>
          </p:nvGraphicFramePr>
          <p:xfrm>
            <a:off x="1104" y="1248"/>
            <a:ext cx="2304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30" r:id="rId6" imgW="2133600" imgH="495300" progId="Equation.3">
                    <p:embed/>
                  </p:oleObj>
                </mc:Choice>
                <mc:Fallback>
                  <p:oleObj r:id="rId6" imgW="2133600" imgH="495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248"/>
                          <a:ext cx="2304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2030413" y="2867025"/>
          <a:ext cx="54102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r:id="rId8" imgW="3263900" imgH="533400" progId="Equation.3">
                  <p:embed/>
                </p:oleObj>
              </mc:Choice>
              <mc:Fallback>
                <p:oleObj r:id="rId8" imgW="3263900" imgH="533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2867025"/>
                        <a:ext cx="54102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2030413" y="3932238"/>
          <a:ext cx="614045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r:id="rId10" imgW="3124200" imgH="1193800" progId="Equation.3">
                  <p:embed/>
                </p:oleObj>
              </mc:Choice>
              <mc:Fallback>
                <p:oleObj r:id="rId10" imgW="3124200" imgH="1193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3932238"/>
                        <a:ext cx="6140450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F45D343-C53E-4AA7-B66F-283D70559C92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4403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DAB2BB-DC2C-4008-A56A-8F45B4E6885B}" type="slidenum">
              <a:rPr altLang="zh-CN" smtClean="0"/>
              <a:pPr/>
              <a:t>12</a:t>
            </a:fld>
            <a:endParaRPr lang="zh-CN" altLang="zh-CN" smtClean="0"/>
          </a:p>
        </p:txBody>
      </p:sp>
      <p:graphicFrame>
        <p:nvGraphicFramePr>
          <p:cNvPr id="44036" name="Object 2"/>
          <p:cNvGraphicFramePr>
            <a:graphicFrameLocks noChangeAspect="1"/>
          </p:cNvGraphicFramePr>
          <p:nvPr/>
        </p:nvGraphicFramePr>
        <p:xfrm>
          <a:off x="1871663" y="1828800"/>
          <a:ext cx="3505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5" r:id="rId4" imgW="1917700" imgH="279400" progId="Equation.3">
                  <p:embed/>
                </p:oleObj>
              </mc:Choice>
              <mc:Fallback>
                <p:oleObj r:id="rId4" imgW="1917700" imgH="279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828800"/>
                        <a:ext cx="35052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795463" y="2667000"/>
          <a:ext cx="36576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6" r:id="rId6" imgW="2120900" imgH="495300" progId="Equation.3">
                  <p:embed/>
                </p:oleObj>
              </mc:Choice>
              <mc:Fallback>
                <p:oleObj r:id="rId6" imgW="2120900" imgH="495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2667000"/>
                        <a:ext cx="36576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19263" y="3733800"/>
            <a:ext cx="5443537" cy="1905000"/>
            <a:chOff x="1083" y="2352"/>
            <a:chExt cx="3429" cy="1200"/>
          </a:xfrm>
        </p:grpSpPr>
        <p:graphicFrame>
          <p:nvGraphicFramePr>
            <p:cNvPr id="44039" name="Object 5"/>
            <p:cNvGraphicFramePr>
              <a:graphicFrameLocks noChangeAspect="1"/>
            </p:cNvGraphicFramePr>
            <p:nvPr/>
          </p:nvGraphicFramePr>
          <p:xfrm>
            <a:off x="1179" y="2831"/>
            <a:ext cx="3333" cy="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7" r:id="rId8" imgW="2209800" imgH="482600" progId="Equation.3">
                    <p:embed/>
                  </p:oleObj>
                </mc:Choice>
                <mc:Fallback>
                  <p:oleObj r:id="rId8" imgW="2209800" imgH="48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2831"/>
                          <a:ext cx="3333" cy="7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0" name="Rectangle 6"/>
            <p:cNvSpPr>
              <a:spLocks noChangeArrowheads="1"/>
            </p:cNvSpPr>
            <p:nvPr/>
          </p:nvSpPr>
          <p:spPr bwMode="auto">
            <a:xfrm>
              <a:off x="1083" y="2352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于是：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8DA34DA-95E0-4A71-801C-ACA4F6817652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460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DFE407F-FFCB-4931-8053-00F0C4726393}" type="slidenum">
              <a:rPr altLang="zh-CN" smtClean="0"/>
              <a:pPr/>
              <a:t>13</a:t>
            </a:fld>
            <a:endParaRPr lang="zh-CN" altLang="zh-CN" smtClean="0"/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900113" y="11255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i="1">
                <a:latin typeface="Times New Roman" panose="02020603050405020304" pitchFamily="18" charset="0"/>
              </a:rPr>
              <a:t> 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含有共轭复数极点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1371600" y="3073400"/>
          <a:ext cx="64008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6" r:id="rId4" imgW="3759200" imgH="495300" progId="Equation.3">
                  <p:embed/>
                </p:oleObj>
              </mc:Choice>
              <mc:Fallback>
                <p:oleObj r:id="rId4" imgW="3759200" imgH="495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73400"/>
                        <a:ext cx="640080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1371600" y="4767263"/>
          <a:ext cx="72390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7" r:id="rId6" imgW="4140200" imgH="292100" progId="Equation.3">
                  <p:embed/>
                </p:oleObj>
              </mc:Choice>
              <mc:Fallback>
                <p:oleObj r:id="rId6" imgW="4140200" imgH="29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67263"/>
                        <a:ext cx="72390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1219200" y="1924050"/>
            <a:ext cx="7391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假设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含有一对共轭复数极点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baseline="-20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baseline="-20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，其余极点均为各不相同的实数极点，则：</a:t>
            </a: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1219200" y="4002088"/>
            <a:ext cx="512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式中，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20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20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的值由下式求解：</a:t>
            </a: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1219200" y="5283200"/>
            <a:ext cx="7315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上式为复数方程，令方程两端实部、虚部分别相等即可确定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20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20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的值。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/>
      <p:bldP spid="55302" grpId="0"/>
      <p:bldP spid="5530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7D0B4A-FFAC-40F2-BEFF-2EF5B7282ED8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4813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7B61D5-CEEE-4F27-BD09-CD66C8FB9F8D}" type="slidenum">
              <a:rPr altLang="zh-CN" smtClean="0"/>
              <a:pPr/>
              <a:t>14</a:t>
            </a:fld>
            <a:endParaRPr lang="zh-CN" altLang="zh-CN" smtClean="0"/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419100" y="2303463"/>
          <a:ext cx="38258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7" r:id="rId4" imgW="1943100" imgH="431800" progId="Equation.DSMT4">
                  <p:embed/>
                </p:oleObj>
              </mc:Choice>
              <mc:Fallback>
                <p:oleObj r:id="rId4" imgW="19431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303463"/>
                        <a:ext cx="38258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4359275" y="2327275"/>
          <a:ext cx="27940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8" r:id="rId6" imgW="1397000" imgH="419100" progId="Equation.DSMT4">
                  <p:embed/>
                </p:oleObj>
              </mc:Choice>
              <mc:Fallback>
                <p:oleObj r:id="rId6" imgW="13970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2327275"/>
                        <a:ext cx="27940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310313" y="3367088"/>
            <a:ext cx="2232025" cy="1666875"/>
            <a:chOff x="3975" y="2121"/>
            <a:chExt cx="1406" cy="1050"/>
          </a:xfrm>
        </p:grpSpPr>
        <p:graphicFrame>
          <p:nvGraphicFramePr>
            <p:cNvPr id="48143" name="Object 5"/>
            <p:cNvGraphicFramePr>
              <a:graphicFrameLocks noChangeAspect="1"/>
            </p:cNvGraphicFramePr>
            <p:nvPr/>
          </p:nvGraphicFramePr>
          <p:xfrm>
            <a:off x="3975" y="2121"/>
            <a:ext cx="1406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19" r:id="rId8" imgW="1079032" imgH="393529" progId="Equation.3">
                    <p:embed/>
                  </p:oleObj>
                </mc:Choice>
                <mc:Fallback>
                  <p:oleObj r:id="rId8" imgW="1079032" imgH="39352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5" y="2121"/>
                          <a:ext cx="1406" cy="51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D130D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4" name="Object 6"/>
            <p:cNvGraphicFramePr>
              <a:graphicFrameLocks noChangeAspect="1"/>
            </p:cNvGraphicFramePr>
            <p:nvPr/>
          </p:nvGraphicFramePr>
          <p:xfrm>
            <a:off x="3975" y="2665"/>
            <a:ext cx="1400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0" r:id="rId10" imgW="1091726" imgH="393529" progId="Equation.3">
                    <p:embed/>
                  </p:oleObj>
                </mc:Choice>
                <mc:Fallback>
                  <p:oleObj r:id="rId10" imgW="1091726" imgH="39352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5" y="2665"/>
                          <a:ext cx="1400" cy="506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D130D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1196975" y="1660525"/>
          <a:ext cx="34575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1" r:id="rId12" imgW="1523339" imgH="215806" progId="Equation.3">
                  <p:embed/>
                </p:oleObj>
              </mc:Choice>
              <mc:Fallback>
                <p:oleObj r:id="rId12" imgW="1523339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1660525"/>
                        <a:ext cx="34575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477838" y="171608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Arial" panose="020B0604020202020204" pitchFamily="34" charset="0"/>
              </a:rPr>
              <a:t>设：</a:t>
            </a:r>
          </a:p>
        </p:txBody>
      </p:sp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622300" y="3654425"/>
          <a:ext cx="33528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2" r:id="rId14" imgW="1916868" imgH="622030" progId="Equation.DSMT4">
                  <p:embed/>
                </p:oleObj>
              </mc:Choice>
              <mc:Fallback>
                <p:oleObj r:id="rId14" imgW="1916868" imgH="62203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3654425"/>
                        <a:ext cx="33528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AutoShape 10"/>
          <p:cNvSpPr>
            <a:spLocks noChangeArrowheads="1"/>
          </p:cNvSpPr>
          <p:nvPr/>
        </p:nvSpPr>
        <p:spPr bwMode="auto">
          <a:xfrm>
            <a:off x="1612900" y="4873625"/>
            <a:ext cx="76200" cy="381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4412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736600" y="5426075"/>
          <a:ext cx="1625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3" r:id="rId16" imgW="799753" imgH="241195" progId="Equation.DSMT4">
                  <p:embed/>
                </p:oleObj>
              </mc:Choice>
              <mc:Fallback>
                <p:oleObj r:id="rId16" imgW="799753" imgH="24119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5426075"/>
                        <a:ext cx="1625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4" name="AutoShape 12"/>
          <p:cNvSpPr>
            <a:spLocks noChangeArrowheads="1"/>
          </p:cNvSpPr>
          <p:nvPr/>
        </p:nvSpPr>
        <p:spPr bwMode="auto">
          <a:xfrm>
            <a:off x="3517900" y="4873625"/>
            <a:ext cx="76200" cy="381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4412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2843213" y="5300663"/>
          <a:ext cx="2855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4" r:id="rId18" imgW="1308100" imgH="419100" progId="Equation.DSMT4">
                  <p:embed/>
                </p:oleObj>
              </mc:Choice>
              <mc:Fallback>
                <p:oleObj r:id="rId18" imgW="13081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300663"/>
                        <a:ext cx="2855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7" name="Object 15"/>
          <p:cNvGraphicFramePr>
            <a:graphicFrameLocks noChangeAspect="1"/>
          </p:cNvGraphicFramePr>
          <p:nvPr/>
        </p:nvGraphicFramePr>
        <p:xfrm>
          <a:off x="2451100" y="5483225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5" r:id="rId20" imgW="139700" imgH="139700" progId="Equation.3">
                  <p:embed/>
                </p:oleObj>
              </mc:Choice>
              <mc:Fallback>
                <p:oleObj r:id="rId20" imgW="139700" imgH="139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483225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" grpId="0" animBg="1"/>
      <p:bldP spid="542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D26FF5-8157-4953-B50D-8DDCBD2FC580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017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12B1BC5-8EE3-4871-B45B-2499DEEABD5B}" type="slidenum">
              <a:rPr altLang="zh-CN" smtClean="0"/>
              <a:pPr/>
              <a:t>15</a:t>
            </a:fld>
            <a:endParaRPr lang="zh-CN" altLang="zh-CN" smtClean="0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5003800" y="1052513"/>
          <a:ext cx="12239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6" r:id="rId4" imgW="494870" imgH="203024" progId="Equation.3">
                  <p:embed/>
                </p:oleObj>
              </mc:Choice>
              <mc:Fallback>
                <p:oleObj r:id="rId4" imgW="494870" imgH="2030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052513"/>
                        <a:ext cx="12239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Text Box 4"/>
          <p:cNvSpPr txBox="1">
            <a:spLocks noChangeArrowheads="1"/>
          </p:cNvSpPr>
          <p:nvPr/>
        </p:nvSpPr>
        <p:spPr bwMode="auto">
          <a:xfrm>
            <a:off x="395288" y="98107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Arial" panose="020B0604020202020204" pitchFamily="34" charset="0"/>
              </a:rPr>
              <a:t>例：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1403350" y="765175"/>
          <a:ext cx="28813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7" r:id="rId6" imgW="1473200" imgH="444500" progId="Equation.3">
                  <p:embed/>
                </p:oleObj>
              </mc:Choice>
              <mc:Fallback>
                <p:oleObj r:id="rId6" imgW="14732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765175"/>
                        <a:ext cx="28813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823913" y="2459038"/>
          <a:ext cx="2446337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8" r:id="rId8" imgW="1473200" imgH="444500" progId="Equation.3">
                  <p:embed/>
                </p:oleObj>
              </mc:Choice>
              <mc:Fallback>
                <p:oleObj r:id="rId8" imgW="14732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2459038"/>
                        <a:ext cx="2446337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3414713" y="2459038"/>
          <a:ext cx="365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9" r:id="rId9" imgW="2120900" imgH="419100" progId="Equation.3">
                  <p:embed/>
                </p:oleObj>
              </mc:Choice>
              <mc:Fallback>
                <p:oleObj r:id="rId9" imgW="21209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2459038"/>
                        <a:ext cx="3657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900113" y="3644900"/>
          <a:ext cx="6400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0" r:id="rId11" imgW="3873500" imgH="508000" progId="Equation.3">
                  <p:embed/>
                </p:oleObj>
              </mc:Choice>
              <mc:Fallback>
                <p:oleObj r:id="rId11" imgW="38735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644900"/>
                        <a:ext cx="6400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936625" y="4868863"/>
          <a:ext cx="4114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1" r:id="rId13" imgW="2451100" imgH="508000" progId="Equation.3">
                  <p:embed/>
                </p:oleObj>
              </mc:Choice>
              <mc:Fallback>
                <p:oleObj r:id="rId13" imgW="2451100" imgH="508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4868863"/>
                        <a:ext cx="41148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AutoShape 10"/>
          <p:cNvSpPr>
            <a:spLocks noChangeArrowheads="1"/>
          </p:cNvSpPr>
          <p:nvPr/>
        </p:nvSpPr>
        <p:spPr bwMode="auto">
          <a:xfrm>
            <a:off x="5091113" y="5278438"/>
            <a:ext cx="228600" cy="762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A4412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259" name="AutoShape 11"/>
          <p:cNvSpPr>
            <a:spLocks/>
          </p:cNvSpPr>
          <p:nvPr/>
        </p:nvSpPr>
        <p:spPr bwMode="auto">
          <a:xfrm>
            <a:off x="5400675" y="5084763"/>
            <a:ext cx="76200" cy="609600"/>
          </a:xfrm>
          <a:prstGeom prst="leftBrace">
            <a:avLst>
              <a:gd name="adj1" fmla="val 66519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3260" name="Object 12"/>
          <p:cNvGraphicFramePr>
            <a:graphicFrameLocks noChangeAspect="1"/>
          </p:cNvGraphicFramePr>
          <p:nvPr/>
        </p:nvGraphicFramePr>
        <p:xfrm>
          <a:off x="5624513" y="4821238"/>
          <a:ext cx="25146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2" r:id="rId15" imgW="1600200" imgH="228600" progId="Equation.3">
                  <p:embed/>
                </p:oleObj>
              </mc:Choice>
              <mc:Fallback>
                <p:oleObj r:id="rId15" imgW="16002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4821238"/>
                        <a:ext cx="25146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5929313" y="5373688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3" r:id="rId17" imgW="914400" imgH="228600" progId="Equation.3">
                  <p:embed/>
                </p:oleObj>
              </mc:Choice>
              <mc:Fallback>
                <p:oleObj r:id="rId17" imgW="914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5373688"/>
                        <a:ext cx="1524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395288" y="206057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Arial" panose="020B0604020202020204" pitchFamily="34" charset="0"/>
              </a:rPr>
              <a:t>解：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8" grpId="0" animBg="1"/>
      <p:bldP spid="53259" grpId="0" animBg="1"/>
      <p:bldP spid="532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706314-66F4-4FAC-A55A-B788D4DCA912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222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035395-0EAC-4784-A068-3546FAB6D12F}" type="slidenum">
              <a:rPr altLang="zh-CN" smtClean="0"/>
              <a:pPr/>
              <a:t>16</a:t>
            </a:fld>
            <a:endParaRPr lang="zh-CN" altLang="zh-CN" smtClean="0"/>
          </a:p>
        </p:txBody>
      </p:sp>
      <p:graphicFrame>
        <p:nvGraphicFramePr>
          <p:cNvPr id="52228" name="Object 3"/>
          <p:cNvGraphicFramePr>
            <a:graphicFrameLocks noChangeAspect="1"/>
          </p:cNvGraphicFramePr>
          <p:nvPr/>
        </p:nvGraphicFramePr>
        <p:xfrm>
          <a:off x="890588" y="1635125"/>
          <a:ext cx="30861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6" r:id="rId4" imgW="1905000" imgH="419100" progId="Equation.3">
                  <p:embed/>
                </p:oleObj>
              </mc:Choice>
              <mc:Fallback>
                <p:oleObj r:id="rId4" imgW="19050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1635125"/>
                        <a:ext cx="30861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4"/>
          <p:cNvSpPr>
            <a:spLocks noChangeShapeType="1"/>
          </p:cNvSpPr>
          <p:nvPr/>
        </p:nvSpPr>
        <p:spPr bwMode="auto">
          <a:xfrm>
            <a:off x="2719388" y="2397125"/>
            <a:ext cx="12192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AutoShape 5"/>
          <p:cNvSpPr>
            <a:spLocks noChangeArrowheads="1"/>
          </p:cNvSpPr>
          <p:nvPr/>
        </p:nvSpPr>
        <p:spPr bwMode="auto">
          <a:xfrm>
            <a:off x="3176588" y="2473325"/>
            <a:ext cx="76200" cy="304800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A4412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3100388" y="2778125"/>
          <a:ext cx="3035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7" r:id="rId6" imgW="1803400" imgH="419100" progId="Equation.3">
                  <p:embed/>
                </p:oleObj>
              </mc:Choice>
              <mc:Fallback>
                <p:oleObj r:id="rId6" imgW="18034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2778125"/>
                        <a:ext cx="30353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1042988" y="4149725"/>
          <a:ext cx="54102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8" r:id="rId8" imgW="3098800" imgH="228600" progId="Equation.3">
                  <p:embed/>
                </p:oleObj>
              </mc:Choice>
              <mc:Fallback>
                <p:oleObj r:id="rId8" imgW="3098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149725"/>
                        <a:ext cx="54102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6834188" y="4225925"/>
          <a:ext cx="685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9" r:id="rId10" imgW="418918" imgH="203112" progId="Equation.3">
                  <p:embed/>
                </p:oleObj>
              </mc:Choice>
              <mc:Fallback>
                <p:oleObj r:id="rId10" imgW="418918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4225925"/>
                        <a:ext cx="685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F13314C-7E02-4D56-8169-A5D589876D0B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427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35ECDF-0418-4DC3-A180-3D16EFDA233F}" type="slidenum">
              <a:rPr altLang="zh-CN" smtClean="0"/>
              <a:pPr/>
              <a:t>17</a:t>
            </a:fld>
            <a:endParaRPr lang="zh-CN" altLang="zh-CN" smtClean="0"/>
          </a:p>
        </p:txBody>
      </p:sp>
      <p:sp>
        <p:nvSpPr>
          <p:cNvPr id="54276" name="Rectangle 2"/>
          <p:cNvSpPr>
            <a:spLocks noChangeArrowheads="1"/>
          </p:cNvSpPr>
          <p:nvPr/>
        </p:nvSpPr>
        <p:spPr bwMode="auto">
          <a:xfrm>
            <a:off x="611188" y="1628775"/>
            <a:ext cx="5514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应用拉氏变换解线性微分方程  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143000" y="216058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求解步骤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295400" y="2784475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将微分方程通过拉氏变换变为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latin typeface="宋体" panose="02010600030101010101" pitchFamily="2" charset="-122"/>
              </a:rPr>
              <a:t>的代数方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程；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1295400" y="3863975"/>
            <a:ext cx="7162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解代数方程，得到有关变量的拉氏变换表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达式；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1331913" y="4941888"/>
            <a:ext cx="7488237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应用拉氏反变换，得到微分方程的时域解。 </a:t>
            </a:r>
          </a:p>
        </p:txBody>
      </p:sp>
      <p:sp>
        <p:nvSpPr>
          <p:cNvPr id="54281" name="Rectangle 2"/>
          <p:cNvSpPr>
            <a:spLocks noChangeArrowheads="1"/>
          </p:cNvSpPr>
          <p:nvPr/>
        </p:nvSpPr>
        <p:spPr bwMode="auto">
          <a:xfrm>
            <a:off x="539750" y="981075"/>
            <a:ext cx="5140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拉氏变换在控制工程中的应用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8" grpId="0"/>
      <p:bldP spid="41989" grpId="0"/>
      <p:bldP spid="4199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F7C3C3-10D8-4811-A27C-73058ED0C696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6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743308-9D57-461A-BC8D-C528E737D13E}" type="slidenum">
              <a:rPr altLang="zh-CN" smtClean="0"/>
              <a:pPr/>
              <a:t>18</a:t>
            </a:fld>
            <a:endParaRPr lang="zh-CN" altLang="zh-CN" smtClean="0"/>
          </a:p>
        </p:txBody>
      </p:sp>
      <p:grpSp>
        <p:nvGrpSpPr>
          <p:cNvPr id="56324" name="Group 2"/>
          <p:cNvGrpSpPr>
            <a:grpSpLocks/>
          </p:cNvGrpSpPr>
          <p:nvPr/>
        </p:nvGrpSpPr>
        <p:grpSpPr bwMode="auto">
          <a:xfrm>
            <a:off x="900113" y="1052513"/>
            <a:ext cx="7521575" cy="3144837"/>
            <a:chOff x="720" y="672"/>
            <a:chExt cx="4512" cy="1981"/>
          </a:xfrm>
        </p:grpSpPr>
        <p:sp>
          <p:nvSpPr>
            <p:cNvPr id="56327" name="Rectangle 3"/>
            <p:cNvSpPr>
              <a:spLocks noChangeArrowheads="1"/>
            </p:cNvSpPr>
            <p:nvPr/>
          </p:nvSpPr>
          <p:spPr bwMode="auto">
            <a:xfrm>
              <a:off x="720" y="672"/>
              <a:ext cx="28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Char char="Ø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宋体" panose="02010600030101010101" pitchFamily="2" charset="-122"/>
                </a:rPr>
                <a:t>实例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6328" name="Object 3"/>
            <p:cNvGraphicFramePr>
              <a:graphicFrameLocks noChangeAspect="1"/>
            </p:cNvGraphicFramePr>
            <p:nvPr/>
          </p:nvGraphicFramePr>
          <p:xfrm>
            <a:off x="1056" y="1392"/>
            <a:ext cx="2880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7" r:id="rId4" imgW="2438400" imgH="508000" progId="Equation.3">
                    <p:embed/>
                  </p:oleObj>
                </mc:Choice>
                <mc:Fallback>
                  <p:oleObj r:id="rId4" imgW="2438400" imgH="508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92"/>
                          <a:ext cx="2880" cy="5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9" name="Rectangle 5"/>
            <p:cNvSpPr>
              <a:spLocks noChangeArrowheads="1"/>
            </p:cNvSpPr>
            <p:nvPr/>
          </p:nvSpPr>
          <p:spPr bwMode="auto">
            <a:xfrm>
              <a:off x="940" y="1008"/>
              <a:ext cx="21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设系统微分方程为：</a:t>
              </a:r>
            </a:p>
          </p:txBody>
        </p:sp>
        <p:sp>
          <p:nvSpPr>
            <p:cNvPr id="56330" name="Rectangle 6"/>
            <p:cNvSpPr>
              <a:spLocks noChangeArrowheads="1"/>
            </p:cNvSpPr>
            <p:nvPr/>
          </p:nvSpPr>
          <p:spPr bwMode="auto">
            <a:xfrm>
              <a:off x="960" y="1977"/>
              <a:ext cx="4272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若</a:t>
              </a: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20000">
                  <a:latin typeface="Times New Roman" panose="02020603050405020304" pitchFamily="18" charset="0"/>
                </a:rPr>
                <a:t>i</a:t>
              </a:r>
              <a:r>
                <a:rPr lang="en-US" altLang="zh-CN" sz="2900" i="1" baseline="-30000">
                  <a:latin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r>
                <a:rPr lang="en-US" altLang="zh-CN" sz="2900" i="1" baseline="-30000">
                  <a:latin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</a:rPr>
                <a:t>=6</a:t>
              </a:r>
              <a:r>
                <a:rPr lang="zh-CN" altLang="en-US" sz="2800">
                  <a:latin typeface="Times New Roman" panose="02020603050405020304" pitchFamily="18" charset="0"/>
                </a:rPr>
                <a:t>，初始条件分别为</a:t>
              </a:r>
              <a:r>
                <a:rPr lang="en-US" altLang="zh-CN" sz="2800" i="1">
                  <a:latin typeface="Times New Roman" panose="02020603050405020304" pitchFamily="18" charset="0"/>
                </a:rPr>
                <a:t>x'</a:t>
              </a:r>
              <a:r>
                <a:rPr lang="en-US" altLang="zh-CN" sz="2900" i="1" baseline="-20000">
                  <a:latin typeface="Times New Roman" panose="02020603050405020304" pitchFamily="18" charset="0"/>
                </a:rPr>
                <a:t>o</a:t>
              </a:r>
              <a:r>
                <a:rPr lang="en-US" altLang="zh-CN" sz="2800">
                  <a:latin typeface="Times New Roman" panose="02020603050405020304" pitchFamily="18" charset="0"/>
                </a:rPr>
                <a:t>(0)=</a:t>
              </a: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20000">
                  <a:latin typeface="Times New Roman" panose="02020603050405020304" pitchFamily="18" charset="0"/>
                </a:rPr>
                <a:t>o</a:t>
              </a:r>
              <a:r>
                <a:rPr lang="en-US" altLang="zh-CN" sz="2800">
                  <a:latin typeface="Times New Roman" panose="02020603050405020304" pitchFamily="18" charset="0"/>
                </a:rPr>
                <a:t>(0)=2</a:t>
              </a:r>
              <a:r>
                <a:rPr lang="zh-CN" altLang="en-US" sz="2800">
                  <a:latin typeface="Times New Roman" panose="02020603050405020304" pitchFamily="18" charset="0"/>
                </a:rPr>
                <a:t>，试求</a:t>
              </a: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r>
                <a:rPr lang="en-US" altLang="zh-CN" sz="2900" i="1" baseline="-20000">
                  <a:latin typeface="Times New Roman" panose="02020603050405020304" pitchFamily="18" charset="0"/>
                </a:rPr>
                <a:t>o</a:t>
              </a:r>
              <a:r>
                <a:rPr lang="en-US" altLang="zh-CN" sz="2800">
                  <a:latin typeface="Times New Roman" panose="02020603050405020304" pitchFamily="18" charset="0"/>
                </a:rPr>
                <a:t>(t)</a:t>
              </a:r>
              <a:r>
                <a:rPr lang="zh-CN" altLang="en-US" sz="2800">
                  <a:latin typeface="Times New Roman" panose="02020603050405020304" pitchFamily="18" charset="0"/>
                </a:rPr>
                <a:t>。</a:t>
              </a:r>
            </a:p>
          </p:txBody>
        </p:sp>
      </p:grp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1739900" y="4573588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解</a:t>
            </a:r>
            <a:r>
              <a:rPr lang="zh-CN" altLang="en-US" sz="2800">
                <a:latin typeface="宋体" panose="02010600030101010101" pitchFamily="2" charset="-122"/>
              </a:rPr>
              <a:t>：对微分方程左边进行拉氏变换：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0968" name="Object 2"/>
          <p:cNvGraphicFramePr>
            <a:graphicFrameLocks noChangeAspect="1"/>
          </p:cNvGraphicFramePr>
          <p:nvPr/>
        </p:nvGraphicFramePr>
        <p:xfrm>
          <a:off x="2501900" y="5245100"/>
          <a:ext cx="51054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r:id="rId6" imgW="2781300" imgH="571500" progId="Equation.3">
                  <p:embed/>
                </p:oleObj>
              </mc:Choice>
              <mc:Fallback>
                <p:oleObj r:id="rId6" imgW="2781300" imgH="571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245100"/>
                        <a:ext cx="51054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908D7B-C5A0-4564-BB91-B04C09698154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583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E08661-1125-4DF2-A524-827F96DA51DB}" type="slidenum">
              <a:rPr altLang="zh-CN" smtClean="0"/>
              <a:pPr/>
              <a:t>19</a:t>
            </a:fld>
            <a:endParaRPr lang="zh-CN" altLang="zh-CN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63713" y="3933825"/>
            <a:ext cx="6261100" cy="2159000"/>
            <a:chOff x="960" y="2308"/>
            <a:chExt cx="3944" cy="1167"/>
          </a:xfrm>
        </p:grpSpPr>
        <p:graphicFrame>
          <p:nvGraphicFramePr>
            <p:cNvPr id="58375" name="Object 4"/>
            <p:cNvGraphicFramePr>
              <a:graphicFrameLocks noChangeAspect="1"/>
            </p:cNvGraphicFramePr>
            <p:nvPr/>
          </p:nvGraphicFramePr>
          <p:xfrm>
            <a:off x="1720" y="2308"/>
            <a:ext cx="3184" cy="1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01" r:id="rId4" imgW="2705100" imgH="990600" progId="Equation.3">
                    <p:embed/>
                  </p:oleObj>
                </mc:Choice>
                <mc:Fallback>
                  <p:oleObj r:id="rId4" imgW="2705100" imgH="990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0" y="2308"/>
                          <a:ext cx="3184" cy="1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6" name="Rectangle 4"/>
            <p:cNvSpPr>
              <a:spLocks noChangeArrowheads="1"/>
            </p:cNvSpPr>
            <p:nvPr/>
          </p:nvSpPr>
          <p:spPr bwMode="auto">
            <a:xfrm>
              <a:off x="960" y="2505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</p:grpSp>
      <p:graphicFrame>
        <p:nvGraphicFramePr>
          <p:cNvPr id="58373" name="Object 2"/>
          <p:cNvGraphicFramePr>
            <a:graphicFrameLocks noChangeAspect="1"/>
          </p:cNvGraphicFramePr>
          <p:nvPr/>
        </p:nvGraphicFramePr>
        <p:xfrm>
          <a:off x="2501900" y="1816100"/>
          <a:ext cx="40386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2" r:id="rId6" imgW="2234230" imgH="495085" progId="Equation.3">
                  <p:embed/>
                </p:oleObj>
              </mc:Choice>
              <mc:Fallback>
                <p:oleObj r:id="rId6" imgW="2234230" imgH="49508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1816100"/>
                        <a:ext cx="40386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78100" y="3105150"/>
          <a:ext cx="26670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3" r:id="rId8" imgW="1371600" imgH="241300" progId="Equation.3">
                  <p:embed/>
                </p:oleObj>
              </mc:Choice>
              <mc:Fallback>
                <p:oleObj r:id="rId8" imgW="1371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3105150"/>
                        <a:ext cx="26670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DFEE81-AC8F-40F3-8C54-4FA7ABA9E396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041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14343B3-A01E-4E7A-96A1-D180DF90DA14}" type="slidenum">
              <a:rPr altLang="zh-CN" smtClean="0"/>
              <a:pPr/>
              <a:t>20</a:t>
            </a:fld>
            <a:endParaRPr lang="zh-CN" altLang="zh-CN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268538" y="1844675"/>
          <a:ext cx="335438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0" r:id="rId4" imgW="1675673" imgH="393529" progId="Equation.3">
                  <p:embed/>
                </p:oleObj>
              </mc:Choice>
              <mc:Fallback>
                <p:oleObj r:id="rId4" imgW="1675673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844675"/>
                        <a:ext cx="3354387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059113" y="4222750"/>
          <a:ext cx="3408362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1" r:id="rId6" imgW="1637589" imgH="863225" progId="Equation.3">
                  <p:embed/>
                </p:oleObj>
              </mc:Choice>
              <mc:Fallback>
                <p:oleObj r:id="rId6" imgW="1637589" imgH="86322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222750"/>
                        <a:ext cx="3408362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4"/>
          <p:cNvSpPr>
            <a:spLocks noChangeArrowheads="1"/>
          </p:cNvSpPr>
          <p:nvPr/>
        </p:nvSpPr>
        <p:spPr bwMode="auto">
          <a:xfrm>
            <a:off x="1547813" y="1125538"/>
            <a:ext cx="4451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对方程右边进行拉氏变换：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92250" y="2667000"/>
            <a:ext cx="5381625" cy="1247775"/>
            <a:chOff x="940" y="1680"/>
            <a:chExt cx="3390" cy="786"/>
          </a:xfrm>
        </p:grpSpPr>
        <p:graphicFrame>
          <p:nvGraphicFramePr>
            <p:cNvPr id="60424" name="Object 4"/>
            <p:cNvGraphicFramePr>
              <a:graphicFrameLocks noChangeAspect="1"/>
            </p:cNvGraphicFramePr>
            <p:nvPr/>
          </p:nvGraphicFramePr>
          <p:xfrm>
            <a:off x="1861" y="2002"/>
            <a:ext cx="2469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2" r:id="rId8" imgW="2108200" imgH="393700" progId="Equation.3">
                    <p:embed/>
                  </p:oleObj>
                </mc:Choice>
                <mc:Fallback>
                  <p:oleObj r:id="rId8" imgW="2108200" imgH="393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1" y="2002"/>
                          <a:ext cx="2469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5" name="Rectangle 7"/>
            <p:cNvSpPr>
              <a:spLocks noChangeArrowheads="1"/>
            </p:cNvSpPr>
            <p:nvPr/>
          </p:nvSpPr>
          <p:spPr bwMode="auto">
            <a:xfrm>
              <a:off x="940" y="1680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从而：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3392B7-6F51-4DC7-B12C-76BC81461075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246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D8DB94-E907-4574-AFE2-4F202FAC294E}" type="slidenum">
              <a:rPr altLang="zh-CN" smtClean="0"/>
              <a:pPr/>
              <a:t>21</a:t>
            </a:fld>
            <a:endParaRPr lang="zh-CN" altLang="zh-CN" smtClean="0"/>
          </a:p>
        </p:txBody>
      </p:sp>
      <p:graphicFrame>
        <p:nvGraphicFramePr>
          <p:cNvPr id="62468" name="Object 2"/>
          <p:cNvGraphicFramePr>
            <a:graphicFrameLocks noChangeAspect="1"/>
          </p:cNvGraphicFramePr>
          <p:nvPr/>
        </p:nvGraphicFramePr>
        <p:xfrm>
          <a:off x="1908175" y="476250"/>
          <a:ext cx="4673600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5" r:id="rId4" imgW="1841500" imgH="508000" progId="Equation.3">
                  <p:embed/>
                </p:oleObj>
              </mc:Choice>
              <mc:Fallback>
                <p:oleObj r:id="rId4" imgW="18415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76250"/>
                        <a:ext cx="4673600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1835150" y="2276475"/>
          <a:ext cx="4716463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6" r:id="rId6" imgW="1968500" imgH="508000" progId="Equation.3">
                  <p:embed/>
                </p:oleObj>
              </mc:Choice>
              <mc:Fallback>
                <p:oleObj r:id="rId6" imgW="19685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276475"/>
                        <a:ext cx="4716463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1835150" y="4149725"/>
          <a:ext cx="4922838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7" r:id="rId8" imgW="2057400" imgH="508000" progId="Equation.3">
                  <p:embed/>
                </p:oleObj>
              </mc:Choice>
              <mc:Fallback>
                <p:oleObj r:id="rId8" imgW="20574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149725"/>
                        <a:ext cx="4922838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0AA8609-9531-4046-8058-35DFB64AFC6D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451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88A5E9-4397-4BDE-BB46-F336A51AFFF0}" type="slidenum">
              <a:rPr altLang="zh-CN" smtClean="0"/>
              <a:pPr/>
              <a:t>22</a:t>
            </a:fld>
            <a:endParaRPr lang="zh-CN" altLang="zh-CN" smtClean="0"/>
          </a:p>
        </p:txBody>
      </p:sp>
      <p:grpSp>
        <p:nvGrpSpPr>
          <p:cNvPr id="64516" name="Group 4"/>
          <p:cNvGrpSpPr>
            <a:grpSpLocks/>
          </p:cNvGrpSpPr>
          <p:nvPr/>
        </p:nvGrpSpPr>
        <p:grpSpPr bwMode="auto">
          <a:xfrm>
            <a:off x="1187450" y="1052513"/>
            <a:ext cx="5184775" cy="1584325"/>
            <a:chOff x="768" y="825"/>
            <a:chExt cx="3116" cy="839"/>
          </a:xfrm>
        </p:grpSpPr>
        <p:graphicFrame>
          <p:nvGraphicFramePr>
            <p:cNvPr id="64519" name="Object 4"/>
            <p:cNvGraphicFramePr>
              <a:graphicFrameLocks noChangeAspect="1"/>
            </p:cNvGraphicFramePr>
            <p:nvPr/>
          </p:nvGraphicFramePr>
          <p:xfrm>
            <a:off x="1882" y="1164"/>
            <a:ext cx="2002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37" r:id="rId4" imgW="1574800" imgH="393700" progId="Equation.3">
                    <p:embed/>
                  </p:oleObj>
                </mc:Choice>
                <mc:Fallback>
                  <p:oleObj r:id="rId4" imgW="1574800" imgH="393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164"/>
                          <a:ext cx="2002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0" name="Rectangle 6"/>
            <p:cNvSpPr>
              <a:spLocks noChangeArrowheads="1"/>
            </p:cNvSpPr>
            <p:nvPr/>
          </p:nvSpPr>
          <p:spPr bwMode="auto">
            <a:xfrm>
              <a:off x="768" y="825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所以：</a:t>
              </a:r>
            </a:p>
          </p:txBody>
        </p:sp>
      </p:grp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908175" y="3284538"/>
          <a:ext cx="5192713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8" r:id="rId6" imgW="2057400" imgH="241300" progId="Equation.3">
                  <p:embed/>
                </p:oleObj>
              </mc:Choice>
              <mc:Fallback>
                <p:oleObj r:id="rId6" imgW="20574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284538"/>
                        <a:ext cx="5192713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187450" y="4365625"/>
            <a:ext cx="64801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输出函数的解由两部分构成：稳态分量和瞬态分量。其中稳态分量可由终值定理校验。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CADD75-61B0-4BBE-A289-62F4BA744A07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656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CE387E4-52AC-437A-B359-D49D4105B73B}" type="slidenum">
              <a:rPr altLang="zh-CN" smtClean="0"/>
              <a:pPr/>
              <a:t>23</a:t>
            </a:fld>
            <a:endParaRPr lang="zh-CN" altLang="zh-CN" smtClean="0"/>
          </a:p>
        </p:txBody>
      </p:sp>
      <p:sp>
        <p:nvSpPr>
          <p:cNvPr id="66564" name="Rectangle 2"/>
          <p:cNvSpPr>
            <a:spLocks noChangeArrowheads="1"/>
          </p:cNvSpPr>
          <p:nvPr/>
        </p:nvSpPr>
        <p:spPr bwMode="auto">
          <a:xfrm>
            <a:off x="539750" y="981075"/>
            <a:ext cx="4973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应用拉氏变换求取传递函数</a:t>
            </a:r>
          </a:p>
        </p:txBody>
      </p:sp>
      <p:sp>
        <p:nvSpPr>
          <p:cNvPr id="66565" name="Rectangle 2"/>
          <p:cNvSpPr>
            <a:spLocks noChangeArrowheads="1"/>
          </p:cNvSpPr>
          <p:nvPr/>
        </p:nvSpPr>
        <p:spPr bwMode="auto">
          <a:xfrm>
            <a:off x="468313" y="333375"/>
            <a:ext cx="5140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拉氏变换在控制工程中的应用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42988" y="1628775"/>
            <a:ext cx="31638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传递函数的定义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971550" y="2205038"/>
            <a:ext cx="7327900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在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零初始条件</a:t>
            </a:r>
            <a:r>
              <a:rPr lang="zh-CN" altLang="en-US" sz="2800">
                <a:latin typeface="宋体" panose="02010600030101010101" pitchFamily="2" charset="-122"/>
              </a:rPr>
              <a:t>下，线性定常系统输出量</a:t>
            </a:r>
            <a:r>
              <a:rPr lang="en-US" altLang="zh-CN" sz="2800">
                <a:latin typeface="宋体" panose="02010600030101010101" pitchFamily="2" charset="-122"/>
              </a:rPr>
              <a:t>x</a:t>
            </a:r>
            <a:r>
              <a:rPr lang="en-US" altLang="zh-CN" sz="2800" baseline="-25000">
                <a:latin typeface="宋体" panose="02010600030101010101" pitchFamily="2" charset="-122"/>
              </a:rPr>
              <a:t>c</a:t>
            </a:r>
            <a:r>
              <a:rPr lang="en-US" altLang="zh-CN" sz="2800">
                <a:latin typeface="宋体" panose="02010600030101010101" pitchFamily="2" charset="-122"/>
              </a:rPr>
              <a:t>(t)</a:t>
            </a:r>
            <a:r>
              <a:rPr lang="zh-CN" altLang="en-US" sz="2800">
                <a:latin typeface="宋体" panose="02010600030101010101" pitchFamily="2" charset="-122"/>
              </a:rPr>
              <a:t>的拉氏变换与引起该输出的输入量</a:t>
            </a:r>
            <a:r>
              <a:rPr lang="en-US" altLang="zh-CN" sz="2800">
                <a:latin typeface="宋体" panose="02010600030101010101" pitchFamily="2" charset="-122"/>
              </a:rPr>
              <a:t>x</a:t>
            </a:r>
            <a:r>
              <a:rPr lang="en-US" altLang="zh-CN" sz="2800" baseline="-25000">
                <a:latin typeface="宋体" panose="02010600030101010101" pitchFamily="2" charset="-122"/>
              </a:rPr>
              <a:t>r</a:t>
            </a:r>
            <a:r>
              <a:rPr lang="en-US" altLang="zh-CN" sz="2800">
                <a:latin typeface="宋体" panose="02010600030101010101" pitchFamily="2" charset="-122"/>
              </a:rPr>
              <a:t>(t)</a:t>
            </a:r>
            <a:r>
              <a:rPr lang="zh-CN" altLang="en-US" sz="2800">
                <a:latin typeface="宋体" panose="02010600030101010101" pitchFamily="2" charset="-122"/>
              </a:rPr>
              <a:t>的拉氏变换之比。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8313" y="3789363"/>
            <a:ext cx="215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零初始条件</a:t>
            </a:r>
            <a:r>
              <a:rPr lang="en-US" altLang="zh-CN" sz="24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en-US" sz="2400" b="1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03300" y="4210050"/>
            <a:ext cx="6743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&lt;0</a:t>
            </a:r>
            <a:r>
              <a:rPr lang="zh-CN" altLang="en-US" sz="2800">
                <a:latin typeface="宋体" panose="02010600030101010101" pitchFamily="2" charset="-122"/>
              </a:rPr>
              <a:t>时，输入量及其各阶导数均为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003300" y="4743450"/>
            <a:ext cx="74549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输入量施加于系统之前，系统处于稳定的工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作状态，即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>
                <a:latin typeface="Times New Roman" panose="02020603050405020304" pitchFamily="18" charset="0"/>
              </a:rPr>
              <a:t> &lt; 0 </a:t>
            </a:r>
            <a:r>
              <a:rPr lang="zh-CN" altLang="en-US" sz="2800">
                <a:latin typeface="宋体" panose="02010600030101010101" pitchFamily="2" charset="-122"/>
              </a:rPr>
              <a:t>时，输出量及其各阶导数也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均为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zh-CN" altLang="en-US" sz="2800">
                <a:latin typeface="宋体" panose="02010600030101010101" pitchFamily="2" charset="-122"/>
              </a:rPr>
              <a:t>；</a:t>
            </a:r>
          </a:p>
        </p:txBody>
      </p:sp>
      <p:graphicFrame>
        <p:nvGraphicFramePr>
          <p:cNvPr id="226306" name="Object 2"/>
          <p:cNvGraphicFramePr>
            <a:graphicFrameLocks noChangeAspect="1"/>
          </p:cNvGraphicFramePr>
          <p:nvPr/>
        </p:nvGraphicFramePr>
        <p:xfrm>
          <a:off x="3228975" y="3297238"/>
          <a:ext cx="17494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0" r:id="rId3" imgW="863225" imgH="431613" progId="Equation.3">
                  <p:embed/>
                </p:oleObj>
              </mc:Choice>
              <mc:Fallback>
                <p:oleObj r:id="rId3" imgW="863225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3297238"/>
                        <a:ext cx="17494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CB8CD8-2083-4A80-A20D-1A9E20C7DF08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758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52B255F-EAEC-49A0-884C-D70FD287B4C7}" type="slidenum">
              <a:rPr altLang="zh-CN" smtClean="0"/>
              <a:pPr/>
              <a:t>24</a:t>
            </a:fld>
            <a:endParaRPr lang="zh-CN" altLang="zh-CN" smtClean="0"/>
          </a:p>
        </p:txBody>
      </p:sp>
      <p:sp>
        <p:nvSpPr>
          <p:cNvPr id="67588" name="文本框 5"/>
          <p:cNvSpPr txBox="1">
            <a:spLocks noChangeArrowheads="1"/>
          </p:cNvSpPr>
          <p:nvPr/>
        </p:nvSpPr>
        <p:spPr bwMode="auto">
          <a:xfrm>
            <a:off x="755650" y="2781300"/>
            <a:ext cx="45069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作业</a:t>
            </a:r>
            <a:r>
              <a:rPr lang="en-US" altLang="zh-CN" sz="2800"/>
              <a:t>P77</a:t>
            </a:r>
            <a:r>
              <a:rPr lang="zh-CN" altLang="en-US" sz="2800"/>
              <a:t>：</a:t>
            </a:r>
            <a:r>
              <a:rPr lang="en-US" altLang="zh-CN" sz="2800"/>
              <a:t>2-3: (2)(5)(8)</a:t>
            </a:r>
          </a:p>
          <a:p>
            <a:r>
              <a:rPr lang="en-US" altLang="zh-CN" sz="2800"/>
              <a:t>              2-4: (5)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3E8F1D-DF49-4F43-8130-476570D9DA82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686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9F3FFC-E630-491C-BC7E-E3E5C7C7E97F}" type="slidenum">
              <a:rPr altLang="zh-CN" smtClean="0"/>
              <a:pPr/>
              <a:t>25</a:t>
            </a:fld>
            <a:endParaRPr lang="zh-CN" altLang="zh-CN" smtClean="0"/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19081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数学模型</a:t>
            </a:r>
          </a:p>
        </p:txBody>
      </p:sp>
      <p:sp>
        <p:nvSpPr>
          <p:cNvPr id="68613" name="Rectangle 4"/>
          <p:cNvSpPr>
            <a:spLocks noChangeArrowheads="1"/>
          </p:cNvSpPr>
          <p:nvPr/>
        </p:nvSpPr>
        <p:spPr bwMode="auto">
          <a:xfrm>
            <a:off x="1981200" y="2209800"/>
            <a:ext cx="37750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2.2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拉氏变换和反变换</a:t>
            </a:r>
          </a:p>
        </p:txBody>
      </p:sp>
      <p:sp>
        <p:nvSpPr>
          <p:cNvPr id="68614" name="Rectangle 5"/>
          <p:cNvSpPr>
            <a:spLocks noChangeArrowheads="1"/>
          </p:cNvSpPr>
          <p:nvPr/>
        </p:nvSpPr>
        <p:spPr bwMode="auto">
          <a:xfrm>
            <a:off x="1981200" y="2757488"/>
            <a:ext cx="233838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2.3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传递函数</a:t>
            </a: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1981200" y="3967163"/>
            <a:ext cx="485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2.5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非线性数学模型的线性化</a:t>
            </a:r>
          </a:p>
        </p:txBody>
      </p:sp>
      <p:sp>
        <p:nvSpPr>
          <p:cNvPr id="68616" name="Rectangle 7"/>
          <p:cNvSpPr>
            <a:spLocks noChangeArrowheads="1"/>
          </p:cNvSpPr>
          <p:nvPr/>
        </p:nvSpPr>
        <p:spPr bwMode="auto">
          <a:xfrm>
            <a:off x="1979613" y="3330575"/>
            <a:ext cx="4494212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2.4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系统方框图和信号流图</a:t>
            </a:r>
          </a:p>
        </p:txBody>
      </p:sp>
      <p:sp>
        <p:nvSpPr>
          <p:cNvPr id="68617" name="Rectangle 8"/>
          <p:cNvSpPr>
            <a:spLocks noChangeArrowheads="1"/>
          </p:cNvSpPr>
          <p:nvPr/>
        </p:nvSpPr>
        <p:spPr bwMode="auto">
          <a:xfrm>
            <a:off x="1981200" y="4405313"/>
            <a:ext cx="5211763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2.6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控制系统传递函数推导举例</a:t>
            </a:r>
          </a:p>
        </p:txBody>
      </p:sp>
      <p:sp>
        <p:nvSpPr>
          <p:cNvPr id="68618" name="Rectangle 11"/>
          <p:cNvSpPr>
            <a:spLocks noChangeArrowheads="1"/>
          </p:cNvSpPr>
          <p:nvPr/>
        </p:nvSpPr>
        <p:spPr bwMode="auto">
          <a:xfrm>
            <a:off x="1981200" y="1676400"/>
            <a:ext cx="485298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2.1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控制系统的运动微分方程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E1FE59-064B-4553-B20E-3AC1983C20FC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7065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3323C3-99B9-49CD-91F1-9F6C237CDEF5}" type="slidenum">
              <a:rPr altLang="zh-CN" smtClean="0"/>
              <a:pPr/>
              <a:t>26</a:t>
            </a:fld>
            <a:endParaRPr lang="zh-CN" altLang="zh-CN" smtClean="0"/>
          </a:p>
        </p:txBody>
      </p:sp>
      <p:sp>
        <p:nvSpPr>
          <p:cNvPr id="70660" name="Rectangle 3"/>
          <p:cNvSpPr>
            <a:spLocks noChangeArrowheads="1"/>
          </p:cNvSpPr>
          <p:nvPr/>
        </p:nvSpPr>
        <p:spPr bwMode="auto">
          <a:xfrm>
            <a:off x="684213" y="908050"/>
            <a:ext cx="389255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宋体" panose="02010600030101010101" pitchFamily="2" charset="-122"/>
              </a:rPr>
              <a:t>传递函数的一般形式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900113" y="2347913"/>
          <a:ext cx="7343775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2" r:id="rId3" imgW="3860800" imgH="838200" progId="Equation.DSMT4">
                  <p:embed/>
                </p:oleObj>
              </mc:Choice>
              <mc:Fallback>
                <p:oleObj r:id="rId3" imgW="38608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7913"/>
                        <a:ext cx="7343775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1244600" y="5232400"/>
          <a:ext cx="70866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3" r:id="rId5" imgW="4076700" imgH="546100" progId="Equation.3">
                  <p:embed/>
                </p:oleObj>
              </mc:Choice>
              <mc:Fallback>
                <p:oleObj r:id="rId5" imgW="4076700" imgH="546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232400"/>
                        <a:ext cx="70866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092200" y="1679575"/>
            <a:ext cx="302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考虑线性定常系统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092200" y="4083050"/>
            <a:ext cx="69881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当初始条件全为零时，对上式进行拉氏变换可得系统传递函数的一般形式：</a:t>
            </a:r>
          </a:p>
        </p:txBody>
      </p:sp>
      <p:sp>
        <p:nvSpPr>
          <p:cNvPr id="70665" name="Text Box 2"/>
          <p:cNvSpPr txBox="1">
            <a:spLocks noChangeArrowheads="1"/>
          </p:cNvSpPr>
          <p:nvPr/>
        </p:nvSpPr>
        <p:spPr bwMode="auto">
          <a:xfrm>
            <a:off x="517525" y="211138"/>
            <a:ext cx="2249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传递函数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F46EB5B-7526-4950-A047-D1393EB5E37B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716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AB88016-D0F9-495C-8B36-D578F358F0AB}" type="slidenum">
              <a:rPr altLang="zh-CN" smtClean="0"/>
              <a:pPr/>
              <a:t>27</a:t>
            </a:fld>
            <a:endParaRPr lang="zh-CN" altLang="zh-CN" smtClean="0"/>
          </a:p>
        </p:txBody>
      </p:sp>
      <p:graphicFrame>
        <p:nvGraphicFramePr>
          <p:cNvPr id="71684" name="Object 3"/>
          <p:cNvGraphicFramePr>
            <a:graphicFrameLocks noChangeAspect="1"/>
          </p:cNvGraphicFramePr>
          <p:nvPr/>
        </p:nvGraphicFramePr>
        <p:xfrm>
          <a:off x="4572000" y="3657600"/>
          <a:ext cx="434340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2" r:id="rId4" imgW="2120900" imgH="1117600" progId="Equation.3">
                  <p:embed/>
                </p:oleObj>
              </mc:Choice>
              <mc:Fallback>
                <p:oleObj r:id="rId4" imgW="2120900" imgH="1117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57600"/>
                        <a:ext cx="4343400" cy="23431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685" name="Group 4"/>
          <p:cNvGrpSpPr>
            <a:grpSpLocks/>
          </p:cNvGrpSpPr>
          <p:nvPr/>
        </p:nvGrpSpPr>
        <p:grpSpPr bwMode="auto">
          <a:xfrm>
            <a:off x="304800" y="1828800"/>
            <a:ext cx="4427538" cy="4221163"/>
            <a:chOff x="192" y="1152"/>
            <a:chExt cx="2789" cy="2659"/>
          </a:xfrm>
        </p:grpSpPr>
        <p:sp>
          <p:nvSpPr>
            <p:cNvPr id="71688" name="Rectangle 5"/>
            <p:cNvSpPr>
              <a:spLocks noChangeArrowheads="1"/>
            </p:cNvSpPr>
            <p:nvPr/>
          </p:nvSpPr>
          <p:spPr bwMode="auto">
            <a:xfrm>
              <a:off x="385" y="1580"/>
              <a:ext cx="708" cy="46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1689" name="Freeform 6"/>
            <p:cNvSpPr>
              <a:spLocks noChangeArrowheads="1"/>
            </p:cNvSpPr>
            <p:nvPr/>
          </p:nvSpPr>
          <p:spPr bwMode="auto">
            <a:xfrm>
              <a:off x="503" y="2437"/>
              <a:ext cx="139" cy="468"/>
            </a:xfrm>
            <a:custGeom>
              <a:avLst/>
              <a:gdLst>
                <a:gd name="T0" fmla="*/ 15 w 208"/>
                <a:gd name="T1" fmla="*/ 0 h 576"/>
                <a:gd name="T2" fmla="*/ 2 w 208"/>
                <a:gd name="T3" fmla="*/ 17 h 576"/>
                <a:gd name="T4" fmla="*/ 27 w 208"/>
                <a:gd name="T5" fmla="*/ 51 h 576"/>
                <a:gd name="T6" fmla="*/ 2 w 208"/>
                <a:gd name="T7" fmla="*/ 68 h 576"/>
                <a:gd name="T8" fmla="*/ 27 w 208"/>
                <a:gd name="T9" fmla="*/ 102 h 576"/>
                <a:gd name="T10" fmla="*/ 2 w 208"/>
                <a:gd name="T11" fmla="*/ 119 h 576"/>
                <a:gd name="T12" fmla="*/ 27 w 208"/>
                <a:gd name="T13" fmla="*/ 154 h 576"/>
                <a:gd name="T14" fmla="*/ 2 w 208"/>
                <a:gd name="T15" fmla="*/ 171 h 576"/>
                <a:gd name="T16" fmla="*/ 15 w 208"/>
                <a:gd name="T17" fmla="*/ 204 h 5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8" h="576">
                  <a:moveTo>
                    <a:pt x="112" y="0"/>
                  </a:moveTo>
                  <a:cubicBezTo>
                    <a:pt x="56" y="12"/>
                    <a:pt x="0" y="24"/>
                    <a:pt x="16" y="48"/>
                  </a:cubicBezTo>
                  <a:cubicBezTo>
                    <a:pt x="32" y="72"/>
                    <a:pt x="208" y="120"/>
                    <a:pt x="208" y="144"/>
                  </a:cubicBezTo>
                  <a:cubicBezTo>
                    <a:pt x="208" y="168"/>
                    <a:pt x="16" y="168"/>
                    <a:pt x="16" y="192"/>
                  </a:cubicBezTo>
                  <a:cubicBezTo>
                    <a:pt x="16" y="216"/>
                    <a:pt x="208" y="264"/>
                    <a:pt x="208" y="288"/>
                  </a:cubicBezTo>
                  <a:cubicBezTo>
                    <a:pt x="208" y="312"/>
                    <a:pt x="16" y="312"/>
                    <a:pt x="16" y="336"/>
                  </a:cubicBezTo>
                  <a:cubicBezTo>
                    <a:pt x="16" y="360"/>
                    <a:pt x="208" y="408"/>
                    <a:pt x="208" y="432"/>
                  </a:cubicBezTo>
                  <a:cubicBezTo>
                    <a:pt x="208" y="456"/>
                    <a:pt x="32" y="456"/>
                    <a:pt x="16" y="480"/>
                  </a:cubicBezTo>
                  <a:cubicBezTo>
                    <a:pt x="0" y="504"/>
                    <a:pt x="56" y="540"/>
                    <a:pt x="112" y="576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0" name="Line 7"/>
            <p:cNvSpPr>
              <a:spLocks noChangeShapeType="1"/>
            </p:cNvSpPr>
            <p:nvPr/>
          </p:nvSpPr>
          <p:spPr bwMode="auto">
            <a:xfrm flipV="1">
              <a:off x="578" y="2048"/>
              <a:ext cx="0" cy="38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1" name="Line 8"/>
            <p:cNvSpPr>
              <a:spLocks noChangeShapeType="1"/>
            </p:cNvSpPr>
            <p:nvPr/>
          </p:nvSpPr>
          <p:spPr bwMode="auto">
            <a:xfrm>
              <a:off x="578" y="2905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2" name="Line 9"/>
            <p:cNvSpPr>
              <a:spLocks noChangeShapeType="1"/>
            </p:cNvSpPr>
            <p:nvPr/>
          </p:nvSpPr>
          <p:spPr bwMode="auto">
            <a:xfrm>
              <a:off x="867" y="2048"/>
              <a:ext cx="1" cy="66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Line 10"/>
            <p:cNvSpPr>
              <a:spLocks noChangeShapeType="1"/>
            </p:cNvSpPr>
            <p:nvPr/>
          </p:nvSpPr>
          <p:spPr bwMode="auto">
            <a:xfrm>
              <a:off x="803" y="2710"/>
              <a:ext cx="12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11"/>
            <p:cNvSpPr>
              <a:spLocks noChangeShapeType="1"/>
            </p:cNvSpPr>
            <p:nvPr/>
          </p:nvSpPr>
          <p:spPr bwMode="auto">
            <a:xfrm>
              <a:off x="771" y="2671"/>
              <a:ext cx="0" cy="11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2"/>
            <p:cNvSpPr>
              <a:spLocks noChangeShapeType="1"/>
            </p:cNvSpPr>
            <p:nvPr/>
          </p:nvSpPr>
          <p:spPr bwMode="auto">
            <a:xfrm>
              <a:off x="771" y="2788"/>
              <a:ext cx="19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13"/>
            <p:cNvSpPr>
              <a:spLocks noChangeShapeType="1"/>
            </p:cNvSpPr>
            <p:nvPr/>
          </p:nvSpPr>
          <p:spPr bwMode="auto">
            <a:xfrm>
              <a:off x="964" y="2671"/>
              <a:ext cx="0" cy="11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14"/>
            <p:cNvSpPr>
              <a:spLocks noChangeShapeType="1"/>
            </p:cNvSpPr>
            <p:nvPr/>
          </p:nvSpPr>
          <p:spPr bwMode="auto">
            <a:xfrm>
              <a:off x="867" y="2788"/>
              <a:ext cx="1" cy="46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Rectangle 15" descr="宽上对角线"/>
            <p:cNvSpPr>
              <a:spLocks noChangeArrowheads="1"/>
            </p:cNvSpPr>
            <p:nvPr/>
          </p:nvSpPr>
          <p:spPr bwMode="auto">
            <a:xfrm>
              <a:off x="288" y="3255"/>
              <a:ext cx="901" cy="156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699" name="Line 16"/>
            <p:cNvSpPr>
              <a:spLocks noChangeShapeType="1"/>
            </p:cNvSpPr>
            <p:nvPr/>
          </p:nvSpPr>
          <p:spPr bwMode="auto">
            <a:xfrm>
              <a:off x="288" y="3255"/>
              <a:ext cx="90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17"/>
            <p:cNvSpPr>
              <a:spLocks noChangeShapeType="1"/>
            </p:cNvSpPr>
            <p:nvPr/>
          </p:nvSpPr>
          <p:spPr bwMode="auto">
            <a:xfrm>
              <a:off x="739" y="1230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Rectangle 18"/>
            <p:cNvSpPr>
              <a:spLocks noChangeArrowheads="1"/>
            </p:cNvSpPr>
            <p:nvPr/>
          </p:nvSpPr>
          <p:spPr bwMode="auto">
            <a:xfrm>
              <a:off x="1629" y="1580"/>
              <a:ext cx="708" cy="46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1702" name="Rectangle 19" descr="宽上对角线"/>
            <p:cNvSpPr>
              <a:spLocks noChangeArrowheads="1"/>
            </p:cNvSpPr>
            <p:nvPr/>
          </p:nvSpPr>
          <p:spPr bwMode="auto">
            <a:xfrm>
              <a:off x="1532" y="3255"/>
              <a:ext cx="901" cy="156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03" name="Line 20"/>
            <p:cNvSpPr>
              <a:spLocks noChangeShapeType="1"/>
            </p:cNvSpPr>
            <p:nvPr/>
          </p:nvSpPr>
          <p:spPr bwMode="auto">
            <a:xfrm>
              <a:off x="1532" y="3255"/>
              <a:ext cx="90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21"/>
            <p:cNvSpPr>
              <a:spLocks noChangeShapeType="1"/>
            </p:cNvSpPr>
            <p:nvPr/>
          </p:nvSpPr>
          <p:spPr bwMode="auto">
            <a:xfrm flipH="1">
              <a:off x="1994" y="1230"/>
              <a:ext cx="0" cy="35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Line 22"/>
            <p:cNvSpPr>
              <a:spLocks noChangeShapeType="1"/>
            </p:cNvSpPr>
            <p:nvPr/>
          </p:nvSpPr>
          <p:spPr bwMode="auto">
            <a:xfrm>
              <a:off x="1093" y="2048"/>
              <a:ext cx="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23"/>
            <p:cNvSpPr>
              <a:spLocks noChangeShapeType="1"/>
            </p:cNvSpPr>
            <p:nvPr/>
          </p:nvSpPr>
          <p:spPr bwMode="auto">
            <a:xfrm>
              <a:off x="2337" y="2048"/>
              <a:ext cx="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Text Box 24"/>
            <p:cNvSpPr txBox="1">
              <a:spLocks noChangeArrowheads="1"/>
            </p:cNvSpPr>
            <p:nvPr/>
          </p:nvSpPr>
          <p:spPr bwMode="auto">
            <a:xfrm>
              <a:off x="796" y="1152"/>
              <a:ext cx="4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08" name="Text Box 25"/>
            <p:cNvSpPr txBox="1">
              <a:spLocks noChangeArrowheads="1"/>
            </p:cNvSpPr>
            <p:nvPr/>
          </p:nvSpPr>
          <p:spPr bwMode="auto">
            <a:xfrm>
              <a:off x="288" y="255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71709" name="Text Box 26"/>
            <p:cNvSpPr txBox="1">
              <a:spLocks noChangeArrowheads="1"/>
            </p:cNvSpPr>
            <p:nvPr/>
          </p:nvSpPr>
          <p:spPr bwMode="auto">
            <a:xfrm>
              <a:off x="962" y="259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1710" name="Line 27"/>
            <p:cNvSpPr>
              <a:spLocks noChangeShapeType="1"/>
            </p:cNvSpPr>
            <p:nvPr/>
          </p:nvSpPr>
          <p:spPr bwMode="auto">
            <a:xfrm>
              <a:off x="1221" y="2048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1" name="Text Box 28"/>
            <p:cNvSpPr txBox="1">
              <a:spLocks noChangeArrowheads="1"/>
            </p:cNvSpPr>
            <p:nvPr/>
          </p:nvSpPr>
          <p:spPr bwMode="auto">
            <a:xfrm>
              <a:off x="1092" y="2243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o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12" name="Text Box 29"/>
            <p:cNvSpPr txBox="1">
              <a:spLocks noChangeArrowheads="1"/>
            </p:cNvSpPr>
            <p:nvPr/>
          </p:nvSpPr>
          <p:spPr bwMode="auto">
            <a:xfrm>
              <a:off x="2006" y="1170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13" name="Line 30"/>
            <p:cNvSpPr>
              <a:spLocks noChangeShapeType="1"/>
            </p:cNvSpPr>
            <p:nvPr/>
          </p:nvSpPr>
          <p:spPr bwMode="auto">
            <a:xfrm>
              <a:off x="2481" y="2048"/>
              <a:ext cx="0" cy="2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Text Box 31"/>
            <p:cNvSpPr txBox="1">
              <a:spLocks noChangeArrowheads="1"/>
            </p:cNvSpPr>
            <p:nvPr/>
          </p:nvSpPr>
          <p:spPr bwMode="auto">
            <a:xfrm>
              <a:off x="2353" y="2243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o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15" name="Text Box 32"/>
            <p:cNvSpPr txBox="1">
              <a:spLocks noChangeArrowheads="1"/>
            </p:cNvSpPr>
            <p:nvPr/>
          </p:nvSpPr>
          <p:spPr bwMode="auto">
            <a:xfrm>
              <a:off x="1303" y="19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1716" name="Text Box 33"/>
            <p:cNvSpPr txBox="1">
              <a:spLocks noChangeArrowheads="1"/>
            </p:cNvSpPr>
            <p:nvPr/>
          </p:nvSpPr>
          <p:spPr bwMode="auto">
            <a:xfrm>
              <a:off x="2562" y="19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1717" name="Line 34"/>
            <p:cNvSpPr>
              <a:spLocks noChangeShapeType="1"/>
            </p:cNvSpPr>
            <p:nvPr/>
          </p:nvSpPr>
          <p:spPr bwMode="auto">
            <a:xfrm flipV="1">
              <a:off x="2433" y="1541"/>
              <a:ext cx="0" cy="3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Text Box 35"/>
            <p:cNvSpPr txBox="1">
              <a:spLocks noChangeArrowheads="1"/>
            </p:cNvSpPr>
            <p:nvPr/>
          </p:nvSpPr>
          <p:spPr bwMode="auto">
            <a:xfrm>
              <a:off x="2448" y="1584"/>
              <a:ext cx="5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19" name="Line 36"/>
            <p:cNvSpPr>
              <a:spLocks noChangeShapeType="1"/>
            </p:cNvSpPr>
            <p:nvPr/>
          </p:nvSpPr>
          <p:spPr bwMode="auto">
            <a:xfrm>
              <a:off x="1822" y="2048"/>
              <a:ext cx="0" cy="12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Line 37"/>
            <p:cNvSpPr>
              <a:spLocks noChangeShapeType="1"/>
            </p:cNvSpPr>
            <p:nvPr/>
          </p:nvSpPr>
          <p:spPr bwMode="auto">
            <a:xfrm>
              <a:off x="2112" y="2048"/>
              <a:ext cx="0" cy="12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1721" name="Text Box 38"/>
            <p:cNvSpPr txBox="1">
              <a:spLocks noChangeArrowheads="1"/>
            </p:cNvSpPr>
            <p:nvPr/>
          </p:nvSpPr>
          <p:spPr bwMode="auto">
            <a:xfrm>
              <a:off x="1584" y="2515"/>
              <a:ext cx="480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722" name="Text Box 39"/>
            <p:cNvSpPr txBox="1">
              <a:spLocks noChangeArrowheads="1"/>
            </p:cNvSpPr>
            <p:nvPr/>
          </p:nvSpPr>
          <p:spPr bwMode="auto">
            <a:xfrm>
              <a:off x="192" y="3523"/>
              <a:ext cx="2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机械平移系统及其力学模型</a:t>
              </a:r>
            </a:p>
          </p:txBody>
        </p:sp>
        <p:sp useBgFill="1">
          <p:nvSpPr>
            <p:cNvPr id="71723" name="Text Box 40"/>
            <p:cNvSpPr txBox="1">
              <a:spLocks noChangeArrowheads="1"/>
            </p:cNvSpPr>
            <p:nvPr/>
          </p:nvSpPr>
          <p:spPr bwMode="auto">
            <a:xfrm>
              <a:off x="1994" y="2515"/>
              <a:ext cx="502" cy="28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1686" name="AutoShape 41"/>
          <p:cNvSpPr>
            <a:spLocks/>
          </p:cNvSpPr>
          <p:nvPr/>
        </p:nvSpPr>
        <p:spPr bwMode="auto">
          <a:xfrm>
            <a:off x="4983163" y="2671763"/>
            <a:ext cx="3627437" cy="909637"/>
          </a:xfrm>
          <a:prstGeom prst="borderCallout2">
            <a:avLst>
              <a:gd name="adj1" fmla="val 12565"/>
              <a:gd name="adj2" fmla="val -2102"/>
              <a:gd name="adj3" fmla="val 12565"/>
              <a:gd name="adj4" fmla="val -7264"/>
              <a:gd name="adj5" fmla="val 64051"/>
              <a:gd name="adj6" fmla="val -26083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静止（平衡）工作点作为</a:t>
            </a:r>
          </a:p>
          <a:p>
            <a:pPr eaLnBrk="1" hangingPunct="1"/>
            <a:r>
              <a:rPr lang="zh-CN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零点，以消除重力的影响</a:t>
            </a:r>
          </a:p>
          <a:p>
            <a:pPr algn="ctr" eaLnBrk="1" hangingPunct="1"/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687" name="Rectangle 2"/>
          <p:cNvSpPr>
            <a:spLocks noChangeArrowheads="1"/>
          </p:cNvSpPr>
          <p:nvPr/>
        </p:nvSpPr>
        <p:spPr bwMode="auto">
          <a:xfrm>
            <a:off x="539750" y="981075"/>
            <a:ext cx="272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机械平移系统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835150" y="1773238"/>
          <a:ext cx="5334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9" r:id="rId4" imgW="2830871" imgH="507780" progId="Equation.3">
                  <p:embed/>
                </p:oleObj>
              </mc:Choice>
              <mc:Fallback>
                <p:oleObj r:id="rId4" imgW="2830871" imgH="5077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773238"/>
                        <a:ext cx="5334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1727200" y="3668713"/>
          <a:ext cx="4876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0" r:id="rId6" imgW="2755900" imgH="279400" progId="Equation.3">
                  <p:embed/>
                </p:oleObj>
              </mc:Choice>
              <mc:Fallback>
                <p:oleObj r:id="rId6" imgW="27559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3668713"/>
                        <a:ext cx="4876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1727200" y="4811713"/>
          <a:ext cx="38862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1" r:id="rId8" imgW="2159000" imgH="495300" progId="Equation.3">
                  <p:embed/>
                </p:oleObj>
              </mc:Choice>
              <mc:Fallback>
                <p:oleObj r:id="rId8" imgW="2159000" imgH="495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4811713"/>
                        <a:ext cx="38862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1619250" y="2997200"/>
            <a:ext cx="6584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所有初始条件均为零时，其拉氏变换为：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1593850" y="4202113"/>
            <a:ext cx="516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按照定义，系统的传递函数为：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6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37C7B0-3C50-4C6B-BBF0-46555C051406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7577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EF1505-2DDE-4671-B212-470D89BFD28E}" type="slidenum">
              <a:rPr altLang="zh-CN" smtClean="0"/>
              <a:pPr/>
              <a:t>29</a:t>
            </a:fld>
            <a:endParaRPr lang="zh-CN" altLang="zh-CN" smtClean="0"/>
          </a:p>
        </p:txBody>
      </p:sp>
      <p:sp>
        <p:nvSpPr>
          <p:cNvPr id="75780" name="Rectangle 2"/>
          <p:cNvSpPr>
            <a:spLocks noChangeArrowheads="1"/>
          </p:cNvSpPr>
          <p:nvPr/>
        </p:nvSpPr>
        <p:spPr bwMode="auto">
          <a:xfrm>
            <a:off x="1066800" y="928688"/>
            <a:ext cx="307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弹簧－阻尼系统</a:t>
            </a:r>
          </a:p>
        </p:txBody>
      </p:sp>
      <p:grpSp>
        <p:nvGrpSpPr>
          <p:cNvPr id="75781" name="Group 3"/>
          <p:cNvGrpSpPr>
            <a:grpSpLocks/>
          </p:cNvGrpSpPr>
          <p:nvPr/>
        </p:nvGrpSpPr>
        <p:grpSpPr bwMode="auto">
          <a:xfrm>
            <a:off x="1219200" y="1752600"/>
            <a:ext cx="2317750" cy="4267200"/>
            <a:chOff x="4032" y="768"/>
            <a:chExt cx="1460" cy="2688"/>
          </a:xfrm>
        </p:grpSpPr>
        <p:sp>
          <p:nvSpPr>
            <p:cNvPr id="75786" name="Freeform 4"/>
            <p:cNvSpPr>
              <a:spLocks noChangeArrowheads="1"/>
            </p:cNvSpPr>
            <p:nvPr/>
          </p:nvSpPr>
          <p:spPr bwMode="auto">
            <a:xfrm>
              <a:off x="4320" y="1824"/>
              <a:ext cx="208" cy="576"/>
            </a:xfrm>
            <a:custGeom>
              <a:avLst/>
              <a:gdLst>
                <a:gd name="T0" fmla="*/ 112 w 208"/>
                <a:gd name="T1" fmla="*/ 0 h 576"/>
                <a:gd name="T2" fmla="*/ 16 w 208"/>
                <a:gd name="T3" fmla="*/ 48 h 576"/>
                <a:gd name="T4" fmla="*/ 208 w 208"/>
                <a:gd name="T5" fmla="*/ 144 h 576"/>
                <a:gd name="T6" fmla="*/ 16 w 208"/>
                <a:gd name="T7" fmla="*/ 192 h 576"/>
                <a:gd name="T8" fmla="*/ 208 w 208"/>
                <a:gd name="T9" fmla="*/ 288 h 576"/>
                <a:gd name="T10" fmla="*/ 16 w 208"/>
                <a:gd name="T11" fmla="*/ 336 h 576"/>
                <a:gd name="T12" fmla="*/ 208 w 208"/>
                <a:gd name="T13" fmla="*/ 432 h 576"/>
                <a:gd name="T14" fmla="*/ 16 w 208"/>
                <a:gd name="T15" fmla="*/ 480 h 576"/>
                <a:gd name="T16" fmla="*/ 112 w 208"/>
                <a:gd name="T17" fmla="*/ 576 h 5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8" h="576">
                  <a:moveTo>
                    <a:pt x="112" y="0"/>
                  </a:moveTo>
                  <a:cubicBezTo>
                    <a:pt x="56" y="12"/>
                    <a:pt x="0" y="24"/>
                    <a:pt x="16" y="48"/>
                  </a:cubicBezTo>
                  <a:cubicBezTo>
                    <a:pt x="32" y="72"/>
                    <a:pt x="208" y="120"/>
                    <a:pt x="208" y="144"/>
                  </a:cubicBezTo>
                  <a:cubicBezTo>
                    <a:pt x="208" y="168"/>
                    <a:pt x="16" y="168"/>
                    <a:pt x="16" y="192"/>
                  </a:cubicBezTo>
                  <a:cubicBezTo>
                    <a:pt x="16" y="216"/>
                    <a:pt x="208" y="264"/>
                    <a:pt x="208" y="288"/>
                  </a:cubicBezTo>
                  <a:cubicBezTo>
                    <a:pt x="208" y="312"/>
                    <a:pt x="16" y="312"/>
                    <a:pt x="16" y="336"/>
                  </a:cubicBezTo>
                  <a:cubicBezTo>
                    <a:pt x="16" y="360"/>
                    <a:pt x="208" y="408"/>
                    <a:pt x="208" y="432"/>
                  </a:cubicBezTo>
                  <a:cubicBezTo>
                    <a:pt x="208" y="456"/>
                    <a:pt x="32" y="456"/>
                    <a:pt x="16" y="480"/>
                  </a:cubicBezTo>
                  <a:cubicBezTo>
                    <a:pt x="0" y="504"/>
                    <a:pt x="56" y="540"/>
                    <a:pt x="112" y="576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7" name="Line 5"/>
            <p:cNvSpPr>
              <a:spLocks noChangeShapeType="1"/>
            </p:cNvSpPr>
            <p:nvPr/>
          </p:nvSpPr>
          <p:spPr bwMode="auto">
            <a:xfrm flipV="1">
              <a:off x="4432" y="1344"/>
              <a:ext cx="1" cy="4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6"/>
            <p:cNvSpPr>
              <a:spLocks noChangeShapeType="1"/>
            </p:cNvSpPr>
            <p:nvPr/>
          </p:nvSpPr>
          <p:spPr bwMode="auto">
            <a:xfrm>
              <a:off x="4432" y="2400"/>
              <a:ext cx="1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Line 7"/>
            <p:cNvSpPr>
              <a:spLocks noChangeShapeType="1"/>
            </p:cNvSpPr>
            <p:nvPr/>
          </p:nvSpPr>
          <p:spPr bwMode="auto">
            <a:xfrm>
              <a:off x="4943" y="1344"/>
              <a:ext cx="1" cy="81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Line 8"/>
            <p:cNvSpPr>
              <a:spLocks noChangeShapeType="1"/>
            </p:cNvSpPr>
            <p:nvPr/>
          </p:nvSpPr>
          <p:spPr bwMode="auto">
            <a:xfrm>
              <a:off x="4847" y="2160"/>
              <a:ext cx="19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9"/>
            <p:cNvSpPr>
              <a:spLocks noChangeShapeType="1"/>
            </p:cNvSpPr>
            <p:nvPr/>
          </p:nvSpPr>
          <p:spPr bwMode="auto">
            <a:xfrm>
              <a:off x="4799" y="2112"/>
              <a:ext cx="1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10"/>
            <p:cNvSpPr>
              <a:spLocks noChangeShapeType="1"/>
            </p:cNvSpPr>
            <p:nvPr/>
          </p:nvSpPr>
          <p:spPr bwMode="auto">
            <a:xfrm>
              <a:off x="4799" y="2256"/>
              <a:ext cx="28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11"/>
            <p:cNvSpPr>
              <a:spLocks noChangeShapeType="1"/>
            </p:cNvSpPr>
            <p:nvPr/>
          </p:nvSpPr>
          <p:spPr bwMode="auto">
            <a:xfrm>
              <a:off x="5087" y="2112"/>
              <a:ext cx="1" cy="1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12"/>
            <p:cNvSpPr>
              <a:spLocks noChangeShapeType="1"/>
            </p:cNvSpPr>
            <p:nvPr/>
          </p:nvSpPr>
          <p:spPr bwMode="auto">
            <a:xfrm>
              <a:off x="4943" y="2256"/>
              <a:ext cx="1" cy="5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Line 13"/>
            <p:cNvSpPr>
              <a:spLocks noChangeShapeType="1"/>
            </p:cNvSpPr>
            <p:nvPr/>
          </p:nvSpPr>
          <p:spPr bwMode="auto">
            <a:xfrm>
              <a:off x="4416" y="1344"/>
              <a:ext cx="52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6" name="Line 14"/>
            <p:cNvSpPr>
              <a:spLocks noChangeShapeType="1"/>
            </p:cNvSpPr>
            <p:nvPr/>
          </p:nvSpPr>
          <p:spPr bwMode="auto">
            <a:xfrm>
              <a:off x="4944" y="134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7" name="Line 15"/>
            <p:cNvSpPr>
              <a:spLocks noChangeShapeType="1"/>
            </p:cNvSpPr>
            <p:nvPr/>
          </p:nvSpPr>
          <p:spPr bwMode="auto">
            <a:xfrm>
              <a:off x="5159" y="134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8" name="Text Box 16"/>
            <p:cNvSpPr txBox="1">
              <a:spLocks noChangeArrowheads="1"/>
            </p:cNvSpPr>
            <p:nvPr/>
          </p:nvSpPr>
          <p:spPr bwMode="auto">
            <a:xfrm>
              <a:off x="4967" y="1584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o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5799" name="Text Box 17"/>
            <p:cNvSpPr txBox="1">
              <a:spLocks noChangeArrowheads="1"/>
            </p:cNvSpPr>
            <p:nvPr/>
          </p:nvSpPr>
          <p:spPr bwMode="auto">
            <a:xfrm>
              <a:off x="5280" y="120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5800" name="Line 18"/>
            <p:cNvSpPr>
              <a:spLocks noChangeShapeType="1"/>
            </p:cNvSpPr>
            <p:nvPr/>
          </p:nvSpPr>
          <p:spPr bwMode="auto">
            <a:xfrm>
              <a:off x="4704" y="816"/>
              <a:ext cx="1" cy="52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1" name="Text Box 19"/>
            <p:cNvSpPr txBox="1">
              <a:spLocks noChangeArrowheads="1"/>
            </p:cNvSpPr>
            <p:nvPr/>
          </p:nvSpPr>
          <p:spPr bwMode="auto">
            <a:xfrm>
              <a:off x="4739" y="768"/>
              <a:ext cx="3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5802" name="Rectangle 20" descr="宽上对角线"/>
            <p:cNvSpPr>
              <a:spLocks noChangeArrowheads="1"/>
            </p:cNvSpPr>
            <p:nvPr/>
          </p:nvSpPr>
          <p:spPr bwMode="auto">
            <a:xfrm>
              <a:off x="4032" y="2832"/>
              <a:ext cx="1344" cy="192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803" name="Line 21"/>
            <p:cNvSpPr>
              <a:spLocks noChangeShapeType="1"/>
            </p:cNvSpPr>
            <p:nvPr/>
          </p:nvSpPr>
          <p:spPr bwMode="auto">
            <a:xfrm>
              <a:off x="4032" y="2832"/>
              <a:ext cx="134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4" name="Text Box 22"/>
            <p:cNvSpPr txBox="1">
              <a:spLocks noChangeArrowheads="1"/>
            </p:cNvSpPr>
            <p:nvPr/>
          </p:nvSpPr>
          <p:spPr bwMode="auto">
            <a:xfrm>
              <a:off x="4070" y="189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75805" name="Text Box 23"/>
            <p:cNvSpPr txBox="1">
              <a:spLocks noChangeArrowheads="1"/>
            </p:cNvSpPr>
            <p:nvPr/>
          </p:nvSpPr>
          <p:spPr bwMode="auto">
            <a:xfrm>
              <a:off x="5078" y="1994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5806" name="Text Box 24"/>
            <p:cNvSpPr txBox="1">
              <a:spLocks noChangeArrowheads="1"/>
            </p:cNvSpPr>
            <p:nvPr/>
          </p:nvSpPr>
          <p:spPr bwMode="auto">
            <a:xfrm>
              <a:off x="4044" y="3168"/>
              <a:ext cx="1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弹簧</a:t>
              </a: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  <a:r>
                <a:rPr lang="zh-CN" altLang="en-US" sz="2400">
                  <a:latin typeface="Times New Roman" panose="02020603050405020304" pitchFamily="18" charset="0"/>
                </a:rPr>
                <a:t>阻尼系统</a:t>
              </a:r>
            </a:p>
          </p:txBody>
        </p:sp>
      </p:grpSp>
      <p:sp>
        <p:nvSpPr>
          <p:cNvPr id="75782" name="Rectangle 25"/>
          <p:cNvSpPr>
            <a:spLocks noChangeArrowheads="1"/>
          </p:cNvSpPr>
          <p:nvPr/>
        </p:nvSpPr>
        <p:spPr bwMode="auto">
          <a:xfrm>
            <a:off x="3914775" y="3717925"/>
            <a:ext cx="4724400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系统运动方程为一阶常系数微分方程。这时系统的传递函数为：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5783" name="Object 26"/>
          <p:cNvGraphicFramePr>
            <a:graphicFrameLocks noChangeAspect="1"/>
          </p:cNvGraphicFramePr>
          <p:nvPr/>
        </p:nvGraphicFramePr>
        <p:xfrm>
          <a:off x="4067175" y="2574925"/>
          <a:ext cx="41148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1" r:id="rId5" imgW="1854200" imgH="444500" progId="Equation.3">
                  <p:embed/>
                </p:oleObj>
              </mc:Choice>
              <mc:Fallback>
                <p:oleObj r:id="rId5" imgW="1854200" imgH="4445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574925"/>
                        <a:ext cx="41148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27"/>
          <p:cNvGraphicFramePr>
            <a:graphicFrameLocks noChangeAspect="1"/>
          </p:cNvGraphicFramePr>
          <p:nvPr/>
        </p:nvGraphicFramePr>
        <p:xfrm>
          <a:off x="4067175" y="1844675"/>
          <a:ext cx="3657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2" r:id="rId7" imgW="1257300" imgH="228600" progId="Equation.3">
                  <p:embed/>
                </p:oleObj>
              </mc:Choice>
              <mc:Fallback>
                <p:oleObj r:id="rId7" imgW="12573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844675"/>
                        <a:ext cx="3657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4" name="Object 4"/>
          <p:cNvGraphicFramePr>
            <a:graphicFrameLocks noChangeAspect="1"/>
          </p:cNvGraphicFramePr>
          <p:nvPr/>
        </p:nvGraphicFramePr>
        <p:xfrm>
          <a:off x="5219700" y="5157788"/>
          <a:ext cx="283686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3" r:id="rId9" imgW="1511300" imgH="444500" progId="Equation.3">
                  <p:embed/>
                </p:oleObj>
              </mc:Choice>
              <mc:Fallback>
                <p:oleObj r:id="rId9" imgW="15113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157788"/>
                        <a:ext cx="283686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455436-F4D6-4E7F-9A74-B71A079386C5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7782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B57855-FEAD-4B9A-9489-EA98081DAD10}" type="slidenum">
              <a:rPr altLang="zh-CN" smtClean="0"/>
              <a:pPr/>
              <a:t>30</a:t>
            </a:fld>
            <a:endParaRPr lang="zh-CN" altLang="zh-CN" smtClean="0"/>
          </a:p>
        </p:txBody>
      </p:sp>
      <p:graphicFrame>
        <p:nvGraphicFramePr>
          <p:cNvPr id="77828" name="Object 2"/>
          <p:cNvGraphicFramePr>
            <a:graphicFrameLocks noChangeAspect="1"/>
          </p:cNvGraphicFramePr>
          <p:nvPr/>
        </p:nvGraphicFramePr>
        <p:xfrm>
          <a:off x="1692275" y="4149725"/>
          <a:ext cx="5132388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6" r:id="rId4" imgW="2514600" imgH="952500" progId="Equation.3">
                  <p:embed/>
                </p:oleObj>
              </mc:Choice>
              <mc:Fallback>
                <p:oleObj r:id="rId4" imgW="2514600" imgH="952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149725"/>
                        <a:ext cx="5132388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9" name="Rectangle 3"/>
          <p:cNvSpPr>
            <a:spLocks noChangeArrowheads="1"/>
          </p:cNvSpPr>
          <p:nvPr/>
        </p:nvSpPr>
        <p:spPr bwMode="auto">
          <a:xfrm>
            <a:off x="755650" y="1773238"/>
            <a:ext cx="3652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R-L-C</a:t>
            </a:r>
            <a:r>
              <a:rPr lang="zh-CN" altLang="en-US" sz="2800">
                <a:latin typeface="Times New Roman" panose="02020603050405020304" pitchFamily="18" charset="0"/>
              </a:rPr>
              <a:t>无源电路网络</a:t>
            </a:r>
          </a:p>
        </p:txBody>
      </p:sp>
      <p:grpSp>
        <p:nvGrpSpPr>
          <p:cNvPr id="77830" name="Group 5"/>
          <p:cNvGrpSpPr>
            <a:grpSpLocks/>
          </p:cNvGrpSpPr>
          <p:nvPr/>
        </p:nvGrpSpPr>
        <p:grpSpPr bwMode="auto">
          <a:xfrm>
            <a:off x="3419475" y="1844675"/>
            <a:ext cx="5422900" cy="2211388"/>
            <a:chOff x="950" y="817"/>
            <a:chExt cx="4117" cy="2194"/>
          </a:xfrm>
        </p:grpSpPr>
        <p:sp>
          <p:nvSpPr>
            <p:cNvPr id="77832" name="Oval 6"/>
            <p:cNvSpPr>
              <a:spLocks noChangeArrowheads="1"/>
            </p:cNvSpPr>
            <p:nvPr/>
          </p:nvSpPr>
          <p:spPr bwMode="auto">
            <a:xfrm>
              <a:off x="1044" y="1338"/>
              <a:ext cx="68" cy="62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33" name="Line 7"/>
            <p:cNvSpPr>
              <a:spLocks noChangeShapeType="1"/>
            </p:cNvSpPr>
            <p:nvPr/>
          </p:nvSpPr>
          <p:spPr bwMode="auto">
            <a:xfrm>
              <a:off x="1114" y="1376"/>
              <a:ext cx="82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4" name="Rectangle 8"/>
            <p:cNvSpPr>
              <a:spLocks noChangeArrowheads="1"/>
            </p:cNvSpPr>
            <p:nvPr/>
          </p:nvSpPr>
          <p:spPr bwMode="auto">
            <a:xfrm>
              <a:off x="3031" y="1316"/>
              <a:ext cx="665" cy="120"/>
            </a:xfrm>
            <a:prstGeom prst="rect">
              <a:avLst/>
            </a:prstGeom>
            <a:noFill/>
            <a:ln w="444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35" name="Freeform 9"/>
            <p:cNvSpPr>
              <a:spLocks noChangeArrowheads="1"/>
            </p:cNvSpPr>
            <p:nvPr/>
          </p:nvSpPr>
          <p:spPr bwMode="auto">
            <a:xfrm>
              <a:off x="1929" y="1277"/>
              <a:ext cx="163" cy="99"/>
            </a:xfrm>
            <a:custGeom>
              <a:avLst/>
              <a:gdLst>
                <a:gd name="T0" fmla="*/ 3 w 200"/>
                <a:gd name="T1" fmla="*/ 15 h 160"/>
                <a:gd name="T2" fmla="*/ 3 w 200"/>
                <a:gd name="T3" fmla="*/ 6 h 160"/>
                <a:gd name="T4" fmla="*/ 20 w 200"/>
                <a:gd name="T5" fmla="*/ 1 h 160"/>
                <a:gd name="T6" fmla="*/ 55 w 200"/>
                <a:gd name="T7" fmla="*/ 1 h 160"/>
                <a:gd name="T8" fmla="*/ 72 w 200"/>
                <a:gd name="T9" fmla="*/ 11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0">
                  <a:moveTo>
                    <a:pt x="8" y="160"/>
                  </a:moveTo>
                  <a:cubicBezTo>
                    <a:pt x="4" y="124"/>
                    <a:pt x="0" y="88"/>
                    <a:pt x="8" y="64"/>
                  </a:cubicBezTo>
                  <a:cubicBezTo>
                    <a:pt x="16" y="40"/>
                    <a:pt x="32" y="24"/>
                    <a:pt x="56" y="16"/>
                  </a:cubicBezTo>
                  <a:cubicBezTo>
                    <a:pt x="80" y="8"/>
                    <a:pt x="128" y="0"/>
                    <a:pt x="152" y="16"/>
                  </a:cubicBezTo>
                  <a:cubicBezTo>
                    <a:pt x="176" y="32"/>
                    <a:pt x="192" y="88"/>
                    <a:pt x="200" y="11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6" name="Freeform 10"/>
            <p:cNvSpPr>
              <a:spLocks noChangeArrowheads="1"/>
            </p:cNvSpPr>
            <p:nvPr/>
          </p:nvSpPr>
          <p:spPr bwMode="auto">
            <a:xfrm>
              <a:off x="2086" y="1277"/>
              <a:ext cx="163" cy="99"/>
            </a:xfrm>
            <a:custGeom>
              <a:avLst/>
              <a:gdLst>
                <a:gd name="T0" fmla="*/ 3 w 200"/>
                <a:gd name="T1" fmla="*/ 15 h 160"/>
                <a:gd name="T2" fmla="*/ 3 w 200"/>
                <a:gd name="T3" fmla="*/ 6 h 160"/>
                <a:gd name="T4" fmla="*/ 20 w 200"/>
                <a:gd name="T5" fmla="*/ 1 h 160"/>
                <a:gd name="T6" fmla="*/ 55 w 200"/>
                <a:gd name="T7" fmla="*/ 1 h 160"/>
                <a:gd name="T8" fmla="*/ 72 w 200"/>
                <a:gd name="T9" fmla="*/ 11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0">
                  <a:moveTo>
                    <a:pt x="8" y="160"/>
                  </a:moveTo>
                  <a:cubicBezTo>
                    <a:pt x="4" y="124"/>
                    <a:pt x="0" y="88"/>
                    <a:pt x="8" y="64"/>
                  </a:cubicBezTo>
                  <a:cubicBezTo>
                    <a:pt x="16" y="40"/>
                    <a:pt x="32" y="24"/>
                    <a:pt x="56" y="16"/>
                  </a:cubicBezTo>
                  <a:cubicBezTo>
                    <a:pt x="80" y="8"/>
                    <a:pt x="128" y="0"/>
                    <a:pt x="152" y="16"/>
                  </a:cubicBezTo>
                  <a:cubicBezTo>
                    <a:pt x="176" y="32"/>
                    <a:pt x="192" y="88"/>
                    <a:pt x="200" y="11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7" name="Freeform 11"/>
            <p:cNvSpPr>
              <a:spLocks noChangeArrowheads="1"/>
            </p:cNvSpPr>
            <p:nvPr/>
          </p:nvSpPr>
          <p:spPr bwMode="auto">
            <a:xfrm>
              <a:off x="2249" y="1277"/>
              <a:ext cx="163" cy="99"/>
            </a:xfrm>
            <a:custGeom>
              <a:avLst/>
              <a:gdLst>
                <a:gd name="T0" fmla="*/ 3 w 200"/>
                <a:gd name="T1" fmla="*/ 15 h 160"/>
                <a:gd name="T2" fmla="*/ 3 w 200"/>
                <a:gd name="T3" fmla="*/ 6 h 160"/>
                <a:gd name="T4" fmla="*/ 20 w 200"/>
                <a:gd name="T5" fmla="*/ 1 h 160"/>
                <a:gd name="T6" fmla="*/ 55 w 200"/>
                <a:gd name="T7" fmla="*/ 1 h 160"/>
                <a:gd name="T8" fmla="*/ 72 w 200"/>
                <a:gd name="T9" fmla="*/ 11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0">
                  <a:moveTo>
                    <a:pt x="8" y="160"/>
                  </a:moveTo>
                  <a:cubicBezTo>
                    <a:pt x="4" y="124"/>
                    <a:pt x="0" y="88"/>
                    <a:pt x="8" y="64"/>
                  </a:cubicBezTo>
                  <a:cubicBezTo>
                    <a:pt x="16" y="40"/>
                    <a:pt x="32" y="24"/>
                    <a:pt x="56" y="16"/>
                  </a:cubicBezTo>
                  <a:cubicBezTo>
                    <a:pt x="80" y="8"/>
                    <a:pt x="128" y="0"/>
                    <a:pt x="152" y="16"/>
                  </a:cubicBezTo>
                  <a:cubicBezTo>
                    <a:pt x="176" y="32"/>
                    <a:pt x="192" y="88"/>
                    <a:pt x="200" y="11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8" name="Freeform 12"/>
            <p:cNvSpPr>
              <a:spLocks noChangeArrowheads="1"/>
            </p:cNvSpPr>
            <p:nvPr/>
          </p:nvSpPr>
          <p:spPr bwMode="auto">
            <a:xfrm>
              <a:off x="2399" y="1277"/>
              <a:ext cx="163" cy="99"/>
            </a:xfrm>
            <a:custGeom>
              <a:avLst/>
              <a:gdLst>
                <a:gd name="T0" fmla="*/ 3 w 200"/>
                <a:gd name="T1" fmla="*/ 15 h 160"/>
                <a:gd name="T2" fmla="*/ 3 w 200"/>
                <a:gd name="T3" fmla="*/ 6 h 160"/>
                <a:gd name="T4" fmla="*/ 20 w 200"/>
                <a:gd name="T5" fmla="*/ 1 h 160"/>
                <a:gd name="T6" fmla="*/ 55 w 200"/>
                <a:gd name="T7" fmla="*/ 1 h 160"/>
                <a:gd name="T8" fmla="*/ 72 w 200"/>
                <a:gd name="T9" fmla="*/ 11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" h="160">
                  <a:moveTo>
                    <a:pt x="8" y="160"/>
                  </a:moveTo>
                  <a:cubicBezTo>
                    <a:pt x="4" y="124"/>
                    <a:pt x="0" y="88"/>
                    <a:pt x="8" y="64"/>
                  </a:cubicBezTo>
                  <a:cubicBezTo>
                    <a:pt x="16" y="40"/>
                    <a:pt x="32" y="24"/>
                    <a:pt x="56" y="16"/>
                  </a:cubicBezTo>
                  <a:cubicBezTo>
                    <a:pt x="80" y="8"/>
                    <a:pt x="128" y="0"/>
                    <a:pt x="152" y="16"/>
                  </a:cubicBezTo>
                  <a:cubicBezTo>
                    <a:pt x="176" y="32"/>
                    <a:pt x="192" y="88"/>
                    <a:pt x="200" y="11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9" name="Line 13"/>
            <p:cNvSpPr>
              <a:spLocks noChangeShapeType="1"/>
            </p:cNvSpPr>
            <p:nvPr/>
          </p:nvSpPr>
          <p:spPr bwMode="auto">
            <a:xfrm>
              <a:off x="2562" y="1346"/>
              <a:ext cx="0" cy="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Line 14"/>
            <p:cNvSpPr>
              <a:spLocks noChangeShapeType="1"/>
            </p:cNvSpPr>
            <p:nvPr/>
          </p:nvSpPr>
          <p:spPr bwMode="auto">
            <a:xfrm>
              <a:off x="2562" y="1376"/>
              <a:ext cx="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1" name="Line 15"/>
            <p:cNvSpPr>
              <a:spLocks noChangeShapeType="1"/>
            </p:cNvSpPr>
            <p:nvPr/>
          </p:nvSpPr>
          <p:spPr bwMode="auto">
            <a:xfrm>
              <a:off x="3696" y="1376"/>
              <a:ext cx="8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2" name="Oval 16"/>
            <p:cNvSpPr>
              <a:spLocks noChangeArrowheads="1"/>
            </p:cNvSpPr>
            <p:nvPr/>
          </p:nvSpPr>
          <p:spPr bwMode="auto">
            <a:xfrm>
              <a:off x="4556" y="1346"/>
              <a:ext cx="79" cy="60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43" name="Line 17"/>
            <p:cNvSpPr>
              <a:spLocks noChangeShapeType="1"/>
            </p:cNvSpPr>
            <p:nvPr/>
          </p:nvSpPr>
          <p:spPr bwMode="auto">
            <a:xfrm>
              <a:off x="3892" y="1885"/>
              <a:ext cx="234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4" name="Line 18"/>
            <p:cNvSpPr>
              <a:spLocks noChangeShapeType="1"/>
            </p:cNvSpPr>
            <p:nvPr/>
          </p:nvSpPr>
          <p:spPr bwMode="auto">
            <a:xfrm>
              <a:off x="3892" y="1945"/>
              <a:ext cx="234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5" name="Line 19"/>
            <p:cNvSpPr>
              <a:spLocks noChangeShapeType="1"/>
            </p:cNvSpPr>
            <p:nvPr/>
          </p:nvSpPr>
          <p:spPr bwMode="auto">
            <a:xfrm flipV="1">
              <a:off x="4009" y="1376"/>
              <a:ext cx="0" cy="5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6" name="Line 20"/>
            <p:cNvSpPr>
              <a:spLocks noChangeShapeType="1"/>
            </p:cNvSpPr>
            <p:nvPr/>
          </p:nvSpPr>
          <p:spPr bwMode="auto">
            <a:xfrm flipV="1">
              <a:off x="4009" y="1945"/>
              <a:ext cx="0" cy="5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7" name="Line 21"/>
            <p:cNvSpPr>
              <a:spLocks noChangeShapeType="1"/>
            </p:cNvSpPr>
            <p:nvPr/>
          </p:nvSpPr>
          <p:spPr bwMode="auto">
            <a:xfrm>
              <a:off x="1115" y="2454"/>
              <a:ext cx="34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8" name="Oval 22"/>
            <p:cNvSpPr>
              <a:spLocks noChangeArrowheads="1"/>
            </p:cNvSpPr>
            <p:nvPr/>
          </p:nvSpPr>
          <p:spPr bwMode="auto">
            <a:xfrm>
              <a:off x="4556" y="2424"/>
              <a:ext cx="79" cy="59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849" name="Text Box 23"/>
            <p:cNvSpPr txBox="1">
              <a:spLocks noChangeArrowheads="1"/>
            </p:cNvSpPr>
            <p:nvPr/>
          </p:nvSpPr>
          <p:spPr bwMode="auto">
            <a:xfrm>
              <a:off x="2153" y="817"/>
              <a:ext cx="305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77850" name="Text Box 24"/>
            <p:cNvSpPr txBox="1">
              <a:spLocks noChangeArrowheads="1"/>
            </p:cNvSpPr>
            <p:nvPr/>
          </p:nvSpPr>
          <p:spPr bwMode="auto">
            <a:xfrm>
              <a:off x="3247" y="889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7851" name="Text Box 25"/>
            <p:cNvSpPr txBox="1">
              <a:spLocks noChangeArrowheads="1"/>
            </p:cNvSpPr>
            <p:nvPr/>
          </p:nvSpPr>
          <p:spPr bwMode="auto">
            <a:xfrm>
              <a:off x="3623" y="1728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7852" name="Freeform 26"/>
            <p:cNvSpPr>
              <a:spLocks noChangeArrowheads="1"/>
            </p:cNvSpPr>
            <p:nvPr/>
          </p:nvSpPr>
          <p:spPr bwMode="auto">
            <a:xfrm>
              <a:off x="2047" y="1551"/>
              <a:ext cx="1519" cy="723"/>
            </a:xfrm>
            <a:custGeom>
              <a:avLst/>
              <a:gdLst>
                <a:gd name="T0" fmla="*/ 3 w 1864"/>
                <a:gd name="T1" fmla="*/ 1 h 1160"/>
                <a:gd name="T2" fmla="*/ 55 w 1864"/>
                <a:gd name="T3" fmla="*/ 1 h 1160"/>
                <a:gd name="T4" fmla="*/ 331 w 1864"/>
                <a:gd name="T5" fmla="*/ 6 h 1160"/>
                <a:gd name="T6" fmla="*/ 554 w 1864"/>
                <a:gd name="T7" fmla="*/ 19 h 1160"/>
                <a:gd name="T8" fmla="*/ 658 w 1864"/>
                <a:gd name="T9" fmla="*/ 69 h 1160"/>
                <a:gd name="T10" fmla="*/ 624 w 1864"/>
                <a:gd name="T11" fmla="*/ 109 h 11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64" h="1160">
                  <a:moveTo>
                    <a:pt x="8" y="8"/>
                  </a:moveTo>
                  <a:cubicBezTo>
                    <a:pt x="4" y="4"/>
                    <a:pt x="0" y="0"/>
                    <a:pt x="152" y="8"/>
                  </a:cubicBezTo>
                  <a:cubicBezTo>
                    <a:pt x="304" y="16"/>
                    <a:pt x="688" y="24"/>
                    <a:pt x="920" y="56"/>
                  </a:cubicBezTo>
                  <a:cubicBezTo>
                    <a:pt x="1152" y="88"/>
                    <a:pt x="1392" y="88"/>
                    <a:pt x="1544" y="200"/>
                  </a:cubicBezTo>
                  <a:cubicBezTo>
                    <a:pt x="1696" y="312"/>
                    <a:pt x="1800" y="568"/>
                    <a:pt x="1832" y="728"/>
                  </a:cubicBezTo>
                  <a:cubicBezTo>
                    <a:pt x="1864" y="888"/>
                    <a:pt x="1800" y="1024"/>
                    <a:pt x="1736" y="116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3" name="Text Box 27"/>
            <p:cNvSpPr txBox="1">
              <a:spLocks noChangeArrowheads="1"/>
            </p:cNvSpPr>
            <p:nvPr/>
          </p:nvSpPr>
          <p:spPr bwMode="auto">
            <a:xfrm>
              <a:off x="950" y="1674"/>
              <a:ext cx="68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9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7854" name="Text Box 28"/>
            <p:cNvSpPr txBox="1">
              <a:spLocks noChangeArrowheads="1"/>
            </p:cNvSpPr>
            <p:nvPr/>
          </p:nvSpPr>
          <p:spPr bwMode="auto">
            <a:xfrm>
              <a:off x="4340" y="1746"/>
              <a:ext cx="7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900" b="1" i="1" baseline="-25000">
                  <a:latin typeface="Times New Roman" panose="02020603050405020304" pitchFamily="18" charset="0"/>
                </a:rPr>
                <a:t>o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7855" name="Text Box 29"/>
            <p:cNvSpPr txBox="1">
              <a:spLocks noChangeArrowheads="1"/>
            </p:cNvSpPr>
            <p:nvPr/>
          </p:nvSpPr>
          <p:spPr bwMode="auto">
            <a:xfrm>
              <a:off x="2973" y="1824"/>
              <a:ext cx="508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7856" name="Text Box 30"/>
            <p:cNvSpPr txBox="1">
              <a:spLocks noChangeArrowheads="1"/>
            </p:cNvSpPr>
            <p:nvPr/>
          </p:nvSpPr>
          <p:spPr bwMode="auto">
            <a:xfrm>
              <a:off x="2132" y="2553"/>
              <a:ext cx="2152" cy="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R-L-C</a:t>
              </a:r>
              <a:r>
                <a:rPr lang="zh-CN" altLang="en-US" sz="2400">
                  <a:latin typeface="Times New Roman" panose="02020603050405020304" pitchFamily="18" charset="0"/>
                </a:rPr>
                <a:t>无源电路网络</a:t>
              </a:r>
            </a:p>
          </p:txBody>
        </p:sp>
        <p:sp>
          <p:nvSpPr>
            <p:cNvPr id="77857" name="Oval 31"/>
            <p:cNvSpPr>
              <a:spLocks noChangeArrowheads="1"/>
            </p:cNvSpPr>
            <p:nvPr/>
          </p:nvSpPr>
          <p:spPr bwMode="auto">
            <a:xfrm>
              <a:off x="1056" y="2432"/>
              <a:ext cx="68" cy="62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7831" name="Text Box 2"/>
          <p:cNvSpPr txBox="1">
            <a:spLocks noChangeArrowheads="1"/>
          </p:cNvSpPr>
          <p:nvPr/>
        </p:nvSpPr>
        <p:spPr bwMode="auto">
          <a:xfrm>
            <a:off x="684213" y="981075"/>
            <a:ext cx="4419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电气系统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9DA10D-F5C0-4223-AD05-D7CA8127CA1F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7987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6B90C58-26DF-470C-94E6-1303AEF14CF5}" type="slidenum">
              <a:rPr altLang="zh-CN" smtClean="0"/>
              <a:pPr/>
              <a:t>31</a:t>
            </a:fld>
            <a:endParaRPr lang="zh-CN" altLang="zh-CN" smtClean="0"/>
          </a:p>
        </p:txBody>
      </p:sp>
      <p:sp>
        <p:nvSpPr>
          <p:cNvPr id="79876" name="Rectangle 2"/>
          <p:cNvSpPr>
            <a:spLocks noChangeArrowheads="1"/>
          </p:cNvSpPr>
          <p:nvPr/>
        </p:nvSpPr>
        <p:spPr bwMode="auto">
          <a:xfrm>
            <a:off x="395288" y="1628775"/>
            <a:ext cx="831056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一般</a:t>
            </a:r>
            <a:r>
              <a:rPr lang="en-US" altLang="zh-CN" sz="2800" i="1">
                <a:latin typeface="Times New Roman" panose="02020603050405020304" pitchFamily="18" charset="0"/>
              </a:rPr>
              <a:t>R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  <a:r>
              <a:rPr lang="zh-CN" altLang="en-US" sz="2800">
                <a:latin typeface="宋体" panose="02010600030101010101" pitchFamily="2" charset="-122"/>
              </a:rPr>
              <a:t>均为常数，上式为二阶常系数微分方程。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9877" name="Object 3"/>
          <p:cNvGraphicFramePr>
            <a:graphicFrameLocks noChangeAspect="1"/>
          </p:cNvGraphicFramePr>
          <p:nvPr/>
        </p:nvGraphicFramePr>
        <p:xfrm>
          <a:off x="1187450" y="549275"/>
          <a:ext cx="54864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4" r:id="rId4" imgW="2870200" imgH="469900" progId="Equation.3">
                  <p:embed/>
                </p:oleObj>
              </mc:Choice>
              <mc:Fallback>
                <p:oleObj r:id="rId4" imgW="28702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9275"/>
                        <a:ext cx="54864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116013" y="4724400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若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宋体" panose="02010600030101010101" pitchFamily="2" charset="-122"/>
              </a:rPr>
              <a:t>=0</a:t>
            </a:r>
            <a:r>
              <a:rPr lang="zh-CN" altLang="en-US" sz="2800">
                <a:latin typeface="宋体" panose="02010600030101010101" pitchFamily="2" charset="-122"/>
              </a:rPr>
              <a:t>，则系统简化为：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763713" y="5300663"/>
          <a:ext cx="3059112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5" r:id="rId6" imgW="1600200" imgH="393700" progId="Equation.3">
                  <p:embed/>
                </p:oleObj>
              </mc:Choice>
              <mc:Fallback>
                <p:oleObj r:id="rId6" imgW="16002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300663"/>
                        <a:ext cx="3059112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792163" y="3097213"/>
          <a:ext cx="51054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6" r:id="rId8" imgW="2857500" imgH="279400" progId="Equation.3">
                  <p:embed/>
                </p:oleObj>
              </mc:Choice>
              <mc:Fallback>
                <p:oleObj r:id="rId8" imgW="28575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097213"/>
                        <a:ext cx="51054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868363" y="3802063"/>
          <a:ext cx="41148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7" r:id="rId10" imgW="2273300" imgH="495300" progId="Equation.3">
                  <p:embed/>
                </p:oleObj>
              </mc:Choice>
              <mc:Fallback>
                <p:oleObj r:id="rId10" imgW="2273300" imgH="495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3802063"/>
                        <a:ext cx="41148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84213" y="2349500"/>
            <a:ext cx="6584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所有初始条件均为零时，其拉氏变换为：</a:t>
            </a:r>
          </a:p>
        </p:txBody>
      </p:sp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5364163" y="5229225"/>
          <a:ext cx="2962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8" r:id="rId12" imgW="1524000" imgH="444500" progId="Equation.3">
                  <p:embed/>
                </p:oleObj>
              </mc:Choice>
              <mc:Fallback>
                <p:oleObj r:id="rId12" imgW="15240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29225"/>
                        <a:ext cx="2962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5AB7B6-62F8-40F1-B2A8-29331E32365A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81923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5950C9-BDD2-4528-A187-FC02E98F58D5}" type="slidenum">
              <a:rPr altLang="zh-CN" smtClean="0"/>
              <a:pPr/>
              <a:t>32</a:t>
            </a:fld>
            <a:endParaRPr lang="zh-CN" altLang="zh-CN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68413" y="1957388"/>
            <a:ext cx="5715000" cy="1190625"/>
            <a:chOff x="816" y="1209"/>
            <a:chExt cx="3600" cy="750"/>
          </a:xfrm>
        </p:grpSpPr>
        <p:graphicFrame>
          <p:nvGraphicFramePr>
            <p:cNvPr id="81930" name="Object 4"/>
            <p:cNvGraphicFramePr>
              <a:graphicFrameLocks noChangeAspect="1"/>
            </p:cNvGraphicFramePr>
            <p:nvPr/>
          </p:nvGraphicFramePr>
          <p:xfrm>
            <a:off x="1296" y="1248"/>
            <a:ext cx="312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7" r:id="rId3" imgW="2755900" imgH="279400" progId="Equation.3">
                    <p:embed/>
                  </p:oleObj>
                </mc:Choice>
                <mc:Fallback>
                  <p:oleObj r:id="rId3" imgW="2755900" imgH="279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248"/>
                          <a:ext cx="3120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1" name="Object 11"/>
            <p:cNvGraphicFramePr>
              <a:graphicFrameLocks noChangeAspect="1"/>
            </p:cNvGraphicFramePr>
            <p:nvPr/>
          </p:nvGraphicFramePr>
          <p:xfrm>
            <a:off x="1296" y="1632"/>
            <a:ext cx="312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8" r:id="rId5" imgW="2679700" imgH="279400" progId="Equation.3">
                    <p:embed/>
                  </p:oleObj>
                </mc:Choice>
                <mc:Fallback>
                  <p:oleObj r:id="rId5" imgW="2679700" imgH="2794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632"/>
                          <a:ext cx="312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2" name="Rectangle 6"/>
            <p:cNvSpPr>
              <a:spLocks noChangeArrowheads="1"/>
            </p:cNvSpPr>
            <p:nvPr/>
          </p:nvSpPr>
          <p:spPr bwMode="auto">
            <a:xfrm>
              <a:off x="816" y="1209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令：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258888" y="3573463"/>
            <a:ext cx="3657600" cy="873125"/>
            <a:chOff x="816" y="2064"/>
            <a:chExt cx="2304" cy="550"/>
          </a:xfrm>
        </p:grpSpPr>
        <p:graphicFrame>
          <p:nvGraphicFramePr>
            <p:cNvPr id="81928" name="Object 8"/>
            <p:cNvGraphicFramePr>
              <a:graphicFrameLocks noChangeAspect="1"/>
            </p:cNvGraphicFramePr>
            <p:nvPr/>
          </p:nvGraphicFramePr>
          <p:xfrm>
            <a:off x="1344" y="2064"/>
            <a:ext cx="1776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9" r:id="rId7" imgW="1600200" imgH="495300" progId="Equation.3">
                    <p:embed/>
                  </p:oleObj>
                </mc:Choice>
                <mc:Fallback>
                  <p:oleObj r:id="rId7" imgW="1600200" imgH="495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064"/>
                          <a:ext cx="1776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9" name="Rectangle 9"/>
            <p:cNvSpPr>
              <a:spLocks noChangeArrowheads="1"/>
            </p:cNvSpPr>
            <p:nvPr/>
          </p:nvSpPr>
          <p:spPr bwMode="auto">
            <a:xfrm>
              <a:off x="816" y="2121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则：</a:t>
              </a:r>
            </a:p>
          </p:txBody>
        </p:sp>
      </p:grp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331913" y="4508500"/>
            <a:ext cx="71628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)=0</a:t>
            </a:r>
            <a:r>
              <a:rPr lang="zh-CN" altLang="en-US" sz="2800">
                <a:latin typeface="宋体" panose="02010600030101010101" pitchFamily="2" charset="-122"/>
              </a:rPr>
              <a:t>称为系统的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特征方程</a:t>
            </a:r>
            <a:r>
              <a:rPr lang="zh-CN" altLang="en-US" sz="2800">
                <a:latin typeface="宋体" panose="02010600030101010101" pitchFamily="2" charset="-122"/>
              </a:rPr>
              <a:t>，其根称为系统的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特征根</a:t>
            </a:r>
            <a:r>
              <a:rPr lang="zh-CN" altLang="en-US" sz="2800">
                <a:latin typeface="宋体" panose="02010600030101010101" pitchFamily="2" charset="-122"/>
              </a:rPr>
              <a:t>。特征方程决定着系统的动态特性。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中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宋体" panose="02010600030101010101" pitchFamily="2" charset="-122"/>
              </a:rPr>
              <a:t>的最高阶次等于系统的阶次。</a:t>
            </a:r>
          </a:p>
        </p:txBody>
      </p:sp>
      <p:sp>
        <p:nvSpPr>
          <p:cNvPr id="56333" name="Rectangle 12"/>
          <p:cNvSpPr>
            <a:spLocks noChangeArrowheads="1"/>
          </p:cNvSpPr>
          <p:nvPr/>
        </p:nvSpPr>
        <p:spPr bwMode="auto">
          <a:xfrm>
            <a:off x="685800" y="842963"/>
            <a:ext cx="20891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宋体" panose="02010600030101010101" pitchFamily="2" charset="-122"/>
              </a:rPr>
              <a:t>特征方程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63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258888" y="4868863"/>
            <a:ext cx="7416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系统传递函数的极点就是系统的特征根。零点和极点的数值完全取决于系统的结构参数。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1116013" y="1700213"/>
          <a:ext cx="5943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0" r:id="rId4" imgW="3225800" imgH="495300" progId="Equation.3">
                  <p:embed/>
                </p:oleObj>
              </mc:Choice>
              <mc:Fallback>
                <p:oleObj r:id="rId4" imgW="3225800" imgH="495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700213"/>
                        <a:ext cx="5943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116013" y="1052513"/>
            <a:ext cx="4017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将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写成下面的形式：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547813" y="3716338"/>
            <a:ext cx="6553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>
                <a:latin typeface="Times New Roman" panose="02020603050405020304" pitchFamily="18" charset="0"/>
              </a:rPr>
              <a:t>     X</a:t>
            </a:r>
            <a:r>
              <a:rPr lang="en-US" altLang="zh-CN" sz="2800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en-US" altLang="zh-CN" sz="2900" baseline="-20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baseline="-20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)(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baseline="-20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)…(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)=0</a:t>
            </a:r>
            <a:r>
              <a:rPr lang="zh-CN" altLang="en-US" sz="2800">
                <a:latin typeface="Times New Roman" panose="02020603050405020304" pitchFamily="18" charset="0"/>
              </a:rPr>
              <a:t>的根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j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900" i="1" baseline="-20000">
                <a:latin typeface="Times New Roman" panose="02020603050405020304" pitchFamily="18" charset="0"/>
              </a:rPr>
              <a:t>       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=1, 2, …, 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，称为传递函数的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极点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114425" y="2706688"/>
            <a:ext cx="7239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式中，</a:t>
            </a:r>
            <a:r>
              <a:rPr lang="en-US" altLang="zh-CN" sz="280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o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  <a:r>
              <a:rPr lang="en-US" altLang="zh-CN" sz="2900" baseline="-200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z</a:t>
            </a:r>
            <a:r>
              <a:rPr lang="en-US" altLang="zh-CN" sz="2900" baseline="-20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)(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z</a:t>
            </a:r>
            <a:r>
              <a:rPr lang="en-US" altLang="zh-CN" sz="2900" baseline="-20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)…(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i="1">
                <a:latin typeface="Times New Roman" panose="02020603050405020304" pitchFamily="18" charset="0"/>
              </a:rPr>
              <a:t>z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m</a:t>
            </a:r>
            <a:r>
              <a:rPr lang="en-US" altLang="zh-CN" sz="2800">
                <a:latin typeface="Times New Roman" panose="02020603050405020304" pitchFamily="18" charset="0"/>
              </a:rPr>
              <a:t>)=0</a:t>
            </a:r>
            <a:r>
              <a:rPr lang="zh-CN" altLang="en-US" sz="2800">
                <a:latin typeface="Times New Roman" panose="02020603050405020304" pitchFamily="18" charset="0"/>
              </a:rPr>
              <a:t>的根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z</a:t>
            </a:r>
            <a:r>
              <a:rPr lang="en-US" altLang="zh-CN" sz="2900" i="1" baseline="-20000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           (</a:t>
            </a: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r>
              <a:rPr lang="en-US" altLang="zh-CN" sz="2800">
                <a:latin typeface="Times New Roman" panose="02020603050405020304" pitchFamily="18" charset="0"/>
              </a:rPr>
              <a:t>=1, 2, …, </a:t>
            </a:r>
            <a:r>
              <a:rPr lang="en-US" altLang="zh-CN" sz="2800" i="1">
                <a:latin typeface="Times New Roman" panose="02020603050405020304" pitchFamily="18" charset="0"/>
              </a:rPr>
              <a:t>m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，称为传递函数的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</a:rPr>
              <a:t>零点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82951" name="Rectangle 3"/>
          <p:cNvSpPr>
            <a:spLocks noChangeArrowheads="1"/>
          </p:cNvSpPr>
          <p:nvPr/>
        </p:nvSpPr>
        <p:spPr bwMode="auto">
          <a:xfrm>
            <a:off x="493713" y="304800"/>
            <a:ext cx="263207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宋体" panose="02010600030101010101" pitchFamily="2" charset="-122"/>
              </a:rPr>
              <a:t>零点和极点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ChangeArrowheads="1"/>
          </p:cNvSpPr>
          <p:nvPr/>
        </p:nvSpPr>
        <p:spPr bwMode="auto">
          <a:xfrm>
            <a:off x="755650" y="90805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宋体" panose="02010600030101010101" pitchFamily="2" charset="-122"/>
              </a:rPr>
              <a:t>零、极点分布图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827088" y="1989138"/>
            <a:ext cx="3048000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将传递函数的零、极点表示在复平面上的图形称为传递函数的零、极点分布图。图中，零点用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en-US" altLang="zh-CN" sz="2800">
                <a:latin typeface="Times New Roman" panose="02020603050405020304" pitchFamily="18" charset="0"/>
              </a:rPr>
              <a:t>O”</a:t>
            </a:r>
            <a:r>
              <a:rPr lang="zh-CN" altLang="en-US" sz="2800">
                <a:latin typeface="宋体" panose="02010600030101010101" pitchFamily="2" charset="-122"/>
              </a:rPr>
              <a:t>表示，极点用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en-US" altLang="zh-CN" sz="2800">
                <a:latin typeface="宋体" panose="02010600030101010101" pitchFamily="2" charset="-122"/>
              </a:rPr>
              <a:t>×</a:t>
            </a:r>
            <a:r>
              <a:rPr lang="en-US" altLang="zh-CN" sz="2800">
                <a:latin typeface="Times New Roman" panose="02020603050405020304" pitchFamily="18" charset="0"/>
              </a:rPr>
              <a:t>”</a:t>
            </a:r>
            <a:r>
              <a:rPr lang="zh-CN" altLang="en-US" sz="2800">
                <a:latin typeface="宋体" panose="02010600030101010101" pitchFamily="2" charset="-122"/>
              </a:rPr>
              <a:t>表示。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27538" y="1628775"/>
            <a:ext cx="4343400" cy="4495800"/>
            <a:chOff x="2784" y="1200"/>
            <a:chExt cx="2736" cy="2832"/>
          </a:xfrm>
        </p:grpSpPr>
        <p:grpSp>
          <p:nvGrpSpPr>
            <p:cNvPr id="84997" name="Group 6"/>
            <p:cNvGrpSpPr>
              <a:grpSpLocks/>
            </p:cNvGrpSpPr>
            <p:nvPr/>
          </p:nvGrpSpPr>
          <p:grpSpPr bwMode="auto">
            <a:xfrm>
              <a:off x="3257" y="3167"/>
              <a:ext cx="1831" cy="577"/>
              <a:chOff x="3282" y="3455"/>
              <a:chExt cx="1831" cy="577"/>
            </a:xfrm>
          </p:grpSpPr>
          <p:sp>
            <p:nvSpPr>
              <p:cNvPr id="85035" name="Text Box 7"/>
              <p:cNvSpPr txBox="1">
                <a:spLocks noChangeArrowheads="1"/>
              </p:cNvSpPr>
              <p:nvPr/>
            </p:nvSpPr>
            <p:spPr bwMode="auto">
              <a:xfrm>
                <a:off x="3282" y="3576"/>
                <a:ext cx="56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G(s)=</a:t>
                </a:r>
              </a:p>
            </p:txBody>
          </p:sp>
          <p:grpSp>
            <p:nvGrpSpPr>
              <p:cNvPr id="85036" name="Group 8"/>
              <p:cNvGrpSpPr>
                <a:grpSpLocks/>
              </p:cNvGrpSpPr>
              <p:nvPr/>
            </p:nvGrpSpPr>
            <p:grpSpPr bwMode="auto">
              <a:xfrm>
                <a:off x="3840" y="3455"/>
                <a:ext cx="1273" cy="577"/>
                <a:chOff x="4320" y="2928"/>
                <a:chExt cx="1273" cy="577"/>
              </a:xfrm>
            </p:grpSpPr>
            <p:sp>
              <p:nvSpPr>
                <p:cNvPr id="85037" name="Line 9"/>
                <p:cNvSpPr>
                  <a:spLocks noChangeShapeType="1"/>
                </p:cNvSpPr>
                <p:nvPr/>
              </p:nvSpPr>
              <p:spPr bwMode="auto">
                <a:xfrm>
                  <a:off x="4368" y="3216"/>
                  <a:ext cx="115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3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704" y="2928"/>
                  <a:ext cx="4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44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S+2</a:t>
                  </a:r>
                </a:p>
              </p:txBody>
            </p:sp>
            <p:sp>
              <p:nvSpPr>
                <p:cNvPr id="8503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20" y="3216"/>
                  <a:ext cx="1273" cy="2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444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</a:rPr>
                    <a:t>(s+3)(s</a:t>
                  </a:r>
                  <a:r>
                    <a:rPr lang="en-US" altLang="zh-CN" sz="2400" baseline="3000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400">
                      <a:latin typeface="Times New Roman" panose="02020603050405020304" pitchFamily="18" charset="0"/>
                    </a:rPr>
                    <a:t>+2s+2)</a:t>
                  </a:r>
                </a:p>
              </p:txBody>
            </p:sp>
          </p:grpSp>
        </p:grpSp>
        <p:sp>
          <p:nvSpPr>
            <p:cNvPr id="84998" name="Text Box 12"/>
            <p:cNvSpPr txBox="1">
              <a:spLocks noChangeArrowheads="1"/>
            </p:cNvSpPr>
            <p:nvPr/>
          </p:nvSpPr>
          <p:spPr bwMode="auto">
            <a:xfrm>
              <a:off x="3408" y="3744"/>
              <a:ext cx="14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44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</a:rPr>
                <a:t>的零极点分布图</a:t>
              </a:r>
            </a:p>
          </p:txBody>
        </p:sp>
        <p:grpSp>
          <p:nvGrpSpPr>
            <p:cNvPr id="84999" name="Group 13"/>
            <p:cNvGrpSpPr>
              <a:grpSpLocks/>
            </p:cNvGrpSpPr>
            <p:nvPr/>
          </p:nvGrpSpPr>
          <p:grpSpPr bwMode="auto">
            <a:xfrm>
              <a:off x="2784" y="1200"/>
              <a:ext cx="2736" cy="2016"/>
              <a:chOff x="2784" y="1344"/>
              <a:chExt cx="2544" cy="1872"/>
            </a:xfrm>
          </p:grpSpPr>
          <p:sp>
            <p:nvSpPr>
              <p:cNvPr id="85000" name="Line 14"/>
              <p:cNvSpPr>
                <a:spLocks noChangeShapeType="1"/>
              </p:cNvSpPr>
              <p:nvPr/>
            </p:nvSpPr>
            <p:spPr bwMode="auto">
              <a:xfrm>
                <a:off x="2784" y="2445"/>
                <a:ext cx="2544" cy="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1" name="Line 15"/>
              <p:cNvSpPr>
                <a:spLocks noChangeShapeType="1"/>
              </p:cNvSpPr>
              <p:nvPr/>
            </p:nvSpPr>
            <p:spPr bwMode="auto">
              <a:xfrm flipH="1" flipV="1">
                <a:off x="4040" y="1440"/>
                <a:ext cx="0" cy="1776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2" name="Line 16"/>
              <p:cNvSpPr>
                <a:spLocks noChangeShapeType="1"/>
              </p:cNvSpPr>
              <p:nvPr/>
            </p:nvSpPr>
            <p:spPr bwMode="auto">
              <a:xfrm>
                <a:off x="3740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3" name="Line 17"/>
              <p:cNvSpPr>
                <a:spLocks noChangeShapeType="1"/>
              </p:cNvSpPr>
              <p:nvPr/>
            </p:nvSpPr>
            <p:spPr bwMode="auto">
              <a:xfrm>
                <a:off x="3440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4" name="Line 18"/>
              <p:cNvSpPr>
                <a:spLocks noChangeShapeType="1"/>
              </p:cNvSpPr>
              <p:nvPr/>
            </p:nvSpPr>
            <p:spPr bwMode="auto">
              <a:xfrm>
                <a:off x="3141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5" name="Line 19"/>
              <p:cNvSpPr>
                <a:spLocks noChangeShapeType="1"/>
              </p:cNvSpPr>
              <p:nvPr/>
            </p:nvSpPr>
            <p:spPr bwMode="auto">
              <a:xfrm>
                <a:off x="4339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6" name="Line 20"/>
              <p:cNvSpPr>
                <a:spLocks noChangeShapeType="1"/>
              </p:cNvSpPr>
              <p:nvPr/>
            </p:nvSpPr>
            <p:spPr bwMode="auto">
              <a:xfrm>
                <a:off x="4638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7" name="Line 21"/>
              <p:cNvSpPr>
                <a:spLocks noChangeShapeType="1"/>
              </p:cNvSpPr>
              <p:nvPr/>
            </p:nvSpPr>
            <p:spPr bwMode="auto">
              <a:xfrm>
                <a:off x="4938" y="2389"/>
                <a:ext cx="0" cy="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8" name="Line 22"/>
              <p:cNvSpPr>
                <a:spLocks noChangeShapeType="1"/>
              </p:cNvSpPr>
              <p:nvPr/>
            </p:nvSpPr>
            <p:spPr bwMode="auto">
              <a:xfrm>
                <a:off x="4039" y="2165"/>
                <a:ext cx="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09" name="Line 23"/>
              <p:cNvSpPr>
                <a:spLocks noChangeShapeType="1"/>
              </p:cNvSpPr>
              <p:nvPr/>
            </p:nvSpPr>
            <p:spPr bwMode="auto">
              <a:xfrm>
                <a:off x="4039" y="1885"/>
                <a:ext cx="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0" name="Line 24"/>
              <p:cNvSpPr>
                <a:spLocks noChangeShapeType="1"/>
              </p:cNvSpPr>
              <p:nvPr/>
            </p:nvSpPr>
            <p:spPr bwMode="auto">
              <a:xfrm>
                <a:off x="4039" y="2726"/>
                <a:ext cx="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1" name="Line 25"/>
              <p:cNvSpPr>
                <a:spLocks noChangeShapeType="1"/>
              </p:cNvSpPr>
              <p:nvPr/>
            </p:nvSpPr>
            <p:spPr bwMode="auto">
              <a:xfrm>
                <a:off x="4039" y="3006"/>
                <a:ext cx="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2" name="Text Box 26"/>
              <p:cNvSpPr txBox="1">
                <a:spLocks noChangeArrowheads="1"/>
              </p:cNvSpPr>
              <p:nvPr/>
            </p:nvSpPr>
            <p:spPr bwMode="auto">
              <a:xfrm>
                <a:off x="4012" y="2432"/>
                <a:ext cx="19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85013" name="Text Box 27"/>
              <p:cNvSpPr txBox="1">
                <a:spLocks noChangeArrowheads="1"/>
              </p:cNvSpPr>
              <p:nvPr/>
            </p:nvSpPr>
            <p:spPr bwMode="auto">
              <a:xfrm>
                <a:off x="4236" y="2432"/>
                <a:ext cx="198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5014" name="Text Box 28"/>
              <p:cNvSpPr txBox="1">
                <a:spLocks noChangeArrowheads="1"/>
              </p:cNvSpPr>
              <p:nvPr/>
            </p:nvSpPr>
            <p:spPr bwMode="auto">
              <a:xfrm>
                <a:off x="4523" y="2432"/>
                <a:ext cx="19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5015" name="Text Box 29"/>
              <p:cNvSpPr txBox="1">
                <a:spLocks noChangeArrowheads="1"/>
              </p:cNvSpPr>
              <p:nvPr/>
            </p:nvSpPr>
            <p:spPr bwMode="auto">
              <a:xfrm>
                <a:off x="4822" y="2432"/>
                <a:ext cx="19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5016" name="Text Box 30"/>
              <p:cNvSpPr txBox="1">
                <a:spLocks noChangeArrowheads="1"/>
              </p:cNvSpPr>
              <p:nvPr/>
            </p:nvSpPr>
            <p:spPr bwMode="auto">
              <a:xfrm>
                <a:off x="3840" y="2001"/>
                <a:ext cx="19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5017" name="Text Box 31"/>
              <p:cNvSpPr txBox="1">
                <a:spLocks noChangeArrowheads="1"/>
              </p:cNvSpPr>
              <p:nvPr/>
            </p:nvSpPr>
            <p:spPr bwMode="auto">
              <a:xfrm>
                <a:off x="3840" y="1721"/>
                <a:ext cx="197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5018" name="Text Box 32"/>
              <p:cNvSpPr txBox="1">
                <a:spLocks noChangeArrowheads="1"/>
              </p:cNvSpPr>
              <p:nvPr/>
            </p:nvSpPr>
            <p:spPr bwMode="auto">
              <a:xfrm>
                <a:off x="3614" y="2432"/>
                <a:ext cx="25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85019" name="Text Box 33"/>
              <p:cNvSpPr txBox="1">
                <a:spLocks noChangeArrowheads="1"/>
              </p:cNvSpPr>
              <p:nvPr/>
            </p:nvSpPr>
            <p:spPr bwMode="auto">
              <a:xfrm>
                <a:off x="3308" y="2432"/>
                <a:ext cx="25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85020" name="Text Box 34"/>
              <p:cNvSpPr txBox="1">
                <a:spLocks noChangeArrowheads="1"/>
              </p:cNvSpPr>
              <p:nvPr/>
            </p:nvSpPr>
            <p:spPr bwMode="auto">
              <a:xfrm>
                <a:off x="3008" y="2432"/>
                <a:ext cx="25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85021" name="Text Box 35"/>
              <p:cNvSpPr txBox="1">
                <a:spLocks noChangeArrowheads="1"/>
              </p:cNvSpPr>
              <p:nvPr/>
            </p:nvSpPr>
            <p:spPr bwMode="auto">
              <a:xfrm>
                <a:off x="3804" y="2551"/>
                <a:ext cx="257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85022" name="Text Box 36"/>
              <p:cNvSpPr txBox="1">
                <a:spLocks noChangeArrowheads="1"/>
              </p:cNvSpPr>
              <p:nvPr/>
            </p:nvSpPr>
            <p:spPr bwMode="auto">
              <a:xfrm>
                <a:off x="3788" y="2840"/>
                <a:ext cx="257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44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85023" name="Oval 37"/>
              <p:cNvSpPr>
                <a:spLocks noChangeArrowheads="1"/>
              </p:cNvSpPr>
              <p:nvPr/>
            </p:nvSpPr>
            <p:spPr bwMode="auto">
              <a:xfrm>
                <a:off x="3380" y="2389"/>
                <a:ext cx="120" cy="112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85024" name="Group 38"/>
              <p:cNvGrpSpPr>
                <a:grpSpLocks/>
              </p:cNvGrpSpPr>
              <p:nvPr/>
            </p:nvGrpSpPr>
            <p:grpSpPr bwMode="auto">
              <a:xfrm>
                <a:off x="3081" y="2389"/>
                <a:ext cx="120" cy="112"/>
                <a:chOff x="960" y="2064"/>
                <a:chExt cx="192" cy="192"/>
              </a:xfrm>
            </p:grpSpPr>
            <p:sp>
              <p:nvSpPr>
                <p:cNvPr id="85033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34" name="Line 40"/>
                <p:cNvSpPr>
                  <a:spLocks noChangeShapeType="1"/>
                </p:cNvSpPr>
                <p:nvPr/>
              </p:nvSpPr>
              <p:spPr bwMode="auto">
                <a:xfrm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025" name="Group 41"/>
              <p:cNvGrpSpPr>
                <a:grpSpLocks/>
              </p:cNvGrpSpPr>
              <p:nvPr/>
            </p:nvGrpSpPr>
            <p:grpSpPr bwMode="auto">
              <a:xfrm>
                <a:off x="3680" y="2109"/>
                <a:ext cx="120" cy="112"/>
                <a:chOff x="960" y="2064"/>
                <a:chExt cx="192" cy="192"/>
              </a:xfrm>
            </p:grpSpPr>
            <p:sp>
              <p:nvSpPr>
                <p:cNvPr id="85031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32" name="Line 43"/>
                <p:cNvSpPr>
                  <a:spLocks noChangeShapeType="1"/>
                </p:cNvSpPr>
                <p:nvPr/>
              </p:nvSpPr>
              <p:spPr bwMode="auto">
                <a:xfrm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5026" name="Group 44"/>
              <p:cNvGrpSpPr>
                <a:grpSpLocks/>
              </p:cNvGrpSpPr>
              <p:nvPr/>
            </p:nvGrpSpPr>
            <p:grpSpPr bwMode="auto">
              <a:xfrm>
                <a:off x="3680" y="2670"/>
                <a:ext cx="120" cy="112"/>
                <a:chOff x="960" y="2064"/>
                <a:chExt cx="192" cy="192"/>
              </a:xfrm>
            </p:grpSpPr>
            <p:sp>
              <p:nvSpPr>
                <p:cNvPr id="85029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30" name="Line 46"/>
                <p:cNvSpPr>
                  <a:spLocks noChangeShapeType="1"/>
                </p:cNvSpPr>
                <p:nvPr/>
              </p:nvSpPr>
              <p:spPr bwMode="auto">
                <a:xfrm>
                  <a:off x="960" y="2064"/>
                  <a:ext cx="192" cy="192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5027" name="Text Box 47"/>
              <p:cNvSpPr txBox="1">
                <a:spLocks noChangeArrowheads="1"/>
              </p:cNvSpPr>
              <p:nvPr/>
            </p:nvSpPr>
            <p:spPr bwMode="auto">
              <a:xfrm>
                <a:off x="5088" y="2448"/>
                <a:ext cx="216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8" name="Text Box 48"/>
              <p:cNvSpPr txBox="1">
                <a:spLocks noChangeArrowheads="1"/>
              </p:cNvSpPr>
              <p:nvPr/>
            </p:nvSpPr>
            <p:spPr bwMode="auto">
              <a:xfrm>
                <a:off x="3683" y="1344"/>
                <a:ext cx="280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5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63C1B16-87A8-4C97-A251-A10913A26649}" type="datetime1">
              <a:rPr lang="en-US" altLang="zh-CN" smtClean="0"/>
              <a:pPr/>
              <a:t>9/10/2025</a:t>
            </a:fld>
            <a:endParaRPr lang="en-US" altLang="zh-CN" smtClean="0"/>
          </a:p>
        </p:txBody>
      </p:sp>
      <p:sp>
        <p:nvSpPr>
          <p:cNvPr id="8704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3A6BEB-4F51-4D3F-BB5A-EFE67D4A5D4B}" type="slidenum">
              <a:rPr altLang="zh-CN" smtClean="0"/>
              <a:pPr/>
              <a:t>35</a:t>
            </a:fld>
            <a:endParaRPr lang="zh-CN" altLang="zh-CN" smtClean="0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971550" y="985838"/>
            <a:ext cx="3841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传递函数的几点说明 </a:t>
            </a:r>
          </a:p>
        </p:txBody>
      </p:sp>
      <p:sp>
        <p:nvSpPr>
          <p:cNvPr id="380931" name="Rectangle 3"/>
          <p:cNvSpPr>
            <a:spLocks noChangeArrowheads="1"/>
          </p:cNvSpPr>
          <p:nvPr/>
        </p:nvSpPr>
        <p:spPr bwMode="auto">
          <a:xfrm>
            <a:off x="1219200" y="2170113"/>
            <a:ext cx="76200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传递函数是一种以系统参数表示的线性定常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系统输入量与输出量之间的关系式；传递函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数的概念通常只适用于线性定常系统；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80930" name="Rectangle 2"/>
          <p:cNvSpPr>
            <a:spLocks noChangeArrowheads="1"/>
          </p:cNvSpPr>
          <p:nvPr/>
        </p:nvSpPr>
        <p:spPr bwMode="auto">
          <a:xfrm>
            <a:off x="1219200" y="3846513"/>
            <a:ext cx="76200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传递函数是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latin typeface="宋体" panose="02010600030101010101" pitchFamily="2" charset="-122"/>
              </a:rPr>
              <a:t>的复变函数。传递函数中的各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项系数和相应微分方程中的各项系数对应相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等，完全取决于系统结构参数；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0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0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/>
      <p:bldP spid="3809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5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44F85C-30A8-4A1D-BE4A-0E5A880F9698}" type="datetime1">
              <a:rPr lang="en-US" altLang="zh-CN" smtClean="0"/>
              <a:pPr/>
              <a:t>9/10/2025</a:t>
            </a:fld>
            <a:endParaRPr lang="en-US" altLang="zh-CN" smtClean="0"/>
          </a:p>
        </p:txBody>
      </p:sp>
      <p:sp>
        <p:nvSpPr>
          <p:cNvPr id="8806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36E00C-DFFA-4F1C-8A16-42C8DB462B11}" type="slidenum">
              <a:rPr altLang="zh-CN" smtClean="0"/>
              <a:pPr/>
              <a:t>36</a:t>
            </a:fld>
            <a:endParaRPr lang="zh-CN" altLang="zh-CN" smtClean="0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928688" y="1617663"/>
            <a:ext cx="7620000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传递函数是在零初始条件下定义的，即在零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时刻之前，系统对所给定的平衡工作点处于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相对静止状态。因此，传递函数原则上不能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反映系统在非零初始条件下的全部运动规律；</a:t>
            </a:r>
          </a:p>
        </p:txBody>
      </p:sp>
      <p:sp>
        <p:nvSpPr>
          <p:cNvPr id="381955" name="Rectangle 3"/>
          <p:cNvSpPr>
            <a:spLocks noChangeArrowheads="1"/>
          </p:cNvSpPr>
          <p:nvPr/>
        </p:nvSpPr>
        <p:spPr bwMode="auto">
          <a:xfrm>
            <a:off x="928688" y="3738563"/>
            <a:ext cx="7620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传递函数只能表示系统输入与输出的关系，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无法描述系统内部中间变量的变化情况。 </a:t>
            </a:r>
          </a:p>
        </p:txBody>
      </p:sp>
      <p:sp>
        <p:nvSpPr>
          <p:cNvPr id="381954" name="Rectangle 2"/>
          <p:cNvSpPr>
            <a:spLocks noChangeArrowheads="1"/>
          </p:cNvSpPr>
          <p:nvPr/>
        </p:nvSpPr>
        <p:spPr bwMode="auto">
          <a:xfrm>
            <a:off x="923925" y="4960938"/>
            <a:ext cx="76200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一个传递函数只能表示一个输入对一个输出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  的关系，只适合于单输入单输出系统的描述。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5" grpId="0"/>
      <p:bldP spid="3819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ChangeArrowheads="1"/>
          </p:cNvSpPr>
          <p:nvPr/>
        </p:nvSpPr>
        <p:spPr bwMode="auto">
          <a:xfrm>
            <a:off x="827088" y="1885950"/>
            <a:ext cx="2449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800" b="1">
                <a:latin typeface="Times New Roman" panose="02020603050405020304" pitchFamily="18" charset="0"/>
              </a:rPr>
              <a:t>环节的分类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611188" y="692150"/>
            <a:ext cx="4365625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典型</a:t>
            </a:r>
            <a:r>
              <a:rPr lang="zh-CN" altLang="en-US" sz="2800" b="1">
                <a:latin typeface="宋体" panose="02010600030101010101" pitchFamily="2" charset="-122"/>
              </a:rPr>
              <a:t>环节及其传递函数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971550" y="2532063"/>
            <a:ext cx="74676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具有某种确定信息传递关系的元件、元件组或元件的一部分称为一个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环节</a:t>
            </a:r>
            <a:r>
              <a:rPr lang="zh-CN" altLang="en-US" sz="2800">
                <a:latin typeface="宋体" panose="02010600030101010101" pitchFamily="2" charset="-122"/>
              </a:rPr>
              <a:t>。经常遇到的环节称为</a:t>
            </a:r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典型环节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971550" y="4125913"/>
            <a:ext cx="7467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任何复杂的系统总可归结为由一些典型环节所组成。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2" y="1283656"/>
            <a:ext cx="7533748" cy="5435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/>
      <p:bldP spid="27653" grpId="0"/>
      <p:bldP spid="2765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5EA92B-D3FD-4A6E-93A8-31F01BADABD4}" type="datetime1">
              <a:rPr lang="zh-CN" altLang="en-US" smtClean="0"/>
              <a:pPr/>
              <a:t>2025/9/10</a:t>
            </a:fld>
            <a:endParaRPr lang="zh-CN" altLang="en-US" smtClean="0"/>
          </a:p>
        </p:txBody>
      </p:sp>
      <p:sp>
        <p:nvSpPr>
          <p:cNvPr id="911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A554DDD-867A-477F-B887-F0500384844C}" type="slidenum">
              <a:rPr altLang="zh-CN" smtClean="0"/>
              <a:pPr/>
              <a:t>38</a:t>
            </a:fld>
            <a:endParaRPr lang="zh-CN" altLang="zh-CN" smtClean="0"/>
          </a:p>
        </p:txBody>
      </p:sp>
      <p:sp>
        <p:nvSpPr>
          <p:cNvPr id="91141" name="TextBox 4"/>
          <p:cNvSpPr txBox="1">
            <a:spLocks noChangeArrowheads="1"/>
          </p:cNvSpPr>
          <p:nvPr/>
        </p:nvSpPr>
        <p:spPr bwMode="auto">
          <a:xfrm>
            <a:off x="2731031" y="5222317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 smtClean="0"/>
              <a:t>恒温箱温度控制系统</a:t>
            </a:r>
            <a:endParaRPr lang="zh-CN" altLang="en-US" sz="2400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33"/>
          <a:stretch/>
        </p:blipFill>
        <p:spPr bwMode="auto">
          <a:xfrm>
            <a:off x="683568" y="1721416"/>
            <a:ext cx="7436247" cy="277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内容占位符 2"/>
          <p:cNvSpPr>
            <a:spLocks noGrp="1" noChangeArrowheads="1"/>
          </p:cNvSpPr>
          <p:nvPr>
            <p:ph idx="1"/>
          </p:nvPr>
        </p:nvSpPr>
        <p:spPr>
          <a:xfrm>
            <a:off x="566738" y="2227263"/>
            <a:ext cx="8001000" cy="3024187"/>
          </a:xfrm>
        </p:spPr>
        <p:txBody>
          <a:bodyPr/>
          <a:lstStyle/>
          <a:p>
            <a:r>
              <a:rPr lang="zh-CN" altLang="en-US" dirty="0" smtClean="0"/>
              <a:t>拉式反变换</a:t>
            </a:r>
            <a:endParaRPr lang="en-US" altLang="zh-CN" dirty="0" smtClean="0"/>
          </a:p>
          <a:p>
            <a:r>
              <a:rPr lang="zh-CN" altLang="en-US" dirty="0" smtClean="0"/>
              <a:t>传递函数的概念</a:t>
            </a:r>
          </a:p>
          <a:p>
            <a:r>
              <a:rPr lang="zh-CN" altLang="en-US" dirty="0" smtClean="0"/>
              <a:t>由微分方程建立传递函数</a:t>
            </a:r>
          </a:p>
          <a:p>
            <a:r>
              <a:rPr lang="zh-CN" altLang="en-US" dirty="0" smtClean="0"/>
              <a:t>传递函数的一般形式、特征方程、零点和极点</a:t>
            </a:r>
          </a:p>
          <a:p>
            <a:r>
              <a:rPr lang="zh-CN" altLang="en-US" dirty="0" smtClean="0"/>
              <a:t>七类典型环节</a:t>
            </a:r>
          </a:p>
        </p:txBody>
      </p:sp>
      <p:sp>
        <p:nvSpPr>
          <p:cNvPr id="11366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20C707-BEEF-4A75-A28D-2C61B68CEF14}" type="datetime1">
              <a:rPr lang="zh-CN" altLang="en-US" smtClean="0"/>
              <a:pPr/>
              <a:t>2025/9/10</a:t>
            </a:fld>
            <a:endParaRPr lang="en-US" altLang="zh-CN" smtClean="0"/>
          </a:p>
        </p:txBody>
      </p:sp>
      <p:sp>
        <p:nvSpPr>
          <p:cNvPr id="113668" name="文本框 1"/>
          <p:cNvSpPr txBox="1">
            <a:spLocks noChangeArrowheads="1"/>
          </p:cNvSpPr>
          <p:nvPr/>
        </p:nvSpPr>
        <p:spPr bwMode="auto">
          <a:xfrm>
            <a:off x="987425" y="925513"/>
            <a:ext cx="1101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/>
              <a:t>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545</TotalTime>
  <Words>1435</Words>
  <Application>Microsoft Office PowerPoint</Application>
  <PresentationFormat>全屏显示(4:3)</PresentationFormat>
  <Paragraphs>283</Paragraphs>
  <Slides>39</Slides>
  <Notes>31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2" baseType="lpstr">
      <vt:lpstr>Profile</vt:lpstr>
      <vt:lpstr>Microsoft 公式 3.0</vt:lpstr>
      <vt:lpstr>Equation.DSMT4</vt:lpstr>
      <vt:lpstr>PowerPoint 演示文稿</vt:lpstr>
      <vt:lpstr>问答环节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Lu Jixia</cp:lastModifiedBy>
  <cp:revision>164</cp:revision>
  <dcterms:created xsi:type="dcterms:W3CDTF">2011-07-27T09:01:44Z</dcterms:created>
  <dcterms:modified xsi:type="dcterms:W3CDTF">2025-09-10T11:57:28Z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