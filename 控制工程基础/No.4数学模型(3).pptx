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9"/>
  </p:notesMasterIdLst>
  <p:handoutMasterIdLst>
    <p:handoutMasterId r:id="rId70"/>
  </p:handoutMasterIdLst>
  <p:sldIdLst>
    <p:sldId id="940" r:id="rId2"/>
    <p:sldId id="640" r:id="rId3"/>
    <p:sldId id="946" r:id="rId4"/>
    <p:sldId id="947" r:id="rId5"/>
    <p:sldId id="948" r:id="rId6"/>
    <p:sldId id="949" r:id="rId7"/>
    <p:sldId id="950" r:id="rId8"/>
    <p:sldId id="951" r:id="rId9"/>
    <p:sldId id="952" r:id="rId10"/>
    <p:sldId id="953" r:id="rId11"/>
    <p:sldId id="954" r:id="rId12"/>
    <p:sldId id="938" r:id="rId13"/>
    <p:sldId id="945" r:id="rId14"/>
    <p:sldId id="616" r:id="rId15"/>
    <p:sldId id="617" r:id="rId16"/>
    <p:sldId id="618" r:id="rId17"/>
    <p:sldId id="619" r:id="rId18"/>
    <p:sldId id="620" r:id="rId19"/>
    <p:sldId id="621" r:id="rId20"/>
    <p:sldId id="622" r:id="rId21"/>
    <p:sldId id="623" r:id="rId22"/>
    <p:sldId id="624" r:id="rId23"/>
    <p:sldId id="625" r:id="rId24"/>
    <p:sldId id="626" r:id="rId25"/>
    <p:sldId id="627" r:id="rId26"/>
    <p:sldId id="628" r:id="rId27"/>
    <p:sldId id="629" r:id="rId28"/>
    <p:sldId id="630" r:id="rId29"/>
    <p:sldId id="631" r:id="rId30"/>
    <p:sldId id="632" r:id="rId31"/>
    <p:sldId id="633" r:id="rId32"/>
    <p:sldId id="634" r:id="rId33"/>
    <p:sldId id="635" r:id="rId34"/>
    <p:sldId id="636" r:id="rId35"/>
    <p:sldId id="637" r:id="rId36"/>
    <p:sldId id="708" r:id="rId37"/>
    <p:sldId id="638" r:id="rId38"/>
    <p:sldId id="506" r:id="rId39"/>
    <p:sldId id="507" r:id="rId40"/>
    <p:sldId id="508" r:id="rId41"/>
    <p:sldId id="509" r:id="rId42"/>
    <p:sldId id="510" r:id="rId43"/>
    <p:sldId id="511" r:id="rId44"/>
    <p:sldId id="512" r:id="rId45"/>
    <p:sldId id="513" r:id="rId46"/>
    <p:sldId id="514" r:id="rId47"/>
    <p:sldId id="515" r:id="rId48"/>
    <p:sldId id="516" r:id="rId49"/>
    <p:sldId id="517" r:id="rId50"/>
    <p:sldId id="518" r:id="rId51"/>
    <p:sldId id="519" r:id="rId52"/>
    <p:sldId id="520" r:id="rId53"/>
    <p:sldId id="521" r:id="rId54"/>
    <p:sldId id="711" r:id="rId55"/>
    <p:sldId id="522" r:id="rId56"/>
    <p:sldId id="523" r:id="rId57"/>
    <p:sldId id="524" r:id="rId58"/>
    <p:sldId id="955" r:id="rId59"/>
    <p:sldId id="956" r:id="rId60"/>
    <p:sldId id="957" r:id="rId61"/>
    <p:sldId id="534" r:id="rId62"/>
    <p:sldId id="535" r:id="rId63"/>
    <p:sldId id="536" r:id="rId64"/>
    <p:sldId id="537" r:id="rId65"/>
    <p:sldId id="538" r:id="rId66"/>
    <p:sldId id="927" r:id="rId67"/>
    <p:sldId id="929" r:id="rId68"/>
  </p:sldIdLst>
  <p:sldSz cx="9144000" cy="6858000" type="screen4x3"/>
  <p:notesSz cx="6669088" cy="9926638"/>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 xmlns:p15="http://schemas.microsoft.com/office/powerpoint/2012/main">
        <p15:guide id="1" orient="horz" pos="2179">
          <p15:clr>
            <a:srgbClr val="A4A3A4"/>
          </p15:clr>
        </p15:guide>
        <p15:guide id="2" pos="29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62" d="100"/>
          <a:sy n="62" d="100"/>
        </p:scale>
        <p:origin x="-1338" y="-78"/>
      </p:cViewPr>
      <p:guideLst>
        <p:guide orient="horz" pos="2179"/>
        <p:guide pos="2906"/>
      </p:guideLst>
    </p:cSldViewPr>
  </p:slideViewPr>
  <p:notesTextViewPr>
    <p:cViewPr>
      <p:scale>
        <a:sx n="100" d="100"/>
        <a:sy n="100" d="100"/>
      </p:scale>
      <p:origin x="0" y="0"/>
    </p:cViewPr>
  </p:notesTextViewPr>
  <p:sorterViewPr>
    <p:cViewPr>
      <p:scale>
        <a:sx n="66" d="100"/>
        <a:sy n="66" d="100"/>
      </p:scale>
      <p:origin x="0" y="11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5" Type="http://schemas.openxmlformats.org/officeDocument/2006/relationships/image" Target="../media/image19.wmf"/><Relationship Id="rId4"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4" Type="http://schemas.openxmlformats.org/officeDocument/2006/relationships/image" Target="../media/image47.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4" Type="http://schemas.openxmlformats.org/officeDocument/2006/relationships/image" Target="../media/image6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62.wmf"/><Relationship Id="rId1" Type="http://schemas.openxmlformats.org/officeDocument/2006/relationships/image" Target="../media/image56.wmf"/><Relationship Id="rId4" Type="http://schemas.openxmlformats.org/officeDocument/2006/relationships/image" Target="../media/image63.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89091" name="Rectangle 3"/>
          <p:cNvSpPr>
            <a:spLocks noGrp="1" noChangeArrowheads="1"/>
          </p:cNvSpPr>
          <p:nvPr>
            <p:ph type="dt" sz="quarter"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89092" name="Rectangle 4"/>
          <p:cNvSpPr>
            <a:spLocks noGrp="1" noChangeArrowheads="1"/>
          </p:cNvSpPr>
          <p:nvPr>
            <p:ph type="ftr" sz="quarter" idx="2"/>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89093" name="Rectangle 5"/>
          <p:cNvSpPr>
            <a:spLocks noGrp="1" noChangeArrowheads="1"/>
          </p:cNvSpPr>
          <p:nvPr>
            <p:ph type="sldNum" sz="quarter" idx="3"/>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798DBAEC-A57E-4273-ABB1-AE408F4EEB37}" type="slidenum">
              <a:rPr lang="en-US" altLang="zh-CN"/>
              <a:pPr>
                <a:defRPr/>
              </a:pPr>
              <a:t>‹#›</a:t>
            </a:fld>
            <a:endParaRPr lang="en-US" altLang="zh-CN"/>
          </a:p>
        </p:txBody>
      </p:sp>
    </p:spTree>
    <p:extLst>
      <p:ext uri="{BB962C8B-B14F-4D97-AF65-F5344CB8AC3E}">
        <p14:creationId xmlns:p14="http://schemas.microsoft.com/office/powerpoint/2010/main" val="3232617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88067" name="Rectangle 3"/>
          <p:cNvSpPr>
            <a:spLocks noGrp="1" noChangeArrowheads="1"/>
          </p:cNvSpPr>
          <p:nvPr>
            <p:ph type="dt"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4294967295"/>
          </p:nvPr>
        </p:nvSpPr>
        <p:spPr bwMode="auto">
          <a:xfrm>
            <a:off x="852488" y="744538"/>
            <a:ext cx="4964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9" name="Rectangle 5"/>
          <p:cNvSpPr>
            <a:spLocks noGrp="1" noChangeArrowheads="1"/>
          </p:cNvSpPr>
          <p:nvPr>
            <p:ph type="body" sz="quarter" idx="3"/>
          </p:nvPr>
        </p:nvSpPr>
        <p:spPr bwMode="auto">
          <a:xfrm>
            <a:off x="666750" y="4714875"/>
            <a:ext cx="5335588"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88070" name="Rectangle 6"/>
          <p:cNvSpPr>
            <a:spLocks noGrp="1" noChangeArrowheads="1"/>
          </p:cNvSpPr>
          <p:nvPr>
            <p:ph type="ftr" sz="quarter" idx="4"/>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88071" name="Rectangle 7"/>
          <p:cNvSpPr>
            <a:spLocks noGrp="1" noChangeArrowheads="1"/>
          </p:cNvSpPr>
          <p:nvPr>
            <p:ph type="sldNum" sz="quarter" idx="5"/>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1F21F41D-E8D3-452B-A2A2-4AEF13768798}" type="slidenum">
              <a:rPr lang="en-US" altLang="zh-CN"/>
              <a:pPr>
                <a:defRPr/>
              </a:pPr>
              <a:t>‹#›</a:t>
            </a:fld>
            <a:endParaRPr lang="en-US" altLang="zh-CN"/>
          </a:p>
        </p:txBody>
      </p:sp>
    </p:spTree>
    <p:extLst>
      <p:ext uri="{BB962C8B-B14F-4D97-AF65-F5344CB8AC3E}">
        <p14:creationId xmlns:p14="http://schemas.microsoft.com/office/powerpoint/2010/main" val="15936452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8FA4AE2-83B1-45F1-B56A-9627CB1E4571}" type="slidenum">
              <a:rPr lang="en-US" altLang="zh-CN" smtClean="0">
                <a:latin typeface="Arial" panose="020B0604020202020204" pitchFamily="34" charset="0"/>
              </a:rPr>
              <a:pPr/>
              <a:t>2</a:t>
            </a:fld>
            <a:endParaRPr lang="en-US" altLang="zh-CN" smtClean="0">
              <a:latin typeface="Arial" panose="020B0604020202020204" pitchFamily="34" charset="0"/>
            </a:endParaRPr>
          </a:p>
        </p:txBody>
      </p:sp>
      <p:sp>
        <p:nvSpPr>
          <p:cNvPr id="7171" name="Rectangle 2"/>
          <p:cNvSpPr>
            <a:spLocks noGrp="1" noRot="1" noChangeAspect="1" noChangeArrowheads="1" noTextEdit="1"/>
          </p:cNvSpPr>
          <p:nvPr>
            <p:ph type="sldImg" idx="4294967295"/>
          </p:nvPr>
        </p:nvSpPr>
        <p:spPr>
          <a:ln/>
        </p:spPr>
      </p:sp>
      <p:sp>
        <p:nvSpPr>
          <p:cNvPr id="717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9DDFDCB-EA61-462D-AD2F-23438E1EB0D8}" type="slidenum">
              <a:rPr altLang="zh-CN" smtClean="0">
                <a:latin typeface="Arial" panose="020B0604020202020204" pitchFamily="34" charset="0"/>
              </a:rPr>
              <a:pPr/>
              <a:t>3</a:t>
            </a:fld>
            <a:endParaRPr lang="zh-CN" altLang="zh-CN" smtClean="0">
              <a:latin typeface="Arial" panose="020B0604020202020204" pitchFamily="34" charset="0"/>
            </a:endParaRPr>
          </a:p>
        </p:txBody>
      </p:sp>
      <p:sp>
        <p:nvSpPr>
          <p:cNvPr id="94211" name="Rectangle 2"/>
          <p:cNvSpPr>
            <a:spLocks noGrp="1" noRot="1" noChangeAspect="1" noChangeArrowheads="1" noTextEdit="1"/>
          </p:cNvSpPr>
          <p:nvPr>
            <p:ph type="sldImg" idx="4294967295"/>
          </p:nvPr>
        </p:nvSpPr>
        <p:spPr>
          <a:ln/>
        </p:spPr>
      </p:sp>
      <p:sp>
        <p:nvSpPr>
          <p:cNvPr id="9421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DB95A52-AAD9-427F-A447-52DF28D3E770}" type="slidenum">
              <a:rPr altLang="zh-CN" smtClean="0">
                <a:latin typeface="Arial" panose="020B0604020202020204" pitchFamily="34" charset="0"/>
              </a:rPr>
              <a:pPr/>
              <a:t>4</a:t>
            </a:fld>
            <a:endParaRPr lang="zh-CN" altLang="zh-CN" smtClean="0">
              <a:latin typeface="Arial" panose="020B0604020202020204" pitchFamily="34" charset="0"/>
            </a:endParaRPr>
          </a:p>
        </p:txBody>
      </p:sp>
      <p:sp>
        <p:nvSpPr>
          <p:cNvPr id="96259" name="Rectangle 2"/>
          <p:cNvSpPr>
            <a:spLocks noGrp="1" noRot="1" noChangeAspect="1" noChangeArrowheads="1" noTextEdit="1"/>
          </p:cNvSpPr>
          <p:nvPr>
            <p:ph type="sldImg" idx="4294967295"/>
          </p:nvPr>
        </p:nvSpPr>
        <p:spPr>
          <a:ln/>
        </p:spPr>
      </p:sp>
      <p:sp>
        <p:nvSpPr>
          <p:cNvPr id="9626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5869615-ACB4-406E-8E41-DF90F6C9BB8B}" type="slidenum">
              <a:rPr altLang="zh-CN" smtClean="0">
                <a:latin typeface="Arial" panose="020B0604020202020204" pitchFamily="34" charset="0"/>
              </a:rPr>
              <a:pPr/>
              <a:t>5</a:t>
            </a:fld>
            <a:endParaRPr lang="zh-CN" altLang="zh-CN" smtClean="0">
              <a:latin typeface="Arial" panose="020B0604020202020204" pitchFamily="34" charset="0"/>
            </a:endParaRPr>
          </a:p>
        </p:txBody>
      </p:sp>
      <p:sp>
        <p:nvSpPr>
          <p:cNvPr id="98307" name="Rectangle 2"/>
          <p:cNvSpPr>
            <a:spLocks noGrp="1" noRot="1" noChangeAspect="1" noChangeArrowheads="1" noTextEdit="1"/>
          </p:cNvSpPr>
          <p:nvPr>
            <p:ph type="sldImg" idx="4294967295"/>
          </p:nvPr>
        </p:nvSpPr>
        <p:spPr>
          <a:ln/>
        </p:spPr>
      </p:sp>
      <p:sp>
        <p:nvSpPr>
          <p:cNvPr id="9830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31825EC-CCFA-495C-A398-1C501A9702EA}" type="slidenum">
              <a:rPr altLang="zh-CN" smtClean="0">
                <a:latin typeface="Arial" panose="020B0604020202020204" pitchFamily="34" charset="0"/>
              </a:rPr>
              <a:pPr/>
              <a:t>6</a:t>
            </a:fld>
            <a:endParaRPr lang="zh-CN" altLang="zh-CN" smtClean="0">
              <a:latin typeface="Arial" panose="020B0604020202020204" pitchFamily="34" charset="0"/>
            </a:endParaRPr>
          </a:p>
        </p:txBody>
      </p:sp>
      <p:sp>
        <p:nvSpPr>
          <p:cNvPr id="100355" name="Rectangle 2"/>
          <p:cNvSpPr>
            <a:spLocks noGrp="1" noRot="1" noChangeAspect="1" noChangeArrowheads="1" noTextEdit="1"/>
          </p:cNvSpPr>
          <p:nvPr>
            <p:ph type="sldImg" idx="4294967295"/>
          </p:nvPr>
        </p:nvSpPr>
        <p:spPr>
          <a:ln/>
        </p:spPr>
      </p:sp>
      <p:sp>
        <p:nvSpPr>
          <p:cNvPr id="10035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E296190-4C50-42BD-B191-5C4BB53DCADC}" type="slidenum">
              <a:rPr altLang="zh-CN" smtClean="0">
                <a:latin typeface="Arial" panose="020B0604020202020204" pitchFamily="34" charset="0"/>
              </a:rPr>
              <a:pPr/>
              <a:t>7</a:t>
            </a:fld>
            <a:endParaRPr lang="zh-CN" altLang="zh-CN" smtClean="0">
              <a:latin typeface="Arial" panose="020B0604020202020204" pitchFamily="34" charset="0"/>
            </a:endParaRPr>
          </a:p>
        </p:txBody>
      </p:sp>
      <p:sp>
        <p:nvSpPr>
          <p:cNvPr id="102403" name="Rectangle 2"/>
          <p:cNvSpPr>
            <a:spLocks noGrp="1" noRot="1" noChangeAspect="1" noChangeArrowheads="1" noTextEdit="1"/>
          </p:cNvSpPr>
          <p:nvPr>
            <p:ph type="sldImg" idx="4294967295"/>
          </p:nvPr>
        </p:nvSpPr>
        <p:spPr>
          <a:ln/>
        </p:spPr>
      </p:sp>
      <p:sp>
        <p:nvSpPr>
          <p:cNvPr id="10240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C22E1E1-76D0-4AA3-A0C8-0E5AFE9CA5C7}" type="slidenum">
              <a:rPr altLang="zh-CN" smtClean="0">
                <a:latin typeface="Arial" panose="020B0604020202020204" pitchFamily="34" charset="0"/>
              </a:rPr>
              <a:pPr/>
              <a:t>8</a:t>
            </a:fld>
            <a:endParaRPr lang="zh-CN" altLang="zh-CN" smtClean="0">
              <a:latin typeface="Arial" panose="020B0604020202020204" pitchFamily="34" charset="0"/>
            </a:endParaRPr>
          </a:p>
        </p:txBody>
      </p:sp>
      <p:sp>
        <p:nvSpPr>
          <p:cNvPr id="104451" name="Rectangle 2"/>
          <p:cNvSpPr>
            <a:spLocks noGrp="1" noRot="1" noChangeAspect="1" noChangeArrowheads="1" noTextEdit="1"/>
          </p:cNvSpPr>
          <p:nvPr>
            <p:ph type="sldImg" idx="4294967295"/>
          </p:nvPr>
        </p:nvSpPr>
        <p:spPr>
          <a:ln/>
        </p:spPr>
      </p:sp>
      <p:sp>
        <p:nvSpPr>
          <p:cNvPr id="10445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BAD2982-EFE7-4F99-8334-31773A7EB446}" type="slidenum">
              <a:rPr altLang="zh-CN" smtClean="0">
                <a:latin typeface="Arial" panose="020B0604020202020204" pitchFamily="34" charset="0"/>
              </a:rPr>
              <a:pPr/>
              <a:t>9</a:t>
            </a:fld>
            <a:endParaRPr lang="zh-CN" altLang="zh-CN" smtClean="0">
              <a:latin typeface="Arial" panose="020B0604020202020204" pitchFamily="34" charset="0"/>
            </a:endParaRPr>
          </a:p>
        </p:txBody>
      </p:sp>
      <p:sp>
        <p:nvSpPr>
          <p:cNvPr id="106499" name="Rectangle 2"/>
          <p:cNvSpPr>
            <a:spLocks noGrp="1" noRot="1" noChangeAspect="1" noChangeArrowheads="1" noTextEdit="1"/>
          </p:cNvSpPr>
          <p:nvPr>
            <p:ph type="sldImg" idx="4294967295"/>
          </p:nvPr>
        </p:nvSpPr>
        <p:spPr>
          <a:ln/>
        </p:spPr>
      </p:sp>
      <p:sp>
        <p:nvSpPr>
          <p:cNvPr id="10650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FABC437-1A80-49B1-B197-B6955E360991}" type="slidenum">
              <a:rPr altLang="zh-CN" smtClean="0">
                <a:latin typeface="Arial" panose="020B0604020202020204" pitchFamily="34" charset="0"/>
              </a:rPr>
              <a:pPr/>
              <a:t>10</a:t>
            </a:fld>
            <a:endParaRPr lang="zh-CN" altLang="zh-CN" smtClean="0">
              <a:latin typeface="Arial" panose="020B0604020202020204" pitchFamily="34" charset="0"/>
            </a:endParaRPr>
          </a:p>
        </p:txBody>
      </p:sp>
      <p:sp>
        <p:nvSpPr>
          <p:cNvPr id="112643" name="Rectangle 2"/>
          <p:cNvSpPr>
            <a:spLocks noGrp="1" noRot="1" noChangeAspect="1" noChangeArrowheads="1" noTextEdit="1"/>
          </p:cNvSpPr>
          <p:nvPr>
            <p:ph type="sldImg" idx="4294967295"/>
          </p:nvPr>
        </p:nvSpPr>
        <p:spPr>
          <a:ln/>
        </p:spPr>
      </p:sp>
      <p:sp>
        <p:nvSpPr>
          <p:cNvPr id="11264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6C2A963-BF23-4073-85BC-488113D6C773}" type="slidenum">
              <a:rPr altLang="zh-CN" smtClean="0">
                <a:latin typeface="Arial" panose="020B0604020202020204" pitchFamily="34" charset="0"/>
              </a:rPr>
              <a:pPr/>
              <a:t>11</a:t>
            </a:fld>
            <a:endParaRPr lang="zh-CN" altLang="zh-CN" smtClean="0">
              <a:latin typeface="Arial" panose="020B0604020202020204" pitchFamily="34" charset="0"/>
            </a:endParaRPr>
          </a:p>
        </p:txBody>
      </p:sp>
      <p:sp>
        <p:nvSpPr>
          <p:cNvPr id="108547" name="Rectangle 2"/>
          <p:cNvSpPr>
            <a:spLocks noGrp="1" noRot="1" noChangeAspect="1" noChangeArrowheads="1" noTextEdit="1"/>
          </p:cNvSpPr>
          <p:nvPr>
            <p:ph type="sldImg" idx="4294967295"/>
          </p:nvPr>
        </p:nvSpPr>
        <p:spPr>
          <a:ln/>
        </p:spPr>
      </p:sp>
      <p:sp>
        <p:nvSpPr>
          <p:cNvPr id="10854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904A8E9-31A5-40FB-93E5-41ED065F3C77}" type="slidenum">
              <a:rPr lang="zh-CN" altLang="zh-CN" smtClean="0">
                <a:latin typeface="Arial" panose="020B0604020202020204" pitchFamily="34" charset="0"/>
              </a:rPr>
              <a:pPr/>
              <a:t>12</a:t>
            </a:fld>
            <a:endParaRPr lang="zh-CN" altLang="zh-CN" smtClean="0">
              <a:latin typeface="Arial" panose="020B0604020202020204" pitchFamily="34" charset="0"/>
            </a:endParaRPr>
          </a:p>
        </p:txBody>
      </p:sp>
      <p:sp>
        <p:nvSpPr>
          <p:cNvPr id="25603" name="Rectangle 2"/>
          <p:cNvSpPr>
            <a:spLocks noGrp="1" noRot="1" noChangeAspect="1" noChangeArrowheads="1" noTextEdit="1"/>
          </p:cNvSpPr>
          <p:nvPr>
            <p:ph type="sldImg" idx="4294967295"/>
          </p:nvPr>
        </p:nvSpPr>
        <p:spPr>
          <a:ln/>
        </p:spPr>
      </p:sp>
      <p:sp>
        <p:nvSpPr>
          <p:cNvPr id="25604" name="Rectangle 3"/>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FABC437-1A80-49B1-B197-B6955E360991}" type="slidenum">
              <a:rPr altLang="zh-CN" smtClean="0">
                <a:latin typeface="Arial" panose="020B0604020202020204" pitchFamily="34" charset="0"/>
              </a:rPr>
              <a:pPr/>
              <a:t>13</a:t>
            </a:fld>
            <a:endParaRPr lang="zh-CN" altLang="zh-CN" smtClean="0">
              <a:latin typeface="Arial" panose="020B0604020202020204" pitchFamily="34" charset="0"/>
            </a:endParaRPr>
          </a:p>
        </p:txBody>
      </p:sp>
      <p:sp>
        <p:nvSpPr>
          <p:cNvPr id="112643" name="Rectangle 2"/>
          <p:cNvSpPr>
            <a:spLocks noGrp="1" noRot="1" noChangeAspect="1" noChangeArrowheads="1" noTextEdit="1"/>
          </p:cNvSpPr>
          <p:nvPr>
            <p:ph type="sldImg" idx="4294967295"/>
          </p:nvPr>
        </p:nvSpPr>
        <p:spPr>
          <a:ln/>
        </p:spPr>
      </p:sp>
      <p:sp>
        <p:nvSpPr>
          <p:cNvPr id="11264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3397159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7FCB369-6130-41F2-A210-BE109F83586A}" type="slidenum">
              <a:rPr lang="en-US" altLang="zh-CN" smtClean="0">
                <a:latin typeface="Arial" panose="020B0604020202020204" pitchFamily="34" charset="0"/>
              </a:rPr>
              <a:pPr/>
              <a:t>14</a:t>
            </a:fld>
            <a:endParaRPr lang="en-US" altLang="zh-CN" smtClean="0">
              <a:latin typeface="Arial" panose="020B0604020202020204" pitchFamily="34" charset="0"/>
            </a:endParaRPr>
          </a:p>
        </p:txBody>
      </p:sp>
      <p:sp>
        <p:nvSpPr>
          <p:cNvPr id="29699" name="Rectangle 2"/>
          <p:cNvSpPr>
            <a:spLocks noGrp="1" noRot="1" noChangeAspect="1" noChangeArrowheads="1" noTextEdit="1"/>
          </p:cNvSpPr>
          <p:nvPr>
            <p:ph type="sldImg" idx="4294967295"/>
          </p:nvPr>
        </p:nvSpPr>
        <p:spPr>
          <a:ln/>
        </p:spPr>
      </p:sp>
      <p:sp>
        <p:nvSpPr>
          <p:cNvPr id="2970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0D1579E-F146-4AF3-B98C-2185A21D8FE1}" type="slidenum">
              <a:rPr lang="en-US" altLang="zh-CN" smtClean="0">
                <a:latin typeface="Arial" panose="020B0604020202020204" pitchFamily="34" charset="0"/>
              </a:rPr>
              <a:pPr/>
              <a:t>15</a:t>
            </a:fld>
            <a:endParaRPr lang="en-US" altLang="zh-CN" smtClean="0">
              <a:latin typeface="Arial" panose="020B0604020202020204" pitchFamily="34" charset="0"/>
            </a:endParaRPr>
          </a:p>
        </p:txBody>
      </p:sp>
      <p:sp>
        <p:nvSpPr>
          <p:cNvPr id="31747" name="Rectangle 2"/>
          <p:cNvSpPr>
            <a:spLocks noGrp="1" noRot="1" noChangeAspect="1" noChangeArrowheads="1" noTextEdit="1"/>
          </p:cNvSpPr>
          <p:nvPr>
            <p:ph type="sldImg" idx="4294967295"/>
          </p:nvPr>
        </p:nvSpPr>
        <p:spPr>
          <a:ln/>
        </p:spPr>
      </p:sp>
      <p:sp>
        <p:nvSpPr>
          <p:cNvPr id="3174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52078D7-FABD-47E4-A0B4-0E815CF317CC}" type="slidenum">
              <a:rPr lang="en-US" altLang="zh-CN" smtClean="0">
                <a:latin typeface="Arial" panose="020B0604020202020204" pitchFamily="34" charset="0"/>
              </a:rPr>
              <a:pPr/>
              <a:t>16</a:t>
            </a:fld>
            <a:endParaRPr lang="en-US" altLang="zh-CN" smtClean="0">
              <a:latin typeface="Arial" panose="020B0604020202020204" pitchFamily="34" charset="0"/>
            </a:endParaRPr>
          </a:p>
        </p:txBody>
      </p:sp>
      <p:sp>
        <p:nvSpPr>
          <p:cNvPr id="33795" name="Rectangle 2"/>
          <p:cNvSpPr>
            <a:spLocks noGrp="1" noRot="1" noChangeAspect="1" noChangeArrowheads="1" noTextEdit="1"/>
          </p:cNvSpPr>
          <p:nvPr>
            <p:ph type="sldImg" idx="4294967295"/>
          </p:nvPr>
        </p:nvSpPr>
        <p:spPr>
          <a:ln/>
        </p:spPr>
      </p:sp>
      <p:sp>
        <p:nvSpPr>
          <p:cNvPr id="3379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005ED5F-2C4D-4B17-81CA-AA25B43EFB91}" type="slidenum">
              <a:rPr lang="en-US" altLang="zh-CN" smtClean="0">
                <a:latin typeface="Arial" panose="020B0604020202020204" pitchFamily="34" charset="0"/>
              </a:rPr>
              <a:pPr/>
              <a:t>17</a:t>
            </a:fld>
            <a:endParaRPr lang="en-US" altLang="zh-CN" smtClean="0">
              <a:latin typeface="Arial" panose="020B0604020202020204" pitchFamily="34" charset="0"/>
            </a:endParaRPr>
          </a:p>
        </p:txBody>
      </p:sp>
      <p:sp>
        <p:nvSpPr>
          <p:cNvPr id="35843" name="Rectangle 2"/>
          <p:cNvSpPr>
            <a:spLocks noGrp="1" noRot="1" noChangeAspect="1" noChangeArrowheads="1" noTextEdit="1"/>
          </p:cNvSpPr>
          <p:nvPr>
            <p:ph type="sldImg" idx="4294967295"/>
          </p:nvPr>
        </p:nvSpPr>
        <p:spPr>
          <a:ln/>
        </p:spPr>
      </p:sp>
      <p:sp>
        <p:nvSpPr>
          <p:cNvPr id="3584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A66E0C0-CD01-43D1-A7F7-050E5F55CFBE}" type="slidenum">
              <a:rPr lang="en-US" altLang="zh-CN" smtClean="0">
                <a:latin typeface="Arial" panose="020B0604020202020204" pitchFamily="34" charset="0"/>
              </a:rPr>
              <a:pPr/>
              <a:t>18</a:t>
            </a:fld>
            <a:endParaRPr lang="en-US" altLang="zh-CN" smtClean="0">
              <a:latin typeface="Arial" panose="020B0604020202020204" pitchFamily="34" charset="0"/>
            </a:endParaRPr>
          </a:p>
        </p:txBody>
      </p:sp>
      <p:sp>
        <p:nvSpPr>
          <p:cNvPr id="37891" name="Rectangle 2"/>
          <p:cNvSpPr>
            <a:spLocks noGrp="1" noRot="1" noChangeAspect="1" noChangeArrowheads="1" noTextEdit="1"/>
          </p:cNvSpPr>
          <p:nvPr>
            <p:ph type="sldImg" idx="4294967295"/>
          </p:nvPr>
        </p:nvSpPr>
        <p:spPr>
          <a:ln/>
        </p:spPr>
      </p:sp>
      <p:sp>
        <p:nvSpPr>
          <p:cNvPr id="3789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7121B5A-AD94-4C6A-BBC5-61643BD6CC88}" type="slidenum">
              <a:rPr lang="en-US" altLang="zh-CN" smtClean="0">
                <a:latin typeface="Arial" panose="020B0604020202020204" pitchFamily="34" charset="0"/>
              </a:rPr>
              <a:pPr/>
              <a:t>19</a:t>
            </a:fld>
            <a:endParaRPr lang="en-US" altLang="zh-CN" smtClean="0">
              <a:latin typeface="Arial" panose="020B0604020202020204" pitchFamily="34" charset="0"/>
            </a:endParaRPr>
          </a:p>
        </p:txBody>
      </p:sp>
      <p:sp>
        <p:nvSpPr>
          <p:cNvPr id="39939" name="Rectangle 2"/>
          <p:cNvSpPr>
            <a:spLocks noGrp="1" noRot="1" noChangeAspect="1" noChangeArrowheads="1" noTextEdit="1"/>
          </p:cNvSpPr>
          <p:nvPr>
            <p:ph type="sldImg" idx="4294967295"/>
          </p:nvPr>
        </p:nvSpPr>
        <p:spPr>
          <a:ln/>
        </p:spPr>
      </p:sp>
      <p:sp>
        <p:nvSpPr>
          <p:cNvPr id="3994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1469251-21E1-4A0B-8141-764E582485A9}" type="slidenum">
              <a:rPr lang="en-US" altLang="zh-CN" smtClean="0">
                <a:latin typeface="Arial" panose="020B0604020202020204" pitchFamily="34" charset="0"/>
              </a:rPr>
              <a:pPr/>
              <a:t>20</a:t>
            </a:fld>
            <a:endParaRPr lang="en-US" altLang="zh-CN" smtClean="0">
              <a:latin typeface="Arial" panose="020B0604020202020204" pitchFamily="34" charset="0"/>
            </a:endParaRPr>
          </a:p>
        </p:txBody>
      </p:sp>
      <p:sp>
        <p:nvSpPr>
          <p:cNvPr id="41987" name="Rectangle 2"/>
          <p:cNvSpPr>
            <a:spLocks noGrp="1" noRot="1" noChangeAspect="1" noChangeArrowheads="1" noTextEdit="1"/>
          </p:cNvSpPr>
          <p:nvPr>
            <p:ph type="sldImg" idx="4294967295"/>
          </p:nvPr>
        </p:nvSpPr>
        <p:spPr>
          <a:ln/>
        </p:spPr>
      </p:sp>
      <p:sp>
        <p:nvSpPr>
          <p:cNvPr id="4198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3886694-C5AC-4A04-A0CE-A409FCA4E341}" type="slidenum">
              <a:rPr lang="en-US" altLang="zh-CN" smtClean="0">
                <a:latin typeface="Arial" panose="020B0604020202020204" pitchFamily="34" charset="0"/>
              </a:rPr>
              <a:pPr/>
              <a:t>21</a:t>
            </a:fld>
            <a:endParaRPr lang="en-US" altLang="zh-CN" smtClean="0">
              <a:latin typeface="Arial" panose="020B0604020202020204" pitchFamily="34" charset="0"/>
            </a:endParaRPr>
          </a:p>
        </p:txBody>
      </p:sp>
      <p:sp>
        <p:nvSpPr>
          <p:cNvPr id="44035" name="Rectangle 2"/>
          <p:cNvSpPr>
            <a:spLocks noGrp="1" noRot="1" noChangeAspect="1" noChangeArrowheads="1" noTextEdit="1"/>
          </p:cNvSpPr>
          <p:nvPr>
            <p:ph type="sldImg" idx="4294967295"/>
          </p:nvPr>
        </p:nvSpPr>
        <p:spPr>
          <a:ln/>
        </p:spPr>
      </p:sp>
      <p:sp>
        <p:nvSpPr>
          <p:cNvPr id="4403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4419546-E81A-46EC-A550-A704A514722D}" type="slidenum">
              <a:rPr lang="en-US" altLang="zh-CN" smtClean="0">
                <a:latin typeface="Arial" panose="020B0604020202020204" pitchFamily="34" charset="0"/>
              </a:rPr>
              <a:pPr/>
              <a:t>22</a:t>
            </a:fld>
            <a:endParaRPr lang="en-US" altLang="zh-CN" smtClean="0">
              <a:latin typeface="Arial" panose="020B0604020202020204" pitchFamily="34" charset="0"/>
            </a:endParaRPr>
          </a:p>
        </p:txBody>
      </p:sp>
      <p:sp>
        <p:nvSpPr>
          <p:cNvPr id="46083" name="Rectangle 2"/>
          <p:cNvSpPr>
            <a:spLocks noGrp="1" noRot="1" noChangeAspect="1" noChangeArrowheads="1" noTextEdit="1"/>
          </p:cNvSpPr>
          <p:nvPr>
            <p:ph type="sldImg" idx="4294967295"/>
          </p:nvPr>
        </p:nvSpPr>
        <p:spPr>
          <a:ln/>
        </p:spPr>
      </p:sp>
      <p:sp>
        <p:nvSpPr>
          <p:cNvPr id="4608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FFCE7E5-38C8-4962-A248-498790E61A91}" type="slidenum">
              <a:rPr lang="en-US" altLang="zh-CN" smtClean="0">
                <a:latin typeface="Arial" panose="020B0604020202020204" pitchFamily="34" charset="0"/>
              </a:rPr>
              <a:pPr/>
              <a:t>23</a:t>
            </a:fld>
            <a:endParaRPr lang="en-US" altLang="zh-CN" smtClean="0">
              <a:latin typeface="Arial" panose="020B0604020202020204" pitchFamily="34" charset="0"/>
            </a:endParaRPr>
          </a:p>
        </p:txBody>
      </p:sp>
      <p:sp>
        <p:nvSpPr>
          <p:cNvPr id="48131" name="Rectangle 2"/>
          <p:cNvSpPr>
            <a:spLocks noGrp="1" noRot="1" noChangeAspect="1" noChangeArrowheads="1" noTextEdit="1"/>
          </p:cNvSpPr>
          <p:nvPr>
            <p:ph type="sldImg" idx="4294967295"/>
          </p:nvPr>
        </p:nvSpPr>
        <p:spPr>
          <a:ln/>
        </p:spPr>
      </p:sp>
      <p:sp>
        <p:nvSpPr>
          <p:cNvPr id="4813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A030142-ED04-42D2-B6F6-D8842A99A3FC}" type="slidenum">
              <a:rPr lang="en-US" altLang="zh-CN" smtClean="0">
                <a:latin typeface="Arial" panose="020B0604020202020204" pitchFamily="34" charset="0"/>
              </a:rPr>
              <a:pPr/>
              <a:t>24</a:t>
            </a:fld>
            <a:endParaRPr lang="en-US" altLang="zh-CN" smtClean="0">
              <a:latin typeface="Arial" panose="020B0604020202020204" pitchFamily="34" charset="0"/>
            </a:endParaRPr>
          </a:p>
        </p:txBody>
      </p:sp>
      <p:sp>
        <p:nvSpPr>
          <p:cNvPr id="50179" name="Rectangle 2"/>
          <p:cNvSpPr>
            <a:spLocks noGrp="1" noRot="1" noChangeAspect="1" noChangeArrowheads="1" noTextEdit="1"/>
          </p:cNvSpPr>
          <p:nvPr>
            <p:ph type="sldImg" idx="4294967295"/>
          </p:nvPr>
        </p:nvSpPr>
        <p:spPr>
          <a:ln/>
        </p:spPr>
      </p:sp>
      <p:sp>
        <p:nvSpPr>
          <p:cNvPr id="5018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BCD8928-06DB-440A-A6A5-334B025529E3}" type="slidenum">
              <a:rPr lang="en-US" altLang="zh-CN" smtClean="0">
                <a:latin typeface="Arial" panose="020B0604020202020204" pitchFamily="34" charset="0"/>
              </a:rPr>
              <a:pPr/>
              <a:t>25</a:t>
            </a:fld>
            <a:endParaRPr lang="en-US" altLang="zh-CN" smtClean="0">
              <a:latin typeface="Arial" panose="020B0604020202020204" pitchFamily="34" charset="0"/>
            </a:endParaRPr>
          </a:p>
        </p:txBody>
      </p:sp>
      <p:sp>
        <p:nvSpPr>
          <p:cNvPr id="52227" name="Rectangle 2"/>
          <p:cNvSpPr>
            <a:spLocks noGrp="1" noRot="1" noChangeAspect="1" noChangeArrowheads="1" noTextEdit="1"/>
          </p:cNvSpPr>
          <p:nvPr>
            <p:ph type="sldImg" idx="4294967295"/>
          </p:nvPr>
        </p:nvSpPr>
        <p:spPr>
          <a:ln/>
        </p:spPr>
      </p:sp>
      <p:sp>
        <p:nvSpPr>
          <p:cNvPr id="5222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550C053-1E42-4A88-94CC-53D8698FBA5B}" type="slidenum">
              <a:rPr lang="en-US" altLang="zh-CN" smtClean="0">
                <a:latin typeface="Arial" panose="020B0604020202020204" pitchFamily="34" charset="0"/>
              </a:rPr>
              <a:pPr/>
              <a:t>26</a:t>
            </a:fld>
            <a:endParaRPr lang="en-US" altLang="zh-CN" smtClean="0">
              <a:latin typeface="Arial" panose="020B0604020202020204" pitchFamily="34" charset="0"/>
            </a:endParaRPr>
          </a:p>
        </p:txBody>
      </p:sp>
      <p:sp>
        <p:nvSpPr>
          <p:cNvPr id="54275" name="Rectangle 2"/>
          <p:cNvSpPr>
            <a:spLocks noGrp="1" noRot="1" noChangeAspect="1" noChangeArrowheads="1" noTextEdit="1"/>
          </p:cNvSpPr>
          <p:nvPr>
            <p:ph type="sldImg" idx="4294967295"/>
          </p:nvPr>
        </p:nvSpPr>
        <p:spPr>
          <a:ln/>
        </p:spPr>
      </p:sp>
      <p:sp>
        <p:nvSpPr>
          <p:cNvPr id="5427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102B7BB-103A-4B1B-8ABC-CDA0976527F7}" type="slidenum">
              <a:rPr lang="en-US" altLang="zh-CN" smtClean="0">
                <a:latin typeface="Arial" panose="020B0604020202020204" pitchFamily="34" charset="0"/>
              </a:rPr>
              <a:pPr/>
              <a:t>27</a:t>
            </a:fld>
            <a:endParaRPr lang="en-US" altLang="zh-CN" smtClean="0">
              <a:latin typeface="Arial" panose="020B0604020202020204" pitchFamily="34" charset="0"/>
            </a:endParaRPr>
          </a:p>
        </p:txBody>
      </p:sp>
      <p:sp>
        <p:nvSpPr>
          <p:cNvPr id="56323" name="Rectangle 2"/>
          <p:cNvSpPr>
            <a:spLocks noGrp="1" noRot="1" noChangeAspect="1" noChangeArrowheads="1" noTextEdit="1"/>
          </p:cNvSpPr>
          <p:nvPr>
            <p:ph type="sldImg" idx="4294967295"/>
          </p:nvPr>
        </p:nvSpPr>
        <p:spPr>
          <a:ln/>
        </p:spPr>
      </p:sp>
      <p:sp>
        <p:nvSpPr>
          <p:cNvPr id="5632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F4F01F9-5DCF-44B1-95C6-FAB5A3AD9FED}" type="slidenum">
              <a:rPr lang="en-US" altLang="zh-CN" smtClean="0">
                <a:latin typeface="Arial" panose="020B0604020202020204" pitchFamily="34" charset="0"/>
              </a:rPr>
              <a:pPr/>
              <a:t>28</a:t>
            </a:fld>
            <a:endParaRPr lang="en-US" altLang="zh-CN" smtClean="0">
              <a:latin typeface="Arial" panose="020B0604020202020204" pitchFamily="34" charset="0"/>
            </a:endParaRPr>
          </a:p>
        </p:txBody>
      </p:sp>
      <p:sp>
        <p:nvSpPr>
          <p:cNvPr id="58371" name="Rectangle 2"/>
          <p:cNvSpPr>
            <a:spLocks noGrp="1" noRot="1" noChangeAspect="1" noChangeArrowheads="1" noTextEdit="1"/>
          </p:cNvSpPr>
          <p:nvPr>
            <p:ph type="sldImg" idx="4294967295"/>
          </p:nvPr>
        </p:nvSpPr>
        <p:spPr>
          <a:ln/>
        </p:spPr>
      </p:sp>
      <p:sp>
        <p:nvSpPr>
          <p:cNvPr id="5837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260DCDE-54F2-48C4-90BE-A7E54D682593}" type="slidenum">
              <a:rPr lang="en-US" altLang="zh-CN" smtClean="0">
                <a:latin typeface="Arial" panose="020B0604020202020204" pitchFamily="34" charset="0"/>
              </a:rPr>
              <a:pPr/>
              <a:t>29</a:t>
            </a:fld>
            <a:endParaRPr lang="en-US" altLang="zh-CN" smtClean="0">
              <a:latin typeface="Arial" panose="020B0604020202020204" pitchFamily="34" charset="0"/>
            </a:endParaRPr>
          </a:p>
        </p:txBody>
      </p:sp>
      <p:sp>
        <p:nvSpPr>
          <p:cNvPr id="60419" name="Rectangle 2"/>
          <p:cNvSpPr>
            <a:spLocks noGrp="1" noRot="1" noChangeAspect="1" noChangeArrowheads="1" noTextEdit="1"/>
          </p:cNvSpPr>
          <p:nvPr>
            <p:ph type="sldImg" idx="4294967295"/>
          </p:nvPr>
        </p:nvSpPr>
        <p:spPr>
          <a:ln/>
        </p:spPr>
      </p:sp>
      <p:sp>
        <p:nvSpPr>
          <p:cNvPr id="6042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0AC6CF3-11D8-4B8B-AAF4-D593644AFC9A}" type="slidenum">
              <a:rPr lang="en-US" altLang="zh-CN" smtClean="0">
                <a:latin typeface="Arial" panose="020B0604020202020204" pitchFamily="34" charset="0"/>
              </a:rPr>
              <a:pPr/>
              <a:t>30</a:t>
            </a:fld>
            <a:endParaRPr lang="en-US" altLang="zh-CN" smtClean="0">
              <a:latin typeface="Arial" panose="020B0604020202020204" pitchFamily="34" charset="0"/>
            </a:endParaRPr>
          </a:p>
        </p:txBody>
      </p:sp>
      <p:sp>
        <p:nvSpPr>
          <p:cNvPr id="62467" name="Rectangle 2"/>
          <p:cNvSpPr>
            <a:spLocks noGrp="1" noRot="1" noChangeAspect="1" noChangeArrowheads="1" noTextEdit="1"/>
          </p:cNvSpPr>
          <p:nvPr>
            <p:ph type="sldImg" idx="4294967295"/>
          </p:nvPr>
        </p:nvSpPr>
        <p:spPr>
          <a:ln/>
        </p:spPr>
      </p:sp>
      <p:sp>
        <p:nvSpPr>
          <p:cNvPr id="6246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04AB020-E9A7-4196-A2AB-1320302FFBBB}" type="slidenum">
              <a:rPr lang="en-US" altLang="zh-CN" smtClean="0">
                <a:latin typeface="Arial" panose="020B0604020202020204" pitchFamily="34" charset="0"/>
              </a:rPr>
              <a:pPr/>
              <a:t>31</a:t>
            </a:fld>
            <a:endParaRPr lang="en-US" altLang="zh-CN" smtClean="0">
              <a:latin typeface="Arial" panose="020B0604020202020204" pitchFamily="34" charset="0"/>
            </a:endParaRPr>
          </a:p>
        </p:txBody>
      </p:sp>
      <p:sp>
        <p:nvSpPr>
          <p:cNvPr id="64515" name="Rectangle 2"/>
          <p:cNvSpPr>
            <a:spLocks noGrp="1" noRot="1" noChangeAspect="1" noChangeArrowheads="1" noTextEdit="1"/>
          </p:cNvSpPr>
          <p:nvPr>
            <p:ph type="sldImg" idx="4294967295"/>
          </p:nvPr>
        </p:nvSpPr>
        <p:spPr>
          <a:ln/>
        </p:spPr>
      </p:sp>
      <p:sp>
        <p:nvSpPr>
          <p:cNvPr id="6451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94D1A7A-75C8-49A0-9778-08444C59457A}" type="slidenum">
              <a:rPr lang="en-US" altLang="zh-CN" smtClean="0">
                <a:latin typeface="Arial" panose="020B0604020202020204" pitchFamily="34" charset="0"/>
              </a:rPr>
              <a:pPr/>
              <a:t>32</a:t>
            </a:fld>
            <a:endParaRPr lang="en-US" altLang="zh-CN" smtClean="0">
              <a:latin typeface="Arial" panose="020B0604020202020204" pitchFamily="34" charset="0"/>
            </a:endParaRPr>
          </a:p>
        </p:txBody>
      </p:sp>
      <p:sp>
        <p:nvSpPr>
          <p:cNvPr id="66563" name="Rectangle 2"/>
          <p:cNvSpPr>
            <a:spLocks noGrp="1" noRot="1" noChangeAspect="1" noChangeArrowheads="1" noTextEdit="1"/>
          </p:cNvSpPr>
          <p:nvPr>
            <p:ph type="sldImg" idx="4294967295"/>
          </p:nvPr>
        </p:nvSpPr>
        <p:spPr>
          <a:ln/>
        </p:spPr>
      </p:sp>
      <p:sp>
        <p:nvSpPr>
          <p:cNvPr id="6656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F5D9FD0-0ECE-4A63-AE26-F87E53670424}" type="slidenum">
              <a:rPr lang="en-US" altLang="zh-CN" smtClean="0">
                <a:latin typeface="Arial" panose="020B0604020202020204" pitchFamily="34" charset="0"/>
              </a:rPr>
              <a:pPr/>
              <a:t>37</a:t>
            </a:fld>
            <a:endParaRPr lang="en-US" altLang="zh-CN" smtClean="0">
              <a:latin typeface="Arial" panose="020B0604020202020204" pitchFamily="34" charset="0"/>
            </a:endParaRPr>
          </a:p>
        </p:txBody>
      </p:sp>
      <p:sp>
        <p:nvSpPr>
          <p:cNvPr id="72707" name="Rectangle 2"/>
          <p:cNvSpPr>
            <a:spLocks noGrp="1" noRot="1" noChangeAspect="1" noChangeArrowheads="1" noTextEdit="1"/>
          </p:cNvSpPr>
          <p:nvPr>
            <p:ph type="sldImg" idx="4294967295"/>
          </p:nvPr>
        </p:nvSpPr>
        <p:spPr>
          <a:ln/>
        </p:spPr>
      </p:sp>
      <p:sp>
        <p:nvSpPr>
          <p:cNvPr id="7270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DF5B35B-E072-4E2D-9858-A0B65EDFB364}" type="slidenum">
              <a:rPr lang="en-US" altLang="zh-CN" smtClean="0">
                <a:latin typeface="Arial" panose="020B0604020202020204" pitchFamily="34" charset="0"/>
              </a:rPr>
              <a:pPr/>
              <a:t>38</a:t>
            </a:fld>
            <a:endParaRPr lang="en-US" altLang="zh-CN" smtClean="0">
              <a:latin typeface="Arial" panose="020B0604020202020204" pitchFamily="34" charset="0"/>
            </a:endParaRPr>
          </a:p>
        </p:txBody>
      </p:sp>
      <p:sp>
        <p:nvSpPr>
          <p:cNvPr id="74755" name="Rectangle 2"/>
          <p:cNvSpPr>
            <a:spLocks noGrp="1" noRot="1" noChangeAspect="1" noChangeArrowheads="1" noTextEdit="1"/>
          </p:cNvSpPr>
          <p:nvPr>
            <p:ph type="sldImg" idx="4294967295"/>
          </p:nvPr>
        </p:nvSpPr>
        <p:spPr>
          <a:ln/>
        </p:spPr>
      </p:sp>
      <p:sp>
        <p:nvSpPr>
          <p:cNvPr id="7475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4C886D3-3B41-451C-ABB0-F3DDD89EF06B}" type="slidenum">
              <a:rPr lang="en-US" altLang="zh-CN" smtClean="0">
                <a:latin typeface="Arial" panose="020B0604020202020204" pitchFamily="34" charset="0"/>
              </a:rPr>
              <a:pPr/>
              <a:t>39</a:t>
            </a:fld>
            <a:endParaRPr lang="en-US" altLang="zh-CN" smtClean="0">
              <a:latin typeface="Arial" panose="020B0604020202020204" pitchFamily="34" charset="0"/>
            </a:endParaRPr>
          </a:p>
        </p:txBody>
      </p:sp>
      <p:sp>
        <p:nvSpPr>
          <p:cNvPr id="76803" name="Rectangle 2"/>
          <p:cNvSpPr>
            <a:spLocks noGrp="1" noRot="1" noChangeAspect="1" noChangeArrowheads="1" noTextEdit="1"/>
          </p:cNvSpPr>
          <p:nvPr>
            <p:ph type="sldImg" idx="4294967295"/>
          </p:nvPr>
        </p:nvSpPr>
        <p:spPr>
          <a:ln/>
        </p:spPr>
      </p:sp>
      <p:sp>
        <p:nvSpPr>
          <p:cNvPr id="7680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1B78DF7-126A-4047-9F99-ADF0B1E5F631}" type="slidenum">
              <a:rPr lang="en-US" altLang="zh-CN" smtClean="0">
                <a:latin typeface="Arial" panose="020B0604020202020204" pitchFamily="34" charset="0"/>
              </a:rPr>
              <a:pPr/>
              <a:t>40</a:t>
            </a:fld>
            <a:endParaRPr lang="en-US" altLang="zh-CN" smtClean="0">
              <a:latin typeface="Arial" panose="020B0604020202020204" pitchFamily="34" charset="0"/>
            </a:endParaRPr>
          </a:p>
        </p:txBody>
      </p:sp>
      <p:sp>
        <p:nvSpPr>
          <p:cNvPr id="78851" name="Rectangle 2"/>
          <p:cNvSpPr>
            <a:spLocks noGrp="1" noRot="1" noChangeAspect="1" noChangeArrowheads="1" noTextEdit="1"/>
          </p:cNvSpPr>
          <p:nvPr>
            <p:ph type="sldImg" idx="4294967295"/>
          </p:nvPr>
        </p:nvSpPr>
        <p:spPr>
          <a:ln/>
        </p:spPr>
      </p:sp>
      <p:sp>
        <p:nvSpPr>
          <p:cNvPr id="7885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1D88715-E36F-4D76-B986-7CE4EE75A81E}" type="slidenum">
              <a:rPr lang="en-US" altLang="zh-CN" smtClean="0">
                <a:latin typeface="Arial" panose="020B0604020202020204" pitchFamily="34" charset="0"/>
              </a:rPr>
              <a:pPr/>
              <a:t>41</a:t>
            </a:fld>
            <a:endParaRPr lang="en-US" altLang="zh-CN" smtClean="0">
              <a:latin typeface="Arial" panose="020B0604020202020204" pitchFamily="34" charset="0"/>
            </a:endParaRPr>
          </a:p>
        </p:txBody>
      </p:sp>
      <p:sp>
        <p:nvSpPr>
          <p:cNvPr id="80899" name="Rectangle 2"/>
          <p:cNvSpPr>
            <a:spLocks noGrp="1" noRot="1" noChangeAspect="1" noChangeArrowheads="1" noTextEdit="1"/>
          </p:cNvSpPr>
          <p:nvPr>
            <p:ph type="sldImg" idx="4294967295"/>
          </p:nvPr>
        </p:nvSpPr>
        <p:spPr>
          <a:ln/>
        </p:spPr>
      </p:sp>
      <p:sp>
        <p:nvSpPr>
          <p:cNvPr id="8090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2A2367F-B05C-4499-BF5D-BF73C50F0E89}" type="slidenum">
              <a:rPr lang="en-US" altLang="zh-CN" smtClean="0">
                <a:latin typeface="Arial" panose="020B0604020202020204" pitchFamily="34" charset="0"/>
              </a:rPr>
              <a:pPr/>
              <a:t>42</a:t>
            </a:fld>
            <a:endParaRPr lang="en-US" altLang="zh-CN" smtClean="0">
              <a:latin typeface="Arial" panose="020B0604020202020204" pitchFamily="34" charset="0"/>
            </a:endParaRPr>
          </a:p>
        </p:txBody>
      </p:sp>
      <p:sp>
        <p:nvSpPr>
          <p:cNvPr id="82947" name="Rectangle 2"/>
          <p:cNvSpPr>
            <a:spLocks noGrp="1" noRot="1" noChangeAspect="1" noChangeArrowheads="1" noTextEdit="1"/>
          </p:cNvSpPr>
          <p:nvPr>
            <p:ph type="sldImg" idx="4294967295"/>
          </p:nvPr>
        </p:nvSpPr>
        <p:spPr>
          <a:ln/>
        </p:spPr>
      </p:sp>
      <p:sp>
        <p:nvSpPr>
          <p:cNvPr id="8294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A74F9C4-2A2D-4450-AECA-468689EA9640}" type="slidenum">
              <a:rPr lang="en-US" altLang="zh-CN" smtClean="0">
                <a:latin typeface="Arial" panose="020B0604020202020204" pitchFamily="34" charset="0"/>
              </a:rPr>
              <a:pPr/>
              <a:t>43</a:t>
            </a:fld>
            <a:endParaRPr lang="en-US" altLang="zh-CN" smtClean="0">
              <a:latin typeface="Arial" panose="020B0604020202020204" pitchFamily="34" charset="0"/>
            </a:endParaRPr>
          </a:p>
        </p:txBody>
      </p:sp>
      <p:sp>
        <p:nvSpPr>
          <p:cNvPr id="84995" name="Rectangle 2"/>
          <p:cNvSpPr>
            <a:spLocks noGrp="1" noRot="1" noChangeAspect="1" noChangeArrowheads="1" noTextEdit="1"/>
          </p:cNvSpPr>
          <p:nvPr>
            <p:ph type="sldImg" idx="4294967295"/>
          </p:nvPr>
        </p:nvSpPr>
        <p:spPr>
          <a:ln/>
        </p:spPr>
      </p:sp>
      <p:sp>
        <p:nvSpPr>
          <p:cNvPr id="8499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353FAF8-41F8-473A-A99D-F3D332C20BFA}" type="slidenum">
              <a:rPr lang="en-US" altLang="zh-CN" smtClean="0">
                <a:latin typeface="Arial" panose="020B0604020202020204" pitchFamily="34" charset="0"/>
              </a:rPr>
              <a:pPr/>
              <a:t>44</a:t>
            </a:fld>
            <a:endParaRPr lang="en-US" altLang="zh-CN" smtClean="0">
              <a:latin typeface="Arial" panose="020B0604020202020204" pitchFamily="34" charset="0"/>
            </a:endParaRPr>
          </a:p>
        </p:txBody>
      </p:sp>
      <p:sp>
        <p:nvSpPr>
          <p:cNvPr id="87043" name="Rectangle 2"/>
          <p:cNvSpPr>
            <a:spLocks noGrp="1" noRot="1" noChangeAspect="1" noChangeArrowheads="1" noTextEdit="1"/>
          </p:cNvSpPr>
          <p:nvPr>
            <p:ph type="sldImg" idx="4294967295"/>
          </p:nvPr>
        </p:nvSpPr>
        <p:spPr>
          <a:ln/>
        </p:spPr>
      </p:sp>
      <p:sp>
        <p:nvSpPr>
          <p:cNvPr id="8704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A165585-1222-4D24-8185-950C6376AAAD}" type="slidenum">
              <a:rPr lang="en-US" altLang="zh-CN" smtClean="0">
                <a:latin typeface="Arial" panose="020B0604020202020204" pitchFamily="34" charset="0"/>
              </a:rPr>
              <a:pPr/>
              <a:t>45</a:t>
            </a:fld>
            <a:endParaRPr lang="en-US" altLang="zh-CN" smtClean="0">
              <a:latin typeface="Arial" panose="020B0604020202020204" pitchFamily="34" charset="0"/>
            </a:endParaRPr>
          </a:p>
        </p:txBody>
      </p:sp>
      <p:sp>
        <p:nvSpPr>
          <p:cNvPr id="89091" name="Rectangle 2"/>
          <p:cNvSpPr>
            <a:spLocks noGrp="1" noRot="1" noChangeAspect="1" noChangeArrowheads="1" noTextEdit="1"/>
          </p:cNvSpPr>
          <p:nvPr>
            <p:ph type="sldImg" idx="4294967295"/>
          </p:nvPr>
        </p:nvSpPr>
        <p:spPr>
          <a:ln/>
        </p:spPr>
      </p:sp>
      <p:sp>
        <p:nvSpPr>
          <p:cNvPr id="8909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5EB9F21-D4A9-44AF-8F26-3AB9E54ED1C2}" type="slidenum">
              <a:rPr lang="en-US" altLang="zh-CN" smtClean="0">
                <a:latin typeface="Arial" panose="020B0604020202020204" pitchFamily="34" charset="0"/>
              </a:rPr>
              <a:pPr/>
              <a:t>46</a:t>
            </a:fld>
            <a:endParaRPr lang="en-US" altLang="zh-CN" smtClean="0">
              <a:latin typeface="Arial" panose="020B0604020202020204" pitchFamily="34" charset="0"/>
            </a:endParaRPr>
          </a:p>
        </p:txBody>
      </p:sp>
      <p:sp>
        <p:nvSpPr>
          <p:cNvPr id="91139" name="Rectangle 2"/>
          <p:cNvSpPr>
            <a:spLocks noGrp="1" noRot="1" noChangeAspect="1" noChangeArrowheads="1" noTextEdit="1"/>
          </p:cNvSpPr>
          <p:nvPr>
            <p:ph type="sldImg" idx="4294967295"/>
          </p:nvPr>
        </p:nvSpPr>
        <p:spPr>
          <a:ln/>
        </p:spPr>
      </p:sp>
      <p:sp>
        <p:nvSpPr>
          <p:cNvPr id="9114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A1BCDCF-16D5-487B-9DC4-3107BBC0F186}" type="slidenum">
              <a:rPr lang="en-US" altLang="zh-CN" smtClean="0">
                <a:latin typeface="Arial" panose="020B0604020202020204" pitchFamily="34" charset="0"/>
              </a:rPr>
              <a:pPr/>
              <a:t>47</a:t>
            </a:fld>
            <a:endParaRPr lang="en-US" altLang="zh-CN" smtClean="0">
              <a:latin typeface="Arial" panose="020B0604020202020204" pitchFamily="34" charset="0"/>
            </a:endParaRPr>
          </a:p>
        </p:txBody>
      </p:sp>
      <p:sp>
        <p:nvSpPr>
          <p:cNvPr id="93187" name="Rectangle 2"/>
          <p:cNvSpPr>
            <a:spLocks noGrp="1" noRot="1" noChangeAspect="1" noChangeArrowheads="1" noTextEdit="1"/>
          </p:cNvSpPr>
          <p:nvPr>
            <p:ph type="sldImg" idx="4294967295"/>
          </p:nvPr>
        </p:nvSpPr>
        <p:spPr>
          <a:ln/>
        </p:spPr>
      </p:sp>
      <p:sp>
        <p:nvSpPr>
          <p:cNvPr id="9318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A29DC48-125C-4906-BF60-83EE54237B36}" type="slidenum">
              <a:rPr lang="en-US" altLang="zh-CN" smtClean="0">
                <a:latin typeface="Arial" panose="020B0604020202020204" pitchFamily="34" charset="0"/>
              </a:rPr>
              <a:pPr/>
              <a:t>48</a:t>
            </a:fld>
            <a:endParaRPr lang="en-US" altLang="zh-CN" smtClean="0">
              <a:latin typeface="Arial" panose="020B0604020202020204" pitchFamily="34" charset="0"/>
            </a:endParaRPr>
          </a:p>
        </p:txBody>
      </p:sp>
      <p:sp>
        <p:nvSpPr>
          <p:cNvPr id="95235" name="Rectangle 2"/>
          <p:cNvSpPr>
            <a:spLocks noGrp="1" noRot="1" noChangeAspect="1" noChangeArrowheads="1" noTextEdit="1"/>
          </p:cNvSpPr>
          <p:nvPr>
            <p:ph type="sldImg" idx="4294967295"/>
          </p:nvPr>
        </p:nvSpPr>
        <p:spPr>
          <a:ln/>
        </p:spPr>
      </p:sp>
      <p:sp>
        <p:nvSpPr>
          <p:cNvPr id="9523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AA035B7-A30F-46A4-B383-7EC8A09D9AB3}" type="slidenum">
              <a:rPr lang="en-US" altLang="zh-CN" smtClean="0">
                <a:latin typeface="Arial" panose="020B0604020202020204" pitchFamily="34" charset="0"/>
              </a:rPr>
              <a:pPr/>
              <a:t>49</a:t>
            </a:fld>
            <a:endParaRPr lang="en-US" altLang="zh-CN" smtClean="0">
              <a:latin typeface="Arial" panose="020B0604020202020204" pitchFamily="34" charset="0"/>
            </a:endParaRPr>
          </a:p>
        </p:txBody>
      </p:sp>
      <p:sp>
        <p:nvSpPr>
          <p:cNvPr id="97283" name="Rectangle 2"/>
          <p:cNvSpPr>
            <a:spLocks noGrp="1" noRot="1" noChangeAspect="1" noChangeArrowheads="1" noTextEdit="1"/>
          </p:cNvSpPr>
          <p:nvPr>
            <p:ph type="sldImg" idx="4294967295"/>
          </p:nvPr>
        </p:nvSpPr>
        <p:spPr>
          <a:ln/>
        </p:spPr>
      </p:sp>
      <p:sp>
        <p:nvSpPr>
          <p:cNvPr id="9728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1ED91A1-5C8F-4D12-AE69-2B6869913C2D}" type="slidenum">
              <a:rPr lang="en-US" altLang="zh-CN" smtClean="0">
                <a:latin typeface="Arial" panose="020B0604020202020204" pitchFamily="34" charset="0"/>
              </a:rPr>
              <a:pPr/>
              <a:t>50</a:t>
            </a:fld>
            <a:endParaRPr lang="en-US" altLang="zh-CN" smtClean="0">
              <a:latin typeface="Arial" panose="020B0604020202020204" pitchFamily="34" charset="0"/>
            </a:endParaRPr>
          </a:p>
        </p:txBody>
      </p:sp>
      <p:sp>
        <p:nvSpPr>
          <p:cNvPr id="99331" name="Rectangle 2"/>
          <p:cNvSpPr>
            <a:spLocks noGrp="1" noRot="1" noChangeAspect="1" noChangeArrowheads="1" noTextEdit="1"/>
          </p:cNvSpPr>
          <p:nvPr>
            <p:ph type="sldImg" idx="4294967295"/>
          </p:nvPr>
        </p:nvSpPr>
        <p:spPr>
          <a:ln/>
        </p:spPr>
      </p:sp>
      <p:sp>
        <p:nvSpPr>
          <p:cNvPr id="9933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999045A-D181-4437-B2BB-B07A490A4025}" type="slidenum">
              <a:rPr lang="en-US" altLang="zh-CN" smtClean="0">
                <a:latin typeface="Arial" panose="020B0604020202020204" pitchFamily="34" charset="0"/>
              </a:rPr>
              <a:pPr/>
              <a:t>51</a:t>
            </a:fld>
            <a:endParaRPr lang="en-US" altLang="zh-CN" smtClean="0">
              <a:latin typeface="Arial" panose="020B0604020202020204" pitchFamily="34" charset="0"/>
            </a:endParaRPr>
          </a:p>
        </p:txBody>
      </p:sp>
      <p:sp>
        <p:nvSpPr>
          <p:cNvPr id="101379" name="Rectangle 2"/>
          <p:cNvSpPr>
            <a:spLocks noGrp="1" noRot="1" noChangeAspect="1" noChangeArrowheads="1" noTextEdit="1"/>
          </p:cNvSpPr>
          <p:nvPr>
            <p:ph type="sldImg" idx="4294967295"/>
          </p:nvPr>
        </p:nvSpPr>
        <p:spPr>
          <a:ln/>
        </p:spPr>
      </p:sp>
      <p:sp>
        <p:nvSpPr>
          <p:cNvPr id="10138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0CBB152-6AA6-4AAA-B4B1-E6341140F705}" type="slidenum">
              <a:rPr lang="en-US" altLang="zh-CN" smtClean="0">
                <a:latin typeface="Arial" panose="020B0604020202020204" pitchFamily="34" charset="0"/>
              </a:rPr>
              <a:pPr/>
              <a:t>52</a:t>
            </a:fld>
            <a:endParaRPr lang="en-US" altLang="zh-CN" smtClean="0">
              <a:latin typeface="Arial" panose="020B0604020202020204" pitchFamily="34" charset="0"/>
            </a:endParaRPr>
          </a:p>
        </p:txBody>
      </p:sp>
      <p:sp>
        <p:nvSpPr>
          <p:cNvPr id="103427" name="Rectangle 2"/>
          <p:cNvSpPr>
            <a:spLocks noGrp="1" noRot="1" noChangeAspect="1" noChangeArrowheads="1" noTextEdit="1"/>
          </p:cNvSpPr>
          <p:nvPr>
            <p:ph type="sldImg" idx="4294967295"/>
          </p:nvPr>
        </p:nvSpPr>
        <p:spPr>
          <a:ln/>
        </p:spPr>
      </p:sp>
      <p:sp>
        <p:nvSpPr>
          <p:cNvPr id="10342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DEBF020-6A04-494B-BC35-D63933E4D318}" type="slidenum">
              <a:rPr lang="en-US" altLang="zh-CN" smtClean="0">
                <a:latin typeface="Arial" panose="020B0604020202020204" pitchFamily="34" charset="0"/>
              </a:rPr>
              <a:pPr/>
              <a:t>53</a:t>
            </a:fld>
            <a:endParaRPr lang="en-US" altLang="zh-CN" smtClean="0">
              <a:latin typeface="Arial" panose="020B0604020202020204" pitchFamily="34" charset="0"/>
            </a:endParaRPr>
          </a:p>
        </p:txBody>
      </p:sp>
      <p:sp>
        <p:nvSpPr>
          <p:cNvPr id="105475" name="Rectangle 2"/>
          <p:cNvSpPr>
            <a:spLocks noGrp="1" noRot="1" noChangeAspect="1" noChangeArrowheads="1" noTextEdit="1"/>
          </p:cNvSpPr>
          <p:nvPr>
            <p:ph type="sldImg" idx="4294967295"/>
          </p:nvPr>
        </p:nvSpPr>
        <p:spPr>
          <a:ln/>
        </p:spPr>
      </p:sp>
      <p:sp>
        <p:nvSpPr>
          <p:cNvPr id="10547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B558199-7ACF-48E7-B342-6AEC81DE3C03}" type="slidenum">
              <a:rPr lang="en-US" altLang="zh-CN" smtClean="0">
                <a:latin typeface="Arial" panose="020B0604020202020204" pitchFamily="34" charset="0"/>
              </a:rPr>
              <a:pPr/>
              <a:t>54</a:t>
            </a:fld>
            <a:endParaRPr lang="en-US" altLang="zh-CN" smtClean="0">
              <a:latin typeface="Arial" panose="020B0604020202020204" pitchFamily="34" charset="0"/>
            </a:endParaRPr>
          </a:p>
        </p:txBody>
      </p:sp>
      <p:sp>
        <p:nvSpPr>
          <p:cNvPr id="107523" name="Rectangle 2"/>
          <p:cNvSpPr>
            <a:spLocks noGrp="1" noRot="1" noChangeAspect="1" noChangeArrowheads="1" noTextEdit="1"/>
          </p:cNvSpPr>
          <p:nvPr>
            <p:ph type="sldImg" idx="4294967295"/>
          </p:nvPr>
        </p:nvSpPr>
        <p:spPr>
          <a:ln/>
        </p:spPr>
      </p:sp>
      <p:sp>
        <p:nvSpPr>
          <p:cNvPr id="10752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C120026-C923-473D-B4FD-E3F7D9D58E6C}" type="slidenum">
              <a:rPr lang="en-US" altLang="zh-CN" smtClean="0">
                <a:latin typeface="Arial" panose="020B0604020202020204" pitchFamily="34" charset="0"/>
              </a:rPr>
              <a:pPr/>
              <a:t>55</a:t>
            </a:fld>
            <a:endParaRPr lang="en-US" altLang="zh-CN" smtClean="0">
              <a:latin typeface="Arial" panose="020B0604020202020204" pitchFamily="34" charset="0"/>
            </a:endParaRPr>
          </a:p>
        </p:txBody>
      </p:sp>
      <p:sp>
        <p:nvSpPr>
          <p:cNvPr id="109571" name="Rectangle 2"/>
          <p:cNvSpPr>
            <a:spLocks noGrp="1" noRot="1" noChangeAspect="1" noChangeArrowheads="1" noTextEdit="1"/>
          </p:cNvSpPr>
          <p:nvPr>
            <p:ph type="sldImg" idx="4294967295"/>
          </p:nvPr>
        </p:nvSpPr>
        <p:spPr>
          <a:ln/>
        </p:spPr>
      </p:sp>
      <p:sp>
        <p:nvSpPr>
          <p:cNvPr id="10957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C55A26F-6FDB-4C5B-AE4E-5D84BA7CEB6D}" type="slidenum">
              <a:rPr lang="en-US" altLang="zh-CN" smtClean="0">
                <a:latin typeface="Arial" panose="020B0604020202020204" pitchFamily="34" charset="0"/>
              </a:rPr>
              <a:pPr/>
              <a:t>56</a:t>
            </a:fld>
            <a:endParaRPr lang="en-US" altLang="zh-CN" smtClean="0">
              <a:latin typeface="Arial" panose="020B0604020202020204" pitchFamily="34" charset="0"/>
            </a:endParaRPr>
          </a:p>
        </p:txBody>
      </p:sp>
      <p:sp>
        <p:nvSpPr>
          <p:cNvPr id="111619" name="Rectangle 2"/>
          <p:cNvSpPr>
            <a:spLocks noGrp="1" noRot="1" noChangeAspect="1" noChangeArrowheads="1" noTextEdit="1"/>
          </p:cNvSpPr>
          <p:nvPr>
            <p:ph type="sldImg" idx="4294967295"/>
          </p:nvPr>
        </p:nvSpPr>
        <p:spPr>
          <a:ln/>
        </p:spPr>
      </p:sp>
      <p:sp>
        <p:nvSpPr>
          <p:cNvPr id="11162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4E7DDDE-66BC-42B0-8E0A-8D3769E92203}" type="slidenum">
              <a:rPr lang="en-US" altLang="zh-CN" smtClean="0">
                <a:latin typeface="Arial" panose="020B0604020202020204" pitchFamily="34" charset="0"/>
              </a:rPr>
              <a:pPr/>
              <a:t>57</a:t>
            </a:fld>
            <a:endParaRPr lang="en-US" altLang="zh-CN" smtClean="0">
              <a:latin typeface="Arial" panose="020B0604020202020204" pitchFamily="34" charset="0"/>
            </a:endParaRPr>
          </a:p>
        </p:txBody>
      </p:sp>
      <p:sp>
        <p:nvSpPr>
          <p:cNvPr id="113667" name="Rectangle 2"/>
          <p:cNvSpPr>
            <a:spLocks noGrp="1" noRot="1" noChangeAspect="1" noChangeArrowheads="1" noTextEdit="1"/>
          </p:cNvSpPr>
          <p:nvPr>
            <p:ph type="sldImg" idx="4294967295"/>
          </p:nvPr>
        </p:nvSpPr>
        <p:spPr>
          <a:ln/>
        </p:spPr>
      </p:sp>
      <p:sp>
        <p:nvSpPr>
          <p:cNvPr id="11366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776A968-957C-40E1-90EB-03644862EF56}" type="slidenum">
              <a:rPr lang="en-US" altLang="zh-CN" smtClean="0">
                <a:latin typeface="Arial" panose="020B0604020202020204" pitchFamily="34" charset="0"/>
              </a:rPr>
              <a:pPr/>
              <a:t>58</a:t>
            </a:fld>
            <a:endParaRPr lang="en-US" altLang="zh-CN" smtClean="0">
              <a:latin typeface="Arial" panose="020B0604020202020204" pitchFamily="34" charset="0"/>
            </a:endParaRPr>
          </a:p>
        </p:txBody>
      </p:sp>
      <p:sp>
        <p:nvSpPr>
          <p:cNvPr id="21507" name="Rectangle 2"/>
          <p:cNvSpPr>
            <a:spLocks noGrp="1" noRot="1" noChangeAspect="1" noChangeArrowheads="1" noTextEdit="1"/>
          </p:cNvSpPr>
          <p:nvPr>
            <p:ph type="sldImg" idx="4294967295"/>
          </p:nvPr>
        </p:nvSpPr>
        <p:spPr>
          <a:ln/>
        </p:spPr>
      </p:sp>
      <p:sp>
        <p:nvSpPr>
          <p:cNvPr id="21508" name="Rectangle 3"/>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0D7B04F-49DC-47C6-B2DE-96E9FD5FCECE}" type="slidenum">
              <a:rPr lang="en-US" altLang="zh-CN" smtClean="0">
                <a:latin typeface="Arial" panose="020B0604020202020204" pitchFamily="34" charset="0"/>
              </a:rPr>
              <a:pPr/>
              <a:t>59</a:t>
            </a:fld>
            <a:endParaRPr lang="en-US" altLang="zh-CN" smtClean="0">
              <a:latin typeface="Arial" panose="020B0604020202020204" pitchFamily="34" charset="0"/>
            </a:endParaRPr>
          </a:p>
        </p:txBody>
      </p:sp>
      <p:sp>
        <p:nvSpPr>
          <p:cNvPr id="23555" name="Rectangle 2"/>
          <p:cNvSpPr>
            <a:spLocks noGrp="1" noRot="1" noChangeAspect="1" noChangeArrowheads="1" noTextEdit="1"/>
          </p:cNvSpPr>
          <p:nvPr>
            <p:ph type="sldImg" idx="4294967295"/>
          </p:nvPr>
        </p:nvSpPr>
        <p:spPr>
          <a:ln/>
        </p:spPr>
      </p:sp>
      <p:sp>
        <p:nvSpPr>
          <p:cNvPr id="23556" name="Rectangle 3"/>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395C7C7-F886-4152-9593-51A26A76BFDC}" type="slidenum">
              <a:rPr lang="en-US" altLang="zh-CN" smtClean="0">
                <a:latin typeface="Arial" panose="020B0604020202020204" pitchFamily="34" charset="0"/>
              </a:rPr>
              <a:pPr/>
              <a:t>60</a:t>
            </a:fld>
            <a:endParaRPr lang="en-US" altLang="zh-CN" smtClean="0">
              <a:latin typeface="Arial" panose="020B0604020202020204" pitchFamily="34" charset="0"/>
            </a:endParaRPr>
          </a:p>
        </p:txBody>
      </p:sp>
      <p:sp>
        <p:nvSpPr>
          <p:cNvPr id="25603" name="Rectangle 2"/>
          <p:cNvSpPr>
            <a:spLocks noGrp="1" noRot="1" noChangeAspect="1" noChangeArrowheads="1" noTextEdit="1"/>
          </p:cNvSpPr>
          <p:nvPr>
            <p:ph type="sldImg" idx="4294967295"/>
          </p:nvPr>
        </p:nvSpPr>
        <p:spPr>
          <a:ln/>
        </p:spPr>
      </p:sp>
      <p:sp>
        <p:nvSpPr>
          <p:cNvPr id="25604" name="Rectangle 3"/>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BD876CE-B73A-42C6-B894-C3C7A73F2E71}" type="slidenum">
              <a:rPr lang="en-US" altLang="zh-CN" smtClean="0">
                <a:latin typeface="Arial" panose="020B0604020202020204" pitchFamily="34" charset="0"/>
              </a:rPr>
              <a:pPr/>
              <a:t>61</a:t>
            </a:fld>
            <a:endParaRPr lang="en-US" altLang="zh-CN" smtClean="0">
              <a:latin typeface="Arial" panose="020B0604020202020204" pitchFamily="34" charset="0"/>
            </a:endParaRPr>
          </a:p>
        </p:txBody>
      </p:sp>
      <p:sp>
        <p:nvSpPr>
          <p:cNvPr id="121859" name="Rectangle 2"/>
          <p:cNvSpPr>
            <a:spLocks noGrp="1" noRot="1" noChangeAspect="1" noChangeArrowheads="1" noTextEdit="1"/>
          </p:cNvSpPr>
          <p:nvPr>
            <p:ph type="sldImg" idx="4294967295"/>
          </p:nvPr>
        </p:nvSpPr>
        <p:spPr>
          <a:ln/>
        </p:spPr>
      </p:sp>
      <p:sp>
        <p:nvSpPr>
          <p:cNvPr id="121860"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6455A28-8D48-4585-A2E0-4BE4CAF9F011}" type="slidenum">
              <a:rPr lang="en-US" altLang="zh-CN" smtClean="0">
                <a:latin typeface="Arial" panose="020B0604020202020204" pitchFamily="34" charset="0"/>
              </a:rPr>
              <a:pPr/>
              <a:t>62</a:t>
            </a:fld>
            <a:endParaRPr lang="en-US" altLang="zh-CN" smtClean="0">
              <a:latin typeface="Arial" panose="020B0604020202020204" pitchFamily="34" charset="0"/>
            </a:endParaRPr>
          </a:p>
        </p:txBody>
      </p:sp>
      <p:sp>
        <p:nvSpPr>
          <p:cNvPr id="123907" name="Rectangle 2"/>
          <p:cNvSpPr>
            <a:spLocks noGrp="1" noRot="1" noChangeAspect="1" noChangeArrowheads="1" noTextEdit="1"/>
          </p:cNvSpPr>
          <p:nvPr>
            <p:ph type="sldImg" idx="4294967295"/>
          </p:nvPr>
        </p:nvSpPr>
        <p:spPr>
          <a:ln/>
        </p:spPr>
      </p:sp>
      <p:sp>
        <p:nvSpPr>
          <p:cNvPr id="123908"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CADAEB9-09EA-4AAA-8927-5D217BC804B8}" type="slidenum">
              <a:rPr lang="en-US" altLang="zh-CN" smtClean="0">
                <a:latin typeface="Arial" panose="020B0604020202020204" pitchFamily="34" charset="0"/>
              </a:rPr>
              <a:pPr/>
              <a:t>63</a:t>
            </a:fld>
            <a:endParaRPr lang="en-US" altLang="zh-CN" smtClean="0">
              <a:latin typeface="Arial" panose="020B0604020202020204" pitchFamily="34" charset="0"/>
            </a:endParaRPr>
          </a:p>
        </p:txBody>
      </p:sp>
      <p:sp>
        <p:nvSpPr>
          <p:cNvPr id="125955" name="Rectangle 2"/>
          <p:cNvSpPr>
            <a:spLocks noGrp="1" noRot="1" noChangeAspect="1" noChangeArrowheads="1" noTextEdit="1"/>
          </p:cNvSpPr>
          <p:nvPr>
            <p:ph type="sldImg" idx="4294967295"/>
          </p:nvPr>
        </p:nvSpPr>
        <p:spPr>
          <a:ln/>
        </p:spPr>
      </p:sp>
      <p:sp>
        <p:nvSpPr>
          <p:cNvPr id="12595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5EB5ADC-18A9-4292-BE0D-45B7AB4EB061}" type="slidenum">
              <a:rPr lang="en-US" altLang="zh-CN" smtClean="0">
                <a:latin typeface="Arial" panose="020B0604020202020204" pitchFamily="34" charset="0"/>
              </a:rPr>
              <a:pPr/>
              <a:t>64</a:t>
            </a:fld>
            <a:endParaRPr lang="en-US" altLang="zh-CN" smtClean="0">
              <a:latin typeface="Arial" panose="020B0604020202020204" pitchFamily="34" charset="0"/>
            </a:endParaRPr>
          </a:p>
        </p:txBody>
      </p:sp>
      <p:sp>
        <p:nvSpPr>
          <p:cNvPr id="128003" name="Rectangle 2"/>
          <p:cNvSpPr>
            <a:spLocks noGrp="1" noRot="1" noChangeAspect="1" noChangeArrowheads="1" noTextEdit="1"/>
          </p:cNvSpPr>
          <p:nvPr>
            <p:ph type="sldImg" idx="4294967295"/>
          </p:nvPr>
        </p:nvSpPr>
        <p:spPr>
          <a:ln/>
        </p:spPr>
      </p:sp>
      <p:sp>
        <p:nvSpPr>
          <p:cNvPr id="128004"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8B7F786-07A2-473A-A0DB-A2157D2E6E3F}" type="slidenum">
              <a:rPr lang="en-US" altLang="zh-CN" smtClean="0">
                <a:latin typeface="Arial" panose="020B0604020202020204" pitchFamily="34" charset="0"/>
              </a:rPr>
              <a:pPr/>
              <a:t>65</a:t>
            </a:fld>
            <a:endParaRPr lang="en-US" altLang="zh-CN" smtClean="0">
              <a:latin typeface="Arial" panose="020B0604020202020204" pitchFamily="34" charset="0"/>
            </a:endParaRPr>
          </a:p>
        </p:txBody>
      </p:sp>
      <p:sp>
        <p:nvSpPr>
          <p:cNvPr id="130051" name="Rectangle 2"/>
          <p:cNvSpPr>
            <a:spLocks noGrp="1" noRot="1" noChangeAspect="1" noChangeArrowheads="1" noTextEdit="1"/>
          </p:cNvSpPr>
          <p:nvPr>
            <p:ph type="sldImg" idx="4294967295"/>
          </p:nvPr>
        </p:nvSpPr>
        <p:spPr>
          <a:ln/>
        </p:spPr>
      </p:sp>
      <p:sp>
        <p:nvSpPr>
          <p:cNvPr id="13005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1314299689 h 1000"/>
              <a:gd name="T6" fmla="*/ 0 w 1000"/>
              <a:gd name="T7" fmla="*/ 1314299689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fld id="{C63E1108-0723-4CC2-8F6F-0A8973C96AE5}" type="datetime1">
              <a:rPr lang="zh-CN" altLang="en-US"/>
              <a:pPr>
                <a:defRPr/>
              </a:pPr>
              <a:t>2025/9/11</a:t>
            </a:fld>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pPr>
              <a:defRPr/>
            </a:pPr>
            <a:fld id="{455534B7-6C22-4EA2-90EB-EEC5BBEA1C2D}" type="slidenum">
              <a:rPr lang="en-US" altLang="zh-CN"/>
              <a:pPr>
                <a:defRPr/>
              </a:pPr>
              <a:t>‹#›</a:t>
            </a:fld>
            <a:endParaRPr lang="en-US" altLang="zh-CN"/>
          </a:p>
        </p:txBody>
      </p:sp>
    </p:spTree>
    <p:extLst>
      <p:ext uri="{BB962C8B-B14F-4D97-AF65-F5344CB8AC3E}">
        <p14:creationId xmlns:p14="http://schemas.microsoft.com/office/powerpoint/2010/main" val="2589192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dt" sz="half" idx="10"/>
          </p:nvPr>
        </p:nvSpPr>
        <p:spPr>
          <a:ln/>
        </p:spPr>
        <p:txBody>
          <a:bodyPr/>
          <a:lstStyle>
            <a:lvl1pPr>
              <a:defRPr/>
            </a:lvl1pPr>
          </a:lstStyle>
          <a:p>
            <a:pPr>
              <a:defRPr/>
            </a:pPr>
            <a:fld id="{A11F0A36-078C-49A7-A224-356F9714628C}" type="datetime1">
              <a:rPr lang="zh-CN" altLang="en-US"/>
              <a:pPr>
                <a:defRPr/>
              </a:pPr>
              <a:t>2025/9/11</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0F6A9377-6361-40F5-AAF6-EDBC6B39C041}" type="slidenum">
              <a:rPr lang="en-US" altLang="zh-CN"/>
              <a:pPr>
                <a:defRPr/>
              </a:pPr>
              <a:t>‹#›</a:t>
            </a:fld>
            <a:endParaRPr lang="en-US" altLang="zh-CN"/>
          </a:p>
        </p:txBody>
      </p:sp>
    </p:spTree>
    <p:extLst>
      <p:ext uri="{BB962C8B-B14F-4D97-AF65-F5344CB8AC3E}">
        <p14:creationId xmlns:p14="http://schemas.microsoft.com/office/powerpoint/2010/main" val="351215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fld id="{7989A5A4-03E6-48E6-BB44-8F32A0BE3C84}" type="datetime1">
              <a:rPr lang="zh-CN" altLang="en-US"/>
              <a:pPr>
                <a:defRPr/>
              </a:pPr>
              <a:t>2025/9/11</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F5BFD347-9E7D-4F95-BC4E-B913A10D3F35}" type="slidenum">
              <a:rPr lang="en-US" altLang="zh-CN"/>
              <a:pPr>
                <a:defRPr/>
              </a:pPr>
              <a:t>‹#›</a:t>
            </a:fld>
            <a:endParaRPr lang="en-US" altLang="zh-CN"/>
          </a:p>
        </p:txBody>
      </p:sp>
    </p:spTree>
    <p:extLst>
      <p:ext uri="{BB962C8B-B14F-4D97-AF65-F5344CB8AC3E}">
        <p14:creationId xmlns:p14="http://schemas.microsoft.com/office/powerpoint/2010/main" val="3217095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6"/>
          <p:cNvSpPr>
            <a:spLocks noGrp="1" noChangeArrowheads="1"/>
          </p:cNvSpPr>
          <p:nvPr>
            <p:ph type="dt" sz="half" idx="10"/>
          </p:nvPr>
        </p:nvSpPr>
        <p:spPr>
          <a:ln/>
        </p:spPr>
        <p:txBody>
          <a:bodyPr/>
          <a:lstStyle>
            <a:lvl1pPr>
              <a:defRPr/>
            </a:lvl1pPr>
          </a:lstStyle>
          <a:p>
            <a:pPr>
              <a:defRPr/>
            </a:pPr>
            <a:fld id="{4B05BF12-8C47-47C0-9F11-491D87A746FE}" type="datetime1">
              <a:rPr lang="zh-CN" altLang="en-US"/>
              <a:pPr>
                <a:defRPr/>
              </a:pPr>
              <a:t>2025/9/11</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4955A2FA-C36D-4883-B803-5282D81738DE}" type="slidenum">
              <a:rPr lang="en-US" altLang="zh-CN"/>
              <a:pPr>
                <a:defRPr/>
              </a:pPr>
              <a:t>‹#›</a:t>
            </a:fld>
            <a:endParaRPr lang="en-US" altLang="zh-CN"/>
          </a:p>
        </p:txBody>
      </p:sp>
    </p:spTree>
    <p:extLst>
      <p:ext uri="{BB962C8B-B14F-4D97-AF65-F5344CB8AC3E}">
        <p14:creationId xmlns:p14="http://schemas.microsoft.com/office/powerpoint/2010/main" val="2885720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6"/>
          <p:cNvSpPr>
            <a:spLocks noGrp="1" noChangeArrowheads="1"/>
          </p:cNvSpPr>
          <p:nvPr>
            <p:ph type="dt" sz="half" idx="10"/>
          </p:nvPr>
        </p:nvSpPr>
        <p:spPr>
          <a:ln/>
        </p:spPr>
        <p:txBody>
          <a:bodyPr/>
          <a:lstStyle>
            <a:lvl1pPr>
              <a:defRPr/>
            </a:lvl1pPr>
          </a:lstStyle>
          <a:p>
            <a:pPr>
              <a:defRPr/>
            </a:pPr>
            <a:fld id="{84331DB5-2AD8-4D32-A027-5F1233431040}" type="datetime1">
              <a:rPr lang="zh-CN" altLang="en-US"/>
              <a:pPr>
                <a:defRPr/>
              </a:pPr>
              <a:t>2025/9/11</a:t>
            </a:fld>
            <a:endParaRPr lang="en-US" altLang="zh-CN"/>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a:ln/>
        </p:spPr>
        <p:txBody>
          <a:bodyPr/>
          <a:lstStyle>
            <a:lvl1pPr>
              <a:defRPr/>
            </a:lvl1pPr>
          </a:lstStyle>
          <a:p>
            <a:pPr>
              <a:defRPr/>
            </a:pPr>
            <a:fld id="{A66B6FC0-1A07-43D1-89C0-396E25534094}" type="slidenum">
              <a:rPr lang="en-US" altLang="zh-CN"/>
              <a:pPr>
                <a:defRPr/>
              </a:pPr>
              <a:t>‹#›</a:t>
            </a:fld>
            <a:endParaRPr lang="en-US" altLang="zh-CN"/>
          </a:p>
        </p:txBody>
      </p:sp>
    </p:spTree>
    <p:extLst>
      <p:ext uri="{BB962C8B-B14F-4D97-AF65-F5344CB8AC3E}">
        <p14:creationId xmlns:p14="http://schemas.microsoft.com/office/powerpoint/2010/main" val="1119141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dt" sz="half" idx="10"/>
          </p:nvPr>
        </p:nvSpPr>
        <p:spPr>
          <a:ln/>
        </p:spPr>
        <p:txBody>
          <a:bodyPr/>
          <a:lstStyle>
            <a:lvl1pPr>
              <a:defRPr/>
            </a:lvl1pPr>
          </a:lstStyle>
          <a:p>
            <a:pPr>
              <a:defRPr/>
            </a:pPr>
            <a:fld id="{8B6CC862-C58D-4B21-811D-F48E9E29008C}" type="datetime1">
              <a:rPr lang="zh-CN" altLang="en-US"/>
              <a:pPr>
                <a:defRPr/>
              </a:pPr>
              <a:t>2025/9/11</a:t>
            </a:fld>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15A49191-85CD-4C71-8A87-CBE6D292781E}" type="slidenum">
              <a:rPr lang="en-US" altLang="zh-CN"/>
              <a:pPr>
                <a:defRPr/>
              </a:pPr>
              <a:t>‹#›</a:t>
            </a:fld>
            <a:endParaRPr lang="en-US" altLang="zh-CN"/>
          </a:p>
        </p:txBody>
      </p:sp>
    </p:spTree>
    <p:extLst>
      <p:ext uri="{BB962C8B-B14F-4D97-AF65-F5344CB8AC3E}">
        <p14:creationId xmlns:p14="http://schemas.microsoft.com/office/powerpoint/2010/main" val="1908368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35DFB1C8-8B08-4C92-8A0C-2A9BAFCD3959}" type="datetime1">
              <a:rPr lang="zh-CN" altLang="en-US"/>
              <a:pPr>
                <a:defRPr/>
              </a:pPr>
              <a:t>2025/9/11</a:t>
            </a:fld>
            <a:endParaRPr lang="en-US" altLang="zh-CN"/>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a:ln/>
        </p:spPr>
        <p:txBody>
          <a:bodyPr/>
          <a:lstStyle>
            <a:lvl1pPr>
              <a:defRPr/>
            </a:lvl1pPr>
          </a:lstStyle>
          <a:p>
            <a:pPr>
              <a:defRPr/>
            </a:pPr>
            <a:fld id="{8E09A342-1075-479F-824C-6DB8030FCE36}" type="slidenum">
              <a:rPr lang="en-US" altLang="zh-CN"/>
              <a:pPr>
                <a:defRPr/>
              </a:pPr>
              <a:t>‹#›</a:t>
            </a:fld>
            <a:endParaRPr lang="en-US" altLang="zh-CN"/>
          </a:p>
        </p:txBody>
      </p:sp>
    </p:spTree>
    <p:extLst>
      <p:ext uri="{BB962C8B-B14F-4D97-AF65-F5344CB8AC3E}">
        <p14:creationId xmlns:p14="http://schemas.microsoft.com/office/powerpoint/2010/main" val="3422784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5482324B-0CE8-411D-8581-8C4CB112A772}" type="datetime1">
              <a:rPr lang="zh-CN" altLang="en-US"/>
              <a:pPr>
                <a:defRPr/>
              </a:pPr>
              <a:t>2025/9/11</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6A820E6F-F09C-4A46-BED6-E24914F15E17}" type="slidenum">
              <a:rPr lang="en-US" altLang="zh-CN"/>
              <a:pPr>
                <a:defRPr/>
              </a:pPr>
              <a:t>‹#›</a:t>
            </a:fld>
            <a:endParaRPr lang="en-US" altLang="zh-CN"/>
          </a:p>
        </p:txBody>
      </p:sp>
    </p:spTree>
    <p:extLst>
      <p:ext uri="{BB962C8B-B14F-4D97-AF65-F5344CB8AC3E}">
        <p14:creationId xmlns:p14="http://schemas.microsoft.com/office/powerpoint/2010/main" val="869444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2AFC3848-9A0A-47B6-9703-171C4CECA2C7}" type="datetime1">
              <a:rPr lang="zh-CN" altLang="en-US"/>
              <a:pPr>
                <a:defRPr/>
              </a:pPr>
              <a:t>2025/9/11</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087906E8-9186-4C50-9CD3-0DB249CEDA3F}" type="slidenum">
              <a:rPr lang="en-US" altLang="zh-CN"/>
              <a:pPr>
                <a:defRPr/>
              </a:pPr>
              <a:t>‹#›</a:t>
            </a:fld>
            <a:endParaRPr lang="en-US" altLang="zh-CN"/>
          </a:p>
        </p:txBody>
      </p:sp>
    </p:spTree>
    <p:extLst>
      <p:ext uri="{BB962C8B-B14F-4D97-AF65-F5344CB8AC3E}">
        <p14:creationId xmlns:p14="http://schemas.microsoft.com/office/powerpoint/2010/main" val="245701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dt" sz="half" idx="10"/>
          </p:nvPr>
        </p:nvSpPr>
        <p:spPr>
          <a:ln/>
        </p:spPr>
        <p:txBody>
          <a:bodyPr/>
          <a:lstStyle>
            <a:lvl1pPr>
              <a:defRPr/>
            </a:lvl1pPr>
          </a:lstStyle>
          <a:p>
            <a:pPr>
              <a:defRPr/>
            </a:pPr>
            <a:fld id="{E9E792B9-75FC-43E5-85D9-0299F9EE2DDC}" type="datetime1">
              <a:rPr lang="zh-CN" altLang="en-US"/>
              <a:pPr>
                <a:defRPr/>
              </a:pPr>
              <a:t>2025/9/11</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FBB547C1-5E28-4174-82C3-3B41EC300CEF}" type="slidenum">
              <a:rPr lang="en-US" altLang="zh-CN"/>
              <a:pPr>
                <a:defRPr/>
              </a:pPr>
              <a:t>‹#›</a:t>
            </a:fld>
            <a:endParaRPr lang="en-US" altLang="zh-CN"/>
          </a:p>
        </p:txBody>
      </p:sp>
    </p:spTree>
    <p:extLst>
      <p:ext uri="{BB962C8B-B14F-4D97-AF65-F5344CB8AC3E}">
        <p14:creationId xmlns:p14="http://schemas.microsoft.com/office/powerpoint/2010/main" val="2752431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dt" sz="half" idx="10"/>
          </p:nvPr>
        </p:nvSpPr>
        <p:spPr>
          <a:ln/>
        </p:spPr>
        <p:txBody>
          <a:bodyPr/>
          <a:lstStyle>
            <a:lvl1pPr>
              <a:defRPr/>
            </a:lvl1pPr>
          </a:lstStyle>
          <a:p>
            <a:pPr>
              <a:defRPr/>
            </a:pPr>
            <a:fld id="{A803F34B-8A71-4198-99AB-AD99D5B28C98}" type="datetime1">
              <a:rPr lang="zh-CN" altLang="en-US"/>
              <a:pPr>
                <a:defRPr/>
              </a:pPr>
              <a:t>2025/9/11</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75BF00D9-2E60-4AC2-8CCD-C0823364C262}" type="slidenum">
              <a:rPr lang="en-US" altLang="zh-CN"/>
              <a:pPr>
                <a:defRPr/>
              </a:pPr>
              <a:t>‹#›</a:t>
            </a:fld>
            <a:endParaRPr lang="en-US" altLang="zh-CN"/>
          </a:p>
        </p:txBody>
      </p:sp>
    </p:spTree>
    <p:extLst>
      <p:ext uri="{BB962C8B-B14F-4D97-AF65-F5344CB8AC3E}">
        <p14:creationId xmlns:p14="http://schemas.microsoft.com/office/powerpoint/2010/main" val="1808786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66738" y="304800"/>
            <a:ext cx="8008937" cy="57150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3" name="Rectangle 6"/>
          <p:cNvSpPr>
            <a:spLocks noGrp="1" noChangeArrowheads="1"/>
          </p:cNvSpPr>
          <p:nvPr>
            <p:ph type="dt" sz="half" idx="10"/>
          </p:nvPr>
        </p:nvSpPr>
        <p:spPr>
          <a:ln/>
        </p:spPr>
        <p:txBody>
          <a:bodyPr/>
          <a:lstStyle>
            <a:lvl1pPr>
              <a:defRPr/>
            </a:lvl1pPr>
          </a:lstStyle>
          <a:p>
            <a:pPr>
              <a:defRPr/>
            </a:pPr>
            <a:fld id="{66BE7673-82D1-4071-B015-FE277C1AC026}" type="datetime1">
              <a:rPr lang="zh-CN" altLang="en-US"/>
              <a:pPr>
                <a:defRPr/>
              </a:pPr>
              <a:t>2025/9/11</a:t>
            </a:fld>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21CFC2F3-4043-4BEB-87BE-5175BB94619F}" type="slidenum">
              <a:rPr lang="en-US" altLang="zh-CN"/>
              <a:pPr>
                <a:defRPr/>
              </a:pPr>
              <a:t>‹#›</a:t>
            </a:fld>
            <a:endParaRPr lang="en-US" altLang="zh-CN"/>
          </a:p>
        </p:txBody>
      </p:sp>
    </p:spTree>
    <p:extLst>
      <p:ext uri="{BB962C8B-B14F-4D97-AF65-F5344CB8AC3E}">
        <p14:creationId xmlns:p14="http://schemas.microsoft.com/office/powerpoint/2010/main" val="3674914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4294967295"/>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1314263702 h 1000"/>
              <a:gd name="T6" fmla="*/ 0 w 1000"/>
              <a:gd name="T7" fmla="*/ 1314263702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1029" name="Line 5"/>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a:defRPr/>
            </a:pPr>
            <a:fld id="{64EC539E-2A2C-415C-B7B3-80BA3163FBD1}" type="datetime1">
              <a:rPr lang="zh-CN" altLang="en-US"/>
              <a:pPr>
                <a:defRPr/>
              </a:pPr>
              <a:t>2025/9/11</a:t>
            </a:fld>
            <a:endParaRPr lang="en-US" altLang="zh-CN"/>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a:defRPr/>
            </a:pPr>
            <a:endParaRPr lang="en-US" altLang="zh-CN"/>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fld id="{836385C8-6C69-47B1-8D26-F543184C71A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1"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sldNum="0"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4.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5.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image" Target="../media/image7.wmf"/><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9.bin"/><Relationship Id="rId5" Type="http://schemas.openxmlformats.org/officeDocument/2006/relationships/image" Target="../media/image9.w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1.wmf"/><Relationship Id="rId4"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8.xml"/><Relationship Id="rId7" Type="http://schemas.openxmlformats.org/officeDocument/2006/relationships/image" Target="../media/image13.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12.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4.wmf"/></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10.xml"/><Relationship Id="rId7" Type="http://schemas.openxmlformats.org/officeDocument/2006/relationships/image" Target="../media/image18.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16.bin"/><Relationship Id="rId5" Type="http://schemas.openxmlformats.org/officeDocument/2006/relationships/image" Target="../media/image17.wmf"/><Relationship Id="rId4" Type="http://schemas.openxmlformats.org/officeDocument/2006/relationships/oleObject" Target="../embeddings/oleObject15.bin"/><Relationship Id="rId9" Type="http://schemas.openxmlformats.org/officeDocument/2006/relationships/image" Target="../media/image19.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19.wmf"/><Relationship Id="rId3" Type="http://schemas.openxmlformats.org/officeDocument/2006/relationships/notesSlide" Target="../notesSlides/notesSlide11.xml"/><Relationship Id="rId7" Type="http://schemas.openxmlformats.org/officeDocument/2006/relationships/image" Target="../media/image13.wmf"/><Relationship Id="rId12"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19.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14.wmf"/></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14.xml"/><Relationship Id="rId7"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24.bin"/><Relationship Id="rId5" Type="http://schemas.openxmlformats.org/officeDocument/2006/relationships/image" Target="../media/image20.wmf"/><Relationship Id="rId4" Type="http://schemas.openxmlformats.org/officeDocument/2006/relationships/oleObject" Target="../embeddings/oleObject23.bin"/><Relationship Id="rId9" Type="http://schemas.openxmlformats.org/officeDocument/2006/relationships/image" Target="../media/image22.w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27.bin"/><Relationship Id="rId5" Type="http://schemas.openxmlformats.org/officeDocument/2006/relationships/image" Target="../media/image23.wmf"/><Relationship Id="rId4" Type="http://schemas.openxmlformats.org/officeDocument/2006/relationships/oleObject" Target="../embeddings/oleObject26.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29.bin"/><Relationship Id="rId5" Type="http://schemas.openxmlformats.org/officeDocument/2006/relationships/image" Target="../media/image25.wmf"/><Relationship Id="rId4" Type="http://schemas.openxmlformats.org/officeDocument/2006/relationships/oleObject" Target="../embeddings/oleObject28.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28.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31.bin"/><Relationship Id="rId5" Type="http://schemas.openxmlformats.org/officeDocument/2006/relationships/image" Target="../media/image27.wmf"/><Relationship Id="rId4"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30.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33.bin"/><Relationship Id="rId5" Type="http://schemas.openxmlformats.org/officeDocument/2006/relationships/image" Target="../media/image29.wmf"/><Relationship Id="rId4" Type="http://schemas.openxmlformats.org/officeDocument/2006/relationships/oleObject" Target="../embeddings/oleObject32.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35.bin"/><Relationship Id="rId5" Type="http://schemas.openxmlformats.org/officeDocument/2006/relationships/image" Target="../media/image31.wmf"/><Relationship Id="rId4" Type="http://schemas.openxmlformats.org/officeDocument/2006/relationships/oleObject" Target="../embeddings/oleObject34.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34.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37.bin"/><Relationship Id="rId5" Type="http://schemas.openxmlformats.org/officeDocument/2006/relationships/image" Target="../media/image33.wmf"/><Relationship Id="rId4" Type="http://schemas.openxmlformats.org/officeDocument/2006/relationships/oleObject" Target="../embeddings/oleObject36.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36.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39.bin"/><Relationship Id="rId5" Type="http://schemas.openxmlformats.org/officeDocument/2006/relationships/image" Target="../media/image35.wmf"/><Relationship Id="rId4" Type="http://schemas.openxmlformats.org/officeDocument/2006/relationships/oleObject" Target="../embeddings/oleObject38.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41.bin"/><Relationship Id="rId5" Type="http://schemas.openxmlformats.org/officeDocument/2006/relationships/image" Target="../media/image37.wmf"/><Relationship Id="rId4" Type="http://schemas.openxmlformats.org/officeDocument/2006/relationships/oleObject" Target="../embeddings/oleObject40.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40.png"/><Relationship Id="rId5" Type="http://schemas.openxmlformats.org/officeDocument/2006/relationships/image" Target="../media/image39.wmf"/><Relationship Id="rId4" Type="http://schemas.openxmlformats.org/officeDocument/2006/relationships/oleObject" Target="../embeddings/oleObject42.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42.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44.bin"/><Relationship Id="rId5" Type="http://schemas.openxmlformats.org/officeDocument/2006/relationships/image" Target="../media/image41.wmf"/><Relationship Id="rId4" Type="http://schemas.openxmlformats.org/officeDocument/2006/relationships/oleObject" Target="../embeddings/oleObject43.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43.wmf"/><Relationship Id="rId4" Type="http://schemas.openxmlformats.org/officeDocument/2006/relationships/oleObject" Target="../embeddings/oleObject45.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notesSlide" Target="../notesSlides/notesSlide26.xml"/><Relationship Id="rId7" Type="http://schemas.openxmlformats.org/officeDocument/2006/relationships/image" Target="../media/image45.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47.bin"/><Relationship Id="rId11" Type="http://schemas.openxmlformats.org/officeDocument/2006/relationships/image" Target="../media/image47.wmf"/><Relationship Id="rId5" Type="http://schemas.openxmlformats.org/officeDocument/2006/relationships/image" Target="../media/image44.w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46.w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49.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51.bin"/><Relationship Id="rId5" Type="http://schemas.openxmlformats.org/officeDocument/2006/relationships/image" Target="../media/image48.wmf"/><Relationship Id="rId4" Type="http://schemas.openxmlformats.org/officeDocument/2006/relationships/oleObject" Target="../embeddings/oleObject50.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7" Type="http://schemas.openxmlformats.org/officeDocument/2006/relationships/image" Target="../media/image51.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53.bin"/><Relationship Id="rId5" Type="http://schemas.openxmlformats.org/officeDocument/2006/relationships/image" Target="../media/image50.wmf"/><Relationship Id="rId4" Type="http://schemas.openxmlformats.org/officeDocument/2006/relationships/oleObject" Target="../embeddings/oleObject52.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52.wmf"/><Relationship Id="rId5" Type="http://schemas.openxmlformats.org/officeDocument/2006/relationships/oleObject" Target="../embeddings/oleObject54.bin"/><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7.xml"/><Relationship Id="rId1" Type="http://schemas.openxmlformats.org/officeDocument/2006/relationships/vmlDrawing" Target="../drawings/vmlDrawing26.vml"/><Relationship Id="rId5" Type="http://schemas.openxmlformats.org/officeDocument/2006/relationships/image" Target="../media/image54.wmf"/><Relationship Id="rId4" Type="http://schemas.openxmlformats.org/officeDocument/2006/relationships/oleObject" Target="../embeddings/oleObject55.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55.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7" Type="http://schemas.openxmlformats.org/officeDocument/2006/relationships/image" Target="../media/image57.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58.bin"/><Relationship Id="rId5" Type="http://schemas.openxmlformats.org/officeDocument/2006/relationships/image" Target="../media/image56.wmf"/><Relationship Id="rId4" Type="http://schemas.openxmlformats.org/officeDocument/2006/relationships/oleObject" Target="../embeddings/oleObject57.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notesSlide" Target="../notesSlides/notesSlide40.xml"/><Relationship Id="rId7" Type="http://schemas.openxmlformats.org/officeDocument/2006/relationships/image" Target="../media/image59.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60.bin"/><Relationship Id="rId11" Type="http://schemas.openxmlformats.org/officeDocument/2006/relationships/image" Target="../media/image61.wmf"/><Relationship Id="rId5" Type="http://schemas.openxmlformats.org/officeDocument/2006/relationships/image" Target="../media/image58.w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60.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notesSlide" Target="../notesSlides/notesSlide41.xml"/><Relationship Id="rId7" Type="http://schemas.openxmlformats.org/officeDocument/2006/relationships/image" Target="../media/image62.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64.bin"/><Relationship Id="rId11" Type="http://schemas.openxmlformats.org/officeDocument/2006/relationships/image" Target="../media/image63.wmf"/><Relationship Id="rId5" Type="http://schemas.openxmlformats.org/officeDocument/2006/relationships/image" Target="../media/image56.wmf"/><Relationship Id="rId10" Type="http://schemas.openxmlformats.org/officeDocument/2006/relationships/oleObject" Target="../embeddings/oleObject66.bin"/><Relationship Id="rId4" Type="http://schemas.openxmlformats.org/officeDocument/2006/relationships/oleObject" Target="../embeddings/oleObject63.bin"/><Relationship Id="rId9" Type="http://schemas.openxmlformats.org/officeDocument/2006/relationships/image" Target="../media/image57.wmf"/></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7" Type="http://schemas.openxmlformats.org/officeDocument/2006/relationships/image" Target="../media/image57.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68.bin"/><Relationship Id="rId5" Type="http://schemas.openxmlformats.org/officeDocument/2006/relationships/image" Target="../media/image56.wmf"/><Relationship Id="rId4" Type="http://schemas.openxmlformats.org/officeDocument/2006/relationships/oleObject" Target="../embeddings/oleObject67.bin"/></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70.bin"/><Relationship Id="rId5" Type="http://schemas.openxmlformats.org/officeDocument/2006/relationships/image" Target="../media/image64.wmf"/><Relationship Id="rId4" Type="http://schemas.openxmlformats.org/officeDocument/2006/relationships/oleObject" Target="../embeddings/oleObject69.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vmlDrawing" Target="../drawings/vmlDrawing33.vml"/><Relationship Id="rId5" Type="http://schemas.openxmlformats.org/officeDocument/2006/relationships/image" Target="../media/image66.wmf"/><Relationship Id="rId4" Type="http://schemas.openxmlformats.org/officeDocument/2006/relationships/oleObject" Target="../embeddings/oleObject71.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notesSlide" Target="../notesSlides/notesSlide47.xml"/><Relationship Id="rId7" Type="http://schemas.openxmlformats.org/officeDocument/2006/relationships/image" Target="../media/image68.wmf"/><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73.bin"/><Relationship Id="rId5" Type="http://schemas.openxmlformats.org/officeDocument/2006/relationships/image" Target="../media/image67.wmf"/><Relationship Id="rId4" Type="http://schemas.openxmlformats.org/officeDocument/2006/relationships/oleObject" Target="../embeddings/oleObject72.bin"/><Relationship Id="rId9" Type="http://schemas.openxmlformats.org/officeDocument/2006/relationships/image" Target="../media/image69.wmf"/></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8.xml"/><Relationship Id="rId7"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76.bin"/><Relationship Id="rId5" Type="http://schemas.openxmlformats.org/officeDocument/2006/relationships/image" Target="../media/image64.wmf"/><Relationship Id="rId4" Type="http://schemas.openxmlformats.org/officeDocument/2006/relationships/oleObject" Target="../embeddings/oleObject75.bin"/></Relationships>
</file>

<file path=ppt/slides/_rels/slide54.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notesSlide" Target="../notesSlides/notesSlide49.xml"/><Relationship Id="rId7"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78.bin"/><Relationship Id="rId5" Type="http://schemas.openxmlformats.org/officeDocument/2006/relationships/image" Target="../media/image64.wmf"/><Relationship Id="rId4" Type="http://schemas.openxmlformats.org/officeDocument/2006/relationships/oleObject" Target="../embeddings/oleObject77.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vmlDrawing" Target="../drawings/vmlDrawing37.vml"/><Relationship Id="rId5" Type="http://schemas.openxmlformats.org/officeDocument/2006/relationships/image" Target="../media/image71.wmf"/><Relationship Id="rId4" Type="http://schemas.openxmlformats.org/officeDocument/2006/relationships/oleObject" Target="../embeddings/oleObject79.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vmlDrawing" Target="../drawings/vmlDrawing38.vml"/><Relationship Id="rId5" Type="http://schemas.openxmlformats.org/officeDocument/2006/relationships/image" Target="../media/image71.wmf"/><Relationship Id="rId4" Type="http://schemas.openxmlformats.org/officeDocument/2006/relationships/oleObject" Target="../embeddings/oleObject80.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2.xml"/><Relationship Id="rId7"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82.bin"/><Relationship Id="rId5" Type="http://schemas.openxmlformats.org/officeDocument/2006/relationships/image" Target="../media/image64.wmf"/><Relationship Id="rId4" Type="http://schemas.openxmlformats.org/officeDocument/2006/relationships/oleObject" Target="../embeddings/oleObject81.bin"/></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3.xml"/><Relationship Id="rId7"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84.bin"/><Relationship Id="rId5" Type="http://schemas.openxmlformats.org/officeDocument/2006/relationships/image" Target="../media/image64.wmf"/><Relationship Id="rId4" Type="http://schemas.openxmlformats.org/officeDocument/2006/relationships/oleObject" Target="../embeddings/oleObject83.bin"/></Relationships>
</file>

<file path=ppt/slides/_rels/slide5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notesSlide" Target="../notesSlides/notesSlide54.xml"/><Relationship Id="rId7"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86.bin"/><Relationship Id="rId5" Type="http://schemas.openxmlformats.org/officeDocument/2006/relationships/image" Target="../media/image64.wmf"/><Relationship Id="rId4" Type="http://schemas.openxmlformats.org/officeDocument/2006/relationships/oleObject" Target="../embeddings/oleObject85.bin"/></Relationships>
</file>

<file path=ppt/slides/_rels/slide60.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notesSlide" Target="../notesSlides/notesSlide55.xml"/><Relationship Id="rId7"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oleObject" Target="../embeddings/oleObject88.bin"/><Relationship Id="rId5" Type="http://schemas.openxmlformats.org/officeDocument/2006/relationships/image" Target="../media/image64.wmf"/><Relationship Id="rId4" Type="http://schemas.openxmlformats.org/officeDocument/2006/relationships/oleObject" Target="../embeddings/oleObject87.bin"/><Relationship Id="rId9" Type="http://schemas.openxmlformats.org/officeDocument/2006/relationships/image" Target="../media/image72.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vmlDrawing" Target="../drawings/vmlDrawing43.vml"/><Relationship Id="rId5" Type="http://schemas.openxmlformats.org/officeDocument/2006/relationships/image" Target="../media/image66.wmf"/><Relationship Id="rId4" Type="http://schemas.openxmlformats.org/officeDocument/2006/relationships/oleObject" Target="../embeddings/oleObject89.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vmlDrawing" Target="../drawings/vmlDrawing44.vml"/><Relationship Id="rId5" Type="http://schemas.openxmlformats.org/officeDocument/2006/relationships/image" Target="../media/image66.wmf"/><Relationship Id="rId4" Type="http://schemas.openxmlformats.org/officeDocument/2006/relationships/oleObject" Target="../embeddings/oleObject90.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vmlDrawing" Target="../drawings/vmlDrawing45.vml"/><Relationship Id="rId5" Type="http://schemas.openxmlformats.org/officeDocument/2006/relationships/image" Target="../media/image73.wmf"/><Relationship Id="rId4" Type="http://schemas.openxmlformats.org/officeDocument/2006/relationships/oleObject" Target="../embeddings/oleObject91.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75.w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93.bin"/><Relationship Id="rId5" Type="http://schemas.openxmlformats.org/officeDocument/2006/relationships/image" Target="../media/image74.wmf"/><Relationship Id="rId4" Type="http://schemas.openxmlformats.org/officeDocument/2006/relationships/oleObject" Target="../embeddings/oleObject92.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p:cNvSpPr>
            <a:spLocks noGrp="1" noChangeArrowheads="1"/>
          </p:cNvSpPr>
          <p:nvPr>
            <p:ph idx="1"/>
          </p:nvPr>
        </p:nvSpPr>
        <p:spPr>
          <a:xfrm>
            <a:off x="506413" y="2060575"/>
            <a:ext cx="8313737" cy="3024188"/>
          </a:xfrm>
        </p:spPr>
        <p:txBody>
          <a:bodyPr/>
          <a:lstStyle/>
          <a:p>
            <a:pPr>
              <a:lnSpc>
                <a:spcPct val="150000"/>
              </a:lnSpc>
            </a:pPr>
            <a:r>
              <a:rPr lang="zh-CN" altLang="en-US" dirty="0" smtClean="0"/>
              <a:t>拉式反变换（部分分式法）</a:t>
            </a:r>
            <a:endParaRPr lang="en-US" altLang="zh-CN" dirty="0" smtClean="0"/>
          </a:p>
          <a:p>
            <a:pPr>
              <a:lnSpc>
                <a:spcPct val="150000"/>
              </a:lnSpc>
            </a:pPr>
            <a:r>
              <a:rPr lang="zh-CN" altLang="en-US" dirty="0" smtClean="0"/>
              <a:t>传递函数的概念</a:t>
            </a:r>
          </a:p>
          <a:p>
            <a:pPr>
              <a:lnSpc>
                <a:spcPct val="150000"/>
              </a:lnSpc>
            </a:pPr>
            <a:r>
              <a:rPr lang="zh-CN" altLang="en-US" dirty="0" smtClean="0"/>
              <a:t>由微分方程建立传递函数</a:t>
            </a:r>
          </a:p>
          <a:p>
            <a:pPr>
              <a:lnSpc>
                <a:spcPct val="150000"/>
              </a:lnSpc>
            </a:pPr>
            <a:r>
              <a:rPr lang="zh-CN" altLang="en-US" dirty="0" smtClean="0"/>
              <a:t>传递函数的一般形式、特征方程、零点和极点</a:t>
            </a:r>
          </a:p>
        </p:txBody>
      </p:sp>
      <p:sp>
        <p:nvSpPr>
          <p:cNvPr id="5123"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3070676-7719-43B4-950C-854291A0D3FC}" type="datetime1">
              <a:rPr lang="zh-CN" altLang="en-US" smtClean="0"/>
              <a:pPr/>
              <a:t>2025/9/11</a:t>
            </a:fld>
            <a:endParaRPr lang="en-US" altLang="zh-CN" smtClean="0"/>
          </a:p>
        </p:txBody>
      </p:sp>
      <p:sp>
        <p:nvSpPr>
          <p:cNvPr id="5124" name="文本框 1"/>
          <p:cNvSpPr txBox="1">
            <a:spLocks noChangeArrowheads="1"/>
          </p:cNvSpPr>
          <p:nvPr/>
        </p:nvSpPr>
        <p:spPr bwMode="auto">
          <a:xfrm>
            <a:off x="504825" y="909638"/>
            <a:ext cx="20367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b="1"/>
              <a:t>上节回顾</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44F636C-1044-4C6D-B85A-61624AFD03FF}" type="datetime1">
              <a:rPr lang="zh-CN" altLang="en-US" smtClean="0"/>
              <a:pPr/>
              <a:t>2025/9/11</a:t>
            </a:fld>
            <a:endParaRPr lang="zh-CN" altLang="en-US" smtClean="0"/>
          </a:p>
        </p:txBody>
      </p:sp>
      <p:sp>
        <p:nvSpPr>
          <p:cNvPr id="6147"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458EA1A-7B9E-4E0A-947B-6D61D248A6D0}" type="slidenum">
              <a:rPr lang="en-US" altLang="zh-CN" smtClean="0"/>
              <a:pPr/>
              <a:t>2</a:t>
            </a:fld>
            <a:endParaRPr lang="en-US" altLang="zh-CN" smtClean="0"/>
          </a:p>
        </p:txBody>
      </p:sp>
      <p:sp>
        <p:nvSpPr>
          <p:cNvPr id="6148" name="Text Box 3"/>
          <p:cNvSpPr txBox="1">
            <a:spLocks noChangeArrowheads="1"/>
          </p:cNvSpPr>
          <p:nvPr/>
        </p:nvSpPr>
        <p:spPr bwMode="auto">
          <a:xfrm>
            <a:off x="1908175" y="692150"/>
            <a:ext cx="341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2</a:t>
            </a:r>
            <a:r>
              <a:rPr lang="zh-CN" altLang="en-US" sz="3600">
                <a:latin typeface="Times New Roman" panose="02020603050405020304" pitchFamily="18" charset="0"/>
                <a:ea typeface="华文新魏" panose="02010800040101010101" pitchFamily="2" charset="-122"/>
              </a:rPr>
              <a:t>章  数学模型</a:t>
            </a:r>
          </a:p>
        </p:txBody>
      </p:sp>
      <p:sp>
        <p:nvSpPr>
          <p:cNvPr id="6149" name="Rectangle 4"/>
          <p:cNvSpPr>
            <a:spLocks noChangeArrowheads="1"/>
          </p:cNvSpPr>
          <p:nvPr/>
        </p:nvSpPr>
        <p:spPr bwMode="auto">
          <a:xfrm>
            <a:off x="1981200" y="2209800"/>
            <a:ext cx="377507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2.2   </a:t>
            </a:r>
            <a:r>
              <a:rPr lang="zh-CN" altLang="en-US" sz="2800">
                <a:latin typeface="Times New Roman" panose="02020603050405020304" pitchFamily="18" charset="0"/>
                <a:ea typeface="黑体" panose="02010609060101010101" pitchFamily="49" charset="-122"/>
              </a:rPr>
              <a:t>拉氏变换和反变换</a:t>
            </a:r>
          </a:p>
        </p:txBody>
      </p:sp>
      <p:sp>
        <p:nvSpPr>
          <p:cNvPr id="6150" name="Rectangle 5"/>
          <p:cNvSpPr>
            <a:spLocks noChangeArrowheads="1"/>
          </p:cNvSpPr>
          <p:nvPr/>
        </p:nvSpPr>
        <p:spPr bwMode="auto">
          <a:xfrm>
            <a:off x="1981200" y="2757488"/>
            <a:ext cx="23383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2.3   </a:t>
            </a:r>
            <a:r>
              <a:rPr lang="zh-CN" altLang="en-US" sz="2800">
                <a:solidFill>
                  <a:srgbClr val="FF0000"/>
                </a:solidFill>
                <a:latin typeface="Times New Roman" panose="02020603050405020304" pitchFamily="18" charset="0"/>
                <a:ea typeface="黑体" panose="02010609060101010101" pitchFamily="49" charset="-122"/>
              </a:rPr>
              <a:t>传递函数</a:t>
            </a:r>
          </a:p>
        </p:txBody>
      </p:sp>
      <p:sp>
        <p:nvSpPr>
          <p:cNvPr id="6151" name="Rectangle 6"/>
          <p:cNvSpPr>
            <a:spLocks noChangeArrowheads="1"/>
          </p:cNvSpPr>
          <p:nvPr/>
        </p:nvSpPr>
        <p:spPr bwMode="auto">
          <a:xfrm>
            <a:off x="1981200" y="3967163"/>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2.5   </a:t>
            </a:r>
            <a:r>
              <a:rPr lang="zh-CN" altLang="en-US" sz="2800">
                <a:latin typeface="Times New Roman" panose="02020603050405020304" pitchFamily="18" charset="0"/>
                <a:ea typeface="黑体" panose="02010609060101010101" pitchFamily="49" charset="-122"/>
              </a:rPr>
              <a:t>非线性数学模型的线性化</a:t>
            </a:r>
          </a:p>
        </p:txBody>
      </p:sp>
      <p:sp>
        <p:nvSpPr>
          <p:cNvPr id="6152" name="Rectangle 7"/>
          <p:cNvSpPr>
            <a:spLocks noChangeArrowheads="1"/>
          </p:cNvSpPr>
          <p:nvPr/>
        </p:nvSpPr>
        <p:spPr bwMode="auto">
          <a:xfrm>
            <a:off x="1979613" y="3330575"/>
            <a:ext cx="4494212"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2.4   </a:t>
            </a:r>
            <a:r>
              <a:rPr lang="zh-CN" altLang="en-US" sz="2800">
                <a:latin typeface="Times New Roman" panose="02020603050405020304" pitchFamily="18" charset="0"/>
                <a:ea typeface="黑体" panose="02010609060101010101" pitchFamily="49" charset="-122"/>
              </a:rPr>
              <a:t>系统方框图和信号流图</a:t>
            </a:r>
          </a:p>
        </p:txBody>
      </p:sp>
      <p:sp>
        <p:nvSpPr>
          <p:cNvPr id="6153" name="Rectangle 8"/>
          <p:cNvSpPr>
            <a:spLocks noChangeArrowheads="1"/>
          </p:cNvSpPr>
          <p:nvPr/>
        </p:nvSpPr>
        <p:spPr bwMode="auto">
          <a:xfrm>
            <a:off x="1981200" y="4405313"/>
            <a:ext cx="5211763"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2.6   </a:t>
            </a:r>
            <a:r>
              <a:rPr lang="zh-CN" altLang="en-US" sz="2800">
                <a:latin typeface="Times New Roman" panose="02020603050405020304" pitchFamily="18" charset="0"/>
                <a:ea typeface="黑体" panose="02010609060101010101" pitchFamily="49" charset="-122"/>
              </a:rPr>
              <a:t>控制系统传递函数推导举例</a:t>
            </a:r>
          </a:p>
        </p:txBody>
      </p:sp>
      <p:sp>
        <p:nvSpPr>
          <p:cNvPr id="6154" name="Rectangle 11"/>
          <p:cNvSpPr>
            <a:spLocks noChangeArrowheads="1"/>
          </p:cNvSpPr>
          <p:nvPr/>
        </p:nvSpPr>
        <p:spPr bwMode="auto">
          <a:xfrm>
            <a:off x="1981200" y="1676400"/>
            <a:ext cx="485298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2.1   </a:t>
            </a:r>
            <a:r>
              <a:rPr lang="zh-CN" altLang="en-US" sz="2800">
                <a:latin typeface="Times New Roman" panose="02020603050405020304" pitchFamily="18" charset="0"/>
                <a:ea typeface="黑体" panose="02010609060101010101" pitchFamily="49" charset="-122"/>
              </a:rPr>
              <a:t>控制系统的运动微分方程</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ChangeArrowheads="1"/>
          </p:cNvSpPr>
          <p:nvPr/>
        </p:nvSpPr>
        <p:spPr bwMode="auto">
          <a:xfrm>
            <a:off x="1116013" y="981075"/>
            <a:ext cx="4032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zh-CN" altLang="en-US" sz="2800" b="1">
                <a:latin typeface="宋体" panose="02010600030101010101" pitchFamily="2" charset="-122"/>
              </a:rPr>
              <a:t>环节的分类  </a:t>
            </a:r>
          </a:p>
        </p:txBody>
      </p:sp>
      <p:graphicFrame>
        <p:nvGraphicFramePr>
          <p:cNvPr id="28676" name="Object 4"/>
          <p:cNvGraphicFramePr>
            <a:graphicFrameLocks noChangeAspect="1"/>
          </p:cNvGraphicFramePr>
          <p:nvPr/>
        </p:nvGraphicFramePr>
        <p:xfrm>
          <a:off x="1628775" y="3675063"/>
          <a:ext cx="6019800" cy="923925"/>
        </p:xfrm>
        <a:graphic>
          <a:graphicData uri="http://schemas.openxmlformats.org/presentationml/2006/ole">
            <mc:AlternateContent xmlns:mc="http://schemas.openxmlformats.org/markup-compatibility/2006">
              <mc:Choice xmlns:v="urn:schemas-microsoft-com:vml" Requires="v">
                <p:oleObj spid="_x0000_s139269" r:id="rId4" imgW="3225800" imgH="495300" progId="Equation.3">
                  <p:embed/>
                </p:oleObj>
              </mc:Choice>
              <mc:Fallback>
                <p:oleObj r:id="rId4" imgW="3225800" imgH="495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8775" y="3675063"/>
                        <a:ext cx="6019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677" name="Rectangle 5"/>
          <p:cNvSpPr>
            <a:spLocks noChangeArrowheads="1"/>
          </p:cNvSpPr>
          <p:nvPr/>
        </p:nvSpPr>
        <p:spPr bwMode="auto">
          <a:xfrm>
            <a:off x="1500188" y="1925638"/>
            <a:ext cx="70866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假设系统有</a:t>
            </a:r>
            <a:r>
              <a:rPr lang="en-US" altLang="zh-CN" sz="2800" i="1">
                <a:latin typeface="Times New Roman" panose="02020603050405020304" pitchFamily="18" charset="0"/>
              </a:rPr>
              <a:t>b</a:t>
            </a:r>
            <a:r>
              <a:rPr lang="zh-CN" altLang="en-US" sz="2800">
                <a:latin typeface="Times New Roman" panose="02020603050405020304" pitchFamily="18" charset="0"/>
              </a:rPr>
              <a:t>个实零点，</a:t>
            </a:r>
            <a:r>
              <a:rPr lang="en-US" altLang="zh-CN" sz="2800" i="1">
                <a:latin typeface="Times New Roman" panose="02020603050405020304" pitchFamily="18" charset="0"/>
              </a:rPr>
              <a:t>c </a:t>
            </a:r>
            <a:r>
              <a:rPr lang="zh-CN" altLang="en-US" sz="2800">
                <a:latin typeface="Times New Roman" panose="02020603050405020304" pitchFamily="18" charset="0"/>
              </a:rPr>
              <a:t>对复零点，</a:t>
            </a:r>
            <a:r>
              <a:rPr lang="en-US" altLang="zh-CN" sz="2800" i="1">
                <a:latin typeface="Times New Roman" panose="02020603050405020304" pitchFamily="18" charset="0"/>
              </a:rPr>
              <a:t>d </a:t>
            </a:r>
            <a:r>
              <a:rPr lang="zh-CN" altLang="en-US" sz="2800">
                <a:latin typeface="Times New Roman" panose="02020603050405020304" pitchFamily="18" charset="0"/>
              </a:rPr>
              <a:t>个实极点，</a:t>
            </a:r>
            <a:r>
              <a:rPr lang="en-US" altLang="zh-CN" sz="2800" i="1">
                <a:latin typeface="Times New Roman" panose="02020603050405020304" pitchFamily="18" charset="0"/>
              </a:rPr>
              <a:t>e</a:t>
            </a:r>
            <a:r>
              <a:rPr lang="zh-CN" altLang="en-US" sz="2800">
                <a:latin typeface="Times New Roman" panose="02020603050405020304" pitchFamily="18" charset="0"/>
              </a:rPr>
              <a:t>对复极点和</a:t>
            </a:r>
            <a:r>
              <a:rPr lang="en-US" altLang="zh-CN" sz="2800" i="1">
                <a:latin typeface="Times New Roman" panose="02020603050405020304" pitchFamily="18" charset="0"/>
              </a:rPr>
              <a:t>v</a:t>
            </a:r>
            <a:r>
              <a:rPr lang="zh-CN" altLang="en-US" sz="2800">
                <a:latin typeface="Times New Roman" panose="02020603050405020304" pitchFamily="18" charset="0"/>
              </a:rPr>
              <a:t>个零极点，由线性系统传递函数的零、极点表达式：</a:t>
            </a:r>
          </a:p>
        </p:txBody>
      </p:sp>
      <p:sp>
        <p:nvSpPr>
          <p:cNvPr id="28678" name="Rectangle 6"/>
          <p:cNvSpPr>
            <a:spLocks noChangeArrowheads="1"/>
          </p:cNvSpPr>
          <p:nvPr/>
        </p:nvSpPr>
        <p:spPr bwMode="auto">
          <a:xfrm>
            <a:off x="1476375" y="4724400"/>
            <a:ext cx="45720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a:latin typeface="Times New Roman" panose="02020603050405020304" pitchFamily="18" charset="0"/>
              </a:rPr>
              <a:t>可见：</a:t>
            </a:r>
            <a:r>
              <a:rPr lang="en-US" altLang="zh-CN" sz="2800" i="1">
                <a:latin typeface="Times New Roman" panose="02020603050405020304" pitchFamily="18" charset="0"/>
              </a:rPr>
              <a:t>b</a:t>
            </a:r>
            <a:r>
              <a:rPr lang="en-US" altLang="zh-CN" sz="2800">
                <a:latin typeface="Times New Roman" panose="02020603050405020304" pitchFamily="18" charset="0"/>
              </a:rPr>
              <a:t>+2</a:t>
            </a:r>
            <a:r>
              <a:rPr lang="en-US" altLang="zh-CN" sz="2800" i="1">
                <a:latin typeface="Times New Roman" panose="02020603050405020304" pitchFamily="18" charset="0"/>
              </a:rPr>
              <a:t>c </a:t>
            </a:r>
            <a:r>
              <a:rPr lang="en-US" altLang="zh-CN" sz="2800">
                <a:latin typeface="Times New Roman" panose="02020603050405020304" pitchFamily="18" charset="0"/>
              </a:rPr>
              <a:t>= </a:t>
            </a:r>
            <a:r>
              <a:rPr lang="en-US" altLang="zh-CN" sz="2800" i="1">
                <a:latin typeface="Times New Roman" panose="02020603050405020304" pitchFamily="18" charset="0"/>
              </a:rPr>
              <a:t>m</a:t>
            </a:r>
            <a:endParaRPr lang="en-US" altLang="zh-CN" sz="2800">
              <a:latin typeface="Times New Roman" panose="02020603050405020304" pitchFamily="18" charset="0"/>
            </a:endParaRPr>
          </a:p>
          <a:p>
            <a:pPr>
              <a:lnSpc>
                <a:spcPct val="115000"/>
              </a:lnSpc>
            </a:pPr>
            <a:r>
              <a:rPr lang="en-US" altLang="zh-CN" sz="2800">
                <a:latin typeface="Times New Roman" panose="02020603050405020304" pitchFamily="18" charset="0"/>
              </a:rPr>
              <a:t>            </a:t>
            </a:r>
            <a:r>
              <a:rPr lang="en-US" altLang="zh-CN" sz="2800" i="1">
                <a:latin typeface="Times New Roman" panose="02020603050405020304" pitchFamily="18" charset="0"/>
              </a:rPr>
              <a:t>v</a:t>
            </a:r>
            <a:r>
              <a:rPr lang="en-US" altLang="zh-CN" sz="2800">
                <a:latin typeface="Times New Roman" panose="02020603050405020304" pitchFamily="18" charset="0"/>
              </a:rPr>
              <a:t>+</a:t>
            </a:r>
            <a:r>
              <a:rPr lang="en-US" altLang="zh-CN" sz="2800" i="1">
                <a:latin typeface="Times New Roman" panose="02020603050405020304" pitchFamily="18" charset="0"/>
              </a:rPr>
              <a:t>d</a:t>
            </a:r>
            <a:r>
              <a:rPr lang="en-US" altLang="zh-CN" sz="2800">
                <a:latin typeface="Times New Roman" panose="02020603050405020304" pitchFamily="18" charset="0"/>
              </a:rPr>
              <a:t>+2</a:t>
            </a:r>
            <a:r>
              <a:rPr lang="en-US" altLang="zh-CN" sz="2800" i="1">
                <a:latin typeface="Times New Roman" panose="02020603050405020304" pitchFamily="18" charset="0"/>
              </a:rPr>
              <a:t>e </a:t>
            </a:r>
            <a:r>
              <a:rPr lang="en-US" altLang="zh-CN" sz="2800">
                <a:latin typeface="Times New Roman" panose="02020603050405020304" pitchFamily="18" charset="0"/>
              </a:rPr>
              <a:t>= </a:t>
            </a:r>
            <a:r>
              <a:rPr lang="en-US" altLang="zh-CN" sz="2800" i="1">
                <a:latin typeface="Times New Roman" panose="02020603050405020304" pitchFamily="18" charset="0"/>
              </a:rPr>
              <a:t>n</a:t>
            </a:r>
          </a:p>
        </p:txBody>
      </p:sp>
    </p:spTree>
    <p:extLst>
      <p:ext uri="{BB962C8B-B14F-4D97-AF65-F5344CB8AC3E}">
        <p14:creationId xmlns:p14="http://schemas.microsoft.com/office/powerpoint/2010/main" val="23255705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 calcmode="lin" valueType="num">
                                      <p:cBhvr additive="base">
                                        <p:cTn id="7" dur="500" fill="hold"/>
                                        <p:tgtEl>
                                          <p:spTgt spid="28677"/>
                                        </p:tgtEl>
                                        <p:attrNameLst>
                                          <p:attrName>ppt_x</p:attrName>
                                        </p:attrNameLst>
                                      </p:cBhvr>
                                      <p:tavLst>
                                        <p:tav tm="0">
                                          <p:val>
                                            <p:strVal val="#ppt_x"/>
                                          </p:val>
                                        </p:tav>
                                        <p:tav tm="100000">
                                          <p:val>
                                            <p:strVal val="#ppt_x"/>
                                          </p:val>
                                        </p:tav>
                                      </p:tavLst>
                                    </p:anim>
                                    <p:anim calcmode="lin" valueType="num">
                                      <p:cBhvr additive="base">
                                        <p:cTn id="8" dur="500" fill="hold"/>
                                        <p:tgtEl>
                                          <p:spTgt spid="2867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676"/>
                                        </p:tgtEl>
                                        <p:attrNameLst>
                                          <p:attrName>style.visibility</p:attrName>
                                        </p:attrNameLst>
                                      </p:cBhvr>
                                      <p:to>
                                        <p:strVal val="visible"/>
                                      </p:to>
                                    </p:set>
                                    <p:anim calcmode="lin" valueType="num">
                                      <p:cBhvr additive="base">
                                        <p:cTn id="13" dur="500" fill="hold"/>
                                        <p:tgtEl>
                                          <p:spTgt spid="28676"/>
                                        </p:tgtEl>
                                        <p:attrNameLst>
                                          <p:attrName>ppt_x</p:attrName>
                                        </p:attrNameLst>
                                      </p:cBhvr>
                                      <p:tavLst>
                                        <p:tav tm="0">
                                          <p:val>
                                            <p:strVal val="#ppt_x"/>
                                          </p:val>
                                        </p:tav>
                                        <p:tav tm="100000">
                                          <p:val>
                                            <p:strVal val="#ppt_x"/>
                                          </p:val>
                                        </p:tav>
                                      </p:tavLst>
                                    </p:anim>
                                    <p:anim calcmode="lin" valueType="num">
                                      <p:cBhvr additive="base">
                                        <p:cTn id="14" dur="500" fill="hold"/>
                                        <p:tgtEl>
                                          <p:spTgt spid="2867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8"/>
                                        </p:tgtEl>
                                        <p:attrNameLst>
                                          <p:attrName>style.visibility</p:attrName>
                                        </p:attrNameLst>
                                      </p:cBhvr>
                                      <p:to>
                                        <p:strVal val="visible"/>
                                      </p:to>
                                    </p:set>
                                    <p:anim calcmode="lin" valueType="num">
                                      <p:cBhvr additive="base">
                                        <p:cTn id="19" dur="500" fill="hold"/>
                                        <p:tgtEl>
                                          <p:spTgt spid="28678"/>
                                        </p:tgtEl>
                                        <p:attrNameLst>
                                          <p:attrName>ppt_x</p:attrName>
                                        </p:attrNameLst>
                                      </p:cBhvr>
                                      <p:tavLst>
                                        <p:tav tm="0">
                                          <p:val>
                                            <p:strVal val="#ppt_x"/>
                                          </p:val>
                                        </p:tav>
                                        <p:tav tm="100000">
                                          <p:val>
                                            <p:strVal val="#ppt_x"/>
                                          </p:val>
                                        </p:tav>
                                      </p:tavLst>
                                    </p:anim>
                                    <p:anim calcmode="lin" valueType="num">
                                      <p:cBhvr additive="base">
                                        <p:cTn id="20" dur="500" fill="hold"/>
                                        <p:tgtEl>
                                          <p:spTgt spid="286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p:bldP spid="2867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9" name="Object 3"/>
          <p:cNvGraphicFramePr>
            <a:graphicFrameLocks noChangeAspect="1"/>
          </p:cNvGraphicFramePr>
          <p:nvPr/>
        </p:nvGraphicFramePr>
        <p:xfrm>
          <a:off x="1752600" y="3276600"/>
          <a:ext cx="5410200" cy="1033463"/>
        </p:xfrm>
        <a:graphic>
          <a:graphicData uri="http://schemas.openxmlformats.org/presentationml/2006/ole">
            <mc:AlternateContent xmlns:mc="http://schemas.openxmlformats.org/markup-compatibility/2006">
              <mc:Choice xmlns:v="urn:schemas-microsoft-com:vml" Requires="v">
                <p:oleObj spid="_x0000_s140296" r:id="rId4" imgW="2590800" imgH="495300" progId="Equation.3">
                  <p:embed/>
                </p:oleObj>
              </mc:Choice>
              <mc:Fallback>
                <p:oleObj r:id="rId4" imgW="2590800" imgH="495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3276600"/>
                        <a:ext cx="54102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700" name="Object 4"/>
          <p:cNvGraphicFramePr>
            <a:graphicFrameLocks noChangeAspect="1"/>
          </p:cNvGraphicFramePr>
          <p:nvPr/>
        </p:nvGraphicFramePr>
        <p:xfrm>
          <a:off x="1752600" y="4532313"/>
          <a:ext cx="5562600" cy="1030287"/>
        </p:xfrm>
        <a:graphic>
          <a:graphicData uri="http://schemas.openxmlformats.org/presentationml/2006/ole">
            <mc:AlternateContent xmlns:mc="http://schemas.openxmlformats.org/markup-compatibility/2006">
              <mc:Choice xmlns:v="urn:schemas-microsoft-com:vml" Requires="v">
                <p:oleObj spid="_x0000_s140297" r:id="rId6" imgW="2830871" imgH="520474" progId="Equation.3">
                  <p:embed/>
                </p:oleObj>
              </mc:Choice>
              <mc:Fallback>
                <p:oleObj r:id="rId6" imgW="2830871" imgH="52047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4532313"/>
                        <a:ext cx="55626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5236" name="Rectangle 5"/>
          <p:cNvSpPr>
            <a:spLocks noChangeArrowheads="1"/>
          </p:cNvSpPr>
          <p:nvPr/>
        </p:nvSpPr>
        <p:spPr bwMode="auto">
          <a:xfrm>
            <a:off x="1295400" y="1905000"/>
            <a:ext cx="70866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pPr>
            <a:r>
              <a:rPr lang="zh-CN" altLang="en-US" sz="2800">
                <a:latin typeface="Times New Roman" panose="02020603050405020304" pitchFamily="18" charset="0"/>
              </a:rPr>
              <a:t>对于实零点</a:t>
            </a:r>
            <a:r>
              <a:rPr lang="en-US" altLang="zh-CN" sz="2800" i="1">
                <a:latin typeface="Times New Roman" panose="02020603050405020304" pitchFamily="18" charset="0"/>
              </a:rPr>
              <a:t>z</a:t>
            </a:r>
            <a:r>
              <a:rPr lang="en-US" altLang="zh-CN" sz="2900" i="1" baseline="-20000">
                <a:latin typeface="Times New Roman" panose="02020603050405020304" pitchFamily="18" charset="0"/>
              </a:rPr>
              <a:t>i</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sym typeface="Symbol" panose="05050102010706020507" pitchFamily="18" charset="2"/>
              </a:rPr>
              <a:t></a:t>
            </a:r>
            <a:r>
              <a:rPr lang="en-US" altLang="zh-CN" sz="2900" i="1" baseline="-20000">
                <a:latin typeface="Times New Roman" panose="02020603050405020304" pitchFamily="18" charset="0"/>
              </a:rPr>
              <a:t>i</a:t>
            </a:r>
            <a:r>
              <a:rPr lang="zh-CN" altLang="en-US" sz="2800">
                <a:latin typeface="Times New Roman" panose="02020603050405020304" pitchFamily="18" charset="0"/>
              </a:rPr>
              <a:t>和实极点</a:t>
            </a:r>
            <a:r>
              <a:rPr lang="en-US" altLang="zh-CN" sz="2800" i="1">
                <a:latin typeface="Times New Roman" panose="02020603050405020304" pitchFamily="18" charset="0"/>
              </a:rPr>
              <a:t>p</a:t>
            </a:r>
            <a:r>
              <a:rPr lang="en-US" altLang="zh-CN" sz="2900" i="1" baseline="-20000">
                <a:latin typeface="Times New Roman" panose="02020603050405020304" pitchFamily="18" charset="0"/>
              </a:rPr>
              <a:t>j</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sym typeface="Symbol" panose="05050102010706020507" pitchFamily="18" charset="2"/>
              </a:rPr>
              <a:t></a:t>
            </a:r>
            <a:r>
              <a:rPr lang="en-US" altLang="zh-CN" sz="2900" i="1" baseline="-20000">
                <a:latin typeface="Times New Roman" panose="02020603050405020304" pitchFamily="18" charset="0"/>
              </a:rPr>
              <a:t>j</a:t>
            </a:r>
            <a:r>
              <a:rPr lang="en-US" altLang="zh-CN" sz="2800">
                <a:latin typeface="Times New Roman" panose="02020603050405020304" pitchFamily="18" charset="0"/>
              </a:rPr>
              <a:t> </a:t>
            </a:r>
            <a:r>
              <a:rPr lang="zh-CN" altLang="en-US" sz="2800">
                <a:latin typeface="Times New Roman" panose="02020603050405020304" pitchFamily="18" charset="0"/>
              </a:rPr>
              <a:t>，其因式可以变换成如下形式：</a:t>
            </a:r>
          </a:p>
        </p:txBody>
      </p:sp>
    </p:spTree>
    <p:extLst>
      <p:ext uri="{BB962C8B-B14F-4D97-AF65-F5344CB8AC3E}">
        <p14:creationId xmlns:p14="http://schemas.microsoft.com/office/powerpoint/2010/main" val="21938643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additive="base">
                                        <p:cTn id="7" dur="500" fill="hold"/>
                                        <p:tgtEl>
                                          <p:spTgt spid="29699"/>
                                        </p:tgtEl>
                                        <p:attrNameLst>
                                          <p:attrName>ppt_x</p:attrName>
                                        </p:attrNameLst>
                                      </p:cBhvr>
                                      <p:tavLst>
                                        <p:tav tm="0">
                                          <p:val>
                                            <p:strVal val="#ppt_x"/>
                                          </p:val>
                                        </p:tav>
                                        <p:tav tm="100000">
                                          <p:val>
                                            <p:strVal val="#ppt_x"/>
                                          </p:val>
                                        </p:tav>
                                      </p:tavLst>
                                    </p:anim>
                                    <p:anim calcmode="lin" valueType="num">
                                      <p:cBhvr additive="base">
                                        <p:cTn id="8" dur="500" fill="hold"/>
                                        <p:tgtEl>
                                          <p:spTgt spid="2969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700"/>
                                        </p:tgtEl>
                                        <p:attrNameLst>
                                          <p:attrName>style.visibility</p:attrName>
                                        </p:attrNameLst>
                                      </p:cBhvr>
                                      <p:to>
                                        <p:strVal val="visible"/>
                                      </p:to>
                                    </p:set>
                                    <p:anim calcmode="lin" valueType="num">
                                      <p:cBhvr additive="base">
                                        <p:cTn id="13" dur="500" fill="hold"/>
                                        <p:tgtEl>
                                          <p:spTgt spid="29700"/>
                                        </p:tgtEl>
                                        <p:attrNameLst>
                                          <p:attrName>ppt_x</p:attrName>
                                        </p:attrNameLst>
                                      </p:cBhvr>
                                      <p:tavLst>
                                        <p:tav tm="0">
                                          <p:val>
                                            <p:strVal val="#ppt_x"/>
                                          </p:val>
                                        </p:tav>
                                        <p:tav tm="100000">
                                          <p:val>
                                            <p:strVal val="#ppt_x"/>
                                          </p:val>
                                        </p:tav>
                                      </p:tavLst>
                                    </p:anim>
                                    <p:anim calcmode="lin" valueType="num">
                                      <p:cBhvr additive="base">
                                        <p:cTn id="14" dur="500" fill="hold"/>
                                        <p:tgtEl>
                                          <p:spTgt spid="297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3" name="Object 3"/>
          <p:cNvGraphicFramePr>
            <a:graphicFrameLocks noChangeAspect="1"/>
          </p:cNvGraphicFramePr>
          <p:nvPr/>
        </p:nvGraphicFramePr>
        <p:xfrm>
          <a:off x="1187450" y="2276475"/>
          <a:ext cx="7010400" cy="2270125"/>
        </p:xfrm>
        <a:graphic>
          <a:graphicData uri="http://schemas.openxmlformats.org/presentationml/2006/ole">
            <mc:AlternateContent xmlns:mc="http://schemas.openxmlformats.org/markup-compatibility/2006">
              <mc:Choice xmlns:v="urn:schemas-microsoft-com:vml" Requires="v">
                <p:oleObj spid="_x0000_s141320" r:id="rId4" imgW="3376734" imgH="1091726" progId="Equation.3">
                  <p:embed/>
                </p:oleObj>
              </mc:Choice>
              <mc:Fallback>
                <p:oleObj r:id="rId4" imgW="3376734" imgH="109172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276475"/>
                        <a:ext cx="701040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7283" name="Rectangle 4"/>
          <p:cNvSpPr>
            <a:spLocks noChangeArrowheads="1"/>
          </p:cNvSpPr>
          <p:nvPr/>
        </p:nvSpPr>
        <p:spPr bwMode="auto">
          <a:xfrm>
            <a:off x="1042988" y="981075"/>
            <a:ext cx="73914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pPr>
            <a:r>
              <a:rPr lang="zh-CN" altLang="en-US" sz="2800">
                <a:latin typeface="Times New Roman" panose="02020603050405020304" pitchFamily="18" charset="0"/>
              </a:rPr>
              <a:t>对于复零点对</a:t>
            </a:r>
            <a:r>
              <a:rPr lang="en-US" altLang="zh-CN" sz="2800" i="1">
                <a:latin typeface="Times New Roman" panose="02020603050405020304" pitchFamily="18" charset="0"/>
              </a:rPr>
              <a:t>z</a:t>
            </a:r>
            <a:r>
              <a:rPr lang="en-US" altLang="zh-CN" sz="2000" i="1">
                <a:latin typeface="Brush Script MT" panose="03060802040406070304" pitchFamily="66" charset="0"/>
              </a:rPr>
              <a:t>l</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sym typeface="Symbol" panose="05050102010706020507" pitchFamily="18" charset="2"/>
              </a:rPr>
              <a:t></a:t>
            </a:r>
            <a:r>
              <a:rPr lang="en-US" altLang="zh-CN" sz="2000" i="1">
                <a:latin typeface="Brush Script MT" panose="03060802040406070304" pitchFamily="66" charset="0"/>
              </a:rPr>
              <a:t>l</a:t>
            </a:r>
            <a:r>
              <a:rPr lang="en-US" altLang="zh-CN" sz="2800">
                <a:latin typeface="Times New Roman" panose="02020603050405020304" pitchFamily="18" charset="0"/>
              </a:rPr>
              <a:t>+</a:t>
            </a:r>
            <a:r>
              <a:rPr lang="en-US" altLang="zh-CN" sz="2800" i="1">
                <a:latin typeface="Times New Roman" panose="02020603050405020304" pitchFamily="18" charset="0"/>
              </a:rPr>
              <a:t>j</a:t>
            </a:r>
            <a:r>
              <a:rPr lang="en-US" altLang="zh-CN" sz="2800" i="1">
                <a:latin typeface="Times New Roman" panose="02020603050405020304" pitchFamily="18" charset="0"/>
                <a:sym typeface="Symbol" panose="05050102010706020507" pitchFamily="18" charset="2"/>
              </a:rPr>
              <a:t></a:t>
            </a:r>
            <a:r>
              <a:rPr lang="en-US" altLang="zh-CN" sz="2000" i="1">
                <a:latin typeface="Brush Script MT" panose="03060802040406070304" pitchFamily="66" charset="0"/>
              </a:rPr>
              <a:t>l</a:t>
            </a:r>
            <a:r>
              <a:rPr lang="zh-CN" altLang="en-US" sz="2800">
                <a:latin typeface="Times New Roman" panose="02020603050405020304" pitchFamily="18" charset="0"/>
              </a:rPr>
              <a:t>和</a:t>
            </a:r>
            <a:r>
              <a:rPr lang="en-US" altLang="zh-CN" sz="2800" i="1">
                <a:latin typeface="Times New Roman" panose="02020603050405020304" pitchFamily="18" charset="0"/>
              </a:rPr>
              <a:t>z</a:t>
            </a:r>
            <a:r>
              <a:rPr lang="en-US" altLang="zh-CN" sz="2000" i="1">
                <a:solidFill>
                  <a:srgbClr val="000000"/>
                </a:solidFill>
                <a:latin typeface="Brush Script MT" panose="03060802040406070304" pitchFamily="66" charset="0"/>
              </a:rPr>
              <a:t>l+</a:t>
            </a:r>
            <a:r>
              <a:rPr lang="en-US" altLang="zh-CN" sz="2000">
                <a:solidFill>
                  <a:srgbClr val="000000"/>
                </a:solidFill>
                <a:latin typeface="Times New Roman" panose="02020603050405020304" pitchFamily="18" charset="0"/>
                <a:cs typeface="Times New Roman" panose="02020603050405020304" pitchFamily="18" charset="0"/>
              </a:rPr>
              <a:t>1</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sym typeface="Symbol" panose="05050102010706020507" pitchFamily="18" charset="2"/>
              </a:rPr>
              <a:t></a:t>
            </a:r>
            <a:r>
              <a:rPr lang="en-US" altLang="zh-CN" sz="2000" i="1">
                <a:latin typeface="Brush Script MT" panose="03060802040406070304" pitchFamily="66" charset="0"/>
              </a:rPr>
              <a:t>l</a:t>
            </a:r>
            <a:r>
              <a:rPr lang="en-US" altLang="zh-CN" sz="2900" i="1" baseline="-20000">
                <a:latin typeface="Arial" panose="020B0604020202020204" pitchFamily="34" charset="0"/>
              </a:rPr>
              <a:t> </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j</a:t>
            </a:r>
            <a:r>
              <a:rPr lang="en-US" altLang="zh-CN" sz="2800" i="1">
                <a:latin typeface="Times New Roman" panose="02020603050405020304" pitchFamily="18" charset="0"/>
                <a:sym typeface="Symbol" panose="05050102010706020507" pitchFamily="18" charset="2"/>
              </a:rPr>
              <a:t></a:t>
            </a:r>
            <a:r>
              <a:rPr lang="en-US" altLang="zh-CN" sz="2000" i="1">
                <a:latin typeface="Brush Script MT" panose="03060802040406070304" pitchFamily="66" charset="0"/>
              </a:rPr>
              <a:t>l</a:t>
            </a:r>
            <a:r>
              <a:rPr lang="en-US" altLang="zh-CN" sz="2800">
                <a:latin typeface="Times New Roman" panose="02020603050405020304" pitchFamily="18" charset="0"/>
              </a:rPr>
              <a:t> </a:t>
            </a:r>
            <a:r>
              <a:rPr lang="zh-CN" altLang="en-US" sz="2800">
                <a:latin typeface="Times New Roman" panose="02020603050405020304" pitchFamily="18" charset="0"/>
              </a:rPr>
              <a:t>，其因式可以变换成如下形式：</a:t>
            </a:r>
          </a:p>
        </p:txBody>
      </p:sp>
      <p:grpSp>
        <p:nvGrpSpPr>
          <p:cNvPr id="2" name="Group 5"/>
          <p:cNvGrpSpPr>
            <a:grpSpLocks/>
          </p:cNvGrpSpPr>
          <p:nvPr/>
        </p:nvGrpSpPr>
        <p:grpSpPr bwMode="auto">
          <a:xfrm>
            <a:off x="1331913" y="4724400"/>
            <a:ext cx="5334000" cy="998538"/>
            <a:chOff x="768" y="3643"/>
            <a:chExt cx="3360" cy="629"/>
          </a:xfrm>
        </p:grpSpPr>
        <p:graphicFrame>
          <p:nvGraphicFramePr>
            <p:cNvPr id="97285" name="Object 6"/>
            <p:cNvGraphicFramePr>
              <a:graphicFrameLocks noChangeAspect="1"/>
            </p:cNvGraphicFramePr>
            <p:nvPr/>
          </p:nvGraphicFramePr>
          <p:xfrm>
            <a:off x="1536" y="3643"/>
            <a:ext cx="2592" cy="629"/>
          </p:xfrm>
          <a:graphic>
            <a:graphicData uri="http://schemas.openxmlformats.org/presentationml/2006/ole">
              <mc:AlternateContent xmlns:mc="http://schemas.openxmlformats.org/markup-compatibility/2006">
                <mc:Choice xmlns:v="urn:schemas-microsoft-com:vml" Requires="v">
                  <p:oleObj spid="_x0000_s141321" r:id="rId6" imgW="2311400" imgH="558800" progId="Equation.3">
                    <p:embed/>
                  </p:oleObj>
                </mc:Choice>
                <mc:Fallback>
                  <p:oleObj r:id="rId6" imgW="2311400" imgH="558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6" y="3643"/>
                          <a:ext cx="2592" cy="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7286" name="Rectangle 7"/>
            <p:cNvSpPr>
              <a:spLocks noChangeArrowheads="1"/>
            </p:cNvSpPr>
            <p:nvPr/>
          </p:nvSpPr>
          <p:spPr bwMode="auto">
            <a:xfrm>
              <a:off x="768" y="3696"/>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式中，</a:t>
              </a:r>
            </a:p>
          </p:txBody>
        </p:sp>
      </p:grpSp>
    </p:spTree>
    <p:extLst>
      <p:ext uri="{BB962C8B-B14F-4D97-AF65-F5344CB8AC3E}">
        <p14:creationId xmlns:p14="http://schemas.microsoft.com/office/powerpoint/2010/main" val="1368082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additive="base">
                                        <p:cTn id="7" dur="500" fill="hold"/>
                                        <p:tgtEl>
                                          <p:spTgt spid="30723"/>
                                        </p:tgtEl>
                                        <p:attrNameLst>
                                          <p:attrName>ppt_x</p:attrName>
                                        </p:attrNameLst>
                                      </p:cBhvr>
                                      <p:tavLst>
                                        <p:tav tm="0">
                                          <p:val>
                                            <p:strVal val="#ppt_x"/>
                                          </p:val>
                                        </p:tav>
                                        <p:tav tm="100000">
                                          <p:val>
                                            <p:strVal val="#ppt_x"/>
                                          </p:val>
                                        </p:tav>
                                      </p:tavLst>
                                    </p:anim>
                                    <p:anim calcmode="lin" valueType="num">
                                      <p:cBhvr additive="base">
                                        <p:cTn id="8" dur="500" fill="hold"/>
                                        <p:tgtEl>
                                          <p:spTgt spid="307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ChangeArrowheads="1"/>
          </p:cNvSpPr>
          <p:nvPr/>
        </p:nvSpPr>
        <p:spPr bwMode="auto">
          <a:xfrm>
            <a:off x="1042988" y="981075"/>
            <a:ext cx="73914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pPr>
            <a:r>
              <a:rPr lang="zh-CN" altLang="en-US" sz="2800">
                <a:latin typeface="Times New Roman" panose="02020603050405020304" pitchFamily="18" charset="0"/>
              </a:rPr>
              <a:t>对于复极点对</a:t>
            </a:r>
            <a:r>
              <a:rPr lang="en-US" altLang="zh-CN" sz="2800" i="1">
                <a:latin typeface="Times New Roman" panose="02020603050405020304" pitchFamily="18" charset="0"/>
              </a:rPr>
              <a:t>p</a:t>
            </a:r>
            <a:r>
              <a:rPr lang="en-US" altLang="zh-CN" sz="2900" i="1" baseline="-20000">
                <a:latin typeface="Times New Roman" panose="02020603050405020304" pitchFamily="18" charset="0"/>
              </a:rPr>
              <a:t>k</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sym typeface="Symbol" panose="05050102010706020507" pitchFamily="18" charset="2"/>
              </a:rPr>
              <a:t></a:t>
            </a:r>
            <a:r>
              <a:rPr lang="en-US" altLang="zh-CN" sz="2900" i="1" baseline="-20000">
                <a:latin typeface="Times New Roman" panose="02020603050405020304" pitchFamily="18" charset="0"/>
              </a:rPr>
              <a:t>k</a:t>
            </a:r>
            <a:r>
              <a:rPr lang="en-US" altLang="zh-CN" sz="2800">
                <a:latin typeface="Times New Roman" panose="02020603050405020304" pitchFamily="18" charset="0"/>
              </a:rPr>
              <a:t>+</a:t>
            </a:r>
            <a:r>
              <a:rPr lang="en-US" altLang="zh-CN" sz="2800" i="1">
                <a:latin typeface="Times New Roman" panose="02020603050405020304" pitchFamily="18" charset="0"/>
              </a:rPr>
              <a:t>j</a:t>
            </a:r>
            <a:r>
              <a:rPr lang="en-US" altLang="zh-CN" sz="2800" i="1">
                <a:latin typeface="Times New Roman" panose="02020603050405020304" pitchFamily="18" charset="0"/>
                <a:sym typeface="Symbol" panose="05050102010706020507" pitchFamily="18" charset="2"/>
              </a:rPr>
              <a:t></a:t>
            </a:r>
            <a:r>
              <a:rPr lang="en-US" altLang="zh-CN" sz="2900" i="1" baseline="-20000">
                <a:latin typeface="Times New Roman" panose="02020603050405020304" pitchFamily="18" charset="0"/>
              </a:rPr>
              <a:t>k</a:t>
            </a:r>
            <a:r>
              <a:rPr lang="zh-CN" altLang="en-US" sz="2800">
                <a:latin typeface="Times New Roman" panose="02020603050405020304" pitchFamily="18" charset="0"/>
              </a:rPr>
              <a:t>和</a:t>
            </a:r>
            <a:r>
              <a:rPr lang="en-US" altLang="zh-CN" sz="2800" i="1">
                <a:latin typeface="Times New Roman" panose="02020603050405020304" pitchFamily="18" charset="0"/>
              </a:rPr>
              <a:t>p</a:t>
            </a:r>
            <a:r>
              <a:rPr lang="en-US" altLang="zh-CN" sz="2900" i="1" baseline="-20000">
                <a:latin typeface="Times New Roman" panose="02020603050405020304" pitchFamily="18" charset="0"/>
              </a:rPr>
              <a:t>k</a:t>
            </a:r>
            <a:r>
              <a:rPr lang="en-US" altLang="zh-CN" sz="2900" baseline="-20000">
                <a:latin typeface="Times New Roman" panose="02020603050405020304" pitchFamily="18" charset="0"/>
              </a:rPr>
              <a:t>+1</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a:sym typeface="Symbol" panose="05050102010706020507" pitchFamily="18" charset="2"/>
              </a:rPr>
              <a:t></a:t>
            </a:r>
            <a:r>
              <a:rPr lang="en-US" altLang="zh-CN" sz="2900" i="1" baseline="-20000">
                <a:latin typeface="Times New Roman" panose="02020603050405020304" pitchFamily="18" charset="0"/>
              </a:rPr>
              <a:t>k </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j</a:t>
            </a:r>
            <a:r>
              <a:rPr lang="en-US" altLang="zh-CN" sz="2800" i="1">
                <a:latin typeface="Times New Roman" panose="02020603050405020304" pitchFamily="18" charset="0"/>
                <a:sym typeface="Symbol" panose="05050102010706020507" pitchFamily="18" charset="2"/>
              </a:rPr>
              <a:t></a:t>
            </a:r>
            <a:r>
              <a:rPr lang="en-US" altLang="zh-CN" sz="2900" i="1" baseline="-20000">
                <a:latin typeface="Times New Roman" panose="02020603050405020304" pitchFamily="18" charset="0"/>
              </a:rPr>
              <a:t>k</a:t>
            </a:r>
            <a:r>
              <a:rPr lang="en-US" altLang="zh-CN" sz="2800">
                <a:latin typeface="Times New Roman" panose="02020603050405020304" pitchFamily="18" charset="0"/>
              </a:rPr>
              <a:t> </a:t>
            </a:r>
            <a:r>
              <a:rPr lang="zh-CN" altLang="en-US" sz="2800">
                <a:latin typeface="Times New Roman" panose="02020603050405020304" pitchFamily="18" charset="0"/>
              </a:rPr>
              <a:t>，其因式可以变换成如下形式：</a:t>
            </a:r>
          </a:p>
        </p:txBody>
      </p:sp>
      <p:graphicFrame>
        <p:nvGraphicFramePr>
          <p:cNvPr id="31748" name="Object 4"/>
          <p:cNvGraphicFramePr>
            <a:graphicFrameLocks noChangeAspect="1"/>
          </p:cNvGraphicFramePr>
          <p:nvPr/>
        </p:nvGraphicFramePr>
        <p:xfrm>
          <a:off x="1116013" y="2349500"/>
          <a:ext cx="6477000" cy="2043113"/>
        </p:xfrm>
        <a:graphic>
          <a:graphicData uri="http://schemas.openxmlformats.org/presentationml/2006/ole">
            <mc:AlternateContent xmlns:mc="http://schemas.openxmlformats.org/markup-compatibility/2006">
              <mc:Choice xmlns:v="urn:schemas-microsoft-com:vml" Requires="v">
                <p:oleObj spid="_x0000_s142344" r:id="rId4" imgW="2908300" imgH="914400" progId="Equation.3">
                  <p:embed/>
                </p:oleObj>
              </mc:Choice>
              <mc:Fallback>
                <p:oleObj r:id="rId4" imgW="2908300" imgH="914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2349500"/>
                        <a:ext cx="647700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5"/>
          <p:cNvGrpSpPr>
            <a:grpSpLocks/>
          </p:cNvGrpSpPr>
          <p:nvPr/>
        </p:nvGrpSpPr>
        <p:grpSpPr bwMode="auto">
          <a:xfrm>
            <a:off x="1187450" y="4581525"/>
            <a:ext cx="5486400" cy="1009650"/>
            <a:chOff x="816" y="3312"/>
            <a:chExt cx="3456" cy="636"/>
          </a:xfrm>
        </p:grpSpPr>
        <p:graphicFrame>
          <p:nvGraphicFramePr>
            <p:cNvPr id="99333" name="Object 6"/>
            <p:cNvGraphicFramePr>
              <a:graphicFrameLocks noChangeAspect="1"/>
            </p:cNvGraphicFramePr>
            <p:nvPr/>
          </p:nvGraphicFramePr>
          <p:xfrm>
            <a:off x="1584" y="3312"/>
            <a:ext cx="2688" cy="636"/>
          </p:xfrm>
          <a:graphic>
            <a:graphicData uri="http://schemas.openxmlformats.org/presentationml/2006/ole">
              <mc:AlternateContent xmlns:mc="http://schemas.openxmlformats.org/markup-compatibility/2006">
                <mc:Choice xmlns:v="urn:schemas-microsoft-com:vml" Requires="v">
                  <p:oleObj spid="_x0000_s142345" r:id="rId6" imgW="2373870" imgH="558558" progId="Equation.3">
                    <p:embed/>
                  </p:oleObj>
                </mc:Choice>
                <mc:Fallback>
                  <p:oleObj r:id="rId6" imgW="2373870" imgH="558558"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4" y="3312"/>
                          <a:ext cx="2688"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9334" name="Rectangle 7"/>
            <p:cNvSpPr>
              <a:spLocks noChangeArrowheads="1"/>
            </p:cNvSpPr>
            <p:nvPr/>
          </p:nvSpPr>
          <p:spPr bwMode="auto">
            <a:xfrm>
              <a:off x="816" y="3369"/>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式中，</a:t>
              </a:r>
            </a:p>
          </p:txBody>
        </p:sp>
      </p:grpSp>
    </p:spTree>
    <p:extLst>
      <p:ext uri="{BB962C8B-B14F-4D97-AF65-F5344CB8AC3E}">
        <p14:creationId xmlns:p14="http://schemas.microsoft.com/office/powerpoint/2010/main" val="2648648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anim calcmode="lin" valueType="num">
                                      <p:cBhvr additive="base">
                                        <p:cTn id="7" dur="500" fill="hold"/>
                                        <p:tgtEl>
                                          <p:spTgt spid="31748"/>
                                        </p:tgtEl>
                                        <p:attrNameLst>
                                          <p:attrName>ppt_x</p:attrName>
                                        </p:attrNameLst>
                                      </p:cBhvr>
                                      <p:tavLst>
                                        <p:tav tm="0">
                                          <p:val>
                                            <p:strVal val="#ppt_x"/>
                                          </p:val>
                                        </p:tav>
                                        <p:tav tm="100000">
                                          <p:val>
                                            <p:strVal val="#ppt_x"/>
                                          </p:val>
                                        </p:tav>
                                      </p:tavLst>
                                    </p:anim>
                                    <p:anim calcmode="lin" valueType="num">
                                      <p:cBhvr additive="base">
                                        <p:cTn id="8" dur="500" fill="hold"/>
                                        <p:tgtEl>
                                          <p:spTgt spid="317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1" name="Object 3"/>
          <p:cNvGraphicFramePr>
            <a:graphicFrameLocks noChangeAspect="1"/>
          </p:cNvGraphicFramePr>
          <p:nvPr/>
        </p:nvGraphicFramePr>
        <p:xfrm>
          <a:off x="1447800" y="2286000"/>
          <a:ext cx="6324600" cy="2089150"/>
        </p:xfrm>
        <a:graphic>
          <a:graphicData uri="http://schemas.openxmlformats.org/presentationml/2006/ole">
            <mc:AlternateContent xmlns:mc="http://schemas.openxmlformats.org/markup-compatibility/2006">
              <mc:Choice xmlns:v="urn:schemas-microsoft-com:vml" Requires="v">
                <p:oleObj spid="_x0000_s143368" r:id="rId4" imgW="3111500" imgH="1028700" progId="Equation.3">
                  <p:embed/>
                </p:oleObj>
              </mc:Choice>
              <mc:Fallback>
                <p:oleObj r:id="rId4" imgW="3111500" imgH="1028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2286000"/>
                        <a:ext cx="632460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1379" name="Rectangle 4"/>
          <p:cNvSpPr>
            <a:spLocks noChangeArrowheads="1"/>
          </p:cNvSpPr>
          <p:nvPr/>
        </p:nvSpPr>
        <p:spPr bwMode="auto">
          <a:xfrm>
            <a:off x="1219200" y="1690688"/>
            <a:ext cx="5518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于是，系统的传递函数可以写成：</a:t>
            </a:r>
          </a:p>
        </p:txBody>
      </p:sp>
      <p:grpSp>
        <p:nvGrpSpPr>
          <p:cNvPr id="2" name="Group 5"/>
          <p:cNvGrpSpPr>
            <a:grpSpLocks/>
          </p:cNvGrpSpPr>
          <p:nvPr/>
        </p:nvGrpSpPr>
        <p:grpSpPr bwMode="auto">
          <a:xfrm>
            <a:off x="1238250" y="4495800"/>
            <a:ext cx="6305550" cy="1752600"/>
            <a:chOff x="780" y="2736"/>
            <a:chExt cx="3972" cy="1104"/>
          </a:xfrm>
        </p:grpSpPr>
        <p:graphicFrame>
          <p:nvGraphicFramePr>
            <p:cNvPr id="101381" name="Object 6"/>
            <p:cNvGraphicFramePr>
              <a:graphicFrameLocks noChangeAspect="1"/>
            </p:cNvGraphicFramePr>
            <p:nvPr/>
          </p:nvGraphicFramePr>
          <p:xfrm>
            <a:off x="1488" y="2736"/>
            <a:ext cx="3264" cy="708"/>
          </p:xfrm>
          <a:graphic>
            <a:graphicData uri="http://schemas.openxmlformats.org/presentationml/2006/ole">
              <mc:AlternateContent xmlns:mc="http://schemas.openxmlformats.org/markup-compatibility/2006">
                <mc:Choice xmlns:v="urn:schemas-microsoft-com:vml" Requires="v">
                  <p:oleObj spid="_x0000_s143369" r:id="rId6" imgW="2501900" imgH="546100" progId="Equation.3">
                    <p:embed/>
                  </p:oleObj>
                </mc:Choice>
                <mc:Fallback>
                  <p:oleObj r:id="rId6" imgW="2501900" imgH="5461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8" y="2736"/>
                          <a:ext cx="3264" cy="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1382" name="Rectangle 7"/>
            <p:cNvSpPr>
              <a:spLocks noChangeArrowheads="1"/>
            </p:cNvSpPr>
            <p:nvPr/>
          </p:nvSpPr>
          <p:spPr bwMode="auto">
            <a:xfrm>
              <a:off x="780" y="2889"/>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式中，</a:t>
              </a:r>
            </a:p>
          </p:txBody>
        </p:sp>
        <p:sp>
          <p:nvSpPr>
            <p:cNvPr id="101383" name="Rectangle 8"/>
            <p:cNvSpPr>
              <a:spLocks noChangeArrowheads="1"/>
            </p:cNvSpPr>
            <p:nvPr/>
          </p:nvSpPr>
          <p:spPr bwMode="auto">
            <a:xfrm>
              <a:off x="1452" y="3513"/>
              <a:ext cx="19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为系统放大倍数。</a:t>
              </a:r>
            </a:p>
          </p:txBody>
        </p:sp>
      </p:grpSp>
    </p:spTree>
    <p:extLst>
      <p:ext uri="{BB962C8B-B14F-4D97-AF65-F5344CB8AC3E}">
        <p14:creationId xmlns:p14="http://schemas.microsoft.com/office/powerpoint/2010/main" val="2407245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ppt_x"/>
                                          </p:val>
                                        </p:tav>
                                        <p:tav tm="100000">
                                          <p:val>
                                            <p:strVal val="#ppt_x"/>
                                          </p:val>
                                        </p:tav>
                                      </p:tavLst>
                                    </p:anim>
                                    <p:anim calcmode="lin" valueType="num">
                                      <p:cBhvr additive="base">
                                        <p:cTn id="8" dur="500" fill="hold"/>
                                        <p:tgtEl>
                                          <p:spTgt spid="3277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5" name="Object 3"/>
          <p:cNvGraphicFramePr>
            <a:graphicFrameLocks noChangeAspect="1"/>
          </p:cNvGraphicFramePr>
          <p:nvPr/>
        </p:nvGraphicFramePr>
        <p:xfrm>
          <a:off x="1371600" y="3200400"/>
          <a:ext cx="7010400" cy="903288"/>
        </p:xfrm>
        <a:graphic>
          <a:graphicData uri="http://schemas.openxmlformats.org/presentationml/2006/ole">
            <mc:AlternateContent xmlns:mc="http://schemas.openxmlformats.org/markup-compatibility/2006">
              <mc:Choice xmlns:v="urn:schemas-microsoft-com:vml" Requires="v">
                <p:oleObj spid="_x0000_s144389" r:id="rId4" imgW="3848100" imgH="495300" progId="Equation.3">
                  <p:embed/>
                </p:oleObj>
              </mc:Choice>
              <mc:Fallback>
                <p:oleObj r:id="rId4" imgW="3848100" imgH="495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200400"/>
                        <a:ext cx="7010400"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3427" name="Rectangle 4"/>
          <p:cNvSpPr>
            <a:spLocks noChangeArrowheads="1"/>
          </p:cNvSpPr>
          <p:nvPr/>
        </p:nvSpPr>
        <p:spPr bwMode="auto">
          <a:xfrm>
            <a:off x="1219200" y="1905000"/>
            <a:ext cx="73914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zh-CN" altLang="en-US" sz="2800">
                <a:latin typeface="Times New Roman" panose="02020603050405020304" pitchFamily="18" charset="0"/>
              </a:rPr>
              <a:t>由上式可见，传递函数表达式包含六种不同的因子，即：</a:t>
            </a:r>
          </a:p>
        </p:txBody>
      </p:sp>
      <p:sp>
        <p:nvSpPr>
          <p:cNvPr id="33797" name="Rectangle 5"/>
          <p:cNvSpPr>
            <a:spLocks noChangeArrowheads="1"/>
          </p:cNvSpPr>
          <p:nvPr/>
        </p:nvSpPr>
        <p:spPr bwMode="auto">
          <a:xfrm>
            <a:off x="1219200" y="4140200"/>
            <a:ext cx="73914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zh-CN" altLang="en-US" sz="2800">
                <a:latin typeface="宋体" panose="02010600030101010101" pitchFamily="2" charset="-122"/>
              </a:rPr>
              <a:t>一般，任何线性系统都可以看作是由上述六种因子表示的典型环节的串联组合。上述六种典型环节分别称为：</a:t>
            </a:r>
          </a:p>
        </p:txBody>
      </p:sp>
    </p:spTree>
    <p:extLst>
      <p:ext uri="{BB962C8B-B14F-4D97-AF65-F5344CB8AC3E}">
        <p14:creationId xmlns:p14="http://schemas.microsoft.com/office/powerpoint/2010/main" val="4075412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ppt_x"/>
                                          </p:val>
                                        </p:tav>
                                        <p:tav tm="100000">
                                          <p:val>
                                            <p:strVal val="#ppt_x"/>
                                          </p:val>
                                        </p:tav>
                                      </p:tavLst>
                                    </p:anim>
                                    <p:anim calcmode="lin" valueType="num">
                                      <p:cBhvr additive="base">
                                        <p:cTn id="8"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7"/>
                                        </p:tgtEl>
                                        <p:attrNameLst>
                                          <p:attrName>style.visibility</p:attrName>
                                        </p:attrNameLst>
                                      </p:cBhvr>
                                      <p:to>
                                        <p:strVal val="visible"/>
                                      </p:to>
                                    </p:set>
                                    <p:anim calcmode="lin" valueType="num">
                                      <p:cBhvr additive="base">
                                        <p:cTn id="13" dur="500" fill="hold"/>
                                        <p:tgtEl>
                                          <p:spTgt spid="33797"/>
                                        </p:tgtEl>
                                        <p:attrNameLst>
                                          <p:attrName>ppt_x</p:attrName>
                                        </p:attrNameLst>
                                      </p:cBhvr>
                                      <p:tavLst>
                                        <p:tav tm="0">
                                          <p:val>
                                            <p:strVal val="#ppt_x"/>
                                          </p:val>
                                        </p:tav>
                                        <p:tav tm="100000">
                                          <p:val>
                                            <p:strVal val="#ppt_x"/>
                                          </p:val>
                                        </p:tav>
                                      </p:tavLst>
                                    </p:anim>
                                    <p:anim calcmode="lin" valueType="num">
                                      <p:cBhvr additive="base">
                                        <p:cTn id="14" dur="500" fill="hold"/>
                                        <p:tgtEl>
                                          <p:spTgt spid="337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p:cNvSpPr>
            <a:spLocks noChangeArrowheads="1"/>
          </p:cNvSpPr>
          <p:nvPr/>
        </p:nvSpPr>
        <p:spPr bwMode="auto">
          <a:xfrm>
            <a:off x="2124075" y="1052513"/>
            <a:ext cx="3163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放大环节</a:t>
            </a:r>
            <a:r>
              <a:rPr lang="zh-CN" altLang="en-US" sz="2800">
                <a:latin typeface="Times New Roman" panose="02020603050405020304" pitchFamily="18" charset="0"/>
              </a:rPr>
              <a:t>：		</a:t>
            </a:r>
            <a:r>
              <a:rPr lang="en-US" altLang="zh-CN" sz="2800" i="1">
                <a:latin typeface="Times New Roman" panose="02020603050405020304" pitchFamily="18" charset="0"/>
              </a:rPr>
              <a:t>K</a:t>
            </a:r>
          </a:p>
        </p:txBody>
      </p:sp>
      <p:sp>
        <p:nvSpPr>
          <p:cNvPr id="101380" name="Rectangle 4"/>
          <p:cNvSpPr>
            <a:spLocks noChangeArrowheads="1"/>
          </p:cNvSpPr>
          <p:nvPr/>
        </p:nvSpPr>
        <p:spPr bwMode="auto">
          <a:xfrm>
            <a:off x="2124075" y="1700213"/>
            <a:ext cx="35988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一阶微分环节</a:t>
            </a:r>
            <a:r>
              <a:rPr lang="zh-CN" altLang="en-US" sz="2800">
                <a:latin typeface="Times New Roman" panose="02020603050405020304" pitchFamily="18" charset="0"/>
              </a:rPr>
              <a:t>：	</a:t>
            </a:r>
            <a:r>
              <a:rPr lang="zh-CN" altLang="en-US"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s+1</a:t>
            </a:r>
          </a:p>
        </p:txBody>
      </p:sp>
      <p:grpSp>
        <p:nvGrpSpPr>
          <p:cNvPr id="2" name="Group 5"/>
          <p:cNvGrpSpPr>
            <a:grpSpLocks/>
          </p:cNvGrpSpPr>
          <p:nvPr/>
        </p:nvGrpSpPr>
        <p:grpSpPr bwMode="auto">
          <a:xfrm>
            <a:off x="2051050" y="2349500"/>
            <a:ext cx="5029200" cy="552450"/>
            <a:chOff x="816" y="1680"/>
            <a:chExt cx="3168" cy="348"/>
          </a:xfrm>
        </p:grpSpPr>
        <p:graphicFrame>
          <p:nvGraphicFramePr>
            <p:cNvPr id="105486" name="Object 6"/>
            <p:cNvGraphicFramePr>
              <a:graphicFrameLocks noChangeAspect="1"/>
            </p:cNvGraphicFramePr>
            <p:nvPr/>
          </p:nvGraphicFramePr>
          <p:xfrm>
            <a:off x="2592" y="1680"/>
            <a:ext cx="1392" cy="348"/>
          </p:xfrm>
          <a:graphic>
            <a:graphicData uri="http://schemas.openxmlformats.org/presentationml/2006/ole">
              <mc:AlternateContent xmlns:mc="http://schemas.openxmlformats.org/markup-compatibility/2006">
                <mc:Choice xmlns:v="urn:schemas-microsoft-com:vml" Requires="v">
                  <p:oleObj spid="_x0000_s145422" r:id="rId4" imgW="1066800" imgH="266700" progId="Equation.3">
                    <p:embed/>
                  </p:oleObj>
                </mc:Choice>
                <mc:Fallback>
                  <p:oleObj r:id="rId4" imgW="1066800" imgH="266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2" y="1680"/>
                          <a:ext cx="139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87" name="Rectangle 7"/>
            <p:cNvSpPr>
              <a:spLocks noChangeArrowheads="1"/>
            </p:cNvSpPr>
            <p:nvPr/>
          </p:nvSpPr>
          <p:spPr bwMode="auto">
            <a:xfrm>
              <a:off x="816" y="1689"/>
              <a:ext cx="16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二阶微分环节</a:t>
              </a:r>
              <a:r>
                <a:rPr lang="zh-CN" altLang="en-US" sz="2800">
                  <a:latin typeface="Times New Roman" panose="02020603050405020304" pitchFamily="18" charset="0"/>
                </a:rPr>
                <a:t>：</a:t>
              </a:r>
            </a:p>
          </p:txBody>
        </p:sp>
      </p:grpSp>
      <p:grpSp>
        <p:nvGrpSpPr>
          <p:cNvPr id="3" name="Group 8"/>
          <p:cNvGrpSpPr>
            <a:grpSpLocks/>
          </p:cNvGrpSpPr>
          <p:nvPr/>
        </p:nvGrpSpPr>
        <p:grpSpPr bwMode="auto">
          <a:xfrm>
            <a:off x="2051050" y="3068638"/>
            <a:ext cx="3192463" cy="914400"/>
            <a:chOff x="816" y="2096"/>
            <a:chExt cx="2011" cy="576"/>
          </a:xfrm>
        </p:grpSpPr>
        <p:graphicFrame>
          <p:nvGraphicFramePr>
            <p:cNvPr id="105484" name="Object 9"/>
            <p:cNvGraphicFramePr>
              <a:graphicFrameLocks noChangeAspect="1"/>
            </p:cNvGraphicFramePr>
            <p:nvPr/>
          </p:nvGraphicFramePr>
          <p:xfrm>
            <a:off x="2592" y="2096"/>
            <a:ext cx="235" cy="576"/>
          </p:xfrm>
          <a:graphic>
            <a:graphicData uri="http://schemas.openxmlformats.org/presentationml/2006/ole">
              <mc:AlternateContent xmlns:mc="http://schemas.openxmlformats.org/markup-compatibility/2006">
                <mc:Choice xmlns:v="urn:schemas-microsoft-com:vml" Requires="v">
                  <p:oleObj spid="_x0000_s145423" r:id="rId6" imgW="152400" imgH="444500" progId="Equation.3">
                    <p:embed/>
                  </p:oleObj>
                </mc:Choice>
                <mc:Fallback>
                  <p:oleObj r:id="rId6" imgW="152400" imgH="444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2" y="2096"/>
                          <a:ext cx="23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85" name="Rectangle 10"/>
            <p:cNvSpPr>
              <a:spLocks noChangeArrowheads="1"/>
            </p:cNvSpPr>
            <p:nvPr/>
          </p:nvSpPr>
          <p:spPr bwMode="auto">
            <a:xfrm>
              <a:off x="816" y="2208"/>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积分环节</a:t>
              </a:r>
              <a:r>
                <a:rPr lang="zh-CN" altLang="en-US" sz="2800">
                  <a:latin typeface="Times New Roman" panose="02020603050405020304" pitchFamily="18" charset="0"/>
                </a:rPr>
                <a:t>：</a:t>
              </a:r>
            </a:p>
          </p:txBody>
        </p:sp>
      </p:grpSp>
      <p:grpSp>
        <p:nvGrpSpPr>
          <p:cNvPr id="4" name="Group 11"/>
          <p:cNvGrpSpPr>
            <a:grpSpLocks/>
          </p:cNvGrpSpPr>
          <p:nvPr/>
        </p:nvGrpSpPr>
        <p:grpSpPr bwMode="auto">
          <a:xfrm>
            <a:off x="2124075" y="3933825"/>
            <a:ext cx="3810000" cy="877888"/>
            <a:chOff x="816" y="2759"/>
            <a:chExt cx="2400" cy="553"/>
          </a:xfrm>
        </p:grpSpPr>
        <p:graphicFrame>
          <p:nvGraphicFramePr>
            <p:cNvPr id="105482" name="Object 12"/>
            <p:cNvGraphicFramePr>
              <a:graphicFrameLocks noChangeAspect="1"/>
            </p:cNvGraphicFramePr>
            <p:nvPr/>
          </p:nvGraphicFramePr>
          <p:xfrm>
            <a:off x="2640" y="2759"/>
            <a:ext cx="576" cy="553"/>
          </p:xfrm>
          <a:graphic>
            <a:graphicData uri="http://schemas.openxmlformats.org/presentationml/2006/ole">
              <mc:AlternateContent xmlns:mc="http://schemas.openxmlformats.org/markup-compatibility/2006">
                <mc:Choice xmlns:v="urn:schemas-microsoft-com:vml" Requires="v">
                  <p:oleObj spid="_x0000_s145424" r:id="rId8" imgW="469900" imgH="444500" progId="Equation.3">
                    <p:embed/>
                  </p:oleObj>
                </mc:Choice>
                <mc:Fallback>
                  <p:oleObj r:id="rId8" imgW="469900" imgH="4445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40" y="2759"/>
                          <a:ext cx="576"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83" name="Rectangle 13"/>
            <p:cNvSpPr>
              <a:spLocks noChangeArrowheads="1"/>
            </p:cNvSpPr>
            <p:nvPr/>
          </p:nvSpPr>
          <p:spPr bwMode="auto">
            <a:xfrm>
              <a:off x="816" y="2880"/>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惯性环节</a:t>
              </a:r>
              <a:r>
                <a:rPr lang="zh-CN" altLang="en-US" sz="2800">
                  <a:latin typeface="Times New Roman" panose="02020603050405020304" pitchFamily="18" charset="0"/>
                </a:rPr>
                <a:t>：</a:t>
              </a:r>
            </a:p>
          </p:txBody>
        </p:sp>
      </p:grpSp>
      <p:grpSp>
        <p:nvGrpSpPr>
          <p:cNvPr id="5" name="Group 14"/>
          <p:cNvGrpSpPr>
            <a:grpSpLocks/>
          </p:cNvGrpSpPr>
          <p:nvPr/>
        </p:nvGrpSpPr>
        <p:grpSpPr bwMode="auto">
          <a:xfrm>
            <a:off x="2051050" y="4797425"/>
            <a:ext cx="4953000" cy="923925"/>
            <a:chOff x="816" y="3408"/>
            <a:chExt cx="3120" cy="582"/>
          </a:xfrm>
        </p:grpSpPr>
        <p:graphicFrame>
          <p:nvGraphicFramePr>
            <p:cNvPr id="105480" name="Object 15"/>
            <p:cNvGraphicFramePr>
              <a:graphicFrameLocks noChangeAspect="1"/>
            </p:cNvGraphicFramePr>
            <p:nvPr/>
          </p:nvGraphicFramePr>
          <p:xfrm>
            <a:off x="2592" y="3408"/>
            <a:ext cx="1344" cy="582"/>
          </p:xfrm>
          <a:graphic>
            <a:graphicData uri="http://schemas.openxmlformats.org/presentationml/2006/ole">
              <mc:AlternateContent xmlns:mc="http://schemas.openxmlformats.org/markup-compatibility/2006">
                <mc:Choice xmlns:v="urn:schemas-microsoft-com:vml" Requires="v">
                  <p:oleObj spid="_x0000_s145425" r:id="rId10" imgW="1143000" imgH="495300" progId="Equation.3">
                    <p:embed/>
                  </p:oleObj>
                </mc:Choice>
                <mc:Fallback>
                  <p:oleObj r:id="rId10" imgW="1143000" imgH="4953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92" y="3408"/>
                          <a:ext cx="134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81" name="Rectangle 16"/>
            <p:cNvSpPr>
              <a:spLocks noChangeArrowheads="1"/>
            </p:cNvSpPr>
            <p:nvPr/>
          </p:nvSpPr>
          <p:spPr bwMode="auto">
            <a:xfrm>
              <a:off x="816" y="3504"/>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振荡环节</a:t>
              </a:r>
              <a:r>
                <a:rPr lang="zh-CN" altLang="en-US" sz="2800">
                  <a:latin typeface="Times New Roman" panose="02020603050405020304" pitchFamily="18" charset="0"/>
                </a:rPr>
                <a:t>：</a:t>
              </a:r>
            </a:p>
          </p:txBody>
        </p:sp>
      </p:grpSp>
    </p:spTree>
    <p:extLst>
      <p:ext uri="{BB962C8B-B14F-4D97-AF65-F5344CB8AC3E}">
        <p14:creationId xmlns:p14="http://schemas.microsoft.com/office/powerpoint/2010/main" val="2048205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1380"/>
                                        </p:tgtEl>
                                        <p:attrNameLst>
                                          <p:attrName>style.visibility</p:attrName>
                                        </p:attrNameLst>
                                      </p:cBhvr>
                                      <p:to>
                                        <p:strVal val="visible"/>
                                      </p:to>
                                    </p:set>
                                    <p:anim calcmode="lin" valueType="num">
                                      <p:cBhvr additive="base">
                                        <p:cTn id="7" dur="500" fill="hold"/>
                                        <p:tgtEl>
                                          <p:spTgt spid="101380"/>
                                        </p:tgtEl>
                                        <p:attrNameLst>
                                          <p:attrName>ppt_x</p:attrName>
                                        </p:attrNameLst>
                                      </p:cBhvr>
                                      <p:tavLst>
                                        <p:tav tm="0">
                                          <p:val>
                                            <p:strVal val="#ppt_x"/>
                                          </p:val>
                                        </p:tav>
                                        <p:tav tm="100000">
                                          <p:val>
                                            <p:strVal val="#ppt_x"/>
                                          </p:val>
                                        </p:tav>
                                      </p:tavLst>
                                    </p:anim>
                                    <p:anim calcmode="lin" valueType="num">
                                      <p:cBhvr additive="base">
                                        <p:cTn id="8" dur="500" fill="hold"/>
                                        <p:tgtEl>
                                          <p:spTgt spid="10138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D0989CD-EF65-4723-990A-718EAB437314}" type="datetime1">
              <a:rPr lang="zh-CN" altLang="en-US" smtClean="0"/>
              <a:pPr/>
              <a:t>2025/9/11</a:t>
            </a:fld>
            <a:endParaRPr lang="zh-CN" altLang="en-US" smtClean="0"/>
          </a:p>
        </p:txBody>
      </p:sp>
      <p:sp>
        <p:nvSpPr>
          <p:cNvPr id="11161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89111D8-708D-487A-B652-35B8E6080B6E}" type="slidenum">
              <a:rPr altLang="zh-CN" smtClean="0"/>
              <a:pPr/>
              <a:t>10</a:t>
            </a:fld>
            <a:endParaRPr lang="zh-CN" altLang="zh-CN" smtClean="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655" y="2276872"/>
            <a:ext cx="7497972" cy="2241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4"/>
          <p:cNvSpPr txBox="1">
            <a:spLocks noChangeArrowheads="1"/>
          </p:cNvSpPr>
          <p:nvPr/>
        </p:nvSpPr>
        <p:spPr bwMode="auto">
          <a:xfrm>
            <a:off x="2731031" y="5222317"/>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dirty="0" smtClean="0"/>
              <a:t>恒温箱温度控制系统</a:t>
            </a:r>
            <a:endParaRPr lang="zh-CN" altLang="en-US" sz="2400" dirty="0"/>
          </a:p>
        </p:txBody>
      </p:sp>
    </p:spTree>
    <p:extLst>
      <p:ext uri="{BB962C8B-B14F-4D97-AF65-F5344CB8AC3E}">
        <p14:creationId xmlns:p14="http://schemas.microsoft.com/office/powerpoint/2010/main" val="3525537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9" name="Object 3"/>
          <p:cNvGraphicFramePr>
            <a:graphicFrameLocks noChangeAspect="1"/>
          </p:cNvGraphicFramePr>
          <p:nvPr/>
        </p:nvGraphicFramePr>
        <p:xfrm>
          <a:off x="2743200" y="3454400"/>
          <a:ext cx="2438400" cy="508000"/>
        </p:xfrm>
        <a:graphic>
          <a:graphicData uri="http://schemas.openxmlformats.org/presentationml/2006/ole">
            <mc:AlternateContent xmlns:mc="http://schemas.openxmlformats.org/markup-compatibility/2006">
              <mc:Choice xmlns:v="urn:schemas-microsoft-com:vml" Requires="v">
                <p:oleObj spid="_x0000_s146443" r:id="rId4" imgW="1320227" imgH="279279" progId="Equation.3">
                  <p:embed/>
                </p:oleObj>
              </mc:Choice>
              <mc:Fallback>
                <p:oleObj r:id="rId4" imgW="1320227" imgH="27927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3454400"/>
                        <a:ext cx="24384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7523" name="Rectangle 4"/>
          <p:cNvSpPr>
            <a:spLocks noChangeArrowheads="1"/>
          </p:cNvSpPr>
          <p:nvPr/>
        </p:nvSpPr>
        <p:spPr bwMode="auto">
          <a:xfrm>
            <a:off x="1123950" y="1905000"/>
            <a:ext cx="733425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zh-CN" altLang="en-US" sz="2800">
                <a:latin typeface="Times New Roman" panose="02020603050405020304" pitchFamily="18" charset="0"/>
              </a:rPr>
              <a:t>实际系统中还存在纯时间延迟现象，输出完全复现输入，但延迟了时间</a:t>
            </a:r>
            <a:r>
              <a:rPr lang="zh-CN" altLang="en-US" sz="2800" i="1">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，即</a:t>
            </a:r>
            <a:r>
              <a:rPr lang="en-US" altLang="zh-CN" sz="2800" i="1">
                <a:latin typeface="Times New Roman" panose="02020603050405020304" pitchFamily="18" charset="0"/>
              </a:rPr>
              <a:t>x</a:t>
            </a:r>
            <a:r>
              <a:rPr lang="en-US" altLang="zh-CN" sz="2900" i="1" baseline="-20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i="1">
                <a:latin typeface="Times New Roman" panose="02020603050405020304" pitchFamily="18" charset="0"/>
              </a:rPr>
              <a:t>x</a:t>
            </a:r>
            <a:r>
              <a:rPr lang="en-US" altLang="zh-CN" sz="2900" i="1" baseline="-20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zh-CN" altLang="en-US" sz="2800">
                <a:latin typeface="Times New Roman" panose="02020603050405020304" pitchFamily="18" charset="0"/>
              </a:rPr>
              <a:t>，此时：</a:t>
            </a:r>
          </a:p>
        </p:txBody>
      </p:sp>
      <p:grpSp>
        <p:nvGrpSpPr>
          <p:cNvPr id="2" name="Group 5"/>
          <p:cNvGrpSpPr>
            <a:grpSpLocks/>
          </p:cNvGrpSpPr>
          <p:nvPr/>
        </p:nvGrpSpPr>
        <p:grpSpPr bwMode="auto">
          <a:xfrm>
            <a:off x="2667000" y="4178300"/>
            <a:ext cx="2362200" cy="527050"/>
            <a:chOff x="1296" y="2632"/>
            <a:chExt cx="1488" cy="332"/>
          </a:xfrm>
        </p:grpSpPr>
        <p:graphicFrame>
          <p:nvGraphicFramePr>
            <p:cNvPr id="107528" name="Object 6"/>
            <p:cNvGraphicFramePr>
              <a:graphicFrameLocks noChangeAspect="1"/>
            </p:cNvGraphicFramePr>
            <p:nvPr/>
          </p:nvGraphicFramePr>
          <p:xfrm>
            <a:off x="1776" y="2640"/>
            <a:ext cx="1008" cy="324"/>
          </p:xfrm>
          <a:graphic>
            <a:graphicData uri="http://schemas.openxmlformats.org/presentationml/2006/ole">
              <mc:AlternateContent xmlns:mc="http://schemas.openxmlformats.org/markup-compatibility/2006">
                <mc:Choice xmlns:v="urn:schemas-microsoft-com:vml" Requires="v">
                  <p:oleObj spid="_x0000_s146444" r:id="rId6" imgW="825500" imgH="266700" progId="Equation.3">
                    <p:embed/>
                  </p:oleObj>
                </mc:Choice>
                <mc:Fallback>
                  <p:oleObj r:id="rId6" imgW="825500" imgH="2667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6" y="2640"/>
                          <a:ext cx="100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7529" name="Rectangle 7"/>
            <p:cNvSpPr>
              <a:spLocks noChangeArrowheads="1"/>
            </p:cNvSpPr>
            <p:nvPr/>
          </p:nvSpPr>
          <p:spPr bwMode="auto">
            <a:xfrm>
              <a:off x="1296" y="2632"/>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或：</a:t>
              </a:r>
            </a:p>
          </p:txBody>
        </p:sp>
      </p:grpSp>
      <p:grpSp>
        <p:nvGrpSpPr>
          <p:cNvPr id="3" name="Group 8"/>
          <p:cNvGrpSpPr>
            <a:grpSpLocks/>
          </p:cNvGrpSpPr>
          <p:nvPr/>
        </p:nvGrpSpPr>
        <p:grpSpPr bwMode="auto">
          <a:xfrm>
            <a:off x="1143000" y="4724400"/>
            <a:ext cx="7315200" cy="1203325"/>
            <a:chOff x="720" y="2976"/>
            <a:chExt cx="4608" cy="758"/>
          </a:xfrm>
        </p:grpSpPr>
        <p:graphicFrame>
          <p:nvGraphicFramePr>
            <p:cNvPr id="107526" name="Object 9"/>
            <p:cNvGraphicFramePr>
              <a:graphicFrameLocks noChangeAspect="1"/>
            </p:cNvGraphicFramePr>
            <p:nvPr/>
          </p:nvGraphicFramePr>
          <p:xfrm>
            <a:off x="2880" y="3352"/>
            <a:ext cx="432" cy="338"/>
          </p:xfrm>
          <a:graphic>
            <a:graphicData uri="http://schemas.openxmlformats.org/presentationml/2006/ole">
              <mc:AlternateContent xmlns:mc="http://schemas.openxmlformats.org/markup-compatibility/2006">
                <mc:Choice xmlns:v="urn:schemas-microsoft-com:vml" Requires="v">
                  <p:oleObj spid="_x0000_s146445" r:id="rId8" imgW="304800" imgH="241300" progId="Equation.3">
                    <p:embed/>
                  </p:oleObj>
                </mc:Choice>
                <mc:Fallback>
                  <p:oleObj r:id="rId8" imgW="304800" imgH="241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80" y="3352"/>
                          <a:ext cx="432"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7527" name="Rectangle 10"/>
            <p:cNvSpPr>
              <a:spLocks noChangeArrowheads="1"/>
            </p:cNvSpPr>
            <p:nvPr/>
          </p:nvSpPr>
          <p:spPr bwMode="auto">
            <a:xfrm>
              <a:off x="720" y="2976"/>
              <a:ext cx="4608" cy="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lang="zh-CN" altLang="en-US" sz="2800">
                  <a:latin typeface="宋体" panose="02010600030101010101" pitchFamily="2" charset="-122"/>
                </a:rPr>
                <a:t>因此，除了上述六种典型环节外，还有一类典型环节</a:t>
              </a:r>
              <a:r>
                <a:rPr lang="en-US" altLang="zh-CN" sz="2800">
                  <a:latin typeface="Times New Roman" panose="02020603050405020304" pitchFamily="18" charset="0"/>
                </a:rPr>
                <a:t>——</a:t>
              </a:r>
              <a:r>
                <a:rPr lang="zh-CN" altLang="en-US" sz="2800">
                  <a:latin typeface="宋体" panose="02010600030101010101" pitchFamily="2" charset="-122"/>
                </a:rPr>
                <a:t>延迟环节     。</a:t>
              </a:r>
            </a:p>
          </p:txBody>
        </p:sp>
      </p:grpSp>
    </p:spTree>
    <p:extLst>
      <p:ext uri="{BB962C8B-B14F-4D97-AF65-F5344CB8AC3E}">
        <p14:creationId xmlns:p14="http://schemas.microsoft.com/office/powerpoint/2010/main" val="4082366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additive="base">
                                        <p:cTn id="7" dur="500" fill="hold"/>
                                        <p:tgtEl>
                                          <p:spTgt spid="34819"/>
                                        </p:tgtEl>
                                        <p:attrNameLst>
                                          <p:attrName>ppt_x</p:attrName>
                                        </p:attrNameLst>
                                      </p:cBhvr>
                                      <p:tavLst>
                                        <p:tav tm="0">
                                          <p:val>
                                            <p:strVal val="#ppt_x"/>
                                          </p:val>
                                        </p:tav>
                                        <p:tav tm="100000">
                                          <p:val>
                                            <p:strVal val="#ppt_x"/>
                                          </p:val>
                                        </p:tav>
                                      </p:tavLst>
                                    </p:anim>
                                    <p:anim calcmode="lin" valueType="num">
                                      <p:cBhvr additive="base">
                                        <p:cTn id="8" dur="500" fill="hold"/>
                                        <p:tgtEl>
                                          <p:spTgt spid="3481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ChangeArrowheads="1"/>
          </p:cNvSpPr>
          <p:nvPr/>
        </p:nvSpPr>
        <p:spPr bwMode="auto">
          <a:xfrm>
            <a:off x="2124075" y="1052513"/>
            <a:ext cx="3163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放大环节</a:t>
            </a:r>
            <a:r>
              <a:rPr lang="zh-CN" altLang="en-US" sz="2800">
                <a:latin typeface="Times New Roman" panose="02020603050405020304" pitchFamily="18" charset="0"/>
              </a:rPr>
              <a:t>：		</a:t>
            </a:r>
            <a:r>
              <a:rPr lang="en-US" altLang="zh-CN" sz="2800" i="1">
                <a:latin typeface="Times New Roman" panose="02020603050405020304" pitchFamily="18" charset="0"/>
              </a:rPr>
              <a:t>K</a:t>
            </a:r>
          </a:p>
        </p:txBody>
      </p:sp>
      <p:sp>
        <p:nvSpPr>
          <p:cNvPr id="24579" name="Rectangle 4"/>
          <p:cNvSpPr>
            <a:spLocks noChangeArrowheads="1"/>
          </p:cNvSpPr>
          <p:nvPr/>
        </p:nvSpPr>
        <p:spPr bwMode="auto">
          <a:xfrm>
            <a:off x="2124075" y="1700213"/>
            <a:ext cx="35988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一阶微分环节</a:t>
            </a:r>
            <a:r>
              <a:rPr lang="zh-CN" altLang="en-US" sz="2800">
                <a:latin typeface="Times New Roman" panose="02020603050405020304" pitchFamily="18" charset="0"/>
              </a:rPr>
              <a:t>：	</a:t>
            </a:r>
            <a:r>
              <a:rPr lang="zh-CN" altLang="en-US"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s+1</a:t>
            </a:r>
          </a:p>
        </p:txBody>
      </p:sp>
      <p:grpSp>
        <p:nvGrpSpPr>
          <p:cNvPr id="24580" name="Group 5"/>
          <p:cNvGrpSpPr>
            <a:grpSpLocks/>
          </p:cNvGrpSpPr>
          <p:nvPr/>
        </p:nvGrpSpPr>
        <p:grpSpPr bwMode="auto">
          <a:xfrm>
            <a:off x="2051050" y="2349500"/>
            <a:ext cx="5029200" cy="552450"/>
            <a:chOff x="816" y="1680"/>
            <a:chExt cx="3168" cy="348"/>
          </a:xfrm>
        </p:grpSpPr>
        <p:graphicFrame>
          <p:nvGraphicFramePr>
            <p:cNvPr id="24592" name="Object 6"/>
            <p:cNvGraphicFramePr>
              <a:graphicFrameLocks noChangeAspect="1"/>
            </p:cNvGraphicFramePr>
            <p:nvPr/>
          </p:nvGraphicFramePr>
          <p:xfrm>
            <a:off x="2592" y="1680"/>
            <a:ext cx="1392" cy="348"/>
          </p:xfrm>
          <a:graphic>
            <a:graphicData uri="http://schemas.openxmlformats.org/presentationml/2006/ole">
              <mc:AlternateContent xmlns:mc="http://schemas.openxmlformats.org/markup-compatibility/2006">
                <mc:Choice xmlns:v="urn:schemas-microsoft-com:vml" Requires="v">
                  <p:oleObj spid="_x0000_s24629" r:id="rId4" imgW="1066800" imgH="266700" progId="Equation.3">
                    <p:embed/>
                  </p:oleObj>
                </mc:Choice>
                <mc:Fallback>
                  <p:oleObj r:id="rId4" imgW="1066800" imgH="2667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2" y="1680"/>
                          <a:ext cx="139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93" name="Rectangle 7"/>
            <p:cNvSpPr>
              <a:spLocks noChangeArrowheads="1"/>
            </p:cNvSpPr>
            <p:nvPr/>
          </p:nvSpPr>
          <p:spPr bwMode="auto">
            <a:xfrm>
              <a:off x="816" y="1689"/>
              <a:ext cx="16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二阶微分环节</a:t>
              </a:r>
              <a:r>
                <a:rPr lang="zh-CN" altLang="en-US" sz="2800">
                  <a:latin typeface="Times New Roman" panose="02020603050405020304" pitchFamily="18" charset="0"/>
                </a:rPr>
                <a:t>：</a:t>
              </a:r>
            </a:p>
          </p:txBody>
        </p:sp>
      </p:grpSp>
      <p:grpSp>
        <p:nvGrpSpPr>
          <p:cNvPr id="24581" name="Group 8"/>
          <p:cNvGrpSpPr>
            <a:grpSpLocks/>
          </p:cNvGrpSpPr>
          <p:nvPr/>
        </p:nvGrpSpPr>
        <p:grpSpPr bwMode="auto">
          <a:xfrm>
            <a:off x="2051050" y="3068638"/>
            <a:ext cx="3192463" cy="914400"/>
            <a:chOff x="816" y="2096"/>
            <a:chExt cx="2011" cy="576"/>
          </a:xfrm>
        </p:grpSpPr>
        <p:graphicFrame>
          <p:nvGraphicFramePr>
            <p:cNvPr id="24590" name="Object 9"/>
            <p:cNvGraphicFramePr>
              <a:graphicFrameLocks noChangeAspect="1"/>
            </p:cNvGraphicFramePr>
            <p:nvPr/>
          </p:nvGraphicFramePr>
          <p:xfrm>
            <a:off x="2592" y="2096"/>
            <a:ext cx="235" cy="576"/>
          </p:xfrm>
          <a:graphic>
            <a:graphicData uri="http://schemas.openxmlformats.org/presentationml/2006/ole">
              <mc:AlternateContent xmlns:mc="http://schemas.openxmlformats.org/markup-compatibility/2006">
                <mc:Choice xmlns:v="urn:schemas-microsoft-com:vml" Requires="v">
                  <p:oleObj spid="_x0000_s24630" r:id="rId6" imgW="152400" imgH="444500" progId="Equation.3">
                    <p:embed/>
                  </p:oleObj>
                </mc:Choice>
                <mc:Fallback>
                  <p:oleObj r:id="rId6" imgW="152400" imgH="4445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2" y="2096"/>
                          <a:ext cx="23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91" name="Rectangle 10"/>
            <p:cNvSpPr>
              <a:spLocks noChangeArrowheads="1"/>
            </p:cNvSpPr>
            <p:nvPr/>
          </p:nvSpPr>
          <p:spPr bwMode="auto">
            <a:xfrm>
              <a:off x="816" y="2208"/>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dirty="0">
                  <a:solidFill>
                    <a:srgbClr val="CC0000"/>
                  </a:solidFill>
                  <a:latin typeface="Times New Roman" panose="02020603050405020304" pitchFamily="18" charset="0"/>
                </a:rPr>
                <a:t>积分环节</a:t>
              </a:r>
              <a:r>
                <a:rPr lang="zh-CN" altLang="en-US" sz="2800" dirty="0">
                  <a:latin typeface="Times New Roman" panose="02020603050405020304" pitchFamily="18" charset="0"/>
                </a:rPr>
                <a:t>：</a:t>
              </a:r>
            </a:p>
          </p:txBody>
        </p:sp>
      </p:grpSp>
      <p:grpSp>
        <p:nvGrpSpPr>
          <p:cNvPr id="24582" name="Group 11"/>
          <p:cNvGrpSpPr>
            <a:grpSpLocks/>
          </p:cNvGrpSpPr>
          <p:nvPr/>
        </p:nvGrpSpPr>
        <p:grpSpPr bwMode="auto">
          <a:xfrm>
            <a:off x="2124075" y="3933825"/>
            <a:ext cx="3810000" cy="877888"/>
            <a:chOff x="816" y="2759"/>
            <a:chExt cx="2400" cy="553"/>
          </a:xfrm>
        </p:grpSpPr>
        <p:graphicFrame>
          <p:nvGraphicFramePr>
            <p:cNvPr id="24588" name="Object 12"/>
            <p:cNvGraphicFramePr>
              <a:graphicFrameLocks noChangeAspect="1"/>
            </p:cNvGraphicFramePr>
            <p:nvPr/>
          </p:nvGraphicFramePr>
          <p:xfrm>
            <a:off x="2640" y="2759"/>
            <a:ext cx="576" cy="553"/>
          </p:xfrm>
          <a:graphic>
            <a:graphicData uri="http://schemas.openxmlformats.org/presentationml/2006/ole">
              <mc:AlternateContent xmlns:mc="http://schemas.openxmlformats.org/markup-compatibility/2006">
                <mc:Choice xmlns:v="urn:schemas-microsoft-com:vml" Requires="v">
                  <p:oleObj spid="_x0000_s24631" r:id="rId8" imgW="469900" imgH="444500" progId="Equation.3">
                    <p:embed/>
                  </p:oleObj>
                </mc:Choice>
                <mc:Fallback>
                  <p:oleObj r:id="rId8" imgW="469900" imgH="44450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40" y="2759"/>
                          <a:ext cx="576"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9" name="Rectangle 13"/>
            <p:cNvSpPr>
              <a:spLocks noChangeArrowheads="1"/>
            </p:cNvSpPr>
            <p:nvPr/>
          </p:nvSpPr>
          <p:spPr bwMode="auto">
            <a:xfrm>
              <a:off x="816" y="2880"/>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惯性环节</a:t>
              </a:r>
              <a:r>
                <a:rPr lang="zh-CN" altLang="en-US" sz="2800">
                  <a:latin typeface="Times New Roman" panose="02020603050405020304" pitchFamily="18" charset="0"/>
                </a:rPr>
                <a:t>：</a:t>
              </a:r>
            </a:p>
          </p:txBody>
        </p:sp>
      </p:grpSp>
      <p:grpSp>
        <p:nvGrpSpPr>
          <p:cNvPr id="24583" name="Group 14"/>
          <p:cNvGrpSpPr>
            <a:grpSpLocks/>
          </p:cNvGrpSpPr>
          <p:nvPr/>
        </p:nvGrpSpPr>
        <p:grpSpPr bwMode="auto">
          <a:xfrm>
            <a:off x="2051050" y="4797425"/>
            <a:ext cx="4953000" cy="923925"/>
            <a:chOff x="816" y="3408"/>
            <a:chExt cx="3120" cy="582"/>
          </a:xfrm>
        </p:grpSpPr>
        <p:graphicFrame>
          <p:nvGraphicFramePr>
            <p:cNvPr id="24586" name="Object 15"/>
            <p:cNvGraphicFramePr>
              <a:graphicFrameLocks noChangeAspect="1"/>
            </p:cNvGraphicFramePr>
            <p:nvPr/>
          </p:nvGraphicFramePr>
          <p:xfrm>
            <a:off x="2592" y="3408"/>
            <a:ext cx="1344" cy="582"/>
          </p:xfrm>
          <a:graphic>
            <a:graphicData uri="http://schemas.openxmlformats.org/presentationml/2006/ole">
              <mc:AlternateContent xmlns:mc="http://schemas.openxmlformats.org/markup-compatibility/2006">
                <mc:Choice xmlns:v="urn:schemas-microsoft-com:vml" Requires="v">
                  <p:oleObj spid="_x0000_s24632" r:id="rId10" imgW="1143000" imgH="495300" progId="Equation.3">
                    <p:embed/>
                  </p:oleObj>
                </mc:Choice>
                <mc:Fallback>
                  <p:oleObj r:id="rId10" imgW="1143000" imgH="495300"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92" y="3408"/>
                          <a:ext cx="134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7" name="Rectangle 16"/>
            <p:cNvSpPr>
              <a:spLocks noChangeArrowheads="1"/>
            </p:cNvSpPr>
            <p:nvPr/>
          </p:nvSpPr>
          <p:spPr bwMode="auto">
            <a:xfrm>
              <a:off x="816" y="3504"/>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振荡环节</a:t>
              </a:r>
              <a:r>
                <a:rPr lang="zh-CN" altLang="en-US" sz="2800">
                  <a:latin typeface="Times New Roman" panose="02020603050405020304" pitchFamily="18" charset="0"/>
                </a:rPr>
                <a:t>：</a:t>
              </a:r>
            </a:p>
          </p:txBody>
        </p:sp>
      </p:grpSp>
      <p:sp>
        <p:nvSpPr>
          <p:cNvPr id="24584" name="Rectangle 17"/>
          <p:cNvSpPr>
            <a:spLocks noChangeArrowheads="1"/>
          </p:cNvSpPr>
          <p:nvPr/>
        </p:nvSpPr>
        <p:spPr bwMode="auto">
          <a:xfrm>
            <a:off x="2124075" y="5734050"/>
            <a:ext cx="1943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lang="zh-CN" altLang="en-US" sz="2800">
                <a:latin typeface="宋体" panose="02010600030101010101" pitchFamily="2" charset="-122"/>
              </a:rPr>
              <a:t>延迟环节</a:t>
            </a:r>
            <a:r>
              <a:rPr lang="en-US" altLang="zh-CN" sz="2800">
                <a:latin typeface="宋体" panose="02010600030101010101" pitchFamily="2" charset="-122"/>
              </a:rPr>
              <a:t>:</a:t>
            </a:r>
          </a:p>
        </p:txBody>
      </p:sp>
      <p:graphicFrame>
        <p:nvGraphicFramePr>
          <p:cNvPr id="24585" name="Object 18"/>
          <p:cNvGraphicFramePr>
            <a:graphicFrameLocks noChangeAspect="1"/>
          </p:cNvGraphicFramePr>
          <p:nvPr/>
        </p:nvGraphicFramePr>
        <p:xfrm>
          <a:off x="5003800" y="5876925"/>
          <a:ext cx="685800" cy="536575"/>
        </p:xfrm>
        <a:graphic>
          <a:graphicData uri="http://schemas.openxmlformats.org/presentationml/2006/ole">
            <mc:AlternateContent xmlns:mc="http://schemas.openxmlformats.org/markup-compatibility/2006">
              <mc:Choice xmlns:v="urn:schemas-microsoft-com:vml" Requires="v">
                <p:oleObj spid="_x0000_s24633" r:id="rId12" imgW="304800" imgH="241300" progId="Equation.3">
                  <p:embed/>
                </p:oleObj>
              </mc:Choice>
              <mc:Fallback>
                <p:oleObj r:id="rId12" imgW="304800" imgH="241300"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03800" y="5876925"/>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3" name="直接箭头连接符 2"/>
          <p:cNvCxnSpPr/>
          <p:nvPr/>
        </p:nvCxnSpPr>
        <p:spPr>
          <a:xfrm>
            <a:off x="5759326" y="3575069"/>
            <a:ext cx="432048" cy="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0"/>
          <p:cNvSpPr>
            <a:spLocks noChangeArrowheads="1"/>
          </p:cNvSpPr>
          <p:nvPr/>
        </p:nvSpPr>
        <p:spPr bwMode="auto">
          <a:xfrm>
            <a:off x="6201123" y="3326467"/>
            <a:ext cx="24785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dirty="0" smtClean="0">
                <a:solidFill>
                  <a:srgbClr val="CC0000"/>
                </a:solidFill>
                <a:latin typeface="Times New Roman" panose="02020603050405020304" pitchFamily="18" charset="0"/>
              </a:rPr>
              <a:t>纯微分环节</a:t>
            </a:r>
            <a:r>
              <a:rPr lang="zh-CN" altLang="en-US" sz="2800" dirty="0" smtClean="0">
                <a:latin typeface="Times New Roman" panose="02020603050405020304" pitchFamily="18" charset="0"/>
              </a:rPr>
              <a:t>：</a:t>
            </a:r>
            <a:r>
              <a:rPr lang="en-US" altLang="zh-CN" sz="2800" dirty="0" smtClean="0">
                <a:latin typeface="Times New Roman" panose="02020603050405020304" pitchFamily="18" charset="0"/>
              </a:rPr>
              <a:t>s</a:t>
            </a:r>
            <a:endParaRPr lang="zh-CN" altLang="en-US" sz="28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D0989CD-EF65-4723-990A-718EAB437314}" type="datetime1">
              <a:rPr lang="zh-CN" altLang="en-US" smtClean="0"/>
              <a:pPr/>
              <a:t>2025/9/11</a:t>
            </a:fld>
            <a:endParaRPr lang="zh-CN" altLang="en-US" smtClean="0"/>
          </a:p>
        </p:txBody>
      </p:sp>
      <p:sp>
        <p:nvSpPr>
          <p:cNvPr id="11161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89111D8-708D-487A-B652-35B8E6080B6E}" type="slidenum">
              <a:rPr altLang="zh-CN" smtClean="0"/>
              <a:pPr/>
              <a:t>13</a:t>
            </a:fld>
            <a:endParaRPr lang="zh-CN" altLang="zh-CN" smtClean="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988840"/>
            <a:ext cx="7497972" cy="2241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4"/>
          <p:cNvSpPr txBox="1">
            <a:spLocks noChangeArrowheads="1"/>
          </p:cNvSpPr>
          <p:nvPr/>
        </p:nvSpPr>
        <p:spPr bwMode="auto">
          <a:xfrm>
            <a:off x="2731031" y="5222317"/>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dirty="0" smtClean="0"/>
              <a:t>恒温箱温度控制系统</a:t>
            </a:r>
            <a:endParaRPr lang="zh-CN" altLang="en-US" sz="2400" dirty="0"/>
          </a:p>
        </p:txBody>
      </p:sp>
    </p:spTree>
    <p:extLst>
      <p:ext uri="{BB962C8B-B14F-4D97-AF65-F5344CB8AC3E}">
        <p14:creationId xmlns:p14="http://schemas.microsoft.com/office/powerpoint/2010/main" val="148229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1042988" y="1052513"/>
            <a:ext cx="762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zh-CN" altLang="en-US" sz="2800" b="1">
                <a:latin typeface="宋体" panose="02010600030101010101" pitchFamily="2" charset="-122"/>
              </a:rPr>
              <a:t>典型环节示例 </a:t>
            </a:r>
          </a:p>
        </p:txBody>
      </p:sp>
      <p:sp>
        <p:nvSpPr>
          <p:cNvPr id="36868" name="Rectangle 4"/>
          <p:cNvSpPr>
            <a:spLocks noChangeArrowheads="1"/>
          </p:cNvSpPr>
          <p:nvPr/>
        </p:nvSpPr>
        <p:spPr bwMode="auto">
          <a:xfrm>
            <a:off x="1187450" y="1916113"/>
            <a:ext cx="426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放大（比例）环节</a:t>
            </a:r>
            <a:r>
              <a:rPr lang="zh-CN" altLang="en-US" sz="2800">
                <a:latin typeface="Times New Roman" panose="02020603050405020304" pitchFamily="18" charset="0"/>
              </a:rPr>
              <a:t> </a:t>
            </a:r>
          </a:p>
        </p:txBody>
      </p:sp>
      <p:sp>
        <p:nvSpPr>
          <p:cNvPr id="36869" name="Rectangle 5"/>
          <p:cNvSpPr>
            <a:spLocks noChangeArrowheads="1"/>
          </p:cNvSpPr>
          <p:nvPr/>
        </p:nvSpPr>
        <p:spPr bwMode="auto">
          <a:xfrm>
            <a:off x="1187450" y="2511425"/>
            <a:ext cx="7391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输出量不失真、无惯性地跟随输入量，两者成比例关系。</a:t>
            </a:r>
          </a:p>
        </p:txBody>
      </p:sp>
      <p:sp>
        <p:nvSpPr>
          <p:cNvPr id="36870" name="Rectangle 6"/>
          <p:cNvSpPr>
            <a:spLocks noChangeArrowheads="1"/>
          </p:cNvSpPr>
          <p:nvPr/>
        </p:nvSpPr>
        <p:spPr bwMode="auto">
          <a:xfrm>
            <a:off x="1187450" y="3744913"/>
            <a:ext cx="5715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其运动方程为：</a:t>
            </a:r>
            <a:r>
              <a:rPr lang="en-US" altLang="zh-CN" sz="2800" i="1">
                <a:latin typeface="Times New Roman" panose="02020603050405020304" pitchFamily="18" charset="0"/>
              </a:rPr>
              <a:t>x</a:t>
            </a:r>
            <a:r>
              <a:rPr lang="en-US" altLang="zh-CN" sz="2900" i="1" baseline="-30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i="1">
                <a:latin typeface="Times New Roman" panose="02020603050405020304" pitchFamily="18" charset="0"/>
              </a:rPr>
              <a:t>Kx</a:t>
            </a:r>
            <a:r>
              <a:rPr lang="en-US" altLang="zh-CN" sz="2900" i="1" baseline="-30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36871" name="Rectangle 7"/>
          <p:cNvSpPr>
            <a:spLocks noChangeArrowheads="1"/>
          </p:cNvSpPr>
          <p:nvPr/>
        </p:nvSpPr>
        <p:spPr bwMode="auto">
          <a:xfrm>
            <a:off x="1339850" y="4430713"/>
            <a:ext cx="6705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x</a:t>
            </a:r>
            <a:r>
              <a:rPr lang="en-US" altLang="zh-CN" sz="2900" i="1" baseline="-30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a:t>
            </a:r>
            <a:r>
              <a:rPr lang="en-US" altLang="zh-CN" sz="2800" i="1">
                <a:latin typeface="Times New Roman" panose="02020603050405020304" pitchFamily="18" charset="0"/>
              </a:rPr>
              <a:t>x</a:t>
            </a:r>
            <a:r>
              <a:rPr lang="en-US" altLang="zh-CN" sz="2900" i="1" baseline="-30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分别为环节的输出和输入量；</a:t>
            </a:r>
          </a:p>
        </p:txBody>
      </p:sp>
      <p:sp>
        <p:nvSpPr>
          <p:cNvPr id="36872" name="Rectangle 8"/>
          <p:cNvSpPr>
            <a:spLocks noChangeArrowheads="1"/>
          </p:cNvSpPr>
          <p:nvPr/>
        </p:nvSpPr>
        <p:spPr bwMode="auto">
          <a:xfrm>
            <a:off x="1330325" y="5116513"/>
            <a:ext cx="68421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Times New Roman" panose="02020603050405020304" pitchFamily="18" charset="0"/>
              </a:rPr>
              <a:t>环节放大</a:t>
            </a:r>
            <a:r>
              <a:rPr lang="en-US" altLang="zh-CN" sz="2800">
                <a:latin typeface="Times New Roman" panose="02020603050405020304" pitchFamily="18" charset="0"/>
              </a:rPr>
              <a:t>/</a:t>
            </a:r>
            <a:r>
              <a:rPr lang="zh-CN" altLang="en-US" sz="2800">
                <a:latin typeface="宋体" panose="02010600030101010101" pitchFamily="2" charset="-122"/>
              </a:rPr>
              <a:t>比例系数，等于输出量与输入量之比。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 calcmode="lin" valueType="num">
                                      <p:cBhvr additive="base">
                                        <p:cTn id="7" dur="500" fill="hold"/>
                                        <p:tgtEl>
                                          <p:spTgt spid="36868"/>
                                        </p:tgtEl>
                                        <p:attrNameLst>
                                          <p:attrName>ppt_x</p:attrName>
                                        </p:attrNameLst>
                                      </p:cBhvr>
                                      <p:tavLst>
                                        <p:tav tm="0">
                                          <p:val>
                                            <p:strVal val="#ppt_x"/>
                                          </p:val>
                                        </p:tav>
                                        <p:tav tm="100000">
                                          <p:val>
                                            <p:strVal val="#ppt_x"/>
                                          </p:val>
                                        </p:tav>
                                      </p:tavLst>
                                    </p:anim>
                                    <p:anim calcmode="lin" valueType="num">
                                      <p:cBhvr additive="base">
                                        <p:cTn id="8"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9"/>
                                        </p:tgtEl>
                                        <p:attrNameLst>
                                          <p:attrName>style.visibility</p:attrName>
                                        </p:attrNameLst>
                                      </p:cBhvr>
                                      <p:to>
                                        <p:strVal val="visible"/>
                                      </p:to>
                                    </p:set>
                                    <p:anim calcmode="lin" valueType="num">
                                      <p:cBhvr additive="base">
                                        <p:cTn id="13" dur="500" fill="hold"/>
                                        <p:tgtEl>
                                          <p:spTgt spid="36869"/>
                                        </p:tgtEl>
                                        <p:attrNameLst>
                                          <p:attrName>ppt_x</p:attrName>
                                        </p:attrNameLst>
                                      </p:cBhvr>
                                      <p:tavLst>
                                        <p:tav tm="0">
                                          <p:val>
                                            <p:strVal val="#ppt_x"/>
                                          </p:val>
                                        </p:tav>
                                        <p:tav tm="100000">
                                          <p:val>
                                            <p:strVal val="#ppt_x"/>
                                          </p:val>
                                        </p:tav>
                                      </p:tavLst>
                                    </p:anim>
                                    <p:anim calcmode="lin" valueType="num">
                                      <p:cBhvr additive="base">
                                        <p:cTn id="14"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870"/>
                                        </p:tgtEl>
                                        <p:attrNameLst>
                                          <p:attrName>style.visibility</p:attrName>
                                        </p:attrNameLst>
                                      </p:cBhvr>
                                      <p:to>
                                        <p:strVal val="visible"/>
                                      </p:to>
                                    </p:set>
                                    <p:anim calcmode="lin" valueType="num">
                                      <p:cBhvr additive="base">
                                        <p:cTn id="19" dur="500" fill="hold"/>
                                        <p:tgtEl>
                                          <p:spTgt spid="36870"/>
                                        </p:tgtEl>
                                        <p:attrNameLst>
                                          <p:attrName>ppt_x</p:attrName>
                                        </p:attrNameLst>
                                      </p:cBhvr>
                                      <p:tavLst>
                                        <p:tav tm="0">
                                          <p:val>
                                            <p:strVal val="#ppt_x"/>
                                          </p:val>
                                        </p:tav>
                                        <p:tav tm="100000">
                                          <p:val>
                                            <p:strVal val="#ppt_x"/>
                                          </p:val>
                                        </p:tav>
                                      </p:tavLst>
                                    </p:anim>
                                    <p:anim calcmode="lin" valueType="num">
                                      <p:cBhvr additive="base">
                                        <p:cTn id="20" dur="500" fill="hold"/>
                                        <p:tgtEl>
                                          <p:spTgt spid="3687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871"/>
                                        </p:tgtEl>
                                        <p:attrNameLst>
                                          <p:attrName>style.visibility</p:attrName>
                                        </p:attrNameLst>
                                      </p:cBhvr>
                                      <p:to>
                                        <p:strVal val="visible"/>
                                      </p:to>
                                    </p:set>
                                    <p:anim calcmode="lin" valueType="num">
                                      <p:cBhvr additive="base">
                                        <p:cTn id="25" dur="500" fill="hold"/>
                                        <p:tgtEl>
                                          <p:spTgt spid="36871"/>
                                        </p:tgtEl>
                                        <p:attrNameLst>
                                          <p:attrName>ppt_x</p:attrName>
                                        </p:attrNameLst>
                                      </p:cBhvr>
                                      <p:tavLst>
                                        <p:tav tm="0">
                                          <p:val>
                                            <p:strVal val="#ppt_x"/>
                                          </p:val>
                                        </p:tav>
                                        <p:tav tm="100000">
                                          <p:val>
                                            <p:strVal val="#ppt_x"/>
                                          </p:val>
                                        </p:tav>
                                      </p:tavLst>
                                    </p:anim>
                                    <p:anim calcmode="lin" valueType="num">
                                      <p:cBhvr additive="base">
                                        <p:cTn id="26" dur="500" fill="hold"/>
                                        <p:tgtEl>
                                          <p:spTgt spid="3687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872"/>
                                        </p:tgtEl>
                                        <p:attrNameLst>
                                          <p:attrName>style.visibility</p:attrName>
                                        </p:attrNameLst>
                                      </p:cBhvr>
                                      <p:to>
                                        <p:strVal val="visible"/>
                                      </p:to>
                                    </p:set>
                                    <p:anim calcmode="lin" valueType="num">
                                      <p:cBhvr additive="base">
                                        <p:cTn id="31" dur="500" fill="hold"/>
                                        <p:tgtEl>
                                          <p:spTgt spid="36872"/>
                                        </p:tgtEl>
                                        <p:attrNameLst>
                                          <p:attrName>ppt_x</p:attrName>
                                        </p:attrNameLst>
                                      </p:cBhvr>
                                      <p:tavLst>
                                        <p:tav tm="0">
                                          <p:val>
                                            <p:strVal val="#ppt_x"/>
                                          </p:val>
                                        </p:tav>
                                        <p:tav tm="100000">
                                          <p:val>
                                            <p:strVal val="#ppt_x"/>
                                          </p:val>
                                        </p:tav>
                                      </p:tavLst>
                                    </p:anim>
                                    <p:anim calcmode="lin" valueType="num">
                                      <p:cBhvr additive="base">
                                        <p:cTn id="32" dur="500" fill="hold"/>
                                        <p:tgtEl>
                                          <p:spTgt spid="368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6869" grpId="0"/>
      <p:bldP spid="36870" grpId="0"/>
      <p:bldP spid="36871" grpId="0"/>
      <p:bldP spid="3687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1" name="Object 3"/>
          <p:cNvGraphicFramePr>
            <a:graphicFrameLocks noChangeAspect="1"/>
          </p:cNvGraphicFramePr>
          <p:nvPr/>
        </p:nvGraphicFramePr>
        <p:xfrm>
          <a:off x="1371600" y="1676400"/>
          <a:ext cx="2362200" cy="877888"/>
        </p:xfrm>
        <a:graphic>
          <a:graphicData uri="http://schemas.openxmlformats.org/presentationml/2006/ole">
            <mc:AlternateContent xmlns:mc="http://schemas.openxmlformats.org/markup-compatibility/2006">
              <mc:Choice xmlns:v="urn:schemas-microsoft-com:vml" Requires="v">
                <p:oleObj spid="_x0000_s30788" r:id="rId4" imgW="1333500" imgH="495300" progId="Equation.3">
                  <p:embed/>
                </p:oleObj>
              </mc:Choice>
              <mc:Fallback>
                <p:oleObj r:id="rId4" imgW="1333500" imgH="4953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676400"/>
                        <a:ext cx="23622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23" name="Rectangle 4"/>
          <p:cNvSpPr>
            <a:spLocks noChangeArrowheads="1"/>
          </p:cNvSpPr>
          <p:nvPr/>
        </p:nvSpPr>
        <p:spPr bwMode="auto">
          <a:xfrm>
            <a:off x="1162050" y="1066800"/>
            <a:ext cx="4133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放大环节的传递函数为：</a:t>
            </a:r>
          </a:p>
        </p:txBody>
      </p:sp>
      <p:grpSp>
        <p:nvGrpSpPr>
          <p:cNvPr id="2" name="Group 5"/>
          <p:cNvGrpSpPr>
            <a:grpSpLocks/>
          </p:cNvGrpSpPr>
          <p:nvPr/>
        </p:nvGrpSpPr>
        <p:grpSpPr bwMode="auto">
          <a:xfrm>
            <a:off x="1484313" y="2895600"/>
            <a:ext cx="2401887" cy="2286000"/>
            <a:chOff x="839" y="2016"/>
            <a:chExt cx="1513" cy="1440"/>
          </a:xfrm>
        </p:grpSpPr>
        <p:grpSp>
          <p:nvGrpSpPr>
            <p:cNvPr id="30752" name="Group 6"/>
            <p:cNvGrpSpPr>
              <a:grpSpLocks/>
            </p:cNvGrpSpPr>
            <p:nvPr/>
          </p:nvGrpSpPr>
          <p:grpSpPr bwMode="auto">
            <a:xfrm>
              <a:off x="839" y="2016"/>
              <a:ext cx="1513" cy="1152"/>
              <a:chOff x="912" y="2064"/>
              <a:chExt cx="1513" cy="1152"/>
            </a:xfrm>
          </p:grpSpPr>
          <p:sp>
            <p:nvSpPr>
              <p:cNvPr id="30754" name="Line 7"/>
              <p:cNvSpPr>
                <a:spLocks noChangeShapeType="1"/>
              </p:cNvSpPr>
              <p:nvPr/>
            </p:nvSpPr>
            <p:spPr bwMode="auto">
              <a:xfrm>
                <a:off x="1584" y="2064"/>
                <a:ext cx="0" cy="48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5" name="Line 8"/>
              <p:cNvSpPr>
                <a:spLocks noChangeShapeType="1"/>
              </p:cNvSpPr>
              <p:nvPr/>
            </p:nvSpPr>
            <p:spPr bwMode="auto">
              <a:xfrm flipH="1">
                <a:off x="960" y="2304"/>
                <a:ext cx="624"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6" name="Line 9"/>
              <p:cNvSpPr>
                <a:spLocks noChangeShapeType="1"/>
              </p:cNvSpPr>
              <p:nvPr/>
            </p:nvSpPr>
            <p:spPr bwMode="auto">
              <a:xfrm>
                <a:off x="1520" y="2064"/>
                <a:ext cx="144"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7" name="Line 10"/>
              <p:cNvSpPr>
                <a:spLocks noChangeShapeType="1"/>
              </p:cNvSpPr>
              <p:nvPr/>
            </p:nvSpPr>
            <p:spPr bwMode="auto">
              <a:xfrm>
                <a:off x="1520" y="2544"/>
                <a:ext cx="144"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8" name="Line 11"/>
              <p:cNvSpPr>
                <a:spLocks noChangeShapeType="1"/>
              </p:cNvSpPr>
              <p:nvPr/>
            </p:nvSpPr>
            <p:spPr bwMode="auto">
              <a:xfrm>
                <a:off x="1584" y="2544"/>
                <a:ext cx="0" cy="67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9" name="Line 12"/>
              <p:cNvSpPr>
                <a:spLocks noChangeShapeType="1"/>
              </p:cNvSpPr>
              <p:nvPr/>
            </p:nvSpPr>
            <p:spPr bwMode="auto">
              <a:xfrm>
                <a:off x="1520" y="3216"/>
                <a:ext cx="144"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60" name="Line 13"/>
              <p:cNvSpPr>
                <a:spLocks noChangeShapeType="1"/>
              </p:cNvSpPr>
              <p:nvPr/>
            </p:nvSpPr>
            <p:spPr bwMode="auto">
              <a:xfrm>
                <a:off x="1584" y="2880"/>
                <a:ext cx="768"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61" name="Text Box 14"/>
              <p:cNvSpPr txBox="1">
                <a:spLocks noChangeArrowheads="1"/>
              </p:cNvSpPr>
              <p:nvPr/>
            </p:nvSpPr>
            <p:spPr bwMode="auto">
              <a:xfrm>
                <a:off x="1632" y="211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z</a:t>
                </a:r>
                <a:r>
                  <a:rPr lang="en-US" altLang="zh-CN" sz="2400" baseline="-20000">
                    <a:latin typeface="Times New Roman" panose="02020603050405020304" pitchFamily="18" charset="0"/>
                  </a:rPr>
                  <a:t>1</a:t>
                </a:r>
              </a:p>
            </p:txBody>
          </p:sp>
          <p:sp>
            <p:nvSpPr>
              <p:cNvPr id="30762" name="Text Box 15"/>
              <p:cNvSpPr txBox="1">
                <a:spLocks noChangeArrowheads="1"/>
              </p:cNvSpPr>
              <p:nvPr/>
            </p:nvSpPr>
            <p:spPr bwMode="auto">
              <a:xfrm>
                <a:off x="1329" y="2688"/>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z</a:t>
                </a:r>
                <a:r>
                  <a:rPr lang="en-US" altLang="zh-CN" sz="2400" baseline="-20000">
                    <a:latin typeface="Times New Roman" panose="02020603050405020304" pitchFamily="18" charset="0"/>
                  </a:rPr>
                  <a:t>2</a:t>
                </a:r>
              </a:p>
            </p:txBody>
          </p:sp>
          <p:sp>
            <p:nvSpPr>
              <p:cNvPr id="30763" name="Freeform 16"/>
              <p:cNvSpPr>
                <a:spLocks noChangeArrowheads="1"/>
              </p:cNvSpPr>
              <p:nvPr/>
            </p:nvSpPr>
            <p:spPr bwMode="auto">
              <a:xfrm>
                <a:off x="1152" y="2096"/>
                <a:ext cx="160" cy="424"/>
              </a:xfrm>
              <a:custGeom>
                <a:avLst/>
                <a:gdLst>
                  <a:gd name="T0" fmla="*/ 0 w 160"/>
                  <a:gd name="T1" fmla="*/ 0 h 384"/>
                  <a:gd name="T2" fmla="*/ 144 w 160"/>
                  <a:gd name="T3" fmla="*/ 194 h 384"/>
                  <a:gd name="T4" fmla="*/ 96 w 160"/>
                  <a:gd name="T5" fmla="*/ 453 h 384"/>
                  <a:gd name="T6" fmla="*/ 0 w 160"/>
                  <a:gd name="T7" fmla="*/ 517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0" h="384">
                    <a:moveTo>
                      <a:pt x="0" y="0"/>
                    </a:moveTo>
                    <a:cubicBezTo>
                      <a:pt x="64" y="44"/>
                      <a:pt x="128" y="88"/>
                      <a:pt x="144" y="144"/>
                    </a:cubicBezTo>
                    <a:cubicBezTo>
                      <a:pt x="160" y="200"/>
                      <a:pt x="120" y="296"/>
                      <a:pt x="96" y="336"/>
                    </a:cubicBezTo>
                    <a:cubicBezTo>
                      <a:pt x="72" y="376"/>
                      <a:pt x="36" y="380"/>
                      <a:pt x="0" y="384"/>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4" name="Text Box 17"/>
              <p:cNvSpPr txBox="1">
                <a:spLocks noChangeArrowheads="1"/>
              </p:cNvSpPr>
              <p:nvPr/>
            </p:nvSpPr>
            <p:spPr bwMode="auto">
              <a:xfrm>
                <a:off x="912" y="2496"/>
                <a:ext cx="4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n</a:t>
                </a:r>
                <a:r>
                  <a:rPr lang="en-US" altLang="zh-CN" sz="2400" i="1" baseline="-20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30765" name="Text Box 18"/>
              <p:cNvSpPr txBox="1">
                <a:spLocks noChangeArrowheads="1"/>
              </p:cNvSpPr>
              <p:nvPr/>
            </p:nvSpPr>
            <p:spPr bwMode="auto">
              <a:xfrm>
                <a:off x="1968" y="2448"/>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n</a:t>
                </a:r>
                <a:r>
                  <a:rPr lang="en-US" altLang="zh-CN" sz="2400" i="1" baseline="-20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30766" name="Freeform 19"/>
              <p:cNvSpPr>
                <a:spLocks noChangeArrowheads="1"/>
              </p:cNvSpPr>
              <p:nvPr/>
            </p:nvSpPr>
            <p:spPr bwMode="auto">
              <a:xfrm>
                <a:off x="1816" y="2592"/>
                <a:ext cx="200" cy="488"/>
              </a:xfrm>
              <a:custGeom>
                <a:avLst/>
                <a:gdLst>
                  <a:gd name="T0" fmla="*/ 200 w 200"/>
                  <a:gd name="T1" fmla="*/ 622 h 432"/>
                  <a:gd name="T2" fmla="*/ 8 w 200"/>
                  <a:gd name="T3" fmla="*/ 415 h 432"/>
                  <a:gd name="T4" fmla="*/ 152 w 200"/>
                  <a:gd name="T5" fmla="*/ 0 h 432"/>
                  <a:gd name="T6" fmla="*/ 0 60000 65536"/>
                  <a:gd name="T7" fmla="*/ 0 60000 65536"/>
                  <a:gd name="T8" fmla="*/ 0 60000 65536"/>
                </a:gdLst>
                <a:ahLst/>
                <a:cxnLst>
                  <a:cxn ang="T6">
                    <a:pos x="T0" y="T1"/>
                  </a:cxn>
                  <a:cxn ang="T7">
                    <a:pos x="T2" y="T3"/>
                  </a:cxn>
                  <a:cxn ang="T8">
                    <a:pos x="T4" y="T5"/>
                  </a:cxn>
                </a:cxnLst>
                <a:rect l="0" t="0" r="r" b="b"/>
                <a:pathLst>
                  <a:path w="200" h="432">
                    <a:moveTo>
                      <a:pt x="200" y="432"/>
                    </a:moveTo>
                    <a:cubicBezTo>
                      <a:pt x="108" y="396"/>
                      <a:pt x="16" y="360"/>
                      <a:pt x="8" y="288"/>
                    </a:cubicBezTo>
                    <a:cubicBezTo>
                      <a:pt x="0" y="216"/>
                      <a:pt x="76" y="108"/>
                      <a:pt x="152" y="0"/>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0753" name="Rectangle 20"/>
            <p:cNvSpPr>
              <a:spLocks noChangeArrowheads="1"/>
            </p:cNvSpPr>
            <p:nvPr/>
          </p:nvSpPr>
          <p:spPr bwMode="auto">
            <a:xfrm>
              <a:off x="988" y="3168"/>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齿轮传动副</a:t>
              </a:r>
            </a:p>
          </p:txBody>
        </p:sp>
      </p:grpSp>
      <p:grpSp>
        <p:nvGrpSpPr>
          <p:cNvPr id="4" name="Group 21"/>
          <p:cNvGrpSpPr>
            <a:grpSpLocks/>
          </p:cNvGrpSpPr>
          <p:nvPr/>
        </p:nvGrpSpPr>
        <p:grpSpPr bwMode="auto">
          <a:xfrm>
            <a:off x="4876800" y="2514600"/>
            <a:ext cx="3810000" cy="2674938"/>
            <a:chOff x="2880" y="1776"/>
            <a:chExt cx="2400" cy="1685"/>
          </a:xfrm>
        </p:grpSpPr>
        <p:sp>
          <p:nvSpPr>
            <p:cNvPr id="30728" name="Rectangle 22"/>
            <p:cNvSpPr>
              <a:spLocks noChangeArrowheads="1"/>
            </p:cNvSpPr>
            <p:nvPr/>
          </p:nvSpPr>
          <p:spPr bwMode="auto">
            <a:xfrm>
              <a:off x="3984" y="2064"/>
              <a:ext cx="315" cy="10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29" name="Line 23"/>
            <p:cNvSpPr>
              <a:spLocks noChangeShapeType="1"/>
            </p:cNvSpPr>
            <p:nvPr/>
          </p:nvSpPr>
          <p:spPr bwMode="auto">
            <a:xfrm flipH="1">
              <a:off x="3731" y="2116"/>
              <a:ext cx="25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0" name="Line 24"/>
            <p:cNvSpPr>
              <a:spLocks noChangeShapeType="1"/>
            </p:cNvSpPr>
            <p:nvPr/>
          </p:nvSpPr>
          <p:spPr bwMode="auto">
            <a:xfrm>
              <a:off x="4299" y="2116"/>
              <a:ext cx="3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1" name="AutoShape 25"/>
            <p:cNvSpPr>
              <a:spLocks noChangeArrowheads="1"/>
            </p:cNvSpPr>
            <p:nvPr/>
          </p:nvSpPr>
          <p:spPr bwMode="auto">
            <a:xfrm rot="5400000">
              <a:off x="3916" y="2429"/>
              <a:ext cx="514" cy="504"/>
            </a:xfrm>
            <a:prstGeom prst="triangle">
              <a:avLst>
                <a:gd name="adj" fmla="val 50000"/>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32" name="Line 26"/>
            <p:cNvSpPr>
              <a:spLocks noChangeShapeType="1"/>
            </p:cNvSpPr>
            <p:nvPr/>
          </p:nvSpPr>
          <p:spPr bwMode="auto">
            <a:xfrm>
              <a:off x="4425" y="2681"/>
              <a:ext cx="60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3" name="Oval 27"/>
            <p:cNvSpPr>
              <a:spLocks noChangeArrowheads="1"/>
            </p:cNvSpPr>
            <p:nvPr/>
          </p:nvSpPr>
          <p:spPr bwMode="auto">
            <a:xfrm>
              <a:off x="5034" y="2656"/>
              <a:ext cx="42" cy="51"/>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34" name="Line 28"/>
            <p:cNvSpPr>
              <a:spLocks noChangeShapeType="1"/>
            </p:cNvSpPr>
            <p:nvPr/>
          </p:nvSpPr>
          <p:spPr bwMode="auto">
            <a:xfrm>
              <a:off x="4614" y="2116"/>
              <a:ext cx="0" cy="565"/>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5" name="Line 29"/>
            <p:cNvSpPr>
              <a:spLocks noChangeShapeType="1"/>
            </p:cNvSpPr>
            <p:nvPr/>
          </p:nvSpPr>
          <p:spPr bwMode="auto">
            <a:xfrm>
              <a:off x="3732" y="2116"/>
              <a:ext cx="0" cy="43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6" name="Line 30"/>
            <p:cNvSpPr>
              <a:spLocks noChangeShapeType="1"/>
            </p:cNvSpPr>
            <p:nvPr/>
          </p:nvSpPr>
          <p:spPr bwMode="auto">
            <a:xfrm>
              <a:off x="3958" y="2561"/>
              <a:ext cx="6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7" name="Rectangle 31"/>
            <p:cNvSpPr>
              <a:spLocks noChangeArrowheads="1"/>
            </p:cNvSpPr>
            <p:nvPr/>
          </p:nvSpPr>
          <p:spPr bwMode="auto">
            <a:xfrm>
              <a:off x="3291" y="2501"/>
              <a:ext cx="315" cy="10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38" name="Line 32"/>
            <p:cNvSpPr>
              <a:spLocks noChangeShapeType="1"/>
            </p:cNvSpPr>
            <p:nvPr/>
          </p:nvSpPr>
          <p:spPr bwMode="auto">
            <a:xfrm>
              <a:off x="3606" y="2553"/>
              <a:ext cx="3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9" name="Line 33"/>
            <p:cNvSpPr>
              <a:spLocks noChangeShapeType="1"/>
            </p:cNvSpPr>
            <p:nvPr/>
          </p:nvSpPr>
          <p:spPr bwMode="auto">
            <a:xfrm flipH="1">
              <a:off x="3081" y="2553"/>
              <a:ext cx="21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0" name="Oval 34"/>
            <p:cNvSpPr>
              <a:spLocks noChangeArrowheads="1"/>
            </p:cNvSpPr>
            <p:nvPr/>
          </p:nvSpPr>
          <p:spPr bwMode="auto">
            <a:xfrm>
              <a:off x="3039" y="2527"/>
              <a:ext cx="42" cy="51"/>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41" name="Text Box 35"/>
            <p:cNvSpPr txBox="1">
              <a:spLocks noChangeArrowheads="1"/>
            </p:cNvSpPr>
            <p:nvPr/>
          </p:nvSpPr>
          <p:spPr bwMode="auto">
            <a:xfrm>
              <a:off x="4012" y="177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R</a:t>
              </a:r>
              <a:r>
                <a:rPr lang="en-US" altLang="zh-CN" sz="2400" baseline="-25000">
                  <a:latin typeface="Times New Roman" panose="02020603050405020304" pitchFamily="18" charset="0"/>
                </a:rPr>
                <a:t>2</a:t>
              </a:r>
              <a:endParaRPr lang="en-US" altLang="zh-CN" sz="2400">
                <a:latin typeface="Times New Roman" panose="02020603050405020304" pitchFamily="18" charset="0"/>
              </a:endParaRPr>
            </a:p>
          </p:txBody>
        </p:sp>
        <p:sp>
          <p:nvSpPr>
            <p:cNvPr id="30742" name="Text Box 36"/>
            <p:cNvSpPr txBox="1">
              <a:spLocks noChangeArrowheads="1"/>
            </p:cNvSpPr>
            <p:nvPr/>
          </p:nvSpPr>
          <p:spPr bwMode="auto">
            <a:xfrm>
              <a:off x="3293" y="2213"/>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R</a:t>
              </a:r>
              <a:r>
                <a:rPr lang="en-US" altLang="zh-CN" sz="2400" baseline="-25000">
                  <a:latin typeface="Times New Roman" panose="02020603050405020304" pitchFamily="18" charset="0"/>
                </a:rPr>
                <a:t>1</a:t>
              </a:r>
              <a:endParaRPr lang="en-US" altLang="zh-CN" sz="2400">
                <a:latin typeface="Times New Roman" panose="02020603050405020304" pitchFamily="18" charset="0"/>
              </a:endParaRPr>
            </a:p>
          </p:txBody>
        </p:sp>
        <p:sp>
          <p:nvSpPr>
            <p:cNvPr id="30743" name="Text Box 37"/>
            <p:cNvSpPr txBox="1">
              <a:spLocks noChangeArrowheads="1"/>
            </p:cNvSpPr>
            <p:nvPr/>
          </p:nvSpPr>
          <p:spPr bwMode="auto">
            <a:xfrm>
              <a:off x="2880" y="2549"/>
              <a:ext cx="4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u</a:t>
              </a:r>
              <a:r>
                <a:rPr lang="en-US" altLang="zh-CN" sz="2400" i="1" baseline="-25000">
                  <a:latin typeface="Times New Roman" panose="02020603050405020304" pitchFamily="18" charset="0"/>
                </a:rPr>
                <a:t>i</a:t>
              </a:r>
              <a:r>
                <a:rPr lang="en-US" altLang="zh-CN" sz="2400">
                  <a:latin typeface="Times New Roman" panose="02020603050405020304" pitchFamily="18" charset="0"/>
                </a:rPr>
                <a:t>(t)</a:t>
              </a:r>
            </a:p>
          </p:txBody>
        </p:sp>
        <p:sp>
          <p:nvSpPr>
            <p:cNvPr id="30744" name="Text Box 38"/>
            <p:cNvSpPr txBox="1">
              <a:spLocks noChangeArrowheads="1"/>
            </p:cNvSpPr>
            <p:nvPr/>
          </p:nvSpPr>
          <p:spPr bwMode="auto">
            <a:xfrm>
              <a:off x="4995" y="2457"/>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0745" name="Text Box 39"/>
            <p:cNvSpPr txBox="1">
              <a:spLocks noChangeArrowheads="1"/>
            </p:cNvSpPr>
            <p:nvPr/>
          </p:nvSpPr>
          <p:spPr bwMode="auto">
            <a:xfrm>
              <a:off x="4823" y="2645"/>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u</a:t>
              </a:r>
              <a:r>
                <a:rPr lang="en-US" altLang="zh-CN" sz="2400" baseline="-25000">
                  <a:latin typeface="Times New Roman" panose="02020603050405020304" pitchFamily="18" charset="0"/>
                </a:rPr>
                <a:t>o</a:t>
              </a:r>
              <a:r>
                <a:rPr lang="en-US" altLang="zh-CN" sz="2400">
                  <a:latin typeface="Times New Roman" panose="02020603050405020304" pitchFamily="18" charset="0"/>
                </a:rPr>
                <a:t>(t)</a:t>
              </a:r>
            </a:p>
          </p:txBody>
        </p:sp>
        <p:sp>
          <p:nvSpPr>
            <p:cNvPr id="30746" name="Line 40"/>
            <p:cNvSpPr>
              <a:spLocks noChangeShapeType="1"/>
            </p:cNvSpPr>
            <p:nvPr/>
          </p:nvSpPr>
          <p:spPr bwMode="auto">
            <a:xfrm>
              <a:off x="3944" y="2821"/>
              <a:ext cx="96"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7" name="Line 41"/>
            <p:cNvSpPr>
              <a:spLocks noChangeShapeType="1"/>
            </p:cNvSpPr>
            <p:nvPr/>
          </p:nvSpPr>
          <p:spPr bwMode="auto">
            <a:xfrm>
              <a:off x="3992" y="2773"/>
              <a:ext cx="0"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8" name="Line 42"/>
            <p:cNvSpPr>
              <a:spLocks noChangeShapeType="1"/>
            </p:cNvSpPr>
            <p:nvPr/>
          </p:nvSpPr>
          <p:spPr bwMode="auto">
            <a:xfrm flipH="1">
              <a:off x="3728" y="2821"/>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9" name="Line 43"/>
            <p:cNvSpPr>
              <a:spLocks noChangeShapeType="1"/>
            </p:cNvSpPr>
            <p:nvPr/>
          </p:nvSpPr>
          <p:spPr bwMode="auto">
            <a:xfrm>
              <a:off x="3728" y="2813"/>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0" name="Line 44"/>
            <p:cNvSpPr>
              <a:spLocks noChangeShapeType="1"/>
            </p:cNvSpPr>
            <p:nvPr/>
          </p:nvSpPr>
          <p:spPr bwMode="auto">
            <a:xfrm flipH="1">
              <a:off x="3648" y="2965"/>
              <a:ext cx="144"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1" name="Rectangle 45"/>
            <p:cNvSpPr>
              <a:spLocks noChangeArrowheads="1"/>
            </p:cNvSpPr>
            <p:nvPr/>
          </p:nvSpPr>
          <p:spPr bwMode="auto">
            <a:xfrm>
              <a:off x="3532" y="3173"/>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运算放大器</a:t>
              </a:r>
            </a:p>
          </p:txBody>
        </p:sp>
      </p:grpSp>
      <p:graphicFrame>
        <p:nvGraphicFramePr>
          <p:cNvPr id="37934" name="Object 46"/>
          <p:cNvGraphicFramePr>
            <a:graphicFrameLocks noChangeAspect="1"/>
          </p:cNvGraphicFramePr>
          <p:nvPr/>
        </p:nvGraphicFramePr>
        <p:xfrm>
          <a:off x="1295400" y="5430838"/>
          <a:ext cx="2997200" cy="893762"/>
        </p:xfrm>
        <a:graphic>
          <a:graphicData uri="http://schemas.openxmlformats.org/presentationml/2006/ole">
            <mc:AlternateContent xmlns:mc="http://schemas.openxmlformats.org/markup-compatibility/2006">
              <mc:Choice xmlns:v="urn:schemas-microsoft-com:vml" Requires="v">
                <p:oleObj spid="_x0000_s30789" r:id="rId6" imgW="1447800" imgH="431800" progId="Equation.3">
                  <p:embed/>
                </p:oleObj>
              </mc:Choice>
              <mc:Fallback>
                <p:oleObj r:id="rId6" imgW="1447800" imgH="431800" progId="Equation.3">
                  <p:embed/>
                  <p:pic>
                    <p:nvPicPr>
                      <p:cNvPr id="0" name="Object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5430838"/>
                        <a:ext cx="2997200"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935" name="Object 47"/>
          <p:cNvGraphicFramePr>
            <a:graphicFrameLocks noChangeAspect="1"/>
          </p:cNvGraphicFramePr>
          <p:nvPr/>
        </p:nvGraphicFramePr>
        <p:xfrm>
          <a:off x="5046663" y="5414963"/>
          <a:ext cx="3259137" cy="893762"/>
        </p:xfrm>
        <a:graphic>
          <a:graphicData uri="http://schemas.openxmlformats.org/presentationml/2006/ole">
            <mc:AlternateContent xmlns:mc="http://schemas.openxmlformats.org/markup-compatibility/2006">
              <mc:Choice xmlns:v="urn:schemas-microsoft-com:vml" Requires="v">
                <p:oleObj spid="_x0000_s30790" r:id="rId8" imgW="1574800" imgH="431800" progId="Equation.3">
                  <p:embed/>
                </p:oleObj>
              </mc:Choice>
              <mc:Fallback>
                <p:oleObj r:id="rId8" imgW="1574800" imgH="431800" progId="Equation.3">
                  <p:embed/>
                  <p:pic>
                    <p:nvPicPr>
                      <p:cNvPr id="0" name="Object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46663" y="5414963"/>
                        <a:ext cx="3259137"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gtEl>
                                        <p:attrNameLst>
                                          <p:attrName>style.visibility</p:attrName>
                                        </p:attrNameLst>
                                      </p:cBhvr>
                                      <p:to>
                                        <p:strVal val="visible"/>
                                      </p:to>
                                    </p:set>
                                    <p:anim calcmode="lin" valueType="num">
                                      <p:cBhvr additive="base">
                                        <p:cTn id="7" dur="500" fill="hold"/>
                                        <p:tgtEl>
                                          <p:spTgt spid="37891"/>
                                        </p:tgtEl>
                                        <p:attrNameLst>
                                          <p:attrName>ppt_x</p:attrName>
                                        </p:attrNameLst>
                                      </p:cBhvr>
                                      <p:tavLst>
                                        <p:tav tm="0">
                                          <p:val>
                                            <p:strVal val="#ppt_x"/>
                                          </p:val>
                                        </p:tav>
                                        <p:tav tm="100000">
                                          <p:val>
                                            <p:strVal val="#ppt_x"/>
                                          </p:val>
                                        </p:tav>
                                      </p:tavLst>
                                    </p:anim>
                                    <p:anim calcmode="lin" valueType="num">
                                      <p:cBhvr additive="base">
                                        <p:cTn id="8" dur="500" fill="hold"/>
                                        <p:tgtEl>
                                          <p:spTgt spid="378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7934"/>
                                        </p:tgtEl>
                                        <p:attrNameLst>
                                          <p:attrName>style.visibility</p:attrName>
                                        </p:attrNameLst>
                                      </p:cBhvr>
                                      <p:to>
                                        <p:strVal val="visible"/>
                                      </p:to>
                                    </p:set>
                                    <p:anim calcmode="lin" valueType="num">
                                      <p:cBhvr additive="base">
                                        <p:cTn id="19" dur="500" fill="hold"/>
                                        <p:tgtEl>
                                          <p:spTgt spid="37934"/>
                                        </p:tgtEl>
                                        <p:attrNameLst>
                                          <p:attrName>ppt_x</p:attrName>
                                        </p:attrNameLst>
                                      </p:cBhvr>
                                      <p:tavLst>
                                        <p:tav tm="0">
                                          <p:val>
                                            <p:strVal val="#ppt_x"/>
                                          </p:val>
                                        </p:tav>
                                        <p:tav tm="100000">
                                          <p:val>
                                            <p:strVal val="#ppt_x"/>
                                          </p:val>
                                        </p:tav>
                                      </p:tavLst>
                                    </p:anim>
                                    <p:anim calcmode="lin" valueType="num">
                                      <p:cBhvr additive="base">
                                        <p:cTn id="20" dur="500" fill="hold"/>
                                        <p:tgtEl>
                                          <p:spTgt spid="3793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7935"/>
                                        </p:tgtEl>
                                        <p:attrNameLst>
                                          <p:attrName>style.visibility</p:attrName>
                                        </p:attrNameLst>
                                      </p:cBhvr>
                                      <p:to>
                                        <p:strVal val="visible"/>
                                      </p:to>
                                    </p:set>
                                    <p:anim calcmode="lin" valueType="num">
                                      <p:cBhvr additive="base">
                                        <p:cTn id="31" dur="500" fill="hold"/>
                                        <p:tgtEl>
                                          <p:spTgt spid="37935"/>
                                        </p:tgtEl>
                                        <p:attrNameLst>
                                          <p:attrName>ppt_x</p:attrName>
                                        </p:attrNameLst>
                                      </p:cBhvr>
                                      <p:tavLst>
                                        <p:tav tm="0">
                                          <p:val>
                                            <p:strVal val="#ppt_x"/>
                                          </p:val>
                                        </p:tav>
                                        <p:tav tm="100000">
                                          <p:val>
                                            <p:strVal val="#ppt_x"/>
                                          </p:val>
                                        </p:tav>
                                      </p:tavLst>
                                    </p:anim>
                                    <p:anim calcmode="lin" valueType="num">
                                      <p:cBhvr additive="base">
                                        <p:cTn id="32" dur="500" fill="hold"/>
                                        <p:tgtEl>
                                          <p:spTgt spid="379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ChangeArrowheads="1"/>
          </p:cNvSpPr>
          <p:nvPr/>
        </p:nvSpPr>
        <p:spPr bwMode="auto">
          <a:xfrm>
            <a:off x="1258888" y="981075"/>
            <a:ext cx="426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惯性环节 </a:t>
            </a:r>
            <a:r>
              <a:rPr lang="zh-CN" altLang="en-US" sz="2800">
                <a:latin typeface="Times New Roman" panose="02020603050405020304" pitchFamily="18" charset="0"/>
              </a:rPr>
              <a:t> </a:t>
            </a:r>
          </a:p>
        </p:txBody>
      </p:sp>
      <p:graphicFrame>
        <p:nvGraphicFramePr>
          <p:cNvPr id="38916" name="Object 4"/>
          <p:cNvGraphicFramePr>
            <a:graphicFrameLocks noChangeAspect="1"/>
          </p:cNvGraphicFramePr>
          <p:nvPr/>
        </p:nvGraphicFramePr>
        <p:xfrm>
          <a:off x="1447800" y="2362200"/>
          <a:ext cx="3124200" cy="749300"/>
        </p:xfrm>
        <a:graphic>
          <a:graphicData uri="http://schemas.openxmlformats.org/presentationml/2006/ole">
            <mc:AlternateContent xmlns:mc="http://schemas.openxmlformats.org/markup-compatibility/2006">
              <mc:Choice xmlns:v="urn:schemas-microsoft-com:vml" Requires="v">
                <p:oleObj spid="_x0000_s32791" r:id="rId4" imgW="1866900" imgH="444500" progId="Equation.3">
                  <p:embed/>
                </p:oleObj>
              </mc:Choice>
              <mc:Fallback>
                <p:oleObj r:id="rId4" imgW="1866900" imgH="4445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2362200"/>
                        <a:ext cx="31242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917" name="Object 5"/>
          <p:cNvGraphicFramePr>
            <a:graphicFrameLocks noChangeAspect="1"/>
          </p:cNvGraphicFramePr>
          <p:nvPr/>
        </p:nvGraphicFramePr>
        <p:xfrm>
          <a:off x="1447800" y="3875088"/>
          <a:ext cx="2743200" cy="849312"/>
        </p:xfrm>
        <a:graphic>
          <a:graphicData uri="http://schemas.openxmlformats.org/presentationml/2006/ole">
            <mc:AlternateContent xmlns:mc="http://schemas.openxmlformats.org/markup-compatibility/2006">
              <mc:Choice xmlns:v="urn:schemas-microsoft-com:vml" Requires="v">
                <p:oleObj spid="_x0000_s32792" r:id="rId6" imgW="1600200" imgH="495300" progId="Equation.3">
                  <p:embed/>
                </p:oleObj>
              </mc:Choice>
              <mc:Fallback>
                <p:oleObj r:id="rId6" imgW="1600200" imgH="4953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3875088"/>
                        <a:ext cx="2743200"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8" name="Rectangle 6"/>
          <p:cNvSpPr>
            <a:spLocks noChangeArrowheads="1"/>
          </p:cNvSpPr>
          <p:nvPr/>
        </p:nvSpPr>
        <p:spPr bwMode="auto">
          <a:xfrm>
            <a:off x="1295400" y="1738313"/>
            <a:ext cx="4806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凡运动方程为一阶微分方程：</a:t>
            </a:r>
          </a:p>
        </p:txBody>
      </p:sp>
      <p:sp>
        <p:nvSpPr>
          <p:cNvPr id="38919" name="Rectangle 7"/>
          <p:cNvSpPr>
            <a:spLocks noChangeArrowheads="1"/>
          </p:cNvSpPr>
          <p:nvPr/>
        </p:nvSpPr>
        <p:spPr bwMode="auto">
          <a:xfrm>
            <a:off x="1295400" y="3214688"/>
            <a:ext cx="6940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形式的环节称为惯性环节。其传递函数为：</a:t>
            </a:r>
          </a:p>
        </p:txBody>
      </p:sp>
      <p:sp>
        <p:nvSpPr>
          <p:cNvPr id="38920" name="Rectangle 8"/>
          <p:cNvSpPr>
            <a:spLocks noChangeArrowheads="1"/>
          </p:cNvSpPr>
          <p:nvPr/>
        </p:nvSpPr>
        <p:spPr bwMode="auto">
          <a:xfrm>
            <a:off x="2252663" y="5334000"/>
            <a:ext cx="620553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Times New Roman" panose="02020603050405020304" pitchFamily="18" charset="0"/>
              </a:rPr>
              <a:t> T—</a:t>
            </a:r>
            <a:r>
              <a:rPr lang="zh-CN" altLang="en-US" sz="2800">
                <a:latin typeface="Times New Roman" panose="02020603050405020304" pitchFamily="18" charset="0"/>
              </a:rPr>
              <a:t>时间常数，表征环节的惯性，和</a:t>
            </a:r>
          </a:p>
          <a:p>
            <a:pPr eaLnBrk="1" hangingPunct="1">
              <a:lnSpc>
                <a:spcPct val="115000"/>
              </a:lnSpc>
            </a:pPr>
            <a:r>
              <a:rPr lang="zh-CN" altLang="en-US" sz="2800">
                <a:latin typeface="Times New Roman" panose="02020603050405020304" pitchFamily="18" charset="0"/>
              </a:rPr>
              <a:t>       环节结构参数有关</a:t>
            </a:r>
          </a:p>
        </p:txBody>
      </p:sp>
      <p:sp>
        <p:nvSpPr>
          <p:cNvPr id="38921" name="Rectangle 9"/>
          <p:cNvSpPr>
            <a:spLocks noChangeArrowheads="1"/>
          </p:cNvSpPr>
          <p:nvPr/>
        </p:nvSpPr>
        <p:spPr bwMode="auto">
          <a:xfrm>
            <a:off x="1295400" y="4800600"/>
            <a:ext cx="5754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式中，</a:t>
            </a:r>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Times New Roman" panose="02020603050405020304" pitchFamily="18" charset="0"/>
              </a:rPr>
              <a:t>环节增益（放大系数）；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8916"/>
                                        </p:tgtEl>
                                        <p:attrNameLst>
                                          <p:attrName>style.visibility</p:attrName>
                                        </p:attrNameLst>
                                      </p:cBhvr>
                                      <p:to>
                                        <p:strVal val="visible"/>
                                      </p:to>
                                    </p:set>
                                    <p:anim calcmode="lin" valueType="num">
                                      <p:cBhvr additive="base">
                                        <p:cTn id="13" dur="500" fill="hold"/>
                                        <p:tgtEl>
                                          <p:spTgt spid="38916"/>
                                        </p:tgtEl>
                                        <p:attrNameLst>
                                          <p:attrName>ppt_x</p:attrName>
                                        </p:attrNameLst>
                                      </p:cBhvr>
                                      <p:tavLst>
                                        <p:tav tm="0">
                                          <p:val>
                                            <p:strVal val="#ppt_x"/>
                                          </p:val>
                                        </p:tav>
                                        <p:tav tm="100000">
                                          <p:val>
                                            <p:strVal val="#ppt_x"/>
                                          </p:val>
                                        </p:tav>
                                      </p:tavLst>
                                    </p:anim>
                                    <p:anim calcmode="lin" valueType="num">
                                      <p:cBhvr additive="base">
                                        <p:cTn id="14"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9"/>
                                        </p:tgtEl>
                                        <p:attrNameLst>
                                          <p:attrName>style.visibility</p:attrName>
                                        </p:attrNameLst>
                                      </p:cBhvr>
                                      <p:to>
                                        <p:strVal val="visible"/>
                                      </p:to>
                                    </p:set>
                                    <p:anim calcmode="lin" valueType="num">
                                      <p:cBhvr additive="base">
                                        <p:cTn id="19" dur="500" fill="hold"/>
                                        <p:tgtEl>
                                          <p:spTgt spid="38919"/>
                                        </p:tgtEl>
                                        <p:attrNameLst>
                                          <p:attrName>ppt_x</p:attrName>
                                        </p:attrNameLst>
                                      </p:cBhvr>
                                      <p:tavLst>
                                        <p:tav tm="0">
                                          <p:val>
                                            <p:strVal val="#ppt_x"/>
                                          </p:val>
                                        </p:tav>
                                        <p:tav tm="100000">
                                          <p:val>
                                            <p:strVal val="#ppt_x"/>
                                          </p:val>
                                        </p:tav>
                                      </p:tavLst>
                                    </p:anim>
                                    <p:anim calcmode="lin" valueType="num">
                                      <p:cBhvr additive="base">
                                        <p:cTn id="20" dur="500" fill="hold"/>
                                        <p:tgtEl>
                                          <p:spTgt spid="3891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8917"/>
                                        </p:tgtEl>
                                        <p:attrNameLst>
                                          <p:attrName>style.visibility</p:attrName>
                                        </p:attrNameLst>
                                      </p:cBhvr>
                                      <p:to>
                                        <p:strVal val="visible"/>
                                      </p:to>
                                    </p:set>
                                    <p:anim calcmode="lin" valueType="num">
                                      <p:cBhvr additive="base">
                                        <p:cTn id="25" dur="500" fill="hold"/>
                                        <p:tgtEl>
                                          <p:spTgt spid="38917"/>
                                        </p:tgtEl>
                                        <p:attrNameLst>
                                          <p:attrName>ppt_x</p:attrName>
                                        </p:attrNameLst>
                                      </p:cBhvr>
                                      <p:tavLst>
                                        <p:tav tm="0">
                                          <p:val>
                                            <p:strVal val="#ppt_x"/>
                                          </p:val>
                                        </p:tav>
                                        <p:tav tm="100000">
                                          <p:val>
                                            <p:strVal val="#ppt_x"/>
                                          </p:val>
                                        </p:tav>
                                      </p:tavLst>
                                    </p:anim>
                                    <p:anim calcmode="lin" valueType="num">
                                      <p:cBhvr additive="base">
                                        <p:cTn id="26"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8921"/>
                                        </p:tgtEl>
                                        <p:attrNameLst>
                                          <p:attrName>style.visibility</p:attrName>
                                        </p:attrNameLst>
                                      </p:cBhvr>
                                      <p:to>
                                        <p:strVal val="visible"/>
                                      </p:to>
                                    </p:set>
                                    <p:anim calcmode="lin" valueType="num">
                                      <p:cBhvr additive="base">
                                        <p:cTn id="31" dur="500" fill="hold"/>
                                        <p:tgtEl>
                                          <p:spTgt spid="38921"/>
                                        </p:tgtEl>
                                        <p:attrNameLst>
                                          <p:attrName>ppt_x</p:attrName>
                                        </p:attrNameLst>
                                      </p:cBhvr>
                                      <p:tavLst>
                                        <p:tav tm="0">
                                          <p:val>
                                            <p:strVal val="#ppt_x"/>
                                          </p:val>
                                        </p:tav>
                                        <p:tav tm="100000">
                                          <p:val>
                                            <p:strVal val="#ppt_x"/>
                                          </p:val>
                                        </p:tav>
                                      </p:tavLst>
                                    </p:anim>
                                    <p:anim calcmode="lin" valueType="num">
                                      <p:cBhvr additive="base">
                                        <p:cTn id="32" dur="500" fill="hold"/>
                                        <p:tgtEl>
                                          <p:spTgt spid="38921"/>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8920"/>
                                        </p:tgtEl>
                                        <p:attrNameLst>
                                          <p:attrName>style.visibility</p:attrName>
                                        </p:attrNameLst>
                                      </p:cBhvr>
                                      <p:to>
                                        <p:strVal val="visible"/>
                                      </p:to>
                                    </p:set>
                                    <p:anim calcmode="lin" valueType="num">
                                      <p:cBhvr additive="base">
                                        <p:cTn id="37" dur="500" fill="hold"/>
                                        <p:tgtEl>
                                          <p:spTgt spid="38920"/>
                                        </p:tgtEl>
                                        <p:attrNameLst>
                                          <p:attrName>ppt_x</p:attrName>
                                        </p:attrNameLst>
                                      </p:cBhvr>
                                      <p:tavLst>
                                        <p:tav tm="0">
                                          <p:val>
                                            <p:strVal val="#ppt_x"/>
                                          </p:val>
                                        </p:tav>
                                        <p:tav tm="100000">
                                          <p:val>
                                            <p:strVal val="#ppt_x"/>
                                          </p:val>
                                        </p:tav>
                                      </p:tavLst>
                                    </p:anim>
                                    <p:anim calcmode="lin" valueType="num">
                                      <p:cBhvr additive="base">
                                        <p:cTn id="38" dur="500" fill="hold"/>
                                        <p:tgtEl>
                                          <p:spTgt spid="389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38919" grpId="0"/>
      <p:bldP spid="38920" grpId="0"/>
      <p:bldP spid="389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9" name="Object 3"/>
          <p:cNvGraphicFramePr>
            <a:graphicFrameLocks noChangeAspect="1"/>
          </p:cNvGraphicFramePr>
          <p:nvPr/>
        </p:nvGraphicFramePr>
        <p:xfrm>
          <a:off x="2133600" y="4572000"/>
          <a:ext cx="3657600" cy="860425"/>
        </p:xfrm>
        <a:graphic>
          <a:graphicData uri="http://schemas.openxmlformats.org/presentationml/2006/ole">
            <mc:AlternateContent xmlns:mc="http://schemas.openxmlformats.org/markup-compatibility/2006">
              <mc:Choice xmlns:v="urn:schemas-microsoft-com:vml" Requires="v">
                <p:oleObj spid="_x0000_s34867" r:id="rId4" imgW="1905000" imgH="444500" progId="Equation.3">
                  <p:embed/>
                </p:oleObj>
              </mc:Choice>
              <mc:Fallback>
                <p:oleObj r:id="rId4" imgW="1905000" imgH="4445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4572000"/>
                        <a:ext cx="36576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940" name="Object 4"/>
          <p:cNvGraphicFramePr>
            <a:graphicFrameLocks noChangeAspect="1"/>
          </p:cNvGraphicFramePr>
          <p:nvPr/>
        </p:nvGraphicFramePr>
        <p:xfrm>
          <a:off x="2133600" y="5522913"/>
          <a:ext cx="4114800" cy="801687"/>
        </p:xfrm>
        <a:graphic>
          <a:graphicData uri="http://schemas.openxmlformats.org/presentationml/2006/ole">
            <mc:AlternateContent xmlns:mc="http://schemas.openxmlformats.org/markup-compatibility/2006">
              <mc:Choice xmlns:v="urn:schemas-microsoft-com:vml" Requires="v">
                <p:oleObj spid="_x0000_s34868" r:id="rId6" imgW="2298700" imgH="444500" progId="Equation.3">
                  <p:embed/>
                </p:oleObj>
              </mc:Choice>
              <mc:Fallback>
                <p:oleObj r:id="rId6" imgW="2298700" imgH="4445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5522913"/>
                        <a:ext cx="4114800"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0" name="Rectangle 5"/>
          <p:cNvSpPr>
            <a:spLocks noChangeArrowheads="1"/>
          </p:cNvSpPr>
          <p:nvPr/>
        </p:nvSpPr>
        <p:spPr bwMode="auto">
          <a:xfrm>
            <a:off x="1403350" y="981075"/>
            <a:ext cx="3503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如：弹簧</a:t>
            </a:r>
            <a:r>
              <a:rPr lang="en-US" altLang="zh-CN" sz="2800">
                <a:latin typeface="Times New Roman" panose="02020603050405020304" pitchFamily="18" charset="0"/>
              </a:rPr>
              <a:t>-</a:t>
            </a:r>
            <a:r>
              <a:rPr lang="zh-CN" altLang="en-US" sz="2800">
                <a:latin typeface="Times New Roman" panose="02020603050405020304" pitchFamily="18" charset="0"/>
              </a:rPr>
              <a:t>阻尼器环节</a:t>
            </a:r>
          </a:p>
        </p:txBody>
      </p:sp>
      <p:grpSp>
        <p:nvGrpSpPr>
          <p:cNvPr id="2" name="Group 6"/>
          <p:cNvGrpSpPr>
            <a:grpSpLocks/>
          </p:cNvGrpSpPr>
          <p:nvPr/>
        </p:nvGrpSpPr>
        <p:grpSpPr bwMode="auto">
          <a:xfrm>
            <a:off x="2133600" y="1981200"/>
            <a:ext cx="5032375" cy="2438400"/>
            <a:chOff x="1344" y="1248"/>
            <a:chExt cx="3170" cy="1536"/>
          </a:xfrm>
        </p:grpSpPr>
        <p:sp>
          <p:nvSpPr>
            <p:cNvPr id="34822" name="Text Box 7"/>
            <p:cNvSpPr txBox="1">
              <a:spLocks noChangeArrowheads="1"/>
            </p:cNvSpPr>
            <p:nvPr/>
          </p:nvSpPr>
          <p:spPr bwMode="auto">
            <a:xfrm>
              <a:off x="4430" y="1780"/>
              <a:ext cx="8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lIns="75301" tIns="37649" rIns="75301" bIns="37649">
              <a:spAutoFit/>
            </a:bodyPr>
            <a:lstStyle>
              <a:lvl1pPr defTabSz="750888">
                <a:defRPr>
                  <a:solidFill>
                    <a:schemeClr val="tx1"/>
                  </a:solidFill>
                  <a:latin typeface="Verdana" panose="020B0604030504040204" pitchFamily="34" charset="0"/>
                  <a:ea typeface="宋体" panose="02010600030101010101" pitchFamily="2" charset="-122"/>
                </a:defRPr>
              </a:lvl1pPr>
              <a:lvl2pPr marL="742950" indent="-285750" defTabSz="750888">
                <a:defRPr>
                  <a:solidFill>
                    <a:schemeClr val="tx1"/>
                  </a:solidFill>
                  <a:latin typeface="Verdana" panose="020B0604030504040204" pitchFamily="34" charset="0"/>
                  <a:ea typeface="宋体" panose="02010600030101010101" pitchFamily="2" charset="-122"/>
                </a:defRPr>
              </a:lvl2pPr>
              <a:lvl3pPr marL="1143000" indent="-228600" defTabSz="750888">
                <a:defRPr>
                  <a:solidFill>
                    <a:schemeClr val="tx1"/>
                  </a:solidFill>
                  <a:latin typeface="Verdana" panose="020B0604030504040204" pitchFamily="34" charset="0"/>
                  <a:ea typeface="宋体" panose="02010600030101010101" pitchFamily="2" charset="-122"/>
                </a:defRPr>
              </a:lvl3pPr>
              <a:lvl4pPr marL="1600200" indent="-228600" defTabSz="750888">
                <a:defRPr>
                  <a:solidFill>
                    <a:schemeClr val="tx1"/>
                  </a:solidFill>
                  <a:latin typeface="Verdana" panose="020B0604030504040204" pitchFamily="34" charset="0"/>
                  <a:ea typeface="宋体" panose="02010600030101010101" pitchFamily="2" charset="-122"/>
                </a:defRPr>
              </a:lvl4pPr>
              <a:lvl5pPr marL="2057400" indent="-228600" defTabSz="750888">
                <a:defRPr>
                  <a:solidFill>
                    <a:schemeClr val="tx1"/>
                  </a:solidFill>
                  <a:latin typeface="Verdana" panose="020B0604030504040204" pitchFamily="34" charset="0"/>
                  <a:ea typeface="宋体" panose="02010600030101010101" pitchFamily="2" charset="-122"/>
                </a:defRPr>
              </a:lvl5pPr>
              <a:lvl6pPr marL="2514600" indent="-228600" defTabSz="750888"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defTabSz="750888"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defTabSz="750888"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defTabSz="750888"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zh-CN" sz="2000">
                <a:latin typeface="Times New Roman" panose="02020603050405020304" pitchFamily="18" charset="0"/>
              </a:endParaRPr>
            </a:p>
          </p:txBody>
        </p:sp>
        <p:sp>
          <p:nvSpPr>
            <p:cNvPr id="34823" name="Oval 8"/>
            <p:cNvSpPr>
              <a:spLocks noChangeArrowheads="1"/>
            </p:cNvSpPr>
            <p:nvPr/>
          </p:nvSpPr>
          <p:spPr bwMode="auto">
            <a:xfrm>
              <a:off x="2736" y="2016"/>
              <a:ext cx="96" cy="96"/>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4824" name="Line 9"/>
            <p:cNvSpPr>
              <a:spLocks noChangeShapeType="1"/>
            </p:cNvSpPr>
            <p:nvPr/>
          </p:nvSpPr>
          <p:spPr bwMode="auto">
            <a:xfrm flipH="1">
              <a:off x="1440" y="2064"/>
              <a:ext cx="48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5" name="Oval 10"/>
            <p:cNvSpPr>
              <a:spLocks noChangeArrowheads="1"/>
            </p:cNvSpPr>
            <p:nvPr/>
          </p:nvSpPr>
          <p:spPr bwMode="auto">
            <a:xfrm>
              <a:off x="1344" y="2016"/>
              <a:ext cx="96" cy="96"/>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4826" name="Text Box 11"/>
            <p:cNvSpPr txBox="1">
              <a:spLocks noChangeArrowheads="1"/>
            </p:cNvSpPr>
            <p:nvPr/>
          </p:nvSpPr>
          <p:spPr bwMode="auto">
            <a:xfrm>
              <a:off x="2016" y="1248"/>
              <a:ext cx="4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34827" name="Text Box 12"/>
            <p:cNvSpPr txBox="1">
              <a:spLocks noChangeArrowheads="1"/>
            </p:cNvSpPr>
            <p:nvPr/>
          </p:nvSpPr>
          <p:spPr bwMode="auto">
            <a:xfrm>
              <a:off x="3360" y="1248"/>
              <a:ext cx="4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34828" name="Line 13"/>
            <p:cNvSpPr>
              <a:spLocks noChangeShapeType="1"/>
            </p:cNvSpPr>
            <p:nvPr/>
          </p:nvSpPr>
          <p:spPr bwMode="auto">
            <a:xfrm flipV="1">
              <a:off x="1392" y="1392"/>
              <a:ext cx="0" cy="62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9" name="Line 14"/>
            <p:cNvSpPr>
              <a:spLocks noChangeShapeType="1"/>
            </p:cNvSpPr>
            <p:nvPr/>
          </p:nvSpPr>
          <p:spPr bwMode="auto">
            <a:xfrm>
              <a:off x="1392" y="1440"/>
              <a:ext cx="624"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0" name="Freeform 15"/>
            <p:cNvSpPr>
              <a:spLocks noChangeArrowheads="1"/>
            </p:cNvSpPr>
            <p:nvPr/>
          </p:nvSpPr>
          <p:spPr bwMode="auto">
            <a:xfrm>
              <a:off x="1920" y="1952"/>
              <a:ext cx="576" cy="208"/>
            </a:xfrm>
            <a:custGeom>
              <a:avLst/>
              <a:gdLst>
                <a:gd name="T0" fmla="*/ 0 w 576"/>
                <a:gd name="T1" fmla="*/ 112 h 208"/>
                <a:gd name="T2" fmla="*/ 96 w 576"/>
                <a:gd name="T3" fmla="*/ 16 h 208"/>
                <a:gd name="T4" fmla="*/ 192 w 576"/>
                <a:gd name="T5" fmla="*/ 208 h 208"/>
                <a:gd name="T6" fmla="*/ 288 w 576"/>
                <a:gd name="T7" fmla="*/ 16 h 208"/>
                <a:gd name="T8" fmla="*/ 384 w 576"/>
                <a:gd name="T9" fmla="*/ 208 h 208"/>
                <a:gd name="T10" fmla="*/ 480 w 576"/>
                <a:gd name="T11" fmla="*/ 16 h 208"/>
                <a:gd name="T12" fmla="*/ 576 w 576"/>
                <a:gd name="T13" fmla="*/ 112 h 2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208">
                  <a:moveTo>
                    <a:pt x="0" y="112"/>
                  </a:moveTo>
                  <a:cubicBezTo>
                    <a:pt x="32" y="56"/>
                    <a:pt x="64" y="0"/>
                    <a:pt x="96" y="16"/>
                  </a:cubicBezTo>
                  <a:cubicBezTo>
                    <a:pt x="128" y="32"/>
                    <a:pt x="160" y="208"/>
                    <a:pt x="192" y="208"/>
                  </a:cubicBezTo>
                  <a:cubicBezTo>
                    <a:pt x="224" y="208"/>
                    <a:pt x="256" y="16"/>
                    <a:pt x="288" y="16"/>
                  </a:cubicBezTo>
                  <a:cubicBezTo>
                    <a:pt x="320" y="16"/>
                    <a:pt x="352" y="208"/>
                    <a:pt x="384" y="208"/>
                  </a:cubicBezTo>
                  <a:cubicBezTo>
                    <a:pt x="416" y="208"/>
                    <a:pt x="448" y="32"/>
                    <a:pt x="480" y="16"/>
                  </a:cubicBezTo>
                  <a:cubicBezTo>
                    <a:pt x="512" y="0"/>
                    <a:pt x="560" y="96"/>
                    <a:pt x="576" y="112"/>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1" name="Line 16"/>
            <p:cNvSpPr>
              <a:spLocks noChangeShapeType="1"/>
            </p:cNvSpPr>
            <p:nvPr/>
          </p:nvSpPr>
          <p:spPr bwMode="auto">
            <a:xfrm>
              <a:off x="2496" y="2064"/>
              <a:ext cx="72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Line 17"/>
            <p:cNvSpPr>
              <a:spLocks noChangeShapeType="1"/>
            </p:cNvSpPr>
            <p:nvPr/>
          </p:nvSpPr>
          <p:spPr bwMode="auto">
            <a:xfrm>
              <a:off x="3216" y="1968"/>
              <a:ext cx="0" cy="192"/>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3" name="Line 18"/>
            <p:cNvSpPr>
              <a:spLocks noChangeShapeType="1"/>
            </p:cNvSpPr>
            <p:nvPr/>
          </p:nvSpPr>
          <p:spPr bwMode="auto">
            <a:xfrm flipV="1">
              <a:off x="2784" y="1392"/>
              <a:ext cx="0" cy="672"/>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4" name="Line 19"/>
            <p:cNvSpPr>
              <a:spLocks noChangeShapeType="1"/>
            </p:cNvSpPr>
            <p:nvPr/>
          </p:nvSpPr>
          <p:spPr bwMode="auto">
            <a:xfrm>
              <a:off x="2784" y="1440"/>
              <a:ext cx="624"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5" name="Line 20"/>
            <p:cNvSpPr>
              <a:spLocks noChangeShapeType="1"/>
            </p:cNvSpPr>
            <p:nvPr/>
          </p:nvSpPr>
          <p:spPr bwMode="auto">
            <a:xfrm>
              <a:off x="3456" y="2256"/>
              <a:ext cx="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6" name="Line 21"/>
            <p:cNvSpPr>
              <a:spLocks noChangeShapeType="1"/>
            </p:cNvSpPr>
            <p:nvPr/>
          </p:nvSpPr>
          <p:spPr bwMode="auto">
            <a:xfrm>
              <a:off x="2880" y="2016"/>
              <a:ext cx="14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7" name="Line 22"/>
            <p:cNvSpPr>
              <a:spLocks noChangeShapeType="1"/>
            </p:cNvSpPr>
            <p:nvPr/>
          </p:nvSpPr>
          <p:spPr bwMode="auto">
            <a:xfrm flipV="1">
              <a:off x="3024" y="1920"/>
              <a:ext cx="0" cy="96"/>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8" name="Line 23"/>
            <p:cNvSpPr>
              <a:spLocks noChangeShapeType="1"/>
            </p:cNvSpPr>
            <p:nvPr/>
          </p:nvSpPr>
          <p:spPr bwMode="auto">
            <a:xfrm>
              <a:off x="3024" y="1920"/>
              <a:ext cx="43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9" name="Line 24"/>
            <p:cNvSpPr>
              <a:spLocks noChangeShapeType="1"/>
            </p:cNvSpPr>
            <p:nvPr/>
          </p:nvSpPr>
          <p:spPr bwMode="auto">
            <a:xfrm>
              <a:off x="3456" y="1920"/>
              <a:ext cx="0" cy="28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0" name="Line 25"/>
            <p:cNvSpPr>
              <a:spLocks noChangeShapeType="1"/>
            </p:cNvSpPr>
            <p:nvPr/>
          </p:nvSpPr>
          <p:spPr bwMode="auto">
            <a:xfrm flipH="1">
              <a:off x="3024" y="2208"/>
              <a:ext cx="43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1" name="Line 26"/>
            <p:cNvSpPr>
              <a:spLocks noChangeShapeType="1"/>
            </p:cNvSpPr>
            <p:nvPr/>
          </p:nvSpPr>
          <p:spPr bwMode="auto">
            <a:xfrm>
              <a:off x="2880" y="2112"/>
              <a:ext cx="14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2" name="Line 27"/>
            <p:cNvSpPr>
              <a:spLocks noChangeShapeType="1"/>
            </p:cNvSpPr>
            <p:nvPr/>
          </p:nvSpPr>
          <p:spPr bwMode="auto">
            <a:xfrm>
              <a:off x="3024" y="2112"/>
              <a:ext cx="0" cy="96"/>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3" name="Line 28"/>
            <p:cNvSpPr>
              <a:spLocks noChangeShapeType="1"/>
            </p:cNvSpPr>
            <p:nvPr/>
          </p:nvSpPr>
          <p:spPr bwMode="auto">
            <a:xfrm>
              <a:off x="3456" y="2064"/>
              <a:ext cx="76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4" name="Line 29"/>
            <p:cNvSpPr>
              <a:spLocks noChangeShapeType="1"/>
            </p:cNvSpPr>
            <p:nvPr/>
          </p:nvSpPr>
          <p:spPr bwMode="auto">
            <a:xfrm>
              <a:off x="4224" y="1776"/>
              <a:ext cx="0" cy="48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5" name="Line 30"/>
            <p:cNvSpPr>
              <a:spLocks noChangeShapeType="1"/>
            </p:cNvSpPr>
            <p:nvPr/>
          </p:nvSpPr>
          <p:spPr bwMode="auto">
            <a:xfrm flipH="1" flipV="1">
              <a:off x="4224" y="2112"/>
              <a:ext cx="144" cy="14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6" name="Text Box 31"/>
            <p:cNvSpPr txBox="1">
              <a:spLocks noChangeArrowheads="1"/>
            </p:cNvSpPr>
            <p:nvPr/>
          </p:nvSpPr>
          <p:spPr bwMode="auto">
            <a:xfrm>
              <a:off x="1824" y="2496"/>
              <a:ext cx="21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弹簧</a:t>
              </a:r>
              <a:r>
                <a:rPr lang="en-US" altLang="zh-CN" sz="2400">
                  <a:latin typeface="Times New Roman" panose="02020603050405020304" pitchFamily="18" charset="0"/>
                </a:rPr>
                <a:t>-</a:t>
              </a:r>
              <a:r>
                <a:rPr lang="zh-CN" altLang="en-US" sz="2400">
                  <a:latin typeface="Times New Roman" panose="02020603050405020304" pitchFamily="18" charset="0"/>
                </a:rPr>
                <a:t>阻尼器组成的环节</a:t>
              </a:r>
            </a:p>
          </p:txBody>
        </p:sp>
        <p:sp>
          <p:nvSpPr>
            <p:cNvPr id="34847" name="Text Box 32"/>
            <p:cNvSpPr txBox="1">
              <a:spLocks noChangeArrowheads="1"/>
            </p:cNvSpPr>
            <p:nvPr/>
          </p:nvSpPr>
          <p:spPr bwMode="auto">
            <a:xfrm>
              <a:off x="2064" y="2208"/>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K</a:t>
              </a:r>
            </a:p>
          </p:txBody>
        </p:sp>
        <p:sp>
          <p:nvSpPr>
            <p:cNvPr id="34848" name="Text Box 33"/>
            <p:cNvSpPr txBox="1">
              <a:spLocks noChangeArrowheads="1"/>
            </p:cNvSpPr>
            <p:nvPr/>
          </p:nvSpPr>
          <p:spPr bwMode="auto">
            <a:xfrm>
              <a:off x="3110" y="220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C</a:t>
              </a:r>
            </a:p>
          </p:txBody>
        </p:sp>
        <p:sp>
          <p:nvSpPr>
            <p:cNvPr id="34849" name="Line 34"/>
            <p:cNvSpPr>
              <a:spLocks noChangeShapeType="1"/>
            </p:cNvSpPr>
            <p:nvPr/>
          </p:nvSpPr>
          <p:spPr bwMode="auto">
            <a:xfrm flipH="1" flipV="1">
              <a:off x="4224" y="2208"/>
              <a:ext cx="144" cy="14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0" name="Line 35"/>
            <p:cNvSpPr>
              <a:spLocks noChangeShapeType="1"/>
            </p:cNvSpPr>
            <p:nvPr/>
          </p:nvSpPr>
          <p:spPr bwMode="auto">
            <a:xfrm flipH="1" flipV="1">
              <a:off x="4224" y="2016"/>
              <a:ext cx="144" cy="14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1" name="Line 36"/>
            <p:cNvSpPr>
              <a:spLocks noChangeShapeType="1"/>
            </p:cNvSpPr>
            <p:nvPr/>
          </p:nvSpPr>
          <p:spPr bwMode="auto">
            <a:xfrm flipH="1" flipV="1">
              <a:off x="4224" y="1920"/>
              <a:ext cx="144" cy="14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2" name="Line 37"/>
            <p:cNvSpPr>
              <a:spLocks noChangeShapeType="1"/>
            </p:cNvSpPr>
            <p:nvPr/>
          </p:nvSpPr>
          <p:spPr bwMode="auto">
            <a:xfrm flipH="1" flipV="1">
              <a:off x="4224" y="1824"/>
              <a:ext cx="144" cy="14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939"/>
                                        </p:tgtEl>
                                        <p:attrNameLst>
                                          <p:attrName>style.visibility</p:attrName>
                                        </p:attrNameLst>
                                      </p:cBhvr>
                                      <p:to>
                                        <p:strVal val="visible"/>
                                      </p:to>
                                    </p:set>
                                    <p:anim calcmode="lin" valueType="num">
                                      <p:cBhvr additive="base">
                                        <p:cTn id="13" dur="500" fill="hold"/>
                                        <p:tgtEl>
                                          <p:spTgt spid="39939"/>
                                        </p:tgtEl>
                                        <p:attrNameLst>
                                          <p:attrName>ppt_x</p:attrName>
                                        </p:attrNameLst>
                                      </p:cBhvr>
                                      <p:tavLst>
                                        <p:tav tm="0">
                                          <p:val>
                                            <p:strVal val="#ppt_x"/>
                                          </p:val>
                                        </p:tav>
                                        <p:tav tm="100000">
                                          <p:val>
                                            <p:strVal val="#ppt_x"/>
                                          </p:val>
                                        </p:tav>
                                      </p:tavLst>
                                    </p:anim>
                                    <p:anim calcmode="lin" valueType="num">
                                      <p:cBhvr additive="base">
                                        <p:cTn id="14" dur="500" fill="hold"/>
                                        <p:tgtEl>
                                          <p:spTgt spid="3993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9940"/>
                                        </p:tgtEl>
                                        <p:attrNameLst>
                                          <p:attrName>style.visibility</p:attrName>
                                        </p:attrNameLst>
                                      </p:cBhvr>
                                      <p:to>
                                        <p:strVal val="visible"/>
                                      </p:to>
                                    </p:set>
                                    <p:anim calcmode="lin" valueType="num">
                                      <p:cBhvr additive="base">
                                        <p:cTn id="19" dur="500" fill="hold"/>
                                        <p:tgtEl>
                                          <p:spTgt spid="39940"/>
                                        </p:tgtEl>
                                        <p:attrNameLst>
                                          <p:attrName>ppt_x</p:attrName>
                                        </p:attrNameLst>
                                      </p:cBhvr>
                                      <p:tavLst>
                                        <p:tav tm="0">
                                          <p:val>
                                            <p:strVal val="#ppt_x"/>
                                          </p:val>
                                        </p:tav>
                                        <p:tav tm="100000">
                                          <p:val>
                                            <p:strVal val="#ppt_x"/>
                                          </p:val>
                                        </p:tav>
                                      </p:tavLst>
                                    </p:anim>
                                    <p:anim calcmode="lin" valueType="num">
                                      <p:cBhvr additive="base">
                                        <p:cTn id="20" dur="500" fill="hold"/>
                                        <p:tgtEl>
                                          <p:spTgt spid="399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ChangeArrowheads="1"/>
          </p:cNvSpPr>
          <p:nvPr/>
        </p:nvSpPr>
        <p:spPr bwMode="auto">
          <a:xfrm>
            <a:off x="1187450" y="1052513"/>
            <a:ext cx="426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积分环节   </a:t>
            </a:r>
            <a:r>
              <a:rPr lang="zh-CN" altLang="en-US" sz="2800">
                <a:latin typeface="Times New Roman" panose="02020603050405020304" pitchFamily="18" charset="0"/>
              </a:rPr>
              <a:t> </a:t>
            </a:r>
          </a:p>
        </p:txBody>
      </p:sp>
      <p:sp>
        <p:nvSpPr>
          <p:cNvPr id="45060" name="Rectangle 4"/>
          <p:cNvSpPr>
            <a:spLocks noChangeArrowheads="1"/>
          </p:cNvSpPr>
          <p:nvPr/>
        </p:nvSpPr>
        <p:spPr bwMode="auto">
          <a:xfrm>
            <a:off x="1295400" y="2209800"/>
            <a:ext cx="601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输出量正比于输入量对时间的积分。</a:t>
            </a:r>
            <a:r>
              <a:rPr lang="zh-CN" altLang="en-US" sz="2800">
                <a:latin typeface="Times New Roman" panose="02020603050405020304" pitchFamily="18" charset="0"/>
              </a:rPr>
              <a:t> </a:t>
            </a:r>
          </a:p>
        </p:txBody>
      </p:sp>
      <p:grpSp>
        <p:nvGrpSpPr>
          <p:cNvPr id="2" name="Group 5"/>
          <p:cNvGrpSpPr>
            <a:grpSpLocks/>
          </p:cNvGrpSpPr>
          <p:nvPr/>
        </p:nvGrpSpPr>
        <p:grpSpPr bwMode="auto">
          <a:xfrm>
            <a:off x="1295400" y="2895600"/>
            <a:ext cx="4648200" cy="803275"/>
            <a:chOff x="816" y="1632"/>
            <a:chExt cx="2928" cy="506"/>
          </a:xfrm>
        </p:grpSpPr>
        <p:graphicFrame>
          <p:nvGraphicFramePr>
            <p:cNvPr id="36874" name="Object 6"/>
            <p:cNvGraphicFramePr>
              <a:graphicFrameLocks noChangeAspect="1"/>
            </p:cNvGraphicFramePr>
            <p:nvPr/>
          </p:nvGraphicFramePr>
          <p:xfrm>
            <a:off x="2208" y="1632"/>
            <a:ext cx="1536" cy="506"/>
          </p:xfrm>
          <a:graphic>
            <a:graphicData uri="http://schemas.openxmlformats.org/presentationml/2006/ole">
              <mc:AlternateContent xmlns:mc="http://schemas.openxmlformats.org/markup-compatibility/2006">
                <mc:Choice xmlns:v="urn:schemas-microsoft-com:vml" Requires="v">
                  <p:oleObj spid="_x0000_s36890" r:id="rId4" imgW="1358900" imgH="444500" progId="Equation.3">
                    <p:embed/>
                  </p:oleObj>
                </mc:Choice>
                <mc:Fallback>
                  <p:oleObj r:id="rId4" imgW="1358900" imgH="4445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8" y="1632"/>
                          <a:ext cx="1536"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75" name="Rectangle 7"/>
            <p:cNvSpPr>
              <a:spLocks noChangeArrowheads="1"/>
            </p:cNvSpPr>
            <p:nvPr/>
          </p:nvSpPr>
          <p:spPr bwMode="auto">
            <a:xfrm>
              <a:off x="816" y="1680"/>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运动方程为：</a:t>
              </a:r>
            </a:p>
          </p:txBody>
        </p:sp>
      </p:grpSp>
      <p:grpSp>
        <p:nvGrpSpPr>
          <p:cNvPr id="3" name="Group 8"/>
          <p:cNvGrpSpPr>
            <a:grpSpLocks/>
          </p:cNvGrpSpPr>
          <p:nvPr/>
        </p:nvGrpSpPr>
        <p:grpSpPr bwMode="auto">
          <a:xfrm>
            <a:off x="1295400" y="3886200"/>
            <a:ext cx="4495800" cy="793750"/>
            <a:chOff x="816" y="2448"/>
            <a:chExt cx="2832" cy="500"/>
          </a:xfrm>
        </p:grpSpPr>
        <p:graphicFrame>
          <p:nvGraphicFramePr>
            <p:cNvPr id="36872" name="Object 9"/>
            <p:cNvGraphicFramePr>
              <a:graphicFrameLocks noChangeAspect="1"/>
            </p:cNvGraphicFramePr>
            <p:nvPr/>
          </p:nvGraphicFramePr>
          <p:xfrm>
            <a:off x="2256" y="2448"/>
            <a:ext cx="1392" cy="500"/>
          </p:xfrm>
          <a:graphic>
            <a:graphicData uri="http://schemas.openxmlformats.org/presentationml/2006/ole">
              <mc:AlternateContent xmlns:mc="http://schemas.openxmlformats.org/markup-compatibility/2006">
                <mc:Choice xmlns:v="urn:schemas-microsoft-com:vml" Requires="v">
                  <p:oleObj spid="_x0000_s36891" r:id="rId6" imgW="1384300" imgH="495300" progId="Equation.3">
                    <p:embed/>
                  </p:oleObj>
                </mc:Choice>
                <mc:Fallback>
                  <p:oleObj r:id="rId6" imgW="1384300" imgH="4953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6" y="2448"/>
                          <a:ext cx="1392"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73" name="Rectangle 10"/>
            <p:cNvSpPr>
              <a:spLocks noChangeArrowheads="1"/>
            </p:cNvSpPr>
            <p:nvPr/>
          </p:nvSpPr>
          <p:spPr bwMode="auto">
            <a:xfrm>
              <a:off x="816" y="2505"/>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传递函数为：</a:t>
              </a:r>
            </a:p>
          </p:txBody>
        </p:sp>
      </p:grpSp>
      <p:sp>
        <p:nvSpPr>
          <p:cNvPr id="45067" name="Rectangle 11"/>
          <p:cNvSpPr>
            <a:spLocks noChangeArrowheads="1"/>
          </p:cNvSpPr>
          <p:nvPr/>
        </p:nvSpPr>
        <p:spPr bwMode="auto">
          <a:xfrm>
            <a:off x="1295400" y="4891088"/>
            <a:ext cx="5380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式中，</a:t>
            </a:r>
            <a:r>
              <a:rPr lang="en-US" altLang="zh-CN" sz="2800">
                <a:latin typeface="Times New Roman" panose="02020603050405020304" pitchFamily="18" charset="0"/>
              </a:rPr>
              <a:t>T—</a:t>
            </a:r>
            <a:r>
              <a:rPr lang="zh-CN" altLang="en-US" sz="2800">
                <a:latin typeface="宋体" panose="02010600030101010101" pitchFamily="2" charset="-122"/>
              </a:rPr>
              <a:t>积分环节的时间常数。</a:t>
            </a:r>
          </a:p>
        </p:txBody>
      </p:sp>
      <p:sp>
        <p:nvSpPr>
          <p:cNvPr id="12" name="Rectangle 7"/>
          <p:cNvSpPr>
            <a:spLocks noChangeArrowheads="1"/>
          </p:cNvSpPr>
          <p:nvPr/>
        </p:nvSpPr>
        <p:spPr bwMode="auto">
          <a:xfrm>
            <a:off x="1258888" y="5589588"/>
            <a:ext cx="6229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积分环节常用来改善系统的稳态性能。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 calcmode="lin" valueType="num">
                                      <p:cBhvr additive="base">
                                        <p:cTn id="7" dur="500" fill="hold"/>
                                        <p:tgtEl>
                                          <p:spTgt spid="45060"/>
                                        </p:tgtEl>
                                        <p:attrNameLst>
                                          <p:attrName>ppt_x</p:attrName>
                                        </p:attrNameLst>
                                      </p:cBhvr>
                                      <p:tavLst>
                                        <p:tav tm="0">
                                          <p:val>
                                            <p:strVal val="#ppt_x"/>
                                          </p:val>
                                        </p:tav>
                                        <p:tav tm="100000">
                                          <p:val>
                                            <p:strVal val="#ppt_x"/>
                                          </p:val>
                                        </p:tav>
                                      </p:tavLst>
                                    </p:anim>
                                    <p:anim calcmode="lin" valueType="num">
                                      <p:cBhvr additive="base">
                                        <p:cTn id="8"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067"/>
                                        </p:tgtEl>
                                        <p:attrNameLst>
                                          <p:attrName>style.visibility</p:attrName>
                                        </p:attrNameLst>
                                      </p:cBhvr>
                                      <p:to>
                                        <p:strVal val="visible"/>
                                      </p:to>
                                    </p:set>
                                    <p:anim calcmode="lin" valueType="num">
                                      <p:cBhvr additive="base">
                                        <p:cTn id="25" dur="500" fill="hold"/>
                                        <p:tgtEl>
                                          <p:spTgt spid="45067"/>
                                        </p:tgtEl>
                                        <p:attrNameLst>
                                          <p:attrName>ppt_x</p:attrName>
                                        </p:attrNameLst>
                                      </p:cBhvr>
                                      <p:tavLst>
                                        <p:tav tm="0">
                                          <p:val>
                                            <p:strVal val="#ppt_x"/>
                                          </p:val>
                                        </p:tav>
                                        <p:tav tm="100000">
                                          <p:val>
                                            <p:strVal val="#ppt_x"/>
                                          </p:val>
                                        </p:tav>
                                      </p:tavLst>
                                    </p:anim>
                                    <p:anim calcmode="lin" valueType="num">
                                      <p:cBhvr additive="base">
                                        <p:cTn id="26" dur="500" fill="hold"/>
                                        <p:tgtEl>
                                          <p:spTgt spid="4506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45067"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ChangeArrowheads="1"/>
          </p:cNvSpPr>
          <p:nvPr/>
        </p:nvSpPr>
        <p:spPr bwMode="auto">
          <a:xfrm>
            <a:off x="1116013" y="981075"/>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液压缸</a:t>
            </a:r>
            <a:r>
              <a:rPr lang="zh-CN" altLang="en-US" sz="2800">
                <a:latin typeface="Times New Roman" panose="02020603050405020304" pitchFamily="18" charset="0"/>
              </a:rPr>
              <a:t> </a:t>
            </a:r>
          </a:p>
        </p:txBody>
      </p:sp>
      <p:grpSp>
        <p:nvGrpSpPr>
          <p:cNvPr id="2" name="Group 4"/>
          <p:cNvGrpSpPr>
            <a:grpSpLocks/>
          </p:cNvGrpSpPr>
          <p:nvPr/>
        </p:nvGrpSpPr>
        <p:grpSpPr bwMode="auto">
          <a:xfrm>
            <a:off x="2070100" y="1676400"/>
            <a:ext cx="5092700" cy="2286000"/>
            <a:chOff x="1304" y="1056"/>
            <a:chExt cx="3208" cy="1440"/>
          </a:xfrm>
        </p:grpSpPr>
        <p:sp>
          <p:nvSpPr>
            <p:cNvPr id="38918" name="Rectangle 5"/>
            <p:cNvSpPr>
              <a:spLocks noChangeArrowheads="1"/>
            </p:cNvSpPr>
            <p:nvPr/>
          </p:nvSpPr>
          <p:spPr bwMode="auto">
            <a:xfrm>
              <a:off x="1448" y="1680"/>
              <a:ext cx="2592" cy="19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8919" name="Line 6"/>
            <p:cNvSpPr>
              <a:spLocks noChangeShapeType="1"/>
            </p:cNvSpPr>
            <p:nvPr/>
          </p:nvSpPr>
          <p:spPr bwMode="auto">
            <a:xfrm>
              <a:off x="1304" y="1776"/>
              <a:ext cx="2880"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8920" name="Group 7"/>
            <p:cNvGrpSpPr>
              <a:grpSpLocks/>
            </p:cNvGrpSpPr>
            <p:nvPr/>
          </p:nvGrpSpPr>
          <p:grpSpPr bwMode="auto">
            <a:xfrm>
              <a:off x="2168" y="1392"/>
              <a:ext cx="1104" cy="864"/>
              <a:chOff x="1968" y="1392"/>
              <a:chExt cx="1104" cy="864"/>
            </a:xfrm>
          </p:grpSpPr>
          <p:sp>
            <p:nvSpPr>
              <p:cNvPr id="38929" name="Line 8"/>
              <p:cNvSpPr>
                <a:spLocks noChangeShapeType="1"/>
              </p:cNvSpPr>
              <p:nvPr/>
            </p:nvSpPr>
            <p:spPr bwMode="auto">
              <a:xfrm>
                <a:off x="1968" y="1392"/>
                <a:ext cx="1104"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0" name="Line 9"/>
              <p:cNvSpPr>
                <a:spLocks noChangeShapeType="1"/>
              </p:cNvSpPr>
              <p:nvPr/>
            </p:nvSpPr>
            <p:spPr bwMode="auto">
              <a:xfrm>
                <a:off x="1968" y="1392"/>
                <a:ext cx="0" cy="28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1" name="Line 10"/>
              <p:cNvSpPr>
                <a:spLocks noChangeShapeType="1"/>
              </p:cNvSpPr>
              <p:nvPr/>
            </p:nvSpPr>
            <p:spPr bwMode="auto">
              <a:xfrm>
                <a:off x="3072" y="1392"/>
                <a:ext cx="0" cy="28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useBgFill="1">
            <p:nvSpPr>
              <p:cNvPr id="38932" name="Rectangle 11"/>
              <p:cNvSpPr>
                <a:spLocks noChangeArrowheads="1"/>
              </p:cNvSpPr>
              <p:nvPr/>
            </p:nvSpPr>
            <p:spPr bwMode="auto">
              <a:xfrm>
                <a:off x="2448" y="1392"/>
                <a:ext cx="144" cy="768"/>
              </a:xfrm>
              <a:prstGeom prst="rect">
                <a:avLst/>
              </a:prstGeom>
              <a:ln w="3810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8933" name="Line 12"/>
              <p:cNvSpPr>
                <a:spLocks noChangeShapeType="1"/>
              </p:cNvSpPr>
              <p:nvPr/>
            </p:nvSpPr>
            <p:spPr bwMode="auto">
              <a:xfrm>
                <a:off x="2160" y="2160"/>
                <a:ext cx="72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4" name="Line 13"/>
              <p:cNvSpPr>
                <a:spLocks noChangeShapeType="1"/>
              </p:cNvSpPr>
              <p:nvPr/>
            </p:nvSpPr>
            <p:spPr bwMode="auto">
              <a:xfrm>
                <a:off x="1968" y="1872"/>
                <a:ext cx="0" cy="384"/>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5" name="Line 14"/>
              <p:cNvSpPr>
                <a:spLocks noChangeShapeType="1"/>
              </p:cNvSpPr>
              <p:nvPr/>
            </p:nvSpPr>
            <p:spPr bwMode="auto">
              <a:xfrm>
                <a:off x="2160" y="2160"/>
                <a:ext cx="0" cy="9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6" name="Line 15"/>
              <p:cNvSpPr>
                <a:spLocks noChangeShapeType="1"/>
              </p:cNvSpPr>
              <p:nvPr/>
            </p:nvSpPr>
            <p:spPr bwMode="auto">
              <a:xfrm>
                <a:off x="3072" y="1872"/>
                <a:ext cx="0" cy="384"/>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7" name="Line 16"/>
              <p:cNvSpPr>
                <a:spLocks noChangeShapeType="1"/>
              </p:cNvSpPr>
              <p:nvPr/>
            </p:nvSpPr>
            <p:spPr bwMode="auto">
              <a:xfrm>
                <a:off x="2880" y="2160"/>
                <a:ext cx="0" cy="9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8921" name="Line 17"/>
            <p:cNvSpPr>
              <a:spLocks noChangeShapeType="1"/>
            </p:cNvSpPr>
            <p:nvPr/>
          </p:nvSpPr>
          <p:spPr bwMode="auto">
            <a:xfrm flipV="1">
              <a:off x="2264" y="2112"/>
              <a:ext cx="0" cy="33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2" name="Line 18"/>
            <p:cNvSpPr>
              <a:spLocks noChangeShapeType="1"/>
            </p:cNvSpPr>
            <p:nvPr/>
          </p:nvSpPr>
          <p:spPr bwMode="auto">
            <a:xfrm>
              <a:off x="3176" y="2112"/>
              <a:ext cx="0" cy="33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3" name="Line 19"/>
            <p:cNvSpPr>
              <a:spLocks noChangeShapeType="1"/>
            </p:cNvSpPr>
            <p:nvPr/>
          </p:nvSpPr>
          <p:spPr bwMode="auto">
            <a:xfrm flipH="1" flipV="1">
              <a:off x="2456" y="1248"/>
              <a:ext cx="192" cy="33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4" name="Text Box 20"/>
            <p:cNvSpPr txBox="1">
              <a:spLocks noChangeArrowheads="1"/>
            </p:cNvSpPr>
            <p:nvPr/>
          </p:nvSpPr>
          <p:spPr bwMode="auto">
            <a:xfrm>
              <a:off x="2254" y="105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sp>
          <p:nvSpPr>
            <p:cNvPr id="38925" name="Text Box 21"/>
            <p:cNvSpPr txBox="1">
              <a:spLocks noChangeArrowheads="1"/>
            </p:cNvSpPr>
            <p:nvPr/>
          </p:nvSpPr>
          <p:spPr bwMode="auto">
            <a:xfrm>
              <a:off x="2267" y="2208"/>
              <a:ext cx="4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q</a:t>
              </a:r>
              <a:r>
                <a:rPr lang="en-US" altLang="zh-CN" sz="2400" i="1" baseline="-20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38926" name="Text Box 22"/>
            <p:cNvSpPr txBox="1">
              <a:spLocks noChangeArrowheads="1"/>
            </p:cNvSpPr>
            <p:nvPr/>
          </p:nvSpPr>
          <p:spPr bwMode="auto">
            <a:xfrm>
              <a:off x="4066" y="1056"/>
              <a:ext cx="4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0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38927" name="Line 23"/>
            <p:cNvSpPr>
              <a:spLocks noChangeShapeType="1"/>
            </p:cNvSpPr>
            <p:nvPr/>
          </p:nvSpPr>
          <p:spPr bwMode="auto">
            <a:xfrm flipV="1">
              <a:off x="4040" y="1392"/>
              <a:ext cx="0" cy="48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8" name="Line 24"/>
            <p:cNvSpPr>
              <a:spLocks noChangeShapeType="1"/>
            </p:cNvSpPr>
            <p:nvPr/>
          </p:nvSpPr>
          <p:spPr bwMode="auto">
            <a:xfrm>
              <a:off x="4040" y="1392"/>
              <a:ext cx="384"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48153" name="Object 25"/>
          <p:cNvGraphicFramePr>
            <a:graphicFrameLocks noChangeAspect="1"/>
          </p:cNvGraphicFramePr>
          <p:nvPr/>
        </p:nvGraphicFramePr>
        <p:xfrm>
          <a:off x="3033713" y="4106863"/>
          <a:ext cx="2833687" cy="998537"/>
        </p:xfrm>
        <a:graphic>
          <a:graphicData uri="http://schemas.openxmlformats.org/presentationml/2006/ole">
            <mc:AlternateContent xmlns:mc="http://schemas.openxmlformats.org/markup-compatibility/2006">
              <mc:Choice xmlns:v="urn:schemas-microsoft-com:vml" Requires="v">
                <p:oleObj spid="_x0000_s38952" r:id="rId4" imgW="1117115" imgH="393529" progId="Equation.3">
                  <p:embed/>
                </p:oleObj>
              </mc:Choice>
              <mc:Fallback>
                <p:oleObj r:id="rId4" imgW="1117115" imgH="393529" progId="Equation.3">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3713" y="4106863"/>
                        <a:ext cx="2833687"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8154" name="Object 26"/>
          <p:cNvGraphicFramePr>
            <a:graphicFrameLocks noChangeAspect="1"/>
          </p:cNvGraphicFramePr>
          <p:nvPr/>
        </p:nvGraphicFramePr>
        <p:xfrm>
          <a:off x="3073400" y="5227638"/>
          <a:ext cx="3098800" cy="1096962"/>
        </p:xfrm>
        <a:graphic>
          <a:graphicData uri="http://schemas.openxmlformats.org/presentationml/2006/ole">
            <mc:AlternateContent xmlns:mc="http://schemas.openxmlformats.org/markup-compatibility/2006">
              <mc:Choice xmlns:v="urn:schemas-microsoft-com:vml" Requires="v">
                <p:oleObj spid="_x0000_s38953" r:id="rId6" imgW="1218671" imgH="431613" progId="Equation.3">
                  <p:embed/>
                </p:oleObj>
              </mc:Choice>
              <mc:Fallback>
                <p:oleObj r:id="rId6" imgW="1218671" imgH="431613" progId="Equation.3">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3400" y="5227638"/>
                        <a:ext cx="30988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8153"/>
                                        </p:tgtEl>
                                        <p:attrNameLst>
                                          <p:attrName>style.visibility</p:attrName>
                                        </p:attrNameLst>
                                      </p:cBhvr>
                                      <p:to>
                                        <p:strVal val="visible"/>
                                      </p:to>
                                    </p:set>
                                    <p:anim calcmode="lin" valueType="num">
                                      <p:cBhvr additive="base">
                                        <p:cTn id="13" dur="500" fill="hold"/>
                                        <p:tgtEl>
                                          <p:spTgt spid="48153"/>
                                        </p:tgtEl>
                                        <p:attrNameLst>
                                          <p:attrName>ppt_x</p:attrName>
                                        </p:attrNameLst>
                                      </p:cBhvr>
                                      <p:tavLst>
                                        <p:tav tm="0">
                                          <p:val>
                                            <p:strVal val="#ppt_x"/>
                                          </p:val>
                                        </p:tav>
                                        <p:tav tm="100000">
                                          <p:val>
                                            <p:strVal val="#ppt_x"/>
                                          </p:val>
                                        </p:tav>
                                      </p:tavLst>
                                    </p:anim>
                                    <p:anim calcmode="lin" valueType="num">
                                      <p:cBhvr additive="base">
                                        <p:cTn id="14" dur="500" fill="hold"/>
                                        <p:tgtEl>
                                          <p:spTgt spid="4815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8154"/>
                                        </p:tgtEl>
                                        <p:attrNameLst>
                                          <p:attrName>style.visibility</p:attrName>
                                        </p:attrNameLst>
                                      </p:cBhvr>
                                      <p:to>
                                        <p:strVal val="visible"/>
                                      </p:to>
                                    </p:set>
                                    <p:anim calcmode="lin" valueType="num">
                                      <p:cBhvr additive="base">
                                        <p:cTn id="19" dur="500" fill="hold"/>
                                        <p:tgtEl>
                                          <p:spTgt spid="48154"/>
                                        </p:tgtEl>
                                        <p:attrNameLst>
                                          <p:attrName>ppt_x</p:attrName>
                                        </p:attrNameLst>
                                      </p:cBhvr>
                                      <p:tavLst>
                                        <p:tav tm="0">
                                          <p:val>
                                            <p:strVal val="#ppt_x"/>
                                          </p:val>
                                        </p:tav>
                                        <p:tav tm="100000">
                                          <p:val>
                                            <p:strVal val="#ppt_x"/>
                                          </p:val>
                                        </p:tav>
                                      </p:tavLst>
                                    </p:anim>
                                    <p:anim calcmode="lin" valueType="num">
                                      <p:cBhvr additive="base">
                                        <p:cTn id="20" dur="500" fill="hold"/>
                                        <p:tgtEl>
                                          <p:spTgt spid="481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ChangeArrowheads="1"/>
          </p:cNvSpPr>
          <p:nvPr/>
        </p:nvSpPr>
        <p:spPr bwMode="auto">
          <a:xfrm>
            <a:off x="1042988" y="1052513"/>
            <a:ext cx="358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如：有源积分网络</a:t>
            </a:r>
            <a:r>
              <a:rPr lang="zh-CN" altLang="en-US" sz="2800">
                <a:latin typeface="Times New Roman" panose="02020603050405020304" pitchFamily="18" charset="0"/>
              </a:rPr>
              <a:t> </a:t>
            </a:r>
          </a:p>
        </p:txBody>
      </p:sp>
      <p:grpSp>
        <p:nvGrpSpPr>
          <p:cNvPr id="2" name="Group 4"/>
          <p:cNvGrpSpPr>
            <a:grpSpLocks/>
          </p:cNvGrpSpPr>
          <p:nvPr/>
        </p:nvGrpSpPr>
        <p:grpSpPr bwMode="auto">
          <a:xfrm>
            <a:off x="1689100" y="1676400"/>
            <a:ext cx="5702300" cy="2576513"/>
            <a:chOff x="968" y="768"/>
            <a:chExt cx="3592" cy="1623"/>
          </a:xfrm>
        </p:grpSpPr>
        <p:sp>
          <p:nvSpPr>
            <p:cNvPr id="40966" name="AutoShape 5"/>
            <p:cNvSpPr>
              <a:spLocks noChangeArrowheads="1"/>
            </p:cNvSpPr>
            <p:nvPr/>
          </p:nvSpPr>
          <p:spPr bwMode="auto">
            <a:xfrm rot="5400000">
              <a:off x="2774" y="1551"/>
              <a:ext cx="768" cy="912"/>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0967" name="Text Box 6"/>
            <p:cNvSpPr txBox="1">
              <a:spLocks noChangeArrowheads="1"/>
            </p:cNvSpPr>
            <p:nvPr/>
          </p:nvSpPr>
          <p:spPr bwMode="auto">
            <a:xfrm>
              <a:off x="2702" y="2007"/>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40968" name="Text Box 7"/>
            <p:cNvSpPr txBox="1">
              <a:spLocks noChangeArrowheads="1"/>
            </p:cNvSpPr>
            <p:nvPr/>
          </p:nvSpPr>
          <p:spPr bwMode="auto">
            <a:xfrm>
              <a:off x="2702" y="1719"/>
              <a:ext cx="2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40969" name="Line 8"/>
            <p:cNvSpPr>
              <a:spLocks noChangeShapeType="1"/>
            </p:cNvSpPr>
            <p:nvPr/>
          </p:nvSpPr>
          <p:spPr bwMode="auto">
            <a:xfrm flipH="1" flipV="1">
              <a:off x="2174" y="1863"/>
              <a:ext cx="52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0" name="Rectangle 9"/>
            <p:cNvSpPr>
              <a:spLocks noChangeArrowheads="1"/>
            </p:cNvSpPr>
            <p:nvPr/>
          </p:nvSpPr>
          <p:spPr bwMode="auto">
            <a:xfrm>
              <a:off x="1646" y="1767"/>
              <a:ext cx="52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0971" name="Line 10"/>
            <p:cNvSpPr>
              <a:spLocks noChangeShapeType="1"/>
            </p:cNvSpPr>
            <p:nvPr/>
          </p:nvSpPr>
          <p:spPr bwMode="auto">
            <a:xfrm flipH="1">
              <a:off x="1118" y="1863"/>
              <a:ext cx="52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2" name="Oval 11"/>
            <p:cNvSpPr>
              <a:spLocks noChangeArrowheads="1"/>
            </p:cNvSpPr>
            <p:nvPr/>
          </p:nvSpPr>
          <p:spPr bwMode="auto">
            <a:xfrm>
              <a:off x="1022" y="1815"/>
              <a:ext cx="96" cy="96"/>
            </a:xfrm>
            <a:prstGeom prst="ellipse">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0973" name="Line 12"/>
            <p:cNvSpPr>
              <a:spLocks noChangeShapeType="1"/>
            </p:cNvSpPr>
            <p:nvPr/>
          </p:nvSpPr>
          <p:spPr bwMode="auto">
            <a:xfrm flipV="1">
              <a:off x="2414" y="1287"/>
              <a:ext cx="0" cy="57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4" name="Line 13"/>
            <p:cNvSpPr>
              <a:spLocks noChangeShapeType="1"/>
            </p:cNvSpPr>
            <p:nvPr/>
          </p:nvSpPr>
          <p:spPr bwMode="auto">
            <a:xfrm>
              <a:off x="2414" y="1287"/>
              <a:ext cx="67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5" name="Line 14"/>
            <p:cNvSpPr>
              <a:spLocks noChangeShapeType="1"/>
            </p:cNvSpPr>
            <p:nvPr/>
          </p:nvSpPr>
          <p:spPr bwMode="auto">
            <a:xfrm>
              <a:off x="3182" y="1287"/>
              <a:ext cx="720"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6" name="Line 15"/>
            <p:cNvSpPr>
              <a:spLocks noChangeShapeType="1"/>
            </p:cNvSpPr>
            <p:nvPr/>
          </p:nvSpPr>
          <p:spPr bwMode="auto">
            <a:xfrm>
              <a:off x="3902" y="1287"/>
              <a:ext cx="0" cy="72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7" name="Line 16"/>
            <p:cNvSpPr>
              <a:spLocks noChangeShapeType="1"/>
            </p:cNvSpPr>
            <p:nvPr/>
          </p:nvSpPr>
          <p:spPr bwMode="auto">
            <a:xfrm>
              <a:off x="3614" y="2007"/>
              <a:ext cx="76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8" name="Line 17"/>
            <p:cNvSpPr>
              <a:spLocks noChangeShapeType="1"/>
            </p:cNvSpPr>
            <p:nvPr/>
          </p:nvSpPr>
          <p:spPr bwMode="auto">
            <a:xfrm flipH="1">
              <a:off x="2414" y="2151"/>
              <a:ext cx="28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9" name="Line 18"/>
            <p:cNvSpPr>
              <a:spLocks noChangeShapeType="1"/>
            </p:cNvSpPr>
            <p:nvPr/>
          </p:nvSpPr>
          <p:spPr bwMode="auto">
            <a:xfrm>
              <a:off x="2414" y="2151"/>
              <a:ext cx="0" cy="24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0" name="Line 19"/>
            <p:cNvSpPr>
              <a:spLocks noChangeShapeType="1"/>
            </p:cNvSpPr>
            <p:nvPr/>
          </p:nvSpPr>
          <p:spPr bwMode="auto">
            <a:xfrm>
              <a:off x="2300" y="2391"/>
              <a:ext cx="240"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1" name="Line 20"/>
            <p:cNvSpPr>
              <a:spLocks noChangeShapeType="1"/>
            </p:cNvSpPr>
            <p:nvPr/>
          </p:nvSpPr>
          <p:spPr bwMode="auto">
            <a:xfrm>
              <a:off x="3086" y="1143"/>
              <a:ext cx="0" cy="28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2" name="Line 21"/>
            <p:cNvSpPr>
              <a:spLocks noChangeShapeType="1"/>
            </p:cNvSpPr>
            <p:nvPr/>
          </p:nvSpPr>
          <p:spPr bwMode="auto">
            <a:xfrm>
              <a:off x="3182" y="1143"/>
              <a:ext cx="0" cy="28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3" name="Oval 22"/>
            <p:cNvSpPr>
              <a:spLocks noChangeArrowheads="1"/>
            </p:cNvSpPr>
            <p:nvPr/>
          </p:nvSpPr>
          <p:spPr bwMode="auto">
            <a:xfrm>
              <a:off x="4382" y="1959"/>
              <a:ext cx="96" cy="96"/>
            </a:xfrm>
            <a:prstGeom prst="ellipse">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0984" name="Oval 23"/>
            <p:cNvSpPr>
              <a:spLocks noChangeArrowheads="1"/>
            </p:cNvSpPr>
            <p:nvPr/>
          </p:nvSpPr>
          <p:spPr bwMode="auto">
            <a:xfrm>
              <a:off x="3875" y="1986"/>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0985" name="Oval 24"/>
            <p:cNvSpPr>
              <a:spLocks noChangeArrowheads="1"/>
            </p:cNvSpPr>
            <p:nvPr/>
          </p:nvSpPr>
          <p:spPr bwMode="auto">
            <a:xfrm>
              <a:off x="2390" y="1833"/>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0986" name="Text Box 25"/>
            <p:cNvSpPr txBox="1">
              <a:spLocks noChangeArrowheads="1"/>
            </p:cNvSpPr>
            <p:nvPr/>
          </p:nvSpPr>
          <p:spPr bwMode="auto">
            <a:xfrm>
              <a:off x="2999" y="142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p>
          </p:txBody>
        </p:sp>
        <p:sp>
          <p:nvSpPr>
            <p:cNvPr id="40987" name="Text Box 26"/>
            <p:cNvSpPr txBox="1">
              <a:spLocks noChangeArrowheads="1"/>
            </p:cNvSpPr>
            <p:nvPr/>
          </p:nvSpPr>
          <p:spPr bwMode="auto">
            <a:xfrm>
              <a:off x="1786" y="1959"/>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R</a:t>
              </a:r>
            </a:p>
          </p:txBody>
        </p:sp>
        <p:sp>
          <p:nvSpPr>
            <p:cNvPr id="40988" name="Line 27"/>
            <p:cNvSpPr>
              <a:spLocks noChangeShapeType="1"/>
            </p:cNvSpPr>
            <p:nvPr/>
          </p:nvSpPr>
          <p:spPr bwMode="auto">
            <a:xfrm>
              <a:off x="1694" y="1671"/>
              <a:ext cx="4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9" name="Rectangle 28"/>
            <p:cNvSpPr>
              <a:spLocks noChangeArrowheads="1"/>
            </p:cNvSpPr>
            <p:nvPr/>
          </p:nvSpPr>
          <p:spPr bwMode="auto">
            <a:xfrm>
              <a:off x="1736" y="1335"/>
              <a:ext cx="4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i</a:t>
              </a:r>
              <a:r>
                <a:rPr lang="en-US" altLang="zh-CN" sz="2900" baseline="-18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40990" name="Rectangle 29"/>
            <p:cNvSpPr>
              <a:spLocks noChangeArrowheads="1"/>
            </p:cNvSpPr>
            <p:nvPr/>
          </p:nvSpPr>
          <p:spPr bwMode="auto">
            <a:xfrm>
              <a:off x="968" y="1488"/>
              <a:ext cx="48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u</a:t>
              </a:r>
              <a:r>
                <a:rPr lang="en-US" altLang="zh-CN" sz="2900" i="1" baseline="-18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40991" name="Rectangle 30"/>
            <p:cNvSpPr>
              <a:spLocks noChangeArrowheads="1"/>
            </p:cNvSpPr>
            <p:nvPr/>
          </p:nvSpPr>
          <p:spPr bwMode="auto">
            <a:xfrm>
              <a:off x="4044" y="1632"/>
              <a:ext cx="5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u</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40992" name="Rectangle 31"/>
            <p:cNvSpPr>
              <a:spLocks noChangeArrowheads="1"/>
            </p:cNvSpPr>
            <p:nvPr/>
          </p:nvSpPr>
          <p:spPr bwMode="auto">
            <a:xfrm>
              <a:off x="2908" y="768"/>
              <a:ext cx="4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i</a:t>
              </a:r>
              <a:r>
                <a:rPr lang="en-US" altLang="zh-CN" sz="2900" baseline="-18000">
                  <a:latin typeface="Times New Roman" panose="02020603050405020304" pitchFamily="18" charset="0"/>
                </a:rPr>
                <a:t>2</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40993" name="Line 32"/>
            <p:cNvSpPr>
              <a:spLocks noChangeShapeType="1"/>
            </p:cNvSpPr>
            <p:nvPr/>
          </p:nvSpPr>
          <p:spPr bwMode="auto">
            <a:xfrm>
              <a:off x="2924" y="1095"/>
              <a:ext cx="4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94" name="Text Box 33"/>
            <p:cNvSpPr txBox="1">
              <a:spLocks noChangeArrowheads="1"/>
            </p:cNvSpPr>
            <p:nvPr/>
          </p:nvSpPr>
          <p:spPr bwMode="auto">
            <a:xfrm>
              <a:off x="2304" y="18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grpSp>
      <p:graphicFrame>
        <p:nvGraphicFramePr>
          <p:cNvPr id="47138" name="Object 34"/>
          <p:cNvGraphicFramePr>
            <a:graphicFrameLocks noChangeAspect="1"/>
          </p:cNvGraphicFramePr>
          <p:nvPr/>
        </p:nvGraphicFramePr>
        <p:xfrm>
          <a:off x="2743200" y="4603750"/>
          <a:ext cx="2679700" cy="882650"/>
        </p:xfrm>
        <a:graphic>
          <a:graphicData uri="http://schemas.openxmlformats.org/presentationml/2006/ole">
            <mc:AlternateContent xmlns:mc="http://schemas.openxmlformats.org/markup-compatibility/2006">
              <mc:Choice xmlns:v="urn:schemas-microsoft-com:vml" Requires="v">
                <p:oleObj spid="_x0000_s41009" r:id="rId4" imgW="1193800" imgH="393700" progId="Equation.3">
                  <p:embed/>
                </p:oleObj>
              </mc:Choice>
              <mc:Fallback>
                <p:oleObj r:id="rId4" imgW="1193800" imgH="393700" progId="Equation.3">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4603750"/>
                        <a:ext cx="26797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39" name="Object 35"/>
          <p:cNvGraphicFramePr>
            <a:graphicFrameLocks noChangeAspect="1"/>
          </p:cNvGraphicFramePr>
          <p:nvPr/>
        </p:nvGraphicFramePr>
        <p:xfrm>
          <a:off x="2743200" y="5562600"/>
          <a:ext cx="4114800" cy="815975"/>
        </p:xfrm>
        <a:graphic>
          <a:graphicData uri="http://schemas.openxmlformats.org/presentationml/2006/ole">
            <mc:AlternateContent xmlns:mc="http://schemas.openxmlformats.org/markup-compatibility/2006">
              <mc:Choice xmlns:v="urn:schemas-microsoft-com:vml" Requires="v">
                <p:oleObj spid="_x0000_s41010" r:id="rId6" imgW="2260600" imgH="444500" progId="Equation.3">
                  <p:embed/>
                </p:oleObj>
              </mc:Choice>
              <mc:Fallback>
                <p:oleObj r:id="rId6" imgW="2260600" imgH="444500" progId="Equation.3">
                  <p:embed/>
                  <p:pic>
                    <p:nvPicPr>
                      <p:cNvPr id="0"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5562600"/>
                        <a:ext cx="411480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138"/>
                                        </p:tgtEl>
                                        <p:attrNameLst>
                                          <p:attrName>style.visibility</p:attrName>
                                        </p:attrNameLst>
                                      </p:cBhvr>
                                      <p:to>
                                        <p:strVal val="visible"/>
                                      </p:to>
                                    </p:set>
                                    <p:anim calcmode="lin" valueType="num">
                                      <p:cBhvr additive="base">
                                        <p:cTn id="13" dur="500" fill="hold"/>
                                        <p:tgtEl>
                                          <p:spTgt spid="47138"/>
                                        </p:tgtEl>
                                        <p:attrNameLst>
                                          <p:attrName>ppt_x</p:attrName>
                                        </p:attrNameLst>
                                      </p:cBhvr>
                                      <p:tavLst>
                                        <p:tav tm="0">
                                          <p:val>
                                            <p:strVal val="#ppt_x"/>
                                          </p:val>
                                        </p:tav>
                                        <p:tav tm="100000">
                                          <p:val>
                                            <p:strVal val="#ppt_x"/>
                                          </p:val>
                                        </p:tav>
                                      </p:tavLst>
                                    </p:anim>
                                    <p:anim calcmode="lin" valueType="num">
                                      <p:cBhvr additive="base">
                                        <p:cTn id="14" dur="500" fill="hold"/>
                                        <p:tgtEl>
                                          <p:spTgt spid="4713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7139"/>
                                        </p:tgtEl>
                                        <p:attrNameLst>
                                          <p:attrName>style.visibility</p:attrName>
                                        </p:attrNameLst>
                                      </p:cBhvr>
                                      <p:to>
                                        <p:strVal val="visible"/>
                                      </p:to>
                                    </p:set>
                                    <p:anim calcmode="lin" valueType="num">
                                      <p:cBhvr additive="base">
                                        <p:cTn id="19" dur="500" fill="hold"/>
                                        <p:tgtEl>
                                          <p:spTgt spid="47139"/>
                                        </p:tgtEl>
                                        <p:attrNameLst>
                                          <p:attrName>ppt_x</p:attrName>
                                        </p:attrNameLst>
                                      </p:cBhvr>
                                      <p:tavLst>
                                        <p:tav tm="0">
                                          <p:val>
                                            <p:strVal val="#ppt_x"/>
                                          </p:val>
                                        </p:tav>
                                        <p:tav tm="100000">
                                          <p:val>
                                            <p:strVal val="#ppt_x"/>
                                          </p:val>
                                        </p:tav>
                                      </p:tavLst>
                                    </p:anim>
                                    <p:anim calcmode="lin" valueType="num">
                                      <p:cBhvr additive="base">
                                        <p:cTn id="20" dur="500" fill="hold"/>
                                        <p:tgtEl>
                                          <p:spTgt spid="47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ChangeArrowheads="1"/>
          </p:cNvSpPr>
          <p:nvPr/>
        </p:nvSpPr>
        <p:spPr bwMode="auto">
          <a:xfrm>
            <a:off x="1258888" y="1052513"/>
            <a:ext cx="426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微分环节  </a:t>
            </a:r>
            <a:r>
              <a:rPr lang="zh-CN" altLang="en-US" sz="2800">
                <a:latin typeface="Times New Roman" panose="02020603050405020304" pitchFamily="18" charset="0"/>
              </a:rPr>
              <a:t> </a:t>
            </a:r>
          </a:p>
        </p:txBody>
      </p:sp>
      <p:sp>
        <p:nvSpPr>
          <p:cNvPr id="40964" name="Rectangle 4"/>
          <p:cNvSpPr>
            <a:spLocks noChangeArrowheads="1"/>
          </p:cNvSpPr>
          <p:nvPr/>
        </p:nvSpPr>
        <p:spPr bwMode="auto">
          <a:xfrm>
            <a:off x="1289050" y="1843088"/>
            <a:ext cx="4806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输出量正比于输入量的微分。</a:t>
            </a:r>
          </a:p>
        </p:txBody>
      </p:sp>
      <p:grpSp>
        <p:nvGrpSpPr>
          <p:cNvPr id="2" name="Group 5"/>
          <p:cNvGrpSpPr>
            <a:grpSpLocks/>
          </p:cNvGrpSpPr>
          <p:nvPr/>
        </p:nvGrpSpPr>
        <p:grpSpPr bwMode="auto">
          <a:xfrm>
            <a:off x="1295400" y="2514600"/>
            <a:ext cx="4419600" cy="920750"/>
            <a:chOff x="816" y="1584"/>
            <a:chExt cx="2784" cy="580"/>
          </a:xfrm>
        </p:grpSpPr>
        <p:graphicFrame>
          <p:nvGraphicFramePr>
            <p:cNvPr id="43017" name="Object 6"/>
            <p:cNvGraphicFramePr>
              <a:graphicFrameLocks noChangeAspect="1"/>
            </p:cNvGraphicFramePr>
            <p:nvPr/>
          </p:nvGraphicFramePr>
          <p:xfrm>
            <a:off x="2208" y="1584"/>
            <a:ext cx="1392" cy="580"/>
          </p:xfrm>
          <a:graphic>
            <a:graphicData uri="http://schemas.openxmlformats.org/presentationml/2006/ole">
              <mc:AlternateContent xmlns:mc="http://schemas.openxmlformats.org/markup-compatibility/2006">
                <mc:Choice xmlns:v="urn:schemas-microsoft-com:vml" Requires="v">
                  <p:oleObj spid="_x0000_s43033" r:id="rId4" imgW="952087" imgH="393529" progId="Equation.3">
                    <p:embed/>
                  </p:oleObj>
                </mc:Choice>
                <mc:Fallback>
                  <p:oleObj r:id="rId4" imgW="952087" imgH="39352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8" y="1584"/>
                          <a:ext cx="1392"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8" name="Rectangle 7"/>
            <p:cNvSpPr>
              <a:spLocks noChangeArrowheads="1"/>
            </p:cNvSpPr>
            <p:nvPr/>
          </p:nvSpPr>
          <p:spPr bwMode="auto">
            <a:xfrm>
              <a:off x="816" y="1689"/>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运动方程为：</a:t>
              </a:r>
            </a:p>
          </p:txBody>
        </p:sp>
      </p:grpSp>
      <p:grpSp>
        <p:nvGrpSpPr>
          <p:cNvPr id="3" name="Group 8"/>
          <p:cNvGrpSpPr>
            <a:grpSpLocks/>
          </p:cNvGrpSpPr>
          <p:nvPr/>
        </p:nvGrpSpPr>
        <p:grpSpPr bwMode="auto">
          <a:xfrm>
            <a:off x="1258888" y="3500438"/>
            <a:ext cx="4953000" cy="995362"/>
            <a:chOff x="816" y="2208"/>
            <a:chExt cx="3120" cy="627"/>
          </a:xfrm>
        </p:grpSpPr>
        <p:graphicFrame>
          <p:nvGraphicFramePr>
            <p:cNvPr id="43015" name="Object 9"/>
            <p:cNvGraphicFramePr>
              <a:graphicFrameLocks noChangeAspect="1"/>
            </p:cNvGraphicFramePr>
            <p:nvPr/>
          </p:nvGraphicFramePr>
          <p:xfrm>
            <a:off x="2233" y="2208"/>
            <a:ext cx="1703" cy="627"/>
          </p:xfrm>
          <a:graphic>
            <a:graphicData uri="http://schemas.openxmlformats.org/presentationml/2006/ole">
              <mc:AlternateContent xmlns:mc="http://schemas.openxmlformats.org/markup-compatibility/2006">
                <mc:Choice xmlns:v="urn:schemas-microsoft-com:vml" Requires="v">
                  <p:oleObj spid="_x0000_s43034" r:id="rId6" imgW="1167893" imgH="431613" progId="Equation.3">
                    <p:embed/>
                  </p:oleObj>
                </mc:Choice>
                <mc:Fallback>
                  <p:oleObj r:id="rId6" imgW="1167893" imgH="431613"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3" y="2208"/>
                          <a:ext cx="1703" cy="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6" name="Rectangle 10"/>
            <p:cNvSpPr>
              <a:spLocks noChangeArrowheads="1"/>
            </p:cNvSpPr>
            <p:nvPr/>
          </p:nvSpPr>
          <p:spPr bwMode="auto">
            <a:xfrm>
              <a:off x="816" y="2304"/>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传递函数为：</a:t>
              </a:r>
            </a:p>
          </p:txBody>
        </p:sp>
      </p:grpSp>
      <p:sp>
        <p:nvSpPr>
          <p:cNvPr id="40971" name="Rectangle 11"/>
          <p:cNvSpPr>
            <a:spLocks noChangeArrowheads="1"/>
          </p:cNvSpPr>
          <p:nvPr/>
        </p:nvSpPr>
        <p:spPr bwMode="auto">
          <a:xfrm>
            <a:off x="1258888" y="4508500"/>
            <a:ext cx="4962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式中，</a:t>
            </a:r>
            <a:r>
              <a:rPr lang="zh-CN" altLang="en-US"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zh-CN" altLang="en-US" sz="2800">
                <a:latin typeface="宋体" panose="02010600030101010101" pitchFamily="2" charset="-122"/>
              </a:rPr>
              <a:t>微分环节的时间常数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 calcmode="lin" valueType="num">
                                      <p:cBhvr additive="base">
                                        <p:cTn id="7" dur="500" fill="hold"/>
                                        <p:tgtEl>
                                          <p:spTgt spid="40964"/>
                                        </p:tgtEl>
                                        <p:attrNameLst>
                                          <p:attrName>ppt_x</p:attrName>
                                        </p:attrNameLst>
                                      </p:cBhvr>
                                      <p:tavLst>
                                        <p:tav tm="0">
                                          <p:val>
                                            <p:strVal val="#ppt_x"/>
                                          </p:val>
                                        </p:tav>
                                        <p:tav tm="100000">
                                          <p:val>
                                            <p:strVal val="#ppt_x"/>
                                          </p:val>
                                        </p:tav>
                                      </p:tavLst>
                                    </p:anim>
                                    <p:anim calcmode="lin" valueType="num">
                                      <p:cBhvr additive="base">
                                        <p:cTn id="8" dur="500" fill="hold"/>
                                        <p:tgtEl>
                                          <p:spTgt spid="4096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71"/>
                                        </p:tgtEl>
                                        <p:attrNameLst>
                                          <p:attrName>style.visibility</p:attrName>
                                        </p:attrNameLst>
                                      </p:cBhvr>
                                      <p:to>
                                        <p:strVal val="visible"/>
                                      </p:to>
                                    </p:set>
                                    <p:anim calcmode="lin" valueType="num">
                                      <p:cBhvr additive="base">
                                        <p:cTn id="25" dur="500" fill="hold"/>
                                        <p:tgtEl>
                                          <p:spTgt spid="40971"/>
                                        </p:tgtEl>
                                        <p:attrNameLst>
                                          <p:attrName>ppt_x</p:attrName>
                                        </p:attrNameLst>
                                      </p:cBhvr>
                                      <p:tavLst>
                                        <p:tav tm="0">
                                          <p:val>
                                            <p:strVal val="#ppt_x"/>
                                          </p:val>
                                        </p:tav>
                                        <p:tav tm="100000">
                                          <p:val>
                                            <p:strVal val="#ppt_x"/>
                                          </p:val>
                                        </p:tav>
                                      </p:tavLst>
                                    </p:anim>
                                    <p:anim calcmode="lin" valueType="num">
                                      <p:cBhvr additive="base">
                                        <p:cTn id="26" dur="500" fill="hold"/>
                                        <p:tgtEl>
                                          <p:spTgt spid="409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4097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7" name="Object 3"/>
          <p:cNvGraphicFramePr>
            <a:graphicFrameLocks noChangeAspect="1"/>
          </p:cNvGraphicFramePr>
          <p:nvPr/>
        </p:nvGraphicFramePr>
        <p:xfrm>
          <a:off x="1447800" y="3124200"/>
          <a:ext cx="2286000" cy="820738"/>
        </p:xfrm>
        <a:graphic>
          <a:graphicData uri="http://schemas.openxmlformats.org/presentationml/2006/ole">
            <mc:AlternateContent xmlns:mc="http://schemas.openxmlformats.org/markup-compatibility/2006">
              <mc:Choice xmlns:v="urn:schemas-microsoft-com:vml" Requires="v">
                <p:oleObj spid="_x0000_s45104" r:id="rId4" imgW="1244600" imgH="444500" progId="Equation.3">
                  <p:embed/>
                </p:oleObj>
              </mc:Choice>
              <mc:Fallback>
                <p:oleObj r:id="rId4" imgW="1244600" imgH="4445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3124200"/>
                        <a:ext cx="2286000"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88" name="Object 4"/>
          <p:cNvGraphicFramePr>
            <a:graphicFrameLocks noChangeAspect="1"/>
          </p:cNvGraphicFramePr>
          <p:nvPr/>
        </p:nvGraphicFramePr>
        <p:xfrm>
          <a:off x="1447800" y="5119688"/>
          <a:ext cx="2362200" cy="823912"/>
        </p:xfrm>
        <a:graphic>
          <a:graphicData uri="http://schemas.openxmlformats.org/presentationml/2006/ole">
            <mc:AlternateContent xmlns:mc="http://schemas.openxmlformats.org/markup-compatibility/2006">
              <mc:Choice xmlns:v="urn:schemas-microsoft-com:vml" Requires="v">
                <p:oleObj spid="_x0000_s45105" r:id="rId6" imgW="1422400" imgH="495300" progId="Equation.3">
                  <p:embed/>
                </p:oleObj>
              </mc:Choice>
              <mc:Fallback>
                <p:oleObj r:id="rId6" imgW="1422400" imgH="4953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5119688"/>
                        <a:ext cx="23622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0" name="Rectangle 5"/>
          <p:cNvSpPr>
            <a:spLocks noChangeArrowheads="1"/>
          </p:cNvSpPr>
          <p:nvPr/>
        </p:nvSpPr>
        <p:spPr bwMode="auto">
          <a:xfrm>
            <a:off x="1295400" y="1752600"/>
            <a:ext cx="2673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如：测速发电机</a:t>
            </a:r>
          </a:p>
        </p:txBody>
      </p:sp>
      <p:grpSp>
        <p:nvGrpSpPr>
          <p:cNvPr id="2" name="Group 6"/>
          <p:cNvGrpSpPr>
            <a:grpSpLocks/>
          </p:cNvGrpSpPr>
          <p:nvPr/>
        </p:nvGrpSpPr>
        <p:grpSpPr bwMode="auto">
          <a:xfrm>
            <a:off x="4724400" y="2209800"/>
            <a:ext cx="4038600" cy="3581400"/>
            <a:chOff x="3072" y="1392"/>
            <a:chExt cx="2544" cy="2256"/>
          </a:xfrm>
        </p:grpSpPr>
        <p:sp>
          <p:nvSpPr>
            <p:cNvPr id="45064" name="Line 7"/>
            <p:cNvSpPr>
              <a:spLocks noChangeShapeType="1"/>
            </p:cNvSpPr>
            <p:nvPr/>
          </p:nvSpPr>
          <p:spPr bwMode="auto">
            <a:xfrm>
              <a:off x="4320" y="1440"/>
              <a:ext cx="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5" name="Oval 8"/>
            <p:cNvSpPr>
              <a:spLocks noChangeArrowheads="1"/>
            </p:cNvSpPr>
            <p:nvPr/>
          </p:nvSpPr>
          <p:spPr bwMode="auto">
            <a:xfrm>
              <a:off x="5520" y="1392"/>
              <a:ext cx="96" cy="96"/>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5066" name="Line 9"/>
            <p:cNvSpPr>
              <a:spLocks noChangeShapeType="1"/>
            </p:cNvSpPr>
            <p:nvPr/>
          </p:nvSpPr>
          <p:spPr bwMode="auto">
            <a:xfrm flipV="1">
              <a:off x="4320" y="1440"/>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7" name="Line 10"/>
            <p:cNvSpPr>
              <a:spLocks noChangeShapeType="1"/>
            </p:cNvSpPr>
            <p:nvPr/>
          </p:nvSpPr>
          <p:spPr bwMode="auto">
            <a:xfrm flipV="1">
              <a:off x="4368" y="292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8" name="Line 11"/>
            <p:cNvSpPr>
              <a:spLocks noChangeShapeType="1"/>
            </p:cNvSpPr>
            <p:nvPr/>
          </p:nvSpPr>
          <p:spPr bwMode="auto">
            <a:xfrm>
              <a:off x="4368" y="3168"/>
              <a:ext cx="115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9" name="Oval 12"/>
            <p:cNvSpPr>
              <a:spLocks noChangeArrowheads="1"/>
            </p:cNvSpPr>
            <p:nvPr/>
          </p:nvSpPr>
          <p:spPr bwMode="auto">
            <a:xfrm>
              <a:off x="5520" y="3120"/>
              <a:ext cx="96" cy="96"/>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5070" name="Text Box 13"/>
            <p:cNvSpPr txBox="1">
              <a:spLocks noChangeArrowheads="1"/>
            </p:cNvSpPr>
            <p:nvPr/>
          </p:nvSpPr>
          <p:spPr bwMode="auto">
            <a:xfrm>
              <a:off x="5088" y="216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45071" name="Text Box 14"/>
            <p:cNvSpPr txBox="1">
              <a:spLocks noChangeArrowheads="1"/>
            </p:cNvSpPr>
            <p:nvPr/>
          </p:nvSpPr>
          <p:spPr bwMode="auto">
            <a:xfrm>
              <a:off x="3648" y="288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sym typeface="Symbol" panose="05050102010706020507" pitchFamily="18" charset="2"/>
                </a:rPr>
                <a:t></a:t>
              </a:r>
              <a:r>
                <a:rPr lang="en-US" altLang="zh-CN" sz="2400" b="1" i="1" baseline="-25000">
                  <a:latin typeface="Times New Roman" panose="02020603050405020304" pitchFamily="18" charset="0"/>
                </a:rPr>
                <a:t>i </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45072" name="Text Box 15"/>
            <p:cNvSpPr txBox="1">
              <a:spLocks noChangeArrowheads="1"/>
            </p:cNvSpPr>
            <p:nvPr/>
          </p:nvSpPr>
          <p:spPr bwMode="auto">
            <a:xfrm>
              <a:off x="3916" y="3360"/>
              <a:ext cx="1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测 速 发 电 机</a:t>
              </a:r>
            </a:p>
          </p:txBody>
        </p:sp>
        <p:sp>
          <p:nvSpPr>
            <p:cNvPr id="45073" name="Oval 16"/>
            <p:cNvSpPr>
              <a:spLocks noChangeArrowheads="1"/>
            </p:cNvSpPr>
            <p:nvPr/>
          </p:nvSpPr>
          <p:spPr bwMode="auto">
            <a:xfrm>
              <a:off x="3888" y="1920"/>
              <a:ext cx="912" cy="864"/>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5074" name="Line 17"/>
            <p:cNvSpPr>
              <a:spLocks noChangeShapeType="1"/>
            </p:cNvSpPr>
            <p:nvPr/>
          </p:nvSpPr>
          <p:spPr bwMode="auto">
            <a:xfrm flipV="1">
              <a:off x="4176" y="1776"/>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5" name="Line 18"/>
            <p:cNvSpPr>
              <a:spLocks noChangeShapeType="1"/>
            </p:cNvSpPr>
            <p:nvPr/>
          </p:nvSpPr>
          <p:spPr bwMode="auto">
            <a:xfrm>
              <a:off x="4176" y="1776"/>
              <a:ext cx="3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6" name="Line 19"/>
            <p:cNvSpPr>
              <a:spLocks noChangeShapeType="1"/>
            </p:cNvSpPr>
            <p:nvPr/>
          </p:nvSpPr>
          <p:spPr bwMode="auto">
            <a:xfrm>
              <a:off x="4512" y="1776"/>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7" name="Line 20"/>
            <p:cNvSpPr>
              <a:spLocks noChangeShapeType="1"/>
            </p:cNvSpPr>
            <p:nvPr/>
          </p:nvSpPr>
          <p:spPr bwMode="auto">
            <a:xfrm>
              <a:off x="4176" y="2736"/>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8" name="Line 21"/>
            <p:cNvSpPr>
              <a:spLocks noChangeShapeType="1"/>
            </p:cNvSpPr>
            <p:nvPr/>
          </p:nvSpPr>
          <p:spPr bwMode="auto">
            <a:xfrm>
              <a:off x="4176" y="2928"/>
              <a:ext cx="3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9" name="Line 22"/>
            <p:cNvSpPr>
              <a:spLocks noChangeShapeType="1"/>
            </p:cNvSpPr>
            <p:nvPr/>
          </p:nvSpPr>
          <p:spPr bwMode="auto">
            <a:xfrm flipV="1">
              <a:off x="4512" y="2736"/>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0" name="Line 23"/>
            <p:cNvSpPr>
              <a:spLocks noChangeShapeType="1"/>
            </p:cNvSpPr>
            <p:nvPr/>
          </p:nvSpPr>
          <p:spPr bwMode="auto">
            <a:xfrm flipH="1">
              <a:off x="3216" y="2352"/>
              <a:ext cx="1104" cy="7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1" name="Line 24"/>
            <p:cNvSpPr>
              <a:spLocks noChangeShapeType="1"/>
            </p:cNvSpPr>
            <p:nvPr/>
          </p:nvSpPr>
          <p:spPr bwMode="auto">
            <a:xfrm flipH="1">
              <a:off x="3072" y="2016"/>
              <a:ext cx="3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2" name="Line 25"/>
            <p:cNvSpPr>
              <a:spLocks noChangeShapeType="1"/>
            </p:cNvSpPr>
            <p:nvPr/>
          </p:nvSpPr>
          <p:spPr bwMode="auto">
            <a:xfrm>
              <a:off x="3072" y="2016"/>
              <a:ext cx="0" cy="6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3" name="Line 26"/>
            <p:cNvSpPr>
              <a:spLocks noChangeShapeType="1"/>
            </p:cNvSpPr>
            <p:nvPr/>
          </p:nvSpPr>
          <p:spPr bwMode="auto">
            <a:xfrm>
              <a:off x="3072" y="2688"/>
              <a:ext cx="3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4" name="Line 27"/>
            <p:cNvSpPr>
              <a:spLocks noChangeShapeType="1"/>
            </p:cNvSpPr>
            <p:nvPr/>
          </p:nvSpPr>
          <p:spPr bwMode="auto">
            <a:xfrm>
              <a:off x="3456" y="2016"/>
              <a:ext cx="0" cy="9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5" name="Line 28"/>
            <p:cNvSpPr>
              <a:spLocks noChangeShapeType="1"/>
            </p:cNvSpPr>
            <p:nvPr/>
          </p:nvSpPr>
          <p:spPr bwMode="auto">
            <a:xfrm flipH="1">
              <a:off x="3168" y="2112"/>
              <a:ext cx="2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6" name="Line 29"/>
            <p:cNvSpPr>
              <a:spLocks noChangeShapeType="1"/>
            </p:cNvSpPr>
            <p:nvPr/>
          </p:nvSpPr>
          <p:spPr bwMode="auto">
            <a:xfrm>
              <a:off x="3168" y="2112"/>
              <a:ext cx="0"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7" name="Line 30"/>
            <p:cNvSpPr>
              <a:spLocks noChangeShapeType="1"/>
            </p:cNvSpPr>
            <p:nvPr/>
          </p:nvSpPr>
          <p:spPr bwMode="auto">
            <a:xfrm>
              <a:off x="3168" y="2592"/>
              <a:ext cx="2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8" name="Line 31"/>
            <p:cNvSpPr>
              <a:spLocks noChangeShapeType="1"/>
            </p:cNvSpPr>
            <p:nvPr/>
          </p:nvSpPr>
          <p:spPr bwMode="auto">
            <a:xfrm>
              <a:off x="3456" y="2592"/>
              <a:ext cx="0" cy="9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9" name="Arc 32"/>
            <p:cNvSpPr>
              <a:spLocks noChangeArrowheads="1"/>
            </p:cNvSpPr>
            <p:nvPr/>
          </p:nvSpPr>
          <p:spPr bwMode="auto">
            <a:xfrm rot="969870">
              <a:off x="3347" y="2782"/>
              <a:ext cx="288" cy="381"/>
            </a:xfrm>
            <a:custGeom>
              <a:avLst/>
              <a:gdLst>
                <a:gd name="T0" fmla="*/ 0 w 21600"/>
                <a:gd name="T1" fmla="*/ 0 h 28581"/>
                <a:gd name="T2" fmla="*/ 0 w 21600"/>
                <a:gd name="T3" fmla="*/ 0 h 28581"/>
                <a:gd name="T4" fmla="*/ 0 w 21600"/>
                <a:gd name="T5" fmla="*/ 0 h 28581"/>
                <a:gd name="T6" fmla="*/ 0 w 21600"/>
                <a:gd name="T7" fmla="*/ 0 h 28581"/>
                <a:gd name="T8" fmla="*/ 0 w 21600"/>
                <a:gd name="T9" fmla="*/ 0 h 28581"/>
                <a:gd name="T10" fmla="*/ 0 w 21600"/>
                <a:gd name="T11" fmla="*/ 0 h 28581"/>
                <a:gd name="T12" fmla="*/ 0 w 21600"/>
                <a:gd name="T13" fmla="*/ 0 h 28581"/>
                <a:gd name="T14" fmla="*/ 0 w 21600"/>
                <a:gd name="T15" fmla="*/ 0 h 285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8581" fill="none">
                  <a:moveTo>
                    <a:pt x="-1" y="0"/>
                  </a:moveTo>
                  <a:cubicBezTo>
                    <a:pt x="11929" y="0"/>
                    <a:pt x="21600" y="9670"/>
                    <a:pt x="21600" y="21600"/>
                  </a:cubicBezTo>
                  <a:cubicBezTo>
                    <a:pt x="21600" y="23974"/>
                    <a:pt x="21208" y="26333"/>
                    <a:pt x="20440" y="28580"/>
                  </a:cubicBezTo>
                </a:path>
                <a:path w="21600" h="28581" stroke="0">
                  <a:moveTo>
                    <a:pt x="-1" y="0"/>
                  </a:moveTo>
                  <a:cubicBezTo>
                    <a:pt x="11929" y="0"/>
                    <a:pt x="21600" y="9670"/>
                    <a:pt x="21600" y="21600"/>
                  </a:cubicBezTo>
                  <a:cubicBezTo>
                    <a:pt x="21600" y="23974"/>
                    <a:pt x="21208" y="26333"/>
                    <a:pt x="20440" y="28580"/>
                  </a:cubicBezTo>
                  <a:lnTo>
                    <a:pt x="0" y="21600"/>
                  </a:lnTo>
                  <a:lnTo>
                    <a:pt x="-1" y="0"/>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2017" name="Rectangle 33"/>
          <p:cNvSpPr>
            <a:spLocks noChangeArrowheads="1"/>
          </p:cNvSpPr>
          <p:nvPr/>
        </p:nvSpPr>
        <p:spPr bwMode="auto">
          <a:xfrm>
            <a:off x="1371600" y="4038600"/>
            <a:ext cx="30480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式中， </a:t>
            </a:r>
            <a:r>
              <a:rPr lang="en-US" altLang="zh-CN" sz="2800" i="1">
                <a:latin typeface="Times New Roman" panose="02020603050405020304" pitchFamily="18" charset="0"/>
              </a:rPr>
              <a:t>K</a:t>
            </a:r>
            <a:r>
              <a:rPr lang="en-US" altLang="zh-CN" sz="2900" i="1" baseline="-20000">
                <a:latin typeface="Times New Roman" panose="02020603050405020304" pitchFamily="18" charset="0"/>
              </a:rPr>
              <a:t>t</a:t>
            </a:r>
            <a:r>
              <a:rPr lang="zh-CN" altLang="en-US" sz="2800">
                <a:latin typeface="宋体" panose="02010600030101010101" pitchFamily="2" charset="-122"/>
              </a:rPr>
              <a:t>为电机常数。</a:t>
            </a:r>
            <a:r>
              <a:rPr lang="zh-CN" altLang="en-US" sz="2800">
                <a:latin typeface="Times New Roman" panose="02020603050405020304" pitchFamily="18" charset="0"/>
              </a:rPr>
              <a:t> </a:t>
            </a:r>
          </a:p>
        </p:txBody>
      </p:sp>
      <p:sp>
        <p:nvSpPr>
          <p:cNvPr id="42018" name="Rectangle 34"/>
          <p:cNvSpPr>
            <a:spLocks noChangeArrowheads="1"/>
          </p:cNvSpPr>
          <p:nvPr/>
        </p:nvSpPr>
        <p:spPr bwMode="auto">
          <a:xfrm>
            <a:off x="1295400" y="2452688"/>
            <a:ext cx="196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无负载时：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018"/>
                                        </p:tgtEl>
                                        <p:attrNameLst>
                                          <p:attrName>style.visibility</p:attrName>
                                        </p:attrNameLst>
                                      </p:cBhvr>
                                      <p:to>
                                        <p:strVal val="visible"/>
                                      </p:to>
                                    </p:set>
                                    <p:anim calcmode="lin" valueType="num">
                                      <p:cBhvr additive="base">
                                        <p:cTn id="13" dur="500" fill="hold"/>
                                        <p:tgtEl>
                                          <p:spTgt spid="42018"/>
                                        </p:tgtEl>
                                        <p:attrNameLst>
                                          <p:attrName>ppt_x</p:attrName>
                                        </p:attrNameLst>
                                      </p:cBhvr>
                                      <p:tavLst>
                                        <p:tav tm="0">
                                          <p:val>
                                            <p:strVal val="#ppt_x"/>
                                          </p:val>
                                        </p:tav>
                                        <p:tav tm="100000">
                                          <p:val>
                                            <p:strVal val="#ppt_x"/>
                                          </p:val>
                                        </p:tav>
                                      </p:tavLst>
                                    </p:anim>
                                    <p:anim calcmode="lin" valueType="num">
                                      <p:cBhvr additive="base">
                                        <p:cTn id="14" dur="500" fill="hold"/>
                                        <p:tgtEl>
                                          <p:spTgt spid="4201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1987"/>
                                        </p:tgtEl>
                                        <p:attrNameLst>
                                          <p:attrName>style.visibility</p:attrName>
                                        </p:attrNameLst>
                                      </p:cBhvr>
                                      <p:to>
                                        <p:strVal val="visible"/>
                                      </p:to>
                                    </p:set>
                                    <p:anim calcmode="lin" valueType="num">
                                      <p:cBhvr additive="base">
                                        <p:cTn id="19" dur="500" fill="hold"/>
                                        <p:tgtEl>
                                          <p:spTgt spid="41987"/>
                                        </p:tgtEl>
                                        <p:attrNameLst>
                                          <p:attrName>ppt_x</p:attrName>
                                        </p:attrNameLst>
                                      </p:cBhvr>
                                      <p:tavLst>
                                        <p:tav tm="0">
                                          <p:val>
                                            <p:strVal val="#ppt_x"/>
                                          </p:val>
                                        </p:tav>
                                        <p:tav tm="100000">
                                          <p:val>
                                            <p:strVal val="#ppt_x"/>
                                          </p:val>
                                        </p:tav>
                                      </p:tavLst>
                                    </p:anim>
                                    <p:anim calcmode="lin" valueType="num">
                                      <p:cBhvr additive="base">
                                        <p:cTn id="20" dur="500" fill="hold"/>
                                        <p:tgtEl>
                                          <p:spTgt spid="4198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2017"/>
                                        </p:tgtEl>
                                        <p:attrNameLst>
                                          <p:attrName>style.visibility</p:attrName>
                                        </p:attrNameLst>
                                      </p:cBhvr>
                                      <p:to>
                                        <p:strVal val="visible"/>
                                      </p:to>
                                    </p:set>
                                    <p:anim calcmode="lin" valueType="num">
                                      <p:cBhvr additive="base">
                                        <p:cTn id="25" dur="500" fill="hold"/>
                                        <p:tgtEl>
                                          <p:spTgt spid="42017"/>
                                        </p:tgtEl>
                                        <p:attrNameLst>
                                          <p:attrName>ppt_x</p:attrName>
                                        </p:attrNameLst>
                                      </p:cBhvr>
                                      <p:tavLst>
                                        <p:tav tm="0">
                                          <p:val>
                                            <p:strVal val="#ppt_x"/>
                                          </p:val>
                                        </p:tav>
                                        <p:tav tm="100000">
                                          <p:val>
                                            <p:strVal val="#ppt_x"/>
                                          </p:val>
                                        </p:tav>
                                      </p:tavLst>
                                    </p:anim>
                                    <p:anim calcmode="lin" valueType="num">
                                      <p:cBhvr additive="base">
                                        <p:cTn id="26" dur="500" fill="hold"/>
                                        <p:tgtEl>
                                          <p:spTgt spid="4201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1988"/>
                                        </p:tgtEl>
                                        <p:attrNameLst>
                                          <p:attrName>style.visibility</p:attrName>
                                        </p:attrNameLst>
                                      </p:cBhvr>
                                      <p:to>
                                        <p:strVal val="visible"/>
                                      </p:to>
                                    </p:set>
                                    <p:anim calcmode="lin" valueType="num">
                                      <p:cBhvr additive="base">
                                        <p:cTn id="31" dur="500" fill="hold"/>
                                        <p:tgtEl>
                                          <p:spTgt spid="41988"/>
                                        </p:tgtEl>
                                        <p:attrNameLst>
                                          <p:attrName>ppt_x</p:attrName>
                                        </p:attrNameLst>
                                      </p:cBhvr>
                                      <p:tavLst>
                                        <p:tav tm="0">
                                          <p:val>
                                            <p:strVal val="#ppt_x"/>
                                          </p:val>
                                        </p:tav>
                                        <p:tav tm="100000">
                                          <p:val>
                                            <p:strVal val="#ppt_x"/>
                                          </p:val>
                                        </p:tav>
                                      </p:tavLst>
                                    </p:anim>
                                    <p:anim calcmode="lin" valueType="num">
                                      <p:cBhvr additive="base">
                                        <p:cTn id="32" dur="500" fill="hold"/>
                                        <p:tgtEl>
                                          <p:spTgt spid="419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7" grpId="0"/>
      <p:bldP spid="420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5257800" y="1905000"/>
            <a:ext cx="3657600" cy="2514600"/>
            <a:chOff x="3312" y="1162"/>
            <a:chExt cx="2304" cy="1584"/>
          </a:xfrm>
        </p:grpSpPr>
        <p:sp>
          <p:nvSpPr>
            <p:cNvPr id="47112" name="Oval 4"/>
            <p:cNvSpPr>
              <a:spLocks noChangeArrowheads="1"/>
            </p:cNvSpPr>
            <p:nvPr/>
          </p:nvSpPr>
          <p:spPr bwMode="auto">
            <a:xfrm>
              <a:off x="3361" y="1452"/>
              <a:ext cx="44" cy="48"/>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7113" name="Line 5"/>
            <p:cNvSpPr>
              <a:spLocks noChangeShapeType="1"/>
            </p:cNvSpPr>
            <p:nvPr/>
          </p:nvSpPr>
          <p:spPr bwMode="auto">
            <a:xfrm>
              <a:off x="3405" y="1476"/>
              <a:ext cx="6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4" name="Rectangle 6"/>
            <p:cNvSpPr>
              <a:spLocks noChangeArrowheads="1"/>
            </p:cNvSpPr>
            <p:nvPr/>
          </p:nvSpPr>
          <p:spPr bwMode="auto">
            <a:xfrm rot="5392011">
              <a:off x="4655" y="1800"/>
              <a:ext cx="411" cy="89"/>
            </a:xfrm>
            <a:prstGeom prst="rect">
              <a:avLst/>
            </a:prstGeom>
            <a:noFill/>
            <a:ln w="444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7115" name="Line 7"/>
            <p:cNvSpPr>
              <a:spLocks noChangeShapeType="1"/>
            </p:cNvSpPr>
            <p:nvPr/>
          </p:nvSpPr>
          <p:spPr bwMode="auto">
            <a:xfrm>
              <a:off x="4177" y="1476"/>
              <a:ext cx="6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6" name="Line 8"/>
            <p:cNvSpPr>
              <a:spLocks noChangeShapeType="1"/>
            </p:cNvSpPr>
            <p:nvPr/>
          </p:nvSpPr>
          <p:spPr bwMode="auto">
            <a:xfrm>
              <a:off x="4861" y="1476"/>
              <a:ext cx="48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7" name="Oval 9"/>
            <p:cNvSpPr>
              <a:spLocks noChangeArrowheads="1"/>
            </p:cNvSpPr>
            <p:nvPr/>
          </p:nvSpPr>
          <p:spPr bwMode="auto">
            <a:xfrm>
              <a:off x="5346" y="1452"/>
              <a:ext cx="44" cy="48"/>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7118" name="Line 10"/>
            <p:cNvSpPr>
              <a:spLocks noChangeShapeType="1"/>
            </p:cNvSpPr>
            <p:nvPr/>
          </p:nvSpPr>
          <p:spPr bwMode="auto">
            <a:xfrm flipV="1">
              <a:off x="4866" y="1476"/>
              <a:ext cx="0" cy="16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9" name="Line 11"/>
            <p:cNvSpPr>
              <a:spLocks noChangeShapeType="1"/>
            </p:cNvSpPr>
            <p:nvPr/>
          </p:nvSpPr>
          <p:spPr bwMode="auto">
            <a:xfrm flipV="1">
              <a:off x="4866" y="2056"/>
              <a:ext cx="0" cy="2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0" name="Line 12"/>
            <p:cNvSpPr>
              <a:spLocks noChangeShapeType="1"/>
            </p:cNvSpPr>
            <p:nvPr/>
          </p:nvSpPr>
          <p:spPr bwMode="auto">
            <a:xfrm>
              <a:off x="3405" y="2347"/>
              <a:ext cx="194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1" name="Oval 13"/>
            <p:cNvSpPr>
              <a:spLocks noChangeArrowheads="1"/>
            </p:cNvSpPr>
            <p:nvPr/>
          </p:nvSpPr>
          <p:spPr bwMode="auto">
            <a:xfrm>
              <a:off x="3361" y="2322"/>
              <a:ext cx="44" cy="49"/>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7122" name="Oval 14"/>
            <p:cNvSpPr>
              <a:spLocks noChangeArrowheads="1"/>
            </p:cNvSpPr>
            <p:nvPr/>
          </p:nvSpPr>
          <p:spPr bwMode="auto">
            <a:xfrm>
              <a:off x="5346" y="2322"/>
              <a:ext cx="44" cy="49"/>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7123" name="Text Box 15"/>
            <p:cNvSpPr txBox="1">
              <a:spLocks noChangeArrowheads="1"/>
            </p:cNvSpPr>
            <p:nvPr/>
          </p:nvSpPr>
          <p:spPr bwMode="auto">
            <a:xfrm>
              <a:off x="4892" y="172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R</a:t>
              </a:r>
            </a:p>
          </p:txBody>
        </p:sp>
        <p:sp>
          <p:nvSpPr>
            <p:cNvPr id="47124" name="Text Box 16"/>
            <p:cNvSpPr txBox="1">
              <a:spLocks noChangeArrowheads="1"/>
            </p:cNvSpPr>
            <p:nvPr/>
          </p:nvSpPr>
          <p:spPr bwMode="auto">
            <a:xfrm>
              <a:off x="4034" y="116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p>
          </p:txBody>
        </p:sp>
        <p:sp>
          <p:nvSpPr>
            <p:cNvPr id="47125" name="Text Box 17"/>
            <p:cNvSpPr txBox="1">
              <a:spLocks noChangeArrowheads="1"/>
            </p:cNvSpPr>
            <p:nvPr/>
          </p:nvSpPr>
          <p:spPr bwMode="auto">
            <a:xfrm>
              <a:off x="3312" y="1738"/>
              <a:ext cx="5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47126" name="Text Box 18"/>
            <p:cNvSpPr txBox="1">
              <a:spLocks noChangeArrowheads="1"/>
            </p:cNvSpPr>
            <p:nvPr/>
          </p:nvSpPr>
          <p:spPr bwMode="auto">
            <a:xfrm>
              <a:off x="5148" y="1728"/>
              <a:ext cx="4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47127" name="Text Box 19"/>
            <p:cNvSpPr txBox="1">
              <a:spLocks noChangeArrowheads="1"/>
            </p:cNvSpPr>
            <p:nvPr/>
          </p:nvSpPr>
          <p:spPr bwMode="auto">
            <a:xfrm>
              <a:off x="4294" y="1786"/>
              <a:ext cx="5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47128" name="Text Box 20"/>
            <p:cNvSpPr txBox="1">
              <a:spLocks noChangeArrowheads="1"/>
            </p:cNvSpPr>
            <p:nvPr/>
          </p:nvSpPr>
          <p:spPr bwMode="auto">
            <a:xfrm>
              <a:off x="3782" y="2458"/>
              <a:ext cx="1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无源微分网络</a:t>
              </a:r>
            </a:p>
          </p:txBody>
        </p:sp>
        <p:sp>
          <p:nvSpPr>
            <p:cNvPr id="47129" name="Line 21"/>
            <p:cNvSpPr>
              <a:spLocks noChangeShapeType="1"/>
            </p:cNvSpPr>
            <p:nvPr/>
          </p:nvSpPr>
          <p:spPr bwMode="auto">
            <a:xfrm>
              <a:off x="4089" y="1403"/>
              <a:ext cx="0" cy="1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0" name="Line 22"/>
            <p:cNvSpPr>
              <a:spLocks noChangeShapeType="1"/>
            </p:cNvSpPr>
            <p:nvPr/>
          </p:nvSpPr>
          <p:spPr bwMode="auto">
            <a:xfrm>
              <a:off x="4177" y="1403"/>
              <a:ext cx="0" cy="1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31" name="Arc 23"/>
            <p:cNvSpPr>
              <a:spLocks noChangeArrowheads="1"/>
            </p:cNvSpPr>
            <p:nvPr/>
          </p:nvSpPr>
          <p:spPr bwMode="auto">
            <a:xfrm>
              <a:off x="4315" y="1719"/>
              <a:ext cx="353" cy="33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7670" name="Rectangle 24"/>
          <p:cNvSpPr>
            <a:spLocks noChangeArrowheads="1"/>
          </p:cNvSpPr>
          <p:nvPr/>
        </p:nvSpPr>
        <p:spPr bwMode="auto">
          <a:xfrm>
            <a:off x="1371600" y="1690688"/>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无源微分网络</a:t>
            </a:r>
            <a:r>
              <a:rPr lang="zh-CN" altLang="en-US" sz="2800">
                <a:latin typeface="Times New Roman" panose="02020603050405020304" pitchFamily="18" charset="0"/>
              </a:rPr>
              <a:t> </a:t>
            </a:r>
          </a:p>
        </p:txBody>
      </p:sp>
      <p:graphicFrame>
        <p:nvGraphicFramePr>
          <p:cNvPr id="43033" name="Object 25"/>
          <p:cNvGraphicFramePr>
            <a:graphicFrameLocks noChangeAspect="1"/>
          </p:cNvGraphicFramePr>
          <p:nvPr/>
        </p:nvGraphicFramePr>
        <p:xfrm>
          <a:off x="1447800" y="2362200"/>
          <a:ext cx="3200400" cy="1352550"/>
        </p:xfrm>
        <a:graphic>
          <a:graphicData uri="http://schemas.openxmlformats.org/presentationml/2006/ole">
            <mc:AlternateContent xmlns:mc="http://schemas.openxmlformats.org/markup-compatibility/2006">
              <mc:Choice xmlns:v="urn:schemas-microsoft-com:vml" Requires="v">
                <p:oleObj spid="_x0000_s47146" r:id="rId4" imgW="1714500" imgH="723900" progId="Equation.3">
                  <p:embed/>
                </p:oleObj>
              </mc:Choice>
              <mc:Fallback>
                <p:oleObj r:id="rId4" imgW="1714500" imgH="723900" progId="Equation.3">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2362200"/>
                        <a:ext cx="320040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3034" name="Object 26"/>
          <p:cNvGraphicFramePr>
            <a:graphicFrameLocks noChangeAspect="1"/>
          </p:cNvGraphicFramePr>
          <p:nvPr/>
        </p:nvGraphicFramePr>
        <p:xfrm>
          <a:off x="1447800" y="3962400"/>
          <a:ext cx="4038600" cy="733425"/>
        </p:xfrm>
        <a:graphic>
          <a:graphicData uri="http://schemas.openxmlformats.org/presentationml/2006/ole">
            <mc:AlternateContent xmlns:mc="http://schemas.openxmlformats.org/markup-compatibility/2006">
              <mc:Choice xmlns:v="urn:schemas-microsoft-com:vml" Requires="v">
                <p:oleObj spid="_x0000_s47147" r:id="rId6" imgW="2463800" imgH="444500" progId="Equation.3">
                  <p:embed/>
                </p:oleObj>
              </mc:Choice>
              <mc:Fallback>
                <p:oleObj r:id="rId6" imgW="2463800" imgH="444500" progId="Equation.3">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3962400"/>
                        <a:ext cx="40386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35" name="Rectangle 27"/>
          <p:cNvSpPr>
            <a:spLocks noChangeArrowheads="1"/>
          </p:cNvSpPr>
          <p:nvPr/>
        </p:nvSpPr>
        <p:spPr bwMode="auto">
          <a:xfrm>
            <a:off x="1403350" y="4652963"/>
            <a:ext cx="73914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显然，无源微分网络包括有惯性环节和微分环节，称之为</a:t>
            </a:r>
            <a:r>
              <a:rPr lang="zh-CN" altLang="en-US" sz="2800">
                <a:solidFill>
                  <a:srgbClr val="CC0000"/>
                </a:solidFill>
                <a:latin typeface="宋体" panose="02010600030101010101" pitchFamily="2" charset="-122"/>
              </a:rPr>
              <a:t>惯性微分环节</a:t>
            </a:r>
            <a:r>
              <a:rPr lang="zh-CN" altLang="en-US" sz="2800">
                <a:latin typeface="宋体" panose="02010600030101010101" pitchFamily="2" charset="-122"/>
              </a:rPr>
              <a:t>，只有当</a:t>
            </a:r>
            <a:r>
              <a:rPr lang="en-US" altLang="zh-CN" sz="2800">
                <a:latin typeface="Times New Roman" panose="02020603050405020304" pitchFamily="18" charset="0"/>
              </a:rPr>
              <a:t>|</a:t>
            </a:r>
            <a:r>
              <a:rPr lang="en-US" altLang="zh-CN" sz="2800" i="1">
                <a:latin typeface="Times New Roman" panose="02020603050405020304" pitchFamily="18" charset="0"/>
              </a:rPr>
              <a:t>Ts</a:t>
            </a:r>
            <a:r>
              <a:rPr lang="en-US" altLang="zh-CN" sz="2800">
                <a:latin typeface="Times New Roman" panose="02020603050405020304" pitchFamily="18" charset="0"/>
              </a:rPr>
              <a:t>|&lt;&lt;1</a:t>
            </a:r>
            <a:r>
              <a:rPr lang="zh-CN" altLang="en-US" sz="2800">
                <a:latin typeface="宋体" panose="02010600030101010101" pitchFamily="2" charset="-122"/>
              </a:rPr>
              <a:t>时，才近似为微分环节。</a:t>
            </a:r>
            <a:r>
              <a:rPr lang="zh-CN" altLang="en-US" sz="2800">
                <a:latin typeface="Times New Roman" panose="02020603050405020304" pitchFamily="18" charset="0"/>
              </a:rPr>
              <a:t> </a:t>
            </a:r>
          </a:p>
        </p:txBody>
      </p:sp>
      <p:sp>
        <p:nvSpPr>
          <p:cNvPr id="28" name="Rectangle 12"/>
          <p:cNvSpPr>
            <a:spLocks noChangeArrowheads="1"/>
          </p:cNvSpPr>
          <p:nvPr/>
        </p:nvSpPr>
        <p:spPr bwMode="auto">
          <a:xfrm>
            <a:off x="900113" y="908050"/>
            <a:ext cx="731520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zh-CN" altLang="en-US" sz="2800">
                <a:latin typeface="宋体" panose="02010600030101010101" pitchFamily="2" charset="-122"/>
              </a:rPr>
              <a:t>实际上，微分环节常带有惯性。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70"/>
                                        </p:tgtEl>
                                        <p:attrNameLst>
                                          <p:attrName>style.visibility</p:attrName>
                                        </p:attrNameLst>
                                      </p:cBhvr>
                                      <p:to>
                                        <p:strVal val="visible"/>
                                      </p:to>
                                    </p:set>
                                    <p:anim calcmode="lin" valueType="num">
                                      <p:cBhvr additive="base">
                                        <p:cTn id="13" dur="500" fill="hold"/>
                                        <p:tgtEl>
                                          <p:spTgt spid="27670"/>
                                        </p:tgtEl>
                                        <p:attrNameLst>
                                          <p:attrName>ppt_x</p:attrName>
                                        </p:attrNameLst>
                                      </p:cBhvr>
                                      <p:tavLst>
                                        <p:tav tm="0">
                                          <p:val>
                                            <p:strVal val="#ppt_x"/>
                                          </p:val>
                                        </p:tav>
                                        <p:tav tm="100000">
                                          <p:val>
                                            <p:strVal val="#ppt_x"/>
                                          </p:val>
                                        </p:tav>
                                      </p:tavLst>
                                    </p:anim>
                                    <p:anim calcmode="lin" valueType="num">
                                      <p:cBhvr additive="base">
                                        <p:cTn id="14" dur="500" fill="hold"/>
                                        <p:tgtEl>
                                          <p:spTgt spid="2767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3033"/>
                                        </p:tgtEl>
                                        <p:attrNameLst>
                                          <p:attrName>style.visibility</p:attrName>
                                        </p:attrNameLst>
                                      </p:cBhvr>
                                      <p:to>
                                        <p:strVal val="visible"/>
                                      </p:to>
                                    </p:set>
                                    <p:anim calcmode="lin" valueType="num">
                                      <p:cBhvr additive="base">
                                        <p:cTn id="25" dur="500" fill="hold"/>
                                        <p:tgtEl>
                                          <p:spTgt spid="43033"/>
                                        </p:tgtEl>
                                        <p:attrNameLst>
                                          <p:attrName>ppt_x</p:attrName>
                                        </p:attrNameLst>
                                      </p:cBhvr>
                                      <p:tavLst>
                                        <p:tav tm="0">
                                          <p:val>
                                            <p:strVal val="#ppt_x"/>
                                          </p:val>
                                        </p:tav>
                                        <p:tav tm="100000">
                                          <p:val>
                                            <p:strVal val="#ppt_x"/>
                                          </p:val>
                                        </p:tav>
                                      </p:tavLst>
                                    </p:anim>
                                    <p:anim calcmode="lin" valueType="num">
                                      <p:cBhvr additive="base">
                                        <p:cTn id="26" dur="500" fill="hold"/>
                                        <p:tgtEl>
                                          <p:spTgt spid="4303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3034"/>
                                        </p:tgtEl>
                                        <p:attrNameLst>
                                          <p:attrName>style.visibility</p:attrName>
                                        </p:attrNameLst>
                                      </p:cBhvr>
                                      <p:to>
                                        <p:strVal val="visible"/>
                                      </p:to>
                                    </p:set>
                                    <p:anim calcmode="lin" valueType="num">
                                      <p:cBhvr additive="base">
                                        <p:cTn id="31" dur="500" fill="hold"/>
                                        <p:tgtEl>
                                          <p:spTgt spid="43034"/>
                                        </p:tgtEl>
                                        <p:attrNameLst>
                                          <p:attrName>ppt_x</p:attrName>
                                        </p:attrNameLst>
                                      </p:cBhvr>
                                      <p:tavLst>
                                        <p:tav tm="0">
                                          <p:val>
                                            <p:strVal val="#ppt_x"/>
                                          </p:val>
                                        </p:tav>
                                        <p:tav tm="100000">
                                          <p:val>
                                            <p:strVal val="#ppt_x"/>
                                          </p:val>
                                        </p:tav>
                                      </p:tavLst>
                                    </p:anim>
                                    <p:anim calcmode="lin" valueType="num">
                                      <p:cBhvr additive="base">
                                        <p:cTn id="32" dur="500" fill="hold"/>
                                        <p:tgtEl>
                                          <p:spTgt spid="4303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3035"/>
                                        </p:tgtEl>
                                        <p:attrNameLst>
                                          <p:attrName>style.visibility</p:attrName>
                                        </p:attrNameLst>
                                      </p:cBhvr>
                                      <p:to>
                                        <p:strVal val="visible"/>
                                      </p:to>
                                    </p:set>
                                    <p:anim calcmode="lin" valueType="num">
                                      <p:cBhvr additive="base">
                                        <p:cTn id="37" dur="500" fill="hold"/>
                                        <p:tgtEl>
                                          <p:spTgt spid="43035"/>
                                        </p:tgtEl>
                                        <p:attrNameLst>
                                          <p:attrName>ppt_x</p:attrName>
                                        </p:attrNameLst>
                                      </p:cBhvr>
                                      <p:tavLst>
                                        <p:tav tm="0">
                                          <p:val>
                                            <p:strVal val="#ppt_x"/>
                                          </p:val>
                                        </p:tav>
                                        <p:tav tm="100000">
                                          <p:val>
                                            <p:strVal val="#ppt_x"/>
                                          </p:val>
                                        </p:tav>
                                      </p:tavLst>
                                    </p:anim>
                                    <p:anim calcmode="lin" valueType="num">
                                      <p:cBhvr additive="base">
                                        <p:cTn id="38" dur="500" fill="hold"/>
                                        <p:tgtEl>
                                          <p:spTgt spid="430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0" grpId="0"/>
      <p:bldP spid="43035" grpId="0"/>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5" name="Object 3"/>
          <p:cNvGraphicFramePr>
            <a:graphicFrameLocks noChangeAspect="1"/>
          </p:cNvGraphicFramePr>
          <p:nvPr/>
        </p:nvGraphicFramePr>
        <p:xfrm>
          <a:off x="1476375" y="2419350"/>
          <a:ext cx="3154363" cy="868363"/>
        </p:xfrm>
        <a:graphic>
          <a:graphicData uri="http://schemas.openxmlformats.org/presentationml/2006/ole">
            <mc:AlternateContent xmlns:mc="http://schemas.openxmlformats.org/markup-compatibility/2006">
              <mc:Choice xmlns:v="urn:schemas-microsoft-com:vml" Requires="v">
                <p:oleObj spid="_x0000_s49165" r:id="rId4" imgW="1574800" imgH="431800" progId="Equation.3">
                  <p:embed/>
                </p:oleObj>
              </mc:Choice>
              <mc:Fallback>
                <p:oleObj r:id="rId4" imgW="1574800" imgH="431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2419350"/>
                        <a:ext cx="3154363"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55" name="Rectangle 4"/>
          <p:cNvSpPr>
            <a:spLocks noChangeArrowheads="1"/>
          </p:cNvSpPr>
          <p:nvPr/>
        </p:nvSpPr>
        <p:spPr bwMode="auto">
          <a:xfrm>
            <a:off x="755650" y="546100"/>
            <a:ext cx="7315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除了上述纯微分环节外，还有一类一阶微分环节，其传递函数为：</a:t>
            </a:r>
          </a:p>
        </p:txBody>
      </p:sp>
      <p:sp>
        <p:nvSpPr>
          <p:cNvPr id="44037" name="Rectangle 5"/>
          <p:cNvSpPr>
            <a:spLocks noChangeArrowheads="1"/>
          </p:cNvSpPr>
          <p:nvPr/>
        </p:nvSpPr>
        <p:spPr bwMode="auto">
          <a:xfrm>
            <a:off x="1042988" y="4064000"/>
            <a:ext cx="73914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微分环节的输出是输入的导数，即输出反映了输入信号的变化趋势，从而给系统以有关输入变化趋势的预告。因此，微分环节常用来改善控制系统的动态性能。</a:t>
            </a:r>
          </a:p>
        </p:txBody>
      </p:sp>
      <p:pic>
        <p:nvPicPr>
          <p:cNvPr id="2" name="图片 1"/>
          <p:cNvPicPr>
            <a:picLocks noChangeAspect="1"/>
          </p:cNvPicPr>
          <p:nvPr/>
        </p:nvPicPr>
        <p:blipFill>
          <a:blip r:embed="rId6">
            <a:extLst>
              <a:ext uri="{28A0092B-C50C-407E-A947-70E740481C1C}">
                <a14:useLocalDpi xmlns:a14="http://schemas.microsoft.com/office/drawing/2010/main" val="0"/>
              </a:ext>
            </a:extLst>
          </a:blip>
          <a:srcRect l="44751" t="36932" r="18500" b="12666"/>
          <a:stretch>
            <a:fillRect/>
          </a:stretch>
        </p:blipFill>
        <p:spPr bwMode="auto">
          <a:xfrm>
            <a:off x="5651500" y="1905000"/>
            <a:ext cx="25209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035"/>
                                        </p:tgtEl>
                                        <p:attrNameLst>
                                          <p:attrName>style.visibility</p:attrName>
                                        </p:attrNameLst>
                                      </p:cBhvr>
                                      <p:to>
                                        <p:strVal val="visible"/>
                                      </p:to>
                                    </p:set>
                                    <p:anim calcmode="lin" valueType="num">
                                      <p:cBhvr additive="base">
                                        <p:cTn id="7" dur="500" fill="hold"/>
                                        <p:tgtEl>
                                          <p:spTgt spid="44035"/>
                                        </p:tgtEl>
                                        <p:attrNameLst>
                                          <p:attrName>ppt_x</p:attrName>
                                        </p:attrNameLst>
                                      </p:cBhvr>
                                      <p:tavLst>
                                        <p:tav tm="0">
                                          <p:val>
                                            <p:strVal val="#ppt_x"/>
                                          </p:val>
                                        </p:tav>
                                        <p:tav tm="100000">
                                          <p:val>
                                            <p:strVal val="#ppt_x"/>
                                          </p:val>
                                        </p:tav>
                                      </p:tavLst>
                                    </p:anim>
                                    <p:anim calcmode="lin" valueType="num">
                                      <p:cBhvr additive="base">
                                        <p:cTn id="8" dur="500" fill="hold"/>
                                        <p:tgtEl>
                                          <p:spTgt spid="440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4037"/>
                                        </p:tgtEl>
                                        <p:attrNameLst>
                                          <p:attrName>style.visibility</p:attrName>
                                        </p:attrNameLst>
                                      </p:cBhvr>
                                      <p:to>
                                        <p:strVal val="visible"/>
                                      </p:to>
                                    </p:set>
                                    <p:anim calcmode="lin" valueType="num">
                                      <p:cBhvr additive="base">
                                        <p:cTn id="17" dur="500" fill="hold"/>
                                        <p:tgtEl>
                                          <p:spTgt spid="44037"/>
                                        </p:tgtEl>
                                        <p:attrNameLst>
                                          <p:attrName>ppt_x</p:attrName>
                                        </p:attrNameLst>
                                      </p:cBhvr>
                                      <p:tavLst>
                                        <p:tav tm="0">
                                          <p:val>
                                            <p:strVal val="#ppt_x"/>
                                          </p:val>
                                        </p:tav>
                                        <p:tav tm="100000">
                                          <p:val>
                                            <p:strVal val="#ppt_x"/>
                                          </p:val>
                                        </p:tav>
                                      </p:tavLst>
                                    </p:anim>
                                    <p:anim calcmode="lin" valueType="num">
                                      <p:cBhvr additive="base">
                                        <p:cTn id="18" dur="500" fill="hold"/>
                                        <p:tgtEl>
                                          <p:spTgt spid="440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ChangeArrowheads="1"/>
          </p:cNvSpPr>
          <p:nvPr/>
        </p:nvSpPr>
        <p:spPr bwMode="auto">
          <a:xfrm>
            <a:off x="1187450" y="1125538"/>
            <a:ext cx="426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振荡环节    </a:t>
            </a:r>
            <a:r>
              <a:rPr lang="zh-CN" altLang="en-US" sz="2800">
                <a:latin typeface="Times New Roman" panose="02020603050405020304" pitchFamily="18" charset="0"/>
              </a:rPr>
              <a:t> </a:t>
            </a:r>
          </a:p>
        </p:txBody>
      </p:sp>
      <p:sp>
        <p:nvSpPr>
          <p:cNvPr id="49156" name="Rectangle 4"/>
          <p:cNvSpPr>
            <a:spLocks noChangeArrowheads="1"/>
          </p:cNvSpPr>
          <p:nvPr/>
        </p:nvSpPr>
        <p:spPr bwMode="auto">
          <a:xfrm>
            <a:off x="1295400" y="2017713"/>
            <a:ext cx="73152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含有两个独立的储能元件，且所存储的能量能够相互转换，从而导致输出带有振荡的性质，运动方程为： </a:t>
            </a:r>
          </a:p>
        </p:txBody>
      </p:sp>
      <p:graphicFrame>
        <p:nvGraphicFramePr>
          <p:cNvPr id="49157" name="Object 5"/>
          <p:cNvGraphicFramePr>
            <a:graphicFrameLocks noChangeAspect="1"/>
          </p:cNvGraphicFramePr>
          <p:nvPr/>
        </p:nvGraphicFramePr>
        <p:xfrm>
          <a:off x="1443038" y="3732213"/>
          <a:ext cx="6862762" cy="865187"/>
        </p:xfrm>
        <a:graphic>
          <a:graphicData uri="http://schemas.openxmlformats.org/presentationml/2006/ole">
            <mc:AlternateContent xmlns:mc="http://schemas.openxmlformats.org/markup-compatibility/2006">
              <mc:Choice xmlns:v="urn:schemas-microsoft-com:vml" Requires="v">
                <p:oleObj spid="_x0000_s51222" r:id="rId4" imgW="3302000" imgH="419100" progId="Equation.3">
                  <p:embed/>
                </p:oleObj>
              </mc:Choice>
              <mc:Fallback>
                <p:oleObj r:id="rId4" imgW="3302000" imgH="4191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3038" y="3732213"/>
                        <a:ext cx="6862762"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p:cNvGrpSpPr>
            <a:grpSpLocks/>
          </p:cNvGrpSpPr>
          <p:nvPr/>
        </p:nvGrpSpPr>
        <p:grpSpPr bwMode="auto">
          <a:xfrm>
            <a:off x="1295400" y="4875213"/>
            <a:ext cx="6477000" cy="992187"/>
            <a:chOff x="816" y="3071"/>
            <a:chExt cx="4080" cy="625"/>
          </a:xfrm>
        </p:grpSpPr>
        <p:graphicFrame>
          <p:nvGraphicFramePr>
            <p:cNvPr id="51206" name="Object 7"/>
            <p:cNvGraphicFramePr>
              <a:graphicFrameLocks noChangeAspect="1"/>
            </p:cNvGraphicFramePr>
            <p:nvPr/>
          </p:nvGraphicFramePr>
          <p:xfrm>
            <a:off x="2016" y="3071"/>
            <a:ext cx="2880" cy="625"/>
          </p:xfrm>
          <a:graphic>
            <a:graphicData uri="http://schemas.openxmlformats.org/presentationml/2006/ole">
              <mc:AlternateContent xmlns:mc="http://schemas.openxmlformats.org/markup-compatibility/2006">
                <mc:Choice xmlns:v="urn:schemas-microsoft-com:vml" Requires="v">
                  <p:oleObj spid="_x0000_s51223" r:id="rId6" imgW="2324100" imgH="508000" progId="Equation.3">
                    <p:embed/>
                  </p:oleObj>
                </mc:Choice>
                <mc:Fallback>
                  <p:oleObj r:id="rId6" imgW="2324100" imgH="5080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6" y="3071"/>
                          <a:ext cx="2880"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7" name="Rectangle 8"/>
            <p:cNvSpPr>
              <a:spLocks noChangeArrowheads="1"/>
            </p:cNvSpPr>
            <p:nvPr/>
          </p:nvSpPr>
          <p:spPr bwMode="auto">
            <a:xfrm>
              <a:off x="816" y="3176"/>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传递函数：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 calcmode="lin" valueType="num">
                                      <p:cBhvr additive="base">
                                        <p:cTn id="7" dur="500" fill="hold"/>
                                        <p:tgtEl>
                                          <p:spTgt spid="49156"/>
                                        </p:tgtEl>
                                        <p:attrNameLst>
                                          <p:attrName>ppt_x</p:attrName>
                                        </p:attrNameLst>
                                      </p:cBhvr>
                                      <p:tavLst>
                                        <p:tav tm="0">
                                          <p:val>
                                            <p:strVal val="#ppt_x"/>
                                          </p:val>
                                        </p:tav>
                                        <p:tav tm="100000">
                                          <p:val>
                                            <p:strVal val="#ppt_x"/>
                                          </p:val>
                                        </p:tav>
                                      </p:tavLst>
                                    </p:anim>
                                    <p:anim calcmode="lin" valueType="num">
                                      <p:cBhvr additive="base">
                                        <p:cTn id="8" dur="500" fill="hold"/>
                                        <p:tgtEl>
                                          <p:spTgt spid="4915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9157"/>
                                        </p:tgtEl>
                                        <p:attrNameLst>
                                          <p:attrName>style.visibility</p:attrName>
                                        </p:attrNameLst>
                                      </p:cBhvr>
                                      <p:to>
                                        <p:strVal val="visible"/>
                                      </p:to>
                                    </p:set>
                                    <p:anim calcmode="lin" valueType="num">
                                      <p:cBhvr additive="base">
                                        <p:cTn id="13" dur="500" fill="hold"/>
                                        <p:tgtEl>
                                          <p:spTgt spid="49157"/>
                                        </p:tgtEl>
                                        <p:attrNameLst>
                                          <p:attrName>ppt_x</p:attrName>
                                        </p:attrNameLst>
                                      </p:cBhvr>
                                      <p:tavLst>
                                        <p:tav tm="0">
                                          <p:val>
                                            <p:strVal val="#ppt_x"/>
                                          </p:val>
                                        </p:tav>
                                        <p:tav tm="100000">
                                          <p:val>
                                            <p:strVal val="#ppt_x"/>
                                          </p:val>
                                        </p:tav>
                                      </p:tavLst>
                                    </p:anim>
                                    <p:anim calcmode="lin" valueType="num">
                                      <p:cBhvr additive="base">
                                        <p:cTn id="14" dur="500" fill="hold"/>
                                        <p:tgtEl>
                                          <p:spTgt spid="4915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ChangeArrowheads="1"/>
          </p:cNvSpPr>
          <p:nvPr/>
        </p:nvSpPr>
        <p:spPr bwMode="auto">
          <a:xfrm>
            <a:off x="1295400" y="1538288"/>
            <a:ext cx="70104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Times New Roman" panose="02020603050405020304" pitchFamily="18" charset="0"/>
              </a:rPr>
              <a:t>式中，</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振荡环节的时间常数</a:t>
            </a:r>
          </a:p>
          <a:p>
            <a:pPr algn="just">
              <a:lnSpc>
                <a:spcPct val="115000"/>
              </a:lnSpc>
            </a:pPr>
            <a:r>
              <a:rPr lang="zh-CN" altLang="en-US" sz="2800">
                <a:latin typeface="Times New Roman" panose="02020603050405020304" pitchFamily="18" charset="0"/>
              </a:rPr>
              <a:t>            </a:t>
            </a:r>
            <a:r>
              <a:rPr lang="zh-CN" altLang="en-US"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zh-CN" altLang="en-US" sz="2800">
                <a:latin typeface="Times New Roman" panose="02020603050405020304" pitchFamily="18" charset="0"/>
              </a:rPr>
              <a:t>阻尼比，对于振荡环节，</a:t>
            </a:r>
            <a:r>
              <a:rPr lang="en-US" altLang="zh-CN" sz="2800">
                <a:latin typeface="Times New Roman" panose="02020603050405020304" pitchFamily="18" charset="0"/>
              </a:rPr>
              <a:t>0&lt;</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&lt;1</a:t>
            </a:r>
          </a:p>
          <a:p>
            <a:pPr algn="just">
              <a:lnSpc>
                <a:spcPct val="115000"/>
              </a:lnSpc>
            </a:pP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Times New Roman" panose="02020603050405020304" pitchFamily="18" charset="0"/>
              </a:rPr>
              <a:t>比例系数</a:t>
            </a:r>
          </a:p>
        </p:txBody>
      </p:sp>
      <p:graphicFrame>
        <p:nvGraphicFramePr>
          <p:cNvPr id="50180" name="Object 4"/>
          <p:cNvGraphicFramePr>
            <a:graphicFrameLocks noChangeAspect="1"/>
          </p:cNvGraphicFramePr>
          <p:nvPr/>
        </p:nvGraphicFramePr>
        <p:xfrm>
          <a:off x="2057400" y="4281488"/>
          <a:ext cx="4876800" cy="1050925"/>
        </p:xfrm>
        <a:graphic>
          <a:graphicData uri="http://schemas.openxmlformats.org/presentationml/2006/ole">
            <mc:AlternateContent xmlns:mc="http://schemas.openxmlformats.org/markup-compatibility/2006">
              <mc:Choice xmlns:v="urn:schemas-microsoft-com:vml" Requires="v">
                <p:oleObj spid="_x0000_s53261" r:id="rId4" imgW="2514600" imgH="546100" progId="Equation.3">
                  <p:embed/>
                </p:oleObj>
              </mc:Choice>
              <mc:Fallback>
                <p:oleObj r:id="rId4" imgW="2514600" imgH="5461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4281488"/>
                        <a:ext cx="48768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1" name="Rectangle 5"/>
          <p:cNvSpPr>
            <a:spLocks noChangeArrowheads="1"/>
          </p:cNvSpPr>
          <p:nvPr/>
        </p:nvSpPr>
        <p:spPr bwMode="auto">
          <a:xfrm>
            <a:off x="1295400" y="3152775"/>
            <a:ext cx="7010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振荡环节传递函数的另一常用标准形式为（</a:t>
            </a:r>
            <a:r>
              <a:rPr lang="en-US" altLang="zh-CN" sz="2800" i="1">
                <a:latin typeface="Times New Roman" panose="02020603050405020304" pitchFamily="18" charset="0"/>
              </a:rPr>
              <a:t>K</a:t>
            </a:r>
            <a:r>
              <a:rPr lang="en-US" altLang="zh-CN" sz="2800">
                <a:latin typeface="Times New Roman" panose="02020603050405020304" pitchFamily="18" charset="0"/>
              </a:rPr>
              <a:t>=1</a:t>
            </a:r>
            <a:r>
              <a:rPr lang="zh-CN" altLang="en-US" sz="2800">
                <a:latin typeface="Times New Roman" panose="02020603050405020304" pitchFamily="18" charset="0"/>
              </a:rPr>
              <a:t>）：</a:t>
            </a:r>
          </a:p>
        </p:txBody>
      </p:sp>
      <p:sp>
        <p:nvSpPr>
          <p:cNvPr id="50182" name="Rectangle 6"/>
          <p:cNvSpPr>
            <a:spLocks noChangeArrowheads="1"/>
          </p:cNvSpPr>
          <p:nvPr/>
        </p:nvSpPr>
        <p:spPr bwMode="auto">
          <a:xfrm>
            <a:off x="1381125" y="5500688"/>
            <a:ext cx="4105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sym typeface="Symbol" panose="05050102010706020507" pitchFamily="18" charset="2"/>
              </a:rPr>
              <a:t></a:t>
            </a:r>
            <a:r>
              <a:rPr lang="en-US" altLang="zh-CN" sz="2900" i="1" baseline="-30000">
                <a:latin typeface="Times New Roman" panose="02020603050405020304" pitchFamily="18" charset="0"/>
              </a:rPr>
              <a:t>n</a:t>
            </a:r>
            <a:r>
              <a:rPr lang="zh-CN" altLang="en-US" sz="2800">
                <a:latin typeface="宋体" panose="02010600030101010101" pitchFamily="2" charset="-122"/>
              </a:rPr>
              <a:t>称为</a:t>
            </a:r>
            <a:r>
              <a:rPr lang="zh-CN" altLang="en-US" sz="2800">
                <a:solidFill>
                  <a:srgbClr val="CC0000"/>
                </a:solidFill>
                <a:latin typeface="宋体" panose="02010600030101010101" pitchFamily="2" charset="-122"/>
              </a:rPr>
              <a:t>无阻尼固有频率</a:t>
            </a:r>
            <a:r>
              <a:rPr lang="zh-CN" altLang="en-US" sz="2800">
                <a:latin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anim calcmode="lin" valueType="num">
                                      <p:cBhvr additive="base">
                                        <p:cTn id="7" dur="500" fill="hold"/>
                                        <p:tgtEl>
                                          <p:spTgt spid="50181"/>
                                        </p:tgtEl>
                                        <p:attrNameLst>
                                          <p:attrName>ppt_x</p:attrName>
                                        </p:attrNameLst>
                                      </p:cBhvr>
                                      <p:tavLst>
                                        <p:tav tm="0">
                                          <p:val>
                                            <p:strVal val="#ppt_x"/>
                                          </p:val>
                                        </p:tav>
                                        <p:tav tm="100000">
                                          <p:val>
                                            <p:strVal val="#ppt_x"/>
                                          </p:val>
                                        </p:tav>
                                      </p:tavLst>
                                    </p:anim>
                                    <p:anim calcmode="lin" valueType="num">
                                      <p:cBhvr additive="base">
                                        <p:cTn id="8" dur="500" fill="hold"/>
                                        <p:tgtEl>
                                          <p:spTgt spid="5018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0180"/>
                                        </p:tgtEl>
                                        <p:attrNameLst>
                                          <p:attrName>style.visibility</p:attrName>
                                        </p:attrNameLst>
                                      </p:cBhvr>
                                      <p:to>
                                        <p:strVal val="visible"/>
                                      </p:to>
                                    </p:set>
                                    <p:anim calcmode="lin" valueType="num">
                                      <p:cBhvr additive="base">
                                        <p:cTn id="13" dur="500" fill="hold"/>
                                        <p:tgtEl>
                                          <p:spTgt spid="50180"/>
                                        </p:tgtEl>
                                        <p:attrNameLst>
                                          <p:attrName>ppt_x</p:attrName>
                                        </p:attrNameLst>
                                      </p:cBhvr>
                                      <p:tavLst>
                                        <p:tav tm="0">
                                          <p:val>
                                            <p:strVal val="#ppt_x"/>
                                          </p:val>
                                        </p:tav>
                                        <p:tav tm="100000">
                                          <p:val>
                                            <p:strVal val="#ppt_x"/>
                                          </p:val>
                                        </p:tav>
                                      </p:tavLst>
                                    </p:anim>
                                    <p:anim calcmode="lin" valueType="num">
                                      <p:cBhvr additive="base">
                                        <p:cTn id="14"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182"/>
                                        </p:tgtEl>
                                        <p:attrNameLst>
                                          <p:attrName>style.visibility</p:attrName>
                                        </p:attrNameLst>
                                      </p:cBhvr>
                                      <p:to>
                                        <p:strVal val="visible"/>
                                      </p:to>
                                    </p:set>
                                    <p:anim calcmode="lin" valueType="num">
                                      <p:cBhvr additive="base">
                                        <p:cTn id="19" dur="500" fill="hold"/>
                                        <p:tgtEl>
                                          <p:spTgt spid="50182"/>
                                        </p:tgtEl>
                                        <p:attrNameLst>
                                          <p:attrName>ppt_x</p:attrName>
                                        </p:attrNameLst>
                                      </p:cBhvr>
                                      <p:tavLst>
                                        <p:tav tm="0">
                                          <p:val>
                                            <p:strVal val="#ppt_x"/>
                                          </p:val>
                                        </p:tav>
                                        <p:tav tm="100000">
                                          <p:val>
                                            <p:strVal val="#ppt_x"/>
                                          </p:val>
                                        </p:tav>
                                      </p:tavLst>
                                    </p:anim>
                                    <p:anim calcmode="lin" valueType="num">
                                      <p:cBhvr additive="base">
                                        <p:cTn id="20" dur="500" fill="hold"/>
                                        <p:tgtEl>
                                          <p:spTgt spid="501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P spid="5018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9" name="Object 3"/>
          <p:cNvGraphicFramePr>
            <a:graphicFrameLocks noChangeAspect="1"/>
          </p:cNvGraphicFramePr>
          <p:nvPr/>
        </p:nvGraphicFramePr>
        <p:xfrm>
          <a:off x="1981200" y="1981200"/>
          <a:ext cx="5029200" cy="844550"/>
        </p:xfrm>
        <a:graphic>
          <a:graphicData uri="http://schemas.openxmlformats.org/presentationml/2006/ole">
            <mc:AlternateContent xmlns:mc="http://schemas.openxmlformats.org/markup-compatibility/2006">
              <mc:Choice xmlns:v="urn:schemas-microsoft-com:vml" Requires="v">
                <p:oleObj spid="_x0000_s55337" r:id="rId4" imgW="2781300" imgH="469900" progId="Equation.3">
                  <p:embed/>
                </p:oleObj>
              </mc:Choice>
              <mc:Fallback>
                <p:oleObj r:id="rId4" imgW="2781300" imgH="469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1981200"/>
                        <a:ext cx="50292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00" name="Object 4"/>
          <p:cNvGraphicFramePr>
            <a:graphicFrameLocks noChangeAspect="1"/>
          </p:cNvGraphicFramePr>
          <p:nvPr/>
        </p:nvGraphicFramePr>
        <p:xfrm>
          <a:off x="1981200" y="3657600"/>
          <a:ext cx="4800600" cy="850900"/>
        </p:xfrm>
        <a:graphic>
          <a:graphicData uri="http://schemas.openxmlformats.org/presentationml/2006/ole">
            <mc:AlternateContent xmlns:mc="http://schemas.openxmlformats.org/markup-compatibility/2006">
              <mc:Choice xmlns:v="urn:schemas-microsoft-com:vml" Requires="v">
                <p:oleObj spid="_x0000_s55338" r:id="rId6" imgW="2844800" imgH="508000" progId="Equation.3">
                  <p:embed/>
                </p:oleObj>
              </mc:Choice>
              <mc:Fallback>
                <p:oleObj r:id="rId6" imgW="2844800" imgH="5080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657600"/>
                        <a:ext cx="480060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Rectangle 5"/>
          <p:cNvSpPr>
            <a:spLocks noChangeArrowheads="1"/>
          </p:cNvSpPr>
          <p:nvPr/>
        </p:nvSpPr>
        <p:spPr bwMode="auto">
          <a:xfrm>
            <a:off x="1187450" y="1052513"/>
            <a:ext cx="3978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如：质量</a:t>
            </a:r>
            <a:r>
              <a:rPr lang="en-US" altLang="zh-CN" sz="2800">
                <a:latin typeface="Times New Roman" panose="02020603050405020304" pitchFamily="18" charset="0"/>
              </a:rPr>
              <a:t>-</a:t>
            </a:r>
            <a:r>
              <a:rPr lang="zh-CN" altLang="en-US" sz="2800">
                <a:latin typeface="Times New Roman" panose="02020603050405020304" pitchFamily="18" charset="0"/>
              </a:rPr>
              <a:t>弹簧</a:t>
            </a:r>
            <a:r>
              <a:rPr lang="en-US" altLang="zh-CN" sz="2800">
                <a:latin typeface="Times New Roman" panose="02020603050405020304" pitchFamily="18" charset="0"/>
              </a:rPr>
              <a:t>-</a:t>
            </a:r>
            <a:r>
              <a:rPr lang="zh-CN" altLang="en-US" sz="2800">
                <a:latin typeface="Times New Roman" panose="02020603050405020304" pitchFamily="18" charset="0"/>
              </a:rPr>
              <a:t>阻尼系统</a:t>
            </a:r>
          </a:p>
        </p:txBody>
      </p:sp>
      <p:sp>
        <p:nvSpPr>
          <p:cNvPr id="55302" name="Rectangle 6"/>
          <p:cNvSpPr>
            <a:spLocks noChangeArrowheads="1"/>
          </p:cNvSpPr>
          <p:nvPr/>
        </p:nvSpPr>
        <p:spPr bwMode="auto">
          <a:xfrm>
            <a:off x="1847850" y="2986088"/>
            <a:ext cx="196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传递函数：</a:t>
            </a:r>
          </a:p>
        </p:txBody>
      </p:sp>
      <p:grpSp>
        <p:nvGrpSpPr>
          <p:cNvPr id="2" name="Group 7"/>
          <p:cNvGrpSpPr>
            <a:grpSpLocks/>
          </p:cNvGrpSpPr>
          <p:nvPr/>
        </p:nvGrpSpPr>
        <p:grpSpPr bwMode="auto">
          <a:xfrm>
            <a:off x="1847850" y="4703763"/>
            <a:ext cx="3486150" cy="782637"/>
            <a:chOff x="1164" y="2963"/>
            <a:chExt cx="2196" cy="493"/>
          </a:xfrm>
        </p:grpSpPr>
        <p:graphicFrame>
          <p:nvGraphicFramePr>
            <p:cNvPr id="55307" name="Object 8"/>
            <p:cNvGraphicFramePr>
              <a:graphicFrameLocks noChangeAspect="1"/>
            </p:cNvGraphicFramePr>
            <p:nvPr/>
          </p:nvGraphicFramePr>
          <p:xfrm>
            <a:off x="1872" y="2963"/>
            <a:ext cx="1488" cy="493"/>
          </p:xfrm>
          <a:graphic>
            <a:graphicData uri="http://schemas.openxmlformats.org/presentationml/2006/ole">
              <mc:AlternateContent xmlns:mc="http://schemas.openxmlformats.org/markup-compatibility/2006">
                <mc:Choice xmlns:v="urn:schemas-microsoft-com:vml" Requires="v">
                  <p:oleObj spid="_x0000_s55339" r:id="rId8" imgW="1497950" imgH="495085" progId="Equation.3">
                    <p:embed/>
                  </p:oleObj>
                </mc:Choice>
                <mc:Fallback>
                  <p:oleObj r:id="rId8" imgW="1497950" imgH="495085"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2" y="2963"/>
                          <a:ext cx="1488" cy="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08" name="Rectangle 9"/>
            <p:cNvSpPr>
              <a:spLocks noChangeArrowheads="1"/>
            </p:cNvSpPr>
            <p:nvPr/>
          </p:nvSpPr>
          <p:spPr bwMode="auto">
            <a:xfrm>
              <a:off x="1164" y="3033"/>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式中，</a:t>
              </a:r>
            </a:p>
          </p:txBody>
        </p:sp>
      </p:grpSp>
      <p:grpSp>
        <p:nvGrpSpPr>
          <p:cNvPr id="3" name="Group 10"/>
          <p:cNvGrpSpPr>
            <a:grpSpLocks/>
          </p:cNvGrpSpPr>
          <p:nvPr/>
        </p:nvGrpSpPr>
        <p:grpSpPr bwMode="auto">
          <a:xfrm>
            <a:off x="1828800" y="5700713"/>
            <a:ext cx="5029200" cy="547687"/>
            <a:chOff x="1152" y="3552"/>
            <a:chExt cx="3168" cy="345"/>
          </a:xfrm>
        </p:grpSpPr>
        <p:graphicFrame>
          <p:nvGraphicFramePr>
            <p:cNvPr id="55304" name="Object 11"/>
            <p:cNvGraphicFramePr>
              <a:graphicFrameLocks noChangeAspect="1"/>
            </p:cNvGraphicFramePr>
            <p:nvPr/>
          </p:nvGraphicFramePr>
          <p:xfrm>
            <a:off x="1488" y="3600"/>
            <a:ext cx="912" cy="297"/>
          </p:xfrm>
          <a:graphic>
            <a:graphicData uri="http://schemas.openxmlformats.org/presentationml/2006/ole">
              <mc:AlternateContent xmlns:mc="http://schemas.openxmlformats.org/markup-compatibility/2006">
                <mc:Choice xmlns:v="urn:schemas-microsoft-com:vml" Requires="v">
                  <p:oleObj spid="_x0000_s55340" r:id="rId10" imgW="787058" imgH="253890" progId="Equation.3">
                    <p:embed/>
                  </p:oleObj>
                </mc:Choice>
                <mc:Fallback>
                  <p:oleObj r:id="rId10" imgW="787058" imgH="25389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88" y="3600"/>
                          <a:ext cx="912"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05" name="Rectangle 12"/>
            <p:cNvSpPr>
              <a:spLocks noChangeArrowheads="1"/>
            </p:cNvSpPr>
            <p:nvPr/>
          </p:nvSpPr>
          <p:spPr bwMode="auto">
            <a:xfrm>
              <a:off x="1152" y="355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当</a:t>
              </a:r>
            </a:p>
          </p:txBody>
        </p:sp>
        <p:sp>
          <p:nvSpPr>
            <p:cNvPr id="55306" name="Rectangle 13"/>
            <p:cNvSpPr>
              <a:spLocks noChangeArrowheads="1"/>
            </p:cNvSpPr>
            <p:nvPr/>
          </p:nvSpPr>
          <p:spPr bwMode="auto">
            <a:xfrm>
              <a:off x="2412" y="3561"/>
              <a:ext cx="19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时，为振荡环节。</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299"/>
                                        </p:tgtEl>
                                        <p:attrNameLst>
                                          <p:attrName>style.visibility</p:attrName>
                                        </p:attrNameLst>
                                      </p:cBhvr>
                                      <p:to>
                                        <p:strVal val="visible"/>
                                      </p:to>
                                    </p:set>
                                    <p:anim calcmode="lin" valueType="num">
                                      <p:cBhvr additive="base">
                                        <p:cTn id="7" dur="500" fill="hold"/>
                                        <p:tgtEl>
                                          <p:spTgt spid="55299"/>
                                        </p:tgtEl>
                                        <p:attrNameLst>
                                          <p:attrName>ppt_x</p:attrName>
                                        </p:attrNameLst>
                                      </p:cBhvr>
                                      <p:tavLst>
                                        <p:tav tm="0">
                                          <p:val>
                                            <p:strVal val="#ppt_x"/>
                                          </p:val>
                                        </p:tav>
                                        <p:tav tm="100000">
                                          <p:val>
                                            <p:strVal val="#ppt_x"/>
                                          </p:val>
                                        </p:tav>
                                      </p:tavLst>
                                    </p:anim>
                                    <p:anim calcmode="lin" valueType="num">
                                      <p:cBhvr additive="base">
                                        <p:cTn id="8" dur="500" fill="hold"/>
                                        <p:tgtEl>
                                          <p:spTgt spid="5529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302"/>
                                        </p:tgtEl>
                                        <p:attrNameLst>
                                          <p:attrName>style.visibility</p:attrName>
                                        </p:attrNameLst>
                                      </p:cBhvr>
                                      <p:to>
                                        <p:strVal val="visible"/>
                                      </p:to>
                                    </p:set>
                                    <p:anim calcmode="lin" valueType="num">
                                      <p:cBhvr additive="base">
                                        <p:cTn id="13" dur="500" fill="hold"/>
                                        <p:tgtEl>
                                          <p:spTgt spid="55302"/>
                                        </p:tgtEl>
                                        <p:attrNameLst>
                                          <p:attrName>ppt_x</p:attrName>
                                        </p:attrNameLst>
                                      </p:cBhvr>
                                      <p:tavLst>
                                        <p:tav tm="0">
                                          <p:val>
                                            <p:strVal val="#ppt_x"/>
                                          </p:val>
                                        </p:tav>
                                        <p:tav tm="100000">
                                          <p:val>
                                            <p:strVal val="#ppt_x"/>
                                          </p:val>
                                        </p:tav>
                                      </p:tavLst>
                                    </p:anim>
                                    <p:anim calcmode="lin" valueType="num">
                                      <p:cBhvr additive="base">
                                        <p:cTn id="14" dur="500" fill="hold"/>
                                        <p:tgtEl>
                                          <p:spTgt spid="5530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5300"/>
                                        </p:tgtEl>
                                        <p:attrNameLst>
                                          <p:attrName>style.visibility</p:attrName>
                                        </p:attrNameLst>
                                      </p:cBhvr>
                                      <p:to>
                                        <p:strVal val="visible"/>
                                      </p:to>
                                    </p:set>
                                    <p:anim calcmode="lin" valueType="num">
                                      <p:cBhvr additive="base">
                                        <p:cTn id="19" dur="500" fill="hold"/>
                                        <p:tgtEl>
                                          <p:spTgt spid="55300"/>
                                        </p:tgtEl>
                                        <p:attrNameLst>
                                          <p:attrName>ppt_x</p:attrName>
                                        </p:attrNameLst>
                                      </p:cBhvr>
                                      <p:tavLst>
                                        <p:tav tm="0">
                                          <p:val>
                                            <p:strVal val="#ppt_x"/>
                                          </p:val>
                                        </p:tav>
                                        <p:tav tm="100000">
                                          <p:val>
                                            <p:strVal val="#ppt_x"/>
                                          </p:val>
                                        </p:tav>
                                      </p:tavLst>
                                    </p:anim>
                                    <p:anim calcmode="lin" valueType="num">
                                      <p:cBhvr additive="base">
                                        <p:cTn id="20" dur="500" fill="hold"/>
                                        <p:tgtEl>
                                          <p:spTgt spid="5530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ChangeArrowheads="1"/>
          </p:cNvSpPr>
          <p:nvPr/>
        </p:nvSpPr>
        <p:spPr bwMode="auto">
          <a:xfrm>
            <a:off x="1258888" y="1052513"/>
            <a:ext cx="426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二阶微分环节     </a:t>
            </a:r>
            <a:r>
              <a:rPr lang="zh-CN" altLang="en-US" sz="2800">
                <a:latin typeface="Times New Roman" panose="02020603050405020304" pitchFamily="18" charset="0"/>
              </a:rPr>
              <a:t> </a:t>
            </a:r>
          </a:p>
        </p:txBody>
      </p:sp>
      <p:sp>
        <p:nvSpPr>
          <p:cNvPr id="54276" name="Rectangle 4"/>
          <p:cNvSpPr>
            <a:spLocks noChangeArrowheads="1"/>
          </p:cNvSpPr>
          <p:nvPr/>
        </p:nvSpPr>
        <p:spPr bwMode="auto">
          <a:xfrm>
            <a:off x="977900" y="4572000"/>
            <a:ext cx="7620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indent="26352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r>
              <a:rPr lang="zh-CN" altLang="en-US" sz="2800">
                <a:latin typeface="Times New Roman" panose="02020603050405020304" pitchFamily="18" charset="0"/>
              </a:rPr>
              <a:t>式中，</a:t>
            </a:r>
            <a:r>
              <a:rPr lang="zh-CN" altLang="en-US"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zh-CN" altLang="en-US" sz="2800">
                <a:latin typeface="Times New Roman" panose="02020603050405020304" pitchFamily="18" charset="0"/>
              </a:rPr>
              <a:t>时间常数</a:t>
            </a:r>
          </a:p>
          <a:p>
            <a:pPr algn="just"/>
            <a:r>
              <a:rPr lang="zh-CN" altLang="en-US" sz="2800">
                <a:latin typeface="Times New Roman" panose="02020603050405020304" pitchFamily="18" charset="0"/>
              </a:rPr>
              <a:t>            </a:t>
            </a:r>
            <a:r>
              <a:rPr lang="zh-CN" altLang="en-US"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zh-CN" altLang="en-US" sz="2800">
                <a:latin typeface="Times New Roman" panose="02020603050405020304" pitchFamily="18" charset="0"/>
              </a:rPr>
              <a:t>阻尼比，对于二阶微分环节，</a:t>
            </a:r>
            <a:r>
              <a:rPr lang="en-US" altLang="zh-CN" sz="2800">
                <a:latin typeface="Times New Roman" panose="02020603050405020304" pitchFamily="18" charset="0"/>
              </a:rPr>
              <a:t>0&lt;</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&lt;1</a:t>
            </a:r>
          </a:p>
          <a:p>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宋体" panose="02010600030101010101" pitchFamily="2" charset="-122"/>
              </a:rPr>
              <a:t>比例系数</a:t>
            </a:r>
            <a:r>
              <a:rPr lang="zh-CN" altLang="en-US" sz="2800">
                <a:latin typeface="Times New Roman" panose="02020603050405020304" pitchFamily="18" charset="0"/>
              </a:rPr>
              <a:t> </a:t>
            </a:r>
          </a:p>
        </p:txBody>
      </p:sp>
      <p:graphicFrame>
        <p:nvGraphicFramePr>
          <p:cNvPr id="54277" name="Object 5"/>
          <p:cNvGraphicFramePr>
            <a:graphicFrameLocks noChangeAspect="1"/>
          </p:cNvGraphicFramePr>
          <p:nvPr/>
        </p:nvGraphicFramePr>
        <p:xfrm>
          <a:off x="1358900" y="2709863"/>
          <a:ext cx="6400800" cy="947737"/>
        </p:xfrm>
        <a:graphic>
          <a:graphicData uri="http://schemas.openxmlformats.org/presentationml/2006/ole">
            <mc:AlternateContent xmlns:mc="http://schemas.openxmlformats.org/markup-compatibility/2006">
              <mc:Choice xmlns:v="urn:schemas-microsoft-com:vml" Requires="v">
                <p:oleObj spid="_x0000_s57367" r:id="rId4" imgW="3860800" imgH="571500" progId="Equation.3">
                  <p:embed/>
                </p:oleObj>
              </mc:Choice>
              <mc:Fallback>
                <p:oleObj r:id="rId4" imgW="3860800" imgH="5715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8900" y="2709863"/>
                        <a:ext cx="6400800"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78" name="Rectangle 6"/>
          <p:cNvSpPr>
            <a:spLocks noChangeArrowheads="1"/>
          </p:cNvSpPr>
          <p:nvPr/>
        </p:nvSpPr>
        <p:spPr bwMode="auto">
          <a:xfrm>
            <a:off x="1282700" y="2057400"/>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运动方程：</a:t>
            </a:r>
          </a:p>
        </p:txBody>
      </p:sp>
      <p:grpSp>
        <p:nvGrpSpPr>
          <p:cNvPr id="2" name="Group 7"/>
          <p:cNvGrpSpPr>
            <a:grpSpLocks/>
          </p:cNvGrpSpPr>
          <p:nvPr/>
        </p:nvGrpSpPr>
        <p:grpSpPr bwMode="auto">
          <a:xfrm>
            <a:off x="1282700" y="3824288"/>
            <a:ext cx="5562600" cy="595312"/>
            <a:chOff x="808" y="2409"/>
            <a:chExt cx="3504" cy="375"/>
          </a:xfrm>
        </p:grpSpPr>
        <p:graphicFrame>
          <p:nvGraphicFramePr>
            <p:cNvPr id="57351" name="Object 8"/>
            <p:cNvGraphicFramePr>
              <a:graphicFrameLocks noChangeAspect="1"/>
            </p:cNvGraphicFramePr>
            <p:nvPr/>
          </p:nvGraphicFramePr>
          <p:xfrm>
            <a:off x="2056" y="2445"/>
            <a:ext cx="2256" cy="339"/>
          </p:xfrm>
          <a:graphic>
            <a:graphicData uri="http://schemas.openxmlformats.org/presentationml/2006/ole">
              <mc:AlternateContent xmlns:mc="http://schemas.openxmlformats.org/markup-compatibility/2006">
                <mc:Choice xmlns:v="urn:schemas-microsoft-com:vml" Requires="v">
                  <p:oleObj spid="_x0000_s57368" r:id="rId6" imgW="1841500" imgH="279400" progId="Equation.3">
                    <p:embed/>
                  </p:oleObj>
                </mc:Choice>
                <mc:Fallback>
                  <p:oleObj r:id="rId6" imgW="1841500" imgH="2794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6" y="2445"/>
                          <a:ext cx="225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2" name="Rectangle 9"/>
            <p:cNvSpPr>
              <a:spLocks noChangeArrowheads="1"/>
            </p:cNvSpPr>
            <p:nvPr/>
          </p:nvSpPr>
          <p:spPr bwMode="auto">
            <a:xfrm>
              <a:off x="808" y="2409"/>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传递函数：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8"/>
                                        </p:tgtEl>
                                        <p:attrNameLst>
                                          <p:attrName>style.visibility</p:attrName>
                                        </p:attrNameLst>
                                      </p:cBhvr>
                                      <p:to>
                                        <p:strVal val="visible"/>
                                      </p:to>
                                    </p:set>
                                    <p:anim calcmode="lin" valueType="num">
                                      <p:cBhvr additive="base">
                                        <p:cTn id="7" dur="500" fill="hold"/>
                                        <p:tgtEl>
                                          <p:spTgt spid="54278"/>
                                        </p:tgtEl>
                                        <p:attrNameLst>
                                          <p:attrName>ppt_x</p:attrName>
                                        </p:attrNameLst>
                                      </p:cBhvr>
                                      <p:tavLst>
                                        <p:tav tm="0">
                                          <p:val>
                                            <p:strVal val="#ppt_x"/>
                                          </p:val>
                                        </p:tav>
                                        <p:tav tm="100000">
                                          <p:val>
                                            <p:strVal val="#ppt_x"/>
                                          </p:val>
                                        </p:tav>
                                      </p:tavLst>
                                    </p:anim>
                                    <p:anim calcmode="lin" valueType="num">
                                      <p:cBhvr additive="base">
                                        <p:cTn id="8" dur="500" fill="hold"/>
                                        <p:tgtEl>
                                          <p:spTgt spid="5427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4277"/>
                                        </p:tgtEl>
                                        <p:attrNameLst>
                                          <p:attrName>style.visibility</p:attrName>
                                        </p:attrNameLst>
                                      </p:cBhvr>
                                      <p:to>
                                        <p:strVal val="visible"/>
                                      </p:to>
                                    </p:set>
                                    <p:anim calcmode="lin" valueType="num">
                                      <p:cBhvr additive="base">
                                        <p:cTn id="13" dur="500" fill="hold"/>
                                        <p:tgtEl>
                                          <p:spTgt spid="54277"/>
                                        </p:tgtEl>
                                        <p:attrNameLst>
                                          <p:attrName>ppt_x</p:attrName>
                                        </p:attrNameLst>
                                      </p:cBhvr>
                                      <p:tavLst>
                                        <p:tav tm="0">
                                          <p:val>
                                            <p:strVal val="#ppt_x"/>
                                          </p:val>
                                        </p:tav>
                                        <p:tav tm="100000">
                                          <p:val>
                                            <p:strVal val="#ppt_x"/>
                                          </p:val>
                                        </p:tav>
                                      </p:tavLst>
                                    </p:anim>
                                    <p:anim calcmode="lin" valueType="num">
                                      <p:cBhvr additive="base">
                                        <p:cTn id="14" dur="500" fill="hold"/>
                                        <p:tgtEl>
                                          <p:spTgt spid="5427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4276"/>
                                        </p:tgtEl>
                                        <p:attrNameLst>
                                          <p:attrName>style.visibility</p:attrName>
                                        </p:attrNameLst>
                                      </p:cBhvr>
                                      <p:to>
                                        <p:strVal val="visible"/>
                                      </p:to>
                                    </p:set>
                                    <p:anim calcmode="lin" valueType="num">
                                      <p:cBhvr additive="base">
                                        <p:cTn id="25" dur="500" fill="hold"/>
                                        <p:tgtEl>
                                          <p:spTgt spid="54276"/>
                                        </p:tgtEl>
                                        <p:attrNameLst>
                                          <p:attrName>ppt_x</p:attrName>
                                        </p:attrNameLst>
                                      </p:cBhvr>
                                      <p:tavLst>
                                        <p:tav tm="0">
                                          <p:val>
                                            <p:strVal val="#ppt_x"/>
                                          </p:val>
                                        </p:tav>
                                        <p:tav tm="100000">
                                          <p:val>
                                            <p:strVal val="#ppt_x"/>
                                          </p:val>
                                        </p:tav>
                                      </p:tavLst>
                                    </p:anim>
                                    <p:anim calcmode="lin" valueType="num">
                                      <p:cBhvr additive="base">
                                        <p:cTn id="26" dur="500" fill="hold"/>
                                        <p:tgtEl>
                                          <p:spTgt spid="542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p:bldP spid="5427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ChangeArrowheads="1"/>
          </p:cNvSpPr>
          <p:nvPr/>
        </p:nvSpPr>
        <p:spPr bwMode="auto">
          <a:xfrm>
            <a:off x="1066800" y="925513"/>
            <a:ext cx="426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延滞环节 </a:t>
            </a:r>
          </a:p>
        </p:txBody>
      </p:sp>
      <p:sp>
        <p:nvSpPr>
          <p:cNvPr id="53252" name="Rectangle 4"/>
          <p:cNvSpPr>
            <a:spLocks noChangeArrowheads="1"/>
          </p:cNvSpPr>
          <p:nvPr/>
        </p:nvSpPr>
        <p:spPr bwMode="auto">
          <a:xfrm>
            <a:off x="1143000" y="3654425"/>
            <a:ext cx="73914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Times New Roman" panose="02020603050405020304" pitchFamily="18" charset="0"/>
              </a:rPr>
              <a:t>惯性环节从输入开始时刻起就已有输出，仅</a:t>
            </a:r>
          </a:p>
          <a:p>
            <a:pPr algn="just">
              <a:lnSpc>
                <a:spcPct val="115000"/>
              </a:lnSpc>
            </a:pPr>
            <a:r>
              <a:rPr lang="zh-CN" altLang="en-US" sz="2800">
                <a:latin typeface="Times New Roman" panose="02020603050405020304" pitchFamily="18" charset="0"/>
              </a:rPr>
              <a:t>    由于惯性，输出要滞后一段时间才接近所要</a:t>
            </a:r>
          </a:p>
          <a:p>
            <a:pPr algn="just">
              <a:lnSpc>
                <a:spcPct val="115000"/>
              </a:lnSpc>
            </a:pPr>
            <a:r>
              <a:rPr lang="zh-CN" altLang="en-US" sz="2800">
                <a:latin typeface="Times New Roman" panose="02020603050405020304" pitchFamily="18" charset="0"/>
              </a:rPr>
              <a:t>    求的输出值；</a:t>
            </a:r>
          </a:p>
        </p:txBody>
      </p:sp>
      <p:grpSp>
        <p:nvGrpSpPr>
          <p:cNvPr id="2" name="Group 5"/>
          <p:cNvGrpSpPr>
            <a:grpSpLocks/>
          </p:cNvGrpSpPr>
          <p:nvPr/>
        </p:nvGrpSpPr>
        <p:grpSpPr bwMode="auto">
          <a:xfrm>
            <a:off x="3635375" y="908050"/>
            <a:ext cx="3975100" cy="519113"/>
            <a:chOff x="808" y="1296"/>
            <a:chExt cx="2504" cy="327"/>
          </a:xfrm>
        </p:grpSpPr>
        <p:graphicFrame>
          <p:nvGraphicFramePr>
            <p:cNvPr id="59403" name="Object 6"/>
            <p:cNvGraphicFramePr>
              <a:graphicFrameLocks noChangeAspect="1"/>
            </p:cNvGraphicFramePr>
            <p:nvPr/>
          </p:nvGraphicFramePr>
          <p:xfrm>
            <a:off x="1920" y="1328"/>
            <a:ext cx="1392" cy="288"/>
          </p:xfrm>
          <a:graphic>
            <a:graphicData uri="http://schemas.openxmlformats.org/presentationml/2006/ole">
              <mc:AlternateContent xmlns:mc="http://schemas.openxmlformats.org/markup-compatibility/2006">
                <mc:Choice xmlns:v="urn:schemas-microsoft-com:vml" Requires="v">
                  <p:oleObj spid="_x0000_s59419" r:id="rId4" imgW="1155700" imgH="241300" progId="Equation.3">
                    <p:embed/>
                  </p:oleObj>
                </mc:Choice>
                <mc:Fallback>
                  <p:oleObj r:id="rId4" imgW="1155700" imgH="2413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0" y="1328"/>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04" name="Rectangle 7"/>
            <p:cNvSpPr>
              <a:spLocks noChangeArrowheads="1"/>
            </p:cNvSpPr>
            <p:nvPr/>
          </p:nvSpPr>
          <p:spPr bwMode="auto">
            <a:xfrm>
              <a:off x="808" y="1296"/>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运动方程：</a:t>
              </a:r>
            </a:p>
          </p:txBody>
        </p:sp>
      </p:grpSp>
      <p:grpSp>
        <p:nvGrpSpPr>
          <p:cNvPr id="3" name="Group 8"/>
          <p:cNvGrpSpPr>
            <a:grpSpLocks/>
          </p:cNvGrpSpPr>
          <p:nvPr/>
        </p:nvGrpSpPr>
        <p:grpSpPr bwMode="auto">
          <a:xfrm>
            <a:off x="1116013" y="1844675"/>
            <a:ext cx="3746500" cy="585788"/>
            <a:chOff x="808" y="1712"/>
            <a:chExt cx="2360" cy="369"/>
          </a:xfrm>
        </p:grpSpPr>
        <p:graphicFrame>
          <p:nvGraphicFramePr>
            <p:cNvPr id="59401" name="Object 9"/>
            <p:cNvGraphicFramePr>
              <a:graphicFrameLocks noChangeAspect="1"/>
            </p:cNvGraphicFramePr>
            <p:nvPr/>
          </p:nvGraphicFramePr>
          <p:xfrm>
            <a:off x="2016" y="1712"/>
            <a:ext cx="1152" cy="369"/>
          </p:xfrm>
          <a:graphic>
            <a:graphicData uri="http://schemas.openxmlformats.org/presentationml/2006/ole">
              <mc:AlternateContent xmlns:mc="http://schemas.openxmlformats.org/markup-compatibility/2006">
                <mc:Choice xmlns:v="urn:schemas-microsoft-com:vml" Requires="v">
                  <p:oleObj spid="_x0000_s59420" r:id="rId6" imgW="711200" imgH="228600" progId="Equation.3">
                    <p:embed/>
                  </p:oleObj>
                </mc:Choice>
                <mc:Fallback>
                  <p:oleObj r:id="rId6" imgW="711200" imgH="2286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6" y="1712"/>
                          <a:ext cx="1152"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02" name="Rectangle 10"/>
            <p:cNvSpPr>
              <a:spLocks noChangeArrowheads="1"/>
            </p:cNvSpPr>
            <p:nvPr/>
          </p:nvSpPr>
          <p:spPr bwMode="auto">
            <a:xfrm>
              <a:off x="808" y="1728"/>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传递函数：</a:t>
              </a:r>
            </a:p>
          </p:txBody>
        </p:sp>
      </p:grpSp>
      <p:sp>
        <p:nvSpPr>
          <p:cNvPr id="53259" name="Rectangle 11"/>
          <p:cNvSpPr>
            <a:spLocks noChangeArrowheads="1"/>
          </p:cNvSpPr>
          <p:nvPr/>
        </p:nvSpPr>
        <p:spPr bwMode="auto">
          <a:xfrm>
            <a:off x="1133475" y="2587625"/>
            <a:ext cx="3895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式中，</a:t>
            </a:r>
            <a:r>
              <a:rPr lang="zh-CN" altLang="en-US" sz="2800">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为纯延迟时间。</a:t>
            </a:r>
          </a:p>
        </p:txBody>
      </p:sp>
      <p:sp>
        <p:nvSpPr>
          <p:cNvPr id="53260" name="Rectangle 12"/>
          <p:cNvSpPr>
            <a:spLocks noChangeArrowheads="1"/>
          </p:cNvSpPr>
          <p:nvPr/>
        </p:nvSpPr>
        <p:spPr bwMode="auto">
          <a:xfrm>
            <a:off x="1143000" y="5248275"/>
            <a:ext cx="7467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延滞环节从输入开始之初，在</a:t>
            </a:r>
            <a:r>
              <a:rPr lang="en-US" altLang="zh-CN" sz="2800">
                <a:latin typeface="Times New Roman" panose="02020603050405020304" pitchFamily="18" charset="0"/>
              </a:rPr>
              <a:t>0 ~ </a:t>
            </a:r>
            <a:r>
              <a:rPr lang="en-US" altLang="zh-CN" sz="2800">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时间内</a:t>
            </a:r>
            <a:r>
              <a:rPr lang="en-US" altLang="zh-CN" sz="2800">
                <a:latin typeface="宋体" panose="02010600030101010101" pitchFamily="2" charset="-122"/>
              </a:rPr>
              <a:t>,</a:t>
            </a:r>
          </a:p>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没有输出，但</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之后，输出完全等于输入。</a:t>
            </a:r>
          </a:p>
        </p:txBody>
      </p:sp>
      <p:sp>
        <p:nvSpPr>
          <p:cNvPr id="53261" name="Rectangle 13"/>
          <p:cNvSpPr>
            <a:spLocks noChangeArrowheads="1"/>
          </p:cNvSpPr>
          <p:nvPr/>
        </p:nvSpPr>
        <p:spPr bwMode="auto">
          <a:xfrm>
            <a:off x="1143000" y="3146425"/>
            <a:ext cx="4806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solidFill>
                  <a:srgbClr val="CC0000"/>
                </a:solidFill>
                <a:latin typeface="Times New Roman" panose="02020603050405020304" pitchFamily="18" charset="0"/>
              </a:rPr>
              <a:t>延迟环节与惯性环节的区别</a:t>
            </a:r>
            <a:r>
              <a:rPr lang="zh-CN" altLang="en-US" sz="280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3259"/>
                                        </p:tgtEl>
                                        <p:attrNameLst>
                                          <p:attrName>style.visibility</p:attrName>
                                        </p:attrNameLst>
                                      </p:cBhvr>
                                      <p:to>
                                        <p:strVal val="visible"/>
                                      </p:to>
                                    </p:set>
                                    <p:anim calcmode="lin" valueType="num">
                                      <p:cBhvr additive="base">
                                        <p:cTn id="19" dur="500" fill="hold"/>
                                        <p:tgtEl>
                                          <p:spTgt spid="53259"/>
                                        </p:tgtEl>
                                        <p:attrNameLst>
                                          <p:attrName>ppt_x</p:attrName>
                                        </p:attrNameLst>
                                      </p:cBhvr>
                                      <p:tavLst>
                                        <p:tav tm="0">
                                          <p:val>
                                            <p:strVal val="#ppt_x"/>
                                          </p:val>
                                        </p:tav>
                                        <p:tav tm="100000">
                                          <p:val>
                                            <p:strVal val="#ppt_x"/>
                                          </p:val>
                                        </p:tav>
                                      </p:tavLst>
                                    </p:anim>
                                    <p:anim calcmode="lin" valueType="num">
                                      <p:cBhvr additive="base">
                                        <p:cTn id="20" dur="500" fill="hold"/>
                                        <p:tgtEl>
                                          <p:spTgt spid="5325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3261"/>
                                        </p:tgtEl>
                                        <p:attrNameLst>
                                          <p:attrName>style.visibility</p:attrName>
                                        </p:attrNameLst>
                                      </p:cBhvr>
                                      <p:to>
                                        <p:strVal val="visible"/>
                                      </p:to>
                                    </p:set>
                                    <p:anim calcmode="lin" valueType="num">
                                      <p:cBhvr additive="base">
                                        <p:cTn id="25" dur="500" fill="hold"/>
                                        <p:tgtEl>
                                          <p:spTgt spid="53261"/>
                                        </p:tgtEl>
                                        <p:attrNameLst>
                                          <p:attrName>ppt_x</p:attrName>
                                        </p:attrNameLst>
                                      </p:cBhvr>
                                      <p:tavLst>
                                        <p:tav tm="0">
                                          <p:val>
                                            <p:strVal val="#ppt_x"/>
                                          </p:val>
                                        </p:tav>
                                        <p:tav tm="100000">
                                          <p:val>
                                            <p:strVal val="#ppt_x"/>
                                          </p:val>
                                        </p:tav>
                                      </p:tavLst>
                                    </p:anim>
                                    <p:anim calcmode="lin" valueType="num">
                                      <p:cBhvr additive="base">
                                        <p:cTn id="26" dur="500" fill="hold"/>
                                        <p:tgtEl>
                                          <p:spTgt spid="5326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3252"/>
                                        </p:tgtEl>
                                        <p:attrNameLst>
                                          <p:attrName>style.visibility</p:attrName>
                                        </p:attrNameLst>
                                      </p:cBhvr>
                                      <p:to>
                                        <p:strVal val="visible"/>
                                      </p:to>
                                    </p:set>
                                    <p:anim calcmode="lin" valueType="num">
                                      <p:cBhvr additive="base">
                                        <p:cTn id="31" dur="500" fill="hold"/>
                                        <p:tgtEl>
                                          <p:spTgt spid="53252"/>
                                        </p:tgtEl>
                                        <p:attrNameLst>
                                          <p:attrName>ppt_x</p:attrName>
                                        </p:attrNameLst>
                                      </p:cBhvr>
                                      <p:tavLst>
                                        <p:tav tm="0">
                                          <p:val>
                                            <p:strVal val="#ppt_x"/>
                                          </p:val>
                                        </p:tav>
                                        <p:tav tm="100000">
                                          <p:val>
                                            <p:strVal val="#ppt_x"/>
                                          </p:val>
                                        </p:tav>
                                      </p:tavLst>
                                    </p:anim>
                                    <p:anim calcmode="lin" valueType="num">
                                      <p:cBhvr additive="base">
                                        <p:cTn id="32" dur="500" fill="hold"/>
                                        <p:tgtEl>
                                          <p:spTgt spid="53252"/>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3260"/>
                                        </p:tgtEl>
                                        <p:attrNameLst>
                                          <p:attrName>style.visibility</p:attrName>
                                        </p:attrNameLst>
                                      </p:cBhvr>
                                      <p:to>
                                        <p:strVal val="visible"/>
                                      </p:to>
                                    </p:set>
                                    <p:anim calcmode="lin" valueType="num">
                                      <p:cBhvr additive="base">
                                        <p:cTn id="37" dur="500" fill="hold"/>
                                        <p:tgtEl>
                                          <p:spTgt spid="53260"/>
                                        </p:tgtEl>
                                        <p:attrNameLst>
                                          <p:attrName>ppt_x</p:attrName>
                                        </p:attrNameLst>
                                      </p:cBhvr>
                                      <p:tavLst>
                                        <p:tav tm="0">
                                          <p:val>
                                            <p:strVal val="#ppt_x"/>
                                          </p:val>
                                        </p:tav>
                                        <p:tav tm="100000">
                                          <p:val>
                                            <p:strVal val="#ppt_x"/>
                                          </p:val>
                                        </p:tav>
                                      </p:tavLst>
                                    </p:anim>
                                    <p:anim calcmode="lin" valueType="num">
                                      <p:cBhvr additive="base">
                                        <p:cTn id="38" dur="500" fill="hold"/>
                                        <p:tgtEl>
                                          <p:spTgt spid="532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P spid="53259" grpId="0"/>
      <p:bldP spid="53260" grpId="0"/>
      <p:bldP spid="5326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3"/>
          <p:cNvGrpSpPr>
            <a:grpSpLocks/>
          </p:cNvGrpSpPr>
          <p:nvPr/>
        </p:nvGrpSpPr>
        <p:grpSpPr bwMode="auto">
          <a:xfrm>
            <a:off x="2514600" y="1295400"/>
            <a:ext cx="3990975" cy="4114800"/>
            <a:chOff x="1584" y="816"/>
            <a:chExt cx="2514" cy="2592"/>
          </a:xfrm>
        </p:grpSpPr>
        <p:grpSp>
          <p:nvGrpSpPr>
            <p:cNvPr id="61444" name="Group 4"/>
            <p:cNvGrpSpPr>
              <a:grpSpLocks/>
            </p:cNvGrpSpPr>
            <p:nvPr/>
          </p:nvGrpSpPr>
          <p:grpSpPr bwMode="auto">
            <a:xfrm>
              <a:off x="1584" y="816"/>
              <a:ext cx="2514" cy="2256"/>
              <a:chOff x="480" y="768"/>
              <a:chExt cx="2081" cy="1920"/>
            </a:xfrm>
          </p:grpSpPr>
          <p:grpSp>
            <p:nvGrpSpPr>
              <p:cNvPr id="61446" name="Group 5"/>
              <p:cNvGrpSpPr>
                <a:grpSpLocks/>
              </p:cNvGrpSpPr>
              <p:nvPr/>
            </p:nvGrpSpPr>
            <p:grpSpPr bwMode="auto">
              <a:xfrm>
                <a:off x="480" y="1296"/>
                <a:ext cx="1824" cy="720"/>
                <a:chOff x="480" y="1296"/>
                <a:chExt cx="1824" cy="720"/>
              </a:xfrm>
            </p:grpSpPr>
            <p:sp>
              <p:nvSpPr>
                <p:cNvPr id="61464" name="Rectangle 6" descr="宽上对角线"/>
                <p:cNvSpPr>
                  <a:spLocks noChangeArrowheads="1"/>
                </p:cNvSpPr>
                <p:nvPr/>
              </p:nvSpPr>
              <p:spPr bwMode="auto">
                <a:xfrm>
                  <a:off x="480" y="1296"/>
                  <a:ext cx="720" cy="72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1465" name="Rectangle 7" descr="宽上对角线"/>
                <p:cNvSpPr>
                  <a:spLocks noChangeArrowheads="1"/>
                </p:cNvSpPr>
                <p:nvPr/>
              </p:nvSpPr>
              <p:spPr bwMode="auto">
                <a:xfrm>
                  <a:off x="1192" y="1536"/>
                  <a:ext cx="1104" cy="24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1466" name="Line 8"/>
                <p:cNvSpPr>
                  <a:spLocks noChangeShapeType="1"/>
                </p:cNvSpPr>
                <p:nvPr/>
              </p:nvSpPr>
              <p:spPr bwMode="auto">
                <a:xfrm>
                  <a:off x="480" y="1296"/>
                  <a:ext cx="384"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7" name="Line 9"/>
                <p:cNvSpPr>
                  <a:spLocks noChangeShapeType="1"/>
                </p:cNvSpPr>
                <p:nvPr/>
              </p:nvSpPr>
              <p:spPr bwMode="auto">
                <a:xfrm>
                  <a:off x="480" y="2016"/>
                  <a:ext cx="384"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8" name="Line 10"/>
                <p:cNvSpPr>
                  <a:spLocks noChangeShapeType="1"/>
                </p:cNvSpPr>
                <p:nvPr/>
              </p:nvSpPr>
              <p:spPr bwMode="auto">
                <a:xfrm>
                  <a:off x="1296" y="1536"/>
                  <a:ext cx="100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9" name="Line 11"/>
                <p:cNvSpPr>
                  <a:spLocks noChangeShapeType="1"/>
                </p:cNvSpPr>
                <p:nvPr/>
              </p:nvSpPr>
              <p:spPr bwMode="auto">
                <a:xfrm>
                  <a:off x="1248" y="1776"/>
                  <a:ext cx="1056"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useBgFill="1">
            <p:nvSpPr>
              <p:cNvPr id="61447" name="Oval 12"/>
              <p:cNvSpPr>
                <a:spLocks noChangeArrowheads="1"/>
              </p:cNvSpPr>
              <p:nvPr/>
            </p:nvSpPr>
            <p:spPr bwMode="auto">
              <a:xfrm>
                <a:off x="864" y="1776"/>
                <a:ext cx="672" cy="672"/>
              </a:xfrm>
              <a:prstGeom prst="ellipse">
                <a:avLst/>
              </a:prstGeom>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useBgFill="1">
            <p:nvSpPr>
              <p:cNvPr id="61448" name="Oval 13"/>
              <p:cNvSpPr>
                <a:spLocks noChangeArrowheads="1"/>
              </p:cNvSpPr>
              <p:nvPr/>
            </p:nvSpPr>
            <p:spPr bwMode="auto">
              <a:xfrm>
                <a:off x="864" y="864"/>
                <a:ext cx="672" cy="672"/>
              </a:xfrm>
              <a:prstGeom prst="ellipse">
                <a:avLst/>
              </a:prstGeom>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1449" name="Arc 14"/>
              <p:cNvSpPr>
                <a:spLocks noChangeArrowheads="1"/>
              </p:cNvSpPr>
              <p:nvPr/>
            </p:nvSpPr>
            <p:spPr bwMode="auto">
              <a:xfrm rot="16200000" flipV="1">
                <a:off x="1052" y="1869"/>
                <a:ext cx="289" cy="385"/>
              </a:xfrm>
              <a:custGeom>
                <a:avLst/>
                <a:gdLst>
                  <a:gd name="T0" fmla="*/ 0 w 32285"/>
                  <a:gd name="T1" fmla="*/ 0 h 43200"/>
                  <a:gd name="T2" fmla="*/ 0 w 32285"/>
                  <a:gd name="T3" fmla="*/ 0 h 43200"/>
                  <a:gd name="T4" fmla="*/ 0 w 32285"/>
                  <a:gd name="T5" fmla="*/ 0 h 43200"/>
                  <a:gd name="T6" fmla="*/ 0 w 32285"/>
                  <a:gd name="T7" fmla="*/ 0 h 43200"/>
                  <a:gd name="T8" fmla="*/ 0 w 32285"/>
                  <a:gd name="T9" fmla="*/ 0 h 43200"/>
                  <a:gd name="T10" fmla="*/ 0 w 32285"/>
                  <a:gd name="T11" fmla="*/ 0 h 43200"/>
                  <a:gd name="T12" fmla="*/ 0 w 32285"/>
                  <a:gd name="T13" fmla="*/ 0 h 43200"/>
                  <a:gd name="T14" fmla="*/ 0 w 32285"/>
                  <a:gd name="T15" fmla="*/ 0 h 43200"/>
                  <a:gd name="T16" fmla="*/ 0 w 32285"/>
                  <a:gd name="T17" fmla="*/ 0 h 43200"/>
                  <a:gd name="T18" fmla="*/ 0 w 32285"/>
                  <a:gd name="T19" fmla="*/ 0 h 43200"/>
                  <a:gd name="T20" fmla="*/ 0 w 32285"/>
                  <a:gd name="T21" fmla="*/ 0 h 43200"/>
                  <a:gd name="T22" fmla="*/ 0 w 32285"/>
                  <a:gd name="T23" fmla="*/ 0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2285" h="43200" fill="none">
                    <a:moveTo>
                      <a:pt x="-1" y="2827"/>
                    </a:moveTo>
                    <a:cubicBezTo>
                      <a:pt x="3256" y="974"/>
                      <a:pt x="6938" y="-1"/>
                      <a:pt x="10685" y="0"/>
                    </a:cubicBezTo>
                    <a:cubicBezTo>
                      <a:pt x="22614" y="0"/>
                      <a:pt x="32285" y="9670"/>
                      <a:pt x="32285" y="21600"/>
                    </a:cubicBezTo>
                    <a:cubicBezTo>
                      <a:pt x="32285" y="33529"/>
                      <a:pt x="22614" y="43200"/>
                      <a:pt x="10685" y="43200"/>
                    </a:cubicBezTo>
                    <a:cubicBezTo>
                      <a:pt x="10334" y="43200"/>
                      <a:pt x="9984" y="43191"/>
                      <a:pt x="9634" y="43174"/>
                    </a:cubicBezTo>
                  </a:path>
                  <a:path w="32285" h="43200" stroke="0">
                    <a:moveTo>
                      <a:pt x="-1" y="2827"/>
                    </a:moveTo>
                    <a:cubicBezTo>
                      <a:pt x="3256" y="974"/>
                      <a:pt x="6938" y="-1"/>
                      <a:pt x="10685" y="0"/>
                    </a:cubicBezTo>
                    <a:cubicBezTo>
                      <a:pt x="22614" y="0"/>
                      <a:pt x="32285" y="9670"/>
                      <a:pt x="32285" y="21600"/>
                    </a:cubicBezTo>
                    <a:cubicBezTo>
                      <a:pt x="32285" y="33529"/>
                      <a:pt x="22614" y="43200"/>
                      <a:pt x="10685" y="43200"/>
                    </a:cubicBezTo>
                    <a:cubicBezTo>
                      <a:pt x="10334" y="43200"/>
                      <a:pt x="9984" y="43191"/>
                      <a:pt x="9634" y="43174"/>
                    </a:cubicBezTo>
                    <a:lnTo>
                      <a:pt x="10685" y="21600"/>
                    </a:lnTo>
                    <a:lnTo>
                      <a:pt x="-1" y="2827"/>
                    </a:lnTo>
                    <a:close/>
                  </a:path>
                </a:pathLst>
              </a:custGeom>
              <a:noFill/>
              <a:ln w="22225">
                <a:solidFill>
                  <a:schemeClr val="tx1"/>
                </a:solidFill>
                <a:miter lim="800000"/>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50" name="Arc 15"/>
              <p:cNvSpPr>
                <a:spLocks noChangeArrowheads="1"/>
              </p:cNvSpPr>
              <p:nvPr/>
            </p:nvSpPr>
            <p:spPr bwMode="auto">
              <a:xfrm rot="5400000">
                <a:off x="1023" y="1041"/>
                <a:ext cx="350" cy="385"/>
              </a:xfrm>
              <a:custGeom>
                <a:avLst/>
                <a:gdLst>
                  <a:gd name="T0" fmla="*/ 0 w 39117"/>
                  <a:gd name="T1" fmla="*/ 0 h 43200"/>
                  <a:gd name="T2" fmla="*/ 0 w 39117"/>
                  <a:gd name="T3" fmla="*/ 0 h 43200"/>
                  <a:gd name="T4" fmla="*/ 0 w 39117"/>
                  <a:gd name="T5" fmla="*/ 0 h 43200"/>
                  <a:gd name="T6" fmla="*/ 0 w 39117"/>
                  <a:gd name="T7" fmla="*/ 0 h 43200"/>
                  <a:gd name="T8" fmla="*/ 0 w 39117"/>
                  <a:gd name="T9" fmla="*/ 0 h 43200"/>
                  <a:gd name="T10" fmla="*/ 0 w 39117"/>
                  <a:gd name="T11" fmla="*/ 0 h 43200"/>
                  <a:gd name="T12" fmla="*/ 0 w 39117"/>
                  <a:gd name="T13" fmla="*/ 0 h 43200"/>
                  <a:gd name="T14" fmla="*/ 0 w 39117"/>
                  <a:gd name="T15" fmla="*/ 0 h 43200"/>
                  <a:gd name="T16" fmla="*/ 0 w 39117"/>
                  <a:gd name="T17" fmla="*/ 0 h 43200"/>
                  <a:gd name="T18" fmla="*/ 0 w 39117"/>
                  <a:gd name="T19" fmla="*/ 0 h 43200"/>
                  <a:gd name="T20" fmla="*/ 0 w 39117"/>
                  <a:gd name="T21" fmla="*/ 0 h 43200"/>
                  <a:gd name="T22" fmla="*/ 0 w 39117"/>
                  <a:gd name="T23" fmla="*/ 0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117" h="43200" fill="none">
                    <a:moveTo>
                      <a:pt x="0" y="8962"/>
                    </a:moveTo>
                    <a:cubicBezTo>
                      <a:pt x="4060" y="3334"/>
                      <a:pt x="10577" y="-1"/>
                      <a:pt x="17517" y="0"/>
                    </a:cubicBezTo>
                    <a:cubicBezTo>
                      <a:pt x="29446" y="0"/>
                      <a:pt x="39117" y="9670"/>
                      <a:pt x="39117" y="21600"/>
                    </a:cubicBezTo>
                    <a:cubicBezTo>
                      <a:pt x="39117" y="33529"/>
                      <a:pt x="29446" y="43200"/>
                      <a:pt x="17517" y="43200"/>
                    </a:cubicBezTo>
                    <a:cubicBezTo>
                      <a:pt x="17166" y="43200"/>
                      <a:pt x="16816" y="43191"/>
                      <a:pt x="16466" y="43174"/>
                    </a:cubicBezTo>
                  </a:path>
                  <a:path w="39117" h="43200" stroke="0">
                    <a:moveTo>
                      <a:pt x="0" y="8962"/>
                    </a:moveTo>
                    <a:cubicBezTo>
                      <a:pt x="4060" y="3334"/>
                      <a:pt x="10577" y="-1"/>
                      <a:pt x="17517" y="0"/>
                    </a:cubicBezTo>
                    <a:cubicBezTo>
                      <a:pt x="29446" y="0"/>
                      <a:pt x="39117" y="9670"/>
                      <a:pt x="39117" y="21600"/>
                    </a:cubicBezTo>
                    <a:cubicBezTo>
                      <a:pt x="39117" y="33529"/>
                      <a:pt x="29446" y="43200"/>
                      <a:pt x="17517" y="43200"/>
                    </a:cubicBezTo>
                    <a:cubicBezTo>
                      <a:pt x="17166" y="43200"/>
                      <a:pt x="16816" y="43191"/>
                      <a:pt x="16466" y="43174"/>
                    </a:cubicBezTo>
                    <a:lnTo>
                      <a:pt x="17517" y="21600"/>
                    </a:lnTo>
                    <a:lnTo>
                      <a:pt x="0" y="8962"/>
                    </a:lnTo>
                    <a:close/>
                  </a:path>
                </a:pathLst>
              </a:custGeom>
              <a:noFill/>
              <a:ln w="22225">
                <a:solidFill>
                  <a:schemeClr val="tx1"/>
                </a:solidFill>
                <a:miter lim="800000"/>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51" name="Line 16"/>
              <p:cNvSpPr>
                <a:spLocks noChangeShapeType="1"/>
              </p:cNvSpPr>
              <p:nvPr/>
            </p:nvSpPr>
            <p:spPr bwMode="auto">
              <a:xfrm>
                <a:off x="816" y="2112"/>
                <a:ext cx="816"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2" name="Line 17"/>
              <p:cNvSpPr>
                <a:spLocks noChangeShapeType="1"/>
              </p:cNvSpPr>
              <p:nvPr/>
            </p:nvSpPr>
            <p:spPr bwMode="auto">
              <a:xfrm>
                <a:off x="816" y="1200"/>
                <a:ext cx="816"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3" name="Line 18"/>
              <p:cNvSpPr>
                <a:spLocks noChangeShapeType="1"/>
              </p:cNvSpPr>
              <p:nvPr/>
            </p:nvSpPr>
            <p:spPr bwMode="auto">
              <a:xfrm>
                <a:off x="1200" y="768"/>
                <a:ext cx="0" cy="192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4" name="Text Box 19"/>
              <p:cNvSpPr txBox="1">
                <a:spLocks noChangeArrowheads="1"/>
              </p:cNvSpPr>
              <p:nvPr/>
            </p:nvSpPr>
            <p:spPr bwMode="auto">
              <a:xfrm>
                <a:off x="967" y="2400"/>
                <a:ext cx="19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sp>
            <p:nvSpPr>
              <p:cNvPr id="61455" name="Line 20"/>
              <p:cNvSpPr>
                <a:spLocks noChangeShapeType="1"/>
              </p:cNvSpPr>
              <p:nvPr/>
            </p:nvSpPr>
            <p:spPr bwMode="auto">
              <a:xfrm flipV="1">
                <a:off x="2208" y="1776"/>
                <a:ext cx="0" cy="912"/>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6" name="Line 21"/>
              <p:cNvSpPr>
                <a:spLocks noChangeShapeType="1"/>
              </p:cNvSpPr>
              <p:nvPr/>
            </p:nvSpPr>
            <p:spPr bwMode="auto">
              <a:xfrm>
                <a:off x="1200" y="2592"/>
                <a:ext cx="1008" cy="0"/>
              </a:xfrm>
              <a:prstGeom prst="line">
                <a:avLst/>
              </a:prstGeom>
              <a:noFill/>
              <a:ln w="222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7" name="Text Box 22"/>
              <p:cNvSpPr txBox="1">
                <a:spLocks noChangeArrowheads="1"/>
              </p:cNvSpPr>
              <p:nvPr/>
            </p:nvSpPr>
            <p:spPr bwMode="auto">
              <a:xfrm>
                <a:off x="1601" y="2304"/>
                <a:ext cx="184"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L</a:t>
                </a:r>
              </a:p>
            </p:txBody>
          </p:sp>
          <p:sp>
            <p:nvSpPr>
              <p:cNvPr id="61458" name="Line 23"/>
              <p:cNvSpPr>
                <a:spLocks noChangeShapeType="1"/>
              </p:cNvSpPr>
              <p:nvPr/>
            </p:nvSpPr>
            <p:spPr bwMode="auto">
              <a:xfrm>
                <a:off x="2208" y="1152"/>
                <a:ext cx="0" cy="384"/>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9" name="Line 24"/>
              <p:cNvSpPr>
                <a:spLocks noChangeShapeType="1"/>
              </p:cNvSpPr>
              <p:nvPr/>
            </p:nvSpPr>
            <p:spPr bwMode="auto">
              <a:xfrm>
                <a:off x="1632" y="1872"/>
                <a:ext cx="384"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0" name="Text Box 25"/>
              <p:cNvSpPr txBox="1">
                <a:spLocks noChangeArrowheads="1"/>
              </p:cNvSpPr>
              <p:nvPr/>
            </p:nvSpPr>
            <p:spPr bwMode="auto">
              <a:xfrm>
                <a:off x="1688" y="1784"/>
                <a:ext cx="166"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v</a:t>
                </a:r>
              </a:p>
            </p:txBody>
          </p:sp>
          <p:sp>
            <p:nvSpPr>
              <p:cNvPr id="61461" name="Text Box 26"/>
              <p:cNvSpPr txBox="1">
                <a:spLocks noChangeArrowheads="1"/>
              </p:cNvSpPr>
              <p:nvPr/>
            </p:nvSpPr>
            <p:spPr bwMode="auto">
              <a:xfrm>
                <a:off x="1539" y="1216"/>
                <a:ext cx="355"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h</a:t>
                </a:r>
                <a:r>
                  <a:rPr lang="en-US" altLang="zh-CN" sz="2400" i="1" baseline="-20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61462" name="Text Box 27"/>
              <p:cNvSpPr txBox="1">
                <a:spLocks noChangeArrowheads="1"/>
              </p:cNvSpPr>
              <p:nvPr/>
            </p:nvSpPr>
            <p:spPr bwMode="auto">
              <a:xfrm>
                <a:off x="2183" y="1200"/>
                <a:ext cx="37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h</a:t>
                </a:r>
                <a:r>
                  <a:rPr lang="en-US" altLang="zh-CN" sz="2400" i="1" baseline="-20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61463" name="Line 28"/>
              <p:cNvSpPr>
                <a:spLocks noChangeShapeType="1"/>
              </p:cNvSpPr>
              <p:nvPr/>
            </p:nvSpPr>
            <p:spPr bwMode="auto">
              <a:xfrm flipH="1">
                <a:off x="1200" y="1440"/>
                <a:ext cx="384" cy="96"/>
              </a:xfrm>
              <a:prstGeom prst="line">
                <a:avLst/>
              </a:prstGeom>
              <a:noFill/>
              <a:ln w="22225">
                <a:solidFill>
                  <a:srgbClr val="1C12DE"/>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445" name="Text Box 29"/>
            <p:cNvSpPr txBox="1">
              <a:spLocks noChangeArrowheads="1"/>
            </p:cNvSpPr>
            <p:nvPr/>
          </p:nvSpPr>
          <p:spPr bwMode="auto">
            <a:xfrm>
              <a:off x="1852" y="3120"/>
              <a:ext cx="16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轧制钢板厚度测量</a:t>
              </a:r>
            </a:p>
          </p:txBody>
        </p:sp>
      </p:grpSp>
      <p:graphicFrame>
        <p:nvGraphicFramePr>
          <p:cNvPr id="52254" name="Object 30"/>
          <p:cNvGraphicFramePr>
            <a:graphicFrameLocks noChangeAspect="1"/>
          </p:cNvGraphicFramePr>
          <p:nvPr/>
        </p:nvGraphicFramePr>
        <p:xfrm>
          <a:off x="2286000" y="5586413"/>
          <a:ext cx="4368800" cy="585787"/>
        </p:xfrm>
        <a:graphic>
          <a:graphicData uri="http://schemas.openxmlformats.org/presentationml/2006/ole">
            <mc:AlternateContent xmlns:mc="http://schemas.openxmlformats.org/markup-compatibility/2006">
              <mc:Choice xmlns:v="urn:schemas-microsoft-com:vml" Requires="v">
                <p:oleObj spid="_x0000_s61477" r:id="rId5" imgW="1701800" imgH="228600" progId="Equation.3">
                  <p:embed/>
                </p:oleObj>
              </mc:Choice>
              <mc:Fallback>
                <p:oleObj r:id="rId5" imgW="1701800" imgH="228600" progId="Equation.3">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5586413"/>
                        <a:ext cx="43688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54"/>
                                        </p:tgtEl>
                                        <p:attrNameLst>
                                          <p:attrName>style.visibility</p:attrName>
                                        </p:attrNameLst>
                                      </p:cBhvr>
                                      <p:to>
                                        <p:strVal val="visible"/>
                                      </p:to>
                                    </p:set>
                                    <p:anim calcmode="lin" valueType="num">
                                      <p:cBhvr additive="base">
                                        <p:cTn id="7" dur="500" fill="hold"/>
                                        <p:tgtEl>
                                          <p:spTgt spid="52254"/>
                                        </p:tgtEl>
                                        <p:attrNameLst>
                                          <p:attrName>ppt_x</p:attrName>
                                        </p:attrNameLst>
                                      </p:cBhvr>
                                      <p:tavLst>
                                        <p:tav tm="0">
                                          <p:val>
                                            <p:strVal val="#ppt_x"/>
                                          </p:val>
                                        </p:tav>
                                        <p:tav tm="100000">
                                          <p:val>
                                            <p:strVal val="#ppt_x"/>
                                          </p:val>
                                        </p:tav>
                                      </p:tavLst>
                                    </p:anim>
                                    <p:anim calcmode="lin" valueType="num">
                                      <p:cBhvr additive="base">
                                        <p:cTn id="8" dur="500" fill="hold"/>
                                        <p:tgtEl>
                                          <p:spTgt spid="522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ChangeArrowheads="1"/>
          </p:cNvSpPr>
          <p:nvPr/>
        </p:nvSpPr>
        <p:spPr bwMode="auto">
          <a:xfrm>
            <a:off x="1042988" y="1557338"/>
            <a:ext cx="76200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小结 </a:t>
            </a:r>
          </a:p>
        </p:txBody>
      </p:sp>
      <p:sp>
        <p:nvSpPr>
          <p:cNvPr id="51204" name="Rectangle 4"/>
          <p:cNvSpPr>
            <a:spLocks noChangeArrowheads="1"/>
          </p:cNvSpPr>
          <p:nvPr/>
        </p:nvSpPr>
        <p:spPr bwMode="auto">
          <a:xfrm>
            <a:off x="1371600" y="2209800"/>
            <a:ext cx="7086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环节是根据微分方程划分的，不是具体的</a:t>
            </a:r>
          </a:p>
          <a:p>
            <a:pPr eaLnBrk="1" hangingPunct="1">
              <a:lnSpc>
                <a:spcPct val="115000"/>
              </a:lnSpc>
            </a:pPr>
            <a:r>
              <a:rPr lang="zh-CN" altLang="en-US" sz="2800">
                <a:latin typeface="宋体" panose="02010600030101010101" pitchFamily="2" charset="-122"/>
              </a:rPr>
              <a:t>  物理装置或元件；</a:t>
            </a:r>
            <a:endParaRPr lang="zh-CN" altLang="en-US" sz="2800">
              <a:latin typeface="Times New Roman" panose="02020603050405020304" pitchFamily="18" charset="0"/>
            </a:endParaRPr>
          </a:p>
        </p:txBody>
      </p:sp>
      <p:sp>
        <p:nvSpPr>
          <p:cNvPr id="51205" name="Rectangle 5"/>
          <p:cNvSpPr>
            <a:spLocks noChangeArrowheads="1"/>
          </p:cNvSpPr>
          <p:nvPr/>
        </p:nvSpPr>
        <p:spPr bwMode="auto">
          <a:xfrm>
            <a:off x="1371600" y="3321050"/>
            <a:ext cx="7086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一个环节往往由几个元件之间的运动特性</a:t>
            </a:r>
          </a:p>
          <a:p>
            <a:pPr eaLnBrk="1" hangingPunct="1">
              <a:lnSpc>
                <a:spcPct val="115000"/>
              </a:lnSpc>
            </a:pPr>
            <a:r>
              <a:rPr lang="zh-CN" altLang="en-US" sz="2800">
                <a:latin typeface="宋体" panose="02010600030101010101" pitchFamily="2" charset="-122"/>
              </a:rPr>
              <a:t>  共同组成；</a:t>
            </a:r>
          </a:p>
        </p:txBody>
      </p:sp>
      <p:sp>
        <p:nvSpPr>
          <p:cNvPr id="51206" name="Rectangle 6"/>
          <p:cNvSpPr>
            <a:spLocks noChangeArrowheads="1"/>
          </p:cNvSpPr>
          <p:nvPr/>
        </p:nvSpPr>
        <p:spPr bwMode="auto">
          <a:xfrm>
            <a:off x="1371600" y="4387850"/>
            <a:ext cx="7304088"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同一元件在不同系统中作用不同，输入输</a:t>
            </a:r>
          </a:p>
          <a:p>
            <a:pPr eaLnBrk="1" hangingPunct="1">
              <a:lnSpc>
                <a:spcPct val="115000"/>
              </a:lnSpc>
            </a:pPr>
            <a:r>
              <a:rPr lang="zh-CN" altLang="en-US" sz="2800">
                <a:latin typeface="宋体" panose="02010600030101010101" pitchFamily="2" charset="-122"/>
              </a:rPr>
              <a:t>  出的物理量不同，可起到不同环节的作用。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4"/>
                                        </p:tgtEl>
                                        <p:attrNameLst>
                                          <p:attrName>style.visibility</p:attrName>
                                        </p:attrNameLst>
                                      </p:cBhvr>
                                      <p:to>
                                        <p:strVal val="visible"/>
                                      </p:to>
                                    </p:set>
                                    <p:anim calcmode="lin" valueType="num">
                                      <p:cBhvr additive="base">
                                        <p:cTn id="7" dur="500" fill="hold"/>
                                        <p:tgtEl>
                                          <p:spTgt spid="51204"/>
                                        </p:tgtEl>
                                        <p:attrNameLst>
                                          <p:attrName>ppt_x</p:attrName>
                                        </p:attrNameLst>
                                      </p:cBhvr>
                                      <p:tavLst>
                                        <p:tav tm="0">
                                          <p:val>
                                            <p:strVal val="#ppt_x"/>
                                          </p:val>
                                        </p:tav>
                                        <p:tav tm="100000">
                                          <p:val>
                                            <p:strVal val="#ppt_x"/>
                                          </p:val>
                                        </p:tav>
                                      </p:tavLst>
                                    </p:anim>
                                    <p:anim calcmode="lin" valueType="num">
                                      <p:cBhvr additive="base">
                                        <p:cTn id="8" dur="500" fill="hold"/>
                                        <p:tgtEl>
                                          <p:spTgt spid="5120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5"/>
                                        </p:tgtEl>
                                        <p:attrNameLst>
                                          <p:attrName>style.visibility</p:attrName>
                                        </p:attrNameLst>
                                      </p:cBhvr>
                                      <p:to>
                                        <p:strVal val="visible"/>
                                      </p:to>
                                    </p:set>
                                    <p:anim calcmode="lin" valueType="num">
                                      <p:cBhvr additive="base">
                                        <p:cTn id="13" dur="500" fill="hold"/>
                                        <p:tgtEl>
                                          <p:spTgt spid="51205"/>
                                        </p:tgtEl>
                                        <p:attrNameLst>
                                          <p:attrName>ppt_x</p:attrName>
                                        </p:attrNameLst>
                                      </p:cBhvr>
                                      <p:tavLst>
                                        <p:tav tm="0">
                                          <p:val>
                                            <p:strVal val="#ppt_x"/>
                                          </p:val>
                                        </p:tav>
                                        <p:tav tm="100000">
                                          <p:val>
                                            <p:strVal val="#ppt_x"/>
                                          </p:val>
                                        </p:tav>
                                      </p:tavLst>
                                    </p:anim>
                                    <p:anim calcmode="lin" valueType="num">
                                      <p:cBhvr additive="base">
                                        <p:cTn id="14" dur="500" fill="hold"/>
                                        <p:tgtEl>
                                          <p:spTgt spid="5120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06"/>
                                        </p:tgtEl>
                                        <p:attrNameLst>
                                          <p:attrName>style.visibility</p:attrName>
                                        </p:attrNameLst>
                                      </p:cBhvr>
                                      <p:to>
                                        <p:strVal val="visible"/>
                                      </p:to>
                                    </p:set>
                                    <p:anim calcmode="lin" valueType="num">
                                      <p:cBhvr additive="base">
                                        <p:cTn id="19" dur="500" fill="hold"/>
                                        <p:tgtEl>
                                          <p:spTgt spid="51206"/>
                                        </p:tgtEl>
                                        <p:attrNameLst>
                                          <p:attrName>ppt_x</p:attrName>
                                        </p:attrNameLst>
                                      </p:cBhvr>
                                      <p:tavLst>
                                        <p:tav tm="0">
                                          <p:val>
                                            <p:strVal val="#ppt_x"/>
                                          </p:val>
                                        </p:tav>
                                        <p:tav tm="100000">
                                          <p:val>
                                            <p:strVal val="#ppt_x"/>
                                          </p:val>
                                        </p:tav>
                                      </p:tavLst>
                                    </p:anim>
                                    <p:anim calcmode="lin" valueType="num">
                                      <p:cBhvr additive="base">
                                        <p:cTn id="20" dur="500" fill="hold"/>
                                        <p:tgtEl>
                                          <p:spTgt spid="512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p:bldP spid="51205" grpId="0"/>
      <p:bldP spid="5120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1042988" y="1052513"/>
            <a:ext cx="76200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l"/>
            </a:pPr>
            <a:r>
              <a:rPr lang="en-US" altLang="zh-CN" sz="2800" b="1">
                <a:latin typeface="Times New Roman" panose="02020603050405020304" pitchFamily="18" charset="0"/>
              </a:rPr>
              <a:t>   </a:t>
            </a:r>
            <a:r>
              <a:rPr lang="zh-CN" altLang="en-US" sz="2800" b="1">
                <a:latin typeface="Times New Roman" panose="02020603050405020304" pitchFamily="18" charset="0"/>
              </a:rPr>
              <a:t>相似系统</a:t>
            </a:r>
            <a:endParaRPr lang="zh-CN" altLang="en-US" sz="2800" b="1">
              <a:latin typeface="宋体" panose="02010600030101010101" pitchFamily="2" charset="-122"/>
            </a:endParaRPr>
          </a:p>
        </p:txBody>
      </p:sp>
      <p:sp>
        <p:nvSpPr>
          <p:cNvPr id="9" name="Rectangle 3"/>
          <p:cNvSpPr>
            <a:spLocks noChangeArrowheads="1"/>
          </p:cNvSpPr>
          <p:nvPr/>
        </p:nvSpPr>
        <p:spPr bwMode="auto">
          <a:xfrm>
            <a:off x="971550" y="2133600"/>
            <a:ext cx="7489825"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Times New Roman" panose="02020603050405020304" pitchFamily="18" charset="0"/>
              </a:rPr>
              <a:t>        </a:t>
            </a:r>
            <a:r>
              <a:rPr lang="zh-CN" altLang="en-US" sz="2800">
                <a:latin typeface="宋体" panose="02010600030101010101" pitchFamily="2" charset="-122"/>
              </a:rPr>
              <a:t>物理本质不同而具有相同的数学模型的系统称为相似系统。相似系统中对应的物理量称为相似量。    </a:t>
            </a:r>
            <a:endParaRPr lang="zh-CN" altLang="en-US" sz="2800">
              <a:latin typeface="Times New Roman" panose="02020603050405020304" pitchFamily="18" charset="0"/>
            </a:endParaRPr>
          </a:p>
        </p:txBody>
      </p:sp>
      <p:sp>
        <p:nvSpPr>
          <p:cNvPr id="141316" name="矩形 9"/>
          <p:cNvSpPr>
            <a:spLocks noChangeArrowheads="1"/>
          </p:cNvSpPr>
          <p:nvPr/>
        </p:nvSpPr>
        <p:spPr bwMode="auto">
          <a:xfrm>
            <a:off x="1116013" y="3933825"/>
            <a:ext cx="7019925"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4000"/>
              </a:lnSpc>
            </a:pPr>
            <a:r>
              <a:rPr lang="zh-CN" altLang="en-US" sz="2800">
                <a:latin typeface="宋体" panose="02010600030101010101" pitchFamily="2" charset="-122"/>
              </a:rPr>
              <a:t>    相似系统是控制理论中进行实验模拟的基础，可以抛开系统的物理属性，用同一方法进行具有普遍意义的分析研究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41316"/>
                                        </p:tgtEl>
                                        <p:attrNameLst>
                                          <p:attrName>style.visibility</p:attrName>
                                        </p:attrNameLst>
                                      </p:cBhvr>
                                      <p:to>
                                        <p:strVal val="visible"/>
                                      </p:to>
                                    </p:set>
                                    <p:animEffect transition="in" filter="slide(fromBottom)">
                                      <p:cBhvr>
                                        <p:cTn id="13" dur="500"/>
                                        <p:tgtEl>
                                          <p:spTgt spid="141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13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86A76F1-AC87-47FE-92FD-5B00C8E51D79}" type="datetime1">
              <a:rPr lang="zh-CN" altLang="en-US" smtClean="0"/>
              <a:pPr/>
              <a:t>2025/9/11</a:t>
            </a:fld>
            <a:endParaRPr lang="zh-CN" altLang="en-US" smtClean="0"/>
          </a:p>
        </p:txBody>
      </p:sp>
      <p:sp>
        <p:nvSpPr>
          <p:cNvPr id="67587"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4683E6A-12DE-4450-A4F3-013F768150F5}" type="slidenum">
              <a:rPr lang="en-US" altLang="zh-CN" smtClean="0"/>
              <a:pPr/>
              <a:t>33</a:t>
            </a:fld>
            <a:endParaRPr lang="en-US" altLang="zh-CN" smtClean="0"/>
          </a:p>
        </p:txBody>
      </p:sp>
      <p:grpSp>
        <p:nvGrpSpPr>
          <p:cNvPr id="67588" name="Group 4"/>
          <p:cNvGrpSpPr>
            <a:grpSpLocks/>
          </p:cNvGrpSpPr>
          <p:nvPr/>
        </p:nvGrpSpPr>
        <p:grpSpPr bwMode="auto">
          <a:xfrm>
            <a:off x="1835150" y="1844675"/>
            <a:ext cx="4427538" cy="4221163"/>
            <a:chOff x="192" y="1152"/>
            <a:chExt cx="2789" cy="2659"/>
          </a:xfrm>
        </p:grpSpPr>
        <p:sp>
          <p:nvSpPr>
            <p:cNvPr id="67590" name="Rectangle 5"/>
            <p:cNvSpPr>
              <a:spLocks noChangeArrowheads="1"/>
            </p:cNvSpPr>
            <p:nvPr/>
          </p:nvSpPr>
          <p:spPr bwMode="auto">
            <a:xfrm>
              <a:off x="385" y="1580"/>
              <a:ext cx="708" cy="46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latin typeface="Times New Roman" panose="02020603050405020304" pitchFamily="18" charset="0"/>
                </a:rPr>
                <a:t>m</a:t>
              </a:r>
              <a:endParaRPr lang="en-US" altLang="zh-CN" sz="2400">
                <a:latin typeface="Times New Roman" panose="02020603050405020304" pitchFamily="18" charset="0"/>
              </a:endParaRPr>
            </a:p>
          </p:txBody>
        </p:sp>
        <p:sp>
          <p:nvSpPr>
            <p:cNvPr id="67591" name="Freeform 6"/>
            <p:cNvSpPr>
              <a:spLocks noChangeArrowheads="1"/>
            </p:cNvSpPr>
            <p:nvPr/>
          </p:nvSpPr>
          <p:spPr bwMode="auto">
            <a:xfrm>
              <a:off x="503" y="2437"/>
              <a:ext cx="139" cy="468"/>
            </a:xfrm>
            <a:custGeom>
              <a:avLst/>
              <a:gdLst>
                <a:gd name="T0" fmla="*/ 33 w 208"/>
                <a:gd name="T1" fmla="*/ 0 h 576"/>
                <a:gd name="T2" fmla="*/ 5 w 208"/>
                <a:gd name="T3" fmla="*/ 26 h 576"/>
                <a:gd name="T4" fmla="*/ 62 w 208"/>
                <a:gd name="T5" fmla="*/ 77 h 576"/>
                <a:gd name="T6" fmla="*/ 5 w 208"/>
                <a:gd name="T7" fmla="*/ 103 h 576"/>
                <a:gd name="T8" fmla="*/ 62 w 208"/>
                <a:gd name="T9" fmla="*/ 154 h 576"/>
                <a:gd name="T10" fmla="*/ 5 w 208"/>
                <a:gd name="T11" fmla="*/ 180 h 576"/>
                <a:gd name="T12" fmla="*/ 62 w 208"/>
                <a:gd name="T13" fmla="*/ 232 h 576"/>
                <a:gd name="T14" fmla="*/ 5 w 208"/>
                <a:gd name="T15" fmla="*/ 258 h 576"/>
                <a:gd name="T16" fmla="*/ 33 w 208"/>
                <a:gd name="T17" fmla="*/ 309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592" name="Line 7"/>
            <p:cNvSpPr>
              <a:spLocks noChangeShapeType="1"/>
            </p:cNvSpPr>
            <p:nvPr/>
          </p:nvSpPr>
          <p:spPr bwMode="auto">
            <a:xfrm flipV="1">
              <a:off x="578" y="2048"/>
              <a:ext cx="0" cy="38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3" name="Line 8"/>
            <p:cNvSpPr>
              <a:spLocks noChangeShapeType="1"/>
            </p:cNvSpPr>
            <p:nvPr/>
          </p:nvSpPr>
          <p:spPr bwMode="auto">
            <a:xfrm>
              <a:off x="578" y="2905"/>
              <a:ext cx="0" cy="35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4" name="Line 9"/>
            <p:cNvSpPr>
              <a:spLocks noChangeShapeType="1"/>
            </p:cNvSpPr>
            <p:nvPr/>
          </p:nvSpPr>
          <p:spPr bwMode="auto">
            <a:xfrm>
              <a:off x="867" y="2048"/>
              <a:ext cx="1" cy="662"/>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5" name="Line 10"/>
            <p:cNvSpPr>
              <a:spLocks noChangeShapeType="1"/>
            </p:cNvSpPr>
            <p:nvPr/>
          </p:nvSpPr>
          <p:spPr bwMode="auto">
            <a:xfrm>
              <a:off x="803" y="2710"/>
              <a:ext cx="129" cy="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6" name="Line 11"/>
            <p:cNvSpPr>
              <a:spLocks noChangeShapeType="1"/>
            </p:cNvSpPr>
            <p:nvPr/>
          </p:nvSpPr>
          <p:spPr bwMode="auto">
            <a:xfrm>
              <a:off x="771" y="2671"/>
              <a:ext cx="0" cy="11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7" name="Line 12"/>
            <p:cNvSpPr>
              <a:spLocks noChangeShapeType="1"/>
            </p:cNvSpPr>
            <p:nvPr/>
          </p:nvSpPr>
          <p:spPr bwMode="auto">
            <a:xfrm>
              <a:off x="771" y="2788"/>
              <a:ext cx="193" cy="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8" name="Line 13"/>
            <p:cNvSpPr>
              <a:spLocks noChangeShapeType="1"/>
            </p:cNvSpPr>
            <p:nvPr/>
          </p:nvSpPr>
          <p:spPr bwMode="auto">
            <a:xfrm>
              <a:off x="964" y="2671"/>
              <a:ext cx="0" cy="11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9" name="Line 14"/>
            <p:cNvSpPr>
              <a:spLocks noChangeShapeType="1"/>
            </p:cNvSpPr>
            <p:nvPr/>
          </p:nvSpPr>
          <p:spPr bwMode="auto">
            <a:xfrm>
              <a:off x="867" y="2788"/>
              <a:ext cx="1" cy="46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0" name="Rectangle 15" descr="宽上对角线"/>
            <p:cNvSpPr>
              <a:spLocks noChangeArrowheads="1"/>
            </p:cNvSpPr>
            <p:nvPr/>
          </p:nvSpPr>
          <p:spPr bwMode="auto">
            <a:xfrm>
              <a:off x="288" y="3255"/>
              <a:ext cx="901" cy="15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7601" name="Line 16"/>
            <p:cNvSpPr>
              <a:spLocks noChangeShapeType="1"/>
            </p:cNvSpPr>
            <p:nvPr/>
          </p:nvSpPr>
          <p:spPr bwMode="auto">
            <a:xfrm>
              <a:off x="288" y="3255"/>
              <a:ext cx="90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2" name="Line 17"/>
            <p:cNvSpPr>
              <a:spLocks noChangeShapeType="1"/>
            </p:cNvSpPr>
            <p:nvPr/>
          </p:nvSpPr>
          <p:spPr bwMode="auto">
            <a:xfrm>
              <a:off x="739" y="1230"/>
              <a:ext cx="0" cy="35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3" name="Rectangle 18"/>
            <p:cNvSpPr>
              <a:spLocks noChangeArrowheads="1"/>
            </p:cNvSpPr>
            <p:nvPr/>
          </p:nvSpPr>
          <p:spPr bwMode="auto">
            <a:xfrm>
              <a:off x="1629" y="1580"/>
              <a:ext cx="708" cy="46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latin typeface="Times New Roman" panose="02020603050405020304" pitchFamily="18" charset="0"/>
                </a:rPr>
                <a:t>m</a:t>
              </a:r>
              <a:endParaRPr lang="en-US" altLang="zh-CN" sz="2400">
                <a:latin typeface="Times New Roman" panose="02020603050405020304" pitchFamily="18" charset="0"/>
              </a:endParaRPr>
            </a:p>
          </p:txBody>
        </p:sp>
        <p:sp>
          <p:nvSpPr>
            <p:cNvPr id="67604" name="Rectangle 19" descr="宽上对角线"/>
            <p:cNvSpPr>
              <a:spLocks noChangeArrowheads="1"/>
            </p:cNvSpPr>
            <p:nvPr/>
          </p:nvSpPr>
          <p:spPr bwMode="auto">
            <a:xfrm>
              <a:off x="1532" y="3255"/>
              <a:ext cx="901" cy="15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7605" name="Line 20"/>
            <p:cNvSpPr>
              <a:spLocks noChangeShapeType="1"/>
            </p:cNvSpPr>
            <p:nvPr/>
          </p:nvSpPr>
          <p:spPr bwMode="auto">
            <a:xfrm>
              <a:off x="1532" y="3255"/>
              <a:ext cx="90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6" name="Line 21"/>
            <p:cNvSpPr>
              <a:spLocks noChangeShapeType="1"/>
            </p:cNvSpPr>
            <p:nvPr/>
          </p:nvSpPr>
          <p:spPr bwMode="auto">
            <a:xfrm flipH="1">
              <a:off x="1994" y="1230"/>
              <a:ext cx="0" cy="35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7" name="Line 22"/>
            <p:cNvSpPr>
              <a:spLocks noChangeShapeType="1"/>
            </p:cNvSpPr>
            <p:nvPr/>
          </p:nvSpPr>
          <p:spPr bwMode="auto">
            <a:xfrm>
              <a:off x="1093" y="2048"/>
              <a:ext cx="2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8" name="Line 23"/>
            <p:cNvSpPr>
              <a:spLocks noChangeShapeType="1"/>
            </p:cNvSpPr>
            <p:nvPr/>
          </p:nvSpPr>
          <p:spPr bwMode="auto">
            <a:xfrm>
              <a:off x="2337" y="2048"/>
              <a:ext cx="2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9" name="Text Box 24"/>
            <p:cNvSpPr txBox="1">
              <a:spLocks noChangeArrowheads="1"/>
            </p:cNvSpPr>
            <p:nvPr/>
          </p:nvSpPr>
          <p:spPr bwMode="auto">
            <a:xfrm>
              <a:off x="796" y="1152"/>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67610" name="Text Box 25"/>
            <p:cNvSpPr txBox="1">
              <a:spLocks noChangeArrowheads="1"/>
            </p:cNvSpPr>
            <p:nvPr/>
          </p:nvSpPr>
          <p:spPr bwMode="auto">
            <a:xfrm>
              <a:off x="288" y="2553"/>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K</a:t>
              </a:r>
            </a:p>
          </p:txBody>
        </p:sp>
        <p:sp>
          <p:nvSpPr>
            <p:cNvPr id="67611" name="Text Box 26"/>
            <p:cNvSpPr txBox="1">
              <a:spLocks noChangeArrowheads="1"/>
            </p:cNvSpPr>
            <p:nvPr/>
          </p:nvSpPr>
          <p:spPr bwMode="auto">
            <a:xfrm>
              <a:off x="962" y="2593"/>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p>
          </p:txBody>
        </p:sp>
        <p:sp>
          <p:nvSpPr>
            <p:cNvPr id="67612" name="Line 27"/>
            <p:cNvSpPr>
              <a:spLocks noChangeShapeType="1"/>
            </p:cNvSpPr>
            <p:nvPr/>
          </p:nvSpPr>
          <p:spPr bwMode="auto">
            <a:xfrm>
              <a:off x="1221" y="2048"/>
              <a:ext cx="0" cy="23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3" name="Text Box 28"/>
            <p:cNvSpPr txBox="1">
              <a:spLocks noChangeArrowheads="1"/>
            </p:cNvSpPr>
            <p:nvPr/>
          </p:nvSpPr>
          <p:spPr bwMode="auto">
            <a:xfrm>
              <a:off x="1092" y="2243"/>
              <a:ext cx="5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67614" name="Text Box 29"/>
            <p:cNvSpPr txBox="1">
              <a:spLocks noChangeArrowheads="1"/>
            </p:cNvSpPr>
            <p:nvPr/>
          </p:nvSpPr>
          <p:spPr bwMode="auto">
            <a:xfrm>
              <a:off x="2006" y="1170"/>
              <a:ext cx="4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67615" name="Line 30"/>
            <p:cNvSpPr>
              <a:spLocks noChangeShapeType="1"/>
            </p:cNvSpPr>
            <p:nvPr/>
          </p:nvSpPr>
          <p:spPr bwMode="auto">
            <a:xfrm>
              <a:off x="2481" y="2048"/>
              <a:ext cx="0" cy="23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6" name="Text Box 31"/>
            <p:cNvSpPr txBox="1">
              <a:spLocks noChangeArrowheads="1"/>
            </p:cNvSpPr>
            <p:nvPr/>
          </p:nvSpPr>
          <p:spPr bwMode="auto">
            <a:xfrm>
              <a:off x="2353" y="2243"/>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67617" name="Text Box 32"/>
            <p:cNvSpPr txBox="1">
              <a:spLocks noChangeArrowheads="1"/>
            </p:cNvSpPr>
            <p:nvPr/>
          </p:nvSpPr>
          <p:spPr bwMode="auto">
            <a:xfrm>
              <a:off x="1303" y="191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67618" name="Text Box 33"/>
            <p:cNvSpPr txBox="1">
              <a:spLocks noChangeArrowheads="1"/>
            </p:cNvSpPr>
            <p:nvPr/>
          </p:nvSpPr>
          <p:spPr bwMode="auto">
            <a:xfrm>
              <a:off x="2562" y="193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67619" name="Line 34"/>
            <p:cNvSpPr>
              <a:spLocks noChangeShapeType="1"/>
            </p:cNvSpPr>
            <p:nvPr/>
          </p:nvSpPr>
          <p:spPr bwMode="auto">
            <a:xfrm flipV="1">
              <a:off x="2433" y="1541"/>
              <a:ext cx="0" cy="39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20" name="Text Box 35"/>
            <p:cNvSpPr txBox="1">
              <a:spLocks noChangeArrowheads="1"/>
            </p:cNvSpPr>
            <p:nvPr/>
          </p:nvSpPr>
          <p:spPr bwMode="auto">
            <a:xfrm>
              <a:off x="2448" y="1584"/>
              <a:ext cx="5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m</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67621" name="Line 36"/>
            <p:cNvSpPr>
              <a:spLocks noChangeShapeType="1"/>
            </p:cNvSpPr>
            <p:nvPr/>
          </p:nvSpPr>
          <p:spPr bwMode="auto">
            <a:xfrm>
              <a:off x="1822" y="2048"/>
              <a:ext cx="0" cy="1207"/>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22" name="Line 37"/>
            <p:cNvSpPr>
              <a:spLocks noChangeShapeType="1"/>
            </p:cNvSpPr>
            <p:nvPr/>
          </p:nvSpPr>
          <p:spPr bwMode="auto">
            <a:xfrm>
              <a:off x="2112" y="2048"/>
              <a:ext cx="0" cy="1207"/>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useBgFill="1">
          <p:nvSpPr>
            <p:cNvPr id="67623" name="Text Box 38"/>
            <p:cNvSpPr txBox="1">
              <a:spLocks noChangeArrowheads="1"/>
            </p:cNvSpPr>
            <p:nvPr/>
          </p:nvSpPr>
          <p:spPr bwMode="auto">
            <a:xfrm>
              <a:off x="1584" y="2515"/>
              <a:ext cx="480" cy="288"/>
            </a:xfrm>
            <a:prstGeom prst="rect">
              <a:avLst/>
            </a:prstGeom>
            <a:ln>
              <a:noFill/>
            </a:ln>
            <a:extLs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K</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67624" name="Text Box 39"/>
            <p:cNvSpPr txBox="1">
              <a:spLocks noChangeArrowheads="1"/>
            </p:cNvSpPr>
            <p:nvPr/>
          </p:nvSpPr>
          <p:spPr bwMode="auto">
            <a:xfrm>
              <a:off x="192" y="3523"/>
              <a:ext cx="2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机械平移系统及其力学模型</a:t>
              </a:r>
            </a:p>
          </p:txBody>
        </p:sp>
        <p:sp useBgFill="1">
          <p:nvSpPr>
            <p:cNvPr id="67625" name="Text Box 40"/>
            <p:cNvSpPr txBox="1">
              <a:spLocks noChangeArrowheads="1"/>
            </p:cNvSpPr>
            <p:nvPr/>
          </p:nvSpPr>
          <p:spPr bwMode="auto">
            <a:xfrm>
              <a:off x="1994" y="2515"/>
              <a:ext cx="502" cy="288"/>
            </a:xfrm>
            <a:prstGeom prst="rect">
              <a:avLst/>
            </a:prstGeom>
            <a:ln>
              <a:noFill/>
            </a:ln>
            <a:extLs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C</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grpSp>
      <p:graphicFrame>
        <p:nvGraphicFramePr>
          <p:cNvPr id="67589" name="Object 2"/>
          <p:cNvGraphicFramePr>
            <a:graphicFrameLocks noChangeAspect="1"/>
          </p:cNvGraphicFramePr>
          <p:nvPr/>
        </p:nvGraphicFramePr>
        <p:xfrm>
          <a:off x="1835150" y="549275"/>
          <a:ext cx="5029200" cy="873125"/>
        </p:xfrm>
        <a:graphic>
          <a:graphicData uri="http://schemas.openxmlformats.org/presentationml/2006/ole">
            <mc:AlternateContent xmlns:mc="http://schemas.openxmlformats.org/markup-compatibility/2006">
              <mc:Choice xmlns:v="urn:schemas-microsoft-com:vml" Requires="v">
                <p:oleObj spid="_x0000_s67633" r:id="rId4" imgW="2400300" imgH="419100" progId="Equation.3">
                  <p:embed/>
                </p:oleObj>
              </mc:Choice>
              <mc:Fallback>
                <p:oleObj r:id="rId4" imgW="2400300" imgH="4191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549275"/>
                        <a:ext cx="50292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EB6392F-1226-49B6-83D1-7E978024000F}" type="datetime1">
              <a:rPr lang="zh-CN" altLang="en-US" smtClean="0"/>
              <a:pPr/>
              <a:t>2025/9/11</a:t>
            </a:fld>
            <a:endParaRPr lang="zh-CN" altLang="en-US" smtClean="0"/>
          </a:p>
        </p:txBody>
      </p:sp>
      <p:sp>
        <p:nvSpPr>
          <p:cNvPr id="68611"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20ECED4-96CE-41F4-BC0E-9B3B4AA5B243}" type="slidenum">
              <a:rPr lang="en-US" altLang="zh-CN" smtClean="0"/>
              <a:pPr/>
              <a:t>34</a:t>
            </a:fld>
            <a:endParaRPr lang="en-US" altLang="zh-CN" smtClean="0"/>
          </a:p>
        </p:txBody>
      </p:sp>
      <p:grpSp>
        <p:nvGrpSpPr>
          <p:cNvPr id="68612" name="Group 5"/>
          <p:cNvGrpSpPr>
            <a:grpSpLocks/>
          </p:cNvGrpSpPr>
          <p:nvPr/>
        </p:nvGrpSpPr>
        <p:grpSpPr bwMode="auto">
          <a:xfrm>
            <a:off x="1403350" y="1989138"/>
            <a:ext cx="5422900" cy="2211387"/>
            <a:chOff x="950" y="817"/>
            <a:chExt cx="4117" cy="2194"/>
          </a:xfrm>
        </p:grpSpPr>
        <p:sp>
          <p:nvSpPr>
            <p:cNvPr id="68614" name="Oval 6"/>
            <p:cNvSpPr>
              <a:spLocks noChangeArrowheads="1"/>
            </p:cNvSpPr>
            <p:nvPr/>
          </p:nvSpPr>
          <p:spPr bwMode="auto">
            <a:xfrm>
              <a:off x="1044" y="1338"/>
              <a:ext cx="68" cy="62"/>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8615" name="Line 7"/>
            <p:cNvSpPr>
              <a:spLocks noChangeShapeType="1"/>
            </p:cNvSpPr>
            <p:nvPr/>
          </p:nvSpPr>
          <p:spPr bwMode="auto">
            <a:xfrm>
              <a:off x="1114" y="1376"/>
              <a:ext cx="82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6" name="Rectangle 8"/>
            <p:cNvSpPr>
              <a:spLocks noChangeArrowheads="1"/>
            </p:cNvSpPr>
            <p:nvPr/>
          </p:nvSpPr>
          <p:spPr bwMode="auto">
            <a:xfrm>
              <a:off x="3031" y="1316"/>
              <a:ext cx="665" cy="120"/>
            </a:xfrm>
            <a:prstGeom prst="rect">
              <a:avLst/>
            </a:prstGeom>
            <a:noFill/>
            <a:ln w="444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8617" name="Freeform 9"/>
            <p:cNvSpPr>
              <a:spLocks noChangeArrowheads="1"/>
            </p:cNvSpPr>
            <p:nvPr/>
          </p:nvSpPr>
          <p:spPr bwMode="auto">
            <a:xfrm>
              <a:off x="1929" y="1277"/>
              <a:ext cx="163" cy="99"/>
            </a:xfrm>
            <a:custGeom>
              <a:avLst/>
              <a:gdLst>
                <a:gd name="T0" fmla="*/ 5 w 200"/>
                <a:gd name="T1" fmla="*/ 38 h 160"/>
                <a:gd name="T2" fmla="*/ 5 w 200"/>
                <a:gd name="T3" fmla="*/ 15 h 160"/>
                <a:gd name="T4" fmla="*/ 30 w 200"/>
                <a:gd name="T5" fmla="*/ 4 h 160"/>
                <a:gd name="T6" fmla="*/ 82 w 200"/>
                <a:gd name="T7" fmla="*/ 4 h 160"/>
                <a:gd name="T8" fmla="*/ 108 w 200"/>
                <a:gd name="T9" fmla="*/ 27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 h="160">
                  <a:moveTo>
                    <a:pt x="8" y="160"/>
                  </a:moveTo>
                  <a:cubicBezTo>
                    <a:pt x="4" y="124"/>
                    <a:pt x="0" y="88"/>
                    <a:pt x="8" y="64"/>
                  </a:cubicBezTo>
                  <a:cubicBezTo>
                    <a:pt x="16" y="40"/>
                    <a:pt x="32" y="24"/>
                    <a:pt x="56" y="16"/>
                  </a:cubicBezTo>
                  <a:cubicBezTo>
                    <a:pt x="80" y="8"/>
                    <a:pt x="128" y="0"/>
                    <a:pt x="152" y="16"/>
                  </a:cubicBezTo>
                  <a:cubicBezTo>
                    <a:pt x="176" y="32"/>
                    <a:pt x="192" y="88"/>
                    <a:pt x="200" y="112"/>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18" name="Freeform 10"/>
            <p:cNvSpPr>
              <a:spLocks noChangeArrowheads="1"/>
            </p:cNvSpPr>
            <p:nvPr/>
          </p:nvSpPr>
          <p:spPr bwMode="auto">
            <a:xfrm>
              <a:off x="2086" y="1277"/>
              <a:ext cx="163" cy="99"/>
            </a:xfrm>
            <a:custGeom>
              <a:avLst/>
              <a:gdLst>
                <a:gd name="T0" fmla="*/ 5 w 200"/>
                <a:gd name="T1" fmla="*/ 38 h 160"/>
                <a:gd name="T2" fmla="*/ 5 w 200"/>
                <a:gd name="T3" fmla="*/ 15 h 160"/>
                <a:gd name="T4" fmla="*/ 30 w 200"/>
                <a:gd name="T5" fmla="*/ 4 h 160"/>
                <a:gd name="T6" fmla="*/ 82 w 200"/>
                <a:gd name="T7" fmla="*/ 4 h 160"/>
                <a:gd name="T8" fmla="*/ 108 w 200"/>
                <a:gd name="T9" fmla="*/ 27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 h="160">
                  <a:moveTo>
                    <a:pt x="8" y="160"/>
                  </a:moveTo>
                  <a:cubicBezTo>
                    <a:pt x="4" y="124"/>
                    <a:pt x="0" y="88"/>
                    <a:pt x="8" y="64"/>
                  </a:cubicBezTo>
                  <a:cubicBezTo>
                    <a:pt x="16" y="40"/>
                    <a:pt x="32" y="24"/>
                    <a:pt x="56" y="16"/>
                  </a:cubicBezTo>
                  <a:cubicBezTo>
                    <a:pt x="80" y="8"/>
                    <a:pt x="128" y="0"/>
                    <a:pt x="152" y="16"/>
                  </a:cubicBezTo>
                  <a:cubicBezTo>
                    <a:pt x="176" y="32"/>
                    <a:pt x="192" y="88"/>
                    <a:pt x="200" y="112"/>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19" name="Freeform 11"/>
            <p:cNvSpPr>
              <a:spLocks noChangeArrowheads="1"/>
            </p:cNvSpPr>
            <p:nvPr/>
          </p:nvSpPr>
          <p:spPr bwMode="auto">
            <a:xfrm>
              <a:off x="2249" y="1277"/>
              <a:ext cx="163" cy="99"/>
            </a:xfrm>
            <a:custGeom>
              <a:avLst/>
              <a:gdLst>
                <a:gd name="T0" fmla="*/ 5 w 200"/>
                <a:gd name="T1" fmla="*/ 38 h 160"/>
                <a:gd name="T2" fmla="*/ 5 w 200"/>
                <a:gd name="T3" fmla="*/ 15 h 160"/>
                <a:gd name="T4" fmla="*/ 30 w 200"/>
                <a:gd name="T5" fmla="*/ 4 h 160"/>
                <a:gd name="T6" fmla="*/ 82 w 200"/>
                <a:gd name="T7" fmla="*/ 4 h 160"/>
                <a:gd name="T8" fmla="*/ 108 w 200"/>
                <a:gd name="T9" fmla="*/ 27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 h="160">
                  <a:moveTo>
                    <a:pt x="8" y="160"/>
                  </a:moveTo>
                  <a:cubicBezTo>
                    <a:pt x="4" y="124"/>
                    <a:pt x="0" y="88"/>
                    <a:pt x="8" y="64"/>
                  </a:cubicBezTo>
                  <a:cubicBezTo>
                    <a:pt x="16" y="40"/>
                    <a:pt x="32" y="24"/>
                    <a:pt x="56" y="16"/>
                  </a:cubicBezTo>
                  <a:cubicBezTo>
                    <a:pt x="80" y="8"/>
                    <a:pt x="128" y="0"/>
                    <a:pt x="152" y="16"/>
                  </a:cubicBezTo>
                  <a:cubicBezTo>
                    <a:pt x="176" y="32"/>
                    <a:pt x="192" y="88"/>
                    <a:pt x="200" y="112"/>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20" name="Freeform 12"/>
            <p:cNvSpPr>
              <a:spLocks noChangeArrowheads="1"/>
            </p:cNvSpPr>
            <p:nvPr/>
          </p:nvSpPr>
          <p:spPr bwMode="auto">
            <a:xfrm>
              <a:off x="2399" y="1277"/>
              <a:ext cx="163" cy="99"/>
            </a:xfrm>
            <a:custGeom>
              <a:avLst/>
              <a:gdLst>
                <a:gd name="T0" fmla="*/ 5 w 200"/>
                <a:gd name="T1" fmla="*/ 38 h 160"/>
                <a:gd name="T2" fmla="*/ 5 w 200"/>
                <a:gd name="T3" fmla="*/ 15 h 160"/>
                <a:gd name="T4" fmla="*/ 30 w 200"/>
                <a:gd name="T5" fmla="*/ 4 h 160"/>
                <a:gd name="T6" fmla="*/ 82 w 200"/>
                <a:gd name="T7" fmla="*/ 4 h 160"/>
                <a:gd name="T8" fmla="*/ 108 w 200"/>
                <a:gd name="T9" fmla="*/ 27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 h="160">
                  <a:moveTo>
                    <a:pt x="8" y="160"/>
                  </a:moveTo>
                  <a:cubicBezTo>
                    <a:pt x="4" y="124"/>
                    <a:pt x="0" y="88"/>
                    <a:pt x="8" y="64"/>
                  </a:cubicBezTo>
                  <a:cubicBezTo>
                    <a:pt x="16" y="40"/>
                    <a:pt x="32" y="24"/>
                    <a:pt x="56" y="16"/>
                  </a:cubicBezTo>
                  <a:cubicBezTo>
                    <a:pt x="80" y="8"/>
                    <a:pt x="128" y="0"/>
                    <a:pt x="152" y="16"/>
                  </a:cubicBezTo>
                  <a:cubicBezTo>
                    <a:pt x="176" y="32"/>
                    <a:pt x="192" y="88"/>
                    <a:pt x="200" y="112"/>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21" name="Line 13"/>
            <p:cNvSpPr>
              <a:spLocks noChangeShapeType="1"/>
            </p:cNvSpPr>
            <p:nvPr/>
          </p:nvSpPr>
          <p:spPr bwMode="auto">
            <a:xfrm>
              <a:off x="2562" y="1346"/>
              <a:ext cx="0" cy="3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2" name="Line 14"/>
            <p:cNvSpPr>
              <a:spLocks noChangeShapeType="1"/>
            </p:cNvSpPr>
            <p:nvPr/>
          </p:nvSpPr>
          <p:spPr bwMode="auto">
            <a:xfrm>
              <a:off x="2562" y="1376"/>
              <a:ext cx="46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3" name="Line 15"/>
            <p:cNvSpPr>
              <a:spLocks noChangeShapeType="1"/>
            </p:cNvSpPr>
            <p:nvPr/>
          </p:nvSpPr>
          <p:spPr bwMode="auto">
            <a:xfrm>
              <a:off x="3696" y="1376"/>
              <a:ext cx="8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4" name="Oval 16"/>
            <p:cNvSpPr>
              <a:spLocks noChangeArrowheads="1"/>
            </p:cNvSpPr>
            <p:nvPr/>
          </p:nvSpPr>
          <p:spPr bwMode="auto">
            <a:xfrm>
              <a:off x="4556" y="1346"/>
              <a:ext cx="79" cy="60"/>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8625" name="Line 17"/>
            <p:cNvSpPr>
              <a:spLocks noChangeShapeType="1"/>
            </p:cNvSpPr>
            <p:nvPr/>
          </p:nvSpPr>
          <p:spPr bwMode="auto">
            <a:xfrm>
              <a:off x="3892" y="1885"/>
              <a:ext cx="234"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6" name="Line 18"/>
            <p:cNvSpPr>
              <a:spLocks noChangeShapeType="1"/>
            </p:cNvSpPr>
            <p:nvPr/>
          </p:nvSpPr>
          <p:spPr bwMode="auto">
            <a:xfrm>
              <a:off x="3892" y="1945"/>
              <a:ext cx="234"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7" name="Line 19"/>
            <p:cNvSpPr>
              <a:spLocks noChangeShapeType="1"/>
            </p:cNvSpPr>
            <p:nvPr/>
          </p:nvSpPr>
          <p:spPr bwMode="auto">
            <a:xfrm flipV="1">
              <a:off x="4009" y="1376"/>
              <a:ext cx="0" cy="50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8" name="Line 20"/>
            <p:cNvSpPr>
              <a:spLocks noChangeShapeType="1"/>
            </p:cNvSpPr>
            <p:nvPr/>
          </p:nvSpPr>
          <p:spPr bwMode="auto">
            <a:xfrm flipV="1">
              <a:off x="4009" y="1945"/>
              <a:ext cx="0" cy="50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9" name="Line 21"/>
            <p:cNvSpPr>
              <a:spLocks noChangeShapeType="1"/>
            </p:cNvSpPr>
            <p:nvPr/>
          </p:nvSpPr>
          <p:spPr bwMode="auto">
            <a:xfrm>
              <a:off x="1115" y="2454"/>
              <a:ext cx="344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0" name="Oval 22"/>
            <p:cNvSpPr>
              <a:spLocks noChangeArrowheads="1"/>
            </p:cNvSpPr>
            <p:nvPr/>
          </p:nvSpPr>
          <p:spPr bwMode="auto">
            <a:xfrm>
              <a:off x="4556" y="2424"/>
              <a:ext cx="79" cy="59"/>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8631" name="Text Box 23"/>
            <p:cNvSpPr txBox="1">
              <a:spLocks noChangeArrowheads="1"/>
            </p:cNvSpPr>
            <p:nvPr/>
          </p:nvSpPr>
          <p:spPr bwMode="auto">
            <a:xfrm>
              <a:off x="2153" y="817"/>
              <a:ext cx="305"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L</a:t>
              </a:r>
            </a:p>
          </p:txBody>
        </p:sp>
        <p:sp>
          <p:nvSpPr>
            <p:cNvPr id="68632" name="Text Box 24"/>
            <p:cNvSpPr txBox="1">
              <a:spLocks noChangeArrowheads="1"/>
            </p:cNvSpPr>
            <p:nvPr/>
          </p:nvSpPr>
          <p:spPr bwMode="auto">
            <a:xfrm>
              <a:off x="3247" y="889"/>
              <a:ext cx="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R</a:t>
              </a:r>
            </a:p>
          </p:txBody>
        </p:sp>
        <p:sp>
          <p:nvSpPr>
            <p:cNvPr id="68633" name="Text Box 25"/>
            <p:cNvSpPr txBox="1">
              <a:spLocks noChangeArrowheads="1"/>
            </p:cNvSpPr>
            <p:nvPr/>
          </p:nvSpPr>
          <p:spPr bwMode="auto">
            <a:xfrm>
              <a:off x="3623" y="1728"/>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C</a:t>
              </a:r>
            </a:p>
          </p:txBody>
        </p:sp>
        <p:sp>
          <p:nvSpPr>
            <p:cNvPr id="68634" name="Freeform 26"/>
            <p:cNvSpPr>
              <a:spLocks noChangeArrowheads="1"/>
            </p:cNvSpPr>
            <p:nvPr/>
          </p:nvSpPr>
          <p:spPr bwMode="auto">
            <a:xfrm>
              <a:off x="2047" y="1551"/>
              <a:ext cx="1519" cy="723"/>
            </a:xfrm>
            <a:custGeom>
              <a:avLst/>
              <a:gdLst>
                <a:gd name="T0" fmla="*/ 5 w 1864"/>
                <a:gd name="T1" fmla="*/ 2 h 1160"/>
                <a:gd name="T2" fmla="*/ 82 w 1864"/>
                <a:gd name="T3" fmla="*/ 2 h 1160"/>
                <a:gd name="T4" fmla="*/ 498 w 1864"/>
                <a:gd name="T5" fmla="*/ 14 h 1160"/>
                <a:gd name="T6" fmla="*/ 835 w 1864"/>
                <a:gd name="T7" fmla="*/ 49 h 1160"/>
                <a:gd name="T8" fmla="*/ 992 w 1864"/>
                <a:gd name="T9" fmla="*/ 176 h 1160"/>
                <a:gd name="T10" fmla="*/ 940 w 1864"/>
                <a:gd name="T11" fmla="*/ 281 h 1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64" h="1160">
                  <a:moveTo>
                    <a:pt x="8" y="8"/>
                  </a:moveTo>
                  <a:cubicBezTo>
                    <a:pt x="4" y="4"/>
                    <a:pt x="0" y="0"/>
                    <a:pt x="152" y="8"/>
                  </a:cubicBezTo>
                  <a:cubicBezTo>
                    <a:pt x="304" y="16"/>
                    <a:pt x="688" y="24"/>
                    <a:pt x="920" y="56"/>
                  </a:cubicBezTo>
                  <a:cubicBezTo>
                    <a:pt x="1152" y="88"/>
                    <a:pt x="1392" y="88"/>
                    <a:pt x="1544" y="200"/>
                  </a:cubicBezTo>
                  <a:cubicBezTo>
                    <a:pt x="1696" y="312"/>
                    <a:pt x="1800" y="568"/>
                    <a:pt x="1832" y="728"/>
                  </a:cubicBezTo>
                  <a:cubicBezTo>
                    <a:pt x="1864" y="888"/>
                    <a:pt x="1800" y="1024"/>
                    <a:pt x="1736" y="116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35" name="Text Box 27"/>
            <p:cNvSpPr txBox="1">
              <a:spLocks noChangeArrowheads="1"/>
            </p:cNvSpPr>
            <p:nvPr/>
          </p:nvSpPr>
          <p:spPr bwMode="auto">
            <a:xfrm>
              <a:off x="950" y="1674"/>
              <a:ext cx="68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b="1" i="1">
                  <a:latin typeface="Times New Roman" panose="02020603050405020304" pitchFamily="18" charset="0"/>
                </a:rPr>
                <a:t>u</a:t>
              </a:r>
              <a:r>
                <a:rPr lang="en-US" altLang="zh-CN" sz="2900" b="1" i="1" baseline="-25000">
                  <a:latin typeface="Times New Roman" panose="02020603050405020304" pitchFamily="18" charset="0"/>
                </a:rPr>
                <a:t>i</a:t>
              </a:r>
              <a:r>
                <a:rPr lang="en-US" altLang="zh-CN" sz="2800" b="1">
                  <a:latin typeface="Times New Roman" panose="02020603050405020304" pitchFamily="18" charset="0"/>
                </a:rPr>
                <a:t>(</a:t>
              </a:r>
              <a:r>
                <a:rPr lang="en-US" altLang="zh-CN" sz="2800" b="1" i="1">
                  <a:latin typeface="Times New Roman" panose="02020603050405020304" pitchFamily="18" charset="0"/>
                </a:rPr>
                <a:t>t</a:t>
              </a:r>
              <a:r>
                <a:rPr lang="en-US" altLang="zh-CN" sz="2800" b="1">
                  <a:latin typeface="Times New Roman" panose="02020603050405020304" pitchFamily="18" charset="0"/>
                </a:rPr>
                <a:t>)</a:t>
              </a:r>
            </a:p>
          </p:txBody>
        </p:sp>
        <p:sp>
          <p:nvSpPr>
            <p:cNvPr id="68636" name="Text Box 28"/>
            <p:cNvSpPr txBox="1">
              <a:spLocks noChangeArrowheads="1"/>
            </p:cNvSpPr>
            <p:nvPr/>
          </p:nvSpPr>
          <p:spPr bwMode="auto">
            <a:xfrm>
              <a:off x="4340" y="1746"/>
              <a:ext cx="7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b="1" i="1">
                  <a:latin typeface="Times New Roman" panose="02020603050405020304" pitchFamily="18" charset="0"/>
                </a:rPr>
                <a:t>u</a:t>
              </a:r>
              <a:r>
                <a:rPr lang="en-US" altLang="zh-CN" sz="2900" b="1" i="1" baseline="-25000">
                  <a:latin typeface="Times New Roman" panose="02020603050405020304" pitchFamily="18" charset="0"/>
                </a:rPr>
                <a:t>o</a:t>
              </a:r>
              <a:r>
                <a:rPr lang="en-US" altLang="zh-CN" sz="2800" b="1">
                  <a:latin typeface="Times New Roman" panose="02020603050405020304" pitchFamily="18" charset="0"/>
                </a:rPr>
                <a:t>(</a:t>
              </a:r>
              <a:r>
                <a:rPr lang="en-US" altLang="zh-CN" sz="2800" b="1" i="1">
                  <a:latin typeface="Times New Roman" panose="02020603050405020304" pitchFamily="18" charset="0"/>
                </a:rPr>
                <a:t>t</a:t>
              </a:r>
              <a:r>
                <a:rPr lang="en-US" altLang="zh-CN" sz="2800" b="1">
                  <a:latin typeface="Times New Roman" panose="02020603050405020304" pitchFamily="18" charset="0"/>
                </a:rPr>
                <a:t>)</a:t>
              </a:r>
            </a:p>
          </p:txBody>
        </p:sp>
        <p:sp>
          <p:nvSpPr>
            <p:cNvPr id="68637" name="Text Box 29"/>
            <p:cNvSpPr txBox="1">
              <a:spLocks noChangeArrowheads="1"/>
            </p:cNvSpPr>
            <p:nvPr/>
          </p:nvSpPr>
          <p:spPr bwMode="auto">
            <a:xfrm>
              <a:off x="2973" y="1824"/>
              <a:ext cx="508"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b="1" i="1">
                  <a:latin typeface="Times New Roman" panose="02020603050405020304" pitchFamily="18" charset="0"/>
                </a:rPr>
                <a:t>i</a:t>
              </a:r>
              <a:r>
                <a:rPr lang="en-US" altLang="zh-CN" sz="2800" b="1">
                  <a:latin typeface="Times New Roman" panose="02020603050405020304" pitchFamily="18" charset="0"/>
                </a:rPr>
                <a:t>(</a:t>
              </a:r>
              <a:r>
                <a:rPr lang="en-US" altLang="zh-CN" sz="2800" b="1" i="1">
                  <a:latin typeface="Times New Roman" panose="02020603050405020304" pitchFamily="18" charset="0"/>
                </a:rPr>
                <a:t>t</a:t>
              </a:r>
              <a:r>
                <a:rPr lang="en-US" altLang="zh-CN" sz="2800" b="1">
                  <a:latin typeface="Times New Roman" panose="02020603050405020304" pitchFamily="18" charset="0"/>
                </a:rPr>
                <a:t>)</a:t>
              </a:r>
            </a:p>
          </p:txBody>
        </p:sp>
        <p:sp>
          <p:nvSpPr>
            <p:cNvPr id="68638" name="Text Box 30"/>
            <p:cNvSpPr txBox="1">
              <a:spLocks noChangeArrowheads="1"/>
            </p:cNvSpPr>
            <p:nvPr/>
          </p:nvSpPr>
          <p:spPr bwMode="auto">
            <a:xfrm>
              <a:off x="2132" y="2553"/>
              <a:ext cx="2152"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R-L-C</a:t>
              </a:r>
              <a:r>
                <a:rPr lang="zh-CN" altLang="en-US" sz="2400">
                  <a:latin typeface="Times New Roman" panose="02020603050405020304" pitchFamily="18" charset="0"/>
                </a:rPr>
                <a:t>无源电路网络</a:t>
              </a:r>
            </a:p>
          </p:txBody>
        </p:sp>
        <p:sp>
          <p:nvSpPr>
            <p:cNvPr id="68639" name="Oval 31"/>
            <p:cNvSpPr>
              <a:spLocks noChangeArrowheads="1"/>
            </p:cNvSpPr>
            <p:nvPr/>
          </p:nvSpPr>
          <p:spPr bwMode="auto">
            <a:xfrm>
              <a:off x="1056" y="2432"/>
              <a:ext cx="68" cy="62"/>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aphicFrame>
        <p:nvGraphicFramePr>
          <p:cNvPr id="68613" name="Object 3"/>
          <p:cNvGraphicFramePr>
            <a:graphicFrameLocks noChangeAspect="1"/>
          </p:cNvGraphicFramePr>
          <p:nvPr/>
        </p:nvGraphicFramePr>
        <p:xfrm>
          <a:off x="1476375" y="4581525"/>
          <a:ext cx="5486400" cy="892175"/>
        </p:xfrm>
        <a:graphic>
          <a:graphicData uri="http://schemas.openxmlformats.org/presentationml/2006/ole">
            <mc:AlternateContent xmlns:mc="http://schemas.openxmlformats.org/markup-compatibility/2006">
              <mc:Choice xmlns:v="urn:schemas-microsoft-com:vml" Requires="v">
                <p:oleObj spid="_x0000_s68647" r:id="rId3" imgW="2870200" imgH="469900" progId="Equation.3">
                  <p:embed/>
                </p:oleObj>
              </mc:Choice>
              <mc:Fallback>
                <p:oleObj r:id="rId3" imgW="2870200" imgH="469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4581525"/>
                        <a:ext cx="54864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87D2201-0D95-4186-966B-710BD951CE7A}" type="datetime1">
              <a:rPr lang="zh-CN" altLang="en-US" smtClean="0"/>
              <a:pPr/>
              <a:t>2025/9/11</a:t>
            </a:fld>
            <a:endParaRPr lang="zh-CN" altLang="en-US" smtClean="0"/>
          </a:p>
        </p:txBody>
      </p:sp>
      <p:sp>
        <p:nvSpPr>
          <p:cNvPr id="69635"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13FAC07-0620-4D96-AB43-6963D8CF6D9D}" type="slidenum">
              <a:rPr lang="en-US" altLang="zh-CN" smtClean="0"/>
              <a:pPr/>
              <a:t>35</a:t>
            </a:fld>
            <a:endParaRPr lang="en-US" altLang="zh-CN" smtClean="0"/>
          </a:p>
        </p:txBody>
      </p:sp>
      <p:sp>
        <p:nvSpPr>
          <p:cNvPr id="69636" name="TextBox 3"/>
          <p:cNvSpPr txBox="1">
            <a:spLocks noChangeArrowheads="1"/>
          </p:cNvSpPr>
          <p:nvPr/>
        </p:nvSpPr>
        <p:spPr bwMode="auto">
          <a:xfrm>
            <a:off x="2339975" y="908050"/>
            <a:ext cx="4133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机电相似系统中的相似量</a:t>
            </a:r>
          </a:p>
        </p:txBody>
      </p:sp>
      <p:graphicFrame>
        <p:nvGraphicFramePr>
          <p:cNvPr id="5" name="表格 4"/>
          <p:cNvGraphicFramePr>
            <a:graphicFrameLocks noGrp="1"/>
          </p:cNvGraphicFramePr>
          <p:nvPr/>
        </p:nvGraphicFramePr>
        <p:xfrm>
          <a:off x="755650" y="1916113"/>
          <a:ext cx="7993062" cy="3773489"/>
        </p:xfrm>
        <a:graphic>
          <a:graphicData uri="http://schemas.openxmlformats.org/drawingml/2006/table">
            <a:tbl>
              <a:tblPr firstRow="1" bandRow="1">
                <a:tableStyleId>{D7AC3CCA-C797-4891-BE02-D94E43425B78}</a:tableStyleId>
              </a:tblPr>
              <a:tblGrid>
                <a:gridCol w="2664354">
                  <a:extLst>
                    <a:ext uri="{9D8B030D-6E8A-4147-A177-3AD203B41FA5}">
                      <a16:colId xmlns="" xmlns:a16="http://schemas.microsoft.com/office/drawing/2014/main" val="20000"/>
                    </a:ext>
                  </a:extLst>
                </a:gridCol>
                <a:gridCol w="2664354">
                  <a:extLst>
                    <a:ext uri="{9D8B030D-6E8A-4147-A177-3AD203B41FA5}">
                      <a16:colId xmlns="" xmlns:a16="http://schemas.microsoft.com/office/drawing/2014/main" val="20001"/>
                    </a:ext>
                  </a:extLst>
                </a:gridCol>
                <a:gridCol w="2664354">
                  <a:extLst>
                    <a:ext uri="{9D8B030D-6E8A-4147-A177-3AD203B41FA5}">
                      <a16:colId xmlns="" xmlns:a16="http://schemas.microsoft.com/office/drawing/2014/main" val="20002"/>
                    </a:ext>
                  </a:extLst>
                </a:gridCol>
              </a:tblGrid>
              <a:tr h="648050">
                <a:tc>
                  <a:txBody>
                    <a:bodyPr/>
                    <a:lstStyle/>
                    <a:p>
                      <a:r>
                        <a:rPr lang="zh-CN" altLang="en-US" sz="2400" dirty="0" smtClean="0"/>
                        <a:t>机械平移运动系统</a:t>
                      </a:r>
                      <a:endParaRPr lang="zh-CN" altLang="en-US" sz="2400" dirty="0"/>
                    </a:p>
                  </a:txBody>
                  <a:tcPr marL="91442" marR="91442" marT="45718" marB="45718"/>
                </a:tc>
                <a:tc>
                  <a:txBody>
                    <a:bodyPr/>
                    <a:lstStyle/>
                    <a:p>
                      <a:r>
                        <a:rPr lang="zh-CN" altLang="en-US" sz="2400" dirty="0" smtClean="0"/>
                        <a:t>机械旋转运动系统</a:t>
                      </a:r>
                      <a:endParaRPr lang="zh-CN" altLang="en-US" sz="2400" dirty="0"/>
                    </a:p>
                  </a:txBody>
                  <a:tcPr marL="91442" marR="91442" marT="45718" marB="45718"/>
                </a:tc>
                <a:tc>
                  <a:txBody>
                    <a:bodyPr/>
                    <a:lstStyle/>
                    <a:p>
                      <a:r>
                        <a:rPr lang="zh-CN" altLang="en-US" sz="2400" dirty="0" smtClean="0"/>
                        <a:t>电系统</a:t>
                      </a:r>
                      <a:endParaRPr lang="zh-CN" altLang="en-US" sz="2400" dirty="0"/>
                    </a:p>
                  </a:txBody>
                  <a:tcPr marL="91442" marR="91442" marT="45718" marB="45718"/>
                </a:tc>
                <a:extLst>
                  <a:ext uri="{0D108BD9-81ED-4DB2-BD59-A6C34878D82A}">
                    <a16:rowId xmlns="" xmlns:a16="http://schemas.microsoft.com/office/drawing/2014/main" val="10000"/>
                  </a:ext>
                </a:extLst>
              </a:tr>
              <a:tr h="519674">
                <a:tc>
                  <a:txBody>
                    <a:bodyPr/>
                    <a:lstStyle/>
                    <a:p>
                      <a:r>
                        <a:rPr lang="zh-CN" altLang="en-US" sz="2400" dirty="0" smtClean="0"/>
                        <a:t> 力   </a:t>
                      </a:r>
                      <a:r>
                        <a:rPr lang="en-US" altLang="zh-CN" sz="2400" dirty="0" smtClean="0"/>
                        <a:t>F</a:t>
                      </a:r>
                      <a:endParaRPr lang="zh-CN" altLang="en-US" sz="2400" dirty="0"/>
                    </a:p>
                  </a:txBody>
                  <a:tcPr marL="91442" marR="91442" marT="45718" marB="45718"/>
                </a:tc>
                <a:tc>
                  <a:txBody>
                    <a:bodyPr/>
                    <a:lstStyle/>
                    <a:p>
                      <a:r>
                        <a:rPr lang="zh-CN" altLang="en-US" sz="2400" dirty="0" smtClean="0"/>
                        <a:t>力矩  </a:t>
                      </a:r>
                      <a:r>
                        <a:rPr lang="en-US" altLang="zh-CN" sz="2400" dirty="0" smtClean="0"/>
                        <a:t>T</a:t>
                      </a:r>
                      <a:endParaRPr lang="zh-CN" altLang="en-US" sz="2400" dirty="0"/>
                    </a:p>
                  </a:txBody>
                  <a:tcPr marL="91442" marR="91442" marT="45718" marB="45718"/>
                </a:tc>
                <a:tc>
                  <a:txBody>
                    <a:bodyPr/>
                    <a:lstStyle/>
                    <a:p>
                      <a:r>
                        <a:rPr lang="zh-CN" altLang="en-US" sz="2400" dirty="0" smtClean="0"/>
                        <a:t>电压  </a:t>
                      </a:r>
                      <a:r>
                        <a:rPr lang="en-US" altLang="zh-CN" sz="2400" dirty="0" smtClean="0"/>
                        <a:t>u</a:t>
                      </a:r>
                      <a:endParaRPr lang="zh-CN" altLang="en-US" sz="2400" dirty="0"/>
                    </a:p>
                  </a:txBody>
                  <a:tcPr marL="91442" marR="91442" marT="45718" marB="45718"/>
                </a:tc>
                <a:extLst>
                  <a:ext uri="{0D108BD9-81ED-4DB2-BD59-A6C34878D82A}">
                    <a16:rowId xmlns="" xmlns:a16="http://schemas.microsoft.com/office/drawing/2014/main" val="10001"/>
                  </a:ext>
                </a:extLst>
              </a:tr>
              <a:tr h="519674">
                <a:tc>
                  <a:txBody>
                    <a:bodyPr/>
                    <a:lstStyle/>
                    <a:p>
                      <a:r>
                        <a:rPr lang="zh-CN" altLang="en-US" sz="2400" dirty="0" smtClean="0"/>
                        <a:t>质量  </a:t>
                      </a:r>
                      <a:r>
                        <a:rPr lang="en-US" altLang="zh-CN" sz="2400" dirty="0" smtClean="0"/>
                        <a:t>M</a:t>
                      </a:r>
                      <a:endParaRPr lang="zh-CN" altLang="en-US" sz="2400" dirty="0"/>
                    </a:p>
                  </a:txBody>
                  <a:tcPr marL="91442" marR="91442" marT="45718" marB="45718"/>
                </a:tc>
                <a:tc>
                  <a:txBody>
                    <a:bodyPr/>
                    <a:lstStyle/>
                    <a:p>
                      <a:r>
                        <a:rPr lang="zh-CN" altLang="en-US" sz="2400" dirty="0" smtClean="0"/>
                        <a:t>转动惯量  </a:t>
                      </a:r>
                      <a:r>
                        <a:rPr lang="en-US" altLang="zh-CN" sz="2400" dirty="0" smtClean="0"/>
                        <a:t>J</a:t>
                      </a:r>
                      <a:endParaRPr lang="zh-CN" altLang="en-US" sz="2400" dirty="0"/>
                    </a:p>
                  </a:txBody>
                  <a:tcPr marL="91442" marR="91442" marT="45718" marB="45718"/>
                </a:tc>
                <a:tc>
                  <a:txBody>
                    <a:bodyPr/>
                    <a:lstStyle/>
                    <a:p>
                      <a:r>
                        <a:rPr lang="zh-CN" altLang="en-US" sz="2400" dirty="0" smtClean="0"/>
                        <a:t>电感   </a:t>
                      </a:r>
                      <a:r>
                        <a:rPr lang="en-US" altLang="zh-CN" sz="2400" dirty="0" smtClean="0"/>
                        <a:t>L</a:t>
                      </a:r>
                      <a:endParaRPr lang="zh-CN" altLang="en-US" sz="2400" dirty="0"/>
                    </a:p>
                  </a:txBody>
                  <a:tcPr marL="91442" marR="91442" marT="45718" marB="45718"/>
                </a:tc>
                <a:extLst>
                  <a:ext uri="{0D108BD9-81ED-4DB2-BD59-A6C34878D82A}">
                    <a16:rowId xmlns="" xmlns:a16="http://schemas.microsoft.com/office/drawing/2014/main" val="10002"/>
                  </a:ext>
                </a:extLst>
              </a:tr>
              <a:tr h="519674">
                <a:tc>
                  <a:txBody>
                    <a:bodyPr/>
                    <a:lstStyle/>
                    <a:p>
                      <a:r>
                        <a:rPr lang="zh-CN" altLang="en-US" sz="2400" dirty="0" smtClean="0"/>
                        <a:t>阻尼系数   </a:t>
                      </a:r>
                      <a:r>
                        <a:rPr lang="en-US" altLang="zh-CN" sz="2400" dirty="0" smtClean="0"/>
                        <a:t>B</a:t>
                      </a:r>
                      <a:endParaRPr lang="zh-CN" altLang="en-US" sz="2400" dirty="0"/>
                    </a:p>
                  </a:txBody>
                  <a:tcPr marL="91442" marR="91442" marT="45718" marB="45718"/>
                </a:tc>
                <a:tc>
                  <a:txBody>
                    <a:bodyPr/>
                    <a:lstStyle/>
                    <a:p>
                      <a:r>
                        <a:rPr lang="zh-CN" altLang="en-US" sz="2400" dirty="0" smtClean="0"/>
                        <a:t>阻尼系数   </a:t>
                      </a:r>
                      <a:r>
                        <a:rPr lang="en-US" altLang="zh-CN" sz="2400" dirty="0" smtClean="0"/>
                        <a:t>B</a:t>
                      </a:r>
                      <a:endParaRPr lang="zh-CN" altLang="en-US" sz="2400" dirty="0"/>
                    </a:p>
                  </a:txBody>
                  <a:tcPr marL="91442" marR="91442" marT="45718" marB="45718"/>
                </a:tc>
                <a:tc>
                  <a:txBody>
                    <a:bodyPr/>
                    <a:lstStyle/>
                    <a:p>
                      <a:r>
                        <a:rPr lang="zh-CN" altLang="en-US" sz="2400" dirty="0" smtClean="0"/>
                        <a:t>电阻   </a:t>
                      </a:r>
                      <a:r>
                        <a:rPr lang="en-US" altLang="zh-CN" sz="2400" dirty="0" smtClean="0"/>
                        <a:t>R</a:t>
                      </a:r>
                      <a:endParaRPr lang="zh-CN" altLang="en-US" sz="2400" dirty="0"/>
                    </a:p>
                  </a:txBody>
                  <a:tcPr marL="91442" marR="91442" marT="45718" marB="45718"/>
                </a:tc>
                <a:extLst>
                  <a:ext uri="{0D108BD9-81ED-4DB2-BD59-A6C34878D82A}">
                    <a16:rowId xmlns="" xmlns:a16="http://schemas.microsoft.com/office/drawing/2014/main" val="10003"/>
                  </a:ext>
                </a:extLst>
              </a:tr>
              <a:tr h="527069">
                <a:tc>
                  <a:txBody>
                    <a:bodyPr/>
                    <a:lstStyle/>
                    <a:p>
                      <a:r>
                        <a:rPr lang="zh-CN" altLang="en-US" sz="2400" dirty="0" smtClean="0"/>
                        <a:t>弹簧刚度   </a:t>
                      </a:r>
                      <a:r>
                        <a:rPr lang="en-US" altLang="zh-CN" sz="2400" dirty="0" smtClean="0"/>
                        <a:t>K </a:t>
                      </a:r>
                      <a:endParaRPr lang="zh-CN" altLang="en-US" sz="2400" dirty="0"/>
                    </a:p>
                  </a:txBody>
                  <a:tcPr marL="91442" marR="91442" marT="45718" marB="45718"/>
                </a:tc>
                <a:tc>
                  <a:txBody>
                    <a:bodyPr/>
                    <a:lstStyle/>
                    <a:p>
                      <a:r>
                        <a:rPr lang="zh-CN" altLang="en-US" sz="2400" dirty="0" smtClean="0"/>
                        <a:t>扭转弹簧刚度  </a:t>
                      </a:r>
                      <a:r>
                        <a:rPr lang="en-US" altLang="zh-CN" sz="2400" dirty="0" smtClean="0"/>
                        <a:t>K</a:t>
                      </a:r>
                      <a:endParaRPr lang="zh-CN" altLang="en-US" sz="2400" dirty="0"/>
                    </a:p>
                  </a:txBody>
                  <a:tcPr marL="91442" marR="91442" marT="45718" marB="45718"/>
                </a:tc>
                <a:tc>
                  <a:txBody>
                    <a:bodyPr/>
                    <a:lstStyle/>
                    <a:p>
                      <a:r>
                        <a:rPr lang="zh-CN" altLang="en-US" sz="2400" dirty="0" smtClean="0"/>
                        <a:t>电容的倒数</a:t>
                      </a:r>
                      <a:r>
                        <a:rPr lang="zh-CN" altLang="en-US" sz="2400" baseline="0" dirty="0" smtClean="0"/>
                        <a:t>  </a:t>
                      </a:r>
                      <a:r>
                        <a:rPr lang="en-US" altLang="zh-CN" sz="2400" baseline="0" dirty="0" smtClean="0"/>
                        <a:t>1/C</a:t>
                      </a:r>
                      <a:endParaRPr lang="zh-CN" altLang="en-US" sz="2400" dirty="0"/>
                    </a:p>
                  </a:txBody>
                  <a:tcPr marL="91442" marR="91442" marT="45718" marB="45718"/>
                </a:tc>
                <a:extLst>
                  <a:ext uri="{0D108BD9-81ED-4DB2-BD59-A6C34878D82A}">
                    <a16:rowId xmlns="" xmlns:a16="http://schemas.microsoft.com/office/drawing/2014/main" val="10004"/>
                  </a:ext>
                </a:extLst>
              </a:tr>
              <a:tr h="519674">
                <a:tc>
                  <a:txBody>
                    <a:bodyPr/>
                    <a:lstStyle/>
                    <a:p>
                      <a:r>
                        <a:rPr lang="zh-CN" altLang="en-US" sz="2400" dirty="0" smtClean="0"/>
                        <a:t>位移   </a:t>
                      </a:r>
                      <a:r>
                        <a:rPr lang="en-US" altLang="zh-CN" sz="2400" dirty="0" smtClean="0"/>
                        <a:t>x</a:t>
                      </a:r>
                      <a:endParaRPr lang="zh-CN" altLang="en-US" sz="2400" dirty="0"/>
                    </a:p>
                  </a:txBody>
                  <a:tcPr marL="91442" marR="91442" marT="45718" marB="45718"/>
                </a:tc>
                <a:tc>
                  <a:txBody>
                    <a:bodyPr/>
                    <a:lstStyle/>
                    <a:p>
                      <a:r>
                        <a:rPr lang="zh-CN" altLang="en-US" sz="2400" dirty="0" smtClean="0"/>
                        <a:t>角位移   </a:t>
                      </a:r>
                      <a:r>
                        <a:rPr lang="zh-CN" altLang="en-US" sz="2400" dirty="0" smtClean="0">
                          <a:sym typeface="Symbol" panose="05050102010706020507"/>
                        </a:rPr>
                        <a:t></a:t>
                      </a:r>
                      <a:endParaRPr lang="zh-CN" altLang="en-US" sz="2400" dirty="0"/>
                    </a:p>
                  </a:txBody>
                  <a:tcPr marL="91442" marR="91442" marT="45718" marB="45718"/>
                </a:tc>
                <a:tc>
                  <a:txBody>
                    <a:bodyPr/>
                    <a:lstStyle/>
                    <a:p>
                      <a:r>
                        <a:rPr lang="zh-CN" altLang="en-US" sz="2400" dirty="0" smtClean="0"/>
                        <a:t>电荷    </a:t>
                      </a:r>
                      <a:r>
                        <a:rPr lang="en-US" altLang="zh-CN" sz="2400" dirty="0" smtClean="0"/>
                        <a:t>q</a:t>
                      </a:r>
                      <a:endParaRPr lang="zh-CN" altLang="en-US" sz="2400" dirty="0"/>
                    </a:p>
                  </a:txBody>
                  <a:tcPr marL="91442" marR="91442" marT="45718" marB="45718"/>
                </a:tc>
                <a:extLst>
                  <a:ext uri="{0D108BD9-81ED-4DB2-BD59-A6C34878D82A}">
                    <a16:rowId xmlns="" xmlns:a16="http://schemas.microsoft.com/office/drawing/2014/main" val="10005"/>
                  </a:ext>
                </a:extLst>
              </a:tr>
              <a:tr h="519674">
                <a:tc>
                  <a:txBody>
                    <a:bodyPr/>
                    <a:lstStyle/>
                    <a:p>
                      <a:r>
                        <a:rPr lang="zh-CN" altLang="en-US" sz="2400" dirty="0" smtClean="0"/>
                        <a:t>速度   </a:t>
                      </a:r>
                      <a:r>
                        <a:rPr lang="en-US" altLang="zh-CN" sz="2400" dirty="0" smtClean="0"/>
                        <a:t>v</a:t>
                      </a:r>
                      <a:endParaRPr lang="zh-CN" altLang="en-US" sz="2400" dirty="0"/>
                    </a:p>
                  </a:txBody>
                  <a:tcPr marL="91442" marR="91442" marT="45718" marB="45718"/>
                </a:tc>
                <a:tc>
                  <a:txBody>
                    <a:bodyPr/>
                    <a:lstStyle/>
                    <a:p>
                      <a:r>
                        <a:rPr lang="zh-CN" altLang="en-US" sz="2400" dirty="0" smtClean="0"/>
                        <a:t>角速度   </a:t>
                      </a:r>
                      <a:r>
                        <a:rPr lang="zh-CN" altLang="en-US" sz="2400" dirty="0" smtClean="0">
                          <a:sym typeface="Symbol" panose="05050102010706020507"/>
                        </a:rPr>
                        <a:t></a:t>
                      </a:r>
                      <a:endParaRPr lang="zh-CN" altLang="en-US" sz="2400" dirty="0"/>
                    </a:p>
                  </a:txBody>
                  <a:tcPr marL="91442" marR="91442" marT="45718" marB="45718"/>
                </a:tc>
                <a:tc>
                  <a:txBody>
                    <a:bodyPr/>
                    <a:lstStyle/>
                    <a:p>
                      <a:r>
                        <a:rPr lang="zh-CN" altLang="en-US" sz="2400" dirty="0" smtClean="0"/>
                        <a:t>电流    </a:t>
                      </a:r>
                      <a:r>
                        <a:rPr lang="en-US" altLang="zh-CN" sz="2400" dirty="0" err="1" smtClean="0"/>
                        <a:t>i</a:t>
                      </a:r>
                      <a:endParaRPr lang="zh-CN" altLang="en-US" sz="2400" dirty="0"/>
                    </a:p>
                  </a:txBody>
                  <a:tcPr marL="91442" marR="91442" marT="45718" marB="45718"/>
                </a:tc>
                <a:extLst>
                  <a:ext uri="{0D108BD9-81ED-4DB2-BD59-A6C34878D82A}">
                    <a16:rowId xmlns=""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E02D3F4-D422-4318-B7CD-6596280C3E08}" type="datetime1">
              <a:rPr lang="zh-CN" altLang="en-US" smtClean="0"/>
              <a:pPr/>
              <a:t>2025/9/11</a:t>
            </a:fld>
            <a:endParaRPr lang="zh-CN" altLang="en-US" smtClean="0"/>
          </a:p>
        </p:txBody>
      </p:sp>
      <p:sp>
        <p:nvSpPr>
          <p:cNvPr id="70659"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38DA25F-5786-4E22-8157-BD03B0A7DCA6}" type="slidenum">
              <a:rPr lang="en-US" altLang="zh-CN" smtClean="0"/>
              <a:pPr/>
              <a:t>36</a:t>
            </a:fld>
            <a:endParaRPr lang="en-US" altLang="zh-CN" smtClean="0"/>
          </a:p>
        </p:txBody>
      </p:sp>
      <p:sp>
        <p:nvSpPr>
          <p:cNvPr id="70660" name="文本框 3"/>
          <p:cNvSpPr txBox="1">
            <a:spLocks noChangeArrowheads="1"/>
          </p:cNvSpPr>
          <p:nvPr/>
        </p:nvSpPr>
        <p:spPr bwMode="auto">
          <a:xfrm>
            <a:off x="1547813" y="2852738"/>
            <a:ext cx="26908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作业：</a:t>
            </a:r>
            <a:r>
              <a:rPr lang="en-US" altLang="zh-CN" sz="2800"/>
              <a:t>P77:2-6</a:t>
            </a:r>
            <a:endParaRPr lang="zh-CN" altLang="en-US" sz="280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4E0D72D-3A91-4250-BF59-84AC41FE3804}" type="datetime1">
              <a:rPr lang="zh-CN" altLang="en-US" smtClean="0"/>
              <a:pPr/>
              <a:t>2025/9/11</a:t>
            </a:fld>
            <a:endParaRPr lang="zh-CN" altLang="en-US" smtClean="0"/>
          </a:p>
        </p:txBody>
      </p:sp>
      <p:sp>
        <p:nvSpPr>
          <p:cNvPr id="71683"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523A8FA-70F4-4987-B640-C8D99BD1F819}" type="slidenum">
              <a:rPr lang="en-US" altLang="zh-CN" smtClean="0"/>
              <a:pPr/>
              <a:t>37</a:t>
            </a:fld>
            <a:endParaRPr lang="en-US" altLang="zh-CN" smtClean="0"/>
          </a:p>
        </p:txBody>
      </p:sp>
      <p:sp>
        <p:nvSpPr>
          <p:cNvPr id="71684" name="Text Box 3"/>
          <p:cNvSpPr txBox="1">
            <a:spLocks noChangeArrowheads="1"/>
          </p:cNvSpPr>
          <p:nvPr/>
        </p:nvSpPr>
        <p:spPr bwMode="auto">
          <a:xfrm>
            <a:off x="1908175" y="692150"/>
            <a:ext cx="341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2</a:t>
            </a:r>
            <a:r>
              <a:rPr lang="zh-CN" altLang="en-US" sz="3600">
                <a:latin typeface="Times New Roman" panose="02020603050405020304" pitchFamily="18" charset="0"/>
                <a:ea typeface="华文新魏" panose="02010800040101010101" pitchFamily="2" charset="-122"/>
              </a:rPr>
              <a:t>章  数学模型</a:t>
            </a:r>
          </a:p>
        </p:txBody>
      </p:sp>
      <p:sp>
        <p:nvSpPr>
          <p:cNvPr id="71685" name="Rectangle 4"/>
          <p:cNvSpPr>
            <a:spLocks noChangeArrowheads="1"/>
          </p:cNvSpPr>
          <p:nvPr/>
        </p:nvSpPr>
        <p:spPr bwMode="auto">
          <a:xfrm>
            <a:off x="1981200" y="2209800"/>
            <a:ext cx="377507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2.2   </a:t>
            </a:r>
            <a:r>
              <a:rPr lang="zh-CN" altLang="en-US" sz="2800">
                <a:latin typeface="Times New Roman" panose="02020603050405020304" pitchFamily="18" charset="0"/>
                <a:ea typeface="黑体" panose="02010609060101010101" pitchFamily="49" charset="-122"/>
              </a:rPr>
              <a:t>拉氏变换和反变换</a:t>
            </a:r>
          </a:p>
        </p:txBody>
      </p:sp>
      <p:sp>
        <p:nvSpPr>
          <p:cNvPr id="71686" name="Rectangle 5"/>
          <p:cNvSpPr>
            <a:spLocks noChangeArrowheads="1"/>
          </p:cNvSpPr>
          <p:nvPr/>
        </p:nvSpPr>
        <p:spPr bwMode="auto">
          <a:xfrm>
            <a:off x="1981200" y="2757488"/>
            <a:ext cx="23383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2.3   </a:t>
            </a:r>
            <a:r>
              <a:rPr lang="zh-CN" altLang="en-US" sz="2800">
                <a:latin typeface="Times New Roman" panose="02020603050405020304" pitchFamily="18" charset="0"/>
                <a:ea typeface="黑体" panose="02010609060101010101" pitchFamily="49" charset="-122"/>
              </a:rPr>
              <a:t>传递函数</a:t>
            </a:r>
          </a:p>
        </p:txBody>
      </p:sp>
      <p:sp>
        <p:nvSpPr>
          <p:cNvPr id="71687" name="Rectangle 6"/>
          <p:cNvSpPr>
            <a:spLocks noChangeArrowheads="1"/>
          </p:cNvSpPr>
          <p:nvPr/>
        </p:nvSpPr>
        <p:spPr bwMode="auto">
          <a:xfrm>
            <a:off x="1981200" y="3967163"/>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2.5   </a:t>
            </a:r>
            <a:r>
              <a:rPr lang="zh-CN" altLang="en-US" sz="2800">
                <a:latin typeface="Times New Roman" panose="02020603050405020304" pitchFamily="18" charset="0"/>
                <a:ea typeface="黑体" panose="02010609060101010101" pitchFamily="49" charset="-122"/>
              </a:rPr>
              <a:t>非线性数学模型的线性化</a:t>
            </a:r>
          </a:p>
        </p:txBody>
      </p:sp>
      <p:sp>
        <p:nvSpPr>
          <p:cNvPr id="71688" name="Rectangle 7"/>
          <p:cNvSpPr>
            <a:spLocks noChangeArrowheads="1"/>
          </p:cNvSpPr>
          <p:nvPr/>
        </p:nvSpPr>
        <p:spPr bwMode="auto">
          <a:xfrm>
            <a:off x="1979613" y="3330575"/>
            <a:ext cx="4494212"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2.4   </a:t>
            </a:r>
            <a:r>
              <a:rPr lang="zh-CN" altLang="en-US" sz="2800">
                <a:solidFill>
                  <a:srgbClr val="FF0000"/>
                </a:solidFill>
                <a:latin typeface="Times New Roman" panose="02020603050405020304" pitchFamily="18" charset="0"/>
                <a:ea typeface="黑体" panose="02010609060101010101" pitchFamily="49" charset="-122"/>
              </a:rPr>
              <a:t>系统方框图和信号流图</a:t>
            </a:r>
          </a:p>
        </p:txBody>
      </p:sp>
      <p:sp>
        <p:nvSpPr>
          <p:cNvPr id="71689" name="Rectangle 8"/>
          <p:cNvSpPr>
            <a:spLocks noChangeArrowheads="1"/>
          </p:cNvSpPr>
          <p:nvPr/>
        </p:nvSpPr>
        <p:spPr bwMode="auto">
          <a:xfrm>
            <a:off x="1981200" y="4405313"/>
            <a:ext cx="5211763"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2.6   </a:t>
            </a:r>
            <a:r>
              <a:rPr lang="zh-CN" altLang="en-US" sz="2800">
                <a:latin typeface="Times New Roman" panose="02020603050405020304" pitchFamily="18" charset="0"/>
                <a:ea typeface="黑体" panose="02010609060101010101" pitchFamily="49" charset="-122"/>
              </a:rPr>
              <a:t>控制系统传递函数推导举例</a:t>
            </a:r>
          </a:p>
        </p:txBody>
      </p:sp>
      <p:sp>
        <p:nvSpPr>
          <p:cNvPr id="71690" name="Rectangle 11"/>
          <p:cNvSpPr>
            <a:spLocks noChangeArrowheads="1"/>
          </p:cNvSpPr>
          <p:nvPr/>
        </p:nvSpPr>
        <p:spPr bwMode="auto">
          <a:xfrm>
            <a:off x="1981200" y="1676400"/>
            <a:ext cx="485298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2.1   </a:t>
            </a:r>
            <a:r>
              <a:rPr lang="zh-CN" altLang="en-US" sz="2800">
                <a:latin typeface="Times New Roman" panose="02020603050405020304" pitchFamily="18" charset="0"/>
                <a:ea typeface="黑体" panose="02010609060101010101" pitchFamily="49" charset="-122"/>
              </a:rPr>
              <a:t>控制系统的运动微分方程</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ChangeArrowheads="1"/>
          </p:cNvSpPr>
          <p:nvPr/>
        </p:nvSpPr>
        <p:spPr bwMode="auto">
          <a:xfrm>
            <a:off x="900113" y="908050"/>
            <a:ext cx="440372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2.4  </a:t>
            </a:r>
            <a:r>
              <a:rPr lang="zh-CN" altLang="en-US" sz="2800">
                <a:latin typeface="Times New Roman" panose="02020603050405020304" pitchFamily="18" charset="0"/>
                <a:ea typeface="黑体" panose="02010609060101010101" pitchFamily="49" charset="-122"/>
              </a:rPr>
              <a:t>系统方框图和信号流图</a:t>
            </a:r>
          </a:p>
        </p:txBody>
      </p:sp>
      <p:sp>
        <p:nvSpPr>
          <p:cNvPr id="105476" name="Rectangle 4"/>
          <p:cNvSpPr>
            <a:spLocks noChangeArrowheads="1"/>
          </p:cNvSpPr>
          <p:nvPr/>
        </p:nvSpPr>
        <p:spPr bwMode="auto">
          <a:xfrm>
            <a:off x="1016000" y="1981200"/>
            <a:ext cx="2435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b="1">
                <a:latin typeface="Times New Roman" panose="02020603050405020304" pitchFamily="18" charset="0"/>
              </a:rPr>
              <a:t> </a:t>
            </a:r>
            <a:r>
              <a:rPr lang="zh-CN" altLang="en-US" sz="2800" b="1">
                <a:latin typeface="Times New Roman" panose="02020603050405020304" pitchFamily="18" charset="0"/>
              </a:rPr>
              <a:t>系统方框图</a:t>
            </a:r>
            <a:r>
              <a:rPr lang="zh-CN" altLang="en-US" sz="2800">
                <a:latin typeface="Times New Roman" panose="02020603050405020304" pitchFamily="18" charset="0"/>
              </a:rPr>
              <a:t> </a:t>
            </a:r>
          </a:p>
        </p:txBody>
      </p:sp>
      <p:sp>
        <p:nvSpPr>
          <p:cNvPr id="105477" name="Rectangle 5"/>
          <p:cNvSpPr>
            <a:spLocks noChangeArrowheads="1"/>
          </p:cNvSpPr>
          <p:nvPr/>
        </p:nvSpPr>
        <p:spPr bwMode="auto">
          <a:xfrm>
            <a:off x="1371600" y="2514600"/>
            <a:ext cx="70866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系统方块图是系统数学模型的图解形式。可以形象直观地描述系统中各元件间的相互关系及其功能以及信号在系统中的传递、变换过程。</a:t>
            </a:r>
            <a:endParaRPr lang="zh-CN" altLang="en-US" sz="2800">
              <a:latin typeface="Times New Roman" panose="02020603050405020304" pitchFamily="18" charset="0"/>
            </a:endParaRPr>
          </a:p>
        </p:txBody>
      </p:sp>
      <p:sp>
        <p:nvSpPr>
          <p:cNvPr id="105478" name="Rectangle 6"/>
          <p:cNvSpPr>
            <a:spLocks noChangeArrowheads="1"/>
          </p:cNvSpPr>
          <p:nvPr/>
        </p:nvSpPr>
        <p:spPr bwMode="auto">
          <a:xfrm>
            <a:off x="1371600" y="4565650"/>
            <a:ext cx="7086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注意：即使描述系统的数学关系式相同，其方块图也不一定相同。</a:t>
            </a:r>
            <a:endParaRPr lang="zh-CN" altLang="en-US"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476"/>
                                        </p:tgtEl>
                                        <p:attrNameLst>
                                          <p:attrName>style.visibility</p:attrName>
                                        </p:attrNameLst>
                                      </p:cBhvr>
                                      <p:to>
                                        <p:strVal val="visible"/>
                                      </p:to>
                                    </p:set>
                                    <p:anim calcmode="lin" valueType="num">
                                      <p:cBhvr additive="base">
                                        <p:cTn id="7" dur="500" fill="hold"/>
                                        <p:tgtEl>
                                          <p:spTgt spid="105476"/>
                                        </p:tgtEl>
                                        <p:attrNameLst>
                                          <p:attrName>ppt_x</p:attrName>
                                        </p:attrNameLst>
                                      </p:cBhvr>
                                      <p:tavLst>
                                        <p:tav tm="0">
                                          <p:val>
                                            <p:strVal val="#ppt_x"/>
                                          </p:val>
                                        </p:tav>
                                        <p:tav tm="100000">
                                          <p:val>
                                            <p:strVal val="#ppt_x"/>
                                          </p:val>
                                        </p:tav>
                                      </p:tavLst>
                                    </p:anim>
                                    <p:anim calcmode="lin" valueType="num">
                                      <p:cBhvr additive="base">
                                        <p:cTn id="8" dur="500" fill="hold"/>
                                        <p:tgtEl>
                                          <p:spTgt spid="10547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5477"/>
                                        </p:tgtEl>
                                        <p:attrNameLst>
                                          <p:attrName>style.visibility</p:attrName>
                                        </p:attrNameLst>
                                      </p:cBhvr>
                                      <p:to>
                                        <p:strVal val="visible"/>
                                      </p:to>
                                    </p:set>
                                    <p:anim calcmode="lin" valueType="num">
                                      <p:cBhvr additive="base">
                                        <p:cTn id="13" dur="500" fill="hold"/>
                                        <p:tgtEl>
                                          <p:spTgt spid="105477"/>
                                        </p:tgtEl>
                                        <p:attrNameLst>
                                          <p:attrName>ppt_x</p:attrName>
                                        </p:attrNameLst>
                                      </p:cBhvr>
                                      <p:tavLst>
                                        <p:tav tm="0">
                                          <p:val>
                                            <p:strVal val="#ppt_x"/>
                                          </p:val>
                                        </p:tav>
                                        <p:tav tm="100000">
                                          <p:val>
                                            <p:strVal val="#ppt_x"/>
                                          </p:val>
                                        </p:tav>
                                      </p:tavLst>
                                    </p:anim>
                                    <p:anim calcmode="lin" valueType="num">
                                      <p:cBhvr additive="base">
                                        <p:cTn id="14" dur="500" fill="hold"/>
                                        <p:tgtEl>
                                          <p:spTgt spid="10547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5478"/>
                                        </p:tgtEl>
                                        <p:attrNameLst>
                                          <p:attrName>style.visibility</p:attrName>
                                        </p:attrNameLst>
                                      </p:cBhvr>
                                      <p:to>
                                        <p:strVal val="visible"/>
                                      </p:to>
                                    </p:set>
                                    <p:anim calcmode="lin" valueType="num">
                                      <p:cBhvr additive="base">
                                        <p:cTn id="19" dur="500" fill="hold"/>
                                        <p:tgtEl>
                                          <p:spTgt spid="105478"/>
                                        </p:tgtEl>
                                        <p:attrNameLst>
                                          <p:attrName>ppt_x</p:attrName>
                                        </p:attrNameLst>
                                      </p:cBhvr>
                                      <p:tavLst>
                                        <p:tav tm="0">
                                          <p:val>
                                            <p:strVal val="#ppt_x"/>
                                          </p:val>
                                        </p:tav>
                                        <p:tav tm="100000">
                                          <p:val>
                                            <p:strVal val="#ppt_x"/>
                                          </p:val>
                                        </p:tav>
                                      </p:tavLst>
                                    </p:anim>
                                    <p:anim calcmode="lin" valueType="num">
                                      <p:cBhvr additive="base">
                                        <p:cTn id="20" dur="500" fill="hold"/>
                                        <p:tgtEl>
                                          <p:spTgt spid="1054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p:bldP spid="105477" grpId="0"/>
      <p:bldP spid="10547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ChangeArrowheads="1"/>
          </p:cNvSpPr>
          <p:nvPr/>
        </p:nvSpPr>
        <p:spPr bwMode="auto">
          <a:xfrm>
            <a:off x="1371600" y="1855788"/>
            <a:ext cx="6934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b="1">
                <a:latin typeface="Times New Roman" panose="02020603050405020304" pitchFamily="18" charset="0"/>
              </a:rPr>
              <a:t> </a:t>
            </a:r>
            <a:r>
              <a:rPr lang="zh-CN" altLang="en-US" sz="2800" b="1">
                <a:latin typeface="宋体" panose="02010600030101010101" pitchFamily="2" charset="-122"/>
              </a:rPr>
              <a:t>方框图的结构要素 </a:t>
            </a:r>
          </a:p>
        </p:txBody>
      </p:sp>
      <p:sp>
        <p:nvSpPr>
          <p:cNvPr id="107524" name="Rectangle 4"/>
          <p:cNvSpPr>
            <a:spLocks noChangeArrowheads="1"/>
          </p:cNvSpPr>
          <p:nvPr/>
        </p:nvSpPr>
        <p:spPr bwMode="auto">
          <a:xfrm>
            <a:off x="1524000" y="2486025"/>
            <a:ext cx="411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信号线</a:t>
            </a:r>
            <a:r>
              <a:rPr lang="zh-CN" altLang="en-US" sz="2800">
                <a:latin typeface="Times New Roman" panose="02020603050405020304" pitchFamily="18" charset="0"/>
              </a:rPr>
              <a:t> </a:t>
            </a:r>
          </a:p>
        </p:txBody>
      </p:sp>
      <p:sp>
        <p:nvSpPr>
          <p:cNvPr id="107525" name="Rectangle 5"/>
          <p:cNvSpPr>
            <a:spLocks noChangeArrowheads="1"/>
          </p:cNvSpPr>
          <p:nvPr/>
        </p:nvSpPr>
        <p:spPr bwMode="auto">
          <a:xfrm>
            <a:off x="1524000" y="3036888"/>
            <a:ext cx="7086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带有箭头的直线，箭头表示信号的传递方向，直线旁标记信号的时间函数或象函数。</a:t>
            </a:r>
            <a:endParaRPr lang="zh-CN" altLang="en-US" sz="2800">
              <a:latin typeface="Times New Roman" panose="02020603050405020304" pitchFamily="18" charset="0"/>
            </a:endParaRPr>
          </a:p>
        </p:txBody>
      </p:sp>
      <p:grpSp>
        <p:nvGrpSpPr>
          <p:cNvPr id="2" name="Group 6"/>
          <p:cNvGrpSpPr>
            <a:grpSpLocks/>
          </p:cNvGrpSpPr>
          <p:nvPr/>
        </p:nvGrpSpPr>
        <p:grpSpPr bwMode="auto">
          <a:xfrm>
            <a:off x="3657600" y="4484688"/>
            <a:ext cx="2133600" cy="1077912"/>
            <a:chOff x="3696" y="2243"/>
            <a:chExt cx="1344" cy="679"/>
          </a:xfrm>
        </p:grpSpPr>
        <p:sp>
          <p:nvSpPr>
            <p:cNvPr id="75782" name="Line 7"/>
            <p:cNvSpPr>
              <a:spLocks noChangeShapeType="1"/>
            </p:cNvSpPr>
            <p:nvPr/>
          </p:nvSpPr>
          <p:spPr bwMode="auto">
            <a:xfrm>
              <a:off x="3696" y="2553"/>
              <a:ext cx="1344" cy="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3" name="Text Box 8"/>
            <p:cNvSpPr txBox="1">
              <a:spLocks noChangeArrowheads="1"/>
            </p:cNvSpPr>
            <p:nvPr/>
          </p:nvSpPr>
          <p:spPr bwMode="auto">
            <a:xfrm>
              <a:off x="3906" y="2243"/>
              <a:ext cx="8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  </a:t>
              </a:r>
              <a:r>
                <a:rPr lang="en-US" altLang="zh-CN" sz="2400" i="1">
                  <a:latin typeface="Times New Roman" panose="02020603050405020304" pitchFamily="18" charset="0"/>
                </a:rPr>
                <a:t>x</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75784" name="Rectangle 9"/>
            <p:cNvSpPr>
              <a:spLocks noChangeArrowheads="1"/>
            </p:cNvSpPr>
            <p:nvPr/>
          </p:nvSpPr>
          <p:spPr bwMode="auto">
            <a:xfrm>
              <a:off x="3964" y="2634"/>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宋体" panose="02010600030101010101" pitchFamily="2" charset="-122"/>
                </a:rPr>
                <a:t>信号线</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7524"/>
                                        </p:tgtEl>
                                        <p:attrNameLst>
                                          <p:attrName>style.visibility</p:attrName>
                                        </p:attrNameLst>
                                      </p:cBhvr>
                                      <p:to>
                                        <p:strVal val="visible"/>
                                      </p:to>
                                    </p:set>
                                    <p:anim calcmode="lin" valueType="num">
                                      <p:cBhvr additive="base">
                                        <p:cTn id="7" dur="500" fill="hold"/>
                                        <p:tgtEl>
                                          <p:spTgt spid="107524"/>
                                        </p:tgtEl>
                                        <p:attrNameLst>
                                          <p:attrName>ppt_x</p:attrName>
                                        </p:attrNameLst>
                                      </p:cBhvr>
                                      <p:tavLst>
                                        <p:tav tm="0">
                                          <p:val>
                                            <p:strVal val="#ppt_x"/>
                                          </p:val>
                                        </p:tav>
                                        <p:tav tm="100000">
                                          <p:val>
                                            <p:strVal val="#ppt_x"/>
                                          </p:val>
                                        </p:tav>
                                      </p:tavLst>
                                    </p:anim>
                                    <p:anim calcmode="lin" valueType="num">
                                      <p:cBhvr additive="base">
                                        <p:cTn id="8" dur="500" fill="hold"/>
                                        <p:tgtEl>
                                          <p:spTgt spid="10752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7525"/>
                                        </p:tgtEl>
                                        <p:attrNameLst>
                                          <p:attrName>style.visibility</p:attrName>
                                        </p:attrNameLst>
                                      </p:cBhvr>
                                      <p:to>
                                        <p:strVal val="visible"/>
                                      </p:to>
                                    </p:set>
                                    <p:anim calcmode="lin" valueType="num">
                                      <p:cBhvr additive="base">
                                        <p:cTn id="13" dur="500" fill="hold"/>
                                        <p:tgtEl>
                                          <p:spTgt spid="107525"/>
                                        </p:tgtEl>
                                        <p:attrNameLst>
                                          <p:attrName>ppt_x</p:attrName>
                                        </p:attrNameLst>
                                      </p:cBhvr>
                                      <p:tavLst>
                                        <p:tav tm="0">
                                          <p:val>
                                            <p:strVal val="#ppt_x"/>
                                          </p:val>
                                        </p:tav>
                                        <p:tav tm="100000">
                                          <p:val>
                                            <p:strVal val="#ppt_x"/>
                                          </p:val>
                                        </p:tav>
                                      </p:tavLst>
                                    </p:anim>
                                    <p:anim calcmode="lin" valueType="num">
                                      <p:cBhvr additive="base">
                                        <p:cTn id="14" dur="500" fill="hold"/>
                                        <p:tgtEl>
                                          <p:spTgt spid="10752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p:bldP spid="10752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ChangeArrowheads="1"/>
          </p:cNvSpPr>
          <p:nvPr/>
        </p:nvSpPr>
        <p:spPr bwMode="auto">
          <a:xfrm>
            <a:off x="1524000" y="1614488"/>
            <a:ext cx="4114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信号引出点（测量点） </a:t>
            </a:r>
          </a:p>
        </p:txBody>
      </p:sp>
      <p:sp>
        <p:nvSpPr>
          <p:cNvPr id="109572" name="Rectangle 4"/>
          <p:cNvSpPr>
            <a:spLocks noChangeArrowheads="1"/>
          </p:cNvSpPr>
          <p:nvPr/>
        </p:nvSpPr>
        <p:spPr bwMode="auto">
          <a:xfrm>
            <a:off x="1524000" y="227965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表示信号引出或测量的位置和传递方向。</a:t>
            </a:r>
            <a:r>
              <a:rPr lang="zh-CN" altLang="en-US" sz="2800">
                <a:latin typeface="Times New Roman" panose="02020603050405020304" pitchFamily="18" charset="0"/>
              </a:rPr>
              <a:t> </a:t>
            </a:r>
          </a:p>
        </p:txBody>
      </p:sp>
      <p:sp>
        <p:nvSpPr>
          <p:cNvPr id="109573" name="Rectangle 5"/>
          <p:cNvSpPr>
            <a:spLocks noChangeArrowheads="1"/>
          </p:cNvSpPr>
          <p:nvPr/>
        </p:nvSpPr>
        <p:spPr bwMode="auto">
          <a:xfrm>
            <a:off x="1524000" y="2813050"/>
            <a:ext cx="7086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同一信号线上引出的信号，其性质、大小完全一样。</a:t>
            </a:r>
            <a:r>
              <a:rPr lang="zh-CN" altLang="en-US" sz="2800">
                <a:latin typeface="Times New Roman" panose="02020603050405020304" pitchFamily="18" charset="0"/>
              </a:rPr>
              <a:t> </a:t>
            </a:r>
          </a:p>
        </p:txBody>
      </p:sp>
      <p:grpSp>
        <p:nvGrpSpPr>
          <p:cNvPr id="2" name="Group 6"/>
          <p:cNvGrpSpPr>
            <a:grpSpLocks/>
          </p:cNvGrpSpPr>
          <p:nvPr/>
        </p:nvGrpSpPr>
        <p:grpSpPr bwMode="auto">
          <a:xfrm>
            <a:off x="1743075" y="3962400"/>
            <a:ext cx="6443663" cy="2362200"/>
            <a:chOff x="1098" y="2352"/>
            <a:chExt cx="4059" cy="1488"/>
          </a:xfrm>
        </p:grpSpPr>
        <p:sp>
          <p:nvSpPr>
            <p:cNvPr id="77830" name="AutoShape 7"/>
            <p:cNvSpPr>
              <a:spLocks noChangeArrowheads="1"/>
            </p:cNvSpPr>
            <p:nvPr/>
          </p:nvSpPr>
          <p:spPr bwMode="auto">
            <a:xfrm>
              <a:off x="2784" y="2880"/>
              <a:ext cx="637" cy="288"/>
            </a:xfrm>
            <a:prstGeom prst="leftRightArrow">
              <a:avLst>
                <a:gd name="adj1" fmla="val 50000"/>
                <a:gd name="adj2" fmla="val 44175"/>
              </a:avLst>
            </a:prstGeom>
            <a:solidFill>
              <a:schemeClr val="accent2"/>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7831" name="Text Box 8"/>
            <p:cNvSpPr txBox="1">
              <a:spLocks noChangeArrowheads="1"/>
            </p:cNvSpPr>
            <p:nvPr/>
          </p:nvSpPr>
          <p:spPr bwMode="auto">
            <a:xfrm>
              <a:off x="2889" y="3552"/>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引出线</a:t>
              </a:r>
            </a:p>
          </p:txBody>
        </p:sp>
        <p:grpSp>
          <p:nvGrpSpPr>
            <p:cNvPr id="77832" name="Group 9"/>
            <p:cNvGrpSpPr>
              <a:grpSpLocks/>
            </p:cNvGrpSpPr>
            <p:nvPr/>
          </p:nvGrpSpPr>
          <p:grpSpPr bwMode="auto">
            <a:xfrm>
              <a:off x="1098" y="2352"/>
              <a:ext cx="1450" cy="1200"/>
              <a:chOff x="1098" y="2352"/>
              <a:chExt cx="1450" cy="1200"/>
            </a:xfrm>
          </p:grpSpPr>
          <p:sp>
            <p:nvSpPr>
              <p:cNvPr id="77844" name="Line 10"/>
              <p:cNvSpPr>
                <a:spLocks noChangeShapeType="1"/>
              </p:cNvSpPr>
              <p:nvPr/>
            </p:nvSpPr>
            <p:spPr bwMode="auto">
              <a:xfrm>
                <a:off x="1098" y="2685"/>
                <a:ext cx="142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45" name="Line 11"/>
              <p:cNvSpPr>
                <a:spLocks noChangeShapeType="1"/>
              </p:cNvSpPr>
              <p:nvPr/>
            </p:nvSpPr>
            <p:spPr bwMode="auto">
              <a:xfrm>
                <a:off x="1968" y="2685"/>
                <a:ext cx="0" cy="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6" name="Line 12"/>
              <p:cNvSpPr>
                <a:spLocks noChangeShapeType="1"/>
              </p:cNvSpPr>
              <p:nvPr/>
            </p:nvSpPr>
            <p:spPr bwMode="auto">
              <a:xfrm flipH="1" flipV="1">
                <a:off x="1098" y="3260"/>
                <a:ext cx="870" cy="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47" name="Line 13"/>
              <p:cNvSpPr>
                <a:spLocks noChangeShapeType="1"/>
              </p:cNvSpPr>
              <p:nvPr/>
            </p:nvSpPr>
            <p:spPr bwMode="auto">
              <a:xfrm>
                <a:off x="1444" y="2685"/>
                <a:ext cx="0" cy="3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8" name="Line 14"/>
              <p:cNvSpPr>
                <a:spLocks noChangeShapeType="1"/>
              </p:cNvSpPr>
              <p:nvPr/>
            </p:nvSpPr>
            <p:spPr bwMode="auto">
              <a:xfrm>
                <a:off x="1444" y="3023"/>
                <a:ext cx="1052"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49" name="Rectangle 15"/>
              <p:cNvSpPr>
                <a:spLocks noChangeArrowheads="1"/>
              </p:cNvSpPr>
              <p:nvPr/>
            </p:nvSpPr>
            <p:spPr bwMode="auto">
              <a:xfrm>
                <a:off x="2112" y="2352"/>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7850" name="Rectangle 16"/>
              <p:cNvSpPr>
                <a:spLocks noChangeArrowheads="1"/>
              </p:cNvSpPr>
              <p:nvPr/>
            </p:nvSpPr>
            <p:spPr bwMode="auto">
              <a:xfrm>
                <a:off x="2112" y="3024"/>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7851" name="Rectangle 17"/>
              <p:cNvSpPr>
                <a:spLocks noChangeArrowheads="1"/>
              </p:cNvSpPr>
              <p:nvPr/>
            </p:nvSpPr>
            <p:spPr bwMode="auto">
              <a:xfrm>
                <a:off x="1104" y="3264"/>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7852" name="Oval 18"/>
              <p:cNvSpPr>
                <a:spLocks noChangeArrowheads="1"/>
              </p:cNvSpPr>
              <p:nvPr/>
            </p:nvSpPr>
            <p:spPr bwMode="auto">
              <a:xfrm>
                <a:off x="1416" y="2672"/>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7853" name="Oval 19"/>
              <p:cNvSpPr>
                <a:spLocks noChangeArrowheads="1"/>
              </p:cNvSpPr>
              <p:nvPr/>
            </p:nvSpPr>
            <p:spPr bwMode="auto">
              <a:xfrm>
                <a:off x="1936" y="2664"/>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77833" name="Group 20"/>
            <p:cNvGrpSpPr>
              <a:grpSpLocks/>
            </p:cNvGrpSpPr>
            <p:nvPr/>
          </p:nvGrpSpPr>
          <p:grpSpPr bwMode="auto">
            <a:xfrm>
              <a:off x="3696" y="2400"/>
              <a:ext cx="1461" cy="1152"/>
              <a:chOff x="3867" y="2400"/>
              <a:chExt cx="1461" cy="1152"/>
            </a:xfrm>
          </p:grpSpPr>
          <p:sp>
            <p:nvSpPr>
              <p:cNvPr id="77834" name="Line 21"/>
              <p:cNvSpPr>
                <a:spLocks noChangeShapeType="1"/>
              </p:cNvSpPr>
              <p:nvPr/>
            </p:nvSpPr>
            <p:spPr bwMode="auto">
              <a:xfrm>
                <a:off x="3867" y="2685"/>
                <a:ext cx="146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5" name="Line 22"/>
              <p:cNvSpPr>
                <a:spLocks noChangeShapeType="1"/>
              </p:cNvSpPr>
              <p:nvPr/>
            </p:nvSpPr>
            <p:spPr bwMode="auto">
              <a:xfrm>
                <a:off x="4405" y="2685"/>
                <a:ext cx="0" cy="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6" name="Line 23"/>
              <p:cNvSpPr>
                <a:spLocks noChangeShapeType="1"/>
              </p:cNvSpPr>
              <p:nvPr/>
            </p:nvSpPr>
            <p:spPr bwMode="auto">
              <a:xfrm flipH="1">
                <a:off x="3867" y="3260"/>
                <a:ext cx="53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7" name="Line 24"/>
              <p:cNvSpPr>
                <a:spLocks noChangeShapeType="1"/>
              </p:cNvSpPr>
              <p:nvPr/>
            </p:nvSpPr>
            <p:spPr bwMode="auto">
              <a:xfrm>
                <a:off x="4636" y="2685"/>
                <a:ext cx="0" cy="3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8" name="Line 25"/>
              <p:cNvSpPr>
                <a:spLocks noChangeShapeType="1"/>
              </p:cNvSpPr>
              <p:nvPr/>
            </p:nvSpPr>
            <p:spPr bwMode="auto">
              <a:xfrm>
                <a:off x="4636" y="3023"/>
                <a:ext cx="65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9" name="Rectangle 26"/>
              <p:cNvSpPr>
                <a:spLocks noChangeArrowheads="1"/>
              </p:cNvSpPr>
              <p:nvPr/>
            </p:nvSpPr>
            <p:spPr bwMode="auto">
              <a:xfrm>
                <a:off x="4800" y="2400"/>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7840" name="Rectangle 27"/>
              <p:cNvSpPr>
                <a:spLocks noChangeArrowheads="1"/>
              </p:cNvSpPr>
              <p:nvPr/>
            </p:nvSpPr>
            <p:spPr bwMode="auto">
              <a:xfrm>
                <a:off x="4800" y="3024"/>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7841" name="Rectangle 28"/>
              <p:cNvSpPr>
                <a:spLocks noChangeArrowheads="1"/>
              </p:cNvSpPr>
              <p:nvPr/>
            </p:nvSpPr>
            <p:spPr bwMode="auto">
              <a:xfrm>
                <a:off x="3936" y="3264"/>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7842" name="Oval 29"/>
              <p:cNvSpPr>
                <a:spLocks noChangeArrowheads="1"/>
              </p:cNvSpPr>
              <p:nvPr/>
            </p:nvSpPr>
            <p:spPr bwMode="auto">
              <a:xfrm>
                <a:off x="4376" y="2672"/>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7843" name="Oval 30"/>
              <p:cNvSpPr>
                <a:spLocks noChangeArrowheads="1"/>
              </p:cNvSpPr>
              <p:nvPr/>
            </p:nvSpPr>
            <p:spPr bwMode="auto">
              <a:xfrm>
                <a:off x="4608" y="2656"/>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572"/>
                                        </p:tgtEl>
                                        <p:attrNameLst>
                                          <p:attrName>style.visibility</p:attrName>
                                        </p:attrNameLst>
                                      </p:cBhvr>
                                      <p:to>
                                        <p:strVal val="visible"/>
                                      </p:to>
                                    </p:set>
                                    <p:anim calcmode="lin" valueType="num">
                                      <p:cBhvr additive="base">
                                        <p:cTn id="7" dur="500" fill="hold"/>
                                        <p:tgtEl>
                                          <p:spTgt spid="109572"/>
                                        </p:tgtEl>
                                        <p:attrNameLst>
                                          <p:attrName>ppt_x</p:attrName>
                                        </p:attrNameLst>
                                      </p:cBhvr>
                                      <p:tavLst>
                                        <p:tav tm="0">
                                          <p:val>
                                            <p:strVal val="#ppt_x"/>
                                          </p:val>
                                        </p:tav>
                                        <p:tav tm="100000">
                                          <p:val>
                                            <p:strVal val="#ppt_x"/>
                                          </p:val>
                                        </p:tav>
                                      </p:tavLst>
                                    </p:anim>
                                    <p:anim calcmode="lin" valueType="num">
                                      <p:cBhvr additive="base">
                                        <p:cTn id="8" dur="500" fill="hold"/>
                                        <p:tgtEl>
                                          <p:spTgt spid="10957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9573"/>
                                        </p:tgtEl>
                                        <p:attrNameLst>
                                          <p:attrName>style.visibility</p:attrName>
                                        </p:attrNameLst>
                                      </p:cBhvr>
                                      <p:to>
                                        <p:strVal val="visible"/>
                                      </p:to>
                                    </p:set>
                                    <p:anim calcmode="lin" valueType="num">
                                      <p:cBhvr additive="base">
                                        <p:cTn id="19" dur="500" fill="hold"/>
                                        <p:tgtEl>
                                          <p:spTgt spid="109573"/>
                                        </p:tgtEl>
                                        <p:attrNameLst>
                                          <p:attrName>ppt_x</p:attrName>
                                        </p:attrNameLst>
                                      </p:cBhvr>
                                      <p:tavLst>
                                        <p:tav tm="0">
                                          <p:val>
                                            <p:strVal val="#ppt_x"/>
                                          </p:val>
                                        </p:tav>
                                        <p:tav tm="100000">
                                          <p:val>
                                            <p:strVal val="#ppt_x"/>
                                          </p:val>
                                        </p:tav>
                                      </p:tavLst>
                                    </p:anim>
                                    <p:anim calcmode="lin" valueType="num">
                                      <p:cBhvr additive="base">
                                        <p:cTn id="20" dur="500" fill="hold"/>
                                        <p:tgtEl>
                                          <p:spTgt spid="1095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p:bldP spid="10957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ChangeArrowheads="1"/>
          </p:cNvSpPr>
          <p:nvPr/>
        </p:nvSpPr>
        <p:spPr bwMode="auto">
          <a:xfrm>
            <a:off x="1524000" y="1600200"/>
            <a:ext cx="411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函数方框</a:t>
            </a:r>
            <a:r>
              <a:rPr lang="en-US" altLang="zh-CN" sz="2800">
                <a:latin typeface="宋体" panose="02010600030101010101" pitchFamily="2" charset="-122"/>
              </a:rPr>
              <a:t>(</a:t>
            </a:r>
            <a:r>
              <a:rPr lang="zh-CN" altLang="en-US" sz="2800">
                <a:latin typeface="宋体" panose="02010600030101010101" pitchFamily="2" charset="-122"/>
              </a:rPr>
              <a:t>环节</a:t>
            </a:r>
            <a:r>
              <a:rPr lang="en-US" altLang="zh-CN" sz="2800">
                <a:latin typeface="宋体" panose="02010600030101010101" pitchFamily="2" charset="-122"/>
              </a:rPr>
              <a:t>) </a:t>
            </a:r>
          </a:p>
        </p:txBody>
      </p:sp>
      <p:grpSp>
        <p:nvGrpSpPr>
          <p:cNvPr id="2" name="Group 4"/>
          <p:cNvGrpSpPr>
            <a:grpSpLocks/>
          </p:cNvGrpSpPr>
          <p:nvPr/>
        </p:nvGrpSpPr>
        <p:grpSpPr bwMode="auto">
          <a:xfrm>
            <a:off x="2286000" y="3049588"/>
            <a:ext cx="4648200" cy="1674812"/>
            <a:chOff x="1440" y="1537"/>
            <a:chExt cx="2928" cy="1055"/>
          </a:xfrm>
        </p:grpSpPr>
        <p:sp>
          <p:nvSpPr>
            <p:cNvPr id="79879" name="Rectangle 5"/>
            <p:cNvSpPr>
              <a:spLocks noChangeArrowheads="1"/>
            </p:cNvSpPr>
            <p:nvPr/>
          </p:nvSpPr>
          <p:spPr bwMode="auto">
            <a:xfrm>
              <a:off x="2528" y="1662"/>
              <a:ext cx="864" cy="52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800" i="1">
                  <a:latin typeface="Times New Roman" panose="02020603050405020304" pitchFamily="18" charset="0"/>
                </a:rPr>
                <a:t>G</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79880" name="Line 6"/>
            <p:cNvSpPr>
              <a:spLocks noChangeShapeType="1"/>
            </p:cNvSpPr>
            <p:nvPr/>
          </p:nvSpPr>
          <p:spPr bwMode="auto">
            <a:xfrm>
              <a:off x="1440" y="1922"/>
              <a:ext cx="10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81" name="Line 7"/>
            <p:cNvSpPr>
              <a:spLocks noChangeShapeType="1"/>
            </p:cNvSpPr>
            <p:nvPr/>
          </p:nvSpPr>
          <p:spPr bwMode="auto">
            <a:xfrm>
              <a:off x="3392" y="1922"/>
              <a:ext cx="97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82" name="Text Box 8"/>
            <p:cNvSpPr txBox="1">
              <a:spLocks noChangeArrowheads="1"/>
            </p:cNvSpPr>
            <p:nvPr/>
          </p:nvSpPr>
          <p:spPr bwMode="auto">
            <a:xfrm>
              <a:off x="1574" y="1545"/>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X</a:t>
              </a:r>
              <a:r>
                <a:rPr lang="en-US" altLang="zh-CN" sz="2900" baseline="-25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79883" name="Text Box 9"/>
            <p:cNvSpPr txBox="1">
              <a:spLocks noChangeArrowheads="1"/>
            </p:cNvSpPr>
            <p:nvPr/>
          </p:nvSpPr>
          <p:spPr bwMode="auto">
            <a:xfrm>
              <a:off x="3658" y="1537"/>
              <a:ext cx="56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X</a:t>
              </a:r>
              <a:r>
                <a:rPr lang="en-US" altLang="zh-CN" sz="2900" baseline="-25000">
                  <a:latin typeface="Times New Roman" panose="02020603050405020304" pitchFamily="18" charset="0"/>
                </a:rPr>
                <a:t>2</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79884" name="Text Box 10"/>
            <p:cNvSpPr txBox="1">
              <a:spLocks noChangeArrowheads="1"/>
            </p:cNvSpPr>
            <p:nvPr/>
          </p:nvSpPr>
          <p:spPr bwMode="auto">
            <a:xfrm>
              <a:off x="2444" y="2264"/>
              <a:ext cx="101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函数方框</a:t>
              </a:r>
            </a:p>
          </p:txBody>
        </p:sp>
      </p:grpSp>
      <p:sp>
        <p:nvSpPr>
          <p:cNvPr id="111627" name="Rectangle 11"/>
          <p:cNvSpPr>
            <a:spLocks noChangeArrowheads="1"/>
          </p:cNvSpPr>
          <p:nvPr/>
        </p:nvSpPr>
        <p:spPr bwMode="auto">
          <a:xfrm>
            <a:off x="1600200" y="4876800"/>
            <a:ext cx="6705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函数方块具有运算功能，即：</a:t>
            </a:r>
            <a:r>
              <a:rPr lang="zh-CN" altLang="en-US" sz="2800">
                <a:latin typeface="Times New Roman" panose="02020603050405020304" pitchFamily="18" charset="0"/>
              </a:rPr>
              <a:t> </a:t>
            </a:r>
          </a:p>
        </p:txBody>
      </p:sp>
      <p:sp>
        <p:nvSpPr>
          <p:cNvPr id="111628" name="Rectangle 12"/>
          <p:cNvSpPr>
            <a:spLocks noChangeArrowheads="1"/>
          </p:cNvSpPr>
          <p:nvPr/>
        </p:nvSpPr>
        <p:spPr bwMode="auto">
          <a:xfrm>
            <a:off x="3352800" y="5562600"/>
            <a:ext cx="266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X</a:t>
            </a:r>
            <a:r>
              <a:rPr lang="en-US" altLang="zh-CN" sz="2900" baseline="-20000">
                <a:latin typeface="Times New Roman" panose="02020603050405020304" pitchFamily="18" charset="0"/>
              </a:rPr>
              <a:t>2</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G</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X</a:t>
            </a:r>
            <a:r>
              <a:rPr lang="en-US" altLang="zh-CN" sz="2900" baseline="-20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p>
        </p:txBody>
      </p:sp>
      <p:sp>
        <p:nvSpPr>
          <p:cNvPr id="111629" name="Rectangle 13"/>
          <p:cNvSpPr>
            <a:spLocks noChangeArrowheads="1"/>
          </p:cNvSpPr>
          <p:nvPr/>
        </p:nvSpPr>
        <p:spPr bwMode="auto">
          <a:xfrm>
            <a:off x="1600200" y="2209800"/>
            <a:ext cx="3740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传递函数的图解表示。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1629"/>
                                        </p:tgtEl>
                                        <p:attrNameLst>
                                          <p:attrName>style.visibility</p:attrName>
                                        </p:attrNameLst>
                                      </p:cBhvr>
                                      <p:to>
                                        <p:strVal val="visible"/>
                                      </p:to>
                                    </p:set>
                                    <p:anim calcmode="lin" valueType="num">
                                      <p:cBhvr additive="base">
                                        <p:cTn id="7" dur="500" fill="hold"/>
                                        <p:tgtEl>
                                          <p:spTgt spid="111629"/>
                                        </p:tgtEl>
                                        <p:attrNameLst>
                                          <p:attrName>ppt_x</p:attrName>
                                        </p:attrNameLst>
                                      </p:cBhvr>
                                      <p:tavLst>
                                        <p:tav tm="0">
                                          <p:val>
                                            <p:strVal val="#ppt_x"/>
                                          </p:val>
                                        </p:tav>
                                        <p:tav tm="100000">
                                          <p:val>
                                            <p:strVal val="#ppt_x"/>
                                          </p:val>
                                        </p:tav>
                                      </p:tavLst>
                                    </p:anim>
                                    <p:anim calcmode="lin" valueType="num">
                                      <p:cBhvr additive="base">
                                        <p:cTn id="8" dur="500" fill="hold"/>
                                        <p:tgtEl>
                                          <p:spTgt spid="11162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1627"/>
                                        </p:tgtEl>
                                        <p:attrNameLst>
                                          <p:attrName>style.visibility</p:attrName>
                                        </p:attrNameLst>
                                      </p:cBhvr>
                                      <p:to>
                                        <p:strVal val="visible"/>
                                      </p:to>
                                    </p:set>
                                    <p:anim calcmode="lin" valueType="num">
                                      <p:cBhvr additive="base">
                                        <p:cTn id="19" dur="500" fill="hold"/>
                                        <p:tgtEl>
                                          <p:spTgt spid="111627"/>
                                        </p:tgtEl>
                                        <p:attrNameLst>
                                          <p:attrName>ppt_x</p:attrName>
                                        </p:attrNameLst>
                                      </p:cBhvr>
                                      <p:tavLst>
                                        <p:tav tm="0">
                                          <p:val>
                                            <p:strVal val="#ppt_x"/>
                                          </p:val>
                                        </p:tav>
                                        <p:tav tm="100000">
                                          <p:val>
                                            <p:strVal val="#ppt_x"/>
                                          </p:val>
                                        </p:tav>
                                      </p:tavLst>
                                    </p:anim>
                                    <p:anim calcmode="lin" valueType="num">
                                      <p:cBhvr additive="base">
                                        <p:cTn id="20" dur="500" fill="hold"/>
                                        <p:tgtEl>
                                          <p:spTgt spid="11162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1628"/>
                                        </p:tgtEl>
                                        <p:attrNameLst>
                                          <p:attrName>style.visibility</p:attrName>
                                        </p:attrNameLst>
                                      </p:cBhvr>
                                      <p:to>
                                        <p:strVal val="visible"/>
                                      </p:to>
                                    </p:set>
                                    <p:anim calcmode="lin" valueType="num">
                                      <p:cBhvr additive="base">
                                        <p:cTn id="25" dur="500" fill="hold"/>
                                        <p:tgtEl>
                                          <p:spTgt spid="111628"/>
                                        </p:tgtEl>
                                        <p:attrNameLst>
                                          <p:attrName>ppt_x</p:attrName>
                                        </p:attrNameLst>
                                      </p:cBhvr>
                                      <p:tavLst>
                                        <p:tav tm="0">
                                          <p:val>
                                            <p:strVal val="#ppt_x"/>
                                          </p:val>
                                        </p:tav>
                                        <p:tav tm="100000">
                                          <p:val>
                                            <p:strVal val="#ppt_x"/>
                                          </p:val>
                                        </p:tav>
                                      </p:tavLst>
                                    </p:anim>
                                    <p:anim calcmode="lin" valueType="num">
                                      <p:cBhvr additive="base">
                                        <p:cTn id="26" dur="500" fill="hold"/>
                                        <p:tgtEl>
                                          <p:spTgt spid="1116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7" grpId="0"/>
      <p:bldP spid="111628" grpId="0"/>
      <p:bldP spid="11162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1403350" y="1052513"/>
            <a:ext cx="5486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求和点（比较点、综合点）</a:t>
            </a:r>
          </a:p>
        </p:txBody>
      </p:sp>
      <p:sp>
        <p:nvSpPr>
          <p:cNvPr id="113668" name="Rectangle 4"/>
          <p:cNvSpPr>
            <a:spLocks noChangeArrowheads="1"/>
          </p:cNvSpPr>
          <p:nvPr/>
        </p:nvSpPr>
        <p:spPr bwMode="auto">
          <a:xfrm>
            <a:off x="1476375" y="1773238"/>
            <a:ext cx="68580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宋体" panose="02010600030101010101" pitchFamily="2" charset="-122"/>
              </a:rPr>
              <a:t>信号之间代数加减运算的图解。用符号</a:t>
            </a:r>
            <a:r>
              <a:rPr lang="zh-CN" altLang="en-US" sz="2800">
                <a:latin typeface="Times New Roman" panose="02020603050405020304" pitchFamily="18" charset="0"/>
              </a:rPr>
              <a:t>“</a:t>
            </a:r>
            <a:r>
              <a:rPr lang="zh-CN" altLang="en-US" sz="2800" b="1">
                <a:solidFill>
                  <a:srgbClr val="CC0000"/>
                </a:solidFill>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a:t>
            </a:r>
            <a:r>
              <a:rPr lang="zh-CN" altLang="en-US" sz="2800">
                <a:latin typeface="宋体" panose="02010600030101010101" pitchFamily="2" charset="-122"/>
              </a:rPr>
              <a:t>及相应的信号箭头表示，每个箭头前方的</a:t>
            </a:r>
          </a:p>
          <a:p>
            <a:pPr eaLnBrk="1" hangingPunct="1">
              <a:lnSpc>
                <a:spcPct val="115000"/>
              </a:lnSpc>
            </a:pPr>
            <a:r>
              <a:rPr lang="zh-CN" altLang="en-US" sz="2800">
                <a:latin typeface="Times New Roman" panose="02020603050405020304" pitchFamily="18" charset="0"/>
              </a:rPr>
              <a:t>“</a:t>
            </a:r>
            <a:r>
              <a:rPr lang="en-US" altLang="zh-CN" sz="2800">
                <a:latin typeface="Times New Roman" panose="02020603050405020304" pitchFamily="18" charset="0"/>
              </a:rPr>
              <a:t>+”</a:t>
            </a:r>
            <a:r>
              <a:rPr lang="zh-CN" altLang="en-US" sz="2800">
                <a:latin typeface="宋体" panose="02010600030101010101" pitchFamily="2" charset="-122"/>
              </a:rPr>
              <a:t>或</a:t>
            </a:r>
            <a:r>
              <a:rPr lang="zh-CN" altLang="en-US" sz="2800">
                <a:latin typeface="Times New Roman" panose="02020603050405020304" pitchFamily="18" charset="0"/>
              </a:rPr>
              <a:t>“</a:t>
            </a:r>
            <a:r>
              <a:rPr lang="en-US" altLang="zh-CN" sz="2800">
                <a:latin typeface="Times New Roman" panose="02020603050405020304" pitchFamily="18" charset="0"/>
              </a:rPr>
              <a:t>-”</a:t>
            </a:r>
            <a:r>
              <a:rPr lang="zh-CN" altLang="en-US" sz="2800">
                <a:latin typeface="宋体" panose="02010600030101010101" pitchFamily="2" charset="-122"/>
              </a:rPr>
              <a:t>表示加上此信号或减去此信号。</a:t>
            </a:r>
            <a:r>
              <a:rPr lang="zh-CN" altLang="en-US" sz="2800">
                <a:latin typeface="Times New Roman" panose="02020603050405020304" pitchFamily="18" charset="0"/>
              </a:rPr>
              <a:t> </a:t>
            </a:r>
          </a:p>
        </p:txBody>
      </p:sp>
      <p:sp>
        <p:nvSpPr>
          <p:cNvPr id="113669" name="Rectangle 5"/>
          <p:cNvSpPr>
            <a:spLocks noChangeArrowheads="1"/>
          </p:cNvSpPr>
          <p:nvPr/>
        </p:nvSpPr>
        <p:spPr bwMode="auto">
          <a:xfrm>
            <a:off x="1476375" y="5159375"/>
            <a:ext cx="7010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相邻求和点可以互换、合并、分解，即满足代数运算的交换律、结合律和分配律。 </a:t>
            </a:r>
          </a:p>
        </p:txBody>
      </p:sp>
      <p:grpSp>
        <p:nvGrpSpPr>
          <p:cNvPr id="2" name="Group 6"/>
          <p:cNvGrpSpPr>
            <a:grpSpLocks/>
          </p:cNvGrpSpPr>
          <p:nvPr/>
        </p:nvGrpSpPr>
        <p:grpSpPr bwMode="auto">
          <a:xfrm>
            <a:off x="3076575" y="3489325"/>
            <a:ext cx="3484563" cy="1612900"/>
            <a:chOff x="2256" y="2296"/>
            <a:chExt cx="2195" cy="1016"/>
          </a:xfrm>
        </p:grpSpPr>
        <p:sp>
          <p:nvSpPr>
            <p:cNvPr id="81926" name="Text Box 7"/>
            <p:cNvSpPr txBox="1">
              <a:spLocks noChangeArrowheads="1"/>
            </p:cNvSpPr>
            <p:nvPr/>
          </p:nvSpPr>
          <p:spPr bwMode="auto">
            <a:xfrm>
              <a:off x="2932" y="2370"/>
              <a:ext cx="41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800">
                  <a:latin typeface="Times New Roman" panose="02020603050405020304" pitchFamily="18" charset="0"/>
                  <a:sym typeface="Symbol" panose="05050102010706020507" pitchFamily="18" charset="2"/>
                </a:rPr>
                <a:t></a:t>
              </a:r>
              <a:endParaRPr lang="en-US" altLang="zh-CN" sz="4800">
                <a:latin typeface="Times New Roman" panose="02020603050405020304" pitchFamily="18" charset="0"/>
              </a:endParaRPr>
            </a:p>
          </p:txBody>
        </p:sp>
        <p:sp>
          <p:nvSpPr>
            <p:cNvPr id="81927" name="Line 8"/>
            <p:cNvSpPr>
              <a:spLocks noChangeShapeType="1"/>
            </p:cNvSpPr>
            <p:nvPr/>
          </p:nvSpPr>
          <p:spPr bwMode="auto">
            <a:xfrm flipV="1">
              <a:off x="3120" y="2760"/>
              <a:ext cx="0" cy="4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28" name="Line 9"/>
            <p:cNvSpPr>
              <a:spLocks noChangeShapeType="1"/>
            </p:cNvSpPr>
            <p:nvPr/>
          </p:nvSpPr>
          <p:spPr bwMode="auto">
            <a:xfrm>
              <a:off x="2256" y="2640"/>
              <a:ext cx="753" cy="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29" name="Line 10"/>
            <p:cNvSpPr>
              <a:spLocks noChangeShapeType="1"/>
            </p:cNvSpPr>
            <p:nvPr/>
          </p:nvSpPr>
          <p:spPr bwMode="auto">
            <a:xfrm flipV="1">
              <a:off x="3240" y="2640"/>
              <a:ext cx="1176" cy="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0" name="Rectangle 11"/>
            <p:cNvSpPr>
              <a:spLocks noChangeArrowheads="1"/>
            </p:cNvSpPr>
            <p:nvPr/>
          </p:nvSpPr>
          <p:spPr bwMode="auto">
            <a:xfrm>
              <a:off x="2256" y="2313"/>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X</a:t>
              </a:r>
              <a:r>
                <a:rPr lang="en-US" altLang="zh-CN" sz="2900" baseline="-25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81931" name="Rectangle 12"/>
            <p:cNvSpPr>
              <a:spLocks noChangeArrowheads="1"/>
            </p:cNvSpPr>
            <p:nvPr/>
          </p:nvSpPr>
          <p:spPr bwMode="auto">
            <a:xfrm>
              <a:off x="3168" y="2985"/>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X</a:t>
              </a:r>
              <a:r>
                <a:rPr lang="en-US" altLang="zh-CN" sz="2900" baseline="-25000">
                  <a:latin typeface="Times New Roman" panose="02020603050405020304" pitchFamily="18" charset="0"/>
                </a:rPr>
                <a:t>2</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81932" name="Rectangle 13"/>
            <p:cNvSpPr>
              <a:spLocks noChangeArrowheads="1"/>
            </p:cNvSpPr>
            <p:nvPr/>
          </p:nvSpPr>
          <p:spPr bwMode="auto">
            <a:xfrm>
              <a:off x="3312" y="2296"/>
              <a:ext cx="113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X</a:t>
              </a:r>
              <a:r>
                <a:rPr lang="en-US" altLang="zh-CN" sz="2900" baseline="-25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X</a:t>
              </a:r>
              <a:r>
                <a:rPr lang="en-US" altLang="zh-CN" sz="2900" baseline="-25000">
                  <a:latin typeface="Times New Roman" panose="02020603050405020304" pitchFamily="18" charset="0"/>
                </a:rPr>
                <a:t>2</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81933" name="Rectangle 14"/>
            <p:cNvSpPr>
              <a:spLocks noChangeArrowheads="1"/>
            </p:cNvSpPr>
            <p:nvPr/>
          </p:nvSpPr>
          <p:spPr bwMode="auto">
            <a:xfrm>
              <a:off x="3121" y="2745"/>
              <a:ext cx="23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b="1">
                  <a:latin typeface="Times New Roman" panose="02020603050405020304" pitchFamily="18" charset="0"/>
                  <a:sym typeface="Symbol" panose="05050102010706020507" pitchFamily="18" charset="2"/>
                </a:rPr>
                <a:t></a:t>
              </a:r>
              <a:endParaRPr lang="en-US" altLang="zh-CN" sz="2800" b="1">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668"/>
                                        </p:tgtEl>
                                        <p:attrNameLst>
                                          <p:attrName>style.visibility</p:attrName>
                                        </p:attrNameLst>
                                      </p:cBhvr>
                                      <p:to>
                                        <p:strVal val="visible"/>
                                      </p:to>
                                    </p:set>
                                    <p:anim calcmode="lin" valueType="num">
                                      <p:cBhvr additive="base">
                                        <p:cTn id="7" dur="500" fill="hold"/>
                                        <p:tgtEl>
                                          <p:spTgt spid="113668"/>
                                        </p:tgtEl>
                                        <p:attrNameLst>
                                          <p:attrName>ppt_x</p:attrName>
                                        </p:attrNameLst>
                                      </p:cBhvr>
                                      <p:tavLst>
                                        <p:tav tm="0">
                                          <p:val>
                                            <p:strVal val="#ppt_x"/>
                                          </p:val>
                                        </p:tav>
                                        <p:tav tm="100000">
                                          <p:val>
                                            <p:strVal val="#ppt_x"/>
                                          </p:val>
                                        </p:tav>
                                      </p:tavLst>
                                    </p:anim>
                                    <p:anim calcmode="lin" valueType="num">
                                      <p:cBhvr additive="base">
                                        <p:cTn id="8" dur="500" fill="hold"/>
                                        <p:tgtEl>
                                          <p:spTgt spid="1136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3669"/>
                                        </p:tgtEl>
                                        <p:attrNameLst>
                                          <p:attrName>style.visibility</p:attrName>
                                        </p:attrNameLst>
                                      </p:cBhvr>
                                      <p:to>
                                        <p:strVal val="visible"/>
                                      </p:to>
                                    </p:set>
                                    <p:anim calcmode="lin" valueType="num">
                                      <p:cBhvr additive="base">
                                        <p:cTn id="19" dur="500" fill="hold"/>
                                        <p:tgtEl>
                                          <p:spTgt spid="113669"/>
                                        </p:tgtEl>
                                        <p:attrNameLst>
                                          <p:attrName>ppt_x</p:attrName>
                                        </p:attrNameLst>
                                      </p:cBhvr>
                                      <p:tavLst>
                                        <p:tav tm="0">
                                          <p:val>
                                            <p:strVal val="#ppt_x"/>
                                          </p:val>
                                        </p:tav>
                                        <p:tav tm="100000">
                                          <p:val>
                                            <p:strVal val="#ppt_x"/>
                                          </p:val>
                                        </p:tav>
                                      </p:tavLst>
                                    </p:anim>
                                    <p:anim calcmode="lin" valueType="num">
                                      <p:cBhvr additive="base">
                                        <p:cTn id="20" dur="500" fill="hold"/>
                                        <p:tgtEl>
                                          <p:spTgt spid="1136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p:bldP spid="11366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970" name="Group 3"/>
          <p:cNvGrpSpPr>
            <a:grpSpLocks/>
          </p:cNvGrpSpPr>
          <p:nvPr/>
        </p:nvGrpSpPr>
        <p:grpSpPr bwMode="auto">
          <a:xfrm>
            <a:off x="3055938" y="1447800"/>
            <a:ext cx="3116262" cy="1600200"/>
            <a:chOff x="192" y="1200"/>
            <a:chExt cx="1963" cy="1008"/>
          </a:xfrm>
        </p:grpSpPr>
        <p:sp>
          <p:nvSpPr>
            <p:cNvPr id="84004" name="Text Box 4"/>
            <p:cNvSpPr txBox="1">
              <a:spLocks noChangeArrowheads="1"/>
            </p:cNvSpPr>
            <p:nvPr/>
          </p:nvSpPr>
          <p:spPr bwMode="auto">
            <a:xfrm>
              <a:off x="480" y="1470"/>
              <a:ext cx="41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800">
                  <a:latin typeface="Times New Roman" panose="02020603050405020304" pitchFamily="18" charset="0"/>
                  <a:sym typeface="Symbol" panose="05050102010706020507" pitchFamily="18" charset="2"/>
                </a:rPr>
                <a:t></a:t>
              </a:r>
              <a:endParaRPr lang="en-US" altLang="zh-CN" sz="4800">
                <a:latin typeface="Times New Roman" panose="02020603050405020304" pitchFamily="18" charset="0"/>
              </a:endParaRPr>
            </a:p>
          </p:txBody>
        </p:sp>
        <p:sp>
          <p:nvSpPr>
            <p:cNvPr id="84005" name="Line 5"/>
            <p:cNvSpPr>
              <a:spLocks noChangeShapeType="1"/>
            </p:cNvSpPr>
            <p:nvPr/>
          </p:nvSpPr>
          <p:spPr bwMode="auto">
            <a:xfrm>
              <a:off x="677" y="1282"/>
              <a:ext cx="0" cy="34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06" name="Line 6"/>
            <p:cNvSpPr>
              <a:spLocks noChangeShapeType="1"/>
            </p:cNvSpPr>
            <p:nvPr/>
          </p:nvSpPr>
          <p:spPr bwMode="auto">
            <a:xfrm>
              <a:off x="216" y="1730"/>
              <a:ext cx="34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07" name="Text Box 7"/>
            <p:cNvSpPr txBox="1">
              <a:spLocks noChangeArrowheads="1"/>
            </p:cNvSpPr>
            <p:nvPr/>
          </p:nvSpPr>
          <p:spPr bwMode="auto">
            <a:xfrm>
              <a:off x="1199" y="1458"/>
              <a:ext cx="41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800">
                  <a:latin typeface="Times New Roman" panose="02020603050405020304" pitchFamily="18" charset="0"/>
                  <a:sym typeface="Symbol" panose="05050102010706020507" pitchFamily="18" charset="2"/>
                </a:rPr>
                <a:t></a:t>
              </a:r>
              <a:endParaRPr lang="en-US" altLang="zh-CN" sz="4800">
                <a:latin typeface="Times New Roman" panose="02020603050405020304" pitchFamily="18" charset="0"/>
              </a:endParaRPr>
            </a:p>
          </p:txBody>
        </p:sp>
        <p:sp>
          <p:nvSpPr>
            <p:cNvPr id="84008" name="Line 8"/>
            <p:cNvSpPr>
              <a:spLocks noChangeShapeType="1"/>
            </p:cNvSpPr>
            <p:nvPr/>
          </p:nvSpPr>
          <p:spPr bwMode="auto">
            <a:xfrm flipV="1">
              <a:off x="1367" y="1832"/>
              <a:ext cx="0" cy="34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09" name="Line 9"/>
            <p:cNvSpPr>
              <a:spLocks noChangeShapeType="1"/>
            </p:cNvSpPr>
            <p:nvPr/>
          </p:nvSpPr>
          <p:spPr bwMode="auto">
            <a:xfrm>
              <a:off x="816" y="1730"/>
              <a:ext cx="4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10" name="Line 10"/>
            <p:cNvSpPr>
              <a:spLocks noChangeShapeType="1"/>
            </p:cNvSpPr>
            <p:nvPr/>
          </p:nvSpPr>
          <p:spPr bwMode="auto">
            <a:xfrm>
              <a:off x="1507" y="1730"/>
              <a:ext cx="5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11" name="Text Box 11"/>
            <p:cNvSpPr txBox="1">
              <a:spLocks noChangeArrowheads="1"/>
            </p:cNvSpPr>
            <p:nvPr/>
          </p:nvSpPr>
          <p:spPr bwMode="auto">
            <a:xfrm>
              <a:off x="192" y="144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sp>
          <p:nvSpPr>
            <p:cNvPr id="84012" name="Text Box 12"/>
            <p:cNvSpPr txBox="1">
              <a:spLocks noChangeArrowheads="1"/>
            </p:cNvSpPr>
            <p:nvPr/>
          </p:nvSpPr>
          <p:spPr bwMode="auto">
            <a:xfrm>
              <a:off x="668" y="120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p>
          </p:txBody>
        </p:sp>
        <p:sp>
          <p:nvSpPr>
            <p:cNvPr id="84013" name="Line 13"/>
            <p:cNvSpPr>
              <a:spLocks noChangeShapeType="1"/>
            </p:cNvSpPr>
            <p:nvPr/>
          </p:nvSpPr>
          <p:spPr bwMode="auto">
            <a:xfrm>
              <a:off x="739" y="1488"/>
              <a:ext cx="7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14" name="Text Box 14"/>
            <p:cNvSpPr txBox="1">
              <a:spLocks noChangeArrowheads="1"/>
            </p:cNvSpPr>
            <p:nvPr/>
          </p:nvSpPr>
          <p:spPr bwMode="auto">
            <a:xfrm>
              <a:off x="816" y="1440"/>
              <a:ext cx="4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r>
                <a:rPr lang="en-US" altLang="zh-CN" sz="2400">
                  <a:latin typeface="Times New Roman" panose="02020603050405020304" pitchFamily="18" charset="0"/>
                </a:rPr>
                <a:t>-</a:t>
              </a:r>
              <a:r>
                <a:rPr lang="en-US" altLang="zh-CN" sz="2400" i="1">
                  <a:latin typeface="Times New Roman" panose="02020603050405020304" pitchFamily="18" charset="0"/>
                </a:rPr>
                <a:t>B</a:t>
              </a:r>
            </a:p>
          </p:txBody>
        </p:sp>
        <p:sp>
          <p:nvSpPr>
            <p:cNvPr id="84015" name="Text Box 15"/>
            <p:cNvSpPr txBox="1">
              <a:spLocks noChangeArrowheads="1"/>
            </p:cNvSpPr>
            <p:nvPr/>
          </p:nvSpPr>
          <p:spPr bwMode="auto">
            <a:xfrm>
              <a:off x="1388" y="192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p>
          </p:txBody>
        </p:sp>
        <p:sp>
          <p:nvSpPr>
            <p:cNvPr id="84016" name="Text Box 16"/>
            <p:cNvSpPr txBox="1">
              <a:spLocks noChangeArrowheads="1"/>
            </p:cNvSpPr>
            <p:nvPr/>
          </p:nvSpPr>
          <p:spPr bwMode="auto">
            <a:xfrm>
              <a:off x="1483" y="144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r>
                <a:rPr lang="en-US" altLang="zh-CN" sz="2400">
                  <a:latin typeface="Times New Roman" panose="02020603050405020304" pitchFamily="18" charset="0"/>
                </a:rPr>
                <a:t>-</a:t>
              </a:r>
              <a:r>
                <a:rPr lang="en-US" altLang="zh-CN" sz="2400" i="1">
                  <a:latin typeface="Times New Roman" panose="02020603050405020304" pitchFamily="18" charset="0"/>
                </a:rPr>
                <a:t>B+C</a:t>
              </a:r>
            </a:p>
          </p:txBody>
        </p:sp>
      </p:grpSp>
      <p:grpSp>
        <p:nvGrpSpPr>
          <p:cNvPr id="3" name="Group 17"/>
          <p:cNvGrpSpPr>
            <a:grpSpLocks/>
          </p:cNvGrpSpPr>
          <p:nvPr/>
        </p:nvGrpSpPr>
        <p:grpSpPr bwMode="auto">
          <a:xfrm>
            <a:off x="1066800" y="2667000"/>
            <a:ext cx="3048000" cy="2438400"/>
            <a:chOff x="480" y="1296"/>
            <a:chExt cx="1920" cy="1536"/>
          </a:xfrm>
        </p:grpSpPr>
        <p:grpSp>
          <p:nvGrpSpPr>
            <p:cNvPr id="83989" name="Group 18"/>
            <p:cNvGrpSpPr>
              <a:grpSpLocks/>
            </p:cNvGrpSpPr>
            <p:nvPr/>
          </p:nvGrpSpPr>
          <p:grpSpPr bwMode="auto">
            <a:xfrm>
              <a:off x="480" y="1824"/>
              <a:ext cx="1920" cy="1008"/>
              <a:chOff x="288" y="1632"/>
              <a:chExt cx="1920" cy="1008"/>
            </a:xfrm>
          </p:grpSpPr>
          <p:sp>
            <p:nvSpPr>
              <p:cNvPr id="83991" name="Text Box 19"/>
              <p:cNvSpPr txBox="1">
                <a:spLocks noChangeArrowheads="1"/>
              </p:cNvSpPr>
              <p:nvPr/>
            </p:nvSpPr>
            <p:spPr bwMode="auto">
              <a:xfrm>
                <a:off x="547" y="1890"/>
                <a:ext cx="41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800">
                    <a:latin typeface="Times New Roman" panose="02020603050405020304" pitchFamily="18" charset="0"/>
                    <a:sym typeface="Symbol" panose="05050102010706020507" pitchFamily="18" charset="2"/>
                  </a:rPr>
                  <a:t></a:t>
                </a:r>
                <a:endParaRPr lang="en-US" altLang="zh-CN" sz="4800">
                  <a:latin typeface="Times New Roman" panose="02020603050405020304" pitchFamily="18" charset="0"/>
                </a:endParaRPr>
              </a:p>
            </p:txBody>
          </p:sp>
          <p:sp>
            <p:nvSpPr>
              <p:cNvPr id="83992" name="Line 20"/>
              <p:cNvSpPr>
                <a:spLocks noChangeShapeType="1"/>
              </p:cNvSpPr>
              <p:nvPr/>
            </p:nvSpPr>
            <p:spPr bwMode="auto">
              <a:xfrm flipV="1">
                <a:off x="725" y="2264"/>
                <a:ext cx="0" cy="34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93" name="Line 21"/>
              <p:cNvSpPr>
                <a:spLocks noChangeShapeType="1"/>
              </p:cNvSpPr>
              <p:nvPr/>
            </p:nvSpPr>
            <p:spPr bwMode="auto">
              <a:xfrm>
                <a:off x="288" y="2162"/>
                <a:ext cx="34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94" name="Text Box 22"/>
              <p:cNvSpPr txBox="1">
                <a:spLocks noChangeArrowheads="1"/>
              </p:cNvSpPr>
              <p:nvPr/>
            </p:nvSpPr>
            <p:spPr bwMode="auto">
              <a:xfrm>
                <a:off x="1239" y="1890"/>
                <a:ext cx="41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800">
                    <a:latin typeface="Times New Roman" panose="02020603050405020304" pitchFamily="18" charset="0"/>
                    <a:sym typeface="Symbol" panose="05050102010706020507" pitchFamily="18" charset="2"/>
                  </a:rPr>
                  <a:t></a:t>
                </a:r>
                <a:endParaRPr lang="en-US" altLang="zh-CN" sz="4800">
                  <a:latin typeface="Times New Roman" panose="02020603050405020304" pitchFamily="18" charset="0"/>
                </a:endParaRPr>
              </a:p>
            </p:txBody>
          </p:sp>
          <p:sp>
            <p:nvSpPr>
              <p:cNvPr id="83995" name="Line 23"/>
              <p:cNvSpPr>
                <a:spLocks noChangeShapeType="1"/>
              </p:cNvSpPr>
              <p:nvPr/>
            </p:nvSpPr>
            <p:spPr bwMode="auto">
              <a:xfrm>
                <a:off x="1432" y="1704"/>
                <a:ext cx="0" cy="34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96" name="Line 24"/>
              <p:cNvSpPr>
                <a:spLocks noChangeShapeType="1"/>
              </p:cNvSpPr>
              <p:nvPr/>
            </p:nvSpPr>
            <p:spPr bwMode="auto">
              <a:xfrm>
                <a:off x="864" y="2162"/>
                <a:ext cx="4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97" name="Line 25"/>
              <p:cNvSpPr>
                <a:spLocks noChangeShapeType="1"/>
              </p:cNvSpPr>
              <p:nvPr/>
            </p:nvSpPr>
            <p:spPr bwMode="auto">
              <a:xfrm>
                <a:off x="1555" y="2162"/>
                <a:ext cx="5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98" name="Text Box 26"/>
              <p:cNvSpPr txBox="1">
                <a:spLocks noChangeArrowheads="1"/>
              </p:cNvSpPr>
              <p:nvPr/>
            </p:nvSpPr>
            <p:spPr bwMode="auto">
              <a:xfrm>
                <a:off x="1536" y="1872"/>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A+C</a:t>
                </a:r>
                <a:r>
                  <a:rPr lang="en-US" altLang="zh-CN" sz="2400">
                    <a:latin typeface="Times New Roman" panose="02020603050405020304" pitchFamily="18" charset="0"/>
                  </a:rPr>
                  <a:t>-</a:t>
                </a:r>
                <a:r>
                  <a:rPr lang="en-US" altLang="zh-CN" sz="2400" i="1">
                    <a:latin typeface="Times New Roman" panose="02020603050405020304" pitchFamily="18" charset="0"/>
                  </a:rPr>
                  <a:t>B</a:t>
                </a:r>
              </a:p>
            </p:txBody>
          </p:sp>
          <p:sp>
            <p:nvSpPr>
              <p:cNvPr id="83999" name="Line 27"/>
              <p:cNvSpPr>
                <a:spLocks noChangeShapeType="1"/>
              </p:cNvSpPr>
              <p:nvPr/>
            </p:nvSpPr>
            <p:spPr bwMode="auto">
              <a:xfrm>
                <a:off x="1507" y="1920"/>
                <a:ext cx="7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0" name="Text Box 28"/>
              <p:cNvSpPr txBox="1">
                <a:spLocks noChangeArrowheads="1"/>
              </p:cNvSpPr>
              <p:nvPr/>
            </p:nvSpPr>
            <p:spPr bwMode="auto">
              <a:xfrm>
                <a:off x="1423" y="163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p>
            </p:txBody>
          </p:sp>
          <p:sp>
            <p:nvSpPr>
              <p:cNvPr id="84001" name="Text Box 29"/>
              <p:cNvSpPr txBox="1">
                <a:spLocks noChangeArrowheads="1"/>
              </p:cNvSpPr>
              <p:nvPr/>
            </p:nvSpPr>
            <p:spPr bwMode="auto">
              <a:xfrm>
                <a:off x="707" y="235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p>
            </p:txBody>
          </p:sp>
          <p:sp>
            <p:nvSpPr>
              <p:cNvPr id="84002" name="Text Box 30"/>
              <p:cNvSpPr txBox="1">
                <a:spLocks noChangeArrowheads="1"/>
              </p:cNvSpPr>
              <p:nvPr/>
            </p:nvSpPr>
            <p:spPr bwMode="auto">
              <a:xfrm>
                <a:off x="294" y="192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sp>
            <p:nvSpPr>
              <p:cNvPr id="84003" name="Text Box 31"/>
              <p:cNvSpPr txBox="1">
                <a:spLocks noChangeArrowheads="1"/>
              </p:cNvSpPr>
              <p:nvPr/>
            </p:nvSpPr>
            <p:spPr bwMode="auto">
              <a:xfrm>
                <a:off x="825" y="1872"/>
                <a:ext cx="4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A+C</a:t>
                </a:r>
              </a:p>
            </p:txBody>
          </p:sp>
        </p:grpSp>
        <p:sp>
          <p:nvSpPr>
            <p:cNvPr id="83990" name="AutoShape 32"/>
            <p:cNvSpPr>
              <a:spLocks noChangeArrowheads="1"/>
            </p:cNvSpPr>
            <p:nvPr/>
          </p:nvSpPr>
          <p:spPr bwMode="auto">
            <a:xfrm rot="-2723071">
              <a:off x="1632" y="1440"/>
              <a:ext cx="576" cy="288"/>
            </a:xfrm>
            <a:prstGeom prst="leftRightArrow">
              <a:avLst>
                <a:gd name="adj1" fmla="val 50000"/>
                <a:gd name="adj2" fmla="val 40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5" name="Group 33"/>
          <p:cNvGrpSpPr>
            <a:grpSpLocks/>
          </p:cNvGrpSpPr>
          <p:nvPr/>
        </p:nvGrpSpPr>
        <p:grpSpPr bwMode="auto">
          <a:xfrm>
            <a:off x="4495800" y="2743200"/>
            <a:ext cx="3886200" cy="2438400"/>
            <a:chOff x="2640" y="1344"/>
            <a:chExt cx="2448" cy="1536"/>
          </a:xfrm>
        </p:grpSpPr>
        <p:grpSp>
          <p:nvGrpSpPr>
            <p:cNvPr id="83974" name="Group 34"/>
            <p:cNvGrpSpPr>
              <a:grpSpLocks/>
            </p:cNvGrpSpPr>
            <p:nvPr/>
          </p:nvGrpSpPr>
          <p:grpSpPr bwMode="auto">
            <a:xfrm>
              <a:off x="3536" y="1880"/>
              <a:ext cx="1552" cy="1000"/>
              <a:chOff x="2240" y="2688"/>
              <a:chExt cx="1552" cy="1000"/>
            </a:xfrm>
          </p:grpSpPr>
          <p:sp>
            <p:nvSpPr>
              <p:cNvPr id="83977" name="Text Box 35"/>
              <p:cNvSpPr txBox="1">
                <a:spLocks noChangeArrowheads="1"/>
              </p:cNvSpPr>
              <p:nvPr/>
            </p:nvSpPr>
            <p:spPr bwMode="auto">
              <a:xfrm>
                <a:off x="2507" y="2897"/>
                <a:ext cx="41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800">
                    <a:latin typeface="Times New Roman" panose="02020603050405020304" pitchFamily="18" charset="0"/>
                    <a:sym typeface="Symbol" panose="05050102010706020507" pitchFamily="18" charset="2"/>
                  </a:rPr>
                  <a:t></a:t>
                </a:r>
                <a:endParaRPr lang="en-US" altLang="zh-CN" sz="4800">
                  <a:latin typeface="Times New Roman" panose="02020603050405020304" pitchFamily="18" charset="0"/>
                </a:endParaRPr>
              </a:p>
            </p:txBody>
          </p:sp>
          <p:sp>
            <p:nvSpPr>
              <p:cNvPr id="83978" name="Line 36"/>
              <p:cNvSpPr>
                <a:spLocks noChangeShapeType="1"/>
              </p:cNvSpPr>
              <p:nvPr/>
            </p:nvSpPr>
            <p:spPr bwMode="auto">
              <a:xfrm>
                <a:off x="2701" y="2706"/>
                <a:ext cx="0" cy="34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9" name="Line 37"/>
              <p:cNvSpPr>
                <a:spLocks noChangeShapeType="1"/>
              </p:cNvSpPr>
              <p:nvPr/>
            </p:nvSpPr>
            <p:spPr bwMode="auto">
              <a:xfrm>
                <a:off x="2240" y="3170"/>
                <a:ext cx="34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0" name="Line 38"/>
              <p:cNvSpPr>
                <a:spLocks noChangeShapeType="1"/>
              </p:cNvSpPr>
              <p:nvPr/>
            </p:nvSpPr>
            <p:spPr bwMode="auto">
              <a:xfrm>
                <a:off x="2840" y="3170"/>
                <a:ext cx="8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1" name="Text Box 39"/>
              <p:cNvSpPr txBox="1">
                <a:spLocks noChangeArrowheads="1"/>
              </p:cNvSpPr>
              <p:nvPr/>
            </p:nvSpPr>
            <p:spPr bwMode="auto">
              <a:xfrm>
                <a:off x="2262" y="288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sp>
            <p:nvSpPr>
              <p:cNvPr id="83982" name="Text Box 40"/>
              <p:cNvSpPr txBox="1">
                <a:spLocks noChangeArrowheads="1"/>
              </p:cNvSpPr>
              <p:nvPr/>
            </p:nvSpPr>
            <p:spPr bwMode="auto">
              <a:xfrm>
                <a:off x="2684" y="268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p>
            </p:txBody>
          </p:sp>
          <p:sp>
            <p:nvSpPr>
              <p:cNvPr id="83983" name="Line 41"/>
              <p:cNvSpPr>
                <a:spLocks noChangeShapeType="1"/>
              </p:cNvSpPr>
              <p:nvPr/>
            </p:nvSpPr>
            <p:spPr bwMode="auto">
              <a:xfrm>
                <a:off x="2771" y="2963"/>
                <a:ext cx="7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4" name="Text Box 42"/>
              <p:cNvSpPr txBox="1">
                <a:spLocks noChangeArrowheads="1"/>
              </p:cNvSpPr>
              <p:nvPr/>
            </p:nvSpPr>
            <p:spPr bwMode="auto">
              <a:xfrm>
                <a:off x="2985" y="288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r>
                  <a:rPr lang="en-US" altLang="zh-CN" sz="2400">
                    <a:latin typeface="Times New Roman" panose="02020603050405020304" pitchFamily="18" charset="0"/>
                  </a:rPr>
                  <a:t>-</a:t>
                </a:r>
                <a:r>
                  <a:rPr lang="en-US" altLang="zh-CN" sz="2400" i="1">
                    <a:latin typeface="Times New Roman" panose="02020603050405020304" pitchFamily="18" charset="0"/>
                  </a:rPr>
                  <a:t>B+C</a:t>
                </a:r>
              </a:p>
            </p:txBody>
          </p:sp>
          <p:sp>
            <p:nvSpPr>
              <p:cNvPr id="83985" name="Line 43"/>
              <p:cNvSpPr>
                <a:spLocks noChangeShapeType="1"/>
              </p:cNvSpPr>
              <p:nvPr/>
            </p:nvSpPr>
            <p:spPr bwMode="auto">
              <a:xfrm flipV="1">
                <a:off x="2701" y="3280"/>
                <a:ext cx="0" cy="34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6" name="Text Box 44"/>
              <p:cNvSpPr txBox="1">
                <a:spLocks noChangeArrowheads="1"/>
              </p:cNvSpPr>
              <p:nvPr/>
            </p:nvSpPr>
            <p:spPr bwMode="auto">
              <a:xfrm>
                <a:off x="2686" y="340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p>
            </p:txBody>
          </p:sp>
          <p:sp>
            <p:nvSpPr>
              <p:cNvPr id="83987" name="Line 45"/>
              <p:cNvSpPr>
                <a:spLocks noChangeShapeType="1"/>
              </p:cNvSpPr>
              <p:nvPr/>
            </p:nvSpPr>
            <p:spPr bwMode="auto">
              <a:xfrm>
                <a:off x="2817" y="3186"/>
                <a:ext cx="845" cy="447"/>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8" name="Text Box 46"/>
              <p:cNvSpPr txBox="1">
                <a:spLocks noChangeArrowheads="1"/>
              </p:cNvSpPr>
              <p:nvPr/>
            </p:nvSpPr>
            <p:spPr bwMode="auto">
              <a:xfrm rot="1806375">
                <a:off x="3120" y="3232"/>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r>
                  <a:rPr lang="en-US" altLang="zh-CN" sz="2400">
                    <a:latin typeface="Times New Roman" panose="02020603050405020304" pitchFamily="18" charset="0"/>
                  </a:rPr>
                  <a:t>-</a:t>
                </a:r>
                <a:r>
                  <a:rPr lang="en-US" altLang="zh-CN" sz="2400" i="1">
                    <a:latin typeface="Times New Roman" panose="02020603050405020304" pitchFamily="18" charset="0"/>
                  </a:rPr>
                  <a:t>B+C</a:t>
                </a:r>
              </a:p>
            </p:txBody>
          </p:sp>
        </p:grpSp>
        <p:sp>
          <p:nvSpPr>
            <p:cNvPr id="83975" name="AutoShape 47"/>
            <p:cNvSpPr>
              <a:spLocks noChangeArrowheads="1"/>
            </p:cNvSpPr>
            <p:nvPr/>
          </p:nvSpPr>
          <p:spPr bwMode="auto">
            <a:xfrm>
              <a:off x="2640" y="2208"/>
              <a:ext cx="576" cy="288"/>
            </a:xfrm>
            <a:prstGeom prst="leftRightArrow">
              <a:avLst>
                <a:gd name="adj1" fmla="val 50000"/>
                <a:gd name="adj2" fmla="val 40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83976" name="AutoShape 48"/>
            <p:cNvSpPr>
              <a:spLocks noChangeArrowheads="1"/>
            </p:cNvSpPr>
            <p:nvPr/>
          </p:nvSpPr>
          <p:spPr bwMode="auto">
            <a:xfrm rot="2723071" flipH="1">
              <a:off x="3456" y="1488"/>
              <a:ext cx="576" cy="288"/>
            </a:xfrm>
            <a:prstGeom prst="leftRightArrow">
              <a:avLst>
                <a:gd name="adj1" fmla="val 50000"/>
                <a:gd name="adj2" fmla="val 40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115761" name="Rectangle 49"/>
          <p:cNvSpPr>
            <a:spLocks noChangeArrowheads="1"/>
          </p:cNvSpPr>
          <p:nvPr/>
        </p:nvSpPr>
        <p:spPr bwMode="auto">
          <a:xfrm>
            <a:off x="1371600" y="5486400"/>
            <a:ext cx="716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求和点可以有多个输入，但输出是唯一的。</a:t>
            </a:r>
            <a:r>
              <a:rPr lang="zh-CN" altLang="en-US"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761"/>
                                        </p:tgtEl>
                                        <p:attrNameLst>
                                          <p:attrName>style.visibility</p:attrName>
                                        </p:attrNameLst>
                                      </p:cBhvr>
                                      <p:to>
                                        <p:strVal val="visible"/>
                                      </p:to>
                                    </p:set>
                                    <p:anim calcmode="lin" valueType="num">
                                      <p:cBhvr additive="base">
                                        <p:cTn id="19" dur="500" fill="hold"/>
                                        <p:tgtEl>
                                          <p:spTgt spid="115761"/>
                                        </p:tgtEl>
                                        <p:attrNameLst>
                                          <p:attrName>ppt_x</p:attrName>
                                        </p:attrNameLst>
                                      </p:cBhvr>
                                      <p:tavLst>
                                        <p:tav tm="0">
                                          <p:val>
                                            <p:strVal val="#ppt_x"/>
                                          </p:val>
                                        </p:tav>
                                        <p:tav tm="100000">
                                          <p:val>
                                            <p:strVal val="#ppt_x"/>
                                          </p:val>
                                        </p:tav>
                                      </p:tavLst>
                                    </p:anim>
                                    <p:anim calcmode="lin" valueType="num">
                                      <p:cBhvr additive="base">
                                        <p:cTn id="20" dur="500" fill="hold"/>
                                        <p:tgtEl>
                                          <p:spTgt spid="1157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6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1219200" y="3124200"/>
            <a:ext cx="7453313" cy="3000375"/>
            <a:chOff x="768" y="1968"/>
            <a:chExt cx="4695" cy="1890"/>
          </a:xfrm>
        </p:grpSpPr>
        <p:sp>
          <p:nvSpPr>
            <p:cNvPr id="86020" name="Rectangle 4"/>
            <p:cNvSpPr>
              <a:spLocks noChangeArrowheads="1"/>
            </p:cNvSpPr>
            <p:nvPr/>
          </p:nvSpPr>
          <p:spPr bwMode="auto">
            <a:xfrm>
              <a:off x="2234" y="2287"/>
              <a:ext cx="633" cy="64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86021" name="Object 5"/>
            <p:cNvGraphicFramePr>
              <a:graphicFrameLocks noChangeAspect="1"/>
            </p:cNvGraphicFramePr>
            <p:nvPr/>
          </p:nvGraphicFramePr>
          <p:xfrm>
            <a:off x="2415" y="2328"/>
            <a:ext cx="251" cy="520"/>
          </p:xfrm>
          <a:graphic>
            <a:graphicData uri="http://schemas.openxmlformats.org/presentationml/2006/ole">
              <mc:AlternateContent xmlns:mc="http://schemas.openxmlformats.org/markup-compatibility/2006">
                <mc:Choice xmlns:v="urn:schemas-microsoft-com:vml" Requires="v">
                  <p:oleObj spid="_x0000_s86056" r:id="rId4" imgW="190417" imgH="444307" progId="Equation.3">
                    <p:embed/>
                  </p:oleObj>
                </mc:Choice>
                <mc:Fallback>
                  <p:oleObj r:id="rId4" imgW="190417" imgH="444307"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5" y="2328"/>
                          <a:ext cx="251"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22" name="Rectangle 6"/>
            <p:cNvSpPr>
              <a:spLocks noChangeArrowheads="1"/>
            </p:cNvSpPr>
            <p:nvPr/>
          </p:nvSpPr>
          <p:spPr bwMode="auto">
            <a:xfrm>
              <a:off x="3544" y="2288"/>
              <a:ext cx="679" cy="64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86023" name="Object 7"/>
            <p:cNvGraphicFramePr>
              <a:graphicFrameLocks noChangeAspect="1"/>
            </p:cNvGraphicFramePr>
            <p:nvPr/>
          </p:nvGraphicFramePr>
          <p:xfrm>
            <a:off x="3709" y="2329"/>
            <a:ext cx="333" cy="520"/>
          </p:xfrm>
          <a:graphic>
            <a:graphicData uri="http://schemas.openxmlformats.org/presentationml/2006/ole">
              <mc:AlternateContent xmlns:mc="http://schemas.openxmlformats.org/markup-compatibility/2006">
                <mc:Choice xmlns:v="urn:schemas-microsoft-com:vml" Requires="v">
                  <p:oleObj spid="_x0000_s86057" r:id="rId6" imgW="253780" imgH="444114" progId="Equation.3">
                    <p:embed/>
                  </p:oleObj>
                </mc:Choice>
                <mc:Fallback>
                  <p:oleObj r:id="rId6" imgW="253780" imgH="444114"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9" y="2329"/>
                          <a:ext cx="33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24" name="Text Box 8"/>
            <p:cNvSpPr txBox="1">
              <a:spLocks noChangeArrowheads="1"/>
            </p:cNvSpPr>
            <p:nvPr/>
          </p:nvSpPr>
          <p:spPr bwMode="auto">
            <a:xfrm>
              <a:off x="1375" y="2384"/>
              <a:ext cx="36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86025" name="Line 9"/>
            <p:cNvSpPr>
              <a:spLocks noChangeShapeType="1"/>
            </p:cNvSpPr>
            <p:nvPr/>
          </p:nvSpPr>
          <p:spPr bwMode="auto">
            <a:xfrm>
              <a:off x="773" y="2608"/>
              <a:ext cx="6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26" name="Line 10"/>
            <p:cNvSpPr>
              <a:spLocks noChangeShapeType="1"/>
            </p:cNvSpPr>
            <p:nvPr/>
          </p:nvSpPr>
          <p:spPr bwMode="auto">
            <a:xfrm>
              <a:off x="1646" y="2608"/>
              <a:ext cx="5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27" name="Line 11"/>
            <p:cNvSpPr>
              <a:spLocks noChangeShapeType="1"/>
            </p:cNvSpPr>
            <p:nvPr/>
          </p:nvSpPr>
          <p:spPr bwMode="auto">
            <a:xfrm>
              <a:off x="2867" y="2608"/>
              <a:ext cx="67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28" name="Line 12"/>
            <p:cNvSpPr>
              <a:spLocks noChangeShapeType="1"/>
            </p:cNvSpPr>
            <p:nvPr/>
          </p:nvSpPr>
          <p:spPr bwMode="auto">
            <a:xfrm>
              <a:off x="4223" y="2608"/>
              <a:ext cx="10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29" name="Line 13"/>
            <p:cNvSpPr>
              <a:spLocks noChangeShapeType="1"/>
            </p:cNvSpPr>
            <p:nvPr/>
          </p:nvSpPr>
          <p:spPr bwMode="auto">
            <a:xfrm>
              <a:off x="4649" y="2608"/>
              <a:ext cx="0" cy="8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0" name="Line 14"/>
            <p:cNvSpPr>
              <a:spLocks noChangeShapeType="1"/>
            </p:cNvSpPr>
            <p:nvPr/>
          </p:nvSpPr>
          <p:spPr bwMode="auto">
            <a:xfrm flipH="1">
              <a:off x="1536" y="3440"/>
              <a:ext cx="312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1" name="Line 15"/>
            <p:cNvSpPr>
              <a:spLocks noChangeShapeType="1"/>
            </p:cNvSpPr>
            <p:nvPr/>
          </p:nvSpPr>
          <p:spPr bwMode="auto">
            <a:xfrm flipH="1" flipV="1">
              <a:off x="1536" y="2720"/>
              <a:ext cx="0" cy="72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32" name="Text Box 16"/>
            <p:cNvSpPr txBox="1">
              <a:spLocks noChangeArrowheads="1"/>
            </p:cNvSpPr>
            <p:nvPr/>
          </p:nvSpPr>
          <p:spPr bwMode="auto">
            <a:xfrm>
              <a:off x="1220" y="2208"/>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求和点</a:t>
              </a:r>
            </a:p>
          </p:txBody>
        </p:sp>
        <p:sp>
          <p:nvSpPr>
            <p:cNvPr id="86033" name="Text Box 17"/>
            <p:cNvSpPr txBox="1">
              <a:spLocks noChangeArrowheads="1"/>
            </p:cNvSpPr>
            <p:nvPr/>
          </p:nvSpPr>
          <p:spPr bwMode="auto">
            <a:xfrm>
              <a:off x="2098" y="1968"/>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函数方框</a:t>
              </a:r>
            </a:p>
          </p:txBody>
        </p:sp>
        <p:sp>
          <p:nvSpPr>
            <p:cNvPr id="86034" name="Text Box 18"/>
            <p:cNvSpPr txBox="1">
              <a:spLocks noChangeArrowheads="1"/>
            </p:cNvSpPr>
            <p:nvPr/>
          </p:nvSpPr>
          <p:spPr bwMode="auto">
            <a:xfrm>
              <a:off x="3436" y="1968"/>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函数方框</a:t>
              </a:r>
            </a:p>
          </p:txBody>
        </p:sp>
        <p:sp>
          <p:nvSpPr>
            <p:cNvPr id="86035" name="Text Box 19"/>
            <p:cNvSpPr txBox="1">
              <a:spLocks noChangeArrowheads="1"/>
            </p:cNvSpPr>
            <p:nvPr/>
          </p:nvSpPr>
          <p:spPr bwMode="auto">
            <a:xfrm>
              <a:off x="4308" y="2304"/>
              <a:ext cx="69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引出点</a:t>
              </a:r>
            </a:p>
          </p:txBody>
        </p:sp>
        <p:sp>
          <p:nvSpPr>
            <p:cNvPr id="86036" name="Text Box 20"/>
            <p:cNvSpPr txBox="1">
              <a:spLocks noChangeArrowheads="1"/>
            </p:cNvSpPr>
            <p:nvPr/>
          </p:nvSpPr>
          <p:spPr bwMode="auto">
            <a:xfrm>
              <a:off x="768" y="2304"/>
              <a:ext cx="4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86037" name="Text Box 21"/>
            <p:cNvSpPr txBox="1">
              <a:spLocks noChangeArrowheads="1"/>
            </p:cNvSpPr>
            <p:nvPr/>
          </p:nvSpPr>
          <p:spPr bwMode="auto">
            <a:xfrm>
              <a:off x="1782" y="2304"/>
              <a:ext cx="4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86038" name="Text Box 22"/>
            <p:cNvSpPr txBox="1">
              <a:spLocks noChangeArrowheads="1"/>
            </p:cNvSpPr>
            <p:nvPr/>
          </p:nvSpPr>
          <p:spPr bwMode="auto">
            <a:xfrm>
              <a:off x="2898" y="2304"/>
              <a:ext cx="3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86039" name="Text Box 23"/>
            <p:cNvSpPr txBox="1">
              <a:spLocks noChangeArrowheads="1"/>
            </p:cNvSpPr>
            <p:nvPr/>
          </p:nvSpPr>
          <p:spPr bwMode="auto">
            <a:xfrm>
              <a:off x="4941" y="2304"/>
              <a:ext cx="5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86040" name="Line 24"/>
            <p:cNvSpPr>
              <a:spLocks noChangeShapeType="1"/>
            </p:cNvSpPr>
            <p:nvPr/>
          </p:nvSpPr>
          <p:spPr bwMode="auto">
            <a:xfrm>
              <a:off x="1601" y="2848"/>
              <a:ext cx="13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41" name="Text Box 25"/>
            <p:cNvSpPr txBox="1">
              <a:spLocks noChangeArrowheads="1"/>
            </p:cNvSpPr>
            <p:nvPr/>
          </p:nvSpPr>
          <p:spPr bwMode="auto">
            <a:xfrm>
              <a:off x="2481" y="3568"/>
              <a:ext cx="107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方框图示例</a:t>
              </a:r>
            </a:p>
          </p:txBody>
        </p:sp>
      </p:grpSp>
      <p:sp>
        <p:nvSpPr>
          <p:cNvPr id="86019" name="Rectangle 26"/>
          <p:cNvSpPr>
            <a:spLocks noChangeArrowheads="1"/>
          </p:cNvSpPr>
          <p:nvPr/>
        </p:nvSpPr>
        <p:spPr bwMode="auto">
          <a:xfrm>
            <a:off x="1295400" y="1905000"/>
            <a:ext cx="7162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任何系统都可以由信号线、函数方块、信号引出点及求和点组成的方块图来表示。</a:t>
            </a:r>
            <a:r>
              <a:rPr lang="zh-CN" altLang="en-US"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4572000" y="1752600"/>
            <a:ext cx="3962400" cy="2808288"/>
            <a:chOff x="1958" y="1392"/>
            <a:chExt cx="2746" cy="2064"/>
          </a:xfrm>
        </p:grpSpPr>
        <p:grpSp>
          <p:nvGrpSpPr>
            <p:cNvPr id="88077" name="Group 5"/>
            <p:cNvGrpSpPr>
              <a:grpSpLocks/>
            </p:cNvGrpSpPr>
            <p:nvPr/>
          </p:nvGrpSpPr>
          <p:grpSpPr bwMode="auto">
            <a:xfrm>
              <a:off x="1958" y="1392"/>
              <a:ext cx="2746" cy="1680"/>
              <a:chOff x="1958" y="1392"/>
              <a:chExt cx="2746" cy="1680"/>
            </a:xfrm>
          </p:grpSpPr>
          <p:sp>
            <p:nvSpPr>
              <p:cNvPr id="88079" name="Oval 6"/>
              <p:cNvSpPr>
                <a:spLocks noChangeArrowheads="1"/>
              </p:cNvSpPr>
              <p:nvPr/>
            </p:nvSpPr>
            <p:spPr bwMode="auto">
              <a:xfrm>
                <a:off x="2016" y="1728"/>
                <a:ext cx="96" cy="96"/>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88080" name="Line 7"/>
              <p:cNvSpPr>
                <a:spLocks noChangeShapeType="1"/>
              </p:cNvSpPr>
              <p:nvPr/>
            </p:nvSpPr>
            <p:spPr bwMode="auto">
              <a:xfrm flipV="1">
                <a:off x="2112" y="1776"/>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1" name="Rectangle 8"/>
              <p:cNvSpPr>
                <a:spLocks noChangeArrowheads="1"/>
              </p:cNvSpPr>
              <p:nvPr/>
            </p:nvSpPr>
            <p:spPr bwMode="auto">
              <a:xfrm>
                <a:off x="2688" y="1680"/>
                <a:ext cx="586" cy="192"/>
              </a:xfrm>
              <a:prstGeom prst="rect">
                <a:avLst/>
              </a:prstGeom>
              <a:noFill/>
              <a:ln w="444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88082" name="Line 9"/>
              <p:cNvSpPr>
                <a:spLocks noChangeShapeType="1"/>
              </p:cNvSpPr>
              <p:nvPr/>
            </p:nvSpPr>
            <p:spPr bwMode="auto">
              <a:xfrm>
                <a:off x="3274" y="1776"/>
                <a:ext cx="119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3" name="Oval 10"/>
              <p:cNvSpPr>
                <a:spLocks noChangeArrowheads="1"/>
              </p:cNvSpPr>
              <p:nvPr/>
            </p:nvSpPr>
            <p:spPr bwMode="auto">
              <a:xfrm>
                <a:off x="4464" y="1728"/>
                <a:ext cx="96" cy="96"/>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88084" name="Line 11"/>
              <p:cNvSpPr>
                <a:spLocks noChangeShapeType="1"/>
              </p:cNvSpPr>
              <p:nvPr/>
            </p:nvSpPr>
            <p:spPr bwMode="auto">
              <a:xfrm>
                <a:off x="3658" y="2352"/>
                <a:ext cx="288"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5" name="Line 12"/>
              <p:cNvSpPr>
                <a:spLocks noChangeShapeType="1"/>
              </p:cNvSpPr>
              <p:nvPr/>
            </p:nvSpPr>
            <p:spPr bwMode="auto">
              <a:xfrm>
                <a:off x="3658" y="2448"/>
                <a:ext cx="288"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6" name="Line 13"/>
              <p:cNvSpPr>
                <a:spLocks noChangeShapeType="1"/>
              </p:cNvSpPr>
              <p:nvPr/>
            </p:nvSpPr>
            <p:spPr bwMode="auto">
              <a:xfrm flipV="1">
                <a:off x="3792" y="1776"/>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7" name="Line 14"/>
              <p:cNvSpPr>
                <a:spLocks noChangeShapeType="1"/>
              </p:cNvSpPr>
              <p:nvPr/>
            </p:nvSpPr>
            <p:spPr bwMode="auto">
              <a:xfrm flipH="1" flipV="1">
                <a:off x="3792" y="2448"/>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8" name="Line 15"/>
              <p:cNvSpPr>
                <a:spLocks noChangeShapeType="1"/>
              </p:cNvSpPr>
              <p:nvPr/>
            </p:nvSpPr>
            <p:spPr bwMode="auto">
              <a:xfrm>
                <a:off x="2112" y="3024"/>
                <a:ext cx="235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9" name="Oval 16"/>
              <p:cNvSpPr>
                <a:spLocks noChangeArrowheads="1"/>
              </p:cNvSpPr>
              <p:nvPr/>
            </p:nvSpPr>
            <p:spPr bwMode="auto">
              <a:xfrm>
                <a:off x="2016" y="2976"/>
                <a:ext cx="96" cy="96"/>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88090" name="Oval 17"/>
              <p:cNvSpPr>
                <a:spLocks noChangeArrowheads="1"/>
              </p:cNvSpPr>
              <p:nvPr/>
            </p:nvSpPr>
            <p:spPr bwMode="auto">
              <a:xfrm>
                <a:off x="4464" y="2976"/>
                <a:ext cx="96" cy="96"/>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88091" name="Text Box 18"/>
              <p:cNvSpPr txBox="1">
                <a:spLocks noChangeArrowheads="1"/>
              </p:cNvSpPr>
              <p:nvPr/>
            </p:nvSpPr>
            <p:spPr bwMode="auto">
              <a:xfrm>
                <a:off x="2880" y="1392"/>
                <a:ext cx="25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R</a:t>
                </a:r>
              </a:p>
            </p:txBody>
          </p:sp>
          <p:sp>
            <p:nvSpPr>
              <p:cNvPr id="88092" name="Text Box 19"/>
              <p:cNvSpPr txBox="1">
                <a:spLocks noChangeArrowheads="1"/>
              </p:cNvSpPr>
              <p:nvPr/>
            </p:nvSpPr>
            <p:spPr bwMode="auto">
              <a:xfrm>
                <a:off x="3370" y="2257"/>
                <a:ext cx="26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p>
            </p:txBody>
          </p:sp>
          <p:sp>
            <p:nvSpPr>
              <p:cNvPr id="88093" name="Freeform 20"/>
              <p:cNvSpPr>
                <a:spLocks noChangeArrowheads="1"/>
              </p:cNvSpPr>
              <p:nvPr/>
            </p:nvSpPr>
            <p:spPr bwMode="auto">
              <a:xfrm>
                <a:off x="2256" y="1968"/>
                <a:ext cx="1094" cy="872"/>
              </a:xfrm>
              <a:custGeom>
                <a:avLst/>
                <a:gdLst>
                  <a:gd name="T0" fmla="*/ 2 w 1864"/>
                  <a:gd name="T1" fmla="*/ 4 h 1160"/>
                  <a:gd name="T2" fmla="*/ 31 w 1864"/>
                  <a:gd name="T3" fmla="*/ 4 h 1160"/>
                  <a:gd name="T4" fmla="*/ 186 w 1864"/>
                  <a:gd name="T5" fmla="*/ 24 h 1160"/>
                  <a:gd name="T6" fmla="*/ 312 w 1864"/>
                  <a:gd name="T7" fmla="*/ 85 h 1160"/>
                  <a:gd name="T8" fmla="*/ 370 w 1864"/>
                  <a:gd name="T9" fmla="*/ 309 h 1160"/>
                  <a:gd name="T10" fmla="*/ 351 w 1864"/>
                  <a:gd name="T11" fmla="*/ 493 h 1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64" h="1160">
                    <a:moveTo>
                      <a:pt x="8" y="8"/>
                    </a:moveTo>
                    <a:cubicBezTo>
                      <a:pt x="4" y="4"/>
                      <a:pt x="0" y="0"/>
                      <a:pt x="152" y="8"/>
                    </a:cubicBezTo>
                    <a:cubicBezTo>
                      <a:pt x="304" y="16"/>
                      <a:pt x="688" y="24"/>
                      <a:pt x="920" y="56"/>
                    </a:cubicBezTo>
                    <a:cubicBezTo>
                      <a:pt x="1152" y="88"/>
                      <a:pt x="1392" y="88"/>
                      <a:pt x="1544" y="200"/>
                    </a:cubicBezTo>
                    <a:cubicBezTo>
                      <a:pt x="1696" y="312"/>
                      <a:pt x="1800" y="568"/>
                      <a:pt x="1832" y="728"/>
                    </a:cubicBezTo>
                    <a:cubicBezTo>
                      <a:pt x="1864" y="888"/>
                      <a:pt x="1800" y="1024"/>
                      <a:pt x="1736" y="116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94" name="Text Box 21"/>
              <p:cNvSpPr txBox="1">
                <a:spLocks noChangeArrowheads="1"/>
              </p:cNvSpPr>
              <p:nvPr/>
            </p:nvSpPr>
            <p:spPr bwMode="auto">
              <a:xfrm>
                <a:off x="1958" y="2208"/>
                <a:ext cx="44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88095" name="Text Box 22"/>
              <p:cNvSpPr txBox="1">
                <a:spLocks noChangeArrowheads="1"/>
              </p:cNvSpPr>
              <p:nvPr/>
            </p:nvSpPr>
            <p:spPr bwMode="auto">
              <a:xfrm>
                <a:off x="4224" y="2257"/>
                <a:ext cx="4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88096" name="Text Box 23"/>
              <p:cNvSpPr txBox="1">
                <a:spLocks noChangeArrowheads="1"/>
              </p:cNvSpPr>
              <p:nvPr/>
            </p:nvSpPr>
            <p:spPr bwMode="auto">
              <a:xfrm>
                <a:off x="2918" y="2496"/>
                <a:ext cx="44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grpSp>
        <p:sp>
          <p:nvSpPr>
            <p:cNvPr id="88078" name="Text Box 24"/>
            <p:cNvSpPr txBox="1">
              <a:spLocks noChangeArrowheads="1"/>
            </p:cNvSpPr>
            <p:nvPr/>
          </p:nvSpPr>
          <p:spPr bwMode="auto">
            <a:xfrm>
              <a:off x="2448" y="3120"/>
              <a:ext cx="16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无源</a:t>
              </a:r>
              <a:r>
                <a:rPr lang="en-US" altLang="zh-CN" sz="2400">
                  <a:latin typeface="Times New Roman" panose="02020603050405020304" pitchFamily="18" charset="0"/>
                </a:rPr>
                <a:t>RC</a:t>
              </a:r>
              <a:r>
                <a:rPr lang="zh-CN" altLang="en-US" sz="2400">
                  <a:latin typeface="Times New Roman" panose="02020603050405020304" pitchFamily="18" charset="0"/>
                </a:rPr>
                <a:t>电路网络</a:t>
              </a:r>
            </a:p>
          </p:txBody>
        </p:sp>
      </p:grpSp>
      <p:sp>
        <p:nvSpPr>
          <p:cNvPr id="121881" name="Rectangle 25"/>
          <p:cNvSpPr>
            <a:spLocks noChangeArrowheads="1"/>
          </p:cNvSpPr>
          <p:nvPr/>
        </p:nvSpPr>
        <p:spPr bwMode="auto">
          <a:xfrm>
            <a:off x="1219200" y="1981200"/>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无源</a:t>
            </a:r>
            <a:r>
              <a:rPr lang="en-US" altLang="zh-CN" sz="2800">
                <a:latin typeface="Times New Roman" panose="02020603050405020304" pitchFamily="18" charset="0"/>
              </a:rPr>
              <a:t>RC</a:t>
            </a:r>
            <a:r>
              <a:rPr lang="zh-CN" altLang="en-US" sz="2800">
                <a:latin typeface="宋体" panose="02010600030101010101" pitchFamily="2" charset="-122"/>
              </a:rPr>
              <a:t>网络</a:t>
            </a:r>
            <a:r>
              <a:rPr lang="zh-CN" altLang="en-US" sz="2800">
                <a:latin typeface="Times New Roman" panose="02020603050405020304" pitchFamily="18" charset="0"/>
              </a:rPr>
              <a:t> </a:t>
            </a:r>
          </a:p>
        </p:txBody>
      </p:sp>
      <p:graphicFrame>
        <p:nvGraphicFramePr>
          <p:cNvPr id="121882" name="Object 26"/>
          <p:cNvGraphicFramePr>
            <a:graphicFrameLocks noChangeAspect="1"/>
          </p:cNvGraphicFramePr>
          <p:nvPr/>
        </p:nvGraphicFramePr>
        <p:xfrm>
          <a:off x="1295400" y="2717800"/>
          <a:ext cx="2743200" cy="463550"/>
        </p:xfrm>
        <a:graphic>
          <a:graphicData uri="http://schemas.openxmlformats.org/presentationml/2006/ole">
            <mc:AlternateContent xmlns:mc="http://schemas.openxmlformats.org/markup-compatibility/2006">
              <mc:Choice xmlns:v="urn:schemas-microsoft-com:vml" Requires="v">
                <p:oleObj spid="_x0000_s88125" r:id="rId4" imgW="1409088" imgH="241195" progId="Equation.3">
                  <p:embed/>
                </p:oleObj>
              </mc:Choice>
              <mc:Fallback>
                <p:oleObj r:id="rId4" imgW="1409088" imgH="241195"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717800"/>
                        <a:ext cx="27432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1883" name="Object 27"/>
          <p:cNvGraphicFramePr>
            <a:graphicFrameLocks noChangeAspect="1"/>
          </p:cNvGraphicFramePr>
          <p:nvPr/>
        </p:nvGraphicFramePr>
        <p:xfrm>
          <a:off x="1295400" y="3276600"/>
          <a:ext cx="2438400" cy="896938"/>
        </p:xfrm>
        <a:graphic>
          <a:graphicData uri="http://schemas.openxmlformats.org/presentationml/2006/ole">
            <mc:AlternateContent xmlns:mc="http://schemas.openxmlformats.org/markup-compatibility/2006">
              <mc:Choice xmlns:v="urn:schemas-microsoft-com:vml" Requires="v">
                <p:oleObj spid="_x0000_s88126" r:id="rId6" imgW="1218671" imgH="444307" progId="Equation.3">
                  <p:embed/>
                </p:oleObj>
              </mc:Choice>
              <mc:Fallback>
                <p:oleObj r:id="rId6" imgW="1218671" imgH="444307" progId="Equation.3">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3276600"/>
                        <a:ext cx="2438400"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 name="Group 28"/>
          <p:cNvGrpSpPr>
            <a:grpSpLocks/>
          </p:cNvGrpSpPr>
          <p:nvPr/>
        </p:nvGrpSpPr>
        <p:grpSpPr bwMode="auto">
          <a:xfrm>
            <a:off x="1219200" y="4267200"/>
            <a:ext cx="2895600" cy="2057400"/>
            <a:chOff x="768" y="2688"/>
            <a:chExt cx="1824" cy="1296"/>
          </a:xfrm>
        </p:grpSpPr>
        <p:graphicFrame>
          <p:nvGraphicFramePr>
            <p:cNvPr id="88075" name="Object 29"/>
            <p:cNvGraphicFramePr>
              <a:graphicFrameLocks noChangeAspect="1"/>
            </p:cNvGraphicFramePr>
            <p:nvPr/>
          </p:nvGraphicFramePr>
          <p:xfrm>
            <a:off x="864" y="3188"/>
            <a:ext cx="1728" cy="796"/>
          </p:xfrm>
          <a:graphic>
            <a:graphicData uri="http://schemas.openxmlformats.org/presentationml/2006/ole">
              <mc:AlternateContent xmlns:mc="http://schemas.openxmlformats.org/markup-compatibility/2006">
                <mc:Choice xmlns:v="urn:schemas-microsoft-com:vml" Requires="v">
                  <p:oleObj spid="_x0000_s88127" r:id="rId8" imgW="1574800" imgH="723900" progId="Equation.3">
                    <p:embed/>
                  </p:oleObj>
                </mc:Choice>
                <mc:Fallback>
                  <p:oleObj r:id="rId8" imgW="1574800" imgH="723900" progId="Equation.3">
                    <p:embed/>
                    <p:pic>
                      <p:nvPicPr>
                        <p:cNvPr id="0"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4" y="3188"/>
                          <a:ext cx="1728" cy="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8076" name="Rectangle 30"/>
            <p:cNvSpPr>
              <a:spLocks noChangeArrowheads="1"/>
            </p:cNvSpPr>
            <p:nvPr/>
          </p:nvSpPr>
          <p:spPr bwMode="auto">
            <a:xfrm>
              <a:off x="768" y="2688"/>
              <a:ext cx="14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拉氏变换得：</a:t>
              </a:r>
            </a:p>
          </p:txBody>
        </p:sp>
      </p:grpSp>
      <p:grpSp>
        <p:nvGrpSpPr>
          <p:cNvPr id="5" name="Group 31"/>
          <p:cNvGrpSpPr>
            <a:grpSpLocks/>
          </p:cNvGrpSpPr>
          <p:nvPr/>
        </p:nvGrpSpPr>
        <p:grpSpPr bwMode="auto">
          <a:xfrm>
            <a:off x="4343400" y="4876800"/>
            <a:ext cx="3962400" cy="1592263"/>
            <a:chOff x="2736" y="3072"/>
            <a:chExt cx="2496" cy="1003"/>
          </a:xfrm>
        </p:grpSpPr>
        <p:graphicFrame>
          <p:nvGraphicFramePr>
            <p:cNvPr id="88073" name="Object 32"/>
            <p:cNvGraphicFramePr>
              <a:graphicFrameLocks noChangeAspect="1"/>
            </p:cNvGraphicFramePr>
            <p:nvPr/>
          </p:nvGraphicFramePr>
          <p:xfrm>
            <a:off x="3360" y="3072"/>
            <a:ext cx="1872" cy="1003"/>
          </p:xfrm>
          <a:graphic>
            <a:graphicData uri="http://schemas.openxmlformats.org/presentationml/2006/ole">
              <mc:AlternateContent xmlns:mc="http://schemas.openxmlformats.org/markup-compatibility/2006">
                <mc:Choice xmlns:v="urn:schemas-microsoft-com:vml" Requires="v">
                  <p:oleObj spid="_x0000_s88128" r:id="rId10" imgW="1727200" imgH="927100" progId="Equation.3">
                    <p:embed/>
                  </p:oleObj>
                </mc:Choice>
                <mc:Fallback>
                  <p:oleObj r:id="rId10" imgW="1727200" imgH="927100" progId="Equation.3">
                    <p:embed/>
                    <p:pic>
                      <p:nvPicPr>
                        <p:cNvPr id="0" name="Object 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0" y="3072"/>
                          <a:ext cx="1872" cy="1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8074" name="AutoShape 33"/>
            <p:cNvSpPr>
              <a:spLocks noChangeArrowheads="1"/>
            </p:cNvSpPr>
            <p:nvPr/>
          </p:nvSpPr>
          <p:spPr bwMode="auto">
            <a:xfrm>
              <a:off x="2736" y="3408"/>
              <a:ext cx="432" cy="240"/>
            </a:xfrm>
            <a:prstGeom prst="rightArrow">
              <a:avLst>
                <a:gd name="adj1" fmla="val 50000"/>
                <a:gd name="adj2" fmla="val 45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88072" name="Rectangle 3"/>
          <p:cNvSpPr>
            <a:spLocks noChangeArrowheads="1"/>
          </p:cNvSpPr>
          <p:nvPr/>
        </p:nvSpPr>
        <p:spPr bwMode="auto">
          <a:xfrm>
            <a:off x="1187450" y="1052513"/>
            <a:ext cx="6934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b="1">
                <a:latin typeface="Times New Roman" panose="02020603050405020304" pitchFamily="18" charset="0"/>
              </a:rPr>
              <a:t> </a:t>
            </a:r>
            <a:r>
              <a:rPr lang="zh-CN" altLang="en-US" sz="2800" b="1">
                <a:latin typeface="宋体" panose="02010600030101010101" pitchFamily="2" charset="-122"/>
              </a:rPr>
              <a:t>系统方框图的建立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1881"/>
                                        </p:tgtEl>
                                        <p:attrNameLst>
                                          <p:attrName>style.visibility</p:attrName>
                                        </p:attrNameLst>
                                      </p:cBhvr>
                                      <p:to>
                                        <p:strVal val="visible"/>
                                      </p:to>
                                    </p:set>
                                    <p:anim calcmode="lin" valueType="num">
                                      <p:cBhvr additive="base">
                                        <p:cTn id="13" dur="500" fill="hold"/>
                                        <p:tgtEl>
                                          <p:spTgt spid="121881"/>
                                        </p:tgtEl>
                                        <p:attrNameLst>
                                          <p:attrName>ppt_x</p:attrName>
                                        </p:attrNameLst>
                                      </p:cBhvr>
                                      <p:tavLst>
                                        <p:tav tm="0">
                                          <p:val>
                                            <p:strVal val="#ppt_x"/>
                                          </p:val>
                                        </p:tav>
                                        <p:tav tm="100000">
                                          <p:val>
                                            <p:strVal val="#ppt_x"/>
                                          </p:val>
                                        </p:tav>
                                      </p:tavLst>
                                    </p:anim>
                                    <p:anim calcmode="lin" valueType="num">
                                      <p:cBhvr additive="base">
                                        <p:cTn id="14" dur="500" fill="hold"/>
                                        <p:tgtEl>
                                          <p:spTgt spid="12188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21882"/>
                                        </p:tgtEl>
                                        <p:attrNameLst>
                                          <p:attrName>style.visibility</p:attrName>
                                        </p:attrNameLst>
                                      </p:cBhvr>
                                      <p:to>
                                        <p:strVal val="visible"/>
                                      </p:to>
                                    </p:set>
                                    <p:anim calcmode="lin" valueType="num">
                                      <p:cBhvr additive="base">
                                        <p:cTn id="19" dur="500" fill="hold"/>
                                        <p:tgtEl>
                                          <p:spTgt spid="121882"/>
                                        </p:tgtEl>
                                        <p:attrNameLst>
                                          <p:attrName>ppt_x</p:attrName>
                                        </p:attrNameLst>
                                      </p:cBhvr>
                                      <p:tavLst>
                                        <p:tav tm="0">
                                          <p:val>
                                            <p:strVal val="#ppt_x"/>
                                          </p:val>
                                        </p:tav>
                                        <p:tav tm="100000">
                                          <p:val>
                                            <p:strVal val="#ppt_x"/>
                                          </p:val>
                                        </p:tav>
                                      </p:tavLst>
                                    </p:anim>
                                    <p:anim calcmode="lin" valueType="num">
                                      <p:cBhvr additive="base">
                                        <p:cTn id="20" dur="500" fill="hold"/>
                                        <p:tgtEl>
                                          <p:spTgt spid="12188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21883"/>
                                        </p:tgtEl>
                                        <p:attrNameLst>
                                          <p:attrName>style.visibility</p:attrName>
                                        </p:attrNameLst>
                                      </p:cBhvr>
                                      <p:to>
                                        <p:strVal val="visible"/>
                                      </p:to>
                                    </p:set>
                                    <p:anim calcmode="lin" valueType="num">
                                      <p:cBhvr additive="base">
                                        <p:cTn id="25" dur="500" fill="hold"/>
                                        <p:tgtEl>
                                          <p:spTgt spid="121883"/>
                                        </p:tgtEl>
                                        <p:attrNameLst>
                                          <p:attrName>ppt_x</p:attrName>
                                        </p:attrNameLst>
                                      </p:cBhvr>
                                      <p:tavLst>
                                        <p:tav tm="0">
                                          <p:val>
                                            <p:strVal val="#ppt_x"/>
                                          </p:val>
                                        </p:tav>
                                        <p:tav tm="100000">
                                          <p:val>
                                            <p:strVal val="#ppt_x"/>
                                          </p:val>
                                        </p:tav>
                                      </p:tavLst>
                                    </p:anim>
                                    <p:anim calcmode="lin" valueType="num">
                                      <p:cBhvr additive="base">
                                        <p:cTn id="26" dur="500" fill="hold"/>
                                        <p:tgtEl>
                                          <p:spTgt spid="12188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ChangeArrowheads="1"/>
          </p:cNvSpPr>
          <p:nvPr/>
        </p:nvSpPr>
        <p:spPr bwMode="auto">
          <a:xfrm>
            <a:off x="990600" y="191928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从而可得系统各方框单元及其方框图。</a:t>
            </a:r>
            <a:r>
              <a:rPr lang="zh-CN" altLang="en-US" sz="2800">
                <a:latin typeface="Times New Roman" panose="02020603050405020304" pitchFamily="18" charset="0"/>
              </a:rPr>
              <a:t> </a:t>
            </a:r>
          </a:p>
        </p:txBody>
      </p:sp>
      <p:grpSp>
        <p:nvGrpSpPr>
          <p:cNvPr id="2" name="Group 4"/>
          <p:cNvGrpSpPr>
            <a:grpSpLocks/>
          </p:cNvGrpSpPr>
          <p:nvPr/>
        </p:nvGrpSpPr>
        <p:grpSpPr bwMode="auto">
          <a:xfrm>
            <a:off x="1066800" y="2819400"/>
            <a:ext cx="4038600" cy="2590800"/>
            <a:chOff x="672" y="1776"/>
            <a:chExt cx="2544" cy="1632"/>
          </a:xfrm>
        </p:grpSpPr>
        <p:grpSp>
          <p:nvGrpSpPr>
            <p:cNvPr id="90126" name="Group 5"/>
            <p:cNvGrpSpPr>
              <a:grpSpLocks/>
            </p:cNvGrpSpPr>
            <p:nvPr/>
          </p:nvGrpSpPr>
          <p:grpSpPr bwMode="auto">
            <a:xfrm>
              <a:off x="672" y="1776"/>
              <a:ext cx="2544" cy="1056"/>
              <a:chOff x="432" y="1776"/>
              <a:chExt cx="2544" cy="1056"/>
            </a:xfrm>
          </p:grpSpPr>
          <p:sp>
            <p:nvSpPr>
              <p:cNvPr id="90129" name="Rectangle 6"/>
              <p:cNvSpPr>
                <a:spLocks noChangeArrowheads="1"/>
              </p:cNvSpPr>
              <p:nvPr/>
            </p:nvSpPr>
            <p:spPr bwMode="auto">
              <a:xfrm>
                <a:off x="1886" y="1776"/>
                <a:ext cx="528" cy="67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90130" name="Object 7"/>
              <p:cNvGraphicFramePr>
                <a:graphicFrameLocks noChangeAspect="1"/>
              </p:cNvGraphicFramePr>
              <p:nvPr/>
            </p:nvGraphicFramePr>
            <p:xfrm>
              <a:off x="2030" y="1777"/>
              <a:ext cx="267" cy="624"/>
            </p:xfrm>
            <a:graphic>
              <a:graphicData uri="http://schemas.openxmlformats.org/presentationml/2006/ole">
                <mc:AlternateContent xmlns:mc="http://schemas.openxmlformats.org/markup-compatibility/2006">
                  <mc:Choice xmlns:v="urn:schemas-microsoft-com:vml" Requires="v">
                    <p:oleObj spid="_x0000_s90169" r:id="rId4" imgW="190417" imgH="444307" progId="Equation.3">
                      <p:embed/>
                    </p:oleObj>
                  </mc:Choice>
                  <mc:Fallback>
                    <p:oleObj r:id="rId4" imgW="190417" imgH="444307"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0" y="1777"/>
                            <a:ext cx="267"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31" name="Text Box 8"/>
              <p:cNvSpPr txBox="1">
                <a:spLocks noChangeArrowheads="1"/>
              </p:cNvSpPr>
              <p:nvPr/>
            </p:nvSpPr>
            <p:spPr bwMode="auto">
              <a:xfrm>
                <a:off x="974" y="1873"/>
                <a:ext cx="36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90132" name="Line 9"/>
              <p:cNvSpPr>
                <a:spLocks noChangeShapeType="1"/>
              </p:cNvSpPr>
              <p:nvPr/>
            </p:nvSpPr>
            <p:spPr bwMode="auto">
              <a:xfrm>
                <a:off x="446" y="2113"/>
                <a:ext cx="62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33" name="Line 10"/>
              <p:cNvSpPr>
                <a:spLocks noChangeShapeType="1"/>
              </p:cNvSpPr>
              <p:nvPr/>
            </p:nvSpPr>
            <p:spPr bwMode="auto">
              <a:xfrm>
                <a:off x="1262" y="2113"/>
                <a:ext cx="62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34" name="Line 11"/>
              <p:cNvSpPr>
                <a:spLocks noChangeShapeType="1"/>
              </p:cNvSpPr>
              <p:nvPr/>
            </p:nvSpPr>
            <p:spPr bwMode="auto">
              <a:xfrm flipV="1">
                <a:off x="2414" y="2112"/>
                <a:ext cx="562"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35" name="Line 12"/>
              <p:cNvSpPr>
                <a:spLocks noChangeShapeType="1"/>
              </p:cNvSpPr>
              <p:nvPr/>
            </p:nvSpPr>
            <p:spPr bwMode="auto">
              <a:xfrm flipH="1" flipV="1">
                <a:off x="1150" y="2209"/>
                <a:ext cx="2" cy="5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36" name="Text Box 13"/>
              <p:cNvSpPr txBox="1">
                <a:spLocks noChangeArrowheads="1"/>
              </p:cNvSpPr>
              <p:nvPr/>
            </p:nvSpPr>
            <p:spPr bwMode="auto">
              <a:xfrm>
                <a:off x="432" y="1777"/>
                <a:ext cx="4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90137" name="Text Box 14"/>
              <p:cNvSpPr txBox="1">
                <a:spLocks noChangeArrowheads="1"/>
              </p:cNvSpPr>
              <p:nvPr/>
            </p:nvSpPr>
            <p:spPr bwMode="auto">
              <a:xfrm>
                <a:off x="1214" y="1777"/>
                <a:ext cx="5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i</a:t>
                </a:r>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o</a:t>
                </a:r>
                <a:endParaRPr lang="en-US" altLang="zh-CN" sz="2400" b="1">
                  <a:latin typeface="Times New Roman" panose="02020603050405020304" pitchFamily="18" charset="0"/>
                </a:endParaRPr>
              </a:p>
            </p:txBody>
          </p:sp>
          <p:sp>
            <p:nvSpPr>
              <p:cNvPr id="90138" name="Text Box 15"/>
              <p:cNvSpPr txBox="1">
                <a:spLocks noChangeArrowheads="1"/>
              </p:cNvSpPr>
              <p:nvPr/>
            </p:nvSpPr>
            <p:spPr bwMode="auto">
              <a:xfrm>
                <a:off x="2544" y="1777"/>
                <a:ext cx="3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90139" name="Line 16"/>
              <p:cNvSpPr>
                <a:spLocks noChangeShapeType="1"/>
              </p:cNvSpPr>
              <p:nvPr/>
            </p:nvSpPr>
            <p:spPr bwMode="auto">
              <a:xfrm>
                <a:off x="1214" y="2401"/>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40" name="Text Box 17"/>
              <p:cNvSpPr txBox="1">
                <a:spLocks noChangeArrowheads="1"/>
              </p:cNvSpPr>
              <p:nvPr/>
            </p:nvSpPr>
            <p:spPr bwMode="auto">
              <a:xfrm>
                <a:off x="1172" y="2544"/>
                <a:ext cx="5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grpSp>
        <p:graphicFrame>
          <p:nvGraphicFramePr>
            <p:cNvPr id="90127" name="Object 18"/>
            <p:cNvGraphicFramePr>
              <a:graphicFrameLocks noChangeAspect="1"/>
            </p:cNvGraphicFramePr>
            <p:nvPr/>
          </p:nvGraphicFramePr>
          <p:xfrm>
            <a:off x="1179" y="2890"/>
            <a:ext cx="1941" cy="518"/>
          </p:xfrm>
          <a:graphic>
            <a:graphicData uri="http://schemas.openxmlformats.org/presentationml/2006/ole">
              <mc:AlternateContent xmlns:mc="http://schemas.openxmlformats.org/markup-compatibility/2006">
                <mc:Choice xmlns:v="urn:schemas-microsoft-com:vml" Requires="v">
                  <p:oleObj spid="_x0000_s90170" r:id="rId6" imgW="1473200" imgH="393700" progId="Equation.3">
                    <p:embed/>
                  </p:oleObj>
                </mc:Choice>
                <mc:Fallback>
                  <p:oleObj r:id="rId6" imgW="1473200" imgH="393700"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9" y="2890"/>
                          <a:ext cx="1941"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28" name="Rectangle 19"/>
            <p:cNvSpPr>
              <a:spLocks noChangeArrowheads="1"/>
            </p:cNvSpPr>
            <p:nvPr/>
          </p:nvSpPr>
          <p:spPr bwMode="auto">
            <a:xfrm>
              <a:off x="823" y="2976"/>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a:t>
              </a:r>
            </a:p>
          </p:txBody>
        </p:sp>
      </p:grpSp>
      <p:grpSp>
        <p:nvGrpSpPr>
          <p:cNvPr id="4" name="Group 20"/>
          <p:cNvGrpSpPr>
            <a:grpSpLocks/>
          </p:cNvGrpSpPr>
          <p:nvPr/>
        </p:nvGrpSpPr>
        <p:grpSpPr bwMode="auto">
          <a:xfrm>
            <a:off x="5708650" y="2819400"/>
            <a:ext cx="2978150" cy="2574925"/>
            <a:chOff x="3596" y="1776"/>
            <a:chExt cx="1876" cy="1622"/>
          </a:xfrm>
        </p:grpSpPr>
        <p:grpSp>
          <p:nvGrpSpPr>
            <p:cNvPr id="90117" name="Group 21"/>
            <p:cNvGrpSpPr>
              <a:grpSpLocks/>
            </p:cNvGrpSpPr>
            <p:nvPr/>
          </p:nvGrpSpPr>
          <p:grpSpPr bwMode="auto">
            <a:xfrm>
              <a:off x="3600" y="1776"/>
              <a:ext cx="1872" cy="672"/>
              <a:chOff x="3600" y="1776"/>
              <a:chExt cx="1872" cy="672"/>
            </a:xfrm>
          </p:grpSpPr>
          <p:sp>
            <p:nvSpPr>
              <p:cNvPr id="90120" name="Rectangle 22"/>
              <p:cNvSpPr>
                <a:spLocks noChangeArrowheads="1"/>
              </p:cNvSpPr>
              <p:nvPr/>
            </p:nvSpPr>
            <p:spPr bwMode="auto">
              <a:xfrm>
                <a:off x="4175" y="1776"/>
                <a:ext cx="721" cy="67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90121" name="Object 23"/>
              <p:cNvGraphicFramePr>
                <a:graphicFrameLocks noChangeAspect="1"/>
              </p:cNvGraphicFramePr>
              <p:nvPr/>
            </p:nvGraphicFramePr>
            <p:xfrm>
              <a:off x="4350" y="1778"/>
              <a:ext cx="354" cy="624"/>
            </p:xfrm>
            <a:graphic>
              <a:graphicData uri="http://schemas.openxmlformats.org/presentationml/2006/ole">
                <mc:AlternateContent xmlns:mc="http://schemas.openxmlformats.org/markup-compatibility/2006">
                  <mc:Choice xmlns:v="urn:schemas-microsoft-com:vml" Requires="v">
                    <p:oleObj spid="_x0000_s90171" r:id="rId8" imgW="253780" imgH="444114" progId="Equation.3">
                      <p:embed/>
                    </p:oleObj>
                  </mc:Choice>
                  <mc:Fallback>
                    <p:oleObj r:id="rId8" imgW="253780" imgH="444114" progId="Equation.3">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0" y="1778"/>
                            <a:ext cx="354"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22" name="Line 24"/>
              <p:cNvSpPr>
                <a:spLocks noChangeShapeType="1"/>
              </p:cNvSpPr>
              <p:nvPr/>
            </p:nvSpPr>
            <p:spPr bwMode="auto">
              <a:xfrm flipV="1">
                <a:off x="4896" y="2112"/>
                <a:ext cx="576"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23" name="Text Box 25"/>
              <p:cNvSpPr txBox="1">
                <a:spLocks noChangeArrowheads="1"/>
              </p:cNvSpPr>
              <p:nvPr/>
            </p:nvSpPr>
            <p:spPr bwMode="auto">
              <a:xfrm>
                <a:off x="4944" y="1777"/>
                <a:ext cx="5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90124" name="Line 26"/>
              <p:cNvSpPr>
                <a:spLocks noChangeShapeType="1"/>
              </p:cNvSpPr>
              <p:nvPr/>
            </p:nvSpPr>
            <p:spPr bwMode="auto">
              <a:xfrm>
                <a:off x="3600" y="2112"/>
                <a:ext cx="576"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25" name="Text Box 27"/>
              <p:cNvSpPr txBox="1">
                <a:spLocks noChangeArrowheads="1"/>
              </p:cNvSpPr>
              <p:nvPr/>
            </p:nvSpPr>
            <p:spPr bwMode="auto">
              <a:xfrm>
                <a:off x="3638" y="1777"/>
                <a:ext cx="3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grpSp>
        <p:graphicFrame>
          <p:nvGraphicFramePr>
            <p:cNvPr id="90118" name="Object 28"/>
            <p:cNvGraphicFramePr>
              <a:graphicFrameLocks noChangeAspect="1"/>
            </p:cNvGraphicFramePr>
            <p:nvPr/>
          </p:nvGraphicFramePr>
          <p:xfrm>
            <a:off x="3984" y="2880"/>
            <a:ext cx="1323" cy="518"/>
          </p:xfrm>
          <a:graphic>
            <a:graphicData uri="http://schemas.openxmlformats.org/presentationml/2006/ole">
              <mc:AlternateContent xmlns:mc="http://schemas.openxmlformats.org/markup-compatibility/2006">
                <mc:Choice xmlns:v="urn:schemas-microsoft-com:vml" Requires="v">
                  <p:oleObj spid="_x0000_s90172" r:id="rId10" imgW="1002865" imgH="393529" progId="Equation.3">
                    <p:embed/>
                  </p:oleObj>
                </mc:Choice>
                <mc:Fallback>
                  <p:oleObj r:id="rId10" imgW="1002865" imgH="393529" progId="Equation.3">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84" y="2880"/>
                          <a:ext cx="132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19" name="Rectangle 29"/>
            <p:cNvSpPr>
              <a:spLocks noChangeArrowheads="1"/>
            </p:cNvSpPr>
            <p:nvPr/>
          </p:nvSpPr>
          <p:spPr bwMode="auto">
            <a:xfrm>
              <a:off x="3596" y="2976"/>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62" name="Group 3"/>
          <p:cNvGrpSpPr>
            <a:grpSpLocks/>
          </p:cNvGrpSpPr>
          <p:nvPr/>
        </p:nvGrpSpPr>
        <p:grpSpPr bwMode="auto">
          <a:xfrm>
            <a:off x="838200" y="2339975"/>
            <a:ext cx="7874000" cy="3149600"/>
            <a:chOff x="608" y="1474"/>
            <a:chExt cx="4960" cy="1984"/>
          </a:xfrm>
        </p:grpSpPr>
        <p:sp>
          <p:nvSpPr>
            <p:cNvPr id="92163" name="Rectangle 4"/>
            <p:cNvSpPr>
              <a:spLocks noChangeArrowheads="1"/>
            </p:cNvSpPr>
            <p:nvPr/>
          </p:nvSpPr>
          <p:spPr bwMode="auto">
            <a:xfrm>
              <a:off x="2304" y="1474"/>
              <a:ext cx="672" cy="76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92164" name="Object 5"/>
            <p:cNvGraphicFramePr>
              <a:graphicFrameLocks noChangeAspect="1"/>
            </p:cNvGraphicFramePr>
            <p:nvPr/>
          </p:nvGraphicFramePr>
          <p:xfrm>
            <a:off x="2496" y="1523"/>
            <a:ext cx="267" cy="624"/>
          </p:xfrm>
          <a:graphic>
            <a:graphicData uri="http://schemas.openxmlformats.org/presentationml/2006/ole">
              <mc:AlternateContent xmlns:mc="http://schemas.openxmlformats.org/markup-compatibility/2006">
                <mc:Choice xmlns:v="urn:schemas-microsoft-com:vml" Requires="v">
                  <p:oleObj spid="_x0000_s92195" r:id="rId4" imgW="190417" imgH="444307" progId="Equation.3">
                    <p:embed/>
                  </p:oleObj>
                </mc:Choice>
                <mc:Fallback>
                  <p:oleObj r:id="rId4" imgW="190417" imgH="444307"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6" y="1523"/>
                          <a:ext cx="267"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165" name="Rectangle 6"/>
            <p:cNvSpPr>
              <a:spLocks noChangeArrowheads="1"/>
            </p:cNvSpPr>
            <p:nvPr/>
          </p:nvSpPr>
          <p:spPr bwMode="auto">
            <a:xfrm>
              <a:off x="3695" y="1475"/>
              <a:ext cx="721" cy="76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92166" name="Object 7"/>
            <p:cNvGraphicFramePr>
              <a:graphicFrameLocks noChangeAspect="1"/>
            </p:cNvGraphicFramePr>
            <p:nvPr/>
          </p:nvGraphicFramePr>
          <p:xfrm>
            <a:off x="3870" y="1524"/>
            <a:ext cx="354" cy="624"/>
          </p:xfrm>
          <a:graphic>
            <a:graphicData uri="http://schemas.openxmlformats.org/presentationml/2006/ole">
              <mc:AlternateContent xmlns:mc="http://schemas.openxmlformats.org/markup-compatibility/2006">
                <mc:Choice xmlns:v="urn:schemas-microsoft-com:vml" Requires="v">
                  <p:oleObj spid="_x0000_s92196" r:id="rId6" imgW="253780" imgH="444114" progId="Equation.3">
                    <p:embed/>
                  </p:oleObj>
                </mc:Choice>
                <mc:Fallback>
                  <p:oleObj r:id="rId6" imgW="253780" imgH="444114"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0" y="1524"/>
                          <a:ext cx="354"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167" name="Text Box 8"/>
            <p:cNvSpPr txBox="1">
              <a:spLocks noChangeArrowheads="1"/>
            </p:cNvSpPr>
            <p:nvPr/>
          </p:nvSpPr>
          <p:spPr bwMode="auto">
            <a:xfrm>
              <a:off x="1392" y="1619"/>
              <a:ext cx="36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92168" name="Line 9"/>
            <p:cNvSpPr>
              <a:spLocks noChangeShapeType="1"/>
            </p:cNvSpPr>
            <p:nvPr/>
          </p:nvSpPr>
          <p:spPr bwMode="auto">
            <a:xfrm>
              <a:off x="608" y="1859"/>
              <a:ext cx="86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69" name="Line 10"/>
            <p:cNvSpPr>
              <a:spLocks noChangeShapeType="1"/>
            </p:cNvSpPr>
            <p:nvPr/>
          </p:nvSpPr>
          <p:spPr bwMode="auto">
            <a:xfrm>
              <a:off x="1680" y="1859"/>
              <a:ext cx="62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70" name="Line 11"/>
            <p:cNvSpPr>
              <a:spLocks noChangeShapeType="1"/>
            </p:cNvSpPr>
            <p:nvPr/>
          </p:nvSpPr>
          <p:spPr bwMode="auto">
            <a:xfrm>
              <a:off x="2976" y="1859"/>
              <a:ext cx="72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71" name="Line 12"/>
            <p:cNvSpPr>
              <a:spLocks noChangeShapeType="1"/>
            </p:cNvSpPr>
            <p:nvPr/>
          </p:nvSpPr>
          <p:spPr bwMode="auto">
            <a:xfrm>
              <a:off x="4416" y="1859"/>
              <a:ext cx="115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72" name="Line 13"/>
            <p:cNvSpPr>
              <a:spLocks noChangeShapeType="1"/>
            </p:cNvSpPr>
            <p:nvPr/>
          </p:nvSpPr>
          <p:spPr bwMode="auto">
            <a:xfrm>
              <a:off x="4976" y="1859"/>
              <a:ext cx="0" cy="10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3" name="Line 14"/>
            <p:cNvSpPr>
              <a:spLocks noChangeShapeType="1"/>
            </p:cNvSpPr>
            <p:nvPr/>
          </p:nvSpPr>
          <p:spPr bwMode="auto">
            <a:xfrm flipH="1">
              <a:off x="1568" y="2867"/>
              <a:ext cx="340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4" name="Line 15"/>
            <p:cNvSpPr>
              <a:spLocks noChangeShapeType="1"/>
            </p:cNvSpPr>
            <p:nvPr/>
          </p:nvSpPr>
          <p:spPr bwMode="auto">
            <a:xfrm flipV="1">
              <a:off x="1568" y="1955"/>
              <a:ext cx="0" cy="91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75" name="Text Box 16"/>
            <p:cNvSpPr txBox="1">
              <a:spLocks noChangeArrowheads="1"/>
            </p:cNvSpPr>
            <p:nvPr/>
          </p:nvSpPr>
          <p:spPr bwMode="auto">
            <a:xfrm>
              <a:off x="754" y="1523"/>
              <a:ext cx="4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92176" name="Text Box 17"/>
            <p:cNvSpPr txBox="1">
              <a:spLocks noChangeArrowheads="1"/>
            </p:cNvSpPr>
            <p:nvPr/>
          </p:nvSpPr>
          <p:spPr bwMode="auto">
            <a:xfrm>
              <a:off x="1824" y="1523"/>
              <a:ext cx="4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92177" name="Text Box 18"/>
            <p:cNvSpPr txBox="1">
              <a:spLocks noChangeArrowheads="1"/>
            </p:cNvSpPr>
            <p:nvPr/>
          </p:nvSpPr>
          <p:spPr bwMode="auto">
            <a:xfrm>
              <a:off x="3010" y="1523"/>
              <a:ext cx="3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92178" name="Text Box 19"/>
            <p:cNvSpPr txBox="1">
              <a:spLocks noChangeArrowheads="1"/>
            </p:cNvSpPr>
            <p:nvPr/>
          </p:nvSpPr>
          <p:spPr bwMode="auto">
            <a:xfrm>
              <a:off x="4950" y="1523"/>
              <a:ext cx="5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U</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92179" name="Line 20"/>
            <p:cNvSpPr>
              <a:spLocks noChangeShapeType="1"/>
            </p:cNvSpPr>
            <p:nvPr/>
          </p:nvSpPr>
          <p:spPr bwMode="auto">
            <a:xfrm>
              <a:off x="1632" y="2147"/>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0" name="Text Box 21"/>
            <p:cNvSpPr txBox="1">
              <a:spLocks noChangeArrowheads="1"/>
            </p:cNvSpPr>
            <p:nvPr/>
          </p:nvSpPr>
          <p:spPr bwMode="auto">
            <a:xfrm>
              <a:off x="1932" y="3168"/>
              <a:ext cx="248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无源</a:t>
              </a:r>
              <a:r>
                <a:rPr lang="en-US" altLang="zh-CN" sz="2400">
                  <a:latin typeface="Times New Roman" panose="02020603050405020304" pitchFamily="18" charset="0"/>
                </a:rPr>
                <a:t>RC</a:t>
              </a:r>
              <a:r>
                <a:rPr lang="zh-CN" altLang="en-US" sz="2400">
                  <a:latin typeface="Times New Roman" panose="02020603050405020304" pitchFamily="18" charset="0"/>
                </a:rPr>
                <a:t>电路网络系统方框图</a:t>
              </a:r>
            </a:p>
          </p:txBody>
        </p:sp>
      </p:gr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1042988" y="1125538"/>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机械系统</a:t>
            </a:r>
            <a:r>
              <a:rPr lang="zh-CN" altLang="en-US" sz="2800">
                <a:latin typeface="Times New Roman" panose="02020603050405020304" pitchFamily="18" charset="0"/>
              </a:rPr>
              <a:t> </a:t>
            </a:r>
          </a:p>
        </p:txBody>
      </p:sp>
      <p:grpSp>
        <p:nvGrpSpPr>
          <p:cNvPr id="2" name="Group 4"/>
          <p:cNvGrpSpPr>
            <a:grpSpLocks/>
          </p:cNvGrpSpPr>
          <p:nvPr/>
        </p:nvGrpSpPr>
        <p:grpSpPr bwMode="auto">
          <a:xfrm>
            <a:off x="1535113" y="2197100"/>
            <a:ext cx="2960687" cy="3975100"/>
            <a:chOff x="967" y="1384"/>
            <a:chExt cx="1865" cy="2504"/>
          </a:xfrm>
        </p:grpSpPr>
        <p:sp>
          <p:nvSpPr>
            <p:cNvPr id="94229" name="Rectangle 5"/>
            <p:cNvSpPr>
              <a:spLocks noChangeArrowheads="1"/>
            </p:cNvSpPr>
            <p:nvPr/>
          </p:nvSpPr>
          <p:spPr bwMode="auto">
            <a:xfrm>
              <a:off x="1128" y="1705"/>
              <a:ext cx="883" cy="32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800" b="1" i="1">
                  <a:latin typeface="Times New Roman" panose="02020603050405020304" pitchFamily="18" charset="0"/>
                </a:rPr>
                <a:t>m</a:t>
              </a:r>
              <a:r>
                <a:rPr lang="en-US" altLang="zh-CN" sz="2900" b="1" baseline="-20000">
                  <a:latin typeface="Times New Roman" panose="02020603050405020304" pitchFamily="18" charset="0"/>
                </a:rPr>
                <a:t>1</a:t>
              </a:r>
            </a:p>
          </p:txBody>
        </p:sp>
        <p:sp>
          <p:nvSpPr>
            <p:cNvPr id="94230" name="Freeform 6"/>
            <p:cNvSpPr>
              <a:spLocks noChangeArrowheads="1"/>
            </p:cNvSpPr>
            <p:nvPr/>
          </p:nvSpPr>
          <p:spPr bwMode="auto">
            <a:xfrm>
              <a:off x="1275" y="2219"/>
              <a:ext cx="174" cy="385"/>
            </a:xfrm>
            <a:custGeom>
              <a:avLst/>
              <a:gdLst>
                <a:gd name="T0" fmla="*/ 66 w 208"/>
                <a:gd name="T1" fmla="*/ 0 h 576"/>
                <a:gd name="T2" fmla="*/ 9 w 208"/>
                <a:gd name="T3" fmla="*/ 14 h 576"/>
                <a:gd name="T4" fmla="*/ 122 w 208"/>
                <a:gd name="T5" fmla="*/ 43 h 576"/>
                <a:gd name="T6" fmla="*/ 9 w 208"/>
                <a:gd name="T7" fmla="*/ 57 h 576"/>
                <a:gd name="T8" fmla="*/ 122 w 208"/>
                <a:gd name="T9" fmla="*/ 86 h 576"/>
                <a:gd name="T10" fmla="*/ 9 w 208"/>
                <a:gd name="T11" fmla="*/ 100 h 576"/>
                <a:gd name="T12" fmla="*/ 122 w 208"/>
                <a:gd name="T13" fmla="*/ 129 h 576"/>
                <a:gd name="T14" fmla="*/ 9 w 208"/>
                <a:gd name="T15" fmla="*/ 144 h 576"/>
                <a:gd name="T16" fmla="*/ 66 w 208"/>
                <a:gd name="T17" fmla="*/ 172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1" name="Line 7"/>
            <p:cNvSpPr>
              <a:spLocks noChangeShapeType="1"/>
            </p:cNvSpPr>
            <p:nvPr/>
          </p:nvSpPr>
          <p:spPr bwMode="auto">
            <a:xfrm flipV="1">
              <a:off x="1369" y="2026"/>
              <a:ext cx="0" cy="19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2" name="Line 8"/>
            <p:cNvSpPr>
              <a:spLocks noChangeShapeType="1"/>
            </p:cNvSpPr>
            <p:nvPr/>
          </p:nvSpPr>
          <p:spPr bwMode="auto">
            <a:xfrm>
              <a:off x="1369" y="2604"/>
              <a:ext cx="0" cy="16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3" name="Line 9"/>
            <p:cNvSpPr>
              <a:spLocks noChangeShapeType="1"/>
            </p:cNvSpPr>
            <p:nvPr/>
          </p:nvSpPr>
          <p:spPr bwMode="auto">
            <a:xfrm>
              <a:off x="1730" y="2026"/>
              <a:ext cx="1" cy="41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4" name="Line 10"/>
            <p:cNvSpPr>
              <a:spLocks noChangeShapeType="1"/>
            </p:cNvSpPr>
            <p:nvPr/>
          </p:nvSpPr>
          <p:spPr bwMode="auto">
            <a:xfrm>
              <a:off x="1650" y="2444"/>
              <a:ext cx="16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5" name="Line 11"/>
            <p:cNvSpPr>
              <a:spLocks noChangeShapeType="1"/>
            </p:cNvSpPr>
            <p:nvPr/>
          </p:nvSpPr>
          <p:spPr bwMode="auto">
            <a:xfrm>
              <a:off x="1610" y="2411"/>
              <a:ext cx="0" cy="9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6" name="Line 12"/>
            <p:cNvSpPr>
              <a:spLocks noChangeShapeType="1"/>
            </p:cNvSpPr>
            <p:nvPr/>
          </p:nvSpPr>
          <p:spPr bwMode="auto">
            <a:xfrm>
              <a:off x="1610" y="2508"/>
              <a:ext cx="24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7" name="Line 13"/>
            <p:cNvSpPr>
              <a:spLocks noChangeShapeType="1"/>
            </p:cNvSpPr>
            <p:nvPr/>
          </p:nvSpPr>
          <p:spPr bwMode="auto">
            <a:xfrm>
              <a:off x="1850" y="2411"/>
              <a:ext cx="1" cy="9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8" name="Line 14"/>
            <p:cNvSpPr>
              <a:spLocks noChangeShapeType="1"/>
            </p:cNvSpPr>
            <p:nvPr/>
          </p:nvSpPr>
          <p:spPr bwMode="auto">
            <a:xfrm>
              <a:off x="1730" y="2508"/>
              <a:ext cx="0" cy="25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9" name="Rectangle 15" descr="宽上对角线"/>
            <p:cNvSpPr>
              <a:spLocks noChangeArrowheads="1"/>
            </p:cNvSpPr>
            <p:nvPr/>
          </p:nvSpPr>
          <p:spPr bwMode="auto">
            <a:xfrm>
              <a:off x="1008" y="3760"/>
              <a:ext cx="1123" cy="128"/>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4240" name="Line 16"/>
            <p:cNvSpPr>
              <a:spLocks noChangeShapeType="1"/>
            </p:cNvSpPr>
            <p:nvPr/>
          </p:nvSpPr>
          <p:spPr bwMode="auto">
            <a:xfrm>
              <a:off x="1008" y="3760"/>
              <a:ext cx="112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1" name="Line 17"/>
            <p:cNvSpPr>
              <a:spLocks noChangeShapeType="1"/>
            </p:cNvSpPr>
            <p:nvPr/>
          </p:nvSpPr>
          <p:spPr bwMode="auto">
            <a:xfrm>
              <a:off x="2171" y="1416"/>
              <a:ext cx="3" cy="289"/>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42" name="Line 18"/>
            <p:cNvSpPr>
              <a:spLocks noChangeShapeType="1"/>
            </p:cNvSpPr>
            <p:nvPr/>
          </p:nvSpPr>
          <p:spPr bwMode="auto">
            <a:xfrm>
              <a:off x="2011" y="2026"/>
              <a:ext cx="28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3" name="Text Box 19"/>
            <p:cNvSpPr txBox="1">
              <a:spLocks noChangeArrowheads="1"/>
            </p:cNvSpPr>
            <p:nvPr/>
          </p:nvSpPr>
          <p:spPr bwMode="auto">
            <a:xfrm>
              <a:off x="2243" y="1384"/>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94244" name="Text Box 20"/>
            <p:cNvSpPr txBox="1">
              <a:spLocks noChangeArrowheads="1"/>
            </p:cNvSpPr>
            <p:nvPr/>
          </p:nvSpPr>
          <p:spPr bwMode="auto">
            <a:xfrm>
              <a:off x="967" y="220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K</a:t>
              </a:r>
              <a:r>
                <a:rPr lang="en-US" altLang="zh-CN" sz="2400" b="1" baseline="-25000">
                  <a:latin typeface="Times New Roman" panose="02020603050405020304" pitchFamily="18" charset="0"/>
                </a:rPr>
                <a:t>1</a:t>
              </a:r>
              <a:endParaRPr lang="en-US" altLang="zh-CN" sz="2400" b="1">
                <a:latin typeface="Times New Roman" panose="02020603050405020304" pitchFamily="18" charset="0"/>
              </a:endParaRPr>
            </a:p>
          </p:txBody>
        </p:sp>
        <p:sp>
          <p:nvSpPr>
            <p:cNvPr id="94245" name="Text Box 21"/>
            <p:cNvSpPr txBox="1">
              <a:spLocks noChangeArrowheads="1"/>
            </p:cNvSpPr>
            <p:nvPr/>
          </p:nvSpPr>
          <p:spPr bwMode="auto">
            <a:xfrm>
              <a:off x="1776" y="220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94246" name="Line 22"/>
            <p:cNvSpPr>
              <a:spLocks noChangeShapeType="1"/>
            </p:cNvSpPr>
            <p:nvPr/>
          </p:nvSpPr>
          <p:spPr bwMode="auto">
            <a:xfrm>
              <a:off x="2171" y="2026"/>
              <a:ext cx="0" cy="19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47" name="Text Box 23"/>
            <p:cNvSpPr txBox="1">
              <a:spLocks noChangeArrowheads="1"/>
            </p:cNvSpPr>
            <p:nvPr/>
          </p:nvSpPr>
          <p:spPr bwMode="auto">
            <a:xfrm>
              <a:off x="2011" y="2187"/>
              <a:ext cx="3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94248" name="Text Box 24"/>
            <p:cNvSpPr txBox="1">
              <a:spLocks noChangeArrowheads="1"/>
            </p:cNvSpPr>
            <p:nvPr/>
          </p:nvSpPr>
          <p:spPr bwMode="auto">
            <a:xfrm>
              <a:off x="2275" y="191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94249" name="Line 25"/>
            <p:cNvSpPr>
              <a:spLocks noChangeShapeType="1"/>
            </p:cNvSpPr>
            <p:nvPr/>
          </p:nvSpPr>
          <p:spPr bwMode="auto">
            <a:xfrm>
              <a:off x="2011" y="1705"/>
              <a:ext cx="28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0" name="Rectangle 26"/>
            <p:cNvSpPr>
              <a:spLocks noChangeArrowheads="1"/>
            </p:cNvSpPr>
            <p:nvPr/>
          </p:nvSpPr>
          <p:spPr bwMode="auto">
            <a:xfrm>
              <a:off x="1128" y="2765"/>
              <a:ext cx="883" cy="32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800" b="1" i="1">
                  <a:latin typeface="Times New Roman" panose="02020603050405020304" pitchFamily="18" charset="0"/>
                </a:rPr>
                <a:t>m</a:t>
              </a:r>
              <a:r>
                <a:rPr lang="en-US" altLang="zh-CN" sz="2900" b="1" baseline="-20000">
                  <a:latin typeface="Times New Roman" panose="02020603050405020304" pitchFamily="18" charset="0"/>
                </a:rPr>
                <a:t>2</a:t>
              </a:r>
            </a:p>
          </p:txBody>
        </p:sp>
        <p:sp>
          <p:nvSpPr>
            <p:cNvPr id="94251" name="Freeform 27"/>
            <p:cNvSpPr>
              <a:spLocks noChangeArrowheads="1"/>
            </p:cNvSpPr>
            <p:nvPr/>
          </p:nvSpPr>
          <p:spPr bwMode="auto">
            <a:xfrm>
              <a:off x="1489" y="3214"/>
              <a:ext cx="174" cy="385"/>
            </a:xfrm>
            <a:custGeom>
              <a:avLst/>
              <a:gdLst>
                <a:gd name="T0" fmla="*/ 66 w 208"/>
                <a:gd name="T1" fmla="*/ 0 h 576"/>
                <a:gd name="T2" fmla="*/ 9 w 208"/>
                <a:gd name="T3" fmla="*/ 14 h 576"/>
                <a:gd name="T4" fmla="*/ 122 w 208"/>
                <a:gd name="T5" fmla="*/ 43 h 576"/>
                <a:gd name="T6" fmla="*/ 9 w 208"/>
                <a:gd name="T7" fmla="*/ 57 h 576"/>
                <a:gd name="T8" fmla="*/ 122 w 208"/>
                <a:gd name="T9" fmla="*/ 86 h 576"/>
                <a:gd name="T10" fmla="*/ 9 w 208"/>
                <a:gd name="T11" fmla="*/ 100 h 576"/>
                <a:gd name="T12" fmla="*/ 122 w 208"/>
                <a:gd name="T13" fmla="*/ 129 h 576"/>
                <a:gd name="T14" fmla="*/ 9 w 208"/>
                <a:gd name="T15" fmla="*/ 144 h 576"/>
                <a:gd name="T16" fmla="*/ 66 w 208"/>
                <a:gd name="T17" fmla="*/ 172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2" name="Line 28"/>
            <p:cNvSpPr>
              <a:spLocks noChangeShapeType="1"/>
            </p:cNvSpPr>
            <p:nvPr/>
          </p:nvSpPr>
          <p:spPr bwMode="auto">
            <a:xfrm flipV="1">
              <a:off x="1569" y="3086"/>
              <a:ext cx="0" cy="12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3" name="Line 29"/>
            <p:cNvSpPr>
              <a:spLocks noChangeShapeType="1"/>
            </p:cNvSpPr>
            <p:nvPr/>
          </p:nvSpPr>
          <p:spPr bwMode="auto">
            <a:xfrm>
              <a:off x="1569" y="3599"/>
              <a:ext cx="0" cy="16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4" name="Text Box 30"/>
            <p:cNvSpPr txBox="1">
              <a:spLocks noChangeArrowheads="1"/>
            </p:cNvSpPr>
            <p:nvPr/>
          </p:nvSpPr>
          <p:spPr bwMode="auto">
            <a:xfrm>
              <a:off x="1159" y="320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K</a:t>
              </a:r>
              <a:r>
                <a:rPr lang="en-US" altLang="zh-CN" sz="2400" b="1" baseline="-25000">
                  <a:latin typeface="Times New Roman" panose="02020603050405020304" pitchFamily="18" charset="0"/>
                </a:rPr>
                <a:t>2</a:t>
              </a:r>
              <a:endParaRPr lang="en-US" altLang="zh-CN" sz="2400" b="1">
                <a:latin typeface="Times New Roman" panose="02020603050405020304" pitchFamily="18" charset="0"/>
              </a:endParaRPr>
            </a:p>
          </p:txBody>
        </p:sp>
        <p:sp>
          <p:nvSpPr>
            <p:cNvPr id="94255" name="Line 31"/>
            <p:cNvSpPr>
              <a:spLocks noChangeShapeType="1"/>
            </p:cNvSpPr>
            <p:nvPr/>
          </p:nvSpPr>
          <p:spPr bwMode="auto">
            <a:xfrm>
              <a:off x="2011" y="3086"/>
              <a:ext cx="28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6" name="Line 32"/>
            <p:cNvSpPr>
              <a:spLocks noChangeShapeType="1"/>
            </p:cNvSpPr>
            <p:nvPr/>
          </p:nvSpPr>
          <p:spPr bwMode="auto">
            <a:xfrm>
              <a:off x="2171" y="3086"/>
              <a:ext cx="0" cy="19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57" name="Text Box 33"/>
            <p:cNvSpPr txBox="1">
              <a:spLocks noChangeArrowheads="1"/>
            </p:cNvSpPr>
            <p:nvPr/>
          </p:nvSpPr>
          <p:spPr bwMode="auto">
            <a:xfrm>
              <a:off x="2011" y="3246"/>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94258" name="Text Box 34"/>
            <p:cNvSpPr txBox="1">
              <a:spLocks noChangeArrowheads="1"/>
            </p:cNvSpPr>
            <p:nvPr/>
          </p:nvSpPr>
          <p:spPr bwMode="auto">
            <a:xfrm>
              <a:off x="2275" y="297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grpSp>
      <p:grpSp>
        <p:nvGrpSpPr>
          <p:cNvPr id="3" name="Group 35"/>
          <p:cNvGrpSpPr>
            <a:grpSpLocks/>
          </p:cNvGrpSpPr>
          <p:nvPr/>
        </p:nvGrpSpPr>
        <p:grpSpPr bwMode="auto">
          <a:xfrm>
            <a:off x="5551488" y="2197100"/>
            <a:ext cx="2759075" cy="3975100"/>
            <a:chOff x="3497" y="1384"/>
            <a:chExt cx="1738" cy="2504"/>
          </a:xfrm>
        </p:grpSpPr>
        <p:sp>
          <p:nvSpPr>
            <p:cNvPr id="94213" name="Rectangle 36"/>
            <p:cNvSpPr>
              <a:spLocks noChangeArrowheads="1"/>
            </p:cNvSpPr>
            <p:nvPr/>
          </p:nvSpPr>
          <p:spPr bwMode="auto">
            <a:xfrm>
              <a:off x="3617" y="1705"/>
              <a:ext cx="883" cy="32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800" b="1" i="1">
                  <a:latin typeface="Times New Roman" panose="02020603050405020304" pitchFamily="18" charset="0"/>
                </a:rPr>
                <a:t>m</a:t>
              </a:r>
              <a:r>
                <a:rPr lang="en-US" altLang="zh-CN" sz="2900" b="1" baseline="-20000">
                  <a:latin typeface="Times New Roman" panose="02020603050405020304" pitchFamily="18" charset="0"/>
                </a:rPr>
                <a:t>1</a:t>
              </a:r>
            </a:p>
          </p:txBody>
        </p:sp>
        <p:sp>
          <p:nvSpPr>
            <p:cNvPr id="94214" name="Rectangle 37" descr="宽上对角线"/>
            <p:cNvSpPr>
              <a:spLocks noChangeArrowheads="1"/>
            </p:cNvSpPr>
            <p:nvPr/>
          </p:nvSpPr>
          <p:spPr bwMode="auto">
            <a:xfrm>
              <a:off x="3497" y="3760"/>
              <a:ext cx="1123" cy="128"/>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4215" name="Line 38"/>
            <p:cNvSpPr>
              <a:spLocks noChangeShapeType="1"/>
            </p:cNvSpPr>
            <p:nvPr/>
          </p:nvSpPr>
          <p:spPr bwMode="auto">
            <a:xfrm>
              <a:off x="3497" y="3760"/>
              <a:ext cx="112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6" name="Line 39"/>
            <p:cNvSpPr>
              <a:spLocks noChangeShapeType="1"/>
            </p:cNvSpPr>
            <p:nvPr/>
          </p:nvSpPr>
          <p:spPr bwMode="auto">
            <a:xfrm>
              <a:off x="4059" y="1416"/>
              <a:ext cx="2" cy="289"/>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17" name="Text Box 40"/>
            <p:cNvSpPr txBox="1">
              <a:spLocks noChangeArrowheads="1"/>
            </p:cNvSpPr>
            <p:nvPr/>
          </p:nvSpPr>
          <p:spPr bwMode="auto">
            <a:xfrm>
              <a:off x="4130" y="1384"/>
              <a:ext cx="5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94218" name="Rectangle 41"/>
            <p:cNvSpPr>
              <a:spLocks noChangeArrowheads="1"/>
            </p:cNvSpPr>
            <p:nvPr/>
          </p:nvSpPr>
          <p:spPr bwMode="auto">
            <a:xfrm>
              <a:off x="3617" y="2765"/>
              <a:ext cx="883" cy="32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800" b="1" i="1">
                  <a:latin typeface="Times New Roman" panose="02020603050405020304" pitchFamily="18" charset="0"/>
                </a:rPr>
                <a:t>m</a:t>
              </a:r>
              <a:r>
                <a:rPr lang="en-US" altLang="zh-CN" sz="2900" b="1" baseline="-20000">
                  <a:latin typeface="Times New Roman" panose="02020603050405020304" pitchFamily="18" charset="0"/>
                </a:rPr>
                <a:t>2</a:t>
              </a:r>
            </a:p>
          </p:txBody>
        </p:sp>
        <p:sp>
          <p:nvSpPr>
            <p:cNvPr id="94219" name="Line 42"/>
            <p:cNvSpPr>
              <a:spLocks noChangeShapeType="1"/>
            </p:cNvSpPr>
            <p:nvPr/>
          </p:nvSpPr>
          <p:spPr bwMode="auto">
            <a:xfrm flipV="1">
              <a:off x="3861" y="2026"/>
              <a:ext cx="0" cy="739"/>
            </a:xfrm>
            <a:prstGeom prst="line">
              <a:avLst/>
            </a:prstGeom>
            <a:noFill/>
            <a:ln w="317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20" name="Line 43"/>
            <p:cNvSpPr>
              <a:spLocks noChangeShapeType="1"/>
            </p:cNvSpPr>
            <p:nvPr/>
          </p:nvSpPr>
          <p:spPr bwMode="auto">
            <a:xfrm flipV="1">
              <a:off x="4221" y="2026"/>
              <a:ext cx="0" cy="739"/>
            </a:xfrm>
            <a:prstGeom prst="line">
              <a:avLst/>
            </a:prstGeom>
            <a:noFill/>
            <a:ln w="317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21" name="Line 44"/>
            <p:cNvSpPr>
              <a:spLocks noChangeShapeType="1"/>
            </p:cNvSpPr>
            <p:nvPr/>
          </p:nvSpPr>
          <p:spPr bwMode="auto">
            <a:xfrm flipV="1">
              <a:off x="4021" y="3086"/>
              <a:ext cx="0" cy="674"/>
            </a:xfrm>
            <a:prstGeom prst="line">
              <a:avLst/>
            </a:prstGeom>
            <a:noFill/>
            <a:ln w="317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22" name="Text Box 45"/>
            <p:cNvSpPr txBox="1">
              <a:spLocks noChangeArrowheads="1"/>
            </p:cNvSpPr>
            <p:nvPr/>
          </p:nvSpPr>
          <p:spPr bwMode="auto">
            <a:xfrm>
              <a:off x="3552" y="2200"/>
              <a:ext cx="4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K</a:t>
              </a:r>
              <a:r>
                <a:rPr lang="en-US" altLang="zh-CN" sz="2400" b="1" baseline="-40000">
                  <a:latin typeface="Times New Roman" panose="02020603050405020304" pitchFamily="18" charset="0"/>
                </a:rPr>
                <a:t>1</a:t>
              </a:r>
              <a:endParaRPr lang="en-US" altLang="zh-CN" sz="2400" b="1">
                <a:latin typeface="Times New Roman" panose="02020603050405020304" pitchFamily="18" charset="0"/>
              </a:endParaRPr>
            </a:p>
          </p:txBody>
        </p:sp>
        <p:sp>
          <p:nvSpPr>
            <p:cNvPr id="94223" name="Text Box 46"/>
            <p:cNvSpPr txBox="1">
              <a:spLocks noChangeArrowheads="1"/>
            </p:cNvSpPr>
            <p:nvPr/>
          </p:nvSpPr>
          <p:spPr bwMode="auto">
            <a:xfrm>
              <a:off x="3696" y="3256"/>
              <a:ext cx="4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K</a:t>
              </a:r>
              <a:r>
                <a:rPr lang="en-US" altLang="zh-CN" sz="2400" b="1" baseline="-40000">
                  <a:latin typeface="Times New Roman" panose="02020603050405020304" pitchFamily="18" charset="0"/>
                </a:rPr>
                <a:t>2</a:t>
              </a:r>
              <a:endParaRPr lang="en-US" altLang="zh-CN" sz="2400" b="1">
                <a:latin typeface="Times New Roman" panose="02020603050405020304" pitchFamily="18" charset="0"/>
              </a:endParaRPr>
            </a:p>
          </p:txBody>
        </p:sp>
        <p:sp>
          <p:nvSpPr>
            <p:cNvPr id="94224" name="Line 47"/>
            <p:cNvSpPr>
              <a:spLocks noChangeShapeType="1"/>
            </p:cNvSpPr>
            <p:nvPr/>
          </p:nvSpPr>
          <p:spPr bwMode="auto">
            <a:xfrm flipV="1">
              <a:off x="4783" y="1545"/>
              <a:ext cx="0" cy="61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25" name="Line 48"/>
            <p:cNvSpPr>
              <a:spLocks noChangeShapeType="1"/>
            </p:cNvSpPr>
            <p:nvPr/>
          </p:nvSpPr>
          <p:spPr bwMode="auto">
            <a:xfrm flipV="1">
              <a:off x="4783" y="2636"/>
              <a:ext cx="0" cy="61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26" name="Text Box 49"/>
            <p:cNvSpPr txBox="1">
              <a:spLocks noChangeArrowheads="1"/>
            </p:cNvSpPr>
            <p:nvPr/>
          </p:nvSpPr>
          <p:spPr bwMode="auto">
            <a:xfrm>
              <a:off x="4812" y="1769"/>
              <a:ext cx="4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10000">
                  <a:latin typeface="Times New Roman" panose="02020603050405020304" pitchFamily="18" charset="0"/>
                </a:rPr>
                <a:t>m</a:t>
              </a:r>
              <a:r>
                <a:rPr lang="en-US" altLang="zh-CN" sz="2400" b="1" baseline="-40000">
                  <a:latin typeface="Times New Roman" panose="02020603050405020304" pitchFamily="18" charset="0"/>
                </a:rPr>
                <a:t>1</a:t>
              </a:r>
              <a:endParaRPr lang="en-US" altLang="zh-CN" sz="2400" b="1">
                <a:latin typeface="Times New Roman" panose="02020603050405020304" pitchFamily="18" charset="0"/>
              </a:endParaRPr>
            </a:p>
          </p:txBody>
        </p:sp>
        <p:sp>
          <p:nvSpPr>
            <p:cNvPr id="94227" name="Text Box 50"/>
            <p:cNvSpPr txBox="1">
              <a:spLocks noChangeArrowheads="1"/>
            </p:cNvSpPr>
            <p:nvPr/>
          </p:nvSpPr>
          <p:spPr bwMode="auto">
            <a:xfrm>
              <a:off x="4823" y="2829"/>
              <a:ext cx="4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10000">
                  <a:latin typeface="Times New Roman" panose="02020603050405020304" pitchFamily="18" charset="0"/>
                </a:rPr>
                <a:t>m</a:t>
              </a:r>
              <a:r>
                <a:rPr lang="en-US" altLang="zh-CN" sz="2400" b="1" baseline="-40000">
                  <a:latin typeface="Times New Roman" panose="02020603050405020304" pitchFamily="18" charset="0"/>
                </a:rPr>
                <a:t>2</a:t>
              </a:r>
              <a:endParaRPr lang="en-US" altLang="zh-CN" sz="2400" b="1">
                <a:latin typeface="Times New Roman" panose="02020603050405020304" pitchFamily="18" charset="0"/>
              </a:endParaRPr>
            </a:p>
          </p:txBody>
        </p:sp>
        <p:sp>
          <p:nvSpPr>
            <p:cNvPr id="94228" name="Rectangle 51"/>
            <p:cNvSpPr>
              <a:spLocks noChangeArrowheads="1"/>
            </p:cNvSpPr>
            <p:nvPr/>
          </p:nvSpPr>
          <p:spPr bwMode="auto">
            <a:xfrm>
              <a:off x="4224" y="220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i="1" baseline="-25000">
                  <a:latin typeface="Times New Roman" panose="02020603050405020304" pitchFamily="18" charset="0"/>
                </a:rPr>
                <a:t>C</a:t>
              </a:r>
              <a:endParaRPr lang="en-US" altLang="zh-CN" sz="2400" b="1" baseline="-400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258" name="Group 3"/>
          <p:cNvGrpSpPr>
            <a:grpSpLocks/>
          </p:cNvGrpSpPr>
          <p:nvPr/>
        </p:nvGrpSpPr>
        <p:grpSpPr bwMode="auto">
          <a:xfrm>
            <a:off x="304800" y="1981200"/>
            <a:ext cx="8570913" cy="4346575"/>
            <a:chOff x="192" y="1248"/>
            <a:chExt cx="5399" cy="2738"/>
          </a:xfrm>
        </p:grpSpPr>
        <p:sp>
          <p:nvSpPr>
            <p:cNvPr id="96259" name="Rectangle 4"/>
            <p:cNvSpPr>
              <a:spLocks noChangeArrowheads="1"/>
            </p:cNvSpPr>
            <p:nvPr/>
          </p:nvSpPr>
          <p:spPr bwMode="auto">
            <a:xfrm>
              <a:off x="1092" y="1882"/>
              <a:ext cx="442"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96260" name="Object 5"/>
            <p:cNvGraphicFramePr>
              <a:graphicFrameLocks noChangeAspect="1"/>
            </p:cNvGraphicFramePr>
            <p:nvPr/>
          </p:nvGraphicFramePr>
          <p:xfrm>
            <a:off x="1122" y="1933"/>
            <a:ext cx="411" cy="495"/>
          </p:xfrm>
          <a:graphic>
            <a:graphicData uri="http://schemas.openxmlformats.org/presentationml/2006/ole">
              <mc:AlternateContent xmlns:mc="http://schemas.openxmlformats.org/markup-compatibility/2006">
                <mc:Choice xmlns:v="urn:schemas-microsoft-com:vml" Requires="v">
                  <p:oleObj spid="_x0000_s96328" r:id="rId4" imgW="419100" imgH="508000" progId="Equation.3">
                    <p:embed/>
                  </p:oleObj>
                </mc:Choice>
                <mc:Fallback>
                  <p:oleObj r:id="rId4" imgW="419100" imgH="508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 y="1933"/>
                          <a:ext cx="411"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61" name="Text Box 6"/>
            <p:cNvSpPr txBox="1">
              <a:spLocks noChangeArrowheads="1"/>
            </p:cNvSpPr>
            <p:nvPr/>
          </p:nvSpPr>
          <p:spPr bwMode="auto">
            <a:xfrm>
              <a:off x="51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96262" name="Line 7"/>
            <p:cNvSpPr>
              <a:spLocks noChangeShapeType="1"/>
            </p:cNvSpPr>
            <p:nvPr/>
          </p:nvSpPr>
          <p:spPr bwMode="auto">
            <a:xfrm>
              <a:off x="226" y="2155"/>
              <a:ext cx="37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3" name="Line 8"/>
            <p:cNvSpPr>
              <a:spLocks noChangeShapeType="1"/>
            </p:cNvSpPr>
            <p:nvPr/>
          </p:nvSpPr>
          <p:spPr bwMode="auto">
            <a:xfrm>
              <a:off x="786" y="2155"/>
              <a:ext cx="3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4" name="Line 9"/>
            <p:cNvSpPr>
              <a:spLocks noChangeShapeType="1"/>
            </p:cNvSpPr>
            <p:nvPr/>
          </p:nvSpPr>
          <p:spPr bwMode="auto">
            <a:xfrm>
              <a:off x="1528" y="2155"/>
              <a:ext cx="33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5" name="Text Box 10"/>
            <p:cNvSpPr txBox="1">
              <a:spLocks noChangeArrowheads="1"/>
            </p:cNvSpPr>
            <p:nvPr/>
          </p:nvSpPr>
          <p:spPr bwMode="auto">
            <a:xfrm>
              <a:off x="192" y="1867"/>
              <a:ext cx="4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i</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66" name="Text Box 11"/>
            <p:cNvSpPr txBox="1">
              <a:spLocks noChangeArrowheads="1"/>
            </p:cNvSpPr>
            <p:nvPr/>
          </p:nvSpPr>
          <p:spPr bwMode="auto">
            <a:xfrm>
              <a:off x="1541" y="1867"/>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67" name="Line 12"/>
            <p:cNvSpPr>
              <a:spLocks noChangeShapeType="1"/>
            </p:cNvSpPr>
            <p:nvPr/>
          </p:nvSpPr>
          <p:spPr bwMode="auto">
            <a:xfrm>
              <a:off x="741"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8" name="Line 13"/>
            <p:cNvSpPr>
              <a:spLocks noChangeShapeType="1"/>
            </p:cNvSpPr>
            <p:nvPr/>
          </p:nvSpPr>
          <p:spPr bwMode="auto">
            <a:xfrm>
              <a:off x="695"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9" name="Line 14"/>
            <p:cNvSpPr>
              <a:spLocks noChangeShapeType="1"/>
            </p:cNvSpPr>
            <p:nvPr/>
          </p:nvSpPr>
          <p:spPr bwMode="auto">
            <a:xfrm flipV="1">
              <a:off x="693" y="2246"/>
              <a:ext cx="2" cy="99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0" name="Text Box 15"/>
            <p:cNvSpPr txBox="1">
              <a:spLocks noChangeArrowheads="1"/>
            </p:cNvSpPr>
            <p:nvPr/>
          </p:nvSpPr>
          <p:spPr bwMode="auto">
            <a:xfrm>
              <a:off x="693" y="2593"/>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71" name="Line 16"/>
            <p:cNvSpPr>
              <a:spLocks noChangeShapeType="1"/>
            </p:cNvSpPr>
            <p:nvPr/>
          </p:nvSpPr>
          <p:spPr bwMode="auto">
            <a:xfrm>
              <a:off x="741" y="1883"/>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2" name="Text Box 17"/>
            <p:cNvSpPr txBox="1">
              <a:spLocks noChangeArrowheads="1"/>
            </p:cNvSpPr>
            <p:nvPr/>
          </p:nvSpPr>
          <p:spPr bwMode="auto">
            <a:xfrm>
              <a:off x="720" y="1511"/>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73" name="Rectangle 18"/>
            <p:cNvSpPr>
              <a:spLocks noChangeArrowheads="1"/>
            </p:cNvSpPr>
            <p:nvPr/>
          </p:nvSpPr>
          <p:spPr bwMode="auto">
            <a:xfrm>
              <a:off x="4467" y="1882"/>
              <a:ext cx="463"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96274" name="Object 19"/>
            <p:cNvGraphicFramePr>
              <a:graphicFrameLocks noChangeAspect="1"/>
            </p:cNvGraphicFramePr>
            <p:nvPr/>
          </p:nvGraphicFramePr>
          <p:xfrm>
            <a:off x="4490" y="1933"/>
            <a:ext cx="422" cy="495"/>
          </p:xfrm>
          <a:graphic>
            <a:graphicData uri="http://schemas.openxmlformats.org/presentationml/2006/ole">
              <mc:AlternateContent xmlns:mc="http://schemas.openxmlformats.org/markup-compatibility/2006">
                <mc:Choice xmlns:v="urn:schemas-microsoft-com:vml" Requires="v">
                  <p:oleObj spid="_x0000_s96329" r:id="rId6" imgW="431800" imgH="508000" progId="Equation.3">
                    <p:embed/>
                  </p:oleObj>
                </mc:Choice>
                <mc:Fallback>
                  <p:oleObj r:id="rId6" imgW="431800" imgH="508000"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0" y="1933"/>
                          <a:ext cx="422"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75" name="Text Box 20"/>
            <p:cNvSpPr txBox="1">
              <a:spLocks noChangeArrowheads="1"/>
            </p:cNvSpPr>
            <p:nvPr/>
          </p:nvSpPr>
          <p:spPr bwMode="auto">
            <a:xfrm>
              <a:off x="3387"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96276" name="Line 21"/>
            <p:cNvSpPr>
              <a:spLocks noChangeShapeType="1"/>
            </p:cNvSpPr>
            <p:nvPr/>
          </p:nvSpPr>
          <p:spPr bwMode="auto">
            <a:xfrm>
              <a:off x="3660" y="2155"/>
              <a:ext cx="2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7" name="Text Box 22"/>
            <p:cNvSpPr txBox="1">
              <a:spLocks noChangeArrowheads="1"/>
            </p:cNvSpPr>
            <p:nvPr/>
          </p:nvSpPr>
          <p:spPr bwMode="auto">
            <a:xfrm>
              <a:off x="5148" y="1883"/>
              <a:ext cx="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78" name="Text Box 23"/>
            <p:cNvSpPr txBox="1">
              <a:spLocks noChangeArrowheads="1"/>
            </p:cNvSpPr>
            <p:nvPr/>
          </p:nvSpPr>
          <p:spPr bwMode="auto">
            <a:xfrm>
              <a:off x="3545" y="1420"/>
              <a:ext cx="56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2</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79" name="Text Box 24"/>
            <p:cNvSpPr txBox="1">
              <a:spLocks noChangeArrowheads="1"/>
            </p:cNvSpPr>
            <p:nvPr/>
          </p:nvSpPr>
          <p:spPr bwMode="auto">
            <a:xfrm>
              <a:off x="3602" y="2260"/>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endParaRPr>
            </a:p>
          </p:txBody>
        </p:sp>
        <p:sp>
          <p:nvSpPr>
            <p:cNvPr id="96280" name="Text Box 25"/>
            <p:cNvSpPr txBox="1">
              <a:spLocks noChangeArrowheads="1"/>
            </p:cNvSpPr>
            <p:nvPr/>
          </p:nvSpPr>
          <p:spPr bwMode="auto">
            <a:xfrm>
              <a:off x="384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96281" name="Line 26"/>
            <p:cNvSpPr>
              <a:spLocks noChangeShapeType="1"/>
            </p:cNvSpPr>
            <p:nvPr/>
          </p:nvSpPr>
          <p:spPr bwMode="auto">
            <a:xfrm>
              <a:off x="4116" y="2155"/>
              <a:ext cx="35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2" name="Line 27"/>
            <p:cNvSpPr>
              <a:spLocks noChangeShapeType="1"/>
            </p:cNvSpPr>
            <p:nvPr/>
          </p:nvSpPr>
          <p:spPr bwMode="auto">
            <a:xfrm>
              <a:off x="4070" y="1883"/>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3" name="Line 28"/>
            <p:cNvSpPr>
              <a:spLocks noChangeShapeType="1"/>
            </p:cNvSpPr>
            <p:nvPr/>
          </p:nvSpPr>
          <p:spPr bwMode="auto">
            <a:xfrm>
              <a:off x="4012"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4" name="Rectangle 29"/>
            <p:cNvSpPr>
              <a:spLocks noChangeArrowheads="1"/>
            </p:cNvSpPr>
            <p:nvPr/>
          </p:nvSpPr>
          <p:spPr bwMode="auto">
            <a:xfrm>
              <a:off x="2561" y="1928"/>
              <a:ext cx="365"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96285" name="Text Box 30"/>
            <p:cNvSpPr txBox="1">
              <a:spLocks noChangeArrowheads="1"/>
            </p:cNvSpPr>
            <p:nvPr/>
          </p:nvSpPr>
          <p:spPr bwMode="auto">
            <a:xfrm>
              <a:off x="1802"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96286" name="Line 31"/>
            <p:cNvSpPr>
              <a:spLocks noChangeShapeType="1"/>
            </p:cNvSpPr>
            <p:nvPr/>
          </p:nvSpPr>
          <p:spPr bwMode="auto">
            <a:xfrm>
              <a:off x="2075" y="2155"/>
              <a:ext cx="4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7" name="Line 32"/>
            <p:cNvSpPr>
              <a:spLocks noChangeShapeType="1"/>
            </p:cNvSpPr>
            <p:nvPr/>
          </p:nvSpPr>
          <p:spPr bwMode="auto">
            <a:xfrm>
              <a:off x="2030"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8" name="Text Box 33"/>
            <p:cNvSpPr txBox="1">
              <a:spLocks noChangeArrowheads="1"/>
            </p:cNvSpPr>
            <p:nvPr/>
          </p:nvSpPr>
          <p:spPr bwMode="auto">
            <a:xfrm>
              <a:off x="1939" y="2826"/>
              <a:ext cx="48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89" name="Text Box 34"/>
            <p:cNvSpPr txBox="1">
              <a:spLocks noChangeArrowheads="1"/>
            </p:cNvSpPr>
            <p:nvPr/>
          </p:nvSpPr>
          <p:spPr bwMode="auto">
            <a:xfrm>
              <a:off x="3089" y="1702"/>
              <a:ext cx="5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90" name="Line 35"/>
            <p:cNvSpPr>
              <a:spLocks noChangeShapeType="1"/>
            </p:cNvSpPr>
            <p:nvPr/>
          </p:nvSpPr>
          <p:spPr bwMode="auto">
            <a:xfrm>
              <a:off x="2333" y="2154"/>
              <a:ext cx="0" cy="5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1" name="Line 36"/>
            <p:cNvSpPr>
              <a:spLocks noChangeShapeType="1"/>
            </p:cNvSpPr>
            <p:nvPr/>
          </p:nvSpPr>
          <p:spPr bwMode="auto">
            <a:xfrm>
              <a:off x="2333" y="274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2" name="Rectangle 37"/>
            <p:cNvSpPr>
              <a:spLocks noChangeArrowheads="1"/>
            </p:cNvSpPr>
            <p:nvPr/>
          </p:nvSpPr>
          <p:spPr bwMode="auto">
            <a:xfrm>
              <a:off x="2561" y="2517"/>
              <a:ext cx="365" cy="45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Cs</a:t>
              </a:r>
            </a:p>
          </p:txBody>
        </p:sp>
        <p:sp>
          <p:nvSpPr>
            <p:cNvPr id="96293" name="Line 38"/>
            <p:cNvSpPr>
              <a:spLocks noChangeShapeType="1"/>
            </p:cNvSpPr>
            <p:nvPr/>
          </p:nvSpPr>
          <p:spPr bwMode="auto">
            <a:xfrm>
              <a:off x="2933" y="2155"/>
              <a:ext cx="54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4" name="Line 39"/>
            <p:cNvSpPr>
              <a:spLocks noChangeShapeType="1"/>
            </p:cNvSpPr>
            <p:nvPr/>
          </p:nvSpPr>
          <p:spPr bwMode="auto">
            <a:xfrm>
              <a:off x="2926" y="2745"/>
              <a:ext cx="6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5" name="Text Box 40"/>
            <p:cNvSpPr txBox="1">
              <a:spLocks noChangeArrowheads="1"/>
            </p:cNvSpPr>
            <p:nvPr/>
          </p:nvSpPr>
          <p:spPr bwMode="auto">
            <a:xfrm>
              <a:off x="2965" y="2457"/>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96296" name="Rectangle 41"/>
            <p:cNvSpPr>
              <a:spLocks noChangeArrowheads="1"/>
            </p:cNvSpPr>
            <p:nvPr/>
          </p:nvSpPr>
          <p:spPr bwMode="auto">
            <a:xfrm>
              <a:off x="4461" y="1248"/>
              <a:ext cx="469"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96297" name="Line 42"/>
            <p:cNvSpPr>
              <a:spLocks noChangeShapeType="1"/>
            </p:cNvSpPr>
            <p:nvPr/>
          </p:nvSpPr>
          <p:spPr bwMode="auto">
            <a:xfrm flipV="1">
              <a:off x="3564" y="2246"/>
              <a:ext cx="0" cy="4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8" name="Line 43"/>
            <p:cNvSpPr>
              <a:spLocks noChangeShapeType="1"/>
            </p:cNvSpPr>
            <p:nvPr/>
          </p:nvSpPr>
          <p:spPr bwMode="auto">
            <a:xfrm>
              <a:off x="4930" y="2155"/>
              <a:ext cx="59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9" name="Line 44"/>
            <p:cNvSpPr>
              <a:spLocks noChangeShapeType="1"/>
            </p:cNvSpPr>
            <p:nvPr/>
          </p:nvSpPr>
          <p:spPr bwMode="auto">
            <a:xfrm flipV="1">
              <a:off x="515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0" name="Line 45"/>
            <p:cNvSpPr>
              <a:spLocks noChangeShapeType="1"/>
            </p:cNvSpPr>
            <p:nvPr/>
          </p:nvSpPr>
          <p:spPr bwMode="auto">
            <a:xfrm flipH="1">
              <a:off x="4930" y="147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01" name="Line 46"/>
            <p:cNvSpPr>
              <a:spLocks noChangeShapeType="1"/>
            </p:cNvSpPr>
            <p:nvPr/>
          </p:nvSpPr>
          <p:spPr bwMode="auto">
            <a:xfrm flipH="1">
              <a:off x="4019" y="1475"/>
              <a:ext cx="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2" name="Line 47"/>
            <p:cNvSpPr>
              <a:spLocks noChangeShapeType="1"/>
            </p:cNvSpPr>
            <p:nvPr/>
          </p:nvSpPr>
          <p:spPr bwMode="auto">
            <a:xfrm flipV="1">
              <a:off x="310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3" name="Line 48"/>
            <p:cNvSpPr>
              <a:spLocks noChangeShapeType="1"/>
            </p:cNvSpPr>
            <p:nvPr/>
          </p:nvSpPr>
          <p:spPr bwMode="auto">
            <a:xfrm flipH="1">
              <a:off x="693" y="1475"/>
              <a:ext cx="24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4" name="Line 49"/>
            <p:cNvSpPr>
              <a:spLocks noChangeShapeType="1"/>
            </p:cNvSpPr>
            <p:nvPr/>
          </p:nvSpPr>
          <p:spPr bwMode="auto">
            <a:xfrm>
              <a:off x="5158" y="2155"/>
              <a:ext cx="0" cy="1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5" name="Line 50"/>
            <p:cNvSpPr>
              <a:spLocks noChangeShapeType="1"/>
            </p:cNvSpPr>
            <p:nvPr/>
          </p:nvSpPr>
          <p:spPr bwMode="auto">
            <a:xfrm flipH="1">
              <a:off x="1969" y="3562"/>
              <a:ext cx="31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6" name="Line 51"/>
            <p:cNvSpPr>
              <a:spLocks noChangeShapeType="1"/>
            </p:cNvSpPr>
            <p:nvPr/>
          </p:nvSpPr>
          <p:spPr bwMode="auto">
            <a:xfrm flipV="1">
              <a:off x="1969" y="2246"/>
              <a:ext cx="0" cy="13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07" name="Line 52"/>
            <p:cNvSpPr>
              <a:spLocks noChangeShapeType="1"/>
            </p:cNvSpPr>
            <p:nvPr/>
          </p:nvSpPr>
          <p:spPr bwMode="auto">
            <a:xfrm>
              <a:off x="3153" y="2745"/>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8" name="Line 53"/>
            <p:cNvSpPr>
              <a:spLocks noChangeShapeType="1"/>
            </p:cNvSpPr>
            <p:nvPr/>
          </p:nvSpPr>
          <p:spPr bwMode="auto">
            <a:xfrm flipH="1">
              <a:off x="693" y="3244"/>
              <a:ext cx="24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9" name="Text Box 54"/>
            <p:cNvSpPr txBox="1">
              <a:spLocks noChangeArrowheads="1"/>
            </p:cNvSpPr>
            <p:nvPr/>
          </p:nvSpPr>
          <p:spPr bwMode="auto">
            <a:xfrm>
              <a:off x="2178" y="3698"/>
              <a:ext cx="1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机械系统方框图</a:t>
              </a:r>
            </a:p>
          </p:txBody>
        </p:sp>
        <p:sp>
          <p:nvSpPr>
            <p:cNvPr id="96310" name="Oval 55"/>
            <p:cNvSpPr>
              <a:spLocks noChangeArrowheads="1"/>
            </p:cNvSpPr>
            <p:nvPr/>
          </p:nvSpPr>
          <p:spPr bwMode="auto">
            <a:xfrm>
              <a:off x="2304"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6311" name="Oval 56"/>
            <p:cNvSpPr>
              <a:spLocks noChangeArrowheads="1"/>
            </p:cNvSpPr>
            <p:nvPr/>
          </p:nvSpPr>
          <p:spPr bwMode="auto">
            <a:xfrm>
              <a:off x="3088"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6312" name="Oval 57"/>
            <p:cNvSpPr>
              <a:spLocks noChangeArrowheads="1"/>
            </p:cNvSpPr>
            <p:nvPr/>
          </p:nvSpPr>
          <p:spPr bwMode="auto">
            <a:xfrm>
              <a:off x="3128" y="272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6313" name="Oval 58"/>
            <p:cNvSpPr>
              <a:spLocks noChangeArrowheads="1"/>
            </p:cNvSpPr>
            <p:nvPr/>
          </p:nvSpPr>
          <p:spPr bwMode="auto">
            <a:xfrm>
              <a:off x="5136"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ChangeArrowheads="1"/>
          </p:cNvSpPr>
          <p:nvPr/>
        </p:nvSpPr>
        <p:spPr bwMode="auto">
          <a:xfrm>
            <a:off x="900113" y="981075"/>
            <a:ext cx="69342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l"/>
            </a:pPr>
            <a:r>
              <a:rPr lang="en-US" altLang="zh-CN" sz="2800" b="1">
                <a:latin typeface="Times New Roman" panose="02020603050405020304" pitchFamily="18" charset="0"/>
              </a:rPr>
              <a:t>   </a:t>
            </a:r>
            <a:r>
              <a:rPr lang="zh-CN" altLang="en-US" sz="2800" b="1">
                <a:latin typeface="Times New Roman" panose="02020603050405020304" pitchFamily="18" charset="0"/>
              </a:rPr>
              <a:t>系统</a:t>
            </a:r>
            <a:r>
              <a:rPr lang="zh-CN" altLang="en-US" sz="2800" b="1">
                <a:latin typeface="宋体" panose="02010600030101010101" pitchFamily="2" charset="-122"/>
              </a:rPr>
              <a:t>方块图的运算法则 </a:t>
            </a:r>
          </a:p>
        </p:txBody>
      </p:sp>
      <p:sp>
        <p:nvSpPr>
          <p:cNvPr id="140293" name="Rectangle 5"/>
          <p:cNvSpPr>
            <a:spLocks noChangeArrowheads="1"/>
          </p:cNvSpPr>
          <p:nvPr/>
        </p:nvSpPr>
        <p:spPr bwMode="auto">
          <a:xfrm>
            <a:off x="1116013" y="1916113"/>
            <a:ext cx="350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串联连接</a:t>
            </a:r>
            <a:r>
              <a:rPr lang="zh-CN" altLang="en-US" sz="2800">
                <a:latin typeface="Times New Roman" panose="02020603050405020304" pitchFamily="18" charset="0"/>
              </a:rPr>
              <a:t> </a:t>
            </a:r>
          </a:p>
        </p:txBody>
      </p:sp>
      <p:grpSp>
        <p:nvGrpSpPr>
          <p:cNvPr id="2" name="Group 6"/>
          <p:cNvGrpSpPr>
            <a:grpSpLocks/>
          </p:cNvGrpSpPr>
          <p:nvPr/>
        </p:nvGrpSpPr>
        <p:grpSpPr bwMode="auto">
          <a:xfrm>
            <a:off x="533400" y="3124200"/>
            <a:ext cx="8382000" cy="833438"/>
            <a:chOff x="336" y="1824"/>
            <a:chExt cx="5280" cy="525"/>
          </a:xfrm>
        </p:grpSpPr>
        <p:sp>
          <p:nvSpPr>
            <p:cNvPr id="98317" name="Rectangle 7"/>
            <p:cNvSpPr>
              <a:spLocks noChangeArrowheads="1"/>
            </p:cNvSpPr>
            <p:nvPr/>
          </p:nvSpPr>
          <p:spPr bwMode="auto">
            <a:xfrm>
              <a:off x="900" y="1942"/>
              <a:ext cx="650" cy="40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98318" name="Rectangle 8"/>
            <p:cNvSpPr>
              <a:spLocks noChangeArrowheads="1"/>
            </p:cNvSpPr>
            <p:nvPr/>
          </p:nvSpPr>
          <p:spPr bwMode="auto">
            <a:xfrm>
              <a:off x="2147" y="1942"/>
              <a:ext cx="649" cy="40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98319" name="Rectangle 9"/>
            <p:cNvSpPr>
              <a:spLocks noChangeArrowheads="1"/>
            </p:cNvSpPr>
            <p:nvPr/>
          </p:nvSpPr>
          <p:spPr bwMode="auto">
            <a:xfrm>
              <a:off x="4320" y="1942"/>
              <a:ext cx="649" cy="40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i="1" baseline="-25000">
                  <a:latin typeface="Times New Roman" panose="02020603050405020304" pitchFamily="18" charset="0"/>
                </a:rPr>
                <a:t>n</a:t>
              </a:r>
              <a:r>
                <a:rPr lang="en-US" altLang="zh-CN" sz="2400">
                  <a:latin typeface="Times New Roman" panose="02020603050405020304" pitchFamily="18" charset="0"/>
                </a:rPr>
                <a:t>(s)</a:t>
              </a:r>
            </a:p>
          </p:txBody>
        </p:sp>
        <p:sp>
          <p:nvSpPr>
            <p:cNvPr id="98320" name="Line 10"/>
            <p:cNvSpPr>
              <a:spLocks noChangeShapeType="1"/>
            </p:cNvSpPr>
            <p:nvPr/>
          </p:nvSpPr>
          <p:spPr bwMode="auto">
            <a:xfrm>
              <a:off x="346" y="2134"/>
              <a:ext cx="55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21" name="Text Box 11"/>
            <p:cNvSpPr txBox="1">
              <a:spLocks noChangeArrowheads="1"/>
            </p:cNvSpPr>
            <p:nvPr/>
          </p:nvSpPr>
          <p:spPr bwMode="auto">
            <a:xfrm>
              <a:off x="336" y="1824"/>
              <a:ext cx="4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(s)</a:t>
              </a:r>
            </a:p>
          </p:txBody>
        </p:sp>
        <p:sp>
          <p:nvSpPr>
            <p:cNvPr id="98322" name="Text Box 12"/>
            <p:cNvSpPr txBox="1">
              <a:spLocks noChangeArrowheads="1"/>
            </p:cNvSpPr>
            <p:nvPr/>
          </p:nvSpPr>
          <p:spPr bwMode="auto">
            <a:xfrm>
              <a:off x="1640" y="1846"/>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98323" name="Text Box 13"/>
            <p:cNvSpPr txBox="1">
              <a:spLocks noChangeArrowheads="1"/>
            </p:cNvSpPr>
            <p:nvPr/>
          </p:nvSpPr>
          <p:spPr bwMode="auto">
            <a:xfrm>
              <a:off x="2842" y="1846"/>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98324" name="Text Box 14"/>
            <p:cNvSpPr txBox="1">
              <a:spLocks noChangeArrowheads="1"/>
            </p:cNvSpPr>
            <p:nvPr/>
          </p:nvSpPr>
          <p:spPr bwMode="auto">
            <a:xfrm>
              <a:off x="3721" y="1846"/>
              <a:ext cx="6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n</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98325" name="Text Box 15"/>
            <p:cNvSpPr txBox="1">
              <a:spLocks noChangeArrowheads="1"/>
            </p:cNvSpPr>
            <p:nvPr/>
          </p:nvSpPr>
          <p:spPr bwMode="auto">
            <a:xfrm>
              <a:off x="5107" y="1846"/>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baseline="-25000">
                  <a:latin typeface="Times New Roman" panose="02020603050405020304" pitchFamily="18" charset="0"/>
                </a:rPr>
                <a:t>o</a:t>
              </a:r>
              <a:r>
                <a:rPr lang="en-US" altLang="zh-CN" sz="2400">
                  <a:latin typeface="Times New Roman" panose="02020603050405020304" pitchFamily="18" charset="0"/>
                </a:rPr>
                <a:t>(s)</a:t>
              </a:r>
            </a:p>
          </p:txBody>
        </p:sp>
        <p:sp>
          <p:nvSpPr>
            <p:cNvPr id="98326" name="Line 16"/>
            <p:cNvSpPr>
              <a:spLocks noChangeShapeType="1"/>
            </p:cNvSpPr>
            <p:nvPr/>
          </p:nvSpPr>
          <p:spPr bwMode="auto">
            <a:xfrm>
              <a:off x="1548" y="2134"/>
              <a:ext cx="60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27" name="Line 17"/>
            <p:cNvSpPr>
              <a:spLocks noChangeShapeType="1"/>
            </p:cNvSpPr>
            <p:nvPr/>
          </p:nvSpPr>
          <p:spPr bwMode="auto">
            <a:xfrm>
              <a:off x="2796" y="2134"/>
              <a:ext cx="60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28" name="Line 18"/>
            <p:cNvSpPr>
              <a:spLocks noChangeShapeType="1"/>
            </p:cNvSpPr>
            <p:nvPr/>
          </p:nvSpPr>
          <p:spPr bwMode="auto">
            <a:xfrm>
              <a:off x="3721" y="2134"/>
              <a:ext cx="60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29" name="Line 19"/>
            <p:cNvSpPr>
              <a:spLocks noChangeShapeType="1"/>
            </p:cNvSpPr>
            <p:nvPr/>
          </p:nvSpPr>
          <p:spPr bwMode="auto">
            <a:xfrm>
              <a:off x="4969" y="2134"/>
              <a:ext cx="60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30" name="Text Box 20"/>
            <p:cNvSpPr txBox="1">
              <a:spLocks noChangeArrowheads="1"/>
            </p:cNvSpPr>
            <p:nvPr/>
          </p:nvSpPr>
          <p:spPr bwMode="auto">
            <a:xfrm>
              <a:off x="3401" y="1894"/>
              <a:ext cx="2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b="1">
                  <a:latin typeface="Times New Roman" panose="02020603050405020304" pitchFamily="18" charset="0"/>
                </a:rPr>
                <a:t>...</a:t>
              </a:r>
            </a:p>
          </p:txBody>
        </p:sp>
      </p:grpSp>
      <p:grpSp>
        <p:nvGrpSpPr>
          <p:cNvPr id="3" name="Group 21"/>
          <p:cNvGrpSpPr>
            <a:grpSpLocks/>
          </p:cNvGrpSpPr>
          <p:nvPr/>
        </p:nvGrpSpPr>
        <p:grpSpPr bwMode="auto">
          <a:xfrm>
            <a:off x="1355725" y="4343400"/>
            <a:ext cx="6459538" cy="1828800"/>
            <a:chOff x="854" y="2736"/>
            <a:chExt cx="4069" cy="1152"/>
          </a:xfrm>
        </p:grpSpPr>
        <p:grpSp>
          <p:nvGrpSpPr>
            <p:cNvPr id="98310" name="Group 22"/>
            <p:cNvGrpSpPr>
              <a:grpSpLocks/>
            </p:cNvGrpSpPr>
            <p:nvPr/>
          </p:nvGrpSpPr>
          <p:grpSpPr bwMode="auto">
            <a:xfrm>
              <a:off x="854" y="3312"/>
              <a:ext cx="4069" cy="576"/>
              <a:chOff x="854" y="2832"/>
              <a:chExt cx="4069" cy="576"/>
            </a:xfrm>
          </p:grpSpPr>
          <p:sp>
            <p:nvSpPr>
              <p:cNvPr id="98312" name="Rectangle 23"/>
              <p:cNvSpPr>
                <a:spLocks noChangeArrowheads="1"/>
              </p:cNvSpPr>
              <p:nvPr/>
            </p:nvSpPr>
            <p:spPr bwMode="auto">
              <a:xfrm>
                <a:off x="1871" y="2928"/>
                <a:ext cx="2036" cy="48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G(s)=G</a:t>
                </a:r>
                <a:r>
                  <a:rPr lang="en-US" altLang="zh-CN" sz="2400" baseline="-25000">
                    <a:latin typeface="Times New Roman" panose="02020603050405020304" pitchFamily="18" charset="0"/>
                  </a:rPr>
                  <a:t>1</a:t>
                </a:r>
                <a:r>
                  <a:rPr lang="en-US" altLang="zh-CN" sz="2400">
                    <a:latin typeface="Times New Roman" panose="02020603050405020304" pitchFamily="18" charset="0"/>
                  </a:rPr>
                  <a:t>(s) G</a:t>
                </a:r>
                <a:r>
                  <a:rPr lang="en-US" altLang="zh-CN" sz="2400" baseline="-25000">
                    <a:latin typeface="Times New Roman" panose="02020603050405020304" pitchFamily="18" charset="0"/>
                  </a:rPr>
                  <a:t>2</a:t>
                </a:r>
                <a:r>
                  <a:rPr lang="en-US" altLang="zh-CN" sz="2400">
                    <a:latin typeface="Times New Roman" panose="02020603050405020304" pitchFamily="18" charset="0"/>
                  </a:rPr>
                  <a:t>(s) ··· G</a:t>
                </a:r>
                <a:r>
                  <a:rPr lang="en-US" altLang="zh-CN" sz="2400" i="1" baseline="-25000">
                    <a:latin typeface="Times New Roman" panose="02020603050405020304" pitchFamily="18" charset="0"/>
                  </a:rPr>
                  <a:t>n</a:t>
                </a:r>
                <a:r>
                  <a:rPr lang="en-US" altLang="zh-CN" sz="2400">
                    <a:latin typeface="Times New Roman" panose="02020603050405020304" pitchFamily="18" charset="0"/>
                  </a:rPr>
                  <a:t>(s)</a:t>
                </a:r>
              </a:p>
            </p:txBody>
          </p:sp>
          <p:sp>
            <p:nvSpPr>
              <p:cNvPr id="98313" name="Text Box 24"/>
              <p:cNvSpPr txBox="1">
                <a:spLocks noChangeArrowheads="1"/>
              </p:cNvSpPr>
              <p:nvPr/>
            </p:nvSpPr>
            <p:spPr bwMode="auto">
              <a:xfrm>
                <a:off x="993" y="2832"/>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(s)</a:t>
                </a:r>
              </a:p>
            </p:txBody>
          </p:sp>
          <p:sp>
            <p:nvSpPr>
              <p:cNvPr id="98314" name="Text Box 25"/>
              <p:cNvSpPr txBox="1">
                <a:spLocks noChangeArrowheads="1"/>
              </p:cNvSpPr>
              <p:nvPr/>
            </p:nvSpPr>
            <p:spPr bwMode="auto">
              <a:xfrm>
                <a:off x="4229" y="2832"/>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baseline="-25000">
                    <a:latin typeface="Times New Roman" panose="02020603050405020304" pitchFamily="18" charset="0"/>
                  </a:rPr>
                  <a:t>o</a:t>
                </a:r>
                <a:r>
                  <a:rPr lang="en-US" altLang="zh-CN" sz="2400">
                    <a:latin typeface="Times New Roman" panose="02020603050405020304" pitchFamily="18" charset="0"/>
                  </a:rPr>
                  <a:t>(s)</a:t>
                </a:r>
              </a:p>
            </p:txBody>
          </p:sp>
          <p:sp>
            <p:nvSpPr>
              <p:cNvPr id="98315" name="Line 26"/>
              <p:cNvSpPr>
                <a:spLocks noChangeShapeType="1"/>
              </p:cNvSpPr>
              <p:nvPr/>
            </p:nvSpPr>
            <p:spPr bwMode="auto">
              <a:xfrm>
                <a:off x="854" y="3168"/>
                <a:ext cx="101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16" name="Line 27"/>
              <p:cNvSpPr>
                <a:spLocks noChangeShapeType="1"/>
              </p:cNvSpPr>
              <p:nvPr/>
            </p:nvSpPr>
            <p:spPr bwMode="auto">
              <a:xfrm>
                <a:off x="3905" y="3168"/>
                <a:ext cx="101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8311" name="AutoShape 28"/>
            <p:cNvSpPr>
              <a:spLocks noChangeArrowheads="1"/>
            </p:cNvSpPr>
            <p:nvPr/>
          </p:nvSpPr>
          <p:spPr bwMode="auto">
            <a:xfrm>
              <a:off x="2736" y="2736"/>
              <a:ext cx="288" cy="480"/>
            </a:xfrm>
            <a:prstGeom prst="downArrow">
              <a:avLst>
                <a:gd name="adj1" fmla="val 50000"/>
                <a:gd name="adj2" fmla="val 4162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293"/>
                                        </p:tgtEl>
                                        <p:attrNameLst>
                                          <p:attrName>style.visibility</p:attrName>
                                        </p:attrNameLst>
                                      </p:cBhvr>
                                      <p:to>
                                        <p:strVal val="visible"/>
                                      </p:to>
                                    </p:set>
                                    <p:anim calcmode="lin" valueType="num">
                                      <p:cBhvr additive="base">
                                        <p:cTn id="7" dur="500" fill="hold"/>
                                        <p:tgtEl>
                                          <p:spTgt spid="140293"/>
                                        </p:tgtEl>
                                        <p:attrNameLst>
                                          <p:attrName>ppt_x</p:attrName>
                                        </p:attrNameLst>
                                      </p:cBhvr>
                                      <p:tavLst>
                                        <p:tav tm="0">
                                          <p:val>
                                            <p:strVal val="#ppt_x"/>
                                          </p:val>
                                        </p:tav>
                                        <p:tav tm="100000">
                                          <p:val>
                                            <p:strVal val="#ppt_x"/>
                                          </p:val>
                                        </p:tav>
                                      </p:tavLst>
                                    </p:anim>
                                    <p:anim calcmode="lin" valueType="num">
                                      <p:cBhvr additive="base">
                                        <p:cTn id="8" dur="500" fill="hold"/>
                                        <p:tgtEl>
                                          <p:spTgt spid="14029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ChangeArrowheads="1"/>
          </p:cNvSpPr>
          <p:nvPr/>
        </p:nvSpPr>
        <p:spPr bwMode="auto">
          <a:xfrm>
            <a:off x="1371600" y="928688"/>
            <a:ext cx="350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并联连接</a:t>
            </a:r>
            <a:r>
              <a:rPr lang="zh-CN" altLang="en-US" sz="2800">
                <a:latin typeface="Times New Roman" panose="02020603050405020304" pitchFamily="18" charset="0"/>
              </a:rPr>
              <a:t> </a:t>
            </a:r>
          </a:p>
        </p:txBody>
      </p:sp>
      <p:grpSp>
        <p:nvGrpSpPr>
          <p:cNvPr id="2" name="Group 4"/>
          <p:cNvGrpSpPr>
            <a:grpSpLocks/>
          </p:cNvGrpSpPr>
          <p:nvPr/>
        </p:nvGrpSpPr>
        <p:grpSpPr bwMode="auto">
          <a:xfrm>
            <a:off x="1752600" y="1550988"/>
            <a:ext cx="6096000" cy="2792412"/>
            <a:chOff x="1104" y="912"/>
            <a:chExt cx="3840" cy="1759"/>
          </a:xfrm>
        </p:grpSpPr>
        <p:graphicFrame>
          <p:nvGraphicFramePr>
            <p:cNvPr id="100364" name="Object 5"/>
            <p:cNvGraphicFramePr>
              <a:graphicFrameLocks noChangeAspect="1"/>
            </p:cNvGraphicFramePr>
            <p:nvPr/>
          </p:nvGraphicFramePr>
          <p:xfrm>
            <a:off x="2452" y="1623"/>
            <a:ext cx="96" cy="171"/>
          </p:xfrm>
          <a:graphic>
            <a:graphicData uri="http://schemas.openxmlformats.org/presentationml/2006/ole">
              <mc:AlternateContent xmlns:mc="http://schemas.openxmlformats.org/markup-compatibility/2006">
                <mc:Choice xmlns:v="urn:schemas-microsoft-com:vml" Requires="v">
                  <p:oleObj spid="_x0000_s100395" r:id="rId4" imgW="126890" imgH="241091" progId="Equation.3">
                    <p:embed/>
                  </p:oleObj>
                </mc:Choice>
                <mc:Fallback>
                  <p:oleObj r:id="rId4" imgW="126890" imgH="241091"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2" y="1623"/>
                          <a:ext cx="9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0365" name="Text Box 6"/>
            <p:cNvSpPr txBox="1">
              <a:spLocks noChangeArrowheads="1"/>
            </p:cNvSpPr>
            <p:nvPr/>
          </p:nvSpPr>
          <p:spPr bwMode="auto">
            <a:xfrm>
              <a:off x="4356" y="135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00366" name="Rectangle 7"/>
            <p:cNvSpPr>
              <a:spLocks noChangeArrowheads="1"/>
            </p:cNvSpPr>
            <p:nvPr/>
          </p:nvSpPr>
          <p:spPr bwMode="auto">
            <a:xfrm>
              <a:off x="2534" y="912"/>
              <a:ext cx="668" cy="35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100367" name="Line 8"/>
            <p:cNvSpPr>
              <a:spLocks noChangeShapeType="1"/>
            </p:cNvSpPr>
            <p:nvPr/>
          </p:nvSpPr>
          <p:spPr bwMode="auto">
            <a:xfrm>
              <a:off x="3218" y="1663"/>
              <a:ext cx="35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68" name="Line 9"/>
            <p:cNvSpPr>
              <a:spLocks noChangeShapeType="1"/>
            </p:cNvSpPr>
            <p:nvPr/>
          </p:nvSpPr>
          <p:spPr bwMode="auto">
            <a:xfrm>
              <a:off x="2188" y="1104"/>
              <a:ext cx="34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69" name="Line 10"/>
            <p:cNvSpPr>
              <a:spLocks noChangeShapeType="1"/>
            </p:cNvSpPr>
            <p:nvPr/>
          </p:nvSpPr>
          <p:spPr bwMode="auto">
            <a:xfrm>
              <a:off x="3787" y="1663"/>
              <a:ext cx="11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70" name="Text Box 11"/>
            <p:cNvSpPr txBox="1">
              <a:spLocks noChangeArrowheads="1"/>
            </p:cNvSpPr>
            <p:nvPr/>
          </p:nvSpPr>
          <p:spPr bwMode="auto">
            <a:xfrm>
              <a:off x="3468" y="176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100371" name="Text Box 12"/>
            <p:cNvSpPr txBox="1">
              <a:spLocks noChangeArrowheads="1"/>
            </p:cNvSpPr>
            <p:nvPr/>
          </p:nvSpPr>
          <p:spPr bwMode="auto">
            <a:xfrm>
              <a:off x="1151" y="1354"/>
              <a:ext cx="4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00372" name="Rectangle 13"/>
            <p:cNvSpPr>
              <a:spLocks noChangeArrowheads="1"/>
            </p:cNvSpPr>
            <p:nvPr/>
          </p:nvSpPr>
          <p:spPr bwMode="auto">
            <a:xfrm>
              <a:off x="2554" y="1530"/>
              <a:ext cx="668" cy="31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100373" name="Line 14"/>
            <p:cNvSpPr>
              <a:spLocks noChangeShapeType="1"/>
            </p:cNvSpPr>
            <p:nvPr/>
          </p:nvSpPr>
          <p:spPr bwMode="auto">
            <a:xfrm>
              <a:off x="2175" y="1707"/>
              <a:ext cx="37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74" name="Text Box 15"/>
            <p:cNvSpPr txBox="1">
              <a:spLocks noChangeArrowheads="1"/>
            </p:cNvSpPr>
            <p:nvPr/>
          </p:nvSpPr>
          <p:spPr bwMode="auto">
            <a:xfrm>
              <a:off x="3501" y="1442"/>
              <a:ext cx="33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00375" name="Text Box 16"/>
            <p:cNvSpPr txBox="1">
              <a:spLocks noChangeArrowheads="1"/>
            </p:cNvSpPr>
            <p:nvPr/>
          </p:nvSpPr>
          <p:spPr bwMode="auto">
            <a:xfrm>
              <a:off x="3308" y="163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100376" name="Text Box 17"/>
            <p:cNvSpPr txBox="1">
              <a:spLocks noChangeArrowheads="1"/>
            </p:cNvSpPr>
            <p:nvPr/>
          </p:nvSpPr>
          <p:spPr bwMode="auto">
            <a:xfrm>
              <a:off x="3431" y="127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100377" name="Rectangle 18"/>
            <p:cNvSpPr>
              <a:spLocks noChangeArrowheads="1"/>
            </p:cNvSpPr>
            <p:nvPr/>
          </p:nvSpPr>
          <p:spPr bwMode="auto">
            <a:xfrm>
              <a:off x="2554" y="2318"/>
              <a:ext cx="668" cy="35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i="1" baseline="-25000">
                  <a:latin typeface="Times New Roman" panose="02020603050405020304" pitchFamily="18" charset="0"/>
                </a:rPr>
                <a:t>n</a:t>
              </a:r>
              <a:r>
                <a:rPr lang="en-US" altLang="zh-CN" sz="2400">
                  <a:latin typeface="Times New Roman" panose="02020603050405020304" pitchFamily="18" charset="0"/>
                </a:rPr>
                <a:t>(s)</a:t>
              </a:r>
            </a:p>
          </p:txBody>
        </p:sp>
        <p:sp>
          <p:nvSpPr>
            <p:cNvPr id="100378" name="Line 19"/>
            <p:cNvSpPr>
              <a:spLocks noChangeShapeType="1"/>
            </p:cNvSpPr>
            <p:nvPr/>
          </p:nvSpPr>
          <p:spPr bwMode="auto">
            <a:xfrm>
              <a:off x="2188" y="2496"/>
              <a:ext cx="3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79" name="Line 20"/>
            <p:cNvSpPr>
              <a:spLocks noChangeShapeType="1"/>
            </p:cNvSpPr>
            <p:nvPr/>
          </p:nvSpPr>
          <p:spPr bwMode="auto">
            <a:xfrm>
              <a:off x="3238" y="2494"/>
              <a:ext cx="42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0" name="Line 21"/>
            <p:cNvSpPr>
              <a:spLocks noChangeShapeType="1"/>
            </p:cNvSpPr>
            <p:nvPr/>
          </p:nvSpPr>
          <p:spPr bwMode="auto">
            <a:xfrm flipH="1" flipV="1">
              <a:off x="3668" y="1736"/>
              <a:ext cx="0" cy="76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81" name="Line 22"/>
            <p:cNvSpPr>
              <a:spLocks noChangeShapeType="1"/>
            </p:cNvSpPr>
            <p:nvPr/>
          </p:nvSpPr>
          <p:spPr bwMode="auto">
            <a:xfrm>
              <a:off x="2188" y="1104"/>
              <a:ext cx="0" cy="13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2" name="Line 23"/>
            <p:cNvSpPr>
              <a:spLocks noChangeShapeType="1"/>
            </p:cNvSpPr>
            <p:nvPr/>
          </p:nvSpPr>
          <p:spPr bwMode="auto">
            <a:xfrm flipH="1">
              <a:off x="1104" y="1707"/>
              <a:ext cx="109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3" name="Line 24"/>
            <p:cNvSpPr>
              <a:spLocks noChangeShapeType="1"/>
            </p:cNvSpPr>
            <p:nvPr/>
          </p:nvSpPr>
          <p:spPr bwMode="auto">
            <a:xfrm>
              <a:off x="3206" y="1104"/>
              <a:ext cx="47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4" name="Line 25"/>
            <p:cNvSpPr>
              <a:spLocks noChangeShapeType="1"/>
            </p:cNvSpPr>
            <p:nvPr/>
          </p:nvSpPr>
          <p:spPr bwMode="auto">
            <a:xfrm>
              <a:off x="3664" y="1109"/>
              <a:ext cx="0" cy="44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85" name="Text Box 26"/>
            <p:cNvSpPr txBox="1">
              <a:spLocks noChangeArrowheads="1"/>
            </p:cNvSpPr>
            <p:nvPr/>
          </p:nvSpPr>
          <p:spPr bwMode="auto">
            <a:xfrm>
              <a:off x="2811" y="1795"/>
              <a:ext cx="1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latin typeface="Times New Roman" panose="02020603050405020304" pitchFamily="18" charset="0"/>
                </a:rPr>
                <a:t>.</a:t>
              </a:r>
            </a:p>
          </p:txBody>
        </p:sp>
        <p:sp>
          <p:nvSpPr>
            <p:cNvPr id="100386" name="Text Box 27"/>
            <p:cNvSpPr txBox="1">
              <a:spLocks noChangeArrowheads="1"/>
            </p:cNvSpPr>
            <p:nvPr/>
          </p:nvSpPr>
          <p:spPr bwMode="auto">
            <a:xfrm>
              <a:off x="2811" y="1908"/>
              <a:ext cx="1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latin typeface="Times New Roman" panose="02020603050405020304" pitchFamily="18" charset="0"/>
                </a:rPr>
                <a:t>.</a:t>
              </a:r>
            </a:p>
          </p:txBody>
        </p:sp>
        <p:sp>
          <p:nvSpPr>
            <p:cNvPr id="100387" name="Text Box 28"/>
            <p:cNvSpPr txBox="1">
              <a:spLocks noChangeArrowheads="1"/>
            </p:cNvSpPr>
            <p:nvPr/>
          </p:nvSpPr>
          <p:spPr bwMode="auto">
            <a:xfrm>
              <a:off x="2811" y="2016"/>
              <a:ext cx="1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latin typeface="Times New Roman" panose="02020603050405020304" pitchFamily="18" charset="0"/>
                </a:rPr>
                <a:t>.</a:t>
              </a:r>
            </a:p>
          </p:txBody>
        </p:sp>
      </p:grpSp>
      <p:grpSp>
        <p:nvGrpSpPr>
          <p:cNvPr id="3" name="Group 29"/>
          <p:cNvGrpSpPr>
            <a:grpSpLocks/>
          </p:cNvGrpSpPr>
          <p:nvPr/>
        </p:nvGrpSpPr>
        <p:grpSpPr bwMode="auto">
          <a:xfrm>
            <a:off x="1903413" y="4572000"/>
            <a:ext cx="5989637" cy="1463675"/>
            <a:chOff x="1199" y="2880"/>
            <a:chExt cx="3773" cy="922"/>
          </a:xfrm>
        </p:grpSpPr>
        <p:grpSp>
          <p:nvGrpSpPr>
            <p:cNvPr id="100357" name="Group 30"/>
            <p:cNvGrpSpPr>
              <a:grpSpLocks/>
            </p:cNvGrpSpPr>
            <p:nvPr/>
          </p:nvGrpSpPr>
          <p:grpSpPr bwMode="auto">
            <a:xfrm>
              <a:off x="1199" y="3312"/>
              <a:ext cx="3773" cy="490"/>
              <a:chOff x="1199" y="2976"/>
              <a:chExt cx="3773" cy="490"/>
            </a:xfrm>
          </p:grpSpPr>
          <p:sp>
            <p:nvSpPr>
              <p:cNvPr id="100359" name="Line 31"/>
              <p:cNvSpPr>
                <a:spLocks noChangeShapeType="1"/>
              </p:cNvSpPr>
              <p:nvPr/>
            </p:nvSpPr>
            <p:spPr bwMode="auto">
              <a:xfrm>
                <a:off x="1199" y="3290"/>
                <a:ext cx="71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60" name="Text Box 32"/>
              <p:cNvSpPr txBox="1">
                <a:spLocks noChangeArrowheads="1"/>
              </p:cNvSpPr>
              <p:nvPr/>
            </p:nvSpPr>
            <p:spPr bwMode="auto">
              <a:xfrm>
                <a:off x="1228" y="2976"/>
                <a:ext cx="4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00361" name="Text Box 33"/>
              <p:cNvSpPr txBox="1">
                <a:spLocks noChangeArrowheads="1"/>
              </p:cNvSpPr>
              <p:nvPr/>
            </p:nvSpPr>
            <p:spPr bwMode="auto">
              <a:xfrm>
                <a:off x="4396" y="2976"/>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00362" name="Line 34"/>
              <p:cNvSpPr>
                <a:spLocks noChangeShapeType="1"/>
              </p:cNvSpPr>
              <p:nvPr/>
            </p:nvSpPr>
            <p:spPr bwMode="auto">
              <a:xfrm>
                <a:off x="4186" y="3290"/>
                <a:ext cx="7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363" name="Rectangle 35"/>
              <p:cNvSpPr>
                <a:spLocks noChangeArrowheads="1"/>
              </p:cNvSpPr>
              <p:nvPr/>
            </p:nvSpPr>
            <p:spPr bwMode="auto">
              <a:xfrm>
                <a:off x="1902" y="3113"/>
                <a:ext cx="2276" cy="35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 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 </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 </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 + G</a:t>
                </a:r>
                <a:r>
                  <a:rPr lang="en-US" altLang="zh-CN" sz="2400" i="1" baseline="-25000">
                    <a:latin typeface="Times New Roman" panose="02020603050405020304" pitchFamily="18" charset="0"/>
                  </a:rPr>
                  <a:t>n</a:t>
                </a:r>
                <a:r>
                  <a:rPr lang="en-US" altLang="zh-CN" sz="2400">
                    <a:latin typeface="Times New Roman" panose="02020603050405020304" pitchFamily="18" charset="0"/>
                  </a:rPr>
                  <a:t>(s)</a:t>
                </a:r>
              </a:p>
            </p:txBody>
          </p:sp>
        </p:grpSp>
        <p:sp>
          <p:nvSpPr>
            <p:cNvPr id="100358" name="AutoShape 36"/>
            <p:cNvSpPr>
              <a:spLocks noChangeArrowheads="1"/>
            </p:cNvSpPr>
            <p:nvPr/>
          </p:nvSpPr>
          <p:spPr bwMode="auto">
            <a:xfrm>
              <a:off x="2880" y="2880"/>
              <a:ext cx="240" cy="432"/>
            </a:xfrm>
            <a:prstGeom prst="downArrow">
              <a:avLst>
                <a:gd name="adj1" fmla="val 50000"/>
                <a:gd name="adj2" fmla="val 45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ChangeArrowheads="1"/>
          </p:cNvSpPr>
          <p:nvPr/>
        </p:nvSpPr>
        <p:spPr bwMode="auto">
          <a:xfrm>
            <a:off x="1116013" y="981075"/>
            <a:ext cx="350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反馈连接</a:t>
            </a:r>
            <a:r>
              <a:rPr lang="zh-CN" altLang="en-US" sz="2800">
                <a:latin typeface="Times New Roman" panose="02020603050405020304" pitchFamily="18" charset="0"/>
              </a:rPr>
              <a:t> </a:t>
            </a:r>
          </a:p>
        </p:txBody>
      </p:sp>
      <p:grpSp>
        <p:nvGrpSpPr>
          <p:cNvPr id="2" name="Group 4"/>
          <p:cNvGrpSpPr>
            <a:grpSpLocks/>
          </p:cNvGrpSpPr>
          <p:nvPr/>
        </p:nvGrpSpPr>
        <p:grpSpPr bwMode="auto">
          <a:xfrm>
            <a:off x="755650" y="1916113"/>
            <a:ext cx="4511675" cy="1676400"/>
            <a:chOff x="470" y="1392"/>
            <a:chExt cx="2842" cy="1056"/>
          </a:xfrm>
        </p:grpSpPr>
        <p:sp>
          <p:nvSpPr>
            <p:cNvPr id="102415" name="Rectangle 5"/>
            <p:cNvSpPr>
              <a:spLocks noChangeArrowheads="1"/>
            </p:cNvSpPr>
            <p:nvPr/>
          </p:nvSpPr>
          <p:spPr bwMode="auto">
            <a:xfrm>
              <a:off x="1692" y="1531"/>
              <a:ext cx="676" cy="36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02416" name="Rectangle 6"/>
            <p:cNvSpPr>
              <a:spLocks noChangeArrowheads="1"/>
            </p:cNvSpPr>
            <p:nvPr/>
          </p:nvSpPr>
          <p:spPr bwMode="auto">
            <a:xfrm>
              <a:off x="1693" y="2082"/>
              <a:ext cx="676" cy="36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a:t>
              </a:r>
            </a:p>
          </p:txBody>
        </p:sp>
        <p:sp>
          <p:nvSpPr>
            <p:cNvPr id="102417" name="Line 7"/>
            <p:cNvSpPr>
              <a:spLocks noChangeShapeType="1"/>
            </p:cNvSpPr>
            <p:nvPr/>
          </p:nvSpPr>
          <p:spPr bwMode="auto">
            <a:xfrm flipV="1">
              <a:off x="1168" y="1720"/>
              <a:ext cx="5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18" name="Line 8"/>
            <p:cNvSpPr>
              <a:spLocks noChangeShapeType="1"/>
            </p:cNvSpPr>
            <p:nvPr/>
          </p:nvSpPr>
          <p:spPr bwMode="auto">
            <a:xfrm>
              <a:off x="2368" y="1714"/>
              <a:ext cx="94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19" name="Line 9"/>
            <p:cNvSpPr>
              <a:spLocks noChangeShapeType="1"/>
            </p:cNvSpPr>
            <p:nvPr/>
          </p:nvSpPr>
          <p:spPr bwMode="auto">
            <a:xfrm>
              <a:off x="2952" y="1714"/>
              <a:ext cx="0" cy="55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0" name="Line 10"/>
            <p:cNvSpPr>
              <a:spLocks noChangeShapeType="1"/>
            </p:cNvSpPr>
            <p:nvPr/>
          </p:nvSpPr>
          <p:spPr bwMode="auto">
            <a:xfrm flipH="1">
              <a:off x="2368" y="2265"/>
              <a:ext cx="5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21" name="Line 11"/>
            <p:cNvSpPr>
              <a:spLocks noChangeShapeType="1"/>
            </p:cNvSpPr>
            <p:nvPr/>
          </p:nvSpPr>
          <p:spPr bwMode="auto">
            <a:xfrm flipH="1">
              <a:off x="1064" y="2265"/>
              <a:ext cx="62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2" name="Line 12"/>
            <p:cNvSpPr>
              <a:spLocks noChangeShapeType="1"/>
            </p:cNvSpPr>
            <p:nvPr/>
          </p:nvSpPr>
          <p:spPr bwMode="auto">
            <a:xfrm flipV="1">
              <a:off x="1064" y="1806"/>
              <a:ext cx="0" cy="4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23" name="Text Box 13"/>
            <p:cNvSpPr txBox="1">
              <a:spLocks noChangeArrowheads="1"/>
            </p:cNvSpPr>
            <p:nvPr/>
          </p:nvSpPr>
          <p:spPr bwMode="auto">
            <a:xfrm>
              <a:off x="929" y="1531"/>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102424" name="Line 14"/>
            <p:cNvSpPr>
              <a:spLocks noChangeShapeType="1"/>
            </p:cNvSpPr>
            <p:nvPr/>
          </p:nvSpPr>
          <p:spPr bwMode="auto">
            <a:xfrm>
              <a:off x="479" y="1714"/>
              <a:ext cx="49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25" name="Text Box 15"/>
            <p:cNvSpPr txBox="1">
              <a:spLocks noChangeArrowheads="1"/>
            </p:cNvSpPr>
            <p:nvPr/>
          </p:nvSpPr>
          <p:spPr bwMode="auto">
            <a:xfrm>
              <a:off x="470" y="1392"/>
              <a:ext cx="4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102426" name="Text Box 16"/>
            <p:cNvSpPr txBox="1">
              <a:spLocks noChangeArrowheads="1"/>
            </p:cNvSpPr>
            <p:nvPr/>
          </p:nvSpPr>
          <p:spPr bwMode="auto">
            <a:xfrm>
              <a:off x="2727" y="1413"/>
              <a:ext cx="5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102427" name="Text Box 17"/>
            <p:cNvSpPr txBox="1">
              <a:spLocks noChangeArrowheads="1"/>
            </p:cNvSpPr>
            <p:nvPr/>
          </p:nvSpPr>
          <p:spPr bwMode="auto">
            <a:xfrm flipV="1">
              <a:off x="1068" y="1794"/>
              <a:ext cx="2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a:latin typeface="Times New Roman" panose="02020603050405020304" pitchFamily="18" charset="0"/>
                  <a:sym typeface="Symbol" panose="05050102010706020507" pitchFamily="18" charset="2"/>
                </a:rPr>
                <a:t></a:t>
              </a:r>
              <a:endParaRPr lang="en-US" altLang="zh-CN" sz="2400" b="1">
                <a:latin typeface="Times New Roman" panose="02020603050405020304" pitchFamily="18" charset="0"/>
              </a:endParaRPr>
            </a:p>
          </p:txBody>
        </p:sp>
        <p:sp>
          <p:nvSpPr>
            <p:cNvPr id="102428" name="Text Box 18"/>
            <p:cNvSpPr txBox="1">
              <a:spLocks noChangeArrowheads="1"/>
            </p:cNvSpPr>
            <p:nvPr/>
          </p:nvSpPr>
          <p:spPr bwMode="auto">
            <a:xfrm>
              <a:off x="659" y="2014"/>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02429" name="Text Box 19"/>
            <p:cNvSpPr txBox="1">
              <a:spLocks noChangeArrowheads="1"/>
            </p:cNvSpPr>
            <p:nvPr/>
          </p:nvSpPr>
          <p:spPr bwMode="auto">
            <a:xfrm>
              <a:off x="1150" y="1413"/>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E</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grpSp>
      <p:graphicFrame>
        <p:nvGraphicFramePr>
          <p:cNvPr id="144404" name="Object 20"/>
          <p:cNvGraphicFramePr>
            <a:graphicFrameLocks noChangeAspect="1"/>
          </p:cNvGraphicFramePr>
          <p:nvPr/>
        </p:nvGraphicFramePr>
        <p:xfrm>
          <a:off x="5580063" y="2060575"/>
          <a:ext cx="2971800" cy="1584325"/>
        </p:xfrm>
        <a:graphic>
          <a:graphicData uri="http://schemas.openxmlformats.org/presentationml/2006/ole">
            <mc:AlternateContent xmlns:mc="http://schemas.openxmlformats.org/markup-compatibility/2006">
              <mc:Choice xmlns:v="urn:schemas-microsoft-com:vml" Requires="v">
                <p:oleObj spid="_x0000_s102451" r:id="rId4" imgW="1447172" imgH="774364" progId="Equation.3">
                  <p:embed/>
                </p:oleObj>
              </mc:Choice>
              <mc:Fallback>
                <p:oleObj r:id="rId4" imgW="1447172" imgH="774364" progId="Equation.3">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2060575"/>
                        <a:ext cx="29718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4405" name="Object 21"/>
          <p:cNvGraphicFramePr>
            <a:graphicFrameLocks noChangeAspect="1"/>
          </p:cNvGraphicFramePr>
          <p:nvPr/>
        </p:nvGraphicFramePr>
        <p:xfrm>
          <a:off x="5651500" y="4149725"/>
          <a:ext cx="2841625" cy="1893888"/>
        </p:xfrm>
        <a:graphic>
          <a:graphicData uri="http://schemas.openxmlformats.org/presentationml/2006/ole">
            <mc:AlternateContent xmlns:mc="http://schemas.openxmlformats.org/markup-compatibility/2006">
              <mc:Choice xmlns:v="urn:schemas-microsoft-com:vml" Requires="v">
                <p:oleObj spid="_x0000_s102452" r:id="rId6" imgW="1295400" imgH="863600" progId="Equation.3">
                  <p:embed/>
                </p:oleObj>
              </mc:Choice>
              <mc:Fallback>
                <p:oleObj r:id="rId6" imgW="1295400" imgH="863600" progId="Equation.3">
                  <p:embed/>
                  <p:pic>
                    <p:nvPicPr>
                      <p:cNvPr id="0"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1500" y="4149725"/>
                        <a:ext cx="2841625"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22"/>
          <p:cNvGrpSpPr>
            <a:grpSpLocks/>
          </p:cNvGrpSpPr>
          <p:nvPr/>
        </p:nvGrpSpPr>
        <p:grpSpPr bwMode="auto">
          <a:xfrm>
            <a:off x="684213" y="3716338"/>
            <a:ext cx="4668837" cy="1905000"/>
            <a:chOff x="2685" y="2544"/>
            <a:chExt cx="2941" cy="1200"/>
          </a:xfrm>
        </p:grpSpPr>
        <p:grpSp>
          <p:nvGrpSpPr>
            <p:cNvPr id="102407" name="Group 23"/>
            <p:cNvGrpSpPr>
              <a:grpSpLocks/>
            </p:cNvGrpSpPr>
            <p:nvPr/>
          </p:nvGrpSpPr>
          <p:grpSpPr bwMode="auto">
            <a:xfrm>
              <a:off x="2685" y="3120"/>
              <a:ext cx="2941" cy="624"/>
              <a:chOff x="2685" y="3120"/>
              <a:chExt cx="2941" cy="624"/>
            </a:xfrm>
          </p:grpSpPr>
          <p:sp>
            <p:nvSpPr>
              <p:cNvPr id="102409" name="Rectangle 24"/>
              <p:cNvSpPr>
                <a:spLocks noChangeArrowheads="1"/>
              </p:cNvSpPr>
              <p:nvPr/>
            </p:nvSpPr>
            <p:spPr bwMode="auto">
              <a:xfrm>
                <a:off x="3600" y="3168"/>
                <a:ext cx="1162" cy="57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2410" name="Line 25"/>
              <p:cNvSpPr>
                <a:spLocks noChangeShapeType="1"/>
              </p:cNvSpPr>
              <p:nvPr/>
            </p:nvSpPr>
            <p:spPr bwMode="auto">
              <a:xfrm>
                <a:off x="4752" y="3430"/>
                <a:ext cx="87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11" name="Line 26"/>
              <p:cNvSpPr>
                <a:spLocks noChangeShapeType="1"/>
              </p:cNvSpPr>
              <p:nvPr/>
            </p:nvSpPr>
            <p:spPr bwMode="auto">
              <a:xfrm flipV="1">
                <a:off x="2736" y="3440"/>
                <a:ext cx="86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12" name="Text Box 27"/>
              <p:cNvSpPr txBox="1">
                <a:spLocks noChangeArrowheads="1"/>
              </p:cNvSpPr>
              <p:nvPr/>
            </p:nvSpPr>
            <p:spPr bwMode="auto">
              <a:xfrm>
                <a:off x="2685" y="3120"/>
                <a:ext cx="4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102413" name="Text Box 28"/>
              <p:cNvSpPr txBox="1">
                <a:spLocks noChangeArrowheads="1"/>
              </p:cNvSpPr>
              <p:nvPr/>
            </p:nvSpPr>
            <p:spPr bwMode="auto">
              <a:xfrm>
                <a:off x="5002" y="3120"/>
                <a:ext cx="5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graphicFrame>
            <p:nvGraphicFramePr>
              <p:cNvPr id="102414" name="Object 29"/>
              <p:cNvGraphicFramePr>
                <a:graphicFrameLocks noChangeAspect="1"/>
              </p:cNvGraphicFramePr>
              <p:nvPr/>
            </p:nvGraphicFramePr>
            <p:xfrm>
              <a:off x="3680" y="3203"/>
              <a:ext cx="1056" cy="513"/>
            </p:xfrm>
            <a:graphic>
              <a:graphicData uri="http://schemas.openxmlformats.org/presentationml/2006/ole">
                <mc:AlternateContent xmlns:mc="http://schemas.openxmlformats.org/markup-compatibility/2006">
                  <mc:Choice xmlns:v="urn:schemas-microsoft-com:vml" Requires="v">
                    <p:oleObj spid="_x0000_s102453" r:id="rId8" imgW="990170" imgH="482391" progId="Equation.3">
                      <p:embed/>
                    </p:oleObj>
                  </mc:Choice>
                  <mc:Fallback>
                    <p:oleObj r:id="rId8" imgW="990170" imgH="482391" progId="Equation.3">
                      <p:embed/>
                      <p:pic>
                        <p:nvPicPr>
                          <p:cNvPr id="0"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80" y="3203"/>
                            <a:ext cx="1056"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02408" name="AutoShape 30"/>
            <p:cNvSpPr>
              <a:spLocks noChangeArrowheads="1"/>
            </p:cNvSpPr>
            <p:nvPr/>
          </p:nvSpPr>
          <p:spPr bwMode="auto">
            <a:xfrm>
              <a:off x="4032" y="2544"/>
              <a:ext cx="288" cy="480"/>
            </a:xfrm>
            <a:prstGeom prst="downArrow">
              <a:avLst>
                <a:gd name="adj1" fmla="val 50000"/>
                <a:gd name="adj2" fmla="val 4162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4404"/>
                                        </p:tgtEl>
                                        <p:attrNameLst>
                                          <p:attrName>style.visibility</p:attrName>
                                        </p:attrNameLst>
                                      </p:cBhvr>
                                      <p:to>
                                        <p:strVal val="visible"/>
                                      </p:to>
                                    </p:set>
                                    <p:anim calcmode="lin" valueType="num">
                                      <p:cBhvr additive="base">
                                        <p:cTn id="13" dur="500" fill="hold"/>
                                        <p:tgtEl>
                                          <p:spTgt spid="144404"/>
                                        </p:tgtEl>
                                        <p:attrNameLst>
                                          <p:attrName>ppt_x</p:attrName>
                                        </p:attrNameLst>
                                      </p:cBhvr>
                                      <p:tavLst>
                                        <p:tav tm="0">
                                          <p:val>
                                            <p:strVal val="#ppt_x"/>
                                          </p:val>
                                        </p:tav>
                                        <p:tav tm="100000">
                                          <p:val>
                                            <p:strVal val="#ppt_x"/>
                                          </p:val>
                                        </p:tav>
                                      </p:tavLst>
                                    </p:anim>
                                    <p:anim calcmode="lin" valueType="num">
                                      <p:cBhvr additive="base">
                                        <p:cTn id="14" dur="500" fill="hold"/>
                                        <p:tgtEl>
                                          <p:spTgt spid="14440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4405"/>
                                        </p:tgtEl>
                                        <p:attrNameLst>
                                          <p:attrName>style.visibility</p:attrName>
                                        </p:attrNameLst>
                                      </p:cBhvr>
                                      <p:to>
                                        <p:strVal val="visible"/>
                                      </p:to>
                                    </p:set>
                                    <p:anim calcmode="lin" valueType="num">
                                      <p:cBhvr additive="base">
                                        <p:cTn id="19" dur="500" fill="hold"/>
                                        <p:tgtEl>
                                          <p:spTgt spid="144405"/>
                                        </p:tgtEl>
                                        <p:attrNameLst>
                                          <p:attrName>ppt_x</p:attrName>
                                        </p:attrNameLst>
                                      </p:cBhvr>
                                      <p:tavLst>
                                        <p:tav tm="0">
                                          <p:val>
                                            <p:strVal val="#ppt_x"/>
                                          </p:val>
                                        </p:tav>
                                        <p:tav tm="100000">
                                          <p:val>
                                            <p:strVal val="#ppt_x"/>
                                          </p:val>
                                        </p:tav>
                                      </p:tavLst>
                                    </p:anim>
                                    <p:anim calcmode="lin" valueType="num">
                                      <p:cBhvr additive="base">
                                        <p:cTn id="20" dur="500" fill="hold"/>
                                        <p:tgtEl>
                                          <p:spTgt spid="14440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450" name="Group 3"/>
          <p:cNvGrpSpPr>
            <a:grpSpLocks/>
          </p:cNvGrpSpPr>
          <p:nvPr/>
        </p:nvGrpSpPr>
        <p:grpSpPr bwMode="auto">
          <a:xfrm>
            <a:off x="304800" y="1981200"/>
            <a:ext cx="8570913" cy="4346575"/>
            <a:chOff x="192" y="1248"/>
            <a:chExt cx="5399" cy="2738"/>
          </a:xfrm>
        </p:grpSpPr>
        <p:sp>
          <p:nvSpPr>
            <p:cNvPr id="104451" name="Rectangle 4"/>
            <p:cNvSpPr>
              <a:spLocks noChangeArrowheads="1"/>
            </p:cNvSpPr>
            <p:nvPr/>
          </p:nvSpPr>
          <p:spPr bwMode="auto">
            <a:xfrm>
              <a:off x="1092" y="1882"/>
              <a:ext cx="442"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104452" name="Object 5"/>
            <p:cNvGraphicFramePr>
              <a:graphicFrameLocks noChangeAspect="1"/>
            </p:cNvGraphicFramePr>
            <p:nvPr/>
          </p:nvGraphicFramePr>
          <p:xfrm>
            <a:off x="1122" y="1933"/>
            <a:ext cx="411" cy="495"/>
          </p:xfrm>
          <a:graphic>
            <a:graphicData uri="http://schemas.openxmlformats.org/presentationml/2006/ole">
              <mc:AlternateContent xmlns:mc="http://schemas.openxmlformats.org/markup-compatibility/2006">
                <mc:Choice xmlns:v="urn:schemas-microsoft-com:vml" Requires="v">
                  <p:oleObj spid="_x0000_s104520" r:id="rId4" imgW="419100" imgH="508000" progId="Equation.3">
                    <p:embed/>
                  </p:oleObj>
                </mc:Choice>
                <mc:Fallback>
                  <p:oleObj r:id="rId4" imgW="419100" imgH="508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 y="1933"/>
                          <a:ext cx="411"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4453" name="Text Box 6"/>
            <p:cNvSpPr txBox="1">
              <a:spLocks noChangeArrowheads="1"/>
            </p:cNvSpPr>
            <p:nvPr/>
          </p:nvSpPr>
          <p:spPr bwMode="auto">
            <a:xfrm>
              <a:off x="51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04454" name="Line 7"/>
            <p:cNvSpPr>
              <a:spLocks noChangeShapeType="1"/>
            </p:cNvSpPr>
            <p:nvPr/>
          </p:nvSpPr>
          <p:spPr bwMode="auto">
            <a:xfrm>
              <a:off x="226" y="2155"/>
              <a:ext cx="37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55" name="Line 8"/>
            <p:cNvSpPr>
              <a:spLocks noChangeShapeType="1"/>
            </p:cNvSpPr>
            <p:nvPr/>
          </p:nvSpPr>
          <p:spPr bwMode="auto">
            <a:xfrm>
              <a:off x="786" y="2155"/>
              <a:ext cx="3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56" name="Line 9"/>
            <p:cNvSpPr>
              <a:spLocks noChangeShapeType="1"/>
            </p:cNvSpPr>
            <p:nvPr/>
          </p:nvSpPr>
          <p:spPr bwMode="auto">
            <a:xfrm>
              <a:off x="1528" y="2155"/>
              <a:ext cx="33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57" name="Text Box 10"/>
            <p:cNvSpPr txBox="1">
              <a:spLocks noChangeArrowheads="1"/>
            </p:cNvSpPr>
            <p:nvPr/>
          </p:nvSpPr>
          <p:spPr bwMode="auto">
            <a:xfrm>
              <a:off x="192" y="1867"/>
              <a:ext cx="4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i</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58" name="Text Box 11"/>
            <p:cNvSpPr txBox="1">
              <a:spLocks noChangeArrowheads="1"/>
            </p:cNvSpPr>
            <p:nvPr/>
          </p:nvSpPr>
          <p:spPr bwMode="auto">
            <a:xfrm>
              <a:off x="1541" y="1867"/>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59" name="Line 12"/>
            <p:cNvSpPr>
              <a:spLocks noChangeShapeType="1"/>
            </p:cNvSpPr>
            <p:nvPr/>
          </p:nvSpPr>
          <p:spPr bwMode="auto">
            <a:xfrm>
              <a:off x="741"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0" name="Line 13"/>
            <p:cNvSpPr>
              <a:spLocks noChangeShapeType="1"/>
            </p:cNvSpPr>
            <p:nvPr/>
          </p:nvSpPr>
          <p:spPr bwMode="auto">
            <a:xfrm>
              <a:off x="695"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61" name="Line 14"/>
            <p:cNvSpPr>
              <a:spLocks noChangeShapeType="1"/>
            </p:cNvSpPr>
            <p:nvPr/>
          </p:nvSpPr>
          <p:spPr bwMode="auto">
            <a:xfrm flipV="1">
              <a:off x="693" y="2246"/>
              <a:ext cx="2" cy="99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62" name="Text Box 15"/>
            <p:cNvSpPr txBox="1">
              <a:spLocks noChangeArrowheads="1"/>
            </p:cNvSpPr>
            <p:nvPr/>
          </p:nvSpPr>
          <p:spPr bwMode="auto">
            <a:xfrm>
              <a:off x="693" y="2593"/>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63" name="Line 16"/>
            <p:cNvSpPr>
              <a:spLocks noChangeShapeType="1"/>
            </p:cNvSpPr>
            <p:nvPr/>
          </p:nvSpPr>
          <p:spPr bwMode="auto">
            <a:xfrm>
              <a:off x="741" y="1883"/>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4" name="Text Box 17"/>
            <p:cNvSpPr txBox="1">
              <a:spLocks noChangeArrowheads="1"/>
            </p:cNvSpPr>
            <p:nvPr/>
          </p:nvSpPr>
          <p:spPr bwMode="auto">
            <a:xfrm>
              <a:off x="720" y="1511"/>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65" name="Rectangle 18"/>
            <p:cNvSpPr>
              <a:spLocks noChangeArrowheads="1"/>
            </p:cNvSpPr>
            <p:nvPr/>
          </p:nvSpPr>
          <p:spPr bwMode="auto">
            <a:xfrm>
              <a:off x="4467" y="1882"/>
              <a:ext cx="463"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104466" name="Object 19"/>
            <p:cNvGraphicFramePr>
              <a:graphicFrameLocks noChangeAspect="1"/>
            </p:cNvGraphicFramePr>
            <p:nvPr/>
          </p:nvGraphicFramePr>
          <p:xfrm>
            <a:off x="4490" y="1933"/>
            <a:ext cx="422" cy="495"/>
          </p:xfrm>
          <a:graphic>
            <a:graphicData uri="http://schemas.openxmlformats.org/presentationml/2006/ole">
              <mc:AlternateContent xmlns:mc="http://schemas.openxmlformats.org/markup-compatibility/2006">
                <mc:Choice xmlns:v="urn:schemas-microsoft-com:vml" Requires="v">
                  <p:oleObj spid="_x0000_s104521" r:id="rId6" imgW="431800" imgH="508000" progId="Equation.3">
                    <p:embed/>
                  </p:oleObj>
                </mc:Choice>
                <mc:Fallback>
                  <p:oleObj r:id="rId6" imgW="431800" imgH="508000"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0" y="1933"/>
                          <a:ext cx="422"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4467" name="Text Box 20"/>
            <p:cNvSpPr txBox="1">
              <a:spLocks noChangeArrowheads="1"/>
            </p:cNvSpPr>
            <p:nvPr/>
          </p:nvSpPr>
          <p:spPr bwMode="auto">
            <a:xfrm>
              <a:off x="3387"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04468" name="Line 21"/>
            <p:cNvSpPr>
              <a:spLocks noChangeShapeType="1"/>
            </p:cNvSpPr>
            <p:nvPr/>
          </p:nvSpPr>
          <p:spPr bwMode="auto">
            <a:xfrm>
              <a:off x="3660" y="2155"/>
              <a:ext cx="2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69" name="Text Box 22"/>
            <p:cNvSpPr txBox="1">
              <a:spLocks noChangeArrowheads="1"/>
            </p:cNvSpPr>
            <p:nvPr/>
          </p:nvSpPr>
          <p:spPr bwMode="auto">
            <a:xfrm>
              <a:off x="5148" y="1883"/>
              <a:ext cx="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70" name="Text Box 23"/>
            <p:cNvSpPr txBox="1">
              <a:spLocks noChangeArrowheads="1"/>
            </p:cNvSpPr>
            <p:nvPr/>
          </p:nvSpPr>
          <p:spPr bwMode="auto">
            <a:xfrm>
              <a:off x="3545" y="1420"/>
              <a:ext cx="56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2</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71" name="Text Box 24"/>
            <p:cNvSpPr txBox="1">
              <a:spLocks noChangeArrowheads="1"/>
            </p:cNvSpPr>
            <p:nvPr/>
          </p:nvSpPr>
          <p:spPr bwMode="auto">
            <a:xfrm>
              <a:off x="3602" y="2260"/>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endParaRPr>
            </a:p>
          </p:txBody>
        </p:sp>
        <p:sp>
          <p:nvSpPr>
            <p:cNvPr id="104472" name="Text Box 25"/>
            <p:cNvSpPr txBox="1">
              <a:spLocks noChangeArrowheads="1"/>
            </p:cNvSpPr>
            <p:nvPr/>
          </p:nvSpPr>
          <p:spPr bwMode="auto">
            <a:xfrm>
              <a:off x="384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04473" name="Line 26"/>
            <p:cNvSpPr>
              <a:spLocks noChangeShapeType="1"/>
            </p:cNvSpPr>
            <p:nvPr/>
          </p:nvSpPr>
          <p:spPr bwMode="auto">
            <a:xfrm>
              <a:off x="4116" y="2155"/>
              <a:ext cx="35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74" name="Line 27"/>
            <p:cNvSpPr>
              <a:spLocks noChangeShapeType="1"/>
            </p:cNvSpPr>
            <p:nvPr/>
          </p:nvSpPr>
          <p:spPr bwMode="auto">
            <a:xfrm>
              <a:off x="4070" y="1883"/>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75" name="Line 28"/>
            <p:cNvSpPr>
              <a:spLocks noChangeShapeType="1"/>
            </p:cNvSpPr>
            <p:nvPr/>
          </p:nvSpPr>
          <p:spPr bwMode="auto">
            <a:xfrm>
              <a:off x="4012"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76" name="Rectangle 29"/>
            <p:cNvSpPr>
              <a:spLocks noChangeArrowheads="1"/>
            </p:cNvSpPr>
            <p:nvPr/>
          </p:nvSpPr>
          <p:spPr bwMode="auto">
            <a:xfrm>
              <a:off x="2561" y="1928"/>
              <a:ext cx="365"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104477" name="Text Box 30"/>
            <p:cNvSpPr txBox="1">
              <a:spLocks noChangeArrowheads="1"/>
            </p:cNvSpPr>
            <p:nvPr/>
          </p:nvSpPr>
          <p:spPr bwMode="auto">
            <a:xfrm>
              <a:off x="1802"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04478" name="Line 31"/>
            <p:cNvSpPr>
              <a:spLocks noChangeShapeType="1"/>
            </p:cNvSpPr>
            <p:nvPr/>
          </p:nvSpPr>
          <p:spPr bwMode="auto">
            <a:xfrm>
              <a:off x="2075" y="2155"/>
              <a:ext cx="4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79" name="Line 32"/>
            <p:cNvSpPr>
              <a:spLocks noChangeShapeType="1"/>
            </p:cNvSpPr>
            <p:nvPr/>
          </p:nvSpPr>
          <p:spPr bwMode="auto">
            <a:xfrm>
              <a:off x="2030"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0" name="Text Box 33"/>
            <p:cNvSpPr txBox="1">
              <a:spLocks noChangeArrowheads="1"/>
            </p:cNvSpPr>
            <p:nvPr/>
          </p:nvSpPr>
          <p:spPr bwMode="auto">
            <a:xfrm>
              <a:off x="1939" y="2826"/>
              <a:ext cx="48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81" name="Text Box 34"/>
            <p:cNvSpPr txBox="1">
              <a:spLocks noChangeArrowheads="1"/>
            </p:cNvSpPr>
            <p:nvPr/>
          </p:nvSpPr>
          <p:spPr bwMode="auto">
            <a:xfrm>
              <a:off x="3089" y="1702"/>
              <a:ext cx="5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82" name="Line 35"/>
            <p:cNvSpPr>
              <a:spLocks noChangeShapeType="1"/>
            </p:cNvSpPr>
            <p:nvPr/>
          </p:nvSpPr>
          <p:spPr bwMode="auto">
            <a:xfrm>
              <a:off x="2333" y="2154"/>
              <a:ext cx="0" cy="5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3" name="Line 36"/>
            <p:cNvSpPr>
              <a:spLocks noChangeShapeType="1"/>
            </p:cNvSpPr>
            <p:nvPr/>
          </p:nvSpPr>
          <p:spPr bwMode="auto">
            <a:xfrm>
              <a:off x="2333" y="274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84" name="Rectangle 37"/>
            <p:cNvSpPr>
              <a:spLocks noChangeArrowheads="1"/>
            </p:cNvSpPr>
            <p:nvPr/>
          </p:nvSpPr>
          <p:spPr bwMode="auto">
            <a:xfrm>
              <a:off x="2561" y="2517"/>
              <a:ext cx="365" cy="45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Cs</a:t>
              </a:r>
            </a:p>
          </p:txBody>
        </p:sp>
        <p:sp>
          <p:nvSpPr>
            <p:cNvPr id="104485" name="Line 38"/>
            <p:cNvSpPr>
              <a:spLocks noChangeShapeType="1"/>
            </p:cNvSpPr>
            <p:nvPr/>
          </p:nvSpPr>
          <p:spPr bwMode="auto">
            <a:xfrm>
              <a:off x="2933" y="2155"/>
              <a:ext cx="54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86" name="Line 39"/>
            <p:cNvSpPr>
              <a:spLocks noChangeShapeType="1"/>
            </p:cNvSpPr>
            <p:nvPr/>
          </p:nvSpPr>
          <p:spPr bwMode="auto">
            <a:xfrm>
              <a:off x="2926" y="2745"/>
              <a:ext cx="6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87" name="Text Box 40"/>
            <p:cNvSpPr txBox="1">
              <a:spLocks noChangeArrowheads="1"/>
            </p:cNvSpPr>
            <p:nvPr/>
          </p:nvSpPr>
          <p:spPr bwMode="auto">
            <a:xfrm>
              <a:off x="2965" y="2457"/>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4488" name="Rectangle 41"/>
            <p:cNvSpPr>
              <a:spLocks noChangeArrowheads="1"/>
            </p:cNvSpPr>
            <p:nvPr/>
          </p:nvSpPr>
          <p:spPr bwMode="auto">
            <a:xfrm>
              <a:off x="4461" y="1248"/>
              <a:ext cx="469"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104489" name="Line 42"/>
            <p:cNvSpPr>
              <a:spLocks noChangeShapeType="1"/>
            </p:cNvSpPr>
            <p:nvPr/>
          </p:nvSpPr>
          <p:spPr bwMode="auto">
            <a:xfrm flipV="1">
              <a:off x="3564" y="2246"/>
              <a:ext cx="0" cy="4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90" name="Line 43"/>
            <p:cNvSpPr>
              <a:spLocks noChangeShapeType="1"/>
            </p:cNvSpPr>
            <p:nvPr/>
          </p:nvSpPr>
          <p:spPr bwMode="auto">
            <a:xfrm>
              <a:off x="4930" y="2155"/>
              <a:ext cx="59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91" name="Line 44"/>
            <p:cNvSpPr>
              <a:spLocks noChangeShapeType="1"/>
            </p:cNvSpPr>
            <p:nvPr/>
          </p:nvSpPr>
          <p:spPr bwMode="auto">
            <a:xfrm flipV="1">
              <a:off x="515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2" name="Line 45"/>
            <p:cNvSpPr>
              <a:spLocks noChangeShapeType="1"/>
            </p:cNvSpPr>
            <p:nvPr/>
          </p:nvSpPr>
          <p:spPr bwMode="auto">
            <a:xfrm flipH="1">
              <a:off x="4930" y="147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93" name="Line 46"/>
            <p:cNvSpPr>
              <a:spLocks noChangeShapeType="1"/>
            </p:cNvSpPr>
            <p:nvPr/>
          </p:nvSpPr>
          <p:spPr bwMode="auto">
            <a:xfrm flipH="1">
              <a:off x="4019" y="1475"/>
              <a:ext cx="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4" name="Line 47"/>
            <p:cNvSpPr>
              <a:spLocks noChangeShapeType="1"/>
            </p:cNvSpPr>
            <p:nvPr/>
          </p:nvSpPr>
          <p:spPr bwMode="auto">
            <a:xfrm flipV="1">
              <a:off x="310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5" name="Line 48"/>
            <p:cNvSpPr>
              <a:spLocks noChangeShapeType="1"/>
            </p:cNvSpPr>
            <p:nvPr/>
          </p:nvSpPr>
          <p:spPr bwMode="auto">
            <a:xfrm flipH="1">
              <a:off x="693" y="1475"/>
              <a:ext cx="24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6" name="Line 49"/>
            <p:cNvSpPr>
              <a:spLocks noChangeShapeType="1"/>
            </p:cNvSpPr>
            <p:nvPr/>
          </p:nvSpPr>
          <p:spPr bwMode="auto">
            <a:xfrm>
              <a:off x="5158" y="2155"/>
              <a:ext cx="0" cy="1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7" name="Line 50"/>
            <p:cNvSpPr>
              <a:spLocks noChangeShapeType="1"/>
            </p:cNvSpPr>
            <p:nvPr/>
          </p:nvSpPr>
          <p:spPr bwMode="auto">
            <a:xfrm flipH="1">
              <a:off x="1969" y="3562"/>
              <a:ext cx="31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98" name="Line 51"/>
            <p:cNvSpPr>
              <a:spLocks noChangeShapeType="1"/>
            </p:cNvSpPr>
            <p:nvPr/>
          </p:nvSpPr>
          <p:spPr bwMode="auto">
            <a:xfrm flipV="1">
              <a:off x="1969" y="2246"/>
              <a:ext cx="0" cy="13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99" name="Line 52"/>
            <p:cNvSpPr>
              <a:spLocks noChangeShapeType="1"/>
            </p:cNvSpPr>
            <p:nvPr/>
          </p:nvSpPr>
          <p:spPr bwMode="auto">
            <a:xfrm>
              <a:off x="3153" y="2745"/>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00" name="Line 53"/>
            <p:cNvSpPr>
              <a:spLocks noChangeShapeType="1"/>
            </p:cNvSpPr>
            <p:nvPr/>
          </p:nvSpPr>
          <p:spPr bwMode="auto">
            <a:xfrm flipH="1">
              <a:off x="693" y="3244"/>
              <a:ext cx="24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01" name="Text Box 54"/>
            <p:cNvSpPr txBox="1">
              <a:spLocks noChangeArrowheads="1"/>
            </p:cNvSpPr>
            <p:nvPr/>
          </p:nvSpPr>
          <p:spPr bwMode="auto">
            <a:xfrm>
              <a:off x="2178" y="3698"/>
              <a:ext cx="1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机械系统方框图</a:t>
              </a:r>
            </a:p>
          </p:txBody>
        </p:sp>
        <p:sp>
          <p:nvSpPr>
            <p:cNvPr id="104502" name="Oval 55"/>
            <p:cNvSpPr>
              <a:spLocks noChangeArrowheads="1"/>
            </p:cNvSpPr>
            <p:nvPr/>
          </p:nvSpPr>
          <p:spPr bwMode="auto">
            <a:xfrm>
              <a:off x="2304"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4503" name="Oval 56"/>
            <p:cNvSpPr>
              <a:spLocks noChangeArrowheads="1"/>
            </p:cNvSpPr>
            <p:nvPr/>
          </p:nvSpPr>
          <p:spPr bwMode="auto">
            <a:xfrm>
              <a:off x="3088"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4504" name="Oval 57"/>
            <p:cNvSpPr>
              <a:spLocks noChangeArrowheads="1"/>
            </p:cNvSpPr>
            <p:nvPr/>
          </p:nvSpPr>
          <p:spPr bwMode="auto">
            <a:xfrm>
              <a:off x="3128" y="272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4505" name="Oval 58"/>
            <p:cNvSpPr>
              <a:spLocks noChangeArrowheads="1"/>
            </p:cNvSpPr>
            <p:nvPr/>
          </p:nvSpPr>
          <p:spPr bwMode="auto">
            <a:xfrm>
              <a:off x="5136"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498" name="Group 3"/>
          <p:cNvGrpSpPr>
            <a:grpSpLocks/>
          </p:cNvGrpSpPr>
          <p:nvPr/>
        </p:nvGrpSpPr>
        <p:grpSpPr bwMode="auto">
          <a:xfrm>
            <a:off x="304800" y="1981200"/>
            <a:ext cx="8570913" cy="4346575"/>
            <a:chOff x="192" y="1248"/>
            <a:chExt cx="5399" cy="2738"/>
          </a:xfrm>
        </p:grpSpPr>
        <p:sp>
          <p:nvSpPr>
            <p:cNvPr id="106502" name="Rectangle 4"/>
            <p:cNvSpPr>
              <a:spLocks noChangeArrowheads="1"/>
            </p:cNvSpPr>
            <p:nvPr/>
          </p:nvSpPr>
          <p:spPr bwMode="auto">
            <a:xfrm>
              <a:off x="1092" y="1882"/>
              <a:ext cx="442"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106503" name="Object 5"/>
            <p:cNvGraphicFramePr>
              <a:graphicFrameLocks noChangeAspect="1"/>
            </p:cNvGraphicFramePr>
            <p:nvPr/>
          </p:nvGraphicFramePr>
          <p:xfrm>
            <a:off x="1122" y="1933"/>
            <a:ext cx="411" cy="495"/>
          </p:xfrm>
          <a:graphic>
            <a:graphicData uri="http://schemas.openxmlformats.org/presentationml/2006/ole">
              <mc:AlternateContent xmlns:mc="http://schemas.openxmlformats.org/markup-compatibility/2006">
                <mc:Choice xmlns:v="urn:schemas-microsoft-com:vml" Requires="v">
                  <p:oleObj spid="_x0000_s106571" r:id="rId4" imgW="419100" imgH="508000" progId="Equation.3">
                    <p:embed/>
                  </p:oleObj>
                </mc:Choice>
                <mc:Fallback>
                  <p:oleObj r:id="rId4" imgW="419100" imgH="508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 y="1933"/>
                          <a:ext cx="411"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6504" name="Text Box 6"/>
            <p:cNvSpPr txBox="1">
              <a:spLocks noChangeArrowheads="1"/>
            </p:cNvSpPr>
            <p:nvPr/>
          </p:nvSpPr>
          <p:spPr bwMode="auto">
            <a:xfrm>
              <a:off x="51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06505" name="Line 7"/>
            <p:cNvSpPr>
              <a:spLocks noChangeShapeType="1"/>
            </p:cNvSpPr>
            <p:nvPr/>
          </p:nvSpPr>
          <p:spPr bwMode="auto">
            <a:xfrm>
              <a:off x="226" y="2155"/>
              <a:ext cx="37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06" name="Line 8"/>
            <p:cNvSpPr>
              <a:spLocks noChangeShapeType="1"/>
            </p:cNvSpPr>
            <p:nvPr/>
          </p:nvSpPr>
          <p:spPr bwMode="auto">
            <a:xfrm>
              <a:off x="786" y="2155"/>
              <a:ext cx="3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07" name="Line 9"/>
            <p:cNvSpPr>
              <a:spLocks noChangeShapeType="1"/>
            </p:cNvSpPr>
            <p:nvPr/>
          </p:nvSpPr>
          <p:spPr bwMode="auto">
            <a:xfrm>
              <a:off x="1528" y="2155"/>
              <a:ext cx="33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08" name="Text Box 10"/>
            <p:cNvSpPr txBox="1">
              <a:spLocks noChangeArrowheads="1"/>
            </p:cNvSpPr>
            <p:nvPr/>
          </p:nvSpPr>
          <p:spPr bwMode="auto">
            <a:xfrm>
              <a:off x="192" y="1867"/>
              <a:ext cx="4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i</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09" name="Text Box 11"/>
            <p:cNvSpPr txBox="1">
              <a:spLocks noChangeArrowheads="1"/>
            </p:cNvSpPr>
            <p:nvPr/>
          </p:nvSpPr>
          <p:spPr bwMode="auto">
            <a:xfrm>
              <a:off x="1541" y="1867"/>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10" name="Line 12"/>
            <p:cNvSpPr>
              <a:spLocks noChangeShapeType="1"/>
            </p:cNvSpPr>
            <p:nvPr/>
          </p:nvSpPr>
          <p:spPr bwMode="auto">
            <a:xfrm>
              <a:off x="741"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1" name="Line 13"/>
            <p:cNvSpPr>
              <a:spLocks noChangeShapeType="1"/>
            </p:cNvSpPr>
            <p:nvPr/>
          </p:nvSpPr>
          <p:spPr bwMode="auto">
            <a:xfrm>
              <a:off x="695"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2" name="Line 14"/>
            <p:cNvSpPr>
              <a:spLocks noChangeShapeType="1"/>
            </p:cNvSpPr>
            <p:nvPr/>
          </p:nvSpPr>
          <p:spPr bwMode="auto">
            <a:xfrm flipV="1">
              <a:off x="693" y="2246"/>
              <a:ext cx="2" cy="99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3" name="Text Box 15"/>
            <p:cNvSpPr txBox="1">
              <a:spLocks noChangeArrowheads="1"/>
            </p:cNvSpPr>
            <p:nvPr/>
          </p:nvSpPr>
          <p:spPr bwMode="auto">
            <a:xfrm>
              <a:off x="693" y="2593"/>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14" name="Line 16"/>
            <p:cNvSpPr>
              <a:spLocks noChangeShapeType="1"/>
            </p:cNvSpPr>
            <p:nvPr/>
          </p:nvSpPr>
          <p:spPr bwMode="auto">
            <a:xfrm>
              <a:off x="741" y="1883"/>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5" name="Text Box 17"/>
            <p:cNvSpPr txBox="1">
              <a:spLocks noChangeArrowheads="1"/>
            </p:cNvSpPr>
            <p:nvPr/>
          </p:nvSpPr>
          <p:spPr bwMode="auto">
            <a:xfrm>
              <a:off x="720" y="1511"/>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16" name="Rectangle 18"/>
            <p:cNvSpPr>
              <a:spLocks noChangeArrowheads="1"/>
            </p:cNvSpPr>
            <p:nvPr/>
          </p:nvSpPr>
          <p:spPr bwMode="auto">
            <a:xfrm>
              <a:off x="4467" y="1882"/>
              <a:ext cx="463"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106517" name="Object 19"/>
            <p:cNvGraphicFramePr>
              <a:graphicFrameLocks noChangeAspect="1"/>
            </p:cNvGraphicFramePr>
            <p:nvPr/>
          </p:nvGraphicFramePr>
          <p:xfrm>
            <a:off x="4490" y="1933"/>
            <a:ext cx="422" cy="495"/>
          </p:xfrm>
          <a:graphic>
            <a:graphicData uri="http://schemas.openxmlformats.org/presentationml/2006/ole">
              <mc:AlternateContent xmlns:mc="http://schemas.openxmlformats.org/markup-compatibility/2006">
                <mc:Choice xmlns:v="urn:schemas-microsoft-com:vml" Requires="v">
                  <p:oleObj spid="_x0000_s106572" r:id="rId6" imgW="431800" imgH="508000" progId="Equation.3">
                    <p:embed/>
                  </p:oleObj>
                </mc:Choice>
                <mc:Fallback>
                  <p:oleObj r:id="rId6" imgW="431800" imgH="508000"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0" y="1933"/>
                          <a:ext cx="422"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6518" name="Text Box 20"/>
            <p:cNvSpPr txBox="1">
              <a:spLocks noChangeArrowheads="1"/>
            </p:cNvSpPr>
            <p:nvPr/>
          </p:nvSpPr>
          <p:spPr bwMode="auto">
            <a:xfrm>
              <a:off x="3387"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06519" name="Line 21"/>
            <p:cNvSpPr>
              <a:spLocks noChangeShapeType="1"/>
            </p:cNvSpPr>
            <p:nvPr/>
          </p:nvSpPr>
          <p:spPr bwMode="auto">
            <a:xfrm>
              <a:off x="3660" y="2155"/>
              <a:ext cx="2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20" name="Text Box 22"/>
            <p:cNvSpPr txBox="1">
              <a:spLocks noChangeArrowheads="1"/>
            </p:cNvSpPr>
            <p:nvPr/>
          </p:nvSpPr>
          <p:spPr bwMode="auto">
            <a:xfrm>
              <a:off x="5148" y="1883"/>
              <a:ext cx="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21" name="Text Box 23"/>
            <p:cNvSpPr txBox="1">
              <a:spLocks noChangeArrowheads="1"/>
            </p:cNvSpPr>
            <p:nvPr/>
          </p:nvSpPr>
          <p:spPr bwMode="auto">
            <a:xfrm>
              <a:off x="3545" y="1420"/>
              <a:ext cx="56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2</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22" name="Text Box 24"/>
            <p:cNvSpPr txBox="1">
              <a:spLocks noChangeArrowheads="1"/>
            </p:cNvSpPr>
            <p:nvPr/>
          </p:nvSpPr>
          <p:spPr bwMode="auto">
            <a:xfrm>
              <a:off x="3602" y="2260"/>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endParaRPr>
            </a:p>
          </p:txBody>
        </p:sp>
        <p:sp>
          <p:nvSpPr>
            <p:cNvPr id="106523" name="Text Box 25"/>
            <p:cNvSpPr txBox="1">
              <a:spLocks noChangeArrowheads="1"/>
            </p:cNvSpPr>
            <p:nvPr/>
          </p:nvSpPr>
          <p:spPr bwMode="auto">
            <a:xfrm>
              <a:off x="384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06524" name="Line 26"/>
            <p:cNvSpPr>
              <a:spLocks noChangeShapeType="1"/>
            </p:cNvSpPr>
            <p:nvPr/>
          </p:nvSpPr>
          <p:spPr bwMode="auto">
            <a:xfrm>
              <a:off x="4116" y="2155"/>
              <a:ext cx="35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25" name="Line 27"/>
            <p:cNvSpPr>
              <a:spLocks noChangeShapeType="1"/>
            </p:cNvSpPr>
            <p:nvPr/>
          </p:nvSpPr>
          <p:spPr bwMode="auto">
            <a:xfrm>
              <a:off x="4070" y="1883"/>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6" name="Line 28"/>
            <p:cNvSpPr>
              <a:spLocks noChangeShapeType="1"/>
            </p:cNvSpPr>
            <p:nvPr/>
          </p:nvSpPr>
          <p:spPr bwMode="auto">
            <a:xfrm>
              <a:off x="4012"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27" name="Rectangle 29"/>
            <p:cNvSpPr>
              <a:spLocks noChangeArrowheads="1"/>
            </p:cNvSpPr>
            <p:nvPr/>
          </p:nvSpPr>
          <p:spPr bwMode="auto">
            <a:xfrm>
              <a:off x="2561" y="1928"/>
              <a:ext cx="365"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106528" name="Text Box 30"/>
            <p:cNvSpPr txBox="1">
              <a:spLocks noChangeArrowheads="1"/>
            </p:cNvSpPr>
            <p:nvPr/>
          </p:nvSpPr>
          <p:spPr bwMode="auto">
            <a:xfrm>
              <a:off x="1802"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06529" name="Line 31"/>
            <p:cNvSpPr>
              <a:spLocks noChangeShapeType="1"/>
            </p:cNvSpPr>
            <p:nvPr/>
          </p:nvSpPr>
          <p:spPr bwMode="auto">
            <a:xfrm>
              <a:off x="2075" y="2155"/>
              <a:ext cx="4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30" name="Line 32"/>
            <p:cNvSpPr>
              <a:spLocks noChangeShapeType="1"/>
            </p:cNvSpPr>
            <p:nvPr/>
          </p:nvSpPr>
          <p:spPr bwMode="auto">
            <a:xfrm>
              <a:off x="2030"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1" name="Text Box 33"/>
            <p:cNvSpPr txBox="1">
              <a:spLocks noChangeArrowheads="1"/>
            </p:cNvSpPr>
            <p:nvPr/>
          </p:nvSpPr>
          <p:spPr bwMode="auto">
            <a:xfrm>
              <a:off x="1939" y="2826"/>
              <a:ext cx="48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32" name="Text Box 34"/>
            <p:cNvSpPr txBox="1">
              <a:spLocks noChangeArrowheads="1"/>
            </p:cNvSpPr>
            <p:nvPr/>
          </p:nvSpPr>
          <p:spPr bwMode="auto">
            <a:xfrm>
              <a:off x="3089" y="1702"/>
              <a:ext cx="5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33" name="Line 35"/>
            <p:cNvSpPr>
              <a:spLocks noChangeShapeType="1"/>
            </p:cNvSpPr>
            <p:nvPr/>
          </p:nvSpPr>
          <p:spPr bwMode="auto">
            <a:xfrm>
              <a:off x="2333" y="2154"/>
              <a:ext cx="0" cy="5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4" name="Line 36"/>
            <p:cNvSpPr>
              <a:spLocks noChangeShapeType="1"/>
            </p:cNvSpPr>
            <p:nvPr/>
          </p:nvSpPr>
          <p:spPr bwMode="auto">
            <a:xfrm>
              <a:off x="2333" y="274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35" name="Rectangle 37"/>
            <p:cNvSpPr>
              <a:spLocks noChangeArrowheads="1"/>
            </p:cNvSpPr>
            <p:nvPr/>
          </p:nvSpPr>
          <p:spPr bwMode="auto">
            <a:xfrm>
              <a:off x="2561" y="2517"/>
              <a:ext cx="365" cy="45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Cs</a:t>
              </a:r>
            </a:p>
          </p:txBody>
        </p:sp>
        <p:sp>
          <p:nvSpPr>
            <p:cNvPr id="106536" name="Line 38"/>
            <p:cNvSpPr>
              <a:spLocks noChangeShapeType="1"/>
            </p:cNvSpPr>
            <p:nvPr/>
          </p:nvSpPr>
          <p:spPr bwMode="auto">
            <a:xfrm>
              <a:off x="2933" y="2155"/>
              <a:ext cx="54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37" name="Line 39"/>
            <p:cNvSpPr>
              <a:spLocks noChangeShapeType="1"/>
            </p:cNvSpPr>
            <p:nvPr/>
          </p:nvSpPr>
          <p:spPr bwMode="auto">
            <a:xfrm>
              <a:off x="2926" y="2745"/>
              <a:ext cx="6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8" name="Text Box 40"/>
            <p:cNvSpPr txBox="1">
              <a:spLocks noChangeArrowheads="1"/>
            </p:cNvSpPr>
            <p:nvPr/>
          </p:nvSpPr>
          <p:spPr bwMode="auto">
            <a:xfrm>
              <a:off x="2965" y="2457"/>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06539" name="Rectangle 41"/>
            <p:cNvSpPr>
              <a:spLocks noChangeArrowheads="1"/>
            </p:cNvSpPr>
            <p:nvPr/>
          </p:nvSpPr>
          <p:spPr bwMode="auto">
            <a:xfrm>
              <a:off x="4461" y="1248"/>
              <a:ext cx="469"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106540" name="Line 42"/>
            <p:cNvSpPr>
              <a:spLocks noChangeShapeType="1"/>
            </p:cNvSpPr>
            <p:nvPr/>
          </p:nvSpPr>
          <p:spPr bwMode="auto">
            <a:xfrm flipV="1">
              <a:off x="3564" y="2246"/>
              <a:ext cx="0" cy="4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41" name="Line 43"/>
            <p:cNvSpPr>
              <a:spLocks noChangeShapeType="1"/>
            </p:cNvSpPr>
            <p:nvPr/>
          </p:nvSpPr>
          <p:spPr bwMode="auto">
            <a:xfrm>
              <a:off x="4930" y="2155"/>
              <a:ext cx="59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42" name="Line 44"/>
            <p:cNvSpPr>
              <a:spLocks noChangeShapeType="1"/>
            </p:cNvSpPr>
            <p:nvPr/>
          </p:nvSpPr>
          <p:spPr bwMode="auto">
            <a:xfrm flipV="1">
              <a:off x="515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3" name="Line 45"/>
            <p:cNvSpPr>
              <a:spLocks noChangeShapeType="1"/>
            </p:cNvSpPr>
            <p:nvPr/>
          </p:nvSpPr>
          <p:spPr bwMode="auto">
            <a:xfrm flipH="1">
              <a:off x="4930" y="147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44" name="Line 46"/>
            <p:cNvSpPr>
              <a:spLocks noChangeShapeType="1"/>
            </p:cNvSpPr>
            <p:nvPr/>
          </p:nvSpPr>
          <p:spPr bwMode="auto">
            <a:xfrm flipH="1">
              <a:off x="4019" y="1475"/>
              <a:ext cx="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5" name="Line 47"/>
            <p:cNvSpPr>
              <a:spLocks noChangeShapeType="1"/>
            </p:cNvSpPr>
            <p:nvPr/>
          </p:nvSpPr>
          <p:spPr bwMode="auto">
            <a:xfrm flipV="1">
              <a:off x="310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6" name="Line 48"/>
            <p:cNvSpPr>
              <a:spLocks noChangeShapeType="1"/>
            </p:cNvSpPr>
            <p:nvPr/>
          </p:nvSpPr>
          <p:spPr bwMode="auto">
            <a:xfrm flipH="1">
              <a:off x="693" y="1475"/>
              <a:ext cx="24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7" name="Line 49"/>
            <p:cNvSpPr>
              <a:spLocks noChangeShapeType="1"/>
            </p:cNvSpPr>
            <p:nvPr/>
          </p:nvSpPr>
          <p:spPr bwMode="auto">
            <a:xfrm>
              <a:off x="5158" y="2155"/>
              <a:ext cx="0" cy="1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8" name="Line 50"/>
            <p:cNvSpPr>
              <a:spLocks noChangeShapeType="1"/>
            </p:cNvSpPr>
            <p:nvPr/>
          </p:nvSpPr>
          <p:spPr bwMode="auto">
            <a:xfrm flipH="1">
              <a:off x="1969" y="3562"/>
              <a:ext cx="31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49" name="Line 51"/>
            <p:cNvSpPr>
              <a:spLocks noChangeShapeType="1"/>
            </p:cNvSpPr>
            <p:nvPr/>
          </p:nvSpPr>
          <p:spPr bwMode="auto">
            <a:xfrm flipV="1">
              <a:off x="1969" y="2246"/>
              <a:ext cx="0" cy="13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50" name="Line 52"/>
            <p:cNvSpPr>
              <a:spLocks noChangeShapeType="1"/>
            </p:cNvSpPr>
            <p:nvPr/>
          </p:nvSpPr>
          <p:spPr bwMode="auto">
            <a:xfrm>
              <a:off x="3153" y="2745"/>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51" name="Line 53"/>
            <p:cNvSpPr>
              <a:spLocks noChangeShapeType="1"/>
            </p:cNvSpPr>
            <p:nvPr/>
          </p:nvSpPr>
          <p:spPr bwMode="auto">
            <a:xfrm flipH="1">
              <a:off x="693" y="3244"/>
              <a:ext cx="24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52" name="Text Box 54"/>
            <p:cNvSpPr txBox="1">
              <a:spLocks noChangeArrowheads="1"/>
            </p:cNvSpPr>
            <p:nvPr/>
          </p:nvSpPr>
          <p:spPr bwMode="auto">
            <a:xfrm>
              <a:off x="2178" y="3698"/>
              <a:ext cx="1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机械系统方框图</a:t>
              </a:r>
            </a:p>
          </p:txBody>
        </p:sp>
        <p:sp>
          <p:nvSpPr>
            <p:cNvPr id="106553" name="Oval 55"/>
            <p:cNvSpPr>
              <a:spLocks noChangeArrowheads="1"/>
            </p:cNvSpPr>
            <p:nvPr/>
          </p:nvSpPr>
          <p:spPr bwMode="auto">
            <a:xfrm>
              <a:off x="2304"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6554" name="Oval 56"/>
            <p:cNvSpPr>
              <a:spLocks noChangeArrowheads="1"/>
            </p:cNvSpPr>
            <p:nvPr/>
          </p:nvSpPr>
          <p:spPr bwMode="auto">
            <a:xfrm>
              <a:off x="3088"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6555" name="Oval 57"/>
            <p:cNvSpPr>
              <a:spLocks noChangeArrowheads="1"/>
            </p:cNvSpPr>
            <p:nvPr/>
          </p:nvSpPr>
          <p:spPr bwMode="auto">
            <a:xfrm>
              <a:off x="3128" y="272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6556" name="Oval 58"/>
            <p:cNvSpPr>
              <a:spLocks noChangeArrowheads="1"/>
            </p:cNvSpPr>
            <p:nvPr/>
          </p:nvSpPr>
          <p:spPr bwMode="auto">
            <a:xfrm>
              <a:off x="5136"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2" name="文本框 1"/>
          <p:cNvSpPr txBox="1">
            <a:spLocks noRot="1" noChangeAspect="1" noEditPoints="1" noChangeArrowheads="1" noTextEdit="1"/>
          </p:cNvSpPr>
          <p:nvPr/>
        </p:nvSpPr>
        <p:spPr bwMode="auto">
          <a:xfrm>
            <a:off x="6524625" y="765175"/>
            <a:ext cx="1704975" cy="657225"/>
          </a:xfrm>
          <a:prstGeom prst="rect">
            <a:avLst/>
          </a:prstGeom>
          <a:blipFill dpi="0" rotWithShape="1">
            <a:blip r:embed="rId8"/>
            <a:srcRect/>
            <a:stretch>
              <a:fillRect/>
            </a:stretch>
          </a:blipFill>
          <a:ln w="38100">
            <a:solidFill>
              <a:schemeClr val="tx2"/>
            </a:solidFill>
            <a:round/>
            <a:headEnd/>
            <a:tailEnd/>
          </a:ln>
        </p:spPr>
        <p:txBody>
          <a:bodyPr/>
          <a:lstStyle/>
          <a:p>
            <a:endParaRPr lang="zh-CN" altLang="en-US"/>
          </a:p>
        </p:txBody>
      </p:sp>
      <p:sp>
        <p:nvSpPr>
          <p:cNvPr id="3" name="矩形 2"/>
          <p:cNvSpPr/>
          <p:nvPr/>
        </p:nvSpPr>
        <p:spPr>
          <a:xfrm>
            <a:off x="6043613" y="1927225"/>
            <a:ext cx="2273300" cy="2141538"/>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5" name="直接箭头连接符 4"/>
          <p:cNvCxnSpPr/>
          <p:nvPr/>
        </p:nvCxnSpPr>
        <p:spPr>
          <a:xfrm flipV="1">
            <a:off x="6369050" y="1422400"/>
            <a:ext cx="309563" cy="55880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ChangeArrowheads="1"/>
          </p:cNvSpPr>
          <p:nvPr/>
        </p:nvSpPr>
        <p:spPr bwMode="auto">
          <a:xfrm>
            <a:off x="1066800" y="957263"/>
            <a:ext cx="4572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方块图的等效变换法则 </a:t>
            </a:r>
          </a:p>
        </p:txBody>
      </p:sp>
      <p:sp>
        <p:nvSpPr>
          <p:cNvPr id="146436" name="Rectangle 4"/>
          <p:cNvSpPr>
            <a:spLocks noChangeArrowheads="1"/>
          </p:cNvSpPr>
          <p:nvPr/>
        </p:nvSpPr>
        <p:spPr bwMode="auto">
          <a:xfrm>
            <a:off x="1143000" y="1538288"/>
            <a:ext cx="350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Times New Roman" panose="02020603050405020304" pitchFamily="18" charset="0"/>
              </a:rPr>
              <a:t>比较</a:t>
            </a:r>
            <a:r>
              <a:rPr lang="zh-CN" altLang="en-US" sz="2800">
                <a:latin typeface="宋体" panose="02010600030101010101" pitchFamily="2" charset="-122"/>
              </a:rPr>
              <a:t>点的移动</a:t>
            </a:r>
            <a:r>
              <a:rPr lang="zh-CN" altLang="en-US" sz="2800">
                <a:latin typeface="Times New Roman" panose="02020603050405020304" pitchFamily="18" charset="0"/>
              </a:rPr>
              <a:t> </a:t>
            </a:r>
          </a:p>
        </p:txBody>
      </p:sp>
      <p:grpSp>
        <p:nvGrpSpPr>
          <p:cNvPr id="2" name="Group 5"/>
          <p:cNvGrpSpPr>
            <a:grpSpLocks/>
          </p:cNvGrpSpPr>
          <p:nvPr/>
        </p:nvGrpSpPr>
        <p:grpSpPr bwMode="auto">
          <a:xfrm>
            <a:off x="1389063" y="2133600"/>
            <a:ext cx="3211512" cy="4424363"/>
            <a:chOff x="875" y="1344"/>
            <a:chExt cx="2023" cy="2787"/>
          </a:xfrm>
        </p:grpSpPr>
        <p:grpSp>
          <p:nvGrpSpPr>
            <p:cNvPr id="108595" name="Group 6"/>
            <p:cNvGrpSpPr>
              <a:grpSpLocks/>
            </p:cNvGrpSpPr>
            <p:nvPr/>
          </p:nvGrpSpPr>
          <p:grpSpPr bwMode="auto">
            <a:xfrm>
              <a:off x="875" y="1344"/>
              <a:ext cx="2023" cy="858"/>
              <a:chOff x="875" y="1248"/>
              <a:chExt cx="2023" cy="858"/>
            </a:xfrm>
          </p:grpSpPr>
          <p:sp>
            <p:nvSpPr>
              <p:cNvPr id="108597" name="Rectangle 7"/>
              <p:cNvSpPr>
                <a:spLocks noChangeArrowheads="1"/>
              </p:cNvSpPr>
              <p:nvPr/>
            </p:nvSpPr>
            <p:spPr bwMode="auto">
              <a:xfrm>
                <a:off x="1815" y="1355"/>
                <a:ext cx="541" cy="35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08598" name="Text Box 8"/>
              <p:cNvSpPr txBox="1">
                <a:spLocks noChangeArrowheads="1"/>
              </p:cNvSpPr>
              <p:nvPr/>
            </p:nvSpPr>
            <p:spPr bwMode="auto">
              <a:xfrm>
                <a:off x="1261" y="1319"/>
                <a:ext cx="36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000">
                    <a:latin typeface="Times New Roman" panose="02020603050405020304" pitchFamily="18" charset="0"/>
                    <a:sym typeface="Symbol" panose="05050102010706020507" pitchFamily="18" charset="2"/>
                  </a:rPr>
                  <a:t></a:t>
                </a:r>
                <a:endParaRPr lang="en-US" altLang="zh-CN" sz="4000">
                  <a:latin typeface="Times New Roman" panose="02020603050405020304" pitchFamily="18" charset="0"/>
                </a:endParaRPr>
              </a:p>
            </p:txBody>
          </p:sp>
          <p:sp>
            <p:nvSpPr>
              <p:cNvPr id="108599" name="Line 9"/>
              <p:cNvSpPr>
                <a:spLocks noChangeShapeType="1"/>
              </p:cNvSpPr>
              <p:nvPr/>
            </p:nvSpPr>
            <p:spPr bwMode="auto">
              <a:xfrm>
                <a:off x="1532" y="1536"/>
                <a:ext cx="29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600" name="Line 10"/>
              <p:cNvSpPr>
                <a:spLocks noChangeShapeType="1"/>
              </p:cNvSpPr>
              <p:nvPr/>
            </p:nvSpPr>
            <p:spPr bwMode="auto">
              <a:xfrm>
                <a:off x="875" y="1537"/>
                <a:ext cx="45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601" name="Line 11"/>
              <p:cNvSpPr>
                <a:spLocks noChangeShapeType="1"/>
              </p:cNvSpPr>
              <p:nvPr/>
            </p:nvSpPr>
            <p:spPr bwMode="auto">
              <a:xfrm flipV="1">
                <a:off x="1433" y="1632"/>
                <a:ext cx="0" cy="42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602" name="Line 12"/>
              <p:cNvSpPr>
                <a:spLocks noChangeShapeType="1"/>
              </p:cNvSpPr>
              <p:nvPr/>
            </p:nvSpPr>
            <p:spPr bwMode="auto">
              <a:xfrm>
                <a:off x="2356" y="1533"/>
                <a:ext cx="54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603" name="Text Box 13"/>
              <p:cNvSpPr txBox="1">
                <a:spLocks noChangeArrowheads="1"/>
              </p:cNvSpPr>
              <p:nvPr/>
            </p:nvSpPr>
            <p:spPr bwMode="auto">
              <a:xfrm>
                <a:off x="900" y="124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sp>
            <p:nvSpPr>
              <p:cNvPr id="108604" name="Text Box 14"/>
              <p:cNvSpPr txBox="1">
                <a:spLocks noChangeArrowheads="1"/>
              </p:cNvSpPr>
              <p:nvPr/>
            </p:nvSpPr>
            <p:spPr bwMode="auto">
              <a:xfrm>
                <a:off x="1409" y="181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B</a:t>
                </a:r>
              </a:p>
            </p:txBody>
          </p:sp>
          <p:sp>
            <p:nvSpPr>
              <p:cNvPr id="108605" name="Text Box 15"/>
              <p:cNvSpPr txBox="1">
                <a:spLocks noChangeArrowheads="1"/>
              </p:cNvSpPr>
              <p:nvPr/>
            </p:nvSpPr>
            <p:spPr bwMode="auto">
              <a:xfrm>
                <a:off x="2544" y="1284"/>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108606" name="Text Box 16"/>
              <p:cNvSpPr txBox="1">
                <a:spLocks noChangeArrowheads="1"/>
              </p:cNvSpPr>
              <p:nvPr/>
            </p:nvSpPr>
            <p:spPr bwMode="auto">
              <a:xfrm>
                <a:off x="1409" y="156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grpSp>
        <p:sp>
          <p:nvSpPr>
            <p:cNvPr id="108596" name="Text Box 17"/>
            <p:cNvSpPr txBox="1">
              <a:spLocks noChangeArrowheads="1"/>
            </p:cNvSpPr>
            <p:nvPr/>
          </p:nvSpPr>
          <p:spPr bwMode="auto">
            <a:xfrm>
              <a:off x="1228" y="3840"/>
              <a:ext cx="108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比较点后移</a:t>
              </a:r>
            </a:p>
          </p:txBody>
        </p:sp>
      </p:grpSp>
      <p:grpSp>
        <p:nvGrpSpPr>
          <p:cNvPr id="4" name="Group 18"/>
          <p:cNvGrpSpPr>
            <a:grpSpLocks/>
          </p:cNvGrpSpPr>
          <p:nvPr/>
        </p:nvGrpSpPr>
        <p:grpSpPr bwMode="auto">
          <a:xfrm>
            <a:off x="5189538" y="2209800"/>
            <a:ext cx="3421062" cy="4348163"/>
            <a:chOff x="3269" y="1392"/>
            <a:chExt cx="2155" cy="2739"/>
          </a:xfrm>
        </p:grpSpPr>
        <p:grpSp>
          <p:nvGrpSpPr>
            <p:cNvPr id="108583" name="Group 19"/>
            <p:cNvGrpSpPr>
              <a:grpSpLocks/>
            </p:cNvGrpSpPr>
            <p:nvPr/>
          </p:nvGrpSpPr>
          <p:grpSpPr bwMode="auto">
            <a:xfrm>
              <a:off x="3269" y="1392"/>
              <a:ext cx="2155" cy="858"/>
              <a:chOff x="3157" y="1248"/>
              <a:chExt cx="2155" cy="858"/>
            </a:xfrm>
          </p:grpSpPr>
          <p:sp>
            <p:nvSpPr>
              <p:cNvPr id="108585" name="Rectangle 20"/>
              <p:cNvSpPr>
                <a:spLocks noChangeArrowheads="1"/>
              </p:cNvSpPr>
              <p:nvPr/>
            </p:nvSpPr>
            <p:spPr bwMode="auto">
              <a:xfrm>
                <a:off x="3615" y="1319"/>
                <a:ext cx="541" cy="35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08586" name="Text Box 21"/>
              <p:cNvSpPr txBox="1">
                <a:spLocks noChangeArrowheads="1"/>
              </p:cNvSpPr>
              <p:nvPr/>
            </p:nvSpPr>
            <p:spPr bwMode="auto">
              <a:xfrm>
                <a:off x="4492" y="1255"/>
                <a:ext cx="36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000">
                    <a:latin typeface="Times New Roman" panose="02020603050405020304" pitchFamily="18" charset="0"/>
                    <a:sym typeface="Symbol" panose="05050102010706020507" pitchFamily="18" charset="2"/>
                  </a:rPr>
                  <a:t></a:t>
                </a:r>
                <a:endParaRPr lang="en-US" altLang="zh-CN" sz="4000">
                  <a:latin typeface="Times New Roman" panose="02020603050405020304" pitchFamily="18" charset="0"/>
                </a:endParaRPr>
              </a:p>
            </p:txBody>
          </p:sp>
          <p:sp>
            <p:nvSpPr>
              <p:cNvPr id="108587" name="Line 22"/>
              <p:cNvSpPr>
                <a:spLocks noChangeShapeType="1"/>
              </p:cNvSpPr>
              <p:nvPr/>
            </p:nvSpPr>
            <p:spPr bwMode="auto">
              <a:xfrm>
                <a:off x="4771" y="1497"/>
                <a:ext cx="54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88" name="Line 23"/>
              <p:cNvSpPr>
                <a:spLocks noChangeShapeType="1"/>
              </p:cNvSpPr>
              <p:nvPr/>
            </p:nvSpPr>
            <p:spPr bwMode="auto">
              <a:xfrm>
                <a:off x="3157" y="1497"/>
                <a:ext cx="45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89" name="Line 24"/>
              <p:cNvSpPr>
                <a:spLocks noChangeShapeType="1"/>
              </p:cNvSpPr>
              <p:nvPr/>
            </p:nvSpPr>
            <p:spPr bwMode="auto">
              <a:xfrm flipV="1">
                <a:off x="4656" y="1569"/>
                <a:ext cx="0" cy="42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90" name="Line 25"/>
              <p:cNvSpPr>
                <a:spLocks noChangeShapeType="1"/>
              </p:cNvSpPr>
              <p:nvPr/>
            </p:nvSpPr>
            <p:spPr bwMode="auto">
              <a:xfrm>
                <a:off x="4156" y="1497"/>
                <a:ext cx="4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91" name="Text Box 26"/>
              <p:cNvSpPr txBox="1">
                <a:spLocks noChangeArrowheads="1"/>
              </p:cNvSpPr>
              <p:nvPr/>
            </p:nvSpPr>
            <p:spPr bwMode="auto">
              <a:xfrm>
                <a:off x="3190" y="124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sp>
            <p:nvSpPr>
              <p:cNvPr id="108592" name="Text Box 27"/>
              <p:cNvSpPr txBox="1">
                <a:spLocks noChangeArrowheads="1"/>
              </p:cNvSpPr>
              <p:nvPr/>
            </p:nvSpPr>
            <p:spPr bwMode="auto">
              <a:xfrm>
                <a:off x="4656" y="181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B</a:t>
                </a:r>
              </a:p>
            </p:txBody>
          </p:sp>
          <p:sp>
            <p:nvSpPr>
              <p:cNvPr id="108593" name="Text Box 28"/>
              <p:cNvSpPr txBox="1">
                <a:spLocks noChangeArrowheads="1"/>
              </p:cNvSpPr>
              <p:nvPr/>
            </p:nvSpPr>
            <p:spPr bwMode="auto">
              <a:xfrm>
                <a:off x="4985" y="124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108594" name="Text Box 29"/>
              <p:cNvSpPr txBox="1">
                <a:spLocks noChangeArrowheads="1"/>
              </p:cNvSpPr>
              <p:nvPr/>
            </p:nvSpPr>
            <p:spPr bwMode="auto">
              <a:xfrm>
                <a:off x="4656" y="156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grpSp>
        <p:sp>
          <p:nvSpPr>
            <p:cNvPr id="108584" name="Text Box 30"/>
            <p:cNvSpPr txBox="1">
              <a:spLocks noChangeArrowheads="1"/>
            </p:cNvSpPr>
            <p:nvPr/>
          </p:nvSpPr>
          <p:spPr bwMode="auto">
            <a:xfrm>
              <a:off x="3820" y="3840"/>
              <a:ext cx="108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比较点前移</a:t>
              </a:r>
            </a:p>
          </p:txBody>
        </p:sp>
      </p:grpSp>
      <p:grpSp>
        <p:nvGrpSpPr>
          <p:cNvPr id="6" name="Group 31"/>
          <p:cNvGrpSpPr>
            <a:grpSpLocks/>
          </p:cNvGrpSpPr>
          <p:nvPr/>
        </p:nvGrpSpPr>
        <p:grpSpPr bwMode="auto">
          <a:xfrm>
            <a:off x="1371600" y="3581400"/>
            <a:ext cx="3216275" cy="2200275"/>
            <a:chOff x="864" y="2256"/>
            <a:chExt cx="2026" cy="1386"/>
          </a:xfrm>
        </p:grpSpPr>
        <p:grpSp>
          <p:nvGrpSpPr>
            <p:cNvPr id="108568" name="Group 32"/>
            <p:cNvGrpSpPr>
              <a:grpSpLocks/>
            </p:cNvGrpSpPr>
            <p:nvPr/>
          </p:nvGrpSpPr>
          <p:grpSpPr bwMode="auto">
            <a:xfrm>
              <a:off x="864" y="2644"/>
              <a:ext cx="2026" cy="998"/>
              <a:chOff x="864" y="2459"/>
              <a:chExt cx="2026" cy="998"/>
            </a:xfrm>
          </p:grpSpPr>
          <p:sp>
            <p:nvSpPr>
              <p:cNvPr id="108570" name="Rectangle 33"/>
              <p:cNvSpPr>
                <a:spLocks noChangeArrowheads="1"/>
              </p:cNvSpPr>
              <p:nvPr/>
            </p:nvSpPr>
            <p:spPr bwMode="auto">
              <a:xfrm>
                <a:off x="1325" y="2531"/>
                <a:ext cx="542" cy="35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08571" name="Text Box 34"/>
              <p:cNvSpPr txBox="1">
                <a:spLocks noChangeArrowheads="1"/>
              </p:cNvSpPr>
              <p:nvPr/>
            </p:nvSpPr>
            <p:spPr bwMode="auto">
              <a:xfrm>
                <a:off x="2195" y="2477"/>
                <a:ext cx="36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000">
                    <a:latin typeface="Times New Roman" panose="02020603050405020304" pitchFamily="18" charset="0"/>
                    <a:sym typeface="Symbol" panose="05050102010706020507" pitchFamily="18" charset="2"/>
                  </a:rPr>
                  <a:t></a:t>
                </a:r>
                <a:endParaRPr lang="en-US" altLang="zh-CN" sz="4000">
                  <a:latin typeface="Times New Roman" panose="02020603050405020304" pitchFamily="18" charset="0"/>
                </a:endParaRPr>
              </a:p>
            </p:txBody>
          </p:sp>
          <p:sp>
            <p:nvSpPr>
              <p:cNvPr id="108572" name="Line 35"/>
              <p:cNvSpPr>
                <a:spLocks noChangeShapeType="1"/>
              </p:cNvSpPr>
              <p:nvPr/>
            </p:nvSpPr>
            <p:spPr bwMode="auto">
              <a:xfrm>
                <a:off x="867" y="2709"/>
                <a:ext cx="45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73" name="Line 36"/>
              <p:cNvSpPr>
                <a:spLocks noChangeShapeType="1"/>
              </p:cNvSpPr>
              <p:nvPr/>
            </p:nvSpPr>
            <p:spPr bwMode="auto">
              <a:xfrm flipH="1" flipV="1">
                <a:off x="2360" y="2808"/>
                <a:ext cx="0" cy="4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74" name="Line 37"/>
              <p:cNvSpPr>
                <a:spLocks noChangeShapeType="1"/>
              </p:cNvSpPr>
              <p:nvPr/>
            </p:nvSpPr>
            <p:spPr bwMode="auto">
              <a:xfrm>
                <a:off x="2473" y="2709"/>
                <a:ext cx="41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75" name="Text Box 38"/>
              <p:cNvSpPr txBox="1">
                <a:spLocks noChangeArrowheads="1"/>
              </p:cNvSpPr>
              <p:nvPr/>
            </p:nvSpPr>
            <p:spPr bwMode="auto">
              <a:xfrm>
                <a:off x="900" y="245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sp>
            <p:nvSpPr>
              <p:cNvPr id="108576" name="Text Box 39"/>
              <p:cNvSpPr txBox="1">
                <a:spLocks noChangeArrowheads="1"/>
              </p:cNvSpPr>
              <p:nvPr/>
            </p:nvSpPr>
            <p:spPr bwMode="auto">
              <a:xfrm>
                <a:off x="864" y="302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B</a:t>
                </a:r>
              </a:p>
            </p:txBody>
          </p:sp>
          <p:sp>
            <p:nvSpPr>
              <p:cNvPr id="108577" name="Text Box 40"/>
              <p:cNvSpPr txBox="1">
                <a:spLocks noChangeArrowheads="1"/>
              </p:cNvSpPr>
              <p:nvPr/>
            </p:nvSpPr>
            <p:spPr bwMode="auto">
              <a:xfrm>
                <a:off x="2529" y="245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108578" name="Line 41"/>
              <p:cNvSpPr>
                <a:spLocks noChangeShapeType="1"/>
              </p:cNvSpPr>
              <p:nvPr/>
            </p:nvSpPr>
            <p:spPr bwMode="auto">
              <a:xfrm>
                <a:off x="1864" y="2709"/>
                <a:ext cx="4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79" name="Rectangle 42"/>
              <p:cNvSpPr>
                <a:spLocks noChangeArrowheads="1"/>
              </p:cNvSpPr>
              <p:nvPr/>
            </p:nvSpPr>
            <p:spPr bwMode="auto">
              <a:xfrm>
                <a:off x="1325" y="3101"/>
                <a:ext cx="542" cy="35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08580" name="Line 43"/>
              <p:cNvSpPr>
                <a:spLocks noChangeShapeType="1"/>
              </p:cNvSpPr>
              <p:nvPr/>
            </p:nvSpPr>
            <p:spPr bwMode="auto">
              <a:xfrm>
                <a:off x="867" y="3279"/>
                <a:ext cx="45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81" name="Line 44"/>
              <p:cNvSpPr>
                <a:spLocks noChangeShapeType="1"/>
              </p:cNvSpPr>
              <p:nvPr/>
            </p:nvSpPr>
            <p:spPr bwMode="auto">
              <a:xfrm>
                <a:off x="1867" y="3279"/>
                <a:ext cx="49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2" name="Text Box 45"/>
              <p:cNvSpPr txBox="1">
                <a:spLocks noChangeArrowheads="1"/>
              </p:cNvSpPr>
              <p:nvPr/>
            </p:nvSpPr>
            <p:spPr bwMode="auto">
              <a:xfrm>
                <a:off x="2366" y="281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grpSp>
        <p:sp>
          <p:nvSpPr>
            <p:cNvPr id="108569" name="AutoShape 46"/>
            <p:cNvSpPr>
              <a:spLocks noChangeArrowheads="1"/>
            </p:cNvSpPr>
            <p:nvPr/>
          </p:nvSpPr>
          <p:spPr bwMode="auto">
            <a:xfrm>
              <a:off x="1632" y="2256"/>
              <a:ext cx="240" cy="336"/>
            </a:xfrm>
            <a:prstGeom prst="downArrow">
              <a:avLst>
                <a:gd name="adj1" fmla="val 50000"/>
                <a:gd name="adj2" fmla="val 35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8" name="Group 47"/>
          <p:cNvGrpSpPr>
            <a:grpSpLocks/>
          </p:cNvGrpSpPr>
          <p:nvPr/>
        </p:nvGrpSpPr>
        <p:grpSpPr bwMode="auto">
          <a:xfrm>
            <a:off x="5105400" y="3505200"/>
            <a:ext cx="3289300" cy="2497138"/>
            <a:chOff x="3216" y="2208"/>
            <a:chExt cx="2072" cy="1573"/>
          </a:xfrm>
        </p:grpSpPr>
        <p:grpSp>
          <p:nvGrpSpPr>
            <p:cNvPr id="108552" name="Group 48"/>
            <p:cNvGrpSpPr>
              <a:grpSpLocks/>
            </p:cNvGrpSpPr>
            <p:nvPr/>
          </p:nvGrpSpPr>
          <p:grpSpPr bwMode="auto">
            <a:xfrm>
              <a:off x="3216" y="2592"/>
              <a:ext cx="2072" cy="1189"/>
              <a:chOff x="3125" y="2459"/>
              <a:chExt cx="2072" cy="1189"/>
            </a:xfrm>
          </p:grpSpPr>
          <p:sp>
            <p:nvSpPr>
              <p:cNvPr id="108554" name="Rectangle 49"/>
              <p:cNvSpPr>
                <a:spLocks noChangeArrowheads="1"/>
              </p:cNvSpPr>
              <p:nvPr/>
            </p:nvSpPr>
            <p:spPr bwMode="auto">
              <a:xfrm>
                <a:off x="4198" y="2531"/>
                <a:ext cx="541" cy="35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08555" name="Text Box 50"/>
              <p:cNvSpPr txBox="1">
                <a:spLocks noChangeArrowheads="1"/>
              </p:cNvSpPr>
              <p:nvPr/>
            </p:nvSpPr>
            <p:spPr bwMode="auto">
              <a:xfrm>
                <a:off x="3500" y="2469"/>
                <a:ext cx="36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4000">
                    <a:latin typeface="Times New Roman" panose="02020603050405020304" pitchFamily="18" charset="0"/>
                    <a:sym typeface="Symbol" panose="05050102010706020507" pitchFamily="18" charset="2"/>
                  </a:rPr>
                  <a:t></a:t>
                </a:r>
                <a:endParaRPr lang="en-US" altLang="zh-CN" sz="4000">
                  <a:latin typeface="Times New Roman" panose="02020603050405020304" pitchFamily="18" charset="0"/>
                </a:endParaRPr>
              </a:p>
            </p:txBody>
          </p:sp>
          <p:sp>
            <p:nvSpPr>
              <p:cNvPr id="108556" name="Line 51"/>
              <p:cNvSpPr>
                <a:spLocks noChangeShapeType="1"/>
              </p:cNvSpPr>
              <p:nvPr/>
            </p:nvSpPr>
            <p:spPr bwMode="auto">
              <a:xfrm>
                <a:off x="3125" y="2709"/>
                <a:ext cx="45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57" name="Line 52"/>
              <p:cNvSpPr>
                <a:spLocks noChangeShapeType="1"/>
              </p:cNvSpPr>
              <p:nvPr/>
            </p:nvSpPr>
            <p:spPr bwMode="auto">
              <a:xfrm flipV="1">
                <a:off x="3680" y="2792"/>
                <a:ext cx="0" cy="57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58" name="Line 53"/>
              <p:cNvSpPr>
                <a:spLocks noChangeShapeType="1"/>
              </p:cNvSpPr>
              <p:nvPr/>
            </p:nvSpPr>
            <p:spPr bwMode="auto">
              <a:xfrm>
                <a:off x="3786" y="2709"/>
                <a:ext cx="41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59" name="Text Box 54"/>
              <p:cNvSpPr txBox="1">
                <a:spLocks noChangeArrowheads="1"/>
              </p:cNvSpPr>
              <p:nvPr/>
            </p:nvSpPr>
            <p:spPr bwMode="auto">
              <a:xfrm>
                <a:off x="3190" y="245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sp>
            <p:nvSpPr>
              <p:cNvPr id="108560" name="Text Box 55"/>
              <p:cNvSpPr txBox="1">
                <a:spLocks noChangeArrowheads="1"/>
              </p:cNvSpPr>
              <p:nvPr/>
            </p:nvSpPr>
            <p:spPr bwMode="auto">
              <a:xfrm>
                <a:off x="4889" y="312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B</a:t>
                </a:r>
              </a:p>
            </p:txBody>
          </p:sp>
          <p:sp>
            <p:nvSpPr>
              <p:cNvPr id="108561" name="Text Box 56"/>
              <p:cNvSpPr txBox="1">
                <a:spLocks noChangeArrowheads="1"/>
              </p:cNvSpPr>
              <p:nvPr/>
            </p:nvSpPr>
            <p:spPr bwMode="auto">
              <a:xfrm>
                <a:off x="4860" y="245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108562" name="Line 57"/>
              <p:cNvSpPr>
                <a:spLocks noChangeShapeType="1"/>
              </p:cNvSpPr>
              <p:nvPr/>
            </p:nvSpPr>
            <p:spPr bwMode="auto">
              <a:xfrm>
                <a:off x="4739" y="2709"/>
                <a:ext cx="45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63" name="Rectangle 58"/>
              <p:cNvSpPr>
                <a:spLocks noChangeArrowheads="1"/>
              </p:cNvSpPr>
              <p:nvPr/>
            </p:nvSpPr>
            <p:spPr bwMode="auto">
              <a:xfrm>
                <a:off x="4198" y="3101"/>
                <a:ext cx="541" cy="54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8564" name="Line 59"/>
              <p:cNvSpPr>
                <a:spLocks noChangeShapeType="1"/>
              </p:cNvSpPr>
              <p:nvPr/>
            </p:nvSpPr>
            <p:spPr bwMode="auto">
              <a:xfrm flipH="1">
                <a:off x="4726" y="3370"/>
                <a:ext cx="45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65" name="Text Box 60"/>
              <p:cNvSpPr txBox="1">
                <a:spLocks noChangeArrowheads="1"/>
              </p:cNvSpPr>
              <p:nvPr/>
            </p:nvSpPr>
            <p:spPr bwMode="auto">
              <a:xfrm>
                <a:off x="3679" y="2816"/>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108566" name="Line 61"/>
              <p:cNvSpPr>
                <a:spLocks noChangeShapeType="1"/>
              </p:cNvSpPr>
              <p:nvPr/>
            </p:nvSpPr>
            <p:spPr bwMode="auto">
              <a:xfrm flipH="1">
                <a:off x="3694" y="3360"/>
                <a:ext cx="49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8567" name="Object 62"/>
              <p:cNvGraphicFramePr>
                <a:graphicFrameLocks noChangeAspect="1"/>
              </p:cNvGraphicFramePr>
              <p:nvPr/>
            </p:nvGraphicFramePr>
            <p:xfrm>
              <a:off x="4246" y="3101"/>
              <a:ext cx="490" cy="499"/>
            </p:xfrm>
            <a:graphic>
              <a:graphicData uri="http://schemas.openxmlformats.org/presentationml/2006/ole">
                <mc:AlternateContent xmlns:mc="http://schemas.openxmlformats.org/markup-compatibility/2006">
                  <mc:Choice xmlns:v="urn:schemas-microsoft-com:vml" Requires="v">
                    <p:oleObj spid="_x0000_s108614" r:id="rId4" imgW="406224" imgH="482391" progId="Equation.3">
                      <p:embed/>
                    </p:oleObj>
                  </mc:Choice>
                  <mc:Fallback>
                    <p:oleObj r:id="rId4" imgW="406224" imgH="482391" progId="Equation.3">
                      <p:embed/>
                      <p:pic>
                        <p:nvPicPr>
                          <p:cNvPr id="0" name="Object 6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6" y="3101"/>
                            <a:ext cx="490"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08553" name="AutoShape 63"/>
            <p:cNvSpPr>
              <a:spLocks noChangeArrowheads="1"/>
            </p:cNvSpPr>
            <p:nvPr/>
          </p:nvSpPr>
          <p:spPr bwMode="auto">
            <a:xfrm>
              <a:off x="4368" y="2208"/>
              <a:ext cx="240" cy="336"/>
            </a:xfrm>
            <a:prstGeom prst="downArrow">
              <a:avLst>
                <a:gd name="adj1" fmla="val 50000"/>
                <a:gd name="adj2" fmla="val 35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6436"/>
                                        </p:tgtEl>
                                        <p:attrNameLst>
                                          <p:attrName>style.visibility</p:attrName>
                                        </p:attrNameLst>
                                      </p:cBhvr>
                                      <p:to>
                                        <p:strVal val="visible"/>
                                      </p:to>
                                    </p:set>
                                    <p:anim calcmode="lin" valueType="num">
                                      <p:cBhvr additive="base">
                                        <p:cTn id="7" dur="500" fill="hold"/>
                                        <p:tgtEl>
                                          <p:spTgt spid="146436"/>
                                        </p:tgtEl>
                                        <p:attrNameLst>
                                          <p:attrName>ppt_x</p:attrName>
                                        </p:attrNameLst>
                                      </p:cBhvr>
                                      <p:tavLst>
                                        <p:tav tm="0">
                                          <p:val>
                                            <p:strVal val="#ppt_x"/>
                                          </p:val>
                                        </p:tav>
                                        <p:tav tm="100000">
                                          <p:val>
                                            <p:strVal val="#ppt_x"/>
                                          </p:val>
                                        </p:tav>
                                      </p:tavLst>
                                    </p:anim>
                                    <p:anim calcmode="lin" valueType="num">
                                      <p:cBhvr additive="base">
                                        <p:cTn id="8" dur="500" fill="hold"/>
                                        <p:tgtEl>
                                          <p:spTgt spid="14643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ChangeArrowheads="1"/>
          </p:cNvSpPr>
          <p:nvPr/>
        </p:nvSpPr>
        <p:spPr bwMode="auto">
          <a:xfrm>
            <a:off x="1187450" y="1052513"/>
            <a:ext cx="350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引出点的移动 </a:t>
            </a:r>
          </a:p>
        </p:txBody>
      </p:sp>
      <p:grpSp>
        <p:nvGrpSpPr>
          <p:cNvPr id="2" name="Group 4"/>
          <p:cNvGrpSpPr>
            <a:grpSpLocks/>
          </p:cNvGrpSpPr>
          <p:nvPr/>
        </p:nvGrpSpPr>
        <p:grpSpPr bwMode="auto">
          <a:xfrm>
            <a:off x="1371600" y="2057400"/>
            <a:ext cx="2814638" cy="4381500"/>
            <a:chOff x="864" y="1296"/>
            <a:chExt cx="1773" cy="2760"/>
          </a:xfrm>
        </p:grpSpPr>
        <p:sp>
          <p:nvSpPr>
            <p:cNvPr id="110634" name="Text Box 5"/>
            <p:cNvSpPr txBox="1">
              <a:spLocks noChangeArrowheads="1"/>
            </p:cNvSpPr>
            <p:nvPr/>
          </p:nvSpPr>
          <p:spPr bwMode="auto">
            <a:xfrm>
              <a:off x="1320" y="3768"/>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引出点前移</a:t>
              </a:r>
            </a:p>
          </p:txBody>
        </p:sp>
        <p:grpSp>
          <p:nvGrpSpPr>
            <p:cNvPr id="110635" name="Group 6"/>
            <p:cNvGrpSpPr>
              <a:grpSpLocks/>
            </p:cNvGrpSpPr>
            <p:nvPr/>
          </p:nvGrpSpPr>
          <p:grpSpPr bwMode="auto">
            <a:xfrm>
              <a:off x="864" y="1296"/>
              <a:ext cx="1773" cy="672"/>
              <a:chOff x="864" y="1200"/>
              <a:chExt cx="1773" cy="672"/>
            </a:xfrm>
          </p:grpSpPr>
          <p:sp>
            <p:nvSpPr>
              <p:cNvPr id="110636" name="Rectangle 7"/>
              <p:cNvSpPr>
                <a:spLocks noChangeArrowheads="1"/>
              </p:cNvSpPr>
              <p:nvPr/>
            </p:nvSpPr>
            <p:spPr bwMode="auto">
              <a:xfrm>
                <a:off x="1297" y="1317"/>
                <a:ext cx="513" cy="34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10637" name="Line 8"/>
              <p:cNvSpPr>
                <a:spLocks noChangeShapeType="1"/>
              </p:cNvSpPr>
              <p:nvPr/>
            </p:nvSpPr>
            <p:spPr bwMode="auto">
              <a:xfrm>
                <a:off x="864" y="1489"/>
                <a:ext cx="43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38" name="Line 9"/>
              <p:cNvSpPr>
                <a:spLocks noChangeShapeType="1"/>
              </p:cNvSpPr>
              <p:nvPr/>
            </p:nvSpPr>
            <p:spPr bwMode="auto">
              <a:xfrm>
                <a:off x="1810" y="1489"/>
                <a:ext cx="8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39" name="Text Box 10"/>
              <p:cNvSpPr txBox="1">
                <a:spLocks noChangeArrowheads="1"/>
              </p:cNvSpPr>
              <p:nvPr/>
            </p:nvSpPr>
            <p:spPr bwMode="auto">
              <a:xfrm>
                <a:off x="895" y="120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sp>
            <p:nvSpPr>
              <p:cNvPr id="110640" name="Text Box 11"/>
              <p:cNvSpPr txBox="1">
                <a:spLocks noChangeArrowheads="1"/>
              </p:cNvSpPr>
              <p:nvPr/>
            </p:nvSpPr>
            <p:spPr bwMode="auto">
              <a:xfrm>
                <a:off x="2318" y="120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110641" name="Line 12"/>
              <p:cNvSpPr>
                <a:spLocks noChangeShapeType="1"/>
              </p:cNvSpPr>
              <p:nvPr/>
            </p:nvSpPr>
            <p:spPr bwMode="auto">
              <a:xfrm>
                <a:off x="2046" y="1489"/>
                <a:ext cx="0" cy="37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42" name="Line 13"/>
              <p:cNvSpPr>
                <a:spLocks noChangeShapeType="1"/>
              </p:cNvSpPr>
              <p:nvPr/>
            </p:nvSpPr>
            <p:spPr bwMode="auto">
              <a:xfrm>
                <a:off x="2046" y="1868"/>
                <a:ext cx="59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43" name="Text Box 14"/>
              <p:cNvSpPr txBox="1">
                <a:spLocks noChangeArrowheads="1"/>
              </p:cNvSpPr>
              <p:nvPr/>
            </p:nvSpPr>
            <p:spPr bwMode="auto">
              <a:xfrm>
                <a:off x="2322" y="1584"/>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grpSp>
      </p:grpSp>
      <p:grpSp>
        <p:nvGrpSpPr>
          <p:cNvPr id="4" name="Group 15"/>
          <p:cNvGrpSpPr>
            <a:grpSpLocks/>
          </p:cNvGrpSpPr>
          <p:nvPr/>
        </p:nvGrpSpPr>
        <p:grpSpPr bwMode="auto">
          <a:xfrm>
            <a:off x="4811713" y="2057400"/>
            <a:ext cx="3494087" cy="4381500"/>
            <a:chOff x="3031" y="1296"/>
            <a:chExt cx="2201" cy="2760"/>
          </a:xfrm>
        </p:grpSpPr>
        <p:sp>
          <p:nvSpPr>
            <p:cNvPr id="110624" name="Text Box 16"/>
            <p:cNvSpPr txBox="1">
              <a:spLocks noChangeArrowheads="1"/>
            </p:cNvSpPr>
            <p:nvPr/>
          </p:nvSpPr>
          <p:spPr bwMode="auto">
            <a:xfrm>
              <a:off x="3676" y="3768"/>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引出点后移</a:t>
              </a:r>
            </a:p>
          </p:txBody>
        </p:sp>
        <p:grpSp>
          <p:nvGrpSpPr>
            <p:cNvPr id="110625" name="Group 17"/>
            <p:cNvGrpSpPr>
              <a:grpSpLocks/>
            </p:cNvGrpSpPr>
            <p:nvPr/>
          </p:nvGrpSpPr>
          <p:grpSpPr bwMode="auto">
            <a:xfrm>
              <a:off x="3031" y="1296"/>
              <a:ext cx="2201" cy="672"/>
              <a:chOff x="3031" y="1200"/>
              <a:chExt cx="2009" cy="672"/>
            </a:xfrm>
          </p:grpSpPr>
          <p:sp>
            <p:nvSpPr>
              <p:cNvPr id="110626" name="Rectangle 18"/>
              <p:cNvSpPr>
                <a:spLocks noChangeArrowheads="1"/>
              </p:cNvSpPr>
              <p:nvPr/>
            </p:nvSpPr>
            <p:spPr bwMode="auto">
              <a:xfrm>
                <a:off x="4016" y="1317"/>
                <a:ext cx="512" cy="34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10627" name="Line 19"/>
              <p:cNvSpPr>
                <a:spLocks noChangeShapeType="1"/>
              </p:cNvSpPr>
              <p:nvPr/>
            </p:nvSpPr>
            <p:spPr bwMode="auto">
              <a:xfrm>
                <a:off x="4528" y="1489"/>
                <a:ext cx="5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28" name="Line 20"/>
              <p:cNvSpPr>
                <a:spLocks noChangeShapeType="1"/>
              </p:cNvSpPr>
              <p:nvPr/>
            </p:nvSpPr>
            <p:spPr bwMode="auto">
              <a:xfrm>
                <a:off x="3031" y="1489"/>
                <a:ext cx="98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29" name="Text Box 21"/>
              <p:cNvSpPr txBox="1">
                <a:spLocks noChangeArrowheads="1"/>
              </p:cNvSpPr>
              <p:nvPr/>
            </p:nvSpPr>
            <p:spPr bwMode="auto">
              <a:xfrm>
                <a:off x="3062" y="120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sp>
            <p:nvSpPr>
              <p:cNvPr id="110630" name="Text Box 22"/>
              <p:cNvSpPr txBox="1">
                <a:spLocks noChangeArrowheads="1"/>
              </p:cNvSpPr>
              <p:nvPr/>
            </p:nvSpPr>
            <p:spPr bwMode="auto">
              <a:xfrm>
                <a:off x="4761" y="1200"/>
                <a:ext cx="2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110631" name="Line 23"/>
              <p:cNvSpPr>
                <a:spLocks noChangeShapeType="1"/>
              </p:cNvSpPr>
              <p:nvPr/>
            </p:nvSpPr>
            <p:spPr bwMode="auto">
              <a:xfrm>
                <a:off x="3504" y="1489"/>
                <a:ext cx="0" cy="37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32" name="Line 24"/>
              <p:cNvSpPr>
                <a:spLocks noChangeShapeType="1"/>
              </p:cNvSpPr>
              <p:nvPr/>
            </p:nvSpPr>
            <p:spPr bwMode="auto">
              <a:xfrm>
                <a:off x="3504" y="1868"/>
                <a:ext cx="153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33" name="Text Box 25"/>
              <p:cNvSpPr txBox="1">
                <a:spLocks noChangeArrowheads="1"/>
              </p:cNvSpPr>
              <p:nvPr/>
            </p:nvSpPr>
            <p:spPr bwMode="auto">
              <a:xfrm>
                <a:off x="4761" y="1584"/>
                <a:ext cx="2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grpSp>
      </p:grpSp>
      <p:grpSp>
        <p:nvGrpSpPr>
          <p:cNvPr id="6" name="Group 26"/>
          <p:cNvGrpSpPr>
            <a:grpSpLocks/>
          </p:cNvGrpSpPr>
          <p:nvPr/>
        </p:nvGrpSpPr>
        <p:grpSpPr bwMode="auto">
          <a:xfrm>
            <a:off x="1371600" y="3429000"/>
            <a:ext cx="3001963" cy="2171700"/>
            <a:chOff x="864" y="2160"/>
            <a:chExt cx="1891" cy="1368"/>
          </a:xfrm>
        </p:grpSpPr>
        <p:grpSp>
          <p:nvGrpSpPr>
            <p:cNvPr id="110612" name="Group 27"/>
            <p:cNvGrpSpPr>
              <a:grpSpLocks/>
            </p:cNvGrpSpPr>
            <p:nvPr/>
          </p:nvGrpSpPr>
          <p:grpSpPr bwMode="auto">
            <a:xfrm>
              <a:off x="864" y="2496"/>
              <a:ext cx="1891" cy="1032"/>
              <a:chOff x="864" y="2352"/>
              <a:chExt cx="1891" cy="1032"/>
            </a:xfrm>
          </p:grpSpPr>
          <p:sp>
            <p:nvSpPr>
              <p:cNvPr id="110614" name="Rectangle 28"/>
              <p:cNvSpPr>
                <a:spLocks noChangeArrowheads="1"/>
              </p:cNvSpPr>
              <p:nvPr/>
            </p:nvSpPr>
            <p:spPr bwMode="auto">
              <a:xfrm>
                <a:off x="1534" y="2489"/>
                <a:ext cx="512" cy="3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10615" name="Line 29"/>
              <p:cNvSpPr>
                <a:spLocks noChangeShapeType="1"/>
              </p:cNvSpPr>
              <p:nvPr/>
            </p:nvSpPr>
            <p:spPr bwMode="auto">
              <a:xfrm>
                <a:off x="864" y="2661"/>
                <a:ext cx="67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16" name="Line 30"/>
              <p:cNvSpPr>
                <a:spLocks noChangeShapeType="1"/>
              </p:cNvSpPr>
              <p:nvPr/>
            </p:nvSpPr>
            <p:spPr bwMode="auto">
              <a:xfrm>
                <a:off x="2046" y="2661"/>
                <a:ext cx="70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17" name="Text Box 31"/>
              <p:cNvSpPr txBox="1">
                <a:spLocks noChangeArrowheads="1"/>
              </p:cNvSpPr>
              <p:nvPr/>
            </p:nvSpPr>
            <p:spPr bwMode="auto">
              <a:xfrm>
                <a:off x="895" y="240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sp>
            <p:nvSpPr>
              <p:cNvPr id="110618" name="Text Box 32"/>
              <p:cNvSpPr txBox="1">
                <a:spLocks noChangeArrowheads="1"/>
              </p:cNvSpPr>
              <p:nvPr/>
            </p:nvSpPr>
            <p:spPr bwMode="auto">
              <a:xfrm>
                <a:off x="2436" y="235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110619" name="Rectangle 33"/>
              <p:cNvSpPr>
                <a:spLocks noChangeArrowheads="1"/>
              </p:cNvSpPr>
              <p:nvPr/>
            </p:nvSpPr>
            <p:spPr bwMode="auto">
              <a:xfrm>
                <a:off x="1534" y="3040"/>
                <a:ext cx="512" cy="3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10620" name="Line 34"/>
              <p:cNvSpPr>
                <a:spLocks noChangeShapeType="1"/>
              </p:cNvSpPr>
              <p:nvPr/>
            </p:nvSpPr>
            <p:spPr bwMode="auto">
              <a:xfrm>
                <a:off x="1140" y="2661"/>
                <a:ext cx="0" cy="55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21" name="Line 35"/>
              <p:cNvSpPr>
                <a:spLocks noChangeShapeType="1"/>
              </p:cNvSpPr>
              <p:nvPr/>
            </p:nvSpPr>
            <p:spPr bwMode="auto">
              <a:xfrm>
                <a:off x="1140" y="3212"/>
                <a:ext cx="39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22" name="Line 36"/>
              <p:cNvSpPr>
                <a:spLocks noChangeShapeType="1"/>
              </p:cNvSpPr>
              <p:nvPr/>
            </p:nvSpPr>
            <p:spPr bwMode="auto">
              <a:xfrm>
                <a:off x="2046" y="3212"/>
                <a:ext cx="70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23" name="Text Box 37"/>
              <p:cNvSpPr txBox="1">
                <a:spLocks noChangeArrowheads="1"/>
              </p:cNvSpPr>
              <p:nvPr/>
            </p:nvSpPr>
            <p:spPr bwMode="auto">
              <a:xfrm>
                <a:off x="2436" y="292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grpSp>
        <p:sp>
          <p:nvSpPr>
            <p:cNvPr id="110613" name="AutoShape 38"/>
            <p:cNvSpPr>
              <a:spLocks noChangeArrowheads="1"/>
            </p:cNvSpPr>
            <p:nvPr/>
          </p:nvSpPr>
          <p:spPr bwMode="auto">
            <a:xfrm>
              <a:off x="1680" y="2160"/>
              <a:ext cx="240" cy="336"/>
            </a:xfrm>
            <a:prstGeom prst="downArrow">
              <a:avLst>
                <a:gd name="adj1" fmla="val 50000"/>
                <a:gd name="adj2" fmla="val 35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8" name="Group 39"/>
          <p:cNvGrpSpPr>
            <a:grpSpLocks/>
          </p:cNvGrpSpPr>
          <p:nvPr/>
        </p:nvGrpSpPr>
        <p:grpSpPr bwMode="auto">
          <a:xfrm>
            <a:off x="4876800" y="3429000"/>
            <a:ext cx="3417888" cy="2476500"/>
            <a:chOff x="3072" y="2160"/>
            <a:chExt cx="2153" cy="1560"/>
          </a:xfrm>
        </p:grpSpPr>
        <p:grpSp>
          <p:nvGrpSpPr>
            <p:cNvPr id="110599" name="Group 40"/>
            <p:cNvGrpSpPr>
              <a:grpSpLocks/>
            </p:cNvGrpSpPr>
            <p:nvPr/>
          </p:nvGrpSpPr>
          <p:grpSpPr bwMode="auto">
            <a:xfrm>
              <a:off x="3072" y="2520"/>
              <a:ext cx="2153" cy="1200"/>
              <a:chOff x="3031" y="2400"/>
              <a:chExt cx="2153" cy="1200"/>
            </a:xfrm>
          </p:grpSpPr>
          <p:sp>
            <p:nvSpPr>
              <p:cNvPr id="110601" name="Rectangle 41"/>
              <p:cNvSpPr>
                <a:spLocks noChangeArrowheads="1"/>
              </p:cNvSpPr>
              <p:nvPr/>
            </p:nvSpPr>
            <p:spPr bwMode="auto">
              <a:xfrm>
                <a:off x="3385" y="2489"/>
                <a:ext cx="513" cy="3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110602" name="Line 42"/>
              <p:cNvSpPr>
                <a:spLocks noChangeShapeType="1"/>
              </p:cNvSpPr>
              <p:nvPr/>
            </p:nvSpPr>
            <p:spPr bwMode="auto">
              <a:xfrm>
                <a:off x="3031" y="2661"/>
                <a:ext cx="35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03" name="Text Box 43"/>
              <p:cNvSpPr txBox="1">
                <a:spLocks noChangeArrowheads="1"/>
              </p:cNvSpPr>
              <p:nvPr/>
            </p:nvSpPr>
            <p:spPr bwMode="auto">
              <a:xfrm>
                <a:off x="3062" y="240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sp>
            <p:nvSpPr>
              <p:cNvPr id="110604" name="Text Box 44"/>
              <p:cNvSpPr txBox="1">
                <a:spLocks noChangeArrowheads="1"/>
              </p:cNvSpPr>
              <p:nvPr/>
            </p:nvSpPr>
            <p:spPr bwMode="auto">
              <a:xfrm>
                <a:off x="4722" y="240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C</a:t>
                </a:r>
              </a:p>
            </p:txBody>
          </p:sp>
          <p:sp>
            <p:nvSpPr>
              <p:cNvPr id="110605" name="Line 45"/>
              <p:cNvSpPr>
                <a:spLocks noChangeShapeType="1"/>
              </p:cNvSpPr>
              <p:nvPr/>
            </p:nvSpPr>
            <p:spPr bwMode="auto">
              <a:xfrm>
                <a:off x="3888" y="2688"/>
                <a:ext cx="129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06" name="Rectangle 46"/>
              <p:cNvSpPr>
                <a:spLocks noChangeArrowheads="1"/>
              </p:cNvSpPr>
              <p:nvPr/>
            </p:nvSpPr>
            <p:spPr bwMode="auto">
              <a:xfrm>
                <a:off x="4213" y="2976"/>
                <a:ext cx="512" cy="62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110607" name="Object 47"/>
              <p:cNvGraphicFramePr>
                <a:graphicFrameLocks noChangeAspect="1"/>
              </p:cNvGraphicFramePr>
              <p:nvPr/>
            </p:nvGraphicFramePr>
            <p:xfrm>
              <a:off x="4272" y="3040"/>
              <a:ext cx="448" cy="512"/>
            </p:xfrm>
            <a:graphic>
              <a:graphicData uri="http://schemas.openxmlformats.org/presentationml/2006/ole">
                <mc:AlternateContent xmlns:mc="http://schemas.openxmlformats.org/markup-compatibility/2006">
                  <mc:Choice xmlns:v="urn:schemas-microsoft-com:vml" Requires="v">
                    <p:oleObj spid="_x0000_s110651" r:id="rId4" imgW="406224" imgH="482391" progId="Equation.3">
                      <p:embed/>
                    </p:oleObj>
                  </mc:Choice>
                  <mc:Fallback>
                    <p:oleObj r:id="rId4" imgW="406224" imgH="482391" progId="Equation.3">
                      <p:embed/>
                      <p:pic>
                        <p:nvPicPr>
                          <p:cNvPr id="0" name="Object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2" y="3040"/>
                            <a:ext cx="44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0608" name="Line 48"/>
              <p:cNvSpPr>
                <a:spLocks noChangeShapeType="1"/>
              </p:cNvSpPr>
              <p:nvPr/>
            </p:nvSpPr>
            <p:spPr bwMode="auto">
              <a:xfrm>
                <a:off x="4016" y="2688"/>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09" name="Line 49"/>
              <p:cNvSpPr>
                <a:spLocks noChangeShapeType="1"/>
              </p:cNvSpPr>
              <p:nvPr/>
            </p:nvSpPr>
            <p:spPr bwMode="auto">
              <a:xfrm>
                <a:off x="4016" y="3264"/>
                <a:ext cx="19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10" name="Line 50"/>
              <p:cNvSpPr>
                <a:spLocks noChangeShapeType="1"/>
              </p:cNvSpPr>
              <p:nvPr/>
            </p:nvSpPr>
            <p:spPr bwMode="auto">
              <a:xfrm flipV="1">
                <a:off x="4736" y="3280"/>
                <a:ext cx="43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611" name="Text Box 51"/>
              <p:cNvSpPr txBox="1">
                <a:spLocks noChangeArrowheads="1"/>
              </p:cNvSpPr>
              <p:nvPr/>
            </p:nvSpPr>
            <p:spPr bwMode="auto">
              <a:xfrm>
                <a:off x="4765" y="300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A</a:t>
                </a:r>
              </a:p>
            </p:txBody>
          </p:sp>
        </p:grpSp>
        <p:sp>
          <p:nvSpPr>
            <p:cNvPr id="110600" name="AutoShape 52"/>
            <p:cNvSpPr>
              <a:spLocks noChangeArrowheads="1"/>
            </p:cNvSpPr>
            <p:nvPr/>
          </p:nvSpPr>
          <p:spPr bwMode="auto">
            <a:xfrm>
              <a:off x="4032" y="2160"/>
              <a:ext cx="240" cy="336"/>
            </a:xfrm>
            <a:prstGeom prst="downArrow">
              <a:avLst>
                <a:gd name="adj1" fmla="val 50000"/>
                <a:gd name="adj2" fmla="val 35000"/>
              </a:avLst>
            </a:prstGeom>
            <a:solidFill>
              <a:srgbClr val="3333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42" name="Group 3"/>
          <p:cNvGrpSpPr>
            <a:grpSpLocks/>
          </p:cNvGrpSpPr>
          <p:nvPr/>
        </p:nvGrpSpPr>
        <p:grpSpPr bwMode="auto">
          <a:xfrm>
            <a:off x="304800" y="1981200"/>
            <a:ext cx="8570913" cy="4346575"/>
            <a:chOff x="192" y="1248"/>
            <a:chExt cx="5399" cy="2738"/>
          </a:xfrm>
        </p:grpSpPr>
        <p:sp>
          <p:nvSpPr>
            <p:cNvPr id="112643" name="Rectangle 4"/>
            <p:cNvSpPr>
              <a:spLocks noChangeArrowheads="1"/>
            </p:cNvSpPr>
            <p:nvPr/>
          </p:nvSpPr>
          <p:spPr bwMode="auto">
            <a:xfrm>
              <a:off x="1092" y="1882"/>
              <a:ext cx="442"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112644" name="Object 5"/>
            <p:cNvGraphicFramePr>
              <a:graphicFrameLocks noChangeAspect="1"/>
            </p:cNvGraphicFramePr>
            <p:nvPr/>
          </p:nvGraphicFramePr>
          <p:xfrm>
            <a:off x="1122" y="1933"/>
            <a:ext cx="411" cy="495"/>
          </p:xfrm>
          <a:graphic>
            <a:graphicData uri="http://schemas.openxmlformats.org/presentationml/2006/ole">
              <mc:AlternateContent xmlns:mc="http://schemas.openxmlformats.org/markup-compatibility/2006">
                <mc:Choice xmlns:v="urn:schemas-microsoft-com:vml" Requires="v">
                  <p:oleObj spid="_x0000_s112712" r:id="rId4" imgW="419100" imgH="508000" progId="Equation.3">
                    <p:embed/>
                  </p:oleObj>
                </mc:Choice>
                <mc:Fallback>
                  <p:oleObj r:id="rId4" imgW="419100" imgH="508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 y="1933"/>
                          <a:ext cx="411"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645" name="Text Box 6"/>
            <p:cNvSpPr txBox="1">
              <a:spLocks noChangeArrowheads="1"/>
            </p:cNvSpPr>
            <p:nvPr/>
          </p:nvSpPr>
          <p:spPr bwMode="auto">
            <a:xfrm>
              <a:off x="51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12646" name="Line 7"/>
            <p:cNvSpPr>
              <a:spLocks noChangeShapeType="1"/>
            </p:cNvSpPr>
            <p:nvPr/>
          </p:nvSpPr>
          <p:spPr bwMode="auto">
            <a:xfrm>
              <a:off x="226" y="2155"/>
              <a:ext cx="37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47" name="Line 8"/>
            <p:cNvSpPr>
              <a:spLocks noChangeShapeType="1"/>
            </p:cNvSpPr>
            <p:nvPr/>
          </p:nvSpPr>
          <p:spPr bwMode="auto">
            <a:xfrm>
              <a:off x="786" y="2155"/>
              <a:ext cx="3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48" name="Line 9"/>
            <p:cNvSpPr>
              <a:spLocks noChangeShapeType="1"/>
            </p:cNvSpPr>
            <p:nvPr/>
          </p:nvSpPr>
          <p:spPr bwMode="auto">
            <a:xfrm>
              <a:off x="1528" y="2155"/>
              <a:ext cx="33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49" name="Text Box 10"/>
            <p:cNvSpPr txBox="1">
              <a:spLocks noChangeArrowheads="1"/>
            </p:cNvSpPr>
            <p:nvPr/>
          </p:nvSpPr>
          <p:spPr bwMode="auto">
            <a:xfrm>
              <a:off x="192" y="1867"/>
              <a:ext cx="4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i</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50" name="Text Box 11"/>
            <p:cNvSpPr txBox="1">
              <a:spLocks noChangeArrowheads="1"/>
            </p:cNvSpPr>
            <p:nvPr/>
          </p:nvSpPr>
          <p:spPr bwMode="auto">
            <a:xfrm>
              <a:off x="1541" y="1867"/>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51" name="Line 12"/>
            <p:cNvSpPr>
              <a:spLocks noChangeShapeType="1"/>
            </p:cNvSpPr>
            <p:nvPr/>
          </p:nvSpPr>
          <p:spPr bwMode="auto">
            <a:xfrm>
              <a:off x="741"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2" name="Line 13"/>
            <p:cNvSpPr>
              <a:spLocks noChangeShapeType="1"/>
            </p:cNvSpPr>
            <p:nvPr/>
          </p:nvSpPr>
          <p:spPr bwMode="auto">
            <a:xfrm>
              <a:off x="695"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3" name="Line 14"/>
            <p:cNvSpPr>
              <a:spLocks noChangeShapeType="1"/>
            </p:cNvSpPr>
            <p:nvPr/>
          </p:nvSpPr>
          <p:spPr bwMode="auto">
            <a:xfrm flipV="1">
              <a:off x="693" y="2246"/>
              <a:ext cx="2" cy="99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4" name="Text Box 15"/>
            <p:cNvSpPr txBox="1">
              <a:spLocks noChangeArrowheads="1"/>
            </p:cNvSpPr>
            <p:nvPr/>
          </p:nvSpPr>
          <p:spPr bwMode="auto">
            <a:xfrm>
              <a:off x="693" y="2593"/>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55" name="Line 16"/>
            <p:cNvSpPr>
              <a:spLocks noChangeShapeType="1"/>
            </p:cNvSpPr>
            <p:nvPr/>
          </p:nvSpPr>
          <p:spPr bwMode="auto">
            <a:xfrm>
              <a:off x="741" y="1883"/>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6" name="Text Box 17"/>
            <p:cNvSpPr txBox="1">
              <a:spLocks noChangeArrowheads="1"/>
            </p:cNvSpPr>
            <p:nvPr/>
          </p:nvSpPr>
          <p:spPr bwMode="auto">
            <a:xfrm>
              <a:off x="720" y="1511"/>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57" name="Rectangle 18"/>
            <p:cNvSpPr>
              <a:spLocks noChangeArrowheads="1"/>
            </p:cNvSpPr>
            <p:nvPr/>
          </p:nvSpPr>
          <p:spPr bwMode="auto">
            <a:xfrm>
              <a:off x="4467" y="1882"/>
              <a:ext cx="463"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112658" name="Object 19"/>
            <p:cNvGraphicFramePr>
              <a:graphicFrameLocks noChangeAspect="1"/>
            </p:cNvGraphicFramePr>
            <p:nvPr/>
          </p:nvGraphicFramePr>
          <p:xfrm>
            <a:off x="4490" y="1933"/>
            <a:ext cx="422" cy="495"/>
          </p:xfrm>
          <a:graphic>
            <a:graphicData uri="http://schemas.openxmlformats.org/presentationml/2006/ole">
              <mc:AlternateContent xmlns:mc="http://schemas.openxmlformats.org/markup-compatibility/2006">
                <mc:Choice xmlns:v="urn:schemas-microsoft-com:vml" Requires="v">
                  <p:oleObj spid="_x0000_s112713" r:id="rId6" imgW="431800" imgH="508000" progId="Equation.3">
                    <p:embed/>
                  </p:oleObj>
                </mc:Choice>
                <mc:Fallback>
                  <p:oleObj r:id="rId6" imgW="431800" imgH="508000"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0" y="1933"/>
                          <a:ext cx="422"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659" name="Text Box 20"/>
            <p:cNvSpPr txBox="1">
              <a:spLocks noChangeArrowheads="1"/>
            </p:cNvSpPr>
            <p:nvPr/>
          </p:nvSpPr>
          <p:spPr bwMode="auto">
            <a:xfrm>
              <a:off x="3387"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12660" name="Line 21"/>
            <p:cNvSpPr>
              <a:spLocks noChangeShapeType="1"/>
            </p:cNvSpPr>
            <p:nvPr/>
          </p:nvSpPr>
          <p:spPr bwMode="auto">
            <a:xfrm>
              <a:off x="3660" y="2155"/>
              <a:ext cx="2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1" name="Text Box 22"/>
            <p:cNvSpPr txBox="1">
              <a:spLocks noChangeArrowheads="1"/>
            </p:cNvSpPr>
            <p:nvPr/>
          </p:nvSpPr>
          <p:spPr bwMode="auto">
            <a:xfrm>
              <a:off x="5148" y="1883"/>
              <a:ext cx="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62" name="Text Box 23"/>
            <p:cNvSpPr txBox="1">
              <a:spLocks noChangeArrowheads="1"/>
            </p:cNvSpPr>
            <p:nvPr/>
          </p:nvSpPr>
          <p:spPr bwMode="auto">
            <a:xfrm>
              <a:off x="3545" y="1420"/>
              <a:ext cx="56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2</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63" name="Text Box 24"/>
            <p:cNvSpPr txBox="1">
              <a:spLocks noChangeArrowheads="1"/>
            </p:cNvSpPr>
            <p:nvPr/>
          </p:nvSpPr>
          <p:spPr bwMode="auto">
            <a:xfrm>
              <a:off x="3602" y="2260"/>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endParaRPr>
            </a:p>
          </p:txBody>
        </p:sp>
        <p:sp>
          <p:nvSpPr>
            <p:cNvPr id="112664" name="Text Box 25"/>
            <p:cNvSpPr txBox="1">
              <a:spLocks noChangeArrowheads="1"/>
            </p:cNvSpPr>
            <p:nvPr/>
          </p:nvSpPr>
          <p:spPr bwMode="auto">
            <a:xfrm>
              <a:off x="384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12665" name="Line 26"/>
            <p:cNvSpPr>
              <a:spLocks noChangeShapeType="1"/>
            </p:cNvSpPr>
            <p:nvPr/>
          </p:nvSpPr>
          <p:spPr bwMode="auto">
            <a:xfrm>
              <a:off x="4116" y="2155"/>
              <a:ext cx="35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6" name="Line 27"/>
            <p:cNvSpPr>
              <a:spLocks noChangeShapeType="1"/>
            </p:cNvSpPr>
            <p:nvPr/>
          </p:nvSpPr>
          <p:spPr bwMode="auto">
            <a:xfrm>
              <a:off x="4070" y="1883"/>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67" name="Line 28"/>
            <p:cNvSpPr>
              <a:spLocks noChangeShapeType="1"/>
            </p:cNvSpPr>
            <p:nvPr/>
          </p:nvSpPr>
          <p:spPr bwMode="auto">
            <a:xfrm>
              <a:off x="4012"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8" name="Rectangle 29"/>
            <p:cNvSpPr>
              <a:spLocks noChangeArrowheads="1"/>
            </p:cNvSpPr>
            <p:nvPr/>
          </p:nvSpPr>
          <p:spPr bwMode="auto">
            <a:xfrm>
              <a:off x="2561" y="1928"/>
              <a:ext cx="365"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112669" name="Text Box 30"/>
            <p:cNvSpPr txBox="1">
              <a:spLocks noChangeArrowheads="1"/>
            </p:cNvSpPr>
            <p:nvPr/>
          </p:nvSpPr>
          <p:spPr bwMode="auto">
            <a:xfrm>
              <a:off x="1802"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112670" name="Line 31"/>
            <p:cNvSpPr>
              <a:spLocks noChangeShapeType="1"/>
            </p:cNvSpPr>
            <p:nvPr/>
          </p:nvSpPr>
          <p:spPr bwMode="auto">
            <a:xfrm>
              <a:off x="2075" y="2155"/>
              <a:ext cx="4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71" name="Line 32"/>
            <p:cNvSpPr>
              <a:spLocks noChangeShapeType="1"/>
            </p:cNvSpPr>
            <p:nvPr/>
          </p:nvSpPr>
          <p:spPr bwMode="auto">
            <a:xfrm>
              <a:off x="2030"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72" name="Text Box 33"/>
            <p:cNvSpPr txBox="1">
              <a:spLocks noChangeArrowheads="1"/>
            </p:cNvSpPr>
            <p:nvPr/>
          </p:nvSpPr>
          <p:spPr bwMode="auto">
            <a:xfrm>
              <a:off x="1574" y="2306"/>
              <a:ext cx="48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73" name="Text Box 34"/>
            <p:cNvSpPr txBox="1">
              <a:spLocks noChangeArrowheads="1"/>
            </p:cNvSpPr>
            <p:nvPr/>
          </p:nvSpPr>
          <p:spPr bwMode="auto">
            <a:xfrm>
              <a:off x="3089" y="1702"/>
              <a:ext cx="5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74" name="Line 35"/>
            <p:cNvSpPr>
              <a:spLocks noChangeShapeType="1"/>
            </p:cNvSpPr>
            <p:nvPr/>
          </p:nvSpPr>
          <p:spPr bwMode="auto">
            <a:xfrm>
              <a:off x="2333" y="2154"/>
              <a:ext cx="0" cy="5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75" name="Line 36"/>
            <p:cNvSpPr>
              <a:spLocks noChangeShapeType="1"/>
            </p:cNvSpPr>
            <p:nvPr/>
          </p:nvSpPr>
          <p:spPr bwMode="auto">
            <a:xfrm>
              <a:off x="2333" y="274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76" name="Rectangle 37"/>
            <p:cNvSpPr>
              <a:spLocks noChangeArrowheads="1"/>
            </p:cNvSpPr>
            <p:nvPr/>
          </p:nvSpPr>
          <p:spPr bwMode="auto">
            <a:xfrm>
              <a:off x="2561" y="2517"/>
              <a:ext cx="365" cy="45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Cs</a:t>
              </a:r>
            </a:p>
          </p:txBody>
        </p:sp>
        <p:sp>
          <p:nvSpPr>
            <p:cNvPr id="112677" name="Line 38"/>
            <p:cNvSpPr>
              <a:spLocks noChangeShapeType="1"/>
            </p:cNvSpPr>
            <p:nvPr/>
          </p:nvSpPr>
          <p:spPr bwMode="auto">
            <a:xfrm>
              <a:off x="2933" y="2155"/>
              <a:ext cx="54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78" name="Line 39"/>
            <p:cNvSpPr>
              <a:spLocks noChangeShapeType="1"/>
            </p:cNvSpPr>
            <p:nvPr/>
          </p:nvSpPr>
          <p:spPr bwMode="auto">
            <a:xfrm>
              <a:off x="2926" y="2745"/>
              <a:ext cx="6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79" name="Text Box 40"/>
            <p:cNvSpPr txBox="1">
              <a:spLocks noChangeArrowheads="1"/>
            </p:cNvSpPr>
            <p:nvPr/>
          </p:nvSpPr>
          <p:spPr bwMode="auto">
            <a:xfrm>
              <a:off x="2965" y="2457"/>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112680" name="Rectangle 41"/>
            <p:cNvSpPr>
              <a:spLocks noChangeArrowheads="1"/>
            </p:cNvSpPr>
            <p:nvPr/>
          </p:nvSpPr>
          <p:spPr bwMode="auto">
            <a:xfrm>
              <a:off x="4461" y="1248"/>
              <a:ext cx="469"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112681" name="Line 42"/>
            <p:cNvSpPr>
              <a:spLocks noChangeShapeType="1"/>
            </p:cNvSpPr>
            <p:nvPr/>
          </p:nvSpPr>
          <p:spPr bwMode="auto">
            <a:xfrm flipV="1">
              <a:off x="3564" y="2246"/>
              <a:ext cx="0" cy="4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82" name="Line 43"/>
            <p:cNvSpPr>
              <a:spLocks noChangeShapeType="1"/>
            </p:cNvSpPr>
            <p:nvPr/>
          </p:nvSpPr>
          <p:spPr bwMode="auto">
            <a:xfrm>
              <a:off x="4930" y="2155"/>
              <a:ext cx="59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83" name="Line 44"/>
            <p:cNvSpPr>
              <a:spLocks noChangeShapeType="1"/>
            </p:cNvSpPr>
            <p:nvPr/>
          </p:nvSpPr>
          <p:spPr bwMode="auto">
            <a:xfrm flipV="1">
              <a:off x="515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4" name="Line 45"/>
            <p:cNvSpPr>
              <a:spLocks noChangeShapeType="1"/>
            </p:cNvSpPr>
            <p:nvPr/>
          </p:nvSpPr>
          <p:spPr bwMode="auto">
            <a:xfrm flipH="1">
              <a:off x="4930" y="147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85" name="Line 46"/>
            <p:cNvSpPr>
              <a:spLocks noChangeShapeType="1"/>
            </p:cNvSpPr>
            <p:nvPr/>
          </p:nvSpPr>
          <p:spPr bwMode="auto">
            <a:xfrm flipH="1">
              <a:off x="4019" y="1475"/>
              <a:ext cx="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6" name="Line 47"/>
            <p:cNvSpPr>
              <a:spLocks noChangeShapeType="1"/>
            </p:cNvSpPr>
            <p:nvPr/>
          </p:nvSpPr>
          <p:spPr bwMode="auto">
            <a:xfrm flipV="1">
              <a:off x="310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7" name="Line 48"/>
            <p:cNvSpPr>
              <a:spLocks noChangeShapeType="1"/>
            </p:cNvSpPr>
            <p:nvPr/>
          </p:nvSpPr>
          <p:spPr bwMode="auto">
            <a:xfrm flipH="1">
              <a:off x="693" y="1475"/>
              <a:ext cx="24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8" name="Line 49"/>
            <p:cNvSpPr>
              <a:spLocks noChangeShapeType="1"/>
            </p:cNvSpPr>
            <p:nvPr/>
          </p:nvSpPr>
          <p:spPr bwMode="auto">
            <a:xfrm>
              <a:off x="5158" y="2155"/>
              <a:ext cx="0" cy="1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9" name="Line 50"/>
            <p:cNvSpPr>
              <a:spLocks noChangeShapeType="1"/>
            </p:cNvSpPr>
            <p:nvPr/>
          </p:nvSpPr>
          <p:spPr bwMode="auto">
            <a:xfrm flipH="1">
              <a:off x="1969" y="3562"/>
              <a:ext cx="31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0" name="Line 51"/>
            <p:cNvSpPr>
              <a:spLocks noChangeShapeType="1"/>
            </p:cNvSpPr>
            <p:nvPr/>
          </p:nvSpPr>
          <p:spPr bwMode="auto">
            <a:xfrm flipV="1">
              <a:off x="1969" y="2246"/>
              <a:ext cx="0" cy="13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91" name="Line 52"/>
            <p:cNvSpPr>
              <a:spLocks noChangeShapeType="1"/>
            </p:cNvSpPr>
            <p:nvPr/>
          </p:nvSpPr>
          <p:spPr bwMode="auto">
            <a:xfrm>
              <a:off x="3153" y="2745"/>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2" name="Line 53"/>
            <p:cNvSpPr>
              <a:spLocks noChangeShapeType="1"/>
            </p:cNvSpPr>
            <p:nvPr/>
          </p:nvSpPr>
          <p:spPr bwMode="auto">
            <a:xfrm flipH="1">
              <a:off x="693" y="3244"/>
              <a:ext cx="24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3" name="Text Box 54"/>
            <p:cNvSpPr txBox="1">
              <a:spLocks noChangeArrowheads="1"/>
            </p:cNvSpPr>
            <p:nvPr/>
          </p:nvSpPr>
          <p:spPr bwMode="auto">
            <a:xfrm>
              <a:off x="2178" y="3698"/>
              <a:ext cx="1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机械系统方框图</a:t>
              </a:r>
            </a:p>
          </p:txBody>
        </p:sp>
        <p:sp>
          <p:nvSpPr>
            <p:cNvPr id="112694" name="Oval 55"/>
            <p:cNvSpPr>
              <a:spLocks noChangeArrowheads="1"/>
            </p:cNvSpPr>
            <p:nvPr/>
          </p:nvSpPr>
          <p:spPr bwMode="auto">
            <a:xfrm>
              <a:off x="2304"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12695" name="Oval 56"/>
            <p:cNvSpPr>
              <a:spLocks noChangeArrowheads="1"/>
            </p:cNvSpPr>
            <p:nvPr/>
          </p:nvSpPr>
          <p:spPr bwMode="auto">
            <a:xfrm>
              <a:off x="3088"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12696" name="Oval 57"/>
            <p:cNvSpPr>
              <a:spLocks noChangeArrowheads="1"/>
            </p:cNvSpPr>
            <p:nvPr/>
          </p:nvSpPr>
          <p:spPr bwMode="auto">
            <a:xfrm>
              <a:off x="3128" y="272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12697" name="Oval 58"/>
            <p:cNvSpPr>
              <a:spLocks noChangeArrowheads="1"/>
            </p:cNvSpPr>
            <p:nvPr/>
          </p:nvSpPr>
          <p:spPr bwMode="auto">
            <a:xfrm>
              <a:off x="5136"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3"/>
          <p:cNvGrpSpPr>
            <a:grpSpLocks/>
          </p:cNvGrpSpPr>
          <p:nvPr/>
        </p:nvGrpSpPr>
        <p:grpSpPr bwMode="auto">
          <a:xfrm>
            <a:off x="304800" y="1981200"/>
            <a:ext cx="8570913" cy="4346575"/>
            <a:chOff x="192" y="1248"/>
            <a:chExt cx="5399" cy="2738"/>
          </a:xfrm>
        </p:grpSpPr>
        <p:sp>
          <p:nvSpPr>
            <p:cNvPr id="20499" name="Rectangle 4"/>
            <p:cNvSpPr>
              <a:spLocks noChangeArrowheads="1"/>
            </p:cNvSpPr>
            <p:nvPr/>
          </p:nvSpPr>
          <p:spPr bwMode="auto">
            <a:xfrm>
              <a:off x="1092" y="1882"/>
              <a:ext cx="442"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20500" name="Object 5"/>
            <p:cNvGraphicFramePr>
              <a:graphicFrameLocks noChangeAspect="1"/>
            </p:cNvGraphicFramePr>
            <p:nvPr/>
          </p:nvGraphicFramePr>
          <p:xfrm>
            <a:off x="1122" y="1933"/>
            <a:ext cx="411" cy="495"/>
          </p:xfrm>
          <a:graphic>
            <a:graphicData uri="http://schemas.openxmlformats.org/presentationml/2006/ole">
              <mc:AlternateContent xmlns:mc="http://schemas.openxmlformats.org/markup-compatibility/2006">
                <mc:Choice xmlns:v="urn:schemas-microsoft-com:vml" Requires="v">
                  <p:oleObj spid="_x0000_s147458" r:id="rId4" imgW="419100" imgH="508000" progId="Equation.3">
                    <p:embed/>
                  </p:oleObj>
                </mc:Choice>
                <mc:Fallback>
                  <p:oleObj r:id="rId4" imgW="419100" imgH="508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 y="1933"/>
                          <a:ext cx="411"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501" name="Text Box 6"/>
            <p:cNvSpPr txBox="1">
              <a:spLocks noChangeArrowheads="1"/>
            </p:cNvSpPr>
            <p:nvPr/>
          </p:nvSpPr>
          <p:spPr bwMode="auto">
            <a:xfrm>
              <a:off x="51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0502" name="Line 7"/>
            <p:cNvSpPr>
              <a:spLocks noChangeShapeType="1"/>
            </p:cNvSpPr>
            <p:nvPr/>
          </p:nvSpPr>
          <p:spPr bwMode="auto">
            <a:xfrm>
              <a:off x="226" y="2155"/>
              <a:ext cx="37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3" name="Line 8"/>
            <p:cNvSpPr>
              <a:spLocks noChangeShapeType="1"/>
            </p:cNvSpPr>
            <p:nvPr/>
          </p:nvSpPr>
          <p:spPr bwMode="auto">
            <a:xfrm>
              <a:off x="786" y="2155"/>
              <a:ext cx="3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4" name="Line 9"/>
            <p:cNvSpPr>
              <a:spLocks noChangeShapeType="1"/>
            </p:cNvSpPr>
            <p:nvPr/>
          </p:nvSpPr>
          <p:spPr bwMode="auto">
            <a:xfrm>
              <a:off x="1528" y="2155"/>
              <a:ext cx="33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5" name="Text Box 10"/>
            <p:cNvSpPr txBox="1">
              <a:spLocks noChangeArrowheads="1"/>
            </p:cNvSpPr>
            <p:nvPr/>
          </p:nvSpPr>
          <p:spPr bwMode="auto">
            <a:xfrm>
              <a:off x="192" y="1867"/>
              <a:ext cx="4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i</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0506" name="Text Box 11"/>
            <p:cNvSpPr txBox="1">
              <a:spLocks noChangeArrowheads="1"/>
            </p:cNvSpPr>
            <p:nvPr/>
          </p:nvSpPr>
          <p:spPr bwMode="auto">
            <a:xfrm>
              <a:off x="1541" y="1867"/>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0507" name="Line 12"/>
            <p:cNvSpPr>
              <a:spLocks noChangeShapeType="1"/>
            </p:cNvSpPr>
            <p:nvPr/>
          </p:nvSpPr>
          <p:spPr bwMode="auto">
            <a:xfrm>
              <a:off x="741"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8" name="Line 13"/>
            <p:cNvSpPr>
              <a:spLocks noChangeShapeType="1"/>
            </p:cNvSpPr>
            <p:nvPr/>
          </p:nvSpPr>
          <p:spPr bwMode="auto">
            <a:xfrm>
              <a:off x="695"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9" name="Line 14"/>
            <p:cNvSpPr>
              <a:spLocks noChangeShapeType="1"/>
            </p:cNvSpPr>
            <p:nvPr/>
          </p:nvSpPr>
          <p:spPr bwMode="auto">
            <a:xfrm flipV="1">
              <a:off x="693" y="2246"/>
              <a:ext cx="2" cy="99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0" name="Text Box 15"/>
            <p:cNvSpPr txBox="1">
              <a:spLocks noChangeArrowheads="1"/>
            </p:cNvSpPr>
            <p:nvPr/>
          </p:nvSpPr>
          <p:spPr bwMode="auto">
            <a:xfrm>
              <a:off x="693" y="2593"/>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0511" name="Line 16"/>
            <p:cNvSpPr>
              <a:spLocks noChangeShapeType="1"/>
            </p:cNvSpPr>
            <p:nvPr/>
          </p:nvSpPr>
          <p:spPr bwMode="auto">
            <a:xfrm>
              <a:off x="741" y="1883"/>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2" name="Text Box 17"/>
            <p:cNvSpPr txBox="1">
              <a:spLocks noChangeArrowheads="1"/>
            </p:cNvSpPr>
            <p:nvPr/>
          </p:nvSpPr>
          <p:spPr bwMode="auto">
            <a:xfrm>
              <a:off x="720" y="1511"/>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0513" name="Rectangle 18"/>
            <p:cNvSpPr>
              <a:spLocks noChangeArrowheads="1"/>
            </p:cNvSpPr>
            <p:nvPr/>
          </p:nvSpPr>
          <p:spPr bwMode="auto">
            <a:xfrm>
              <a:off x="4467" y="1882"/>
              <a:ext cx="463"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20514" name="Object 19"/>
            <p:cNvGraphicFramePr>
              <a:graphicFrameLocks noChangeAspect="1"/>
            </p:cNvGraphicFramePr>
            <p:nvPr/>
          </p:nvGraphicFramePr>
          <p:xfrm>
            <a:off x="4490" y="1933"/>
            <a:ext cx="422" cy="495"/>
          </p:xfrm>
          <a:graphic>
            <a:graphicData uri="http://schemas.openxmlformats.org/presentationml/2006/ole">
              <mc:AlternateContent xmlns:mc="http://schemas.openxmlformats.org/markup-compatibility/2006">
                <mc:Choice xmlns:v="urn:schemas-microsoft-com:vml" Requires="v">
                  <p:oleObj spid="_x0000_s147459" r:id="rId6" imgW="431800" imgH="508000" progId="Equation.3">
                    <p:embed/>
                  </p:oleObj>
                </mc:Choice>
                <mc:Fallback>
                  <p:oleObj r:id="rId6" imgW="431800" imgH="508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0" y="1933"/>
                          <a:ext cx="422"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515" name="Text Box 20"/>
            <p:cNvSpPr txBox="1">
              <a:spLocks noChangeArrowheads="1"/>
            </p:cNvSpPr>
            <p:nvPr/>
          </p:nvSpPr>
          <p:spPr bwMode="auto">
            <a:xfrm>
              <a:off x="3387"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0516" name="Line 21"/>
            <p:cNvSpPr>
              <a:spLocks noChangeShapeType="1"/>
            </p:cNvSpPr>
            <p:nvPr/>
          </p:nvSpPr>
          <p:spPr bwMode="auto">
            <a:xfrm>
              <a:off x="3660" y="2155"/>
              <a:ext cx="2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7" name="Text Box 22"/>
            <p:cNvSpPr txBox="1">
              <a:spLocks noChangeArrowheads="1"/>
            </p:cNvSpPr>
            <p:nvPr/>
          </p:nvSpPr>
          <p:spPr bwMode="auto">
            <a:xfrm>
              <a:off x="5148" y="1883"/>
              <a:ext cx="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0518" name="Text Box 23"/>
            <p:cNvSpPr txBox="1">
              <a:spLocks noChangeArrowheads="1"/>
            </p:cNvSpPr>
            <p:nvPr/>
          </p:nvSpPr>
          <p:spPr bwMode="auto">
            <a:xfrm>
              <a:off x="3545" y="1420"/>
              <a:ext cx="56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2</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0519" name="Text Box 24"/>
            <p:cNvSpPr txBox="1">
              <a:spLocks noChangeArrowheads="1"/>
            </p:cNvSpPr>
            <p:nvPr/>
          </p:nvSpPr>
          <p:spPr bwMode="auto">
            <a:xfrm>
              <a:off x="3602" y="2260"/>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endParaRPr>
            </a:p>
          </p:txBody>
        </p:sp>
        <p:sp>
          <p:nvSpPr>
            <p:cNvPr id="20520" name="Text Box 25"/>
            <p:cNvSpPr txBox="1">
              <a:spLocks noChangeArrowheads="1"/>
            </p:cNvSpPr>
            <p:nvPr/>
          </p:nvSpPr>
          <p:spPr bwMode="auto">
            <a:xfrm>
              <a:off x="384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0521" name="Line 26"/>
            <p:cNvSpPr>
              <a:spLocks noChangeShapeType="1"/>
            </p:cNvSpPr>
            <p:nvPr/>
          </p:nvSpPr>
          <p:spPr bwMode="auto">
            <a:xfrm>
              <a:off x="4116" y="2155"/>
              <a:ext cx="35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2" name="Line 27"/>
            <p:cNvSpPr>
              <a:spLocks noChangeShapeType="1"/>
            </p:cNvSpPr>
            <p:nvPr/>
          </p:nvSpPr>
          <p:spPr bwMode="auto">
            <a:xfrm>
              <a:off x="4070" y="1883"/>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3" name="Line 28"/>
            <p:cNvSpPr>
              <a:spLocks noChangeShapeType="1"/>
            </p:cNvSpPr>
            <p:nvPr/>
          </p:nvSpPr>
          <p:spPr bwMode="auto">
            <a:xfrm>
              <a:off x="4012"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4" name="Rectangle 29"/>
            <p:cNvSpPr>
              <a:spLocks noChangeArrowheads="1"/>
            </p:cNvSpPr>
            <p:nvPr/>
          </p:nvSpPr>
          <p:spPr bwMode="auto">
            <a:xfrm>
              <a:off x="2561" y="1928"/>
              <a:ext cx="365"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20525" name="Text Box 30"/>
            <p:cNvSpPr txBox="1">
              <a:spLocks noChangeArrowheads="1"/>
            </p:cNvSpPr>
            <p:nvPr/>
          </p:nvSpPr>
          <p:spPr bwMode="auto">
            <a:xfrm>
              <a:off x="1802"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0526" name="Line 31"/>
            <p:cNvSpPr>
              <a:spLocks noChangeShapeType="1"/>
            </p:cNvSpPr>
            <p:nvPr/>
          </p:nvSpPr>
          <p:spPr bwMode="auto">
            <a:xfrm>
              <a:off x="2075" y="2155"/>
              <a:ext cx="4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7" name="Line 32"/>
            <p:cNvSpPr>
              <a:spLocks noChangeShapeType="1"/>
            </p:cNvSpPr>
            <p:nvPr/>
          </p:nvSpPr>
          <p:spPr bwMode="auto">
            <a:xfrm>
              <a:off x="2030"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8" name="Text Box 33"/>
            <p:cNvSpPr txBox="1">
              <a:spLocks noChangeArrowheads="1"/>
            </p:cNvSpPr>
            <p:nvPr/>
          </p:nvSpPr>
          <p:spPr bwMode="auto">
            <a:xfrm>
              <a:off x="1582" y="2333"/>
              <a:ext cx="48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0529" name="Line 35"/>
            <p:cNvSpPr>
              <a:spLocks noChangeShapeType="1"/>
            </p:cNvSpPr>
            <p:nvPr/>
          </p:nvSpPr>
          <p:spPr bwMode="auto">
            <a:xfrm>
              <a:off x="2333" y="2154"/>
              <a:ext cx="0" cy="5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0" name="Line 36"/>
            <p:cNvSpPr>
              <a:spLocks noChangeShapeType="1"/>
            </p:cNvSpPr>
            <p:nvPr/>
          </p:nvSpPr>
          <p:spPr bwMode="auto">
            <a:xfrm>
              <a:off x="2333" y="274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31" name="Rectangle 37"/>
            <p:cNvSpPr>
              <a:spLocks noChangeArrowheads="1"/>
            </p:cNvSpPr>
            <p:nvPr/>
          </p:nvSpPr>
          <p:spPr bwMode="auto">
            <a:xfrm>
              <a:off x="2561" y="2517"/>
              <a:ext cx="365" cy="45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Cs</a:t>
              </a:r>
            </a:p>
          </p:txBody>
        </p:sp>
        <p:sp>
          <p:nvSpPr>
            <p:cNvPr id="20532" name="Line 38"/>
            <p:cNvSpPr>
              <a:spLocks noChangeShapeType="1"/>
            </p:cNvSpPr>
            <p:nvPr/>
          </p:nvSpPr>
          <p:spPr bwMode="auto">
            <a:xfrm>
              <a:off x="2933" y="2155"/>
              <a:ext cx="54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33" name="Line 39"/>
            <p:cNvSpPr>
              <a:spLocks noChangeShapeType="1"/>
            </p:cNvSpPr>
            <p:nvPr/>
          </p:nvSpPr>
          <p:spPr bwMode="auto">
            <a:xfrm>
              <a:off x="2926" y="2745"/>
              <a:ext cx="6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4" name="Text Box 40"/>
            <p:cNvSpPr txBox="1">
              <a:spLocks noChangeArrowheads="1"/>
            </p:cNvSpPr>
            <p:nvPr/>
          </p:nvSpPr>
          <p:spPr bwMode="auto">
            <a:xfrm>
              <a:off x="2965" y="2457"/>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0535" name="Rectangle 41"/>
            <p:cNvSpPr>
              <a:spLocks noChangeArrowheads="1"/>
            </p:cNvSpPr>
            <p:nvPr/>
          </p:nvSpPr>
          <p:spPr bwMode="auto">
            <a:xfrm>
              <a:off x="4461" y="1248"/>
              <a:ext cx="469"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20536" name="Line 42"/>
            <p:cNvSpPr>
              <a:spLocks noChangeShapeType="1"/>
            </p:cNvSpPr>
            <p:nvPr/>
          </p:nvSpPr>
          <p:spPr bwMode="auto">
            <a:xfrm flipV="1">
              <a:off x="3564" y="2246"/>
              <a:ext cx="0" cy="4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37" name="Line 43"/>
            <p:cNvSpPr>
              <a:spLocks noChangeShapeType="1"/>
            </p:cNvSpPr>
            <p:nvPr/>
          </p:nvSpPr>
          <p:spPr bwMode="auto">
            <a:xfrm>
              <a:off x="4930" y="2155"/>
              <a:ext cx="59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38" name="Line 44"/>
            <p:cNvSpPr>
              <a:spLocks noChangeShapeType="1"/>
            </p:cNvSpPr>
            <p:nvPr/>
          </p:nvSpPr>
          <p:spPr bwMode="auto">
            <a:xfrm flipV="1">
              <a:off x="515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39" name="Line 45"/>
            <p:cNvSpPr>
              <a:spLocks noChangeShapeType="1"/>
            </p:cNvSpPr>
            <p:nvPr/>
          </p:nvSpPr>
          <p:spPr bwMode="auto">
            <a:xfrm flipH="1">
              <a:off x="4930" y="147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40" name="Line 46"/>
            <p:cNvSpPr>
              <a:spLocks noChangeShapeType="1"/>
            </p:cNvSpPr>
            <p:nvPr/>
          </p:nvSpPr>
          <p:spPr bwMode="auto">
            <a:xfrm flipH="1">
              <a:off x="4019" y="1475"/>
              <a:ext cx="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1" name="Line 47"/>
            <p:cNvSpPr>
              <a:spLocks noChangeShapeType="1"/>
            </p:cNvSpPr>
            <p:nvPr/>
          </p:nvSpPr>
          <p:spPr bwMode="auto">
            <a:xfrm flipV="1">
              <a:off x="310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2" name="Line 48"/>
            <p:cNvSpPr>
              <a:spLocks noChangeShapeType="1"/>
            </p:cNvSpPr>
            <p:nvPr/>
          </p:nvSpPr>
          <p:spPr bwMode="auto">
            <a:xfrm flipH="1">
              <a:off x="693" y="1475"/>
              <a:ext cx="24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3" name="Line 49"/>
            <p:cNvSpPr>
              <a:spLocks noChangeShapeType="1"/>
            </p:cNvSpPr>
            <p:nvPr/>
          </p:nvSpPr>
          <p:spPr bwMode="auto">
            <a:xfrm>
              <a:off x="5158" y="2155"/>
              <a:ext cx="0" cy="1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4" name="Line 50"/>
            <p:cNvSpPr>
              <a:spLocks noChangeShapeType="1"/>
            </p:cNvSpPr>
            <p:nvPr/>
          </p:nvSpPr>
          <p:spPr bwMode="auto">
            <a:xfrm flipH="1">
              <a:off x="1969" y="3562"/>
              <a:ext cx="31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5" name="Line 51"/>
            <p:cNvSpPr>
              <a:spLocks noChangeShapeType="1"/>
            </p:cNvSpPr>
            <p:nvPr/>
          </p:nvSpPr>
          <p:spPr bwMode="auto">
            <a:xfrm flipV="1">
              <a:off x="1969" y="2246"/>
              <a:ext cx="0" cy="13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46" name="Line 52"/>
            <p:cNvSpPr>
              <a:spLocks noChangeShapeType="1"/>
            </p:cNvSpPr>
            <p:nvPr/>
          </p:nvSpPr>
          <p:spPr bwMode="auto">
            <a:xfrm>
              <a:off x="3153" y="2745"/>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7" name="Line 53"/>
            <p:cNvSpPr>
              <a:spLocks noChangeShapeType="1"/>
            </p:cNvSpPr>
            <p:nvPr/>
          </p:nvSpPr>
          <p:spPr bwMode="auto">
            <a:xfrm flipH="1">
              <a:off x="693" y="3244"/>
              <a:ext cx="24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48" name="Text Box 54"/>
            <p:cNvSpPr txBox="1">
              <a:spLocks noChangeArrowheads="1"/>
            </p:cNvSpPr>
            <p:nvPr/>
          </p:nvSpPr>
          <p:spPr bwMode="auto">
            <a:xfrm>
              <a:off x="2178" y="3698"/>
              <a:ext cx="1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机械系统方框图</a:t>
              </a:r>
            </a:p>
          </p:txBody>
        </p:sp>
        <p:sp>
          <p:nvSpPr>
            <p:cNvPr id="20549" name="Oval 55"/>
            <p:cNvSpPr>
              <a:spLocks noChangeArrowheads="1"/>
            </p:cNvSpPr>
            <p:nvPr/>
          </p:nvSpPr>
          <p:spPr bwMode="auto">
            <a:xfrm>
              <a:off x="2304"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0550" name="Oval 56"/>
            <p:cNvSpPr>
              <a:spLocks noChangeArrowheads="1"/>
            </p:cNvSpPr>
            <p:nvPr/>
          </p:nvSpPr>
          <p:spPr bwMode="auto">
            <a:xfrm>
              <a:off x="3088"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0551" name="Oval 57"/>
            <p:cNvSpPr>
              <a:spLocks noChangeArrowheads="1"/>
            </p:cNvSpPr>
            <p:nvPr/>
          </p:nvSpPr>
          <p:spPr bwMode="auto">
            <a:xfrm>
              <a:off x="3128" y="272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0552" name="Oval 58"/>
            <p:cNvSpPr>
              <a:spLocks noChangeArrowheads="1"/>
            </p:cNvSpPr>
            <p:nvPr/>
          </p:nvSpPr>
          <p:spPr bwMode="auto">
            <a:xfrm>
              <a:off x="5136"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cxnSp>
        <p:nvCxnSpPr>
          <p:cNvPr id="3" name="直接箭头连接符 2"/>
          <p:cNvCxnSpPr/>
          <p:nvPr/>
        </p:nvCxnSpPr>
        <p:spPr>
          <a:xfrm flipH="1" flipV="1">
            <a:off x="3536950" y="3055938"/>
            <a:ext cx="1588" cy="379412"/>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257550" y="2655888"/>
            <a:ext cx="627063" cy="4000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K1</a:t>
            </a:r>
            <a:endParaRPr lang="zh-CN" altLang="en-US" dirty="0">
              <a:solidFill>
                <a:schemeClr val="tx1"/>
              </a:solidFill>
            </a:endParaRPr>
          </a:p>
        </p:txBody>
      </p:sp>
      <p:cxnSp>
        <p:nvCxnSpPr>
          <p:cNvPr id="6" name="直接连接符 5"/>
          <p:cNvCxnSpPr>
            <a:stCxn id="4" idx="0"/>
          </p:cNvCxnSpPr>
          <p:nvPr/>
        </p:nvCxnSpPr>
        <p:spPr>
          <a:xfrm flipV="1">
            <a:off x="3571875" y="2354263"/>
            <a:ext cx="0" cy="30162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084638" y="2090738"/>
            <a:ext cx="271462"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4084638" y="2133600"/>
            <a:ext cx="331787" cy="3698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4778375" y="2487613"/>
            <a:ext cx="271463"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4778375" y="2530475"/>
            <a:ext cx="331788" cy="3698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490" name="Text Box 34"/>
          <p:cNvSpPr txBox="1">
            <a:spLocks noChangeArrowheads="1"/>
          </p:cNvSpPr>
          <p:nvPr/>
        </p:nvSpPr>
        <p:spPr bwMode="auto">
          <a:xfrm>
            <a:off x="4716463" y="3397250"/>
            <a:ext cx="898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cxnSp>
        <p:nvCxnSpPr>
          <p:cNvPr id="76" name="直接连接符 75"/>
          <p:cNvCxnSpPr/>
          <p:nvPr/>
        </p:nvCxnSpPr>
        <p:spPr>
          <a:xfrm>
            <a:off x="4876800" y="4572000"/>
            <a:ext cx="271463"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4876800" y="4614863"/>
            <a:ext cx="331788" cy="36988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325938" y="4868863"/>
            <a:ext cx="271462"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4325938" y="4910138"/>
            <a:ext cx="331787" cy="3714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546475" y="3452813"/>
            <a:ext cx="9525" cy="1216025"/>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3222625" y="4640263"/>
            <a:ext cx="627063" cy="4000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Cs</a:t>
            </a:r>
            <a:endParaRPr lang="zh-CN" altLang="en-US" dirty="0">
              <a:solidFill>
                <a:schemeClr val="tx1"/>
              </a:solidFill>
            </a:endParaRPr>
          </a:p>
        </p:txBody>
      </p:sp>
      <p:cxnSp>
        <p:nvCxnSpPr>
          <p:cNvPr id="20" name="直接连接符 19"/>
          <p:cNvCxnSpPr>
            <a:stCxn id="82" idx="2"/>
          </p:cNvCxnSpPr>
          <p:nvPr/>
        </p:nvCxnSpPr>
        <p:spPr>
          <a:xfrm flipH="1">
            <a:off x="3536950" y="5040313"/>
            <a:ext cx="0" cy="9207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75" name="Text Box 34"/>
          <p:cNvSpPr txBox="1">
            <a:spLocks noChangeArrowheads="1"/>
          </p:cNvSpPr>
          <p:nvPr/>
        </p:nvSpPr>
        <p:spPr bwMode="auto">
          <a:xfrm>
            <a:off x="3186113" y="1892300"/>
            <a:ext cx="898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Tree>
    <p:extLst>
      <p:ext uri="{BB962C8B-B14F-4D97-AF65-F5344CB8AC3E}">
        <p14:creationId xmlns:p14="http://schemas.microsoft.com/office/powerpoint/2010/main" val="3491157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2" grpId="0" animBg="1"/>
      <p:bldP spid="7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箭头连接符 2"/>
          <p:cNvCxnSpPr/>
          <p:nvPr/>
        </p:nvCxnSpPr>
        <p:spPr>
          <a:xfrm flipH="1" flipV="1">
            <a:off x="3536950" y="3055938"/>
            <a:ext cx="1588" cy="379412"/>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257550" y="2655888"/>
            <a:ext cx="627063" cy="4000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K1</a:t>
            </a:r>
            <a:endParaRPr lang="zh-CN" altLang="en-US" dirty="0">
              <a:solidFill>
                <a:schemeClr val="tx1"/>
              </a:solidFill>
            </a:endParaRPr>
          </a:p>
        </p:txBody>
      </p:sp>
      <p:cxnSp>
        <p:nvCxnSpPr>
          <p:cNvPr id="6" name="直接连接符 5"/>
          <p:cNvCxnSpPr>
            <a:stCxn id="4" idx="0"/>
          </p:cNvCxnSpPr>
          <p:nvPr/>
        </p:nvCxnSpPr>
        <p:spPr>
          <a:xfrm flipV="1">
            <a:off x="3571875" y="2354263"/>
            <a:ext cx="0" cy="30162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22587" idx="3"/>
          </p:cNvCxnSpPr>
          <p:nvPr/>
        </p:nvCxnSpPr>
        <p:spPr>
          <a:xfrm>
            <a:off x="4084638" y="2090738"/>
            <a:ext cx="271462"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4084638" y="2133600"/>
            <a:ext cx="331787" cy="3698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4778375" y="2487613"/>
            <a:ext cx="271463"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4778375" y="2530475"/>
            <a:ext cx="331788" cy="3698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2537" name="Text Box 34"/>
          <p:cNvSpPr txBox="1">
            <a:spLocks noChangeArrowheads="1"/>
          </p:cNvSpPr>
          <p:nvPr/>
        </p:nvSpPr>
        <p:spPr bwMode="auto">
          <a:xfrm>
            <a:off x="4716463" y="3397250"/>
            <a:ext cx="898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cxnSp>
        <p:nvCxnSpPr>
          <p:cNvPr id="76" name="直接连接符 75"/>
          <p:cNvCxnSpPr/>
          <p:nvPr/>
        </p:nvCxnSpPr>
        <p:spPr>
          <a:xfrm>
            <a:off x="4876800" y="4572000"/>
            <a:ext cx="271463"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4876800" y="4614863"/>
            <a:ext cx="331788" cy="36988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325938" y="4868863"/>
            <a:ext cx="271462"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4325938" y="4910138"/>
            <a:ext cx="331787" cy="3714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546475" y="3452813"/>
            <a:ext cx="9525" cy="1216025"/>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3222625" y="4640263"/>
            <a:ext cx="627063" cy="4000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Cs</a:t>
            </a:r>
            <a:endParaRPr lang="zh-CN" altLang="en-US" dirty="0">
              <a:solidFill>
                <a:schemeClr val="tx1"/>
              </a:solidFill>
            </a:endParaRPr>
          </a:p>
        </p:txBody>
      </p:sp>
      <p:cxnSp>
        <p:nvCxnSpPr>
          <p:cNvPr id="20" name="直接连接符 19"/>
          <p:cNvCxnSpPr>
            <a:stCxn id="82" idx="2"/>
          </p:cNvCxnSpPr>
          <p:nvPr/>
        </p:nvCxnSpPr>
        <p:spPr>
          <a:xfrm flipH="1">
            <a:off x="3536950" y="5040313"/>
            <a:ext cx="0" cy="9207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8478838" y="3462338"/>
            <a:ext cx="6350" cy="21923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546" name="组合 9"/>
          <p:cNvGrpSpPr>
            <a:grpSpLocks/>
          </p:cNvGrpSpPr>
          <p:nvPr/>
        </p:nvGrpSpPr>
        <p:grpSpPr bwMode="auto">
          <a:xfrm>
            <a:off x="304800" y="1892300"/>
            <a:ext cx="8570913" cy="4435475"/>
            <a:chOff x="304800" y="1892300"/>
            <a:chExt cx="8570913" cy="4435475"/>
          </a:xfrm>
        </p:grpSpPr>
        <p:grpSp>
          <p:nvGrpSpPr>
            <p:cNvPr id="22555" name="Group 3"/>
            <p:cNvGrpSpPr>
              <a:grpSpLocks/>
            </p:cNvGrpSpPr>
            <p:nvPr/>
          </p:nvGrpSpPr>
          <p:grpSpPr bwMode="auto">
            <a:xfrm>
              <a:off x="304800" y="1892300"/>
              <a:ext cx="8570913" cy="4435475"/>
              <a:chOff x="192" y="1192"/>
              <a:chExt cx="5399" cy="2794"/>
            </a:xfrm>
          </p:grpSpPr>
          <p:sp>
            <p:nvSpPr>
              <p:cNvPr id="22557" name="Rectangle 4"/>
              <p:cNvSpPr>
                <a:spLocks noChangeArrowheads="1"/>
              </p:cNvSpPr>
              <p:nvPr/>
            </p:nvSpPr>
            <p:spPr bwMode="auto">
              <a:xfrm>
                <a:off x="1092" y="1882"/>
                <a:ext cx="442"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22558" name="Object 5"/>
              <p:cNvGraphicFramePr>
                <a:graphicFrameLocks noChangeAspect="1"/>
              </p:cNvGraphicFramePr>
              <p:nvPr/>
            </p:nvGraphicFramePr>
            <p:xfrm>
              <a:off x="1122" y="1933"/>
              <a:ext cx="411" cy="495"/>
            </p:xfrm>
            <a:graphic>
              <a:graphicData uri="http://schemas.openxmlformats.org/presentationml/2006/ole">
                <mc:AlternateContent xmlns:mc="http://schemas.openxmlformats.org/markup-compatibility/2006">
                  <mc:Choice xmlns:v="urn:schemas-microsoft-com:vml" Requires="v">
                    <p:oleObj spid="_x0000_s148482" r:id="rId4" imgW="419100" imgH="508000" progId="Equation.3">
                      <p:embed/>
                    </p:oleObj>
                  </mc:Choice>
                  <mc:Fallback>
                    <p:oleObj r:id="rId4" imgW="419100" imgH="508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 y="1933"/>
                            <a:ext cx="411"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59" name="Text Box 6"/>
              <p:cNvSpPr txBox="1">
                <a:spLocks noChangeArrowheads="1"/>
              </p:cNvSpPr>
              <p:nvPr/>
            </p:nvSpPr>
            <p:spPr bwMode="auto">
              <a:xfrm>
                <a:off x="51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2560" name="Line 7"/>
              <p:cNvSpPr>
                <a:spLocks noChangeShapeType="1"/>
              </p:cNvSpPr>
              <p:nvPr/>
            </p:nvSpPr>
            <p:spPr bwMode="auto">
              <a:xfrm>
                <a:off x="226" y="2155"/>
                <a:ext cx="37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1" name="Line 8"/>
              <p:cNvSpPr>
                <a:spLocks noChangeShapeType="1"/>
              </p:cNvSpPr>
              <p:nvPr/>
            </p:nvSpPr>
            <p:spPr bwMode="auto">
              <a:xfrm>
                <a:off x="786" y="2155"/>
                <a:ext cx="3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2" name="Line 9"/>
              <p:cNvSpPr>
                <a:spLocks noChangeShapeType="1"/>
              </p:cNvSpPr>
              <p:nvPr/>
            </p:nvSpPr>
            <p:spPr bwMode="auto">
              <a:xfrm>
                <a:off x="1528" y="2155"/>
                <a:ext cx="33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3" name="Text Box 10"/>
              <p:cNvSpPr txBox="1">
                <a:spLocks noChangeArrowheads="1"/>
              </p:cNvSpPr>
              <p:nvPr/>
            </p:nvSpPr>
            <p:spPr bwMode="auto">
              <a:xfrm>
                <a:off x="192" y="1867"/>
                <a:ext cx="4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i</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64" name="Text Box 11"/>
              <p:cNvSpPr txBox="1">
                <a:spLocks noChangeArrowheads="1"/>
              </p:cNvSpPr>
              <p:nvPr/>
            </p:nvSpPr>
            <p:spPr bwMode="auto">
              <a:xfrm>
                <a:off x="1541" y="1867"/>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65" name="Line 12"/>
              <p:cNvSpPr>
                <a:spLocks noChangeShapeType="1"/>
              </p:cNvSpPr>
              <p:nvPr/>
            </p:nvSpPr>
            <p:spPr bwMode="auto">
              <a:xfrm>
                <a:off x="741"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6" name="Line 13"/>
              <p:cNvSpPr>
                <a:spLocks noChangeShapeType="1"/>
              </p:cNvSpPr>
              <p:nvPr/>
            </p:nvSpPr>
            <p:spPr bwMode="auto">
              <a:xfrm>
                <a:off x="695"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7" name="Line 14"/>
              <p:cNvSpPr>
                <a:spLocks noChangeShapeType="1"/>
              </p:cNvSpPr>
              <p:nvPr/>
            </p:nvSpPr>
            <p:spPr bwMode="auto">
              <a:xfrm flipV="1">
                <a:off x="693" y="2246"/>
                <a:ext cx="2" cy="99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8" name="Text Box 15"/>
              <p:cNvSpPr txBox="1">
                <a:spLocks noChangeArrowheads="1"/>
              </p:cNvSpPr>
              <p:nvPr/>
            </p:nvSpPr>
            <p:spPr bwMode="auto">
              <a:xfrm>
                <a:off x="693" y="2593"/>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69" name="Line 16"/>
              <p:cNvSpPr>
                <a:spLocks noChangeShapeType="1"/>
              </p:cNvSpPr>
              <p:nvPr/>
            </p:nvSpPr>
            <p:spPr bwMode="auto">
              <a:xfrm>
                <a:off x="741" y="1883"/>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0" name="Text Box 17"/>
              <p:cNvSpPr txBox="1">
                <a:spLocks noChangeArrowheads="1"/>
              </p:cNvSpPr>
              <p:nvPr/>
            </p:nvSpPr>
            <p:spPr bwMode="auto">
              <a:xfrm>
                <a:off x="720" y="1511"/>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71" name="Rectangle 18"/>
              <p:cNvSpPr>
                <a:spLocks noChangeArrowheads="1"/>
              </p:cNvSpPr>
              <p:nvPr/>
            </p:nvSpPr>
            <p:spPr bwMode="auto">
              <a:xfrm>
                <a:off x="4467" y="1882"/>
                <a:ext cx="463"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22572" name="Object 19"/>
              <p:cNvGraphicFramePr>
                <a:graphicFrameLocks noChangeAspect="1"/>
              </p:cNvGraphicFramePr>
              <p:nvPr/>
            </p:nvGraphicFramePr>
            <p:xfrm>
              <a:off x="4490" y="1933"/>
              <a:ext cx="422" cy="495"/>
            </p:xfrm>
            <a:graphic>
              <a:graphicData uri="http://schemas.openxmlformats.org/presentationml/2006/ole">
                <mc:AlternateContent xmlns:mc="http://schemas.openxmlformats.org/markup-compatibility/2006">
                  <mc:Choice xmlns:v="urn:schemas-microsoft-com:vml" Requires="v">
                    <p:oleObj spid="_x0000_s148483" r:id="rId6" imgW="431800" imgH="508000" progId="Equation.3">
                      <p:embed/>
                    </p:oleObj>
                  </mc:Choice>
                  <mc:Fallback>
                    <p:oleObj r:id="rId6" imgW="431800" imgH="508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0" y="1933"/>
                            <a:ext cx="422"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73" name="Text Box 20"/>
              <p:cNvSpPr txBox="1">
                <a:spLocks noChangeArrowheads="1"/>
              </p:cNvSpPr>
              <p:nvPr/>
            </p:nvSpPr>
            <p:spPr bwMode="auto">
              <a:xfrm>
                <a:off x="3387"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2574" name="Line 21"/>
              <p:cNvSpPr>
                <a:spLocks noChangeShapeType="1"/>
              </p:cNvSpPr>
              <p:nvPr/>
            </p:nvSpPr>
            <p:spPr bwMode="auto">
              <a:xfrm>
                <a:off x="3660" y="2155"/>
                <a:ext cx="2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5" name="Text Box 22"/>
              <p:cNvSpPr txBox="1">
                <a:spLocks noChangeArrowheads="1"/>
              </p:cNvSpPr>
              <p:nvPr/>
            </p:nvSpPr>
            <p:spPr bwMode="auto">
              <a:xfrm>
                <a:off x="5148" y="1883"/>
                <a:ext cx="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76" name="Text Box 23"/>
              <p:cNvSpPr txBox="1">
                <a:spLocks noChangeArrowheads="1"/>
              </p:cNvSpPr>
              <p:nvPr/>
            </p:nvSpPr>
            <p:spPr bwMode="auto">
              <a:xfrm>
                <a:off x="3545" y="1420"/>
                <a:ext cx="56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2</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77" name="Text Box 24"/>
              <p:cNvSpPr txBox="1">
                <a:spLocks noChangeArrowheads="1"/>
              </p:cNvSpPr>
              <p:nvPr/>
            </p:nvSpPr>
            <p:spPr bwMode="auto">
              <a:xfrm>
                <a:off x="3602" y="2260"/>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endParaRPr>
              </a:p>
            </p:txBody>
          </p:sp>
          <p:sp>
            <p:nvSpPr>
              <p:cNvPr id="22578" name="Text Box 25"/>
              <p:cNvSpPr txBox="1">
                <a:spLocks noChangeArrowheads="1"/>
              </p:cNvSpPr>
              <p:nvPr/>
            </p:nvSpPr>
            <p:spPr bwMode="auto">
              <a:xfrm>
                <a:off x="384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2579" name="Line 26"/>
              <p:cNvSpPr>
                <a:spLocks noChangeShapeType="1"/>
              </p:cNvSpPr>
              <p:nvPr/>
            </p:nvSpPr>
            <p:spPr bwMode="auto">
              <a:xfrm>
                <a:off x="4116" y="2155"/>
                <a:ext cx="35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80" name="Line 27"/>
              <p:cNvSpPr>
                <a:spLocks noChangeShapeType="1"/>
              </p:cNvSpPr>
              <p:nvPr/>
            </p:nvSpPr>
            <p:spPr bwMode="auto">
              <a:xfrm>
                <a:off x="4070" y="1883"/>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1" name="Line 28"/>
              <p:cNvSpPr>
                <a:spLocks noChangeShapeType="1"/>
              </p:cNvSpPr>
              <p:nvPr/>
            </p:nvSpPr>
            <p:spPr bwMode="auto">
              <a:xfrm>
                <a:off x="4012"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82" name="Rectangle 29"/>
              <p:cNvSpPr>
                <a:spLocks noChangeArrowheads="1"/>
              </p:cNvSpPr>
              <p:nvPr/>
            </p:nvSpPr>
            <p:spPr bwMode="auto">
              <a:xfrm>
                <a:off x="2561" y="1928"/>
                <a:ext cx="365"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22583" name="Text Box 30"/>
              <p:cNvSpPr txBox="1">
                <a:spLocks noChangeArrowheads="1"/>
              </p:cNvSpPr>
              <p:nvPr/>
            </p:nvSpPr>
            <p:spPr bwMode="auto">
              <a:xfrm>
                <a:off x="1802"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2584" name="Line 31"/>
              <p:cNvSpPr>
                <a:spLocks noChangeShapeType="1"/>
              </p:cNvSpPr>
              <p:nvPr/>
            </p:nvSpPr>
            <p:spPr bwMode="auto">
              <a:xfrm>
                <a:off x="2075" y="2155"/>
                <a:ext cx="4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85" name="Line 32"/>
              <p:cNvSpPr>
                <a:spLocks noChangeShapeType="1"/>
              </p:cNvSpPr>
              <p:nvPr/>
            </p:nvSpPr>
            <p:spPr bwMode="auto">
              <a:xfrm>
                <a:off x="2030"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6" name="Text Box 33"/>
              <p:cNvSpPr txBox="1">
                <a:spLocks noChangeArrowheads="1"/>
              </p:cNvSpPr>
              <p:nvPr/>
            </p:nvSpPr>
            <p:spPr bwMode="auto">
              <a:xfrm>
                <a:off x="1582" y="2333"/>
                <a:ext cx="48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87" name="Text Box 34"/>
              <p:cNvSpPr txBox="1">
                <a:spLocks noChangeArrowheads="1"/>
              </p:cNvSpPr>
              <p:nvPr/>
            </p:nvSpPr>
            <p:spPr bwMode="auto">
              <a:xfrm>
                <a:off x="2007" y="1192"/>
                <a:ext cx="5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88" name="Line 35"/>
              <p:cNvSpPr>
                <a:spLocks noChangeShapeType="1"/>
              </p:cNvSpPr>
              <p:nvPr/>
            </p:nvSpPr>
            <p:spPr bwMode="auto">
              <a:xfrm>
                <a:off x="2333" y="2154"/>
                <a:ext cx="0" cy="5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9" name="Line 36"/>
              <p:cNvSpPr>
                <a:spLocks noChangeShapeType="1"/>
              </p:cNvSpPr>
              <p:nvPr/>
            </p:nvSpPr>
            <p:spPr bwMode="auto">
              <a:xfrm>
                <a:off x="2333" y="274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90" name="Rectangle 37"/>
              <p:cNvSpPr>
                <a:spLocks noChangeArrowheads="1"/>
              </p:cNvSpPr>
              <p:nvPr/>
            </p:nvSpPr>
            <p:spPr bwMode="auto">
              <a:xfrm>
                <a:off x="2561" y="2517"/>
                <a:ext cx="365" cy="45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Cs</a:t>
                </a:r>
              </a:p>
            </p:txBody>
          </p:sp>
          <p:sp>
            <p:nvSpPr>
              <p:cNvPr id="22591" name="Line 38"/>
              <p:cNvSpPr>
                <a:spLocks noChangeShapeType="1"/>
              </p:cNvSpPr>
              <p:nvPr/>
            </p:nvSpPr>
            <p:spPr bwMode="auto">
              <a:xfrm>
                <a:off x="2933" y="2155"/>
                <a:ext cx="54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92" name="Line 39"/>
              <p:cNvSpPr>
                <a:spLocks noChangeShapeType="1"/>
              </p:cNvSpPr>
              <p:nvPr/>
            </p:nvSpPr>
            <p:spPr bwMode="auto">
              <a:xfrm>
                <a:off x="2926" y="2745"/>
                <a:ext cx="6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3" name="Text Box 40"/>
              <p:cNvSpPr txBox="1">
                <a:spLocks noChangeArrowheads="1"/>
              </p:cNvSpPr>
              <p:nvPr/>
            </p:nvSpPr>
            <p:spPr bwMode="auto">
              <a:xfrm>
                <a:off x="2965" y="2457"/>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2594" name="Rectangle 41"/>
              <p:cNvSpPr>
                <a:spLocks noChangeArrowheads="1"/>
              </p:cNvSpPr>
              <p:nvPr/>
            </p:nvSpPr>
            <p:spPr bwMode="auto">
              <a:xfrm>
                <a:off x="4461" y="1248"/>
                <a:ext cx="469"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22595" name="Line 42"/>
              <p:cNvSpPr>
                <a:spLocks noChangeShapeType="1"/>
              </p:cNvSpPr>
              <p:nvPr/>
            </p:nvSpPr>
            <p:spPr bwMode="auto">
              <a:xfrm flipV="1">
                <a:off x="3564" y="2246"/>
                <a:ext cx="0" cy="4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96" name="Line 43"/>
              <p:cNvSpPr>
                <a:spLocks noChangeShapeType="1"/>
              </p:cNvSpPr>
              <p:nvPr/>
            </p:nvSpPr>
            <p:spPr bwMode="auto">
              <a:xfrm>
                <a:off x="4930" y="2155"/>
                <a:ext cx="59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97" name="Line 44"/>
              <p:cNvSpPr>
                <a:spLocks noChangeShapeType="1"/>
              </p:cNvSpPr>
              <p:nvPr/>
            </p:nvSpPr>
            <p:spPr bwMode="auto">
              <a:xfrm flipV="1">
                <a:off x="515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8" name="Line 45"/>
              <p:cNvSpPr>
                <a:spLocks noChangeShapeType="1"/>
              </p:cNvSpPr>
              <p:nvPr/>
            </p:nvSpPr>
            <p:spPr bwMode="auto">
              <a:xfrm flipH="1">
                <a:off x="4930" y="147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99" name="Line 46"/>
              <p:cNvSpPr>
                <a:spLocks noChangeShapeType="1"/>
              </p:cNvSpPr>
              <p:nvPr/>
            </p:nvSpPr>
            <p:spPr bwMode="auto">
              <a:xfrm flipH="1">
                <a:off x="4019" y="1475"/>
                <a:ext cx="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0" name="Line 47"/>
              <p:cNvSpPr>
                <a:spLocks noChangeShapeType="1"/>
              </p:cNvSpPr>
              <p:nvPr/>
            </p:nvSpPr>
            <p:spPr bwMode="auto">
              <a:xfrm flipV="1">
                <a:off x="310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1" name="Line 48"/>
              <p:cNvSpPr>
                <a:spLocks noChangeShapeType="1"/>
              </p:cNvSpPr>
              <p:nvPr/>
            </p:nvSpPr>
            <p:spPr bwMode="auto">
              <a:xfrm flipH="1">
                <a:off x="693" y="1475"/>
                <a:ext cx="24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2" name="Line 49"/>
              <p:cNvSpPr>
                <a:spLocks noChangeShapeType="1"/>
              </p:cNvSpPr>
              <p:nvPr/>
            </p:nvSpPr>
            <p:spPr bwMode="auto">
              <a:xfrm>
                <a:off x="5158" y="2155"/>
                <a:ext cx="0" cy="1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3" name="Line 50"/>
              <p:cNvSpPr>
                <a:spLocks noChangeShapeType="1"/>
              </p:cNvSpPr>
              <p:nvPr/>
            </p:nvSpPr>
            <p:spPr bwMode="auto">
              <a:xfrm flipH="1">
                <a:off x="1969" y="3562"/>
                <a:ext cx="31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4" name="Line 51"/>
              <p:cNvSpPr>
                <a:spLocks noChangeShapeType="1"/>
              </p:cNvSpPr>
              <p:nvPr/>
            </p:nvSpPr>
            <p:spPr bwMode="auto">
              <a:xfrm flipV="1">
                <a:off x="1969" y="2246"/>
                <a:ext cx="0" cy="13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605" name="Line 52"/>
              <p:cNvSpPr>
                <a:spLocks noChangeShapeType="1"/>
              </p:cNvSpPr>
              <p:nvPr/>
            </p:nvSpPr>
            <p:spPr bwMode="auto">
              <a:xfrm>
                <a:off x="3153" y="2745"/>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6" name="Line 53"/>
              <p:cNvSpPr>
                <a:spLocks noChangeShapeType="1"/>
              </p:cNvSpPr>
              <p:nvPr/>
            </p:nvSpPr>
            <p:spPr bwMode="auto">
              <a:xfrm flipH="1">
                <a:off x="693" y="3244"/>
                <a:ext cx="24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07" name="Text Box 54"/>
              <p:cNvSpPr txBox="1">
                <a:spLocks noChangeArrowheads="1"/>
              </p:cNvSpPr>
              <p:nvPr/>
            </p:nvSpPr>
            <p:spPr bwMode="auto">
              <a:xfrm>
                <a:off x="2178" y="3698"/>
                <a:ext cx="1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机械系统方框图</a:t>
                </a:r>
              </a:p>
            </p:txBody>
          </p:sp>
          <p:sp>
            <p:nvSpPr>
              <p:cNvPr id="22608" name="Oval 55"/>
              <p:cNvSpPr>
                <a:spLocks noChangeArrowheads="1"/>
              </p:cNvSpPr>
              <p:nvPr/>
            </p:nvSpPr>
            <p:spPr bwMode="auto">
              <a:xfrm>
                <a:off x="2304"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609" name="Oval 56"/>
              <p:cNvSpPr>
                <a:spLocks noChangeArrowheads="1"/>
              </p:cNvSpPr>
              <p:nvPr/>
            </p:nvSpPr>
            <p:spPr bwMode="auto">
              <a:xfrm>
                <a:off x="3088"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610" name="Oval 57"/>
              <p:cNvSpPr>
                <a:spLocks noChangeArrowheads="1"/>
              </p:cNvSpPr>
              <p:nvPr/>
            </p:nvSpPr>
            <p:spPr bwMode="auto">
              <a:xfrm>
                <a:off x="3128" y="272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611" name="Oval 58"/>
              <p:cNvSpPr>
                <a:spLocks noChangeArrowheads="1"/>
              </p:cNvSpPr>
              <p:nvPr/>
            </p:nvSpPr>
            <p:spPr bwMode="auto">
              <a:xfrm>
                <a:off x="5136"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9" name="矩形 8"/>
            <p:cNvSpPr/>
            <p:nvPr/>
          </p:nvSpPr>
          <p:spPr>
            <a:xfrm>
              <a:off x="8101013" y="3497263"/>
              <a:ext cx="138112" cy="2092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 name="矩形 1"/>
          <p:cNvSpPr/>
          <p:nvPr/>
        </p:nvSpPr>
        <p:spPr>
          <a:xfrm>
            <a:off x="6223000" y="1892300"/>
            <a:ext cx="1930400" cy="2322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2" name="直接连接符 11"/>
          <p:cNvCxnSpPr>
            <a:endCxn id="22603" idx="0"/>
          </p:cNvCxnSpPr>
          <p:nvPr/>
        </p:nvCxnSpPr>
        <p:spPr>
          <a:xfrm flipH="1">
            <a:off x="8188325" y="5654675"/>
            <a:ext cx="2905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文本框 80"/>
          <p:cNvSpPr txBox="1">
            <a:spLocks noRot="1" noChangeAspect="1" noEditPoints="1" noChangeArrowheads="1" noTextEdit="1"/>
          </p:cNvSpPr>
          <p:nvPr/>
        </p:nvSpPr>
        <p:spPr bwMode="auto">
          <a:xfrm>
            <a:off x="6267450" y="2408238"/>
            <a:ext cx="1951038" cy="1709737"/>
          </a:xfrm>
          <a:prstGeom prst="rect">
            <a:avLst/>
          </a:prstGeom>
          <a:blipFill dpi="0" rotWithShape="1">
            <a:blip r:embed="rId8"/>
            <a:srcRect/>
            <a:stretch>
              <a:fillRect/>
            </a:stretch>
          </a:blipFill>
          <a:ln w="38100">
            <a:solidFill>
              <a:schemeClr val="tx2"/>
            </a:solidFill>
            <a:round/>
            <a:headEnd/>
            <a:tailEnd/>
          </a:ln>
        </p:spPr>
        <p:txBody>
          <a:bodyPr/>
          <a:lstStyle/>
          <a:p>
            <a:endParaRPr lang="zh-CN" altLang="en-US"/>
          </a:p>
        </p:txBody>
      </p:sp>
      <p:sp>
        <p:nvSpPr>
          <p:cNvPr id="8" name="任意多边形 7"/>
          <p:cNvSpPr/>
          <p:nvPr/>
        </p:nvSpPr>
        <p:spPr>
          <a:xfrm>
            <a:off x="3619500" y="1957388"/>
            <a:ext cx="2446338" cy="3306762"/>
          </a:xfrm>
          <a:custGeom>
            <a:avLst/>
            <a:gdLst>
              <a:gd name="connsiteX0" fmla="*/ 51516 w 2447177"/>
              <a:gd name="connsiteY0" fmla="*/ 1275008 h 3307174"/>
              <a:gd name="connsiteX1" fmla="*/ 25758 w 2447177"/>
              <a:gd name="connsiteY1" fmla="*/ 1378039 h 3307174"/>
              <a:gd name="connsiteX2" fmla="*/ 0 w 2447177"/>
              <a:gd name="connsiteY2" fmla="*/ 1416676 h 3307174"/>
              <a:gd name="connsiteX3" fmla="*/ 12879 w 2447177"/>
              <a:gd name="connsiteY3" fmla="*/ 1635617 h 3307174"/>
              <a:gd name="connsiteX4" fmla="*/ 25758 w 2447177"/>
              <a:gd name="connsiteY4" fmla="*/ 1700011 h 3307174"/>
              <a:gd name="connsiteX5" fmla="*/ 51516 w 2447177"/>
              <a:gd name="connsiteY5" fmla="*/ 1944710 h 3307174"/>
              <a:gd name="connsiteX6" fmla="*/ 64395 w 2447177"/>
              <a:gd name="connsiteY6" fmla="*/ 2060619 h 3307174"/>
              <a:gd name="connsiteX7" fmla="*/ 77274 w 2447177"/>
              <a:gd name="connsiteY7" fmla="*/ 2163650 h 3307174"/>
              <a:gd name="connsiteX8" fmla="*/ 115910 w 2447177"/>
              <a:gd name="connsiteY8" fmla="*/ 2446986 h 3307174"/>
              <a:gd name="connsiteX9" fmla="*/ 193183 w 2447177"/>
              <a:gd name="connsiteY9" fmla="*/ 2498501 h 3307174"/>
              <a:gd name="connsiteX10" fmla="*/ 309093 w 2447177"/>
              <a:gd name="connsiteY10" fmla="*/ 2575774 h 3307174"/>
              <a:gd name="connsiteX11" fmla="*/ 386367 w 2447177"/>
              <a:gd name="connsiteY11" fmla="*/ 2627290 h 3307174"/>
              <a:gd name="connsiteX12" fmla="*/ 425003 w 2447177"/>
              <a:gd name="connsiteY12" fmla="*/ 2653048 h 3307174"/>
              <a:gd name="connsiteX13" fmla="*/ 399245 w 2447177"/>
              <a:gd name="connsiteY13" fmla="*/ 2820473 h 3307174"/>
              <a:gd name="connsiteX14" fmla="*/ 373488 w 2447177"/>
              <a:gd name="connsiteY14" fmla="*/ 2910625 h 3307174"/>
              <a:gd name="connsiteX15" fmla="*/ 347730 w 2447177"/>
              <a:gd name="connsiteY15" fmla="*/ 2949262 h 3307174"/>
              <a:gd name="connsiteX16" fmla="*/ 373488 w 2447177"/>
              <a:gd name="connsiteY16" fmla="*/ 3078050 h 3307174"/>
              <a:gd name="connsiteX17" fmla="*/ 399245 w 2447177"/>
              <a:gd name="connsiteY17" fmla="*/ 3116687 h 3307174"/>
              <a:gd name="connsiteX18" fmla="*/ 412124 w 2447177"/>
              <a:gd name="connsiteY18" fmla="*/ 3155324 h 3307174"/>
              <a:gd name="connsiteX19" fmla="*/ 515155 w 2447177"/>
              <a:gd name="connsiteY19" fmla="*/ 3245476 h 3307174"/>
              <a:gd name="connsiteX20" fmla="*/ 579550 w 2447177"/>
              <a:gd name="connsiteY20" fmla="*/ 3258355 h 3307174"/>
              <a:gd name="connsiteX21" fmla="*/ 618186 w 2447177"/>
              <a:gd name="connsiteY21" fmla="*/ 3271234 h 3307174"/>
              <a:gd name="connsiteX22" fmla="*/ 721217 w 2447177"/>
              <a:gd name="connsiteY22" fmla="*/ 3284112 h 3307174"/>
              <a:gd name="connsiteX23" fmla="*/ 1030310 w 2447177"/>
              <a:gd name="connsiteY23" fmla="*/ 3284112 h 3307174"/>
              <a:gd name="connsiteX24" fmla="*/ 1171978 w 2447177"/>
              <a:gd name="connsiteY24" fmla="*/ 3258355 h 3307174"/>
              <a:gd name="connsiteX25" fmla="*/ 1223493 w 2447177"/>
              <a:gd name="connsiteY25" fmla="*/ 3232597 h 3307174"/>
              <a:gd name="connsiteX26" fmla="*/ 1262130 w 2447177"/>
              <a:gd name="connsiteY26" fmla="*/ 3206839 h 3307174"/>
              <a:gd name="connsiteX27" fmla="*/ 1313645 w 2447177"/>
              <a:gd name="connsiteY27" fmla="*/ 3193960 h 3307174"/>
              <a:gd name="connsiteX28" fmla="*/ 1390919 w 2447177"/>
              <a:gd name="connsiteY28" fmla="*/ 3168203 h 3307174"/>
              <a:gd name="connsiteX29" fmla="*/ 1429555 w 2447177"/>
              <a:gd name="connsiteY29" fmla="*/ 3155324 h 3307174"/>
              <a:gd name="connsiteX30" fmla="*/ 1506829 w 2447177"/>
              <a:gd name="connsiteY30" fmla="*/ 3116687 h 3307174"/>
              <a:gd name="connsiteX31" fmla="*/ 1596981 w 2447177"/>
              <a:gd name="connsiteY31" fmla="*/ 3065172 h 3307174"/>
              <a:gd name="connsiteX32" fmla="*/ 1635617 w 2447177"/>
              <a:gd name="connsiteY32" fmla="*/ 3052293 h 3307174"/>
              <a:gd name="connsiteX33" fmla="*/ 1687133 w 2447177"/>
              <a:gd name="connsiteY33" fmla="*/ 3026535 h 3307174"/>
              <a:gd name="connsiteX34" fmla="*/ 1725769 w 2447177"/>
              <a:gd name="connsiteY34" fmla="*/ 3013656 h 3307174"/>
              <a:gd name="connsiteX35" fmla="*/ 1815922 w 2447177"/>
              <a:gd name="connsiteY35" fmla="*/ 2975019 h 3307174"/>
              <a:gd name="connsiteX36" fmla="*/ 1854558 w 2447177"/>
              <a:gd name="connsiteY36" fmla="*/ 2949262 h 3307174"/>
              <a:gd name="connsiteX37" fmla="*/ 1906074 w 2447177"/>
              <a:gd name="connsiteY37" fmla="*/ 2923504 h 3307174"/>
              <a:gd name="connsiteX38" fmla="*/ 1931831 w 2447177"/>
              <a:gd name="connsiteY38" fmla="*/ 2871988 h 3307174"/>
              <a:gd name="connsiteX39" fmla="*/ 1957589 w 2447177"/>
              <a:gd name="connsiteY39" fmla="*/ 2833352 h 3307174"/>
              <a:gd name="connsiteX40" fmla="*/ 1996226 w 2447177"/>
              <a:gd name="connsiteY40" fmla="*/ 2794715 h 3307174"/>
              <a:gd name="connsiteX41" fmla="*/ 2021983 w 2447177"/>
              <a:gd name="connsiteY41" fmla="*/ 2756079 h 3307174"/>
              <a:gd name="connsiteX42" fmla="*/ 2073499 w 2447177"/>
              <a:gd name="connsiteY42" fmla="*/ 2717442 h 3307174"/>
              <a:gd name="connsiteX43" fmla="*/ 2125014 w 2447177"/>
              <a:gd name="connsiteY43" fmla="*/ 2640169 h 3307174"/>
              <a:gd name="connsiteX44" fmla="*/ 2137893 w 2447177"/>
              <a:gd name="connsiteY44" fmla="*/ 2601532 h 3307174"/>
              <a:gd name="connsiteX45" fmla="*/ 2176530 w 2447177"/>
              <a:gd name="connsiteY45" fmla="*/ 2562896 h 3307174"/>
              <a:gd name="connsiteX46" fmla="*/ 2215167 w 2447177"/>
              <a:gd name="connsiteY46" fmla="*/ 2485622 h 3307174"/>
              <a:gd name="connsiteX47" fmla="*/ 2240924 w 2447177"/>
              <a:gd name="connsiteY47" fmla="*/ 2434107 h 3307174"/>
              <a:gd name="connsiteX48" fmla="*/ 2266682 w 2447177"/>
              <a:gd name="connsiteY48" fmla="*/ 2395470 h 3307174"/>
              <a:gd name="connsiteX49" fmla="*/ 2305319 w 2447177"/>
              <a:gd name="connsiteY49" fmla="*/ 2318197 h 3307174"/>
              <a:gd name="connsiteX50" fmla="*/ 2343955 w 2447177"/>
              <a:gd name="connsiteY50" fmla="*/ 2176529 h 3307174"/>
              <a:gd name="connsiteX51" fmla="*/ 2356834 w 2447177"/>
              <a:gd name="connsiteY51" fmla="*/ 2137893 h 3307174"/>
              <a:gd name="connsiteX52" fmla="*/ 2395471 w 2447177"/>
              <a:gd name="connsiteY52" fmla="*/ 1957588 h 3307174"/>
              <a:gd name="connsiteX53" fmla="*/ 2421229 w 2447177"/>
              <a:gd name="connsiteY53" fmla="*/ 1880315 h 3307174"/>
              <a:gd name="connsiteX54" fmla="*/ 2434107 w 2447177"/>
              <a:gd name="connsiteY54" fmla="*/ 1481070 h 3307174"/>
              <a:gd name="connsiteX55" fmla="*/ 2421229 w 2447177"/>
              <a:gd name="connsiteY55" fmla="*/ 1416676 h 3307174"/>
              <a:gd name="connsiteX56" fmla="*/ 2395471 w 2447177"/>
              <a:gd name="connsiteY56" fmla="*/ 1300766 h 3307174"/>
              <a:gd name="connsiteX57" fmla="*/ 2369713 w 2447177"/>
              <a:gd name="connsiteY57" fmla="*/ 1262129 h 3307174"/>
              <a:gd name="connsiteX58" fmla="*/ 2343955 w 2447177"/>
              <a:gd name="connsiteY58" fmla="*/ 1184856 h 3307174"/>
              <a:gd name="connsiteX59" fmla="*/ 2279561 w 2447177"/>
              <a:gd name="connsiteY59" fmla="*/ 1068946 h 3307174"/>
              <a:gd name="connsiteX60" fmla="*/ 2189409 w 2447177"/>
              <a:gd name="connsiteY60" fmla="*/ 1030310 h 3307174"/>
              <a:gd name="connsiteX61" fmla="*/ 2086378 w 2447177"/>
              <a:gd name="connsiteY61" fmla="*/ 953036 h 3307174"/>
              <a:gd name="connsiteX62" fmla="*/ 2047741 w 2447177"/>
              <a:gd name="connsiteY62" fmla="*/ 927279 h 3307174"/>
              <a:gd name="connsiteX63" fmla="*/ 1970468 w 2447177"/>
              <a:gd name="connsiteY63" fmla="*/ 901521 h 3307174"/>
              <a:gd name="connsiteX64" fmla="*/ 1931831 w 2447177"/>
              <a:gd name="connsiteY64" fmla="*/ 888642 h 3307174"/>
              <a:gd name="connsiteX65" fmla="*/ 1893195 w 2447177"/>
              <a:gd name="connsiteY65" fmla="*/ 862884 h 3307174"/>
              <a:gd name="connsiteX66" fmla="*/ 1854558 w 2447177"/>
              <a:gd name="connsiteY66" fmla="*/ 850005 h 3307174"/>
              <a:gd name="connsiteX67" fmla="*/ 1777285 w 2447177"/>
              <a:gd name="connsiteY67" fmla="*/ 798490 h 3307174"/>
              <a:gd name="connsiteX68" fmla="*/ 1738648 w 2447177"/>
              <a:gd name="connsiteY68" fmla="*/ 772732 h 3307174"/>
              <a:gd name="connsiteX69" fmla="*/ 1674254 w 2447177"/>
              <a:gd name="connsiteY69" fmla="*/ 721217 h 3307174"/>
              <a:gd name="connsiteX70" fmla="*/ 1635617 w 2447177"/>
              <a:gd name="connsiteY70" fmla="*/ 682580 h 3307174"/>
              <a:gd name="connsiteX71" fmla="*/ 1596981 w 2447177"/>
              <a:gd name="connsiteY71" fmla="*/ 656822 h 3307174"/>
              <a:gd name="connsiteX72" fmla="*/ 1558344 w 2447177"/>
              <a:gd name="connsiteY72" fmla="*/ 566670 h 3307174"/>
              <a:gd name="connsiteX73" fmla="*/ 1519707 w 2447177"/>
              <a:gd name="connsiteY73" fmla="*/ 540912 h 3307174"/>
              <a:gd name="connsiteX74" fmla="*/ 1493950 w 2447177"/>
              <a:gd name="connsiteY74" fmla="*/ 502276 h 3307174"/>
              <a:gd name="connsiteX75" fmla="*/ 1455313 w 2447177"/>
              <a:gd name="connsiteY75" fmla="*/ 476518 h 3307174"/>
              <a:gd name="connsiteX76" fmla="*/ 1442434 w 2447177"/>
              <a:gd name="connsiteY76" fmla="*/ 437881 h 3307174"/>
              <a:gd name="connsiteX77" fmla="*/ 1416676 w 2447177"/>
              <a:gd name="connsiteY77" fmla="*/ 399245 h 3307174"/>
              <a:gd name="connsiteX78" fmla="*/ 1365161 w 2447177"/>
              <a:gd name="connsiteY78" fmla="*/ 321972 h 3307174"/>
              <a:gd name="connsiteX79" fmla="*/ 1313645 w 2447177"/>
              <a:gd name="connsiteY79" fmla="*/ 231819 h 3307174"/>
              <a:gd name="connsiteX80" fmla="*/ 1287888 w 2447177"/>
              <a:gd name="connsiteY80" fmla="*/ 180304 h 3307174"/>
              <a:gd name="connsiteX81" fmla="*/ 1223493 w 2447177"/>
              <a:gd name="connsiteY81" fmla="*/ 64394 h 3307174"/>
              <a:gd name="connsiteX82" fmla="*/ 1184857 w 2447177"/>
              <a:gd name="connsiteY82" fmla="*/ 51515 h 3307174"/>
              <a:gd name="connsiteX83" fmla="*/ 1146220 w 2447177"/>
              <a:gd name="connsiteY83" fmla="*/ 25757 h 3307174"/>
              <a:gd name="connsiteX84" fmla="*/ 1004552 w 2447177"/>
              <a:gd name="connsiteY84" fmla="*/ 0 h 3307174"/>
              <a:gd name="connsiteX85" fmla="*/ 618186 w 2447177"/>
              <a:gd name="connsiteY85" fmla="*/ 12879 h 3307174"/>
              <a:gd name="connsiteX86" fmla="*/ 463640 w 2447177"/>
              <a:gd name="connsiteY86" fmla="*/ 38636 h 3307174"/>
              <a:gd name="connsiteX87" fmla="*/ 425003 w 2447177"/>
              <a:gd name="connsiteY87" fmla="*/ 77273 h 3307174"/>
              <a:gd name="connsiteX88" fmla="*/ 386367 w 2447177"/>
              <a:gd name="connsiteY88" fmla="*/ 103031 h 3307174"/>
              <a:gd name="connsiteX89" fmla="*/ 373488 w 2447177"/>
              <a:gd name="connsiteY89" fmla="*/ 141667 h 3307174"/>
              <a:gd name="connsiteX90" fmla="*/ 321972 w 2447177"/>
              <a:gd name="connsiteY90" fmla="*/ 218941 h 3307174"/>
              <a:gd name="connsiteX91" fmla="*/ 296214 w 2447177"/>
              <a:gd name="connsiteY91" fmla="*/ 257577 h 3307174"/>
              <a:gd name="connsiteX92" fmla="*/ 283336 w 2447177"/>
              <a:gd name="connsiteY92" fmla="*/ 296214 h 3307174"/>
              <a:gd name="connsiteX93" fmla="*/ 257578 w 2447177"/>
              <a:gd name="connsiteY93" fmla="*/ 334850 h 3307174"/>
              <a:gd name="connsiteX94" fmla="*/ 270457 w 2447177"/>
              <a:gd name="connsiteY94" fmla="*/ 528034 h 3307174"/>
              <a:gd name="connsiteX95" fmla="*/ 309093 w 2447177"/>
              <a:gd name="connsiteY95" fmla="*/ 566670 h 3307174"/>
              <a:gd name="connsiteX96" fmla="*/ 373488 w 2447177"/>
              <a:gd name="connsiteY96" fmla="*/ 631065 h 3307174"/>
              <a:gd name="connsiteX97" fmla="*/ 399245 w 2447177"/>
              <a:gd name="connsiteY97" fmla="*/ 708338 h 3307174"/>
              <a:gd name="connsiteX98" fmla="*/ 412124 w 2447177"/>
              <a:gd name="connsiteY98" fmla="*/ 746974 h 3307174"/>
              <a:gd name="connsiteX99" fmla="*/ 373488 w 2447177"/>
              <a:gd name="connsiteY99" fmla="*/ 965915 h 3307174"/>
              <a:gd name="connsiteX100" fmla="*/ 347730 w 2447177"/>
              <a:gd name="connsiteY100" fmla="*/ 1004552 h 3307174"/>
              <a:gd name="connsiteX101" fmla="*/ 309093 w 2447177"/>
              <a:gd name="connsiteY101" fmla="*/ 1030310 h 3307174"/>
              <a:gd name="connsiteX102" fmla="*/ 231820 w 2447177"/>
              <a:gd name="connsiteY102" fmla="*/ 1146219 h 3307174"/>
              <a:gd name="connsiteX103" fmla="*/ 206062 w 2447177"/>
              <a:gd name="connsiteY103" fmla="*/ 1184856 h 3307174"/>
              <a:gd name="connsiteX104" fmla="*/ 167426 w 2447177"/>
              <a:gd name="connsiteY104" fmla="*/ 1210614 h 3307174"/>
              <a:gd name="connsiteX105" fmla="*/ 128789 w 2447177"/>
              <a:gd name="connsiteY105" fmla="*/ 1249250 h 3307174"/>
              <a:gd name="connsiteX106" fmla="*/ 103031 w 2447177"/>
              <a:gd name="connsiteY106" fmla="*/ 1287887 h 3307174"/>
              <a:gd name="connsiteX107" fmla="*/ 51516 w 2447177"/>
              <a:gd name="connsiteY107" fmla="*/ 1275008 h 3307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2447177" h="3307174">
                <a:moveTo>
                  <a:pt x="51516" y="1275008"/>
                </a:moveTo>
                <a:cubicBezTo>
                  <a:pt x="38637" y="1290033"/>
                  <a:pt x="38959" y="1351637"/>
                  <a:pt x="25758" y="1378039"/>
                </a:cubicBezTo>
                <a:cubicBezTo>
                  <a:pt x="18836" y="1391883"/>
                  <a:pt x="8586" y="1403797"/>
                  <a:pt x="0" y="1416676"/>
                </a:cubicBezTo>
                <a:cubicBezTo>
                  <a:pt x="4293" y="1489656"/>
                  <a:pt x="6260" y="1562811"/>
                  <a:pt x="12879" y="1635617"/>
                </a:cubicBezTo>
                <a:cubicBezTo>
                  <a:pt x="14861" y="1657417"/>
                  <a:pt x="23683" y="1678220"/>
                  <a:pt x="25758" y="1700011"/>
                </a:cubicBezTo>
                <a:cubicBezTo>
                  <a:pt x="49550" y="1949819"/>
                  <a:pt x="14888" y="1834827"/>
                  <a:pt x="51516" y="1944710"/>
                </a:cubicBezTo>
                <a:cubicBezTo>
                  <a:pt x="55809" y="1983346"/>
                  <a:pt x="59853" y="2022011"/>
                  <a:pt x="64395" y="2060619"/>
                </a:cubicBezTo>
                <a:cubicBezTo>
                  <a:pt x="68439" y="2094993"/>
                  <a:pt x="74717" y="2129134"/>
                  <a:pt x="77274" y="2163650"/>
                </a:cubicBezTo>
                <a:cubicBezTo>
                  <a:pt x="78367" y="2178404"/>
                  <a:pt x="47232" y="2386893"/>
                  <a:pt x="115910" y="2446986"/>
                </a:cubicBezTo>
                <a:cubicBezTo>
                  <a:pt x="139207" y="2467371"/>
                  <a:pt x="167425" y="2481329"/>
                  <a:pt x="193183" y="2498501"/>
                </a:cubicBezTo>
                <a:lnTo>
                  <a:pt x="309093" y="2575774"/>
                </a:lnTo>
                <a:lnTo>
                  <a:pt x="386367" y="2627290"/>
                </a:lnTo>
                <a:lnTo>
                  <a:pt x="425003" y="2653048"/>
                </a:lnTo>
                <a:cubicBezTo>
                  <a:pt x="404288" y="2860195"/>
                  <a:pt x="427808" y="2720500"/>
                  <a:pt x="399245" y="2820473"/>
                </a:cubicBezTo>
                <a:cubicBezTo>
                  <a:pt x="393742" y="2839734"/>
                  <a:pt x="383783" y="2890036"/>
                  <a:pt x="373488" y="2910625"/>
                </a:cubicBezTo>
                <a:cubicBezTo>
                  <a:pt x="366566" y="2924470"/>
                  <a:pt x="356316" y="2936383"/>
                  <a:pt x="347730" y="2949262"/>
                </a:cubicBezTo>
                <a:cubicBezTo>
                  <a:pt x="352477" y="2982490"/>
                  <a:pt x="355505" y="3042083"/>
                  <a:pt x="373488" y="3078050"/>
                </a:cubicBezTo>
                <a:cubicBezTo>
                  <a:pt x="380410" y="3091894"/>
                  <a:pt x="392323" y="3102843"/>
                  <a:pt x="399245" y="3116687"/>
                </a:cubicBezTo>
                <a:cubicBezTo>
                  <a:pt x="405316" y="3128830"/>
                  <a:pt x="406053" y="3143182"/>
                  <a:pt x="412124" y="3155324"/>
                </a:cubicBezTo>
                <a:cubicBezTo>
                  <a:pt x="431442" y="3193960"/>
                  <a:pt x="472228" y="3236891"/>
                  <a:pt x="515155" y="3245476"/>
                </a:cubicBezTo>
                <a:cubicBezTo>
                  <a:pt x="536620" y="3249769"/>
                  <a:pt x="558314" y="3253046"/>
                  <a:pt x="579550" y="3258355"/>
                </a:cubicBezTo>
                <a:cubicBezTo>
                  <a:pt x="592720" y="3261648"/>
                  <a:pt x="604830" y="3268806"/>
                  <a:pt x="618186" y="3271234"/>
                </a:cubicBezTo>
                <a:cubicBezTo>
                  <a:pt x="652239" y="3277425"/>
                  <a:pt x="686873" y="3279819"/>
                  <a:pt x="721217" y="3284112"/>
                </a:cubicBezTo>
                <a:cubicBezTo>
                  <a:pt x="842964" y="3324694"/>
                  <a:pt x="762999" y="3303205"/>
                  <a:pt x="1030310" y="3284112"/>
                </a:cubicBezTo>
                <a:cubicBezTo>
                  <a:pt x="1094920" y="3279497"/>
                  <a:pt x="1116124" y="3272319"/>
                  <a:pt x="1171978" y="3258355"/>
                </a:cubicBezTo>
                <a:cubicBezTo>
                  <a:pt x="1189150" y="3249769"/>
                  <a:pt x="1206824" y="3242122"/>
                  <a:pt x="1223493" y="3232597"/>
                </a:cubicBezTo>
                <a:cubicBezTo>
                  <a:pt x="1236932" y="3224917"/>
                  <a:pt x="1247903" y="3212936"/>
                  <a:pt x="1262130" y="3206839"/>
                </a:cubicBezTo>
                <a:cubicBezTo>
                  <a:pt x="1278399" y="3199866"/>
                  <a:pt x="1296691" y="3199046"/>
                  <a:pt x="1313645" y="3193960"/>
                </a:cubicBezTo>
                <a:cubicBezTo>
                  <a:pt x="1339651" y="3186158"/>
                  <a:pt x="1365161" y="3176789"/>
                  <a:pt x="1390919" y="3168203"/>
                </a:cubicBezTo>
                <a:cubicBezTo>
                  <a:pt x="1403798" y="3163910"/>
                  <a:pt x="1418260" y="3162854"/>
                  <a:pt x="1429555" y="3155324"/>
                </a:cubicBezTo>
                <a:cubicBezTo>
                  <a:pt x="1479488" y="3122036"/>
                  <a:pt x="1453508" y="3134461"/>
                  <a:pt x="1506829" y="3116687"/>
                </a:cubicBezTo>
                <a:cubicBezTo>
                  <a:pt x="1545635" y="3090816"/>
                  <a:pt x="1551223" y="3084782"/>
                  <a:pt x="1596981" y="3065172"/>
                </a:cubicBezTo>
                <a:cubicBezTo>
                  <a:pt x="1609459" y="3059824"/>
                  <a:pt x="1623139" y="3057641"/>
                  <a:pt x="1635617" y="3052293"/>
                </a:cubicBezTo>
                <a:cubicBezTo>
                  <a:pt x="1653264" y="3044730"/>
                  <a:pt x="1669486" y="3034098"/>
                  <a:pt x="1687133" y="3026535"/>
                </a:cubicBezTo>
                <a:cubicBezTo>
                  <a:pt x="1699611" y="3021187"/>
                  <a:pt x="1713627" y="3019727"/>
                  <a:pt x="1725769" y="3013656"/>
                </a:cubicBezTo>
                <a:cubicBezTo>
                  <a:pt x="1814708" y="2969186"/>
                  <a:pt x="1708709" y="3001822"/>
                  <a:pt x="1815922" y="2975019"/>
                </a:cubicBezTo>
                <a:cubicBezTo>
                  <a:pt x="1828801" y="2966433"/>
                  <a:pt x="1841119" y="2956941"/>
                  <a:pt x="1854558" y="2949262"/>
                </a:cubicBezTo>
                <a:cubicBezTo>
                  <a:pt x="1871227" y="2939737"/>
                  <a:pt x="1892498" y="2937080"/>
                  <a:pt x="1906074" y="2923504"/>
                </a:cubicBezTo>
                <a:cubicBezTo>
                  <a:pt x="1919649" y="2909928"/>
                  <a:pt x="1922306" y="2888657"/>
                  <a:pt x="1931831" y="2871988"/>
                </a:cubicBezTo>
                <a:cubicBezTo>
                  <a:pt x="1939510" y="2858549"/>
                  <a:pt x="1947680" y="2845243"/>
                  <a:pt x="1957589" y="2833352"/>
                </a:cubicBezTo>
                <a:cubicBezTo>
                  <a:pt x="1969249" y="2819360"/>
                  <a:pt x="1984566" y="2808707"/>
                  <a:pt x="1996226" y="2794715"/>
                </a:cubicBezTo>
                <a:cubicBezTo>
                  <a:pt x="2006135" y="2782824"/>
                  <a:pt x="2011038" y="2767024"/>
                  <a:pt x="2021983" y="2756079"/>
                </a:cubicBezTo>
                <a:cubicBezTo>
                  <a:pt x="2037161" y="2740901"/>
                  <a:pt x="2059238" y="2733485"/>
                  <a:pt x="2073499" y="2717442"/>
                </a:cubicBezTo>
                <a:cubicBezTo>
                  <a:pt x="2094066" y="2694305"/>
                  <a:pt x="2115225" y="2669537"/>
                  <a:pt x="2125014" y="2640169"/>
                </a:cubicBezTo>
                <a:cubicBezTo>
                  <a:pt x="2129307" y="2627290"/>
                  <a:pt x="2130363" y="2612828"/>
                  <a:pt x="2137893" y="2601532"/>
                </a:cubicBezTo>
                <a:cubicBezTo>
                  <a:pt x="2147996" y="2586378"/>
                  <a:pt x="2163651" y="2575775"/>
                  <a:pt x="2176530" y="2562896"/>
                </a:cubicBezTo>
                <a:cubicBezTo>
                  <a:pt x="2200143" y="2492056"/>
                  <a:pt x="2175220" y="2555529"/>
                  <a:pt x="2215167" y="2485622"/>
                </a:cubicBezTo>
                <a:cubicBezTo>
                  <a:pt x="2224692" y="2468953"/>
                  <a:pt x="2231399" y="2450776"/>
                  <a:pt x="2240924" y="2434107"/>
                </a:cubicBezTo>
                <a:cubicBezTo>
                  <a:pt x="2248604" y="2420668"/>
                  <a:pt x="2259760" y="2409314"/>
                  <a:pt x="2266682" y="2395470"/>
                </a:cubicBezTo>
                <a:cubicBezTo>
                  <a:pt x="2320004" y="2288828"/>
                  <a:pt x="2231499" y="2428927"/>
                  <a:pt x="2305319" y="2318197"/>
                </a:cubicBezTo>
                <a:cubicBezTo>
                  <a:pt x="2323522" y="2227183"/>
                  <a:pt x="2311277" y="2274564"/>
                  <a:pt x="2343955" y="2176529"/>
                </a:cubicBezTo>
                <a:lnTo>
                  <a:pt x="2356834" y="2137893"/>
                </a:lnTo>
                <a:cubicBezTo>
                  <a:pt x="2367642" y="2073044"/>
                  <a:pt x="2374077" y="2021771"/>
                  <a:pt x="2395471" y="1957588"/>
                </a:cubicBezTo>
                <a:lnTo>
                  <a:pt x="2421229" y="1880315"/>
                </a:lnTo>
                <a:cubicBezTo>
                  <a:pt x="2444696" y="1633909"/>
                  <a:pt x="2459037" y="1668050"/>
                  <a:pt x="2434107" y="1481070"/>
                </a:cubicBezTo>
                <a:cubicBezTo>
                  <a:pt x="2431214" y="1459372"/>
                  <a:pt x="2425145" y="1438213"/>
                  <a:pt x="2421229" y="1416676"/>
                </a:cubicBezTo>
                <a:cubicBezTo>
                  <a:pt x="2415576" y="1385585"/>
                  <a:pt x="2411691" y="1333205"/>
                  <a:pt x="2395471" y="1300766"/>
                </a:cubicBezTo>
                <a:cubicBezTo>
                  <a:pt x="2388549" y="1286921"/>
                  <a:pt x="2376000" y="1276274"/>
                  <a:pt x="2369713" y="1262129"/>
                </a:cubicBezTo>
                <a:cubicBezTo>
                  <a:pt x="2358686" y="1237318"/>
                  <a:pt x="2352541" y="1210614"/>
                  <a:pt x="2343955" y="1184856"/>
                </a:cubicBezTo>
                <a:cubicBezTo>
                  <a:pt x="2332615" y="1150836"/>
                  <a:pt x="2312774" y="1080017"/>
                  <a:pt x="2279561" y="1068946"/>
                </a:cubicBezTo>
                <a:cubicBezTo>
                  <a:pt x="2245219" y="1057499"/>
                  <a:pt x="2221236" y="1051528"/>
                  <a:pt x="2189409" y="1030310"/>
                </a:cubicBezTo>
                <a:cubicBezTo>
                  <a:pt x="2153689" y="1006497"/>
                  <a:pt x="2122098" y="976848"/>
                  <a:pt x="2086378" y="953036"/>
                </a:cubicBezTo>
                <a:cubicBezTo>
                  <a:pt x="2073499" y="944450"/>
                  <a:pt x="2061885" y="933565"/>
                  <a:pt x="2047741" y="927279"/>
                </a:cubicBezTo>
                <a:cubicBezTo>
                  <a:pt x="2022930" y="916252"/>
                  <a:pt x="1996226" y="910107"/>
                  <a:pt x="1970468" y="901521"/>
                </a:cubicBezTo>
                <a:lnTo>
                  <a:pt x="1931831" y="888642"/>
                </a:lnTo>
                <a:cubicBezTo>
                  <a:pt x="1918952" y="880056"/>
                  <a:pt x="1907039" y="869806"/>
                  <a:pt x="1893195" y="862884"/>
                </a:cubicBezTo>
                <a:cubicBezTo>
                  <a:pt x="1881053" y="856813"/>
                  <a:pt x="1866425" y="856598"/>
                  <a:pt x="1854558" y="850005"/>
                </a:cubicBezTo>
                <a:cubicBezTo>
                  <a:pt x="1827497" y="834971"/>
                  <a:pt x="1803043" y="815662"/>
                  <a:pt x="1777285" y="798490"/>
                </a:cubicBezTo>
                <a:lnTo>
                  <a:pt x="1738648" y="772732"/>
                </a:lnTo>
                <a:cubicBezTo>
                  <a:pt x="1681044" y="686325"/>
                  <a:pt x="1748903" y="770983"/>
                  <a:pt x="1674254" y="721217"/>
                </a:cubicBezTo>
                <a:cubicBezTo>
                  <a:pt x="1659099" y="711114"/>
                  <a:pt x="1649609" y="694240"/>
                  <a:pt x="1635617" y="682580"/>
                </a:cubicBezTo>
                <a:cubicBezTo>
                  <a:pt x="1623726" y="672671"/>
                  <a:pt x="1609860" y="665408"/>
                  <a:pt x="1596981" y="656822"/>
                </a:cubicBezTo>
                <a:cubicBezTo>
                  <a:pt x="1588034" y="629981"/>
                  <a:pt x="1576026" y="587889"/>
                  <a:pt x="1558344" y="566670"/>
                </a:cubicBezTo>
                <a:cubicBezTo>
                  <a:pt x="1548435" y="554779"/>
                  <a:pt x="1532586" y="549498"/>
                  <a:pt x="1519707" y="540912"/>
                </a:cubicBezTo>
                <a:cubicBezTo>
                  <a:pt x="1511121" y="528033"/>
                  <a:pt x="1504895" y="513221"/>
                  <a:pt x="1493950" y="502276"/>
                </a:cubicBezTo>
                <a:cubicBezTo>
                  <a:pt x="1483005" y="491331"/>
                  <a:pt x="1464982" y="488605"/>
                  <a:pt x="1455313" y="476518"/>
                </a:cubicBezTo>
                <a:cubicBezTo>
                  <a:pt x="1446832" y="465917"/>
                  <a:pt x="1448505" y="450023"/>
                  <a:pt x="1442434" y="437881"/>
                </a:cubicBezTo>
                <a:cubicBezTo>
                  <a:pt x="1435512" y="424037"/>
                  <a:pt x="1425262" y="412124"/>
                  <a:pt x="1416676" y="399245"/>
                </a:cubicBezTo>
                <a:cubicBezTo>
                  <a:pt x="1376471" y="278620"/>
                  <a:pt x="1442334" y="457023"/>
                  <a:pt x="1365161" y="321972"/>
                </a:cubicBezTo>
                <a:cubicBezTo>
                  <a:pt x="1295973" y="200895"/>
                  <a:pt x="1418194" y="336368"/>
                  <a:pt x="1313645" y="231819"/>
                </a:cubicBezTo>
                <a:cubicBezTo>
                  <a:pt x="1305059" y="214647"/>
                  <a:pt x="1295451" y="197950"/>
                  <a:pt x="1287888" y="180304"/>
                </a:cubicBezTo>
                <a:cubicBezTo>
                  <a:pt x="1272768" y="145024"/>
                  <a:pt x="1265326" y="78339"/>
                  <a:pt x="1223493" y="64394"/>
                </a:cubicBezTo>
                <a:cubicBezTo>
                  <a:pt x="1210614" y="60101"/>
                  <a:pt x="1196999" y="57586"/>
                  <a:pt x="1184857" y="51515"/>
                </a:cubicBezTo>
                <a:cubicBezTo>
                  <a:pt x="1171013" y="44593"/>
                  <a:pt x="1160713" y="31192"/>
                  <a:pt x="1146220" y="25757"/>
                </a:cubicBezTo>
                <a:cubicBezTo>
                  <a:pt x="1131825" y="20359"/>
                  <a:pt x="1013225" y="1445"/>
                  <a:pt x="1004552" y="0"/>
                </a:cubicBezTo>
                <a:cubicBezTo>
                  <a:pt x="875763" y="4293"/>
                  <a:pt x="746719" y="3698"/>
                  <a:pt x="618186" y="12879"/>
                </a:cubicBezTo>
                <a:cubicBezTo>
                  <a:pt x="566093" y="16600"/>
                  <a:pt x="463640" y="38636"/>
                  <a:pt x="463640" y="38636"/>
                </a:cubicBezTo>
                <a:cubicBezTo>
                  <a:pt x="450761" y="51515"/>
                  <a:pt x="438995" y="65613"/>
                  <a:pt x="425003" y="77273"/>
                </a:cubicBezTo>
                <a:cubicBezTo>
                  <a:pt x="413112" y="87182"/>
                  <a:pt x="396036" y="90944"/>
                  <a:pt x="386367" y="103031"/>
                </a:cubicBezTo>
                <a:cubicBezTo>
                  <a:pt x="377887" y="113632"/>
                  <a:pt x="380081" y="129800"/>
                  <a:pt x="373488" y="141667"/>
                </a:cubicBezTo>
                <a:cubicBezTo>
                  <a:pt x="358454" y="168728"/>
                  <a:pt x="339144" y="193183"/>
                  <a:pt x="321972" y="218941"/>
                </a:cubicBezTo>
                <a:lnTo>
                  <a:pt x="296214" y="257577"/>
                </a:lnTo>
                <a:cubicBezTo>
                  <a:pt x="291921" y="270456"/>
                  <a:pt x="289407" y="284072"/>
                  <a:pt x="283336" y="296214"/>
                </a:cubicBezTo>
                <a:cubicBezTo>
                  <a:pt x="276414" y="310058"/>
                  <a:pt x="258437" y="319395"/>
                  <a:pt x="257578" y="334850"/>
                </a:cubicBezTo>
                <a:cubicBezTo>
                  <a:pt x="253998" y="399288"/>
                  <a:pt x="256457" y="465033"/>
                  <a:pt x="270457" y="528034"/>
                </a:cubicBezTo>
                <a:cubicBezTo>
                  <a:pt x="274408" y="545813"/>
                  <a:pt x="297433" y="552678"/>
                  <a:pt x="309093" y="566670"/>
                </a:cubicBezTo>
                <a:cubicBezTo>
                  <a:pt x="362755" y="631065"/>
                  <a:pt x="302654" y="583842"/>
                  <a:pt x="373488" y="631065"/>
                </a:cubicBezTo>
                <a:lnTo>
                  <a:pt x="399245" y="708338"/>
                </a:lnTo>
                <a:lnTo>
                  <a:pt x="412124" y="746974"/>
                </a:lnTo>
                <a:cubicBezTo>
                  <a:pt x="408025" y="792064"/>
                  <a:pt x="407805" y="914440"/>
                  <a:pt x="373488" y="965915"/>
                </a:cubicBezTo>
                <a:cubicBezTo>
                  <a:pt x="364902" y="978794"/>
                  <a:pt x="358675" y="993607"/>
                  <a:pt x="347730" y="1004552"/>
                </a:cubicBezTo>
                <a:cubicBezTo>
                  <a:pt x="336785" y="1015497"/>
                  <a:pt x="321972" y="1021724"/>
                  <a:pt x="309093" y="1030310"/>
                </a:cubicBezTo>
                <a:lnTo>
                  <a:pt x="231820" y="1146219"/>
                </a:lnTo>
                <a:cubicBezTo>
                  <a:pt x="223234" y="1159098"/>
                  <a:pt x="218941" y="1176270"/>
                  <a:pt x="206062" y="1184856"/>
                </a:cubicBezTo>
                <a:cubicBezTo>
                  <a:pt x="193183" y="1193442"/>
                  <a:pt x="179317" y="1200705"/>
                  <a:pt x="167426" y="1210614"/>
                </a:cubicBezTo>
                <a:cubicBezTo>
                  <a:pt x="153434" y="1222274"/>
                  <a:pt x="140449" y="1235258"/>
                  <a:pt x="128789" y="1249250"/>
                </a:cubicBezTo>
                <a:cubicBezTo>
                  <a:pt x="118880" y="1261141"/>
                  <a:pt x="115118" y="1278217"/>
                  <a:pt x="103031" y="1287887"/>
                </a:cubicBezTo>
                <a:cubicBezTo>
                  <a:pt x="92431" y="1296368"/>
                  <a:pt x="64395" y="1259983"/>
                  <a:pt x="51516" y="12750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7" name="组合 16"/>
          <p:cNvGrpSpPr>
            <a:grpSpLocks/>
          </p:cNvGrpSpPr>
          <p:nvPr/>
        </p:nvGrpSpPr>
        <p:grpSpPr bwMode="auto">
          <a:xfrm>
            <a:off x="3514725" y="3162300"/>
            <a:ext cx="2574925" cy="527050"/>
            <a:chOff x="3513932" y="3162300"/>
            <a:chExt cx="2575601" cy="527051"/>
          </a:xfrm>
        </p:grpSpPr>
        <p:sp>
          <p:nvSpPr>
            <p:cNvPr id="80" name="矩形 79"/>
            <p:cNvSpPr/>
            <p:nvPr/>
          </p:nvSpPr>
          <p:spPr>
            <a:xfrm>
              <a:off x="3937906" y="3162300"/>
              <a:ext cx="1406894" cy="527051"/>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K1+Cs</a:t>
              </a:r>
              <a:endParaRPr lang="zh-CN" altLang="en-US" dirty="0">
                <a:solidFill>
                  <a:schemeClr val="tx1"/>
                </a:solidFill>
              </a:endParaRPr>
            </a:p>
          </p:txBody>
        </p:sp>
        <p:cxnSp>
          <p:nvCxnSpPr>
            <p:cNvPr id="11" name="直接箭头连接符 10"/>
            <p:cNvCxnSpPr>
              <a:endCxn id="80" idx="1"/>
            </p:cNvCxnSpPr>
            <p:nvPr/>
          </p:nvCxnSpPr>
          <p:spPr>
            <a:xfrm>
              <a:off x="3513932" y="3419475"/>
              <a:ext cx="423974" cy="635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355915" y="3414713"/>
              <a:ext cx="73361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61577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组合 4"/>
          <p:cNvGrpSpPr>
            <a:grpSpLocks/>
          </p:cNvGrpSpPr>
          <p:nvPr/>
        </p:nvGrpSpPr>
        <p:grpSpPr bwMode="auto">
          <a:xfrm>
            <a:off x="155575" y="1628775"/>
            <a:ext cx="9170988" cy="4435475"/>
            <a:chOff x="-295275" y="1892300"/>
            <a:chExt cx="9170988" cy="4435475"/>
          </a:xfrm>
        </p:grpSpPr>
        <p:cxnSp>
          <p:nvCxnSpPr>
            <p:cNvPr id="3" name="直接箭头连接符 2"/>
            <p:cNvCxnSpPr/>
            <p:nvPr/>
          </p:nvCxnSpPr>
          <p:spPr>
            <a:xfrm flipH="1" flipV="1">
              <a:off x="3536950" y="3055938"/>
              <a:ext cx="1588" cy="379412"/>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257550" y="2655888"/>
              <a:ext cx="627063" cy="4000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K1</a:t>
              </a:r>
              <a:endParaRPr lang="zh-CN" altLang="en-US" dirty="0">
                <a:solidFill>
                  <a:schemeClr val="tx1"/>
                </a:solidFill>
              </a:endParaRPr>
            </a:p>
          </p:txBody>
        </p:sp>
        <p:cxnSp>
          <p:nvCxnSpPr>
            <p:cNvPr id="6" name="直接连接符 5"/>
            <p:cNvCxnSpPr>
              <a:stCxn id="4" idx="0"/>
            </p:cNvCxnSpPr>
            <p:nvPr/>
          </p:nvCxnSpPr>
          <p:spPr>
            <a:xfrm flipV="1">
              <a:off x="3571875" y="2354263"/>
              <a:ext cx="0" cy="30162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24647" idx="3"/>
            </p:cNvCxnSpPr>
            <p:nvPr/>
          </p:nvCxnSpPr>
          <p:spPr>
            <a:xfrm>
              <a:off x="4084638" y="2090738"/>
              <a:ext cx="271462"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4084638" y="2133600"/>
              <a:ext cx="331787" cy="3698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4778375" y="2487613"/>
              <a:ext cx="271463"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4778375" y="2530475"/>
              <a:ext cx="331788" cy="3698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597" name="Text Box 34"/>
            <p:cNvSpPr txBox="1">
              <a:spLocks noChangeArrowheads="1"/>
            </p:cNvSpPr>
            <p:nvPr/>
          </p:nvSpPr>
          <p:spPr bwMode="auto">
            <a:xfrm>
              <a:off x="4716463" y="3397250"/>
              <a:ext cx="898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cxnSp>
          <p:nvCxnSpPr>
            <p:cNvPr id="76" name="直接连接符 75"/>
            <p:cNvCxnSpPr/>
            <p:nvPr/>
          </p:nvCxnSpPr>
          <p:spPr>
            <a:xfrm>
              <a:off x="4876800" y="4572000"/>
              <a:ext cx="271463"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4876800" y="4614863"/>
              <a:ext cx="331788" cy="36988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325938" y="4868863"/>
              <a:ext cx="271462"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4325938" y="4910138"/>
              <a:ext cx="331787" cy="3714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546475" y="3452813"/>
              <a:ext cx="9525" cy="1216025"/>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3222625" y="4640263"/>
              <a:ext cx="627063" cy="4000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Cs</a:t>
              </a:r>
              <a:endParaRPr lang="zh-CN" altLang="en-US" dirty="0">
                <a:solidFill>
                  <a:schemeClr val="tx1"/>
                </a:solidFill>
              </a:endParaRPr>
            </a:p>
          </p:txBody>
        </p:sp>
        <p:cxnSp>
          <p:nvCxnSpPr>
            <p:cNvPr id="20" name="直接连接符 19"/>
            <p:cNvCxnSpPr>
              <a:stCxn id="82" idx="2"/>
            </p:cNvCxnSpPr>
            <p:nvPr/>
          </p:nvCxnSpPr>
          <p:spPr>
            <a:xfrm flipH="1">
              <a:off x="3536950" y="5040313"/>
              <a:ext cx="0" cy="92075"/>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8478838" y="3462338"/>
              <a:ext cx="6350" cy="21923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606" name="组合 9"/>
            <p:cNvGrpSpPr>
              <a:grpSpLocks/>
            </p:cNvGrpSpPr>
            <p:nvPr/>
          </p:nvGrpSpPr>
          <p:grpSpPr bwMode="auto">
            <a:xfrm>
              <a:off x="-295275" y="1892300"/>
              <a:ext cx="9170988" cy="4435475"/>
              <a:chOff x="-295275" y="1892300"/>
              <a:chExt cx="9170988" cy="4435475"/>
            </a:xfrm>
          </p:grpSpPr>
          <p:grpSp>
            <p:nvGrpSpPr>
              <p:cNvPr id="24615" name="Group 3"/>
              <p:cNvGrpSpPr>
                <a:grpSpLocks/>
              </p:cNvGrpSpPr>
              <p:nvPr/>
            </p:nvGrpSpPr>
            <p:grpSpPr bwMode="auto">
              <a:xfrm>
                <a:off x="-295275" y="1892300"/>
                <a:ext cx="9170988" cy="4435475"/>
                <a:chOff x="-186" y="1192"/>
                <a:chExt cx="5777" cy="2794"/>
              </a:xfrm>
            </p:grpSpPr>
            <p:sp>
              <p:nvSpPr>
                <p:cNvPr id="24617" name="Rectangle 4"/>
                <p:cNvSpPr>
                  <a:spLocks noChangeArrowheads="1"/>
                </p:cNvSpPr>
                <p:nvPr/>
              </p:nvSpPr>
              <p:spPr bwMode="auto">
                <a:xfrm>
                  <a:off x="1092" y="1882"/>
                  <a:ext cx="442"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24618" name="Object 5"/>
                <p:cNvGraphicFramePr>
                  <a:graphicFrameLocks noChangeAspect="1"/>
                </p:cNvGraphicFramePr>
                <p:nvPr/>
              </p:nvGraphicFramePr>
              <p:xfrm>
                <a:off x="1122" y="1933"/>
                <a:ext cx="411" cy="495"/>
              </p:xfrm>
              <a:graphic>
                <a:graphicData uri="http://schemas.openxmlformats.org/presentationml/2006/ole">
                  <mc:AlternateContent xmlns:mc="http://schemas.openxmlformats.org/markup-compatibility/2006">
                    <mc:Choice xmlns:v="urn:schemas-microsoft-com:vml" Requires="v">
                      <p:oleObj spid="_x0000_s149506" r:id="rId4" imgW="419100" imgH="508000" progId="Equation.3">
                        <p:embed/>
                      </p:oleObj>
                    </mc:Choice>
                    <mc:Fallback>
                      <p:oleObj r:id="rId4" imgW="419100" imgH="508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 y="1933"/>
                              <a:ext cx="411"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619" name="Text Box 6"/>
                <p:cNvSpPr txBox="1">
                  <a:spLocks noChangeArrowheads="1"/>
                </p:cNvSpPr>
                <p:nvPr/>
              </p:nvSpPr>
              <p:spPr bwMode="auto">
                <a:xfrm>
                  <a:off x="51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4620" name="Line 7"/>
                <p:cNvSpPr>
                  <a:spLocks noChangeShapeType="1"/>
                </p:cNvSpPr>
                <p:nvPr/>
              </p:nvSpPr>
              <p:spPr bwMode="auto">
                <a:xfrm>
                  <a:off x="226" y="2155"/>
                  <a:ext cx="37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21" name="Line 8"/>
                <p:cNvSpPr>
                  <a:spLocks noChangeShapeType="1"/>
                </p:cNvSpPr>
                <p:nvPr/>
              </p:nvSpPr>
              <p:spPr bwMode="auto">
                <a:xfrm>
                  <a:off x="786" y="2155"/>
                  <a:ext cx="3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22" name="Line 9"/>
                <p:cNvSpPr>
                  <a:spLocks noChangeShapeType="1"/>
                </p:cNvSpPr>
                <p:nvPr/>
              </p:nvSpPr>
              <p:spPr bwMode="auto">
                <a:xfrm>
                  <a:off x="1528" y="2155"/>
                  <a:ext cx="33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23" name="Text Box 10"/>
                <p:cNvSpPr txBox="1">
                  <a:spLocks noChangeArrowheads="1"/>
                </p:cNvSpPr>
                <p:nvPr/>
              </p:nvSpPr>
              <p:spPr bwMode="auto">
                <a:xfrm>
                  <a:off x="-186" y="1805"/>
                  <a:ext cx="4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i</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24" name="Text Box 11"/>
                <p:cNvSpPr txBox="1">
                  <a:spLocks noChangeArrowheads="1"/>
                </p:cNvSpPr>
                <p:nvPr/>
              </p:nvSpPr>
              <p:spPr bwMode="auto">
                <a:xfrm>
                  <a:off x="1541" y="1867"/>
                  <a:ext cx="3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25" name="Line 12"/>
                <p:cNvSpPr>
                  <a:spLocks noChangeShapeType="1"/>
                </p:cNvSpPr>
                <p:nvPr/>
              </p:nvSpPr>
              <p:spPr bwMode="auto">
                <a:xfrm>
                  <a:off x="741"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6" name="Line 13"/>
                <p:cNvSpPr>
                  <a:spLocks noChangeShapeType="1"/>
                </p:cNvSpPr>
                <p:nvPr/>
              </p:nvSpPr>
              <p:spPr bwMode="auto">
                <a:xfrm>
                  <a:off x="695"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27" name="Line 14"/>
                <p:cNvSpPr>
                  <a:spLocks noChangeShapeType="1"/>
                </p:cNvSpPr>
                <p:nvPr/>
              </p:nvSpPr>
              <p:spPr bwMode="auto">
                <a:xfrm flipV="1">
                  <a:off x="693" y="2246"/>
                  <a:ext cx="2" cy="99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28" name="Text Box 15"/>
                <p:cNvSpPr txBox="1">
                  <a:spLocks noChangeArrowheads="1"/>
                </p:cNvSpPr>
                <p:nvPr/>
              </p:nvSpPr>
              <p:spPr bwMode="auto">
                <a:xfrm>
                  <a:off x="693" y="2593"/>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29" name="Line 16"/>
                <p:cNvSpPr>
                  <a:spLocks noChangeShapeType="1"/>
                </p:cNvSpPr>
                <p:nvPr/>
              </p:nvSpPr>
              <p:spPr bwMode="auto">
                <a:xfrm>
                  <a:off x="741" y="1883"/>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0" name="Text Box 17"/>
                <p:cNvSpPr txBox="1">
                  <a:spLocks noChangeArrowheads="1"/>
                </p:cNvSpPr>
                <p:nvPr/>
              </p:nvSpPr>
              <p:spPr bwMode="auto">
                <a:xfrm>
                  <a:off x="720" y="1511"/>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31" name="Rectangle 18"/>
                <p:cNvSpPr>
                  <a:spLocks noChangeArrowheads="1"/>
                </p:cNvSpPr>
                <p:nvPr/>
              </p:nvSpPr>
              <p:spPr bwMode="auto">
                <a:xfrm>
                  <a:off x="4467" y="1882"/>
                  <a:ext cx="463" cy="54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zh-CN" altLang="zh-CN" sz="2000">
                    <a:latin typeface="Times New Roman" panose="02020603050405020304" pitchFamily="18" charset="0"/>
                  </a:endParaRPr>
                </a:p>
              </p:txBody>
            </p:sp>
            <p:graphicFrame>
              <p:nvGraphicFramePr>
                <p:cNvPr id="24632" name="Object 19"/>
                <p:cNvGraphicFramePr>
                  <a:graphicFrameLocks noChangeAspect="1"/>
                </p:cNvGraphicFramePr>
                <p:nvPr/>
              </p:nvGraphicFramePr>
              <p:xfrm>
                <a:off x="4490" y="1933"/>
                <a:ext cx="422" cy="495"/>
              </p:xfrm>
              <a:graphic>
                <a:graphicData uri="http://schemas.openxmlformats.org/presentationml/2006/ole">
                  <mc:AlternateContent xmlns:mc="http://schemas.openxmlformats.org/markup-compatibility/2006">
                    <mc:Choice xmlns:v="urn:schemas-microsoft-com:vml" Requires="v">
                      <p:oleObj spid="_x0000_s149507" r:id="rId6" imgW="431800" imgH="508000" progId="Equation.3">
                        <p:embed/>
                      </p:oleObj>
                    </mc:Choice>
                    <mc:Fallback>
                      <p:oleObj r:id="rId6" imgW="431800" imgH="508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0" y="1933"/>
                              <a:ext cx="422"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633" name="Text Box 20"/>
                <p:cNvSpPr txBox="1">
                  <a:spLocks noChangeArrowheads="1"/>
                </p:cNvSpPr>
                <p:nvPr/>
              </p:nvSpPr>
              <p:spPr bwMode="auto">
                <a:xfrm>
                  <a:off x="3387"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4634" name="Line 21"/>
                <p:cNvSpPr>
                  <a:spLocks noChangeShapeType="1"/>
                </p:cNvSpPr>
                <p:nvPr/>
              </p:nvSpPr>
              <p:spPr bwMode="auto">
                <a:xfrm>
                  <a:off x="3660" y="2155"/>
                  <a:ext cx="2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35" name="Text Box 22"/>
                <p:cNvSpPr txBox="1">
                  <a:spLocks noChangeArrowheads="1"/>
                </p:cNvSpPr>
                <p:nvPr/>
              </p:nvSpPr>
              <p:spPr bwMode="auto">
                <a:xfrm>
                  <a:off x="5148" y="1883"/>
                  <a:ext cx="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36" name="Text Box 23"/>
                <p:cNvSpPr txBox="1">
                  <a:spLocks noChangeArrowheads="1"/>
                </p:cNvSpPr>
                <p:nvPr/>
              </p:nvSpPr>
              <p:spPr bwMode="auto">
                <a:xfrm>
                  <a:off x="3545" y="1420"/>
                  <a:ext cx="56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2</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37" name="Text Box 24"/>
                <p:cNvSpPr txBox="1">
                  <a:spLocks noChangeArrowheads="1"/>
                </p:cNvSpPr>
                <p:nvPr/>
              </p:nvSpPr>
              <p:spPr bwMode="auto">
                <a:xfrm>
                  <a:off x="3602" y="2260"/>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b="1">
                      <a:latin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endParaRPr>
                </a:p>
              </p:txBody>
            </p:sp>
            <p:sp>
              <p:nvSpPr>
                <p:cNvPr id="24638" name="Text Box 25"/>
                <p:cNvSpPr txBox="1">
                  <a:spLocks noChangeArrowheads="1"/>
                </p:cNvSpPr>
                <p:nvPr/>
              </p:nvSpPr>
              <p:spPr bwMode="auto">
                <a:xfrm>
                  <a:off x="3843"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4639" name="Line 26"/>
                <p:cNvSpPr>
                  <a:spLocks noChangeShapeType="1"/>
                </p:cNvSpPr>
                <p:nvPr/>
              </p:nvSpPr>
              <p:spPr bwMode="auto">
                <a:xfrm>
                  <a:off x="4116" y="2155"/>
                  <a:ext cx="35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40" name="Line 27"/>
                <p:cNvSpPr>
                  <a:spLocks noChangeShapeType="1"/>
                </p:cNvSpPr>
                <p:nvPr/>
              </p:nvSpPr>
              <p:spPr bwMode="auto">
                <a:xfrm>
                  <a:off x="4070" y="1883"/>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1" name="Line 28"/>
                <p:cNvSpPr>
                  <a:spLocks noChangeShapeType="1"/>
                </p:cNvSpPr>
                <p:nvPr/>
              </p:nvSpPr>
              <p:spPr bwMode="auto">
                <a:xfrm>
                  <a:off x="4012" y="147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42" name="Rectangle 29"/>
                <p:cNvSpPr>
                  <a:spLocks noChangeArrowheads="1"/>
                </p:cNvSpPr>
                <p:nvPr/>
              </p:nvSpPr>
              <p:spPr bwMode="auto">
                <a:xfrm>
                  <a:off x="2561" y="1928"/>
                  <a:ext cx="365"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24643" name="Text Box 30"/>
                <p:cNvSpPr txBox="1">
                  <a:spLocks noChangeArrowheads="1"/>
                </p:cNvSpPr>
                <p:nvPr/>
              </p:nvSpPr>
              <p:spPr bwMode="auto">
                <a:xfrm>
                  <a:off x="1802" y="1928"/>
                  <a:ext cx="3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40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4644" name="Line 31"/>
                <p:cNvSpPr>
                  <a:spLocks noChangeShapeType="1"/>
                </p:cNvSpPr>
                <p:nvPr/>
              </p:nvSpPr>
              <p:spPr bwMode="auto">
                <a:xfrm>
                  <a:off x="2075" y="2155"/>
                  <a:ext cx="4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45" name="Line 32"/>
                <p:cNvSpPr>
                  <a:spLocks noChangeShapeType="1"/>
                </p:cNvSpPr>
                <p:nvPr/>
              </p:nvSpPr>
              <p:spPr bwMode="auto">
                <a:xfrm>
                  <a:off x="2030" y="2428"/>
                  <a:ext cx="1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6" name="Text Box 33"/>
                <p:cNvSpPr txBox="1">
                  <a:spLocks noChangeArrowheads="1"/>
                </p:cNvSpPr>
                <p:nvPr/>
              </p:nvSpPr>
              <p:spPr bwMode="auto">
                <a:xfrm>
                  <a:off x="1582" y="2333"/>
                  <a:ext cx="485"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X</a:t>
                  </a:r>
                  <a:r>
                    <a:rPr lang="en-US" altLang="zh-CN" sz="2000" b="1" i="1" baseline="-25000">
                      <a:latin typeface="Times New Roman" panose="02020603050405020304" pitchFamily="18" charset="0"/>
                    </a:rPr>
                    <a:t>o</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47" name="Text Box 34"/>
                <p:cNvSpPr txBox="1">
                  <a:spLocks noChangeArrowheads="1"/>
                </p:cNvSpPr>
                <p:nvPr/>
              </p:nvSpPr>
              <p:spPr bwMode="auto">
                <a:xfrm>
                  <a:off x="2007" y="1192"/>
                  <a:ext cx="5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K</a:t>
                  </a:r>
                  <a:r>
                    <a:rPr lang="en-US" altLang="zh-CN" sz="2000" baseline="-36000">
                      <a:latin typeface="Times New Roman" panose="02020603050405020304" pitchFamily="18" charset="0"/>
                    </a:rPr>
                    <a:t>1</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48" name="Line 35"/>
                <p:cNvSpPr>
                  <a:spLocks noChangeShapeType="1"/>
                </p:cNvSpPr>
                <p:nvPr/>
              </p:nvSpPr>
              <p:spPr bwMode="auto">
                <a:xfrm>
                  <a:off x="2333" y="2154"/>
                  <a:ext cx="0" cy="5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9" name="Line 36"/>
                <p:cNvSpPr>
                  <a:spLocks noChangeShapeType="1"/>
                </p:cNvSpPr>
                <p:nvPr/>
              </p:nvSpPr>
              <p:spPr bwMode="auto">
                <a:xfrm>
                  <a:off x="2333" y="274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50" name="Rectangle 37"/>
                <p:cNvSpPr>
                  <a:spLocks noChangeArrowheads="1"/>
                </p:cNvSpPr>
                <p:nvPr/>
              </p:nvSpPr>
              <p:spPr bwMode="auto">
                <a:xfrm>
                  <a:off x="2561" y="2517"/>
                  <a:ext cx="365" cy="45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Cs</a:t>
                  </a:r>
                </a:p>
              </p:txBody>
            </p:sp>
            <p:sp>
              <p:nvSpPr>
                <p:cNvPr id="24651" name="Line 38"/>
                <p:cNvSpPr>
                  <a:spLocks noChangeShapeType="1"/>
                </p:cNvSpPr>
                <p:nvPr/>
              </p:nvSpPr>
              <p:spPr bwMode="auto">
                <a:xfrm>
                  <a:off x="2933" y="2155"/>
                  <a:ext cx="54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52" name="Line 39"/>
                <p:cNvSpPr>
                  <a:spLocks noChangeShapeType="1"/>
                </p:cNvSpPr>
                <p:nvPr/>
              </p:nvSpPr>
              <p:spPr bwMode="auto">
                <a:xfrm>
                  <a:off x="2926" y="2745"/>
                  <a:ext cx="6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3" name="Text Box 40"/>
                <p:cNvSpPr txBox="1">
                  <a:spLocks noChangeArrowheads="1"/>
                </p:cNvSpPr>
                <p:nvPr/>
              </p:nvSpPr>
              <p:spPr bwMode="auto">
                <a:xfrm>
                  <a:off x="2965" y="2457"/>
                  <a:ext cx="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000" b="1" i="1">
                      <a:latin typeface="Times New Roman" panose="02020603050405020304" pitchFamily="18" charset="0"/>
                    </a:rPr>
                    <a:t>F</a:t>
                  </a:r>
                  <a:r>
                    <a:rPr lang="en-US" altLang="zh-CN" sz="2000" b="1" i="1" baseline="-25000">
                      <a:latin typeface="Times New Roman" panose="02020603050405020304" pitchFamily="18" charset="0"/>
                    </a:rPr>
                    <a:t>C</a:t>
                  </a:r>
                  <a:r>
                    <a:rPr lang="en-US" altLang="zh-CN" sz="2000" b="1">
                      <a:latin typeface="Times New Roman" panose="02020603050405020304" pitchFamily="18" charset="0"/>
                    </a:rPr>
                    <a:t>(</a:t>
                  </a:r>
                  <a:r>
                    <a:rPr lang="en-US" altLang="zh-CN" sz="2000" b="1" i="1">
                      <a:latin typeface="Times New Roman" panose="02020603050405020304" pitchFamily="18" charset="0"/>
                    </a:rPr>
                    <a:t>s</a:t>
                  </a:r>
                  <a:r>
                    <a:rPr lang="en-US" altLang="zh-CN" sz="2000" b="1">
                      <a:latin typeface="Times New Roman" panose="02020603050405020304" pitchFamily="18" charset="0"/>
                    </a:rPr>
                    <a:t>)</a:t>
                  </a:r>
                </a:p>
              </p:txBody>
            </p:sp>
            <p:sp>
              <p:nvSpPr>
                <p:cNvPr id="24654" name="Rectangle 41"/>
                <p:cNvSpPr>
                  <a:spLocks noChangeArrowheads="1"/>
                </p:cNvSpPr>
                <p:nvPr/>
              </p:nvSpPr>
              <p:spPr bwMode="auto">
                <a:xfrm>
                  <a:off x="4461" y="1248"/>
                  <a:ext cx="469" cy="4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en-US" altLang="zh-CN" sz="2000" b="1">
                      <a:latin typeface="Times New Roman" panose="02020603050405020304" pitchFamily="18" charset="0"/>
                    </a:rPr>
                    <a:t>K</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24655" name="Line 42"/>
                <p:cNvSpPr>
                  <a:spLocks noChangeShapeType="1"/>
                </p:cNvSpPr>
                <p:nvPr/>
              </p:nvSpPr>
              <p:spPr bwMode="auto">
                <a:xfrm flipV="1">
                  <a:off x="3564" y="2246"/>
                  <a:ext cx="0" cy="4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56" name="Line 43"/>
                <p:cNvSpPr>
                  <a:spLocks noChangeShapeType="1"/>
                </p:cNvSpPr>
                <p:nvPr/>
              </p:nvSpPr>
              <p:spPr bwMode="auto">
                <a:xfrm>
                  <a:off x="4930" y="2155"/>
                  <a:ext cx="59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57" name="Line 44"/>
                <p:cNvSpPr>
                  <a:spLocks noChangeShapeType="1"/>
                </p:cNvSpPr>
                <p:nvPr/>
              </p:nvSpPr>
              <p:spPr bwMode="auto">
                <a:xfrm flipV="1">
                  <a:off x="515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8" name="Line 45"/>
                <p:cNvSpPr>
                  <a:spLocks noChangeShapeType="1"/>
                </p:cNvSpPr>
                <p:nvPr/>
              </p:nvSpPr>
              <p:spPr bwMode="auto">
                <a:xfrm flipH="1">
                  <a:off x="4930" y="1475"/>
                  <a:ext cx="2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59" name="Line 46"/>
                <p:cNvSpPr>
                  <a:spLocks noChangeShapeType="1"/>
                </p:cNvSpPr>
                <p:nvPr/>
              </p:nvSpPr>
              <p:spPr bwMode="auto">
                <a:xfrm flipH="1">
                  <a:off x="4019" y="1475"/>
                  <a:ext cx="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0" name="Line 47"/>
                <p:cNvSpPr>
                  <a:spLocks noChangeShapeType="1"/>
                </p:cNvSpPr>
                <p:nvPr/>
              </p:nvSpPr>
              <p:spPr bwMode="auto">
                <a:xfrm flipV="1">
                  <a:off x="3108" y="1475"/>
                  <a:ext cx="0" cy="6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1" name="Line 48"/>
                <p:cNvSpPr>
                  <a:spLocks noChangeShapeType="1"/>
                </p:cNvSpPr>
                <p:nvPr/>
              </p:nvSpPr>
              <p:spPr bwMode="auto">
                <a:xfrm flipH="1">
                  <a:off x="693" y="1475"/>
                  <a:ext cx="24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2" name="Line 49"/>
                <p:cNvSpPr>
                  <a:spLocks noChangeShapeType="1"/>
                </p:cNvSpPr>
                <p:nvPr/>
              </p:nvSpPr>
              <p:spPr bwMode="auto">
                <a:xfrm>
                  <a:off x="5158" y="2155"/>
                  <a:ext cx="0" cy="1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3" name="Line 50"/>
                <p:cNvSpPr>
                  <a:spLocks noChangeShapeType="1"/>
                </p:cNvSpPr>
                <p:nvPr/>
              </p:nvSpPr>
              <p:spPr bwMode="auto">
                <a:xfrm flipH="1">
                  <a:off x="1969" y="3562"/>
                  <a:ext cx="31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4" name="Line 51"/>
                <p:cNvSpPr>
                  <a:spLocks noChangeShapeType="1"/>
                </p:cNvSpPr>
                <p:nvPr/>
              </p:nvSpPr>
              <p:spPr bwMode="auto">
                <a:xfrm flipV="1">
                  <a:off x="1969" y="2246"/>
                  <a:ext cx="0" cy="13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5" name="Line 52"/>
                <p:cNvSpPr>
                  <a:spLocks noChangeShapeType="1"/>
                </p:cNvSpPr>
                <p:nvPr/>
              </p:nvSpPr>
              <p:spPr bwMode="auto">
                <a:xfrm>
                  <a:off x="3153" y="2745"/>
                  <a:ext cx="0"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6" name="Line 53"/>
                <p:cNvSpPr>
                  <a:spLocks noChangeShapeType="1"/>
                </p:cNvSpPr>
                <p:nvPr/>
              </p:nvSpPr>
              <p:spPr bwMode="auto">
                <a:xfrm flipH="1">
                  <a:off x="693" y="3244"/>
                  <a:ext cx="24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67" name="Text Box 54"/>
                <p:cNvSpPr txBox="1">
                  <a:spLocks noChangeArrowheads="1"/>
                </p:cNvSpPr>
                <p:nvPr/>
              </p:nvSpPr>
              <p:spPr bwMode="auto">
                <a:xfrm>
                  <a:off x="2178" y="3698"/>
                  <a:ext cx="1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机械系统方框图</a:t>
                  </a:r>
                </a:p>
              </p:txBody>
            </p:sp>
            <p:sp>
              <p:nvSpPr>
                <p:cNvPr id="24668" name="Oval 55"/>
                <p:cNvSpPr>
                  <a:spLocks noChangeArrowheads="1"/>
                </p:cNvSpPr>
                <p:nvPr/>
              </p:nvSpPr>
              <p:spPr bwMode="auto">
                <a:xfrm>
                  <a:off x="2304"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4669" name="Oval 56"/>
                <p:cNvSpPr>
                  <a:spLocks noChangeArrowheads="1"/>
                </p:cNvSpPr>
                <p:nvPr/>
              </p:nvSpPr>
              <p:spPr bwMode="auto">
                <a:xfrm>
                  <a:off x="3088"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4670" name="Oval 57"/>
                <p:cNvSpPr>
                  <a:spLocks noChangeArrowheads="1"/>
                </p:cNvSpPr>
                <p:nvPr/>
              </p:nvSpPr>
              <p:spPr bwMode="auto">
                <a:xfrm>
                  <a:off x="3128" y="272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4671" name="Oval 58"/>
                <p:cNvSpPr>
                  <a:spLocks noChangeArrowheads="1"/>
                </p:cNvSpPr>
                <p:nvPr/>
              </p:nvSpPr>
              <p:spPr bwMode="auto">
                <a:xfrm>
                  <a:off x="5136" y="2128"/>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9" name="矩形 8"/>
              <p:cNvSpPr/>
              <p:nvPr/>
            </p:nvSpPr>
            <p:spPr>
              <a:xfrm>
                <a:off x="8101013" y="3497263"/>
                <a:ext cx="138112" cy="2092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 name="矩形 1"/>
            <p:cNvSpPr/>
            <p:nvPr/>
          </p:nvSpPr>
          <p:spPr>
            <a:xfrm>
              <a:off x="6223000" y="1892300"/>
              <a:ext cx="1930400" cy="2322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2" name="直接连接符 11"/>
            <p:cNvCxnSpPr>
              <a:endCxn id="24663" idx="0"/>
            </p:cNvCxnSpPr>
            <p:nvPr/>
          </p:nvCxnSpPr>
          <p:spPr>
            <a:xfrm flipH="1">
              <a:off x="8188325" y="5654675"/>
              <a:ext cx="2905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609" name="文本框 80"/>
            <p:cNvSpPr txBox="1">
              <a:spLocks noRot="1" noChangeAspect="1" noEditPoints="1" noChangeArrowheads="1" noTextEdit="1"/>
            </p:cNvSpPr>
            <p:nvPr/>
          </p:nvSpPr>
          <p:spPr bwMode="auto">
            <a:xfrm>
              <a:off x="6267450" y="2408238"/>
              <a:ext cx="1951038" cy="1709737"/>
            </a:xfrm>
            <a:prstGeom prst="rect">
              <a:avLst/>
            </a:prstGeom>
            <a:blipFill dpi="0" rotWithShape="1">
              <a:blip r:embed="rId8"/>
              <a:srcRect/>
              <a:stretch>
                <a:fillRect/>
              </a:stretch>
            </a:blipFill>
            <a:ln w="38100">
              <a:solidFill>
                <a:schemeClr val="tx2"/>
              </a:solidFill>
              <a:round/>
              <a:headEnd/>
              <a:tailEnd/>
            </a:ln>
          </p:spPr>
          <p:txBody>
            <a:bodyPr/>
            <a:lstStyle/>
            <a:p>
              <a:endParaRPr lang="zh-CN" altLang="en-US"/>
            </a:p>
          </p:txBody>
        </p:sp>
        <p:sp>
          <p:nvSpPr>
            <p:cNvPr id="8" name="任意多边形 7"/>
            <p:cNvSpPr/>
            <p:nvPr/>
          </p:nvSpPr>
          <p:spPr>
            <a:xfrm>
              <a:off x="3619500" y="1957388"/>
              <a:ext cx="2446338" cy="3306762"/>
            </a:xfrm>
            <a:custGeom>
              <a:avLst/>
              <a:gdLst>
                <a:gd name="connsiteX0" fmla="*/ 51516 w 2447177"/>
                <a:gd name="connsiteY0" fmla="*/ 1275008 h 3307174"/>
                <a:gd name="connsiteX1" fmla="*/ 25758 w 2447177"/>
                <a:gd name="connsiteY1" fmla="*/ 1378039 h 3307174"/>
                <a:gd name="connsiteX2" fmla="*/ 0 w 2447177"/>
                <a:gd name="connsiteY2" fmla="*/ 1416676 h 3307174"/>
                <a:gd name="connsiteX3" fmla="*/ 12879 w 2447177"/>
                <a:gd name="connsiteY3" fmla="*/ 1635617 h 3307174"/>
                <a:gd name="connsiteX4" fmla="*/ 25758 w 2447177"/>
                <a:gd name="connsiteY4" fmla="*/ 1700011 h 3307174"/>
                <a:gd name="connsiteX5" fmla="*/ 51516 w 2447177"/>
                <a:gd name="connsiteY5" fmla="*/ 1944710 h 3307174"/>
                <a:gd name="connsiteX6" fmla="*/ 64395 w 2447177"/>
                <a:gd name="connsiteY6" fmla="*/ 2060619 h 3307174"/>
                <a:gd name="connsiteX7" fmla="*/ 77274 w 2447177"/>
                <a:gd name="connsiteY7" fmla="*/ 2163650 h 3307174"/>
                <a:gd name="connsiteX8" fmla="*/ 115910 w 2447177"/>
                <a:gd name="connsiteY8" fmla="*/ 2446986 h 3307174"/>
                <a:gd name="connsiteX9" fmla="*/ 193183 w 2447177"/>
                <a:gd name="connsiteY9" fmla="*/ 2498501 h 3307174"/>
                <a:gd name="connsiteX10" fmla="*/ 309093 w 2447177"/>
                <a:gd name="connsiteY10" fmla="*/ 2575774 h 3307174"/>
                <a:gd name="connsiteX11" fmla="*/ 386367 w 2447177"/>
                <a:gd name="connsiteY11" fmla="*/ 2627290 h 3307174"/>
                <a:gd name="connsiteX12" fmla="*/ 425003 w 2447177"/>
                <a:gd name="connsiteY12" fmla="*/ 2653048 h 3307174"/>
                <a:gd name="connsiteX13" fmla="*/ 399245 w 2447177"/>
                <a:gd name="connsiteY13" fmla="*/ 2820473 h 3307174"/>
                <a:gd name="connsiteX14" fmla="*/ 373488 w 2447177"/>
                <a:gd name="connsiteY14" fmla="*/ 2910625 h 3307174"/>
                <a:gd name="connsiteX15" fmla="*/ 347730 w 2447177"/>
                <a:gd name="connsiteY15" fmla="*/ 2949262 h 3307174"/>
                <a:gd name="connsiteX16" fmla="*/ 373488 w 2447177"/>
                <a:gd name="connsiteY16" fmla="*/ 3078050 h 3307174"/>
                <a:gd name="connsiteX17" fmla="*/ 399245 w 2447177"/>
                <a:gd name="connsiteY17" fmla="*/ 3116687 h 3307174"/>
                <a:gd name="connsiteX18" fmla="*/ 412124 w 2447177"/>
                <a:gd name="connsiteY18" fmla="*/ 3155324 h 3307174"/>
                <a:gd name="connsiteX19" fmla="*/ 515155 w 2447177"/>
                <a:gd name="connsiteY19" fmla="*/ 3245476 h 3307174"/>
                <a:gd name="connsiteX20" fmla="*/ 579550 w 2447177"/>
                <a:gd name="connsiteY20" fmla="*/ 3258355 h 3307174"/>
                <a:gd name="connsiteX21" fmla="*/ 618186 w 2447177"/>
                <a:gd name="connsiteY21" fmla="*/ 3271234 h 3307174"/>
                <a:gd name="connsiteX22" fmla="*/ 721217 w 2447177"/>
                <a:gd name="connsiteY22" fmla="*/ 3284112 h 3307174"/>
                <a:gd name="connsiteX23" fmla="*/ 1030310 w 2447177"/>
                <a:gd name="connsiteY23" fmla="*/ 3284112 h 3307174"/>
                <a:gd name="connsiteX24" fmla="*/ 1171978 w 2447177"/>
                <a:gd name="connsiteY24" fmla="*/ 3258355 h 3307174"/>
                <a:gd name="connsiteX25" fmla="*/ 1223493 w 2447177"/>
                <a:gd name="connsiteY25" fmla="*/ 3232597 h 3307174"/>
                <a:gd name="connsiteX26" fmla="*/ 1262130 w 2447177"/>
                <a:gd name="connsiteY26" fmla="*/ 3206839 h 3307174"/>
                <a:gd name="connsiteX27" fmla="*/ 1313645 w 2447177"/>
                <a:gd name="connsiteY27" fmla="*/ 3193960 h 3307174"/>
                <a:gd name="connsiteX28" fmla="*/ 1390919 w 2447177"/>
                <a:gd name="connsiteY28" fmla="*/ 3168203 h 3307174"/>
                <a:gd name="connsiteX29" fmla="*/ 1429555 w 2447177"/>
                <a:gd name="connsiteY29" fmla="*/ 3155324 h 3307174"/>
                <a:gd name="connsiteX30" fmla="*/ 1506829 w 2447177"/>
                <a:gd name="connsiteY30" fmla="*/ 3116687 h 3307174"/>
                <a:gd name="connsiteX31" fmla="*/ 1596981 w 2447177"/>
                <a:gd name="connsiteY31" fmla="*/ 3065172 h 3307174"/>
                <a:gd name="connsiteX32" fmla="*/ 1635617 w 2447177"/>
                <a:gd name="connsiteY32" fmla="*/ 3052293 h 3307174"/>
                <a:gd name="connsiteX33" fmla="*/ 1687133 w 2447177"/>
                <a:gd name="connsiteY33" fmla="*/ 3026535 h 3307174"/>
                <a:gd name="connsiteX34" fmla="*/ 1725769 w 2447177"/>
                <a:gd name="connsiteY34" fmla="*/ 3013656 h 3307174"/>
                <a:gd name="connsiteX35" fmla="*/ 1815922 w 2447177"/>
                <a:gd name="connsiteY35" fmla="*/ 2975019 h 3307174"/>
                <a:gd name="connsiteX36" fmla="*/ 1854558 w 2447177"/>
                <a:gd name="connsiteY36" fmla="*/ 2949262 h 3307174"/>
                <a:gd name="connsiteX37" fmla="*/ 1906074 w 2447177"/>
                <a:gd name="connsiteY37" fmla="*/ 2923504 h 3307174"/>
                <a:gd name="connsiteX38" fmla="*/ 1931831 w 2447177"/>
                <a:gd name="connsiteY38" fmla="*/ 2871988 h 3307174"/>
                <a:gd name="connsiteX39" fmla="*/ 1957589 w 2447177"/>
                <a:gd name="connsiteY39" fmla="*/ 2833352 h 3307174"/>
                <a:gd name="connsiteX40" fmla="*/ 1996226 w 2447177"/>
                <a:gd name="connsiteY40" fmla="*/ 2794715 h 3307174"/>
                <a:gd name="connsiteX41" fmla="*/ 2021983 w 2447177"/>
                <a:gd name="connsiteY41" fmla="*/ 2756079 h 3307174"/>
                <a:gd name="connsiteX42" fmla="*/ 2073499 w 2447177"/>
                <a:gd name="connsiteY42" fmla="*/ 2717442 h 3307174"/>
                <a:gd name="connsiteX43" fmla="*/ 2125014 w 2447177"/>
                <a:gd name="connsiteY43" fmla="*/ 2640169 h 3307174"/>
                <a:gd name="connsiteX44" fmla="*/ 2137893 w 2447177"/>
                <a:gd name="connsiteY44" fmla="*/ 2601532 h 3307174"/>
                <a:gd name="connsiteX45" fmla="*/ 2176530 w 2447177"/>
                <a:gd name="connsiteY45" fmla="*/ 2562896 h 3307174"/>
                <a:gd name="connsiteX46" fmla="*/ 2215167 w 2447177"/>
                <a:gd name="connsiteY46" fmla="*/ 2485622 h 3307174"/>
                <a:gd name="connsiteX47" fmla="*/ 2240924 w 2447177"/>
                <a:gd name="connsiteY47" fmla="*/ 2434107 h 3307174"/>
                <a:gd name="connsiteX48" fmla="*/ 2266682 w 2447177"/>
                <a:gd name="connsiteY48" fmla="*/ 2395470 h 3307174"/>
                <a:gd name="connsiteX49" fmla="*/ 2305319 w 2447177"/>
                <a:gd name="connsiteY49" fmla="*/ 2318197 h 3307174"/>
                <a:gd name="connsiteX50" fmla="*/ 2343955 w 2447177"/>
                <a:gd name="connsiteY50" fmla="*/ 2176529 h 3307174"/>
                <a:gd name="connsiteX51" fmla="*/ 2356834 w 2447177"/>
                <a:gd name="connsiteY51" fmla="*/ 2137893 h 3307174"/>
                <a:gd name="connsiteX52" fmla="*/ 2395471 w 2447177"/>
                <a:gd name="connsiteY52" fmla="*/ 1957588 h 3307174"/>
                <a:gd name="connsiteX53" fmla="*/ 2421229 w 2447177"/>
                <a:gd name="connsiteY53" fmla="*/ 1880315 h 3307174"/>
                <a:gd name="connsiteX54" fmla="*/ 2434107 w 2447177"/>
                <a:gd name="connsiteY54" fmla="*/ 1481070 h 3307174"/>
                <a:gd name="connsiteX55" fmla="*/ 2421229 w 2447177"/>
                <a:gd name="connsiteY55" fmla="*/ 1416676 h 3307174"/>
                <a:gd name="connsiteX56" fmla="*/ 2395471 w 2447177"/>
                <a:gd name="connsiteY56" fmla="*/ 1300766 h 3307174"/>
                <a:gd name="connsiteX57" fmla="*/ 2369713 w 2447177"/>
                <a:gd name="connsiteY57" fmla="*/ 1262129 h 3307174"/>
                <a:gd name="connsiteX58" fmla="*/ 2343955 w 2447177"/>
                <a:gd name="connsiteY58" fmla="*/ 1184856 h 3307174"/>
                <a:gd name="connsiteX59" fmla="*/ 2279561 w 2447177"/>
                <a:gd name="connsiteY59" fmla="*/ 1068946 h 3307174"/>
                <a:gd name="connsiteX60" fmla="*/ 2189409 w 2447177"/>
                <a:gd name="connsiteY60" fmla="*/ 1030310 h 3307174"/>
                <a:gd name="connsiteX61" fmla="*/ 2086378 w 2447177"/>
                <a:gd name="connsiteY61" fmla="*/ 953036 h 3307174"/>
                <a:gd name="connsiteX62" fmla="*/ 2047741 w 2447177"/>
                <a:gd name="connsiteY62" fmla="*/ 927279 h 3307174"/>
                <a:gd name="connsiteX63" fmla="*/ 1970468 w 2447177"/>
                <a:gd name="connsiteY63" fmla="*/ 901521 h 3307174"/>
                <a:gd name="connsiteX64" fmla="*/ 1931831 w 2447177"/>
                <a:gd name="connsiteY64" fmla="*/ 888642 h 3307174"/>
                <a:gd name="connsiteX65" fmla="*/ 1893195 w 2447177"/>
                <a:gd name="connsiteY65" fmla="*/ 862884 h 3307174"/>
                <a:gd name="connsiteX66" fmla="*/ 1854558 w 2447177"/>
                <a:gd name="connsiteY66" fmla="*/ 850005 h 3307174"/>
                <a:gd name="connsiteX67" fmla="*/ 1777285 w 2447177"/>
                <a:gd name="connsiteY67" fmla="*/ 798490 h 3307174"/>
                <a:gd name="connsiteX68" fmla="*/ 1738648 w 2447177"/>
                <a:gd name="connsiteY68" fmla="*/ 772732 h 3307174"/>
                <a:gd name="connsiteX69" fmla="*/ 1674254 w 2447177"/>
                <a:gd name="connsiteY69" fmla="*/ 721217 h 3307174"/>
                <a:gd name="connsiteX70" fmla="*/ 1635617 w 2447177"/>
                <a:gd name="connsiteY70" fmla="*/ 682580 h 3307174"/>
                <a:gd name="connsiteX71" fmla="*/ 1596981 w 2447177"/>
                <a:gd name="connsiteY71" fmla="*/ 656822 h 3307174"/>
                <a:gd name="connsiteX72" fmla="*/ 1558344 w 2447177"/>
                <a:gd name="connsiteY72" fmla="*/ 566670 h 3307174"/>
                <a:gd name="connsiteX73" fmla="*/ 1519707 w 2447177"/>
                <a:gd name="connsiteY73" fmla="*/ 540912 h 3307174"/>
                <a:gd name="connsiteX74" fmla="*/ 1493950 w 2447177"/>
                <a:gd name="connsiteY74" fmla="*/ 502276 h 3307174"/>
                <a:gd name="connsiteX75" fmla="*/ 1455313 w 2447177"/>
                <a:gd name="connsiteY75" fmla="*/ 476518 h 3307174"/>
                <a:gd name="connsiteX76" fmla="*/ 1442434 w 2447177"/>
                <a:gd name="connsiteY76" fmla="*/ 437881 h 3307174"/>
                <a:gd name="connsiteX77" fmla="*/ 1416676 w 2447177"/>
                <a:gd name="connsiteY77" fmla="*/ 399245 h 3307174"/>
                <a:gd name="connsiteX78" fmla="*/ 1365161 w 2447177"/>
                <a:gd name="connsiteY78" fmla="*/ 321972 h 3307174"/>
                <a:gd name="connsiteX79" fmla="*/ 1313645 w 2447177"/>
                <a:gd name="connsiteY79" fmla="*/ 231819 h 3307174"/>
                <a:gd name="connsiteX80" fmla="*/ 1287888 w 2447177"/>
                <a:gd name="connsiteY80" fmla="*/ 180304 h 3307174"/>
                <a:gd name="connsiteX81" fmla="*/ 1223493 w 2447177"/>
                <a:gd name="connsiteY81" fmla="*/ 64394 h 3307174"/>
                <a:gd name="connsiteX82" fmla="*/ 1184857 w 2447177"/>
                <a:gd name="connsiteY82" fmla="*/ 51515 h 3307174"/>
                <a:gd name="connsiteX83" fmla="*/ 1146220 w 2447177"/>
                <a:gd name="connsiteY83" fmla="*/ 25757 h 3307174"/>
                <a:gd name="connsiteX84" fmla="*/ 1004552 w 2447177"/>
                <a:gd name="connsiteY84" fmla="*/ 0 h 3307174"/>
                <a:gd name="connsiteX85" fmla="*/ 618186 w 2447177"/>
                <a:gd name="connsiteY85" fmla="*/ 12879 h 3307174"/>
                <a:gd name="connsiteX86" fmla="*/ 463640 w 2447177"/>
                <a:gd name="connsiteY86" fmla="*/ 38636 h 3307174"/>
                <a:gd name="connsiteX87" fmla="*/ 425003 w 2447177"/>
                <a:gd name="connsiteY87" fmla="*/ 77273 h 3307174"/>
                <a:gd name="connsiteX88" fmla="*/ 386367 w 2447177"/>
                <a:gd name="connsiteY88" fmla="*/ 103031 h 3307174"/>
                <a:gd name="connsiteX89" fmla="*/ 373488 w 2447177"/>
                <a:gd name="connsiteY89" fmla="*/ 141667 h 3307174"/>
                <a:gd name="connsiteX90" fmla="*/ 321972 w 2447177"/>
                <a:gd name="connsiteY90" fmla="*/ 218941 h 3307174"/>
                <a:gd name="connsiteX91" fmla="*/ 296214 w 2447177"/>
                <a:gd name="connsiteY91" fmla="*/ 257577 h 3307174"/>
                <a:gd name="connsiteX92" fmla="*/ 283336 w 2447177"/>
                <a:gd name="connsiteY92" fmla="*/ 296214 h 3307174"/>
                <a:gd name="connsiteX93" fmla="*/ 257578 w 2447177"/>
                <a:gd name="connsiteY93" fmla="*/ 334850 h 3307174"/>
                <a:gd name="connsiteX94" fmla="*/ 270457 w 2447177"/>
                <a:gd name="connsiteY94" fmla="*/ 528034 h 3307174"/>
                <a:gd name="connsiteX95" fmla="*/ 309093 w 2447177"/>
                <a:gd name="connsiteY95" fmla="*/ 566670 h 3307174"/>
                <a:gd name="connsiteX96" fmla="*/ 373488 w 2447177"/>
                <a:gd name="connsiteY96" fmla="*/ 631065 h 3307174"/>
                <a:gd name="connsiteX97" fmla="*/ 399245 w 2447177"/>
                <a:gd name="connsiteY97" fmla="*/ 708338 h 3307174"/>
                <a:gd name="connsiteX98" fmla="*/ 412124 w 2447177"/>
                <a:gd name="connsiteY98" fmla="*/ 746974 h 3307174"/>
                <a:gd name="connsiteX99" fmla="*/ 373488 w 2447177"/>
                <a:gd name="connsiteY99" fmla="*/ 965915 h 3307174"/>
                <a:gd name="connsiteX100" fmla="*/ 347730 w 2447177"/>
                <a:gd name="connsiteY100" fmla="*/ 1004552 h 3307174"/>
                <a:gd name="connsiteX101" fmla="*/ 309093 w 2447177"/>
                <a:gd name="connsiteY101" fmla="*/ 1030310 h 3307174"/>
                <a:gd name="connsiteX102" fmla="*/ 231820 w 2447177"/>
                <a:gd name="connsiteY102" fmla="*/ 1146219 h 3307174"/>
                <a:gd name="connsiteX103" fmla="*/ 206062 w 2447177"/>
                <a:gd name="connsiteY103" fmla="*/ 1184856 h 3307174"/>
                <a:gd name="connsiteX104" fmla="*/ 167426 w 2447177"/>
                <a:gd name="connsiteY104" fmla="*/ 1210614 h 3307174"/>
                <a:gd name="connsiteX105" fmla="*/ 128789 w 2447177"/>
                <a:gd name="connsiteY105" fmla="*/ 1249250 h 3307174"/>
                <a:gd name="connsiteX106" fmla="*/ 103031 w 2447177"/>
                <a:gd name="connsiteY106" fmla="*/ 1287887 h 3307174"/>
                <a:gd name="connsiteX107" fmla="*/ 51516 w 2447177"/>
                <a:gd name="connsiteY107" fmla="*/ 1275008 h 3307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2447177" h="3307174">
                  <a:moveTo>
                    <a:pt x="51516" y="1275008"/>
                  </a:moveTo>
                  <a:cubicBezTo>
                    <a:pt x="38637" y="1290033"/>
                    <a:pt x="38959" y="1351637"/>
                    <a:pt x="25758" y="1378039"/>
                  </a:cubicBezTo>
                  <a:cubicBezTo>
                    <a:pt x="18836" y="1391883"/>
                    <a:pt x="8586" y="1403797"/>
                    <a:pt x="0" y="1416676"/>
                  </a:cubicBezTo>
                  <a:cubicBezTo>
                    <a:pt x="4293" y="1489656"/>
                    <a:pt x="6260" y="1562811"/>
                    <a:pt x="12879" y="1635617"/>
                  </a:cubicBezTo>
                  <a:cubicBezTo>
                    <a:pt x="14861" y="1657417"/>
                    <a:pt x="23683" y="1678220"/>
                    <a:pt x="25758" y="1700011"/>
                  </a:cubicBezTo>
                  <a:cubicBezTo>
                    <a:pt x="49550" y="1949819"/>
                    <a:pt x="14888" y="1834827"/>
                    <a:pt x="51516" y="1944710"/>
                  </a:cubicBezTo>
                  <a:cubicBezTo>
                    <a:pt x="55809" y="1983346"/>
                    <a:pt x="59853" y="2022011"/>
                    <a:pt x="64395" y="2060619"/>
                  </a:cubicBezTo>
                  <a:cubicBezTo>
                    <a:pt x="68439" y="2094993"/>
                    <a:pt x="74717" y="2129134"/>
                    <a:pt x="77274" y="2163650"/>
                  </a:cubicBezTo>
                  <a:cubicBezTo>
                    <a:pt x="78367" y="2178404"/>
                    <a:pt x="47232" y="2386893"/>
                    <a:pt x="115910" y="2446986"/>
                  </a:cubicBezTo>
                  <a:cubicBezTo>
                    <a:pt x="139207" y="2467371"/>
                    <a:pt x="167425" y="2481329"/>
                    <a:pt x="193183" y="2498501"/>
                  </a:cubicBezTo>
                  <a:lnTo>
                    <a:pt x="309093" y="2575774"/>
                  </a:lnTo>
                  <a:lnTo>
                    <a:pt x="386367" y="2627290"/>
                  </a:lnTo>
                  <a:lnTo>
                    <a:pt x="425003" y="2653048"/>
                  </a:lnTo>
                  <a:cubicBezTo>
                    <a:pt x="404288" y="2860195"/>
                    <a:pt x="427808" y="2720500"/>
                    <a:pt x="399245" y="2820473"/>
                  </a:cubicBezTo>
                  <a:cubicBezTo>
                    <a:pt x="393742" y="2839734"/>
                    <a:pt x="383783" y="2890036"/>
                    <a:pt x="373488" y="2910625"/>
                  </a:cubicBezTo>
                  <a:cubicBezTo>
                    <a:pt x="366566" y="2924470"/>
                    <a:pt x="356316" y="2936383"/>
                    <a:pt x="347730" y="2949262"/>
                  </a:cubicBezTo>
                  <a:cubicBezTo>
                    <a:pt x="352477" y="2982490"/>
                    <a:pt x="355505" y="3042083"/>
                    <a:pt x="373488" y="3078050"/>
                  </a:cubicBezTo>
                  <a:cubicBezTo>
                    <a:pt x="380410" y="3091894"/>
                    <a:pt x="392323" y="3102843"/>
                    <a:pt x="399245" y="3116687"/>
                  </a:cubicBezTo>
                  <a:cubicBezTo>
                    <a:pt x="405316" y="3128830"/>
                    <a:pt x="406053" y="3143182"/>
                    <a:pt x="412124" y="3155324"/>
                  </a:cubicBezTo>
                  <a:cubicBezTo>
                    <a:pt x="431442" y="3193960"/>
                    <a:pt x="472228" y="3236891"/>
                    <a:pt x="515155" y="3245476"/>
                  </a:cubicBezTo>
                  <a:cubicBezTo>
                    <a:pt x="536620" y="3249769"/>
                    <a:pt x="558314" y="3253046"/>
                    <a:pt x="579550" y="3258355"/>
                  </a:cubicBezTo>
                  <a:cubicBezTo>
                    <a:pt x="592720" y="3261648"/>
                    <a:pt x="604830" y="3268806"/>
                    <a:pt x="618186" y="3271234"/>
                  </a:cubicBezTo>
                  <a:cubicBezTo>
                    <a:pt x="652239" y="3277425"/>
                    <a:pt x="686873" y="3279819"/>
                    <a:pt x="721217" y="3284112"/>
                  </a:cubicBezTo>
                  <a:cubicBezTo>
                    <a:pt x="842964" y="3324694"/>
                    <a:pt x="762999" y="3303205"/>
                    <a:pt x="1030310" y="3284112"/>
                  </a:cubicBezTo>
                  <a:cubicBezTo>
                    <a:pt x="1094920" y="3279497"/>
                    <a:pt x="1116124" y="3272319"/>
                    <a:pt x="1171978" y="3258355"/>
                  </a:cubicBezTo>
                  <a:cubicBezTo>
                    <a:pt x="1189150" y="3249769"/>
                    <a:pt x="1206824" y="3242122"/>
                    <a:pt x="1223493" y="3232597"/>
                  </a:cubicBezTo>
                  <a:cubicBezTo>
                    <a:pt x="1236932" y="3224917"/>
                    <a:pt x="1247903" y="3212936"/>
                    <a:pt x="1262130" y="3206839"/>
                  </a:cubicBezTo>
                  <a:cubicBezTo>
                    <a:pt x="1278399" y="3199866"/>
                    <a:pt x="1296691" y="3199046"/>
                    <a:pt x="1313645" y="3193960"/>
                  </a:cubicBezTo>
                  <a:cubicBezTo>
                    <a:pt x="1339651" y="3186158"/>
                    <a:pt x="1365161" y="3176789"/>
                    <a:pt x="1390919" y="3168203"/>
                  </a:cubicBezTo>
                  <a:cubicBezTo>
                    <a:pt x="1403798" y="3163910"/>
                    <a:pt x="1418260" y="3162854"/>
                    <a:pt x="1429555" y="3155324"/>
                  </a:cubicBezTo>
                  <a:cubicBezTo>
                    <a:pt x="1479488" y="3122036"/>
                    <a:pt x="1453508" y="3134461"/>
                    <a:pt x="1506829" y="3116687"/>
                  </a:cubicBezTo>
                  <a:cubicBezTo>
                    <a:pt x="1545635" y="3090816"/>
                    <a:pt x="1551223" y="3084782"/>
                    <a:pt x="1596981" y="3065172"/>
                  </a:cubicBezTo>
                  <a:cubicBezTo>
                    <a:pt x="1609459" y="3059824"/>
                    <a:pt x="1623139" y="3057641"/>
                    <a:pt x="1635617" y="3052293"/>
                  </a:cubicBezTo>
                  <a:cubicBezTo>
                    <a:pt x="1653264" y="3044730"/>
                    <a:pt x="1669486" y="3034098"/>
                    <a:pt x="1687133" y="3026535"/>
                  </a:cubicBezTo>
                  <a:cubicBezTo>
                    <a:pt x="1699611" y="3021187"/>
                    <a:pt x="1713627" y="3019727"/>
                    <a:pt x="1725769" y="3013656"/>
                  </a:cubicBezTo>
                  <a:cubicBezTo>
                    <a:pt x="1814708" y="2969186"/>
                    <a:pt x="1708709" y="3001822"/>
                    <a:pt x="1815922" y="2975019"/>
                  </a:cubicBezTo>
                  <a:cubicBezTo>
                    <a:pt x="1828801" y="2966433"/>
                    <a:pt x="1841119" y="2956941"/>
                    <a:pt x="1854558" y="2949262"/>
                  </a:cubicBezTo>
                  <a:cubicBezTo>
                    <a:pt x="1871227" y="2939737"/>
                    <a:pt x="1892498" y="2937080"/>
                    <a:pt x="1906074" y="2923504"/>
                  </a:cubicBezTo>
                  <a:cubicBezTo>
                    <a:pt x="1919649" y="2909928"/>
                    <a:pt x="1922306" y="2888657"/>
                    <a:pt x="1931831" y="2871988"/>
                  </a:cubicBezTo>
                  <a:cubicBezTo>
                    <a:pt x="1939510" y="2858549"/>
                    <a:pt x="1947680" y="2845243"/>
                    <a:pt x="1957589" y="2833352"/>
                  </a:cubicBezTo>
                  <a:cubicBezTo>
                    <a:pt x="1969249" y="2819360"/>
                    <a:pt x="1984566" y="2808707"/>
                    <a:pt x="1996226" y="2794715"/>
                  </a:cubicBezTo>
                  <a:cubicBezTo>
                    <a:pt x="2006135" y="2782824"/>
                    <a:pt x="2011038" y="2767024"/>
                    <a:pt x="2021983" y="2756079"/>
                  </a:cubicBezTo>
                  <a:cubicBezTo>
                    <a:pt x="2037161" y="2740901"/>
                    <a:pt x="2059238" y="2733485"/>
                    <a:pt x="2073499" y="2717442"/>
                  </a:cubicBezTo>
                  <a:cubicBezTo>
                    <a:pt x="2094066" y="2694305"/>
                    <a:pt x="2115225" y="2669537"/>
                    <a:pt x="2125014" y="2640169"/>
                  </a:cubicBezTo>
                  <a:cubicBezTo>
                    <a:pt x="2129307" y="2627290"/>
                    <a:pt x="2130363" y="2612828"/>
                    <a:pt x="2137893" y="2601532"/>
                  </a:cubicBezTo>
                  <a:cubicBezTo>
                    <a:pt x="2147996" y="2586378"/>
                    <a:pt x="2163651" y="2575775"/>
                    <a:pt x="2176530" y="2562896"/>
                  </a:cubicBezTo>
                  <a:cubicBezTo>
                    <a:pt x="2200143" y="2492056"/>
                    <a:pt x="2175220" y="2555529"/>
                    <a:pt x="2215167" y="2485622"/>
                  </a:cubicBezTo>
                  <a:cubicBezTo>
                    <a:pt x="2224692" y="2468953"/>
                    <a:pt x="2231399" y="2450776"/>
                    <a:pt x="2240924" y="2434107"/>
                  </a:cubicBezTo>
                  <a:cubicBezTo>
                    <a:pt x="2248604" y="2420668"/>
                    <a:pt x="2259760" y="2409314"/>
                    <a:pt x="2266682" y="2395470"/>
                  </a:cubicBezTo>
                  <a:cubicBezTo>
                    <a:pt x="2320004" y="2288828"/>
                    <a:pt x="2231499" y="2428927"/>
                    <a:pt x="2305319" y="2318197"/>
                  </a:cubicBezTo>
                  <a:cubicBezTo>
                    <a:pt x="2323522" y="2227183"/>
                    <a:pt x="2311277" y="2274564"/>
                    <a:pt x="2343955" y="2176529"/>
                  </a:cubicBezTo>
                  <a:lnTo>
                    <a:pt x="2356834" y="2137893"/>
                  </a:lnTo>
                  <a:cubicBezTo>
                    <a:pt x="2367642" y="2073044"/>
                    <a:pt x="2374077" y="2021771"/>
                    <a:pt x="2395471" y="1957588"/>
                  </a:cubicBezTo>
                  <a:lnTo>
                    <a:pt x="2421229" y="1880315"/>
                  </a:lnTo>
                  <a:cubicBezTo>
                    <a:pt x="2444696" y="1633909"/>
                    <a:pt x="2459037" y="1668050"/>
                    <a:pt x="2434107" y="1481070"/>
                  </a:cubicBezTo>
                  <a:cubicBezTo>
                    <a:pt x="2431214" y="1459372"/>
                    <a:pt x="2425145" y="1438213"/>
                    <a:pt x="2421229" y="1416676"/>
                  </a:cubicBezTo>
                  <a:cubicBezTo>
                    <a:pt x="2415576" y="1385585"/>
                    <a:pt x="2411691" y="1333205"/>
                    <a:pt x="2395471" y="1300766"/>
                  </a:cubicBezTo>
                  <a:cubicBezTo>
                    <a:pt x="2388549" y="1286921"/>
                    <a:pt x="2376000" y="1276274"/>
                    <a:pt x="2369713" y="1262129"/>
                  </a:cubicBezTo>
                  <a:cubicBezTo>
                    <a:pt x="2358686" y="1237318"/>
                    <a:pt x="2352541" y="1210614"/>
                    <a:pt x="2343955" y="1184856"/>
                  </a:cubicBezTo>
                  <a:cubicBezTo>
                    <a:pt x="2332615" y="1150836"/>
                    <a:pt x="2312774" y="1080017"/>
                    <a:pt x="2279561" y="1068946"/>
                  </a:cubicBezTo>
                  <a:cubicBezTo>
                    <a:pt x="2245219" y="1057499"/>
                    <a:pt x="2221236" y="1051528"/>
                    <a:pt x="2189409" y="1030310"/>
                  </a:cubicBezTo>
                  <a:cubicBezTo>
                    <a:pt x="2153689" y="1006497"/>
                    <a:pt x="2122098" y="976848"/>
                    <a:pt x="2086378" y="953036"/>
                  </a:cubicBezTo>
                  <a:cubicBezTo>
                    <a:pt x="2073499" y="944450"/>
                    <a:pt x="2061885" y="933565"/>
                    <a:pt x="2047741" y="927279"/>
                  </a:cubicBezTo>
                  <a:cubicBezTo>
                    <a:pt x="2022930" y="916252"/>
                    <a:pt x="1996226" y="910107"/>
                    <a:pt x="1970468" y="901521"/>
                  </a:cubicBezTo>
                  <a:lnTo>
                    <a:pt x="1931831" y="888642"/>
                  </a:lnTo>
                  <a:cubicBezTo>
                    <a:pt x="1918952" y="880056"/>
                    <a:pt x="1907039" y="869806"/>
                    <a:pt x="1893195" y="862884"/>
                  </a:cubicBezTo>
                  <a:cubicBezTo>
                    <a:pt x="1881053" y="856813"/>
                    <a:pt x="1866425" y="856598"/>
                    <a:pt x="1854558" y="850005"/>
                  </a:cubicBezTo>
                  <a:cubicBezTo>
                    <a:pt x="1827497" y="834971"/>
                    <a:pt x="1803043" y="815662"/>
                    <a:pt x="1777285" y="798490"/>
                  </a:cubicBezTo>
                  <a:lnTo>
                    <a:pt x="1738648" y="772732"/>
                  </a:lnTo>
                  <a:cubicBezTo>
                    <a:pt x="1681044" y="686325"/>
                    <a:pt x="1748903" y="770983"/>
                    <a:pt x="1674254" y="721217"/>
                  </a:cubicBezTo>
                  <a:cubicBezTo>
                    <a:pt x="1659099" y="711114"/>
                    <a:pt x="1649609" y="694240"/>
                    <a:pt x="1635617" y="682580"/>
                  </a:cubicBezTo>
                  <a:cubicBezTo>
                    <a:pt x="1623726" y="672671"/>
                    <a:pt x="1609860" y="665408"/>
                    <a:pt x="1596981" y="656822"/>
                  </a:cubicBezTo>
                  <a:cubicBezTo>
                    <a:pt x="1588034" y="629981"/>
                    <a:pt x="1576026" y="587889"/>
                    <a:pt x="1558344" y="566670"/>
                  </a:cubicBezTo>
                  <a:cubicBezTo>
                    <a:pt x="1548435" y="554779"/>
                    <a:pt x="1532586" y="549498"/>
                    <a:pt x="1519707" y="540912"/>
                  </a:cubicBezTo>
                  <a:cubicBezTo>
                    <a:pt x="1511121" y="528033"/>
                    <a:pt x="1504895" y="513221"/>
                    <a:pt x="1493950" y="502276"/>
                  </a:cubicBezTo>
                  <a:cubicBezTo>
                    <a:pt x="1483005" y="491331"/>
                    <a:pt x="1464982" y="488605"/>
                    <a:pt x="1455313" y="476518"/>
                  </a:cubicBezTo>
                  <a:cubicBezTo>
                    <a:pt x="1446832" y="465917"/>
                    <a:pt x="1448505" y="450023"/>
                    <a:pt x="1442434" y="437881"/>
                  </a:cubicBezTo>
                  <a:cubicBezTo>
                    <a:pt x="1435512" y="424037"/>
                    <a:pt x="1425262" y="412124"/>
                    <a:pt x="1416676" y="399245"/>
                  </a:cubicBezTo>
                  <a:cubicBezTo>
                    <a:pt x="1376471" y="278620"/>
                    <a:pt x="1442334" y="457023"/>
                    <a:pt x="1365161" y="321972"/>
                  </a:cubicBezTo>
                  <a:cubicBezTo>
                    <a:pt x="1295973" y="200895"/>
                    <a:pt x="1418194" y="336368"/>
                    <a:pt x="1313645" y="231819"/>
                  </a:cubicBezTo>
                  <a:cubicBezTo>
                    <a:pt x="1305059" y="214647"/>
                    <a:pt x="1295451" y="197950"/>
                    <a:pt x="1287888" y="180304"/>
                  </a:cubicBezTo>
                  <a:cubicBezTo>
                    <a:pt x="1272768" y="145024"/>
                    <a:pt x="1265326" y="78339"/>
                    <a:pt x="1223493" y="64394"/>
                  </a:cubicBezTo>
                  <a:cubicBezTo>
                    <a:pt x="1210614" y="60101"/>
                    <a:pt x="1196999" y="57586"/>
                    <a:pt x="1184857" y="51515"/>
                  </a:cubicBezTo>
                  <a:cubicBezTo>
                    <a:pt x="1171013" y="44593"/>
                    <a:pt x="1160713" y="31192"/>
                    <a:pt x="1146220" y="25757"/>
                  </a:cubicBezTo>
                  <a:cubicBezTo>
                    <a:pt x="1131825" y="20359"/>
                    <a:pt x="1013225" y="1445"/>
                    <a:pt x="1004552" y="0"/>
                  </a:cubicBezTo>
                  <a:cubicBezTo>
                    <a:pt x="875763" y="4293"/>
                    <a:pt x="746719" y="3698"/>
                    <a:pt x="618186" y="12879"/>
                  </a:cubicBezTo>
                  <a:cubicBezTo>
                    <a:pt x="566093" y="16600"/>
                    <a:pt x="463640" y="38636"/>
                    <a:pt x="463640" y="38636"/>
                  </a:cubicBezTo>
                  <a:cubicBezTo>
                    <a:pt x="450761" y="51515"/>
                    <a:pt x="438995" y="65613"/>
                    <a:pt x="425003" y="77273"/>
                  </a:cubicBezTo>
                  <a:cubicBezTo>
                    <a:pt x="413112" y="87182"/>
                    <a:pt x="396036" y="90944"/>
                    <a:pt x="386367" y="103031"/>
                  </a:cubicBezTo>
                  <a:cubicBezTo>
                    <a:pt x="377887" y="113632"/>
                    <a:pt x="380081" y="129800"/>
                    <a:pt x="373488" y="141667"/>
                  </a:cubicBezTo>
                  <a:cubicBezTo>
                    <a:pt x="358454" y="168728"/>
                    <a:pt x="339144" y="193183"/>
                    <a:pt x="321972" y="218941"/>
                  </a:cubicBezTo>
                  <a:lnTo>
                    <a:pt x="296214" y="257577"/>
                  </a:lnTo>
                  <a:cubicBezTo>
                    <a:pt x="291921" y="270456"/>
                    <a:pt x="289407" y="284072"/>
                    <a:pt x="283336" y="296214"/>
                  </a:cubicBezTo>
                  <a:cubicBezTo>
                    <a:pt x="276414" y="310058"/>
                    <a:pt x="258437" y="319395"/>
                    <a:pt x="257578" y="334850"/>
                  </a:cubicBezTo>
                  <a:cubicBezTo>
                    <a:pt x="253998" y="399288"/>
                    <a:pt x="256457" y="465033"/>
                    <a:pt x="270457" y="528034"/>
                  </a:cubicBezTo>
                  <a:cubicBezTo>
                    <a:pt x="274408" y="545813"/>
                    <a:pt x="297433" y="552678"/>
                    <a:pt x="309093" y="566670"/>
                  </a:cubicBezTo>
                  <a:cubicBezTo>
                    <a:pt x="362755" y="631065"/>
                    <a:pt x="302654" y="583842"/>
                    <a:pt x="373488" y="631065"/>
                  </a:cubicBezTo>
                  <a:lnTo>
                    <a:pt x="399245" y="708338"/>
                  </a:lnTo>
                  <a:lnTo>
                    <a:pt x="412124" y="746974"/>
                  </a:lnTo>
                  <a:cubicBezTo>
                    <a:pt x="408025" y="792064"/>
                    <a:pt x="407805" y="914440"/>
                    <a:pt x="373488" y="965915"/>
                  </a:cubicBezTo>
                  <a:cubicBezTo>
                    <a:pt x="364902" y="978794"/>
                    <a:pt x="358675" y="993607"/>
                    <a:pt x="347730" y="1004552"/>
                  </a:cubicBezTo>
                  <a:cubicBezTo>
                    <a:pt x="336785" y="1015497"/>
                    <a:pt x="321972" y="1021724"/>
                    <a:pt x="309093" y="1030310"/>
                  </a:cubicBezTo>
                  <a:lnTo>
                    <a:pt x="231820" y="1146219"/>
                  </a:lnTo>
                  <a:cubicBezTo>
                    <a:pt x="223234" y="1159098"/>
                    <a:pt x="218941" y="1176270"/>
                    <a:pt x="206062" y="1184856"/>
                  </a:cubicBezTo>
                  <a:cubicBezTo>
                    <a:pt x="193183" y="1193442"/>
                    <a:pt x="179317" y="1200705"/>
                    <a:pt x="167426" y="1210614"/>
                  </a:cubicBezTo>
                  <a:cubicBezTo>
                    <a:pt x="153434" y="1222274"/>
                    <a:pt x="140449" y="1235258"/>
                    <a:pt x="128789" y="1249250"/>
                  </a:cubicBezTo>
                  <a:cubicBezTo>
                    <a:pt x="118880" y="1261141"/>
                    <a:pt x="115118" y="1278217"/>
                    <a:pt x="103031" y="1287887"/>
                  </a:cubicBezTo>
                  <a:cubicBezTo>
                    <a:pt x="92431" y="1296368"/>
                    <a:pt x="64395" y="1259983"/>
                    <a:pt x="51516" y="12750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4611" name="组合 16"/>
            <p:cNvGrpSpPr>
              <a:grpSpLocks/>
            </p:cNvGrpSpPr>
            <p:nvPr/>
          </p:nvGrpSpPr>
          <p:grpSpPr bwMode="auto">
            <a:xfrm>
              <a:off x="3513932" y="3162300"/>
              <a:ext cx="2575601" cy="527051"/>
              <a:chOff x="3513932" y="3162300"/>
              <a:chExt cx="2575601" cy="527051"/>
            </a:xfrm>
          </p:grpSpPr>
          <p:sp>
            <p:nvSpPr>
              <p:cNvPr id="80" name="矩形 79"/>
              <p:cNvSpPr/>
              <p:nvPr/>
            </p:nvSpPr>
            <p:spPr>
              <a:xfrm>
                <a:off x="3938588" y="3162300"/>
                <a:ext cx="1406525" cy="52705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K1+Cs</a:t>
                </a:r>
                <a:endParaRPr lang="zh-CN" altLang="en-US" dirty="0">
                  <a:solidFill>
                    <a:schemeClr val="tx1"/>
                  </a:solidFill>
                </a:endParaRPr>
              </a:p>
            </p:txBody>
          </p:sp>
          <p:cxnSp>
            <p:nvCxnSpPr>
              <p:cNvPr id="11" name="直接箭头连接符 10"/>
              <p:cNvCxnSpPr>
                <a:endCxn id="80" idx="1"/>
              </p:cNvCxnSpPr>
              <p:nvPr/>
            </p:nvCxnSpPr>
            <p:spPr>
              <a:xfrm>
                <a:off x="3514725" y="3419475"/>
                <a:ext cx="423863" cy="635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356225" y="3414713"/>
                <a:ext cx="73342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85" name="流程图: 汇总连接 84"/>
          <p:cNvSpPr/>
          <p:nvPr/>
        </p:nvSpPr>
        <p:spPr>
          <a:xfrm>
            <a:off x="579438" y="2986088"/>
            <a:ext cx="287337" cy="342900"/>
          </a:xfrm>
          <a:prstGeom prst="flowChartSummingJunction">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86" name="直接箭头连接符 85"/>
          <p:cNvCxnSpPr>
            <a:endCxn id="85" idx="2"/>
          </p:cNvCxnSpPr>
          <p:nvPr/>
        </p:nvCxnSpPr>
        <p:spPr>
          <a:xfrm flipV="1">
            <a:off x="127000" y="3157538"/>
            <a:ext cx="452438" cy="142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24664" idx="0"/>
            <a:endCxn id="88" idx="3"/>
          </p:cNvCxnSpPr>
          <p:nvPr/>
        </p:nvCxnSpPr>
        <p:spPr>
          <a:xfrm flipH="1" flipV="1">
            <a:off x="2890838" y="5383213"/>
            <a:ext cx="685800" cy="793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8" name="矩形 87"/>
          <p:cNvSpPr>
            <a:spLocks noRot="1" noChangeAspect="1" noMove="1" noResize="1" noEditPoints="1" noAdjustHandles="1" noChangeArrowheads="1" noChangeShapeType="1" noTextEdit="1"/>
          </p:cNvSpPr>
          <p:nvPr/>
        </p:nvSpPr>
        <p:spPr>
          <a:xfrm>
            <a:off x="1908175" y="5164138"/>
            <a:ext cx="982663" cy="438150"/>
          </a:xfrm>
          <a:prstGeom prst="rect">
            <a:avLst/>
          </a:prstGeom>
          <a:blipFill>
            <a:blip r:embed="rId9"/>
            <a:stretch>
              <a:fillRect/>
            </a:stretch>
          </a:blipFill>
        </p:spPr>
        <p:txBody>
          <a:bodyPr/>
          <a:lstStyle/>
          <a:p>
            <a:pPr>
              <a:defRPr/>
            </a:pPr>
            <a:r>
              <a:rPr lang="zh-CN" altLang="en-US">
                <a:ln w="0"/>
                <a:effectLst>
                  <a:outerShdw blurRad="38100" dist="19050" dir="2700000" algn="tl" rotWithShape="0">
                    <a:schemeClr val="dk1">
                      <a:alpha val="40000"/>
                    </a:schemeClr>
                  </a:outerShdw>
                </a:effectLst>
              </a:rPr>
              <a:t> </a:t>
            </a:r>
          </a:p>
        </p:txBody>
      </p:sp>
      <p:cxnSp>
        <p:nvCxnSpPr>
          <p:cNvPr id="89" name="直接连接符 88"/>
          <p:cNvCxnSpPr>
            <a:stCxn id="88" idx="1"/>
          </p:cNvCxnSpPr>
          <p:nvPr/>
        </p:nvCxnSpPr>
        <p:spPr>
          <a:xfrm flipH="1" flipV="1">
            <a:off x="735013" y="5373688"/>
            <a:ext cx="1173162" cy="952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85" idx="4"/>
          </p:cNvCxnSpPr>
          <p:nvPr/>
        </p:nvCxnSpPr>
        <p:spPr>
          <a:xfrm flipH="1" flipV="1">
            <a:off x="722313" y="3328988"/>
            <a:ext cx="12700" cy="20447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1" name="Line 12"/>
          <p:cNvSpPr>
            <a:spLocks noChangeShapeType="1"/>
          </p:cNvSpPr>
          <p:nvPr/>
        </p:nvSpPr>
        <p:spPr bwMode="auto">
          <a:xfrm>
            <a:off x="363538" y="3573463"/>
            <a:ext cx="2159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95" name="直接连接符 94"/>
          <p:cNvCxnSpPr/>
          <p:nvPr/>
        </p:nvCxnSpPr>
        <p:spPr>
          <a:xfrm>
            <a:off x="3390900" y="3757613"/>
            <a:ext cx="271463"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3390900" y="3798888"/>
            <a:ext cx="331788" cy="3714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3313113" y="2970213"/>
            <a:ext cx="271462" cy="5588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3313113" y="3011488"/>
            <a:ext cx="331787" cy="3714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09781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a:spLocks noChangeArrowheads="1"/>
          </p:cNvSpPr>
          <p:nvPr/>
        </p:nvSpPr>
        <p:spPr bwMode="auto">
          <a:xfrm>
            <a:off x="827088" y="908050"/>
            <a:ext cx="480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rPr>
              <a:t>   </a:t>
            </a:r>
            <a:r>
              <a:rPr lang="zh-CN" altLang="en-US" sz="2800">
                <a:latin typeface="宋体" panose="02010600030101010101" pitchFamily="2" charset="-122"/>
              </a:rPr>
              <a:t>由方框图求系统传递函数 </a:t>
            </a:r>
          </a:p>
        </p:txBody>
      </p:sp>
      <p:sp>
        <p:nvSpPr>
          <p:cNvPr id="150532" name="Rectangle 4"/>
          <p:cNvSpPr>
            <a:spLocks noChangeArrowheads="1"/>
          </p:cNvSpPr>
          <p:nvPr/>
        </p:nvSpPr>
        <p:spPr bwMode="auto">
          <a:xfrm>
            <a:off x="1143000" y="2855913"/>
            <a:ext cx="75438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基本思路：利用等效变换法则，移动求和点和引出点，消去交叉回路，变换成可以运算的简单回路。</a:t>
            </a:r>
            <a:r>
              <a:rPr lang="zh-CN" altLang="en-US"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532"/>
                                        </p:tgtEl>
                                        <p:attrNameLst>
                                          <p:attrName>style.visibility</p:attrName>
                                        </p:attrNameLst>
                                      </p:cBhvr>
                                      <p:to>
                                        <p:strVal val="visible"/>
                                      </p:to>
                                    </p:set>
                                    <p:anim calcmode="lin" valueType="num">
                                      <p:cBhvr additive="base">
                                        <p:cTn id="7" dur="500" fill="hold"/>
                                        <p:tgtEl>
                                          <p:spTgt spid="150532"/>
                                        </p:tgtEl>
                                        <p:attrNameLst>
                                          <p:attrName>ppt_x</p:attrName>
                                        </p:attrNameLst>
                                      </p:cBhvr>
                                      <p:tavLst>
                                        <p:tav tm="0">
                                          <p:val>
                                            <p:strVal val="#ppt_x"/>
                                          </p:val>
                                        </p:tav>
                                        <p:tav tm="100000">
                                          <p:val>
                                            <p:strVal val="#ppt_x"/>
                                          </p:val>
                                        </p:tav>
                                      </p:tavLst>
                                    </p:anim>
                                    <p:anim calcmode="lin" valueType="num">
                                      <p:cBhvr additive="base">
                                        <p:cTn id="8" dur="500" fill="hold"/>
                                        <p:tgtEl>
                                          <p:spTgt spid="1505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ChangeArrowheads="1"/>
          </p:cNvSpPr>
          <p:nvPr/>
        </p:nvSpPr>
        <p:spPr bwMode="auto">
          <a:xfrm>
            <a:off x="827088" y="1052513"/>
            <a:ext cx="617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例：求下图所示系统的传递函数。</a:t>
            </a:r>
          </a:p>
        </p:txBody>
      </p:sp>
      <p:grpSp>
        <p:nvGrpSpPr>
          <p:cNvPr id="122883" name="Group 4"/>
          <p:cNvGrpSpPr>
            <a:grpSpLocks/>
          </p:cNvGrpSpPr>
          <p:nvPr/>
        </p:nvGrpSpPr>
        <p:grpSpPr bwMode="auto">
          <a:xfrm>
            <a:off x="350838" y="2514600"/>
            <a:ext cx="8640762" cy="3200400"/>
            <a:chOff x="221" y="1680"/>
            <a:chExt cx="5443" cy="2016"/>
          </a:xfrm>
        </p:grpSpPr>
        <p:graphicFrame>
          <p:nvGraphicFramePr>
            <p:cNvPr id="122884" name="Object 5"/>
            <p:cNvGraphicFramePr>
              <a:graphicFrameLocks noChangeAspect="1"/>
            </p:cNvGraphicFramePr>
            <p:nvPr/>
          </p:nvGraphicFramePr>
          <p:xfrm>
            <a:off x="3091" y="2357"/>
            <a:ext cx="84" cy="185"/>
          </p:xfrm>
          <a:graphic>
            <a:graphicData uri="http://schemas.openxmlformats.org/presentationml/2006/ole">
              <mc:AlternateContent xmlns:mc="http://schemas.openxmlformats.org/markup-compatibility/2006">
                <mc:Choice xmlns:v="urn:schemas-microsoft-com:vml" Requires="v">
                  <p:oleObj spid="_x0000_s122929" r:id="rId4" imgW="126890" imgH="241091" progId="Equation.3">
                    <p:embed/>
                  </p:oleObj>
                </mc:Choice>
                <mc:Fallback>
                  <p:oleObj r:id="rId4" imgW="126890" imgH="241091"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1" y="2357"/>
                          <a:ext cx="84"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2885" name="Rectangle 6"/>
            <p:cNvSpPr>
              <a:spLocks noChangeArrowheads="1"/>
            </p:cNvSpPr>
            <p:nvPr/>
          </p:nvSpPr>
          <p:spPr bwMode="auto">
            <a:xfrm>
              <a:off x="2392" y="2832"/>
              <a:ext cx="722"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122886" name="Line 7"/>
            <p:cNvSpPr>
              <a:spLocks noChangeShapeType="1"/>
            </p:cNvSpPr>
            <p:nvPr/>
          </p:nvSpPr>
          <p:spPr bwMode="auto">
            <a:xfrm>
              <a:off x="912" y="2448"/>
              <a:ext cx="1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887" name="Line 8"/>
            <p:cNvSpPr>
              <a:spLocks noChangeShapeType="1"/>
            </p:cNvSpPr>
            <p:nvPr/>
          </p:nvSpPr>
          <p:spPr bwMode="auto">
            <a:xfrm>
              <a:off x="3792" y="2448"/>
              <a:ext cx="36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888" name="Line 9"/>
            <p:cNvSpPr>
              <a:spLocks noChangeShapeType="1"/>
            </p:cNvSpPr>
            <p:nvPr/>
          </p:nvSpPr>
          <p:spPr bwMode="auto">
            <a:xfrm>
              <a:off x="3927" y="2448"/>
              <a:ext cx="4"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89" name="Line 10"/>
            <p:cNvSpPr>
              <a:spLocks noChangeShapeType="1"/>
            </p:cNvSpPr>
            <p:nvPr/>
          </p:nvSpPr>
          <p:spPr bwMode="auto">
            <a:xfrm flipH="1">
              <a:off x="3114" y="3024"/>
              <a:ext cx="81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890" name="Text Box 11"/>
            <p:cNvSpPr txBox="1">
              <a:spLocks noChangeArrowheads="1"/>
            </p:cNvSpPr>
            <p:nvPr/>
          </p:nvSpPr>
          <p:spPr bwMode="auto">
            <a:xfrm>
              <a:off x="5164" y="2065"/>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22891" name="Rectangle 12"/>
            <p:cNvSpPr>
              <a:spLocks noChangeArrowheads="1"/>
            </p:cNvSpPr>
            <p:nvPr/>
          </p:nvSpPr>
          <p:spPr bwMode="auto">
            <a:xfrm>
              <a:off x="1579" y="2208"/>
              <a:ext cx="587" cy="48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122892" name="Line 13"/>
            <p:cNvSpPr>
              <a:spLocks noChangeShapeType="1"/>
            </p:cNvSpPr>
            <p:nvPr/>
          </p:nvSpPr>
          <p:spPr bwMode="auto">
            <a:xfrm>
              <a:off x="2166" y="2448"/>
              <a:ext cx="3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893" name="Text Box 14"/>
            <p:cNvSpPr txBox="1">
              <a:spLocks noChangeArrowheads="1"/>
            </p:cNvSpPr>
            <p:nvPr/>
          </p:nvSpPr>
          <p:spPr bwMode="auto">
            <a:xfrm>
              <a:off x="1036" y="2236"/>
              <a:ext cx="33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2894" name="Line 15"/>
            <p:cNvSpPr>
              <a:spLocks noChangeShapeType="1"/>
            </p:cNvSpPr>
            <p:nvPr/>
          </p:nvSpPr>
          <p:spPr bwMode="auto">
            <a:xfrm>
              <a:off x="816" y="2688"/>
              <a:ext cx="13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95" name="Text Box 16"/>
            <p:cNvSpPr txBox="1">
              <a:spLocks noChangeArrowheads="1"/>
            </p:cNvSpPr>
            <p:nvPr/>
          </p:nvSpPr>
          <p:spPr bwMode="auto">
            <a:xfrm>
              <a:off x="631" y="2236"/>
              <a:ext cx="33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2896" name="Rectangle 17"/>
            <p:cNvSpPr>
              <a:spLocks noChangeArrowheads="1"/>
            </p:cNvSpPr>
            <p:nvPr/>
          </p:nvSpPr>
          <p:spPr bwMode="auto">
            <a:xfrm>
              <a:off x="4153" y="2208"/>
              <a:ext cx="587" cy="48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3</a:t>
              </a:r>
              <a:r>
                <a:rPr lang="en-US" altLang="zh-CN" sz="2400">
                  <a:latin typeface="Times New Roman" panose="02020603050405020304" pitchFamily="18" charset="0"/>
                </a:rPr>
                <a:t>(s)</a:t>
              </a:r>
            </a:p>
          </p:txBody>
        </p:sp>
        <p:sp>
          <p:nvSpPr>
            <p:cNvPr id="122897" name="Line 18"/>
            <p:cNvSpPr>
              <a:spLocks noChangeShapeType="1"/>
            </p:cNvSpPr>
            <p:nvPr/>
          </p:nvSpPr>
          <p:spPr bwMode="auto">
            <a:xfrm>
              <a:off x="1296" y="2448"/>
              <a:ext cx="28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898" name="Line 19"/>
            <p:cNvSpPr>
              <a:spLocks noChangeShapeType="1"/>
            </p:cNvSpPr>
            <p:nvPr/>
          </p:nvSpPr>
          <p:spPr bwMode="auto">
            <a:xfrm flipH="1">
              <a:off x="1173" y="3024"/>
              <a:ext cx="12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99" name="Line 20"/>
            <p:cNvSpPr>
              <a:spLocks noChangeShapeType="1"/>
            </p:cNvSpPr>
            <p:nvPr/>
          </p:nvSpPr>
          <p:spPr bwMode="auto">
            <a:xfrm>
              <a:off x="263" y="2448"/>
              <a:ext cx="41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00" name="Line 21"/>
            <p:cNvSpPr>
              <a:spLocks noChangeShapeType="1"/>
            </p:cNvSpPr>
            <p:nvPr/>
          </p:nvSpPr>
          <p:spPr bwMode="auto">
            <a:xfrm>
              <a:off x="4740" y="2448"/>
              <a:ext cx="69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01" name="Line 22"/>
            <p:cNvSpPr>
              <a:spLocks noChangeShapeType="1"/>
            </p:cNvSpPr>
            <p:nvPr/>
          </p:nvSpPr>
          <p:spPr bwMode="auto">
            <a:xfrm flipV="1">
              <a:off x="1180" y="2544"/>
              <a:ext cx="0" cy="4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02" name="Rectangle 23"/>
            <p:cNvSpPr>
              <a:spLocks noChangeArrowheads="1"/>
            </p:cNvSpPr>
            <p:nvPr/>
          </p:nvSpPr>
          <p:spPr bwMode="auto">
            <a:xfrm>
              <a:off x="2892" y="3312"/>
              <a:ext cx="723"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3</a:t>
              </a:r>
              <a:r>
                <a:rPr lang="en-US" altLang="zh-CN" sz="2400">
                  <a:latin typeface="Times New Roman" panose="02020603050405020304" pitchFamily="18" charset="0"/>
                </a:rPr>
                <a:t>(s)</a:t>
              </a:r>
            </a:p>
          </p:txBody>
        </p:sp>
        <p:sp>
          <p:nvSpPr>
            <p:cNvPr id="122903" name="Line 24"/>
            <p:cNvSpPr>
              <a:spLocks noChangeShapeType="1"/>
            </p:cNvSpPr>
            <p:nvPr/>
          </p:nvSpPr>
          <p:spPr bwMode="auto">
            <a:xfrm flipH="1">
              <a:off x="3615" y="3504"/>
              <a:ext cx="13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04" name="Line 25"/>
            <p:cNvSpPr>
              <a:spLocks noChangeShapeType="1"/>
            </p:cNvSpPr>
            <p:nvPr/>
          </p:nvSpPr>
          <p:spPr bwMode="auto">
            <a:xfrm flipH="1">
              <a:off x="763" y="3504"/>
              <a:ext cx="212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05" name="Line 26"/>
            <p:cNvSpPr>
              <a:spLocks noChangeShapeType="1"/>
            </p:cNvSpPr>
            <p:nvPr/>
          </p:nvSpPr>
          <p:spPr bwMode="auto">
            <a:xfrm flipV="1">
              <a:off x="5014" y="2448"/>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06" name="Line 27"/>
            <p:cNvSpPr>
              <a:spLocks noChangeShapeType="1"/>
            </p:cNvSpPr>
            <p:nvPr/>
          </p:nvSpPr>
          <p:spPr bwMode="auto">
            <a:xfrm flipV="1">
              <a:off x="763" y="2544"/>
              <a:ext cx="0" cy="96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07" name="Text Box 28"/>
            <p:cNvSpPr txBox="1">
              <a:spLocks noChangeArrowheads="1"/>
            </p:cNvSpPr>
            <p:nvPr/>
          </p:nvSpPr>
          <p:spPr bwMode="auto">
            <a:xfrm>
              <a:off x="1192" y="252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122908" name="Text Box 29"/>
            <p:cNvSpPr txBox="1">
              <a:spLocks noChangeArrowheads="1"/>
            </p:cNvSpPr>
            <p:nvPr/>
          </p:nvSpPr>
          <p:spPr bwMode="auto">
            <a:xfrm>
              <a:off x="221" y="2120"/>
              <a:ext cx="4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22909" name="Rectangle 30"/>
            <p:cNvSpPr>
              <a:spLocks noChangeArrowheads="1"/>
            </p:cNvSpPr>
            <p:nvPr/>
          </p:nvSpPr>
          <p:spPr bwMode="auto">
            <a:xfrm>
              <a:off x="3180" y="2208"/>
              <a:ext cx="587" cy="48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122910" name="Text Box 31"/>
            <p:cNvSpPr txBox="1">
              <a:spLocks noChangeArrowheads="1"/>
            </p:cNvSpPr>
            <p:nvPr/>
          </p:nvSpPr>
          <p:spPr bwMode="auto">
            <a:xfrm>
              <a:off x="2428" y="2236"/>
              <a:ext cx="33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2911" name="Line 32"/>
            <p:cNvSpPr>
              <a:spLocks noChangeShapeType="1"/>
            </p:cNvSpPr>
            <p:nvPr/>
          </p:nvSpPr>
          <p:spPr bwMode="auto">
            <a:xfrm>
              <a:off x="2680" y="2448"/>
              <a:ext cx="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12" name="Text Box 33"/>
            <p:cNvSpPr txBox="1">
              <a:spLocks noChangeArrowheads="1"/>
            </p:cNvSpPr>
            <p:nvPr/>
          </p:nvSpPr>
          <p:spPr bwMode="auto">
            <a:xfrm>
              <a:off x="1088" y="211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endParaRPr lang="en-US" altLang="zh-CN" sz="2400">
                <a:latin typeface="Times New Roman" panose="02020603050405020304" pitchFamily="18" charset="0"/>
              </a:endParaRPr>
            </a:p>
          </p:txBody>
        </p:sp>
        <p:sp>
          <p:nvSpPr>
            <p:cNvPr id="122913" name="Line 34"/>
            <p:cNvSpPr>
              <a:spLocks noChangeShapeType="1"/>
            </p:cNvSpPr>
            <p:nvPr/>
          </p:nvSpPr>
          <p:spPr bwMode="auto">
            <a:xfrm flipV="1">
              <a:off x="5014" y="1872"/>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14" name="Line 35"/>
            <p:cNvSpPr>
              <a:spLocks noChangeShapeType="1"/>
            </p:cNvSpPr>
            <p:nvPr/>
          </p:nvSpPr>
          <p:spPr bwMode="auto">
            <a:xfrm flipH="1">
              <a:off x="3540" y="1872"/>
              <a:ext cx="14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15" name="Rectangle 36"/>
            <p:cNvSpPr>
              <a:spLocks noChangeArrowheads="1"/>
            </p:cNvSpPr>
            <p:nvPr/>
          </p:nvSpPr>
          <p:spPr bwMode="auto">
            <a:xfrm>
              <a:off x="2847" y="1680"/>
              <a:ext cx="705"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122916" name="Line 37"/>
            <p:cNvSpPr>
              <a:spLocks noChangeShapeType="1"/>
            </p:cNvSpPr>
            <p:nvPr/>
          </p:nvSpPr>
          <p:spPr bwMode="auto">
            <a:xfrm flipH="1">
              <a:off x="2597" y="1872"/>
              <a:ext cx="2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17" name="Line 38"/>
            <p:cNvSpPr>
              <a:spLocks noChangeShapeType="1"/>
            </p:cNvSpPr>
            <p:nvPr/>
          </p:nvSpPr>
          <p:spPr bwMode="auto">
            <a:xfrm flipH="1">
              <a:off x="2592" y="1872"/>
              <a:ext cx="0" cy="48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18" name="Text Box 39"/>
            <p:cNvSpPr txBox="1">
              <a:spLocks noChangeArrowheads="1"/>
            </p:cNvSpPr>
            <p:nvPr/>
          </p:nvSpPr>
          <p:spPr bwMode="auto">
            <a:xfrm>
              <a:off x="5006" y="2163"/>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endParaRPr lang="en-US" altLang="zh-CN" sz="2400">
                <a:latin typeface="Times New Roman" panose="02020603050405020304" pitchFamily="18" charset="0"/>
              </a:endParaRPr>
            </a:p>
          </p:txBody>
        </p:sp>
        <p:sp>
          <p:nvSpPr>
            <p:cNvPr id="122919" name="Line 40"/>
            <p:cNvSpPr>
              <a:spLocks noChangeShapeType="1"/>
            </p:cNvSpPr>
            <p:nvPr/>
          </p:nvSpPr>
          <p:spPr bwMode="auto">
            <a:xfrm>
              <a:off x="2639" y="2208"/>
              <a:ext cx="1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20" name="Oval 41"/>
            <p:cNvSpPr>
              <a:spLocks noChangeArrowheads="1"/>
            </p:cNvSpPr>
            <p:nvPr/>
          </p:nvSpPr>
          <p:spPr bwMode="auto">
            <a:xfrm>
              <a:off x="3904" y="2432"/>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22921" name="Oval 42"/>
            <p:cNvSpPr>
              <a:spLocks noChangeArrowheads="1"/>
            </p:cNvSpPr>
            <p:nvPr/>
          </p:nvSpPr>
          <p:spPr bwMode="auto">
            <a:xfrm>
              <a:off x="4992" y="2416"/>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87338" y="2209800"/>
            <a:ext cx="8628062" cy="3429000"/>
            <a:chOff x="181" y="1488"/>
            <a:chExt cx="5435" cy="1832"/>
          </a:xfrm>
        </p:grpSpPr>
        <p:graphicFrame>
          <p:nvGraphicFramePr>
            <p:cNvPr id="124932" name="Object 4"/>
            <p:cNvGraphicFramePr>
              <a:graphicFrameLocks noChangeAspect="1"/>
            </p:cNvGraphicFramePr>
            <p:nvPr/>
          </p:nvGraphicFramePr>
          <p:xfrm>
            <a:off x="3096" y="2103"/>
            <a:ext cx="85" cy="168"/>
          </p:xfrm>
          <a:graphic>
            <a:graphicData uri="http://schemas.openxmlformats.org/presentationml/2006/ole">
              <mc:AlternateContent xmlns:mc="http://schemas.openxmlformats.org/markup-compatibility/2006">
                <mc:Choice xmlns:v="urn:schemas-microsoft-com:vml" Requires="v">
                  <p:oleObj spid="_x0000_s124975" r:id="rId4" imgW="126890" imgH="241091" progId="Equation.3">
                    <p:embed/>
                  </p:oleObj>
                </mc:Choice>
                <mc:Fallback>
                  <p:oleObj r:id="rId4" imgW="126890" imgH="241091"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6" y="2103"/>
                          <a:ext cx="85"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4933" name="Rectangle 5"/>
            <p:cNvSpPr>
              <a:spLocks noChangeArrowheads="1"/>
            </p:cNvSpPr>
            <p:nvPr/>
          </p:nvSpPr>
          <p:spPr bwMode="auto">
            <a:xfrm>
              <a:off x="2386" y="2535"/>
              <a:ext cx="733" cy="34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124934" name="Line 6"/>
            <p:cNvSpPr>
              <a:spLocks noChangeShapeType="1"/>
            </p:cNvSpPr>
            <p:nvPr/>
          </p:nvSpPr>
          <p:spPr bwMode="auto">
            <a:xfrm>
              <a:off x="843" y="2202"/>
              <a:ext cx="24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35" name="Line 7"/>
            <p:cNvSpPr>
              <a:spLocks noChangeShapeType="1"/>
            </p:cNvSpPr>
            <p:nvPr/>
          </p:nvSpPr>
          <p:spPr bwMode="auto">
            <a:xfrm>
              <a:off x="3807" y="2186"/>
              <a:ext cx="4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36" name="Line 8"/>
            <p:cNvSpPr>
              <a:spLocks noChangeShapeType="1"/>
            </p:cNvSpPr>
            <p:nvPr/>
          </p:nvSpPr>
          <p:spPr bwMode="auto">
            <a:xfrm>
              <a:off x="4030" y="2186"/>
              <a:ext cx="3" cy="5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37" name="Line 9"/>
            <p:cNvSpPr>
              <a:spLocks noChangeShapeType="1"/>
            </p:cNvSpPr>
            <p:nvPr/>
          </p:nvSpPr>
          <p:spPr bwMode="auto">
            <a:xfrm flipH="1">
              <a:off x="3119" y="2710"/>
              <a:ext cx="91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38" name="Rectangle 10"/>
            <p:cNvSpPr>
              <a:spLocks noChangeArrowheads="1"/>
            </p:cNvSpPr>
            <p:nvPr/>
          </p:nvSpPr>
          <p:spPr bwMode="auto">
            <a:xfrm>
              <a:off x="1560" y="1968"/>
              <a:ext cx="596" cy="43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124939" name="Line 11"/>
            <p:cNvSpPr>
              <a:spLocks noChangeShapeType="1"/>
            </p:cNvSpPr>
            <p:nvPr/>
          </p:nvSpPr>
          <p:spPr bwMode="auto">
            <a:xfrm>
              <a:off x="2156" y="2186"/>
              <a:ext cx="32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40" name="Text Box 12"/>
            <p:cNvSpPr txBox="1">
              <a:spLocks noChangeArrowheads="1"/>
            </p:cNvSpPr>
            <p:nvPr/>
          </p:nvSpPr>
          <p:spPr bwMode="auto">
            <a:xfrm>
              <a:off x="1009" y="1993"/>
              <a:ext cx="337"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4941" name="Line 13"/>
            <p:cNvSpPr>
              <a:spLocks noChangeShapeType="1"/>
            </p:cNvSpPr>
            <p:nvPr/>
          </p:nvSpPr>
          <p:spPr bwMode="auto">
            <a:xfrm>
              <a:off x="827" y="2404"/>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42" name="Text Box 14"/>
            <p:cNvSpPr txBox="1">
              <a:spLocks noChangeArrowheads="1"/>
            </p:cNvSpPr>
            <p:nvPr/>
          </p:nvSpPr>
          <p:spPr bwMode="auto">
            <a:xfrm>
              <a:off x="597" y="1993"/>
              <a:ext cx="337"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4943" name="Rectangle 15"/>
            <p:cNvSpPr>
              <a:spLocks noChangeArrowheads="1"/>
            </p:cNvSpPr>
            <p:nvPr/>
          </p:nvSpPr>
          <p:spPr bwMode="auto">
            <a:xfrm>
              <a:off x="4283" y="1968"/>
              <a:ext cx="597" cy="43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3</a:t>
              </a:r>
              <a:r>
                <a:rPr lang="en-US" altLang="zh-CN" sz="2400">
                  <a:latin typeface="Times New Roman" panose="02020603050405020304" pitchFamily="18" charset="0"/>
                </a:rPr>
                <a:t>(s)</a:t>
              </a:r>
            </a:p>
          </p:txBody>
        </p:sp>
        <p:sp>
          <p:nvSpPr>
            <p:cNvPr id="124944" name="Line 16"/>
            <p:cNvSpPr>
              <a:spLocks noChangeShapeType="1"/>
            </p:cNvSpPr>
            <p:nvPr/>
          </p:nvSpPr>
          <p:spPr bwMode="auto">
            <a:xfrm flipV="1">
              <a:off x="1280" y="2200"/>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45" name="Line 17"/>
            <p:cNvSpPr>
              <a:spLocks noChangeShapeType="1"/>
            </p:cNvSpPr>
            <p:nvPr/>
          </p:nvSpPr>
          <p:spPr bwMode="auto">
            <a:xfrm flipH="1">
              <a:off x="1148" y="2710"/>
              <a:ext cx="123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46" name="Line 18"/>
            <p:cNvSpPr>
              <a:spLocks noChangeShapeType="1"/>
            </p:cNvSpPr>
            <p:nvPr/>
          </p:nvSpPr>
          <p:spPr bwMode="auto">
            <a:xfrm>
              <a:off x="239" y="2202"/>
              <a:ext cx="42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47" name="Line 19"/>
            <p:cNvSpPr>
              <a:spLocks noChangeShapeType="1"/>
            </p:cNvSpPr>
            <p:nvPr/>
          </p:nvSpPr>
          <p:spPr bwMode="auto">
            <a:xfrm>
              <a:off x="4880" y="2186"/>
              <a:ext cx="5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48" name="Line 20"/>
            <p:cNvSpPr>
              <a:spLocks noChangeShapeType="1"/>
            </p:cNvSpPr>
            <p:nvPr/>
          </p:nvSpPr>
          <p:spPr bwMode="auto">
            <a:xfrm flipV="1">
              <a:off x="1155" y="2273"/>
              <a:ext cx="0" cy="4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49" name="Rectangle 21"/>
            <p:cNvSpPr>
              <a:spLocks noChangeArrowheads="1"/>
            </p:cNvSpPr>
            <p:nvPr/>
          </p:nvSpPr>
          <p:spPr bwMode="auto">
            <a:xfrm>
              <a:off x="2894" y="2971"/>
              <a:ext cx="733" cy="34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3</a:t>
              </a:r>
              <a:r>
                <a:rPr lang="en-US" altLang="zh-CN" sz="2400">
                  <a:latin typeface="Times New Roman" panose="02020603050405020304" pitchFamily="18" charset="0"/>
                </a:rPr>
                <a:t>(s)</a:t>
              </a:r>
            </a:p>
          </p:txBody>
        </p:sp>
        <p:sp>
          <p:nvSpPr>
            <p:cNvPr id="124950" name="Line 22"/>
            <p:cNvSpPr>
              <a:spLocks noChangeShapeType="1"/>
            </p:cNvSpPr>
            <p:nvPr/>
          </p:nvSpPr>
          <p:spPr bwMode="auto">
            <a:xfrm flipH="1">
              <a:off x="3627" y="3146"/>
              <a:ext cx="142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51" name="Line 23"/>
            <p:cNvSpPr>
              <a:spLocks noChangeShapeType="1"/>
            </p:cNvSpPr>
            <p:nvPr/>
          </p:nvSpPr>
          <p:spPr bwMode="auto">
            <a:xfrm flipH="1">
              <a:off x="731" y="3146"/>
              <a:ext cx="21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52" name="Line 24"/>
            <p:cNvSpPr>
              <a:spLocks noChangeShapeType="1"/>
            </p:cNvSpPr>
            <p:nvPr/>
          </p:nvSpPr>
          <p:spPr bwMode="auto">
            <a:xfrm flipV="1">
              <a:off x="5049" y="2186"/>
              <a:ext cx="0" cy="9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53" name="Line 25"/>
            <p:cNvSpPr>
              <a:spLocks noChangeShapeType="1"/>
            </p:cNvSpPr>
            <p:nvPr/>
          </p:nvSpPr>
          <p:spPr bwMode="auto">
            <a:xfrm flipV="1">
              <a:off x="731" y="2273"/>
              <a:ext cx="0" cy="87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54" name="Text Box 26"/>
            <p:cNvSpPr txBox="1">
              <a:spLocks noChangeArrowheads="1"/>
            </p:cNvSpPr>
            <p:nvPr/>
          </p:nvSpPr>
          <p:spPr bwMode="auto">
            <a:xfrm>
              <a:off x="1209" y="2253"/>
              <a:ext cx="22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124955" name="Text Box 27"/>
            <p:cNvSpPr txBox="1">
              <a:spLocks noChangeArrowheads="1"/>
            </p:cNvSpPr>
            <p:nvPr/>
          </p:nvSpPr>
          <p:spPr bwMode="auto">
            <a:xfrm>
              <a:off x="181" y="1908"/>
              <a:ext cx="472"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24956" name="Rectangle 28"/>
            <p:cNvSpPr>
              <a:spLocks noChangeArrowheads="1"/>
            </p:cNvSpPr>
            <p:nvPr/>
          </p:nvSpPr>
          <p:spPr bwMode="auto">
            <a:xfrm>
              <a:off x="3186" y="1968"/>
              <a:ext cx="597" cy="43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124957" name="Text Box 29"/>
            <p:cNvSpPr txBox="1">
              <a:spLocks noChangeArrowheads="1"/>
            </p:cNvSpPr>
            <p:nvPr/>
          </p:nvSpPr>
          <p:spPr bwMode="auto">
            <a:xfrm>
              <a:off x="2424" y="1993"/>
              <a:ext cx="337"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4958" name="Line 30"/>
            <p:cNvSpPr>
              <a:spLocks noChangeShapeType="1"/>
            </p:cNvSpPr>
            <p:nvPr/>
          </p:nvSpPr>
          <p:spPr bwMode="auto">
            <a:xfrm>
              <a:off x="2678" y="2186"/>
              <a:ext cx="5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59" name="Line 31"/>
            <p:cNvSpPr>
              <a:spLocks noChangeShapeType="1"/>
            </p:cNvSpPr>
            <p:nvPr/>
          </p:nvSpPr>
          <p:spPr bwMode="auto">
            <a:xfrm flipV="1">
              <a:off x="4033" y="1663"/>
              <a:ext cx="0" cy="52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60" name="Line 32"/>
            <p:cNvSpPr>
              <a:spLocks noChangeShapeType="1"/>
            </p:cNvSpPr>
            <p:nvPr/>
          </p:nvSpPr>
          <p:spPr bwMode="auto">
            <a:xfrm flipH="1">
              <a:off x="3821" y="1663"/>
              <a:ext cx="2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61" name="Line 33"/>
            <p:cNvSpPr>
              <a:spLocks noChangeShapeType="1"/>
            </p:cNvSpPr>
            <p:nvPr/>
          </p:nvSpPr>
          <p:spPr bwMode="auto">
            <a:xfrm flipH="1">
              <a:off x="2594" y="1663"/>
              <a:ext cx="16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62" name="Line 34"/>
            <p:cNvSpPr>
              <a:spLocks noChangeShapeType="1"/>
            </p:cNvSpPr>
            <p:nvPr/>
          </p:nvSpPr>
          <p:spPr bwMode="auto">
            <a:xfrm flipH="1">
              <a:off x="2592" y="1663"/>
              <a:ext cx="2" cy="44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4963" name="Text Box 35"/>
            <p:cNvSpPr txBox="1">
              <a:spLocks noChangeArrowheads="1"/>
            </p:cNvSpPr>
            <p:nvPr/>
          </p:nvSpPr>
          <p:spPr bwMode="auto">
            <a:xfrm>
              <a:off x="5116" y="1881"/>
              <a:ext cx="50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24964" name="Rectangle 36"/>
            <p:cNvSpPr>
              <a:spLocks noChangeArrowheads="1"/>
            </p:cNvSpPr>
            <p:nvPr/>
          </p:nvSpPr>
          <p:spPr bwMode="auto">
            <a:xfrm>
              <a:off x="2763" y="1488"/>
              <a:ext cx="1058" cy="34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2</a:t>
              </a:r>
              <a:r>
                <a:rPr lang="en-US" altLang="zh-CN" sz="2400">
                  <a:latin typeface="Times New Roman" panose="02020603050405020304" pitchFamily="18" charset="0"/>
                </a:rPr>
                <a:t>(s)G</a:t>
              </a:r>
              <a:r>
                <a:rPr lang="en-US" altLang="zh-CN" sz="2400" baseline="-25000">
                  <a:latin typeface="Times New Roman" panose="02020603050405020304" pitchFamily="18" charset="0"/>
                </a:rPr>
                <a:t>3</a:t>
              </a:r>
              <a:r>
                <a:rPr lang="en-US" altLang="zh-CN" sz="2400">
                  <a:latin typeface="Times New Roman" panose="02020603050405020304" pitchFamily="18" charset="0"/>
                </a:rPr>
                <a:t>(s)</a:t>
              </a:r>
            </a:p>
          </p:txBody>
        </p:sp>
        <p:sp>
          <p:nvSpPr>
            <p:cNvPr id="124965" name="Line 37"/>
            <p:cNvSpPr>
              <a:spLocks noChangeShapeType="1"/>
            </p:cNvSpPr>
            <p:nvPr/>
          </p:nvSpPr>
          <p:spPr bwMode="auto">
            <a:xfrm>
              <a:off x="2626" y="1968"/>
              <a:ext cx="1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66" name="Oval 38"/>
            <p:cNvSpPr>
              <a:spLocks noChangeArrowheads="1"/>
            </p:cNvSpPr>
            <p:nvPr/>
          </p:nvSpPr>
          <p:spPr bwMode="auto">
            <a:xfrm>
              <a:off x="4008" y="216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24967" name="Oval 39"/>
            <p:cNvSpPr>
              <a:spLocks noChangeArrowheads="1"/>
            </p:cNvSpPr>
            <p:nvPr/>
          </p:nvSpPr>
          <p:spPr bwMode="auto">
            <a:xfrm>
              <a:off x="5024" y="2160"/>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124931" name="Rectangle 40"/>
          <p:cNvSpPr>
            <a:spLocks noChangeArrowheads="1"/>
          </p:cNvSpPr>
          <p:nvPr/>
        </p:nvSpPr>
        <p:spPr bwMode="auto">
          <a:xfrm>
            <a:off x="900113" y="1052513"/>
            <a:ext cx="617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宋体" panose="02010600030101010101" pitchFamily="2" charset="-122"/>
              </a:rPr>
              <a:t>解</a:t>
            </a:r>
            <a:r>
              <a:rPr lang="zh-CN" altLang="en-US" sz="2800">
                <a:latin typeface="宋体" panose="02010600030101010101" pitchFamily="2" charset="-122"/>
              </a:rPr>
              <a:t>：</a:t>
            </a:r>
            <a:r>
              <a:rPr lang="en-US" altLang="zh-CN" sz="2800">
                <a:latin typeface="宋体" panose="02010600030101010101" pitchFamily="2" charset="-122"/>
              </a:rPr>
              <a:t>1</a:t>
            </a:r>
            <a:r>
              <a:rPr lang="zh-CN" altLang="en-US" sz="2800">
                <a:latin typeface="宋体" panose="02010600030101010101" pitchFamily="2" charset="-122"/>
              </a:rPr>
              <a:t>、</a:t>
            </a:r>
            <a:r>
              <a:rPr lang="en-US" altLang="zh-CN" sz="2800">
                <a:latin typeface="Times New Roman" panose="02020603050405020304" pitchFamily="18" charset="0"/>
              </a:rPr>
              <a:t>A</a:t>
            </a:r>
            <a:r>
              <a:rPr lang="zh-CN" altLang="en-US" sz="2800">
                <a:latin typeface="宋体" panose="02010600030101010101" pitchFamily="2" charset="-122"/>
              </a:rPr>
              <a:t>点前移；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ChangeArrowheads="1"/>
          </p:cNvSpPr>
          <p:nvPr/>
        </p:nvSpPr>
        <p:spPr bwMode="auto">
          <a:xfrm>
            <a:off x="1116013" y="1052513"/>
            <a:ext cx="617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宋体" panose="02010600030101010101" pitchFamily="2" charset="-122"/>
              </a:rPr>
              <a:t>2</a:t>
            </a:r>
            <a:r>
              <a:rPr lang="zh-CN" altLang="en-US" sz="2800">
                <a:latin typeface="宋体" panose="02010600030101010101" pitchFamily="2" charset="-122"/>
              </a:rPr>
              <a:t>、消去</a:t>
            </a:r>
            <a:r>
              <a:rPr lang="en-US" altLang="zh-CN" sz="2800" i="1">
                <a:latin typeface="Times New Roman" panose="02020603050405020304" pitchFamily="18" charset="0"/>
              </a:rPr>
              <a:t>H</a:t>
            </a:r>
            <a:r>
              <a:rPr lang="en-US" altLang="zh-CN" sz="2900" baseline="-20000">
                <a:latin typeface="Times New Roman" panose="02020603050405020304" pitchFamily="18" charset="0"/>
              </a:rPr>
              <a:t>2</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G</a:t>
            </a:r>
            <a:r>
              <a:rPr lang="en-US" altLang="zh-CN" sz="2900" baseline="-20000">
                <a:latin typeface="Times New Roman" panose="02020603050405020304" pitchFamily="18" charset="0"/>
              </a:rPr>
              <a:t>3</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反馈回路</a:t>
            </a:r>
            <a:endParaRPr lang="zh-CN" altLang="en-US" sz="2800">
              <a:latin typeface="宋体" panose="02010600030101010101" pitchFamily="2" charset="-122"/>
            </a:endParaRPr>
          </a:p>
        </p:txBody>
      </p:sp>
      <p:grpSp>
        <p:nvGrpSpPr>
          <p:cNvPr id="2" name="Group 4"/>
          <p:cNvGrpSpPr>
            <a:grpSpLocks/>
          </p:cNvGrpSpPr>
          <p:nvPr/>
        </p:nvGrpSpPr>
        <p:grpSpPr bwMode="auto">
          <a:xfrm>
            <a:off x="381000" y="2438400"/>
            <a:ext cx="8534400" cy="3048000"/>
            <a:chOff x="240" y="1536"/>
            <a:chExt cx="5376" cy="1920"/>
          </a:xfrm>
        </p:grpSpPr>
        <p:sp>
          <p:nvSpPr>
            <p:cNvPr id="126980" name="Rectangle 5"/>
            <p:cNvSpPr>
              <a:spLocks noChangeArrowheads="1"/>
            </p:cNvSpPr>
            <p:nvPr/>
          </p:nvSpPr>
          <p:spPr bwMode="auto">
            <a:xfrm>
              <a:off x="2496" y="1596"/>
              <a:ext cx="1536" cy="6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126981" name="Object 6"/>
            <p:cNvGraphicFramePr>
              <a:graphicFrameLocks noChangeAspect="1"/>
            </p:cNvGraphicFramePr>
            <p:nvPr/>
          </p:nvGraphicFramePr>
          <p:xfrm>
            <a:off x="2641" y="1652"/>
            <a:ext cx="1237" cy="488"/>
          </p:xfrm>
          <a:graphic>
            <a:graphicData uri="http://schemas.openxmlformats.org/presentationml/2006/ole">
              <mc:AlternateContent xmlns:mc="http://schemas.openxmlformats.org/markup-compatibility/2006">
                <mc:Choice xmlns:v="urn:schemas-microsoft-com:vml" Requires="v">
                  <p:oleObj spid="_x0000_s127014" r:id="rId4" imgW="1295400" imgH="431800" progId="Equation.DSMT4">
                    <p:embed/>
                  </p:oleObj>
                </mc:Choice>
                <mc:Fallback>
                  <p:oleObj r:id="rId4" imgW="1295400" imgH="4318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1" y="1652"/>
                          <a:ext cx="1237"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6982" name="Rectangle 7"/>
            <p:cNvSpPr>
              <a:spLocks noChangeArrowheads="1"/>
            </p:cNvSpPr>
            <p:nvPr/>
          </p:nvSpPr>
          <p:spPr bwMode="auto">
            <a:xfrm>
              <a:off x="2480" y="2376"/>
              <a:ext cx="745" cy="48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126983" name="Line 8"/>
            <p:cNvSpPr>
              <a:spLocks noChangeShapeType="1"/>
            </p:cNvSpPr>
            <p:nvPr/>
          </p:nvSpPr>
          <p:spPr bwMode="auto">
            <a:xfrm>
              <a:off x="944" y="185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84" name="Line 9"/>
            <p:cNvSpPr>
              <a:spLocks noChangeShapeType="1"/>
            </p:cNvSpPr>
            <p:nvPr/>
          </p:nvSpPr>
          <p:spPr bwMode="auto">
            <a:xfrm>
              <a:off x="4043" y="1896"/>
              <a:ext cx="37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85" name="Line 10"/>
            <p:cNvSpPr>
              <a:spLocks noChangeShapeType="1"/>
            </p:cNvSpPr>
            <p:nvPr/>
          </p:nvSpPr>
          <p:spPr bwMode="auto">
            <a:xfrm>
              <a:off x="4183" y="1896"/>
              <a:ext cx="4" cy="7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86" name="Line 11"/>
            <p:cNvSpPr>
              <a:spLocks noChangeShapeType="1"/>
            </p:cNvSpPr>
            <p:nvPr/>
          </p:nvSpPr>
          <p:spPr bwMode="auto">
            <a:xfrm flipH="1">
              <a:off x="3216" y="2600"/>
              <a:ext cx="96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87" name="Text Box 12"/>
            <p:cNvSpPr txBox="1">
              <a:spLocks noChangeArrowheads="1"/>
            </p:cNvSpPr>
            <p:nvPr/>
          </p:nvSpPr>
          <p:spPr bwMode="auto">
            <a:xfrm>
              <a:off x="5023" y="1536"/>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26988" name="Rectangle 13"/>
            <p:cNvSpPr>
              <a:spLocks noChangeArrowheads="1"/>
            </p:cNvSpPr>
            <p:nvPr/>
          </p:nvSpPr>
          <p:spPr bwMode="auto">
            <a:xfrm>
              <a:off x="1641" y="1596"/>
              <a:ext cx="519" cy="6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126989" name="Line 14"/>
            <p:cNvSpPr>
              <a:spLocks noChangeShapeType="1"/>
            </p:cNvSpPr>
            <p:nvPr/>
          </p:nvSpPr>
          <p:spPr bwMode="auto">
            <a:xfrm>
              <a:off x="2160" y="1888"/>
              <a:ext cx="32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90" name="Text Box 15"/>
            <p:cNvSpPr txBox="1">
              <a:spLocks noChangeArrowheads="1"/>
            </p:cNvSpPr>
            <p:nvPr/>
          </p:nvSpPr>
          <p:spPr bwMode="auto">
            <a:xfrm>
              <a:off x="1065" y="1647"/>
              <a:ext cx="33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6991" name="Line 16"/>
            <p:cNvSpPr>
              <a:spLocks noChangeShapeType="1"/>
            </p:cNvSpPr>
            <p:nvPr/>
          </p:nvSpPr>
          <p:spPr bwMode="auto">
            <a:xfrm>
              <a:off x="896" y="2196"/>
              <a:ext cx="1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92" name="Text Box 17"/>
            <p:cNvSpPr txBox="1">
              <a:spLocks noChangeArrowheads="1"/>
            </p:cNvSpPr>
            <p:nvPr/>
          </p:nvSpPr>
          <p:spPr bwMode="auto">
            <a:xfrm>
              <a:off x="654" y="1647"/>
              <a:ext cx="33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6993" name="Rectangle 18"/>
            <p:cNvSpPr>
              <a:spLocks noChangeArrowheads="1"/>
            </p:cNvSpPr>
            <p:nvPr/>
          </p:nvSpPr>
          <p:spPr bwMode="auto">
            <a:xfrm>
              <a:off x="4416" y="1596"/>
              <a:ext cx="487" cy="6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a:t>
              </a:r>
              <a:r>
                <a:rPr lang="en-US" altLang="zh-CN" sz="2400" baseline="-25000">
                  <a:latin typeface="Times New Roman" panose="02020603050405020304" pitchFamily="18" charset="0"/>
                </a:rPr>
                <a:t>3</a:t>
              </a:r>
              <a:r>
                <a:rPr lang="en-US" altLang="zh-CN" sz="2400">
                  <a:latin typeface="Times New Roman" panose="02020603050405020304" pitchFamily="18" charset="0"/>
                </a:rPr>
                <a:t>(s)</a:t>
              </a:r>
            </a:p>
          </p:txBody>
        </p:sp>
        <p:sp>
          <p:nvSpPr>
            <p:cNvPr id="126994" name="Line 19"/>
            <p:cNvSpPr>
              <a:spLocks noChangeShapeType="1"/>
            </p:cNvSpPr>
            <p:nvPr/>
          </p:nvSpPr>
          <p:spPr bwMode="auto">
            <a:xfrm>
              <a:off x="1344" y="1872"/>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95" name="Line 20"/>
            <p:cNvSpPr>
              <a:spLocks noChangeShapeType="1"/>
            </p:cNvSpPr>
            <p:nvPr/>
          </p:nvSpPr>
          <p:spPr bwMode="auto">
            <a:xfrm flipH="1">
              <a:off x="1222" y="2624"/>
              <a:ext cx="125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996" name="Line 21"/>
            <p:cNvSpPr>
              <a:spLocks noChangeShapeType="1"/>
            </p:cNvSpPr>
            <p:nvPr/>
          </p:nvSpPr>
          <p:spPr bwMode="auto">
            <a:xfrm>
              <a:off x="299" y="1862"/>
              <a:ext cx="43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97" name="Line 22"/>
            <p:cNvSpPr>
              <a:spLocks noChangeShapeType="1"/>
            </p:cNvSpPr>
            <p:nvPr/>
          </p:nvSpPr>
          <p:spPr bwMode="auto">
            <a:xfrm>
              <a:off x="4903" y="1896"/>
              <a:ext cx="71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98" name="Line 23"/>
            <p:cNvSpPr>
              <a:spLocks noChangeShapeType="1"/>
            </p:cNvSpPr>
            <p:nvPr/>
          </p:nvSpPr>
          <p:spPr bwMode="auto">
            <a:xfrm flipH="1" flipV="1">
              <a:off x="1232" y="1940"/>
              <a:ext cx="0" cy="70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99" name="Rectangle 24"/>
            <p:cNvSpPr>
              <a:spLocks noChangeArrowheads="1"/>
            </p:cNvSpPr>
            <p:nvPr/>
          </p:nvSpPr>
          <p:spPr bwMode="auto">
            <a:xfrm>
              <a:off x="2996" y="2976"/>
              <a:ext cx="746" cy="48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3</a:t>
              </a:r>
              <a:r>
                <a:rPr lang="en-US" altLang="zh-CN" sz="2400">
                  <a:latin typeface="Times New Roman" panose="02020603050405020304" pitchFamily="18" charset="0"/>
                </a:rPr>
                <a:t>(s)</a:t>
              </a:r>
            </a:p>
          </p:txBody>
        </p:sp>
        <p:sp>
          <p:nvSpPr>
            <p:cNvPr id="127000" name="Line 25"/>
            <p:cNvSpPr>
              <a:spLocks noChangeShapeType="1"/>
            </p:cNvSpPr>
            <p:nvPr/>
          </p:nvSpPr>
          <p:spPr bwMode="auto">
            <a:xfrm flipH="1">
              <a:off x="3742" y="3216"/>
              <a:ext cx="144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7001" name="Line 26"/>
            <p:cNvSpPr>
              <a:spLocks noChangeShapeType="1"/>
            </p:cNvSpPr>
            <p:nvPr/>
          </p:nvSpPr>
          <p:spPr bwMode="auto">
            <a:xfrm flipH="1">
              <a:off x="816" y="3237"/>
              <a:ext cx="220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2" name="Line 27"/>
            <p:cNvSpPr>
              <a:spLocks noChangeShapeType="1"/>
            </p:cNvSpPr>
            <p:nvPr/>
          </p:nvSpPr>
          <p:spPr bwMode="auto">
            <a:xfrm flipV="1">
              <a:off x="5186" y="1896"/>
              <a:ext cx="0" cy="13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3" name="Line 28"/>
            <p:cNvSpPr>
              <a:spLocks noChangeShapeType="1"/>
            </p:cNvSpPr>
            <p:nvPr/>
          </p:nvSpPr>
          <p:spPr bwMode="auto">
            <a:xfrm flipV="1">
              <a:off x="816" y="1940"/>
              <a:ext cx="0" cy="131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7004" name="Text Box 29"/>
            <p:cNvSpPr txBox="1">
              <a:spLocks noChangeArrowheads="1"/>
            </p:cNvSpPr>
            <p:nvPr/>
          </p:nvSpPr>
          <p:spPr bwMode="auto">
            <a:xfrm>
              <a:off x="1248" y="1989"/>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127005" name="Text Box 30"/>
            <p:cNvSpPr txBox="1">
              <a:spLocks noChangeArrowheads="1"/>
            </p:cNvSpPr>
            <p:nvPr/>
          </p:nvSpPr>
          <p:spPr bwMode="auto">
            <a:xfrm>
              <a:off x="240" y="1536"/>
              <a:ext cx="4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27006" name="Oval 31"/>
            <p:cNvSpPr>
              <a:spLocks noChangeArrowheads="1"/>
            </p:cNvSpPr>
            <p:nvPr/>
          </p:nvSpPr>
          <p:spPr bwMode="auto">
            <a:xfrm>
              <a:off x="4159" y="1873"/>
              <a:ext cx="48" cy="50"/>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457200" y="5181600"/>
            <a:ext cx="8489950" cy="1066800"/>
            <a:chOff x="288" y="3024"/>
            <a:chExt cx="5348" cy="672"/>
          </a:xfrm>
        </p:grpSpPr>
        <p:sp>
          <p:nvSpPr>
            <p:cNvPr id="129044" name="Rectangle 4"/>
            <p:cNvSpPr>
              <a:spLocks noChangeArrowheads="1"/>
            </p:cNvSpPr>
            <p:nvPr/>
          </p:nvSpPr>
          <p:spPr bwMode="auto">
            <a:xfrm>
              <a:off x="768" y="3072"/>
              <a:ext cx="4368" cy="62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129045" name="Object 5"/>
            <p:cNvGraphicFramePr>
              <a:graphicFrameLocks noChangeAspect="1"/>
            </p:cNvGraphicFramePr>
            <p:nvPr/>
          </p:nvGraphicFramePr>
          <p:xfrm>
            <a:off x="816" y="3120"/>
            <a:ext cx="4272" cy="528"/>
          </p:xfrm>
          <a:graphic>
            <a:graphicData uri="http://schemas.openxmlformats.org/presentationml/2006/ole">
              <mc:AlternateContent xmlns:mc="http://schemas.openxmlformats.org/markup-compatibility/2006">
                <mc:Choice xmlns:v="urn:schemas-microsoft-com:vml" Requires="v">
                  <p:oleObj spid="_x0000_s129064" r:id="rId4" imgW="4737100" imgH="495300" progId="Equation.3">
                    <p:embed/>
                  </p:oleObj>
                </mc:Choice>
                <mc:Fallback>
                  <p:oleObj r:id="rId4" imgW="4737100" imgH="4953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 y="3120"/>
                          <a:ext cx="4272"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9046" name="Line 6"/>
            <p:cNvSpPr>
              <a:spLocks noChangeShapeType="1"/>
            </p:cNvSpPr>
            <p:nvPr/>
          </p:nvSpPr>
          <p:spPr bwMode="auto">
            <a:xfrm>
              <a:off x="288" y="3360"/>
              <a:ext cx="4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7" name="Line 7"/>
            <p:cNvSpPr>
              <a:spLocks noChangeShapeType="1"/>
            </p:cNvSpPr>
            <p:nvPr/>
          </p:nvSpPr>
          <p:spPr bwMode="auto">
            <a:xfrm>
              <a:off x="5136" y="3360"/>
              <a:ext cx="43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8" name="Text Box 8"/>
            <p:cNvSpPr txBox="1">
              <a:spLocks noChangeArrowheads="1"/>
            </p:cNvSpPr>
            <p:nvPr/>
          </p:nvSpPr>
          <p:spPr bwMode="auto">
            <a:xfrm>
              <a:off x="288" y="3050"/>
              <a:ext cx="4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29049" name="Text Box 9"/>
            <p:cNvSpPr txBox="1">
              <a:spLocks noChangeArrowheads="1"/>
            </p:cNvSpPr>
            <p:nvPr/>
          </p:nvSpPr>
          <p:spPr bwMode="auto">
            <a:xfrm>
              <a:off x="5136" y="302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grpSp>
      <p:grpSp>
        <p:nvGrpSpPr>
          <p:cNvPr id="3" name="Group 10"/>
          <p:cNvGrpSpPr>
            <a:grpSpLocks/>
          </p:cNvGrpSpPr>
          <p:nvPr/>
        </p:nvGrpSpPr>
        <p:grpSpPr bwMode="auto">
          <a:xfrm>
            <a:off x="622300" y="2209800"/>
            <a:ext cx="7988300" cy="2057400"/>
            <a:chOff x="392" y="1392"/>
            <a:chExt cx="5032" cy="1296"/>
          </a:xfrm>
        </p:grpSpPr>
        <p:sp>
          <p:nvSpPr>
            <p:cNvPr id="129030" name="Rectangle 11"/>
            <p:cNvSpPr>
              <a:spLocks noChangeArrowheads="1"/>
            </p:cNvSpPr>
            <p:nvPr/>
          </p:nvSpPr>
          <p:spPr bwMode="auto">
            <a:xfrm>
              <a:off x="1536" y="1416"/>
              <a:ext cx="3120" cy="62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129031" name="Object 12"/>
            <p:cNvGraphicFramePr>
              <a:graphicFrameLocks noChangeAspect="1"/>
            </p:cNvGraphicFramePr>
            <p:nvPr/>
          </p:nvGraphicFramePr>
          <p:xfrm>
            <a:off x="1576" y="1483"/>
            <a:ext cx="3032" cy="525"/>
          </p:xfrm>
          <a:graphic>
            <a:graphicData uri="http://schemas.openxmlformats.org/presentationml/2006/ole">
              <mc:AlternateContent xmlns:mc="http://schemas.openxmlformats.org/markup-compatibility/2006">
                <mc:Choice xmlns:v="urn:schemas-microsoft-com:vml" Requires="v">
                  <p:oleObj spid="_x0000_s129065" r:id="rId6" imgW="2933700" imgH="495300" progId="Equation.3">
                    <p:embed/>
                  </p:oleObj>
                </mc:Choice>
                <mc:Fallback>
                  <p:oleObj r:id="rId6" imgW="2933700" imgH="49530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6" y="1483"/>
                          <a:ext cx="3032"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9032" name="Rectangle 13"/>
            <p:cNvSpPr>
              <a:spLocks noChangeArrowheads="1"/>
            </p:cNvSpPr>
            <p:nvPr/>
          </p:nvSpPr>
          <p:spPr bwMode="auto">
            <a:xfrm>
              <a:off x="2656" y="2304"/>
              <a:ext cx="832"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a:t>
              </a:r>
              <a:r>
                <a:rPr lang="en-US" altLang="zh-CN" sz="2400" baseline="-25000">
                  <a:latin typeface="Times New Roman" panose="02020603050405020304" pitchFamily="18" charset="0"/>
                </a:rPr>
                <a:t>3</a:t>
              </a:r>
              <a:r>
                <a:rPr lang="en-US" altLang="zh-CN" sz="2400">
                  <a:latin typeface="Times New Roman" panose="02020603050405020304" pitchFamily="18" charset="0"/>
                </a:rPr>
                <a:t>(s)</a:t>
              </a:r>
            </a:p>
          </p:txBody>
        </p:sp>
        <p:sp>
          <p:nvSpPr>
            <p:cNvPr id="129033" name="Text Box 14"/>
            <p:cNvSpPr txBox="1">
              <a:spLocks noChangeArrowheads="1"/>
            </p:cNvSpPr>
            <p:nvPr/>
          </p:nvSpPr>
          <p:spPr bwMode="auto">
            <a:xfrm>
              <a:off x="939" y="1516"/>
              <a:ext cx="33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6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endParaRPr>
            </a:p>
          </p:txBody>
        </p:sp>
        <p:sp>
          <p:nvSpPr>
            <p:cNvPr id="129034" name="Line 15"/>
            <p:cNvSpPr>
              <a:spLocks noChangeShapeType="1"/>
            </p:cNvSpPr>
            <p:nvPr/>
          </p:nvSpPr>
          <p:spPr bwMode="auto">
            <a:xfrm>
              <a:off x="1200" y="1728"/>
              <a:ext cx="33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35" name="Line 16"/>
            <p:cNvSpPr>
              <a:spLocks noChangeShapeType="1"/>
            </p:cNvSpPr>
            <p:nvPr/>
          </p:nvSpPr>
          <p:spPr bwMode="auto">
            <a:xfrm>
              <a:off x="432" y="1728"/>
              <a:ext cx="57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36" name="Line 17"/>
            <p:cNvSpPr>
              <a:spLocks noChangeShapeType="1"/>
            </p:cNvSpPr>
            <p:nvPr/>
          </p:nvSpPr>
          <p:spPr bwMode="auto">
            <a:xfrm>
              <a:off x="4656" y="1728"/>
              <a:ext cx="76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37" name="Line 18"/>
            <p:cNvSpPr>
              <a:spLocks noChangeShapeType="1"/>
            </p:cNvSpPr>
            <p:nvPr/>
          </p:nvSpPr>
          <p:spPr bwMode="auto">
            <a:xfrm>
              <a:off x="4896" y="1728"/>
              <a:ext cx="0" cy="7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8" name="Line 19"/>
            <p:cNvSpPr>
              <a:spLocks noChangeShapeType="1"/>
            </p:cNvSpPr>
            <p:nvPr/>
          </p:nvSpPr>
          <p:spPr bwMode="auto">
            <a:xfrm flipH="1">
              <a:off x="3488" y="2496"/>
              <a:ext cx="1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39" name="Line 20"/>
            <p:cNvSpPr>
              <a:spLocks noChangeShapeType="1"/>
            </p:cNvSpPr>
            <p:nvPr/>
          </p:nvSpPr>
          <p:spPr bwMode="auto">
            <a:xfrm flipH="1">
              <a:off x="1096" y="2496"/>
              <a:ext cx="15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0" name="Line 21"/>
            <p:cNvSpPr>
              <a:spLocks noChangeShapeType="1"/>
            </p:cNvSpPr>
            <p:nvPr/>
          </p:nvSpPr>
          <p:spPr bwMode="auto">
            <a:xfrm flipH="1" flipV="1">
              <a:off x="1104" y="1824"/>
              <a:ext cx="0" cy="6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1" name="Line 22"/>
            <p:cNvSpPr>
              <a:spLocks noChangeShapeType="1"/>
            </p:cNvSpPr>
            <p:nvPr/>
          </p:nvSpPr>
          <p:spPr bwMode="auto">
            <a:xfrm>
              <a:off x="1200" y="1968"/>
              <a:ext cx="1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2" name="Text Box 23"/>
            <p:cNvSpPr txBox="1">
              <a:spLocks noChangeArrowheads="1"/>
            </p:cNvSpPr>
            <p:nvPr/>
          </p:nvSpPr>
          <p:spPr bwMode="auto">
            <a:xfrm>
              <a:off x="392" y="1392"/>
              <a:ext cx="4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129043" name="Text Box 24"/>
            <p:cNvSpPr txBox="1">
              <a:spLocks noChangeArrowheads="1"/>
            </p:cNvSpPr>
            <p:nvPr/>
          </p:nvSpPr>
          <p:spPr bwMode="auto">
            <a:xfrm>
              <a:off x="4896" y="139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grpSp>
      <p:sp>
        <p:nvSpPr>
          <p:cNvPr id="129028" name="Rectangle 25"/>
          <p:cNvSpPr>
            <a:spLocks noChangeArrowheads="1"/>
          </p:cNvSpPr>
          <p:nvPr/>
        </p:nvSpPr>
        <p:spPr bwMode="auto">
          <a:xfrm>
            <a:off x="1116013" y="1052513"/>
            <a:ext cx="617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宋体" panose="02010600030101010101" pitchFamily="2" charset="-122"/>
              </a:rPr>
              <a:t>3</a:t>
            </a:r>
            <a:r>
              <a:rPr lang="zh-CN" altLang="en-US" sz="2800">
                <a:latin typeface="宋体" panose="02010600030101010101" pitchFamily="2" charset="-122"/>
              </a:rPr>
              <a:t>、消去</a:t>
            </a:r>
            <a:r>
              <a:rPr lang="en-US" altLang="zh-CN" sz="2800" i="1">
                <a:latin typeface="Times New Roman" panose="02020603050405020304" pitchFamily="18" charset="0"/>
              </a:rPr>
              <a:t>H</a:t>
            </a:r>
            <a:r>
              <a:rPr lang="en-US" altLang="zh-CN" sz="2900" baseline="-20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 </a:t>
            </a:r>
            <a:r>
              <a:rPr lang="zh-CN" altLang="en-US" sz="2800">
                <a:latin typeface="Times New Roman" panose="02020603050405020304" pitchFamily="18" charset="0"/>
              </a:rPr>
              <a:t>反馈回路</a:t>
            </a:r>
            <a:endParaRPr lang="zh-CN" altLang="en-US" sz="2800">
              <a:latin typeface="宋体" panose="02010600030101010101" pitchFamily="2" charset="-122"/>
            </a:endParaRPr>
          </a:p>
        </p:txBody>
      </p:sp>
      <p:sp>
        <p:nvSpPr>
          <p:cNvPr id="158746" name="Rectangle 26"/>
          <p:cNvSpPr>
            <a:spLocks noChangeArrowheads="1"/>
          </p:cNvSpPr>
          <p:nvPr/>
        </p:nvSpPr>
        <p:spPr bwMode="auto">
          <a:xfrm>
            <a:off x="1143000" y="4433888"/>
            <a:ext cx="617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宋体" panose="02010600030101010101" pitchFamily="2" charset="-122"/>
              </a:rPr>
              <a:t>4</a:t>
            </a:r>
            <a:r>
              <a:rPr lang="zh-CN" altLang="en-US" sz="2800">
                <a:latin typeface="宋体" panose="02010600030101010101" pitchFamily="2" charset="-122"/>
              </a:rPr>
              <a:t>、消去</a:t>
            </a:r>
            <a:r>
              <a:rPr lang="en-US" altLang="zh-CN" sz="2800" i="1">
                <a:latin typeface="Times New Roman" panose="02020603050405020304" pitchFamily="18" charset="0"/>
              </a:rPr>
              <a:t>H</a:t>
            </a:r>
            <a:r>
              <a:rPr lang="en-US" altLang="zh-CN" sz="2900" baseline="-20000">
                <a:latin typeface="Times New Roman" panose="02020603050405020304" pitchFamily="18" charset="0"/>
              </a:rPr>
              <a:t>3</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 </a:t>
            </a:r>
            <a:r>
              <a:rPr lang="zh-CN" altLang="en-US" sz="2800">
                <a:latin typeface="Times New Roman" panose="02020603050405020304" pitchFamily="18" charset="0"/>
              </a:rPr>
              <a:t>反馈回路</a:t>
            </a:r>
            <a:endParaRPr lang="zh-CN" altLang="en-US" sz="280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8746"/>
                                        </p:tgtEl>
                                        <p:attrNameLst>
                                          <p:attrName>style.visibility</p:attrName>
                                        </p:attrNameLst>
                                      </p:cBhvr>
                                      <p:to>
                                        <p:strVal val="visible"/>
                                      </p:to>
                                    </p:set>
                                    <p:anim calcmode="lin" valueType="num">
                                      <p:cBhvr additive="base">
                                        <p:cTn id="13" dur="500" fill="hold"/>
                                        <p:tgtEl>
                                          <p:spTgt spid="158746"/>
                                        </p:tgtEl>
                                        <p:attrNameLst>
                                          <p:attrName>ppt_x</p:attrName>
                                        </p:attrNameLst>
                                      </p:cBhvr>
                                      <p:tavLst>
                                        <p:tav tm="0">
                                          <p:val>
                                            <p:strVal val="#ppt_x"/>
                                          </p:val>
                                        </p:tav>
                                        <p:tav tm="100000">
                                          <p:val>
                                            <p:strVal val="#ppt_x"/>
                                          </p:val>
                                        </p:tav>
                                      </p:tavLst>
                                    </p:anim>
                                    <p:anim calcmode="lin" valueType="num">
                                      <p:cBhvr additive="base">
                                        <p:cTn id="14" dur="500" fill="hold"/>
                                        <p:tgtEl>
                                          <p:spTgt spid="15874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4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D7319F0-D678-4E60-AE38-E9A1771AFE56}" type="datetime1">
              <a:rPr lang="zh-CN" altLang="en-US" smtClean="0"/>
              <a:pPr/>
              <a:t>2025/9/11</a:t>
            </a:fld>
            <a:endParaRPr lang="en-US" altLang="zh-CN" smtClean="0"/>
          </a:p>
        </p:txBody>
      </p:sp>
      <p:sp>
        <p:nvSpPr>
          <p:cNvPr id="131075" name="文本框 3"/>
          <p:cNvSpPr txBox="1">
            <a:spLocks noChangeArrowheads="1"/>
          </p:cNvSpPr>
          <p:nvPr/>
        </p:nvSpPr>
        <p:spPr bwMode="auto">
          <a:xfrm>
            <a:off x="1547813" y="2852738"/>
            <a:ext cx="34607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作业：</a:t>
            </a:r>
            <a:r>
              <a:rPr lang="en-US" altLang="zh-CN" sz="2800"/>
              <a:t>P78:2-11(b)</a:t>
            </a:r>
            <a:endParaRPr lang="zh-CN" altLang="en-US" sz="280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内容占位符 2"/>
          <p:cNvSpPr>
            <a:spLocks noGrp="1" noChangeArrowheads="1"/>
          </p:cNvSpPr>
          <p:nvPr>
            <p:ph idx="1"/>
          </p:nvPr>
        </p:nvSpPr>
        <p:spPr>
          <a:xfrm>
            <a:off x="609600" y="2565400"/>
            <a:ext cx="8001000" cy="2281238"/>
          </a:xfrm>
        </p:spPr>
        <p:txBody>
          <a:bodyPr/>
          <a:lstStyle/>
          <a:p>
            <a:r>
              <a:rPr lang="zh-CN" altLang="en-US" dirty="0" smtClean="0"/>
              <a:t>典型环节及其传递函数</a:t>
            </a:r>
          </a:p>
          <a:p>
            <a:r>
              <a:rPr lang="zh-CN" altLang="en-US" dirty="0" smtClean="0"/>
              <a:t>相似系统</a:t>
            </a:r>
            <a:endParaRPr lang="en-US" altLang="zh-CN" dirty="0" smtClean="0"/>
          </a:p>
          <a:p>
            <a:r>
              <a:rPr lang="zh-CN" altLang="en-US" dirty="0" smtClean="0"/>
              <a:t>方框图的组成元素、建立方法及运算</a:t>
            </a:r>
            <a:r>
              <a:rPr lang="zh-CN" altLang="en-US" dirty="0" smtClean="0"/>
              <a:t>法则</a:t>
            </a:r>
            <a:endParaRPr lang="zh-CN" altLang="en-US" dirty="0" smtClean="0"/>
          </a:p>
        </p:txBody>
      </p:sp>
      <p:sp>
        <p:nvSpPr>
          <p:cNvPr id="139267"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BE4834E-9FAD-46FE-AA6D-069DDFB6E910}" type="datetime1">
              <a:rPr lang="zh-CN" altLang="en-US" smtClean="0"/>
              <a:pPr/>
              <a:t>2025/9/11</a:t>
            </a:fld>
            <a:endParaRPr lang="en-US" altLang="zh-CN" smtClean="0"/>
          </a:p>
        </p:txBody>
      </p:sp>
      <p:sp>
        <p:nvSpPr>
          <p:cNvPr id="139268" name="文本框 1"/>
          <p:cNvSpPr txBox="1">
            <a:spLocks noChangeArrowheads="1"/>
          </p:cNvSpPr>
          <p:nvPr/>
        </p:nvSpPr>
        <p:spPr bwMode="auto">
          <a:xfrm>
            <a:off x="987425" y="925513"/>
            <a:ext cx="11017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b="1"/>
              <a:t>小结</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344</TotalTime>
  <Words>2249</Words>
  <Application>Microsoft Office PowerPoint</Application>
  <PresentationFormat>全屏显示(4:3)</PresentationFormat>
  <Paragraphs>684</Paragraphs>
  <Slides>67</Slides>
  <Notes>60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67</vt:i4>
      </vt:variant>
    </vt:vector>
  </HeadingPairs>
  <TitlesOfParts>
    <vt:vector size="70" baseType="lpstr">
      <vt:lpstr>Profile</vt:lpstr>
      <vt:lpstr>Microsoft 公式 3.0</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Lu Jixia</cp:lastModifiedBy>
  <cp:revision>164</cp:revision>
  <dcterms:created xsi:type="dcterms:W3CDTF">2011-07-27T09:01:44Z</dcterms:created>
  <dcterms:modified xsi:type="dcterms:W3CDTF">2025-09-11T12:25:14Z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2052-11.8.6.9023</vt:lpwstr>
  </property>
</Properties>
</file>