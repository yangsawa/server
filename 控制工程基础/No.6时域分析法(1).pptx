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8"/>
  </p:notesMasterIdLst>
  <p:handoutMasterIdLst>
    <p:handoutMasterId r:id="rId49"/>
  </p:handoutMasterIdLst>
  <p:sldIdLst>
    <p:sldId id="475" r:id="rId2"/>
    <p:sldId id="470" r:id="rId3"/>
    <p:sldId id="471" r:id="rId4"/>
    <p:sldId id="472" r:id="rId5"/>
    <p:sldId id="474" r:id="rId6"/>
    <p:sldId id="257" r:id="rId7"/>
    <p:sldId id="263" r:id="rId8"/>
    <p:sldId id="264" r:id="rId9"/>
    <p:sldId id="265" r:id="rId10"/>
    <p:sldId id="266" r:id="rId11"/>
    <p:sldId id="3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350" r:id="rId21"/>
    <p:sldId id="351" r:id="rId22"/>
    <p:sldId id="352" r:id="rId23"/>
    <p:sldId id="368" r:id="rId24"/>
    <p:sldId id="276" r:id="rId25"/>
    <p:sldId id="277" r:id="rId26"/>
    <p:sldId id="278" r:id="rId27"/>
    <p:sldId id="280" r:id="rId28"/>
    <p:sldId id="281" r:id="rId29"/>
    <p:sldId id="305" r:id="rId30"/>
    <p:sldId id="307" r:id="rId31"/>
    <p:sldId id="282" r:id="rId32"/>
    <p:sldId id="283" r:id="rId33"/>
    <p:sldId id="308" r:id="rId34"/>
    <p:sldId id="284" r:id="rId35"/>
    <p:sldId id="285" r:id="rId36"/>
    <p:sldId id="286" r:id="rId37"/>
    <p:sldId id="287" r:id="rId38"/>
    <p:sldId id="288" r:id="rId39"/>
    <p:sldId id="289" r:id="rId40"/>
    <p:sldId id="372" r:id="rId41"/>
    <p:sldId id="373" r:id="rId42"/>
    <p:sldId id="374" r:id="rId43"/>
    <p:sldId id="375" r:id="rId44"/>
    <p:sldId id="376" r:id="rId45"/>
    <p:sldId id="469" r:id="rId46"/>
    <p:sldId id="481" r:id="rId47"/>
  </p:sldIdLst>
  <p:sldSz cx="9144000" cy="6858000" type="screen4x3"/>
  <p:notesSz cx="6669088" cy="992663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41" d="100"/>
          <a:sy n="41" d="100"/>
        </p:scale>
        <p:origin x="987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1064AA4-71F5-8F94-6DA2-FC1EA78C33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DD66054-F4C6-5FFC-0D9D-F65F1091F0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38C81457-0368-0472-6C42-64F8D40F6F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4D9E48B0-1C1F-3134-4B60-9F867E8C4F0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1EB291E6-6412-4552-A21E-4B1FC1B4F6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7070412-E09E-0764-A10D-8B2EF95A7C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4468EC1-01C9-B7E2-F8E2-40CFCAD44F4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A5DDC25-2E57-98A8-56C8-F3634BCD457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C6E70259-F3F7-32D5-82C7-022BD0C1E7E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370055F-57EE-C26D-2B33-93DAC7C9F26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28C28954-6A7A-33F7-CDBE-076F68A53E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89AFD13C-F3EB-4E75-887A-71BA9AA5697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B2EC7-9189-17C5-897B-4210CA8A7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F818CD30-DE00-CFD7-CF8F-8DD493C291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FCF2C65-E9E5-43B8-846F-2ACAC6BC2FC5}" type="slidenum">
              <a:rPr lang="en-US" altLang="zh-CN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2D6F94FC-6828-3E84-AF49-F0375542E63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26D2298-DE48-5CB4-19EB-74AA53D7A20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58670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FCF2C65-E9E5-43B8-846F-2ACAC6BC2FC5}" type="slidenum">
              <a:rPr lang="en-US" altLang="zh-CN" smtClean="0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99566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AFA385EE-1CEA-E36E-9E8A-8942EB6424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4DEC231-72D7-4FDD-BDC7-1EF6EB693BFC}" type="slidenum">
              <a:rPr lang="en-US" altLang="zh-CN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CBE9B82-DB30-F602-D755-49C67BC70CE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4C995382-C6BE-7B91-C7F9-A52894DC810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9E35A9E5-1800-F8AB-6CC7-CBD643C841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2A23F99-6720-444E-A67D-F8F9B7874772}" type="slidenum">
              <a:rPr lang="en-US" altLang="zh-CN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D1717115-13EF-14E7-6262-1BA74326328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1CB494E-C69C-C2A2-E595-633B2DE110F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0310867A-ABD4-C07F-F777-93468A69AD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E929314-7AA4-484B-98D1-4235133716BD}" type="slidenum">
              <a:rPr lang="en-US" altLang="zh-CN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E03AF2A-5DCD-F4DD-5812-3A4E87CDC0F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B2DE807-F4A6-A1A0-58D7-B3868CC70E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CD12FCA8-972F-B382-3C13-6DEAF34DEE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9571E85-9525-42B4-898A-FAB856BD1973}" type="slidenum">
              <a:rPr lang="en-US" altLang="zh-CN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9EEE538-324B-0DB1-6566-8F602AC2FEE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F1CF133B-8BDF-6D29-7BC3-5AEAA49C59A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1F33BF9A-032A-9DDB-0EBC-8888D52904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E5F42FE-8DFC-4319-80C5-5B2FC87433E1}" type="slidenum">
              <a:rPr lang="en-US" altLang="zh-CN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F47F9F4A-A5A2-7FCF-9E8A-EB7283463B5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6C07D8F-59AB-B769-23B8-ADAEB3896A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14E0353B-958C-FE51-8657-2EC45B8A80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C4D32AF-2BA9-4A0B-9140-306D62B4C37D}" type="slidenum">
              <a:rPr lang="en-US" altLang="zh-CN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B086850-BA3E-9A2A-489A-EEFE1AF7569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DA09FC8D-6184-122B-9F41-CFE2938636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C423C8C1-5549-DC37-ED9B-76908247F9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5106CD0-C23B-4AC9-9BD5-C4A8AA9AC33C}" type="slidenum">
              <a:rPr lang="en-US" altLang="zh-CN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265F89F8-315C-43FD-62AE-5D64AFF8402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C3650F4E-5B35-9196-C450-57BD6AAA3AF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DDA16FFD-27C0-AD89-9098-4C1626E228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E796056-53C6-4999-87AB-63B57EBEE218}" type="slidenum">
              <a:rPr lang="en-US" altLang="zh-CN"/>
              <a:pPr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44F22F13-D201-7436-B8A2-2BECC96BE25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EBDE6A5-67F0-DDE7-4E8D-6604DEEA3C2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C032684D-C47F-AB0E-4841-8FCE8E43EF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3D0A14-A533-4206-9520-70AC6DF9AA94}" type="slidenum">
              <a:rPr lang="en-US" altLang="zh-CN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92558CA-B2A2-9D6E-27C1-36C834CEEE1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33ED55C5-EE19-3B01-0D3F-48A9109E39E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2C32061E-36DB-6F53-BD7D-D0E26CBB06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055DF98-80E0-4469-8E01-EBFC69D406A8}" type="slidenum">
              <a:rPr lang="en-US" altLang="zh-CN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2F437E4E-7D37-5FD1-A3E1-290571EB085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ACC3A1A6-BA2A-A968-1161-F7E7787AC6E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50836CE0-F4B6-15D5-E536-8E056C081C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9BFD3CB-8EB6-4137-8A3A-B902A6A6EBF5}" type="slidenum">
              <a:rPr lang="en-US" altLang="zh-CN"/>
              <a:pPr>
                <a:spcBef>
                  <a:spcPct val="0"/>
                </a:spcBef>
              </a:pPr>
              <a:t>17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E129404A-B540-48CC-8B11-D0B51519BB1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A89C82CB-CF34-73CB-709B-32F78378704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94053BFE-572F-FE0D-ED58-3B6EF18D08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D45691F-5627-4785-8151-887530E6B048}" type="slidenum">
              <a:rPr lang="en-US" altLang="zh-CN"/>
              <a:pPr>
                <a:spcBef>
                  <a:spcPct val="0"/>
                </a:spcBef>
              </a:pPr>
              <a:t>18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03B5F918-0707-D91C-DE83-EAF541A2DE7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96600FED-96EC-B63A-2DBE-CA11838DFBD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33E16C9F-51D4-61F1-EDA4-2EF9BDDDBF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1C91B16-D588-4DFC-96E0-179F8C7A0E60}" type="slidenum">
              <a:rPr lang="en-US" altLang="zh-CN"/>
              <a:pPr>
                <a:spcBef>
                  <a:spcPct val="0"/>
                </a:spcBef>
              </a:pPr>
              <a:t>19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793942D-91DD-F393-DB01-2CEFAA710E9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F4BFFAA7-D4D5-A68A-9AAA-6E8791D7376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A3455679-4248-4392-40D4-23E9D17088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9F7E09F-10CF-4EFD-B994-090FF41BDD88}" type="slidenum">
              <a:rPr lang="en-US" altLang="zh-CN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A10F3A88-178A-CDEE-D3DF-31D6F6BDDBB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146F565A-9A17-D745-2251-B8AC31500A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8643F9A4-F2F7-1B10-AFAC-31E9525C9C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6F1C320-2710-4BDD-8486-D5FDF81D16BD}" type="slidenum">
              <a:rPr lang="en-US" altLang="zh-CN"/>
              <a:pPr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A126607-6C48-90D2-B797-10BB57DA116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E5AC509B-BC05-B8B8-D9DE-2511E275396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5B9D3FB1-93B6-3549-07B8-365881BE74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37E832B-3070-4ECB-BB79-88A64061D18B}" type="slidenum">
              <a:rPr lang="en-US" altLang="zh-CN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4F0DAC4-5E0F-B3FF-D2F3-52E6E3948CB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54BD08BA-233E-823D-4920-ABC07DD79A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72C3CF35-1B00-27A6-78BE-80D74FCE12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B77AE48-BF45-47EC-99E9-4E5DBF3BC265}" type="slidenum">
              <a:rPr lang="en-US" altLang="zh-CN"/>
              <a:pPr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7157F0F4-29B8-7AC6-0780-1DAAAD43E79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1315A092-74B6-D908-01CE-AF2F0439C95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6489057A-AD0A-4715-E894-206EE09133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05AD43D-2D54-4345-B70B-19FF298E6ACF}" type="slidenum">
              <a:rPr lang="en-US" altLang="zh-CN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5BC000C1-F71B-6723-23C7-0EDD124B864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FA8388E1-27E9-3D89-1670-DF0A12E1DB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BF41CD27-EF39-C26B-F4A8-357FB8027D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BCE23B5-729E-4600-98D7-DF111A1AE52F}" type="slidenum">
              <a:rPr lang="en-US" altLang="zh-CN"/>
              <a:pPr>
                <a:spcBef>
                  <a:spcPct val="0"/>
                </a:spcBef>
              </a:pPr>
              <a:t>25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EDE81E3D-3431-880F-F0F6-D485B306C2F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4720ABAD-9AEE-68F8-99B4-0F3A6DC79AA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6917388A-6FEA-7DF6-8261-75090EF14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EB00BD0-1233-495A-8BDC-FEF672F7195A}" type="slidenum">
              <a:rPr lang="en-US" altLang="zh-CN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E3DCC836-C5D1-C081-45C0-55706B9B889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E04E456-E30E-FBB8-57C2-E15012FFB48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C1AD471B-758A-C2DE-5777-F107F8D146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8042F86-EDC4-49AB-9F94-EE53AAA103D9}" type="slidenum">
              <a:rPr lang="en-US" altLang="zh-CN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4773D20-3242-0790-CE89-5799B2A3B42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DA8CD6FE-9FD4-DEB8-9ED1-24CFA389B55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42CB2B25-788E-38A4-1F51-EFA76FB7D0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0EFB73-770A-4093-9A49-1FBA126338E8}" type="slidenum">
              <a:rPr lang="en-US" altLang="zh-CN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69F26882-ECF2-2100-13D7-71A022FAE90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A45E4A88-A70A-8008-C6E2-8BCD5BA0496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53CD02D2-CAA3-6CE4-00DA-2AC24C71FA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D557FD3-44E2-487C-BA73-34B1ADFFFE0A}" type="slidenum">
              <a:rPr lang="en-US" altLang="zh-CN"/>
              <a:pPr>
                <a:spcBef>
                  <a:spcPct val="0"/>
                </a:spcBef>
              </a:pPr>
              <a:t>29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CBCDC061-7052-9115-790D-A90D4B8B7CC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9727695D-D0E6-D178-ED2D-7BC5FE87897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60B35EE6-1C3A-FD6B-7CCE-5507ED1AE2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C849266-6BBC-457F-A591-B69B09CA7394}" type="slidenum">
              <a:rPr lang="en-US" altLang="zh-CN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F095CE3F-BF0B-6253-3A8C-741CDDAA927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106DD864-C103-D734-5A40-F630C67FF5E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DA6AA864-929D-313B-E43D-0DBAEC152A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8851FDC-9CF9-47CA-ADA8-D28D559BB3A3}" type="slidenum">
              <a:rPr lang="en-US" altLang="zh-CN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03544768-57C2-2596-C633-C1C1A46DDF5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9CE890CA-C287-59FA-47DC-79F8C5EE2D1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E50AA1C-D76C-BF5A-56E5-C8CD821605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A064DF5-08CC-410B-8B09-ADB2C85286C6}" type="slidenum">
              <a:rPr lang="en-US" altLang="zh-CN"/>
              <a:pPr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937500A9-65CC-C6F2-6D8D-3660CAB2E3B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E7701DDD-9CA7-A67B-4142-917C1F23D79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9DBB4818-9C70-BE89-E653-9554EB67AF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C1DEC77-CF9F-4E89-8BE7-C0A0A7F45AE9}" type="slidenum">
              <a:rPr lang="en-US" altLang="zh-CN"/>
              <a:pPr>
                <a:spcBef>
                  <a:spcPct val="0"/>
                </a:spcBef>
              </a:pPr>
              <a:t>33</a:t>
            </a:fld>
            <a:endParaRPr lang="en-US" altLang="zh-CN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1CCED68D-B1F2-18EE-A28C-5780642BD9C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5170C9AB-4048-7FD4-4EE7-C63C6D43D6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B9803A51-CB7D-0F9B-4DDA-7469375316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14F1A41-D472-4F2E-8FF1-DB1BF286A33A}" type="slidenum">
              <a:rPr lang="en-US" altLang="zh-CN"/>
              <a:pPr>
                <a:spcBef>
                  <a:spcPct val="0"/>
                </a:spcBef>
              </a:pPr>
              <a:t>34</a:t>
            </a:fld>
            <a:endParaRPr lang="en-US" altLang="zh-CN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22029E74-6442-6843-786B-B458D014CB9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7B849C85-BCD0-3530-DFC0-535AD9B9F2D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6A84C02C-23BC-8D4C-28A0-CDE6FA96BC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D1B6989-CF99-454D-A477-D057B5D87CAE}" type="slidenum">
              <a:rPr lang="en-US" altLang="zh-CN"/>
              <a:pPr>
                <a:spcBef>
                  <a:spcPct val="0"/>
                </a:spcBef>
              </a:pPr>
              <a:t>35</a:t>
            </a:fld>
            <a:endParaRPr lang="en-US" altLang="zh-CN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9BEBF8B9-ABA0-64B3-AFE2-1A4F0F50A51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A6B6812-6D7E-8E32-A25C-EF60EA27DF8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2053166C-295E-E9A9-6C97-9386874380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BEABB36-A97C-4C24-B1A5-55A7DDB8B5AF}" type="slidenum">
              <a:rPr lang="en-US" altLang="zh-CN"/>
              <a:pPr>
                <a:spcBef>
                  <a:spcPct val="0"/>
                </a:spcBef>
              </a:pPr>
              <a:t>36</a:t>
            </a:fld>
            <a:endParaRPr lang="en-US" altLang="zh-CN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8B80FB87-82EE-F4FA-B5CC-0A965F91B12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DA474F46-139E-684C-E511-427AED4DF69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CB589C60-D450-5F84-5C64-54AEA9D80D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111356B-8FA6-4979-99BF-E91C03151138}" type="slidenum">
              <a:rPr lang="en-US" altLang="zh-CN"/>
              <a:pPr>
                <a:spcBef>
                  <a:spcPct val="0"/>
                </a:spcBef>
              </a:pPr>
              <a:t>37</a:t>
            </a:fld>
            <a:endParaRPr lang="en-US" altLang="zh-CN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773D7BA2-5712-E24C-E91A-01ECBF70FFD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86BBD0D7-F5A6-C7AD-F155-4637A9F6865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E8E71214-681C-D114-0A8C-27368444BA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1DC857-4CFD-4861-BF1C-CA03A03CD449}" type="slidenum">
              <a:rPr lang="en-US" altLang="zh-CN"/>
              <a:pPr>
                <a:spcBef>
                  <a:spcPct val="0"/>
                </a:spcBef>
              </a:pPr>
              <a:t>38</a:t>
            </a:fld>
            <a:endParaRPr lang="en-US" altLang="zh-CN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7A2080ED-C672-E750-6509-D793AE56631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7A94401F-9892-45CA-5CB6-B7A8E311E6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22F9D7F5-E5E2-8AD2-5542-7BE02B8262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F77F8B5-6BDC-455D-8FB9-F796A87304C4}" type="slidenum">
              <a:rPr lang="en-US" altLang="zh-CN"/>
              <a:pPr>
                <a:spcBef>
                  <a:spcPct val="0"/>
                </a:spcBef>
              </a:pPr>
              <a:t>39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19C2B56F-E870-B7E9-BF9A-292D96D9E78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CE222817-4223-60F3-EEBB-2E2C3CA6CB7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094878F3-2FB1-67D5-D8B6-B80E3D13DE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02C4275-8883-4C1F-99B8-6D2039BCA5FE}" type="slidenum">
              <a:rPr lang="en-US" altLang="zh-CN"/>
              <a:pPr>
                <a:spcBef>
                  <a:spcPct val="0"/>
                </a:spcBef>
              </a:pPr>
              <a:t>40</a:t>
            </a:fld>
            <a:endParaRPr lang="en-US" altLang="zh-CN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842B5D5-8149-1BC8-C21F-6B05AEB1A97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4173F39-5005-302E-B95E-AA851EBD86F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53B8034E-F1FF-C6FD-94D8-CA55EA85A7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FFDABCC-FE2C-473E-B3FA-5808ED0D07BD}" type="slidenum">
              <a:rPr lang="en-US" altLang="zh-CN"/>
              <a:pPr>
                <a:spcBef>
                  <a:spcPct val="0"/>
                </a:spcBef>
              </a:pPr>
              <a:t>41</a:t>
            </a:fld>
            <a:endParaRPr lang="en-US" altLang="zh-CN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AD8EC857-7608-6BA8-6E14-DB2E70C893B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E22E0494-0741-ED0F-1E4B-AD2A6B3F28B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CBB7ACF1-7746-3346-207B-582BDE885B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DB11CB8-3940-4FDE-9550-EC8F48CD3390}" type="slidenum">
              <a:rPr lang="en-US" altLang="zh-CN"/>
              <a:pPr>
                <a:spcBef>
                  <a:spcPct val="0"/>
                </a:spcBef>
              </a:pPr>
              <a:t>42</a:t>
            </a:fld>
            <a:endParaRPr lang="en-US" altLang="zh-CN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826C1DD6-8D76-CE81-D63F-EAF6243F89F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5D9B608F-6BB9-9F8D-1A9F-227E4BAC21B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DF76607D-AD39-6E2C-4EDE-7D7FC7BCE5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D4BAB5F-C034-4F29-A1B5-99613D8C31B3}" type="slidenum">
              <a:rPr lang="en-US" altLang="zh-CN"/>
              <a:pPr>
                <a:spcBef>
                  <a:spcPct val="0"/>
                </a:spcBef>
              </a:pPr>
              <a:t>43</a:t>
            </a:fld>
            <a:endParaRPr lang="en-US" altLang="zh-CN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2C24CC17-DF08-03DD-E27B-8480966D648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F1AA5EB9-3A69-35BD-D0C7-8A9373721EE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7C389B44-76F6-C873-D028-5959766BCE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23931C7-F72A-4C9D-AFF6-14CEBBEA54FA}" type="slidenum">
              <a:rPr lang="en-US" altLang="zh-CN"/>
              <a:pPr>
                <a:spcBef>
                  <a:spcPct val="0"/>
                </a:spcBef>
              </a:pPr>
              <a:t>44</a:t>
            </a:fld>
            <a:endParaRPr lang="en-US" altLang="zh-CN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1B0A3AFF-16F4-4B01-4953-449DCFADD50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7F432DC6-2ABA-D035-98FB-CE57056F6A4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AFA385EE-1CEA-E36E-9E8A-8942EB6424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4DEC231-72D7-4FDD-BDC7-1EF6EB693BFC}" type="slidenum">
              <a:rPr lang="en-US" altLang="zh-CN"/>
              <a:pPr>
                <a:spcBef>
                  <a:spcPct val="0"/>
                </a:spcBef>
              </a:pPr>
              <a:t>46</a:t>
            </a:fld>
            <a:endParaRPr lang="en-US" altLang="zh-CN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CBE9B82-DB30-F602-D755-49C67BC70CE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4C995382-C6BE-7B91-C7F9-A52894DC810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A288535-24D5-F228-8B82-85CD3BE76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1314299689 h 1000"/>
              <a:gd name="T6" fmla="*/ 0 w 1000"/>
              <a:gd name="T7" fmla="*/ 1314299689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6FFC6BF-C820-F133-6727-A82FC8A32A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F475340-5168-E489-B083-808B92AE79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A3FA946-EEF5-FCA7-029C-B2381A6982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01E6A80-1E28-476B-A412-73F8261F5C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266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85E48A1-7380-EACF-C4AC-20E314AB7A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A96E25D-FC17-4FCC-1A89-D390C4FD41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AE42468-1218-78A8-0D53-5B773B1842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9EBE4D-E75E-4CB4-817E-0933D6401A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0038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D43490C-EE73-461C-C681-5738F0F762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B297D1F-AAFA-A6D4-902D-A5D32AC604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3531011-C2C3-E5F1-1F52-6086D4A203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672248-C5A1-4692-B50C-B98F5C1FAD4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3398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8F8E929-2DCE-641D-64E6-92C21C8D2F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2BAF075-32A7-3D3A-B542-D8D39FD631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B058275-5FED-FDF5-2CE5-A18519011F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393FB9-8A47-46BE-A6A2-339307DB0A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31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334B7E-7BF0-CE12-7690-6F2CB2D5F1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B4C31C-FC15-FD6F-A042-7CD670053D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9FD93D-DC92-0C74-0D6A-CF4761C50B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B8C2B8-0325-4F57-B64D-54C3BC8D32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049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2524E00-3FD5-5D89-3B76-9B53F9E3E8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04EB234-A1CC-9AAD-C654-CDECC7165E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BE6F807-1A64-2401-C2E4-912E0B4BE2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588FC-9321-4FFA-B9CA-7B4F94E251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323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09853FD-0A7B-5E1C-AB9A-0FCBCE8EFB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A0E4279B-BE0E-065F-33C9-CAE419616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E299E5B6-8077-830F-A411-17D6709D86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5D01D6-12D0-416D-8E69-5534A9A5AB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417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BAB3DF0-AD59-B6E1-E374-EB30BBB8A3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109B0E2-4A04-A505-AFE1-A7A8D00EF9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866B50F-5202-AE93-C442-4F57704851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4DABE0-DE87-4E2A-AEBF-C8228947B4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122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98FDBA0-50F9-127F-CB63-8DC2B4A824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5906B96-C6FE-78CB-B8AB-AF0FAF1D74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E3D53D7-6F70-96F4-066C-7DB844B6C2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C26D9F-8CA1-4222-8D50-A1C11D5F6D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0539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CD5D008-F03C-D088-FE3C-CB18358ADF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E560100-AF8E-E7CC-60DB-AF66C3F6CD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406016E-FBC7-C478-0BFC-791ADB7406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884348-45D3-4F1F-AB4C-A42334BB91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359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D4BC534-9D80-2E02-1780-0B051B99FE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3390D9E-BA6C-3D3D-BA11-9258EC6699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E555EAD-CCB1-AB12-5044-A78BA602DE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42FFF6-EE60-4F6C-B5ED-1B3E9980E1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70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949868-FE7C-D4BE-68AA-0CCF3393D7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C8E1534-5420-080F-CFFF-A06DD5205D8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1445BE4B-0FBD-43E4-E7F6-B52FACBAE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1314263702 h 1000"/>
              <a:gd name="T6" fmla="*/ 0 w 1000"/>
              <a:gd name="T7" fmla="*/ 1314263702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79B2ACF1-BCE5-0383-4C80-7C743BCD7D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15AE0BB1-5F2C-840A-DA25-B52A49FDA62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1D2DCECE-8719-F464-0BE8-C8A8F3CB3C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7C86376A-CA74-7650-4475-82FB1814088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DA4E537-2764-4358-90A7-1242D46FB4B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8.bin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0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0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8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3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5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5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7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43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oleObject" Target="../embeddings/oleObject53.bin"/><Relationship Id="rId7" Type="http://schemas.openxmlformats.org/officeDocument/2006/relationships/image" Target="../media/image54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57.emf"/><Relationship Id="rId5" Type="http://schemas.openxmlformats.org/officeDocument/2006/relationships/image" Target="../media/image53.emf"/><Relationship Id="rId10" Type="http://schemas.openxmlformats.org/officeDocument/2006/relationships/image" Target="../media/image56.emf"/><Relationship Id="rId4" Type="http://schemas.openxmlformats.org/officeDocument/2006/relationships/image" Target="../media/image52.emf"/><Relationship Id="rId9" Type="http://schemas.openxmlformats.org/officeDocument/2006/relationships/image" Target="../media/image55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56.bin"/><Relationship Id="rId7" Type="http://schemas.openxmlformats.org/officeDocument/2006/relationships/image" Target="../media/image60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e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6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6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jpeg"/><Relationship Id="rId4" Type="http://schemas.openxmlformats.org/officeDocument/2006/relationships/image" Target="../media/image70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5A1D6-8DA1-DF73-DF6F-41426D239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日期占位符 3">
            <a:extLst>
              <a:ext uri="{FF2B5EF4-FFF2-40B4-BE49-F238E27FC236}">
                <a16:creationId xmlns:a16="http://schemas.microsoft.com/office/drawing/2014/main" id="{1CD9A3A0-F4E1-B2F3-7D91-1B37A27B8D3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E02D40-4128-46AB-B94A-DF30E7D30FF6}" type="datetime1">
              <a:rPr lang="zh-CN" altLang="en-US" sz="1200" smtClean="0"/>
              <a:pPr>
                <a:spcBef>
                  <a:spcPct val="0"/>
                </a:spcBef>
                <a:buClrTx/>
                <a:buFontTx/>
                <a:buNone/>
              </a:pPr>
              <a:t>2025/9/20</a:t>
            </a:fld>
            <a:endParaRPr lang="zh-CN" altLang="en-US" sz="1200"/>
          </a:p>
        </p:txBody>
      </p:sp>
      <p:sp>
        <p:nvSpPr>
          <p:cNvPr id="99331" name="灯片编号占位符 5">
            <a:extLst>
              <a:ext uri="{FF2B5EF4-FFF2-40B4-BE49-F238E27FC236}">
                <a16:creationId xmlns:a16="http://schemas.microsoft.com/office/drawing/2014/main" id="{7BDAA8B9-BCAB-8236-DD5D-421E2A9FBE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06AF5C5-481B-4F11-91B7-EFF42D7C072A}" type="slidenum">
              <a:rPr lang="en-US" altLang="zh-CN" sz="1200" smtClean="0"/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zh-CN" sz="1200"/>
          </a:p>
        </p:txBody>
      </p:sp>
      <p:sp>
        <p:nvSpPr>
          <p:cNvPr id="99332" name="Text Box 3">
            <a:extLst>
              <a:ext uri="{FF2B5EF4-FFF2-40B4-BE49-F238E27FC236}">
                <a16:creationId xmlns:a16="http://schemas.microsoft.com/office/drawing/2014/main" id="{87D4B067-CE0D-F93F-810A-4E3462B09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692150"/>
            <a:ext cx="3416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数学模型</a:t>
            </a:r>
          </a:p>
        </p:txBody>
      </p:sp>
      <p:sp>
        <p:nvSpPr>
          <p:cNvPr id="99333" name="Rectangle 4">
            <a:extLst>
              <a:ext uri="{FF2B5EF4-FFF2-40B4-BE49-F238E27FC236}">
                <a16:creationId xmlns:a16="http://schemas.microsoft.com/office/drawing/2014/main" id="{52D45125-EE9F-3A33-5896-97E8FA36E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529631"/>
            <a:ext cx="37750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2.2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拉氏变换和反变换</a:t>
            </a:r>
          </a:p>
        </p:txBody>
      </p:sp>
      <p:sp>
        <p:nvSpPr>
          <p:cNvPr id="99334" name="Rectangle 5">
            <a:extLst>
              <a:ext uri="{FF2B5EF4-FFF2-40B4-BE49-F238E27FC236}">
                <a16:creationId xmlns:a16="http://schemas.microsoft.com/office/drawing/2014/main" id="{CCA2EC8F-FF7F-986A-D559-395FF8563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077319"/>
            <a:ext cx="2338388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2.3 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传递函数</a:t>
            </a:r>
          </a:p>
        </p:txBody>
      </p:sp>
      <p:sp>
        <p:nvSpPr>
          <p:cNvPr id="99335" name="Rectangle 6">
            <a:extLst>
              <a:ext uri="{FF2B5EF4-FFF2-40B4-BE49-F238E27FC236}">
                <a16:creationId xmlns:a16="http://schemas.microsoft.com/office/drawing/2014/main" id="{BE1A6282-C266-4191-B825-0CE9D7AAA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286994"/>
            <a:ext cx="4852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2.5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非线性数学模型的线性化</a:t>
            </a:r>
          </a:p>
        </p:txBody>
      </p:sp>
      <p:sp>
        <p:nvSpPr>
          <p:cNvPr id="99336" name="Rectangle 7">
            <a:extLst>
              <a:ext uri="{FF2B5EF4-FFF2-40B4-BE49-F238E27FC236}">
                <a16:creationId xmlns:a16="http://schemas.microsoft.com/office/drawing/2014/main" id="{362F8537-3C8D-4FA5-89E6-55B46532C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650406"/>
            <a:ext cx="4494212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2.4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系统方框图和信号流图</a:t>
            </a:r>
          </a:p>
        </p:txBody>
      </p:sp>
      <p:sp>
        <p:nvSpPr>
          <p:cNvPr id="99337" name="Rectangle 8">
            <a:extLst>
              <a:ext uri="{FF2B5EF4-FFF2-40B4-BE49-F238E27FC236}">
                <a16:creationId xmlns:a16="http://schemas.microsoft.com/office/drawing/2014/main" id="{C0B07BC1-A769-38B0-CA63-F350F6787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118" y="4814094"/>
            <a:ext cx="5211683" cy="608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2.6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控制系统传递函数推导举例</a:t>
            </a:r>
          </a:p>
        </p:txBody>
      </p:sp>
      <p:sp>
        <p:nvSpPr>
          <p:cNvPr id="99338" name="Rectangle 11">
            <a:extLst>
              <a:ext uri="{FF2B5EF4-FFF2-40B4-BE49-F238E27FC236}">
                <a16:creationId xmlns:a16="http://schemas.microsoft.com/office/drawing/2014/main" id="{0B462726-CAC3-7256-793E-7DA194095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4661" y="1916856"/>
            <a:ext cx="4852988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2.1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控制系统的运动微分方程</a:t>
            </a:r>
          </a:p>
        </p:txBody>
      </p:sp>
    </p:spTree>
    <p:extLst>
      <p:ext uri="{BB962C8B-B14F-4D97-AF65-F5344CB8AC3E}">
        <p14:creationId xmlns:p14="http://schemas.microsoft.com/office/powerpoint/2010/main" val="1535942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日期占位符 50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C767E8-A39F-4255-857A-C0369BD80BF4}" type="datetime1">
              <a:rPr lang="en-US" altLang="zh-CN" sz="1200" smtClean="0"/>
              <a:pPr>
                <a:spcBef>
                  <a:spcPct val="0"/>
                </a:spcBef>
                <a:buClrTx/>
                <a:buFontTx/>
                <a:buNone/>
              </a:pPr>
              <a:t>9/20/2025</a:t>
            </a:fld>
            <a:endParaRPr lang="en-US" altLang="zh-CN" sz="1200"/>
          </a:p>
        </p:txBody>
      </p:sp>
      <p:sp>
        <p:nvSpPr>
          <p:cNvPr id="95235" name="灯片编号占位符 52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8CD3BE-F1A9-4E52-A4B1-9CB32E9E024F}" type="slidenum">
              <a:rPr lang="en-US" altLang="zh-CN" sz="1200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200"/>
          </a:p>
        </p:txBody>
      </p:sp>
      <p:sp>
        <p:nvSpPr>
          <p:cNvPr id="95236" name="Rectangle 3"/>
          <p:cNvSpPr>
            <a:spLocks noChangeArrowheads="1"/>
          </p:cNvSpPr>
          <p:nvPr/>
        </p:nvSpPr>
        <p:spPr bwMode="auto">
          <a:xfrm>
            <a:off x="914400" y="941388"/>
            <a:ext cx="69342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汽车悬挂系统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grpSp>
        <p:nvGrpSpPr>
          <p:cNvPr id="95237" name="Group 4"/>
          <p:cNvGrpSpPr>
            <a:grpSpLocks/>
          </p:cNvGrpSpPr>
          <p:nvPr/>
        </p:nvGrpSpPr>
        <p:grpSpPr bwMode="auto">
          <a:xfrm>
            <a:off x="1524000" y="1820863"/>
            <a:ext cx="2514600" cy="1066800"/>
            <a:chOff x="816" y="912"/>
            <a:chExt cx="1584" cy="672"/>
          </a:xfrm>
        </p:grpSpPr>
        <p:pic>
          <p:nvPicPr>
            <p:cNvPr id="95280" name="Picture 5" descr="AG00152_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912"/>
              <a:ext cx="100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281" name="Freeform 6"/>
            <p:cNvSpPr>
              <a:spLocks noChangeArrowheads="1"/>
            </p:cNvSpPr>
            <p:nvPr/>
          </p:nvSpPr>
          <p:spPr bwMode="auto">
            <a:xfrm>
              <a:off x="816" y="1285"/>
              <a:ext cx="1584" cy="59"/>
            </a:xfrm>
            <a:custGeom>
              <a:avLst/>
              <a:gdLst>
                <a:gd name="T0" fmla="*/ 0 w 1584"/>
                <a:gd name="T1" fmla="*/ 25 h 59"/>
                <a:gd name="T2" fmla="*/ 93 w 1584"/>
                <a:gd name="T3" fmla="*/ 0 h 59"/>
                <a:gd name="T4" fmla="*/ 169 w 1584"/>
                <a:gd name="T5" fmla="*/ 8 h 59"/>
                <a:gd name="T6" fmla="*/ 288 w 1584"/>
                <a:gd name="T7" fmla="*/ 50 h 59"/>
                <a:gd name="T8" fmla="*/ 534 w 1584"/>
                <a:gd name="T9" fmla="*/ 25 h 59"/>
                <a:gd name="T10" fmla="*/ 661 w 1584"/>
                <a:gd name="T11" fmla="*/ 50 h 59"/>
                <a:gd name="T12" fmla="*/ 906 w 1584"/>
                <a:gd name="T13" fmla="*/ 50 h 59"/>
                <a:gd name="T14" fmla="*/ 1169 w 1584"/>
                <a:gd name="T15" fmla="*/ 16 h 59"/>
                <a:gd name="T16" fmla="*/ 1474 w 1584"/>
                <a:gd name="T17" fmla="*/ 33 h 59"/>
                <a:gd name="T18" fmla="*/ 1584 w 1584"/>
                <a:gd name="T19" fmla="*/ 59 h 5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84" h="59">
                  <a:moveTo>
                    <a:pt x="0" y="25"/>
                  </a:moveTo>
                  <a:cubicBezTo>
                    <a:pt x="31" y="17"/>
                    <a:pt x="62" y="7"/>
                    <a:pt x="93" y="0"/>
                  </a:cubicBezTo>
                  <a:cubicBezTo>
                    <a:pt x="118" y="3"/>
                    <a:pt x="144" y="4"/>
                    <a:pt x="169" y="8"/>
                  </a:cubicBezTo>
                  <a:cubicBezTo>
                    <a:pt x="212" y="15"/>
                    <a:pt x="245" y="42"/>
                    <a:pt x="288" y="50"/>
                  </a:cubicBezTo>
                  <a:cubicBezTo>
                    <a:pt x="377" y="44"/>
                    <a:pt x="446" y="32"/>
                    <a:pt x="534" y="25"/>
                  </a:cubicBezTo>
                  <a:cubicBezTo>
                    <a:pt x="588" y="31"/>
                    <a:pt x="614" y="36"/>
                    <a:pt x="661" y="50"/>
                  </a:cubicBezTo>
                  <a:cubicBezTo>
                    <a:pt x="708" y="48"/>
                    <a:pt x="845" y="18"/>
                    <a:pt x="906" y="50"/>
                  </a:cubicBezTo>
                  <a:cubicBezTo>
                    <a:pt x="1017" y="45"/>
                    <a:pt x="1077" y="49"/>
                    <a:pt x="1169" y="16"/>
                  </a:cubicBezTo>
                  <a:cubicBezTo>
                    <a:pt x="1270" y="25"/>
                    <a:pt x="1373" y="23"/>
                    <a:pt x="1474" y="33"/>
                  </a:cubicBezTo>
                  <a:cubicBezTo>
                    <a:pt x="1511" y="37"/>
                    <a:pt x="1543" y="59"/>
                    <a:pt x="1584" y="59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2" name="Line 7"/>
            <p:cNvSpPr>
              <a:spLocks noChangeShapeType="1"/>
            </p:cNvSpPr>
            <p:nvPr/>
          </p:nvSpPr>
          <p:spPr bwMode="auto">
            <a:xfrm flipV="1">
              <a:off x="1344" y="1296"/>
              <a:ext cx="0" cy="2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3" name="Line 8"/>
            <p:cNvSpPr>
              <a:spLocks noChangeShapeType="1"/>
            </p:cNvSpPr>
            <p:nvPr/>
          </p:nvSpPr>
          <p:spPr bwMode="auto">
            <a:xfrm flipV="1">
              <a:off x="1920" y="1296"/>
              <a:ext cx="0" cy="2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2441" name="Rectangle 9"/>
          <p:cNvSpPr>
            <a:spLocks noChangeArrowheads="1"/>
          </p:cNvSpPr>
          <p:nvPr/>
        </p:nvSpPr>
        <p:spPr bwMode="auto">
          <a:xfrm>
            <a:off x="1219200" y="2879725"/>
            <a:ext cx="35052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当汽车行驶时，轮胎的垂直位移作用于汽车悬挂系统上，系统的运动由质心的平移运动和围绕质心的旋转运动组成。</a:t>
            </a:r>
          </a:p>
        </p:txBody>
      </p:sp>
      <p:grpSp>
        <p:nvGrpSpPr>
          <p:cNvPr id="402442" name="Group 10"/>
          <p:cNvGrpSpPr>
            <a:grpSpLocks/>
          </p:cNvGrpSpPr>
          <p:nvPr/>
        </p:nvGrpSpPr>
        <p:grpSpPr bwMode="auto">
          <a:xfrm>
            <a:off x="4284663" y="2354263"/>
            <a:ext cx="4535487" cy="3822700"/>
            <a:chOff x="2699" y="1483"/>
            <a:chExt cx="2857" cy="2408"/>
          </a:xfrm>
        </p:grpSpPr>
        <p:grpSp>
          <p:nvGrpSpPr>
            <p:cNvPr id="95240" name="Group 11"/>
            <p:cNvGrpSpPr>
              <a:grpSpLocks/>
            </p:cNvGrpSpPr>
            <p:nvPr/>
          </p:nvGrpSpPr>
          <p:grpSpPr bwMode="auto">
            <a:xfrm>
              <a:off x="3260" y="1483"/>
              <a:ext cx="1680" cy="2021"/>
              <a:chOff x="816" y="1680"/>
              <a:chExt cx="1680" cy="2021"/>
            </a:xfrm>
          </p:grpSpPr>
          <p:sp>
            <p:nvSpPr>
              <p:cNvPr id="95242" name="Rectangle 12"/>
              <p:cNvSpPr>
                <a:spLocks noChangeArrowheads="1"/>
              </p:cNvSpPr>
              <p:nvPr/>
            </p:nvSpPr>
            <p:spPr bwMode="auto">
              <a:xfrm>
                <a:off x="816" y="1680"/>
                <a:ext cx="1680" cy="326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800">
                    <a:latin typeface="Times New Roman" panose="02020603050405020304" pitchFamily="18" charset="0"/>
                  </a:rPr>
                  <a:t>车体</a:t>
                </a:r>
              </a:p>
            </p:txBody>
          </p:sp>
          <p:grpSp>
            <p:nvGrpSpPr>
              <p:cNvPr id="95243" name="Group 13"/>
              <p:cNvGrpSpPr>
                <a:grpSpLocks/>
              </p:cNvGrpSpPr>
              <p:nvPr/>
            </p:nvGrpSpPr>
            <p:grpSpPr bwMode="auto">
              <a:xfrm>
                <a:off x="882" y="2006"/>
                <a:ext cx="510" cy="730"/>
                <a:chOff x="882" y="1958"/>
                <a:chExt cx="574" cy="833"/>
              </a:xfrm>
            </p:grpSpPr>
            <p:sp>
              <p:nvSpPr>
                <p:cNvPr id="95269" name="Freeform 14"/>
                <p:cNvSpPr>
                  <a:spLocks noChangeArrowheads="1"/>
                </p:cNvSpPr>
                <p:nvPr/>
              </p:nvSpPr>
              <p:spPr bwMode="auto">
                <a:xfrm>
                  <a:off x="882" y="2077"/>
                  <a:ext cx="173" cy="476"/>
                </a:xfrm>
                <a:custGeom>
                  <a:avLst/>
                  <a:gdLst>
                    <a:gd name="T0" fmla="*/ 44 w 208"/>
                    <a:gd name="T1" fmla="*/ 0 h 576"/>
                    <a:gd name="T2" fmla="*/ 6 w 208"/>
                    <a:gd name="T3" fmla="*/ 18 h 576"/>
                    <a:gd name="T4" fmla="*/ 83 w 208"/>
                    <a:gd name="T5" fmla="*/ 55 h 576"/>
                    <a:gd name="T6" fmla="*/ 6 w 208"/>
                    <a:gd name="T7" fmla="*/ 74 h 576"/>
                    <a:gd name="T8" fmla="*/ 83 w 208"/>
                    <a:gd name="T9" fmla="*/ 112 h 576"/>
                    <a:gd name="T10" fmla="*/ 6 w 208"/>
                    <a:gd name="T11" fmla="*/ 130 h 576"/>
                    <a:gd name="T12" fmla="*/ 83 w 208"/>
                    <a:gd name="T13" fmla="*/ 167 h 576"/>
                    <a:gd name="T14" fmla="*/ 6 w 208"/>
                    <a:gd name="T15" fmla="*/ 185 h 576"/>
                    <a:gd name="T16" fmla="*/ 44 w 208"/>
                    <a:gd name="T17" fmla="*/ 222 h 5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08" h="576">
                      <a:moveTo>
                        <a:pt x="112" y="0"/>
                      </a:moveTo>
                      <a:cubicBezTo>
                        <a:pt x="56" y="12"/>
                        <a:pt x="0" y="24"/>
                        <a:pt x="16" y="48"/>
                      </a:cubicBezTo>
                      <a:cubicBezTo>
                        <a:pt x="32" y="72"/>
                        <a:pt x="208" y="120"/>
                        <a:pt x="208" y="144"/>
                      </a:cubicBezTo>
                      <a:cubicBezTo>
                        <a:pt x="208" y="168"/>
                        <a:pt x="16" y="168"/>
                        <a:pt x="16" y="192"/>
                      </a:cubicBezTo>
                      <a:cubicBezTo>
                        <a:pt x="16" y="216"/>
                        <a:pt x="208" y="264"/>
                        <a:pt x="208" y="288"/>
                      </a:cubicBezTo>
                      <a:cubicBezTo>
                        <a:pt x="208" y="312"/>
                        <a:pt x="16" y="312"/>
                        <a:pt x="16" y="336"/>
                      </a:cubicBezTo>
                      <a:cubicBezTo>
                        <a:pt x="16" y="360"/>
                        <a:pt x="208" y="408"/>
                        <a:pt x="208" y="432"/>
                      </a:cubicBezTo>
                      <a:cubicBezTo>
                        <a:pt x="208" y="456"/>
                        <a:pt x="32" y="456"/>
                        <a:pt x="16" y="480"/>
                      </a:cubicBezTo>
                      <a:cubicBezTo>
                        <a:pt x="0" y="504"/>
                        <a:pt x="56" y="540"/>
                        <a:pt x="112" y="576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70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975" y="1958"/>
                  <a:ext cx="4" cy="11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71" name="Line 16"/>
                <p:cNvSpPr>
                  <a:spLocks noChangeShapeType="1"/>
                </p:cNvSpPr>
                <p:nvPr/>
              </p:nvSpPr>
              <p:spPr bwMode="auto">
                <a:xfrm>
                  <a:off x="975" y="2553"/>
                  <a:ext cx="4" cy="8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72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1339" y="1958"/>
                  <a:ext cx="0" cy="35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73" name="Line 18"/>
                <p:cNvSpPr>
                  <a:spLocks noChangeShapeType="1"/>
                </p:cNvSpPr>
                <p:nvPr/>
              </p:nvSpPr>
              <p:spPr bwMode="auto">
                <a:xfrm>
                  <a:off x="1255" y="2315"/>
                  <a:ext cx="160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74" name="Line 19"/>
                <p:cNvSpPr>
                  <a:spLocks noChangeShapeType="1"/>
                </p:cNvSpPr>
                <p:nvPr/>
              </p:nvSpPr>
              <p:spPr bwMode="auto">
                <a:xfrm>
                  <a:off x="1215" y="2275"/>
                  <a:ext cx="1" cy="11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75" name="Line 20"/>
                <p:cNvSpPr>
                  <a:spLocks noChangeShapeType="1"/>
                </p:cNvSpPr>
                <p:nvPr/>
              </p:nvSpPr>
              <p:spPr bwMode="auto">
                <a:xfrm>
                  <a:off x="1215" y="2394"/>
                  <a:ext cx="240" cy="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76" name="Line 21"/>
                <p:cNvSpPr>
                  <a:spLocks noChangeShapeType="1"/>
                </p:cNvSpPr>
                <p:nvPr/>
              </p:nvSpPr>
              <p:spPr bwMode="auto">
                <a:xfrm>
                  <a:off x="1455" y="2275"/>
                  <a:ext cx="1" cy="11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77" name="Line 22"/>
                <p:cNvSpPr>
                  <a:spLocks noChangeShapeType="1"/>
                </p:cNvSpPr>
                <p:nvPr/>
              </p:nvSpPr>
              <p:spPr bwMode="auto">
                <a:xfrm>
                  <a:off x="1339" y="2394"/>
                  <a:ext cx="0" cy="23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78" name="Line 23"/>
                <p:cNvSpPr>
                  <a:spLocks noChangeShapeType="1"/>
                </p:cNvSpPr>
                <p:nvPr/>
              </p:nvSpPr>
              <p:spPr bwMode="auto">
                <a:xfrm>
                  <a:off x="979" y="2633"/>
                  <a:ext cx="360" cy="0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79" name="Line 24"/>
                <p:cNvSpPr>
                  <a:spLocks noChangeShapeType="1"/>
                </p:cNvSpPr>
                <p:nvPr/>
              </p:nvSpPr>
              <p:spPr bwMode="auto">
                <a:xfrm>
                  <a:off x="1136" y="2633"/>
                  <a:ext cx="0" cy="158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5244" name="Group 25"/>
              <p:cNvGrpSpPr>
                <a:grpSpLocks/>
              </p:cNvGrpSpPr>
              <p:nvPr/>
            </p:nvGrpSpPr>
            <p:grpSpPr bwMode="auto">
              <a:xfrm>
                <a:off x="1938" y="2006"/>
                <a:ext cx="510" cy="730"/>
                <a:chOff x="1802" y="1958"/>
                <a:chExt cx="574" cy="833"/>
              </a:xfrm>
            </p:grpSpPr>
            <p:sp>
              <p:nvSpPr>
                <p:cNvPr id="95258" name="Freeform 26"/>
                <p:cNvSpPr>
                  <a:spLocks noChangeArrowheads="1"/>
                </p:cNvSpPr>
                <p:nvPr/>
              </p:nvSpPr>
              <p:spPr bwMode="auto">
                <a:xfrm>
                  <a:off x="1802" y="2077"/>
                  <a:ext cx="173" cy="476"/>
                </a:xfrm>
                <a:custGeom>
                  <a:avLst/>
                  <a:gdLst>
                    <a:gd name="T0" fmla="*/ 44 w 208"/>
                    <a:gd name="T1" fmla="*/ 0 h 576"/>
                    <a:gd name="T2" fmla="*/ 6 w 208"/>
                    <a:gd name="T3" fmla="*/ 18 h 576"/>
                    <a:gd name="T4" fmla="*/ 83 w 208"/>
                    <a:gd name="T5" fmla="*/ 55 h 576"/>
                    <a:gd name="T6" fmla="*/ 6 w 208"/>
                    <a:gd name="T7" fmla="*/ 74 h 576"/>
                    <a:gd name="T8" fmla="*/ 83 w 208"/>
                    <a:gd name="T9" fmla="*/ 112 h 576"/>
                    <a:gd name="T10" fmla="*/ 6 w 208"/>
                    <a:gd name="T11" fmla="*/ 130 h 576"/>
                    <a:gd name="T12" fmla="*/ 83 w 208"/>
                    <a:gd name="T13" fmla="*/ 167 h 576"/>
                    <a:gd name="T14" fmla="*/ 6 w 208"/>
                    <a:gd name="T15" fmla="*/ 185 h 576"/>
                    <a:gd name="T16" fmla="*/ 44 w 208"/>
                    <a:gd name="T17" fmla="*/ 222 h 5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08" h="576">
                      <a:moveTo>
                        <a:pt x="112" y="0"/>
                      </a:moveTo>
                      <a:cubicBezTo>
                        <a:pt x="56" y="12"/>
                        <a:pt x="0" y="24"/>
                        <a:pt x="16" y="48"/>
                      </a:cubicBezTo>
                      <a:cubicBezTo>
                        <a:pt x="32" y="72"/>
                        <a:pt x="208" y="120"/>
                        <a:pt x="208" y="144"/>
                      </a:cubicBezTo>
                      <a:cubicBezTo>
                        <a:pt x="208" y="168"/>
                        <a:pt x="16" y="168"/>
                        <a:pt x="16" y="192"/>
                      </a:cubicBezTo>
                      <a:cubicBezTo>
                        <a:pt x="16" y="216"/>
                        <a:pt x="208" y="264"/>
                        <a:pt x="208" y="288"/>
                      </a:cubicBezTo>
                      <a:cubicBezTo>
                        <a:pt x="208" y="312"/>
                        <a:pt x="16" y="312"/>
                        <a:pt x="16" y="336"/>
                      </a:cubicBezTo>
                      <a:cubicBezTo>
                        <a:pt x="16" y="360"/>
                        <a:pt x="208" y="408"/>
                        <a:pt x="208" y="432"/>
                      </a:cubicBezTo>
                      <a:cubicBezTo>
                        <a:pt x="208" y="456"/>
                        <a:pt x="32" y="456"/>
                        <a:pt x="16" y="480"/>
                      </a:cubicBezTo>
                      <a:cubicBezTo>
                        <a:pt x="0" y="504"/>
                        <a:pt x="56" y="540"/>
                        <a:pt x="112" y="576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59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1895" y="1958"/>
                  <a:ext cx="4" cy="11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60" name="Line 28"/>
                <p:cNvSpPr>
                  <a:spLocks noChangeShapeType="1"/>
                </p:cNvSpPr>
                <p:nvPr/>
              </p:nvSpPr>
              <p:spPr bwMode="auto">
                <a:xfrm>
                  <a:off x="1895" y="2553"/>
                  <a:ext cx="4" cy="8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61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2259" y="1958"/>
                  <a:ext cx="0" cy="35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62" name="Line 30"/>
                <p:cNvSpPr>
                  <a:spLocks noChangeShapeType="1"/>
                </p:cNvSpPr>
                <p:nvPr/>
              </p:nvSpPr>
              <p:spPr bwMode="auto">
                <a:xfrm>
                  <a:off x="2175" y="2315"/>
                  <a:ext cx="160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63" name="Line 31"/>
                <p:cNvSpPr>
                  <a:spLocks noChangeShapeType="1"/>
                </p:cNvSpPr>
                <p:nvPr/>
              </p:nvSpPr>
              <p:spPr bwMode="auto">
                <a:xfrm>
                  <a:off x="2135" y="2275"/>
                  <a:ext cx="1" cy="11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64" name="Line 32"/>
                <p:cNvSpPr>
                  <a:spLocks noChangeShapeType="1"/>
                </p:cNvSpPr>
                <p:nvPr/>
              </p:nvSpPr>
              <p:spPr bwMode="auto">
                <a:xfrm>
                  <a:off x="2135" y="2394"/>
                  <a:ext cx="240" cy="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65" name="Line 33"/>
                <p:cNvSpPr>
                  <a:spLocks noChangeShapeType="1"/>
                </p:cNvSpPr>
                <p:nvPr/>
              </p:nvSpPr>
              <p:spPr bwMode="auto">
                <a:xfrm>
                  <a:off x="2375" y="2275"/>
                  <a:ext cx="1" cy="11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66" name="Line 34"/>
                <p:cNvSpPr>
                  <a:spLocks noChangeShapeType="1"/>
                </p:cNvSpPr>
                <p:nvPr/>
              </p:nvSpPr>
              <p:spPr bwMode="auto">
                <a:xfrm>
                  <a:off x="2259" y="2394"/>
                  <a:ext cx="0" cy="23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67" name="Line 35"/>
                <p:cNvSpPr>
                  <a:spLocks noChangeShapeType="1"/>
                </p:cNvSpPr>
                <p:nvPr/>
              </p:nvSpPr>
              <p:spPr bwMode="auto">
                <a:xfrm>
                  <a:off x="1899" y="2633"/>
                  <a:ext cx="360" cy="0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68" name="Line 36"/>
                <p:cNvSpPr>
                  <a:spLocks noChangeShapeType="1"/>
                </p:cNvSpPr>
                <p:nvPr/>
              </p:nvSpPr>
              <p:spPr bwMode="auto">
                <a:xfrm>
                  <a:off x="2083" y="2633"/>
                  <a:ext cx="0" cy="158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5245" name="Rectangle 37"/>
              <p:cNvSpPr>
                <a:spLocks noChangeArrowheads="1"/>
              </p:cNvSpPr>
              <p:nvPr/>
            </p:nvSpPr>
            <p:spPr bwMode="auto">
              <a:xfrm>
                <a:off x="816" y="2736"/>
                <a:ext cx="1680" cy="333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800">
                    <a:latin typeface="Times New Roman" panose="02020603050405020304" pitchFamily="18" charset="0"/>
                  </a:rPr>
                  <a:t>车架</a:t>
                </a:r>
              </a:p>
            </p:txBody>
          </p:sp>
          <p:grpSp>
            <p:nvGrpSpPr>
              <p:cNvPr id="95246" name="Group 38"/>
              <p:cNvGrpSpPr>
                <a:grpSpLocks/>
              </p:cNvGrpSpPr>
              <p:nvPr/>
            </p:nvGrpSpPr>
            <p:grpSpPr bwMode="auto">
              <a:xfrm>
                <a:off x="1043" y="3069"/>
                <a:ext cx="173" cy="627"/>
                <a:chOff x="1043" y="3069"/>
                <a:chExt cx="173" cy="627"/>
              </a:xfrm>
            </p:grpSpPr>
            <p:sp>
              <p:nvSpPr>
                <p:cNvPr id="95255" name="Freeform 39"/>
                <p:cNvSpPr>
                  <a:spLocks noChangeArrowheads="1"/>
                </p:cNvSpPr>
                <p:nvPr/>
              </p:nvSpPr>
              <p:spPr bwMode="auto">
                <a:xfrm>
                  <a:off x="1043" y="3172"/>
                  <a:ext cx="173" cy="415"/>
                </a:xfrm>
                <a:custGeom>
                  <a:avLst/>
                  <a:gdLst>
                    <a:gd name="T0" fmla="*/ 44 w 208"/>
                    <a:gd name="T1" fmla="*/ 0 h 576"/>
                    <a:gd name="T2" fmla="*/ 6 w 208"/>
                    <a:gd name="T3" fmla="*/ 9 h 576"/>
                    <a:gd name="T4" fmla="*/ 83 w 208"/>
                    <a:gd name="T5" fmla="*/ 28 h 576"/>
                    <a:gd name="T6" fmla="*/ 6 w 208"/>
                    <a:gd name="T7" fmla="*/ 37 h 576"/>
                    <a:gd name="T8" fmla="*/ 83 w 208"/>
                    <a:gd name="T9" fmla="*/ 56 h 576"/>
                    <a:gd name="T10" fmla="*/ 6 w 208"/>
                    <a:gd name="T11" fmla="*/ 65 h 576"/>
                    <a:gd name="T12" fmla="*/ 83 w 208"/>
                    <a:gd name="T13" fmla="*/ 84 h 576"/>
                    <a:gd name="T14" fmla="*/ 6 w 208"/>
                    <a:gd name="T15" fmla="*/ 93 h 576"/>
                    <a:gd name="T16" fmla="*/ 44 w 208"/>
                    <a:gd name="T17" fmla="*/ 112 h 5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08" h="576">
                      <a:moveTo>
                        <a:pt x="112" y="0"/>
                      </a:moveTo>
                      <a:cubicBezTo>
                        <a:pt x="56" y="12"/>
                        <a:pt x="0" y="24"/>
                        <a:pt x="16" y="48"/>
                      </a:cubicBezTo>
                      <a:cubicBezTo>
                        <a:pt x="32" y="72"/>
                        <a:pt x="208" y="120"/>
                        <a:pt x="208" y="144"/>
                      </a:cubicBezTo>
                      <a:cubicBezTo>
                        <a:pt x="208" y="168"/>
                        <a:pt x="16" y="168"/>
                        <a:pt x="16" y="192"/>
                      </a:cubicBezTo>
                      <a:cubicBezTo>
                        <a:pt x="16" y="216"/>
                        <a:pt x="208" y="264"/>
                        <a:pt x="208" y="288"/>
                      </a:cubicBezTo>
                      <a:cubicBezTo>
                        <a:pt x="208" y="312"/>
                        <a:pt x="16" y="312"/>
                        <a:pt x="16" y="336"/>
                      </a:cubicBezTo>
                      <a:cubicBezTo>
                        <a:pt x="16" y="360"/>
                        <a:pt x="208" y="408"/>
                        <a:pt x="208" y="432"/>
                      </a:cubicBezTo>
                      <a:cubicBezTo>
                        <a:pt x="208" y="456"/>
                        <a:pt x="32" y="456"/>
                        <a:pt x="16" y="480"/>
                      </a:cubicBezTo>
                      <a:cubicBezTo>
                        <a:pt x="0" y="504"/>
                        <a:pt x="56" y="540"/>
                        <a:pt x="112" y="576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56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1136" y="3069"/>
                  <a:ext cx="3" cy="103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57" name="Line 41"/>
                <p:cNvSpPr>
                  <a:spLocks noChangeShapeType="1"/>
                </p:cNvSpPr>
                <p:nvPr/>
              </p:nvSpPr>
              <p:spPr bwMode="auto">
                <a:xfrm>
                  <a:off x="1136" y="3587"/>
                  <a:ext cx="3" cy="10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5247" name="Group 42"/>
              <p:cNvGrpSpPr>
                <a:grpSpLocks/>
              </p:cNvGrpSpPr>
              <p:nvPr/>
            </p:nvGrpSpPr>
            <p:grpSpPr bwMode="auto">
              <a:xfrm>
                <a:off x="2083" y="3069"/>
                <a:ext cx="173" cy="587"/>
                <a:chOff x="1976" y="3069"/>
                <a:chExt cx="173" cy="587"/>
              </a:xfrm>
            </p:grpSpPr>
            <p:sp>
              <p:nvSpPr>
                <p:cNvPr id="95252" name="Freeform 43"/>
                <p:cNvSpPr>
                  <a:spLocks noChangeArrowheads="1"/>
                </p:cNvSpPr>
                <p:nvPr/>
              </p:nvSpPr>
              <p:spPr bwMode="auto">
                <a:xfrm>
                  <a:off x="1976" y="3172"/>
                  <a:ext cx="173" cy="415"/>
                </a:xfrm>
                <a:custGeom>
                  <a:avLst/>
                  <a:gdLst>
                    <a:gd name="T0" fmla="*/ 44 w 208"/>
                    <a:gd name="T1" fmla="*/ 0 h 576"/>
                    <a:gd name="T2" fmla="*/ 6 w 208"/>
                    <a:gd name="T3" fmla="*/ 9 h 576"/>
                    <a:gd name="T4" fmla="*/ 83 w 208"/>
                    <a:gd name="T5" fmla="*/ 28 h 576"/>
                    <a:gd name="T6" fmla="*/ 6 w 208"/>
                    <a:gd name="T7" fmla="*/ 37 h 576"/>
                    <a:gd name="T8" fmla="*/ 83 w 208"/>
                    <a:gd name="T9" fmla="*/ 56 h 576"/>
                    <a:gd name="T10" fmla="*/ 6 w 208"/>
                    <a:gd name="T11" fmla="*/ 65 h 576"/>
                    <a:gd name="T12" fmla="*/ 83 w 208"/>
                    <a:gd name="T13" fmla="*/ 84 h 576"/>
                    <a:gd name="T14" fmla="*/ 6 w 208"/>
                    <a:gd name="T15" fmla="*/ 93 h 576"/>
                    <a:gd name="T16" fmla="*/ 44 w 208"/>
                    <a:gd name="T17" fmla="*/ 112 h 5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08" h="576">
                      <a:moveTo>
                        <a:pt x="112" y="0"/>
                      </a:moveTo>
                      <a:cubicBezTo>
                        <a:pt x="56" y="12"/>
                        <a:pt x="0" y="24"/>
                        <a:pt x="16" y="48"/>
                      </a:cubicBezTo>
                      <a:cubicBezTo>
                        <a:pt x="32" y="72"/>
                        <a:pt x="208" y="120"/>
                        <a:pt x="208" y="144"/>
                      </a:cubicBezTo>
                      <a:cubicBezTo>
                        <a:pt x="208" y="168"/>
                        <a:pt x="16" y="168"/>
                        <a:pt x="16" y="192"/>
                      </a:cubicBezTo>
                      <a:cubicBezTo>
                        <a:pt x="16" y="216"/>
                        <a:pt x="208" y="264"/>
                        <a:pt x="208" y="288"/>
                      </a:cubicBezTo>
                      <a:cubicBezTo>
                        <a:pt x="208" y="312"/>
                        <a:pt x="16" y="312"/>
                        <a:pt x="16" y="336"/>
                      </a:cubicBezTo>
                      <a:cubicBezTo>
                        <a:pt x="16" y="360"/>
                        <a:pt x="208" y="408"/>
                        <a:pt x="208" y="432"/>
                      </a:cubicBezTo>
                      <a:cubicBezTo>
                        <a:pt x="208" y="456"/>
                        <a:pt x="32" y="456"/>
                        <a:pt x="16" y="480"/>
                      </a:cubicBezTo>
                      <a:cubicBezTo>
                        <a:pt x="0" y="504"/>
                        <a:pt x="56" y="540"/>
                        <a:pt x="112" y="576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53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2069" y="3069"/>
                  <a:ext cx="4" cy="103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54" name="Line 45"/>
                <p:cNvSpPr>
                  <a:spLocks noChangeShapeType="1"/>
                </p:cNvSpPr>
                <p:nvPr/>
              </p:nvSpPr>
              <p:spPr bwMode="auto">
                <a:xfrm>
                  <a:off x="2069" y="3587"/>
                  <a:ext cx="4" cy="6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5248" name="Freeform 46"/>
              <p:cNvSpPr>
                <a:spLocks noChangeArrowheads="1"/>
              </p:cNvSpPr>
              <p:nvPr/>
            </p:nvSpPr>
            <p:spPr bwMode="auto">
              <a:xfrm>
                <a:off x="816" y="3648"/>
                <a:ext cx="1584" cy="53"/>
              </a:xfrm>
              <a:custGeom>
                <a:avLst/>
                <a:gdLst>
                  <a:gd name="T0" fmla="*/ 0 w 1584"/>
                  <a:gd name="T1" fmla="*/ 14 h 59"/>
                  <a:gd name="T2" fmla="*/ 93 w 1584"/>
                  <a:gd name="T3" fmla="*/ 0 h 59"/>
                  <a:gd name="T4" fmla="*/ 169 w 1584"/>
                  <a:gd name="T5" fmla="*/ 4 h 59"/>
                  <a:gd name="T6" fmla="*/ 288 w 1584"/>
                  <a:gd name="T7" fmla="*/ 29 h 59"/>
                  <a:gd name="T8" fmla="*/ 534 w 1584"/>
                  <a:gd name="T9" fmla="*/ 14 h 59"/>
                  <a:gd name="T10" fmla="*/ 661 w 1584"/>
                  <a:gd name="T11" fmla="*/ 29 h 59"/>
                  <a:gd name="T12" fmla="*/ 906 w 1584"/>
                  <a:gd name="T13" fmla="*/ 29 h 59"/>
                  <a:gd name="T14" fmla="*/ 1169 w 1584"/>
                  <a:gd name="T15" fmla="*/ 10 h 59"/>
                  <a:gd name="T16" fmla="*/ 1474 w 1584"/>
                  <a:gd name="T17" fmla="*/ 20 h 59"/>
                  <a:gd name="T18" fmla="*/ 1584 w 1584"/>
                  <a:gd name="T19" fmla="*/ 35 h 5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84" h="59">
                    <a:moveTo>
                      <a:pt x="0" y="25"/>
                    </a:moveTo>
                    <a:cubicBezTo>
                      <a:pt x="31" y="17"/>
                      <a:pt x="62" y="7"/>
                      <a:pt x="93" y="0"/>
                    </a:cubicBezTo>
                    <a:cubicBezTo>
                      <a:pt x="118" y="3"/>
                      <a:pt x="144" y="4"/>
                      <a:pt x="169" y="8"/>
                    </a:cubicBezTo>
                    <a:cubicBezTo>
                      <a:pt x="212" y="15"/>
                      <a:pt x="245" y="42"/>
                      <a:pt x="288" y="50"/>
                    </a:cubicBezTo>
                    <a:cubicBezTo>
                      <a:pt x="377" y="44"/>
                      <a:pt x="446" y="32"/>
                      <a:pt x="534" y="25"/>
                    </a:cubicBezTo>
                    <a:cubicBezTo>
                      <a:pt x="588" y="31"/>
                      <a:pt x="614" y="36"/>
                      <a:pt x="661" y="50"/>
                    </a:cubicBezTo>
                    <a:cubicBezTo>
                      <a:pt x="708" y="48"/>
                      <a:pt x="845" y="18"/>
                      <a:pt x="906" y="50"/>
                    </a:cubicBezTo>
                    <a:cubicBezTo>
                      <a:pt x="1017" y="45"/>
                      <a:pt x="1077" y="49"/>
                      <a:pt x="1169" y="16"/>
                    </a:cubicBezTo>
                    <a:cubicBezTo>
                      <a:pt x="1270" y="25"/>
                      <a:pt x="1373" y="23"/>
                      <a:pt x="1474" y="33"/>
                    </a:cubicBezTo>
                    <a:cubicBezTo>
                      <a:pt x="1511" y="37"/>
                      <a:pt x="1543" y="59"/>
                      <a:pt x="1584" y="59"/>
                    </a:cubicBezTo>
                  </a:path>
                </a:pathLst>
              </a:cu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249" name="Oval 47"/>
              <p:cNvSpPr>
                <a:spLocks noChangeArrowheads="1"/>
              </p:cNvSpPr>
              <p:nvPr/>
            </p:nvSpPr>
            <p:spPr bwMode="auto">
              <a:xfrm>
                <a:off x="1488" y="254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95250" name="Rectangle 48"/>
              <p:cNvSpPr>
                <a:spLocks noChangeArrowheads="1"/>
              </p:cNvSpPr>
              <p:nvPr/>
            </p:nvSpPr>
            <p:spPr bwMode="auto">
              <a:xfrm>
                <a:off x="1404" y="2025"/>
                <a:ext cx="56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800">
                    <a:latin typeface="Times New Roman" panose="02020603050405020304" pitchFamily="18" charset="0"/>
                  </a:rPr>
                  <a:t>质心</a:t>
                </a:r>
              </a:p>
            </p:txBody>
          </p:sp>
          <p:sp>
            <p:nvSpPr>
              <p:cNvPr id="95251" name="Line 49"/>
              <p:cNvSpPr>
                <a:spLocks noChangeShapeType="1"/>
              </p:cNvSpPr>
              <p:nvPr/>
            </p:nvSpPr>
            <p:spPr bwMode="auto">
              <a:xfrm flipH="1">
                <a:off x="1536" y="2304"/>
                <a:ext cx="144" cy="24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5241" name="Rectangle 50"/>
            <p:cNvSpPr>
              <a:spLocks noChangeArrowheads="1"/>
            </p:cNvSpPr>
            <p:nvPr/>
          </p:nvSpPr>
          <p:spPr bwMode="auto">
            <a:xfrm>
              <a:off x="2699" y="3561"/>
              <a:ext cx="285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汽车悬挂系统（垂直方向）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704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2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2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2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2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日期占位符 39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ED1B36-73F8-437A-A8D9-AA74F4AF5494}" type="datetime1">
              <a:rPr lang="en-US" altLang="zh-CN" sz="1200" smtClean="0"/>
              <a:pPr>
                <a:spcBef>
                  <a:spcPct val="0"/>
                </a:spcBef>
                <a:buClrTx/>
                <a:buFontTx/>
                <a:buNone/>
              </a:pPr>
              <a:t>9/20/2025</a:t>
            </a:fld>
            <a:endParaRPr lang="en-US" altLang="zh-CN" sz="1200"/>
          </a:p>
        </p:txBody>
      </p:sp>
      <p:sp>
        <p:nvSpPr>
          <p:cNvPr id="96259" name="灯片编号占位符 41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3124A92-B2F2-4C7B-859C-8092B44E1BD7}" type="slidenum">
              <a:rPr lang="en-US" altLang="zh-CN" sz="1200" smtClean="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200"/>
          </a:p>
        </p:txBody>
      </p:sp>
      <p:graphicFrame>
        <p:nvGraphicFramePr>
          <p:cNvPr id="444454" name="Object 38"/>
          <p:cNvGraphicFramePr>
            <a:graphicFrameLocks noChangeAspect="1"/>
          </p:cNvGraphicFramePr>
          <p:nvPr/>
        </p:nvGraphicFramePr>
        <p:xfrm>
          <a:off x="1306513" y="5157788"/>
          <a:ext cx="726281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44900" imgH="228600" progId="Equation.3">
                  <p:embed/>
                </p:oleObj>
              </mc:Choice>
              <mc:Fallback>
                <p:oleObj r:id="rId2" imgW="3644900" imgH="228600" progId="Equation.3">
                  <p:embed/>
                  <p:pic>
                    <p:nvPicPr>
                      <p:cNvPr id="444454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5157788"/>
                        <a:ext cx="7262812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53" name="Object 37"/>
          <p:cNvGraphicFramePr>
            <a:graphicFrameLocks noChangeAspect="1"/>
          </p:cNvGraphicFramePr>
          <p:nvPr/>
        </p:nvGraphicFramePr>
        <p:xfrm>
          <a:off x="1614488" y="4437063"/>
          <a:ext cx="5132387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78100" imgH="228600" progId="Equation.3">
                  <p:embed/>
                </p:oleObj>
              </mc:Choice>
              <mc:Fallback>
                <p:oleObj r:id="rId4" imgW="2578100" imgH="228600" progId="Equation.3">
                  <p:embed/>
                  <p:pic>
                    <p:nvPicPr>
                      <p:cNvPr id="444453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4437063"/>
                        <a:ext cx="5132387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6262" name="Group 2"/>
          <p:cNvGrpSpPr>
            <a:grpSpLocks/>
          </p:cNvGrpSpPr>
          <p:nvPr/>
        </p:nvGrpSpPr>
        <p:grpSpPr bwMode="auto">
          <a:xfrm>
            <a:off x="2124075" y="260350"/>
            <a:ext cx="4806950" cy="3975100"/>
            <a:chOff x="1366" y="760"/>
            <a:chExt cx="3028" cy="2504"/>
          </a:xfrm>
        </p:grpSpPr>
        <p:grpSp>
          <p:nvGrpSpPr>
            <p:cNvPr id="96263" name="Group 4"/>
            <p:cNvGrpSpPr>
              <a:grpSpLocks/>
            </p:cNvGrpSpPr>
            <p:nvPr/>
          </p:nvGrpSpPr>
          <p:grpSpPr bwMode="auto">
            <a:xfrm>
              <a:off x="1768" y="760"/>
              <a:ext cx="1928" cy="2168"/>
              <a:chOff x="1768" y="760"/>
              <a:chExt cx="1928" cy="2168"/>
            </a:xfrm>
          </p:grpSpPr>
          <p:sp>
            <p:nvSpPr>
              <p:cNvPr id="96265" name="Rectangle 36"/>
              <p:cNvSpPr>
                <a:spLocks noChangeArrowheads="1"/>
              </p:cNvSpPr>
              <p:nvPr/>
            </p:nvSpPr>
            <p:spPr bwMode="auto">
              <a:xfrm>
                <a:off x="2208" y="824"/>
                <a:ext cx="720" cy="326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2900" baseline="-18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grpSp>
            <p:nvGrpSpPr>
              <p:cNvPr id="96266" name="Group 24"/>
              <p:cNvGrpSpPr>
                <a:grpSpLocks/>
              </p:cNvGrpSpPr>
              <p:nvPr/>
            </p:nvGrpSpPr>
            <p:grpSpPr bwMode="auto">
              <a:xfrm>
                <a:off x="2274" y="1150"/>
                <a:ext cx="510" cy="730"/>
                <a:chOff x="882" y="1958"/>
                <a:chExt cx="574" cy="833"/>
              </a:xfrm>
            </p:grpSpPr>
            <p:sp>
              <p:nvSpPr>
                <p:cNvPr id="96286" name="Freeform 35"/>
                <p:cNvSpPr>
                  <a:spLocks noChangeArrowheads="1"/>
                </p:cNvSpPr>
                <p:nvPr/>
              </p:nvSpPr>
              <p:spPr bwMode="auto">
                <a:xfrm>
                  <a:off x="882" y="2077"/>
                  <a:ext cx="173" cy="476"/>
                </a:xfrm>
                <a:custGeom>
                  <a:avLst/>
                  <a:gdLst>
                    <a:gd name="T0" fmla="*/ 44 w 208"/>
                    <a:gd name="T1" fmla="*/ 0 h 576"/>
                    <a:gd name="T2" fmla="*/ 6 w 208"/>
                    <a:gd name="T3" fmla="*/ 18 h 576"/>
                    <a:gd name="T4" fmla="*/ 83 w 208"/>
                    <a:gd name="T5" fmla="*/ 55 h 576"/>
                    <a:gd name="T6" fmla="*/ 6 w 208"/>
                    <a:gd name="T7" fmla="*/ 74 h 576"/>
                    <a:gd name="T8" fmla="*/ 83 w 208"/>
                    <a:gd name="T9" fmla="*/ 112 h 576"/>
                    <a:gd name="T10" fmla="*/ 6 w 208"/>
                    <a:gd name="T11" fmla="*/ 130 h 576"/>
                    <a:gd name="T12" fmla="*/ 83 w 208"/>
                    <a:gd name="T13" fmla="*/ 167 h 576"/>
                    <a:gd name="T14" fmla="*/ 6 w 208"/>
                    <a:gd name="T15" fmla="*/ 185 h 576"/>
                    <a:gd name="T16" fmla="*/ 44 w 208"/>
                    <a:gd name="T17" fmla="*/ 222 h 5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08" h="576">
                      <a:moveTo>
                        <a:pt x="112" y="0"/>
                      </a:moveTo>
                      <a:cubicBezTo>
                        <a:pt x="56" y="12"/>
                        <a:pt x="0" y="24"/>
                        <a:pt x="16" y="48"/>
                      </a:cubicBezTo>
                      <a:cubicBezTo>
                        <a:pt x="32" y="72"/>
                        <a:pt x="208" y="120"/>
                        <a:pt x="208" y="144"/>
                      </a:cubicBezTo>
                      <a:cubicBezTo>
                        <a:pt x="208" y="168"/>
                        <a:pt x="16" y="168"/>
                        <a:pt x="16" y="192"/>
                      </a:cubicBezTo>
                      <a:cubicBezTo>
                        <a:pt x="16" y="216"/>
                        <a:pt x="208" y="264"/>
                        <a:pt x="208" y="288"/>
                      </a:cubicBezTo>
                      <a:cubicBezTo>
                        <a:pt x="208" y="312"/>
                        <a:pt x="16" y="312"/>
                        <a:pt x="16" y="336"/>
                      </a:cubicBezTo>
                      <a:cubicBezTo>
                        <a:pt x="16" y="360"/>
                        <a:pt x="208" y="408"/>
                        <a:pt x="208" y="432"/>
                      </a:cubicBezTo>
                      <a:cubicBezTo>
                        <a:pt x="208" y="456"/>
                        <a:pt x="32" y="456"/>
                        <a:pt x="16" y="480"/>
                      </a:cubicBezTo>
                      <a:cubicBezTo>
                        <a:pt x="0" y="504"/>
                        <a:pt x="56" y="540"/>
                        <a:pt x="112" y="576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87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975" y="1958"/>
                  <a:ext cx="4" cy="11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88" name="Line 33"/>
                <p:cNvSpPr>
                  <a:spLocks noChangeShapeType="1"/>
                </p:cNvSpPr>
                <p:nvPr/>
              </p:nvSpPr>
              <p:spPr bwMode="auto">
                <a:xfrm>
                  <a:off x="975" y="2553"/>
                  <a:ext cx="4" cy="8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89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1339" y="1958"/>
                  <a:ext cx="0" cy="35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90" name="Line 31"/>
                <p:cNvSpPr>
                  <a:spLocks noChangeShapeType="1"/>
                </p:cNvSpPr>
                <p:nvPr/>
              </p:nvSpPr>
              <p:spPr bwMode="auto">
                <a:xfrm>
                  <a:off x="1255" y="2315"/>
                  <a:ext cx="160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91" name="Line 30"/>
                <p:cNvSpPr>
                  <a:spLocks noChangeShapeType="1"/>
                </p:cNvSpPr>
                <p:nvPr/>
              </p:nvSpPr>
              <p:spPr bwMode="auto">
                <a:xfrm>
                  <a:off x="1215" y="2275"/>
                  <a:ext cx="1" cy="11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92" name="Line 29"/>
                <p:cNvSpPr>
                  <a:spLocks noChangeShapeType="1"/>
                </p:cNvSpPr>
                <p:nvPr/>
              </p:nvSpPr>
              <p:spPr bwMode="auto">
                <a:xfrm>
                  <a:off x="1215" y="2394"/>
                  <a:ext cx="240" cy="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93" name="Line 28"/>
                <p:cNvSpPr>
                  <a:spLocks noChangeShapeType="1"/>
                </p:cNvSpPr>
                <p:nvPr/>
              </p:nvSpPr>
              <p:spPr bwMode="auto">
                <a:xfrm>
                  <a:off x="1455" y="2275"/>
                  <a:ext cx="1" cy="11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94" name="Line 27"/>
                <p:cNvSpPr>
                  <a:spLocks noChangeShapeType="1"/>
                </p:cNvSpPr>
                <p:nvPr/>
              </p:nvSpPr>
              <p:spPr bwMode="auto">
                <a:xfrm>
                  <a:off x="1339" y="2394"/>
                  <a:ext cx="0" cy="23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95" name="Line 26"/>
                <p:cNvSpPr>
                  <a:spLocks noChangeShapeType="1"/>
                </p:cNvSpPr>
                <p:nvPr/>
              </p:nvSpPr>
              <p:spPr bwMode="auto">
                <a:xfrm>
                  <a:off x="979" y="2633"/>
                  <a:ext cx="360" cy="0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96" name="Line 25"/>
                <p:cNvSpPr>
                  <a:spLocks noChangeShapeType="1"/>
                </p:cNvSpPr>
                <p:nvPr/>
              </p:nvSpPr>
              <p:spPr bwMode="auto">
                <a:xfrm>
                  <a:off x="1136" y="2633"/>
                  <a:ext cx="0" cy="158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6267" name="Rectangle 23"/>
              <p:cNvSpPr>
                <a:spLocks noChangeArrowheads="1"/>
              </p:cNvSpPr>
              <p:nvPr/>
            </p:nvSpPr>
            <p:spPr bwMode="auto">
              <a:xfrm>
                <a:off x="2208" y="1880"/>
                <a:ext cx="720" cy="333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2900" baseline="-18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96268" name="Group 19"/>
              <p:cNvGrpSpPr>
                <a:grpSpLocks/>
              </p:cNvGrpSpPr>
              <p:nvPr/>
            </p:nvGrpSpPr>
            <p:grpSpPr bwMode="auto">
              <a:xfrm>
                <a:off x="2435" y="2213"/>
                <a:ext cx="173" cy="627"/>
                <a:chOff x="1043" y="3069"/>
                <a:chExt cx="173" cy="627"/>
              </a:xfrm>
            </p:grpSpPr>
            <p:sp>
              <p:nvSpPr>
                <p:cNvPr id="96283" name="Freeform 22"/>
                <p:cNvSpPr>
                  <a:spLocks noChangeArrowheads="1"/>
                </p:cNvSpPr>
                <p:nvPr/>
              </p:nvSpPr>
              <p:spPr bwMode="auto">
                <a:xfrm>
                  <a:off x="1043" y="3172"/>
                  <a:ext cx="173" cy="415"/>
                </a:xfrm>
                <a:custGeom>
                  <a:avLst/>
                  <a:gdLst>
                    <a:gd name="T0" fmla="*/ 44 w 208"/>
                    <a:gd name="T1" fmla="*/ 0 h 576"/>
                    <a:gd name="T2" fmla="*/ 6 w 208"/>
                    <a:gd name="T3" fmla="*/ 9 h 576"/>
                    <a:gd name="T4" fmla="*/ 83 w 208"/>
                    <a:gd name="T5" fmla="*/ 28 h 576"/>
                    <a:gd name="T6" fmla="*/ 6 w 208"/>
                    <a:gd name="T7" fmla="*/ 37 h 576"/>
                    <a:gd name="T8" fmla="*/ 83 w 208"/>
                    <a:gd name="T9" fmla="*/ 56 h 576"/>
                    <a:gd name="T10" fmla="*/ 6 w 208"/>
                    <a:gd name="T11" fmla="*/ 65 h 576"/>
                    <a:gd name="T12" fmla="*/ 83 w 208"/>
                    <a:gd name="T13" fmla="*/ 84 h 576"/>
                    <a:gd name="T14" fmla="*/ 6 w 208"/>
                    <a:gd name="T15" fmla="*/ 93 h 576"/>
                    <a:gd name="T16" fmla="*/ 44 w 208"/>
                    <a:gd name="T17" fmla="*/ 112 h 5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08" h="576">
                      <a:moveTo>
                        <a:pt x="112" y="0"/>
                      </a:moveTo>
                      <a:cubicBezTo>
                        <a:pt x="56" y="12"/>
                        <a:pt x="0" y="24"/>
                        <a:pt x="16" y="48"/>
                      </a:cubicBezTo>
                      <a:cubicBezTo>
                        <a:pt x="32" y="72"/>
                        <a:pt x="208" y="120"/>
                        <a:pt x="208" y="144"/>
                      </a:cubicBezTo>
                      <a:cubicBezTo>
                        <a:pt x="208" y="168"/>
                        <a:pt x="16" y="168"/>
                        <a:pt x="16" y="192"/>
                      </a:cubicBezTo>
                      <a:cubicBezTo>
                        <a:pt x="16" y="216"/>
                        <a:pt x="208" y="264"/>
                        <a:pt x="208" y="288"/>
                      </a:cubicBezTo>
                      <a:cubicBezTo>
                        <a:pt x="208" y="312"/>
                        <a:pt x="16" y="312"/>
                        <a:pt x="16" y="336"/>
                      </a:cubicBezTo>
                      <a:cubicBezTo>
                        <a:pt x="16" y="360"/>
                        <a:pt x="208" y="408"/>
                        <a:pt x="208" y="432"/>
                      </a:cubicBezTo>
                      <a:cubicBezTo>
                        <a:pt x="208" y="456"/>
                        <a:pt x="32" y="456"/>
                        <a:pt x="16" y="480"/>
                      </a:cubicBezTo>
                      <a:cubicBezTo>
                        <a:pt x="0" y="504"/>
                        <a:pt x="56" y="540"/>
                        <a:pt x="112" y="576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84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1136" y="3069"/>
                  <a:ext cx="3" cy="103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85" name="Line 20"/>
                <p:cNvSpPr>
                  <a:spLocks noChangeShapeType="1"/>
                </p:cNvSpPr>
                <p:nvPr/>
              </p:nvSpPr>
              <p:spPr bwMode="auto">
                <a:xfrm>
                  <a:off x="1136" y="3587"/>
                  <a:ext cx="3" cy="109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6269" name="Freeform 18"/>
              <p:cNvSpPr>
                <a:spLocks noChangeArrowheads="1"/>
              </p:cNvSpPr>
              <p:nvPr/>
            </p:nvSpPr>
            <p:spPr bwMode="auto">
              <a:xfrm flipH="1">
                <a:off x="2016" y="2776"/>
                <a:ext cx="1056" cy="152"/>
              </a:xfrm>
              <a:custGeom>
                <a:avLst/>
                <a:gdLst>
                  <a:gd name="T0" fmla="*/ 0 w 1056"/>
                  <a:gd name="T1" fmla="*/ 104 h 152"/>
                  <a:gd name="T2" fmla="*/ 144 w 1056"/>
                  <a:gd name="T3" fmla="*/ 8 h 152"/>
                  <a:gd name="T4" fmla="*/ 432 w 1056"/>
                  <a:gd name="T5" fmla="*/ 152 h 152"/>
                  <a:gd name="T6" fmla="*/ 624 w 1056"/>
                  <a:gd name="T7" fmla="*/ 8 h 152"/>
                  <a:gd name="T8" fmla="*/ 864 w 1056"/>
                  <a:gd name="T9" fmla="*/ 152 h 152"/>
                  <a:gd name="T10" fmla="*/ 1056 w 1056"/>
                  <a:gd name="T11" fmla="*/ 8 h 1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56" h="152">
                    <a:moveTo>
                      <a:pt x="0" y="104"/>
                    </a:moveTo>
                    <a:cubicBezTo>
                      <a:pt x="36" y="52"/>
                      <a:pt x="72" y="0"/>
                      <a:pt x="144" y="8"/>
                    </a:cubicBezTo>
                    <a:cubicBezTo>
                      <a:pt x="216" y="16"/>
                      <a:pt x="352" y="152"/>
                      <a:pt x="432" y="152"/>
                    </a:cubicBezTo>
                    <a:cubicBezTo>
                      <a:pt x="512" y="152"/>
                      <a:pt x="552" y="8"/>
                      <a:pt x="624" y="8"/>
                    </a:cubicBezTo>
                    <a:cubicBezTo>
                      <a:pt x="696" y="8"/>
                      <a:pt x="792" y="152"/>
                      <a:pt x="864" y="152"/>
                    </a:cubicBezTo>
                    <a:cubicBezTo>
                      <a:pt x="936" y="152"/>
                      <a:pt x="996" y="80"/>
                      <a:pt x="1056" y="8"/>
                    </a:cubicBezTo>
                  </a:path>
                </a:pathLst>
              </a:cu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70" name="Line 17"/>
              <p:cNvSpPr>
                <a:spLocks noChangeShapeType="1"/>
              </p:cNvSpPr>
              <p:nvPr/>
            </p:nvSpPr>
            <p:spPr bwMode="auto">
              <a:xfrm flipH="1">
                <a:off x="2192" y="2848"/>
                <a:ext cx="33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71" name="Line 16"/>
              <p:cNvSpPr>
                <a:spLocks noChangeShapeType="1"/>
              </p:cNvSpPr>
              <p:nvPr/>
            </p:nvSpPr>
            <p:spPr bwMode="auto">
              <a:xfrm flipV="1">
                <a:off x="2232" y="2552"/>
                <a:ext cx="0" cy="28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72" name="Rectangle 15"/>
              <p:cNvSpPr>
                <a:spLocks noChangeArrowheads="1"/>
              </p:cNvSpPr>
              <p:nvPr/>
            </p:nvSpPr>
            <p:spPr bwMode="auto">
              <a:xfrm>
                <a:off x="1963" y="1265"/>
                <a:ext cx="3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900" baseline="-18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6273" name="Rectangle 14"/>
              <p:cNvSpPr>
                <a:spLocks noChangeArrowheads="1"/>
              </p:cNvSpPr>
              <p:nvPr/>
            </p:nvSpPr>
            <p:spPr bwMode="auto">
              <a:xfrm>
                <a:off x="2779" y="1256"/>
                <a:ext cx="26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C</a:t>
                </a:r>
                <a:endParaRPr lang="en-US" altLang="zh-CN" sz="2900" baseline="-18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274" name="Rectangle 13"/>
              <p:cNvSpPr>
                <a:spLocks noChangeArrowheads="1"/>
              </p:cNvSpPr>
              <p:nvPr/>
            </p:nvSpPr>
            <p:spPr bwMode="auto">
              <a:xfrm>
                <a:off x="2587" y="2321"/>
                <a:ext cx="3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900" baseline="-18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6275" name="Rectangle 12"/>
              <p:cNvSpPr>
                <a:spLocks noChangeArrowheads="1"/>
              </p:cNvSpPr>
              <p:nvPr/>
            </p:nvSpPr>
            <p:spPr bwMode="auto">
              <a:xfrm>
                <a:off x="1768" y="2417"/>
                <a:ext cx="46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900" i="1" baseline="-18000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96276" name="Rectangle 11"/>
              <p:cNvSpPr>
                <a:spLocks noChangeArrowheads="1"/>
              </p:cNvSpPr>
              <p:nvPr/>
            </p:nvSpPr>
            <p:spPr bwMode="auto">
              <a:xfrm>
                <a:off x="3193" y="824"/>
                <a:ext cx="5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900" i="1" baseline="-18000">
                    <a:latin typeface="Times New Roman" panose="02020603050405020304" pitchFamily="18" charset="0"/>
                  </a:rPr>
                  <a:t>o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96277" name="Line 10"/>
              <p:cNvSpPr>
                <a:spLocks noChangeShapeType="1"/>
              </p:cNvSpPr>
              <p:nvPr/>
            </p:nvSpPr>
            <p:spPr bwMode="auto">
              <a:xfrm>
                <a:off x="2880" y="1152"/>
                <a:ext cx="432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78" name="Line 9"/>
              <p:cNvSpPr>
                <a:spLocks noChangeShapeType="1"/>
              </p:cNvSpPr>
              <p:nvPr/>
            </p:nvSpPr>
            <p:spPr bwMode="auto">
              <a:xfrm flipV="1">
                <a:off x="3168" y="760"/>
                <a:ext cx="0" cy="38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79" name="Rectangle 8"/>
              <p:cNvSpPr>
                <a:spLocks noChangeArrowheads="1"/>
              </p:cNvSpPr>
              <p:nvPr/>
            </p:nvSpPr>
            <p:spPr bwMode="auto">
              <a:xfrm>
                <a:off x="3193" y="1880"/>
                <a:ext cx="42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96280" name="Line 7"/>
              <p:cNvSpPr>
                <a:spLocks noChangeShapeType="1"/>
              </p:cNvSpPr>
              <p:nvPr/>
            </p:nvSpPr>
            <p:spPr bwMode="auto">
              <a:xfrm>
                <a:off x="2880" y="2208"/>
                <a:ext cx="432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81" name="Line 6"/>
              <p:cNvSpPr>
                <a:spLocks noChangeShapeType="1"/>
              </p:cNvSpPr>
              <p:nvPr/>
            </p:nvSpPr>
            <p:spPr bwMode="auto">
              <a:xfrm flipV="1">
                <a:off x="3168" y="1816"/>
                <a:ext cx="0" cy="38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82" name="Oval 5"/>
              <p:cNvSpPr>
                <a:spLocks noChangeArrowheads="1"/>
              </p:cNvSpPr>
              <p:nvPr/>
            </p:nvSpPr>
            <p:spPr bwMode="auto">
              <a:xfrm>
                <a:off x="2504" y="282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96264" name="Rectangle 3"/>
            <p:cNvSpPr>
              <a:spLocks noChangeArrowheads="1"/>
            </p:cNvSpPr>
            <p:nvPr/>
          </p:nvSpPr>
          <p:spPr bwMode="auto">
            <a:xfrm>
              <a:off x="1366" y="2937"/>
              <a:ext cx="30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简化的悬挂系统（垂直方向）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617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4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4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4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4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0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32B19CE-73B5-45D6-A419-C205D99F1098}" type="datetime1">
              <a:rPr lang="en-US" altLang="zh-CN" sz="1200" smtClean="0"/>
              <a:pPr>
                <a:spcBef>
                  <a:spcPct val="0"/>
                </a:spcBef>
                <a:buClrTx/>
                <a:buFontTx/>
                <a:buNone/>
              </a:pPr>
              <a:t>9/20/2025</a:t>
            </a:fld>
            <a:endParaRPr lang="en-US" altLang="zh-CN" sz="1200"/>
          </a:p>
        </p:txBody>
      </p:sp>
      <p:sp>
        <p:nvSpPr>
          <p:cNvPr id="97283" name="灯片编号占位符 32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2AE73C8-AAD7-4A91-B45F-CBC0114B9B8D}" type="slidenum">
              <a:rPr lang="en-US" altLang="zh-CN" sz="1200" smtClean="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200"/>
          </a:p>
        </p:txBody>
      </p:sp>
      <p:graphicFrame>
        <p:nvGraphicFramePr>
          <p:cNvPr id="443421" name="Object 29"/>
          <p:cNvGraphicFramePr>
            <a:graphicFrameLocks noChangeAspect="1"/>
          </p:cNvGraphicFramePr>
          <p:nvPr/>
        </p:nvGraphicFramePr>
        <p:xfrm>
          <a:off x="1358900" y="1962150"/>
          <a:ext cx="62134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90900" imgH="266700" progId="Equation.3">
                  <p:embed/>
                </p:oleObj>
              </mc:Choice>
              <mc:Fallback>
                <p:oleObj r:id="rId2" imgW="3390900" imgH="266700" progId="Equation.3">
                  <p:embed/>
                  <p:pic>
                    <p:nvPicPr>
                      <p:cNvPr id="44342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1962150"/>
                        <a:ext cx="62134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5" name="Object 28"/>
          <p:cNvGraphicFramePr>
            <a:graphicFrameLocks noChangeAspect="1"/>
          </p:cNvGraphicFramePr>
          <p:nvPr/>
        </p:nvGraphicFramePr>
        <p:xfrm>
          <a:off x="1371600" y="1028700"/>
          <a:ext cx="45148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62731" imgH="266584" progId="Equation.3">
                  <p:embed/>
                </p:oleObj>
              </mc:Choice>
              <mc:Fallback>
                <p:oleObj r:id="rId4" imgW="2462731" imgH="266584" progId="Equation.3">
                  <p:embed/>
                  <p:pic>
                    <p:nvPicPr>
                      <p:cNvPr id="97285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028700"/>
                        <a:ext cx="45148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419" name="Object 27"/>
          <p:cNvGraphicFramePr>
            <a:graphicFrameLocks noChangeAspect="1"/>
          </p:cNvGraphicFramePr>
          <p:nvPr/>
        </p:nvGraphicFramePr>
        <p:xfrm>
          <a:off x="533400" y="5205413"/>
          <a:ext cx="840105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584700" imgH="444500" progId="Equation.3">
                  <p:embed/>
                </p:oleObj>
              </mc:Choice>
              <mc:Fallback>
                <p:oleObj r:id="rId6" imgW="4584700" imgH="444500" progId="Equation.3">
                  <p:embed/>
                  <p:pic>
                    <p:nvPicPr>
                      <p:cNvPr id="44341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205413"/>
                        <a:ext cx="8401050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3394" name="Group 2"/>
          <p:cNvGrpSpPr>
            <a:grpSpLocks/>
          </p:cNvGrpSpPr>
          <p:nvPr/>
        </p:nvGrpSpPr>
        <p:grpSpPr bwMode="auto">
          <a:xfrm>
            <a:off x="698500" y="2971800"/>
            <a:ext cx="7896225" cy="1981200"/>
            <a:chOff x="440" y="1872"/>
            <a:chExt cx="4974" cy="1248"/>
          </a:xfrm>
        </p:grpSpPr>
        <p:grpSp>
          <p:nvGrpSpPr>
            <p:cNvPr id="97288" name="Group 23"/>
            <p:cNvGrpSpPr>
              <a:grpSpLocks/>
            </p:cNvGrpSpPr>
            <p:nvPr/>
          </p:nvGrpSpPr>
          <p:grpSpPr bwMode="auto">
            <a:xfrm>
              <a:off x="1536" y="2112"/>
              <a:ext cx="192" cy="192"/>
              <a:chOff x="1152" y="2304"/>
              <a:chExt cx="192" cy="192"/>
            </a:xfrm>
          </p:grpSpPr>
          <p:sp>
            <p:nvSpPr>
              <p:cNvPr id="97309" name="Oval 26"/>
              <p:cNvSpPr>
                <a:spLocks noChangeArrowheads="1"/>
              </p:cNvSpPr>
              <p:nvPr/>
            </p:nvSpPr>
            <p:spPr bwMode="auto">
              <a:xfrm>
                <a:off x="1152" y="2304"/>
                <a:ext cx="192" cy="192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97310" name="Line 25"/>
              <p:cNvSpPr>
                <a:spLocks noChangeShapeType="1"/>
              </p:cNvSpPr>
              <p:nvPr/>
            </p:nvSpPr>
            <p:spPr bwMode="auto">
              <a:xfrm flipH="1">
                <a:off x="1200" y="2352"/>
                <a:ext cx="96" cy="9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11" name="Line 24"/>
              <p:cNvSpPr>
                <a:spLocks noChangeShapeType="1"/>
              </p:cNvSpPr>
              <p:nvPr/>
            </p:nvSpPr>
            <p:spPr bwMode="auto">
              <a:xfrm>
                <a:off x="1200" y="2352"/>
                <a:ext cx="96" cy="9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7289" name="Rectangle 22"/>
            <p:cNvSpPr>
              <a:spLocks noChangeArrowheads="1"/>
            </p:cNvSpPr>
            <p:nvPr/>
          </p:nvSpPr>
          <p:spPr bwMode="auto">
            <a:xfrm>
              <a:off x="960" y="1920"/>
              <a:ext cx="336" cy="576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K</a:t>
              </a:r>
              <a:r>
                <a:rPr lang="en-US" altLang="zh-CN" sz="2900" baseline="-18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7290" name="Line 21"/>
            <p:cNvSpPr>
              <a:spLocks noChangeShapeType="1"/>
            </p:cNvSpPr>
            <p:nvPr/>
          </p:nvSpPr>
          <p:spPr bwMode="auto">
            <a:xfrm>
              <a:off x="1296" y="2208"/>
              <a:ext cx="2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291" name="Line 20"/>
            <p:cNvSpPr>
              <a:spLocks noChangeShapeType="1"/>
            </p:cNvSpPr>
            <p:nvPr/>
          </p:nvSpPr>
          <p:spPr bwMode="auto">
            <a:xfrm>
              <a:off x="480" y="2208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292" name="Rectangle 19"/>
            <p:cNvSpPr>
              <a:spLocks noChangeArrowheads="1"/>
            </p:cNvSpPr>
            <p:nvPr/>
          </p:nvSpPr>
          <p:spPr bwMode="auto">
            <a:xfrm>
              <a:off x="1968" y="1920"/>
              <a:ext cx="1344" cy="576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zh-CN" altLang="zh-CN" sz="2900" baseline="-180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7293" name="Object 18"/>
            <p:cNvGraphicFramePr>
              <a:graphicFrameLocks noChangeAspect="1"/>
            </p:cNvGraphicFramePr>
            <p:nvPr/>
          </p:nvGraphicFramePr>
          <p:xfrm>
            <a:off x="1968" y="1968"/>
            <a:ext cx="1346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294838" imgH="444307" progId="Equation.3">
                    <p:embed/>
                  </p:oleObj>
                </mc:Choice>
                <mc:Fallback>
                  <p:oleObj r:id="rId8" imgW="1294838" imgH="444307" progId="Equation.3">
                    <p:embed/>
                    <p:pic>
                      <p:nvPicPr>
                        <p:cNvPr id="97293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1968"/>
                          <a:ext cx="1346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94" name="Object 17"/>
            <p:cNvGraphicFramePr>
              <a:graphicFrameLocks noChangeAspect="1"/>
            </p:cNvGraphicFramePr>
            <p:nvPr/>
          </p:nvGraphicFramePr>
          <p:xfrm>
            <a:off x="3792" y="1968"/>
            <a:ext cx="1056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015559" imgH="444307" progId="Equation.3">
                    <p:embed/>
                  </p:oleObj>
                </mc:Choice>
                <mc:Fallback>
                  <p:oleObj r:id="rId10" imgW="1015559" imgH="444307" progId="Equation.3">
                    <p:embed/>
                    <p:pic>
                      <p:nvPicPr>
                        <p:cNvPr id="97294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968"/>
                          <a:ext cx="1056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95" name="Object 16"/>
            <p:cNvGraphicFramePr>
              <a:graphicFrameLocks noChangeAspect="1"/>
            </p:cNvGraphicFramePr>
            <p:nvPr/>
          </p:nvGraphicFramePr>
          <p:xfrm>
            <a:off x="3024" y="2813"/>
            <a:ext cx="624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520474" imgH="215806" progId="Equation.3">
                    <p:embed/>
                  </p:oleObj>
                </mc:Choice>
                <mc:Fallback>
                  <p:oleObj r:id="rId12" imgW="520474" imgH="215806" progId="Equation.3">
                    <p:embed/>
                    <p:pic>
                      <p:nvPicPr>
                        <p:cNvPr id="97295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813"/>
                          <a:ext cx="624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296" name="Rectangle 15"/>
            <p:cNvSpPr>
              <a:spLocks noChangeArrowheads="1"/>
            </p:cNvSpPr>
            <p:nvPr/>
          </p:nvSpPr>
          <p:spPr bwMode="auto">
            <a:xfrm>
              <a:off x="3792" y="1920"/>
              <a:ext cx="1056" cy="576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zh-CN" altLang="zh-CN" sz="2900" baseline="-18000">
                <a:latin typeface="Times New Roman" panose="02020603050405020304" pitchFamily="18" charset="0"/>
              </a:endParaRPr>
            </a:p>
          </p:txBody>
        </p:sp>
        <p:sp>
          <p:nvSpPr>
            <p:cNvPr id="97297" name="Line 14"/>
            <p:cNvSpPr>
              <a:spLocks noChangeShapeType="1"/>
            </p:cNvSpPr>
            <p:nvPr/>
          </p:nvSpPr>
          <p:spPr bwMode="auto">
            <a:xfrm>
              <a:off x="1728" y="2208"/>
              <a:ext cx="2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298" name="Line 13"/>
            <p:cNvSpPr>
              <a:spLocks noChangeShapeType="1"/>
            </p:cNvSpPr>
            <p:nvPr/>
          </p:nvSpPr>
          <p:spPr bwMode="auto">
            <a:xfrm>
              <a:off x="3312" y="2208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299" name="Rectangle 12"/>
            <p:cNvSpPr>
              <a:spLocks noChangeArrowheads="1"/>
            </p:cNvSpPr>
            <p:nvPr/>
          </p:nvSpPr>
          <p:spPr bwMode="auto">
            <a:xfrm>
              <a:off x="3326" y="1872"/>
              <a:ext cx="4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X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7300" name="Line 11"/>
            <p:cNvSpPr>
              <a:spLocks noChangeShapeType="1"/>
            </p:cNvSpPr>
            <p:nvPr/>
          </p:nvSpPr>
          <p:spPr bwMode="auto">
            <a:xfrm>
              <a:off x="4848" y="2208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01" name="Rectangle 10"/>
            <p:cNvSpPr>
              <a:spLocks noChangeArrowheads="1"/>
            </p:cNvSpPr>
            <p:nvPr/>
          </p:nvSpPr>
          <p:spPr bwMode="auto">
            <a:xfrm>
              <a:off x="4848" y="1872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X</a:t>
              </a:r>
              <a:r>
                <a:rPr lang="en-US" altLang="zh-CN" sz="2900" i="1" baseline="-18000">
                  <a:latin typeface="Times New Roman" panose="02020603050405020304" pitchFamily="18" charset="0"/>
                </a:rPr>
                <a:t>o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7302" name="Rectangle 9"/>
            <p:cNvSpPr>
              <a:spLocks noChangeArrowheads="1"/>
            </p:cNvSpPr>
            <p:nvPr/>
          </p:nvSpPr>
          <p:spPr bwMode="auto">
            <a:xfrm>
              <a:off x="2880" y="2736"/>
              <a:ext cx="912" cy="384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zh-CN" altLang="zh-CN" sz="2900" baseline="-18000">
                <a:latin typeface="Times New Roman" panose="02020603050405020304" pitchFamily="18" charset="0"/>
              </a:endParaRPr>
            </a:p>
          </p:txBody>
        </p:sp>
        <p:sp>
          <p:nvSpPr>
            <p:cNvPr id="97303" name="Line 8"/>
            <p:cNvSpPr>
              <a:spLocks noChangeShapeType="1"/>
            </p:cNvSpPr>
            <p:nvPr/>
          </p:nvSpPr>
          <p:spPr bwMode="auto">
            <a:xfrm flipH="1">
              <a:off x="3792" y="2928"/>
              <a:ext cx="129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04" name="Line 7"/>
            <p:cNvSpPr>
              <a:spLocks noChangeShapeType="1"/>
            </p:cNvSpPr>
            <p:nvPr/>
          </p:nvSpPr>
          <p:spPr bwMode="auto">
            <a:xfrm flipV="1">
              <a:off x="5088" y="2208"/>
              <a:ext cx="0" cy="72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05" name="Line 6"/>
            <p:cNvSpPr>
              <a:spLocks noChangeShapeType="1"/>
            </p:cNvSpPr>
            <p:nvPr/>
          </p:nvSpPr>
          <p:spPr bwMode="auto">
            <a:xfrm flipH="1">
              <a:off x="1632" y="2928"/>
              <a:ext cx="124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06" name="Line 5"/>
            <p:cNvSpPr>
              <a:spLocks noChangeShapeType="1"/>
            </p:cNvSpPr>
            <p:nvPr/>
          </p:nvSpPr>
          <p:spPr bwMode="auto">
            <a:xfrm flipV="1">
              <a:off x="1632" y="2304"/>
              <a:ext cx="0" cy="62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07" name="Oval 4"/>
            <p:cNvSpPr>
              <a:spLocks noChangeArrowheads="1"/>
            </p:cNvSpPr>
            <p:nvPr/>
          </p:nvSpPr>
          <p:spPr bwMode="auto">
            <a:xfrm>
              <a:off x="5056" y="2176"/>
              <a:ext cx="48" cy="48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7308" name="Rectangle 3"/>
            <p:cNvSpPr>
              <a:spLocks noChangeArrowheads="1"/>
            </p:cNvSpPr>
            <p:nvPr/>
          </p:nvSpPr>
          <p:spPr bwMode="auto">
            <a:xfrm>
              <a:off x="440" y="1872"/>
              <a:ext cx="5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X</a:t>
              </a:r>
              <a:r>
                <a:rPr lang="en-US" altLang="zh-CN" sz="2900" i="1" baseline="-18000">
                  <a:latin typeface="Times New Roman" panose="02020603050405020304" pitchFamily="18" charset="0"/>
                </a:rPr>
                <a:t>i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856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3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3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3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3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3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3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E02D40-4128-46AB-B94A-DF30E7D30FF6}" type="datetime1">
              <a:rPr lang="zh-CN" altLang="en-US" sz="1200" smtClean="0"/>
              <a:pPr>
                <a:spcBef>
                  <a:spcPct val="0"/>
                </a:spcBef>
                <a:buClrTx/>
                <a:buFontTx/>
                <a:buNone/>
              </a:pPr>
              <a:t>2025/9/20</a:t>
            </a:fld>
            <a:endParaRPr lang="zh-CN" altLang="en-US" sz="1200"/>
          </a:p>
        </p:txBody>
      </p:sp>
      <p:sp>
        <p:nvSpPr>
          <p:cNvPr id="9933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06AF5C5-481B-4F11-91B7-EFF42D7C072A}" type="slidenum">
              <a:rPr lang="en-US" altLang="zh-CN" sz="1200" smtClean="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200"/>
          </a:p>
        </p:txBody>
      </p:sp>
      <p:sp>
        <p:nvSpPr>
          <p:cNvPr id="99332" name="Text Box 3"/>
          <p:cNvSpPr txBox="1">
            <a:spLocks noChangeArrowheads="1"/>
          </p:cNvSpPr>
          <p:nvPr/>
        </p:nvSpPr>
        <p:spPr bwMode="auto">
          <a:xfrm>
            <a:off x="1908175" y="692150"/>
            <a:ext cx="3416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数学模型</a:t>
            </a:r>
          </a:p>
        </p:txBody>
      </p:sp>
      <p:sp>
        <p:nvSpPr>
          <p:cNvPr id="99333" name="Rectangle 4"/>
          <p:cNvSpPr>
            <a:spLocks noChangeArrowheads="1"/>
          </p:cNvSpPr>
          <p:nvPr/>
        </p:nvSpPr>
        <p:spPr bwMode="auto">
          <a:xfrm>
            <a:off x="1981200" y="2209800"/>
            <a:ext cx="37750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2.2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拉氏变换和反变换</a:t>
            </a:r>
          </a:p>
        </p:txBody>
      </p:sp>
      <p:sp>
        <p:nvSpPr>
          <p:cNvPr id="99334" name="Rectangle 5"/>
          <p:cNvSpPr>
            <a:spLocks noChangeArrowheads="1"/>
          </p:cNvSpPr>
          <p:nvPr/>
        </p:nvSpPr>
        <p:spPr bwMode="auto">
          <a:xfrm>
            <a:off x="1981200" y="2757488"/>
            <a:ext cx="2338388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2.3 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传递函数</a:t>
            </a:r>
          </a:p>
        </p:txBody>
      </p:sp>
      <p:sp>
        <p:nvSpPr>
          <p:cNvPr id="99335" name="Rectangle 6"/>
          <p:cNvSpPr>
            <a:spLocks noChangeArrowheads="1"/>
          </p:cNvSpPr>
          <p:nvPr/>
        </p:nvSpPr>
        <p:spPr bwMode="auto">
          <a:xfrm>
            <a:off x="1981200" y="3967163"/>
            <a:ext cx="4852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2.5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非线性数学模型的线性化</a:t>
            </a:r>
          </a:p>
        </p:txBody>
      </p:sp>
      <p:sp>
        <p:nvSpPr>
          <p:cNvPr id="99336" name="Rectangle 7"/>
          <p:cNvSpPr>
            <a:spLocks noChangeArrowheads="1"/>
          </p:cNvSpPr>
          <p:nvPr/>
        </p:nvSpPr>
        <p:spPr bwMode="auto">
          <a:xfrm>
            <a:off x="1979613" y="3330575"/>
            <a:ext cx="4494212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2.4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系统方框图和信号流图</a:t>
            </a:r>
          </a:p>
        </p:txBody>
      </p:sp>
      <p:sp>
        <p:nvSpPr>
          <p:cNvPr id="99337" name="Rectangle 8"/>
          <p:cNvSpPr>
            <a:spLocks noChangeArrowheads="1"/>
          </p:cNvSpPr>
          <p:nvPr/>
        </p:nvSpPr>
        <p:spPr bwMode="auto">
          <a:xfrm>
            <a:off x="1981200" y="4405313"/>
            <a:ext cx="5211763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2.6 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控制系统传递函数推导举例</a:t>
            </a:r>
          </a:p>
        </p:txBody>
      </p:sp>
      <p:sp>
        <p:nvSpPr>
          <p:cNvPr id="99338" name="Rectangle 11"/>
          <p:cNvSpPr>
            <a:spLocks noChangeArrowheads="1"/>
          </p:cNvSpPr>
          <p:nvPr/>
        </p:nvSpPr>
        <p:spPr bwMode="auto">
          <a:xfrm>
            <a:off x="1981200" y="1676400"/>
            <a:ext cx="4852988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2.1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控制系统的运动微分方程</a:t>
            </a:r>
          </a:p>
        </p:txBody>
      </p:sp>
      <p:sp>
        <p:nvSpPr>
          <p:cNvPr id="99339" name="文本框 10"/>
          <p:cNvSpPr txBox="1">
            <a:spLocks noChangeArrowheads="1"/>
          </p:cNvSpPr>
          <p:nvPr/>
        </p:nvSpPr>
        <p:spPr bwMode="auto">
          <a:xfrm>
            <a:off x="2689225" y="5089525"/>
            <a:ext cx="326231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6000"/>
              <a:t>本章结束</a:t>
            </a:r>
          </a:p>
        </p:txBody>
      </p:sp>
    </p:spTree>
    <p:extLst>
      <p:ext uri="{BB962C8B-B14F-4D97-AF65-F5344CB8AC3E}">
        <p14:creationId xmlns:p14="http://schemas.microsoft.com/office/powerpoint/2010/main" val="878966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>
            <a:extLst>
              <a:ext uri="{FF2B5EF4-FFF2-40B4-BE49-F238E27FC236}">
                <a16:creationId xmlns:a16="http://schemas.microsoft.com/office/drawing/2014/main" id="{404DFBA1-4B97-4251-55CA-6DDBBDD0C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720725"/>
            <a:ext cx="38782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3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时域分析法</a:t>
            </a:r>
          </a:p>
        </p:txBody>
      </p:sp>
      <p:sp>
        <p:nvSpPr>
          <p:cNvPr id="5123" name="Rectangle 6">
            <a:extLst>
              <a:ext uri="{FF2B5EF4-FFF2-40B4-BE49-F238E27FC236}">
                <a16:creationId xmlns:a16="http://schemas.microsoft.com/office/drawing/2014/main" id="{4762E0C8-C9EB-3853-1897-558FFA6EE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2089150"/>
            <a:ext cx="556260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3.1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一阶系统的时间响应</a:t>
            </a:r>
          </a:p>
        </p:txBody>
      </p:sp>
      <p:sp>
        <p:nvSpPr>
          <p:cNvPr id="5124" name="Rectangle 7">
            <a:extLst>
              <a:ext uri="{FF2B5EF4-FFF2-40B4-BE49-F238E27FC236}">
                <a16:creationId xmlns:a16="http://schemas.microsoft.com/office/drawing/2014/main" id="{96202D6A-42E9-1CDE-DD30-064AF4457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2705100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3.2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二阶系统的时间响应</a:t>
            </a:r>
          </a:p>
        </p:txBody>
      </p:sp>
      <p:sp>
        <p:nvSpPr>
          <p:cNvPr id="5125" name="Rectangle 8">
            <a:extLst>
              <a:ext uri="{FF2B5EF4-FFF2-40B4-BE49-F238E27FC236}">
                <a16:creationId xmlns:a16="http://schemas.microsoft.com/office/drawing/2014/main" id="{250DCC22-B95F-FE74-9994-4000E119E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3181350"/>
            <a:ext cx="53340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3.3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高阶系统的时间响应</a:t>
            </a:r>
          </a:p>
        </p:txBody>
      </p:sp>
      <p:sp>
        <p:nvSpPr>
          <p:cNvPr id="5126" name="Rectangle 9">
            <a:extLst>
              <a:ext uri="{FF2B5EF4-FFF2-40B4-BE49-F238E27FC236}">
                <a16:creationId xmlns:a16="http://schemas.microsoft.com/office/drawing/2014/main" id="{CFF74959-FE51-B93F-9D35-E0383E442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3760788"/>
            <a:ext cx="6046788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3.4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误差分析和计算</a:t>
            </a:r>
          </a:p>
        </p:txBody>
      </p:sp>
      <p:sp>
        <p:nvSpPr>
          <p:cNvPr id="5127" name="Rectangle 9">
            <a:extLst>
              <a:ext uri="{FF2B5EF4-FFF2-40B4-BE49-F238E27FC236}">
                <a16:creationId xmlns:a16="http://schemas.microsoft.com/office/drawing/2014/main" id="{B579D985-20F6-177C-F7C5-832C60D77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4335463"/>
            <a:ext cx="6046788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3.5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稳定性分析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C498015B-915D-DE86-3398-33804C3CF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908050"/>
            <a:ext cx="624840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3.1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一阶系统的瞬态响应</a:t>
            </a:r>
          </a:p>
        </p:txBody>
      </p:sp>
      <p:sp>
        <p:nvSpPr>
          <p:cNvPr id="101380" name="Rectangle 4">
            <a:extLst>
              <a:ext uri="{FF2B5EF4-FFF2-40B4-BE49-F238E27FC236}">
                <a16:creationId xmlns:a16="http://schemas.microsoft.com/office/drawing/2014/main" id="{946357D9-DA49-3018-EDCC-A2B27412D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982788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一阶系统（惯性环节） </a:t>
            </a:r>
          </a:p>
        </p:txBody>
      </p:sp>
      <p:sp>
        <p:nvSpPr>
          <p:cNvPr id="101381" name="Rectangle 5">
            <a:extLst>
              <a:ext uri="{FF2B5EF4-FFF2-40B4-BE49-F238E27FC236}">
                <a16:creationId xmlns:a16="http://schemas.microsoft.com/office/drawing/2014/main" id="{FDC18AF5-D88E-A6FE-DE12-7B70E536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644900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一阶系统的</a:t>
            </a:r>
            <a:r>
              <a:rPr lang="zh-CN" altLang="en-US" sz="2800" b="1">
                <a:latin typeface="宋体" panose="02010600030101010101" pitchFamily="2" charset="-122"/>
              </a:rPr>
              <a:t>单位阶跃响应</a:t>
            </a:r>
          </a:p>
        </p:txBody>
      </p:sp>
      <p:graphicFrame>
        <p:nvGraphicFramePr>
          <p:cNvPr id="101382" name="Object 6">
            <a:extLst>
              <a:ext uri="{FF2B5EF4-FFF2-40B4-BE49-F238E27FC236}">
                <a16:creationId xmlns:a16="http://schemas.microsoft.com/office/drawing/2014/main" id="{37C7FA16-7959-215A-D24A-7D82EDC126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2638" y="4297363"/>
          <a:ext cx="1046162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71252" imgH="393529" progId="Equation.3">
                  <p:embed/>
                </p:oleObj>
              </mc:Choice>
              <mc:Fallback>
                <p:oleObj r:id="rId3" imgW="571252" imgH="3935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4297363"/>
                        <a:ext cx="1046162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3" name="Object 7">
            <a:extLst>
              <a:ext uri="{FF2B5EF4-FFF2-40B4-BE49-F238E27FC236}">
                <a16:creationId xmlns:a16="http://schemas.microsoft.com/office/drawing/2014/main" id="{FE1F352E-171A-356A-EBE5-F59872AE1C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0875" y="5238750"/>
          <a:ext cx="44672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14600" imgH="482600" progId="Equation.3">
                  <p:embed/>
                </p:oleObj>
              </mc:Choice>
              <mc:Fallback>
                <p:oleObj r:id="rId5" imgW="2514600" imgH="482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5238750"/>
                        <a:ext cx="446722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>
            <a:extLst>
              <a:ext uri="{FF2B5EF4-FFF2-40B4-BE49-F238E27FC236}">
                <a16:creationId xmlns:a16="http://schemas.microsoft.com/office/drawing/2014/main" id="{17E7C5D1-2782-AA44-81BE-B4C119643FE6}"/>
              </a:ext>
            </a:extLst>
          </p:cNvPr>
          <p:cNvGrpSpPr>
            <a:grpSpLocks/>
          </p:cNvGrpSpPr>
          <p:nvPr/>
        </p:nvGrpSpPr>
        <p:grpSpPr bwMode="auto">
          <a:xfrm>
            <a:off x="1890713" y="2654300"/>
            <a:ext cx="6096000" cy="817563"/>
            <a:chOff x="1248" y="1824"/>
            <a:chExt cx="3840" cy="515"/>
          </a:xfrm>
        </p:grpSpPr>
        <p:graphicFrame>
          <p:nvGraphicFramePr>
            <p:cNvPr id="7176" name="Object 9">
              <a:extLst>
                <a:ext uri="{FF2B5EF4-FFF2-40B4-BE49-F238E27FC236}">
                  <a16:creationId xmlns:a16="http://schemas.microsoft.com/office/drawing/2014/main" id="{4AA5F874-3A05-2555-2604-80E001AE93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1824"/>
            <a:ext cx="1104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977900" imgH="457200" progId="Equation.3">
                    <p:embed/>
                  </p:oleObj>
                </mc:Choice>
                <mc:Fallback>
                  <p:oleObj r:id="rId7" imgW="977900" imgH="457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824"/>
                          <a:ext cx="1104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7" name="Rectangle 10">
              <a:extLst>
                <a:ext uri="{FF2B5EF4-FFF2-40B4-BE49-F238E27FC236}">
                  <a16:creationId xmlns:a16="http://schemas.microsoft.com/office/drawing/2014/main" id="{302CE910-7B83-38F9-002B-754290EE7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929"/>
              <a:ext cx="24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极点（特征根）：</a:t>
              </a:r>
              <a:r>
                <a:rPr lang="en-US" altLang="zh-CN" sz="2800">
                  <a:latin typeface="Times New Roman" panose="02020603050405020304" pitchFamily="18" charset="0"/>
                </a:rPr>
                <a:t>-1</a:t>
              </a:r>
              <a:r>
                <a:rPr lang="en-US" altLang="zh-CN" sz="2800">
                  <a:latin typeface="宋体" panose="02010600030101010101" pitchFamily="2" charset="-122"/>
                </a:rPr>
                <a:t>/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/>
      <p:bldP spid="10138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3">
            <a:extLst>
              <a:ext uri="{FF2B5EF4-FFF2-40B4-BE49-F238E27FC236}">
                <a16:creationId xmlns:a16="http://schemas.microsoft.com/office/drawing/2014/main" id="{560F3F8E-36BC-505C-CCDA-7D6A29022A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5025" y="474663"/>
          <a:ext cx="279717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69449" imgH="330057" progId="Equation.3">
                  <p:embed/>
                </p:oleObj>
              </mc:Choice>
              <mc:Fallback>
                <p:oleObj r:id="rId3" imgW="1269449" imgH="33005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474663"/>
                        <a:ext cx="2797175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F3503D5C-031C-840C-5E22-EA3D76C5B285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752600"/>
            <a:ext cx="6858000" cy="4616450"/>
            <a:chOff x="672" y="1104"/>
            <a:chExt cx="4320" cy="2908"/>
          </a:xfrm>
        </p:grpSpPr>
        <p:sp>
          <p:nvSpPr>
            <p:cNvPr id="9220" name="Line 5">
              <a:extLst>
                <a:ext uri="{FF2B5EF4-FFF2-40B4-BE49-F238E27FC236}">
                  <a16:creationId xmlns:a16="http://schemas.microsoft.com/office/drawing/2014/main" id="{143AAC95-9263-FBF4-328A-9BB4EF2DE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5" y="3736"/>
              <a:ext cx="379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" name="Line 6">
              <a:extLst>
                <a:ext uri="{FF2B5EF4-FFF2-40B4-BE49-F238E27FC236}">
                  <a16:creationId xmlns:a16="http://schemas.microsoft.com/office/drawing/2014/main" id="{AB802B88-99F9-2112-7635-7C9C94CFB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5" y="3736"/>
              <a:ext cx="379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" name="Line 7">
              <a:extLst>
                <a:ext uri="{FF2B5EF4-FFF2-40B4-BE49-F238E27FC236}">
                  <a16:creationId xmlns:a16="http://schemas.microsoft.com/office/drawing/2014/main" id="{B9C1C7E6-4B03-36C2-DF7B-A4C6F8F30C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7" y="3706"/>
              <a:ext cx="0" cy="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" name="Line 8">
              <a:extLst>
                <a:ext uri="{FF2B5EF4-FFF2-40B4-BE49-F238E27FC236}">
                  <a16:creationId xmlns:a16="http://schemas.microsoft.com/office/drawing/2014/main" id="{A6933468-69B5-DDE6-7113-166EA9A7ED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5" y="3706"/>
              <a:ext cx="1" cy="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" name="Line 9">
              <a:extLst>
                <a:ext uri="{FF2B5EF4-FFF2-40B4-BE49-F238E27FC236}">
                  <a16:creationId xmlns:a16="http://schemas.microsoft.com/office/drawing/2014/main" id="{B320CFF8-5D77-332E-A1BE-4BE86EC282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5" y="3706"/>
              <a:ext cx="1" cy="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" name="Line 10">
              <a:extLst>
                <a:ext uri="{FF2B5EF4-FFF2-40B4-BE49-F238E27FC236}">
                  <a16:creationId xmlns:a16="http://schemas.microsoft.com/office/drawing/2014/main" id="{0959DC25-84B4-50E9-8715-3CD4D309D2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4" y="3706"/>
              <a:ext cx="0" cy="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" name="Line 11">
              <a:extLst>
                <a:ext uri="{FF2B5EF4-FFF2-40B4-BE49-F238E27FC236}">
                  <a16:creationId xmlns:a16="http://schemas.microsoft.com/office/drawing/2014/main" id="{7491BADA-D4D2-43D7-6958-C4E6C6439D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5" y="3706"/>
              <a:ext cx="1" cy="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" name="Line 12">
              <a:extLst>
                <a:ext uri="{FF2B5EF4-FFF2-40B4-BE49-F238E27FC236}">
                  <a16:creationId xmlns:a16="http://schemas.microsoft.com/office/drawing/2014/main" id="{957846C1-FD0D-1469-E0B5-B6BEA40656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6" y="3706"/>
              <a:ext cx="1" cy="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" name="Line 13">
              <a:extLst>
                <a:ext uri="{FF2B5EF4-FFF2-40B4-BE49-F238E27FC236}">
                  <a16:creationId xmlns:a16="http://schemas.microsoft.com/office/drawing/2014/main" id="{0F1CC24C-2552-ADF0-E261-705D82B35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5" y="3736"/>
              <a:ext cx="3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" name="Line 14">
              <a:extLst>
                <a:ext uri="{FF2B5EF4-FFF2-40B4-BE49-F238E27FC236}">
                  <a16:creationId xmlns:a16="http://schemas.microsoft.com/office/drawing/2014/main" id="{6E1678F3-FF0D-FA74-8D23-CC7F5383A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5" y="1599"/>
              <a:ext cx="3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" name="Rectangle 15">
              <a:extLst>
                <a:ext uri="{FF2B5EF4-FFF2-40B4-BE49-F238E27FC236}">
                  <a16:creationId xmlns:a16="http://schemas.microsoft.com/office/drawing/2014/main" id="{556AE754-38C8-8FC6-771B-752C15F1A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" y="15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231" name="Line 16">
              <a:extLst>
                <a:ext uri="{FF2B5EF4-FFF2-40B4-BE49-F238E27FC236}">
                  <a16:creationId xmlns:a16="http://schemas.microsoft.com/office/drawing/2014/main" id="{E12DD5F1-FEE7-3FC4-4E14-476D45FB2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1" y="3736"/>
              <a:ext cx="379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" name="Line 17">
              <a:extLst>
                <a:ext uri="{FF2B5EF4-FFF2-40B4-BE49-F238E27FC236}">
                  <a16:creationId xmlns:a16="http://schemas.microsoft.com/office/drawing/2014/main" id="{1EF69C66-CC05-DF75-9FED-AD6443F4C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3" y="1172"/>
              <a:ext cx="0" cy="25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" name="Freeform 18">
              <a:extLst>
                <a:ext uri="{FF2B5EF4-FFF2-40B4-BE49-F238E27FC236}">
                  <a16:creationId xmlns:a16="http://schemas.microsoft.com/office/drawing/2014/main" id="{B8000DB6-4E31-F30B-1348-F559B0986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5" y="1599"/>
              <a:ext cx="3791" cy="2137"/>
            </a:xfrm>
            <a:custGeom>
              <a:avLst/>
              <a:gdLst>
                <a:gd name="T0" fmla="*/ 0 w 4471"/>
                <a:gd name="T1" fmla="*/ 1195 h 2858"/>
                <a:gd name="T2" fmla="*/ 66 w 4471"/>
                <a:gd name="T3" fmla="*/ 979 h 2858"/>
                <a:gd name="T4" fmla="*/ 137 w 4471"/>
                <a:gd name="T5" fmla="*/ 801 h 2858"/>
                <a:gd name="T6" fmla="*/ 203 w 4471"/>
                <a:gd name="T7" fmla="*/ 655 h 2858"/>
                <a:gd name="T8" fmla="*/ 273 w 4471"/>
                <a:gd name="T9" fmla="*/ 537 h 2858"/>
                <a:gd name="T10" fmla="*/ 338 w 4471"/>
                <a:gd name="T11" fmla="*/ 438 h 2858"/>
                <a:gd name="T12" fmla="*/ 410 w 4471"/>
                <a:gd name="T13" fmla="*/ 360 h 2858"/>
                <a:gd name="T14" fmla="*/ 475 w 4471"/>
                <a:gd name="T15" fmla="*/ 295 h 2858"/>
                <a:gd name="T16" fmla="*/ 546 w 4471"/>
                <a:gd name="T17" fmla="*/ 242 h 2858"/>
                <a:gd name="T18" fmla="*/ 612 w 4471"/>
                <a:gd name="T19" fmla="*/ 197 h 2858"/>
                <a:gd name="T20" fmla="*/ 683 w 4471"/>
                <a:gd name="T21" fmla="*/ 163 h 2858"/>
                <a:gd name="T22" fmla="*/ 749 w 4471"/>
                <a:gd name="T23" fmla="*/ 132 h 2858"/>
                <a:gd name="T24" fmla="*/ 819 w 4471"/>
                <a:gd name="T25" fmla="*/ 110 h 2858"/>
                <a:gd name="T26" fmla="*/ 885 w 4471"/>
                <a:gd name="T27" fmla="*/ 90 h 2858"/>
                <a:gd name="T28" fmla="*/ 956 w 4471"/>
                <a:gd name="T29" fmla="*/ 73 h 2858"/>
                <a:gd name="T30" fmla="*/ 1021 w 4471"/>
                <a:gd name="T31" fmla="*/ 59 h 2858"/>
                <a:gd name="T32" fmla="*/ 1092 w 4471"/>
                <a:gd name="T33" fmla="*/ 48 h 2858"/>
                <a:gd name="T34" fmla="*/ 1157 w 4471"/>
                <a:gd name="T35" fmla="*/ 40 h 2858"/>
                <a:gd name="T36" fmla="*/ 1229 w 4471"/>
                <a:gd name="T37" fmla="*/ 34 h 2858"/>
                <a:gd name="T38" fmla="*/ 1294 w 4471"/>
                <a:gd name="T39" fmla="*/ 28 h 2858"/>
                <a:gd name="T40" fmla="*/ 1364 w 4471"/>
                <a:gd name="T41" fmla="*/ 22 h 2858"/>
                <a:gd name="T42" fmla="*/ 1430 w 4471"/>
                <a:gd name="T43" fmla="*/ 17 h 2858"/>
                <a:gd name="T44" fmla="*/ 1497 w 4471"/>
                <a:gd name="T45" fmla="*/ 14 h 2858"/>
                <a:gd name="T46" fmla="*/ 1567 w 4471"/>
                <a:gd name="T47" fmla="*/ 11 h 2858"/>
                <a:gd name="T48" fmla="*/ 1633 w 4471"/>
                <a:gd name="T49" fmla="*/ 9 h 2858"/>
                <a:gd name="T50" fmla="*/ 1704 w 4471"/>
                <a:gd name="T51" fmla="*/ 9 h 2858"/>
                <a:gd name="T52" fmla="*/ 1770 w 4471"/>
                <a:gd name="T53" fmla="*/ 5 h 2858"/>
                <a:gd name="T54" fmla="*/ 1841 w 4471"/>
                <a:gd name="T55" fmla="*/ 5 h 2858"/>
                <a:gd name="T56" fmla="*/ 1906 w 4471"/>
                <a:gd name="T57" fmla="*/ 5 h 2858"/>
                <a:gd name="T58" fmla="*/ 1977 w 4471"/>
                <a:gd name="T59" fmla="*/ 3 h 2858"/>
                <a:gd name="T60" fmla="*/ 2043 w 4471"/>
                <a:gd name="T61" fmla="*/ 3 h 2858"/>
                <a:gd name="T62" fmla="*/ 2114 w 4471"/>
                <a:gd name="T63" fmla="*/ 3 h 2858"/>
                <a:gd name="T64" fmla="*/ 2179 w 4471"/>
                <a:gd name="T65" fmla="*/ 3 h 2858"/>
                <a:gd name="T66" fmla="*/ 2250 w 4471"/>
                <a:gd name="T67" fmla="*/ 3 h 2858"/>
                <a:gd name="T68" fmla="*/ 2316 w 4471"/>
                <a:gd name="T69" fmla="*/ 0 h 2858"/>
                <a:gd name="T70" fmla="*/ 2387 w 4471"/>
                <a:gd name="T71" fmla="*/ 0 h 2858"/>
                <a:gd name="T72" fmla="*/ 2452 w 4471"/>
                <a:gd name="T73" fmla="*/ 0 h 2858"/>
                <a:gd name="T74" fmla="*/ 2523 w 4471"/>
                <a:gd name="T75" fmla="*/ 0 h 2858"/>
                <a:gd name="T76" fmla="*/ 2589 w 4471"/>
                <a:gd name="T77" fmla="*/ 0 h 2858"/>
                <a:gd name="T78" fmla="*/ 2659 w 4471"/>
                <a:gd name="T79" fmla="*/ 0 h 2858"/>
                <a:gd name="T80" fmla="*/ 2725 w 4471"/>
                <a:gd name="T81" fmla="*/ 0 h 28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471" h="2858">
                  <a:moveTo>
                    <a:pt x="0" y="2858"/>
                  </a:moveTo>
                  <a:lnTo>
                    <a:pt x="108" y="2340"/>
                  </a:lnTo>
                  <a:lnTo>
                    <a:pt x="224" y="1916"/>
                  </a:lnTo>
                  <a:lnTo>
                    <a:pt x="332" y="1567"/>
                  </a:lnTo>
                  <a:lnTo>
                    <a:pt x="448" y="1284"/>
                  </a:lnTo>
                  <a:lnTo>
                    <a:pt x="556" y="1049"/>
                  </a:lnTo>
                  <a:lnTo>
                    <a:pt x="672" y="861"/>
                  </a:lnTo>
                  <a:lnTo>
                    <a:pt x="780" y="706"/>
                  </a:lnTo>
                  <a:lnTo>
                    <a:pt x="896" y="579"/>
                  </a:lnTo>
                  <a:lnTo>
                    <a:pt x="1004" y="471"/>
                  </a:lnTo>
                  <a:lnTo>
                    <a:pt x="1120" y="390"/>
                  </a:lnTo>
                  <a:lnTo>
                    <a:pt x="1228" y="316"/>
                  </a:lnTo>
                  <a:lnTo>
                    <a:pt x="1343" y="263"/>
                  </a:lnTo>
                  <a:lnTo>
                    <a:pt x="1452" y="216"/>
                  </a:lnTo>
                  <a:lnTo>
                    <a:pt x="1567" y="175"/>
                  </a:lnTo>
                  <a:lnTo>
                    <a:pt x="1675" y="142"/>
                  </a:lnTo>
                  <a:lnTo>
                    <a:pt x="1791" y="115"/>
                  </a:lnTo>
                  <a:lnTo>
                    <a:pt x="1899" y="95"/>
                  </a:lnTo>
                  <a:lnTo>
                    <a:pt x="2015" y="81"/>
                  </a:lnTo>
                  <a:lnTo>
                    <a:pt x="2123" y="68"/>
                  </a:lnTo>
                  <a:lnTo>
                    <a:pt x="2239" y="54"/>
                  </a:lnTo>
                  <a:lnTo>
                    <a:pt x="2347" y="41"/>
                  </a:lnTo>
                  <a:lnTo>
                    <a:pt x="2455" y="34"/>
                  </a:lnTo>
                  <a:lnTo>
                    <a:pt x="2571" y="27"/>
                  </a:lnTo>
                  <a:lnTo>
                    <a:pt x="2679" y="21"/>
                  </a:lnTo>
                  <a:lnTo>
                    <a:pt x="2795" y="21"/>
                  </a:lnTo>
                  <a:lnTo>
                    <a:pt x="2903" y="14"/>
                  </a:lnTo>
                  <a:lnTo>
                    <a:pt x="3019" y="14"/>
                  </a:lnTo>
                  <a:lnTo>
                    <a:pt x="3127" y="14"/>
                  </a:lnTo>
                  <a:lnTo>
                    <a:pt x="3243" y="7"/>
                  </a:lnTo>
                  <a:lnTo>
                    <a:pt x="3351" y="7"/>
                  </a:lnTo>
                  <a:lnTo>
                    <a:pt x="3467" y="7"/>
                  </a:lnTo>
                  <a:lnTo>
                    <a:pt x="3575" y="7"/>
                  </a:lnTo>
                  <a:lnTo>
                    <a:pt x="3691" y="7"/>
                  </a:lnTo>
                  <a:lnTo>
                    <a:pt x="3799" y="0"/>
                  </a:lnTo>
                  <a:lnTo>
                    <a:pt x="3915" y="0"/>
                  </a:lnTo>
                  <a:lnTo>
                    <a:pt x="4023" y="0"/>
                  </a:lnTo>
                  <a:lnTo>
                    <a:pt x="4139" y="0"/>
                  </a:lnTo>
                  <a:lnTo>
                    <a:pt x="4247" y="0"/>
                  </a:lnTo>
                  <a:lnTo>
                    <a:pt x="4362" y="0"/>
                  </a:lnTo>
                  <a:lnTo>
                    <a:pt x="4471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4" name="Line 19">
              <a:extLst>
                <a:ext uri="{FF2B5EF4-FFF2-40B4-BE49-F238E27FC236}">
                  <a16:creationId xmlns:a16="http://schemas.microsoft.com/office/drawing/2014/main" id="{AC6E94AD-8FF3-245D-FFE7-F7FBC6011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1" y="1601"/>
              <a:ext cx="37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5" name="Line 20">
              <a:extLst>
                <a:ext uri="{FF2B5EF4-FFF2-40B4-BE49-F238E27FC236}">
                  <a16:creationId xmlns:a16="http://schemas.microsoft.com/office/drawing/2014/main" id="{60037BC2-70A7-BE01-660A-BE177F9882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3" y="1607"/>
              <a:ext cx="489" cy="211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6" name="Line 21">
              <a:extLst>
                <a:ext uri="{FF2B5EF4-FFF2-40B4-BE49-F238E27FC236}">
                  <a16:creationId xmlns:a16="http://schemas.microsoft.com/office/drawing/2014/main" id="{40B1FD5B-62A0-CA4D-C24E-D94FA69A9E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9" y="2396"/>
              <a:ext cx="0" cy="13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7" name="Line 22">
              <a:extLst>
                <a:ext uri="{FF2B5EF4-FFF2-40B4-BE49-F238E27FC236}">
                  <a16:creationId xmlns:a16="http://schemas.microsoft.com/office/drawing/2014/main" id="{E109EA00-0039-175A-9207-C030E05A76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1" y="2396"/>
              <a:ext cx="61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8" name="Text Box 23">
              <a:extLst>
                <a:ext uri="{FF2B5EF4-FFF2-40B4-BE49-F238E27FC236}">
                  <a16:creationId xmlns:a16="http://schemas.microsoft.com/office/drawing/2014/main" id="{98644243-7B54-A778-0617-31035D1C53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72"/>
              <a:ext cx="5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0.632</a:t>
              </a:r>
            </a:p>
          </p:txBody>
        </p:sp>
        <p:sp>
          <p:nvSpPr>
            <p:cNvPr id="9239" name="Text Box 24">
              <a:extLst>
                <a:ext uri="{FF2B5EF4-FFF2-40B4-BE49-F238E27FC236}">
                  <a16:creationId xmlns:a16="http://schemas.microsoft.com/office/drawing/2014/main" id="{0EEFEABD-9CBE-D732-6F89-0FEF4D031C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8" y="3724"/>
              <a:ext cx="3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240" name="Text Box 25">
              <a:extLst>
                <a:ext uri="{FF2B5EF4-FFF2-40B4-BE49-F238E27FC236}">
                  <a16:creationId xmlns:a16="http://schemas.microsoft.com/office/drawing/2014/main" id="{B9C359E8-A708-A206-EE5A-28E5625E34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9" y="2360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A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241" name="Text Box 26">
              <a:extLst>
                <a:ext uri="{FF2B5EF4-FFF2-40B4-BE49-F238E27FC236}">
                  <a16:creationId xmlns:a16="http://schemas.microsoft.com/office/drawing/2014/main" id="{7BB3E81B-FAB6-78C9-7DD0-889E46935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" y="367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242" name="Line 27">
              <a:extLst>
                <a:ext uri="{FF2B5EF4-FFF2-40B4-BE49-F238E27FC236}">
                  <a16:creationId xmlns:a16="http://schemas.microsoft.com/office/drawing/2014/main" id="{30A1AD1B-CDBB-A83F-5143-59A38189A9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7" y="1894"/>
              <a:ext cx="0" cy="183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3" name="Line 28">
              <a:extLst>
                <a:ext uri="{FF2B5EF4-FFF2-40B4-BE49-F238E27FC236}">
                  <a16:creationId xmlns:a16="http://schemas.microsoft.com/office/drawing/2014/main" id="{60F2E1DD-EE2C-056C-B747-D430084519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7" y="1894"/>
              <a:ext cx="1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4" name="Text Box 29">
              <a:extLst>
                <a:ext uri="{FF2B5EF4-FFF2-40B4-BE49-F238E27FC236}">
                  <a16:creationId xmlns:a16="http://schemas.microsoft.com/office/drawing/2014/main" id="{49A0F3B2-A8C0-08A6-D93E-D4CAD1D67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3" y="1858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B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245" name="Text Box 30">
              <a:extLst>
                <a:ext uri="{FF2B5EF4-FFF2-40B4-BE49-F238E27FC236}">
                  <a16:creationId xmlns:a16="http://schemas.microsoft.com/office/drawing/2014/main" id="{21DEE799-23AA-6B23-8A25-09B6AEC6E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5" y="1248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斜率</a:t>
              </a:r>
              <a:r>
                <a:rPr lang="en-US" altLang="zh-CN" sz="2400">
                  <a:latin typeface="Times New Roman" panose="02020603050405020304" pitchFamily="18" charset="0"/>
                </a:rPr>
                <a:t>=1/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246" name="Line 31">
              <a:extLst>
                <a:ext uri="{FF2B5EF4-FFF2-40B4-BE49-F238E27FC236}">
                  <a16:creationId xmlns:a16="http://schemas.microsoft.com/office/drawing/2014/main" id="{45F675CB-1B92-6579-9883-F016DB3525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3" y="1714"/>
              <a:ext cx="0" cy="201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7" name="Line 32">
              <a:extLst>
                <a:ext uri="{FF2B5EF4-FFF2-40B4-BE49-F238E27FC236}">
                  <a16:creationId xmlns:a16="http://schemas.microsoft.com/office/drawing/2014/main" id="{AB865726-5624-F1B7-A0C7-A8CE3A7AFD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3" y="1642"/>
              <a:ext cx="0" cy="208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8" name="Line 33">
              <a:extLst>
                <a:ext uri="{FF2B5EF4-FFF2-40B4-BE49-F238E27FC236}">
                  <a16:creationId xmlns:a16="http://schemas.microsoft.com/office/drawing/2014/main" id="{BD54142A-8301-665F-1FAA-E5D7F5078F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2" y="1607"/>
              <a:ext cx="0" cy="211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9" name="Text Box 34">
              <a:extLst>
                <a:ext uri="{FF2B5EF4-FFF2-40B4-BE49-F238E27FC236}">
                  <a16:creationId xmlns:a16="http://schemas.microsoft.com/office/drawing/2014/main" id="{E1A5A79F-2AA8-C654-A569-F24705CA1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7" y="3724"/>
              <a:ext cx="3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2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250" name="Text Box 35">
              <a:extLst>
                <a:ext uri="{FF2B5EF4-FFF2-40B4-BE49-F238E27FC236}">
                  <a16:creationId xmlns:a16="http://schemas.microsoft.com/office/drawing/2014/main" id="{F3195BDA-4AD7-0E44-7540-663AEF188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4" y="3724"/>
              <a:ext cx="3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3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251" name="Text Box 36">
              <a:extLst>
                <a:ext uri="{FF2B5EF4-FFF2-40B4-BE49-F238E27FC236}">
                  <a16:creationId xmlns:a16="http://schemas.microsoft.com/office/drawing/2014/main" id="{7E00512F-4C50-33CE-5F82-F67B2CF9B2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3" y="3724"/>
              <a:ext cx="3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4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252" name="Text Box 37">
              <a:extLst>
                <a:ext uri="{FF2B5EF4-FFF2-40B4-BE49-F238E27FC236}">
                  <a16:creationId xmlns:a16="http://schemas.microsoft.com/office/drawing/2014/main" id="{F726FEE7-32EA-7E94-400B-9FE79CD2B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1" y="3724"/>
              <a:ext cx="3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5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253" name="Line 38">
              <a:extLst>
                <a:ext uri="{FF2B5EF4-FFF2-40B4-BE49-F238E27FC236}">
                  <a16:creationId xmlns:a16="http://schemas.microsoft.com/office/drawing/2014/main" id="{B4AFE401-DDD3-CEA1-A855-57EAFCA53E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6" y="1607"/>
              <a:ext cx="0" cy="211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4" name="Text Box 39">
              <a:extLst>
                <a:ext uri="{FF2B5EF4-FFF2-40B4-BE49-F238E27FC236}">
                  <a16:creationId xmlns:a16="http://schemas.microsoft.com/office/drawing/2014/main" id="{75DDE65F-1213-E80B-D5C0-AE02E42CA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104"/>
              <a:ext cx="38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c(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255" name="Text Box 40">
              <a:extLst>
                <a:ext uri="{FF2B5EF4-FFF2-40B4-BE49-F238E27FC236}">
                  <a16:creationId xmlns:a16="http://schemas.microsoft.com/office/drawing/2014/main" id="{2D376410-AD30-21A7-2686-9FA37D58F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2" y="3724"/>
              <a:ext cx="1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256" name="Line 41">
              <a:extLst>
                <a:ext uri="{FF2B5EF4-FFF2-40B4-BE49-F238E27FC236}">
                  <a16:creationId xmlns:a16="http://schemas.microsoft.com/office/drawing/2014/main" id="{82B472C0-66E2-E442-2A2B-2A10DF3F7A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68" y="1463"/>
              <a:ext cx="81" cy="32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57" name="Object 42">
              <a:extLst>
                <a:ext uri="{FF2B5EF4-FFF2-40B4-BE49-F238E27FC236}">
                  <a16:creationId xmlns:a16="http://schemas.microsoft.com/office/drawing/2014/main" id="{520FD699-C67D-869B-E367-1C2E8D0950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03" y="1162"/>
            <a:ext cx="1287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863225" imgH="228501" progId="Equation.3">
                    <p:embed/>
                  </p:oleObj>
                </mc:Choice>
                <mc:Fallback>
                  <p:oleObj r:id="rId5" imgW="863225" imgH="228501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3" y="1162"/>
                          <a:ext cx="1287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58" name="Line 43">
              <a:extLst>
                <a:ext uri="{FF2B5EF4-FFF2-40B4-BE49-F238E27FC236}">
                  <a16:creationId xmlns:a16="http://schemas.microsoft.com/office/drawing/2014/main" id="{882E81BC-D641-F4CE-675A-22DCE38138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8" y="1463"/>
              <a:ext cx="123" cy="2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9" name="Text Box 44">
              <a:extLst>
                <a:ext uri="{FF2B5EF4-FFF2-40B4-BE49-F238E27FC236}">
                  <a16:creationId xmlns:a16="http://schemas.microsoft.com/office/drawing/2014/main" id="{D3645071-B184-11D3-BDE0-030DF01A7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242" y="3000"/>
              <a:ext cx="6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63.2%</a:t>
              </a:r>
            </a:p>
          </p:txBody>
        </p:sp>
        <p:sp>
          <p:nvSpPr>
            <p:cNvPr id="9260" name="Text Box 45">
              <a:extLst>
                <a:ext uri="{FF2B5EF4-FFF2-40B4-BE49-F238E27FC236}">
                  <a16:creationId xmlns:a16="http://schemas.microsoft.com/office/drawing/2014/main" id="{F1F35EED-8946-2B05-6F39-E251F580F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30" y="2582"/>
              <a:ext cx="6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86.5%</a:t>
              </a:r>
            </a:p>
          </p:txBody>
        </p:sp>
        <p:sp>
          <p:nvSpPr>
            <p:cNvPr id="9261" name="Text Box 46">
              <a:extLst>
                <a:ext uri="{FF2B5EF4-FFF2-40B4-BE49-F238E27FC236}">
                  <a16:creationId xmlns:a16="http://schemas.microsoft.com/office/drawing/2014/main" id="{0F4DC6FE-239C-3F36-4114-A4C4AC85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249" y="2654"/>
              <a:ext cx="4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95%</a:t>
              </a:r>
            </a:p>
          </p:txBody>
        </p:sp>
        <p:sp>
          <p:nvSpPr>
            <p:cNvPr id="9262" name="Text Box 47">
              <a:extLst>
                <a:ext uri="{FF2B5EF4-FFF2-40B4-BE49-F238E27FC236}">
                  <a16:creationId xmlns:a16="http://schemas.microsoft.com/office/drawing/2014/main" id="{9725F9C0-040E-CA2F-E685-93D771A8B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666" y="2582"/>
              <a:ext cx="6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98.2%</a:t>
              </a:r>
            </a:p>
          </p:txBody>
        </p:sp>
        <p:sp>
          <p:nvSpPr>
            <p:cNvPr id="9263" name="Text Box 48">
              <a:extLst>
                <a:ext uri="{FF2B5EF4-FFF2-40B4-BE49-F238E27FC236}">
                  <a16:creationId xmlns:a16="http://schemas.microsoft.com/office/drawing/2014/main" id="{F1B1BB10-3E54-0CAB-61A5-8CF097A8DE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154" y="2582"/>
              <a:ext cx="6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99.3%</a:t>
              </a:r>
            </a:p>
          </p:txBody>
        </p:sp>
        <p:sp>
          <p:nvSpPr>
            <p:cNvPr id="9264" name="Text Box 49">
              <a:extLst>
                <a:ext uri="{FF2B5EF4-FFF2-40B4-BE49-F238E27FC236}">
                  <a16:creationId xmlns:a16="http://schemas.microsoft.com/office/drawing/2014/main" id="{CBCFC402-3B1B-D7A7-4EB9-9263C7CE3D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602" y="2582"/>
              <a:ext cx="6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99.8%</a:t>
              </a:r>
            </a:p>
          </p:txBody>
        </p:sp>
        <p:sp>
          <p:nvSpPr>
            <p:cNvPr id="9265" name="Text Box 50">
              <a:extLst>
                <a:ext uri="{FF2B5EF4-FFF2-40B4-BE49-F238E27FC236}">
                  <a16:creationId xmlns:a16="http://schemas.microsoft.com/office/drawing/2014/main" id="{29A80261-E489-9503-5258-580585886D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7" y="3724"/>
              <a:ext cx="3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6</a:t>
              </a: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>
            <a:extLst>
              <a:ext uri="{FF2B5EF4-FFF2-40B4-BE49-F238E27FC236}">
                <a16:creationId xmlns:a16="http://schemas.microsoft.com/office/drawing/2014/main" id="{8C4F1CBC-7252-A3C7-FF96-01C1C7827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981075"/>
            <a:ext cx="7010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一阶系统单位阶跃响应的特点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2AF54E0D-CFE9-969E-8204-2A536CDF5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628775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响应分为两部分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A3AC0013-C878-03EA-BDA5-0B163DAAA6C9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2205038"/>
            <a:ext cx="7010400" cy="600075"/>
            <a:chOff x="1056" y="1629"/>
            <a:chExt cx="4416" cy="378"/>
          </a:xfrm>
        </p:grpSpPr>
        <p:sp>
          <p:nvSpPr>
            <p:cNvPr id="11273" name="Rectangle 6">
              <a:extLst>
                <a:ext uri="{FF2B5EF4-FFF2-40B4-BE49-F238E27FC236}">
                  <a16:creationId xmlns:a16="http://schemas.microsoft.com/office/drawing/2014/main" id="{B8FB17AF-CF97-3152-4136-1ED773E5E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680"/>
              <a:ext cx="44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solidFill>
                    <a:srgbClr val="CC0000"/>
                  </a:solidFill>
                  <a:latin typeface="宋体" panose="02010600030101010101" pitchFamily="2" charset="-122"/>
                </a:rPr>
                <a:t>瞬态响应</a:t>
              </a:r>
              <a:r>
                <a:rPr lang="zh-CN" altLang="en-US" sz="2800">
                  <a:latin typeface="宋体" panose="02010600030101010101" pitchFamily="2" charset="-122"/>
                </a:rPr>
                <a:t>：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1274" name="Object 7">
              <a:extLst>
                <a:ext uri="{FF2B5EF4-FFF2-40B4-BE49-F238E27FC236}">
                  <a16:creationId xmlns:a16="http://schemas.microsoft.com/office/drawing/2014/main" id="{42A44913-791C-EFF7-5246-E646A9A7AF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1629"/>
            <a:ext cx="720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545626" imgH="253780" progId="Equation.3">
                    <p:embed/>
                  </p:oleObj>
                </mc:Choice>
                <mc:Fallback>
                  <p:oleObj r:id="rId3" imgW="545626" imgH="2537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629"/>
                          <a:ext cx="720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336" name="Rectangle 8">
            <a:extLst>
              <a:ext uri="{FF2B5EF4-FFF2-40B4-BE49-F238E27FC236}">
                <a16:creationId xmlns:a16="http://schemas.microsoft.com/office/drawing/2014/main" id="{830EABED-6544-B843-516E-7A13AC2A3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2781300"/>
            <a:ext cx="6629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表示系统输出量从初态到终态的变化过程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（动态</a:t>
            </a:r>
            <a:r>
              <a:rPr lang="en-US" altLang="zh-CN" sz="2800">
                <a:latin typeface="Times New Roman" panose="02020603050405020304" pitchFamily="18" charset="0"/>
              </a:rPr>
              <a:t>/</a:t>
            </a:r>
            <a:r>
              <a:rPr lang="zh-CN" altLang="en-US" sz="2800">
                <a:latin typeface="宋体" panose="02010600030101010101" pitchFamily="2" charset="-122"/>
              </a:rPr>
              <a:t>过渡过程）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9337" name="Rectangle 9">
            <a:extLst>
              <a:ext uri="{FF2B5EF4-FFF2-40B4-BE49-F238E27FC236}">
                <a16:creationId xmlns:a16="http://schemas.microsoft.com/office/drawing/2014/main" id="{668480F3-3D81-98DC-27ED-14DE04F2B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3933825"/>
            <a:ext cx="7086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稳态响应</a:t>
            </a:r>
            <a:r>
              <a:rPr lang="zh-CN" altLang="en-US" sz="2800">
                <a:latin typeface="宋体" panose="02010600030101010101" pitchFamily="2" charset="-122"/>
              </a:rPr>
              <a:t>：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99338" name="Rectangle 10">
            <a:extLst>
              <a:ext uri="{FF2B5EF4-FFF2-40B4-BE49-F238E27FC236}">
                <a16:creationId xmlns:a16="http://schemas.microsoft.com/office/drawing/2014/main" id="{D34E6BE6-4ABE-0BBB-895A-3D9A3161C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508500"/>
            <a:ext cx="4799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表示</a:t>
            </a:r>
            <a:r>
              <a:rPr lang="en-US" altLang="zh-CN" sz="2800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</a:t>
            </a:r>
            <a:r>
              <a:rPr lang="zh-CN" altLang="en-US" sz="2800">
                <a:latin typeface="宋体" panose="02010600030101010101" pitchFamily="2" charset="-122"/>
              </a:rPr>
              <a:t>时，系统的输出状态</a:t>
            </a:r>
          </a:p>
        </p:txBody>
      </p:sp>
      <p:sp>
        <p:nvSpPr>
          <p:cNvPr id="99339" name="Rectangle 11">
            <a:extLst>
              <a:ext uri="{FF2B5EF4-FFF2-40B4-BE49-F238E27FC236}">
                <a16:creationId xmlns:a16="http://schemas.microsoft.com/office/drawing/2014/main" id="{CFBE3D18-486E-F566-BB12-089E8161D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013325"/>
            <a:ext cx="7391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  <a:r>
              <a:rPr lang="en-US" altLang="zh-CN" sz="2800">
                <a:latin typeface="Times New Roman" panose="02020603050405020304" pitchFamily="18" charset="0"/>
              </a:rPr>
              <a:t>(0) = 0</a:t>
            </a:r>
            <a:r>
              <a:rPr lang="zh-CN" altLang="en-US" sz="2800">
                <a:latin typeface="宋体" panose="02010600030101010101" pitchFamily="2" charset="-122"/>
              </a:rPr>
              <a:t>，随时间的推移， </a:t>
            </a: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) </a:t>
            </a:r>
            <a:r>
              <a:rPr lang="zh-CN" altLang="en-US" sz="2800">
                <a:latin typeface="宋体" panose="02010600030101010101" pitchFamily="2" charset="-122"/>
              </a:rPr>
              <a:t>指数增大，且无振荡。 </a:t>
            </a: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) = 1</a:t>
            </a:r>
            <a:r>
              <a:rPr lang="zh-CN" altLang="en-US" sz="2800">
                <a:latin typeface="宋体" panose="02010600030101010101" pitchFamily="2" charset="-122"/>
              </a:rPr>
              <a:t>，无稳态误差</a:t>
            </a:r>
            <a:r>
              <a:rPr lang="zh-CN" altLang="en-US" sz="2800">
                <a:latin typeface="Times New Roman" panose="02020603050405020304" pitchFamily="18" charset="0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9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/>
      <p:bldP spid="99336" grpId="0"/>
      <p:bldP spid="99337" grpId="0"/>
      <p:bldP spid="99338" grpId="0"/>
      <p:bldP spid="993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57885AAF-E93D-1BBE-9370-2EA4059C9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49275"/>
            <a:ext cx="74676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) = 1 - e</a:t>
            </a:r>
            <a:r>
              <a:rPr lang="en-US" altLang="zh-CN" sz="2900" baseline="30000">
                <a:latin typeface="Times New Roman" panose="02020603050405020304" pitchFamily="18" charset="0"/>
              </a:rPr>
              <a:t>-1 </a:t>
            </a:r>
            <a:r>
              <a:rPr lang="en-US" altLang="zh-CN" sz="2800">
                <a:latin typeface="宋体" panose="02010600030101010101" pitchFamily="2" charset="-122"/>
              </a:rPr>
              <a:t>= </a:t>
            </a:r>
            <a:r>
              <a:rPr lang="en-US" altLang="zh-CN" sz="2800">
                <a:latin typeface="Times New Roman" panose="02020603050405020304" pitchFamily="18" charset="0"/>
              </a:rPr>
              <a:t>0.632</a:t>
            </a:r>
            <a:r>
              <a:rPr lang="zh-CN" altLang="en-US" sz="2800">
                <a:latin typeface="宋体" panose="02010600030101010101" pitchFamily="2" charset="-122"/>
              </a:rPr>
              <a:t>，即经过时间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zh-CN" altLang="en-US" sz="2800">
                <a:latin typeface="宋体" panose="02010600030101010101" pitchFamily="2" charset="-122"/>
              </a:rPr>
              <a:t>，系统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响应达到其稳态输出值的</a:t>
            </a:r>
            <a:r>
              <a:rPr lang="en-US" altLang="zh-CN" sz="2800">
                <a:latin typeface="Times New Roman" panose="02020603050405020304" pitchFamily="18" charset="0"/>
              </a:rPr>
              <a:t>63.2%</a:t>
            </a:r>
            <a:r>
              <a:rPr lang="zh-CN" altLang="en-US" sz="2800">
                <a:latin typeface="宋体" panose="02010600030101010101" pitchFamily="2" charset="-122"/>
              </a:rPr>
              <a:t>，从而可以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通过实验测量惯性环节的时间常数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zh-CN" altLang="en-US" sz="2800">
                <a:latin typeface="宋体" panose="02010600030101010101" pitchFamily="2" charset="-122"/>
              </a:rPr>
              <a:t>；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0CFBA0FD-9758-FBB9-B277-49C29232FB86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628900"/>
            <a:ext cx="7239000" cy="871538"/>
            <a:chOff x="864" y="2392"/>
            <a:chExt cx="4560" cy="549"/>
          </a:xfrm>
        </p:grpSpPr>
        <p:graphicFrame>
          <p:nvGraphicFramePr>
            <p:cNvPr id="13317" name="Object 5">
              <a:extLst>
                <a:ext uri="{FF2B5EF4-FFF2-40B4-BE49-F238E27FC236}">
                  <a16:creationId xmlns:a16="http://schemas.microsoft.com/office/drawing/2014/main" id="{E672C81B-A903-680C-F306-9019C6FE98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8" y="2392"/>
            <a:ext cx="1018" cy="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825142" imgH="444307" progId="Equation.3">
                    <p:embed/>
                  </p:oleObj>
                </mc:Choice>
                <mc:Fallback>
                  <p:oleObj r:id="rId3" imgW="825142" imgH="444307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8" y="2392"/>
                          <a:ext cx="1018" cy="5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18" name="Rectangle 6">
              <a:extLst>
                <a:ext uri="{FF2B5EF4-FFF2-40B4-BE49-F238E27FC236}">
                  <a16:creationId xmlns:a16="http://schemas.microsoft.com/office/drawing/2014/main" id="{EEF9618F-F40F-C49E-0D12-02273EECA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00"/>
              <a:ext cx="4560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 typeface="Wingdings" panose="05000000000000000000" pitchFamily="2" charset="2"/>
                <a:buChar char="q"/>
              </a:pPr>
              <a:r>
                <a:rPr lang="en-US" altLang="zh-CN" sz="2800">
                  <a:latin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98311" name="Rectangle 7">
            <a:extLst>
              <a:ext uri="{FF2B5EF4-FFF2-40B4-BE49-F238E27FC236}">
                <a16:creationId xmlns:a16="http://schemas.microsoft.com/office/drawing/2014/main" id="{8DEFDD7F-F4FC-5ECE-D3DB-A2D00B73D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933825"/>
            <a:ext cx="75438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时间常数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zh-CN" altLang="en-US" sz="2800">
                <a:latin typeface="宋体" panose="02010600030101010101" pitchFamily="2" charset="-122"/>
              </a:rPr>
              <a:t>反映了系统响应的快慢。通常工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程中当响应曲线达到并保持在稳态值的</a:t>
            </a:r>
            <a:r>
              <a:rPr lang="en-US" altLang="zh-CN" sz="2800">
                <a:latin typeface="Times New Roman" panose="02020603050405020304" pitchFamily="18" charset="0"/>
              </a:rPr>
              <a:t>95%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   </a:t>
            </a:r>
            <a:r>
              <a:rPr lang="en-US" altLang="zh-CN" sz="2800">
                <a:latin typeface="Times New Roman" panose="02020603050405020304" pitchFamily="18" charset="0"/>
              </a:rPr>
              <a:t>~98%</a:t>
            </a:r>
            <a:r>
              <a:rPr lang="zh-CN" altLang="en-US" sz="2800">
                <a:latin typeface="宋体" panose="02010600030101010101" pitchFamily="2" charset="-122"/>
              </a:rPr>
              <a:t>时，认为系统响应过程基本结束。从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而惯性环节的过渡过程时间为</a:t>
            </a:r>
            <a:r>
              <a:rPr lang="en-US" altLang="zh-CN" sz="2800">
                <a:latin typeface="Times New Roman" panose="02020603050405020304" pitchFamily="18" charset="0"/>
              </a:rPr>
              <a:t>3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~4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8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8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16">
            <a:extLst>
              <a:ext uri="{FF2B5EF4-FFF2-40B4-BE49-F238E27FC236}">
                <a16:creationId xmlns:a16="http://schemas.microsoft.com/office/drawing/2014/main" id="{28008390-F839-14C4-975C-C63EB17D408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598CFC-AE8B-4D25-982C-4D9560A24865}" type="datetime1">
              <a:rPr lang="en-US" altLang="zh-CN" sz="1200" smtClean="0"/>
              <a:pPr>
                <a:spcBef>
                  <a:spcPct val="0"/>
                </a:spcBef>
                <a:buClrTx/>
                <a:buFontTx/>
                <a:buNone/>
              </a:pPr>
              <a:t>9/20/2025</a:t>
            </a:fld>
            <a:endParaRPr lang="en-US" altLang="zh-CN" sz="1200"/>
          </a:p>
        </p:txBody>
      </p:sp>
      <p:sp>
        <p:nvSpPr>
          <p:cNvPr id="15363" name="灯片编号占位符 18">
            <a:extLst>
              <a:ext uri="{FF2B5EF4-FFF2-40B4-BE49-F238E27FC236}">
                <a16:creationId xmlns:a16="http://schemas.microsoft.com/office/drawing/2014/main" id="{ADA692B4-284A-D27B-3EA4-2012866C37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974A59F-53C4-4DE0-85CA-63529BF9045E}" type="slidenum">
              <a:rPr lang="en-US" altLang="zh-CN" sz="120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200"/>
          </a:p>
        </p:txBody>
      </p:sp>
      <p:sp>
        <p:nvSpPr>
          <p:cNvPr id="15364" name="Rectangle 51">
            <a:extLst>
              <a:ext uri="{FF2B5EF4-FFF2-40B4-BE49-F238E27FC236}">
                <a16:creationId xmlns:a16="http://schemas.microsoft.com/office/drawing/2014/main" id="{EFF3C8BA-4336-AD05-8445-06F78EBEA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965200"/>
            <a:ext cx="75438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将一阶系统的单位阶跃响应式改写为：</a:t>
            </a:r>
          </a:p>
        </p:txBody>
      </p:sp>
      <p:sp>
        <p:nvSpPr>
          <p:cNvPr id="13367" name="Rectangle 55">
            <a:extLst>
              <a:ext uri="{FF2B5EF4-FFF2-40B4-BE49-F238E27FC236}">
                <a16:creationId xmlns:a16="http://schemas.microsoft.com/office/drawing/2014/main" id="{FB941652-86DA-0D8C-77B6-05F10E006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0" y="3173413"/>
            <a:ext cx="5519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即</a:t>
            </a:r>
            <a:r>
              <a:rPr lang="en-US" altLang="zh-CN" sz="2800">
                <a:latin typeface="宋体" panose="02010600030101010101" pitchFamily="2" charset="-122"/>
              </a:rPr>
              <a:t>ln[1-</a:t>
            </a: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en-US" altLang="zh-CN" sz="2800">
                <a:latin typeface="宋体" panose="02010600030101010101" pitchFamily="2" charset="-122"/>
              </a:rPr>
              <a:t>]</a:t>
            </a:r>
            <a:r>
              <a:rPr lang="zh-CN" altLang="en-US" sz="2800">
                <a:latin typeface="宋体" panose="02010600030101010101" pitchFamily="2" charset="-122"/>
              </a:rPr>
              <a:t>与时间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zh-CN" altLang="en-US" sz="2800">
                <a:latin typeface="宋体" panose="02010600030101010101" pitchFamily="2" charset="-122"/>
              </a:rPr>
              <a:t>成线性关系。</a:t>
            </a:r>
          </a:p>
        </p:txBody>
      </p:sp>
      <p:sp>
        <p:nvSpPr>
          <p:cNvPr id="13368" name="Rectangle 56">
            <a:extLst>
              <a:ext uri="{FF2B5EF4-FFF2-40B4-BE49-F238E27FC236}">
                <a16:creationId xmlns:a16="http://schemas.microsoft.com/office/drawing/2014/main" id="{CC17F13A-CA0F-5A01-3649-986CAA35D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0" y="3870325"/>
            <a:ext cx="304800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该性质可用于判别系统是否为惯性环节，以及测量惯性环节的时间常数。</a:t>
            </a:r>
          </a:p>
        </p:txBody>
      </p:sp>
      <p:grpSp>
        <p:nvGrpSpPr>
          <p:cNvPr id="2" name="Group 59">
            <a:extLst>
              <a:ext uri="{FF2B5EF4-FFF2-40B4-BE49-F238E27FC236}">
                <a16:creationId xmlns:a16="http://schemas.microsoft.com/office/drawing/2014/main" id="{F6F13740-9D7F-DB0D-FA61-308CBEB1AB30}"/>
              </a:ext>
            </a:extLst>
          </p:cNvPr>
          <p:cNvGrpSpPr>
            <a:grpSpLocks/>
          </p:cNvGrpSpPr>
          <p:nvPr/>
        </p:nvGrpSpPr>
        <p:grpSpPr bwMode="auto">
          <a:xfrm>
            <a:off x="1560513" y="1989138"/>
            <a:ext cx="6251575" cy="1008062"/>
            <a:chOff x="1294" y="1721"/>
            <a:chExt cx="3496" cy="541"/>
          </a:xfrm>
        </p:grpSpPr>
        <p:graphicFrame>
          <p:nvGraphicFramePr>
            <p:cNvPr id="15375" name="Object 52">
              <a:extLst>
                <a:ext uri="{FF2B5EF4-FFF2-40B4-BE49-F238E27FC236}">
                  <a16:creationId xmlns:a16="http://schemas.microsoft.com/office/drawing/2014/main" id="{CBFE014E-1BB9-C3F0-2C1F-9EEF18BAE5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4" y="1721"/>
            <a:ext cx="1406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87058" imgH="304668" progId="Equation.3">
                    <p:embed/>
                  </p:oleObj>
                </mc:Choice>
                <mc:Fallback>
                  <p:oleObj name="Equation" r:id="rId2" imgW="787058" imgH="304668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4" y="1721"/>
                          <a:ext cx="1406" cy="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6" name="Object 54">
              <a:extLst>
                <a:ext uri="{FF2B5EF4-FFF2-40B4-BE49-F238E27FC236}">
                  <a16:creationId xmlns:a16="http://schemas.microsoft.com/office/drawing/2014/main" id="{C0FA05B7-3D15-C112-AF42-BE42028963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2" y="1805"/>
            <a:ext cx="1428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28700" imgH="330200" progId="Equation.3">
                    <p:embed/>
                  </p:oleObj>
                </mc:Choice>
                <mc:Fallback>
                  <p:oleObj name="Equation" r:id="rId4" imgW="1028700" imgH="33020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2" y="1805"/>
                          <a:ext cx="1428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7" name="AutoShape 58">
              <a:extLst>
                <a:ext uri="{FF2B5EF4-FFF2-40B4-BE49-F238E27FC236}">
                  <a16:creationId xmlns:a16="http://schemas.microsoft.com/office/drawing/2014/main" id="{C621626E-58CC-ED2E-C2F2-8BADDBFCB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3" y="1968"/>
              <a:ext cx="432" cy="192"/>
            </a:xfrm>
            <a:prstGeom prst="rightArrow">
              <a:avLst>
                <a:gd name="adj1" fmla="val 50000"/>
                <a:gd name="adj2" fmla="val 56250"/>
              </a:avLst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" name="Group 66">
            <a:extLst>
              <a:ext uri="{FF2B5EF4-FFF2-40B4-BE49-F238E27FC236}">
                <a16:creationId xmlns:a16="http://schemas.microsoft.com/office/drawing/2014/main" id="{20717824-2FF6-F27A-E4B2-F721C720E664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3900488"/>
            <a:ext cx="3124200" cy="2195512"/>
            <a:chOff x="3408" y="2553"/>
            <a:chExt cx="1968" cy="1383"/>
          </a:xfrm>
        </p:grpSpPr>
        <p:sp>
          <p:nvSpPr>
            <p:cNvPr id="15369" name="Line 60">
              <a:extLst>
                <a:ext uri="{FF2B5EF4-FFF2-40B4-BE49-F238E27FC236}">
                  <a16:creationId xmlns:a16="http://schemas.microsoft.com/office/drawing/2014/main" id="{03D97910-9B7F-BB17-4267-2D6B19850C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168"/>
              <a:ext cx="192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" name="Line 61">
              <a:extLst>
                <a:ext uri="{FF2B5EF4-FFF2-40B4-BE49-F238E27FC236}">
                  <a16:creationId xmlns:a16="http://schemas.microsoft.com/office/drawing/2014/main" id="{9DD96E5C-39C1-BEFF-68E3-BED1CD7DC3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2640"/>
              <a:ext cx="0" cy="129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Text Box 62">
              <a:extLst>
                <a:ext uri="{FF2B5EF4-FFF2-40B4-BE49-F238E27FC236}">
                  <a16:creationId xmlns:a16="http://schemas.microsoft.com/office/drawing/2014/main" id="{0C857D9D-3392-30E7-D944-FFE0A7A2A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7" y="3120"/>
              <a:ext cx="1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5372" name="Rectangle 63">
              <a:extLst>
                <a:ext uri="{FF2B5EF4-FFF2-40B4-BE49-F238E27FC236}">
                  <a16:creationId xmlns:a16="http://schemas.microsoft.com/office/drawing/2014/main" id="{D68B481B-6AE1-909E-6D38-FB502C8D6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" y="2553"/>
              <a:ext cx="110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宋体" panose="02010600030101010101" pitchFamily="2" charset="-122"/>
                </a:rPr>
                <a:t>ln[1-</a:t>
              </a:r>
              <a:r>
                <a:rPr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  <a:r>
                <a:rPr lang="en-US" altLang="zh-CN" sz="2800">
                  <a:latin typeface="宋体" panose="02010600030101010101" pitchFamily="2" charset="-122"/>
                </a:rPr>
                <a:t>]</a:t>
              </a:r>
            </a:p>
          </p:txBody>
        </p:sp>
        <p:sp>
          <p:nvSpPr>
            <p:cNvPr id="15373" name="Text Box 64">
              <a:extLst>
                <a:ext uri="{FF2B5EF4-FFF2-40B4-BE49-F238E27FC236}">
                  <a16:creationId xmlns:a16="http://schemas.microsoft.com/office/drawing/2014/main" id="{5AD0A7DB-9690-5C64-09BE-1FDD006F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1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74" name="Line 65">
              <a:extLst>
                <a:ext uri="{FF2B5EF4-FFF2-40B4-BE49-F238E27FC236}">
                  <a16:creationId xmlns:a16="http://schemas.microsoft.com/office/drawing/2014/main" id="{53321A62-C651-A340-854D-C7A6A271DE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024"/>
              <a:ext cx="1632" cy="720"/>
            </a:xfrm>
            <a:prstGeom prst="line">
              <a:avLst/>
            </a:prstGeom>
            <a:noFill/>
            <a:ln w="2222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67" grpId="0"/>
      <p:bldP spid="133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35CF8FF6-EE80-19D1-3EB0-668287C4D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700213"/>
            <a:ext cx="6138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一阶系统的</a:t>
            </a:r>
            <a:r>
              <a:rPr lang="zh-CN" altLang="en-US" sz="2800" b="1">
                <a:latin typeface="宋体" panose="02010600030101010101" pitchFamily="2" charset="-122"/>
              </a:rPr>
              <a:t>单位速度（斜坡）响应</a:t>
            </a:r>
          </a:p>
        </p:txBody>
      </p:sp>
      <p:graphicFrame>
        <p:nvGraphicFramePr>
          <p:cNvPr id="96260" name="Object 4">
            <a:extLst>
              <a:ext uri="{FF2B5EF4-FFF2-40B4-BE49-F238E27FC236}">
                <a16:creationId xmlns:a16="http://schemas.microsoft.com/office/drawing/2014/main" id="{8CF53C25-17DD-2275-421D-F4DDBDFA17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6100" y="2506663"/>
          <a:ext cx="1243013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34725" imgH="393529" progId="Equation.3">
                  <p:embed/>
                </p:oleObj>
              </mc:Choice>
              <mc:Fallback>
                <p:oleObj r:id="rId3" imgW="634725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2506663"/>
                        <a:ext cx="1243013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1" name="Object 5">
            <a:extLst>
              <a:ext uri="{FF2B5EF4-FFF2-40B4-BE49-F238E27FC236}">
                <a16:creationId xmlns:a16="http://schemas.microsoft.com/office/drawing/2014/main" id="{72FDCBCA-889C-676D-F46E-0370615250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3644900"/>
          <a:ext cx="541813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908300" imgH="482600" progId="Equation.3">
                  <p:embed/>
                </p:oleObj>
              </mc:Choice>
              <mc:Fallback>
                <p:oleObj r:id="rId5" imgW="29083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644900"/>
                        <a:ext cx="541813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2" name="Object 6">
            <a:extLst>
              <a:ext uri="{FF2B5EF4-FFF2-40B4-BE49-F238E27FC236}">
                <a16:creationId xmlns:a16="http://schemas.microsoft.com/office/drawing/2014/main" id="{FCE24112-1A52-AE14-22F5-FEEBB72C22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4724400"/>
          <a:ext cx="36369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574800" imgH="330200" progId="Equation.3">
                  <p:embed/>
                </p:oleObj>
              </mc:Choice>
              <mc:Fallback>
                <p:oleObj r:id="rId7" imgW="1574800" imgH="330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724400"/>
                        <a:ext cx="363696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6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6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3">
            <a:extLst>
              <a:ext uri="{FF2B5EF4-FFF2-40B4-BE49-F238E27FC236}">
                <a16:creationId xmlns:a16="http://schemas.microsoft.com/office/drawing/2014/main" id="{392E9C40-4097-D36C-072D-9B0643F29D89}"/>
              </a:ext>
            </a:extLst>
          </p:cNvPr>
          <p:cNvGrpSpPr>
            <a:grpSpLocks/>
          </p:cNvGrpSpPr>
          <p:nvPr/>
        </p:nvGrpSpPr>
        <p:grpSpPr bwMode="auto">
          <a:xfrm>
            <a:off x="1338263" y="1735138"/>
            <a:ext cx="5824537" cy="4437062"/>
            <a:chOff x="672" y="496"/>
            <a:chExt cx="3669" cy="2795"/>
          </a:xfrm>
        </p:grpSpPr>
        <p:sp>
          <p:nvSpPr>
            <p:cNvPr id="18435" name="Rectangle 4">
              <a:extLst>
                <a:ext uri="{FF2B5EF4-FFF2-40B4-BE49-F238E27FC236}">
                  <a16:creationId xmlns:a16="http://schemas.microsoft.com/office/drawing/2014/main" id="{4DB63DF7-00B8-6D78-6F55-4F9482341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02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8436" name="Line 5">
              <a:extLst>
                <a:ext uri="{FF2B5EF4-FFF2-40B4-BE49-F238E27FC236}">
                  <a16:creationId xmlns:a16="http://schemas.microsoft.com/office/drawing/2014/main" id="{CE549588-3EFC-83F9-C210-C49C97AA8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5" y="2994"/>
              <a:ext cx="284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Line 6">
              <a:extLst>
                <a:ext uri="{FF2B5EF4-FFF2-40B4-BE49-F238E27FC236}">
                  <a16:creationId xmlns:a16="http://schemas.microsoft.com/office/drawing/2014/main" id="{E5BB8D56-4544-F2B7-371A-532FCB28F7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496"/>
              <a:ext cx="0" cy="24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7">
              <a:extLst>
                <a:ext uri="{FF2B5EF4-FFF2-40B4-BE49-F238E27FC236}">
                  <a16:creationId xmlns:a16="http://schemas.microsoft.com/office/drawing/2014/main" id="{492706CC-65D3-4641-7E6E-0D72C6DAE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5" y="720"/>
              <a:ext cx="2741" cy="2274"/>
            </a:xfrm>
            <a:custGeom>
              <a:avLst/>
              <a:gdLst>
                <a:gd name="T0" fmla="*/ 9 w 4519"/>
                <a:gd name="T1" fmla="*/ 921 h 3558"/>
                <a:gd name="T2" fmla="*/ 30 w 4519"/>
                <a:gd name="T3" fmla="*/ 902 h 3558"/>
                <a:gd name="T4" fmla="*/ 52 w 4519"/>
                <a:gd name="T5" fmla="*/ 883 h 3558"/>
                <a:gd name="T6" fmla="*/ 70 w 4519"/>
                <a:gd name="T7" fmla="*/ 863 h 3558"/>
                <a:gd name="T8" fmla="*/ 91 w 4519"/>
                <a:gd name="T9" fmla="*/ 845 h 3558"/>
                <a:gd name="T10" fmla="*/ 112 w 4519"/>
                <a:gd name="T11" fmla="*/ 826 h 3558"/>
                <a:gd name="T12" fmla="*/ 130 w 4519"/>
                <a:gd name="T13" fmla="*/ 809 h 3558"/>
                <a:gd name="T14" fmla="*/ 152 w 4519"/>
                <a:gd name="T15" fmla="*/ 790 h 3558"/>
                <a:gd name="T16" fmla="*/ 172 w 4519"/>
                <a:gd name="T17" fmla="*/ 771 h 3558"/>
                <a:gd name="T18" fmla="*/ 191 w 4519"/>
                <a:gd name="T19" fmla="*/ 752 h 3558"/>
                <a:gd name="T20" fmla="*/ 212 w 4519"/>
                <a:gd name="T21" fmla="*/ 733 h 3558"/>
                <a:gd name="T22" fmla="*/ 233 w 4519"/>
                <a:gd name="T23" fmla="*/ 716 h 3558"/>
                <a:gd name="T24" fmla="*/ 252 w 4519"/>
                <a:gd name="T25" fmla="*/ 697 h 3558"/>
                <a:gd name="T26" fmla="*/ 272 w 4519"/>
                <a:gd name="T27" fmla="*/ 678 h 3558"/>
                <a:gd name="T28" fmla="*/ 294 w 4519"/>
                <a:gd name="T29" fmla="*/ 660 h 3558"/>
                <a:gd name="T30" fmla="*/ 312 w 4519"/>
                <a:gd name="T31" fmla="*/ 640 h 3558"/>
                <a:gd name="T32" fmla="*/ 333 w 4519"/>
                <a:gd name="T33" fmla="*/ 621 h 3558"/>
                <a:gd name="T34" fmla="*/ 354 w 4519"/>
                <a:gd name="T35" fmla="*/ 605 h 3558"/>
                <a:gd name="T36" fmla="*/ 372 w 4519"/>
                <a:gd name="T37" fmla="*/ 586 h 3558"/>
                <a:gd name="T38" fmla="*/ 394 w 4519"/>
                <a:gd name="T39" fmla="*/ 566 h 3558"/>
                <a:gd name="T40" fmla="*/ 415 w 4519"/>
                <a:gd name="T41" fmla="*/ 547 h 3558"/>
                <a:gd name="T42" fmla="*/ 433 w 4519"/>
                <a:gd name="T43" fmla="*/ 529 h 3558"/>
                <a:gd name="T44" fmla="*/ 454 w 4519"/>
                <a:gd name="T45" fmla="*/ 512 h 3558"/>
                <a:gd name="T46" fmla="*/ 475 w 4519"/>
                <a:gd name="T47" fmla="*/ 493 h 3558"/>
                <a:gd name="T48" fmla="*/ 494 w 4519"/>
                <a:gd name="T49" fmla="*/ 474 h 3558"/>
                <a:gd name="T50" fmla="*/ 515 w 4519"/>
                <a:gd name="T51" fmla="*/ 454 h 3558"/>
                <a:gd name="T52" fmla="*/ 533 w 4519"/>
                <a:gd name="T53" fmla="*/ 436 h 3558"/>
                <a:gd name="T54" fmla="*/ 554 w 4519"/>
                <a:gd name="T55" fmla="*/ 417 h 3558"/>
                <a:gd name="T56" fmla="*/ 576 w 4519"/>
                <a:gd name="T57" fmla="*/ 400 h 3558"/>
                <a:gd name="T58" fmla="*/ 594 w 4519"/>
                <a:gd name="T59" fmla="*/ 382 h 3558"/>
                <a:gd name="T60" fmla="*/ 615 w 4519"/>
                <a:gd name="T61" fmla="*/ 362 h 3558"/>
                <a:gd name="T62" fmla="*/ 636 w 4519"/>
                <a:gd name="T63" fmla="*/ 343 h 3558"/>
                <a:gd name="T64" fmla="*/ 654 w 4519"/>
                <a:gd name="T65" fmla="*/ 324 h 3558"/>
                <a:gd name="T66" fmla="*/ 675 w 4519"/>
                <a:gd name="T67" fmla="*/ 308 h 3558"/>
                <a:gd name="T68" fmla="*/ 696 w 4519"/>
                <a:gd name="T69" fmla="*/ 289 h 3558"/>
                <a:gd name="T70" fmla="*/ 715 w 4519"/>
                <a:gd name="T71" fmla="*/ 270 h 3558"/>
                <a:gd name="T72" fmla="*/ 736 w 4519"/>
                <a:gd name="T73" fmla="*/ 251 h 3558"/>
                <a:gd name="T74" fmla="*/ 757 w 4519"/>
                <a:gd name="T75" fmla="*/ 231 h 3558"/>
                <a:gd name="T76" fmla="*/ 776 w 4519"/>
                <a:gd name="T77" fmla="*/ 212 h 3558"/>
                <a:gd name="T78" fmla="*/ 796 w 4519"/>
                <a:gd name="T79" fmla="*/ 196 h 3558"/>
                <a:gd name="T80" fmla="*/ 818 w 4519"/>
                <a:gd name="T81" fmla="*/ 177 h 3558"/>
                <a:gd name="T82" fmla="*/ 836 w 4519"/>
                <a:gd name="T83" fmla="*/ 158 h 3558"/>
                <a:gd name="T84" fmla="*/ 857 w 4519"/>
                <a:gd name="T85" fmla="*/ 139 h 3558"/>
                <a:gd name="T86" fmla="*/ 878 w 4519"/>
                <a:gd name="T87" fmla="*/ 120 h 3558"/>
                <a:gd name="T88" fmla="*/ 896 w 4519"/>
                <a:gd name="T89" fmla="*/ 104 h 3558"/>
                <a:gd name="T90" fmla="*/ 918 w 4519"/>
                <a:gd name="T91" fmla="*/ 84 h 3558"/>
                <a:gd name="T92" fmla="*/ 938 w 4519"/>
                <a:gd name="T93" fmla="*/ 65 h 3558"/>
                <a:gd name="T94" fmla="*/ 957 w 4519"/>
                <a:gd name="T95" fmla="*/ 46 h 3558"/>
                <a:gd name="T96" fmla="*/ 978 w 4519"/>
                <a:gd name="T97" fmla="*/ 27 h 3558"/>
                <a:gd name="T98" fmla="*/ 999 w 4519"/>
                <a:gd name="T99" fmla="*/ 8 h 355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519" h="3558">
                  <a:moveTo>
                    <a:pt x="0" y="3558"/>
                  </a:moveTo>
                  <a:lnTo>
                    <a:pt x="42" y="3527"/>
                  </a:lnTo>
                  <a:lnTo>
                    <a:pt x="94" y="3485"/>
                  </a:lnTo>
                  <a:lnTo>
                    <a:pt x="136" y="3454"/>
                  </a:lnTo>
                  <a:lnTo>
                    <a:pt x="178" y="3412"/>
                  </a:lnTo>
                  <a:lnTo>
                    <a:pt x="230" y="3381"/>
                  </a:lnTo>
                  <a:lnTo>
                    <a:pt x="272" y="3350"/>
                  </a:lnTo>
                  <a:lnTo>
                    <a:pt x="313" y="3308"/>
                  </a:lnTo>
                  <a:lnTo>
                    <a:pt x="366" y="3276"/>
                  </a:lnTo>
                  <a:lnTo>
                    <a:pt x="407" y="3235"/>
                  </a:lnTo>
                  <a:lnTo>
                    <a:pt x="449" y="3203"/>
                  </a:lnTo>
                  <a:lnTo>
                    <a:pt x="501" y="3162"/>
                  </a:lnTo>
                  <a:lnTo>
                    <a:pt x="543" y="3130"/>
                  </a:lnTo>
                  <a:lnTo>
                    <a:pt x="585" y="3099"/>
                  </a:lnTo>
                  <a:lnTo>
                    <a:pt x="637" y="3057"/>
                  </a:lnTo>
                  <a:lnTo>
                    <a:pt x="679" y="3026"/>
                  </a:lnTo>
                  <a:lnTo>
                    <a:pt x="720" y="2984"/>
                  </a:lnTo>
                  <a:lnTo>
                    <a:pt x="772" y="2953"/>
                  </a:lnTo>
                  <a:lnTo>
                    <a:pt x="814" y="2922"/>
                  </a:lnTo>
                  <a:lnTo>
                    <a:pt x="856" y="2880"/>
                  </a:lnTo>
                  <a:lnTo>
                    <a:pt x="908" y="2849"/>
                  </a:lnTo>
                  <a:lnTo>
                    <a:pt x="950" y="2807"/>
                  </a:lnTo>
                  <a:lnTo>
                    <a:pt x="992" y="2776"/>
                  </a:lnTo>
                  <a:lnTo>
                    <a:pt x="1044" y="2744"/>
                  </a:lnTo>
                  <a:lnTo>
                    <a:pt x="1086" y="2702"/>
                  </a:lnTo>
                  <a:lnTo>
                    <a:pt x="1127" y="2671"/>
                  </a:lnTo>
                  <a:lnTo>
                    <a:pt x="1179" y="2629"/>
                  </a:lnTo>
                  <a:lnTo>
                    <a:pt x="1221" y="2598"/>
                  </a:lnTo>
                  <a:lnTo>
                    <a:pt x="1263" y="2567"/>
                  </a:lnTo>
                  <a:lnTo>
                    <a:pt x="1315" y="2525"/>
                  </a:lnTo>
                  <a:lnTo>
                    <a:pt x="1357" y="2494"/>
                  </a:lnTo>
                  <a:lnTo>
                    <a:pt x="1399" y="2452"/>
                  </a:lnTo>
                  <a:lnTo>
                    <a:pt x="1451" y="2421"/>
                  </a:lnTo>
                  <a:lnTo>
                    <a:pt x="1492" y="2379"/>
                  </a:lnTo>
                  <a:lnTo>
                    <a:pt x="1534" y="2348"/>
                  </a:lnTo>
                  <a:lnTo>
                    <a:pt x="1586" y="2316"/>
                  </a:lnTo>
                  <a:lnTo>
                    <a:pt x="1628" y="2275"/>
                  </a:lnTo>
                  <a:lnTo>
                    <a:pt x="1670" y="2243"/>
                  </a:lnTo>
                  <a:lnTo>
                    <a:pt x="1722" y="2202"/>
                  </a:lnTo>
                  <a:lnTo>
                    <a:pt x="1764" y="2170"/>
                  </a:lnTo>
                  <a:lnTo>
                    <a:pt x="1806" y="2139"/>
                  </a:lnTo>
                  <a:lnTo>
                    <a:pt x="1858" y="2097"/>
                  </a:lnTo>
                  <a:lnTo>
                    <a:pt x="1899" y="2066"/>
                  </a:lnTo>
                  <a:lnTo>
                    <a:pt x="1941" y="2024"/>
                  </a:lnTo>
                  <a:lnTo>
                    <a:pt x="1993" y="1993"/>
                  </a:lnTo>
                  <a:lnTo>
                    <a:pt x="2035" y="1962"/>
                  </a:lnTo>
                  <a:lnTo>
                    <a:pt x="2077" y="1920"/>
                  </a:lnTo>
                  <a:lnTo>
                    <a:pt x="2129" y="1888"/>
                  </a:lnTo>
                  <a:lnTo>
                    <a:pt x="2171" y="1847"/>
                  </a:lnTo>
                  <a:lnTo>
                    <a:pt x="2212" y="1815"/>
                  </a:lnTo>
                  <a:lnTo>
                    <a:pt x="2265" y="1784"/>
                  </a:lnTo>
                  <a:lnTo>
                    <a:pt x="2306" y="1742"/>
                  </a:lnTo>
                  <a:lnTo>
                    <a:pt x="2348" y="1711"/>
                  </a:lnTo>
                  <a:lnTo>
                    <a:pt x="2390" y="1669"/>
                  </a:lnTo>
                  <a:lnTo>
                    <a:pt x="2442" y="1638"/>
                  </a:lnTo>
                  <a:lnTo>
                    <a:pt x="2484" y="1596"/>
                  </a:lnTo>
                  <a:lnTo>
                    <a:pt x="2526" y="1565"/>
                  </a:lnTo>
                  <a:lnTo>
                    <a:pt x="2578" y="1534"/>
                  </a:lnTo>
                  <a:lnTo>
                    <a:pt x="2619" y="1492"/>
                  </a:lnTo>
                  <a:lnTo>
                    <a:pt x="2661" y="1461"/>
                  </a:lnTo>
                  <a:lnTo>
                    <a:pt x="2713" y="1419"/>
                  </a:lnTo>
                  <a:lnTo>
                    <a:pt x="2755" y="1388"/>
                  </a:lnTo>
                  <a:lnTo>
                    <a:pt x="2797" y="1356"/>
                  </a:lnTo>
                  <a:lnTo>
                    <a:pt x="2849" y="1314"/>
                  </a:lnTo>
                  <a:lnTo>
                    <a:pt x="2891" y="1283"/>
                  </a:lnTo>
                  <a:lnTo>
                    <a:pt x="2932" y="1241"/>
                  </a:lnTo>
                  <a:lnTo>
                    <a:pt x="2985" y="1210"/>
                  </a:lnTo>
                  <a:lnTo>
                    <a:pt x="3026" y="1179"/>
                  </a:lnTo>
                  <a:lnTo>
                    <a:pt x="3068" y="1137"/>
                  </a:lnTo>
                  <a:lnTo>
                    <a:pt x="3120" y="1106"/>
                  </a:lnTo>
                  <a:lnTo>
                    <a:pt x="3162" y="1064"/>
                  </a:lnTo>
                  <a:lnTo>
                    <a:pt x="3204" y="1033"/>
                  </a:lnTo>
                  <a:lnTo>
                    <a:pt x="3256" y="991"/>
                  </a:lnTo>
                  <a:lnTo>
                    <a:pt x="3298" y="960"/>
                  </a:lnTo>
                  <a:lnTo>
                    <a:pt x="3339" y="928"/>
                  </a:lnTo>
                  <a:lnTo>
                    <a:pt x="3392" y="887"/>
                  </a:lnTo>
                  <a:lnTo>
                    <a:pt x="3433" y="855"/>
                  </a:lnTo>
                  <a:lnTo>
                    <a:pt x="3475" y="814"/>
                  </a:lnTo>
                  <a:lnTo>
                    <a:pt x="3527" y="782"/>
                  </a:lnTo>
                  <a:lnTo>
                    <a:pt x="3569" y="751"/>
                  </a:lnTo>
                  <a:lnTo>
                    <a:pt x="3611" y="709"/>
                  </a:lnTo>
                  <a:lnTo>
                    <a:pt x="3663" y="678"/>
                  </a:lnTo>
                  <a:lnTo>
                    <a:pt x="3705" y="636"/>
                  </a:lnTo>
                  <a:lnTo>
                    <a:pt x="3746" y="605"/>
                  </a:lnTo>
                  <a:lnTo>
                    <a:pt x="3799" y="574"/>
                  </a:lnTo>
                  <a:lnTo>
                    <a:pt x="3840" y="532"/>
                  </a:lnTo>
                  <a:lnTo>
                    <a:pt x="3882" y="500"/>
                  </a:lnTo>
                  <a:lnTo>
                    <a:pt x="3934" y="459"/>
                  </a:lnTo>
                  <a:lnTo>
                    <a:pt x="3976" y="427"/>
                  </a:lnTo>
                  <a:lnTo>
                    <a:pt x="4018" y="396"/>
                  </a:lnTo>
                  <a:lnTo>
                    <a:pt x="4070" y="354"/>
                  </a:lnTo>
                  <a:lnTo>
                    <a:pt x="4112" y="323"/>
                  </a:lnTo>
                  <a:lnTo>
                    <a:pt x="4153" y="281"/>
                  </a:lnTo>
                  <a:lnTo>
                    <a:pt x="4206" y="250"/>
                  </a:lnTo>
                  <a:lnTo>
                    <a:pt x="4247" y="208"/>
                  </a:lnTo>
                  <a:lnTo>
                    <a:pt x="4289" y="177"/>
                  </a:lnTo>
                  <a:lnTo>
                    <a:pt x="4341" y="146"/>
                  </a:lnTo>
                  <a:lnTo>
                    <a:pt x="4383" y="104"/>
                  </a:lnTo>
                  <a:lnTo>
                    <a:pt x="4425" y="73"/>
                  </a:lnTo>
                  <a:lnTo>
                    <a:pt x="4477" y="31"/>
                  </a:lnTo>
                  <a:lnTo>
                    <a:pt x="4519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Text Box 8">
              <a:extLst>
                <a:ext uri="{FF2B5EF4-FFF2-40B4-BE49-F238E27FC236}">
                  <a16:creationId xmlns:a16="http://schemas.microsoft.com/office/drawing/2014/main" id="{D9F00E7C-9324-22DF-A8DF-3CD59B320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928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8440" name="Text Box 9">
              <a:extLst>
                <a:ext uri="{FF2B5EF4-FFF2-40B4-BE49-F238E27FC236}">
                  <a16:creationId xmlns:a16="http://schemas.microsoft.com/office/drawing/2014/main" id="{5458CA13-5E0B-3959-BBCA-25F07D66D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" y="558"/>
              <a:ext cx="43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8441" name="Text Box 10">
              <a:extLst>
                <a:ext uri="{FF2B5EF4-FFF2-40B4-BE49-F238E27FC236}">
                  <a16:creationId xmlns:a16="http://schemas.microsoft.com/office/drawing/2014/main" id="{02C3B27A-B8BA-0AD4-0C08-4BDCA98FAD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787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r(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8442" name="Text Box 11">
              <a:extLst>
                <a:ext uri="{FF2B5EF4-FFF2-40B4-BE49-F238E27FC236}">
                  <a16:creationId xmlns:a16="http://schemas.microsoft.com/office/drawing/2014/main" id="{3DA84FBE-E58E-4EFD-669E-E7B4FB820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331107">
              <a:off x="2342" y="1104"/>
              <a:ext cx="106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3200" i="1">
                  <a:latin typeface="Times New Roman" panose="02020603050405020304" pitchFamily="18" charset="0"/>
                </a:rPr>
                <a:t>r</a:t>
              </a:r>
              <a:r>
                <a:rPr lang="en-US" altLang="zh-CN" sz="3200">
                  <a:latin typeface="Times New Roman" panose="02020603050405020304" pitchFamily="18" charset="0"/>
                </a:rPr>
                <a:t>(</a:t>
              </a:r>
              <a:r>
                <a:rPr lang="en-US" altLang="zh-CN" sz="3200" i="1">
                  <a:latin typeface="Times New Roman" panose="02020603050405020304" pitchFamily="18" charset="0"/>
                </a:rPr>
                <a:t>t</a:t>
              </a:r>
              <a:r>
                <a:rPr lang="en-US" altLang="zh-CN" sz="3200">
                  <a:latin typeface="Times New Roman" panose="02020603050405020304" pitchFamily="18" charset="0"/>
                </a:rPr>
                <a:t>)=</a:t>
              </a:r>
              <a:r>
                <a:rPr lang="en-US" altLang="zh-CN" sz="3200" i="1">
                  <a:latin typeface="Times New Roman" panose="02020603050405020304" pitchFamily="18" charset="0"/>
                </a:rPr>
                <a:t>t</a:t>
              </a:r>
              <a:endParaRPr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18443" name="Text Box 12">
              <a:extLst>
                <a:ext uri="{FF2B5EF4-FFF2-40B4-BE49-F238E27FC236}">
                  <a16:creationId xmlns:a16="http://schemas.microsoft.com/office/drawing/2014/main" id="{3BB88D6B-2D17-9CE5-ECCD-B26751105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2" y="2217"/>
              <a:ext cx="15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3200" i="1">
                  <a:solidFill>
                    <a:srgbClr val="CC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3200">
                  <a:solidFill>
                    <a:srgbClr val="CC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3200" i="1">
                  <a:solidFill>
                    <a:srgbClr val="CC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3200">
                  <a:solidFill>
                    <a:srgbClr val="CC0000"/>
                  </a:solidFill>
                  <a:latin typeface="Times New Roman" panose="02020603050405020304" pitchFamily="18" charset="0"/>
                </a:rPr>
                <a:t>)=</a:t>
              </a:r>
              <a:r>
                <a:rPr lang="en-US" altLang="zh-CN" sz="3200" i="1">
                  <a:solidFill>
                    <a:srgbClr val="CC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3200">
                  <a:solidFill>
                    <a:srgbClr val="CC0000"/>
                  </a:solidFill>
                  <a:latin typeface="Times New Roman" panose="02020603050405020304" pitchFamily="18" charset="0"/>
                </a:rPr>
                <a:t>-</a:t>
              </a:r>
              <a:r>
                <a:rPr lang="en-US" altLang="zh-CN" sz="3200" i="1">
                  <a:solidFill>
                    <a:srgbClr val="CC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3200">
                  <a:solidFill>
                    <a:srgbClr val="CC0000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sz="3200" i="1">
                  <a:solidFill>
                    <a:srgbClr val="CC0000"/>
                  </a:solidFill>
                  <a:latin typeface="Times New Roman" panose="02020603050405020304" pitchFamily="18" charset="0"/>
                </a:rPr>
                <a:t>Te</a:t>
              </a:r>
              <a:r>
                <a:rPr lang="en-US" altLang="zh-CN" sz="3200" baseline="30000">
                  <a:solidFill>
                    <a:srgbClr val="CC0000"/>
                  </a:solidFill>
                  <a:latin typeface="Times New Roman" panose="02020603050405020304" pitchFamily="18" charset="0"/>
                </a:rPr>
                <a:t>-</a:t>
              </a:r>
              <a:r>
                <a:rPr lang="en-US" altLang="zh-CN" sz="3200" i="1" baseline="30000">
                  <a:solidFill>
                    <a:srgbClr val="CC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3200" baseline="30000">
                  <a:solidFill>
                    <a:srgbClr val="CC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zh-CN" sz="3200" i="1" baseline="30000">
                  <a:solidFill>
                    <a:srgbClr val="CC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320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44" name="Line 13">
              <a:extLst>
                <a:ext uri="{FF2B5EF4-FFF2-40B4-BE49-F238E27FC236}">
                  <a16:creationId xmlns:a16="http://schemas.microsoft.com/office/drawing/2014/main" id="{A8098CDA-E2E8-42C1-49B9-BC7681B91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2" y="1089"/>
              <a:ext cx="2" cy="4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5" name="Text Box 14">
              <a:extLst>
                <a:ext uri="{FF2B5EF4-FFF2-40B4-BE49-F238E27FC236}">
                  <a16:creationId xmlns:a16="http://schemas.microsoft.com/office/drawing/2014/main" id="{B29659A2-A3D0-AB5C-E746-89F201ED8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1507"/>
              <a:ext cx="86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3200" i="1">
                  <a:latin typeface="Times New Roman" panose="02020603050405020304" pitchFamily="18" charset="0"/>
                </a:rPr>
                <a:t>e</a:t>
              </a:r>
              <a:r>
                <a:rPr lang="en-US" altLang="zh-CN" sz="3200">
                  <a:latin typeface="Times New Roman" panose="02020603050405020304" pitchFamily="18" charset="0"/>
                </a:rPr>
                <a:t>(</a:t>
              </a:r>
              <a:r>
                <a:rPr lang="en-US" altLang="zh-CN" sz="32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zh-CN" sz="3200">
                  <a:latin typeface="Times New Roman" panose="02020603050405020304" pitchFamily="18" charset="0"/>
                </a:rPr>
                <a:t>)=</a:t>
              </a:r>
              <a:r>
                <a:rPr lang="en-US" altLang="zh-CN" sz="3200" i="1">
                  <a:latin typeface="Times New Roman" panose="02020603050405020304" pitchFamily="18" charset="0"/>
                </a:rPr>
                <a:t>T</a:t>
              </a:r>
              <a:endParaRPr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18446" name="Freeform 15">
              <a:extLst>
                <a:ext uri="{FF2B5EF4-FFF2-40B4-BE49-F238E27FC236}">
                  <a16:creationId xmlns:a16="http://schemas.microsoft.com/office/drawing/2014/main" id="{A22DB6EB-8BD1-5A3B-9D4F-33C0CB3EF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152"/>
              <a:ext cx="2832" cy="1840"/>
            </a:xfrm>
            <a:custGeom>
              <a:avLst/>
              <a:gdLst>
                <a:gd name="T0" fmla="*/ 0 w 2832"/>
                <a:gd name="T1" fmla="*/ 1824 h 1840"/>
                <a:gd name="T2" fmla="*/ 576 w 2832"/>
                <a:gd name="T3" fmla="*/ 1728 h 1840"/>
                <a:gd name="T4" fmla="*/ 1440 w 2832"/>
                <a:gd name="T5" fmla="*/ 1152 h 1840"/>
                <a:gd name="T6" fmla="*/ 2832 w 2832"/>
                <a:gd name="T7" fmla="*/ 0 h 18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32" h="1840">
                  <a:moveTo>
                    <a:pt x="0" y="1824"/>
                  </a:moveTo>
                  <a:cubicBezTo>
                    <a:pt x="168" y="1832"/>
                    <a:pt x="336" y="1840"/>
                    <a:pt x="576" y="1728"/>
                  </a:cubicBezTo>
                  <a:cubicBezTo>
                    <a:pt x="816" y="1616"/>
                    <a:pt x="1064" y="1440"/>
                    <a:pt x="1440" y="1152"/>
                  </a:cubicBezTo>
                  <a:cubicBezTo>
                    <a:pt x="1816" y="864"/>
                    <a:pt x="2324" y="432"/>
                    <a:pt x="2832" y="0"/>
                  </a:cubicBezTo>
                </a:path>
              </a:pathLst>
            </a:custGeom>
            <a:noFill/>
            <a:ln w="38100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Line 16">
              <a:extLst>
                <a:ext uri="{FF2B5EF4-FFF2-40B4-BE49-F238E27FC236}">
                  <a16:creationId xmlns:a16="http://schemas.microsoft.com/office/drawing/2014/main" id="{4EC4EBAA-50A9-66F4-3F6D-3D59EA0BC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872"/>
              <a:ext cx="62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8" name="Rectangle 17">
              <a:extLst>
                <a:ext uri="{FF2B5EF4-FFF2-40B4-BE49-F238E27FC236}">
                  <a16:creationId xmlns:a16="http://schemas.microsoft.com/office/drawing/2014/main" id="{C3BB4CFB-970D-7320-35E0-00D2355C5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" y="1555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3200" i="1">
                  <a:latin typeface="Times New Roman" panose="02020603050405020304" pitchFamily="18" charset="0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3">
            <a:extLst>
              <a:ext uri="{FF2B5EF4-FFF2-40B4-BE49-F238E27FC236}">
                <a16:creationId xmlns:a16="http://schemas.microsoft.com/office/drawing/2014/main" id="{341BDCB2-180D-1FF2-65B1-F169999DC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981075"/>
            <a:ext cx="70104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一阶系统斜坡响应的特点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E63AE813-BB36-9E77-340F-801443130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575" y="1833563"/>
            <a:ext cx="701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瞬态响应</a:t>
            </a:r>
            <a:r>
              <a:rPr lang="zh-CN" altLang="en-US" sz="2800">
                <a:latin typeface="宋体" panose="02010600030101010101" pitchFamily="2" charset="-122"/>
              </a:rPr>
              <a:t>：</a:t>
            </a:r>
            <a:r>
              <a:rPr lang="en-US" altLang="zh-CN" sz="2800" i="1">
                <a:latin typeface="Times New Roman" panose="02020603050405020304" pitchFamily="18" charset="0"/>
              </a:rPr>
              <a:t>T </a:t>
            </a:r>
            <a:r>
              <a:rPr lang="en-US" altLang="zh-CN" sz="2800">
                <a:latin typeface="Times New Roman" panose="02020603050405020304" pitchFamily="18" charset="0"/>
              </a:rPr>
              <a:t>e </a:t>
            </a:r>
            <a:r>
              <a:rPr lang="en-US" altLang="zh-CN" sz="2900" baseline="30000">
                <a:latin typeface="Times New Roman" panose="02020603050405020304" pitchFamily="18" charset="0"/>
              </a:rPr>
              <a:t>– </a:t>
            </a:r>
            <a:r>
              <a:rPr lang="en-US" altLang="zh-CN" sz="2900" i="1" baseline="30000">
                <a:latin typeface="Times New Roman" panose="02020603050405020304" pitchFamily="18" charset="0"/>
              </a:rPr>
              <a:t>t </a:t>
            </a:r>
            <a:r>
              <a:rPr lang="en-US" altLang="zh-CN" sz="2900" baseline="30000">
                <a:latin typeface="Times New Roman" panose="02020603050405020304" pitchFamily="18" charset="0"/>
              </a:rPr>
              <a:t>/</a:t>
            </a:r>
            <a:r>
              <a:rPr lang="en-US" altLang="zh-CN" sz="2900" i="1" baseline="30000">
                <a:latin typeface="Times New Roman" panose="02020603050405020304" pitchFamily="18" charset="0"/>
              </a:rPr>
              <a:t>T </a:t>
            </a:r>
            <a:r>
              <a:rPr lang="zh-CN" altLang="en-US" sz="2800">
                <a:latin typeface="宋体" panose="02010600030101010101" pitchFamily="2" charset="-122"/>
              </a:rPr>
              <a:t>；</a:t>
            </a:r>
            <a:r>
              <a:rPr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稳态响应</a:t>
            </a:r>
            <a:r>
              <a:rPr lang="zh-CN" altLang="en-US" sz="2800">
                <a:latin typeface="宋体" panose="02010600030101010101" pitchFamily="2" charset="-122"/>
              </a:rPr>
              <a:t>：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 – 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zh-CN" altLang="en-US" sz="2800">
                <a:latin typeface="Times New Roman" panose="02020603050405020304" pitchFamily="18" charset="0"/>
              </a:rPr>
              <a:t>；</a:t>
            </a:r>
          </a:p>
        </p:txBody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42A4E4B0-DF25-DBDE-5D4F-5E922CFD4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659063"/>
            <a:ext cx="73914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 i="1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经过足够长的时间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宋体" panose="02010600030101010101" pitchFamily="2" charset="-122"/>
              </a:rPr>
              <a:t>稳态时，如</a:t>
            </a:r>
            <a:r>
              <a:rPr lang="en-US" altLang="zh-CN" sz="2800" i="1">
                <a:latin typeface="Times New Roman" panose="02020603050405020304" pitchFamily="18" charset="0"/>
              </a:rPr>
              <a:t>t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>
                <a:latin typeface="Times New Roman" panose="02020603050405020304" pitchFamily="18" charset="0"/>
              </a:rPr>
              <a:t>4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，输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出增长速率近似与输入相同，此时输出为：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 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 – 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zh-CN" altLang="en-US" sz="2800">
                <a:latin typeface="Times New Roman" panose="02020603050405020304" pitchFamily="18" charset="0"/>
              </a:rPr>
              <a:t>，即</a:t>
            </a:r>
            <a:r>
              <a:rPr lang="zh-CN" altLang="en-US" sz="2800">
                <a:latin typeface="宋体" panose="02010600030101010101" pitchFamily="2" charset="-122"/>
              </a:rPr>
              <a:t>输出相对于输入滞后时间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zh-CN" altLang="en-US" sz="2800">
                <a:latin typeface="宋体" panose="02010600030101010101" pitchFamily="2" charset="-122"/>
              </a:rPr>
              <a:t>；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B2E1CD3A-F92C-6D48-8E11-76FADE008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4221163"/>
            <a:ext cx="72390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系统响应误差为： </a:t>
            </a:r>
          </a:p>
        </p:txBody>
      </p:sp>
      <p:graphicFrame>
        <p:nvGraphicFramePr>
          <p:cNvPr id="94215" name="Object 7">
            <a:extLst>
              <a:ext uri="{FF2B5EF4-FFF2-40B4-BE49-F238E27FC236}">
                <a16:creationId xmlns:a16="http://schemas.microsoft.com/office/drawing/2014/main" id="{311E9CAD-074E-4BA4-6B4B-7508A0D03D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4941888"/>
          <a:ext cx="3873500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03400" imgH="457200" progId="Equation.3">
                  <p:embed/>
                </p:oleObj>
              </mc:Choice>
              <mc:Fallback>
                <p:oleObj r:id="rId3" imgW="18034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941888"/>
                        <a:ext cx="3873500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6">
            <a:extLst>
              <a:ext uri="{FF2B5EF4-FFF2-40B4-BE49-F238E27FC236}">
                <a16:creationId xmlns:a16="http://schemas.microsoft.com/office/drawing/2014/main" id="{8FBAF9A7-9BCB-A784-75B1-0FDEBE119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0"/>
          <a:ext cx="36369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574800" imgH="330200" progId="Equation.3">
                  <p:embed/>
                </p:oleObj>
              </mc:Choice>
              <mc:Fallback>
                <p:oleObj r:id="rId5" imgW="1574800" imgH="330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0"/>
                        <a:ext cx="363696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/>
      <p:bldP spid="94213" grpId="0"/>
      <p:bldP spid="942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A159F247-0A09-B6B6-9C3B-0F023E424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052513"/>
            <a:ext cx="510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一阶系统的</a:t>
            </a:r>
            <a:r>
              <a:rPr lang="zh-CN" altLang="en-US" sz="2800" b="1">
                <a:latin typeface="宋体" panose="02010600030101010101" pitchFamily="2" charset="-122"/>
              </a:rPr>
              <a:t>单位脉冲响应</a:t>
            </a:r>
          </a:p>
        </p:txBody>
      </p:sp>
      <p:graphicFrame>
        <p:nvGraphicFramePr>
          <p:cNvPr id="93188" name="Object 4">
            <a:extLst>
              <a:ext uri="{FF2B5EF4-FFF2-40B4-BE49-F238E27FC236}">
                <a16:creationId xmlns:a16="http://schemas.microsoft.com/office/drawing/2014/main" id="{4B786E7D-02F8-0810-2C8A-0AE09449C1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5125" y="2638425"/>
          <a:ext cx="9525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20474" imgH="203112" progId="Equation.3">
                  <p:embed/>
                </p:oleObj>
              </mc:Choice>
              <mc:Fallback>
                <p:oleObj r:id="rId3" imgW="520474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25" y="2638425"/>
                        <a:ext cx="9525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5">
            <a:extLst>
              <a:ext uri="{FF2B5EF4-FFF2-40B4-BE49-F238E27FC236}">
                <a16:creationId xmlns:a16="http://schemas.microsoft.com/office/drawing/2014/main" id="{0990A527-278C-D80B-B43F-9610D53BE3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4013" y="3276600"/>
          <a:ext cx="2713037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85900" imgH="482600" progId="Equation.3">
                  <p:embed/>
                </p:oleObj>
              </mc:Choice>
              <mc:Fallback>
                <p:oleObj r:id="rId5" imgW="14859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4013" y="3276600"/>
                        <a:ext cx="2713037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0" name="Object 6">
            <a:extLst>
              <a:ext uri="{FF2B5EF4-FFF2-40B4-BE49-F238E27FC236}">
                <a16:creationId xmlns:a16="http://schemas.microsoft.com/office/drawing/2014/main" id="{D69B8CFC-2B37-C967-128D-BD41D71273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70525" y="4225925"/>
          <a:ext cx="24479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231366" imgH="418918" progId="Equation.3">
                  <p:embed/>
                </p:oleObj>
              </mc:Choice>
              <mc:Fallback>
                <p:oleObj r:id="rId7" imgW="1231366" imgH="41891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0525" y="4225925"/>
                        <a:ext cx="24479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B9EA6680-FE16-23F5-78C1-A7A9B8567CB3}"/>
              </a:ext>
            </a:extLst>
          </p:cNvPr>
          <p:cNvGrpSpPr>
            <a:grpSpLocks/>
          </p:cNvGrpSpPr>
          <p:nvPr/>
        </p:nvGrpSpPr>
        <p:grpSpPr bwMode="auto">
          <a:xfrm>
            <a:off x="933450" y="1876425"/>
            <a:ext cx="5695950" cy="4406900"/>
            <a:chOff x="384" y="1182"/>
            <a:chExt cx="3588" cy="2776"/>
          </a:xfrm>
        </p:grpSpPr>
        <p:sp>
          <p:nvSpPr>
            <p:cNvPr id="22535" name="Line 8">
              <a:extLst>
                <a:ext uri="{FF2B5EF4-FFF2-40B4-BE49-F238E27FC236}">
                  <a16:creationId xmlns:a16="http://schemas.microsoft.com/office/drawing/2014/main" id="{A0BB4765-4F23-104B-05AF-D3FA1CC58C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77" y="3661"/>
              <a:ext cx="28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6" name="Line 9">
              <a:extLst>
                <a:ext uri="{FF2B5EF4-FFF2-40B4-BE49-F238E27FC236}">
                  <a16:creationId xmlns:a16="http://schemas.microsoft.com/office/drawing/2014/main" id="{476BEF85-6359-E748-25A0-C88FCBED4D1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077" y="1296"/>
              <a:ext cx="1" cy="23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7" name="Freeform 10">
              <a:extLst>
                <a:ext uri="{FF2B5EF4-FFF2-40B4-BE49-F238E27FC236}">
                  <a16:creationId xmlns:a16="http://schemas.microsoft.com/office/drawing/2014/main" id="{D8604FFA-86F6-4AEB-E8D6-0C2BD2A89B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77" y="1681"/>
              <a:ext cx="2713" cy="1968"/>
            </a:xfrm>
            <a:custGeom>
              <a:avLst/>
              <a:gdLst>
                <a:gd name="T0" fmla="*/ 9 w 4519"/>
                <a:gd name="T1" fmla="*/ 35 h 3278"/>
                <a:gd name="T2" fmla="*/ 29 w 4519"/>
                <a:gd name="T3" fmla="*/ 98 h 3278"/>
                <a:gd name="T4" fmla="*/ 50 w 4519"/>
                <a:gd name="T5" fmla="*/ 157 h 3278"/>
                <a:gd name="T6" fmla="*/ 68 w 4519"/>
                <a:gd name="T7" fmla="*/ 211 h 3278"/>
                <a:gd name="T8" fmla="*/ 88 w 4519"/>
                <a:gd name="T9" fmla="*/ 259 h 3278"/>
                <a:gd name="T10" fmla="*/ 109 w 4519"/>
                <a:gd name="T11" fmla="*/ 301 h 3278"/>
                <a:gd name="T12" fmla="*/ 127 w 4519"/>
                <a:gd name="T13" fmla="*/ 341 h 3278"/>
                <a:gd name="T14" fmla="*/ 147 w 4519"/>
                <a:gd name="T15" fmla="*/ 376 h 3278"/>
                <a:gd name="T16" fmla="*/ 167 w 4519"/>
                <a:gd name="T17" fmla="*/ 408 h 3278"/>
                <a:gd name="T18" fmla="*/ 186 w 4519"/>
                <a:gd name="T19" fmla="*/ 437 h 3278"/>
                <a:gd name="T20" fmla="*/ 205 w 4519"/>
                <a:gd name="T21" fmla="*/ 464 h 3278"/>
                <a:gd name="T22" fmla="*/ 226 w 4519"/>
                <a:gd name="T23" fmla="*/ 487 h 3278"/>
                <a:gd name="T24" fmla="*/ 244 w 4519"/>
                <a:gd name="T25" fmla="*/ 509 h 3278"/>
                <a:gd name="T26" fmla="*/ 264 w 4519"/>
                <a:gd name="T27" fmla="*/ 529 h 3278"/>
                <a:gd name="T28" fmla="*/ 285 w 4519"/>
                <a:gd name="T29" fmla="*/ 546 h 3278"/>
                <a:gd name="T30" fmla="*/ 303 w 4519"/>
                <a:gd name="T31" fmla="*/ 563 h 3278"/>
                <a:gd name="T32" fmla="*/ 323 w 4519"/>
                <a:gd name="T33" fmla="*/ 578 h 3278"/>
                <a:gd name="T34" fmla="*/ 343 w 4519"/>
                <a:gd name="T35" fmla="*/ 590 h 3278"/>
                <a:gd name="T36" fmla="*/ 361 w 4519"/>
                <a:gd name="T37" fmla="*/ 600 h 3278"/>
                <a:gd name="T38" fmla="*/ 382 w 4519"/>
                <a:gd name="T39" fmla="*/ 611 h 3278"/>
                <a:gd name="T40" fmla="*/ 402 w 4519"/>
                <a:gd name="T41" fmla="*/ 621 h 3278"/>
                <a:gd name="T42" fmla="*/ 420 w 4519"/>
                <a:gd name="T43" fmla="*/ 630 h 3278"/>
                <a:gd name="T44" fmla="*/ 441 w 4519"/>
                <a:gd name="T45" fmla="*/ 638 h 3278"/>
                <a:gd name="T46" fmla="*/ 460 w 4519"/>
                <a:gd name="T47" fmla="*/ 644 h 3278"/>
                <a:gd name="T48" fmla="*/ 478 w 4519"/>
                <a:gd name="T49" fmla="*/ 653 h 3278"/>
                <a:gd name="T50" fmla="*/ 499 w 4519"/>
                <a:gd name="T51" fmla="*/ 657 h 3278"/>
                <a:gd name="T52" fmla="*/ 518 w 4519"/>
                <a:gd name="T53" fmla="*/ 663 h 3278"/>
                <a:gd name="T54" fmla="*/ 537 w 4519"/>
                <a:gd name="T55" fmla="*/ 668 h 3278"/>
                <a:gd name="T56" fmla="*/ 558 w 4519"/>
                <a:gd name="T57" fmla="*/ 672 h 3278"/>
                <a:gd name="T58" fmla="*/ 576 w 4519"/>
                <a:gd name="T59" fmla="*/ 676 h 3278"/>
                <a:gd name="T60" fmla="*/ 596 w 4519"/>
                <a:gd name="T61" fmla="*/ 680 h 3278"/>
                <a:gd name="T62" fmla="*/ 617 w 4519"/>
                <a:gd name="T63" fmla="*/ 682 h 3278"/>
                <a:gd name="T64" fmla="*/ 635 w 4519"/>
                <a:gd name="T65" fmla="*/ 686 h 3278"/>
                <a:gd name="T66" fmla="*/ 655 w 4519"/>
                <a:gd name="T67" fmla="*/ 689 h 3278"/>
                <a:gd name="T68" fmla="*/ 675 w 4519"/>
                <a:gd name="T69" fmla="*/ 690 h 3278"/>
                <a:gd name="T70" fmla="*/ 693 w 4519"/>
                <a:gd name="T71" fmla="*/ 692 h 3278"/>
                <a:gd name="T72" fmla="*/ 714 w 4519"/>
                <a:gd name="T73" fmla="*/ 695 h 3278"/>
                <a:gd name="T74" fmla="*/ 734 w 4519"/>
                <a:gd name="T75" fmla="*/ 697 h 3278"/>
                <a:gd name="T76" fmla="*/ 752 w 4519"/>
                <a:gd name="T77" fmla="*/ 699 h 3278"/>
                <a:gd name="T78" fmla="*/ 773 w 4519"/>
                <a:gd name="T79" fmla="*/ 699 h 3278"/>
                <a:gd name="T80" fmla="*/ 792 w 4519"/>
                <a:gd name="T81" fmla="*/ 701 h 3278"/>
                <a:gd name="T82" fmla="*/ 810 w 4519"/>
                <a:gd name="T83" fmla="*/ 703 h 3278"/>
                <a:gd name="T84" fmla="*/ 831 w 4519"/>
                <a:gd name="T85" fmla="*/ 703 h 3278"/>
                <a:gd name="T86" fmla="*/ 851 w 4519"/>
                <a:gd name="T87" fmla="*/ 705 h 3278"/>
                <a:gd name="T88" fmla="*/ 869 w 4519"/>
                <a:gd name="T89" fmla="*/ 705 h 3278"/>
                <a:gd name="T90" fmla="*/ 890 w 4519"/>
                <a:gd name="T91" fmla="*/ 705 h 3278"/>
                <a:gd name="T92" fmla="*/ 910 w 4519"/>
                <a:gd name="T93" fmla="*/ 707 h 3278"/>
                <a:gd name="T94" fmla="*/ 928 w 4519"/>
                <a:gd name="T95" fmla="*/ 707 h 3278"/>
                <a:gd name="T96" fmla="*/ 949 w 4519"/>
                <a:gd name="T97" fmla="*/ 707 h 3278"/>
                <a:gd name="T98" fmla="*/ 969 w 4519"/>
                <a:gd name="T99" fmla="*/ 710 h 327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519" h="3278">
                  <a:moveTo>
                    <a:pt x="0" y="0"/>
                  </a:moveTo>
                  <a:lnTo>
                    <a:pt x="42" y="164"/>
                  </a:lnTo>
                  <a:lnTo>
                    <a:pt x="94" y="309"/>
                  </a:lnTo>
                  <a:lnTo>
                    <a:pt x="136" y="454"/>
                  </a:lnTo>
                  <a:lnTo>
                    <a:pt x="178" y="599"/>
                  </a:lnTo>
                  <a:lnTo>
                    <a:pt x="230" y="725"/>
                  </a:lnTo>
                  <a:lnTo>
                    <a:pt x="272" y="851"/>
                  </a:lnTo>
                  <a:lnTo>
                    <a:pt x="313" y="976"/>
                  </a:lnTo>
                  <a:lnTo>
                    <a:pt x="366" y="1083"/>
                  </a:lnTo>
                  <a:lnTo>
                    <a:pt x="407" y="1199"/>
                  </a:lnTo>
                  <a:lnTo>
                    <a:pt x="449" y="1296"/>
                  </a:lnTo>
                  <a:lnTo>
                    <a:pt x="501" y="1392"/>
                  </a:lnTo>
                  <a:lnTo>
                    <a:pt x="543" y="1489"/>
                  </a:lnTo>
                  <a:lnTo>
                    <a:pt x="585" y="1576"/>
                  </a:lnTo>
                  <a:lnTo>
                    <a:pt x="637" y="1663"/>
                  </a:lnTo>
                  <a:lnTo>
                    <a:pt x="679" y="1740"/>
                  </a:lnTo>
                  <a:lnTo>
                    <a:pt x="720" y="1818"/>
                  </a:lnTo>
                  <a:lnTo>
                    <a:pt x="772" y="1885"/>
                  </a:lnTo>
                  <a:lnTo>
                    <a:pt x="814" y="1953"/>
                  </a:lnTo>
                  <a:lnTo>
                    <a:pt x="856" y="2021"/>
                  </a:lnTo>
                  <a:lnTo>
                    <a:pt x="908" y="2088"/>
                  </a:lnTo>
                  <a:lnTo>
                    <a:pt x="950" y="2146"/>
                  </a:lnTo>
                  <a:lnTo>
                    <a:pt x="992" y="2195"/>
                  </a:lnTo>
                  <a:lnTo>
                    <a:pt x="1044" y="2253"/>
                  </a:lnTo>
                  <a:lnTo>
                    <a:pt x="1086" y="2301"/>
                  </a:lnTo>
                  <a:lnTo>
                    <a:pt x="1127" y="2350"/>
                  </a:lnTo>
                  <a:lnTo>
                    <a:pt x="1179" y="2398"/>
                  </a:lnTo>
                  <a:lnTo>
                    <a:pt x="1221" y="2446"/>
                  </a:lnTo>
                  <a:lnTo>
                    <a:pt x="1263" y="2485"/>
                  </a:lnTo>
                  <a:lnTo>
                    <a:pt x="1315" y="2524"/>
                  </a:lnTo>
                  <a:lnTo>
                    <a:pt x="1357" y="2562"/>
                  </a:lnTo>
                  <a:lnTo>
                    <a:pt x="1399" y="2601"/>
                  </a:lnTo>
                  <a:lnTo>
                    <a:pt x="1451" y="2630"/>
                  </a:lnTo>
                  <a:lnTo>
                    <a:pt x="1492" y="2669"/>
                  </a:lnTo>
                  <a:lnTo>
                    <a:pt x="1534" y="2698"/>
                  </a:lnTo>
                  <a:lnTo>
                    <a:pt x="1586" y="2727"/>
                  </a:lnTo>
                  <a:lnTo>
                    <a:pt x="1628" y="2756"/>
                  </a:lnTo>
                  <a:lnTo>
                    <a:pt x="1670" y="2775"/>
                  </a:lnTo>
                  <a:lnTo>
                    <a:pt x="1722" y="2804"/>
                  </a:lnTo>
                  <a:lnTo>
                    <a:pt x="1764" y="2823"/>
                  </a:lnTo>
                  <a:lnTo>
                    <a:pt x="1806" y="2852"/>
                  </a:lnTo>
                  <a:lnTo>
                    <a:pt x="1858" y="2872"/>
                  </a:lnTo>
                  <a:lnTo>
                    <a:pt x="1899" y="2891"/>
                  </a:lnTo>
                  <a:lnTo>
                    <a:pt x="1941" y="2910"/>
                  </a:lnTo>
                  <a:lnTo>
                    <a:pt x="1993" y="2930"/>
                  </a:lnTo>
                  <a:lnTo>
                    <a:pt x="2035" y="2949"/>
                  </a:lnTo>
                  <a:lnTo>
                    <a:pt x="2077" y="2968"/>
                  </a:lnTo>
                  <a:lnTo>
                    <a:pt x="2129" y="2978"/>
                  </a:lnTo>
                  <a:lnTo>
                    <a:pt x="2171" y="2997"/>
                  </a:lnTo>
                  <a:lnTo>
                    <a:pt x="2212" y="3017"/>
                  </a:lnTo>
                  <a:lnTo>
                    <a:pt x="2265" y="3026"/>
                  </a:lnTo>
                  <a:lnTo>
                    <a:pt x="2306" y="3036"/>
                  </a:lnTo>
                  <a:lnTo>
                    <a:pt x="2348" y="3055"/>
                  </a:lnTo>
                  <a:lnTo>
                    <a:pt x="2390" y="3065"/>
                  </a:lnTo>
                  <a:lnTo>
                    <a:pt x="2442" y="3075"/>
                  </a:lnTo>
                  <a:lnTo>
                    <a:pt x="2484" y="3084"/>
                  </a:lnTo>
                  <a:lnTo>
                    <a:pt x="2526" y="3094"/>
                  </a:lnTo>
                  <a:lnTo>
                    <a:pt x="2578" y="3104"/>
                  </a:lnTo>
                  <a:lnTo>
                    <a:pt x="2619" y="3113"/>
                  </a:lnTo>
                  <a:lnTo>
                    <a:pt x="2661" y="3123"/>
                  </a:lnTo>
                  <a:lnTo>
                    <a:pt x="2713" y="3133"/>
                  </a:lnTo>
                  <a:lnTo>
                    <a:pt x="2755" y="3142"/>
                  </a:lnTo>
                  <a:lnTo>
                    <a:pt x="2797" y="3152"/>
                  </a:lnTo>
                  <a:lnTo>
                    <a:pt x="2849" y="3152"/>
                  </a:lnTo>
                  <a:lnTo>
                    <a:pt x="2891" y="3162"/>
                  </a:lnTo>
                  <a:lnTo>
                    <a:pt x="2932" y="3171"/>
                  </a:lnTo>
                  <a:lnTo>
                    <a:pt x="2985" y="3171"/>
                  </a:lnTo>
                  <a:lnTo>
                    <a:pt x="3026" y="3181"/>
                  </a:lnTo>
                  <a:lnTo>
                    <a:pt x="3068" y="3191"/>
                  </a:lnTo>
                  <a:lnTo>
                    <a:pt x="3120" y="3191"/>
                  </a:lnTo>
                  <a:lnTo>
                    <a:pt x="3162" y="3200"/>
                  </a:lnTo>
                  <a:lnTo>
                    <a:pt x="3204" y="3200"/>
                  </a:lnTo>
                  <a:lnTo>
                    <a:pt x="3256" y="3210"/>
                  </a:lnTo>
                  <a:lnTo>
                    <a:pt x="3298" y="3210"/>
                  </a:lnTo>
                  <a:lnTo>
                    <a:pt x="3339" y="3220"/>
                  </a:lnTo>
                  <a:lnTo>
                    <a:pt x="3392" y="3220"/>
                  </a:lnTo>
                  <a:lnTo>
                    <a:pt x="3433" y="3220"/>
                  </a:lnTo>
                  <a:lnTo>
                    <a:pt x="3475" y="3230"/>
                  </a:lnTo>
                  <a:lnTo>
                    <a:pt x="3527" y="3230"/>
                  </a:lnTo>
                  <a:lnTo>
                    <a:pt x="3569" y="3230"/>
                  </a:lnTo>
                  <a:lnTo>
                    <a:pt x="3611" y="3239"/>
                  </a:lnTo>
                  <a:lnTo>
                    <a:pt x="3663" y="3239"/>
                  </a:lnTo>
                  <a:lnTo>
                    <a:pt x="3705" y="3239"/>
                  </a:lnTo>
                  <a:lnTo>
                    <a:pt x="3746" y="3249"/>
                  </a:lnTo>
                  <a:lnTo>
                    <a:pt x="3799" y="3249"/>
                  </a:lnTo>
                  <a:lnTo>
                    <a:pt x="3840" y="3249"/>
                  </a:lnTo>
                  <a:lnTo>
                    <a:pt x="3882" y="3249"/>
                  </a:lnTo>
                  <a:lnTo>
                    <a:pt x="3934" y="3259"/>
                  </a:lnTo>
                  <a:lnTo>
                    <a:pt x="3976" y="3259"/>
                  </a:lnTo>
                  <a:lnTo>
                    <a:pt x="4018" y="3259"/>
                  </a:lnTo>
                  <a:lnTo>
                    <a:pt x="4070" y="3259"/>
                  </a:lnTo>
                  <a:lnTo>
                    <a:pt x="4112" y="3259"/>
                  </a:lnTo>
                  <a:lnTo>
                    <a:pt x="4153" y="3268"/>
                  </a:lnTo>
                  <a:lnTo>
                    <a:pt x="4206" y="3268"/>
                  </a:lnTo>
                  <a:lnTo>
                    <a:pt x="4247" y="3268"/>
                  </a:lnTo>
                  <a:lnTo>
                    <a:pt x="4289" y="3268"/>
                  </a:lnTo>
                  <a:lnTo>
                    <a:pt x="4341" y="3268"/>
                  </a:lnTo>
                  <a:lnTo>
                    <a:pt x="4383" y="3268"/>
                  </a:lnTo>
                  <a:lnTo>
                    <a:pt x="4425" y="3268"/>
                  </a:lnTo>
                  <a:lnTo>
                    <a:pt x="4477" y="3278"/>
                  </a:lnTo>
                  <a:lnTo>
                    <a:pt x="4519" y="3278"/>
                  </a:lnTo>
                </a:path>
              </a:pathLst>
            </a:cu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8" name="Text Box 11">
              <a:extLst>
                <a:ext uri="{FF2B5EF4-FFF2-40B4-BE49-F238E27FC236}">
                  <a16:creationId xmlns:a16="http://schemas.microsoft.com/office/drawing/2014/main" id="{32C1FCE2-CDF2-0576-5E62-EEE95341E31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28" y="1182"/>
              <a:ext cx="43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c(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2539" name="Text Box 12">
              <a:extLst>
                <a:ext uri="{FF2B5EF4-FFF2-40B4-BE49-F238E27FC236}">
                  <a16:creationId xmlns:a16="http://schemas.microsoft.com/office/drawing/2014/main" id="{68959045-8E3A-61F0-2D60-BED930F3D09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77" y="1504"/>
              <a:ext cx="4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1/T</a:t>
              </a:r>
            </a:p>
          </p:txBody>
        </p:sp>
        <p:sp>
          <p:nvSpPr>
            <p:cNvPr id="22540" name="Line 13">
              <a:extLst>
                <a:ext uri="{FF2B5EF4-FFF2-40B4-BE49-F238E27FC236}">
                  <a16:creationId xmlns:a16="http://schemas.microsoft.com/office/drawing/2014/main" id="{5ACCE148-0D74-57F9-00E8-6C74665B83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72" y="1688"/>
              <a:ext cx="519" cy="1960"/>
            </a:xfrm>
            <a:prstGeom prst="line">
              <a:avLst/>
            </a:prstGeom>
            <a:noFill/>
            <a:ln w="28575">
              <a:solidFill>
                <a:srgbClr val="1C12D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1" name="Text Box 14">
              <a:extLst>
                <a:ext uri="{FF2B5EF4-FFF2-40B4-BE49-F238E27FC236}">
                  <a16:creationId xmlns:a16="http://schemas.microsoft.com/office/drawing/2014/main" id="{C3E890B7-3CF1-AF8B-BF6C-17FFCCA625D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43" y="363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2542" name="Text Box 15">
              <a:extLst>
                <a:ext uri="{FF2B5EF4-FFF2-40B4-BE49-F238E27FC236}">
                  <a16:creationId xmlns:a16="http://schemas.microsoft.com/office/drawing/2014/main" id="{47A91528-19F3-9E6E-9A9C-084DB46614A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94" y="3600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2543" name="Line 16">
              <a:extLst>
                <a:ext uri="{FF2B5EF4-FFF2-40B4-BE49-F238E27FC236}">
                  <a16:creationId xmlns:a16="http://schemas.microsoft.com/office/drawing/2014/main" id="{B3F01D18-FE6A-0BA9-F1FC-943D5DD77F3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87" y="2927"/>
              <a:ext cx="5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4" name="Line 17">
              <a:extLst>
                <a:ext uri="{FF2B5EF4-FFF2-40B4-BE49-F238E27FC236}">
                  <a16:creationId xmlns:a16="http://schemas.microsoft.com/office/drawing/2014/main" id="{EE08DAD5-ED3D-122C-19F4-1709C4DE9EA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06" y="2927"/>
              <a:ext cx="0" cy="7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545" name="Group 18">
              <a:extLst>
                <a:ext uri="{FF2B5EF4-FFF2-40B4-BE49-F238E27FC236}">
                  <a16:creationId xmlns:a16="http://schemas.microsoft.com/office/drawing/2014/main" id="{235A9AAD-D47D-B709-4703-14D2779F74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650"/>
              <a:ext cx="665" cy="518"/>
              <a:chOff x="480" y="2650"/>
              <a:chExt cx="665" cy="518"/>
            </a:xfrm>
          </p:grpSpPr>
          <p:sp>
            <p:nvSpPr>
              <p:cNvPr id="22551" name="Text Box 19">
                <a:extLst>
                  <a:ext uri="{FF2B5EF4-FFF2-40B4-BE49-F238E27FC236}">
                    <a16:creationId xmlns:a16="http://schemas.microsoft.com/office/drawing/2014/main" id="{7D8DD7CA-E22F-D6CE-44AF-22482663BE5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80" y="2784"/>
                <a:ext cx="54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0.368</a:t>
                </a:r>
              </a:p>
            </p:txBody>
          </p:sp>
          <p:grpSp>
            <p:nvGrpSpPr>
              <p:cNvPr id="22552" name="Group 20">
                <a:extLst>
                  <a:ext uri="{FF2B5EF4-FFF2-40B4-BE49-F238E27FC236}">
                    <a16:creationId xmlns:a16="http://schemas.microsoft.com/office/drawing/2014/main" id="{0AC6CE22-0085-3336-0761-96908306F4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2650"/>
                <a:ext cx="233" cy="518"/>
                <a:chOff x="576" y="2352"/>
                <a:chExt cx="233" cy="518"/>
              </a:xfrm>
            </p:grpSpPr>
            <p:sp>
              <p:nvSpPr>
                <p:cNvPr id="22553" name="Text Box 21">
                  <a:extLst>
                    <a:ext uri="{FF2B5EF4-FFF2-40B4-BE49-F238E27FC236}">
                      <a16:creationId xmlns:a16="http://schemas.microsoft.com/office/drawing/2014/main" id="{66AD8015-84BE-DC0C-E862-A408848F8367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576" y="2352"/>
                  <a:ext cx="233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80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400">
                      <a:latin typeface="Times New Roman" panose="02020603050405020304" pitchFamily="18" charset="0"/>
                    </a:rPr>
                    <a:t>1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Times New Roman" panose="02020603050405020304" pitchFamily="18" charset="0"/>
                    </a:rPr>
                    <a:t>T</a:t>
                  </a:r>
                </a:p>
              </p:txBody>
            </p:sp>
            <p:sp>
              <p:nvSpPr>
                <p:cNvPr id="22554" name="Line 22">
                  <a:extLst>
                    <a:ext uri="{FF2B5EF4-FFF2-40B4-BE49-F238E27FC236}">
                      <a16:creationId xmlns:a16="http://schemas.microsoft.com/office/drawing/2014/main" id="{6D60869E-C767-690D-96DB-F0104825886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633" y="2629"/>
                  <a:ext cx="13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2546" name="Line 23">
              <a:extLst>
                <a:ext uri="{FF2B5EF4-FFF2-40B4-BE49-F238E27FC236}">
                  <a16:creationId xmlns:a16="http://schemas.microsoft.com/office/drawing/2014/main" id="{FDFB26C6-2E25-52B9-2BC7-E96BB48BF52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375" y="2264"/>
              <a:ext cx="490" cy="4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Text Box 24">
              <a:extLst>
                <a:ext uri="{FF2B5EF4-FFF2-40B4-BE49-F238E27FC236}">
                  <a16:creationId xmlns:a16="http://schemas.microsoft.com/office/drawing/2014/main" id="{A5362DE2-42E1-45D9-F26E-04CD534C7D0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859" y="2128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斜率</a:t>
              </a:r>
            </a:p>
          </p:txBody>
        </p:sp>
        <p:sp>
          <p:nvSpPr>
            <p:cNvPr id="22548" name="Text Box 25">
              <a:extLst>
                <a:ext uri="{FF2B5EF4-FFF2-40B4-BE49-F238E27FC236}">
                  <a16:creationId xmlns:a16="http://schemas.microsoft.com/office/drawing/2014/main" id="{B1F96008-7771-CC6E-E716-B4DAA6BCB82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97" y="2823"/>
              <a:ext cx="47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3200" i="1">
                  <a:latin typeface="Times New Roman" panose="02020603050405020304" pitchFamily="18" charset="0"/>
                </a:rPr>
                <a:t>c</a:t>
              </a:r>
              <a:r>
                <a:rPr lang="en-US" altLang="zh-CN" sz="3200">
                  <a:latin typeface="Times New Roman" panose="02020603050405020304" pitchFamily="18" charset="0"/>
                </a:rPr>
                <a:t>(</a:t>
              </a:r>
              <a:r>
                <a:rPr lang="en-US" altLang="zh-CN" sz="3200" i="1">
                  <a:latin typeface="Times New Roman" panose="02020603050405020304" pitchFamily="18" charset="0"/>
                </a:rPr>
                <a:t>t</a:t>
              </a:r>
              <a:r>
                <a:rPr lang="en-US" altLang="zh-CN" sz="32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2549" name="Text Box 26">
              <a:extLst>
                <a:ext uri="{FF2B5EF4-FFF2-40B4-BE49-F238E27FC236}">
                  <a16:creationId xmlns:a16="http://schemas.microsoft.com/office/drawing/2014/main" id="{BF74E347-271C-14D1-40CB-4B2796DF8B4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36" y="3647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T</a:t>
              </a:r>
            </a:p>
          </p:txBody>
        </p:sp>
        <p:graphicFrame>
          <p:nvGraphicFramePr>
            <p:cNvPr id="22550" name="Object 27">
              <a:extLst>
                <a:ext uri="{FF2B5EF4-FFF2-40B4-BE49-F238E27FC236}">
                  <a16:creationId xmlns:a16="http://schemas.microsoft.com/office/drawing/2014/main" id="{FACB151E-558C-4447-61B4-6DCD71AA47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39" y="2037"/>
            <a:ext cx="445" cy="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355292" imgH="406048" progId="Equation.3">
                    <p:embed/>
                  </p:oleObj>
                </mc:Choice>
                <mc:Fallback>
                  <p:oleObj r:id="rId9" imgW="355292" imgH="406048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9" y="2037"/>
                          <a:ext cx="445" cy="5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3">
            <a:extLst>
              <a:ext uri="{FF2B5EF4-FFF2-40B4-BE49-F238E27FC236}">
                <a16:creationId xmlns:a16="http://schemas.microsoft.com/office/drawing/2014/main" id="{43E5FD48-6BFB-1667-61A1-67A630C39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052513"/>
            <a:ext cx="7010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一阶系统单位脉冲响应的特点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B91CBF37-75A6-CB82-82CB-D9D17CF3E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844675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瞬态响应</a:t>
            </a:r>
            <a:r>
              <a:rPr lang="zh-CN" altLang="en-US" sz="2800">
                <a:latin typeface="宋体" panose="02010600030101010101" pitchFamily="2" charset="-122"/>
              </a:rPr>
              <a:t>：</a:t>
            </a:r>
            <a:r>
              <a:rPr lang="en-US" altLang="zh-CN" sz="2800">
                <a:latin typeface="宋体" panose="02010600030101010101" pitchFamily="2" charset="-122"/>
              </a:rPr>
              <a:t>(1/</a:t>
            </a:r>
            <a:r>
              <a:rPr lang="en-US" altLang="zh-CN" sz="2800" i="1">
                <a:latin typeface="Times New Roman" panose="02020603050405020304" pitchFamily="18" charset="0"/>
              </a:rPr>
              <a:t>T 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  <a:r>
              <a:rPr lang="en-US" altLang="zh-CN" sz="2800">
                <a:latin typeface="Times New Roman" panose="02020603050405020304" pitchFamily="18" charset="0"/>
              </a:rPr>
              <a:t>e </a:t>
            </a:r>
            <a:r>
              <a:rPr lang="en-US" altLang="zh-CN" sz="2900" baseline="30000">
                <a:latin typeface="Times New Roman" panose="02020603050405020304" pitchFamily="18" charset="0"/>
              </a:rPr>
              <a:t>– </a:t>
            </a:r>
            <a:r>
              <a:rPr lang="en-US" altLang="zh-CN" sz="2900" i="1" baseline="30000">
                <a:latin typeface="Times New Roman" panose="02020603050405020304" pitchFamily="18" charset="0"/>
              </a:rPr>
              <a:t>t </a:t>
            </a:r>
            <a:r>
              <a:rPr lang="en-US" altLang="zh-CN" sz="2900" baseline="30000">
                <a:latin typeface="Times New Roman" panose="02020603050405020304" pitchFamily="18" charset="0"/>
              </a:rPr>
              <a:t>/</a:t>
            </a:r>
            <a:r>
              <a:rPr lang="en-US" altLang="zh-CN" sz="2900" i="1" baseline="30000">
                <a:latin typeface="Times New Roman" panose="02020603050405020304" pitchFamily="18" charset="0"/>
              </a:rPr>
              <a:t>T </a:t>
            </a:r>
            <a:r>
              <a:rPr lang="zh-CN" altLang="en-US" sz="2800">
                <a:latin typeface="宋体" panose="02010600030101010101" pitchFamily="2" charset="-122"/>
              </a:rPr>
              <a:t>；</a:t>
            </a:r>
            <a:r>
              <a:rPr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稳态响应</a:t>
            </a:r>
            <a:r>
              <a:rPr lang="zh-CN" altLang="en-US" sz="2800">
                <a:latin typeface="宋体" panose="02010600030101010101" pitchFamily="2" charset="-122"/>
              </a:rPr>
              <a:t>：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；</a:t>
            </a:r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A287AF7A-4B49-EBC1-DDD4-B6CCDF878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490788"/>
            <a:ext cx="73914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 i="1">
                <a:latin typeface="宋体" panose="02010600030101010101" pitchFamily="2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  <a:r>
              <a:rPr lang="en-US" altLang="zh-CN" sz="2800">
                <a:latin typeface="Times New Roman" panose="02020603050405020304" pitchFamily="18" charset="0"/>
              </a:rPr>
              <a:t>(0)=1/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宋体" panose="02010600030101010101" pitchFamily="2" charset="-122"/>
              </a:rPr>
              <a:t>,</a:t>
            </a:r>
            <a:r>
              <a:rPr lang="zh-CN" altLang="en-US" sz="2800">
                <a:latin typeface="宋体" panose="02010600030101010101" pitchFamily="2" charset="-122"/>
              </a:rPr>
              <a:t>随时间的推移，</a:t>
            </a: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指数衰减；</a:t>
            </a: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92856753-74A5-466E-10CF-9D10DE2AB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287838"/>
            <a:ext cx="72390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对于实际系统，通常应用具有较小脉冲宽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度（脉冲宽度小于</a:t>
            </a:r>
            <a:r>
              <a:rPr lang="en-US" altLang="zh-CN" sz="2800">
                <a:latin typeface="宋体" panose="02010600030101010101" pitchFamily="2" charset="-122"/>
              </a:rPr>
              <a:t>0.1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zh-CN" altLang="en-US" sz="2800">
                <a:latin typeface="宋体" panose="02010600030101010101" pitchFamily="2" charset="-122"/>
              </a:rPr>
              <a:t>）和有限幅值的脉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冲代替理想脉冲信号。 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6A60DF2E-5B36-9EE7-EC07-080B9FEA8A4A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3357563"/>
            <a:ext cx="7488238" cy="884237"/>
            <a:chOff x="864" y="2199"/>
            <a:chExt cx="4560" cy="527"/>
          </a:xfrm>
        </p:grpSpPr>
        <p:graphicFrame>
          <p:nvGraphicFramePr>
            <p:cNvPr id="24583" name="Object 8">
              <a:extLst>
                <a:ext uri="{FF2B5EF4-FFF2-40B4-BE49-F238E27FC236}">
                  <a16:creationId xmlns:a16="http://schemas.microsoft.com/office/drawing/2014/main" id="{A05105C7-967C-1490-C8DC-26012C91ED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1" y="2199"/>
            <a:ext cx="1163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990170" imgH="444307" progId="Equation.3">
                    <p:embed/>
                  </p:oleObj>
                </mc:Choice>
                <mc:Fallback>
                  <p:oleObj r:id="rId3" imgW="990170" imgH="444307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1" y="2199"/>
                          <a:ext cx="1163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4" name="Rectangle 9">
              <a:extLst>
                <a:ext uri="{FF2B5EF4-FFF2-40B4-BE49-F238E27FC236}">
                  <a16:creationId xmlns:a16="http://schemas.microsoft.com/office/drawing/2014/main" id="{A0BA9367-918C-418A-A620-F18E9BED2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208"/>
              <a:ext cx="4560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 typeface="Wingdings" panose="05000000000000000000" pitchFamily="2" charset="2"/>
                <a:buChar char="q"/>
              </a:pPr>
              <a:r>
                <a:rPr lang="en-US" altLang="zh-CN" sz="2800">
                  <a:latin typeface="宋体" panose="02010600030101010101" pitchFamily="2" charset="-122"/>
                </a:rPr>
                <a:t>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4" grpId="0"/>
      <p:bldP spid="92165" grpId="0"/>
      <p:bldP spid="9216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>
            <a:extLst>
              <a:ext uri="{FF2B5EF4-FFF2-40B4-BE49-F238E27FC236}">
                <a16:creationId xmlns:a16="http://schemas.microsoft.com/office/drawing/2014/main" id="{03595038-100B-7301-7928-3637F1F75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052513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线性定常系统时间响应的性质</a:t>
            </a:r>
          </a:p>
        </p:txBody>
      </p:sp>
      <p:sp>
        <p:nvSpPr>
          <p:cNvPr id="91140" name="Text Box 4">
            <a:extLst>
              <a:ext uri="{FF2B5EF4-FFF2-40B4-BE49-F238E27FC236}">
                <a16:creationId xmlns:a16="http://schemas.microsoft.com/office/drawing/2014/main" id="{84F67FB9-8E0E-4345-76CD-0F7C7D8DE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133600"/>
            <a:ext cx="71628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系统时域响应通常由稳态分量和瞬态分量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共同组成，前者反映系统的稳态特性，后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者反映系统的动态特性。 </a:t>
            </a:r>
          </a:p>
        </p:txBody>
      </p:sp>
      <p:sp>
        <p:nvSpPr>
          <p:cNvPr id="91141" name="Text Box 5">
            <a:extLst>
              <a:ext uri="{FF2B5EF4-FFF2-40B4-BE49-F238E27FC236}">
                <a16:creationId xmlns:a16="http://schemas.microsoft.com/office/drawing/2014/main" id="{6E2D4AA7-BC98-15F5-11B2-284588FFB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36988"/>
            <a:ext cx="71628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注意到： </a:t>
            </a:r>
          </a:p>
        </p:txBody>
      </p:sp>
      <p:graphicFrame>
        <p:nvGraphicFramePr>
          <p:cNvPr id="91142" name="Object 6">
            <a:extLst>
              <a:ext uri="{FF2B5EF4-FFF2-40B4-BE49-F238E27FC236}">
                <a16:creationId xmlns:a16="http://schemas.microsoft.com/office/drawing/2014/main" id="{2FA1F80B-16F9-F054-1133-BF5D7AEFAF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68600" y="4343400"/>
          <a:ext cx="1955800" cy="158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8614" imgH="812447" progId="Equation.3">
                  <p:embed/>
                </p:oleObj>
              </mc:Choice>
              <mc:Fallback>
                <p:oleObj r:id="rId3" imgW="888614" imgH="81244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600" y="4343400"/>
                        <a:ext cx="1955800" cy="158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1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1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1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1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/>
      <p:bldP spid="911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5" name="Object 3">
            <a:extLst>
              <a:ext uri="{FF2B5EF4-FFF2-40B4-BE49-F238E27FC236}">
                <a16:creationId xmlns:a16="http://schemas.microsoft.com/office/drawing/2014/main" id="{B01AEA01-0180-601F-1557-A88E5C96DC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6525" y="2382838"/>
          <a:ext cx="2703513" cy="234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55700" imgH="1130300" progId="Equation.3">
                  <p:embed/>
                </p:oleObj>
              </mc:Choice>
              <mc:Fallback>
                <p:oleObj r:id="rId3" imgW="1155700" imgH="1130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525" y="2382838"/>
                        <a:ext cx="2703513" cy="234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Text Box 4">
            <a:extLst>
              <a:ext uri="{FF2B5EF4-FFF2-40B4-BE49-F238E27FC236}">
                <a16:creationId xmlns:a16="http://schemas.microsoft.com/office/drawing/2014/main" id="{B1D79984-BA03-25CE-BCF4-4CEB362C2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700213"/>
            <a:ext cx="2317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对一阶系统：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C9C4C10C-6492-0A86-370A-297C17CD6F0E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667000"/>
            <a:ext cx="3440113" cy="1585913"/>
            <a:chOff x="2928" y="1593"/>
            <a:chExt cx="2167" cy="999"/>
          </a:xfrm>
        </p:grpSpPr>
        <p:graphicFrame>
          <p:nvGraphicFramePr>
            <p:cNvPr id="28678" name="Object 6">
              <a:extLst>
                <a:ext uri="{FF2B5EF4-FFF2-40B4-BE49-F238E27FC236}">
                  <a16:creationId xmlns:a16="http://schemas.microsoft.com/office/drawing/2014/main" id="{959ADD38-501E-3A10-4233-152AFE30E2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0" y="1593"/>
            <a:ext cx="1285" cy="9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926698" imgH="812447" progId="Equation.3">
                    <p:embed/>
                  </p:oleObj>
                </mc:Choice>
                <mc:Fallback>
                  <p:oleObj r:id="rId5" imgW="926698" imgH="812447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" y="1593"/>
                          <a:ext cx="1285" cy="9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79" name="AutoShape 7">
              <a:extLst>
                <a:ext uri="{FF2B5EF4-FFF2-40B4-BE49-F238E27FC236}">
                  <a16:creationId xmlns:a16="http://schemas.microsoft.com/office/drawing/2014/main" id="{975D2E04-AA8E-FB7F-354E-925334A7D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968"/>
              <a:ext cx="576" cy="288"/>
            </a:xfrm>
            <a:prstGeom prst="leftRightArrow">
              <a:avLst>
                <a:gd name="adj1" fmla="val 50000"/>
                <a:gd name="adj2" fmla="val 40000"/>
              </a:avLst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90120" name="Text Box 8">
            <a:extLst>
              <a:ext uri="{FF2B5EF4-FFF2-40B4-BE49-F238E27FC236}">
                <a16:creationId xmlns:a16="http://schemas.microsoft.com/office/drawing/2014/main" id="{71983457-1AAF-9E38-15A0-3AF65F124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946650"/>
            <a:ext cx="7543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即：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系统对输入信号导数的响应等于系统对该输入信号响应的导数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460DF1A1-AE91-03C1-0226-83E14F432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52663"/>
            <a:ext cx="73914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同样可知，</a:t>
            </a:r>
            <a:r>
              <a:rPr lang="zh-CN" altLang="en-US" sz="2800" b="1">
                <a:solidFill>
                  <a:srgbClr val="CC0000"/>
                </a:solidFill>
                <a:latin typeface="宋体" panose="02010600030101010101" pitchFamily="2" charset="-122"/>
              </a:rPr>
              <a:t>系统对输入信号积分的响应等于系统对该输入信号响应的积分，其积分常数由初始条件确定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D2549788-00D5-4B0D-E3DF-A6EEFC023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956050"/>
            <a:ext cx="7391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这种输入－输出间的积分微分性质对任何线性定常系统均成立。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>
            <a:extLst>
              <a:ext uri="{FF2B5EF4-FFF2-40B4-BE49-F238E27FC236}">
                <a16:creationId xmlns:a16="http://schemas.microsoft.com/office/drawing/2014/main" id="{4A94C290-442F-6AAD-7531-FA6BA9566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125538"/>
            <a:ext cx="502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例题</a:t>
            </a:r>
            <a:r>
              <a:rPr lang="zh-CN" altLang="en-US" sz="2800" b="1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73732" name="Text Box 4">
            <a:extLst>
              <a:ext uri="{FF2B5EF4-FFF2-40B4-BE49-F238E27FC236}">
                <a16:creationId xmlns:a16="http://schemas.microsoft.com/office/drawing/2014/main" id="{EA76E7E0-6755-07E9-5E73-378A2265B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0" y="1557338"/>
            <a:ext cx="71628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例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F1B59E8E-3D61-75F0-BE73-429E3ADEDA99}"/>
              </a:ext>
            </a:extLst>
          </p:cNvPr>
          <p:cNvGrpSpPr>
            <a:grpSpLocks/>
          </p:cNvGrpSpPr>
          <p:nvPr/>
        </p:nvGrpSpPr>
        <p:grpSpPr bwMode="auto">
          <a:xfrm>
            <a:off x="1822450" y="2166938"/>
            <a:ext cx="6705600" cy="1814512"/>
            <a:chOff x="1152" y="1488"/>
            <a:chExt cx="4224" cy="1143"/>
          </a:xfrm>
        </p:grpSpPr>
        <p:sp>
          <p:nvSpPr>
            <p:cNvPr id="32776" name="Rectangle 6">
              <a:extLst>
                <a:ext uri="{FF2B5EF4-FFF2-40B4-BE49-F238E27FC236}">
                  <a16:creationId xmlns:a16="http://schemas.microsoft.com/office/drawing/2014/main" id="{10BFD799-73B4-7C0E-8A8E-E8BF41F22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488"/>
              <a:ext cx="42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宋体" panose="02010600030101010101" pitchFamily="2" charset="-122"/>
                </a:rPr>
                <a:t>单位脉冲信号输入时，系统的响应为：</a:t>
              </a:r>
            </a:p>
          </p:txBody>
        </p:sp>
        <p:sp>
          <p:nvSpPr>
            <p:cNvPr id="32777" name="Rectangle 7">
              <a:extLst>
                <a:ext uri="{FF2B5EF4-FFF2-40B4-BE49-F238E27FC236}">
                  <a16:creationId xmlns:a16="http://schemas.microsoft.com/office/drawing/2014/main" id="{97B44DE3-30BF-1DF8-49E7-16CC965C6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22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宋体" panose="02010600030101010101" pitchFamily="2" charset="-122"/>
                </a:rPr>
                <a:t>求系统的传递函数。 </a:t>
              </a:r>
            </a:p>
          </p:txBody>
        </p:sp>
        <p:graphicFrame>
          <p:nvGraphicFramePr>
            <p:cNvPr id="32778" name="Object 8">
              <a:extLst>
                <a:ext uri="{FF2B5EF4-FFF2-40B4-BE49-F238E27FC236}">
                  <a16:creationId xmlns:a16="http://schemas.microsoft.com/office/drawing/2014/main" id="{29C5331D-A7CD-47F3-1E17-276BDC1BF6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99" y="1919"/>
            <a:ext cx="994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901309" imgH="228501" progId="Equation.3">
                    <p:embed/>
                  </p:oleObj>
                </mc:Choice>
                <mc:Fallback>
                  <p:oleObj r:id="rId3" imgW="901309" imgH="228501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9" y="1919"/>
                          <a:ext cx="994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737" name="Rectangle 9">
            <a:extLst>
              <a:ext uri="{FF2B5EF4-FFF2-40B4-BE49-F238E27FC236}">
                <a16:creationId xmlns:a16="http://schemas.microsoft.com/office/drawing/2014/main" id="{22714326-0DBD-2D3E-560C-B797F7A44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4086225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解</a:t>
            </a:r>
            <a:r>
              <a:rPr lang="zh-CN" altLang="en-US" sz="2800">
                <a:latin typeface="宋体" panose="02010600030101010101" pitchFamily="2" charset="-122"/>
              </a:rPr>
              <a:t>：由题意</a:t>
            </a:r>
            <a:r>
              <a:rPr lang="en-US" altLang="zh-CN" sz="2800" i="1">
                <a:latin typeface="Times New Roman" panose="02020603050405020304" pitchFamily="18" charset="0"/>
              </a:rPr>
              <a:t>R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)=1</a:t>
            </a:r>
            <a:r>
              <a:rPr lang="zh-CN" altLang="en-US" sz="2800">
                <a:latin typeface="宋体" panose="02010600030101010101" pitchFamily="2" charset="-122"/>
              </a:rPr>
              <a:t>，所以： </a:t>
            </a:r>
          </a:p>
        </p:txBody>
      </p:sp>
      <p:graphicFrame>
        <p:nvGraphicFramePr>
          <p:cNvPr id="73738" name="Object 10">
            <a:extLst>
              <a:ext uri="{FF2B5EF4-FFF2-40B4-BE49-F238E27FC236}">
                <a16:creationId xmlns:a16="http://schemas.microsoft.com/office/drawing/2014/main" id="{CB11BFE8-87AF-34C8-14E4-A2FABD2A25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7188" y="4735513"/>
          <a:ext cx="4827587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616200" imgH="419100" progId="Equation.3">
                  <p:embed/>
                </p:oleObj>
              </mc:Choice>
              <mc:Fallback>
                <p:oleObj r:id="rId5" imgW="2616200" imgH="419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8" y="4735513"/>
                        <a:ext cx="4827587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9" name="Object 11">
            <a:extLst>
              <a:ext uri="{FF2B5EF4-FFF2-40B4-BE49-F238E27FC236}">
                <a16:creationId xmlns:a16="http://schemas.microsoft.com/office/drawing/2014/main" id="{420FC225-268F-53CA-62F9-ABF0B0FFF8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4050" y="5591175"/>
          <a:ext cx="24384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33500" imgH="419100" progId="Equation.3">
                  <p:embed/>
                </p:oleObj>
              </mc:Choice>
              <mc:Fallback>
                <p:oleObj r:id="rId7" imgW="1333500" imgH="419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5591175"/>
                        <a:ext cx="24384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/>
      <p:bldP spid="737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3">
            <a:extLst>
              <a:ext uri="{FF2B5EF4-FFF2-40B4-BE49-F238E27FC236}">
                <a16:creationId xmlns:a16="http://schemas.microsoft.com/office/drawing/2014/main" id="{1D26C154-75A4-7A48-4D79-3C15273AB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052513"/>
            <a:ext cx="71628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例</a:t>
            </a:r>
            <a:r>
              <a:rPr lang="en-US" altLang="zh-CN" sz="2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A3660957-615C-9210-D826-CA618EA7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900" y="3763963"/>
            <a:ext cx="579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解</a:t>
            </a:r>
            <a:r>
              <a:rPr lang="zh-CN" altLang="en-US" sz="2800">
                <a:latin typeface="宋体" panose="02010600030101010101" pitchFamily="2" charset="-122"/>
              </a:rPr>
              <a:t>：</a:t>
            </a:r>
            <a:r>
              <a:rPr lang="en-US" altLang="zh-CN" sz="2800">
                <a:latin typeface="宋体" panose="02010600030101010101" pitchFamily="2" charset="-122"/>
              </a:rPr>
              <a:t>1</a:t>
            </a:r>
            <a:r>
              <a:rPr lang="zh-CN" altLang="en-US" sz="2800">
                <a:latin typeface="宋体" panose="02010600030101010101" pitchFamily="2" charset="-122"/>
              </a:rPr>
              <a:t>）单位阶跃输入时 </a:t>
            </a:r>
          </a:p>
        </p:txBody>
      </p:sp>
      <p:grpSp>
        <p:nvGrpSpPr>
          <p:cNvPr id="34820" name="Group 5">
            <a:extLst>
              <a:ext uri="{FF2B5EF4-FFF2-40B4-BE49-F238E27FC236}">
                <a16:creationId xmlns:a16="http://schemas.microsoft.com/office/drawing/2014/main" id="{21C5B96A-C9D0-E814-120C-FCBA3EFB1876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700213"/>
            <a:ext cx="6781800" cy="1966912"/>
            <a:chOff x="1152" y="1248"/>
            <a:chExt cx="4272" cy="1239"/>
          </a:xfrm>
        </p:grpSpPr>
        <p:sp>
          <p:nvSpPr>
            <p:cNvPr id="34825" name="Rectangle 6">
              <a:extLst>
                <a:ext uri="{FF2B5EF4-FFF2-40B4-BE49-F238E27FC236}">
                  <a16:creationId xmlns:a16="http://schemas.microsoft.com/office/drawing/2014/main" id="{77A8841D-26A4-AB04-2E5D-FE427C243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248"/>
              <a:ext cx="42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宋体" panose="02010600030101010101" pitchFamily="2" charset="-122"/>
                </a:rPr>
                <a:t>已知系统传递函数：</a:t>
              </a:r>
            </a:p>
          </p:txBody>
        </p:sp>
        <p:sp>
          <p:nvSpPr>
            <p:cNvPr id="34826" name="Rectangle 7">
              <a:extLst>
                <a:ext uri="{FF2B5EF4-FFF2-40B4-BE49-F238E27FC236}">
                  <a16:creationId xmlns:a16="http://schemas.microsoft.com/office/drawing/2014/main" id="{2AE1989E-21C0-01D9-5A4C-F1B92362D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160"/>
              <a:ext cx="4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宋体" panose="02010600030101010101" pitchFamily="2" charset="-122"/>
                </a:rPr>
                <a:t>求系统的单位阶跃响应和单位脉冲响应。</a:t>
              </a:r>
            </a:p>
          </p:txBody>
        </p:sp>
        <p:graphicFrame>
          <p:nvGraphicFramePr>
            <p:cNvPr id="34827" name="Object 8">
              <a:extLst>
                <a:ext uri="{FF2B5EF4-FFF2-40B4-BE49-F238E27FC236}">
                  <a16:creationId xmlns:a16="http://schemas.microsoft.com/office/drawing/2014/main" id="{BBB1BD0F-2C30-76A5-2AB7-656508F74E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1614"/>
            <a:ext cx="1152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104900" imgH="520700" progId="Equation.3">
                    <p:embed/>
                  </p:oleObj>
                </mc:Choice>
                <mc:Fallback>
                  <p:oleObj r:id="rId3" imgW="1104900" imgH="5207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614"/>
                          <a:ext cx="1152" cy="5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2713" name="Object 9">
            <a:extLst>
              <a:ext uri="{FF2B5EF4-FFF2-40B4-BE49-F238E27FC236}">
                <a16:creationId xmlns:a16="http://schemas.microsoft.com/office/drawing/2014/main" id="{E2AB0B11-B1A6-E384-1E1E-B6AD52200F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4900" y="4525963"/>
          <a:ext cx="58674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733800" imgH="520700" progId="Equation.3">
                  <p:embed/>
                </p:oleObj>
              </mc:Choice>
              <mc:Fallback>
                <p:oleObj r:id="rId5" imgW="3733800" imgH="520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4525963"/>
                        <a:ext cx="58674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">
            <a:extLst>
              <a:ext uri="{FF2B5EF4-FFF2-40B4-BE49-F238E27FC236}">
                <a16:creationId xmlns:a16="http://schemas.microsoft.com/office/drawing/2014/main" id="{7B40020F-6C06-A935-60C8-951EC09A34A4}"/>
              </a:ext>
            </a:extLst>
          </p:cNvPr>
          <p:cNvGrpSpPr>
            <a:grpSpLocks/>
          </p:cNvGrpSpPr>
          <p:nvPr/>
        </p:nvGrpSpPr>
        <p:grpSpPr bwMode="auto">
          <a:xfrm>
            <a:off x="2298700" y="5516563"/>
            <a:ext cx="4876800" cy="519112"/>
            <a:chOff x="1584" y="3657"/>
            <a:chExt cx="3072" cy="327"/>
          </a:xfrm>
        </p:grpSpPr>
        <p:sp>
          <p:nvSpPr>
            <p:cNvPr id="34823" name="Rectangle 11">
              <a:extLst>
                <a:ext uri="{FF2B5EF4-FFF2-40B4-BE49-F238E27FC236}">
                  <a16:creationId xmlns:a16="http://schemas.microsoft.com/office/drawing/2014/main" id="{689BD454-ED61-8C42-CC18-CC03837F0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657"/>
              <a:ext cx="9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宋体" panose="02010600030101010101" pitchFamily="2" charset="-122"/>
                </a:rPr>
                <a:t>从而：</a:t>
              </a:r>
              <a:r>
                <a:rPr lang="zh-CN" altLang="en-US" sz="1100"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4824" name="Object 12">
              <a:extLst>
                <a:ext uri="{FF2B5EF4-FFF2-40B4-BE49-F238E27FC236}">
                  <a16:creationId xmlns:a16="http://schemas.microsoft.com/office/drawing/2014/main" id="{B97EE46E-82D8-5701-C554-20652DD72F7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4" y="3681"/>
            <a:ext cx="211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955800" imgH="241300" progId="Equation.DSMT4">
                    <p:embed/>
                  </p:oleObj>
                </mc:Choice>
                <mc:Fallback>
                  <p:oleObj r:id="rId7" imgW="1955800" imgH="2413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681"/>
                          <a:ext cx="211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B32C6A62-97FA-629B-682B-B2EA56559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057400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2</a:t>
            </a:r>
            <a:r>
              <a:rPr lang="zh-CN" altLang="en-US" sz="2800">
                <a:latin typeface="宋体" panose="02010600030101010101" pitchFamily="2" charset="-122"/>
              </a:rPr>
              <a:t>）单位脉冲输入时，由于</a:t>
            </a:r>
          </a:p>
        </p:txBody>
      </p:sp>
      <p:graphicFrame>
        <p:nvGraphicFramePr>
          <p:cNvPr id="71684" name="Object 4">
            <a:extLst>
              <a:ext uri="{FF2B5EF4-FFF2-40B4-BE49-F238E27FC236}">
                <a16:creationId xmlns:a16="http://schemas.microsoft.com/office/drawing/2014/main" id="{8A57CD56-8006-6669-90A7-A27DA492DF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767013"/>
          <a:ext cx="167640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41400" imgH="457200" progId="Equation.3">
                  <p:embed/>
                </p:oleObj>
              </mc:Choice>
              <mc:Fallback>
                <p:oleObj r:id="rId3" imgW="10414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767013"/>
                        <a:ext cx="167640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>
            <a:extLst>
              <a:ext uri="{FF2B5EF4-FFF2-40B4-BE49-F238E27FC236}">
                <a16:creationId xmlns:a16="http://schemas.microsoft.com/office/drawing/2014/main" id="{DE39E769-23DF-DE12-BD7A-B78C3633DB3A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671888"/>
            <a:ext cx="4495800" cy="1204912"/>
            <a:chOff x="1488" y="2313"/>
            <a:chExt cx="2832" cy="759"/>
          </a:xfrm>
        </p:grpSpPr>
        <p:sp>
          <p:nvSpPr>
            <p:cNvPr id="36869" name="Rectangle 6">
              <a:extLst>
                <a:ext uri="{FF2B5EF4-FFF2-40B4-BE49-F238E27FC236}">
                  <a16:creationId xmlns:a16="http://schemas.microsoft.com/office/drawing/2014/main" id="{07DB8D59-8A39-E5D4-4102-27B63347B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13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宋体" panose="02010600030101010101" pitchFamily="2" charset="-122"/>
                </a:rPr>
                <a:t>因此：</a:t>
              </a:r>
            </a:p>
          </p:txBody>
        </p:sp>
        <p:graphicFrame>
          <p:nvGraphicFramePr>
            <p:cNvPr id="36870" name="Object 7">
              <a:extLst>
                <a:ext uri="{FF2B5EF4-FFF2-40B4-BE49-F238E27FC236}">
                  <a16:creationId xmlns:a16="http://schemas.microsoft.com/office/drawing/2014/main" id="{2F78AAE3-50DA-A5F4-159C-6C7602839C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2578"/>
            <a:ext cx="2400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222500" imgH="457200" progId="Equation.3">
                    <p:embed/>
                  </p:oleObj>
                </mc:Choice>
                <mc:Fallback>
                  <p:oleObj r:id="rId5" imgW="2222500" imgH="457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578"/>
                          <a:ext cx="2400" cy="4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4">
            <a:extLst>
              <a:ext uri="{FF2B5EF4-FFF2-40B4-BE49-F238E27FC236}">
                <a16:creationId xmlns:a16="http://schemas.microsoft.com/office/drawing/2014/main" id="{846E11B9-E363-144E-DEBC-56B40A87D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720725"/>
            <a:ext cx="38782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3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时域分析法</a:t>
            </a:r>
          </a:p>
        </p:txBody>
      </p:sp>
      <p:sp>
        <p:nvSpPr>
          <p:cNvPr id="38915" name="Rectangle 6">
            <a:extLst>
              <a:ext uri="{FF2B5EF4-FFF2-40B4-BE49-F238E27FC236}">
                <a16:creationId xmlns:a16="http://schemas.microsoft.com/office/drawing/2014/main" id="{FABD4012-F045-A229-1200-5EBED5908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2089150"/>
            <a:ext cx="556260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3.1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一阶系统的时间响应</a:t>
            </a:r>
          </a:p>
        </p:txBody>
      </p:sp>
      <p:sp>
        <p:nvSpPr>
          <p:cNvPr id="38916" name="Rectangle 7">
            <a:extLst>
              <a:ext uri="{FF2B5EF4-FFF2-40B4-BE49-F238E27FC236}">
                <a16:creationId xmlns:a16="http://schemas.microsoft.com/office/drawing/2014/main" id="{EC8B5A7A-4B48-C971-4FBB-F0B73C91C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2705100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3.2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二阶系统的时间响应</a:t>
            </a:r>
          </a:p>
        </p:txBody>
      </p:sp>
      <p:sp>
        <p:nvSpPr>
          <p:cNvPr id="38917" name="Rectangle 8">
            <a:extLst>
              <a:ext uri="{FF2B5EF4-FFF2-40B4-BE49-F238E27FC236}">
                <a16:creationId xmlns:a16="http://schemas.microsoft.com/office/drawing/2014/main" id="{C42E2CBA-E500-80FA-69B6-EE8444B96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3181350"/>
            <a:ext cx="53340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3.3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高阶系统的时间响应</a:t>
            </a:r>
          </a:p>
        </p:txBody>
      </p:sp>
      <p:sp>
        <p:nvSpPr>
          <p:cNvPr id="38918" name="Rectangle 9">
            <a:extLst>
              <a:ext uri="{FF2B5EF4-FFF2-40B4-BE49-F238E27FC236}">
                <a16:creationId xmlns:a16="http://schemas.microsoft.com/office/drawing/2014/main" id="{8A098EFC-43F3-2FCB-F1C7-0ADD432E5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3760788"/>
            <a:ext cx="6046788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3.4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误差分析和计算</a:t>
            </a:r>
          </a:p>
        </p:txBody>
      </p:sp>
      <p:sp>
        <p:nvSpPr>
          <p:cNvPr id="38919" name="Rectangle 9">
            <a:extLst>
              <a:ext uri="{FF2B5EF4-FFF2-40B4-BE49-F238E27FC236}">
                <a16:creationId xmlns:a16="http://schemas.microsoft.com/office/drawing/2014/main" id="{C3E14D0C-89A8-3498-6354-7361771F5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4335463"/>
            <a:ext cx="6046788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3.5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稳定性分析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>
            <a:extLst>
              <a:ext uri="{FF2B5EF4-FFF2-40B4-BE49-F238E27FC236}">
                <a16:creationId xmlns:a16="http://schemas.microsoft.com/office/drawing/2014/main" id="{04283395-4317-859F-59A0-B00C0C463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908050"/>
            <a:ext cx="62484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3.2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二阶系统的时间（瞬态）响应</a:t>
            </a:r>
          </a:p>
        </p:txBody>
      </p:sp>
      <p:sp>
        <p:nvSpPr>
          <p:cNvPr id="88068" name="Rectangle 4">
            <a:extLst>
              <a:ext uri="{FF2B5EF4-FFF2-40B4-BE49-F238E27FC236}">
                <a16:creationId xmlns:a16="http://schemas.microsoft.com/office/drawing/2014/main" id="{A7D13762-173E-20BD-61E5-5F3C9045B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2008188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二阶系统 </a:t>
            </a:r>
          </a:p>
        </p:txBody>
      </p:sp>
      <p:graphicFrame>
        <p:nvGraphicFramePr>
          <p:cNvPr id="88069" name="Object 5">
            <a:extLst>
              <a:ext uri="{FF2B5EF4-FFF2-40B4-BE49-F238E27FC236}">
                <a16:creationId xmlns:a16="http://schemas.microsoft.com/office/drawing/2014/main" id="{62E2ECAD-E787-969C-6154-65973DDAD8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1113" y="2632075"/>
          <a:ext cx="516413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90800" imgH="482600" progId="Equation.3">
                  <p:embed/>
                </p:oleObj>
              </mc:Choice>
              <mc:Fallback>
                <p:oleObj r:id="rId3" imgW="25908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2632075"/>
                        <a:ext cx="516413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0" name="Rectangle 6">
            <a:extLst>
              <a:ext uri="{FF2B5EF4-FFF2-40B4-BE49-F238E27FC236}">
                <a16:creationId xmlns:a16="http://schemas.microsoft.com/office/drawing/2014/main" id="{BE960F9A-BBE6-0D9E-59C0-CC08492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3716338"/>
            <a:ext cx="73914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其中，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zh-CN" altLang="en-US" sz="2800">
                <a:latin typeface="Times New Roman" panose="02020603050405020304" pitchFamily="18" charset="0"/>
              </a:rPr>
              <a:t>为时间常数，也称为无阻尼自由振荡</a:t>
            </a:r>
          </a:p>
          <a:p>
            <a:pPr algn="just"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         周期，</a:t>
            </a:r>
          </a:p>
          <a:p>
            <a:pPr algn="just"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         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zh-CN" altLang="en-US" sz="2800">
                <a:latin typeface="Times New Roman" panose="02020603050405020304" pitchFamily="18" charset="0"/>
              </a:rPr>
              <a:t> 为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</a:rPr>
              <a:t>阻尼比</a:t>
            </a:r>
            <a:r>
              <a:rPr lang="zh-CN" altLang="en-US" sz="2800">
                <a:latin typeface="Times New Roman" panose="02020603050405020304" pitchFamily="18" charset="0"/>
              </a:rPr>
              <a:t>；</a:t>
            </a:r>
          </a:p>
          <a:p>
            <a:pPr algn="just"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        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宋体" panose="02010600030101010101" pitchFamily="2" charset="-122"/>
              </a:rPr>
              <a:t>/</a:t>
            </a:r>
            <a:r>
              <a:rPr lang="en-US" altLang="zh-CN" sz="2800">
                <a:latin typeface="Times New Roman" panose="02020603050405020304" pitchFamily="18" charset="0"/>
              </a:rPr>
              <a:t>T</a:t>
            </a:r>
            <a:r>
              <a:rPr lang="zh-CN" altLang="en-US" sz="2800">
                <a:latin typeface="Times New Roman" panose="02020603050405020304" pitchFamily="18" charset="0"/>
              </a:rPr>
              <a:t>为系统的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</a:rPr>
              <a:t>无阻尼固有频率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/>
      <p:bldP spid="8807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>
            <a:extLst>
              <a:ext uri="{FF2B5EF4-FFF2-40B4-BE49-F238E27FC236}">
                <a16:creationId xmlns:a16="http://schemas.microsoft.com/office/drawing/2014/main" id="{6BCE616A-27DE-289D-5840-3C597ED3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981075"/>
            <a:ext cx="3740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二阶系统的特征方程：</a:t>
            </a:r>
          </a:p>
        </p:txBody>
      </p:sp>
      <p:graphicFrame>
        <p:nvGraphicFramePr>
          <p:cNvPr id="87044" name="Object 4">
            <a:extLst>
              <a:ext uri="{FF2B5EF4-FFF2-40B4-BE49-F238E27FC236}">
                <a16:creationId xmlns:a16="http://schemas.microsoft.com/office/drawing/2014/main" id="{F3A762CA-C19C-675A-D621-4B1DFB6077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1752600"/>
          <a:ext cx="250666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56755" imgH="266584" progId="Equation.3">
                  <p:embed/>
                </p:oleObj>
              </mc:Choice>
              <mc:Fallback>
                <p:oleObj r:id="rId3" imgW="1256755" imgH="26658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752600"/>
                        <a:ext cx="250666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>
            <a:extLst>
              <a:ext uri="{FF2B5EF4-FFF2-40B4-BE49-F238E27FC236}">
                <a16:creationId xmlns:a16="http://schemas.microsoft.com/office/drawing/2014/main" id="{0A5C2FE4-7192-011A-3253-5146FE49B544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286000"/>
            <a:ext cx="6172200" cy="609600"/>
            <a:chOff x="1008" y="1536"/>
            <a:chExt cx="3888" cy="384"/>
          </a:xfrm>
        </p:grpSpPr>
        <p:sp>
          <p:nvSpPr>
            <p:cNvPr id="43020" name="Rectangle 6">
              <a:extLst>
                <a:ext uri="{FF2B5EF4-FFF2-40B4-BE49-F238E27FC236}">
                  <a16:creationId xmlns:a16="http://schemas.microsoft.com/office/drawing/2014/main" id="{7A860681-3BEF-48E9-D484-68CCC6944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593"/>
              <a:ext cx="24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极点（特征根）：</a:t>
              </a:r>
            </a:p>
          </p:txBody>
        </p:sp>
        <p:graphicFrame>
          <p:nvGraphicFramePr>
            <p:cNvPr id="43021" name="Object 7">
              <a:extLst>
                <a:ext uri="{FF2B5EF4-FFF2-40B4-BE49-F238E27FC236}">
                  <a16:creationId xmlns:a16="http://schemas.microsoft.com/office/drawing/2014/main" id="{BA8DF975-8CA6-B5E8-9922-8BFFAD5CC8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0" y="1536"/>
            <a:ext cx="1946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48728" imgH="304668" progId="Equation.3">
                    <p:embed/>
                  </p:oleObj>
                </mc:Choice>
                <mc:Fallback>
                  <p:oleObj r:id="rId5" imgW="1548728" imgH="304668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0" y="1536"/>
                          <a:ext cx="1946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7048" name="Rectangle 8">
            <a:extLst>
              <a:ext uri="{FF2B5EF4-FFF2-40B4-BE49-F238E27FC236}">
                <a16:creationId xmlns:a16="http://schemas.microsoft.com/office/drawing/2014/main" id="{75F360C0-18F8-7D94-AC3F-8AE55E575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971800"/>
            <a:ext cx="7046912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欠阻尼二阶系统（振荡环节）：  </a:t>
            </a:r>
            <a:r>
              <a:rPr lang="en-US" altLang="zh-CN" sz="2800">
                <a:latin typeface="Times New Roman" panose="02020603050405020304" pitchFamily="18" charset="0"/>
              </a:rPr>
              <a:t>0&lt;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>
                <a:latin typeface="Times New Roman" panose="02020603050405020304" pitchFamily="18" charset="0"/>
              </a:rPr>
              <a:t>&lt;1</a:t>
            </a:r>
          </a:p>
        </p:txBody>
      </p:sp>
      <p:sp>
        <p:nvSpPr>
          <p:cNvPr id="87049" name="Rectangle 9">
            <a:extLst>
              <a:ext uri="{FF2B5EF4-FFF2-40B4-BE49-F238E27FC236}">
                <a16:creationId xmlns:a16="http://schemas.microsoft.com/office/drawing/2014/main" id="{464F8EB0-73AB-0FB9-0502-1DF944E25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671888"/>
            <a:ext cx="4195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具有一对共轭复数极点：</a:t>
            </a:r>
          </a:p>
        </p:txBody>
      </p:sp>
      <p:graphicFrame>
        <p:nvGraphicFramePr>
          <p:cNvPr id="87050" name="Object 10">
            <a:extLst>
              <a:ext uri="{FF2B5EF4-FFF2-40B4-BE49-F238E27FC236}">
                <a16:creationId xmlns:a16="http://schemas.microsoft.com/office/drawing/2014/main" id="{F388E019-919A-8849-E8F2-53C6C93460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9263" y="4344988"/>
          <a:ext cx="4986337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501900" imgH="304800" progId="Equation.3">
                  <p:embed/>
                </p:oleObj>
              </mc:Choice>
              <mc:Fallback>
                <p:oleObj r:id="rId7" imgW="2501900" imgH="304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263" y="4344988"/>
                        <a:ext cx="4986337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6">
            <a:extLst>
              <a:ext uri="{FF2B5EF4-FFF2-40B4-BE49-F238E27FC236}">
                <a16:creationId xmlns:a16="http://schemas.microsoft.com/office/drawing/2014/main" id="{78584B81-5EC2-A79F-57FA-D651CDE1CE05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5084763"/>
            <a:ext cx="6858000" cy="582612"/>
            <a:chOff x="1008" y="3384"/>
            <a:chExt cx="4320" cy="367"/>
          </a:xfrm>
        </p:grpSpPr>
        <p:sp>
          <p:nvSpPr>
            <p:cNvPr id="43017" name="Rectangle 7">
              <a:extLst>
                <a:ext uri="{FF2B5EF4-FFF2-40B4-BE49-F238E27FC236}">
                  <a16:creationId xmlns:a16="http://schemas.microsoft.com/office/drawing/2014/main" id="{D5DB8F77-B85F-B7AF-DDB1-7DF1E0427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417"/>
              <a:ext cx="36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其中，</a:t>
              </a:r>
            </a:p>
          </p:txBody>
        </p:sp>
        <p:sp>
          <p:nvSpPr>
            <p:cNvPr id="43018" name="Rectangle 8">
              <a:extLst>
                <a:ext uri="{FF2B5EF4-FFF2-40B4-BE49-F238E27FC236}">
                  <a16:creationId xmlns:a16="http://schemas.microsoft.com/office/drawing/2014/main" id="{7F6E1108-5CD4-1597-57F2-E21952942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0" y="3417"/>
              <a:ext cx="221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称为</a:t>
              </a:r>
              <a:r>
                <a:rPr lang="zh-CN" altLang="en-US" sz="2800">
                  <a:solidFill>
                    <a:srgbClr val="CC0000"/>
                  </a:solidFill>
                  <a:latin typeface="Times New Roman" panose="02020603050405020304" pitchFamily="18" charset="0"/>
                </a:rPr>
                <a:t>阻尼振荡频率</a:t>
              </a:r>
              <a:r>
                <a:rPr lang="zh-CN" altLang="en-US" sz="2800">
                  <a:latin typeface="Times New Roman" panose="02020603050405020304" pitchFamily="18" charset="0"/>
                </a:rPr>
                <a:t>。</a:t>
              </a:r>
            </a:p>
          </p:txBody>
        </p:sp>
        <p:graphicFrame>
          <p:nvGraphicFramePr>
            <p:cNvPr id="43019" name="Object 9">
              <a:extLst>
                <a:ext uri="{FF2B5EF4-FFF2-40B4-BE49-F238E27FC236}">
                  <a16:creationId xmlns:a16="http://schemas.microsoft.com/office/drawing/2014/main" id="{F63A9060-1212-6405-E6A3-B597A7E2F2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4" y="3384"/>
            <a:ext cx="1275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016000" imgH="292100" progId="Equation.3">
                    <p:embed/>
                  </p:oleObj>
                </mc:Choice>
                <mc:Fallback>
                  <p:oleObj r:id="rId9" imgW="1016000" imgH="2921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4" y="3384"/>
                          <a:ext cx="1275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8" grpId="0"/>
      <p:bldP spid="8704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>
            <a:extLst>
              <a:ext uri="{FF2B5EF4-FFF2-40B4-BE49-F238E27FC236}">
                <a16:creationId xmlns:a16="http://schemas.microsoft.com/office/drawing/2014/main" id="{D9E89086-5AF0-4417-4BA7-6FAF818C3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052513"/>
            <a:ext cx="521811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临界阻尼二阶系统：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zh-CN" altLang="en-US" sz="2800" b="1">
                <a:latin typeface="Times New Roman" panose="02020603050405020304" pitchFamily="18" charset="0"/>
              </a:rPr>
              <a:t>＝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AC83BB40-F6A4-A30A-5BF0-34322BF95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1920875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具有两个相等的负实数极点：</a:t>
            </a:r>
          </a:p>
        </p:txBody>
      </p:sp>
      <p:graphicFrame>
        <p:nvGraphicFramePr>
          <p:cNvPr id="86021" name="Object 5">
            <a:extLst>
              <a:ext uri="{FF2B5EF4-FFF2-40B4-BE49-F238E27FC236}">
                <a16:creationId xmlns:a16="http://schemas.microsoft.com/office/drawing/2014/main" id="{01A74755-0497-8D6D-E682-1267C26CC3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2492375"/>
          <a:ext cx="1366837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85800" imgH="241300" progId="Equation.3">
                  <p:embed/>
                </p:oleObj>
              </mc:Choice>
              <mc:Fallback>
                <p:oleObj r:id="rId3" imgW="6858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492375"/>
                        <a:ext cx="1366837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3">
            <a:extLst>
              <a:ext uri="{FF2B5EF4-FFF2-40B4-BE49-F238E27FC236}">
                <a16:creationId xmlns:a16="http://schemas.microsoft.com/office/drawing/2014/main" id="{16A13FCB-2796-78D7-7B9E-13F6480F8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8" y="3262313"/>
            <a:ext cx="5105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过阻尼二阶系统：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&gt; 1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CDF7B2A-A68D-DD19-A28A-600B436A1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" y="4306888"/>
            <a:ext cx="527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具有两个不相等的负实数极点：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8324A2EB-6BFB-974F-5059-D912981CCB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941888"/>
          <a:ext cx="308927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548728" imgH="304668" progId="Equation.3">
                  <p:embed/>
                </p:oleObj>
              </mc:Choice>
              <mc:Fallback>
                <p:oleObj r:id="rId5" imgW="1548728" imgH="30466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941888"/>
                        <a:ext cx="308927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64" name="Group 5">
            <a:extLst>
              <a:ext uri="{FF2B5EF4-FFF2-40B4-BE49-F238E27FC236}">
                <a16:creationId xmlns:a16="http://schemas.microsoft.com/office/drawing/2014/main" id="{D09A6B95-C524-B2EA-1967-32274A40DF11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230188"/>
            <a:ext cx="6172200" cy="609600"/>
            <a:chOff x="1008" y="1536"/>
            <a:chExt cx="3888" cy="384"/>
          </a:xfrm>
        </p:grpSpPr>
        <p:sp>
          <p:nvSpPr>
            <p:cNvPr id="45065" name="Rectangle 6">
              <a:extLst>
                <a:ext uri="{FF2B5EF4-FFF2-40B4-BE49-F238E27FC236}">
                  <a16:creationId xmlns:a16="http://schemas.microsoft.com/office/drawing/2014/main" id="{00C2CF6E-2687-71E9-9FBE-8AEF2B238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593"/>
              <a:ext cx="24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极点（特征根）：</a:t>
              </a:r>
            </a:p>
          </p:txBody>
        </p:sp>
        <p:graphicFrame>
          <p:nvGraphicFramePr>
            <p:cNvPr id="45066" name="Object 7">
              <a:extLst>
                <a:ext uri="{FF2B5EF4-FFF2-40B4-BE49-F238E27FC236}">
                  <a16:creationId xmlns:a16="http://schemas.microsoft.com/office/drawing/2014/main" id="{40463A5C-E409-BEA7-8727-D6A16DE303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0" y="1536"/>
            <a:ext cx="1946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548728" imgH="304668" progId="Equation.3">
                    <p:embed/>
                  </p:oleObj>
                </mc:Choice>
                <mc:Fallback>
                  <p:oleObj r:id="rId7" imgW="1548728" imgH="304668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0" y="1536"/>
                          <a:ext cx="1946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/>
      <p:bldP spid="86020" grpId="0"/>
      <p:bldP spid="16390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5C3137B-ADAA-198D-5015-F76C0E4AC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052513"/>
            <a:ext cx="5218112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零阻尼二阶系统：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zh-CN" altLang="en-US" sz="2800" b="1">
                <a:latin typeface="Times New Roman" panose="02020603050405020304" pitchFamily="18" charset="0"/>
              </a:rPr>
              <a:t>＝</a:t>
            </a:r>
            <a:r>
              <a:rPr lang="en-US" altLang="zh-CN" sz="28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F899F0DC-F77F-781A-BEC2-7AF115696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1844675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具有一对共轭虚极点：</a:t>
            </a:r>
          </a:p>
        </p:txBody>
      </p:sp>
      <p:graphicFrame>
        <p:nvGraphicFramePr>
          <p:cNvPr id="83972" name="Object 4">
            <a:extLst>
              <a:ext uri="{FF2B5EF4-FFF2-40B4-BE49-F238E27FC236}">
                <a16:creationId xmlns:a16="http://schemas.microsoft.com/office/drawing/2014/main" id="{5EB41A1D-819C-50DA-0DE2-DA87EC05A5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3463" y="2530475"/>
          <a:ext cx="15430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74364" imgH="241195" progId="Equation.3">
                  <p:embed/>
                </p:oleObj>
              </mc:Choice>
              <mc:Fallback>
                <p:oleObj r:id="rId3" imgW="774364" imgH="24119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2530475"/>
                        <a:ext cx="154305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3" name="Rectangle 5">
            <a:extLst>
              <a:ext uri="{FF2B5EF4-FFF2-40B4-BE49-F238E27FC236}">
                <a16:creationId xmlns:a16="http://schemas.microsoft.com/office/drawing/2014/main" id="{DDEA8964-0FAC-80B7-FB70-2739C90F8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644900"/>
            <a:ext cx="5105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负阻尼二阶系统：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&lt; 0</a:t>
            </a:r>
          </a:p>
        </p:txBody>
      </p:sp>
      <p:sp>
        <p:nvSpPr>
          <p:cNvPr id="83974" name="Rectangle 6">
            <a:extLst>
              <a:ext uri="{FF2B5EF4-FFF2-40B4-BE49-F238E27FC236}">
                <a16:creationId xmlns:a16="http://schemas.microsoft.com/office/drawing/2014/main" id="{08BCC8A6-995E-8BAD-86F4-9496696AC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652963"/>
            <a:ext cx="7216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极点实部大于零，响应发散，系统不稳定。</a:t>
            </a:r>
          </a:p>
        </p:txBody>
      </p:sp>
      <p:grpSp>
        <p:nvGrpSpPr>
          <p:cNvPr id="47111" name="Group 5">
            <a:extLst>
              <a:ext uri="{FF2B5EF4-FFF2-40B4-BE49-F238E27FC236}">
                <a16:creationId xmlns:a16="http://schemas.microsoft.com/office/drawing/2014/main" id="{2B3BD4E6-0D0E-5847-57C2-A79ED58BFA32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230188"/>
            <a:ext cx="6172200" cy="609600"/>
            <a:chOff x="1008" y="1536"/>
            <a:chExt cx="3888" cy="384"/>
          </a:xfrm>
        </p:grpSpPr>
        <p:sp>
          <p:nvSpPr>
            <p:cNvPr id="47112" name="Rectangle 6">
              <a:extLst>
                <a:ext uri="{FF2B5EF4-FFF2-40B4-BE49-F238E27FC236}">
                  <a16:creationId xmlns:a16="http://schemas.microsoft.com/office/drawing/2014/main" id="{4744A78E-5F48-2012-1602-2618DDE66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593"/>
              <a:ext cx="24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极点（特征根）：</a:t>
              </a:r>
            </a:p>
          </p:txBody>
        </p:sp>
        <p:graphicFrame>
          <p:nvGraphicFramePr>
            <p:cNvPr id="47113" name="Object 7">
              <a:extLst>
                <a:ext uri="{FF2B5EF4-FFF2-40B4-BE49-F238E27FC236}">
                  <a16:creationId xmlns:a16="http://schemas.microsoft.com/office/drawing/2014/main" id="{CF55920F-9227-FA9F-FE0E-DE4E4DF8F8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0" y="1536"/>
            <a:ext cx="1946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48728" imgH="304668" progId="Equation.3">
                    <p:embed/>
                  </p:oleObj>
                </mc:Choice>
                <mc:Fallback>
                  <p:oleObj r:id="rId5" imgW="1548728" imgH="304668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0" y="1536"/>
                          <a:ext cx="1946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/>
      <p:bldP spid="83973" grpId="0"/>
      <p:bldP spid="8397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845A8467-05E4-2F4F-F671-D7161DC4F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125538"/>
            <a:ext cx="502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二阶系统的</a:t>
            </a:r>
            <a:r>
              <a:rPr lang="zh-CN" altLang="en-US" sz="2800" b="1">
                <a:latin typeface="宋体" panose="02010600030101010101" pitchFamily="2" charset="-122"/>
              </a:rPr>
              <a:t>单位阶跃响应 </a:t>
            </a:r>
          </a:p>
        </p:txBody>
      </p:sp>
      <p:graphicFrame>
        <p:nvGraphicFramePr>
          <p:cNvPr id="82948" name="Object 4">
            <a:extLst>
              <a:ext uri="{FF2B5EF4-FFF2-40B4-BE49-F238E27FC236}">
                <a16:creationId xmlns:a16="http://schemas.microsoft.com/office/drawing/2014/main" id="{3F5ADE0D-88D6-E87E-0B2D-8F90D35CE5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8325" y="1962150"/>
          <a:ext cx="1046163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71252" imgH="393529" progId="Equation.3">
                  <p:embed/>
                </p:oleObj>
              </mc:Choice>
              <mc:Fallback>
                <p:oleObj r:id="rId3" imgW="571252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1962150"/>
                        <a:ext cx="1046163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9" name="Object 5">
            <a:extLst>
              <a:ext uri="{FF2B5EF4-FFF2-40B4-BE49-F238E27FC236}">
                <a16:creationId xmlns:a16="http://schemas.microsoft.com/office/drawing/2014/main" id="{249C402B-22CB-EA05-10DB-A60AE96305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3050" y="2760663"/>
          <a:ext cx="490378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349500" imgH="457200" progId="Equation.3">
                  <p:embed/>
                </p:oleObj>
              </mc:Choice>
              <mc:Fallback>
                <p:oleObj r:id="rId5" imgW="23495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2760663"/>
                        <a:ext cx="4903788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6" name="Object 12">
            <a:extLst>
              <a:ext uri="{FF2B5EF4-FFF2-40B4-BE49-F238E27FC236}">
                <a16:creationId xmlns:a16="http://schemas.microsoft.com/office/drawing/2014/main" id="{FA5D5D00-9E0D-0E91-517A-6FE3C67DE0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149725"/>
          <a:ext cx="360045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266963" imgH="438102" progId="Equation.3">
                  <p:embed/>
                </p:oleObj>
              </mc:Choice>
              <mc:Fallback>
                <p:oleObj r:id="rId7" imgW="2266963" imgH="43810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149725"/>
                        <a:ext cx="360045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4" name="Rectangle 4">
            <a:extLst>
              <a:ext uri="{FF2B5EF4-FFF2-40B4-BE49-F238E27FC236}">
                <a16:creationId xmlns:a16="http://schemas.microsoft.com/office/drawing/2014/main" id="{CD034DE7-55AD-8D3B-1955-424DB3E58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0525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欠阻尼（</a:t>
            </a:r>
            <a:r>
              <a:rPr lang="en-US" altLang="zh-CN" sz="2800" b="1">
                <a:latin typeface="Times New Roman" panose="02020603050405020304" pitchFamily="18" charset="0"/>
              </a:rPr>
              <a:t>0&lt;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 b="1">
                <a:latin typeface="Times New Roman" panose="02020603050405020304" pitchFamily="18" charset="0"/>
              </a:rPr>
              <a:t>&lt;1</a:t>
            </a:r>
            <a:r>
              <a:rPr lang="zh-CN" altLang="en-US" sz="2800" b="1">
                <a:latin typeface="宋体" panose="02010600030101010101" pitchFamily="2" charset="-122"/>
              </a:rPr>
              <a:t>）状态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07530" name="Object 10">
            <a:extLst>
              <a:ext uri="{FF2B5EF4-FFF2-40B4-BE49-F238E27FC236}">
                <a16:creationId xmlns:a16="http://schemas.microsoft.com/office/drawing/2014/main" id="{E04EEED9-7A4A-EF0D-9260-F9CCDBAA94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2276475"/>
          <a:ext cx="498633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01900" imgH="304800" progId="Equation.3">
                  <p:embed/>
                </p:oleObj>
              </mc:Choice>
              <mc:Fallback>
                <p:oleObj r:id="rId3" imgW="2501900" imgH="304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276475"/>
                        <a:ext cx="4986337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1" name="Rectangle 11">
            <a:extLst>
              <a:ext uri="{FF2B5EF4-FFF2-40B4-BE49-F238E27FC236}">
                <a16:creationId xmlns:a16="http://schemas.microsoft.com/office/drawing/2014/main" id="{AB4A3913-8934-4449-A06D-17F89CC73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700213"/>
            <a:ext cx="5832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二阶系统具有一对共轭复数极点：</a:t>
            </a:r>
          </a:p>
        </p:txBody>
      </p:sp>
      <p:graphicFrame>
        <p:nvGraphicFramePr>
          <p:cNvPr id="107533" name="Object 13">
            <a:extLst>
              <a:ext uri="{FF2B5EF4-FFF2-40B4-BE49-F238E27FC236}">
                <a16:creationId xmlns:a16="http://schemas.microsoft.com/office/drawing/2014/main" id="{DBCAEC68-0E20-48F3-7393-F6591F3239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048000"/>
          <a:ext cx="5543550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200419" imgH="1028717" progId="Equation.3">
                  <p:embed/>
                </p:oleObj>
              </mc:Choice>
              <mc:Fallback>
                <p:oleObj r:id="rId5" imgW="3200419" imgH="102871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048000"/>
                        <a:ext cx="5543550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5" name="Text Box 15">
            <a:extLst>
              <a:ext uri="{FF2B5EF4-FFF2-40B4-BE49-F238E27FC236}">
                <a16:creationId xmlns:a16="http://schemas.microsoft.com/office/drawing/2014/main" id="{C52AA8EA-2007-DD1A-5A6C-1908FC044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5084763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反变换得：</a:t>
            </a:r>
          </a:p>
        </p:txBody>
      </p:sp>
      <p:graphicFrame>
        <p:nvGraphicFramePr>
          <p:cNvPr id="17412" name="Object 9">
            <a:extLst>
              <a:ext uri="{FF2B5EF4-FFF2-40B4-BE49-F238E27FC236}">
                <a16:creationId xmlns:a16="http://schemas.microsoft.com/office/drawing/2014/main" id="{D13C7947-43B5-56EA-0A7B-E3A8B69BC4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5300663"/>
          <a:ext cx="587057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514600" imgH="431800" progId="Equation.3">
                  <p:embed/>
                </p:oleObj>
              </mc:Choice>
              <mc:Fallback>
                <p:oleObj r:id="rId7" imgW="25146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300663"/>
                        <a:ext cx="5870575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7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/>
      <p:bldP spid="107531" grpId="0"/>
      <p:bldP spid="10753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Text Box 3">
            <a:extLst>
              <a:ext uri="{FF2B5EF4-FFF2-40B4-BE49-F238E27FC236}">
                <a16:creationId xmlns:a16="http://schemas.microsoft.com/office/drawing/2014/main" id="{DE8431F4-282D-D32C-AB76-B60AD4E75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789363"/>
            <a:ext cx="10207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Arial" panose="020B0604020202020204" pitchFamily="34" charset="0"/>
              </a:rPr>
              <a:t>此处： </a:t>
            </a:r>
          </a:p>
        </p:txBody>
      </p:sp>
      <p:graphicFrame>
        <p:nvGraphicFramePr>
          <p:cNvPr id="109572" name="Object 4">
            <a:extLst>
              <a:ext uri="{FF2B5EF4-FFF2-40B4-BE49-F238E27FC236}">
                <a16:creationId xmlns:a16="http://schemas.microsoft.com/office/drawing/2014/main" id="{E20542F0-FDF3-811C-98B9-F9E770B4D6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644900"/>
          <a:ext cx="19224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62095" imgH="495328" progId="Equation.3">
                  <p:embed/>
                </p:oleObj>
              </mc:Choice>
              <mc:Fallback>
                <p:oleObj r:id="rId3" imgW="1162095" imgH="49532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644900"/>
                        <a:ext cx="1922463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3" name="Text Box 5">
            <a:extLst>
              <a:ext uri="{FF2B5EF4-FFF2-40B4-BE49-F238E27FC236}">
                <a16:creationId xmlns:a16="http://schemas.microsoft.com/office/drawing/2014/main" id="{D7C55BE3-C3C1-4C6D-711E-D87D2DCE2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575300"/>
            <a:ext cx="40179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Arial" panose="020B0604020202020204" pitchFamily="34" charset="0"/>
              </a:rPr>
              <a:t>欠阻尼情况下的阶跃响应见右图。</a:t>
            </a:r>
          </a:p>
        </p:txBody>
      </p:sp>
      <p:pic>
        <p:nvPicPr>
          <p:cNvPr id="109574" name="Picture 6">
            <a:extLst>
              <a:ext uri="{FF2B5EF4-FFF2-40B4-BE49-F238E27FC236}">
                <a16:creationId xmlns:a16="http://schemas.microsoft.com/office/drawing/2014/main" id="{23977859-59CB-2406-3B92-70D63518B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4149725"/>
            <a:ext cx="3433763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9575" name="Object 7">
            <a:extLst>
              <a:ext uri="{FF2B5EF4-FFF2-40B4-BE49-F238E27FC236}">
                <a16:creationId xmlns:a16="http://schemas.microsoft.com/office/drawing/2014/main" id="{9E85B528-8CDB-3F2F-67B1-3F87A702FA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500" y="4652963"/>
          <a:ext cx="41529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800367" imgH="419207" progId="Equation.3">
                  <p:embed/>
                </p:oleObj>
              </mc:Choice>
              <mc:Fallback>
                <p:oleObj r:id="rId6" imgW="2800367" imgH="41920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4652963"/>
                        <a:ext cx="41529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5" name="组合 9">
            <a:extLst>
              <a:ext uri="{FF2B5EF4-FFF2-40B4-BE49-F238E27FC236}">
                <a16:creationId xmlns:a16="http://schemas.microsoft.com/office/drawing/2014/main" id="{31A28FCB-AC25-4505-F2AE-77716F5DEDD1}"/>
              </a:ext>
            </a:extLst>
          </p:cNvPr>
          <p:cNvGrpSpPr>
            <a:grpSpLocks/>
          </p:cNvGrpSpPr>
          <p:nvPr/>
        </p:nvGrpSpPr>
        <p:grpSpPr bwMode="auto">
          <a:xfrm>
            <a:off x="769938" y="390525"/>
            <a:ext cx="5803900" cy="3209925"/>
            <a:chOff x="769938" y="390525"/>
            <a:chExt cx="5803900" cy="3209925"/>
          </a:xfrm>
        </p:grpSpPr>
        <p:graphicFrame>
          <p:nvGraphicFramePr>
            <p:cNvPr id="53261" name="Object 2">
              <a:extLst>
                <a:ext uri="{FF2B5EF4-FFF2-40B4-BE49-F238E27FC236}">
                  <a16:creationId xmlns:a16="http://schemas.microsoft.com/office/drawing/2014/main" id="{3BAED133-C5F2-4C5A-A799-7181FAF006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9938" y="390525"/>
            <a:ext cx="5803900" cy="3209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3257646" imgH="1733513" progId="Equation.DSMT4">
                    <p:embed/>
                  </p:oleObj>
                </mc:Choice>
                <mc:Fallback>
                  <p:oleObj r:id="rId8" imgW="3257646" imgH="1733513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9938" y="390525"/>
                          <a:ext cx="5803900" cy="3209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2" name="TextBox 8">
              <a:extLst>
                <a:ext uri="{FF2B5EF4-FFF2-40B4-BE49-F238E27FC236}">
                  <a16:creationId xmlns:a16="http://schemas.microsoft.com/office/drawing/2014/main" id="{99A58386-3224-5095-360C-03BF2B058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584" y="620688"/>
              <a:ext cx="648072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c(t)</a:t>
              </a:r>
              <a:endParaRPr lang="zh-CN" altLang="en-US" sz="2400"/>
            </a:p>
          </p:txBody>
        </p:sp>
      </p:grpSp>
      <p:sp>
        <p:nvSpPr>
          <p:cNvPr id="53256" name="TextBox 10">
            <a:extLst>
              <a:ext uri="{FF2B5EF4-FFF2-40B4-BE49-F238E27FC236}">
                <a16:creationId xmlns:a16="http://schemas.microsoft.com/office/drawing/2014/main" id="{14F29A0C-AF7D-F64C-5AE0-26CAF64C6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2781300"/>
            <a:ext cx="360363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ym typeface="Symbol" panose="05050102010706020507" pitchFamily="18" charset="2"/>
              </a:rPr>
              <a:t>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  <a:endParaRPr lang="zh-CN" altLang="en-US" sz="2400"/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F2424F0A-4DFB-1902-5AEA-9EEC6966E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4191000"/>
            <a:ext cx="3433763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组合 13">
            <a:extLst>
              <a:ext uri="{FF2B5EF4-FFF2-40B4-BE49-F238E27FC236}">
                <a16:creationId xmlns:a16="http://schemas.microsoft.com/office/drawing/2014/main" id="{7A0B7FFC-1A1D-1CE3-1EE9-5A009C9D4071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1557338"/>
            <a:ext cx="2447925" cy="2346325"/>
            <a:chOff x="6156325" y="1557338"/>
            <a:chExt cx="2447925" cy="2346325"/>
          </a:xfrm>
        </p:grpSpPr>
        <p:pic>
          <p:nvPicPr>
            <p:cNvPr id="53259" name="Picture 8">
              <a:extLst>
                <a:ext uri="{FF2B5EF4-FFF2-40B4-BE49-F238E27FC236}">
                  <a16:creationId xmlns:a16="http://schemas.microsoft.com/office/drawing/2014/main" id="{45510EDB-9339-C56A-3789-5C9AB45FFD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6325" y="1557338"/>
              <a:ext cx="2447925" cy="234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60" name="TextBox 12">
              <a:extLst>
                <a:ext uri="{FF2B5EF4-FFF2-40B4-BE49-F238E27FC236}">
                  <a16:creationId xmlns:a16="http://schemas.microsoft.com/office/drawing/2014/main" id="{EE004658-5EDF-5957-80F8-EAD7D8A0F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232" y="2636912"/>
              <a:ext cx="288032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ym typeface="Symbol" panose="05050102010706020507" pitchFamily="18" charset="2"/>
                </a:rPr>
                <a:t></a:t>
              </a:r>
              <a:endParaRPr lang="zh-CN" altLang="en-US" sz="1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/>
      <p:bldP spid="10957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8" name="Group 3">
            <a:extLst>
              <a:ext uri="{FF2B5EF4-FFF2-40B4-BE49-F238E27FC236}">
                <a16:creationId xmlns:a16="http://schemas.microsoft.com/office/drawing/2014/main" id="{BA1EAE65-86C8-B462-9B6E-8FF38DCF2C06}"/>
              </a:ext>
            </a:extLst>
          </p:cNvPr>
          <p:cNvGrpSpPr>
            <a:grpSpLocks/>
          </p:cNvGrpSpPr>
          <p:nvPr/>
        </p:nvGrpSpPr>
        <p:grpSpPr bwMode="auto">
          <a:xfrm>
            <a:off x="754063" y="1700213"/>
            <a:ext cx="7245350" cy="5005387"/>
            <a:chOff x="477" y="1056"/>
            <a:chExt cx="4564" cy="3153"/>
          </a:xfrm>
        </p:grpSpPr>
        <p:sp>
          <p:nvSpPr>
            <p:cNvPr id="55299" name="Text Box 4">
              <a:extLst>
                <a:ext uri="{FF2B5EF4-FFF2-40B4-BE49-F238E27FC236}">
                  <a16:creationId xmlns:a16="http://schemas.microsoft.com/office/drawing/2014/main" id="{9FB20DCD-CFDA-74CB-35A7-DD10CABEACD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8" y="3921"/>
              <a:ext cx="29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ea typeface="楷体_GB2312" pitchFamily="49" charset="-122"/>
                </a:rPr>
                <a:t>欠阻尼二阶系统单位阶跃响应曲线</a:t>
              </a:r>
            </a:p>
          </p:txBody>
        </p:sp>
        <p:grpSp>
          <p:nvGrpSpPr>
            <p:cNvPr id="55300" name="Group 5">
              <a:extLst>
                <a:ext uri="{FF2B5EF4-FFF2-40B4-BE49-F238E27FC236}">
                  <a16:creationId xmlns:a16="http://schemas.microsoft.com/office/drawing/2014/main" id="{6AE5BE43-3595-1681-5B33-3764706BC4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" y="1056"/>
              <a:ext cx="4564" cy="2886"/>
              <a:chOff x="477" y="1104"/>
              <a:chExt cx="4564" cy="2886"/>
            </a:xfrm>
          </p:grpSpPr>
          <p:sp>
            <p:nvSpPr>
              <p:cNvPr id="55301" name="Rectangle 6">
                <a:extLst>
                  <a:ext uri="{FF2B5EF4-FFF2-40B4-BE49-F238E27FC236}">
                    <a16:creationId xmlns:a16="http://schemas.microsoft.com/office/drawing/2014/main" id="{4BA654CD-49F7-4B7A-D058-7924F504F2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1233"/>
                <a:ext cx="3609" cy="2421"/>
              </a:xfrm>
              <a:prstGeom prst="rect">
                <a:avLst/>
              </a:prstGeom>
              <a:noFill/>
              <a:ln w="15875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55302" name="Freeform 7">
                <a:extLst>
                  <a:ext uri="{FF2B5EF4-FFF2-40B4-BE49-F238E27FC236}">
                    <a16:creationId xmlns:a16="http://schemas.microsoft.com/office/drawing/2014/main" id="{02C20ED4-1F64-CACC-A6FB-91DB1563F3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1233"/>
                <a:ext cx="2" cy="2421"/>
              </a:xfrm>
              <a:custGeom>
                <a:avLst/>
                <a:gdLst>
                  <a:gd name="T0" fmla="*/ 0 w 2"/>
                  <a:gd name="T1" fmla="*/ 122030 h 341"/>
                  <a:gd name="T2" fmla="*/ 0 w 2"/>
                  <a:gd name="T3" fmla="*/ 0 h 3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41">
                    <a:moveTo>
                      <a:pt x="0" y="341"/>
                    </a:move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03" name="Freeform 8">
                <a:extLst>
                  <a:ext uri="{FF2B5EF4-FFF2-40B4-BE49-F238E27FC236}">
                    <a16:creationId xmlns:a16="http://schemas.microsoft.com/office/drawing/2014/main" id="{5EA0F807-7D04-F487-7662-ACBAB84A99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64" y="1233"/>
                <a:ext cx="1" cy="2421"/>
              </a:xfrm>
              <a:custGeom>
                <a:avLst/>
                <a:gdLst>
                  <a:gd name="T0" fmla="*/ 0 w 1"/>
                  <a:gd name="T1" fmla="*/ 122030 h 341"/>
                  <a:gd name="T2" fmla="*/ 0 w 1"/>
                  <a:gd name="T3" fmla="*/ 0 h 3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41">
                    <a:moveTo>
                      <a:pt x="0" y="341"/>
                    </a:move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04" name="Freeform 9">
                <a:extLst>
                  <a:ext uri="{FF2B5EF4-FFF2-40B4-BE49-F238E27FC236}">
                    <a16:creationId xmlns:a16="http://schemas.microsoft.com/office/drawing/2014/main" id="{51489752-DECA-85FA-0543-9CF0752CA3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73" y="1233"/>
                <a:ext cx="0" cy="2421"/>
              </a:xfrm>
              <a:custGeom>
                <a:avLst/>
                <a:gdLst>
                  <a:gd name="T0" fmla="*/ 0 w 1"/>
                  <a:gd name="T1" fmla="*/ 122030 h 341"/>
                  <a:gd name="T2" fmla="*/ 0 w 1"/>
                  <a:gd name="T3" fmla="*/ 0 h 3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41">
                    <a:moveTo>
                      <a:pt x="0" y="341"/>
                    </a:move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05" name="Freeform 10">
                <a:extLst>
                  <a:ext uri="{FF2B5EF4-FFF2-40B4-BE49-F238E27FC236}">
                    <a16:creationId xmlns:a16="http://schemas.microsoft.com/office/drawing/2014/main" id="{EBBAC586-61E0-EDDC-9C0C-B87EC6D723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872" y="1233"/>
                <a:ext cx="1" cy="2421"/>
              </a:xfrm>
              <a:custGeom>
                <a:avLst/>
                <a:gdLst>
                  <a:gd name="T0" fmla="*/ 0 w 1"/>
                  <a:gd name="T1" fmla="*/ 122030 h 341"/>
                  <a:gd name="T2" fmla="*/ 0 w 1"/>
                  <a:gd name="T3" fmla="*/ 0 h 3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41">
                    <a:moveTo>
                      <a:pt x="0" y="341"/>
                    </a:move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06" name="Freeform 11">
                <a:extLst>
                  <a:ext uri="{FF2B5EF4-FFF2-40B4-BE49-F238E27FC236}">
                    <a16:creationId xmlns:a16="http://schemas.microsoft.com/office/drawing/2014/main" id="{4D29A8A3-523F-8387-9CD3-B6E8F2A4E3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3654"/>
                <a:ext cx="3609" cy="0"/>
              </a:xfrm>
              <a:custGeom>
                <a:avLst/>
                <a:gdLst>
                  <a:gd name="T0" fmla="*/ 0 w 433"/>
                  <a:gd name="T1" fmla="*/ 0 h 1"/>
                  <a:gd name="T2" fmla="*/ 250721 w 4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07" name="Freeform 12">
                <a:extLst>
                  <a:ext uri="{FF2B5EF4-FFF2-40B4-BE49-F238E27FC236}">
                    <a16:creationId xmlns:a16="http://schemas.microsoft.com/office/drawing/2014/main" id="{736F73C5-E614-5FD1-031E-9BECEF1B3D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3412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50721 w 4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08" name="Freeform 13">
                <a:extLst>
                  <a:ext uri="{FF2B5EF4-FFF2-40B4-BE49-F238E27FC236}">
                    <a16:creationId xmlns:a16="http://schemas.microsoft.com/office/drawing/2014/main" id="{475E4977-443A-6C7E-DEF8-5B16623944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3171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50721 w 4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09" name="Freeform 14">
                <a:extLst>
                  <a:ext uri="{FF2B5EF4-FFF2-40B4-BE49-F238E27FC236}">
                    <a16:creationId xmlns:a16="http://schemas.microsoft.com/office/drawing/2014/main" id="{2F02DD7E-EB42-9191-B3A9-4A3FA26A73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2929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50721 w 4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0" name="Freeform 15">
                <a:extLst>
                  <a:ext uri="{FF2B5EF4-FFF2-40B4-BE49-F238E27FC236}">
                    <a16:creationId xmlns:a16="http://schemas.microsoft.com/office/drawing/2014/main" id="{03229758-05B7-AA15-43EA-6DD25B2548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2688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50721 w 4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1" name="Freeform 16">
                <a:extLst>
                  <a:ext uri="{FF2B5EF4-FFF2-40B4-BE49-F238E27FC236}">
                    <a16:creationId xmlns:a16="http://schemas.microsoft.com/office/drawing/2014/main" id="{E506A1CD-995C-91E4-B807-88A02E975A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2447"/>
                <a:ext cx="3609" cy="0"/>
              </a:xfrm>
              <a:custGeom>
                <a:avLst/>
                <a:gdLst>
                  <a:gd name="T0" fmla="*/ 0 w 433"/>
                  <a:gd name="T1" fmla="*/ 0 h 1"/>
                  <a:gd name="T2" fmla="*/ 250721 w 4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2" name="Freeform 17">
                <a:extLst>
                  <a:ext uri="{FF2B5EF4-FFF2-40B4-BE49-F238E27FC236}">
                    <a16:creationId xmlns:a16="http://schemas.microsoft.com/office/drawing/2014/main" id="{A87BE86B-EE9D-F40A-57EB-4E8E2639BC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2198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50721 w 4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3" name="Freeform 18">
                <a:extLst>
                  <a:ext uri="{FF2B5EF4-FFF2-40B4-BE49-F238E27FC236}">
                    <a16:creationId xmlns:a16="http://schemas.microsoft.com/office/drawing/2014/main" id="{74411E57-295E-4936-57C3-485E607B79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1957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50721 w 4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4" name="Freeform 19">
                <a:extLst>
                  <a:ext uri="{FF2B5EF4-FFF2-40B4-BE49-F238E27FC236}">
                    <a16:creationId xmlns:a16="http://schemas.microsoft.com/office/drawing/2014/main" id="{D3E3F00D-2A19-2BEF-87A7-49BD627F03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1716"/>
                <a:ext cx="3609" cy="0"/>
              </a:xfrm>
              <a:custGeom>
                <a:avLst/>
                <a:gdLst>
                  <a:gd name="T0" fmla="*/ 0 w 433"/>
                  <a:gd name="T1" fmla="*/ 0 h 1"/>
                  <a:gd name="T2" fmla="*/ 250721 w 4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5" name="Freeform 20">
                <a:extLst>
                  <a:ext uri="{FF2B5EF4-FFF2-40B4-BE49-F238E27FC236}">
                    <a16:creationId xmlns:a16="http://schemas.microsoft.com/office/drawing/2014/main" id="{6BAC0581-8D5C-3A7C-9D20-DF80907C20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1475"/>
                <a:ext cx="3609" cy="0"/>
              </a:xfrm>
              <a:custGeom>
                <a:avLst/>
                <a:gdLst>
                  <a:gd name="T0" fmla="*/ 0 w 433"/>
                  <a:gd name="T1" fmla="*/ 0 h 1"/>
                  <a:gd name="T2" fmla="*/ 250721 w 4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6" name="Freeform 21">
                <a:extLst>
                  <a:ext uri="{FF2B5EF4-FFF2-40B4-BE49-F238E27FC236}">
                    <a16:creationId xmlns:a16="http://schemas.microsoft.com/office/drawing/2014/main" id="{35CA44EF-C579-7368-D95C-1B252D8E38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1233"/>
                <a:ext cx="3609" cy="1"/>
              </a:xfrm>
              <a:custGeom>
                <a:avLst/>
                <a:gdLst>
                  <a:gd name="T0" fmla="*/ 0 w 433"/>
                  <a:gd name="T1" fmla="*/ 0 h 1"/>
                  <a:gd name="T2" fmla="*/ 250721 w 4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3" h="1">
                    <a:moveTo>
                      <a:pt x="0" y="0"/>
                    </a:moveTo>
                    <a:lnTo>
                      <a:pt x="43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7" name="Line 22">
                <a:extLst>
                  <a:ext uri="{FF2B5EF4-FFF2-40B4-BE49-F238E27FC236}">
                    <a16:creationId xmlns:a16="http://schemas.microsoft.com/office/drawing/2014/main" id="{306B6D49-3F0E-D17E-DCE3-E9700E9918A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3654"/>
                <a:ext cx="360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8" name="Line 23">
                <a:extLst>
                  <a:ext uri="{FF2B5EF4-FFF2-40B4-BE49-F238E27FC236}">
                    <a16:creationId xmlns:a16="http://schemas.microsoft.com/office/drawing/2014/main" id="{C3B49A2E-DA0F-7DCA-61E2-D867D2DEB7E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233"/>
                <a:ext cx="3609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9" name="Line 24">
                <a:extLst>
                  <a:ext uri="{FF2B5EF4-FFF2-40B4-BE49-F238E27FC236}">
                    <a16:creationId xmlns:a16="http://schemas.microsoft.com/office/drawing/2014/main" id="{BE53F58C-ABE6-B6A8-DBA9-13424EF2AF1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63" y="1233"/>
                <a:ext cx="2" cy="242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20" name="Line 25">
                <a:extLst>
                  <a:ext uri="{FF2B5EF4-FFF2-40B4-BE49-F238E27FC236}">
                    <a16:creationId xmlns:a16="http://schemas.microsoft.com/office/drawing/2014/main" id="{2848AFBA-A8F3-0ABA-AD38-3DD2F11F510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872" y="1233"/>
                <a:ext cx="1" cy="242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21" name="Line 26">
                <a:extLst>
                  <a:ext uri="{FF2B5EF4-FFF2-40B4-BE49-F238E27FC236}">
                    <a16:creationId xmlns:a16="http://schemas.microsoft.com/office/drawing/2014/main" id="{B7133D88-3842-C854-7EA7-00DCC0A5ACD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3654"/>
                <a:ext cx="360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22" name="Line 27">
                <a:extLst>
                  <a:ext uri="{FF2B5EF4-FFF2-40B4-BE49-F238E27FC236}">
                    <a16:creationId xmlns:a16="http://schemas.microsoft.com/office/drawing/2014/main" id="{43BA21E0-4BBE-C800-0F4E-3E1BBB16456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63" y="1233"/>
                <a:ext cx="2" cy="242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23" name="Line 28">
                <a:extLst>
                  <a:ext uri="{FF2B5EF4-FFF2-40B4-BE49-F238E27FC236}">
                    <a16:creationId xmlns:a16="http://schemas.microsoft.com/office/drawing/2014/main" id="{095F8C8A-1B4E-5592-CE2C-D0D9A37FA02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63" y="3625"/>
                <a:ext cx="2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24" name="Line 29">
                <a:extLst>
                  <a:ext uri="{FF2B5EF4-FFF2-40B4-BE49-F238E27FC236}">
                    <a16:creationId xmlns:a16="http://schemas.microsoft.com/office/drawing/2014/main" id="{E8F1751A-DDDB-4493-3C09-374BEAD8A97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233"/>
                <a:ext cx="2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25" name="Line 30">
                <a:extLst>
                  <a:ext uri="{FF2B5EF4-FFF2-40B4-BE49-F238E27FC236}">
                    <a16:creationId xmlns:a16="http://schemas.microsoft.com/office/drawing/2014/main" id="{70C87896-9E82-4CC5-937A-FEDDF5D5551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464" y="3625"/>
                <a:ext cx="1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26" name="Line 31">
                <a:extLst>
                  <a:ext uri="{FF2B5EF4-FFF2-40B4-BE49-F238E27FC236}">
                    <a16:creationId xmlns:a16="http://schemas.microsoft.com/office/drawing/2014/main" id="{980DAD08-5ABF-CE4E-2258-34D295831C9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64" y="1233"/>
                <a:ext cx="1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27" name="Rectangle 32">
                <a:extLst>
                  <a:ext uri="{FF2B5EF4-FFF2-40B4-BE49-F238E27FC236}">
                    <a16:creationId xmlns:a16="http://schemas.microsoft.com/office/drawing/2014/main" id="{895B9415-1A30-5DE9-F59B-A53076C363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7" y="3654"/>
                <a:ext cx="1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5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28" name="Line 33">
                <a:extLst>
                  <a:ext uri="{FF2B5EF4-FFF2-40B4-BE49-F238E27FC236}">
                    <a16:creationId xmlns:a16="http://schemas.microsoft.com/office/drawing/2014/main" id="{3709C5A1-E9BD-B30D-78DE-C7958FDFF1A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673" y="3625"/>
                <a:ext cx="0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29" name="Line 34">
                <a:extLst>
                  <a:ext uri="{FF2B5EF4-FFF2-40B4-BE49-F238E27FC236}">
                    <a16:creationId xmlns:a16="http://schemas.microsoft.com/office/drawing/2014/main" id="{C056182B-293B-CA1F-2C2E-61CED705312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73" y="1233"/>
                <a:ext cx="0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0" name="Rectangle 35">
                <a:extLst>
                  <a:ext uri="{FF2B5EF4-FFF2-40B4-BE49-F238E27FC236}">
                    <a16:creationId xmlns:a16="http://schemas.microsoft.com/office/drawing/2014/main" id="{E3DCBA2D-BABD-8BFD-5A16-DB9AFA3258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92" y="3654"/>
                <a:ext cx="25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10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31" name="Line 36">
                <a:extLst>
                  <a:ext uri="{FF2B5EF4-FFF2-40B4-BE49-F238E27FC236}">
                    <a16:creationId xmlns:a16="http://schemas.microsoft.com/office/drawing/2014/main" id="{AD4B9CF0-BB3A-C12F-B73E-C8074CF05F3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872" y="3625"/>
                <a:ext cx="1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2" name="Line 37">
                <a:extLst>
                  <a:ext uri="{FF2B5EF4-FFF2-40B4-BE49-F238E27FC236}">
                    <a16:creationId xmlns:a16="http://schemas.microsoft.com/office/drawing/2014/main" id="{74B74589-D785-987E-058F-3ADE9882DEF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872" y="1233"/>
                <a:ext cx="1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3" name="Rectangle 38">
                <a:extLst>
                  <a:ext uri="{FF2B5EF4-FFF2-40B4-BE49-F238E27FC236}">
                    <a16:creationId xmlns:a16="http://schemas.microsoft.com/office/drawing/2014/main" id="{A606BC40-4C2B-6889-105A-C7CA06CEAD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791" y="3654"/>
                <a:ext cx="25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15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34" name="Line 39">
                <a:extLst>
                  <a:ext uri="{FF2B5EF4-FFF2-40B4-BE49-F238E27FC236}">
                    <a16:creationId xmlns:a16="http://schemas.microsoft.com/office/drawing/2014/main" id="{CB351FEF-E7D1-B669-7C5F-196CAEBC6A7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3654"/>
                <a:ext cx="34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5" name="Line 40">
                <a:extLst>
                  <a:ext uri="{FF2B5EF4-FFF2-40B4-BE49-F238E27FC236}">
                    <a16:creationId xmlns:a16="http://schemas.microsoft.com/office/drawing/2014/main" id="{85B4822D-77CC-961B-AC45-91AFA0393F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3654"/>
                <a:ext cx="33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6" name="Rectangle 41">
                <a:extLst>
                  <a:ext uri="{FF2B5EF4-FFF2-40B4-BE49-F238E27FC236}">
                    <a16:creationId xmlns:a16="http://schemas.microsoft.com/office/drawing/2014/main" id="{4F7D0155-7A41-31C7-A782-6004D0A607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60" y="3524"/>
                <a:ext cx="1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37" name="Line 42">
                <a:extLst>
                  <a:ext uri="{FF2B5EF4-FFF2-40B4-BE49-F238E27FC236}">
                    <a16:creationId xmlns:a16="http://schemas.microsoft.com/office/drawing/2014/main" id="{19A0A011-90D4-8FE0-966F-D6FCD738624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3412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8" name="Line 43">
                <a:extLst>
                  <a:ext uri="{FF2B5EF4-FFF2-40B4-BE49-F238E27FC236}">
                    <a16:creationId xmlns:a16="http://schemas.microsoft.com/office/drawing/2014/main" id="{EEA8735B-B383-F00B-E476-0908329AFEC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3412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9" name="Rectangle 44">
                <a:extLst>
                  <a:ext uri="{FF2B5EF4-FFF2-40B4-BE49-F238E27FC236}">
                    <a16:creationId xmlns:a16="http://schemas.microsoft.com/office/drawing/2014/main" id="{00F3B5E3-0F01-882D-4CD8-C1A8E28D47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3282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0.2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40" name="Line 45">
                <a:extLst>
                  <a:ext uri="{FF2B5EF4-FFF2-40B4-BE49-F238E27FC236}">
                    <a16:creationId xmlns:a16="http://schemas.microsoft.com/office/drawing/2014/main" id="{4251731D-D5A4-D6F1-139C-01D469EE76D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3171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41" name="Line 46">
                <a:extLst>
                  <a:ext uri="{FF2B5EF4-FFF2-40B4-BE49-F238E27FC236}">
                    <a16:creationId xmlns:a16="http://schemas.microsoft.com/office/drawing/2014/main" id="{7E748B81-1BFF-E8B8-9057-5FB9EEA6776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3171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42" name="Rectangle 47">
                <a:extLst>
                  <a:ext uri="{FF2B5EF4-FFF2-40B4-BE49-F238E27FC236}">
                    <a16:creationId xmlns:a16="http://schemas.microsoft.com/office/drawing/2014/main" id="{75304FCC-931A-601B-7745-F83E4391FB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3041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0.4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43" name="Line 48">
                <a:extLst>
                  <a:ext uri="{FF2B5EF4-FFF2-40B4-BE49-F238E27FC236}">
                    <a16:creationId xmlns:a16="http://schemas.microsoft.com/office/drawing/2014/main" id="{76613B56-4990-C360-7FF3-A5B3952CB24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2929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44" name="Line 49">
                <a:extLst>
                  <a:ext uri="{FF2B5EF4-FFF2-40B4-BE49-F238E27FC236}">
                    <a16:creationId xmlns:a16="http://schemas.microsoft.com/office/drawing/2014/main" id="{3D438AD2-9684-E00B-AAE5-8DF7BC7AA22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2929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45" name="Rectangle 50">
                <a:extLst>
                  <a:ext uri="{FF2B5EF4-FFF2-40B4-BE49-F238E27FC236}">
                    <a16:creationId xmlns:a16="http://schemas.microsoft.com/office/drawing/2014/main" id="{3ADFFAA0-8E65-1AA8-0B07-BBA57C3822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2800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0.6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46" name="Line 51">
                <a:extLst>
                  <a:ext uri="{FF2B5EF4-FFF2-40B4-BE49-F238E27FC236}">
                    <a16:creationId xmlns:a16="http://schemas.microsoft.com/office/drawing/2014/main" id="{D21D4321-BE3A-0BE3-7675-2DA41E2D975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2688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47" name="Line 52">
                <a:extLst>
                  <a:ext uri="{FF2B5EF4-FFF2-40B4-BE49-F238E27FC236}">
                    <a16:creationId xmlns:a16="http://schemas.microsoft.com/office/drawing/2014/main" id="{33DE8346-E584-3EC6-0F8F-DC6A9A640F9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2688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48" name="Rectangle 53">
                <a:extLst>
                  <a:ext uri="{FF2B5EF4-FFF2-40B4-BE49-F238E27FC236}">
                    <a16:creationId xmlns:a16="http://schemas.microsoft.com/office/drawing/2014/main" id="{C0AE678E-47D0-B46C-04B6-AA8B12FE5A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2559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0.8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49" name="Line 54">
                <a:extLst>
                  <a:ext uri="{FF2B5EF4-FFF2-40B4-BE49-F238E27FC236}">
                    <a16:creationId xmlns:a16="http://schemas.microsoft.com/office/drawing/2014/main" id="{7CEDE6E8-3138-82B6-4557-234FDC20D24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2447"/>
                <a:ext cx="34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50" name="Line 55">
                <a:extLst>
                  <a:ext uri="{FF2B5EF4-FFF2-40B4-BE49-F238E27FC236}">
                    <a16:creationId xmlns:a16="http://schemas.microsoft.com/office/drawing/2014/main" id="{45C42936-4049-CD77-9202-283540F7136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2447"/>
                <a:ext cx="33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51" name="Rectangle 56">
                <a:extLst>
                  <a:ext uri="{FF2B5EF4-FFF2-40B4-BE49-F238E27FC236}">
                    <a16:creationId xmlns:a16="http://schemas.microsoft.com/office/drawing/2014/main" id="{12CC22F3-85AE-8CE5-0CC4-205BC84244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60" y="2317"/>
                <a:ext cx="1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52" name="Line 57">
                <a:extLst>
                  <a:ext uri="{FF2B5EF4-FFF2-40B4-BE49-F238E27FC236}">
                    <a16:creationId xmlns:a16="http://schemas.microsoft.com/office/drawing/2014/main" id="{260A73C5-B220-EB75-AA83-075217C9820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2198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53" name="Line 58">
                <a:extLst>
                  <a:ext uri="{FF2B5EF4-FFF2-40B4-BE49-F238E27FC236}">
                    <a16:creationId xmlns:a16="http://schemas.microsoft.com/office/drawing/2014/main" id="{7238D531-B7EF-56E9-1886-65A3148FDC4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2198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54" name="Rectangle 59">
                <a:extLst>
                  <a:ext uri="{FF2B5EF4-FFF2-40B4-BE49-F238E27FC236}">
                    <a16:creationId xmlns:a16="http://schemas.microsoft.com/office/drawing/2014/main" id="{7E1D96A2-5E86-26DC-B945-BE8A58D2F6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2068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1.2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55" name="Line 60">
                <a:extLst>
                  <a:ext uri="{FF2B5EF4-FFF2-40B4-BE49-F238E27FC236}">
                    <a16:creationId xmlns:a16="http://schemas.microsoft.com/office/drawing/2014/main" id="{7C93253B-C467-B7B4-D83A-7D151FAEE6F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957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56" name="Line 61">
                <a:extLst>
                  <a:ext uri="{FF2B5EF4-FFF2-40B4-BE49-F238E27FC236}">
                    <a16:creationId xmlns:a16="http://schemas.microsoft.com/office/drawing/2014/main" id="{8E749D03-E45E-6E08-F855-54C8A459392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1957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57" name="Rectangle 62">
                <a:extLst>
                  <a:ext uri="{FF2B5EF4-FFF2-40B4-BE49-F238E27FC236}">
                    <a16:creationId xmlns:a16="http://schemas.microsoft.com/office/drawing/2014/main" id="{746644B6-5D5B-6109-2D48-19CAD1B0F6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1827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1.4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58" name="Line 63">
                <a:extLst>
                  <a:ext uri="{FF2B5EF4-FFF2-40B4-BE49-F238E27FC236}">
                    <a16:creationId xmlns:a16="http://schemas.microsoft.com/office/drawing/2014/main" id="{852A58BC-6825-22A3-4B9D-495FE6309D3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716"/>
                <a:ext cx="34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59" name="Line 64">
                <a:extLst>
                  <a:ext uri="{FF2B5EF4-FFF2-40B4-BE49-F238E27FC236}">
                    <a16:creationId xmlns:a16="http://schemas.microsoft.com/office/drawing/2014/main" id="{2D4B20F7-9568-2579-5E72-0709FDE52B0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1716"/>
                <a:ext cx="33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0" name="Rectangle 65">
                <a:extLst>
                  <a:ext uri="{FF2B5EF4-FFF2-40B4-BE49-F238E27FC236}">
                    <a16:creationId xmlns:a16="http://schemas.microsoft.com/office/drawing/2014/main" id="{4D46C91D-FEA4-0416-5737-D85E6DFB65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1587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1.6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61" name="Line 66">
                <a:extLst>
                  <a:ext uri="{FF2B5EF4-FFF2-40B4-BE49-F238E27FC236}">
                    <a16:creationId xmlns:a16="http://schemas.microsoft.com/office/drawing/2014/main" id="{B4555003-7BC2-A6D2-9EF0-3ABB65BE513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475"/>
                <a:ext cx="34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2" name="Line 67">
                <a:extLst>
                  <a:ext uri="{FF2B5EF4-FFF2-40B4-BE49-F238E27FC236}">
                    <a16:creationId xmlns:a16="http://schemas.microsoft.com/office/drawing/2014/main" id="{7D9D08A1-B06D-F933-5166-6C580ABD2FD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1475"/>
                <a:ext cx="33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3" name="Rectangle 68">
                <a:extLst>
                  <a:ext uri="{FF2B5EF4-FFF2-40B4-BE49-F238E27FC236}">
                    <a16:creationId xmlns:a16="http://schemas.microsoft.com/office/drawing/2014/main" id="{639513E6-7054-DED6-E8DA-286DC91E24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8" y="1345"/>
                <a:ext cx="3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1.8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64" name="Line 69">
                <a:extLst>
                  <a:ext uri="{FF2B5EF4-FFF2-40B4-BE49-F238E27FC236}">
                    <a16:creationId xmlns:a16="http://schemas.microsoft.com/office/drawing/2014/main" id="{E1A4044E-7AA5-85F6-FCCC-5B780DEFDBA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233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5" name="Line 70">
                <a:extLst>
                  <a:ext uri="{FF2B5EF4-FFF2-40B4-BE49-F238E27FC236}">
                    <a16:creationId xmlns:a16="http://schemas.microsoft.com/office/drawing/2014/main" id="{D0969B70-1544-D17F-8F04-62F930BA6FA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39" y="1233"/>
                <a:ext cx="3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6" name="Rectangle 71">
                <a:extLst>
                  <a:ext uri="{FF2B5EF4-FFF2-40B4-BE49-F238E27FC236}">
                    <a16:creationId xmlns:a16="http://schemas.microsoft.com/office/drawing/2014/main" id="{72DBED96-926F-694B-78DC-CE0102A92A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60" y="1104"/>
                <a:ext cx="1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2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67" name="Line 72">
                <a:extLst>
                  <a:ext uri="{FF2B5EF4-FFF2-40B4-BE49-F238E27FC236}">
                    <a16:creationId xmlns:a16="http://schemas.microsoft.com/office/drawing/2014/main" id="{4D5AFE0F-A9EC-C979-F077-03A1C8E0A3D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3654"/>
                <a:ext cx="3609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8" name="Line 73">
                <a:extLst>
                  <a:ext uri="{FF2B5EF4-FFF2-40B4-BE49-F238E27FC236}">
                    <a16:creationId xmlns:a16="http://schemas.microsoft.com/office/drawing/2014/main" id="{FD08DDEC-9D63-8C12-4F50-FD99C358BE8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1233"/>
                <a:ext cx="360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9" name="Line 74">
                <a:extLst>
                  <a:ext uri="{FF2B5EF4-FFF2-40B4-BE49-F238E27FC236}">
                    <a16:creationId xmlns:a16="http://schemas.microsoft.com/office/drawing/2014/main" id="{2EBCC2ED-1FE7-48D6-CD65-3CCF11D3BBF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63" y="1233"/>
                <a:ext cx="2" cy="242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0" name="Line 75">
                <a:extLst>
                  <a:ext uri="{FF2B5EF4-FFF2-40B4-BE49-F238E27FC236}">
                    <a16:creationId xmlns:a16="http://schemas.microsoft.com/office/drawing/2014/main" id="{26A3E0E7-4CD3-8F64-8588-8921D0D690D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872" y="1233"/>
                <a:ext cx="1" cy="242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1" name="Freeform 76">
                <a:extLst>
                  <a:ext uri="{FF2B5EF4-FFF2-40B4-BE49-F238E27FC236}">
                    <a16:creationId xmlns:a16="http://schemas.microsoft.com/office/drawing/2014/main" id="{8EDA8FC1-AA65-8455-4833-B68244C425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1808"/>
                <a:ext cx="3609" cy="1846"/>
              </a:xfrm>
              <a:custGeom>
                <a:avLst/>
                <a:gdLst>
                  <a:gd name="T0" fmla="*/ 32 w 4519"/>
                  <a:gd name="T1" fmla="*/ 906 h 2620"/>
                  <a:gd name="T2" fmla="*/ 74 w 4519"/>
                  <a:gd name="T3" fmla="*/ 846 h 2620"/>
                  <a:gd name="T4" fmla="*/ 122 w 4519"/>
                  <a:gd name="T5" fmla="*/ 750 h 2620"/>
                  <a:gd name="T6" fmla="*/ 170 w 4519"/>
                  <a:gd name="T7" fmla="*/ 631 h 2620"/>
                  <a:gd name="T8" fmla="*/ 213 w 4519"/>
                  <a:gd name="T9" fmla="*/ 497 h 2620"/>
                  <a:gd name="T10" fmla="*/ 261 w 4519"/>
                  <a:gd name="T11" fmla="*/ 363 h 2620"/>
                  <a:gd name="T12" fmla="*/ 309 w 4519"/>
                  <a:gd name="T13" fmla="*/ 240 h 2620"/>
                  <a:gd name="T14" fmla="*/ 351 w 4519"/>
                  <a:gd name="T15" fmla="*/ 137 h 2620"/>
                  <a:gd name="T16" fmla="*/ 399 w 4519"/>
                  <a:gd name="T17" fmla="*/ 60 h 2620"/>
                  <a:gd name="T18" fmla="*/ 446 w 4519"/>
                  <a:gd name="T19" fmla="*/ 14 h 2620"/>
                  <a:gd name="T20" fmla="*/ 490 w 4519"/>
                  <a:gd name="T21" fmla="*/ 0 h 2620"/>
                  <a:gd name="T22" fmla="*/ 537 w 4519"/>
                  <a:gd name="T23" fmla="*/ 11 h 2620"/>
                  <a:gd name="T24" fmla="*/ 585 w 4519"/>
                  <a:gd name="T25" fmla="*/ 49 h 2620"/>
                  <a:gd name="T26" fmla="*/ 628 w 4519"/>
                  <a:gd name="T27" fmla="*/ 106 h 2620"/>
                  <a:gd name="T28" fmla="*/ 676 w 4519"/>
                  <a:gd name="T29" fmla="*/ 173 h 2620"/>
                  <a:gd name="T30" fmla="*/ 723 w 4519"/>
                  <a:gd name="T31" fmla="*/ 243 h 2620"/>
                  <a:gd name="T32" fmla="*/ 765 w 4519"/>
                  <a:gd name="T33" fmla="*/ 314 h 2620"/>
                  <a:gd name="T34" fmla="*/ 813 w 4519"/>
                  <a:gd name="T35" fmla="*/ 373 h 2620"/>
                  <a:gd name="T36" fmla="*/ 861 w 4519"/>
                  <a:gd name="T37" fmla="*/ 423 h 2620"/>
                  <a:gd name="T38" fmla="*/ 904 w 4519"/>
                  <a:gd name="T39" fmla="*/ 458 h 2620"/>
                  <a:gd name="T40" fmla="*/ 952 w 4519"/>
                  <a:gd name="T41" fmla="*/ 480 h 2620"/>
                  <a:gd name="T42" fmla="*/ 999 w 4519"/>
                  <a:gd name="T43" fmla="*/ 483 h 2620"/>
                  <a:gd name="T44" fmla="*/ 1042 w 4519"/>
                  <a:gd name="T45" fmla="*/ 469 h 2620"/>
                  <a:gd name="T46" fmla="*/ 1089 w 4519"/>
                  <a:gd name="T47" fmla="*/ 448 h 2620"/>
                  <a:gd name="T48" fmla="*/ 1137 w 4519"/>
                  <a:gd name="T49" fmla="*/ 416 h 2620"/>
                  <a:gd name="T50" fmla="*/ 1180 w 4519"/>
                  <a:gd name="T51" fmla="*/ 380 h 2620"/>
                  <a:gd name="T52" fmla="*/ 1227 w 4519"/>
                  <a:gd name="T53" fmla="*/ 342 h 2620"/>
                  <a:gd name="T54" fmla="*/ 1276 w 4519"/>
                  <a:gd name="T55" fmla="*/ 306 h 2620"/>
                  <a:gd name="T56" fmla="*/ 1319 w 4519"/>
                  <a:gd name="T57" fmla="*/ 275 h 2620"/>
                  <a:gd name="T58" fmla="*/ 1366 w 4519"/>
                  <a:gd name="T59" fmla="*/ 250 h 2620"/>
                  <a:gd name="T60" fmla="*/ 1414 w 4519"/>
                  <a:gd name="T61" fmla="*/ 236 h 2620"/>
                  <a:gd name="T62" fmla="*/ 1456 w 4519"/>
                  <a:gd name="T63" fmla="*/ 230 h 2620"/>
                  <a:gd name="T64" fmla="*/ 1504 w 4519"/>
                  <a:gd name="T65" fmla="*/ 230 h 2620"/>
                  <a:gd name="T66" fmla="*/ 1552 w 4519"/>
                  <a:gd name="T67" fmla="*/ 236 h 2620"/>
                  <a:gd name="T68" fmla="*/ 1595 w 4519"/>
                  <a:gd name="T69" fmla="*/ 250 h 2620"/>
                  <a:gd name="T70" fmla="*/ 1643 w 4519"/>
                  <a:gd name="T71" fmla="*/ 268 h 2620"/>
                  <a:gd name="T72" fmla="*/ 1691 w 4519"/>
                  <a:gd name="T73" fmla="*/ 289 h 2620"/>
                  <a:gd name="T74" fmla="*/ 1733 w 4519"/>
                  <a:gd name="T75" fmla="*/ 306 h 2620"/>
                  <a:gd name="T76" fmla="*/ 1781 w 4519"/>
                  <a:gd name="T77" fmla="*/ 324 h 2620"/>
                  <a:gd name="T78" fmla="*/ 1829 w 4519"/>
                  <a:gd name="T79" fmla="*/ 342 h 2620"/>
                  <a:gd name="T80" fmla="*/ 1870 w 4519"/>
                  <a:gd name="T81" fmla="*/ 352 h 2620"/>
                  <a:gd name="T82" fmla="*/ 1918 w 4519"/>
                  <a:gd name="T83" fmla="*/ 359 h 2620"/>
                  <a:gd name="T84" fmla="*/ 1962 w 4519"/>
                  <a:gd name="T85" fmla="*/ 363 h 2620"/>
                  <a:gd name="T86" fmla="*/ 2009 w 4519"/>
                  <a:gd name="T87" fmla="*/ 359 h 2620"/>
                  <a:gd name="T88" fmla="*/ 2057 w 4519"/>
                  <a:gd name="T89" fmla="*/ 356 h 2620"/>
                  <a:gd name="T90" fmla="*/ 2100 w 4519"/>
                  <a:gd name="T91" fmla="*/ 345 h 2620"/>
                  <a:gd name="T92" fmla="*/ 2148 w 4519"/>
                  <a:gd name="T93" fmla="*/ 339 h 2620"/>
                  <a:gd name="T94" fmla="*/ 2195 w 4519"/>
                  <a:gd name="T95" fmla="*/ 328 h 2620"/>
                  <a:gd name="T96" fmla="*/ 2238 w 4519"/>
                  <a:gd name="T97" fmla="*/ 317 h 2620"/>
                  <a:gd name="T98" fmla="*/ 2285 w 4519"/>
                  <a:gd name="T99" fmla="*/ 306 h 262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4519" h="2620">
                    <a:moveTo>
                      <a:pt x="0" y="2620"/>
                    </a:moveTo>
                    <a:lnTo>
                      <a:pt x="32" y="2610"/>
                    </a:lnTo>
                    <a:lnTo>
                      <a:pt x="63" y="2590"/>
                    </a:lnTo>
                    <a:lnTo>
                      <a:pt x="94" y="2549"/>
                    </a:lnTo>
                    <a:lnTo>
                      <a:pt x="126" y="2489"/>
                    </a:lnTo>
                    <a:lnTo>
                      <a:pt x="146" y="2418"/>
                    </a:lnTo>
                    <a:lnTo>
                      <a:pt x="178" y="2338"/>
                    </a:lnTo>
                    <a:lnTo>
                      <a:pt x="209" y="2247"/>
                    </a:lnTo>
                    <a:lnTo>
                      <a:pt x="240" y="2146"/>
                    </a:lnTo>
                    <a:lnTo>
                      <a:pt x="272" y="2035"/>
                    </a:lnTo>
                    <a:lnTo>
                      <a:pt x="303" y="1925"/>
                    </a:lnTo>
                    <a:lnTo>
                      <a:pt x="334" y="1804"/>
                    </a:lnTo>
                    <a:lnTo>
                      <a:pt x="366" y="1673"/>
                    </a:lnTo>
                    <a:lnTo>
                      <a:pt x="397" y="1552"/>
                    </a:lnTo>
                    <a:lnTo>
                      <a:pt x="418" y="1421"/>
                    </a:lnTo>
                    <a:lnTo>
                      <a:pt x="449" y="1290"/>
                    </a:lnTo>
                    <a:lnTo>
                      <a:pt x="480" y="1159"/>
                    </a:lnTo>
                    <a:lnTo>
                      <a:pt x="512" y="1038"/>
                    </a:lnTo>
                    <a:lnTo>
                      <a:pt x="543" y="917"/>
                    </a:lnTo>
                    <a:lnTo>
                      <a:pt x="574" y="796"/>
                    </a:lnTo>
                    <a:lnTo>
                      <a:pt x="606" y="685"/>
                    </a:lnTo>
                    <a:lnTo>
                      <a:pt x="637" y="575"/>
                    </a:lnTo>
                    <a:lnTo>
                      <a:pt x="668" y="484"/>
                    </a:lnTo>
                    <a:lnTo>
                      <a:pt x="689" y="393"/>
                    </a:lnTo>
                    <a:lnTo>
                      <a:pt x="720" y="313"/>
                    </a:lnTo>
                    <a:lnTo>
                      <a:pt x="752" y="232"/>
                    </a:lnTo>
                    <a:lnTo>
                      <a:pt x="783" y="172"/>
                    </a:lnTo>
                    <a:lnTo>
                      <a:pt x="814" y="121"/>
                    </a:lnTo>
                    <a:lnTo>
                      <a:pt x="846" y="71"/>
                    </a:lnTo>
                    <a:lnTo>
                      <a:pt x="877" y="41"/>
                    </a:lnTo>
                    <a:lnTo>
                      <a:pt x="908" y="21"/>
                    </a:lnTo>
                    <a:lnTo>
                      <a:pt x="929" y="0"/>
                    </a:lnTo>
                    <a:lnTo>
                      <a:pt x="960" y="0"/>
                    </a:lnTo>
                    <a:lnTo>
                      <a:pt x="992" y="0"/>
                    </a:lnTo>
                    <a:lnTo>
                      <a:pt x="1023" y="10"/>
                    </a:lnTo>
                    <a:lnTo>
                      <a:pt x="1054" y="31"/>
                    </a:lnTo>
                    <a:lnTo>
                      <a:pt x="1086" y="61"/>
                    </a:lnTo>
                    <a:lnTo>
                      <a:pt x="1117" y="101"/>
                    </a:lnTo>
                    <a:lnTo>
                      <a:pt x="1148" y="141"/>
                    </a:lnTo>
                    <a:lnTo>
                      <a:pt x="1179" y="192"/>
                    </a:lnTo>
                    <a:lnTo>
                      <a:pt x="1200" y="242"/>
                    </a:lnTo>
                    <a:lnTo>
                      <a:pt x="1232" y="303"/>
                    </a:lnTo>
                    <a:lnTo>
                      <a:pt x="1263" y="363"/>
                    </a:lnTo>
                    <a:lnTo>
                      <a:pt x="1294" y="424"/>
                    </a:lnTo>
                    <a:lnTo>
                      <a:pt x="1326" y="494"/>
                    </a:lnTo>
                    <a:lnTo>
                      <a:pt x="1357" y="554"/>
                    </a:lnTo>
                    <a:lnTo>
                      <a:pt x="1388" y="625"/>
                    </a:lnTo>
                    <a:lnTo>
                      <a:pt x="1419" y="696"/>
                    </a:lnTo>
                    <a:lnTo>
                      <a:pt x="1451" y="766"/>
                    </a:lnTo>
                    <a:lnTo>
                      <a:pt x="1472" y="826"/>
                    </a:lnTo>
                    <a:lnTo>
                      <a:pt x="1503" y="897"/>
                    </a:lnTo>
                    <a:lnTo>
                      <a:pt x="1534" y="957"/>
                    </a:lnTo>
                    <a:lnTo>
                      <a:pt x="1566" y="1018"/>
                    </a:lnTo>
                    <a:lnTo>
                      <a:pt x="1597" y="1068"/>
                    </a:lnTo>
                    <a:lnTo>
                      <a:pt x="1628" y="1119"/>
                    </a:lnTo>
                    <a:lnTo>
                      <a:pt x="1659" y="1169"/>
                    </a:lnTo>
                    <a:lnTo>
                      <a:pt x="1691" y="1209"/>
                    </a:lnTo>
                    <a:lnTo>
                      <a:pt x="1722" y="1250"/>
                    </a:lnTo>
                    <a:lnTo>
                      <a:pt x="1743" y="1280"/>
                    </a:lnTo>
                    <a:lnTo>
                      <a:pt x="1774" y="1310"/>
                    </a:lnTo>
                    <a:lnTo>
                      <a:pt x="1806" y="1340"/>
                    </a:lnTo>
                    <a:lnTo>
                      <a:pt x="1837" y="1350"/>
                    </a:lnTo>
                    <a:lnTo>
                      <a:pt x="1868" y="1371"/>
                    </a:lnTo>
                    <a:lnTo>
                      <a:pt x="1899" y="1371"/>
                    </a:lnTo>
                    <a:lnTo>
                      <a:pt x="1931" y="1381"/>
                    </a:lnTo>
                    <a:lnTo>
                      <a:pt x="1962" y="1381"/>
                    </a:lnTo>
                    <a:lnTo>
                      <a:pt x="1993" y="1371"/>
                    </a:lnTo>
                    <a:lnTo>
                      <a:pt x="2014" y="1360"/>
                    </a:lnTo>
                    <a:lnTo>
                      <a:pt x="2046" y="1340"/>
                    </a:lnTo>
                    <a:lnTo>
                      <a:pt x="2077" y="1330"/>
                    </a:lnTo>
                    <a:lnTo>
                      <a:pt x="2108" y="1300"/>
                    </a:lnTo>
                    <a:lnTo>
                      <a:pt x="2139" y="1280"/>
                    </a:lnTo>
                    <a:lnTo>
                      <a:pt x="2171" y="1250"/>
                    </a:lnTo>
                    <a:lnTo>
                      <a:pt x="2202" y="1219"/>
                    </a:lnTo>
                    <a:lnTo>
                      <a:pt x="2233" y="1189"/>
                    </a:lnTo>
                    <a:lnTo>
                      <a:pt x="2265" y="1159"/>
                    </a:lnTo>
                    <a:lnTo>
                      <a:pt x="2286" y="1119"/>
                    </a:lnTo>
                    <a:lnTo>
                      <a:pt x="2317" y="1088"/>
                    </a:lnTo>
                    <a:lnTo>
                      <a:pt x="2348" y="1048"/>
                    </a:lnTo>
                    <a:lnTo>
                      <a:pt x="2379" y="1018"/>
                    </a:lnTo>
                    <a:lnTo>
                      <a:pt x="2411" y="978"/>
                    </a:lnTo>
                    <a:lnTo>
                      <a:pt x="2442" y="947"/>
                    </a:lnTo>
                    <a:lnTo>
                      <a:pt x="2473" y="907"/>
                    </a:lnTo>
                    <a:lnTo>
                      <a:pt x="2505" y="877"/>
                    </a:lnTo>
                    <a:lnTo>
                      <a:pt x="2526" y="847"/>
                    </a:lnTo>
                    <a:lnTo>
                      <a:pt x="2557" y="816"/>
                    </a:lnTo>
                    <a:lnTo>
                      <a:pt x="2588" y="786"/>
                    </a:lnTo>
                    <a:lnTo>
                      <a:pt x="2619" y="766"/>
                    </a:lnTo>
                    <a:lnTo>
                      <a:pt x="2651" y="736"/>
                    </a:lnTo>
                    <a:lnTo>
                      <a:pt x="2682" y="716"/>
                    </a:lnTo>
                    <a:lnTo>
                      <a:pt x="2713" y="706"/>
                    </a:lnTo>
                    <a:lnTo>
                      <a:pt x="2745" y="685"/>
                    </a:lnTo>
                    <a:lnTo>
                      <a:pt x="2776" y="675"/>
                    </a:lnTo>
                    <a:lnTo>
                      <a:pt x="2797" y="665"/>
                    </a:lnTo>
                    <a:lnTo>
                      <a:pt x="2828" y="655"/>
                    </a:lnTo>
                    <a:lnTo>
                      <a:pt x="2859" y="655"/>
                    </a:lnTo>
                    <a:lnTo>
                      <a:pt x="2891" y="655"/>
                    </a:lnTo>
                    <a:lnTo>
                      <a:pt x="2922" y="655"/>
                    </a:lnTo>
                    <a:lnTo>
                      <a:pt x="2953" y="655"/>
                    </a:lnTo>
                    <a:lnTo>
                      <a:pt x="2985" y="665"/>
                    </a:lnTo>
                    <a:lnTo>
                      <a:pt x="3016" y="665"/>
                    </a:lnTo>
                    <a:lnTo>
                      <a:pt x="3047" y="675"/>
                    </a:lnTo>
                    <a:lnTo>
                      <a:pt x="3068" y="685"/>
                    </a:lnTo>
                    <a:lnTo>
                      <a:pt x="3099" y="706"/>
                    </a:lnTo>
                    <a:lnTo>
                      <a:pt x="3131" y="716"/>
                    </a:lnTo>
                    <a:lnTo>
                      <a:pt x="3162" y="736"/>
                    </a:lnTo>
                    <a:lnTo>
                      <a:pt x="3193" y="746"/>
                    </a:lnTo>
                    <a:lnTo>
                      <a:pt x="3225" y="766"/>
                    </a:lnTo>
                    <a:lnTo>
                      <a:pt x="3256" y="786"/>
                    </a:lnTo>
                    <a:lnTo>
                      <a:pt x="3287" y="806"/>
                    </a:lnTo>
                    <a:lnTo>
                      <a:pt x="3319" y="826"/>
                    </a:lnTo>
                    <a:lnTo>
                      <a:pt x="3339" y="847"/>
                    </a:lnTo>
                    <a:lnTo>
                      <a:pt x="3371" y="857"/>
                    </a:lnTo>
                    <a:lnTo>
                      <a:pt x="3402" y="877"/>
                    </a:lnTo>
                    <a:lnTo>
                      <a:pt x="3433" y="897"/>
                    </a:lnTo>
                    <a:lnTo>
                      <a:pt x="3465" y="917"/>
                    </a:lnTo>
                    <a:lnTo>
                      <a:pt x="3496" y="927"/>
                    </a:lnTo>
                    <a:lnTo>
                      <a:pt x="3527" y="947"/>
                    </a:lnTo>
                    <a:lnTo>
                      <a:pt x="3559" y="957"/>
                    </a:lnTo>
                    <a:lnTo>
                      <a:pt x="3590" y="978"/>
                    </a:lnTo>
                    <a:lnTo>
                      <a:pt x="3611" y="988"/>
                    </a:lnTo>
                    <a:lnTo>
                      <a:pt x="3642" y="998"/>
                    </a:lnTo>
                    <a:lnTo>
                      <a:pt x="3673" y="1008"/>
                    </a:lnTo>
                    <a:lnTo>
                      <a:pt x="3705" y="1018"/>
                    </a:lnTo>
                    <a:lnTo>
                      <a:pt x="3736" y="1018"/>
                    </a:lnTo>
                    <a:lnTo>
                      <a:pt x="3767" y="1028"/>
                    </a:lnTo>
                    <a:lnTo>
                      <a:pt x="3799" y="1028"/>
                    </a:lnTo>
                    <a:lnTo>
                      <a:pt x="3830" y="1038"/>
                    </a:lnTo>
                    <a:lnTo>
                      <a:pt x="3851" y="1038"/>
                    </a:lnTo>
                    <a:lnTo>
                      <a:pt x="3882" y="1038"/>
                    </a:lnTo>
                    <a:lnTo>
                      <a:pt x="3913" y="1028"/>
                    </a:lnTo>
                    <a:lnTo>
                      <a:pt x="3945" y="1028"/>
                    </a:lnTo>
                    <a:lnTo>
                      <a:pt x="3976" y="1028"/>
                    </a:lnTo>
                    <a:lnTo>
                      <a:pt x="4007" y="1018"/>
                    </a:lnTo>
                    <a:lnTo>
                      <a:pt x="4039" y="1018"/>
                    </a:lnTo>
                    <a:lnTo>
                      <a:pt x="4070" y="1008"/>
                    </a:lnTo>
                    <a:lnTo>
                      <a:pt x="4101" y="998"/>
                    </a:lnTo>
                    <a:lnTo>
                      <a:pt x="4122" y="988"/>
                    </a:lnTo>
                    <a:lnTo>
                      <a:pt x="4153" y="988"/>
                    </a:lnTo>
                    <a:lnTo>
                      <a:pt x="4185" y="978"/>
                    </a:lnTo>
                    <a:lnTo>
                      <a:pt x="4216" y="968"/>
                    </a:lnTo>
                    <a:lnTo>
                      <a:pt x="4247" y="957"/>
                    </a:lnTo>
                    <a:lnTo>
                      <a:pt x="4279" y="947"/>
                    </a:lnTo>
                    <a:lnTo>
                      <a:pt x="4310" y="937"/>
                    </a:lnTo>
                    <a:lnTo>
                      <a:pt x="4341" y="927"/>
                    </a:lnTo>
                    <a:lnTo>
                      <a:pt x="4372" y="917"/>
                    </a:lnTo>
                    <a:lnTo>
                      <a:pt x="4393" y="907"/>
                    </a:lnTo>
                    <a:lnTo>
                      <a:pt x="4425" y="897"/>
                    </a:lnTo>
                    <a:lnTo>
                      <a:pt x="4456" y="887"/>
                    </a:lnTo>
                    <a:lnTo>
                      <a:pt x="4487" y="877"/>
                    </a:lnTo>
                    <a:lnTo>
                      <a:pt x="4519" y="867"/>
                    </a:lnTo>
                  </a:path>
                </a:pathLst>
              </a:custGeom>
              <a:noFill/>
              <a:ln w="38100">
                <a:solidFill>
                  <a:srgbClr val="1C12D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2" name="Freeform 77">
                <a:extLst>
                  <a:ext uri="{FF2B5EF4-FFF2-40B4-BE49-F238E27FC236}">
                    <a16:creationId xmlns:a16="http://schemas.microsoft.com/office/drawing/2014/main" id="{F95DA17E-7BB5-57CD-5B5C-BA4B315489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2135"/>
                <a:ext cx="3609" cy="1519"/>
              </a:xfrm>
              <a:custGeom>
                <a:avLst/>
                <a:gdLst>
                  <a:gd name="T0" fmla="*/ 32 w 4519"/>
                  <a:gd name="T1" fmla="*/ 743 h 2156"/>
                  <a:gd name="T2" fmla="*/ 74 w 4519"/>
                  <a:gd name="T3" fmla="*/ 690 h 2156"/>
                  <a:gd name="T4" fmla="*/ 122 w 4519"/>
                  <a:gd name="T5" fmla="*/ 606 h 2156"/>
                  <a:gd name="T6" fmla="*/ 170 w 4519"/>
                  <a:gd name="T7" fmla="*/ 504 h 2156"/>
                  <a:gd name="T8" fmla="*/ 213 w 4519"/>
                  <a:gd name="T9" fmla="*/ 395 h 2156"/>
                  <a:gd name="T10" fmla="*/ 261 w 4519"/>
                  <a:gd name="T11" fmla="*/ 289 h 2156"/>
                  <a:gd name="T12" fmla="*/ 309 w 4519"/>
                  <a:gd name="T13" fmla="*/ 197 h 2156"/>
                  <a:gd name="T14" fmla="*/ 351 w 4519"/>
                  <a:gd name="T15" fmla="*/ 120 h 2156"/>
                  <a:gd name="T16" fmla="*/ 399 w 4519"/>
                  <a:gd name="T17" fmla="*/ 63 h 2156"/>
                  <a:gd name="T18" fmla="*/ 446 w 4519"/>
                  <a:gd name="T19" fmla="*/ 25 h 2156"/>
                  <a:gd name="T20" fmla="*/ 490 w 4519"/>
                  <a:gd name="T21" fmla="*/ 4 h 2156"/>
                  <a:gd name="T22" fmla="*/ 537 w 4519"/>
                  <a:gd name="T23" fmla="*/ 0 h 2156"/>
                  <a:gd name="T24" fmla="*/ 585 w 4519"/>
                  <a:gd name="T25" fmla="*/ 11 h 2156"/>
                  <a:gd name="T26" fmla="*/ 628 w 4519"/>
                  <a:gd name="T27" fmla="*/ 27 h 2156"/>
                  <a:gd name="T28" fmla="*/ 676 w 4519"/>
                  <a:gd name="T29" fmla="*/ 53 h 2156"/>
                  <a:gd name="T30" fmla="*/ 723 w 4519"/>
                  <a:gd name="T31" fmla="*/ 81 h 2156"/>
                  <a:gd name="T32" fmla="*/ 765 w 4519"/>
                  <a:gd name="T33" fmla="*/ 109 h 2156"/>
                  <a:gd name="T34" fmla="*/ 813 w 4519"/>
                  <a:gd name="T35" fmla="*/ 134 h 2156"/>
                  <a:gd name="T36" fmla="*/ 861 w 4519"/>
                  <a:gd name="T37" fmla="*/ 155 h 2156"/>
                  <a:gd name="T38" fmla="*/ 904 w 4519"/>
                  <a:gd name="T39" fmla="*/ 169 h 2156"/>
                  <a:gd name="T40" fmla="*/ 952 w 4519"/>
                  <a:gd name="T41" fmla="*/ 183 h 2156"/>
                  <a:gd name="T42" fmla="*/ 999 w 4519"/>
                  <a:gd name="T43" fmla="*/ 190 h 2156"/>
                  <a:gd name="T44" fmla="*/ 1042 w 4519"/>
                  <a:gd name="T45" fmla="*/ 190 h 2156"/>
                  <a:gd name="T46" fmla="*/ 1089 w 4519"/>
                  <a:gd name="T47" fmla="*/ 190 h 2156"/>
                  <a:gd name="T48" fmla="*/ 1137 w 4519"/>
                  <a:gd name="T49" fmla="*/ 187 h 2156"/>
                  <a:gd name="T50" fmla="*/ 1180 w 4519"/>
                  <a:gd name="T51" fmla="*/ 180 h 2156"/>
                  <a:gd name="T52" fmla="*/ 1227 w 4519"/>
                  <a:gd name="T53" fmla="*/ 176 h 2156"/>
                  <a:gd name="T54" fmla="*/ 1276 w 4519"/>
                  <a:gd name="T55" fmla="*/ 169 h 2156"/>
                  <a:gd name="T56" fmla="*/ 1319 w 4519"/>
                  <a:gd name="T57" fmla="*/ 162 h 2156"/>
                  <a:gd name="T58" fmla="*/ 1366 w 4519"/>
                  <a:gd name="T59" fmla="*/ 155 h 2156"/>
                  <a:gd name="T60" fmla="*/ 1414 w 4519"/>
                  <a:gd name="T61" fmla="*/ 151 h 2156"/>
                  <a:gd name="T62" fmla="*/ 1456 w 4519"/>
                  <a:gd name="T63" fmla="*/ 148 h 2156"/>
                  <a:gd name="T64" fmla="*/ 1504 w 4519"/>
                  <a:gd name="T65" fmla="*/ 144 h 2156"/>
                  <a:gd name="T66" fmla="*/ 1552 w 4519"/>
                  <a:gd name="T67" fmla="*/ 144 h 2156"/>
                  <a:gd name="T68" fmla="*/ 1595 w 4519"/>
                  <a:gd name="T69" fmla="*/ 144 h 2156"/>
                  <a:gd name="T70" fmla="*/ 1643 w 4519"/>
                  <a:gd name="T71" fmla="*/ 144 h 2156"/>
                  <a:gd name="T72" fmla="*/ 1691 w 4519"/>
                  <a:gd name="T73" fmla="*/ 144 h 2156"/>
                  <a:gd name="T74" fmla="*/ 1733 w 4519"/>
                  <a:gd name="T75" fmla="*/ 148 h 2156"/>
                  <a:gd name="T76" fmla="*/ 1781 w 4519"/>
                  <a:gd name="T77" fmla="*/ 148 h 2156"/>
                  <a:gd name="T78" fmla="*/ 1829 w 4519"/>
                  <a:gd name="T79" fmla="*/ 151 h 2156"/>
                  <a:gd name="T80" fmla="*/ 1870 w 4519"/>
                  <a:gd name="T81" fmla="*/ 151 h 2156"/>
                  <a:gd name="T82" fmla="*/ 1918 w 4519"/>
                  <a:gd name="T83" fmla="*/ 155 h 2156"/>
                  <a:gd name="T84" fmla="*/ 1962 w 4519"/>
                  <a:gd name="T85" fmla="*/ 155 h 2156"/>
                  <a:gd name="T86" fmla="*/ 2009 w 4519"/>
                  <a:gd name="T87" fmla="*/ 155 h 2156"/>
                  <a:gd name="T88" fmla="*/ 2057 w 4519"/>
                  <a:gd name="T89" fmla="*/ 155 h 2156"/>
                  <a:gd name="T90" fmla="*/ 2100 w 4519"/>
                  <a:gd name="T91" fmla="*/ 155 h 2156"/>
                  <a:gd name="T92" fmla="*/ 2148 w 4519"/>
                  <a:gd name="T93" fmla="*/ 155 h 2156"/>
                  <a:gd name="T94" fmla="*/ 2195 w 4519"/>
                  <a:gd name="T95" fmla="*/ 155 h 2156"/>
                  <a:gd name="T96" fmla="*/ 2238 w 4519"/>
                  <a:gd name="T97" fmla="*/ 155 h 2156"/>
                  <a:gd name="T98" fmla="*/ 2285 w 4519"/>
                  <a:gd name="T99" fmla="*/ 155 h 215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4519" h="2156">
                    <a:moveTo>
                      <a:pt x="0" y="2156"/>
                    </a:moveTo>
                    <a:lnTo>
                      <a:pt x="32" y="2146"/>
                    </a:lnTo>
                    <a:lnTo>
                      <a:pt x="63" y="2126"/>
                    </a:lnTo>
                    <a:lnTo>
                      <a:pt x="94" y="2085"/>
                    </a:lnTo>
                    <a:lnTo>
                      <a:pt x="126" y="2035"/>
                    </a:lnTo>
                    <a:lnTo>
                      <a:pt x="146" y="1974"/>
                    </a:lnTo>
                    <a:lnTo>
                      <a:pt x="178" y="1894"/>
                    </a:lnTo>
                    <a:lnTo>
                      <a:pt x="209" y="1813"/>
                    </a:lnTo>
                    <a:lnTo>
                      <a:pt x="240" y="1733"/>
                    </a:lnTo>
                    <a:lnTo>
                      <a:pt x="272" y="1632"/>
                    </a:lnTo>
                    <a:lnTo>
                      <a:pt x="303" y="1541"/>
                    </a:lnTo>
                    <a:lnTo>
                      <a:pt x="334" y="1440"/>
                    </a:lnTo>
                    <a:lnTo>
                      <a:pt x="366" y="1330"/>
                    </a:lnTo>
                    <a:lnTo>
                      <a:pt x="397" y="1229"/>
                    </a:lnTo>
                    <a:lnTo>
                      <a:pt x="418" y="1128"/>
                    </a:lnTo>
                    <a:lnTo>
                      <a:pt x="449" y="1027"/>
                    </a:lnTo>
                    <a:lnTo>
                      <a:pt x="480" y="927"/>
                    </a:lnTo>
                    <a:lnTo>
                      <a:pt x="512" y="826"/>
                    </a:lnTo>
                    <a:lnTo>
                      <a:pt x="543" y="735"/>
                    </a:lnTo>
                    <a:lnTo>
                      <a:pt x="574" y="645"/>
                    </a:lnTo>
                    <a:lnTo>
                      <a:pt x="606" y="564"/>
                    </a:lnTo>
                    <a:lnTo>
                      <a:pt x="637" y="483"/>
                    </a:lnTo>
                    <a:lnTo>
                      <a:pt x="668" y="413"/>
                    </a:lnTo>
                    <a:lnTo>
                      <a:pt x="689" y="342"/>
                    </a:lnTo>
                    <a:lnTo>
                      <a:pt x="720" y="282"/>
                    </a:lnTo>
                    <a:lnTo>
                      <a:pt x="752" y="232"/>
                    </a:lnTo>
                    <a:lnTo>
                      <a:pt x="783" y="181"/>
                    </a:lnTo>
                    <a:lnTo>
                      <a:pt x="814" y="141"/>
                    </a:lnTo>
                    <a:lnTo>
                      <a:pt x="846" y="101"/>
                    </a:lnTo>
                    <a:lnTo>
                      <a:pt x="877" y="70"/>
                    </a:lnTo>
                    <a:lnTo>
                      <a:pt x="908" y="50"/>
                    </a:lnTo>
                    <a:lnTo>
                      <a:pt x="929" y="30"/>
                    </a:lnTo>
                    <a:lnTo>
                      <a:pt x="960" y="10"/>
                    </a:lnTo>
                    <a:lnTo>
                      <a:pt x="992" y="10"/>
                    </a:lnTo>
                    <a:lnTo>
                      <a:pt x="1023" y="0"/>
                    </a:lnTo>
                    <a:lnTo>
                      <a:pt x="1054" y="0"/>
                    </a:lnTo>
                    <a:lnTo>
                      <a:pt x="1086" y="10"/>
                    </a:lnTo>
                    <a:lnTo>
                      <a:pt x="1117" y="20"/>
                    </a:lnTo>
                    <a:lnTo>
                      <a:pt x="1148" y="30"/>
                    </a:lnTo>
                    <a:lnTo>
                      <a:pt x="1179" y="40"/>
                    </a:lnTo>
                    <a:lnTo>
                      <a:pt x="1200" y="60"/>
                    </a:lnTo>
                    <a:lnTo>
                      <a:pt x="1232" y="80"/>
                    </a:lnTo>
                    <a:lnTo>
                      <a:pt x="1263" y="101"/>
                    </a:lnTo>
                    <a:lnTo>
                      <a:pt x="1294" y="131"/>
                    </a:lnTo>
                    <a:lnTo>
                      <a:pt x="1326" y="151"/>
                    </a:lnTo>
                    <a:lnTo>
                      <a:pt x="1357" y="181"/>
                    </a:lnTo>
                    <a:lnTo>
                      <a:pt x="1388" y="201"/>
                    </a:lnTo>
                    <a:lnTo>
                      <a:pt x="1419" y="232"/>
                    </a:lnTo>
                    <a:lnTo>
                      <a:pt x="1451" y="252"/>
                    </a:lnTo>
                    <a:lnTo>
                      <a:pt x="1472" y="282"/>
                    </a:lnTo>
                    <a:lnTo>
                      <a:pt x="1503" y="312"/>
                    </a:lnTo>
                    <a:lnTo>
                      <a:pt x="1534" y="332"/>
                    </a:lnTo>
                    <a:lnTo>
                      <a:pt x="1566" y="352"/>
                    </a:lnTo>
                    <a:lnTo>
                      <a:pt x="1597" y="383"/>
                    </a:lnTo>
                    <a:lnTo>
                      <a:pt x="1628" y="403"/>
                    </a:lnTo>
                    <a:lnTo>
                      <a:pt x="1659" y="423"/>
                    </a:lnTo>
                    <a:lnTo>
                      <a:pt x="1691" y="443"/>
                    </a:lnTo>
                    <a:lnTo>
                      <a:pt x="1722" y="453"/>
                    </a:lnTo>
                    <a:lnTo>
                      <a:pt x="1743" y="473"/>
                    </a:lnTo>
                    <a:lnTo>
                      <a:pt x="1774" y="483"/>
                    </a:lnTo>
                    <a:lnTo>
                      <a:pt x="1806" y="504"/>
                    </a:lnTo>
                    <a:lnTo>
                      <a:pt x="1837" y="514"/>
                    </a:lnTo>
                    <a:lnTo>
                      <a:pt x="1868" y="524"/>
                    </a:lnTo>
                    <a:lnTo>
                      <a:pt x="1899" y="534"/>
                    </a:lnTo>
                    <a:lnTo>
                      <a:pt x="1931" y="534"/>
                    </a:lnTo>
                    <a:lnTo>
                      <a:pt x="1962" y="544"/>
                    </a:lnTo>
                    <a:lnTo>
                      <a:pt x="1993" y="544"/>
                    </a:lnTo>
                    <a:lnTo>
                      <a:pt x="2014" y="544"/>
                    </a:lnTo>
                    <a:lnTo>
                      <a:pt x="2046" y="544"/>
                    </a:lnTo>
                    <a:lnTo>
                      <a:pt x="2077" y="544"/>
                    </a:lnTo>
                    <a:lnTo>
                      <a:pt x="2108" y="544"/>
                    </a:lnTo>
                    <a:lnTo>
                      <a:pt x="2139" y="544"/>
                    </a:lnTo>
                    <a:lnTo>
                      <a:pt x="2171" y="544"/>
                    </a:lnTo>
                    <a:lnTo>
                      <a:pt x="2202" y="544"/>
                    </a:lnTo>
                    <a:lnTo>
                      <a:pt x="2233" y="534"/>
                    </a:lnTo>
                    <a:lnTo>
                      <a:pt x="2265" y="534"/>
                    </a:lnTo>
                    <a:lnTo>
                      <a:pt x="2286" y="524"/>
                    </a:lnTo>
                    <a:lnTo>
                      <a:pt x="2317" y="514"/>
                    </a:lnTo>
                    <a:lnTo>
                      <a:pt x="2348" y="514"/>
                    </a:lnTo>
                    <a:lnTo>
                      <a:pt x="2379" y="504"/>
                    </a:lnTo>
                    <a:lnTo>
                      <a:pt x="2411" y="504"/>
                    </a:lnTo>
                    <a:lnTo>
                      <a:pt x="2442" y="493"/>
                    </a:lnTo>
                    <a:lnTo>
                      <a:pt x="2473" y="483"/>
                    </a:lnTo>
                    <a:lnTo>
                      <a:pt x="2505" y="483"/>
                    </a:lnTo>
                    <a:lnTo>
                      <a:pt x="2526" y="473"/>
                    </a:lnTo>
                    <a:lnTo>
                      <a:pt x="2557" y="463"/>
                    </a:lnTo>
                    <a:lnTo>
                      <a:pt x="2588" y="463"/>
                    </a:lnTo>
                    <a:lnTo>
                      <a:pt x="2619" y="453"/>
                    </a:lnTo>
                    <a:lnTo>
                      <a:pt x="2651" y="453"/>
                    </a:lnTo>
                    <a:lnTo>
                      <a:pt x="2682" y="443"/>
                    </a:lnTo>
                    <a:lnTo>
                      <a:pt x="2713" y="443"/>
                    </a:lnTo>
                    <a:lnTo>
                      <a:pt x="2745" y="433"/>
                    </a:lnTo>
                    <a:lnTo>
                      <a:pt x="2776" y="433"/>
                    </a:lnTo>
                    <a:lnTo>
                      <a:pt x="2797" y="423"/>
                    </a:lnTo>
                    <a:lnTo>
                      <a:pt x="2828" y="423"/>
                    </a:lnTo>
                    <a:lnTo>
                      <a:pt x="2859" y="423"/>
                    </a:lnTo>
                    <a:lnTo>
                      <a:pt x="2891" y="413"/>
                    </a:lnTo>
                    <a:lnTo>
                      <a:pt x="2922" y="413"/>
                    </a:lnTo>
                    <a:lnTo>
                      <a:pt x="2953" y="413"/>
                    </a:lnTo>
                    <a:lnTo>
                      <a:pt x="2985" y="413"/>
                    </a:lnTo>
                    <a:lnTo>
                      <a:pt x="3016" y="413"/>
                    </a:lnTo>
                    <a:lnTo>
                      <a:pt x="3047" y="413"/>
                    </a:lnTo>
                    <a:lnTo>
                      <a:pt x="3068" y="413"/>
                    </a:lnTo>
                    <a:lnTo>
                      <a:pt x="3099" y="413"/>
                    </a:lnTo>
                    <a:lnTo>
                      <a:pt x="3131" y="413"/>
                    </a:lnTo>
                    <a:lnTo>
                      <a:pt x="3162" y="413"/>
                    </a:lnTo>
                    <a:lnTo>
                      <a:pt x="3193" y="413"/>
                    </a:lnTo>
                    <a:lnTo>
                      <a:pt x="3225" y="413"/>
                    </a:lnTo>
                    <a:lnTo>
                      <a:pt x="3256" y="413"/>
                    </a:lnTo>
                    <a:lnTo>
                      <a:pt x="3287" y="413"/>
                    </a:lnTo>
                    <a:lnTo>
                      <a:pt x="3319" y="413"/>
                    </a:lnTo>
                    <a:lnTo>
                      <a:pt x="3339" y="413"/>
                    </a:lnTo>
                    <a:lnTo>
                      <a:pt x="3371" y="423"/>
                    </a:lnTo>
                    <a:lnTo>
                      <a:pt x="3402" y="423"/>
                    </a:lnTo>
                    <a:lnTo>
                      <a:pt x="3433" y="423"/>
                    </a:lnTo>
                    <a:lnTo>
                      <a:pt x="3465" y="423"/>
                    </a:lnTo>
                    <a:lnTo>
                      <a:pt x="3496" y="423"/>
                    </a:lnTo>
                    <a:lnTo>
                      <a:pt x="3527" y="423"/>
                    </a:lnTo>
                    <a:lnTo>
                      <a:pt x="3559" y="433"/>
                    </a:lnTo>
                    <a:lnTo>
                      <a:pt x="3590" y="433"/>
                    </a:lnTo>
                    <a:lnTo>
                      <a:pt x="3611" y="433"/>
                    </a:lnTo>
                    <a:lnTo>
                      <a:pt x="3642" y="433"/>
                    </a:lnTo>
                    <a:lnTo>
                      <a:pt x="3673" y="433"/>
                    </a:lnTo>
                    <a:lnTo>
                      <a:pt x="3705" y="433"/>
                    </a:lnTo>
                    <a:lnTo>
                      <a:pt x="3736" y="433"/>
                    </a:lnTo>
                    <a:lnTo>
                      <a:pt x="3767" y="443"/>
                    </a:lnTo>
                    <a:lnTo>
                      <a:pt x="3799" y="443"/>
                    </a:lnTo>
                    <a:lnTo>
                      <a:pt x="3830" y="443"/>
                    </a:lnTo>
                    <a:lnTo>
                      <a:pt x="3851" y="443"/>
                    </a:lnTo>
                    <a:lnTo>
                      <a:pt x="3882" y="443"/>
                    </a:lnTo>
                    <a:lnTo>
                      <a:pt x="3913" y="443"/>
                    </a:lnTo>
                    <a:lnTo>
                      <a:pt x="3945" y="443"/>
                    </a:lnTo>
                    <a:lnTo>
                      <a:pt x="3976" y="443"/>
                    </a:lnTo>
                    <a:lnTo>
                      <a:pt x="4007" y="443"/>
                    </a:lnTo>
                    <a:lnTo>
                      <a:pt x="4039" y="443"/>
                    </a:lnTo>
                    <a:lnTo>
                      <a:pt x="4070" y="443"/>
                    </a:lnTo>
                    <a:lnTo>
                      <a:pt x="4101" y="443"/>
                    </a:lnTo>
                    <a:lnTo>
                      <a:pt x="4122" y="443"/>
                    </a:lnTo>
                    <a:lnTo>
                      <a:pt x="4153" y="443"/>
                    </a:lnTo>
                    <a:lnTo>
                      <a:pt x="4185" y="443"/>
                    </a:lnTo>
                    <a:lnTo>
                      <a:pt x="4216" y="443"/>
                    </a:lnTo>
                    <a:lnTo>
                      <a:pt x="4247" y="443"/>
                    </a:lnTo>
                    <a:lnTo>
                      <a:pt x="4279" y="443"/>
                    </a:lnTo>
                    <a:lnTo>
                      <a:pt x="4310" y="443"/>
                    </a:lnTo>
                    <a:lnTo>
                      <a:pt x="4341" y="443"/>
                    </a:lnTo>
                    <a:lnTo>
                      <a:pt x="4372" y="443"/>
                    </a:lnTo>
                    <a:lnTo>
                      <a:pt x="4393" y="443"/>
                    </a:lnTo>
                    <a:lnTo>
                      <a:pt x="4425" y="443"/>
                    </a:lnTo>
                    <a:lnTo>
                      <a:pt x="4456" y="443"/>
                    </a:lnTo>
                    <a:lnTo>
                      <a:pt x="4487" y="443"/>
                    </a:lnTo>
                    <a:lnTo>
                      <a:pt x="4519" y="443"/>
                    </a:lnTo>
                  </a:path>
                </a:pathLst>
              </a:custGeom>
              <a:noFill/>
              <a:ln w="38100">
                <a:solidFill>
                  <a:srgbClr val="33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3" name="Freeform 78">
                <a:extLst>
                  <a:ext uri="{FF2B5EF4-FFF2-40B4-BE49-F238E27FC236}">
                    <a16:creationId xmlns:a16="http://schemas.microsoft.com/office/drawing/2014/main" id="{9665BDE4-8B7C-279C-12C0-22930051A5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2326"/>
                <a:ext cx="3609" cy="1328"/>
              </a:xfrm>
              <a:custGeom>
                <a:avLst/>
                <a:gdLst>
                  <a:gd name="T0" fmla="*/ 32 w 4519"/>
                  <a:gd name="T1" fmla="*/ 649 h 1884"/>
                  <a:gd name="T2" fmla="*/ 74 w 4519"/>
                  <a:gd name="T3" fmla="*/ 600 h 1884"/>
                  <a:gd name="T4" fmla="*/ 122 w 4519"/>
                  <a:gd name="T5" fmla="*/ 522 h 1884"/>
                  <a:gd name="T6" fmla="*/ 170 w 4519"/>
                  <a:gd name="T7" fmla="*/ 437 h 1884"/>
                  <a:gd name="T8" fmla="*/ 213 w 4519"/>
                  <a:gd name="T9" fmla="*/ 346 h 1884"/>
                  <a:gd name="T10" fmla="*/ 261 w 4519"/>
                  <a:gd name="T11" fmla="*/ 261 h 1884"/>
                  <a:gd name="T12" fmla="*/ 309 w 4519"/>
                  <a:gd name="T13" fmla="*/ 187 h 1884"/>
                  <a:gd name="T14" fmla="*/ 351 w 4519"/>
                  <a:gd name="T15" fmla="*/ 127 h 1884"/>
                  <a:gd name="T16" fmla="*/ 399 w 4519"/>
                  <a:gd name="T17" fmla="*/ 78 h 1884"/>
                  <a:gd name="T18" fmla="*/ 446 w 4519"/>
                  <a:gd name="T19" fmla="*/ 46 h 1884"/>
                  <a:gd name="T20" fmla="*/ 490 w 4519"/>
                  <a:gd name="T21" fmla="*/ 21 h 1884"/>
                  <a:gd name="T22" fmla="*/ 537 w 4519"/>
                  <a:gd name="T23" fmla="*/ 7 h 1884"/>
                  <a:gd name="T24" fmla="*/ 585 w 4519"/>
                  <a:gd name="T25" fmla="*/ 0 h 1884"/>
                  <a:gd name="T26" fmla="*/ 628 w 4519"/>
                  <a:gd name="T27" fmla="*/ 4 h 1884"/>
                  <a:gd name="T28" fmla="*/ 676 w 4519"/>
                  <a:gd name="T29" fmla="*/ 7 h 1884"/>
                  <a:gd name="T30" fmla="*/ 723 w 4519"/>
                  <a:gd name="T31" fmla="*/ 14 h 1884"/>
                  <a:gd name="T32" fmla="*/ 765 w 4519"/>
                  <a:gd name="T33" fmla="*/ 21 h 1884"/>
                  <a:gd name="T34" fmla="*/ 813 w 4519"/>
                  <a:gd name="T35" fmla="*/ 31 h 1884"/>
                  <a:gd name="T36" fmla="*/ 861 w 4519"/>
                  <a:gd name="T37" fmla="*/ 39 h 1884"/>
                  <a:gd name="T38" fmla="*/ 904 w 4519"/>
                  <a:gd name="T39" fmla="*/ 46 h 1884"/>
                  <a:gd name="T40" fmla="*/ 952 w 4519"/>
                  <a:gd name="T41" fmla="*/ 53 h 1884"/>
                  <a:gd name="T42" fmla="*/ 999 w 4519"/>
                  <a:gd name="T43" fmla="*/ 56 h 1884"/>
                  <a:gd name="T44" fmla="*/ 1042 w 4519"/>
                  <a:gd name="T45" fmla="*/ 60 h 1884"/>
                  <a:gd name="T46" fmla="*/ 1089 w 4519"/>
                  <a:gd name="T47" fmla="*/ 60 h 1884"/>
                  <a:gd name="T48" fmla="*/ 1137 w 4519"/>
                  <a:gd name="T49" fmla="*/ 63 h 1884"/>
                  <a:gd name="T50" fmla="*/ 1180 w 4519"/>
                  <a:gd name="T51" fmla="*/ 63 h 1884"/>
                  <a:gd name="T52" fmla="*/ 1227 w 4519"/>
                  <a:gd name="T53" fmla="*/ 63 h 1884"/>
                  <a:gd name="T54" fmla="*/ 1276 w 4519"/>
                  <a:gd name="T55" fmla="*/ 63 h 1884"/>
                  <a:gd name="T56" fmla="*/ 1319 w 4519"/>
                  <a:gd name="T57" fmla="*/ 63 h 1884"/>
                  <a:gd name="T58" fmla="*/ 1366 w 4519"/>
                  <a:gd name="T59" fmla="*/ 63 h 1884"/>
                  <a:gd name="T60" fmla="*/ 1414 w 4519"/>
                  <a:gd name="T61" fmla="*/ 60 h 1884"/>
                  <a:gd name="T62" fmla="*/ 1456 w 4519"/>
                  <a:gd name="T63" fmla="*/ 60 h 1884"/>
                  <a:gd name="T64" fmla="*/ 1504 w 4519"/>
                  <a:gd name="T65" fmla="*/ 60 h 1884"/>
                  <a:gd name="T66" fmla="*/ 1552 w 4519"/>
                  <a:gd name="T67" fmla="*/ 60 h 1884"/>
                  <a:gd name="T68" fmla="*/ 1595 w 4519"/>
                  <a:gd name="T69" fmla="*/ 60 h 1884"/>
                  <a:gd name="T70" fmla="*/ 1643 w 4519"/>
                  <a:gd name="T71" fmla="*/ 56 h 1884"/>
                  <a:gd name="T72" fmla="*/ 1691 w 4519"/>
                  <a:gd name="T73" fmla="*/ 56 h 1884"/>
                  <a:gd name="T74" fmla="*/ 1733 w 4519"/>
                  <a:gd name="T75" fmla="*/ 56 h 1884"/>
                  <a:gd name="T76" fmla="*/ 1781 w 4519"/>
                  <a:gd name="T77" fmla="*/ 56 h 1884"/>
                  <a:gd name="T78" fmla="*/ 1829 w 4519"/>
                  <a:gd name="T79" fmla="*/ 56 h 1884"/>
                  <a:gd name="T80" fmla="*/ 1870 w 4519"/>
                  <a:gd name="T81" fmla="*/ 56 h 1884"/>
                  <a:gd name="T82" fmla="*/ 1918 w 4519"/>
                  <a:gd name="T83" fmla="*/ 56 h 1884"/>
                  <a:gd name="T84" fmla="*/ 1962 w 4519"/>
                  <a:gd name="T85" fmla="*/ 56 h 1884"/>
                  <a:gd name="T86" fmla="*/ 2009 w 4519"/>
                  <a:gd name="T87" fmla="*/ 56 h 1884"/>
                  <a:gd name="T88" fmla="*/ 2057 w 4519"/>
                  <a:gd name="T89" fmla="*/ 56 h 1884"/>
                  <a:gd name="T90" fmla="*/ 2100 w 4519"/>
                  <a:gd name="T91" fmla="*/ 56 h 1884"/>
                  <a:gd name="T92" fmla="*/ 2148 w 4519"/>
                  <a:gd name="T93" fmla="*/ 56 h 1884"/>
                  <a:gd name="T94" fmla="*/ 2195 w 4519"/>
                  <a:gd name="T95" fmla="*/ 56 h 1884"/>
                  <a:gd name="T96" fmla="*/ 2238 w 4519"/>
                  <a:gd name="T97" fmla="*/ 60 h 1884"/>
                  <a:gd name="T98" fmla="*/ 2285 w 4519"/>
                  <a:gd name="T99" fmla="*/ 60 h 188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4519" h="1884">
                    <a:moveTo>
                      <a:pt x="0" y="1884"/>
                    </a:moveTo>
                    <a:lnTo>
                      <a:pt x="32" y="1874"/>
                    </a:lnTo>
                    <a:lnTo>
                      <a:pt x="63" y="1854"/>
                    </a:lnTo>
                    <a:lnTo>
                      <a:pt x="94" y="1813"/>
                    </a:lnTo>
                    <a:lnTo>
                      <a:pt x="126" y="1763"/>
                    </a:lnTo>
                    <a:lnTo>
                      <a:pt x="146" y="1713"/>
                    </a:lnTo>
                    <a:lnTo>
                      <a:pt x="178" y="1642"/>
                    </a:lnTo>
                    <a:lnTo>
                      <a:pt x="209" y="1571"/>
                    </a:lnTo>
                    <a:lnTo>
                      <a:pt x="240" y="1491"/>
                    </a:lnTo>
                    <a:lnTo>
                      <a:pt x="272" y="1410"/>
                    </a:lnTo>
                    <a:lnTo>
                      <a:pt x="303" y="1330"/>
                    </a:lnTo>
                    <a:lnTo>
                      <a:pt x="334" y="1249"/>
                    </a:lnTo>
                    <a:lnTo>
                      <a:pt x="366" y="1158"/>
                    </a:lnTo>
                    <a:lnTo>
                      <a:pt x="397" y="1078"/>
                    </a:lnTo>
                    <a:lnTo>
                      <a:pt x="418" y="987"/>
                    </a:lnTo>
                    <a:lnTo>
                      <a:pt x="449" y="907"/>
                    </a:lnTo>
                    <a:lnTo>
                      <a:pt x="480" y="826"/>
                    </a:lnTo>
                    <a:lnTo>
                      <a:pt x="512" y="745"/>
                    </a:lnTo>
                    <a:lnTo>
                      <a:pt x="543" y="675"/>
                    </a:lnTo>
                    <a:lnTo>
                      <a:pt x="574" y="604"/>
                    </a:lnTo>
                    <a:lnTo>
                      <a:pt x="606" y="534"/>
                    </a:lnTo>
                    <a:lnTo>
                      <a:pt x="637" y="473"/>
                    </a:lnTo>
                    <a:lnTo>
                      <a:pt x="668" y="413"/>
                    </a:lnTo>
                    <a:lnTo>
                      <a:pt x="689" y="363"/>
                    </a:lnTo>
                    <a:lnTo>
                      <a:pt x="720" y="312"/>
                    </a:lnTo>
                    <a:lnTo>
                      <a:pt x="752" y="272"/>
                    </a:lnTo>
                    <a:lnTo>
                      <a:pt x="783" y="221"/>
                    </a:lnTo>
                    <a:lnTo>
                      <a:pt x="814" y="191"/>
                    </a:lnTo>
                    <a:lnTo>
                      <a:pt x="846" y="151"/>
                    </a:lnTo>
                    <a:lnTo>
                      <a:pt x="877" y="131"/>
                    </a:lnTo>
                    <a:lnTo>
                      <a:pt x="908" y="101"/>
                    </a:lnTo>
                    <a:lnTo>
                      <a:pt x="929" y="80"/>
                    </a:lnTo>
                    <a:lnTo>
                      <a:pt x="960" y="60"/>
                    </a:lnTo>
                    <a:lnTo>
                      <a:pt x="992" y="40"/>
                    </a:lnTo>
                    <a:lnTo>
                      <a:pt x="1023" y="30"/>
                    </a:lnTo>
                    <a:lnTo>
                      <a:pt x="1054" y="20"/>
                    </a:lnTo>
                    <a:lnTo>
                      <a:pt x="1086" y="10"/>
                    </a:lnTo>
                    <a:lnTo>
                      <a:pt x="1117" y="10"/>
                    </a:lnTo>
                    <a:lnTo>
                      <a:pt x="1148" y="0"/>
                    </a:lnTo>
                    <a:lnTo>
                      <a:pt x="1179" y="0"/>
                    </a:lnTo>
                    <a:lnTo>
                      <a:pt x="1200" y="0"/>
                    </a:lnTo>
                    <a:lnTo>
                      <a:pt x="1232" y="10"/>
                    </a:lnTo>
                    <a:lnTo>
                      <a:pt x="1263" y="10"/>
                    </a:lnTo>
                    <a:lnTo>
                      <a:pt x="1294" y="10"/>
                    </a:lnTo>
                    <a:lnTo>
                      <a:pt x="1326" y="20"/>
                    </a:lnTo>
                    <a:lnTo>
                      <a:pt x="1357" y="20"/>
                    </a:lnTo>
                    <a:lnTo>
                      <a:pt x="1388" y="30"/>
                    </a:lnTo>
                    <a:lnTo>
                      <a:pt x="1419" y="40"/>
                    </a:lnTo>
                    <a:lnTo>
                      <a:pt x="1451" y="50"/>
                    </a:lnTo>
                    <a:lnTo>
                      <a:pt x="1472" y="50"/>
                    </a:lnTo>
                    <a:lnTo>
                      <a:pt x="1503" y="60"/>
                    </a:lnTo>
                    <a:lnTo>
                      <a:pt x="1534" y="70"/>
                    </a:lnTo>
                    <a:lnTo>
                      <a:pt x="1566" y="80"/>
                    </a:lnTo>
                    <a:lnTo>
                      <a:pt x="1597" y="90"/>
                    </a:lnTo>
                    <a:lnTo>
                      <a:pt x="1628" y="90"/>
                    </a:lnTo>
                    <a:lnTo>
                      <a:pt x="1659" y="101"/>
                    </a:lnTo>
                    <a:lnTo>
                      <a:pt x="1691" y="111"/>
                    </a:lnTo>
                    <a:lnTo>
                      <a:pt x="1722" y="121"/>
                    </a:lnTo>
                    <a:lnTo>
                      <a:pt x="1743" y="121"/>
                    </a:lnTo>
                    <a:lnTo>
                      <a:pt x="1774" y="131"/>
                    </a:lnTo>
                    <a:lnTo>
                      <a:pt x="1806" y="131"/>
                    </a:lnTo>
                    <a:lnTo>
                      <a:pt x="1837" y="141"/>
                    </a:lnTo>
                    <a:lnTo>
                      <a:pt x="1868" y="151"/>
                    </a:lnTo>
                    <a:lnTo>
                      <a:pt x="1899" y="151"/>
                    </a:lnTo>
                    <a:lnTo>
                      <a:pt x="1931" y="151"/>
                    </a:lnTo>
                    <a:lnTo>
                      <a:pt x="1962" y="161"/>
                    </a:lnTo>
                    <a:lnTo>
                      <a:pt x="1993" y="161"/>
                    </a:lnTo>
                    <a:lnTo>
                      <a:pt x="2014" y="171"/>
                    </a:lnTo>
                    <a:lnTo>
                      <a:pt x="2046" y="171"/>
                    </a:lnTo>
                    <a:lnTo>
                      <a:pt x="2077" y="171"/>
                    </a:lnTo>
                    <a:lnTo>
                      <a:pt x="2108" y="171"/>
                    </a:lnTo>
                    <a:lnTo>
                      <a:pt x="2139" y="171"/>
                    </a:lnTo>
                    <a:lnTo>
                      <a:pt x="2171" y="181"/>
                    </a:lnTo>
                    <a:lnTo>
                      <a:pt x="2202" y="181"/>
                    </a:lnTo>
                    <a:lnTo>
                      <a:pt x="2233" y="181"/>
                    </a:lnTo>
                    <a:lnTo>
                      <a:pt x="2265" y="181"/>
                    </a:lnTo>
                    <a:lnTo>
                      <a:pt x="2286" y="181"/>
                    </a:lnTo>
                    <a:lnTo>
                      <a:pt x="2317" y="181"/>
                    </a:lnTo>
                    <a:lnTo>
                      <a:pt x="2348" y="181"/>
                    </a:lnTo>
                    <a:lnTo>
                      <a:pt x="2379" y="181"/>
                    </a:lnTo>
                    <a:lnTo>
                      <a:pt x="2411" y="181"/>
                    </a:lnTo>
                    <a:lnTo>
                      <a:pt x="2442" y="181"/>
                    </a:lnTo>
                    <a:lnTo>
                      <a:pt x="2473" y="181"/>
                    </a:lnTo>
                    <a:lnTo>
                      <a:pt x="2505" y="181"/>
                    </a:lnTo>
                    <a:lnTo>
                      <a:pt x="2526" y="181"/>
                    </a:lnTo>
                    <a:lnTo>
                      <a:pt x="2557" y="181"/>
                    </a:lnTo>
                    <a:lnTo>
                      <a:pt x="2588" y="181"/>
                    </a:lnTo>
                    <a:lnTo>
                      <a:pt x="2619" y="181"/>
                    </a:lnTo>
                    <a:lnTo>
                      <a:pt x="2651" y="181"/>
                    </a:lnTo>
                    <a:lnTo>
                      <a:pt x="2682" y="181"/>
                    </a:lnTo>
                    <a:lnTo>
                      <a:pt x="2713" y="171"/>
                    </a:lnTo>
                    <a:lnTo>
                      <a:pt x="2745" y="171"/>
                    </a:lnTo>
                    <a:lnTo>
                      <a:pt x="2776" y="171"/>
                    </a:lnTo>
                    <a:lnTo>
                      <a:pt x="2797" y="171"/>
                    </a:lnTo>
                    <a:lnTo>
                      <a:pt x="2828" y="171"/>
                    </a:lnTo>
                    <a:lnTo>
                      <a:pt x="2859" y="171"/>
                    </a:lnTo>
                    <a:lnTo>
                      <a:pt x="2891" y="171"/>
                    </a:lnTo>
                    <a:lnTo>
                      <a:pt x="2922" y="171"/>
                    </a:lnTo>
                    <a:lnTo>
                      <a:pt x="2953" y="171"/>
                    </a:lnTo>
                    <a:lnTo>
                      <a:pt x="2985" y="171"/>
                    </a:lnTo>
                    <a:lnTo>
                      <a:pt x="3016" y="171"/>
                    </a:lnTo>
                    <a:lnTo>
                      <a:pt x="3047" y="171"/>
                    </a:lnTo>
                    <a:lnTo>
                      <a:pt x="3068" y="171"/>
                    </a:lnTo>
                    <a:lnTo>
                      <a:pt x="3099" y="171"/>
                    </a:lnTo>
                    <a:lnTo>
                      <a:pt x="3131" y="171"/>
                    </a:lnTo>
                    <a:lnTo>
                      <a:pt x="3162" y="171"/>
                    </a:lnTo>
                    <a:lnTo>
                      <a:pt x="3193" y="171"/>
                    </a:lnTo>
                    <a:lnTo>
                      <a:pt x="3225" y="161"/>
                    </a:lnTo>
                    <a:lnTo>
                      <a:pt x="3256" y="161"/>
                    </a:lnTo>
                    <a:lnTo>
                      <a:pt x="3287" y="161"/>
                    </a:lnTo>
                    <a:lnTo>
                      <a:pt x="3319" y="161"/>
                    </a:lnTo>
                    <a:lnTo>
                      <a:pt x="3339" y="161"/>
                    </a:lnTo>
                    <a:lnTo>
                      <a:pt x="3371" y="161"/>
                    </a:lnTo>
                    <a:lnTo>
                      <a:pt x="3402" y="161"/>
                    </a:lnTo>
                    <a:lnTo>
                      <a:pt x="3433" y="161"/>
                    </a:lnTo>
                    <a:lnTo>
                      <a:pt x="3465" y="161"/>
                    </a:lnTo>
                    <a:lnTo>
                      <a:pt x="3496" y="161"/>
                    </a:lnTo>
                    <a:lnTo>
                      <a:pt x="3527" y="161"/>
                    </a:lnTo>
                    <a:lnTo>
                      <a:pt x="3559" y="161"/>
                    </a:lnTo>
                    <a:lnTo>
                      <a:pt x="3590" y="161"/>
                    </a:lnTo>
                    <a:lnTo>
                      <a:pt x="3611" y="161"/>
                    </a:lnTo>
                    <a:lnTo>
                      <a:pt x="3642" y="161"/>
                    </a:lnTo>
                    <a:lnTo>
                      <a:pt x="3673" y="161"/>
                    </a:lnTo>
                    <a:lnTo>
                      <a:pt x="3705" y="161"/>
                    </a:lnTo>
                    <a:lnTo>
                      <a:pt x="3736" y="161"/>
                    </a:lnTo>
                    <a:lnTo>
                      <a:pt x="3767" y="161"/>
                    </a:lnTo>
                    <a:lnTo>
                      <a:pt x="3799" y="161"/>
                    </a:lnTo>
                    <a:lnTo>
                      <a:pt x="3830" y="161"/>
                    </a:lnTo>
                    <a:lnTo>
                      <a:pt x="3851" y="161"/>
                    </a:lnTo>
                    <a:lnTo>
                      <a:pt x="3882" y="161"/>
                    </a:lnTo>
                    <a:lnTo>
                      <a:pt x="3913" y="161"/>
                    </a:lnTo>
                    <a:lnTo>
                      <a:pt x="3945" y="161"/>
                    </a:lnTo>
                    <a:lnTo>
                      <a:pt x="3976" y="161"/>
                    </a:lnTo>
                    <a:lnTo>
                      <a:pt x="4007" y="161"/>
                    </a:lnTo>
                    <a:lnTo>
                      <a:pt x="4039" y="161"/>
                    </a:lnTo>
                    <a:lnTo>
                      <a:pt x="4070" y="161"/>
                    </a:lnTo>
                    <a:lnTo>
                      <a:pt x="4101" y="161"/>
                    </a:lnTo>
                    <a:lnTo>
                      <a:pt x="4122" y="161"/>
                    </a:lnTo>
                    <a:lnTo>
                      <a:pt x="4153" y="161"/>
                    </a:lnTo>
                    <a:lnTo>
                      <a:pt x="4185" y="161"/>
                    </a:lnTo>
                    <a:lnTo>
                      <a:pt x="4216" y="161"/>
                    </a:lnTo>
                    <a:lnTo>
                      <a:pt x="4247" y="161"/>
                    </a:lnTo>
                    <a:lnTo>
                      <a:pt x="4279" y="161"/>
                    </a:lnTo>
                    <a:lnTo>
                      <a:pt x="4310" y="161"/>
                    </a:lnTo>
                    <a:lnTo>
                      <a:pt x="4341" y="161"/>
                    </a:lnTo>
                    <a:lnTo>
                      <a:pt x="4372" y="161"/>
                    </a:lnTo>
                    <a:lnTo>
                      <a:pt x="4393" y="171"/>
                    </a:lnTo>
                    <a:lnTo>
                      <a:pt x="4425" y="171"/>
                    </a:lnTo>
                    <a:lnTo>
                      <a:pt x="4456" y="171"/>
                    </a:lnTo>
                    <a:lnTo>
                      <a:pt x="4487" y="171"/>
                    </a:lnTo>
                    <a:lnTo>
                      <a:pt x="4519" y="171"/>
                    </a:ln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4" name="Freeform 79">
                <a:extLst>
                  <a:ext uri="{FF2B5EF4-FFF2-40B4-BE49-F238E27FC236}">
                    <a16:creationId xmlns:a16="http://schemas.microsoft.com/office/drawing/2014/main" id="{D760A9EE-BF8F-03A9-BF8B-AB4FC86C9B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63" y="2426"/>
                <a:ext cx="3609" cy="1228"/>
              </a:xfrm>
              <a:custGeom>
                <a:avLst/>
                <a:gdLst>
                  <a:gd name="T0" fmla="*/ 32 w 4519"/>
                  <a:gd name="T1" fmla="*/ 599 h 1743"/>
                  <a:gd name="T2" fmla="*/ 74 w 4519"/>
                  <a:gd name="T3" fmla="*/ 554 h 1743"/>
                  <a:gd name="T4" fmla="*/ 122 w 4519"/>
                  <a:gd name="T5" fmla="*/ 486 h 1743"/>
                  <a:gd name="T6" fmla="*/ 170 w 4519"/>
                  <a:gd name="T7" fmla="*/ 409 h 1743"/>
                  <a:gd name="T8" fmla="*/ 213 w 4519"/>
                  <a:gd name="T9" fmla="*/ 335 h 1743"/>
                  <a:gd name="T10" fmla="*/ 261 w 4519"/>
                  <a:gd name="T11" fmla="*/ 264 h 1743"/>
                  <a:gd name="T12" fmla="*/ 309 w 4519"/>
                  <a:gd name="T13" fmla="*/ 204 h 1743"/>
                  <a:gd name="T14" fmla="*/ 351 w 4519"/>
                  <a:gd name="T15" fmla="*/ 151 h 1743"/>
                  <a:gd name="T16" fmla="*/ 399 w 4519"/>
                  <a:gd name="T17" fmla="*/ 109 h 1743"/>
                  <a:gd name="T18" fmla="*/ 446 w 4519"/>
                  <a:gd name="T19" fmla="*/ 77 h 1743"/>
                  <a:gd name="T20" fmla="*/ 490 w 4519"/>
                  <a:gd name="T21" fmla="*/ 53 h 1743"/>
                  <a:gd name="T22" fmla="*/ 537 w 4519"/>
                  <a:gd name="T23" fmla="*/ 32 h 1743"/>
                  <a:gd name="T24" fmla="*/ 585 w 4519"/>
                  <a:gd name="T25" fmla="*/ 18 h 1743"/>
                  <a:gd name="T26" fmla="*/ 628 w 4519"/>
                  <a:gd name="T27" fmla="*/ 11 h 1743"/>
                  <a:gd name="T28" fmla="*/ 676 w 4519"/>
                  <a:gd name="T29" fmla="*/ 4 h 1743"/>
                  <a:gd name="T30" fmla="*/ 723 w 4519"/>
                  <a:gd name="T31" fmla="*/ 0 h 1743"/>
                  <a:gd name="T32" fmla="*/ 765 w 4519"/>
                  <a:gd name="T33" fmla="*/ 0 h 1743"/>
                  <a:gd name="T34" fmla="*/ 813 w 4519"/>
                  <a:gd name="T35" fmla="*/ 0 h 1743"/>
                  <a:gd name="T36" fmla="*/ 861 w 4519"/>
                  <a:gd name="T37" fmla="*/ 0 h 1743"/>
                  <a:gd name="T38" fmla="*/ 904 w 4519"/>
                  <a:gd name="T39" fmla="*/ 0 h 1743"/>
                  <a:gd name="T40" fmla="*/ 952 w 4519"/>
                  <a:gd name="T41" fmla="*/ 4 h 1743"/>
                  <a:gd name="T42" fmla="*/ 999 w 4519"/>
                  <a:gd name="T43" fmla="*/ 4 h 1743"/>
                  <a:gd name="T44" fmla="*/ 1042 w 4519"/>
                  <a:gd name="T45" fmla="*/ 4 h 1743"/>
                  <a:gd name="T46" fmla="*/ 1089 w 4519"/>
                  <a:gd name="T47" fmla="*/ 7 h 1743"/>
                  <a:gd name="T48" fmla="*/ 1137 w 4519"/>
                  <a:gd name="T49" fmla="*/ 7 h 1743"/>
                  <a:gd name="T50" fmla="*/ 1180 w 4519"/>
                  <a:gd name="T51" fmla="*/ 7 h 1743"/>
                  <a:gd name="T52" fmla="*/ 1227 w 4519"/>
                  <a:gd name="T53" fmla="*/ 7 h 1743"/>
                  <a:gd name="T54" fmla="*/ 1276 w 4519"/>
                  <a:gd name="T55" fmla="*/ 7 h 1743"/>
                  <a:gd name="T56" fmla="*/ 1319 w 4519"/>
                  <a:gd name="T57" fmla="*/ 7 h 1743"/>
                  <a:gd name="T58" fmla="*/ 1366 w 4519"/>
                  <a:gd name="T59" fmla="*/ 7 h 1743"/>
                  <a:gd name="T60" fmla="*/ 1414 w 4519"/>
                  <a:gd name="T61" fmla="*/ 7 h 1743"/>
                  <a:gd name="T62" fmla="*/ 1456 w 4519"/>
                  <a:gd name="T63" fmla="*/ 11 h 1743"/>
                  <a:gd name="T64" fmla="*/ 1504 w 4519"/>
                  <a:gd name="T65" fmla="*/ 11 h 1743"/>
                  <a:gd name="T66" fmla="*/ 1552 w 4519"/>
                  <a:gd name="T67" fmla="*/ 11 h 1743"/>
                  <a:gd name="T68" fmla="*/ 1595 w 4519"/>
                  <a:gd name="T69" fmla="*/ 11 h 1743"/>
                  <a:gd name="T70" fmla="*/ 1643 w 4519"/>
                  <a:gd name="T71" fmla="*/ 11 h 1743"/>
                  <a:gd name="T72" fmla="*/ 1691 w 4519"/>
                  <a:gd name="T73" fmla="*/ 11 h 1743"/>
                  <a:gd name="T74" fmla="*/ 1733 w 4519"/>
                  <a:gd name="T75" fmla="*/ 11 h 1743"/>
                  <a:gd name="T76" fmla="*/ 1781 w 4519"/>
                  <a:gd name="T77" fmla="*/ 11 h 1743"/>
                  <a:gd name="T78" fmla="*/ 1829 w 4519"/>
                  <a:gd name="T79" fmla="*/ 11 h 1743"/>
                  <a:gd name="T80" fmla="*/ 1870 w 4519"/>
                  <a:gd name="T81" fmla="*/ 11 h 1743"/>
                  <a:gd name="T82" fmla="*/ 1918 w 4519"/>
                  <a:gd name="T83" fmla="*/ 11 h 1743"/>
                  <a:gd name="T84" fmla="*/ 1962 w 4519"/>
                  <a:gd name="T85" fmla="*/ 11 h 1743"/>
                  <a:gd name="T86" fmla="*/ 2009 w 4519"/>
                  <a:gd name="T87" fmla="*/ 11 h 1743"/>
                  <a:gd name="T88" fmla="*/ 2057 w 4519"/>
                  <a:gd name="T89" fmla="*/ 11 h 1743"/>
                  <a:gd name="T90" fmla="*/ 2100 w 4519"/>
                  <a:gd name="T91" fmla="*/ 11 h 1743"/>
                  <a:gd name="T92" fmla="*/ 2148 w 4519"/>
                  <a:gd name="T93" fmla="*/ 11 h 1743"/>
                  <a:gd name="T94" fmla="*/ 2195 w 4519"/>
                  <a:gd name="T95" fmla="*/ 11 h 1743"/>
                  <a:gd name="T96" fmla="*/ 2238 w 4519"/>
                  <a:gd name="T97" fmla="*/ 11 h 1743"/>
                  <a:gd name="T98" fmla="*/ 2285 w 4519"/>
                  <a:gd name="T99" fmla="*/ 7 h 1743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4519" h="1743">
                    <a:moveTo>
                      <a:pt x="0" y="1743"/>
                    </a:moveTo>
                    <a:lnTo>
                      <a:pt x="32" y="1733"/>
                    </a:lnTo>
                    <a:lnTo>
                      <a:pt x="63" y="1713"/>
                    </a:lnTo>
                    <a:lnTo>
                      <a:pt x="94" y="1672"/>
                    </a:lnTo>
                    <a:lnTo>
                      <a:pt x="126" y="1632"/>
                    </a:lnTo>
                    <a:lnTo>
                      <a:pt x="146" y="1582"/>
                    </a:lnTo>
                    <a:lnTo>
                      <a:pt x="178" y="1521"/>
                    </a:lnTo>
                    <a:lnTo>
                      <a:pt x="209" y="1451"/>
                    </a:lnTo>
                    <a:lnTo>
                      <a:pt x="240" y="1390"/>
                    </a:lnTo>
                    <a:lnTo>
                      <a:pt x="272" y="1320"/>
                    </a:lnTo>
                    <a:lnTo>
                      <a:pt x="303" y="1239"/>
                    </a:lnTo>
                    <a:lnTo>
                      <a:pt x="334" y="1169"/>
                    </a:lnTo>
                    <a:lnTo>
                      <a:pt x="366" y="1098"/>
                    </a:lnTo>
                    <a:lnTo>
                      <a:pt x="397" y="1027"/>
                    </a:lnTo>
                    <a:lnTo>
                      <a:pt x="418" y="957"/>
                    </a:lnTo>
                    <a:lnTo>
                      <a:pt x="449" y="886"/>
                    </a:lnTo>
                    <a:lnTo>
                      <a:pt x="480" y="816"/>
                    </a:lnTo>
                    <a:lnTo>
                      <a:pt x="512" y="755"/>
                    </a:lnTo>
                    <a:lnTo>
                      <a:pt x="543" y="695"/>
                    </a:lnTo>
                    <a:lnTo>
                      <a:pt x="574" y="635"/>
                    </a:lnTo>
                    <a:lnTo>
                      <a:pt x="606" y="584"/>
                    </a:lnTo>
                    <a:lnTo>
                      <a:pt x="637" y="534"/>
                    </a:lnTo>
                    <a:lnTo>
                      <a:pt x="668" y="483"/>
                    </a:lnTo>
                    <a:lnTo>
                      <a:pt x="689" y="433"/>
                    </a:lnTo>
                    <a:lnTo>
                      <a:pt x="720" y="393"/>
                    </a:lnTo>
                    <a:lnTo>
                      <a:pt x="752" y="352"/>
                    </a:lnTo>
                    <a:lnTo>
                      <a:pt x="783" y="312"/>
                    </a:lnTo>
                    <a:lnTo>
                      <a:pt x="814" y="282"/>
                    </a:lnTo>
                    <a:lnTo>
                      <a:pt x="846" y="252"/>
                    </a:lnTo>
                    <a:lnTo>
                      <a:pt x="877" y="222"/>
                    </a:lnTo>
                    <a:lnTo>
                      <a:pt x="908" y="191"/>
                    </a:lnTo>
                    <a:lnTo>
                      <a:pt x="929" y="171"/>
                    </a:lnTo>
                    <a:lnTo>
                      <a:pt x="960" y="151"/>
                    </a:lnTo>
                    <a:lnTo>
                      <a:pt x="992" y="131"/>
                    </a:lnTo>
                    <a:lnTo>
                      <a:pt x="1023" y="111"/>
                    </a:lnTo>
                    <a:lnTo>
                      <a:pt x="1054" y="91"/>
                    </a:lnTo>
                    <a:lnTo>
                      <a:pt x="1086" y="80"/>
                    </a:lnTo>
                    <a:lnTo>
                      <a:pt x="1117" y="70"/>
                    </a:lnTo>
                    <a:lnTo>
                      <a:pt x="1148" y="50"/>
                    </a:lnTo>
                    <a:lnTo>
                      <a:pt x="1179" y="40"/>
                    </a:lnTo>
                    <a:lnTo>
                      <a:pt x="1200" y="40"/>
                    </a:lnTo>
                    <a:lnTo>
                      <a:pt x="1232" y="30"/>
                    </a:lnTo>
                    <a:lnTo>
                      <a:pt x="1263" y="20"/>
                    </a:lnTo>
                    <a:lnTo>
                      <a:pt x="1294" y="20"/>
                    </a:lnTo>
                    <a:lnTo>
                      <a:pt x="1326" y="10"/>
                    </a:lnTo>
                    <a:lnTo>
                      <a:pt x="1357" y="10"/>
                    </a:lnTo>
                    <a:lnTo>
                      <a:pt x="1388" y="10"/>
                    </a:lnTo>
                    <a:lnTo>
                      <a:pt x="1419" y="0"/>
                    </a:lnTo>
                    <a:lnTo>
                      <a:pt x="1451" y="0"/>
                    </a:lnTo>
                    <a:lnTo>
                      <a:pt x="1472" y="0"/>
                    </a:lnTo>
                    <a:lnTo>
                      <a:pt x="1503" y="0"/>
                    </a:lnTo>
                    <a:lnTo>
                      <a:pt x="1534" y="0"/>
                    </a:lnTo>
                    <a:lnTo>
                      <a:pt x="1566" y="0"/>
                    </a:lnTo>
                    <a:lnTo>
                      <a:pt x="1597" y="0"/>
                    </a:lnTo>
                    <a:lnTo>
                      <a:pt x="1628" y="0"/>
                    </a:lnTo>
                    <a:lnTo>
                      <a:pt x="1659" y="0"/>
                    </a:lnTo>
                    <a:lnTo>
                      <a:pt x="1691" y="0"/>
                    </a:lnTo>
                    <a:lnTo>
                      <a:pt x="1722" y="0"/>
                    </a:lnTo>
                    <a:lnTo>
                      <a:pt x="1743" y="0"/>
                    </a:lnTo>
                    <a:lnTo>
                      <a:pt x="1774" y="0"/>
                    </a:lnTo>
                    <a:lnTo>
                      <a:pt x="1806" y="0"/>
                    </a:lnTo>
                    <a:lnTo>
                      <a:pt x="1837" y="10"/>
                    </a:lnTo>
                    <a:lnTo>
                      <a:pt x="1868" y="10"/>
                    </a:lnTo>
                    <a:lnTo>
                      <a:pt x="1899" y="10"/>
                    </a:lnTo>
                    <a:lnTo>
                      <a:pt x="1931" y="10"/>
                    </a:lnTo>
                    <a:lnTo>
                      <a:pt x="1962" y="10"/>
                    </a:lnTo>
                    <a:lnTo>
                      <a:pt x="1993" y="10"/>
                    </a:lnTo>
                    <a:lnTo>
                      <a:pt x="2014" y="10"/>
                    </a:lnTo>
                    <a:lnTo>
                      <a:pt x="2046" y="10"/>
                    </a:lnTo>
                    <a:lnTo>
                      <a:pt x="2077" y="10"/>
                    </a:lnTo>
                    <a:lnTo>
                      <a:pt x="2108" y="10"/>
                    </a:lnTo>
                    <a:lnTo>
                      <a:pt x="2139" y="20"/>
                    </a:lnTo>
                    <a:lnTo>
                      <a:pt x="2171" y="20"/>
                    </a:lnTo>
                    <a:lnTo>
                      <a:pt x="2202" y="20"/>
                    </a:lnTo>
                    <a:lnTo>
                      <a:pt x="2233" y="20"/>
                    </a:lnTo>
                    <a:lnTo>
                      <a:pt x="2265" y="20"/>
                    </a:lnTo>
                    <a:lnTo>
                      <a:pt x="2286" y="20"/>
                    </a:lnTo>
                    <a:lnTo>
                      <a:pt x="2317" y="20"/>
                    </a:lnTo>
                    <a:lnTo>
                      <a:pt x="2348" y="20"/>
                    </a:lnTo>
                    <a:lnTo>
                      <a:pt x="2379" y="20"/>
                    </a:lnTo>
                    <a:lnTo>
                      <a:pt x="2411" y="20"/>
                    </a:lnTo>
                    <a:lnTo>
                      <a:pt x="2442" y="20"/>
                    </a:lnTo>
                    <a:lnTo>
                      <a:pt x="2473" y="20"/>
                    </a:lnTo>
                    <a:lnTo>
                      <a:pt x="2505" y="20"/>
                    </a:lnTo>
                    <a:lnTo>
                      <a:pt x="2526" y="20"/>
                    </a:lnTo>
                    <a:lnTo>
                      <a:pt x="2557" y="20"/>
                    </a:lnTo>
                    <a:lnTo>
                      <a:pt x="2588" y="20"/>
                    </a:lnTo>
                    <a:lnTo>
                      <a:pt x="2619" y="20"/>
                    </a:lnTo>
                    <a:lnTo>
                      <a:pt x="2651" y="20"/>
                    </a:lnTo>
                    <a:lnTo>
                      <a:pt x="2682" y="20"/>
                    </a:lnTo>
                    <a:lnTo>
                      <a:pt x="2713" y="20"/>
                    </a:lnTo>
                    <a:lnTo>
                      <a:pt x="2745" y="20"/>
                    </a:lnTo>
                    <a:lnTo>
                      <a:pt x="2776" y="20"/>
                    </a:lnTo>
                    <a:lnTo>
                      <a:pt x="2797" y="20"/>
                    </a:lnTo>
                    <a:lnTo>
                      <a:pt x="2828" y="30"/>
                    </a:lnTo>
                    <a:lnTo>
                      <a:pt x="2859" y="30"/>
                    </a:lnTo>
                    <a:lnTo>
                      <a:pt x="2891" y="30"/>
                    </a:lnTo>
                    <a:lnTo>
                      <a:pt x="2922" y="30"/>
                    </a:lnTo>
                    <a:lnTo>
                      <a:pt x="2953" y="30"/>
                    </a:lnTo>
                    <a:lnTo>
                      <a:pt x="2985" y="30"/>
                    </a:lnTo>
                    <a:lnTo>
                      <a:pt x="3016" y="30"/>
                    </a:lnTo>
                    <a:lnTo>
                      <a:pt x="3047" y="30"/>
                    </a:lnTo>
                    <a:lnTo>
                      <a:pt x="3068" y="30"/>
                    </a:lnTo>
                    <a:lnTo>
                      <a:pt x="3099" y="30"/>
                    </a:lnTo>
                    <a:lnTo>
                      <a:pt x="3131" y="30"/>
                    </a:lnTo>
                    <a:lnTo>
                      <a:pt x="3162" y="30"/>
                    </a:lnTo>
                    <a:lnTo>
                      <a:pt x="3193" y="30"/>
                    </a:lnTo>
                    <a:lnTo>
                      <a:pt x="3225" y="30"/>
                    </a:lnTo>
                    <a:lnTo>
                      <a:pt x="3256" y="30"/>
                    </a:lnTo>
                    <a:lnTo>
                      <a:pt x="3287" y="30"/>
                    </a:lnTo>
                    <a:lnTo>
                      <a:pt x="3319" y="30"/>
                    </a:lnTo>
                    <a:lnTo>
                      <a:pt x="3339" y="30"/>
                    </a:lnTo>
                    <a:lnTo>
                      <a:pt x="3371" y="30"/>
                    </a:lnTo>
                    <a:lnTo>
                      <a:pt x="3402" y="30"/>
                    </a:lnTo>
                    <a:lnTo>
                      <a:pt x="3433" y="30"/>
                    </a:lnTo>
                    <a:lnTo>
                      <a:pt x="3465" y="30"/>
                    </a:lnTo>
                    <a:lnTo>
                      <a:pt x="3496" y="30"/>
                    </a:lnTo>
                    <a:lnTo>
                      <a:pt x="3527" y="30"/>
                    </a:lnTo>
                    <a:lnTo>
                      <a:pt x="3559" y="30"/>
                    </a:lnTo>
                    <a:lnTo>
                      <a:pt x="3590" y="30"/>
                    </a:lnTo>
                    <a:lnTo>
                      <a:pt x="3611" y="30"/>
                    </a:lnTo>
                    <a:lnTo>
                      <a:pt x="3642" y="30"/>
                    </a:lnTo>
                    <a:lnTo>
                      <a:pt x="3673" y="30"/>
                    </a:lnTo>
                    <a:lnTo>
                      <a:pt x="3705" y="30"/>
                    </a:lnTo>
                    <a:lnTo>
                      <a:pt x="3736" y="30"/>
                    </a:lnTo>
                    <a:lnTo>
                      <a:pt x="3767" y="30"/>
                    </a:lnTo>
                    <a:lnTo>
                      <a:pt x="3799" y="30"/>
                    </a:lnTo>
                    <a:lnTo>
                      <a:pt x="3830" y="30"/>
                    </a:lnTo>
                    <a:lnTo>
                      <a:pt x="3851" y="30"/>
                    </a:lnTo>
                    <a:lnTo>
                      <a:pt x="3882" y="30"/>
                    </a:lnTo>
                    <a:lnTo>
                      <a:pt x="3913" y="30"/>
                    </a:lnTo>
                    <a:lnTo>
                      <a:pt x="3945" y="30"/>
                    </a:lnTo>
                    <a:lnTo>
                      <a:pt x="3976" y="30"/>
                    </a:lnTo>
                    <a:lnTo>
                      <a:pt x="4007" y="30"/>
                    </a:lnTo>
                    <a:lnTo>
                      <a:pt x="4039" y="30"/>
                    </a:lnTo>
                    <a:lnTo>
                      <a:pt x="4070" y="30"/>
                    </a:lnTo>
                    <a:lnTo>
                      <a:pt x="4101" y="30"/>
                    </a:lnTo>
                    <a:lnTo>
                      <a:pt x="4122" y="30"/>
                    </a:lnTo>
                    <a:lnTo>
                      <a:pt x="4153" y="30"/>
                    </a:lnTo>
                    <a:lnTo>
                      <a:pt x="4185" y="30"/>
                    </a:lnTo>
                    <a:lnTo>
                      <a:pt x="4216" y="30"/>
                    </a:lnTo>
                    <a:lnTo>
                      <a:pt x="4247" y="30"/>
                    </a:lnTo>
                    <a:lnTo>
                      <a:pt x="4279" y="30"/>
                    </a:lnTo>
                    <a:lnTo>
                      <a:pt x="4310" y="30"/>
                    </a:lnTo>
                    <a:lnTo>
                      <a:pt x="4341" y="30"/>
                    </a:lnTo>
                    <a:lnTo>
                      <a:pt x="4372" y="30"/>
                    </a:lnTo>
                    <a:lnTo>
                      <a:pt x="4393" y="30"/>
                    </a:lnTo>
                    <a:lnTo>
                      <a:pt x="4425" y="20"/>
                    </a:lnTo>
                    <a:lnTo>
                      <a:pt x="4456" y="20"/>
                    </a:lnTo>
                    <a:lnTo>
                      <a:pt x="4487" y="20"/>
                    </a:lnTo>
                    <a:lnTo>
                      <a:pt x="4519" y="20"/>
                    </a:lnTo>
                  </a:path>
                </a:pathLst>
              </a:custGeom>
              <a:noFill/>
              <a:ln w="38100">
                <a:solidFill>
                  <a:srgbClr val="99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5" name="Line 80">
                <a:extLst>
                  <a:ext uri="{FF2B5EF4-FFF2-40B4-BE49-F238E27FC236}">
                    <a16:creationId xmlns:a16="http://schemas.microsoft.com/office/drawing/2014/main" id="{AFD01D7D-475B-F8DB-5DC6-9AE205255BF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3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6" name="Line 81">
                <a:extLst>
                  <a:ext uri="{FF2B5EF4-FFF2-40B4-BE49-F238E27FC236}">
                    <a16:creationId xmlns:a16="http://schemas.microsoft.com/office/drawing/2014/main" id="{9B5776D0-D9B7-A672-BD54-CD02F69C6BF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8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7" name="Line 82">
                <a:extLst>
                  <a:ext uri="{FF2B5EF4-FFF2-40B4-BE49-F238E27FC236}">
                    <a16:creationId xmlns:a16="http://schemas.microsoft.com/office/drawing/2014/main" id="{7916A441-BDFD-D295-D496-8F3512507FE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31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8" name="Line 83">
                <a:extLst>
                  <a:ext uri="{FF2B5EF4-FFF2-40B4-BE49-F238E27FC236}">
                    <a16:creationId xmlns:a16="http://schemas.microsoft.com/office/drawing/2014/main" id="{5CDA787A-E74E-49A9-94D5-CDDE8E40A74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338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9" name="Line 84">
                <a:extLst>
                  <a:ext uri="{FF2B5EF4-FFF2-40B4-BE49-F238E27FC236}">
                    <a16:creationId xmlns:a16="http://schemas.microsoft.com/office/drawing/2014/main" id="{25E0FBAC-1E6B-8CA3-B04A-451A0AACBF4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365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0" name="Line 85">
                <a:extLst>
                  <a:ext uri="{FF2B5EF4-FFF2-40B4-BE49-F238E27FC236}">
                    <a16:creationId xmlns:a16="http://schemas.microsoft.com/office/drawing/2014/main" id="{ECF26580-3513-3046-0145-2D32B1BFE32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381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1" name="Line 86">
                <a:extLst>
                  <a:ext uri="{FF2B5EF4-FFF2-40B4-BE49-F238E27FC236}">
                    <a16:creationId xmlns:a16="http://schemas.microsoft.com/office/drawing/2014/main" id="{72115E5B-2E07-7E03-9575-9B64A8D5326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0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2" name="Line 87">
                <a:extLst>
                  <a:ext uri="{FF2B5EF4-FFF2-40B4-BE49-F238E27FC236}">
                    <a16:creationId xmlns:a16="http://schemas.microsoft.com/office/drawing/2014/main" id="{1A46A190-69D7-8393-47AA-BFAF376E763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32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3" name="Line 88">
                <a:extLst>
                  <a:ext uri="{FF2B5EF4-FFF2-40B4-BE49-F238E27FC236}">
                    <a16:creationId xmlns:a16="http://schemas.microsoft.com/office/drawing/2014/main" id="{7AB6D89E-0A62-106B-DF98-59609E9BB3D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5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4" name="Line 89">
                <a:extLst>
                  <a:ext uri="{FF2B5EF4-FFF2-40B4-BE49-F238E27FC236}">
                    <a16:creationId xmlns:a16="http://schemas.microsoft.com/office/drawing/2014/main" id="{3B1D33AA-706D-AA40-2534-48C8480EB9C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81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5" name="Line 90">
                <a:extLst>
                  <a:ext uri="{FF2B5EF4-FFF2-40B4-BE49-F238E27FC236}">
                    <a16:creationId xmlns:a16="http://schemas.microsoft.com/office/drawing/2014/main" id="{FB8C6FC1-E897-AC1E-5C69-BC32DEA1B34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05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6" name="Line 91">
                <a:extLst>
                  <a:ext uri="{FF2B5EF4-FFF2-40B4-BE49-F238E27FC236}">
                    <a16:creationId xmlns:a16="http://schemas.microsoft.com/office/drawing/2014/main" id="{1042600A-3A01-850D-F36E-C7BB5F597CE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31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7" name="Line 92">
                <a:extLst>
                  <a:ext uri="{FF2B5EF4-FFF2-40B4-BE49-F238E27FC236}">
                    <a16:creationId xmlns:a16="http://schemas.microsoft.com/office/drawing/2014/main" id="{9B6B63BA-1694-58B5-3766-4A14FBC8C3B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5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8" name="Line 93">
                <a:extLst>
                  <a:ext uri="{FF2B5EF4-FFF2-40B4-BE49-F238E27FC236}">
                    <a16:creationId xmlns:a16="http://schemas.microsoft.com/office/drawing/2014/main" id="{7C2DBC56-D82C-E3E6-1958-B33B5F74B3F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81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9" name="Line 94">
                <a:extLst>
                  <a:ext uri="{FF2B5EF4-FFF2-40B4-BE49-F238E27FC236}">
                    <a16:creationId xmlns:a16="http://schemas.microsoft.com/office/drawing/2014/main" id="{894BCCEC-3D47-D49F-4FCF-4FBCA9D83A2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9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0" name="Line 95">
                <a:extLst>
                  <a:ext uri="{FF2B5EF4-FFF2-40B4-BE49-F238E27FC236}">
                    <a16:creationId xmlns:a16="http://schemas.microsoft.com/office/drawing/2014/main" id="{A5445869-930E-A31C-F1F8-5E9886C11F6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2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1" name="Line 96">
                <a:extLst>
                  <a:ext uri="{FF2B5EF4-FFF2-40B4-BE49-F238E27FC236}">
                    <a16:creationId xmlns:a16="http://schemas.microsoft.com/office/drawing/2014/main" id="{58846CCF-F6C9-53EC-886C-59715278F98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4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2" name="Line 97">
                <a:extLst>
                  <a:ext uri="{FF2B5EF4-FFF2-40B4-BE49-F238E27FC236}">
                    <a16:creationId xmlns:a16="http://schemas.microsoft.com/office/drawing/2014/main" id="{0AC086C8-31C3-472F-BF47-DB8D9248795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72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3" name="Line 98">
                <a:extLst>
                  <a:ext uri="{FF2B5EF4-FFF2-40B4-BE49-F238E27FC236}">
                    <a16:creationId xmlns:a16="http://schemas.microsoft.com/office/drawing/2014/main" id="{7644BCD5-E61A-3BD6-E503-BE0BBD9EAC3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98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4" name="Line 99">
                <a:extLst>
                  <a:ext uri="{FF2B5EF4-FFF2-40B4-BE49-F238E27FC236}">
                    <a16:creationId xmlns:a16="http://schemas.microsoft.com/office/drawing/2014/main" id="{4C7C968C-1264-9563-778A-B992E32CA17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22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5" name="Line 100">
                <a:extLst>
                  <a:ext uri="{FF2B5EF4-FFF2-40B4-BE49-F238E27FC236}">
                    <a16:creationId xmlns:a16="http://schemas.microsoft.com/office/drawing/2014/main" id="{BFA92CAD-4283-F0CA-8852-D30229F534C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47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6" name="Line 101">
                <a:extLst>
                  <a:ext uri="{FF2B5EF4-FFF2-40B4-BE49-F238E27FC236}">
                    <a16:creationId xmlns:a16="http://schemas.microsoft.com/office/drawing/2014/main" id="{BCDCD32E-C10D-96C0-3BF2-B6DD03F7279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73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7" name="Line 102">
                <a:extLst>
                  <a:ext uri="{FF2B5EF4-FFF2-40B4-BE49-F238E27FC236}">
                    <a16:creationId xmlns:a16="http://schemas.microsoft.com/office/drawing/2014/main" id="{C424F8F1-14DB-BFF0-2425-3D7E0A02D58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9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8" name="Line 103">
                <a:extLst>
                  <a:ext uri="{FF2B5EF4-FFF2-40B4-BE49-F238E27FC236}">
                    <a16:creationId xmlns:a16="http://schemas.microsoft.com/office/drawing/2014/main" id="{1C23291A-D86B-78BA-6CB2-D9E6E2987EA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1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9" name="Line 104">
                <a:extLst>
                  <a:ext uri="{FF2B5EF4-FFF2-40B4-BE49-F238E27FC236}">
                    <a16:creationId xmlns:a16="http://schemas.microsoft.com/office/drawing/2014/main" id="{8347B5CD-75EB-9012-B16B-E0D4F3FED2B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38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00" name="Line 105">
                <a:extLst>
                  <a:ext uri="{FF2B5EF4-FFF2-40B4-BE49-F238E27FC236}">
                    <a16:creationId xmlns:a16="http://schemas.microsoft.com/office/drawing/2014/main" id="{1ACC27BF-AB46-FED9-E843-B3655BE1037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65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01" name="Line 106">
                <a:extLst>
                  <a:ext uri="{FF2B5EF4-FFF2-40B4-BE49-F238E27FC236}">
                    <a16:creationId xmlns:a16="http://schemas.microsoft.com/office/drawing/2014/main" id="{72BFCC66-A808-6B4B-9C19-E07452E076F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8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02" name="Line 107">
                <a:extLst>
                  <a:ext uri="{FF2B5EF4-FFF2-40B4-BE49-F238E27FC236}">
                    <a16:creationId xmlns:a16="http://schemas.microsoft.com/office/drawing/2014/main" id="{4942A67E-ED37-53E7-85D3-5942F71D6C8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14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03" name="Line 108">
                <a:extLst>
                  <a:ext uri="{FF2B5EF4-FFF2-40B4-BE49-F238E27FC236}">
                    <a16:creationId xmlns:a16="http://schemas.microsoft.com/office/drawing/2014/main" id="{DF5A303C-F2A9-E8FA-4CA2-5C763207F41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40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04" name="Line 109">
                <a:extLst>
                  <a:ext uri="{FF2B5EF4-FFF2-40B4-BE49-F238E27FC236}">
                    <a16:creationId xmlns:a16="http://schemas.microsoft.com/office/drawing/2014/main" id="{A97F198A-BCB9-E82D-B841-1D8B9401D3A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6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05" name="Line 110">
                <a:extLst>
                  <a:ext uri="{FF2B5EF4-FFF2-40B4-BE49-F238E27FC236}">
                    <a16:creationId xmlns:a16="http://schemas.microsoft.com/office/drawing/2014/main" id="{5742CD58-C788-B3E1-6E7F-FAA4D555A5C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8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06" name="Line 111">
                <a:extLst>
                  <a:ext uri="{FF2B5EF4-FFF2-40B4-BE49-F238E27FC236}">
                    <a16:creationId xmlns:a16="http://schemas.microsoft.com/office/drawing/2014/main" id="{C6FA9BCA-01B1-7377-8C59-48AECD71431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005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07" name="Line 112">
                <a:extLst>
                  <a:ext uri="{FF2B5EF4-FFF2-40B4-BE49-F238E27FC236}">
                    <a16:creationId xmlns:a16="http://schemas.microsoft.com/office/drawing/2014/main" id="{C3AD03C2-DA2C-69FA-7E2D-484F9F85642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031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08" name="Line 113">
                <a:extLst>
                  <a:ext uri="{FF2B5EF4-FFF2-40B4-BE49-F238E27FC236}">
                    <a16:creationId xmlns:a16="http://schemas.microsoft.com/office/drawing/2014/main" id="{CE8951B9-9C00-6F6B-2787-787B1C0623A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05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09" name="Line 114">
                <a:extLst>
                  <a:ext uri="{FF2B5EF4-FFF2-40B4-BE49-F238E27FC236}">
                    <a16:creationId xmlns:a16="http://schemas.microsoft.com/office/drawing/2014/main" id="{903A13E8-BAD4-10B1-D0E1-D6A93A62B18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08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0" name="Line 115">
                <a:extLst>
                  <a:ext uri="{FF2B5EF4-FFF2-40B4-BE49-F238E27FC236}">
                    <a16:creationId xmlns:a16="http://schemas.microsoft.com/office/drawing/2014/main" id="{58FB08F3-7289-F5A1-4169-CA2562C70FA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0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1" name="Line 116">
                <a:extLst>
                  <a:ext uri="{FF2B5EF4-FFF2-40B4-BE49-F238E27FC236}">
                    <a16:creationId xmlns:a16="http://schemas.microsoft.com/office/drawing/2014/main" id="{A495B317-AF7C-5EA1-053E-85145FB25D5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3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2" name="Line 117">
                <a:extLst>
                  <a:ext uri="{FF2B5EF4-FFF2-40B4-BE49-F238E27FC236}">
                    <a16:creationId xmlns:a16="http://schemas.microsoft.com/office/drawing/2014/main" id="{97DF1788-7147-C68D-8073-AE77BB178CA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5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3" name="Line 118">
                <a:extLst>
                  <a:ext uri="{FF2B5EF4-FFF2-40B4-BE49-F238E27FC236}">
                    <a16:creationId xmlns:a16="http://schemas.microsoft.com/office/drawing/2014/main" id="{71A8FDF4-FEC4-3CBC-FF79-FA34094E6B9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8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4" name="Line 119">
                <a:extLst>
                  <a:ext uri="{FF2B5EF4-FFF2-40B4-BE49-F238E27FC236}">
                    <a16:creationId xmlns:a16="http://schemas.microsoft.com/office/drawing/2014/main" id="{9BA1BC0D-4506-75E0-F381-6F2B3C61C22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0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5" name="Line 120">
                <a:extLst>
                  <a:ext uri="{FF2B5EF4-FFF2-40B4-BE49-F238E27FC236}">
                    <a16:creationId xmlns:a16="http://schemas.microsoft.com/office/drawing/2014/main" id="{E6799B66-454E-AAF6-595A-622E2B376D0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22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6" name="Line 121">
                <a:extLst>
                  <a:ext uri="{FF2B5EF4-FFF2-40B4-BE49-F238E27FC236}">
                    <a16:creationId xmlns:a16="http://schemas.microsoft.com/office/drawing/2014/main" id="{2EEBCA40-7763-62C3-AE83-76573833B24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47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7" name="Line 122">
                <a:extLst>
                  <a:ext uri="{FF2B5EF4-FFF2-40B4-BE49-F238E27FC236}">
                    <a16:creationId xmlns:a16="http://schemas.microsoft.com/office/drawing/2014/main" id="{60029C23-37AF-F618-B9E2-F6A3CA908F1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73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8" name="Line 123">
                <a:extLst>
                  <a:ext uri="{FF2B5EF4-FFF2-40B4-BE49-F238E27FC236}">
                    <a16:creationId xmlns:a16="http://schemas.microsoft.com/office/drawing/2014/main" id="{581FA8A2-EFA5-4D99-29AE-8FFA57CF66B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9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9" name="Line 124">
                <a:extLst>
                  <a:ext uri="{FF2B5EF4-FFF2-40B4-BE49-F238E27FC236}">
                    <a16:creationId xmlns:a16="http://schemas.microsoft.com/office/drawing/2014/main" id="{C0F7DA20-36A6-FDD8-3DF4-7CBC7E1B665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2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0" name="Line 125">
                <a:extLst>
                  <a:ext uri="{FF2B5EF4-FFF2-40B4-BE49-F238E27FC236}">
                    <a16:creationId xmlns:a16="http://schemas.microsoft.com/office/drawing/2014/main" id="{2A5003D6-A255-0AF9-97FE-191826980E5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1" name="Line 126">
                <a:extLst>
                  <a:ext uri="{FF2B5EF4-FFF2-40B4-BE49-F238E27FC236}">
                    <a16:creationId xmlns:a16="http://schemas.microsoft.com/office/drawing/2014/main" id="{F8C8B2D7-0424-BA70-3875-51E93C41A7F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7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2" name="Line 127">
                <a:extLst>
                  <a:ext uri="{FF2B5EF4-FFF2-40B4-BE49-F238E27FC236}">
                    <a16:creationId xmlns:a16="http://schemas.microsoft.com/office/drawing/2014/main" id="{EF5D8635-1C08-A023-D609-77C0A4198C9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97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3" name="Line 128">
                <a:extLst>
                  <a:ext uri="{FF2B5EF4-FFF2-40B4-BE49-F238E27FC236}">
                    <a16:creationId xmlns:a16="http://schemas.microsoft.com/office/drawing/2014/main" id="{2E4F1977-3ADB-35A7-4F79-21ACF08D35C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23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4" name="Line 129">
                <a:extLst>
                  <a:ext uri="{FF2B5EF4-FFF2-40B4-BE49-F238E27FC236}">
                    <a16:creationId xmlns:a16="http://schemas.microsoft.com/office/drawing/2014/main" id="{14D5F6DF-0B70-50DE-E3C7-DA4900DF612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3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5" name="Line 130">
                <a:extLst>
                  <a:ext uri="{FF2B5EF4-FFF2-40B4-BE49-F238E27FC236}">
                    <a16:creationId xmlns:a16="http://schemas.microsoft.com/office/drawing/2014/main" id="{52A87AA7-76BF-C6DE-65F4-E56AF26A10B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6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6" name="Line 131">
                <a:extLst>
                  <a:ext uri="{FF2B5EF4-FFF2-40B4-BE49-F238E27FC236}">
                    <a16:creationId xmlns:a16="http://schemas.microsoft.com/office/drawing/2014/main" id="{2E311629-6EDC-5929-AC2E-B446846EEFF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8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7" name="Line 132">
                <a:extLst>
                  <a:ext uri="{FF2B5EF4-FFF2-40B4-BE49-F238E27FC236}">
                    <a16:creationId xmlns:a16="http://schemas.microsoft.com/office/drawing/2014/main" id="{F99B86F2-E1F1-D57E-1084-17224AC3EB1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15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8" name="Line 133">
                <a:extLst>
                  <a:ext uri="{FF2B5EF4-FFF2-40B4-BE49-F238E27FC236}">
                    <a16:creationId xmlns:a16="http://schemas.microsoft.com/office/drawing/2014/main" id="{CD3E49B2-FF15-E1F7-1180-9E98ECCFBBB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3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9" name="Line 134">
                <a:extLst>
                  <a:ext uri="{FF2B5EF4-FFF2-40B4-BE49-F238E27FC236}">
                    <a16:creationId xmlns:a16="http://schemas.microsoft.com/office/drawing/2014/main" id="{C0A02F6A-7F25-12AD-D1BA-FB445299770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6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30" name="Line 135">
                <a:extLst>
                  <a:ext uri="{FF2B5EF4-FFF2-40B4-BE49-F238E27FC236}">
                    <a16:creationId xmlns:a16="http://schemas.microsoft.com/office/drawing/2014/main" id="{3512D2F0-812F-5EFF-3FE0-69FAD1970D7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88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31" name="Line 136">
                <a:extLst>
                  <a:ext uri="{FF2B5EF4-FFF2-40B4-BE49-F238E27FC236}">
                    <a16:creationId xmlns:a16="http://schemas.microsoft.com/office/drawing/2014/main" id="{56C74B2D-7941-2665-3ABC-E84A1628AF2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615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32" name="Line 137">
                <a:extLst>
                  <a:ext uri="{FF2B5EF4-FFF2-40B4-BE49-F238E27FC236}">
                    <a16:creationId xmlns:a16="http://schemas.microsoft.com/office/drawing/2014/main" id="{9A2FFDF7-4065-FBA4-DF04-48FE3903E74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639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33" name="Line 138">
                <a:extLst>
                  <a:ext uri="{FF2B5EF4-FFF2-40B4-BE49-F238E27FC236}">
                    <a16:creationId xmlns:a16="http://schemas.microsoft.com/office/drawing/2014/main" id="{8C071156-EB2D-469E-FCDA-C34B5384397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655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34" name="Line 139">
                <a:extLst>
                  <a:ext uri="{FF2B5EF4-FFF2-40B4-BE49-F238E27FC236}">
                    <a16:creationId xmlns:a16="http://schemas.microsoft.com/office/drawing/2014/main" id="{CA58B135-F1CA-8830-706A-863AA114060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68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35" name="Line 140">
                <a:extLst>
                  <a:ext uri="{FF2B5EF4-FFF2-40B4-BE49-F238E27FC236}">
                    <a16:creationId xmlns:a16="http://schemas.microsoft.com/office/drawing/2014/main" id="{5F176A6C-2CAE-DD9D-3F00-F24C90FB680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0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36" name="Line 141">
                <a:extLst>
                  <a:ext uri="{FF2B5EF4-FFF2-40B4-BE49-F238E27FC236}">
                    <a16:creationId xmlns:a16="http://schemas.microsoft.com/office/drawing/2014/main" id="{3EBBE6E1-2FED-2FB0-B8DC-53CA1986AC1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3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37" name="Line 142">
                <a:extLst>
                  <a:ext uri="{FF2B5EF4-FFF2-40B4-BE49-F238E27FC236}">
                    <a16:creationId xmlns:a16="http://schemas.microsoft.com/office/drawing/2014/main" id="{E1CBFB5F-BDBC-1C15-2F8C-9BB9CE5333C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55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38" name="Line 143">
                <a:extLst>
                  <a:ext uri="{FF2B5EF4-FFF2-40B4-BE49-F238E27FC236}">
                    <a16:creationId xmlns:a16="http://schemas.microsoft.com/office/drawing/2014/main" id="{121740F2-709F-BF60-1F68-7E0F12802CF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8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39" name="Line 144">
                <a:extLst>
                  <a:ext uri="{FF2B5EF4-FFF2-40B4-BE49-F238E27FC236}">
                    <a16:creationId xmlns:a16="http://schemas.microsoft.com/office/drawing/2014/main" id="{A0D5E0A5-0FDE-44F3-9947-312BE50434E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0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40" name="Line 145">
                <a:extLst>
                  <a:ext uri="{FF2B5EF4-FFF2-40B4-BE49-F238E27FC236}">
                    <a16:creationId xmlns:a16="http://schemas.microsoft.com/office/drawing/2014/main" id="{053B0513-5D84-FD84-F739-EC465669BDC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0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41" name="Line 146">
                <a:extLst>
                  <a:ext uri="{FF2B5EF4-FFF2-40B4-BE49-F238E27FC236}">
                    <a16:creationId xmlns:a16="http://schemas.microsoft.com/office/drawing/2014/main" id="{4E4B62DC-6128-B907-3914-C5D8B06F7BD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5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42" name="Line 147">
                <a:extLst>
                  <a:ext uri="{FF2B5EF4-FFF2-40B4-BE49-F238E27FC236}">
                    <a16:creationId xmlns:a16="http://schemas.microsoft.com/office/drawing/2014/main" id="{A65A4E12-DA59-659C-2AE6-9AF655CE4C4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7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43" name="Line 148">
                <a:extLst>
                  <a:ext uri="{FF2B5EF4-FFF2-40B4-BE49-F238E27FC236}">
                    <a16:creationId xmlns:a16="http://schemas.microsoft.com/office/drawing/2014/main" id="{55EB84DC-76EC-D39D-F9B3-5849C525DAA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9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44" name="Line 149">
                <a:extLst>
                  <a:ext uri="{FF2B5EF4-FFF2-40B4-BE49-F238E27FC236}">
                    <a16:creationId xmlns:a16="http://schemas.microsoft.com/office/drawing/2014/main" id="{958FF563-283D-A6D2-4F8C-96C807FC7D4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23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45" name="Line 150">
                <a:extLst>
                  <a:ext uri="{FF2B5EF4-FFF2-40B4-BE49-F238E27FC236}">
                    <a16:creationId xmlns:a16="http://schemas.microsoft.com/office/drawing/2014/main" id="{1AE40DB3-8073-3111-B4C6-4A177C78A8E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4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46" name="Line 151">
                <a:extLst>
                  <a:ext uri="{FF2B5EF4-FFF2-40B4-BE49-F238E27FC236}">
                    <a16:creationId xmlns:a16="http://schemas.microsoft.com/office/drawing/2014/main" id="{9E296451-3E18-382C-106D-D7E28CDA911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72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47" name="Line 152">
                <a:extLst>
                  <a:ext uri="{FF2B5EF4-FFF2-40B4-BE49-F238E27FC236}">
                    <a16:creationId xmlns:a16="http://schemas.microsoft.com/office/drawing/2014/main" id="{25EB398C-B20D-84C7-149E-BD707D069F1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97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48" name="Line 153">
                <a:extLst>
                  <a:ext uri="{FF2B5EF4-FFF2-40B4-BE49-F238E27FC236}">
                    <a16:creationId xmlns:a16="http://schemas.microsoft.com/office/drawing/2014/main" id="{3A889ABF-EB38-4F51-80D3-DC96DF24AA6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023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49" name="Line 154">
                <a:extLst>
                  <a:ext uri="{FF2B5EF4-FFF2-40B4-BE49-F238E27FC236}">
                    <a16:creationId xmlns:a16="http://schemas.microsoft.com/office/drawing/2014/main" id="{FC6EB862-7C61-BFF5-6DE5-BD4CB25099E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04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50" name="Line 155">
                <a:extLst>
                  <a:ext uri="{FF2B5EF4-FFF2-40B4-BE49-F238E27FC236}">
                    <a16:creationId xmlns:a16="http://schemas.microsoft.com/office/drawing/2014/main" id="{9751E2A6-C04E-758C-D558-B6A5F385BD6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07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51" name="Line 156">
                <a:extLst>
                  <a:ext uri="{FF2B5EF4-FFF2-40B4-BE49-F238E27FC236}">
                    <a16:creationId xmlns:a16="http://schemas.microsoft.com/office/drawing/2014/main" id="{CA3F4B1C-4038-2C8D-BA92-1C741A1A4BF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090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52" name="Line 157">
                <a:extLst>
                  <a:ext uri="{FF2B5EF4-FFF2-40B4-BE49-F238E27FC236}">
                    <a16:creationId xmlns:a16="http://schemas.microsoft.com/office/drawing/2014/main" id="{81A90439-45D7-1028-1AE0-338B962128E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11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53" name="Line 158">
                <a:extLst>
                  <a:ext uri="{FF2B5EF4-FFF2-40B4-BE49-F238E27FC236}">
                    <a16:creationId xmlns:a16="http://schemas.microsoft.com/office/drawing/2014/main" id="{6BF86A4E-46AF-565C-5E80-6CE0343CF9C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139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54" name="Line 159">
                <a:extLst>
                  <a:ext uri="{FF2B5EF4-FFF2-40B4-BE49-F238E27FC236}">
                    <a16:creationId xmlns:a16="http://schemas.microsoft.com/office/drawing/2014/main" id="{31EFCE84-9EDE-3016-997D-217038A6FE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163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55" name="Line 160">
                <a:extLst>
                  <a:ext uri="{FF2B5EF4-FFF2-40B4-BE49-F238E27FC236}">
                    <a16:creationId xmlns:a16="http://schemas.microsoft.com/office/drawing/2014/main" id="{F6B7155D-0EC0-61DE-B7A6-B3F69CB22D5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18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56" name="Line 161">
                <a:extLst>
                  <a:ext uri="{FF2B5EF4-FFF2-40B4-BE49-F238E27FC236}">
                    <a16:creationId xmlns:a16="http://schemas.microsoft.com/office/drawing/2014/main" id="{62B61686-97AE-6B6C-C8A1-74D6CF65419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1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57" name="Line 162">
                <a:extLst>
                  <a:ext uri="{FF2B5EF4-FFF2-40B4-BE49-F238E27FC236}">
                    <a16:creationId xmlns:a16="http://schemas.microsoft.com/office/drawing/2014/main" id="{E6F63B62-E8D4-D384-683B-AE7F86100C6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3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58" name="Line 163">
                <a:extLst>
                  <a:ext uri="{FF2B5EF4-FFF2-40B4-BE49-F238E27FC236}">
                    <a16:creationId xmlns:a16="http://schemas.microsoft.com/office/drawing/2014/main" id="{0FB763A2-3FBD-FFCA-A771-A035F019681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65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59" name="Line 164">
                <a:extLst>
                  <a:ext uri="{FF2B5EF4-FFF2-40B4-BE49-F238E27FC236}">
                    <a16:creationId xmlns:a16="http://schemas.microsoft.com/office/drawing/2014/main" id="{00C13526-C56B-CEFA-1BFD-0F053CFC6BF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81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60" name="Line 165">
                <a:extLst>
                  <a:ext uri="{FF2B5EF4-FFF2-40B4-BE49-F238E27FC236}">
                    <a16:creationId xmlns:a16="http://schemas.microsoft.com/office/drawing/2014/main" id="{68FE54D1-87C5-328C-8F5F-69DDBE4CD63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0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61" name="Line 166">
                <a:extLst>
                  <a:ext uri="{FF2B5EF4-FFF2-40B4-BE49-F238E27FC236}">
                    <a16:creationId xmlns:a16="http://schemas.microsoft.com/office/drawing/2014/main" id="{6C89BC42-EC82-A6D4-C6E1-F6010A92837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30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62" name="Line 167">
                <a:extLst>
                  <a:ext uri="{FF2B5EF4-FFF2-40B4-BE49-F238E27FC236}">
                    <a16:creationId xmlns:a16="http://schemas.microsoft.com/office/drawing/2014/main" id="{E93103DC-93F0-B0A6-2978-DE09CB0EB8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5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63" name="Line 168">
                <a:extLst>
                  <a:ext uri="{FF2B5EF4-FFF2-40B4-BE49-F238E27FC236}">
                    <a16:creationId xmlns:a16="http://schemas.microsoft.com/office/drawing/2014/main" id="{38076126-6710-3577-85C7-E1C50DD9CC4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8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64" name="Line 169">
                <a:extLst>
                  <a:ext uri="{FF2B5EF4-FFF2-40B4-BE49-F238E27FC236}">
                    <a16:creationId xmlns:a16="http://schemas.microsoft.com/office/drawing/2014/main" id="{42A03A4F-0EDF-B91D-D8A5-BF4D48F29F7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05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65" name="Line 170">
                <a:extLst>
                  <a:ext uri="{FF2B5EF4-FFF2-40B4-BE49-F238E27FC236}">
                    <a16:creationId xmlns:a16="http://schemas.microsoft.com/office/drawing/2014/main" id="{AAFAD153-031F-E051-2888-539008BB0B4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29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66" name="Line 171">
                <a:extLst>
                  <a:ext uri="{FF2B5EF4-FFF2-40B4-BE49-F238E27FC236}">
                    <a16:creationId xmlns:a16="http://schemas.microsoft.com/office/drawing/2014/main" id="{38D56CC8-584F-0139-798E-F89EE100DC3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5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67" name="Line 172">
                <a:extLst>
                  <a:ext uri="{FF2B5EF4-FFF2-40B4-BE49-F238E27FC236}">
                    <a16:creationId xmlns:a16="http://schemas.microsoft.com/office/drawing/2014/main" id="{849B7BAA-AA52-9517-E531-2476A8EE6B6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8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68" name="Line 173">
                <a:extLst>
                  <a:ext uri="{FF2B5EF4-FFF2-40B4-BE49-F238E27FC236}">
                    <a16:creationId xmlns:a16="http://schemas.microsoft.com/office/drawing/2014/main" id="{E2EB8991-3CDD-0481-AF5B-C1E887A0236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97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69" name="Line 174">
                <a:extLst>
                  <a:ext uri="{FF2B5EF4-FFF2-40B4-BE49-F238E27FC236}">
                    <a16:creationId xmlns:a16="http://schemas.microsoft.com/office/drawing/2014/main" id="{A2F166D8-1257-DE31-0385-E8C3CAC441A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2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70" name="Line 175">
                <a:extLst>
                  <a:ext uri="{FF2B5EF4-FFF2-40B4-BE49-F238E27FC236}">
                    <a16:creationId xmlns:a16="http://schemas.microsoft.com/office/drawing/2014/main" id="{5A197174-0062-4BEB-627A-AFE3BE64CC8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4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71" name="Line 176">
                <a:extLst>
                  <a:ext uri="{FF2B5EF4-FFF2-40B4-BE49-F238E27FC236}">
                    <a16:creationId xmlns:a16="http://schemas.microsoft.com/office/drawing/2014/main" id="{63289147-C224-3A37-1839-2E85E0ADB55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72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72" name="Line 177">
                <a:extLst>
                  <a:ext uri="{FF2B5EF4-FFF2-40B4-BE49-F238E27FC236}">
                    <a16:creationId xmlns:a16="http://schemas.microsoft.com/office/drawing/2014/main" id="{D7897CC0-2696-1D21-B8E2-7BDF74B70A4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98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73" name="Line 178">
                <a:extLst>
                  <a:ext uri="{FF2B5EF4-FFF2-40B4-BE49-F238E27FC236}">
                    <a16:creationId xmlns:a16="http://schemas.microsoft.com/office/drawing/2014/main" id="{ABC2246D-BBE3-F161-A43B-5E38E822D8B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22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74" name="Line 179">
                <a:extLst>
                  <a:ext uri="{FF2B5EF4-FFF2-40B4-BE49-F238E27FC236}">
                    <a16:creationId xmlns:a16="http://schemas.microsoft.com/office/drawing/2014/main" id="{11DA7A36-9B95-36A4-974D-696B6FA1B77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4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75" name="Line 180">
                <a:extLst>
                  <a:ext uri="{FF2B5EF4-FFF2-40B4-BE49-F238E27FC236}">
                    <a16:creationId xmlns:a16="http://schemas.microsoft.com/office/drawing/2014/main" id="{C10C255A-AED3-526B-D9F1-B03893ED6DA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73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76" name="Line 181">
                <a:extLst>
                  <a:ext uri="{FF2B5EF4-FFF2-40B4-BE49-F238E27FC236}">
                    <a16:creationId xmlns:a16="http://schemas.microsoft.com/office/drawing/2014/main" id="{0000A84D-AA27-2591-0801-918CD9E6D4E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9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77" name="Line 182">
                <a:extLst>
                  <a:ext uri="{FF2B5EF4-FFF2-40B4-BE49-F238E27FC236}">
                    <a16:creationId xmlns:a16="http://schemas.microsoft.com/office/drawing/2014/main" id="{5C18E797-1638-8EA5-3731-8F9CDA264F8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71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78" name="Line 183">
                <a:extLst>
                  <a:ext uri="{FF2B5EF4-FFF2-40B4-BE49-F238E27FC236}">
                    <a16:creationId xmlns:a16="http://schemas.microsoft.com/office/drawing/2014/main" id="{5DCC2133-F7BB-838A-7664-D595BF9E5C1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73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79" name="Line 184">
                <a:extLst>
                  <a:ext uri="{FF2B5EF4-FFF2-40B4-BE49-F238E27FC236}">
                    <a16:creationId xmlns:a16="http://schemas.microsoft.com/office/drawing/2014/main" id="{4EDCA151-263E-C094-031E-2506B369843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765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80" name="Line 185">
                <a:extLst>
                  <a:ext uri="{FF2B5EF4-FFF2-40B4-BE49-F238E27FC236}">
                    <a16:creationId xmlns:a16="http://schemas.microsoft.com/office/drawing/2014/main" id="{7E5598C4-D19B-4F7B-AF44-EC548F2089E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78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81" name="Line 186">
                <a:extLst>
                  <a:ext uri="{FF2B5EF4-FFF2-40B4-BE49-F238E27FC236}">
                    <a16:creationId xmlns:a16="http://schemas.microsoft.com/office/drawing/2014/main" id="{19D185CA-F408-B699-55C3-4E097D66EBD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814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82" name="Line 187">
                <a:extLst>
                  <a:ext uri="{FF2B5EF4-FFF2-40B4-BE49-F238E27FC236}">
                    <a16:creationId xmlns:a16="http://schemas.microsoft.com/office/drawing/2014/main" id="{FCD07196-86A0-66CA-E0CA-1BE48950052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840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83" name="Line 188">
                <a:extLst>
                  <a:ext uri="{FF2B5EF4-FFF2-40B4-BE49-F238E27FC236}">
                    <a16:creationId xmlns:a16="http://schemas.microsoft.com/office/drawing/2014/main" id="{31EFC3B0-05EE-B425-84F2-988C7E58A9A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86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84" name="Line 189">
                <a:extLst>
                  <a:ext uri="{FF2B5EF4-FFF2-40B4-BE49-F238E27FC236}">
                    <a16:creationId xmlns:a16="http://schemas.microsoft.com/office/drawing/2014/main" id="{CE4A34BD-CB00-072B-B550-6DDABBFAAE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888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85" name="Line 190">
                <a:extLst>
                  <a:ext uri="{FF2B5EF4-FFF2-40B4-BE49-F238E27FC236}">
                    <a16:creationId xmlns:a16="http://schemas.microsoft.com/office/drawing/2014/main" id="{0A3C06B5-1D6B-E5A5-A3A3-6C7B79F8E84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15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86" name="Line 191">
                <a:extLst>
                  <a:ext uri="{FF2B5EF4-FFF2-40B4-BE49-F238E27FC236}">
                    <a16:creationId xmlns:a16="http://schemas.microsoft.com/office/drawing/2014/main" id="{55B944AE-809A-FE79-57D4-5EABA3E9DF4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3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87" name="Line 192">
                <a:extLst>
                  <a:ext uri="{FF2B5EF4-FFF2-40B4-BE49-F238E27FC236}">
                    <a16:creationId xmlns:a16="http://schemas.microsoft.com/office/drawing/2014/main" id="{7495C2C7-2B1F-2D9A-4A7B-610E10440E7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5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88" name="Line 193">
                <a:extLst>
                  <a:ext uri="{FF2B5EF4-FFF2-40B4-BE49-F238E27FC236}">
                    <a16:creationId xmlns:a16="http://schemas.microsoft.com/office/drawing/2014/main" id="{2509F5A7-800B-693F-C4B8-114E77C1C3E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8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89" name="Line 194">
                <a:extLst>
                  <a:ext uri="{FF2B5EF4-FFF2-40B4-BE49-F238E27FC236}">
                    <a16:creationId xmlns:a16="http://schemas.microsoft.com/office/drawing/2014/main" id="{EC12218C-3AAF-7F60-92F9-DBC6B0F17E4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0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90" name="Line 195">
                <a:extLst>
                  <a:ext uri="{FF2B5EF4-FFF2-40B4-BE49-F238E27FC236}">
                    <a16:creationId xmlns:a16="http://schemas.microsoft.com/office/drawing/2014/main" id="{F646DE33-11E9-B79E-5096-C028073DFED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3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91" name="Line 196">
                <a:extLst>
                  <a:ext uri="{FF2B5EF4-FFF2-40B4-BE49-F238E27FC236}">
                    <a16:creationId xmlns:a16="http://schemas.microsoft.com/office/drawing/2014/main" id="{8A823D3B-7A68-B7FF-B3EE-82B1AACB82D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5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92" name="Line 197">
                <a:extLst>
                  <a:ext uri="{FF2B5EF4-FFF2-40B4-BE49-F238E27FC236}">
                    <a16:creationId xmlns:a16="http://schemas.microsoft.com/office/drawing/2014/main" id="{67AE0943-B75F-F650-0553-41CA79AB0ED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80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93" name="Line 198">
                <a:extLst>
                  <a:ext uri="{FF2B5EF4-FFF2-40B4-BE49-F238E27FC236}">
                    <a16:creationId xmlns:a16="http://schemas.microsoft.com/office/drawing/2014/main" id="{AA1461A0-C75C-5119-BDE1-23CC061194B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06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94" name="Line 199">
                <a:extLst>
                  <a:ext uri="{FF2B5EF4-FFF2-40B4-BE49-F238E27FC236}">
                    <a16:creationId xmlns:a16="http://schemas.microsoft.com/office/drawing/2014/main" id="{1E835103-5557-9A95-D99D-B883B361AEA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3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95" name="Line 200">
                <a:extLst>
                  <a:ext uri="{FF2B5EF4-FFF2-40B4-BE49-F238E27FC236}">
                    <a16:creationId xmlns:a16="http://schemas.microsoft.com/office/drawing/2014/main" id="{25DCBC15-6AE9-A0A7-C069-D00A475BAE6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4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96" name="Line 201">
                <a:extLst>
                  <a:ext uri="{FF2B5EF4-FFF2-40B4-BE49-F238E27FC236}">
                    <a16:creationId xmlns:a16="http://schemas.microsoft.com/office/drawing/2014/main" id="{F1AF4D56-92B1-D36D-B3D6-1ABDE771767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71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97" name="Line 202">
                <a:extLst>
                  <a:ext uri="{FF2B5EF4-FFF2-40B4-BE49-F238E27FC236}">
                    <a16:creationId xmlns:a16="http://schemas.microsoft.com/office/drawing/2014/main" id="{846C0E3E-00E5-3A7D-093B-5224EA16D48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9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98" name="Line 203">
                <a:extLst>
                  <a:ext uri="{FF2B5EF4-FFF2-40B4-BE49-F238E27FC236}">
                    <a16:creationId xmlns:a16="http://schemas.microsoft.com/office/drawing/2014/main" id="{DD98F95B-E4B1-E9EA-EB07-8B757D3D3A4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28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99" name="Line 204">
                <a:extLst>
                  <a:ext uri="{FF2B5EF4-FFF2-40B4-BE49-F238E27FC236}">
                    <a16:creationId xmlns:a16="http://schemas.microsoft.com/office/drawing/2014/main" id="{C5F096D1-24CD-98DB-E0D8-BFA24C65A9F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30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00" name="Line 205">
                <a:extLst>
                  <a:ext uri="{FF2B5EF4-FFF2-40B4-BE49-F238E27FC236}">
                    <a16:creationId xmlns:a16="http://schemas.microsoft.com/office/drawing/2014/main" id="{477D8079-BD6F-0940-FF75-5A9CBE437F8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330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01" name="Line 206">
                <a:extLst>
                  <a:ext uri="{FF2B5EF4-FFF2-40B4-BE49-F238E27FC236}">
                    <a16:creationId xmlns:a16="http://schemas.microsoft.com/office/drawing/2014/main" id="{01E94A1A-9B46-76F4-DFCB-1B71A329D27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35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02" name="Line 207">
                <a:extLst>
                  <a:ext uri="{FF2B5EF4-FFF2-40B4-BE49-F238E27FC236}">
                    <a16:creationId xmlns:a16="http://schemas.microsoft.com/office/drawing/2014/main" id="{C1BEA70C-5967-5A2A-E5B0-FB8E254C7B7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382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03" name="Line 208">
                <a:extLst>
                  <a:ext uri="{FF2B5EF4-FFF2-40B4-BE49-F238E27FC236}">
                    <a16:creationId xmlns:a16="http://schemas.microsoft.com/office/drawing/2014/main" id="{1869CEA3-536B-E031-EBFA-ABAC7A418B5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00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04" name="Line 209">
                <a:extLst>
                  <a:ext uri="{FF2B5EF4-FFF2-40B4-BE49-F238E27FC236}">
                    <a16:creationId xmlns:a16="http://schemas.microsoft.com/office/drawing/2014/main" id="{F9401A2C-A848-D80B-67F3-E888A8A3169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2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05" name="Line 210">
                <a:extLst>
                  <a:ext uri="{FF2B5EF4-FFF2-40B4-BE49-F238E27FC236}">
                    <a16:creationId xmlns:a16="http://schemas.microsoft.com/office/drawing/2014/main" id="{26445770-BCC9-BE0A-9CDB-33D929E9A18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4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06" name="Line 211">
                <a:extLst>
                  <a:ext uri="{FF2B5EF4-FFF2-40B4-BE49-F238E27FC236}">
                    <a16:creationId xmlns:a16="http://schemas.microsoft.com/office/drawing/2014/main" id="{E6B40F8F-85C0-0D2E-7903-D3061317DF3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7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07" name="Line 212">
                <a:extLst>
                  <a:ext uri="{FF2B5EF4-FFF2-40B4-BE49-F238E27FC236}">
                    <a16:creationId xmlns:a16="http://schemas.microsoft.com/office/drawing/2014/main" id="{40961D16-4317-0515-F704-76CDC356DC2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1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08" name="Line 213">
                <a:extLst>
                  <a:ext uri="{FF2B5EF4-FFF2-40B4-BE49-F238E27FC236}">
                    <a16:creationId xmlns:a16="http://schemas.microsoft.com/office/drawing/2014/main" id="{7BDA5320-CEC7-24A2-E6A3-352C22CACB7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25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09" name="Line 214">
                <a:extLst>
                  <a:ext uri="{FF2B5EF4-FFF2-40B4-BE49-F238E27FC236}">
                    <a16:creationId xmlns:a16="http://schemas.microsoft.com/office/drawing/2014/main" id="{A1497E2F-CBC8-77F3-BBF1-E8F305ED1B3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52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10" name="Line 215">
                <a:extLst>
                  <a:ext uri="{FF2B5EF4-FFF2-40B4-BE49-F238E27FC236}">
                    <a16:creationId xmlns:a16="http://schemas.microsoft.com/office/drawing/2014/main" id="{0434FC2D-E9C2-9B92-5C45-3DA57E70798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77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11" name="Line 216">
                <a:extLst>
                  <a:ext uri="{FF2B5EF4-FFF2-40B4-BE49-F238E27FC236}">
                    <a16:creationId xmlns:a16="http://schemas.microsoft.com/office/drawing/2014/main" id="{2EB33744-6FBC-3167-3825-B0ED7AFC044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02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12" name="Line 217">
                <a:extLst>
                  <a:ext uri="{FF2B5EF4-FFF2-40B4-BE49-F238E27FC236}">
                    <a16:creationId xmlns:a16="http://schemas.microsoft.com/office/drawing/2014/main" id="{DE54A85B-30D7-61F0-559F-1141AAB9FBE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1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13" name="Line 218">
                <a:extLst>
                  <a:ext uri="{FF2B5EF4-FFF2-40B4-BE49-F238E27FC236}">
                    <a16:creationId xmlns:a16="http://schemas.microsoft.com/office/drawing/2014/main" id="{CB6F690C-1B14-09B2-517D-ABB1DA4744E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44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14" name="Line 219">
                <a:extLst>
                  <a:ext uri="{FF2B5EF4-FFF2-40B4-BE49-F238E27FC236}">
                    <a16:creationId xmlns:a16="http://schemas.microsoft.com/office/drawing/2014/main" id="{1BF2BF98-54A4-11E8-F9A0-823C462DDC9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70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15" name="Line 220">
                <a:extLst>
                  <a:ext uri="{FF2B5EF4-FFF2-40B4-BE49-F238E27FC236}">
                    <a16:creationId xmlns:a16="http://schemas.microsoft.com/office/drawing/2014/main" id="{D8CCCA3E-94F2-A8F8-5EF0-E83333C40F3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9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16" name="Line 221">
                <a:extLst>
                  <a:ext uri="{FF2B5EF4-FFF2-40B4-BE49-F238E27FC236}">
                    <a16:creationId xmlns:a16="http://schemas.microsoft.com/office/drawing/2014/main" id="{C9E8C17B-F6A3-8AE2-11BE-1E5D5C73C0D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720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17" name="Line 222">
                <a:extLst>
                  <a:ext uri="{FF2B5EF4-FFF2-40B4-BE49-F238E27FC236}">
                    <a16:creationId xmlns:a16="http://schemas.microsoft.com/office/drawing/2014/main" id="{8424FCEF-B11B-7F2F-6AEA-57F9C62267F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746" y="2447"/>
                <a:ext cx="2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18" name="Line 223">
                <a:extLst>
                  <a:ext uri="{FF2B5EF4-FFF2-40B4-BE49-F238E27FC236}">
                    <a16:creationId xmlns:a16="http://schemas.microsoft.com/office/drawing/2014/main" id="{F5E55869-D423-82DA-B01F-9DD7B1F93C1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772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19" name="Line 224">
                <a:extLst>
                  <a:ext uri="{FF2B5EF4-FFF2-40B4-BE49-F238E27FC236}">
                    <a16:creationId xmlns:a16="http://schemas.microsoft.com/office/drawing/2014/main" id="{5F94D930-7C17-F220-C8A2-D5EC001511D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797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20" name="Line 225">
                <a:extLst>
                  <a:ext uri="{FF2B5EF4-FFF2-40B4-BE49-F238E27FC236}">
                    <a16:creationId xmlns:a16="http://schemas.microsoft.com/office/drawing/2014/main" id="{168BE304-054D-0124-B45D-E569824CACD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822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21" name="Line 226">
                <a:extLst>
                  <a:ext uri="{FF2B5EF4-FFF2-40B4-BE49-F238E27FC236}">
                    <a16:creationId xmlns:a16="http://schemas.microsoft.com/office/drawing/2014/main" id="{77E5E8B4-C457-60C5-2AC2-C5D0462AC63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839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22" name="Line 227">
                <a:extLst>
                  <a:ext uri="{FF2B5EF4-FFF2-40B4-BE49-F238E27FC236}">
                    <a16:creationId xmlns:a16="http://schemas.microsoft.com/office/drawing/2014/main" id="{19415B6E-9DB9-98CF-5B51-D72AAA0BBC9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865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23" name="Line 228">
                <a:extLst>
                  <a:ext uri="{FF2B5EF4-FFF2-40B4-BE49-F238E27FC236}">
                    <a16:creationId xmlns:a16="http://schemas.microsoft.com/office/drawing/2014/main" id="{9C76A62F-A3B3-5FDC-6430-341B05F5266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890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24" name="Line 229">
                <a:extLst>
                  <a:ext uri="{FF2B5EF4-FFF2-40B4-BE49-F238E27FC236}">
                    <a16:creationId xmlns:a16="http://schemas.microsoft.com/office/drawing/2014/main" id="{A25CA9DC-388B-6DF4-600E-8C287178396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916" y="2447"/>
                <a:ext cx="0" cy="0"/>
              </a:xfrm>
              <a:prstGeom prst="line">
                <a:avLst/>
              </a:prstGeom>
              <a:noFill/>
              <a:ln w="15875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25" name="Line 230">
                <a:extLst>
                  <a:ext uri="{FF2B5EF4-FFF2-40B4-BE49-F238E27FC236}">
                    <a16:creationId xmlns:a16="http://schemas.microsoft.com/office/drawing/2014/main" id="{8DEB796B-ED70-8FA6-7DC4-523A926CCBB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941" y="2447"/>
                <a:ext cx="1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26" name="Line 231">
                <a:extLst>
                  <a:ext uri="{FF2B5EF4-FFF2-40B4-BE49-F238E27FC236}">
                    <a16:creationId xmlns:a16="http://schemas.microsoft.com/office/drawing/2014/main" id="{A4EC45C6-3F29-CE0E-D3A5-1E9748C42C6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027" y="1794"/>
                <a:ext cx="0" cy="18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27" name="Line 232">
                <a:extLst>
                  <a:ext uri="{FF2B5EF4-FFF2-40B4-BE49-F238E27FC236}">
                    <a16:creationId xmlns:a16="http://schemas.microsoft.com/office/drawing/2014/main" id="{38D5D610-6FD7-87CB-D92F-DFDA0867985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53" y="1794"/>
                <a:ext cx="77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28" name="Rectangle 233">
                <a:extLst>
                  <a:ext uri="{FF2B5EF4-FFF2-40B4-BE49-F238E27FC236}">
                    <a16:creationId xmlns:a16="http://schemas.microsoft.com/office/drawing/2014/main" id="{F552B06F-075B-0E67-07B3-5D65CFEE56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19" y="3620"/>
                <a:ext cx="318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t</a:t>
                </a:r>
                <a:r>
                  <a:rPr lang="en-US" altLang="zh-CN" sz="2900" i="1" baseline="-1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p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529" name="Text Box 234">
                <a:extLst>
                  <a:ext uri="{FF2B5EF4-FFF2-40B4-BE49-F238E27FC236}">
                    <a16:creationId xmlns:a16="http://schemas.microsoft.com/office/drawing/2014/main" id="{E41F0725-8287-F6E0-3762-92545F3FE25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-5352532">
                <a:off x="426" y="2221"/>
                <a:ext cx="42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c(</a:t>
                </a:r>
                <a:r>
                  <a:rPr lang="en-US" altLang="zh-CN" sz="28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55530" name="Line 235">
                <a:extLst>
                  <a:ext uri="{FF2B5EF4-FFF2-40B4-BE49-F238E27FC236}">
                    <a16:creationId xmlns:a16="http://schemas.microsoft.com/office/drawing/2014/main" id="{27157FD1-27BD-1599-1610-8E7E1F49094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84" y="1625"/>
                <a:ext cx="350" cy="271"/>
              </a:xfrm>
              <a:prstGeom prst="line">
                <a:avLst/>
              </a:prstGeom>
              <a:noFill/>
              <a:ln w="22225">
                <a:solidFill>
                  <a:srgbClr val="3333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31" name="Line 236">
                <a:extLst>
                  <a:ext uri="{FF2B5EF4-FFF2-40B4-BE49-F238E27FC236}">
                    <a16:creationId xmlns:a16="http://schemas.microsoft.com/office/drawing/2014/main" id="{58004BEA-C2A7-4C72-1E40-45BDBE83466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96" y="1862"/>
                <a:ext cx="338" cy="262"/>
              </a:xfrm>
              <a:prstGeom prst="line">
                <a:avLst/>
              </a:prstGeom>
              <a:noFill/>
              <a:ln w="22225">
                <a:solidFill>
                  <a:srgbClr val="3399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32" name="Line 237">
                <a:extLst>
                  <a:ext uri="{FF2B5EF4-FFF2-40B4-BE49-F238E27FC236}">
                    <a16:creationId xmlns:a16="http://schemas.microsoft.com/office/drawing/2014/main" id="{25288E13-3FA3-A915-EF15-4826CCA87E6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84" y="2099"/>
                <a:ext cx="350" cy="236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33" name="Line 238">
                <a:extLst>
                  <a:ext uri="{FF2B5EF4-FFF2-40B4-BE49-F238E27FC236}">
                    <a16:creationId xmlns:a16="http://schemas.microsoft.com/office/drawing/2014/main" id="{85414161-0DE4-130B-BE35-563C64D9244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300" y="2302"/>
                <a:ext cx="234" cy="135"/>
              </a:xfrm>
              <a:prstGeom prst="line">
                <a:avLst/>
              </a:prstGeom>
              <a:noFill/>
              <a:ln w="22225">
                <a:solidFill>
                  <a:srgbClr val="99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34" name="Text Box 239">
                <a:extLst>
                  <a:ext uri="{FF2B5EF4-FFF2-40B4-BE49-F238E27FC236}">
                    <a16:creationId xmlns:a16="http://schemas.microsoft.com/office/drawing/2014/main" id="{CA6EDB9B-2C3A-0D0A-0427-C8CBEF242E5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27" y="1392"/>
                <a:ext cx="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3333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80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=0.2</a:t>
                </a:r>
              </a:p>
            </p:txBody>
          </p:sp>
          <p:sp>
            <p:nvSpPr>
              <p:cNvPr id="55535" name="Text Box 240">
                <a:extLst>
                  <a:ext uri="{FF2B5EF4-FFF2-40B4-BE49-F238E27FC236}">
                    <a16:creationId xmlns:a16="http://schemas.microsoft.com/office/drawing/2014/main" id="{D18DA1F4-7A99-175A-02D7-93956804060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33" y="1632"/>
                <a:ext cx="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339933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800">
                    <a:solidFill>
                      <a:srgbClr val="339933"/>
                    </a:solidFill>
                    <a:latin typeface="Times New Roman" panose="02020603050405020304" pitchFamily="18" charset="0"/>
                  </a:rPr>
                  <a:t>=0.4</a:t>
                </a:r>
              </a:p>
            </p:txBody>
          </p:sp>
          <p:sp>
            <p:nvSpPr>
              <p:cNvPr id="55536" name="Text Box 241">
                <a:extLst>
                  <a:ext uri="{FF2B5EF4-FFF2-40B4-BE49-F238E27FC236}">
                    <a16:creationId xmlns:a16="http://schemas.microsoft.com/office/drawing/2014/main" id="{7E4E5334-4A4F-711D-EB89-88E8D6BAFF3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33" y="1872"/>
                <a:ext cx="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=0.6</a:t>
                </a:r>
              </a:p>
            </p:txBody>
          </p:sp>
          <p:sp>
            <p:nvSpPr>
              <p:cNvPr id="55537" name="Text Box 242">
                <a:extLst>
                  <a:ext uri="{FF2B5EF4-FFF2-40B4-BE49-F238E27FC236}">
                    <a16:creationId xmlns:a16="http://schemas.microsoft.com/office/drawing/2014/main" id="{B61A3BA4-CF01-883B-6B8F-45C11F39AAD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33" y="2112"/>
                <a:ext cx="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9900CC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800">
                    <a:solidFill>
                      <a:srgbClr val="9900CC"/>
                    </a:solidFill>
                    <a:latin typeface="Times New Roman" panose="02020603050405020304" pitchFamily="18" charset="0"/>
                  </a:rPr>
                  <a:t>=0.8</a:t>
                </a:r>
              </a:p>
            </p:txBody>
          </p:sp>
          <p:sp>
            <p:nvSpPr>
              <p:cNvPr id="55538" name="Rectangle 243">
                <a:extLst>
                  <a:ext uri="{FF2B5EF4-FFF2-40B4-BE49-F238E27FC236}">
                    <a16:creationId xmlns:a16="http://schemas.microsoft.com/office/drawing/2014/main" id="{1BFA3369-EDBA-75FB-BB20-37F657CB88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51" y="3721"/>
                <a:ext cx="61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t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3">
            <a:extLst>
              <a:ext uri="{FF2B5EF4-FFF2-40B4-BE49-F238E27FC236}">
                <a16:creationId xmlns:a16="http://schemas.microsoft.com/office/drawing/2014/main" id="{C11047B6-E56C-EE81-B19C-2DD622BDB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844675"/>
            <a:ext cx="7010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欠阻尼二阶系统单位阶跃响应的特点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43DBBDE1-CA93-B58B-8365-14B8F33EB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56540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c(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) = 1</a:t>
            </a:r>
            <a:r>
              <a:rPr lang="zh-CN" altLang="en-US" sz="2800">
                <a:latin typeface="宋体" panose="02010600030101010101" pitchFamily="2" charset="-122"/>
              </a:rPr>
              <a:t>，无稳态误差； 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1B3663D5-D20E-B9D1-8134-C0D62F2B49C1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3141663"/>
            <a:ext cx="7666037" cy="1706562"/>
            <a:chOff x="864" y="1872"/>
            <a:chExt cx="4608" cy="1075"/>
          </a:xfrm>
        </p:grpSpPr>
        <p:sp>
          <p:nvSpPr>
            <p:cNvPr id="57354" name="Rectangle 6">
              <a:extLst>
                <a:ext uri="{FF2B5EF4-FFF2-40B4-BE49-F238E27FC236}">
                  <a16:creationId xmlns:a16="http://schemas.microsoft.com/office/drawing/2014/main" id="{5576710B-0583-017B-9C9E-77A3ABB1A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881"/>
              <a:ext cx="4608" cy="1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5000"/>
                </a:lnSpc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宋体" panose="02010600030101010101" pitchFamily="2" charset="-122"/>
                </a:rPr>
                <a:t>瞬态分量为振幅等于             的阻尼</a:t>
              </a:r>
            </a:p>
            <a:p>
              <a:pPr eaLnBrk="1" hangingPunct="1">
                <a:lnSpc>
                  <a:spcPct val="12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    </a:t>
              </a:r>
              <a:r>
                <a:rPr lang="zh-CN" altLang="en-US" sz="2800">
                  <a:latin typeface="宋体" panose="02010600030101010101" pitchFamily="2" charset="-122"/>
                </a:rPr>
                <a:t>正弦振荡，其振幅衰减的快慢由</a:t>
              </a:r>
              <a:r>
                <a:rPr lang="zh-CN" altLang="en-US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zh-CN" altLang="en-US" sz="2800">
                  <a:latin typeface="宋体" panose="02010600030101010101" pitchFamily="2" charset="-122"/>
                </a:rPr>
                <a:t>和</a:t>
              </a:r>
              <a:r>
                <a:rPr lang="zh-CN" altLang="en-US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900" i="1" baseline="-18000">
                  <a:latin typeface="Times New Roman" panose="02020603050405020304" pitchFamily="18" charset="0"/>
                </a:rPr>
                <a:t>n</a:t>
              </a:r>
              <a:r>
                <a:rPr lang="zh-CN" altLang="en-US" sz="2800">
                  <a:latin typeface="宋体" panose="02010600030101010101" pitchFamily="2" charset="-122"/>
                </a:rPr>
                <a:t>决定。</a:t>
              </a:r>
            </a:p>
            <a:p>
              <a:pPr eaLnBrk="1" hangingPunct="1">
                <a:lnSpc>
                  <a:spcPct val="12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宋体" panose="02010600030101010101" pitchFamily="2" charset="-122"/>
                </a:rPr>
                <a:t>  阻尼振荡频率             ；</a:t>
              </a:r>
            </a:p>
          </p:txBody>
        </p:sp>
        <p:graphicFrame>
          <p:nvGraphicFramePr>
            <p:cNvPr id="57355" name="Object 7">
              <a:extLst>
                <a:ext uri="{FF2B5EF4-FFF2-40B4-BE49-F238E27FC236}">
                  <a16:creationId xmlns:a16="http://schemas.microsoft.com/office/drawing/2014/main" id="{139B4EC7-C7D4-9278-7AB6-BEEA46AA5A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8" y="1872"/>
            <a:ext cx="1296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167893" imgH="342751" progId="Equation.3">
                    <p:embed/>
                  </p:oleObj>
                </mc:Choice>
                <mc:Fallback>
                  <p:oleObj r:id="rId3" imgW="1167893" imgH="342751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8" y="1872"/>
                          <a:ext cx="1296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56" name="Object 8">
              <a:extLst>
                <a:ext uri="{FF2B5EF4-FFF2-40B4-BE49-F238E27FC236}">
                  <a16:creationId xmlns:a16="http://schemas.microsoft.com/office/drawing/2014/main" id="{749DEBDE-B64B-490E-55FB-D070D55A69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2" y="2584"/>
            <a:ext cx="1248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218671" imgH="342751" progId="Equation.3">
                    <p:embed/>
                  </p:oleObj>
                </mc:Choice>
                <mc:Fallback>
                  <p:oleObj r:id="rId5" imgW="1218671" imgH="342751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2584"/>
                          <a:ext cx="1248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0905" name="Rectangle 9">
            <a:extLst>
              <a:ext uri="{FF2B5EF4-FFF2-40B4-BE49-F238E27FC236}">
                <a16:creationId xmlns:a16="http://schemas.microsoft.com/office/drawing/2014/main" id="{D1EF93CB-C740-D63A-0FD8-C2C559ACF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5445125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振荡幅值随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zh-CN" altLang="en-US" sz="2800">
                <a:latin typeface="宋体" panose="02010600030101010101" pitchFamily="2" charset="-122"/>
              </a:rPr>
              <a:t>减小而加大。  </a:t>
            </a:r>
          </a:p>
        </p:txBody>
      </p:sp>
      <p:grpSp>
        <p:nvGrpSpPr>
          <p:cNvPr id="57350" name="组合 14">
            <a:extLst>
              <a:ext uri="{FF2B5EF4-FFF2-40B4-BE49-F238E27FC236}">
                <a16:creationId xmlns:a16="http://schemas.microsoft.com/office/drawing/2014/main" id="{AB7078C8-7A32-5BC7-B04D-6CC59CB7B67A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476250"/>
            <a:ext cx="6362700" cy="1062038"/>
            <a:chOff x="1115616" y="476672"/>
            <a:chExt cx="6363519" cy="1062385"/>
          </a:xfrm>
        </p:grpSpPr>
        <p:pic>
          <p:nvPicPr>
            <p:cNvPr id="57352" name="Picture 11">
              <a:extLst>
                <a:ext uri="{FF2B5EF4-FFF2-40B4-BE49-F238E27FC236}">
                  <a16:creationId xmlns:a16="http://schemas.microsoft.com/office/drawing/2014/main" id="{F6601CA1-C337-ECB6-C117-C68F80EC41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033"/>
            <a:stretch>
              <a:fillRect/>
            </a:stretch>
          </p:blipFill>
          <p:spPr bwMode="auto">
            <a:xfrm>
              <a:off x="1619672" y="476672"/>
              <a:ext cx="5859463" cy="1062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53" name="TextBox 13">
              <a:extLst>
                <a:ext uri="{FF2B5EF4-FFF2-40B4-BE49-F238E27FC236}">
                  <a16:creationId xmlns:a16="http://schemas.microsoft.com/office/drawing/2014/main" id="{90EBE348-99EA-F62E-7F65-4D711667C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616" y="764704"/>
              <a:ext cx="6046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c(t)</a:t>
              </a:r>
              <a:endParaRPr lang="zh-CN" altLang="en-US" sz="1800"/>
            </a:p>
          </p:txBody>
        </p:sp>
      </p:grpSp>
      <p:pic>
        <p:nvPicPr>
          <p:cNvPr id="57351" name="Picture 14">
            <a:extLst>
              <a:ext uri="{FF2B5EF4-FFF2-40B4-BE49-F238E27FC236}">
                <a16:creationId xmlns:a16="http://schemas.microsoft.com/office/drawing/2014/main" id="{F2119AB3-6F6F-187C-4D65-9AAC68E48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48"/>
          <a:stretch>
            <a:fillRect/>
          </a:stretch>
        </p:blipFill>
        <p:spPr bwMode="auto">
          <a:xfrm>
            <a:off x="6091238" y="0"/>
            <a:ext cx="3052762" cy="191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0" grpId="0"/>
      <p:bldP spid="8090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>
            <a:extLst>
              <a:ext uri="{FF2B5EF4-FFF2-40B4-BE49-F238E27FC236}">
                <a16:creationId xmlns:a16="http://schemas.microsoft.com/office/drawing/2014/main" id="{F025A4CF-55D6-D618-5E3D-FF48E72AC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0525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临界阻尼（</a:t>
            </a:r>
            <a:r>
              <a:rPr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 b="1">
                <a:latin typeface="Times New Roman" panose="02020603050405020304" pitchFamily="18" charset="0"/>
              </a:rPr>
              <a:t>=1</a:t>
            </a:r>
            <a:r>
              <a:rPr lang="zh-CN" altLang="en-US" sz="2800" b="1">
                <a:latin typeface="宋体" panose="02010600030101010101" pitchFamily="2" charset="-122"/>
              </a:rPr>
              <a:t>）状态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12646" name="Object 6">
            <a:extLst>
              <a:ext uri="{FF2B5EF4-FFF2-40B4-BE49-F238E27FC236}">
                <a16:creationId xmlns:a16="http://schemas.microsoft.com/office/drawing/2014/main" id="{9BBA9B54-D235-B6FD-DD77-E2DE1CDD3D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2924175"/>
          <a:ext cx="33845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09684" imgH="419207" progId="Equation.DSMT4">
                  <p:embed/>
                </p:oleObj>
              </mc:Choice>
              <mc:Fallback>
                <p:oleObj r:id="rId3" imgW="1809684" imgH="41920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924175"/>
                        <a:ext cx="33845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7" name="Text Box 7">
            <a:extLst>
              <a:ext uri="{FF2B5EF4-FFF2-40B4-BE49-F238E27FC236}">
                <a16:creationId xmlns:a16="http://schemas.microsoft.com/office/drawing/2014/main" id="{10B779CC-47A9-DB14-FC5C-D4FEDB15C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933825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反变换得：</a:t>
            </a:r>
          </a:p>
        </p:txBody>
      </p:sp>
      <p:grpSp>
        <p:nvGrpSpPr>
          <p:cNvPr id="59397" name="组合 9">
            <a:extLst>
              <a:ext uri="{FF2B5EF4-FFF2-40B4-BE49-F238E27FC236}">
                <a16:creationId xmlns:a16="http://schemas.microsoft.com/office/drawing/2014/main" id="{74F249A3-95EC-5343-4D84-9D1BBA2BE334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1844675"/>
            <a:ext cx="4864100" cy="885825"/>
            <a:chOff x="1476375" y="1844675"/>
            <a:chExt cx="4864100" cy="885825"/>
          </a:xfrm>
        </p:grpSpPr>
        <p:graphicFrame>
          <p:nvGraphicFramePr>
            <p:cNvPr id="59401" name="Object 4">
              <a:extLst>
                <a:ext uri="{FF2B5EF4-FFF2-40B4-BE49-F238E27FC236}">
                  <a16:creationId xmlns:a16="http://schemas.microsoft.com/office/drawing/2014/main" id="{C97B7F31-6F91-24C6-DFA8-880A5E06B9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6375" y="1844675"/>
            <a:ext cx="4864100" cy="885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3200419" imgH="457267" progId="Equation.DSMT4">
                    <p:embed/>
                  </p:oleObj>
                </mc:Choice>
                <mc:Fallback>
                  <p:oleObj r:id="rId5" imgW="3200419" imgH="457267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6375" y="1844675"/>
                          <a:ext cx="4864100" cy="885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02" name="TextBox 6">
              <a:extLst>
                <a:ext uri="{FF2B5EF4-FFF2-40B4-BE49-F238E27FC236}">
                  <a16:creationId xmlns:a16="http://schemas.microsoft.com/office/drawing/2014/main" id="{B05065B1-D2A3-040E-DD54-7B40FA7E02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6375" y="2060575"/>
              <a:ext cx="719138" cy="461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C(s)</a:t>
              </a:r>
              <a:endParaRPr lang="zh-CN" altLang="en-US" sz="2400"/>
            </a:p>
          </p:txBody>
        </p:sp>
      </p:grpSp>
      <p:grpSp>
        <p:nvGrpSpPr>
          <p:cNvPr id="3" name="组合 8">
            <a:extLst>
              <a:ext uri="{FF2B5EF4-FFF2-40B4-BE49-F238E27FC236}">
                <a16:creationId xmlns:a16="http://schemas.microsoft.com/office/drawing/2014/main" id="{FD0A3A1B-BD8D-7AB2-DC68-A2F996249F46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4652963"/>
            <a:ext cx="6553200" cy="606425"/>
            <a:chOff x="1187450" y="4652963"/>
            <a:chExt cx="6553200" cy="606425"/>
          </a:xfrm>
        </p:grpSpPr>
        <p:graphicFrame>
          <p:nvGraphicFramePr>
            <p:cNvPr id="59399" name="Object 8">
              <a:extLst>
                <a:ext uri="{FF2B5EF4-FFF2-40B4-BE49-F238E27FC236}">
                  <a16:creationId xmlns:a16="http://schemas.microsoft.com/office/drawing/2014/main" id="{5C854431-AA3B-28CB-836C-D6207E8B44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87450" y="4652963"/>
            <a:ext cx="6553200" cy="606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3314604" imgH="161960" progId="Equation.DSMT4">
                    <p:embed/>
                  </p:oleObj>
                </mc:Choice>
                <mc:Fallback>
                  <p:oleObj r:id="rId7" imgW="3314604" imgH="16196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450" y="4652963"/>
                          <a:ext cx="6553200" cy="606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00" name="TextBox 7">
              <a:extLst>
                <a:ext uri="{FF2B5EF4-FFF2-40B4-BE49-F238E27FC236}">
                  <a16:creationId xmlns:a16="http://schemas.microsoft.com/office/drawing/2014/main" id="{4F9FE099-43C0-07A7-3EBD-459079476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8888" y="4724400"/>
              <a:ext cx="720725" cy="461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c(t)</a:t>
              </a:r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4">
            <a:extLst>
              <a:ext uri="{FF2B5EF4-FFF2-40B4-BE49-F238E27FC236}">
                <a16:creationId xmlns:a16="http://schemas.microsoft.com/office/drawing/2014/main" id="{2A1BD340-010A-813D-5064-91A9DF2B42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8775" y="1801813"/>
          <a:ext cx="40179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16100" imgH="241300" progId="Equation.3">
                  <p:embed/>
                </p:oleObj>
              </mc:Choice>
              <mc:Fallback>
                <p:oleObj r:id="rId3" imgW="18161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1801813"/>
                        <a:ext cx="40179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>
            <a:extLst>
              <a:ext uri="{FF2B5EF4-FFF2-40B4-BE49-F238E27FC236}">
                <a16:creationId xmlns:a16="http://schemas.microsoft.com/office/drawing/2014/main" id="{E36B345A-193A-CA93-FED6-B532D7BED132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048000"/>
            <a:ext cx="3946525" cy="3005138"/>
            <a:chOff x="2784" y="1728"/>
            <a:chExt cx="2740" cy="2030"/>
          </a:xfrm>
        </p:grpSpPr>
        <p:sp>
          <p:nvSpPr>
            <p:cNvPr id="61447" name="Line 6">
              <a:extLst>
                <a:ext uri="{FF2B5EF4-FFF2-40B4-BE49-F238E27FC236}">
                  <a16:creationId xmlns:a16="http://schemas.microsoft.com/office/drawing/2014/main" id="{C199A9D8-EB99-C524-85AE-CC13FC591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6" y="3458"/>
              <a:ext cx="2161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8" name="Line 7">
              <a:extLst>
                <a:ext uri="{FF2B5EF4-FFF2-40B4-BE49-F238E27FC236}">
                  <a16:creationId xmlns:a16="http://schemas.microsoft.com/office/drawing/2014/main" id="{BB8C14B2-E0F0-F8C8-0555-F4D8FB21C6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96" y="1872"/>
              <a:ext cx="0" cy="15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9" name="Freeform 8">
              <a:extLst>
                <a:ext uri="{FF2B5EF4-FFF2-40B4-BE49-F238E27FC236}">
                  <a16:creationId xmlns:a16="http://schemas.microsoft.com/office/drawing/2014/main" id="{03272991-F269-37AD-563B-21FFB8394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2179"/>
              <a:ext cx="2161" cy="1279"/>
            </a:xfrm>
            <a:custGeom>
              <a:avLst/>
              <a:gdLst>
                <a:gd name="T0" fmla="*/ 5 w 4519"/>
                <a:gd name="T1" fmla="*/ 231 h 3002"/>
                <a:gd name="T2" fmla="*/ 15 w 4519"/>
                <a:gd name="T3" fmla="*/ 223 h 3002"/>
                <a:gd name="T4" fmla="*/ 25 w 4519"/>
                <a:gd name="T5" fmla="*/ 211 h 3002"/>
                <a:gd name="T6" fmla="*/ 34 w 4519"/>
                <a:gd name="T7" fmla="*/ 196 h 3002"/>
                <a:gd name="T8" fmla="*/ 44 w 4519"/>
                <a:gd name="T9" fmla="*/ 179 h 3002"/>
                <a:gd name="T10" fmla="*/ 55 w 4519"/>
                <a:gd name="T11" fmla="*/ 162 h 3002"/>
                <a:gd name="T12" fmla="*/ 64 w 4519"/>
                <a:gd name="T13" fmla="*/ 146 h 3002"/>
                <a:gd name="T14" fmla="*/ 74 w 4519"/>
                <a:gd name="T15" fmla="*/ 130 h 3002"/>
                <a:gd name="T16" fmla="*/ 84 w 4519"/>
                <a:gd name="T17" fmla="*/ 114 h 3002"/>
                <a:gd name="T18" fmla="*/ 94 w 4519"/>
                <a:gd name="T19" fmla="*/ 101 h 3002"/>
                <a:gd name="T20" fmla="*/ 104 w 4519"/>
                <a:gd name="T21" fmla="*/ 88 h 3002"/>
                <a:gd name="T22" fmla="*/ 114 w 4519"/>
                <a:gd name="T23" fmla="*/ 77 h 3002"/>
                <a:gd name="T24" fmla="*/ 123 w 4519"/>
                <a:gd name="T25" fmla="*/ 67 h 3002"/>
                <a:gd name="T26" fmla="*/ 133 w 4519"/>
                <a:gd name="T27" fmla="*/ 58 h 3002"/>
                <a:gd name="T28" fmla="*/ 144 w 4519"/>
                <a:gd name="T29" fmla="*/ 50 h 3002"/>
                <a:gd name="T30" fmla="*/ 153 w 4519"/>
                <a:gd name="T31" fmla="*/ 43 h 3002"/>
                <a:gd name="T32" fmla="*/ 163 w 4519"/>
                <a:gd name="T33" fmla="*/ 37 h 3002"/>
                <a:gd name="T34" fmla="*/ 173 w 4519"/>
                <a:gd name="T35" fmla="*/ 32 h 3002"/>
                <a:gd name="T36" fmla="*/ 183 w 4519"/>
                <a:gd name="T37" fmla="*/ 27 h 3002"/>
                <a:gd name="T38" fmla="*/ 193 w 4519"/>
                <a:gd name="T39" fmla="*/ 23 h 3002"/>
                <a:gd name="T40" fmla="*/ 203 w 4519"/>
                <a:gd name="T41" fmla="*/ 20 h 3002"/>
                <a:gd name="T42" fmla="*/ 212 w 4519"/>
                <a:gd name="T43" fmla="*/ 17 h 3002"/>
                <a:gd name="T44" fmla="*/ 222 w 4519"/>
                <a:gd name="T45" fmla="*/ 14 h 3002"/>
                <a:gd name="T46" fmla="*/ 233 w 4519"/>
                <a:gd name="T47" fmla="*/ 12 h 3002"/>
                <a:gd name="T48" fmla="*/ 242 w 4519"/>
                <a:gd name="T49" fmla="*/ 10 h 3002"/>
                <a:gd name="T50" fmla="*/ 252 w 4519"/>
                <a:gd name="T51" fmla="*/ 9 h 3002"/>
                <a:gd name="T52" fmla="*/ 262 w 4519"/>
                <a:gd name="T53" fmla="*/ 7 h 3002"/>
                <a:gd name="T54" fmla="*/ 272 w 4519"/>
                <a:gd name="T55" fmla="*/ 6 h 3002"/>
                <a:gd name="T56" fmla="*/ 282 w 4519"/>
                <a:gd name="T57" fmla="*/ 6 h 3002"/>
                <a:gd name="T58" fmla="*/ 291 w 4519"/>
                <a:gd name="T59" fmla="*/ 4 h 3002"/>
                <a:gd name="T60" fmla="*/ 301 w 4519"/>
                <a:gd name="T61" fmla="*/ 3 h 3002"/>
                <a:gd name="T62" fmla="*/ 311 w 4519"/>
                <a:gd name="T63" fmla="*/ 3 h 3002"/>
                <a:gd name="T64" fmla="*/ 320 w 4519"/>
                <a:gd name="T65" fmla="*/ 3 h 3002"/>
                <a:gd name="T66" fmla="*/ 331 w 4519"/>
                <a:gd name="T67" fmla="*/ 2 h 3002"/>
                <a:gd name="T68" fmla="*/ 341 w 4519"/>
                <a:gd name="T69" fmla="*/ 2 h 3002"/>
                <a:gd name="T70" fmla="*/ 351 w 4519"/>
                <a:gd name="T71" fmla="*/ 1 h 3002"/>
                <a:gd name="T72" fmla="*/ 361 w 4519"/>
                <a:gd name="T73" fmla="*/ 1 h 3002"/>
                <a:gd name="T74" fmla="*/ 371 w 4519"/>
                <a:gd name="T75" fmla="*/ 1 h 3002"/>
                <a:gd name="T76" fmla="*/ 380 w 4519"/>
                <a:gd name="T77" fmla="*/ 1 h 3002"/>
                <a:gd name="T78" fmla="*/ 390 w 4519"/>
                <a:gd name="T79" fmla="*/ 1 h 3002"/>
                <a:gd name="T80" fmla="*/ 401 w 4519"/>
                <a:gd name="T81" fmla="*/ 1 h 3002"/>
                <a:gd name="T82" fmla="*/ 409 w 4519"/>
                <a:gd name="T83" fmla="*/ 1 h 3002"/>
                <a:gd name="T84" fmla="*/ 420 w 4519"/>
                <a:gd name="T85" fmla="*/ 1 h 3002"/>
                <a:gd name="T86" fmla="*/ 430 w 4519"/>
                <a:gd name="T87" fmla="*/ 1 h 3002"/>
                <a:gd name="T88" fmla="*/ 439 w 4519"/>
                <a:gd name="T89" fmla="*/ 0 h 3002"/>
                <a:gd name="T90" fmla="*/ 450 w 4519"/>
                <a:gd name="T91" fmla="*/ 0 h 3002"/>
                <a:gd name="T92" fmla="*/ 460 w 4519"/>
                <a:gd name="T93" fmla="*/ 0 h 3002"/>
                <a:gd name="T94" fmla="*/ 469 w 4519"/>
                <a:gd name="T95" fmla="*/ 0 h 3002"/>
                <a:gd name="T96" fmla="*/ 479 w 4519"/>
                <a:gd name="T97" fmla="*/ 0 h 3002"/>
                <a:gd name="T98" fmla="*/ 490 w 4519"/>
                <a:gd name="T99" fmla="*/ 0 h 300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519" h="3002">
                  <a:moveTo>
                    <a:pt x="0" y="3002"/>
                  </a:moveTo>
                  <a:lnTo>
                    <a:pt x="42" y="2985"/>
                  </a:lnTo>
                  <a:lnTo>
                    <a:pt x="94" y="2950"/>
                  </a:lnTo>
                  <a:lnTo>
                    <a:pt x="136" y="2888"/>
                  </a:lnTo>
                  <a:lnTo>
                    <a:pt x="178" y="2817"/>
                  </a:lnTo>
                  <a:lnTo>
                    <a:pt x="230" y="2729"/>
                  </a:lnTo>
                  <a:lnTo>
                    <a:pt x="272" y="2633"/>
                  </a:lnTo>
                  <a:lnTo>
                    <a:pt x="313" y="2536"/>
                  </a:lnTo>
                  <a:lnTo>
                    <a:pt x="366" y="2430"/>
                  </a:lnTo>
                  <a:lnTo>
                    <a:pt x="407" y="2316"/>
                  </a:lnTo>
                  <a:lnTo>
                    <a:pt x="449" y="2210"/>
                  </a:lnTo>
                  <a:lnTo>
                    <a:pt x="501" y="2095"/>
                  </a:lnTo>
                  <a:lnTo>
                    <a:pt x="543" y="1990"/>
                  </a:lnTo>
                  <a:lnTo>
                    <a:pt x="585" y="1884"/>
                  </a:lnTo>
                  <a:lnTo>
                    <a:pt x="637" y="1779"/>
                  </a:lnTo>
                  <a:lnTo>
                    <a:pt x="679" y="1673"/>
                  </a:lnTo>
                  <a:lnTo>
                    <a:pt x="720" y="1576"/>
                  </a:lnTo>
                  <a:lnTo>
                    <a:pt x="772" y="1479"/>
                  </a:lnTo>
                  <a:lnTo>
                    <a:pt x="814" y="1391"/>
                  </a:lnTo>
                  <a:lnTo>
                    <a:pt x="856" y="1303"/>
                  </a:lnTo>
                  <a:lnTo>
                    <a:pt x="908" y="1215"/>
                  </a:lnTo>
                  <a:lnTo>
                    <a:pt x="950" y="1136"/>
                  </a:lnTo>
                  <a:lnTo>
                    <a:pt x="992" y="1065"/>
                  </a:lnTo>
                  <a:lnTo>
                    <a:pt x="1044" y="995"/>
                  </a:lnTo>
                  <a:lnTo>
                    <a:pt x="1086" y="924"/>
                  </a:lnTo>
                  <a:lnTo>
                    <a:pt x="1127" y="863"/>
                  </a:lnTo>
                  <a:lnTo>
                    <a:pt x="1179" y="801"/>
                  </a:lnTo>
                  <a:lnTo>
                    <a:pt x="1221" y="748"/>
                  </a:lnTo>
                  <a:lnTo>
                    <a:pt x="1263" y="696"/>
                  </a:lnTo>
                  <a:lnTo>
                    <a:pt x="1315" y="643"/>
                  </a:lnTo>
                  <a:lnTo>
                    <a:pt x="1357" y="599"/>
                  </a:lnTo>
                  <a:lnTo>
                    <a:pt x="1399" y="555"/>
                  </a:lnTo>
                  <a:lnTo>
                    <a:pt x="1451" y="511"/>
                  </a:lnTo>
                  <a:lnTo>
                    <a:pt x="1492" y="475"/>
                  </a:lnTo>
                  <a:lnTo>
                    <a:pt x="1534" y="440"/>
                  </a:lnTo>
                  <a:lnTo>
                    <a:pt x="1586" y="405"/>
                  </a:lnTo>
                  <a:lnTo>
                    <a:pt x="1628" y="379"/>
                  </a:lnTo>
                  <a:lnTo>
                    <a:pt x="1670" y="352"/>
                  </a:lnTo>
                  <a:lnTo>
                    <a:pt x="1722" y="326"/>
                  </a:lnTo>
                  <a:lnTo>
                    <a:pt x="1764" y="299"/>
                  </a:lnTo>
                  <a:lnTo>
                    <a:pt x="1806" y="273"/>
                  </a:lnTo>
                  <a:lnTo>
                    <a:pt x="1858" y="255"/>
                  </a:lnTo>
                  <a:lnTo>
                    <a:pt x="1899" y="238"/>
                  </a:lnTo>
                  <a:lnTo>
                    <a:pt x="1941" y="220"/>
                  </a:lnTo>
                  <a:lnTo>
                    <a:pt x="1993" y="202"/>
                  </a:lnTo>
                  <a:lnTo>
                    <a:pt x="2035" y="185"/>
                  </a:lnTo>
                  <a:lnTo>
                    <a:pt x="2077" y="167"/>
                  </a:lnTo>
                  <a:lnTo>
                    <a:pt x="2129" y="158"/>
                  </a:lnTo>
                  <a:lnTo>
                    <a:pt x="2171" y="141"/>
                  </a:lnTo>
                  <a:lnTo>
                    <a:pt x="2212" y="132"/>
                  </a:lnTo>
                  <a:lnTo>
                    <a:pt x="2265" y="123"/>
                  </a:lnTo>
                  <a:lnTo>
                    <a:pt x="2306" y="114"/>
                  </a:lnTo>
                  <a:lnTo>
                    <a:pt x="2348" y="106"/>
                  </a:lnTo>
                  <a:lnTo>
                    <a:pt x="2390" y="97"/>
                  </a:lnTo>
                  <a:lnTo>
                    <a:pt x="2442" y="88"/>
                  </a:lnTo>
                  <a:lnTo>
                    <a:pt x="2484" y="79"/>
                  </a:lnTo>
                  <a:lnTo>
                    <a:pt x="2526" y="70"/>
                  </a:lnTo>
                  <a:lnTo>
                    <a:pt x="2578" y="70"/>
                  </a:lnTo>
                  <a:lnTo>
                    <a:pt x="2619" y="62"/>
                  </a:lnTo>
                  <a:lnTo>
                    <a:pt x="2661" y="53"/>
                  </a:lnTo>
                  <a:lnTo>
                    <a:pt x="2713" y="53"/>
                  </a:lnTo>
                  <a:lnTo>
                    <a:pt x="2755" y="44"/>
                  </a:lnTo>
                  <a:lnTo>
                    <a:pt x="2797" y="44"/>
                  </a:lnTo>
                  <a:lnTo>
                    <a:pt x="2849" y="44"/>
                  </a:lnTo>
                  <a:lnTo>
                    <a:pt x="2891" y="35"/>
                  </a:lnTo>
                  <a:lnTo>
                    <a:pt x="2932" y="35"/>
                  </a:lnTo>
                  <a:lnTo>
                    <a:pt x="2985" y="35"/>
                  </a:lnTo>
                  <a:lnTo>
                    <a:pt x="3026" y="26"/>
                  </a:lnTo>
                  <a:lnTo>
                    <a:pt x="3068" y="26"/>
                  </a:lnTo>
                  <a:lnTo>
                    <a:pt x="3120" y="26"/>
                  </a:lnTo>
                  <a:lnTo>
                    <a:pt x="3162" y="18"/>
                  </a:lnTo>
                  <a:lnTo>
                    <a:pt x="3204" y="18"/>
                  </a:lnTo>
                  <a:lnTo>
                    <a:pt x="3256" y="18"/>
                  </a:lnTo>
                  <a:lnTo>
                    <a:pt x="3298" y="18"/>
                  </a:lnTo>
                  <a:lnTo>
                    <a:pt x="3339" y="18"/>
                  </a:lnTo>
                  <a:lnTo>
                    <a:pt x="3392" y="18"/>
                  </a:lnTo>
                  <a:lnTo>
                    <a:pt x="3433" y="9"/>
                  </a:lnTo>
                  <a:lnTo>
                    <a:pt x="3475" y="9"/>
                  </a:lnTo>
                  <a:lnTo>
                    <a:pt x="3527" y="9"/>
                  </a:lnTo>
                  <a:lnTo>
                    <a:pt x="3569" y="9"/>
                  </a:lnTo>
                  <a:lnTo>
                    <a:pt x="3611" y="9"/>
                  </a:lnTo>
                  <a:lnTo>
                    <a:pt x="3663" y="9"/>
                  </a:lnTo>
                  <a:lnTo>
                    <a:pt x="3705" y="9"/>
                  </a:lnTo>
                  <a:lnTo>
                    <a:pt x="3746" y="9"/>
                  </a:lnTo>
                  <a:lnTo>
                    <a:pt x="3799" y="9"/>
                  </a:lnTo>
                  <a:lnTo>
                    <a:pt x="3840" y="9"/>
                  </a:lnTo>
                  <a:lnTo>
                    <a:pt x="3882" y="9"/>
                  </a:lnTo>
                  <a:lnTo>
                    <a:pt x="3934" y="9"/>
                  </a:lnTo>
                  <a:lnTo>
                    <a:pt x="3976" y="9"/>
                  </a:lnTo>
                  <a:lnTo>
                    <a:pt x="4018" y="0"/>
                  </a:lnTo>
                  <a:lnTo>
                    <a:pt x="4070" y="0"/>
                  </a:lnTo>
                  <a:lnTo>
                    <a:pt x="4112" y="0"/>
                  </a:lnTo>
                  <a:lnTo>
                    <a:pt x="4153" y="0"/>
                  </a:lnTo>
                  <a:lnTo>
                    <a:pt x="4206" y="0"/>
                  </a:lnTo>
                  <a:lnTo>
                    <a:pt x="4247" y="0"/>
                  </a:lnTo>
                  <a:lnTo>
                    <a:pt x="4289" y="0"/>
                  </a:lnTo>
                  <a:lnTo>
                    <a:pt x="4341" y="0"/>
                  </a:lnTo>
                  <a:lnTo>
                    <a:pt x="4383" y="0"/>
                  </a:lnTo>
                  <a:lnTo>
                    <a:pt x="4425" y="0"/>
                  </a:lnTo>
                  <a:lnTo>
                    <a:pt x="4477" y="0"/>
                  </a:lnTo>
                  <a:lnTo>
                    <a:pt x="4519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0" name="Line 9">
              <a:extLst>
                <a:ext uri="{FF2B5EF4-FFF2-40B4-BE49-F238E27FC236}">
                  <a16:creationId xmlns:a16="http://schemas.microsoft.com/office/drawing/2014/main" id="{611A286E-AE04-2334-E06C-845FD9470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2171"/>
              <a:ext cx="21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1" name="Text Box 10">
              <a:extLst>
                <a:ext uri="{FF2B5EF4-FFF2-40B4-BE49-F238E27FC236}">
                  <a16:creationId xmlns:a16="http://schemas.microsoft.com/office/drawing/2014/main" id="{59DBD6DE-7F22-6118-9649-A217E1B2A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2016"/>
              <a:ext cx="251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1452" name="Text Box 11">
              <a:extLst>
                <a:ext uri="{FF2B5EF4-FFF2-40B4-BE49-F238E27FC236}">
                  <a16:creationId xmlns:a16="http://schemas.microsoft.com/office/drawing/2014/main" id="{79D5B7EA-E935-A3A6-E786-620FA36631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3323"/>
              <a:ext cx="251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1453" name="Text Box 12">
              <a:extLst>
                <a:ext uri="{FF2B5EF4-FFF2-40B4-BE49-F238E27FC236}">
                  <a16:creationId xmlns:a16="http://schemas.microsoft.com/office/drawing/2014/main" id="{E960EA14-A7DC-D133-CA48-E07B7A104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3408"/>
              <a:ext cx="196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1454" name="Text Box 13">
              <a:extLst>
                <a:ext uri="{FF2B5EF4-FFF2-40B4-BE49-F238E27FC236}">
                  <a16:creationId xmlns:a16="http://schemas.microsoft.com/office/drawing/2014/main" id="{3A21B62A-46C6-40E8-0CD9-86242325F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728"/>
              <a:ext cx="624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c(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79886" name="Text Box 14">
            <a:extLst>
              <a:ext uri="{FF2B5EF4-FFF2-40B4-BE49-F238E27FC236}">
                <a16:creationId xmlns:a16="http://schemas.microsoft.com/office/drawing/2014/main" id="{F21EFD9C-9913-A653-EFE1-6B1D66F49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048000"/>
            <a:ext cx="25908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特点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79887" name="Rectangle 15">
            <a:extLst>
              <a:ext uri="{FF2B5EF4-FFF2-40B4-BE49-F238E27FC236}">
                <a16:creationId xmlns:a16="http://schemas.microsoft.com/office/drawing/2014/main" id="{B82EF774-3F15-8AF8-1E6A-A3EE85F49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792538"/>
            <a:ext cx="3048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单调上升，无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振荡、无超调； </a:t>
            </a:r>
          </a:p>
        </p:txBody>
      </p:sp>
      <p:sp>
        <p:nvSpPr>
          <p:cNvPr id="79888" name="Rectangle 16">
            <a:extLst>
              <a:ext uri="{FF2B5EF4-FFF2-40B4-BE49-F238E27FC236}">
                <a16:creationId xmlns:a16="http://schemas.microsoft.com/office/drawing/2014/main" id="{6D922886-28AF-D0DD-A66A-5F7318713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921250"/>
            <a:ext cx="2819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) = 1</a:t>
            </a:r>
            <a:r>
              <a:rPr lang="zh-CN" altLang="en-US" sz="2800">
                <a:latin typeface="宋体" panose="02010600030101010101" pitchFamily="2" charset="-122"/>
              </a:rPr>
              <a:t>，无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稳态误差。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9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6" grpId="0"/>
      <p:bldP spid="79887" grpId="0"/>
      <p:bldP spid="7988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>
            <a:extLst>
              <a:ext uri="{FF2B5EF4-FFF2-40B4-BE49-F238E27FC236}">
                <a16:creationId xmlns:a16="http://schemas.microsoft.com/office/drawing/2014/main" id="{BD016FE2-A3B5-4B44-363A-044A4C8B1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8366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过阻尼（</a:t>
            </a:r>
            <a:r>
              <a:rPr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 b="1">
                <a:latin typeface="Times New Roman" panose="02020603050405020304" pitchFamily="18" charset="0"/>
              </a:rPr>
              <a:t>&gt;1</a:t>
            </a:r>
            <a:r>
              <a:rPr lang="zh-CN" altLang="en-US" sz="2800" b="1">
                <a:latin typeface="宋体" panose="02010600030101010101" pitchFamily="2" charset="-122"/>
              </a:rPr>
              <a:t>）状态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8852" name="Object 4">
            <a:extLst>
              <a:ext uri="{FF2B5EF4-FFF2-40B4-BE49-F238E27FC236}">
                <a16:creationId xmlns:a16="http://schemas.microsoft.com/office/drawing/2014/main" id="{96B3BBB5-E457-8AD5-B693-D502911FB9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1628775"/>
          <a:ext cx="5614988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86100" imgH="939800" progId="Equation.3">
                  <p:embed/>
                </p:oleObj>
              </mc:Choice>
              <mc:Fallback>
                <p:oleObj r:id="rId3" imgW="3086100" imgH="93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628775"/>
                        <a:ext cx="5614988" cy="169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>
            <a:extLst>
              <a:ext uri="{FF2B5EF4-FFF2-40B4-BE49-F238E27FC236}">
                <a16:creationId xmlns:a16="http://schemas.microsoft.com/office/drawing/2014/main" id="{22746A67-AB0B-0503-5332-34FEF37B05C6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3068638"/>
            <a:ext cx="3886200" cy="2846387"/>
            <a:chOff x="720" y="2400"/>
            <a:chExt cx="2448" cy="1793"/>
          </a:xfrm>
        </p:grpSpPr>
        <p:sp>
          <p:nvSpPr>
            <p:cNvPr id="63497" name="Line 6">
              <a:extLst>
                <a:ext uri="{FF2B5EF4-FFF2-40B4-BE49-F238E27FC236}">
                  <a16:creationId xmlns:a16="http://schemas.microsoft.com/office/drawing/2014/main" id="{58A7B1A1-5769-BB71-E5BE-ABDA492B6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1" y="3909"/>
              <a:ext cx="18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8" name="Line 7">
              <a:extLst>
                <a:ext uri="{FF2B5EF4-FFF2-40B4-BE49-F238E27FC236}">
                  <a16:creationId xmlns:a16="http://schemas.microsoft.com/office/drawing/2014/main" id="{1DB10AA5-5D47-198F-7C0C-A8610D7C8C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1" y="2810"/>
              <a:ext cx="184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9" name="Line 8">
              <a:extLst>
                <a:ext uri="{FF2B5EF4-FFF2-40B4-BE49-F238E27FC236}">
                  <a16:creationId xmlns:a16="http://schemas.microsoft.com/office/drawing/2014/main" id="{9552D0FF-E772-74E8-F71B-2E8BE22942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63" y="2527"/>
              <a:ext cx="0" cy="13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0" name="Freeform 9">
              <a:extLst>
                <a:ext uri="{FF2B5EF4-FFF2-40B4-BE49-F238E27FC236}">
                  <a16:creationId xmlns:a16="http://schemas.microsoft.com/office/drawing/2014/main" id="{7F6D3724-337D-4769-B642-AF41AAEC5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" y="2839"/>
              <a:ext cx="1846" cy="1070"/>
            </a:xfrm>
            <a:custGeom>
              <a:avLst/>
              <a:gdLst>
                <a:gd name="T0" fmla="*/ 3 w 4330"/>
                <a:gd name="T1" fmla="*/ 151 h 2842"/>
                <a:gd name="T2" fmla="*/ 10 w 4330"/>
                <a:gd name="T3" fmla="*/ 146 h 2842"/>
                <a:gd name="T4" fmla="*/ 17 w 4330"/>
                <a:gd name="T5" fmla="*/ 139 h 2842"/>
                <a:gd name="T6" fmla="*/ 23 w 4330"/>
                <a:gd name="T7" fmla="*/ 131 h 2842"/>
                <a:gd name="T8" fmla="*/ 30 w 4330"/>
                <a:gd name="T9" fmla="*/ 123 h 2842"/>
                <a:gd name="T10" fmla="*/ 37 w 4330"/>
                <a:gd name="T11" fmla="*/ 114 h 2842"/>
                <a:gd name="T12" fmla="*/ 43 w 4330"/>
                <a:gd name="T13" fmla="*/ 106 h 2842"/>
                <a:gd name="T14" fmla="*/ 50 w 4330"/>
                <a:gd name="T15" fmla="*/ 98 h 2842"/>
                <a:gd name="T16" fmla="*/ 57 w 4330"/>
                <a:gd name="T17" fmla="*/ 91 h 2842"/>
                <a:gd name="T18" fmla="*/ 64 w 4330"/>
                <a:gd name="T19" fmla="*/ 84 h 2842"/>
                <a:gd name="T20" fmla="*/ 70 w 4330"/>
                <a:gd name="T21" fmla="*/ 78 h 2842"/>
                <a:gd name="T22" fmla="*/ 78 w 4330"/>
                <a:gd name="T23" fmla="*/ 72 h 2842"/>
                <a:gd name="T24" fmla="*/ 84 w 4330"/>
                <a:gd name="T25" fmla="*/ 66 h 2842"/>
                <a:gd name="T26" fmla="*/ 91 w 4330"/>
                <a:gd name="T27" fmla="*/ 61 h 2842"/>
                <a:gd name="T28" fmla="*/ 98 w 4330"/>
                <a:gd name="T29" fmla="*/ 56 h 2842"/>
                <a:gd name="T30" fmla="*/ 104 w 4330"/>
                <a:gd name="T31" fmla="*/ 52 h 2842"/>
                <a:gd name="T32" fmla="*/ 111 w 4330"/>
                <a:gd name="T33" fmla="*/ 47 h 2842"/>
                <a:gd name="T34" fmla="*/ 118 w 4330"/>
                <a:gd name="T35" fmla="*/ 44 h 2842"/>
                <a:gd name="T36" fmla="*/ 124 w 4330"/>
                <a:gd name="T37" fmla="*/ 40 h 2842"/>
                <a:gd name="T38" fmla="*/ 131 w 4330"/>
                <a:gd name="T39" fmla="*/ 37 h 2842"/>
                <a:gd name="T40" fmla="*/ 138 w 4330"/>
                <a:gd name="T41" fmla="*/ 34 h 2842"/>
                <a:gd name="T42" fmla="*/ 144 w 4330"/>
                <a:gd name="T43" fmla="*/ 31 h 2842"/>
                <a:gd name="T44" fmla="*/ 151 w 4330"/>
                <a:gd name="T45" fmla="*/ 29 h 2842"/>
                <a:gd name="T46" fmla="*/ 158 w 4330"/>
                <a:gd name="T47" fmla="*/ 26 h 2842"/>
                <a:gd name="T48" fmla="*/ 164 w 4330"/>
                <a:gd name="T49" fmla="*/ 24 h 2842"/>
                <a:gd name="T50" fmla="*/ 171 w 4330"/>
                <a:gd name="T51" fmla="*/ 22 h 2842"/>
                <a:gd name="T52" fmla="*/ 177 w 4330"/>
                <a:gd name="T53" fmla="*/ 20 h 2842"/>
                <a:gd name="T54" fmla="*/ 185 w 4330"/>
                <a:gd name="T55" fmla="*/ 18 h 2842"/>
                <a:gd name="T56" fmla="*/ 191 w 4330"/>
                <a:gd name="T57" fmla="*/ 17 h 2842"/>
                <a:gd name="T58" fmla="*/ 197 w 4330"/>
                <a:gd name="T59" fmla="*/ 15 h 2842"/>
                <a:gd name="T60" fmla="*/ 205 w 4330"/>
                <a:gd name="T61" fmla="*/ 14 h 2842"/>
                <a:gd name="T62" fmla="*/ 211 w 4330"/>
                <a:gd name="T63" fmla="*/ 12 h 2842"/>
                <a:gd name="T64" fmla="*/ 218 w 4330"/>
                <a:gd name="T65" fmla="*/ 11 h 2842"/>
                <a:gd name="T66" fmla="*/ 225 w 4330"/>
                <a:gd name="T67" fmla="*/ 10 h 2842"/>
                <a:gd name="T68" fmla="*/ 232 w 4330"/>
                <a:gd name="T69" fmla="*/ 9 h 2842"/>
                <a:gd name="T70" fmla="*/ 238 w 4330"/>
                <a:gd name="T71" fmla="*/ 8 h 2842"/>
                <a:gd name="T72" fmla="*/ 245 w 4330"/>
                <a:gd name="T73" fmla="*/ 8 h 2842"/>
                <a:gd name="T74" fmla="*/ 252 w 4330"/>
                <a:gd name="T75" fmla="*/ 6 h 2842"/>
                <a:gd name="T76" fmla="*/ 258 w 4330"/>
                <a:gd name="T77" fmla="*/ 6 h 2842"/>
                <a:gd name="T78" fmla="*/ 265 w 4330"/>
                <a:gd name="T79" fmla="*/ 5 h 2842"/>
                <a:gd name="T80" fmla="*/ 272 w 4330"/>
                <a:gd name="T81" fmla="*/ 4 h 2842"/>
                <a:gd name="T82" fmla="*/ 278 w 4330"/>
                <a:gd name="T83" fmla="*/ 4 h 2842"/>
                <a:gd name="T84" fmla="*/ 285 w 4330"/>
                <a:gd name="T85" fmla="*/ 3 h 2842"/>
                <a:gd name="T86" fmla="*/ 292 w 4330"/>
                <a:gd name="T87" fmla="*/ 2 h 2842"/>
                <a:gd name="T88" fmla="*/ 298 w 4330"/>
                <a:gd name="T89" fmla="*/ 2 h 2842"/>
                <a:gd name="T90" fmla="*/ 305 w 4330"/>
                <a:gd name="T91" fmla="*/ 2 h 2842"/>
                <a:gd name="T92" fmla="*/ 312 w 4330"/>
                <a:gd name="T93" fmla="*/ 1 h 2842"/>
                <a:gd name="T94" fmla="*/ 318 w 4330"/>
                <a:gd name="T95" fmla="*/ 1 h 2842"/>
                <a:gd name="T96" fmla="*/ 326 w 4330"/>
                <a:gd name="T97" fmla="*/ 0 h 2842"/>
                <a:gd name="T98" fmla="*/ 333 w 4330"/>
                <a:gd name="T99" fmla="*/ 0 h 284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330" h="2842">
                  <a:moveTo>
                    <a:pt x="0" y="2842"/>
                  </a:moveTo>
                  <a:lnTo>
                    <a:pt x="40" y="2825"/>
                  </a:lnTo>
                  <a:lnTo>
                    <a:pt x="90" y="2791"/>
                  </a:lnTo>
                  <a:lnTo>
                    <a:pt x="130" y="2739"/>
                  </a:lnTo>
                  <a:lnTo>
                    <a:pt x="170" y="2679"/>
                  </a:lnTo>
                  <a:lnTo>
                    <a:pt x="220" y="2611"/>
                  </a:lnTo>
                  <a:lnTo>
                    <a:pt x="260" y="2534"/>
                  </a:lnTo>
                  <a:lnTo>
                    <a:pt x="300" y="2457"/>
                  </a:lnTo>
                  <a:lnTo>
                    <a:pt x="350" y="2380"/>
                  </a:lnTo>
                  <a:lnTo>
                    <a:pt x="390" y="2303"/>
                  </a:lnTo>
                  <a:lnTo>
                    <a:pt x="430" y="2217"/>
                  </a:lnTo>
                  <a:lnTo>
                    <a:pt x="480" y="2140"/>
                  </a:lnTo>
                  <a:lnTo>
                    <a:pt x="520" y="2063"/>
                  </a:lnTo>
                  <a:lnTo>
                    <a:pt x="560" y="1986"/>
                  </a:lnTo>
                  <a:lnTo>
                    <a:pt x="610" y="1909"/>
                  </a:lnTo>
                  <a:lnTo>
                    <a:pt x="650" y="1841"/>
                  </a:lnTo>
                  <a:lnTo>
                    <a:pt x="690" y="1772"/>
                  </a:lnTo>
                  <a:lnTo>
                    <a:pt x="740" y="1704"/>
                  </a:lnTo>
                  <a:lnTo>
                    <a:pt x="780" y="1635"/>
                  </a:lnTo>
                  <a:lnTo>
                    <a:pt x="820" y="1575"/>
                  </a:lnTo>
                  <a:lnTo>
                    <a:pt x="870" y="1515"/>
                  </a:lnTo>
                  <a:lnTo>
                    <a:pt x="910" y="1455"/>
                  </a:lnTo>
                  <a:lnTo>
                    <a:pt x="950" y="1395"/>
                  </a:lnTo>
                  <a:lnTo>
                    <a:pt x="1000" y="1344"/>
                  </a:lnTo>
                  <a:lnTo>
                    <a:pt x="1040" y="1293"/>
                  </a:lnTo>
                  <a:lnTo>
                    <a:pt x="1080" y="1241"/>
                  </a:lnTo>
                  <a:lnTo>
                    <a:pt x="1130" y="1190"/>
                  </a:lnTo>
                  <a:lnTo>
                    <a:pt x="1170" y="1139"/>
                  </a:lnTo>
                  <a:lnTo>
                    <a:pt x="1210" y="1096"/>
                  </a:lnTo>
                  <a:lnTo>
                    <a:pt x="1260" y="1053"/>
                  </a:lnTo>
                  <a:lnTo>
                    <a:pt x="1300" y="1010"/>
                  </a:lnTo>
                  <a:lnTo>
                    <a:pt x="1340" y="968"/>
                  </a:lnTo>
                  <a:lnTo>
                    <a:pt x="1390" y="933"/>
                  </a:lnTo>
                  <a:lnTo>
                    <a:pt x="1430" y="891"/>
                  </a:lnTo>
                  <a:lnTo>
                    <a:pt x="1470" y="856"/>
                  </a:lnTo>
                  <a:lnTo>
                    <a:pt x="1520" y="822"/>
                  </a:lnTo>
                  <a:lnTo>
                    <a:pt x="1560" y="788"/>
                  </a:lnTo>
                  <a:lnTo>
                    <a:pt x="1600" y="754"/>
                  </a:lnTo>
                  <a:lnTo>
                    <a:pt x="1650" y="728"/>
                  </a:lnTo>
                  <a:lnTo>
                    <a:pt x="1690" y="694"/>
                  </a:lnTo>
                  <a:lnTo>
                    <a:pt x="1730" y="668"/>
                  </a:lnTo>
                  <a:lnTo>
                    <a:pt x="1780" y="634"/>
                  </a:lnTo>
                  <a:lnTo>
                    <a:pt x="1820" y="608"/>
                  </a:lnTo>
                  <a:lnTo>
                    <a:pt x="1860" y="582"/>
                  </a:lnTo>
                  <a:lnTo>
                    <a:pt x="1910" y="557"/>
                  </a:lnTo>
                  <a:lnTo>
                    <a:pt x="1950" y="540"/>
                  </a:lnTo>
                  <a:lnTo>
                    <a:pt x="1990" y="514"/>
                  </a:lnTo>
                  <a:lnTo>
                    <a:pt x="2040" y="488"/>
                  </a:lnTo>
                  <a:lnTo>
                    <a:pt x="2080" y="471"/>
                  </a:lnTo>
                  <a:lnTo>
                    <a:pt x="2120" y="445"/>
                  </a:lnTo>
                  <a:lnTo>
                    <a:pt x="2170" y="428"/>
                  </a:lnTo>
                  <a:lnTo>
                    <a:pt x="2210" y="411"/>
                  </a:lnTo>
                  <a:lnTo>
                    <a:pt x="2250" y="394"/>
                  </a:lnTo>
                  <a:lnTo>
                    <a:pt x="2290" y="377"/>
                  </a:lnTo>
                  <a:lnTo>
                    <a:pt x="2340" y="360"/>
                  </a:lnTo>
                  <a:lnTo>
                    <a:pt x="2380" y="343"/>
                  </a:lnTo>
                  <a:lnTo>
                    <a:pt x="2420" y="326"/>
                  </a:lnTo>
                  <a:lnTo>
                    <a:pt x="2470" y="308"/>
                  </a:lnTo>
                  <a:lnTo>
                    <a:pt x="2510" y="300"/>
                  </a:lnTo>
                  <a:lnTo>
                    <a:pt x="2550" y="283"/>
                  </a:lnTo>
                  <a:lnTo>
                    <a:pt x="2600" y="266"/>
                  </a:lnTo>
                  <a:lnTo>
                    <a:pt x="2640" y="257"/>
                  </a:lnTo>
                  <a:lnTo>
                    <a:pt x="2680" y="240"/>
                  </a:lnTo>
                  <a:lnTo>
                    <a:pt x="2730" y="231"/>
                  </a:lnTo>
                  <a:lnTo>
                    <a:pt x="2770" y="223"/>
                  </a:lnTo>
                  <a:lnTo>
                    <a:pt x="2810" y="206"/>
                  </a:lnTo>
                  <a:lnTo>
                    <a:pt x="2860" y="197"/>
                  </a:lnTo>
                  <a:lnTo>
                    <a:pt x="2900" y="189"/>
                  </a:lnTo>
                  <a:lnTo>
                    <a:pt x="2940" y="180"/>
                  </a:lnTo>
                  <a:lnTo>
                    <a:pt x="2990" y="172"/>
                  </a:lnTo>
                  <a:lnTo>
                    <a:pt x="3030" y="163"/>
                  </a:lnTo>
                  <a:lnTo>
                    <a:pt x="3070" y="154"/>
                  </a:lnTo>
                  <a:lnTo>
                    <a:pt x="3120" y="146"/>
                  </a:lnTo>
                  <a:lnTo>
                    <a:pt x="3160" y="137"/>
                  </a:lnTo>
                  <a:lnTo>
                    <a:pt x="3200" y="129"/>
                  </a:lnTo>
                  <a:lnTo>
                    <a:pt x="3250" y="120"/>
                  </a:lnTo>
                  <a:lnTo>
                    <a:pt x="3290" y="112"/>
                  </a:lnTo>
                  <a:lnTo>
                    <a:pt x="3330" y="103"/>
                  </a:lnTo>
                  <a:lnTo>
                    <a:pt x="3380" y="95"/>
                  </a:lnTo>
                  <a:lnTo>
                    <a:pt x="3420" y="95"/>
                  </a:lnTo>
                  <a:lnTo>
                    <a:pt x="3460" y="86"/>
                  </a:lnTo>
                  <a:lnTo>
                    <a:pt x="3510" y="77"/>
                  </a:lnTo>
                  <a:lnTo>
                    <a:pt x="3550" y="69"/>
                  </a:lnTo>
                  <a:lnTo>
                    <a:pt x="3590" y="69"/>
                  </a:lnTo>
                  <a:lnTo>
                    <a:pt x="3640" y="60"/>
                  </a:lnTo>
                  <a:lnTo>
                    <a:pt x="3680" y="60"/>
                  </a:lnTo>
                  <a:lnTo>
                    <a:pt x="3720" y="52"/>
                  </a:lnTo>
                  <a:lnTo>
                    <a:pt x="3770" y="43"/>
                  </a:lnTo>
                  <a:lnTo>
                    <a:pt x="3810" y="43"/>
                  </a:lnTo>
                  <a:lnTo>
                    <a:pt x="3850" y="35"/>
                  </a:lnTo>
                  <a:lnTo>
                    <a:pt x="3900" y="35"/>
                  </a:lnTo>
                  <a:lnTo>
                    <a:pt x="3940" y="26"/>
                  </a:lnTo>
                  <a:lnTo>
                    <a:pt x="3980" y="26"/>
                  </a:lnTo>
                  <a:lnTo>
                    <a:pt x="4030" y="17"/>
                  </a:lnTo>
                  <a:lnTo>
                    <a:pt x="4070" y="17"/>
                  </a:lnTo>
                  <a:lnTo>
                    <a:pt x="4110" y="17"/>
                  </a:lnTo>
                  <a:lnTo>
                    <a:pt x="4160" y="9"/>
                  </a:lnTo>
                  <a:lnTo>
                    <a:pt x="4200" y="9"/>
                  </a:lnTo>
                  <a:lnTo>
                    <a:pt x="4240" y="0"/>
                  </a:lnTo>
                  <a:lnTo>
                    <a:pt x="4290" y="0"/>
                  </a:lnTo>
                  <a:lnTo>
                    <a:pt x="433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1" name="Text Box 10">
              <a:extLst>
                <a:ext uri="{FF2B5EF4-FFF2-40B4-BE49-F238E27FC236}">
                  <a16:creationId xmlns:a16="http://schemas.microsoft.com/office/drawing/2014/main" id="{4E6832A4-1085-81D2-2520-FF5E31C84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" y="3795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3502" name="Text Box 11">
              <a:extLst>
                <a:ext uri="{FF2B5EF4-FFF2-40B4-BE49-F238E27FC236}">
                  <a16:creationId xmlns:a16="http://schemas.microsoft.com/office/drawing/2014/main" id="{CEF87A71-63E9-ABF0-3049-B0BDDCA770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" y="268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3503" name="Text Box 12">
              <a:extLst>
                <a:ext uri="{FF2B5EF4-FFF2-40B4-BE49-F238E27FC236}">
                  <a16:creationId xmlns:a16="http://schemas.microsoft.com/office/drawing/2014/main" id="{58135390-5E8F-B26C-DE7C-A4D5F2A9B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3866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63504" name="Text Box 13">
              <a:extLst>
                <a:ext uri="{FF2B5EF4-FFF2-40B4-BE49-F238E27FC236}">
                  <a16:creationId xmlns:a16="http://schemas.microsoft.com/office/drawing/2014/main" id="{34A463DB-DC5D-80F5-6399-7ADFE8AEA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400"/>
              <a:ext cx="43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c(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78862" name="Text Box 14">
            <a:extLst>
              <a:ext uri="{FF2B5EF4-FFF2-40B4-BE49-F238E27FC236}">
                <a16:creationId xmlns:a16="http://schemas.microsoft.com/office/drawing/2014/main" id="{D7BFAB60-A5CB-6E54-A852-2B7E0B6FF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500438"/>
            <a:ext cx="25908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特点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78863" name="Rectangle 15">
            <a:extLst>
              <a:ext uri="{FF2B5EF4-FFF2-40B4-BE49-F238E27FC236}">
                <a16:creationId xmlns:a16="http://schemas.microsoft.com/office/drawing/2014/main" id="{90FCE3FB-955A-221C-DC8F-F0F35FE4C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221163"/>
            <a:ext cx="38163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单调上升，无振荡，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过渡过程时间长 </a:t>
            </a:r>
          </a:p>
        </p:txBody>
      </p:sp>
      <p:sp>
        <p:nvSpPr>
          <p:cNvPr id="78864" name="Rectangle 16">
            <a:extLst>
              <a:ext uri="{FF2B5EF4-FFF2-40B4-BE49-F238E27FC236}">
                <a16:creationId xmlns:a16="http://schemas.microsoft.com/office/drawing/2014/main" id="{5954C7B5-7B5F-1161-C9DF-D252A2E33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5229225"/>
            <a:ext cx="3657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) = 1</a:t>
            </a:r>
            <a:r>
              <a:rPr lang="zh-CN" altLang="en-US" sz="2800">
                <a:latin typeface="宋体" panose="02010600030101010101" pitchFamily="2" charset="-122"/>
              </a:rPr>
              <a:t>，无稳态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误差。 </a:t>
            </a:r>
          </a:p>
        </p:txBody>
      </p:sp>
      <p:graphicFrame>
        <p:nvGraphicFramePr>
          <p:cNvPr id="78865" name="Object 17">
            <a:extLst>
              <a:ext uri="{FF2B5EF4-FFF2-40B4-BE49-F238E27FC236}">
                <a16:creationId xmlns:a16="http://schemas.microsoft.com/office/drawing/2014/main" id="{CE92D8EB-DDEF-8FFE-EC2A-E94EBAA649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0"/>
          <a:ext cx="40179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16100" imgH="241300" progId="Equation.3">
                  <p:embed/>
                </p:oleObj>
              </mc:Choice>
              <mc:Fallback>
                <p:oleObj r:id="rId5" imgW="1816100" imgH="2413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0"/>
                        <a:ext cx="40179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8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8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8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8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62" grpId="0"/>
      <p:bldP spid="78863" grpId="0"/>
      <p:bldP spid="7886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>
            <a:extLst>
              <a:ext uri="{FF2B5EF4-FFF2-40B4-BE49-F238E27FC236}">
                <a16:creationId xmlns:a16="http://schemas.microsoft.com/office/drawing/2014/main" id="{684ECA95-2563-74EB-FC1D-CF93E3EFB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0525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无阻尼（</a:t>
            </a:r>
            <a:r>
              <a:rPr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 b="1">
                <a:latin typeface="Times New Roman" panose="02020603050405020304" pitchFamily="18" charset="0"/>
              </a:rPr>
              <a:t>=0</a:t>
            </a:r>
            <a:r>
              <a:rPr lang="zh-CN" altLang="en-US" sz="2800" b="1">
                <a:latin typeface="宋体" panose="02010600030101010101" pitchFamily="2" charset="-122"/>
              </a:rPr>
              <a:t>）状态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7828" name="Object 4">
            <a:extLst>
              <a:ext uri="{FF2B5EF4-FFF2-40B4-BE49-F238E27FC236}">
                <a16:creationId xmlns:a16="http://schemas.microsoft.com/office/drawing/2014/main" id="{24451040-D959-7624-B683-3009AC9CC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5613" y="1981200"/>
          <a:ext cx="313213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73200" imgH="228600" progId="Equation.3">
                  <p:embed/>
                </p:oleObj>
              </mc:Choice>
              <mc:Fallback>
                <p:oleObj r:id="rId3" imgW="14732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613" y="1981200"/>
                        <a:ext cx="313213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>
            <a:extLst>
              <a:ext uri="{FF2B5EF4-FFF2-40B4-BE49-F238E27FC236}">
                <a16:creationId xmlns:a16="http://schemas.microsoft.com/office/drawing/2014/main" id="{F8B36C18-C8AD-F5C4-99EF-653722CD4109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05088"/>
            <a:ext cx="4473575" cy="3490912"/>
            <a:chOff x="624" y="1536"/>
            <a:chExt cx="2818" cy="2199"/>
          </a:xfrm>
        </p:grpSpPr>
        <p:sp>
          <p:nvSpPr>
            <p:cNvPr id="65543" name="Line 6">
              <a:extLst>
                <a:ext uri="{FF2B5EF4-FFF2-40B4-BE49-F238E27FC236}">
                  <a16:creationId xmlns:a16="http://schemas.microsoft.com/office/drawing/2014/main" id="{A8A6802A-FB34-5D73-047D-0EA87E3B1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3487"/>
              <a:ext cx="226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4" name="Line 7">
              <a:extLst>
                <a:ext uri="{FF2B5EF4-FFF2-40B4-BE49-F238E27FC236}">
                  <a16:creationId xmlns:a16="http://schemas.microsoft.com/office/drawing/2014/main" id="{4521CD1A-6B48-AE19-0911-C580EA5CA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2004"/>
              <a:ext cx="226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5" name="Line 8">
              <a:extLst>
                <a:ext uri="{FF2B5EF4-FFF2-40B4-BE49-F238E27FC236}">
                  <a16:creationId xmlns:a16="http://schemas.microsoft.com/office/drawing/2014/main" id="{19623459-E1EE-CA13-A1D7-F725A25AC6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4" y="1680"/>
              <a:ext cx="0" cy="18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6" name="Freeform 9">
              <a:extLst>
                <a:ext uri="{FF2B5EF4-FFF2-40B4-BE49-F238E27FC236}">
                  <a16:creationId xmlns:a16="http://schemas.microsoft.com/office/drawing/2014/main" id="{F3E508AF-5CFD-4267-A10D-FFA9EF941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2004"/>
              <a:ext cx="2269" cy="1483"/>
            </a:xfrm>
            <a:custGeom>
              <a:avLst/>
              <a:gdLst>
                <a:gd name="T0" fmla="*/ 8 w 4405"/>
                <a:gd name="T1" fmla="*/ 321 h 3174"/>
                <a:gd name="T2" fmla="*/ 18 w 4405"/>
                <a:gd name="T3" fmla="*/ 307 h 3174"/>
                <a:gd name="T4" fmla="*/ 28 w 4405"/>
                <a:gd name="T5" fmla="*/ 286 h 3174"/>
                <a:gd name="T6" fmla="*/ 38 w 4405"/>
                <a:gd name="T7" fmla="*/ 257 h 3174"/>
                <a:gd name="T8" fmla="*/ 48 w 4405"/>
                <a:gd name="T9" fmla="*/ 220 h 3174"/>
                <a:gd name="T10" fmla="*/ 58 w 4405"/>
                <a:gd name="T11" fmla="*/ 181 h 3174"/>
                <a:gd name="T12" fmla="*/ 68 w 4405"/>
                <a:gd name="T13" fmla="*/ 142 h 3174"/>
                <a:gd name="T14" fmla="*/ 78 w 4405"/>
                <a:gd name="T15" fmla="*/ 101 h 3174"/>
                <a:gd name="T16" fmla="*/ 89 w 4405"/>
                <a:gd name="T17" fmla="*/ 66 h 3174"/>
                <a:gd name="T18" fmla="*/ 99 w 4405"/>
                <a:gd name="T19" fmla="*/ 37 h 3174"/>
                <a:gd name="T20" fmla="*/ 108 w 4405"/>
                <a:gd name="T21" fmla="*/ 15 h 3174"/>
                <a:gd name="T22" fmla="*/ 118 w 4405"/>
                <a:gd name="T23" fmla="*/ 3 h 3174"/>
                <a:gd name="T24" fmla="*/ 128 w 4405"/>
                <a:gd name="T25" fmla="*/ 0 h 3174"/>
                <a:gd name="T26" fmla="*/ 139 w 4405"/>
                <a:gd name="T27" fmla="*/ 7 h 3174"/>
                <a:gd name="T28" fmla="*/ 148 w 4405"/>
                <a:gd name="T29" fmla="*/ 25 h 3174"/>
                <a:gd name="T30" fmla="*/ 159 w 4405"/>
                <a:gd name="T31" fmla="*/ 50 h 3174"/>
                <a:gd name="T32" fmla="*/ 168 w 4405"/>
                <a:gd name="T33" fmla="*/ 83 h 3174"/>
                <a:gd name="T34" fmla="*/ 178 w 4405"/>
                <a:gd name="T35" fmla="*/ 120 h 3174"/>
                <a:gd name="T36" fmla="*/ 189 w 4405"/>
                <a:gd name="T37" fmla="*/ 159 h 3174"/>
                <a:gd name="T38" fmla="*/ 199 w 4405"/>
                <a:gd name="T39" fmla="*/ 200 h 3174"/>
                <a:gd name="T40" fmla="*/ 209 w 4405"/>
                <a:gd name="T41" fmla="*/ 237 h 3174"/>
                <a:gd name="T42" fmla="*/ 218 w 4405"/>
                <a:gd name="T43" fmla="*/ 271 h 3174"/>
                <a:gd name="T44" fmla="*/ 229 w 4405"/>
                <a:gd name="T45" fmla="*/ 297 h 3174"/>
                <a:gd name="T46" fmla="*/ 239 w 4405"/>
                <a:gd name="T47" fmla="*/ 315 h 3174"/>
                <a:gd name="T48" fmla="*/ 249 w 4405"/>
                <a:gd name="T49" fmla="*/ 323 h 3174"/>
                <a:gd name="T50" fmla="*/ 259 w 4405"/>
                <a:gd name="T51" fmla="*/ 322 h 3174"/>
                <a:gd name="T52" fmla="*/ 268 w 4405"/>
                <a:gd name="T53" fmla="*/ 310 h 3174"/>
                <a:gd name="T54" fmla="*/ 279 w 4405"/>
                <a:gd name="T55" fmla="*/ 289 h 3174"/>
                <a:gd name="T56" fmla="*/ 289 w 4405"/>
                <a:gd name="T57" fmla="*/ 260 h 3174"/>
                <a:gd name="T58" fmla="*/ 299 w 4405"/>
                <a:gd name="T59" fmla="*/ 226 h 3174"/>
                <a:gd name="T60" fmla="*/ 309 w 4405"/>
                <a:gd name="T61" fmla="*/ 187 h 3174"/>
                <a:gd name="T62" fmla="*/ 318 w 4405"/>
                <a:gd name="T63" fmla="*/ 146 h 3174"/>
                <a:gd name="T64" fmla="*/ 330 w 4405"/>
                <a:gd name="T65" fmla="*/ 107 h 3174"/>
                <a:gd name="T66" fmla="*/ 339 w 4405"/>
                <a:gd name="T67" fmla="*/ 71 h 3174"/>
                <a:gd name="T68" fmla="*/ 349 w 4405"/>
                <a:gd name="T69" fmla="*/ 41 h 3174"/>
                <a:gd name="T70" fmla="*/ 359 w 4405"/>
                <a:gd name="T71" fmla="*/ 18 h 3174"/>
                <a:gd name="T72" fmla="*/ 370 w 4405"/>
                <a:gd name="T73" fmla="*/ 4 h 3174"/>
                <a:gd name="T74" fmla="*/ 380 w 4405"/>
                <a:gd name="T75" fmla="*/ 0 h 3174"/>
                <a:gd name="T76" fmla="*/ 389 w 4405"/>
                <a:gd name="T77" fmla="*/ 6 h 3174"/>
                <a:gd name="T78" fmla="*/ 399 w 4405"/>
                <a:gd name="T79" fmla="*/ 22 h 3174"/>
                <a:gd name="T80" fmla="*/ 409 w 4405"/>
                <a:gd name="T81" fmla="*/ 47 h 3174"/>
                <a:gd name="T82" fmla="*/ 420 w 4405"/>
                <a:gd name="T83" fmla="*/ 78 h 3174"/>
                <a:gd name="T84" fmla="*/ 430 w 4405"/>
                <a:gd name="T85" fmla="*/ 115 h 3174"/>
                <a:gd name="T86" fmla="*/ 439 w 4405"/>
                <a:gd name="T87" fmla="*/ 155 h 3174"/>
                <a:gd name="T88" fmla="*/ 449 w 4405"/>
                <a:gd name="T89" fmla="*/ 194 h 3174"/>
                <a:gd name="T90" fmla="*/ 460 w 4405"/>
                <a:gd name="T91" fmla="*/ 233 h 3174"/>
                <a:gd name="T92" fmla="*/ 470 w 4405"/>
                <a:gd name="T93" fmla="*/ 267 h 3174"/>
                <a:gd name="T94" fmla="*/ 480 w 4405"/>
                <a:gd name="T95" fmla="*/ 294 h 3174"/>
                <a:gd name="T96" fmla="*/ 489 w 4405"/>
                <a:gd name="T97" fmla="*/ 313 h 3174"/>
                <a:gd name="T98" fmla="*/ 499 w 4405"/>
                <a:gd name="T99" fmla="*/ 323 h 3174"/>
                <a:gd name="T100" fmla="*/ 510 w 4405"/>
                <a:gd name="T101" fmla="*/ 322 h 3174"/>
                <a:gd name="T102" fmla="*/ 520 w 4405"/>
                <a:gd name="T103" fmla="*/ 313 h 3174"/>
                <a:gd name="T104" fmla="*/ 530 w 4405"/>
                <a:gd name="T105" fmla="*/ 292 h 3174"/>
                <a:gd name="T106" fmla="*/ 539 w 4405"/>
                <a:gd name="T107" fmla="*/ 265 h 3174"/>
                <a:gd name="T108" fmla="*/ 549 w 4405"/>
                <a:gd name="T109" fmla="*/ 231 h 3174"/>
                <a:gd name="T110" fmla="*/ 560 w 4405"/>
                <a:gd name="T111" fmla="*/ 192 h 3174"/>
                <a:gd name="T112" fmla="*/ 570 w 4405"/>
                <a:gd name="T113" fmla="*/ 152 h 3174"/>
                <a:gd name="T114" fmla="*/ 579 w 4405"/>
                <a:gd name="T115" fmla="*/ 112 h 3174"/>
                <a:gd name="T116" fmla="*/ 590 w 4405"/>
                <a:gd name="T117" fmla="*/ 76 h 3174"/>
                <a:gd name="T118" fmla="*/ 601 w 4405"/>
                <a:gd name="T119" fmla="*/ 44 h 317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405" h="3174">
                  <a:moveTo>
                    <a:pt x="0" y="3174"/>
                  </a:moveTo>
                  <a:lnTo>
                    <a:pt x="10" y="3174"/>
                  </a:lnTo>
                  <a:lnTo>
                    <a:pt x="30" y="3164"/>
                  </a:lnTo>
                  <a:lnTo>
                    <a:pt x="40" y="3155"/>
                  </a:lnTo>
                  <a:lnTo>
                    <a:pt x="61" y="3146"/>
                  </a:lnTo>
                  <a:lnTo>
                    <a:pt x="71" y="3127"/>
                  </a:lnTo>
                  <a:lnTo>
                    <a:pt x="91" y="3099"/>
                  </a:lnTo>
                  <a:lnTo>
                    <a:pt x="101" y="3081"/>
                  </a:lnTo>
                  <a:lnTo>
                    <a:pt x="122" y="3053"/>
                  </a:lnTo>
                  <a:lnTo>
                    <a:pt x="132" y="3015"/>
                  </a:lnTo>
                  <a:lnTo>
                    <a:pt x="142" y="2978"/>
                  </a:lnTo>
                  <a:lnTo>
                    <a:pt x="162" y="2941"/>
                  </a:lnTo>
                  <a:lnTo>
                    <a:pt x="172" y="2894"/>
                  </a:lnTo>
                  <a:lnTo>
                    <a:pt x="193" y="2848"/>
                  </a:lnTo>
                  <a:lnTo>
                    <a:pt x="203" y="2801"/>
                  </a:lnTo>
                  <a:lnTo>
                    <a:pt x="223" y="2746"/>
                  </a:lnTo>
                  <a:lnTo>
                    <a:pt x="234" y="2690"/>
                  </a:lnTo>
                  <a:lnTo>
                    <a:pt x="254" y="2634"/>
                  </a:lnTo>
                  <a:lnTo>
                    <a:pt x="264" y="2569"/>
                  </a:lnTo>
                  <a:lnTo>
                    <a:pt x="274" y="2513"/>
                  </a:lnTo>
                  <a:lnTo>
                    <a:pt x="295" y="2448"/>
                  </a:lnTo>
                  <a:lnTo>
                    <a:pt x="305" y="2373"/>
                  </a:lnTo>
                  <a:lnTo>
                    <a:pt x="325" y="2308"/>
                  </a:lnTo>
                  <a:lnTo>
                    <a:pt x="335" y="2234"/>
                  </a:lnTo>
                  <a:lnTo>
                    <a:pt x="356" y="2159"/>
                  </a:lnTo>
                  <a:lnTo>
                    <a:pt x="366" y="2085"/>
                  </a:lnTo>
                  <a:lnTo>
                    <a:pt x="386" y="2010"/>
                  </a:lnTo>
                  <a:lnTo>
                    <a:pt x="396" y="1936"/>
                  </a:lnTo>
                  <a:lnTo>
                    <a:pt x="406" y="1852"/>
                  </a:lnTo>
                  <a:lnTo>
                    <a:pt x="427" y="1777"/>
                  </a:lnTo>
                  <a:lnTo>
                    <a:pt x="437" y="1703"/>
                  </a:lnTo>
                  <a:lnTo>
                    <a:pt x="457" y="1619"/>
                  </a:lnTo>
                  <a:lnTo>
                    <a:pt x="468" y="1545"/>
                  </a:lnTo>
                  <a:lnTo>
                    <a:pt x="488" y="1461"/>
                  </a:lnTo>
                  <a:lnTo>
                    <a:pt x="498" y="1387"/>
                  </a:lnTo>
                  <a:lnTo>
                    <a:pt x="518" y="1303"/>
                  </a:lnTo>
                  <a:lnTo>
                    <a:pt x="529" y="1228"/>
                  </a:lnTo>
                  <a:lnTo>
                    <a:pt x="539" y="1154"/>
                  </a:lnTo>
                  <a:lnTo>
                    <a:pt x="559" y="1070"/>
                  </a:lnTo>
                  <a:lnTo>
                    <a:pt x="569" y="996"/>
                  </a:lnTo>
                  <a:lnTo>
                    <a:pt x="590" y="930"/>
                  </a:lnTo>
                  <a:lnTo>
                    <a:pt x="600" y="856"/>
                  </a:lnTo>
                  <a:lnTo>
                    <a:pt x="620" y="781"/>
                  </a:lnTo>
                  <a:lnTo>
                    <a:pt x="630" y="716"/>
                  </a:lnTo>
                  <a:lnTo>
                    <a:pt x="651" y="651"/>
                  </a:lnTo>
                  <a:lnTo>
                    <a:pt x="661" y="586"/>
                  </a:lnTo>
                  <a:lnTo>
                    <a:pt x="671" y="530"/>
                  </a:lnTo>
                  <a:lnTo>
                    <a:pt x="691" y="474"/>
                  </a:lnTo>
                  <a:lnTo>
                    <a:pt x="702" y="418"/>
                  </a:lnTo>
                  <a:lnTo>
                    <a:pt x="722" y="363"/>
                  </a:lnTo>
                  <a:lnTo>
                    <a:pt x="732" y="316"/>
                  </a:lnTo>
                  <a:lnTo>
                    <a:pt x="752" y="270"/>
                  </a:lnTo>
                  <a:lnTo>
                    <a:pt x="763" y="223"/>
                  </a:lnTo>
                  <a:lnTo>
                    <a:pt x="773" y="186"/>
                  </a:lnTo>
                  <a:lnTo>
                    <a:pt x="793" y="148"/>
                  </a:lnTo>
                  <a:lnTo>
                    <a:pt x="803" y="121"/>
                  </a:lnTo>
                  <a:lnTo>
                    <a:pt x="824" y="93"/>
                  </a:lnTo>
                  <a:lnTo>
                    <a:pt x="834" y="65"/>
                  </a:lnTo>
                  <a:lnTo>
                    <a:pt x="854" y="46"/>
                  </a:lnTo>
                  <a:lnTo>
                    <a:pt x="864" y="27"/>
                  </a:lnTo>
                  <a:lnTo>
                    <a:pt x="885" y="18"/>
                  </a:lnTo>
                  <a:lnTo>
                    <a:pt x="895" y="9"/>
                  </a:lnTo>
                  <a:lnTo>
                    <a:pt x="905" y="0"/>
                  </a:lnTo>
                  <a:lnTo>
                    <a:pt x="925" y="0"/>
                  </a:lnTo>
                  <a:lnTo>
                    <a:pt x="936" y="0"/>
                  </a:lnTo>
                  <a:lnTo>
                    <a:pt x="956" y="9"/>
                  </a:lnTo>
                  <a:lnTo>
                    <a:pt x="966" y="18"/>
                  </a:lnTo>
                  <a:lnTo>
                    <a:pt x="986" y="37"/>
                  </a:lnTo>
                  <a:lnTo>
                    <a:pt x="997" y="55"/>
                  </a:lnTo>
                  <a:lnTo>
                    <a:pt x="1017" y="74"/>
                  </a:lnTo>
                  <a:lnTo>
                    <a:pt x="1027" y="102"/>
                  </a:lnTo>
                  <a:lnTo>
                    <a:pt x="1037" y="130"/>
                  </a:lnTo>
                  <a:lnTo>
                    <a:pt x="1058" y="167"/>
                  </a:lnTo>
                  <a:lnTo>
                    <a:pt x="1068" y="204"/>
                  </a:lnTo>
                  <a:lnTo>
                    <a:pt x="1088" y="242"/>
                  </a:lnTo>
                  <a:lnTo>
                    <a:pt x="1098" y="288"/>
                  </a:lnTo>
                  <a:lnTo>
                    <a:pt x="1119" y="335"/>
                  </a:lnTo>
                  <a:lnTo>
                    <a:pt x="1129" y="381"/>
                  </a:lnTo>
                  <a:lnTo>
                    <a:pt x="1149" y="437"/>
                  </a:lnTo>
                  <a:lnTo>
                    <a:pt x="1159" y="493"/>
                  </a:lnTo>
                  <a:lnTo>
                    <a:pt x="1170" y="549"/>
                  </a:lnTo>
                  <a:lnTo>
                    <a:pt x="1190" y="614"/>
                  </a:lnTo>
                  <a:lnTo>
                    <a:pt x="1200" y="670"/>
                  </a:lnTo>
                  <a:lnTo>
                    <a:pt x="1220" y="744"/>
                  </a:lnTo>
                  <a:lnTo>
                    <a:pt x="1231" y="809"/>
                  </a:lnTo>
                  <a:lnTo>
                    <a:pt x="1251" y="875"/>
                  </a:lnTo>
                  <a:lnTo>
                    <a:pt x="1261" y="949"/>
                  </a:lnTo>
                  <a:lnTo>
                    <a:pt x="1281" y="1023"/>
                  </a:lnTo>
                  <a:lnTo>
                    <a:pt x="1292" y="1098"/>
                  </a:lnTo>
                  <a:lnTo>
                    <a:pt x="1302" y="1172"/>
                  </a:lnTo>
                  <a:lnTo>
                    <a:pt x="1322" y="1256"/>
                  </a:lnTo>
                  <a:lnTo>
                    <a:pt x="1332" y="1331"/>
                  </a:lnTo>
                  <a:lnTo>
                    <a:pt x="1353" y="1405"/>
                  </a:lnTo>
                  <a:lnTo>
                    <a:pt x="1363" y="1489"/>
                  </a:lnTo>
                  <a:lnTo>
                    <a:pt x="1383" y="1563"/>
                  </a:lnTo>
                  <a:lnTo>
                    <a:pt x="1393" y="1647"/>
                  </a:lnTo>
                  <a:lnTo>
                    <a:pt x="1414" y="1722"/>
                  </a:lnTo>
                  <a:lnTo>
                    <a:pt x="1424" y="1805"/>
                  </a:lnTo>
                  <a:lnTo>
                    <a:pt x="1434" y="1880"/>
                  </a:lnTo>
                  <a:lnTo>
                    <a:pt x="1454" y="1964"/>
                  </a:lnTo>
                  <a:lnTo>
                    <a:pt x="1465" y="2038"/>
                  </a:lnTo>
                  <a:lnTo>
                    <a:pt x="1485" y="2113"/>
                  </a:lnTo>
                  <a:lnTo>
                    <a:pt x="1495" y="2187"/>
                  </a:lnTo>
                  <a:lnTo>
                    <a:pt x="1515" y="2262"/>
                  </a:lnTo>
                  <a:lnTo>
                    <a:pt x="1526" y="2327"/>
                  </a:lnTo>
                  <a:lnTo>
                    <a:pt x="1546" y="2401"/>
                  </a:lnTo>
                  <a:lnTo>
                    <a:pt x="1556" y="2466"/>
                  </a:lnTo>
                  <a:lnTo>
                    <a:pt x="1566" y="2531"/>
                  </a:lnTo>
                  <a:lnTo>
                    <a:pt x="1587" y="2597"/>
                  </a:lnTo>
                  <a:lnTo>
                    <a:pt x="1597" y="2652"/>
                  </a:lnTo>
                  <a:lnTo>
                    <a:pt x="1617" y="2708"/>
                  </a:lnTo>
                  <a:lnTo>
                    <a:pt x="1627" y="2764"/>
                  </a:lnTo>
                  <a:lnTo>
                    <a:pt x="1648" y="2820"/>
                  </a:lnTo>
                  <a:lnTo>
                    <a:pt x="1658" y="2867"/>
                  </a:lnTo>
                  <a:lnTo>
                    <a:pt x="1678" y="2913"/>
                  </a:lnTo>
                  <a:lnTo>
                    <a:pt x="1688" y="2950"/>
                  </a:lnTo>
                  <a:lnTo>
                    <a:pt x="1699" y="2988"/>
                  </a:lnTo>
                  <a:lnTo>
                    <a:pt x="1719" y="3025"/>
                  </a:lnTo>
                  <a:lnTo>
                    <a:pt x="1729" y="3062"/>
                  </a:lnTo>
                  <a:lnTo>
                    <a:pt x="1749" y="3090"/>
                  </a:lnTo>
                  <a:lnTo>
                    <a:pt x="1760" y="3109"/>
                  </a:lnTo>
                  <a:lnTo>
                    <a:pt x="1780" y="3127"/>
                  </a:lnTo>
                  <a:lnTo>
                    <a:pt x="1790" y="3146"/>
                  </a:lnTo>
                  <a:lnTo>
                    <a:pt x="1810" y="3155"/>
                  </a:lnTo>
                  <a:lnTo>
                    <a:pt x="1821" y="3164"/>
                  </a:lnTo>
                  <a:lnTo>
                    <a:pt x="1831" y="3174"/>
                  </a:lnTo>
                  <a:lnTo>
                    <a:pt x="1851" y="3174"/>
                  </a:lnTo>
                  <a:lnTo>
                    <a:pt x="1861" y="3174"/>
                  </a:lnTo>
                  <a:lnTo>
                    <a:pt x="1882" y="3164"/>
                  </a:lnTo>
                  <a:lnTo>
                    <a:pt x="1892" y="3155"/>
                  </a:lnTo>
                  <a:lnTo>
                    <a:pt x="1912" y="3137"/>
                  </a:lnTo>
                  <a:lnTo>
                    <a:pt x="1922" y="3118"/>
                  </a:lnTo>
                  <a:lnTo>
                    <a:pt x="1943" y="3099"/>
                  </a:lnTo>
                  <a:lnTo>
                    <a:pt x="1953" y="3071"/>
                  </a:lnTo>
                  <a:lnTo>
                    <a:pt x="1963" y="3034"/>
                  </a:lnTo>
                  <a:lnTo>
                    <a:pt x="1983" y="3006"/>
                  </a:lnTo>
                  <a:lnTo>
                    <a:pt x="1994" y="2969"/>
                  </a:lnTo>
                  <a:lnTo>
                    <a:pt x="2014" y="2922"/>
                  </a:lnTo>
                  <a:lnTo>
                    <a:pt x="2024" y="2885"/>
                  </a:lnTo>
                  <a:lnTo>
                    <a:pt x="2044" y="2829"/>
                  </a:lnTo>
                  <a:lnTo>
                    <a:pt x="2055" y="2783"/>
                  </a:lnTo>
                  <a:lnTo>
                    <a:pt x="2075" y="2727"/>
                  </a:lnTo>
                  <a:lnTo>
                    <a:pt x="2085" y="2671"/>
                  </a:lnTo>
                  <a:lnTo>
                    <a:pt x="2095" y="2615"/>
                  </a:lnTo>
                  <a:lnTo>
                    <a:pt x="2116" y="2550"/>
                  </a:lnTo>
                  <a:lnTo>
                    <a:pt x="2126" y="2485"/>
                  </a:lnTo>
                  <a:lnTo>
                    <a:pt x="2146" y="2420"/>
                  </a:lnTo>
                  <a:lnTo>
                    <a:pt x="2156" y="2355"/>
                  </a:lnTo>
                  <a:lnTo>
                    <a:pt x="2177" y="2280"/>
                  </a:lnTo>
                  <a:lnTo>
                    <a:pt x="2187" y="2215"/>
                  </a:lnTo>
                  <a:lnTo>
                    <a:pt x="2207" y="2141"/>
                  </a:lnTo>
                  <a:lnTo>
                    <a:pt x="2217" y="2066"/>
                  </a:lnTo>
                  <a:lnTo>
                    <a:pt x="2228" y="1982"/>
                  </a:lnTo>
                  <a:lnTo>
                    <a:pt x="2248" y="1908"/>
                  </a:lnTo>
                  <a:lnTo>
                    <a:pt x="2258" y="1833"/>
                  </a:lnTo>
                  <a:lnTo>
                    <a:pt x="2278" y="1750"/>
                  </a:lnTo>
                  <a:lnTo>
                    <a:pt x="2289" y="1675"/>
                  </a:lnTo>
                  <a:lnTo>
                    <a:pt x="2309" y="1591"/>
                  </a:lnTo>
                  <a:lnTo>
                    <a:pt x="2319" y="1517"/>
                  </a:lnTo>
                  <a:lnTo>
                    <a:pt x="2329" y="1433"/>
                  </a:lnTo>
                  <a:lnTo>
                    <a:pt x="2350" y="1359"/>
                  </a:lnTo>
                  <a:lnTo>
                    <a:pt x="2360" y="1275"/>
                  </a:lnTo>
                  <a:lnTo>
                    <a:pt x="2380" y="1200"/>
                  </a:lnTo>
                  <a:lnTo>
                    <a:pt x="2390" y="1126"/>
                  </a:lnTo>
                  <a:lnTo>
                    <a:pt x="2411" y="1051"/>
                  </a:lnTo>
                  <a:lnTo>
                    <a:pt x="2421" y="977"/>
                  </a:lnTo>
                  <a:lnTo>
                    <a:pt x="2441" y="902"/>
                  </a:lnTo>
                  <a:lnTo>
                    <a:pt x="2451" y="828"/>
                  </a:lnTo>
                  <a:lnTo>
                    <a:pt x="2462" y="763"/>
                  </a:lnTo>
                  <a:lnTo>
                    <a:pt x="2482" y="698"/>
                  </a:lnTo>
                  <a:lnTo>
                    <a:pt x="2492" y="633"/>
                  </a:lnTo>
                  <a:lnTo>
                    <a:pt x="2512" y="567"/>
                  </a:lnTo>
                  <a:lnTo>
                    <a:pt x="2523" y="512"/>
                  </a:lnTo>
                  <a:lnTo>
                    <a:pt x="2543" y="456"/>
                  </a:lnTo>
                  <a:lnTo>
                    <a:pt x="2553" y="400"/>
                  </a:lnTo>
                  <a:lnTo>
                    <a:pt x="2574" y="344"/>
                  </a:lnTo>
                  <a:lnTo>
                    <a:pt x="2584" y="297"/>
                  </a:lnTo>
                  <a:lnTo>
                    <a:pt x="2594" y="251"/>
                  </a:lnTo>
                  <a:lnTo>
                    <a:pt x="2614" y="214"/>
                  </a:lnTo>
                  <a:lnTo>
                    <a:pt x="2624" y="176"/>
                  </a:lnTo>
                  <a:lnTo>
                    <a:pt x="2645" y="139"/>
                  </a:lnTo>
                  <a:lnTo>
                    <a:pt x="2655" y="111"/>
                  </a:lnTo>
                  <a:lnTo>
                    <a:pt x="2675" y="83"/>
                  </a:lnTo>
                  <a:lnTo>
                    <a:pt x="2685" y="55"/>
                  </a:lnTo>
                  <a:lnTo>
                    <a:pt x="2706" y="37"/>
                  </a:lnTo>
                  <a:lnTo>
                    <a:pt x="2716" y="27"/>
                  </a:lnTo>
                  <a:lnTo>
                    <a:pt x="2726" y="9"/>
                  </a:lnTo>
                  <a:lnTo>
                    <a:pt x="2746" y="0"/>
                  </a:lnTo>
                  <a:lnTo>
                    <a:pt x="2757" y="0"/>
                  </a:lnTo>
                  <a:lnTo>
                    <a:pt x="2777" y="0"/>
                  </a:lnTo>
                  <a:lnTo>
                    <a:pt x="2787" y="0"/>
                  </a:lnTo>
                  <a:lnTo>
                    <a:pt x="2808" y="9"/>
                  </a:lnTo>
                  <a:lnTo>
                    <a:pt x="2818" y="27"/>
                  </a:lnTo>
                  <a:lnTo>
                    <a:pt x="2838" y="37"/>
                  </a:lnTo>
                  <a:lnTo>
                    <a:pt x="2848" y="55"/>
                  </a:lnTo>
                  <a:lnTo>
                    <a:pt x="2858" y="83"/>
                  </a:lnTo>
                  <a:lnTo>
                    <a:pt x="2879" y="111"/>
                  </a:lnTo>
                  <a:lnTo>
                    <a:pt x="2889" y="139"/>
                  </a:lnTo>
                  <a:lnTo>
                    <a:pt x="2909" y="176"/>
                  </a:lnTo>
                  <a:lnTo>
                    <a:pt x="2919" y="214"/>
                  </a:lnTo>
                  <a:lnTo>
                    <a:pt x="2940" y="251"/>
                  </a:lnTo>
                  <a:lnTo>
                    <a:pt x="2950" y="297"/>
                  </a:lnTo>
                  <a:lnTo>
                    <a:pt x="2970" y="344"/>
                  </a:lnTo>
                  <a:lnTo>
                    <a:pt x="2980" y="400"/>
                  </a:lnTo>
                  <a:lnTo>
                    <a:pt x="2991" y="456"/>
                  </a:lnTo>
                  <a:lnTo>
                    <a:pt x="3011" y="512"/>
                  </a:lnTo>
                  <a:lnTo>
                    <a:pt x="3021" y="567"/>
                  </a:lnTo>
                  <a:lnTo>
                    <a:pt x="3042" y="633"/>
                  </a:lnTo>
                  <a:lnTo>
                    <a:pt x="3052" y="698"/>
                  </a:lnTo>
                  <a:lnTo>
                    <a:pt x="3072" y="763"/>
                  </a:lnTo>
                  <a:lnTo>
                    <a:pt x="3082" y="828"/>
                  </a:lnTo>
                  <a:lnTo>
                    <a:pt x="3103" y="902"/>
                  </a:lnTo>
                  <a:lnTo>
                    <a:pt x="3113" y="977"/>
                  </a:lnTo>
                  <a:lnTo>
                    <a:pt x="3123" y="1051"/>
                  </a:lnTo>
                  <a:lnTo>
                    <a:pt x="3143" y="1126"/>
                  </a:lnTo>
                  <a:lnTo>
                    <a:pt x="3153" y="1200"/>
                  </a:lnTo>
                  <a:lnTo>
                    <a:pt x="3174" y="1275"/>
                  </a:lnTo>
                  <a:lnTo>
                    <a:pt x="3184" y="1359"/>
                  </a:lnTo>
                  <a:lnTo>
                    <a:pt x="3204" y="1433"/>
                  </a:lnTo>
                  <a:lnTo>
                    <a:pt x="3214" y="1517"/>
                  </a:lnTo>
                  <a:lnTo>
                    <a:pt x="3235" y="1591"/>
                  </a:lnTo>
                  <a:lnTo>
                    <a:pt x="3245" y="1675"/>
                  </a:lnTo>
                  <a:lnTo>
                    <a:pt x="3255" y="1750"/>
                  </a:lnTo>
                  <a:lnTo>
                    <a:pt x="3276" y="1833"/>
                  </a:lnTo>
                  <a:lnTo>
                    <a:pt x="3286" y="1908"/>
                  </a:lnTo>
                  <a:lnTo>
                    <a:pt x="3306" y="1982"/>
                  </a:lnTo>
                  <a:lnTo>
                    <a:pt x="3316" y="2066"/>
                  </a:lnTo>
                  <a:lnTo>
                    <a:pt x="3337" y="2141"/>
                  </a:lnTo>
                  <a:lnTo>
                    <a:pt x="3347" y="2215"/>
                  </a:lnTo>
                  <a:lnTo>
                    <a:pt x="3367" y="2280"/>
                  </a:lnTo>
                  <a:lnTo>
                    <a:pt x="3377" y="2355"/>
                  </a:lnTo>
                  <a:lnTo>
                    <a:pt x="3387" y="2420"/>
                  </a:lnTo>
                  <a:lnTo>
                    <a:pt x="3408" y="2485"/>
                  </a:lnTo>
                  <a:lnTo>
                    <a:pt x="3418" y="2550"/>
                  </a:lnTo>
                  <a:lnTo>
                    <a:pt x="3438" y="2615"/>
                  </a:lnTo>
                  <a:lnTo>
                    <a:pt x="3448" y="2671"/>
                  </a:lnTo>
                  <a:lnTo>
                    <a:pt x="3469" y="2727"/>
                  </a:lnTo>
                  <a:lnTo>
                    <a:pt x="3479" y="2783"/>
                  </a:lnTo>
                  <a:lnTo>
                    <a:pt x="3499" y="2839"/>
                  </a:lnTo>
                  <a:lnTo>
                    <a:pt x="3510" y="2885"/>
                  </a:lnTo>
                  <a:lnTo>
                    <a:pt x="3520" y="2922"/>
                  </a:lnTo>
                  <a:lnTo>
                    <a:pt x="3540" y="2969"/>
                  </a:lnTo>
                  <a:lnTo>
                    <a:pt x="3550" y="3006"/>
                  </a:lnTo>
                  <a:lnTo>
                    <a:pt x="3571" y="3034"/>
                  </a:lnTo>
                  <a:lnTo>
                    <a:pt x="3581" y="3071"/>
                  </a:lnTo>
                  <a:lnTo>
                    <a:pt x="3601" y="3099"/>
                  </a:lnTo>
                  <a:lnTo>
                    <a:pt x="3611" y="3118"/>
                  </a:lnTo>
                  <a:lnTo>
                    <a:pt x="3632" y="3137"/>
                  </a:lnTo>
                  <a:lnTo>
                    <a:pt x="3642" y="3155"/>
                  </a:lnTo>
                  <a:lnTo>
                    <a:pt x="3652" y="3164"/>
                  </a:lnTo>
                  <a:lnTo>
                    <a:pt x="3672" y="3174"/>
                  </a:lnTo>
                  <a:lnTo>
                    <a:pt x="3682" y="3174"/>
                  </a:lnTo>
                  <a:lnTo>
                    <a:pt x="3703" y="3174"/>
                  </a:lnTo>
                  <a:lnTo>
                    <a:pt x="3713" y="3164"/>
                  </a:lnTo>
                  <a:lnTo>
                    <a:pt x="3733" y="3155"/>
                  </a:lnTo>
                  <a:lnTo>
                    <a:pt x="3744" y="3146"/>
                  </a:lnTo>
                  <a:lnTo>
                    <a:pt x="3754" y="3127"/>
                  </a:lnTo>
                  <a:lnTo>
                    <a:pt x="3774" y="3109"/>
                  </a:lnTo>
                  <a:lnTo>
                    <a:pt x="3784" y="3090"/>
                  </a:lnTo>
                  <a:lnTo>
                    <a:pt x="3805" y="3062"/>
                  </a:lnTo>
                  <a:lnTo>
                    <a:pt x="3815" y="3025"/>
                  </a:lnTo>
                  <a:lnTo>
                    <a:pt x="3835" y="2988"/>
                  </a:lnTo>
                  <a:lnTo>
                    <a:pt x="3845" y="2950"/>
                  </a:lnTo>
                  <a:lnTo>
                    <a:pt x="3866" y="2913"/>
                  </a:lnTo>
                  <a:lnTo>
                    <a:pt x="3876" y="2867"/>
                  </a:lnTo>
                  <a:lnTo>
                    <a:pt x="3886" y="2820"/>
                  </a:lnTo>
                  <a:lnTo>
                    <a:pt x="3906" y="2764"/>
                  </a:lnTo>
                  <a:lnTo>
                    <a:pt x="3916" y="2708"/>
                  </a:lnTo>
                  <a:lnTo>
                    <a:pt x="3937" y="2652"/>
                  </a:lnTo>
                  <a:lnTo>
                    <a:pt x="3947" y="2597"/>
                  </a:lnTo>
                  <a:lnTo>
                    <a:pt x="3967" y="2531"/>
                  </a:lnTo>
                  <a:lnTo>
                    <a:pt x="3978" y="2466"/>
                  </a:lnTo>
                  <a:lnTo>
                    <a:pt x="3998" y="2401"/>
                  </a:lnTo>
                  <a:lnTo>
                    <a:pt x="4008" y="2327"/>
                  </a:lnTo>
                  <a:lnTo>
                    <a:pt x="4018" y="2262"/>
                  </a:lnTo>
                  <a:lnTo>
                    <a:pt x="4039" y="2187"/>
                  </a:lnTo>
                  <a:lnTo>
                    <a:pt x="4049" y="2113"/>
                  </a:lnTo>
                  <a:lnTo>
                    <a:pt x="4069" y="2038"/>
                  </a:lnTo>
                  <a:lnTo>
                    <a:pt x="4079" y="1964"/>
                  </a:lnTo>
                  <a:lnTo>
                    <a:pt x="4100" y="1880"/>
                  </a:lnTo>
                  <a:lnTo>
                    <a:pt x="4110" y="1805"/>
                  </a:lnTo>
                  <a:lnTo>
                    <a:pt x="4130" y="1722"/>
                  </a:lnTo>
                  <a:lnTo>
                    <a:pt x="4140" y="1647"/>
                  </a:lnTo>
                  <a:lnTo>
                    <a:pt x="4150" y="1563"/>
                  </a:lnTo>
                  <a:lnTo>
                    <a:pt x="4171" y="1489"/>
                  </a:lnTo>
                  <a:lnTo>
                    <a:pt x="4181" y="1405"/>
                  </a:lnTo>
                  <a:lnTo>
                    <a:pt x="4201" y="1331"/>
                  </a:lnTo>
                  <a:lnTo>
                    <a:pt x="4212" y="1247"/>
                  </a:lnTo>
                  <a:lnTo>
                    <a:pt x="4232" y="1172"/>
                  </a:lnTo>
                  <a:lnTo>
                    <a:pt x="4242" y="1098"/>
                  </a:lnTo>
                  <a:lnTo>
                    <a:pt x="4262" y="1023"/>
                  </a:lnTo>
                  <a:lnTo>
                    <a:pt x="4273" y="949"/>
                  </a:lnTo>
                  <a:lnTo>
                    <a:pt x="4283" y="875"/>
                  </a:lnTo>
                  <a:lnTo>
                    <a:pt x="4303" y="809"/>
                  </a:lnTo>
                  <a:lnTo>
                    <a:pt x="4313" y="744"/>
                  </a:lnTo>
                  <a:lnTo>
                    <a:pt x="4334" y="670"/>
                  </a:lnTo>
                  <a:lnTo>
                    <a:pt x="4344" y="614"/>
                  </a:lnTo>
                  <a:lnTo>
                    <a:pt x="4364" y="549"/>
                  </a:lnTo>
                  <a:lnTo>
                    <a:pt x="4374" y="493"/>
                  </a:lnTo>
                  <a:lnTo>
                    <a:pt x="4395" y="437"/>
                  </a:lnTo>
                  <a:lnTo>
                    <a:pt x="4405" y="381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7" name="Line 10">
              <a:extLst>
                <a:ext uri="{FF2B5EF4-FFF2-40B4-BE49-F238E27FC236}">
                  <a16:creationId xmlns:a16="http://schemas.microsoft.com/office/drawing/2014/main" id="{E89C7738-A0AE-03E6-3333-436EE7615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3" y="2718"/>
              <a:ext cx="22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8" name="Text Box 11">
              <a:extLst>
                <a:ext uri="{FF2B5EF4-FFF2-40B4-BE49-F238E27FC236}">
                  <a16:creationId xmlns:a16="http://schemas.microsoft.com/office/drawing/2014/main" id="{97E1598E-86A7-1F1B-B0CD-99740EB61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82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5549" name="Text Box 12">
              <a:extLst>
                <a:ext uri="{FF2B5EF4-FFF2-40B4-BE49-F238E27FC236}">
                  <a16:creationId xmlns:a16="http://schemas.microsoft.com/office/drawing/2014/main" id="{80E39BA5-910A-0AEF-34D6-F127B994F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54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5550" name="Text Box 13">
              <a:extLst>
                <a:ext uri="{FF2B5EF4-FFF2-40B4-BE49-F238E27FC236}">
                  <a16:creationId xmlns:a16="http://schemas.microsoft.com/office/drawing/2014/main" id="{4EE24EE5-36A7-0ABE-1136-1095D3D4B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" y="336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5551" name="Text Box 14">
              <a:extLst>
                <a:ext uri="{FF2B5EF4-FFF2-40B4-BE49-F238E27FC236}">
                  <a16:creationId xmlns:a16="http://schemas.microsoft.com/office/drawing/2014/main" id="{C5822CBF-63CB-5A5F-36DA-D7195BA2C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408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65552" name="Text Box 15">
              <a:extLst>
                <a:ext uri="{FF2B5EF4-FFF2-40B4-BE49-F238E27FC236}">
                  <a16:creationId xmlns:a16="http://schemas.microsoft.com/office/drawing/2014/main" id="{B0CA41D4-074C-555E-337D-9613741D7A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536"/>
              <a:ext cx="43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77840" name="Text Box 16">
            <a:extLst>
              <a:ext uri="{FF2B5EF4-FFF2-40B4-BE49-F238E27FC236}">
                <a16:creationId xmlns:a16="http://schemas.microsoft.com/office/drawing/2014/main" id="{461D4E5D-B1FC-E32D-1621-C3E067B1E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352800"/>
            <a:ext cx="28194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特点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频率为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宋体" panose="02010600030101010101" pitchFamily="2" charset="-122"/>
              </a:rPr>
              <a:t>的等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幅振荡。</a:t>
            </a:r>
          </a:p>
        </p:txBody>
      </p:sp>
      <p:graphicFrame>
        <p:nvGraphicFramePr>
          <p:cNvPr id="17412" name="Object 9">
            <a:extLst>
              <a:ext uri="{FF2B5EF4-FFF2-40B4-BE49-F238E27FC236}">
                <a16:creationId xmlns:a16="http://schemas.microsoft.com/office/drawing/2014/main" id="{520BCA06-8EFA-D8C3-C2A9-41C238A079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0"/>
          <a:ext cx="58705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14600" imgH="431800" progId="Equation.3">
                  <p:embed/>
                </p:oleObj>
              </mc:Choice>
              <mc:Fallback>
                <p:oleObj r:id="rId5" imgW="25146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587057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7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7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4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>
            <a:extLst>
              <a:ext uri="{FF2B5EF4-FFF2-40B4-BE49-F238E27FC236}">
                <a16:creationId xmlns:a16="http://schemas.microsoft.com/office/drawing/2014/main" id="{21D46162-6AFF-C8C5-18EB-AD726B9F5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0525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负阻尼（</a:t>
            </a:r>
            <a:r>
              <a:rPr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 b="1">
                <a:latin typeface="Times New Roman" panose="02020603050405020304" pitchFamily="18" charset="0"/>
              </a:rPr>
              <a:t>&lt;0</a:t>
            </a:r>
            <a:r>
              <a:rPr lang="zh-CN" altLang="en-US" sz="2800" b="1">
                <a:latin typeface="宋体" panose="02010600030101010101" pitchFamily="2" charset="-122"/>
              </a:rPr>
              <a:t>）状态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C3B29CD5-67AD-5A46-131C-A1D860302C4C}"/>
              </a:ext>
            </a:extLst>
          </p:cNvPr>
          <p:cNvGrpSpPr>
            <a:grpSpLocks/>
          </p:cNvGrpSpPr>
          <p:nvPr/>
        </p:nvGrpSpPr>
        <p:grpSpPr bwMode="auto">
          <a:xfrm>
            <a:off x="925513" y="3159125"/>
            <a:ext cx="3963987" cy="2720975"/>
            <a:chOff x="583" y="1885"/>
            <a:chExt cx="2497" cy="1714"/>
          </a:xfrm>
        </p:grpSpPr>
        <p:sp>
          <p:nvSpPr>
            <p:cNvPr id="67601" name="Line 5">
              <a:extLst>
                <a:ext uri="{FF2B5EF4-FFF2-40B4-BE49-F238E27FC236}">
                  <a16:creationId xmlns:a16="http://schemas.microsoft.com/office/drawing/2014/main" id="{DE8B5D76-259A-26B1-AACF-EA036500D2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0" y="1988"/>
              <a:ext cx="0" cy="15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2" name="Freeform 6">
              <a:extLst>
                <a:ext uri="{FF2B5EF4-FFF2-40B4-BE49-F238E27FC236}">
                  <a16:creationId xmlns:a16="http://schemas.microsoft.com/office/drawing/2014/main" id="{5F9B5745-CA5E-5189-CEC0-383AC5FE6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" y="2124"/>
              <a:ext cx="1782" cy="1321"/>
            </a:xfrm>
            <a:custGeom>
              <a:avLst/>
              <a:gdLst>
                <a:gd name="T0" fmla="*/ 4 w 4405"/>
                <a:gd name="T1" fmla="*/ 109 h 2890"/>
                <a:gd name="T2" fmla="*/ 8 w 4405"/>
                <a:gd name="T3" fmla="*/ 110 h 2890"/>
                <a:gd name="T4" fmla="*/ 13 w 4405"/>
                <a:gd name="T5" fmla="*/ 109 h 2890"/>
                <a:gd name="T6" fmla="*/ 18 w 4405"/>
                <a:gd name="T7" fmla="*/ 107 h 2890"/>
                <a:gd name="T8" fmla="*/ 23 w 4405"/>
                <a:gd name="T9" fmla="*/ 105 h 2890"/>
                <a:gd name="T10" fmla="*/ 28 w 4405"/>
                <a:gd name="T11" fmla="*/ 101 h 2890"/>
                <a:gd name="T12" fmla="*/ 33 w 4405"/>
                <a:gd name="T13" fmla="*/ 97 h 2890"/>
                <a:gd name="T14" fmla="*/ 38 w 4405"/>
                <a:gd name="T15" fmla="*/ 93 h 2890"/>
                <a:gd name="T16" fmla="*/ 43 w 4405"/>
                <a:gd name="T17" fmla="*/ 88 h 2890"/>
                <a:gd name="T18" fmla="*/ 48 w 4405"/>
                <a:gd name="T19" fmla="*/ 83 h 2890"/>
                <a:gd name="T20" fmla="*/ 53 w 4405"/>
                <a:gd name="T21" fmla="*/ 78 h 2890"/>
                <a:gd name="T22" fmla="*/ 57 w 4405"/>
                <a:gd name="T23" fmla="*/ 74 h 2890"/>
                <a:gd name="T24" fmla="*/ 62 w 4405"/>
                <a:gd name="T25" fmla="*/ 71 h 2890"/>
                <a:gd name="T26" fmla="*/ 67 w 4405"/>
                <a:gd name="T27" fmla="*/ 69 h 2890"/>
                <a:gd name="T28" fmla="*/ 72 w 4405"/>
                <a:gd name="T29" fmla="*/ 69 h 2890"/>
                <a:gd name="T30" fmla="*/ 77 w 4405"/>
                <a:gd name="T31" fmla="*/ 70 h 2890"/>
                <a:gd name="T32" fmla="*/ 81 w 4405"/>
                <a:gd name="T33" fmla="*/ 74 h 2890"/>
                <a:gd name="T34" fmla="*/ 86 w 4405"/>
                <a:gd name="T35" fmla="*/ 79 h 2890"/>
                <a:gd name="T36" fmla="*/ 91 w 4405"/>
                <a:gd name="T37" fmla="*/ 85 h 2890"/>
                <a:gd name="T38" fmla="*/ 96 w 4405"/>
                <a:gd name="T39" fmla="*/ 93 h 2890"/>
                <a:gd name="T40" fmla="*/ 101 w 4405"/>
                <a:gd name="T41" fmla="*/ 102 h 2890"/>
                <a:gd name="T42" fmla="*/ 106 w 4405"/>
                <a:gd name="T43" fmla="*/ 112 h 2890"/>
                <a:gd name="T44" fmla="*/ 111 w 4405"/>
                <a:gd name="T45" fmla="*/ 121 h 2890"/>
                <a:gd name="T46" fmla="*/ 116 w 4405"/>
                <a:gd name="T47" fmla="*/ 129 h 2890"/>
                <a:gd name="T48" fmla="*/ 121 w 4405"/>
                <a:gd name="T49" fmla="*/ 137 h 2890"/>
                <a:gd name="T50" fmla="*/ 125 w 4405"/>
                <a:gd name="T51" fmla="*/ 143 h 2890"/>
                <a:gd name="T52" fmla="*/ 130 w 4405"/>
                <a:gd name="T53" fmla="*/ 146 h 2890"/>
                <a:gd name="T54" fmla="*/ 136 w 4405"/>
                <a:gd name="T55" fmla="*/ 146 h 2890"/>
                <a:gd name="T56" fmla="*/ 140 w 4405"/>
                <a:gd name="T57" fmla="*/ 142 h 2890"/>
                <a:gd name="T58" fmla="*/ 145 w 4405"/>
                <a:gd name="T59" fmla="*/ 135 h 2890"/>
                <a:gd name="T60" fmla="*/ 149 w 4405"/>
                <a:gd name="T61" fmla="*/ 126 h 2890"/>
                <a:gd name="T62" fmla="*/ 154 w 4405"/>
                <a:gd name="T63" fmla="*/ 112 h 2890"/>
                <a:gd name="T64" fmla="*/ 159 w 4405"/>
                <a:gd name="T65" fmla="*/ 97 h 2890"/>
                <a:gd name="T66" fmla="*/ 164 w 4405"/>
                <a:gd name="T67" fmla="*/ 80 h 2890"/>
                <a:gd name="T68" fmla="*/ 169 w 4405"/>
                <a:gd name="T69" fmla="*/ 62 h 2890"/>
                <a:gd name="T70" fmla="*/ 174 w 4405"/>
                <a:gd name="T71" fmla="*/ 44 h 2890"/>
                <a:gd name="T72" fmla="*/ 179 w 4405"/>
                <a:gd name="T73" fmla="*/ 28 h 2890"/>
                <a:gd name="T74" fmla="*/ 184 w 4405"/>
                <a:gd name="T75" fmla="*/ 15 h 2890"/>
                <a:gd name="T76" fmla="*/ 189 w 4405"/>
                <a:gd name="T77" fmla="*/ 5 h 2890"/>
                <a:gd name="T78" fmla="*/ 193 w 4405"/>
                <a:gd name="T79" fmla="*/ 1 h 2890"/>
                <a:gd name="T80" fmla="*/ 198 w 4405"/>
                <a:gd name="T81" fmla="*/ 2 h 2890"/>
                <a:gd name="T82" fmla="*/ 203 w 4405"/>
                <a:gd name="T83" fmla="*/ 10 h 2890"/>
                <a:gd name="T84" fmla="*/ 208 w 4405"/>
                <a:gd name="T85" fmla="*/ 22 h 2890"/>
                <a:gd name="T86" fmla="*/ 213 w 4405"/>
                <a:gd name="T87" fmla="*/ 43 h 2890"/>
                <a:gd name="T88" fmla="*/ 218 w 4405"/>
                <a:gd name="T89" fmla="*/ 69 h 2890"/>
                <a:gd name="T90" fmla="*/ 223 w 4405"/>
                <a:gd name="T91" fmla="*/ 99 h 2890"/>
                <a:gd name="T92" fmla="*/ 228 w 4405"/>
                <a:gd name="T93" fmla="*/ 132 h 2890"/>
                <a:gd name="T94" fmla="*/ 232 w 4405"/>
                <a:gd name="T95" fmla="*/ 165 h 2890"/>
                <a:gd name="T96" fmla="*/ 237 w 4405"/>
                <a:gd name="T97" fmla="*/ 198 h 2890"/>
                <a:gd name="T98" fmla="*/ 242 w 4405"/>
                <a:gd name="T99" fmla="*/ 228 h 2890"/>
                <a:gd name="T100" fmla="*/ 247 w 4405"/>
                <a:gd name="T101" fmla="*/ 253 h 2890"/>
                <a:gd name="T102" fmla="*/ 252 w 4405"/>
                <a:gd name="T103" fmla="*/ 269 h 2890"/>
                <a:gd name="T104" fmla="*/ 256 w 4405"/>
                <a:gd name="T105" fmla="*/ 276 h 2890"/>
                <a:gd name="T106" fmla="*/ 261 w 4405"/>
                <a:gd name="T107" fmla="*/ 272 h 2890"/>
                <a:gd name="T108" fmla="*/ 266 w 4405"/>
                <a:gd name="T109" fmla="*/ 256 h 2890"/>
                <a:gd name="T110" fmla="*/ 271 w 4405"/>
                <a:gd name="T111" fmla="*/ 228 h 2890"/>
                <a:gd name="T112" fmla="*/ 276 w 4405"/>
                <a:gd name="T113" fmla="*/ 188 h 2890"/>
                <a:gd name="T114" fmla="*/ 281 w 4405"/>
                <a:gd name="T115" fmla="*/ 138 h 2890"/>
                <a:gd name="T116" fmla="*/ 286 w 4405"/>
                <a:gd name="T117" fmla="*/ 80 h 2890"/>
                <a:gd name="T118" fmla="*/ 291 w 4405"/>
                <a:gd name="T119" fmla="*/ 16 h 289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405" h="2890">
                  <a:moveTo>
                    <a:pt x="0" y="1130"/>
                  </a:moveTo>
                  <a:lnTo>
                    <a:pt x="10" y="1140"/>
                  </a:lnTo>
                  <a:lnTo>
                    <a:pt x="30" y="1140"/>
                  </a:lnTo>
                  <a:lnTo>
                    <a:pt x="40" y="1140"/>
                  </a:lnTo>
                  <a:lnTo>
                    <a:pt x="61" y="1140"/>
                  </a:lnTo>
                  <a:lnTo>
                    <a:pt x="71" y="1140"/>
                  </a:lnTo>
                  <a:lnTo>
                    <a:pt x="91" y="1140"/>
                  </a:lnTo>
                  <a:lnTo>
                    <a:pt x="101" y="1150"/>
                  </a:lnTo>
                  <a:lnTo>
                    <a:pt x="122" y="1150"/>
                  </a:lnTo>
                  <a:lnTo>
                    <a:pt x="132" y="1150"/>
                  </a:lnTo>
                  <a:lnTo>
                    <a:pt x="142" y="1150"/>
                  </a:lnTo>
                  <a:lnTo>
                    <a:pt x="162" y="1140"/>
                  </a:lnTo>
                  <a:lnTo>
                    <a:pt x="172" y="1140"/>
                  </a:lnTo>
                  <a:lnTo>
                    <a:pt x="193" y="1140"/>
                  </a:lnTo>
                  <a:lnTo>
                    <a:pt x="203" y="1140"/>
                  </a:lnTo>
                  <a:lnTo>
                    <a:pt x="223" y="1140"/>
                  </a:lnTo>
                  <a:lnTo>
                    <a:pt x="234" y="1130"/>
                  </a:lnTo>
                  <a:lnTo>
                    <a:pt x="254" y="1130"/>
                  </a:lnTo>
                  <a:lnTo>
                    <a:pt x="264" y="1130"/>
                  </a:lnTo>
                  <a:lnTo>
                    <a:pt x="274" y="1121"/>
                  </a:lnTo>
                  <a:lnTo>
                    <a:pt x="295" y="1121"/>
                  </a:lnTo>
                  <a:lnTo>
                    <a:pt x="305" y="1111"/>
                  </a:lnTo>
                  <a:lnTo>
                    <a:pt x="325" y="1111"/>
                  </a:lnTo>
                  <a:lnTo>
                    <a:pt x="335" y="1101"/>
                  </a:lnTo>
                  <a:lnTo>
                    <a:pt x="356" y="1101"/>
                  </a:lnTo>
                  <a:lnTo>
                    <a:pt x="366" y="1091"/>
                  </a:lnTo>
                  <a:lnTo>
                    <a:pt x="386" y="1081"/>
                  </a:lnTo>
                  <a:lnTo>
                    <a:pt x="396" y="1081"/>
                  </a:lnTo>
                  <a:lnTo>
                    <a:pt x="406" y="1071"/>
                  </a:lnTo>
                  <a:lnTo>
                    <a:pt x="427" y="1062"/>
                  </a:lnTo>
                  <a:lnTo>
                    <a:pt x="437" y="1052"/>
                  </a:lnTo>
                  <a:lnTo>
                    <a:pt x="457" y="1052"/>
                  </a:lnTo>
                  <a:lnTo>
                    <a:pt x="468" y="1042"/>
                  </a:lnTo>
                  <a:lnTo>
                    <a:pt x="488" y="1032"/>
                  </a:lnTo>
                  <a:lnTo>
                    <a:pt x="498" y="1022"/>
                  </a:lnTo>
                  <a:lnTo>
                    <a:pt x="518" y="1012"/>
                  </a:lnTo>
                  <a:lnTo>
                    <a:pt x="529" y="1003"/>
                  </a:lnTo>
                  <a:lnTo>
                    <a:pt x="539" y="993"/>
                  </a:lnTo>
                  <a:lnTo>
                    <a:pt x="559" y="983"/>
                  </a:lnTo>
                  <a:lnTo>
                    <a:pt x="569" y="973"/>
                  </a:lnTo>
                  <a:lnTo>
                    <a:pt x="590" y="963"/>
                  </a:lnTo>
                  <a:lnTo>
                    <a:pt x="600" y="954"/>
                  </a:lnTo>
                  <a:lnTo>
                    <a:pt x="620" y="944"/>
                  </a:lnTo>
                  <a:lnTo>
                    <a:pt x="630" y="934"/>
                  </a:lnTo>
                  <a:lnTo>
                    <a:pt x="651" y="924"/>
                  </a:lnTo>
                  <a:lnTo>
                    <a:pt x="661" y="914"/>
                  </a:lnTo>
                  <a:lnTo>
                    <a:pt x="671" y="904"/>
                  </a:lnTo>
                  <a:lnTo>
                    <a:pt x="691" y="885"/>
                  </a:lnTo>
                  <a:lnTo>
                    <a:pt x="702" y="875"/>
                  </a:lnTo>
                  <a:lnTo>
                    <a:pt x="722" y="865"/>
                  </a:lnTo>
                  <a:lnTo>
                    <a:pt x="732" y="855"/>
                  </a:lnTo>
                  <a:lnTo>
                    <a:pt x="752" y="845"/>
                  </a:lnTo>
                  <a:lnTo>
                    <a:pt x="763" y="836"/>
                  </a:lnTo>
                  <a:lnTo>
                    <a:pt x="773" y="826"/>
                  </a:lnTo>
                  <a:lnTo>
                    <a:pt x="793" y="816"/>
                  </a:lnTo>
                  <a:lnTo>
                    <a:pt x="803" y="816"/>
                  </a:lnTo>
                  <a:lnTo>
                    <a:pt x="824" y="806"/>
                  </a:lnTo>
                  <a:lnTo>
                    <a:pt x="834" y="796"/>
                  </a:lnTo>
                  <a:lnTo>
                    <a:pt x="854" y="786"/>
                  </a:lnTo>
                  <a:lnTo>
                    <a:pt x="864" y="777"/>
                  </a:lnTo>
                  <a:lnTo>
                    <a:pt x="885" y="767"/>
                  </a:lnTo>
                  <a:lnTo>
                    <a:pt x="895" y="767"/>
                  </a:lnTo>
                  <a:lnTo>
                    <a:pt x="905" y="757"/>
                  </a:lnTo>
                  <a:lnTo>
                    <a:pt x="925" y="747"/>
                  </a:lnTo>
                  <a:lnTo>
                    <a:pt x="936" y="747"/>
                  </a:lnTo>
                  <a:lnTo>
                    <a:pt x="956" y="737"/>
                  </a:lnTo>
                  <a:lnTo>
                    <a:pt x="966" y="737"/>
                  </a:lnTo>
                  <a:lnTo>
                    <a:pt x="986" y="737"/>
                  </a:lnTo>
                  <a:lnTo>
                    <a:pt x="997" y="727"/>
                  </a:lnTo>
                  <a:lnTo>
                    <a:pt x="1017" y="727"/>
                  </a:lnTo>
                  <a:lnTo>
                    <a:pt x="1027" y="727"/>
                  </a:lnTo>
                  <a:lnTo>
                    <a:pt x="1037" y="727"/>
                  </a:lnTo>
                  <a:lnTo>
                    <a:pt x="1058" y="727"/>
                  </a:lnTo>
                  <a:lnTo>
                    <a:pt x="1068" y="727"/>
                  </a:lnTo>
                  <a:lnTo>
                    <a:pt x="1088" y="727"/>
                  </a:lnTo>
                  <a:lnTo>
                    <a:pt x="1098" y="727"/>
                  </a:lnTo>
                  <a:lnTo>
                    <a:pt x="1119" y="727"/>
                  </a:lnTo>
                  <a:lnTo>
                    <a:pt x="1129" y="727"/>
                  </a:lnTo>
                  <a:lnTo>
                    <a:pt x="1149" y="737"/>
                  </a:lnTo>
                  <a:lnTo>
                    <a:pt x="1159" y="737"/>
                  </a:lnTo>
                  <a:lnTo>
                    <a:pt x="1170" y="747"/>
                  </a:lnTo>
                  <a:lnTo>
                    <a:pt x="1190" y="747"/>
                  </a:lnTo>
                  <a:lnTo>
                    <a:pt x="1200" y="757"/>
                  </a:lnTo>
                  <a:lnTo>
                    <a:pt x="1220" y="767"/>
                  </a:lnTo>
                  <a:lnTo>
                    <a:pt x="1231" y="777"/>
                  </a:lnTo>
                  <a:lnTo>
                    <a:pt x="1251" y="786"/>
                  </a:lnTo>
                  <a:lnTo>
                    <a:pt x="1261" y="796"/>
                  </a:lnTo>
                  <a:lnTo>
                    <a:pt x="1281" y="806"/>
                  </a:lnTo>
                  <a:lnTo>
                    <a:pt x="1292" y="816"/>
                  </a:lnTo>
                  <a:lnTo>
                    <a:pt x="1302" y="826"/>
                  </a:lnTo>
                  <a:lnTo>
                    <a:pt x="1322" y="836"/>
                  </a:lnTo>
                  <a:lnTo>
                    <a:pt x="1332" y="855"/>
                  </a:lnTo>
                  <a:lnTo>
                    <a:pt x="1353" y="865"/>
                  </a:lnTo>
                  <a:lnTo>
                    <a:pt x="1363" y="875"/>
                  </a:lnTo>
                  <a:lnTo>
                    <a:pt x="1383" y="895"/>
                  </a:lnTo>
                  <a:lnTo>
                    <a:pt x="1393" y="914"/>
                  </a:lnTo>
                  <a:lnTo>
                    <a:pt x="1414" y="924"/>
                  </a:lnTo>
                  <a:lnTo>
                    <a:pt x="1424" y="944"/>
                  </a:lnTo>
                  <a:lnTo>
                    <a:pt x="1434" y="963"/>
                  </a:lnTo>
                  <a:lnTo>
                    <a:pt x="1454" y="973"/>
                  </a:lnTo>
                  <a:lnTo>
                    <a:pt x="1465" y="993"/>
                  </a:lnTo>
                  <a:lnTo>
                    <a:pt x="1485" y="1012"/>
                  </a:lnTo>
                  <a:lnTo>
                    <a:pt x="1495" y="1032"/>
                  </a:lnTo>
                  <a:lnTo>
                    <a:pt x="1515" y="1052"/>
                  </a:lnTo>
                  <a:lnTo>
                    <a:pt x="1526" y="1071"/>
                  </a:lnTo>
                  <a:lnTo>
                    <a:pt x="1546" y="1091"/>
                  </a:lnTo>
                  <a:lnTo>
                    <a:pt x="1556" y="1111"/>
                  </a:lnTo>
                  <a:lnTo>
                    <a:pt x="1566" y="1130"/>
                  </a:lnTo>
                  <a:lnTo>
                    <a:pt x="1587" y="1150"/>
                  </a:lnTo>
                  <a:lnTo>
                    <a:pt x="1597" y="1170"/>
                  </a:lnTo>
                  <a:lnTo>
                    <a:pt x="1617" y="1189"/>
                  </a:lnTo>
                  <a:lnTo>
                    <a:pt x="1627" y="1209"/>
                  </a:lnTo>
                  <a:lnTo>
                    <a:pt x="1648" y="1229"/>
                  </a:lnTo>
                  <a:lnTo>
                    <a:pt x="1658" y="1248"/>
                  </a:lnTo>
                  <a:lnTo>
                    <a:pt x="1678" y="1268"/>
                  </a:lnTo>
                  <a:lnTo>
                    <a:pt x="1688" y="1288"/>
                  </a:lnTo>
                  <a:lnTo>
                    <a:pt x="1699" y="1307"/>
                  </a:lnTo>
                  <a:lnTo>
                    <a:pt x="1719" y="1317"/>
                  </a:lnTo>
                  <a:lnTo>
                    <a:pt x="1729" y="1337"/>
                  </a:lnTo>
                  <a:lnTo>
                    <a:pt x="1749" y="1356"/>
                  </a:lnTo>
                  <a:lnTo>
                    <a:pt x="1760" y="1376"/>
                  </a:lnTo>
                  <a:lnTo>
                    <a:pt x="1780" y="1386"/>
                  </a:lnTo>
                  <a:lnTo>
                    <a:pt x="1790" y="1406"/>
                  </a:lnTo>
                  <a:lnTo>
                    <a:pt x="1810" y="1415"/>
                  </a:lnTo>
                  <a:lnTo>
                    <a:pt x="1821" y="1435"/>
                  </a:lnTo>
                  <a:lnTo>
                    <a:pt x="1831" y="1445"/>
                  </a:lnTo>
                  <a:lnTo>
                    <a:pt x="1851" y="1455"/>
                  </a:lnTo>
                  <a:lnTo>
                    <a:pt x="1861" y="1474"/>
                  </a:lnTo>
                  <a:lnTo>
                    <a:pt x="1882" y="1484"/>
                  </a:lnTo>
                  <a:lnTo>
                    <a:pt x="1892" y="1494"/>
                  </a:lnTo>
                  <a:lnTo>
                    <a:pt x="1912" y="1494"/>
                  </a:lnTo>
                  <a:lnTo>
                    <a:pt x="1922" y="1504"/>
                  </a:lnTo>
                  <a:lnTo>
                    <a:pt x="1943" y="1514"/>
                  </a:lnTo>
                  <a:lnTo>
                    <a:pt x="1953" y="1514"/>
                  </a:lnTo>
                  <a:lnTo>
                    <a:pt x="1963" y="1524"/>
                  </a:lnTo>
                  <a:lnTo>
                    <a:pt x="1983" y="1524"/>
                  </a:lnTo>
                  <a:lnTo>
                    <a:pt x="1994" y="1524"/>
                  </a:lnTo>
                  <a:lnTo>
                    <a:pt x="2014" y="1524"/>
                  </a:lnTo>
                  <a:lnTo>
                    <a:pt x="2024" y="1524"/>
                  </a:lnTo>
                  <a:lnTo>
                    <a:pt x="2044" y="1524"/>
                  </a:lnTo>
                  <a:lnTo>
                    <a:pt x="2055" y="1514"/>
                  </a:lnTo>
                  <a:lnTo>
                    <a:pt x="2075" y="1514"/>
                  </a:lnTo>
                  <a:lnTo>
                    <a:pt x="2085" y="1504"/>
                  </a:lnTo>
                  <a:lnTo>
                    <a:pt x="2095" y="1494"/>
                  </a:lnTo>
                  <a:lnTo>
                    <a:pt x="2116" y="1484"/>
                  </a:lnTo>
                  <a:lnTo>
                    <a:pt x="2126" y="1474"/>
                  </a:lnTo>
                  <a:lnTo>
                    <a:pt x="2146" y="1465"/>
                  </a:lnTo>
                  <a:lnTo>
                    <a:pt x="2156" y="1445"/>
                  </a:lnTo>
                  <a:lnTo>
                    <a:pt x="2177" y="1435"/>
                  </a:lnTo>
                  <a:lnTo>
                    <a:pt x="2187" y="1415"/>
                  </a:lnTo>
                  <a:lnTo>
                    <a:pt x="2207" y="1396"/>
                  </a:lnTo>
                  <a:lnTo>
                    <a:pt x="2217" y="1376"/>
                  </a:lnTo>
                  <a:lnTo>
                    <a:pt x="2228" y="1356"/>
                  </a:lnTo>
                  <a:lnTo>
                    <a:pt x="2248" y="1337"/>
                  </a:lnTo>
                  <a:lnTo>
                    <a:pt x="2258" y="1317"/>
                  </a:lnTo>
                  <a:lnTo>
                    <a:pt x="2278" y="1288"/>
                  </a:lnTo>
                  <a:lnTo>
                    <a:pt x="2289" y="1258"/>
                  </a:lnTo>
                  <a:lnTo>
                    <a:pt x="2309" y="1239"/>
                  </a:lnTo>
                  <a:lnTo>
                    <a:pt x="2319" y="1209"/>
                  </a:lnTo>
                  <a:lnTo>
                    <a:pt x="2329" y="1180"/>
                  </a:lnTo>
                  <a:lnTo>
                    <a:pt x="2350" y="1150"/>
                  </a:lnTo>
                  <a:lnTo>
                    <a:pt x="2360" y="1111"/>
                  </a:lnTo>
                  <a:lnTo>
                    <a:pt x="2380" y="1081"/>
                  </a:lnTo>
                  <a:lnTo>
                    <a:pt x="2390" y="1052"/>
                  </a:lnTo>
                  <a:lnTo>
                    <a:pt x="2411" y="1012"/>
                  </a:lnTo>
                  <a:lnTo>
                    <a:pt x="2421" y="983"/>
                  </a:lnTo>
                  <a:lnTo>
                    <a:pt x="2441" y="944"/>
                  </a:lnTo>
                  <a:lnTo>
                    <a:pt x="2451" y="904"/>
                  </a:lnTo>
                  <a:lnTo>
                    <a:pt x="2462" y="875"/>
                  </a:lnTo>
                  <a:lnTo>
                    <a:pt x="2482" y="836"/>
                  </a:lnTo>
                  <a:lnTo>
                    <a:pt x="2492" y="796"/>
                  </a:lnTo>
                  <a:lnTo>
                    <a:pt x="2512" y="757"/>
                  </a:lnTo>
                  <a:lnTo>
                    <a:pt x="2523" y="727"/>
                  </a:lnTo>
                  <a:lnTo>
                    <a:pt x="2543" y="688"/>
                  </a:lnTo>
                  <a:lnTo>
                    <a:pt x="2553" y="649"/>
                  </a:lnTo>
                  <a:lnTo>
                    <a:pt x="2574" y="609"/>
                  </a:lnTo>
                  <a:lnTo>
                    <a:pt x="2584" y="570"/>
                  </a:lnTo>
                  <a:lnTo>
                    <a:pt x="2594" y="541"/>
                  </a:lnTo>
                  <a:lnTo>
                    <a:pt x="2614" y="501"/>
                  </a:lnTo>
                  <a:lnTo>
                    <a:pt x="2624" y="462"/>
                  </a:lnTo>
                  <a:lnTo>
                    <a:pt x="2645" y="433"/>
                  </a:lnTo>
                  <a:lnTo>
                    <a:pt x="2655" y="393"/>
                  </a:lnTo>
                  <a:lnTo>
                    <a:pt x="2675" y="364"/>
                  </a:lnTo>
                  <a:lnTo>
                    <a:pt x="2685" y="324"/>
                  </a:lnTo>
                  <a:lnTo>
                    <a:pt x="2706" y="295"/>
                  </a:lnTo>
                  <a:lnTo>
                    <a:pt x="2716" y="265"/>
                  </a:lnTo>
                  <a:lnTo>
                    <a:pt x="2726" y="236"/>
                  </a:lnTo>
                  <a:lnTo>
                    <a:pt x="2746" y="207"/>
                  </a:lnTo>
                  <a:lnTo>
                    <a:pt x="2757" y="177"/>
                  </a:lnTo>
                  <a:lnTo>
                    <a:pt x="2777" y="157"/>
                  </a:lnTo>
                  <a:lnTo>
                    <a:pt x="2787" y="128"/>
                  </a:lnTo>
                  <a:lnTo>
                    <a:pt x="2808" y="108"/>
                  </a:lnTo>
                  <a:lnTo>
                    <a:pt x="2818" y="89"/>
                  </a:lnTo>
                  <a:lnTo>
                    <a:pt x="2838" y="69"/>
                  </a:lnTo>
                  <a:lnTo>
                    <a:pt x="2848" y="59"/>
                  </a:lnTo>
                  <a:lnTo>
                    <a:pt x="2858" y="39"/>
                  </a:lnTo>
                  <a:lnTo>
                    <a:pt x="2879" y="30"/>
                  </a:lnTo>
                  <a:lnTo>
                    <a:pt x="2889" y="20"/>
                  </a:lnTo>
                  <a:lnTo>
                    <a:pt x="2909" y="10"/>
                  </a:lnTo>
                  <a:lnTo>
                    <a:pt x="2919" y="10"/>
                  </a:lnTo>
                  <a:lnTo>
                    <a:pt x="2940" y="0"/>
                  </a:lnTo>
                  <a:lnTo>
                    <a:pt x="2950" y="0"/>
                  </a:lnTo>
                  <a:lnTo>
                    <a:pt x="2970" y="10"/>
                  </a:lnTo>
                  <a:lnTo>
                    <a:pt x="2980" y="10"/>
                  </a:lnTo>
                  <a:lnTo>
                    <a:pt x="2991" y="20"/>
                  </a:lnTo>
                  <a:lnTo>
                    <a:pt x="3011" y="30"/>
                  </a:lnTo>
                  <a:lnTo>
                    <a:pt x="3021" y="39"/>
                  </a:lnTo>
                  <a:lnTo>
                    <a:pt x="3042" y="59"/>
                  </a:lnTo>
                  <a:lnTo>
                    <a:pt x="3052" y="79"/>
                  </a:lnTo>
                  <a:lnTo>
                    <a:pt x="3072" y="98"/>
                  </a:lnTo>
                  <a:lnTo>
                    <a:pt x="3082" y="118"/>
                  </a:lnTo>
                  <a:lnTo>
                    <a:pt x="3103" y="148"/>
                  </a:lnTo>
                  <a:lnTo>
                    <a:pt x="3113" y="177"/>
                  </a:lnTo>
                  <a:lnTo>
                    <a:pt x="3123" y="207"/>
                  </a:lnTo>
                  <a:lnTo>
                    <a:pt x="3143" y="236"/>
                  </a:lnTo>
                  <a:lnTo>
                    <a:pt x="3153" y="275"/>
                  </a:lnTo>
                  <a:lnTo>
                    <a:pt x="3174" y="315"/>
                  </a:lnTo>
                  <a:lnTo>
                    <a:pt x="3184" y="354"/>
                  </a:lnTo>
                  <a:lnTo>
                    <a:pt x="3204" y="403"/>
                  </a:lnTo>
                  <a:lnTo>
                    <a:pt x="3214" y="452"/>
                  </a:lnTo>
                  <a:lnTo>
                    <a:pt x="3235" y="501"/>
                  </a:lnTo>
                  <a:lnTo>
                    <a:pt x="3245" y="551"/>
                  </a:lnTo>
                  <a:lnTo>
                    <a:pt x="3255" y="600"/>
                  </a:lnTo>
                  <a:lnTo>
                    <a:pt x="3276" y="659"/>
                  </a:lnTo>
                  <a:lnTo>
                    <a:pt x="3286" y="718"/>
                  </a:lnTo>
                  <a:lnTo>
                    <a:pt x="3306" y="777"/>
                  </a:lnTo>
                  <a:lnTo>
                    <a:pt x="3316" y="836"/>
                  </a:lnTo>
                  <a:lnTo>
                    <a:pt x="3337" y="895"/>
                  </a:lnTo>
                  <a:lnTo>
                    <a:pt x="3347" y="963"/>
                  </a:lnTo>
                  <a:lnTo>
                    <a:pt x="3367" y="1032"/>
                  </a:lnTo>
                  <a:lnTo>
                    <a:pt x="3377" y="1101"/>
                  </a:lnTo>
                  <a:lnTo>
                    <a:pt x="3387" y="1170"/>
                  </a:lnTo>
                  <a:lnTo>
                    <a:pt x="3408" y="1239"/>
                  </a:lnTo>
                  <a:lnTo>
                    <a:pt x="3418" y="1307"/>
                  </a:lnTo>
                  <a:lnTo>
                    <a:pt x="3438" y="1376"/>
                  </a:lnTo>
                  <a:lnTo>
                    <a:pt x="3448" y="1445"/>
                  </a:lnTo>
                  <a:lnTo>
                    <a:pt x="3469" y="1514"/>
                  </a:lnTo>
                  <a:lnTo>
                    <a:pt x="3479" y="1592"/>
                  </a:lnTo>
                  <a:lnTo>
                    <a:pt x="3499" y="1661"/>
                  </a:lnTo>
                  <a:lnTo>
                    <a:pt x="3510" y="1730"/>
                  </a:lnTo>
                  <a:lnTo>
                    <a:pt x="3520" y="1799"/>
                  </a:lnTo>
                  <a:lnTo>
                    <a:pt x="3540" y="1877"/>
                  </a:lnTo>
                  <a:lnTo>
                    <a:pt x="3550" y="1946"/>
                  </a:lnTo>
                  <a:lnTo>
                    <a:pt x="3571" y="2015"/>
                  </a:lnTo>
                  <a:lnTo>
                    <a:pt x="3581" y="2074"/>
                  </a:lnTo>
                  <a:lnTo>
                    <a:pt x="3601" y="2143"/>
                  </a:lnTo>
                  <a:lnTo>
                    <a:pt x="3611" y="2212"/>
                  </a:lnTo>
                  <a:lnTo>
                    <a:pt x="3632" y="2271"/>
                  </a:lnTo>
                  <a:lnTo>
                    <a:pt x="3642" y="2330"/>
                  </a:lnTo>
                  <a:lnTo>
                    <a:pt x="3652" y="2389"/>
                  </a:lnTo>
                  <a:lnTo>
                    <a:pt x="3672" y="2448"/>
                  </a:lnTo>
                  <a:lnTo>
                    <a:pt x="3682" y="2497"/>
                  </a:lnTo>
                  <a:lnTo>
                    <a:pt x="3703" y="2556"/>
                  </a:lnTo>
                  <a:lnTo>
                    <a:pt x="3713" y="2595"/>
                  </a:lnTo>
                  <a:lnTo>
                    <a:pt x="3733" y="2644"/>
                  </a:lnTo>
                  <a:lnTo>
                    <a:pt x="3744" y="2683"/>
                  </a:lnTo>
                  <a:lnTo>
                    <a:pt x="3754" y="2723"/>
                  </a:lnTo>
                  <a:lnTo>
                    <a:pt x="3774" y="2762"/>
                  </a:lnTo>
                  <a:lnTo>
                    <a:pt x="3784" y="2792"/>
                  </a:lnTo>
                  <a:lnTo>
                    <a:pt x="3805" y="2821"/>
                  </a:lnTo>
                  <a:lnTo>
                    <a:pt x="3815" y="2841"/>
                  </a:lnTo>
                  <a:lnTo>
                    <a:pt x="3835" y="2860"/>
                  </a:lnTo>
                  <a:lnTo>
                    <a:pt x="3845" y="2880"/>
                  </a:lnTo>
                  <a:lnTo>
                    <a:pt x="3866" y="2890"/>
                  </a:lnTo>
                  <a:lnTo>
                    <a:pt x="3876" y="2890"/>
                  </a:lnTo>
                  <a:lnTo>
                    <a:pt x="3886" y="2890"/>
                  </a:lnTo>
                  <a:lnTo>
                    <a:pt x="3906" y="2890"/>
                  </a:lnTo>
                  <a:lnTo>
                    <a:pt x="3916" y="2880"/>
                  </a:lnTo>
                  <a:lnTo>
                    <a:pt x="3937" y="2870"/>
                  </a:lnTo>
                  <a:lnTo>
                    <a:pt x="3947" y="2850"/>
                  </a:lnTo>
                  <a:lnTo>
                    <a:pt x="3967" y="2821"/>
                  </a:lnTo>
                  <a:lnTo>
                    <a:pt x="3978" y="2801"/>
                  </a:lnTo>
                  <a:lnTo>
                    <a:pt x="3998" y="2762"/>
                  </a:lnTo>
                  <a:lnTo>
                    <a:pt x="4008" y="2723"/>
                  </a:lnTo>
                  <a:lnTo>
                    <a:pt x="4018" y="2683"/>
                  </a:lnTo>
                  <a:lnTo>
                    <a:pt x="4039" y="2634"/>
                  </a:lnTo>
                  <a:lnTo>
                    <a:pt x="4049" y="2575"/>
                  </a:lnTo>
                  <a:lnTo>
                    <a:pt x="4069" y="2516"/>
                  </a:lnTo>
                  <a:lnTo>
                    <a:pt x="4079" y="2457"/>
                  </a:lnTo>
                  <a:lnTo>
                    <a:pt x="4100" y="2389"/>
                  </a:lnTo>
                  <a:lnTo>
                    <a:pt x="4110" y="2310"/>
                  </a:lnTo>
                  <a:lnTo>
                    <a:pt x="4130" y="2231"/>
                  </a:lnTo>
                  <a:lnTo>
                    <a:pt x="4140" y="2143"/>
                  </a:lnTo>
                  <a:lnTo>
                    <a:pt x="4150" y="2064"/>
                  </a:lnTo>
                  <a:lnTo>
                    <a:pt x="4171" y="1966"/>
                  </a:lnTo>
                  <a:lnTo>
                    <a:pt x="4181" y="1868"/>
                  </a:lnTo>
                  <a:lnTo>
                    <a:pt x="4201" y="1769"/>
                  </a:lnTo>
                  <a:lnTo>
                    <a:pt x="4212" y="1661"/>
                  </a:lnTo>
                  <a:lnTo>
                    <a:pt x="4232" y="1553"/>
                  </a:lnTo>
                  <a:lnTo>
                    <a:pt x="4242" y="1445"/>
                  </a:lnTo>
                  <a:lnTo>
                    <a:pt x="4262" y="1327"/>
                  </a:lnTo>
                  <a:lnTo>
                    <a:pt x="4273" y="1209"/>
                  </a:lnTo>
                  <a:lnTo>
                    <a:pt x="4283" y="1081"/>
                  </a:lnTo>
                  <a:lnTo>
                    <a:pt x="4303" y="963"/>
                  </a:lnTo>
                  <a:lnTo>
                    <a:pt x="4313" y="836"/>
                  </a:lnTo>
                  <a:lnTo>
                    <a:pt x="4334" y="708"/>
                  </a:lnTo>
                  <a:lnTo>
                    <a:pt x="4344" y="570"/>
                  </a:lnTo>
                  <a:lnTo>
                    <a:pt x="4364" y="442"/>
                  </a:lnTo>
                  <a:lnTo>
                    <a:pt x="4374" y="305"/>
                  </a:lnTo>
                  <a:lnTo>
                    <a:pt x="4395" y="167"/>
                  </a:lnTo>
                  <a:lnTo>
                    <a:pt x="4405" y="39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3" name="Line 7">
              <a:extLst>
                <a:ext uri="{FF2B5EF4-FFF2-40B4-BE49-F238E27FC236}">
                  <a16:creationId xmlns:a16="http://schemas.microsoft.com/office/drawing/2014/main" id="{EB255893-2D66-C864-8F53-11EF544EB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3" y="2640"/>
              <a:ext cx="192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4" name="Text Box 8">
              <a:extLst>
                <a:ext uri="{FF2B5EF4-FFF2-40B4-BE49-F238E27FC236}">
                  <a16:creationId xmlns:a16="http://schemas.microsoft.com/office/drawing/2014/main" id="{26818C4E-F496-805A-85B9-065BBA983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" y="259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7605" name="Text Box 9">
              <a:extLst>
                <a:ext uri="{FF2B5EF4-FFF2-40B4-BE49-F238E27FC236}">
                  <a16:creationId xmlns:a16="http://schemas.microsoft.com/office/drawing/2014/main" id="{45D3197F-ABEF-7B6F-5F6C-B88409365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" y="2601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67606" name="Text Box 10">
              <a:extLst>
                <a:ext uri="{FF2B5EF4-FFF2-40B4-BE49-F238E27FC236}">
                  <a16:creationId xmlns:a16="http://schemas.microsoft.com/office/drawing/2014/main" id="{08F1C124-8DF6-165E-1F4C-AF3618FA1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" y="1885"/>
              <a:ext cx="43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7607" name="Text Box 11">
              <a:extLst>
                <a:ext uri="{FF2B5EF4-FFF2-40B4-BE49-F238E27FC236}">
                  <a16:creationId xmlns:a16="http://schemas.microsoft.com/office/drawing/2014/main" id="{376862A2-9C66-4150-6B84-2D385C0C9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6" y="3272"/>
              <a:ext cx="7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-1&lt;</a:t>
              </a:r>
              <a:r>
                <a:rPr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800">
                  <a:latin typeface="Times New Roman" panose="02020603050405020304" pitchFamily="18" charset="0"/>
                </a:rPr>
                <a:t>&lt;0</a:t>
              </a:r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DB8E4B38-B54E-1AF6-A0F7-F121CD553969}"/>
              </a:ext>
            </a:extLst>
          </p:cNvPr>
          <p:cNvGrpSpPr>
            <a:grpSpLocks/>
          </p:cNvGrpSpPr>
          <p:nvPr/>
        </p:nvGrpSpPr>
        <p:grpSpPr bwMode="auto">
          <a:xfrm>
            <a:off x="4992688" y="3167063"/>
            <a:ext cx="3625850" cy="2714625"/>
            <a:chOff x="3145" y="1890"/>
            <a:chExt cx="2284" cy="1710"/>
          </a:xfrm>
        </p:grpSpPr>
        <p:sp>
          <p:nvSpPr>
            <p:cNvPr id="67594" name="Line 13">
              <a:extLst>
                <a:ext uri="{FF2B5EF4-FFF2-40B4-BE49-F238E27FC236}">
                  <a16:creationId xmlns:a16="http://schemas.microsoft.com/office/drawing/2014/main" id="{5A1CE686-7AF3-94E0-5D1D-051C6E5B8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173"/>
              <a:ext cx="171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5" name="Line 14">
              <a:extLst>
                <a:ext uri="{FF2B5EF4-FFF2-40B4-BE49-F238E27FC236}">
                  <a16:creationId xmlns:a16="http://schemas.microsoft.com/office/drawing/2014/main" id="{D34D284B-D098-CA59-7CAA-279009AE57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0" y="2010"/>
              <a:ext cx="1" cy="11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6" name="Freeform 15">
              <a:extLst>
                <a:ext uri="{FF2B5EF4-FFF2-40B4-BE49-F238E27FC236}">
                  <a16:creationId xmlns:a16="http://schemas.microsoft.com/office/drawing/2014/main" id="{F3461216-2B8F-A1D9-E6B2-FC2A5D313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2123"/>
              <a:ext cx="1719" cy="1050"/>
            </a:xfrm>
            <a:custGeom>
              <a:avLst/>
              <a:gdLst>
                <a:gd name="T0" fmla="*/ 0 w 2071"/>
                <a:gd name="T1" fmla="*/ 273 h 2061"/>
                <a:gd name="T2" fmla="*/ 118 w 2071"/>
                <a:gd name="T3" fmla="*/ 272 h 2061"/>
                <a:gd name="T4" fmla="*/ 237 w 2071"/>
                <a:gd name="T5" fmla="*/ 268 h 2061"/>
                <a:gd name="T6" fmla="*/ 355 w 2071"/>
                <a:gd name="T7" fmla="*/ 262 h 2061"/>
                <a:gd name="T8" fmla="*/ 473 w 2071"/>
                <a:gd name="T9" fmla="*/ 252 h 2061"/>
                <a:gd name="T10" fmla="*/ 593 w 2071"/>
                <a:gd name="T11" fmla="*/ 236 h 2061"/>
                <a:gd name="T12" fmla="*/ 711 w 2071"/>
                <a:gd name="T13" fmla="*/ 214 h 2061"/>
                <a:gd name="T14" fmla="*/ 829 w 2071"/>
                <a:gd name="T15" fmla="*/ 182 h 2061"/>
                <a:gd name="T16" fmla="*/ 946 w 2071"/>
                <a:gd name="T17" fmla="*/ 139 h 2061"/>
                <a:gd name="T18" fmla="*/ 1067 w 2071"/>
                <a:gd name="T19" fmla="*/ 79 h 2061"/>
                <a:gd name="T20" fmla="*/ 1184 w 2071"/>
                <a:gd name="T21" fmla="*/ 0 h 206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71" h="2061">
                  <a:moveTo>
                    <a:pt x="0" y="2061"/>
                  </a:moveTo>
                  <a:lnTo>
                    <a:pt x="206" y="2055"/>
                  </a:lnTo>
                  <a:lnTo>
                    <a:pt x="416" y="2028"/>
                  </a:lnTo>
                  <a:lnTo>
                    <a:pt x="622" y="1981"/>
                  </a:lnTo>
                  <a:lnTo>
                    <a:pt x="828" y="1907"/>
                  </a:lnTo>
                  <a:lnTo>
                    <a:pt x="1038" y="1787"/>
                  </a:lnTo>
                  <a:lnTo>
                    <a:pt x="1244" y="1620"/>
                  </a:lnTo>
                  <a:lnTo>
                    <a:pt x="1449" y="1379"/>
                  </a:lnTo>
                  <a:lnTo>
                    <a:pt x="1655" y="1051"/>
                  </a:lnTo>
                  <a:lnTo>
                    <a:pt x="1866" y="603"/>
                  </a:lnTo>
                  <a:lnTo>
                    <a:pt x="2071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7" name="Text Box 16">
              <a:extLst>
                <a:ext uri="{FF2B5EF4-FFF2-40B4-BE49-F238E27FC236}">
                  <a16:creationId xmlns:a16="http://schemas.microsoft.com/office/drawing/2014/main" id="{C77422AE-4022-F41B-F7D0-48FA3AF5B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1" y="3101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67598" name="Text Box 17">
              <a:extLst>
                <a:ext uri="{FF2B5EF4-FFF2-40B4-BE49-F238E27FC236}">
                  <a16:creationId xmlns:a16="http://schemas.microsoft.com/office/drawing/2014/main" id="{CFFE5B77-971B-295F-A285-76775A4A6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" y="313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7599" name="Text Box 18">
              <a:extLst>
                <a:ext uri="{FF2B5EF4-FFF2-40B4-BE49-F238E27FC236}">
                  <a16:creationId xmlns:a16="http://schemas.microsoft.com/office/drawing/2014/main" id="{A4B329B1-D4B8-8322-8C2B-D70D640ED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5" y="1890"/>
              <a:ext cx="43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7600" name="Text Box 19">
              <a:extLst>
                <a:ext uri="{FF2B5EF4-FFF2-40B4-BE49-F238E27FC236}">
                  <a16:creationId xmlns:a16="http://schemas.microsoft.com/office/drawing/2014/main" id="{26BB6850-E5D2-2422-C7DF-078CD0068A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2" y="3273"/>
              <a:ext cx="5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800">
                  <a:latin typeface="Times New Roman" panose="02020603050405020304" pitchFamily="18" charset="0"/>
                </a:rPr>
                <a:t>&lt;-1</a:t>
              </a:r>
            </a:p>
          </p:txBody>
        </p:sp>
      </p:grpSp>
      <p:sp>
        <p:nvSpPr>
          <p:cNvPr id="76820" name="Text Box 20">
            <a:extLst>
              <a:ext uri="{FF2B5EF4-FFF2-40B4-BE49-F238E27FC236}">
                <a16:creationId xmlns:a16="http://schemas.microsoft.com/office/drawing/2014/main" id="{DB1C9FCD-949D-068D-1249-67950C798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828800"/>
            <a:ext cx="7391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-1&lt;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>
                <a:latin typeface="Times New Roman" panose="02020603050405020304" pitchFamily="18" charset="0"/>
              </a:rPr>
              <a:t>&lt;0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  <a:r>
              <a:rPr lang="zh-CN" altLang="en-US" sz="2800">
                <a:latin typeface="宋体" panose="02010600030101010101" pitchFamily="2" charset="-122"/>
              </a:rPr>
              <a:t>输出表达式与欠阻尼状态相同。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6821" name="Text Box 21">
            <a:extLst>
              <a:ext uri="{FF2B5EF4-FFF2-40B4-BE49-F238E27FC236}">
                <a16:creationId xmlns:a16="http://schemas.microsoft.com/office/drawing/2014/main" id="{AED5B469-14EC-4CDC-E3B2-D57DEC9F1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438400"/>
            <a:ext cx="71628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&lt; -1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  <a:r>
              <a:rPr lang="zh-CN" altLang="en-US" sz="2800">
                <a:latin typeface="宋体" panose="02010600030101010101" pitchFamily="2" charset="-122"/>
              </a:rPr>
              <a:t>输出表达式与过阻尼状态相同。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6822" name="Rectangle 22">
            <a:extLst>
              <a:ext uri="{FF2B5EF4-FFF2-40B4-BE49-F238E27FC236}">
                <a16:creationId xmlns:a16="http://schemas.microsoft.com/office/drawing/2014/main" id="{65942151-0CA7-48A2-2EAB-76FDABE24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881688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特点：振荡发散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6823" name="Rectangle 23">
            <a:extLst>
              <a:ext uri="{FF2B5EF4-FFF2-40B4-BE49-F238E27FC236}">
                <a16:creationId xmlns:a16="http://schemas.microsoft.com/office/drawing/2014/main" id="{039F2F17-13F6-2F59-2656-BA03E9728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8816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特点：单调发散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7412" name="Object 9">
            <a:extLst>
              <a:ext uri="{FF2B5EF4-FFF2-40B4-BE49-F238E27FC236}">
                <a16:creationId xmlns:a16="http://schemas.microsoft.com/office/drawing/2014/main" id="{175F72E0-3304-4417-1FA5-DB1D81E7CF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0"/>
          <a:ext cx="58705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14600" imgH="431800" progId="Equation.3">
                  <p:embed/>
                </p:oleObj>
              </mc:Choice>
              <mc:Fallback>
                <p:oleObj r:id="rId3" imgW="25146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587057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6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6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6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6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6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6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6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20" grpId="0"/>
      <p:bldP spid="76821" grpId="0"/>
      <p:bldP spid="76822" grpId="0"/>
      <p:bldP spid="7682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>
            <a:extLst>
              <a:ext uri="{FF2B5EF4-FFF2-40B4-BE49-F238E27FC236}">
                <a16:creationId xmlns:a16="http://schemas.microsoft.com/office/drawing/2014/main" id="{42EE5FAF-8E34-3284-B712-CA9856714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0500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几点结论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5780" name="Text Box 4">
            <a:extLst>
              <a:ext uri="{FF2B5EF4-FFF2-40B4-BE49-F238E27FC236}">
                <a16:creationId xmlns:a16="http://schemas.microsoft.com/office/drawing/2014/main" id="{8C3DB599-B0FC-BF6C-793E-9533ADF3B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14600"/>
            <a:ext cx="73152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二阶系统的阻尼比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决定了其振荡特性：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5781" name="Text Box 5">
            <a:extLst>
              <a:ext uri="{FF2B5EF4-FFF2-40B4-BE49-F238E27FC236}">
                <a16:creationId xmlns:a16="http://schemas.microsoft.com/office/drawing/2014/main" id="{8C86018F-AB68-1DC0-FEF2-F5A7CFE7E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128963"/>
            <a:ext cx="64008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&lt; 0 </a:t>
            </a:r>
            <a:r>
              <a:rPr lang="zh-CN" altLang="en-US" sz="2800">
                <a:latin typeface="宋体" panose="02010600030101010101" pitchFamily="2" charset="-122"/>
              </a:rPr>
              <a:t>时，阶跃响应发散，系统不稳定；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5782" name="Text Box 6">
            <a:extLst>
              <a:ext uri="{FF2B5EF4-FFF2-40B4-BE49-F238E27FC236}">
                <a16:creationId xmlns:a16="http://schemas.microsoft.com/office/drawing/2014/main" id="{69F32A4E-2063-8A2F-BBCD-CB4CA8528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662363"/>
            <a:ext cx="68580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>
                <a:latin typeface="Times New Roman" panose="02020603050405020304" pitchFamily="18" charset="0"/>
              </a:rPr>
              <a:t> 1 </a:t>
            </a:r>
            <a:r>
              <a:rPr lang="zh-CN" altLang="en-US" sz="2800">
                <a:latin typeface="宋体" panose="02010600030101010101" pitchFamily="2" charset="-122"/>
              </a:rPr>
              <a:t>时，无振荡、无超调，过渡过程长；</a:t>
            </a:r>
          </a:p>
        </p:txBody>
      </p:sp>
      <p:sp>
        <p:nvSpPr>
          <p:cNvPr id="75783" name="Text Box 7">
            <a:extLst>
              <a:ext uri="{FF2B5EF4-FFF2-40B4-BE49-F238E27FC236}">
                <a16:creationId xmlns:a16="http://schemas.microsoft.com/office/drawing/2014/main" id="{800EE219-5B8D-C0C7-119C-A3FAEFFA5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267200"/>
            <a:ext cx="6934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0&lt;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>
                <a:latin typeface="Times New Roman" panose="02020603050405020304" pitchFamily="18" charset="0"/>
              </a:rPr>
              <a:t>&lt;1</a:t>
            </a:r>
            <a:r>
              <a:rPr lang="zh-CN" altLang="en-US" sz="2800">
                <a:latin typeface="宋体" panose="02010600030101010101" pitchFamily="2" charset="-122"/>
              </a:rPr>
              <a:t>时，有振荡，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zh-CN" altLang="en-US" sz="2800" i="1">
                <a:latin typeface="Times New Roman" panose="02020603050405020304" pitchFamily="18" charset="0"/>
              </a:rPr>
              <a:t>  </a:t>
            </a:r>
            <a:r>
              <a:rPr lang="zh-CN" altLang="en-US" sz="2800">
                <a:latin typeface="宋体" panose="02010600030101010101" pitchFamily="2" charset="-122"/>
              </a:rPr>
              <a:t>愈小，振荡愈严重，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       但响应愈快，</a:t>
            </a:r>
          </a:p>
        </p:txBody>
      </p:sp>
      <p:sp>
        <p:nvSpPr>
          <p:cNvPr id="75784" name="Text Box 8">
            <a:extLst>
              <a:ext uri="{FF2B5EF4-FFF2-40B4-BE49-F238E27FC236}">
                <a16:creationId xmlns:a16="http://schemas.microsoft.com/office/drawing/2014/main" id="{6B3B0573-C4BA-C8CB-F7D9-0D384B111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414963"/>
            <a:ext cx="62484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>
                <a:latin typeface="Times New Roman" panose="02020603050405020304" pitchFamily="18" charset="0"/>
              </a:rPr>
              <a:t> = 0</a:t>
            </a:r>
            <a:r>
              <a:rPr lang="zh-CN" altLang="en-US" sz="2800">
                <a:latin typeface="Times New Roman" panose="02020603050405020304" pitchFamily="18" charset="0"/>
              </a:rPr>
              <a:t>时</a:t>
            </a:r>
            <a:r>
              <a:rPr lang="zh-CN" altLang="en-US" sz="2800">
                <a:latin typeface="宋体" panose="02010600030101010101" pitchFamily="2" charset="-122"/>
              </a:rPr>
              <a:t>，出现等幅振荡。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/>
      <p:bldP spid="75781" grpId="0"/>
      <p:bldP spid="75782" grpId="0"/>
      <p:bldP spid="75783" grpId="0"/>
      <p:bldP spid="7578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Text Box 3">
            <a:extLst>
              <a:ext uri="{FF2B5EF4-FFF2-40B4-BE49-F238E27FC236}">
                <a16:creationId xmlns:a16="http://schemas.microsoft.com/office/drawing/2014/main" id="{335A2D45-51CB-8CB5-A9C9-36F8C48C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221163"/>
            <a:ext cx="71628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zh-CN" altLang="en-US" sz="2800">
                <a:latin typeface="宋体" panose="02010600030101010101" pitchFamily="2" charset="-122"/>
              </a:rPr>
              <a:t>一定时，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宋体" panose="02010600030101010101" pitchFamily="2" charset="-122"/>
              </a:rPr>
              <a:t>越大，瞬态响应分量衰减越</a:t>
            </a:r>
          </a:p>
          <a:p>
            <a:pPr algn="just"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zh-CN" altLang="en-US" sz="2800">
                <a:latin typeface="宋体" panose="02010600030101010101" pitchFamily="2" charset="-122"/>
              </a:rPr>
              <a:t>迅速，即系统能够更快达到稳态值，响应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zh-CN" altLang="en-US" sz="2800">
                <a:latin typeface="宋体" panose="02010600030101010101" pitchFamily="2" charset="-122"/>
              </a:rPr>
              <a:t>的快速性越好。 </a:t>
            </a:r>
          </a:p>
        </p:txBody>
      </p:sp>
      <p:sp>
        <p:nvSpPr>
          <p:cNvPr id="71683" name="Text Box 4">
            <a:extLst>
              <a:ext uri="{FF2B5EF4-FFF2-40B4-BE49-F238E27FC236}">
                <a16:creationId xmlns:a16="http://schemas.microsoft.com/office/drawing/2014/main" id="{BFDE0E4F-C83E-0DF0-35E4-628C0DE79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628775"/>
            <a:ext cx="74168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工程中除了一些不允许产生振荡的应用，</a:t>
            </a:r>
          </a:p>
          <a:p>
            <a:pPr algn="just"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  </a:t>
            </a:r>
            <a:r>
              <a:rPr lang="zh-CN" altLang="en-US" sz="2800">
                <a:latin typeface="宋体" panose="02010600030101010101" pitchFamily="2" charset="-122"/>
              </a:rPr>
              <a:t>如指示和记录仪表系统等，通常采用欠阻</a:t>
            </a:r>
          </a:p>
          <a:p>
            <a:pPr algn="just"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zh-CN" altLang="en-US" sz="2800">
                <a:latin typeface="宋体" panose="02010600030101010101" pitchFamily="2" charset="-122"/>
              </a:rPr>
              <a:t>尼系统，且阻尼比通常选择在</a:t>
            </a:r>
            <a:r>
              <a:rPr lang="en-US" altLang="zh-CN" sz="2800">
                <a:latin typeface="Times New Roman" panose="02020603050405020304" pitchFamily="18" charset="0"/>
              </a:rPr>
              <a:t>0.4~0.8</a:t>
            </a:r>
            <a:r>
              <a:rPr lang="zh-CN" altLang="en-US" sz="2800">
                <a:latin typeface="宋体" panose="02010600030101010101" pitchFamily="2" charset="-122"/>
              </a:rPr>
              <a:t>之间，</a:t>
            </a:r>
          </a:p>
          <a:p>
            <a:pPr algn="just"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zh-CN" altLang="en-US" sz="2800">
                <a:latin typeface="宋体" panose="02010600030101010101" pitchFamily="2" charset="-122"/>
              </a:rPr>
              <a:t>以保证系统的快速性同时又不至于产生过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zh-CN" altLang="en-US" sz="2800">
                <a:latin typeface="宋体" panose="02010600030101010101" pitchFamily="2" charset="-122"/>
              </a:rPr>
              <a:t>大的振荡。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2" name="Rectangle 4">
            <a:extLst>
              <a:ext uri="{FF2B5EF4-FFF2-40B4-BE49-F238E27FC236}">
                <a16:creationId xmlns:a16="http://schemas.microsoft.com/office/drawing/2014/main" id="{58B0B8BE-AA70-F475-300E-5C33596AA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9161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控制系统的时域性能指标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4693" name="Rectangle 5">
            <a:extLst>
              <a:ext uri="{FF2B5EF4-FFF2-40B4-BE49-F238E27FC236}">
                <a16:creationId xmlns:a16="http://schemas.microsoft.com/office/drawing/2014/main" id="{6F449AB0-B214-548B-C5DE-0DAE4195B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667000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控制系统的性能指标是评价系统动态品质的定量指标，是定量分析的基础。</a:t>
            </a:r>
          </a:p>
        </p:txBody>
      </p:sp>
      <p:sp>
        <p:nvSpPr>
          <p:cNvPr id="114694" name="Rectangle 6">
            <a:extLst>
              <a:ext uri="{FF2B5EF4-FFF2-40B4-BE49-F238E27FC236}">
                <a16:creationId xmlns:a16="http://schemas.microsoft.com/office/drawing/2014/main" id="{5E627520-11CA-943F-EEC9-03686BEE0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733800"/>
            <a:ext cx="70866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系统的时域性能指标通常通过系统的单位阶跃响应进行定义。常见的性能指标有：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上升时间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900" i="1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>
                <a:latin typeface="宋体" panose="02010600030101010101" pitchFamily="2" charset="-122"/>
              </a:rPr>
              <a:t>、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峰值时间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900" i="1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>
                <a:latin typeface="宋体" panose="02010600030101010101" pitchFamily="2" charset="-122"/>
              </a:rPr>
              <a:t>、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调整时间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900" i="1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宋体" panose="02010600030101010101" pitchFamily="2" charset="-122"/>
              </a:rPr>
              <a:t>、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最大超调量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900" i="1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>
                <a:latin typeface="宋体" panose="02010600030101010101" pitchFamily="2" charset="-122"/>
              </a:rPr>
              <a:t>、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振荡次数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  <a:r>
              <a:rPr lang="zh-CN" altLang="en-US" sz="28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73733" name="Rectangle 2">
            <a:extLst>
              <a:ext uri="{FF2B5EF4-FFF2-40B4-BE49-F238E27FC236}">
                <a16:creationId xmlns:a16="http://schemas.microsoft.com/office/drawing/2014/main" id="{466B6AD1-020F-CF5A-A8AD-6875BE7E9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765175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二阶系统的</a:t>
            </a:r>
            <a:r>
              <a:rPr lang="zh-CN" altLang="en-US" sz="2800" b="1">
                <a:latin typeface="宋体" panose="02010600030101010101" pitchFamily="2" charset="-122"/>
              </a:rPr>
              <a:t>性能指标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/>
      <p:bldP spid="114693" grpId="0"/>
      <p:bldP spid="11469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78" name="Group 3">
            <a:extLst>
              <a:ext uri="{FF2B5EF4-FFF2-40B4-BE49-F238E27FC236}">
                <a16:creationId xmlns:a16="http://schemas.microsoft.com/office/drawing/2014/main" id="{81FECC8E-3D1A-765F-6FCD-CEDE9B6FF5B4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052513"/>
            <a:ext cx="7472363" cy="5367337"/>
            <a:chOff x="813" y="786"/>
            <a:chExt cx="4707" cy="3381"/>
          </a:xfrm>
        </p:grpSpPr>
        <p:sp>
          <p:nvSpPr>
            <p:cNvPr id="75779" name="Rectangle 4">
              <a:extLst>
                <a:ext uri="{FF2B5EF4-FFF2-40B4-BE49-F238E27FC236}">
                  <a16:creationId xmlns:a16="http://schemas.microsoft.com/office/drawing/2014/main" id="{748E711A-F96B-495F-9381-A26563860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" y="1772"/>
              <a:ext cx="1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75780" name="Line 5">
              <a:extLst>
                <a:ext uri="{FF2B5EF4-FFF2-40B4-BE49-F238E27FC236}">
                  <a16:creationId xmlns:a16="http://schemas.microsoft.com/office/drawing/2014/main" id="{646EFA29-F257-4E43-C71C-EF2989E6E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0" y="3589"/>
              <a:ext cx="41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1" name="Line 6">
              <a:extLst>
                <a:ext uri="{FF2B5EF4-FFF2-40B4-BE49-F238E27FC236}">
                  <a16:creationId xmlns:a16="http://schemas.microsoft.com/office/drawing/2014/main" id="{C09C6EF5-7AB5-948E-1BEA-2295B015CD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0" y="868"/>
              <a:ext cx="0" cy="2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2" name="Line 7">
              <a:extLst>
                <a:ext uri="{FF2B5EF4-FFF2-40B4-BE49-F238E27FC236}">
                  <a16:creationId xmlns:a16="http://schemas.microsoft.com/office/drawing/2014/main" id="{A94D910C-DD36-2CF4-2412-061E1F2FA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0" y="1853"/>
              <a:ext cx="0" cy="2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3" name="Line 8">
              <a:extLst>
                <a:ext uri="{FF2B5EF4-FFF2-40B4-BE49-F238E27FC236}">
                  <a16:creationId xmlns:a16="http://schemas.microsoft.com/office/drawing/2014/main" id="{D8F91000-7CCE-7329-823A-23743FF181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3" y="1853"/>
              <a:ext cx="3" cy="2"/>
            </a:xfrm>
            <a:prstGeom prst="line">
              <a:avLst/>
            </a:prstGeom>
            <a:noFill/>
            <a:ln w="15875">
              <a:solidFill>
                <a:srgbClr val="BFB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4" name="Line 9">
              <a:extLst>
                <a:ext uri="{FF2B5EF4-FFF2-40B4-BE49-F238E27FC236}">
                  <a16:creationId xmlns:a16="http://schemas.microsoft.com/office/drawing/2014/main" id="{B1367102-0559-C3EB-60AC-6B2B4F71C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1975"/>
              <a:ext cx="4198" cy="1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5" name="Text Box 10">
              <a:extLst>
                <a:ext uri="{FF2B5EF4-FFF2-40B4-BE49-F238E27FC236}">
                  <a16:creationId xmlns:a16="http://schemas.microsoft.com/office/drawing/2014/main" id="{4DAB2731-4392-578D-73C8-F483ED5DA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2" y="3120"/>
              <a:ext cx="1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75786" name="Rectangle 11">
              <a:extLst>
                <a:ext uri="{FF2B5EF4-FFF2-40B4-BE49-F238E27FC236}">
                  <a16:creationId xmlns:a16="http://schemas.microsoft.com/office/drawing/2014/main" id="{A0282103-C912-A038-1503-EB9F02299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" y="356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5787" name="Rectangle 12">
              <a:extLst>
                <a:ext uri="{FF2B5EF4-FFF2-40B4-BE49-F238E27FC236}">
                  <a16:creationId xmlns:a16="http://schemas.microsoft.com/office/drawing/2014/main" id="{54CE56E3-92E7-751E-5EE0-BD2EBE470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5" y="3589"/>
              <a:ext cx="225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75788" name="Line 13">
              <a:extLst>
                <a:ext uri="{FF2B5EF4-FFF2-40B4-BE49-F238E27FC236}">
                  <a16:creationId xmlns:a16="http://schemas.microsoft.com/office/drawing/2014/main" id="{F9E22DD8-AFB6-6348-3569-A1FD93A6CC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24" y="1138"/>
              <a:ext cx="641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9" name="Line 14">
              <a:extLst>
                <a:ext uri="{FF2B5EF4-FFF2-40B4-BE49-F238E27FC236}">
                  <a16:creationId xmlns:a16="http://schemas.microsoft.com/office/drawing/2014/main" id="{AA32949C-1492-1128-0B12-721EBA0C9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1107"/>
              <a:ext cx="3" cy="8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0" name="Rectangle 15">
              <a:extLst>
                <a:ext uri="{FF2B5EF4-FFF2-40B4-BE49-F238E27FC236}">
                  <a16:creationId xmlns:a16="http://schemas.microsoft.com/office/drawing/2014/main" id="{A19C34F2-DBED-995A-11C6-0575071FC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" y="1344"/>
              <a:ext cx="27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rgbClr val="000000"/>
                  </a:solidFill>
                  <a:latin typeface="Helvetica" panose="020B0604020202020204" pitchFamily="34" charset="0"/>
                </a:rPr>
                <a:t>M</a:t>
              </a:r>
              <a:r>
                <a:rPr lang="en-US" altLang="zh-CN" sz="2900" i="1" baseline="-12000">
                  <a:solidFill>
                    <a:srgbClr val="000000"/>
                  </a:solidFill>
                  <a:latin typeface="Helvetica" panose="020B0604020202020204" pitchFamily="34" charset="0"/>
                </a:rPr>
                <a:t>p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75791" name="Line 16">
              <a:extLst>
                <a:ext uri="{FF2B5EF4-FFF2-40B4-BE49-F238E27FC236}">
                  <a16:creationId xmlns:a16="http://schemas.microsoft.com/office/drawing/2014/main" id="{976309D6-64DF-CA92-7E4B-86F692F59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1988"/>
              <a:ext cx="0" cy="159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2" name="Line 17">
              <a:extLst>
                <a:ext uri="{FF2B5EF4-FFF2-40B4-BE49-F238E27FC236}">
                  <a16:creationId xmlns:a16="http://schemas.microsoft.com/office/drawing/2014/main" id="{29A4E647-3BF8-C9E5-7096-B690C72FD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3" y="1141"/>
              <a:ext cx="2" cy="2448"/>
            </a:xfrm>
            <a:prstGeom prst="line">
              <a:avLst/>
            </a:prstGeom>
            <a:noFill/>
            <a:ln w="28575">
              <a:solidFill>
                <a:srgbClr val="3399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3" name="Line 18">
              <a:extLst>
                <a:ext uri="{FF2B5EF4-FFF2-40B4-BE49-F238E27FC236}">
                  <a16:creationId xmlns:a16="http://schemas.microsoft.com/office/drawing/2014/main" id="{3D891EE7-1CF3-62BD-7CC3-13A41E99FD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3" y="1739"/>
              <a:ext cx="1805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4" name="Line 19">
              <a:extLst>
                <a:ext uri="{FF2B5EF4-FFF2-40B4-BE49-F238E27FC236}">
                  <a16:creationId xmlns:a16="http://schemas.microsoft.com/office/drawing/2014/main" id="{41C2E0C4-F064-3FB6-6AB4-87F8861F9B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7" y="2190"/>
              <a:ext cx="18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5" name="Line 20">
              <a:extLst>
                <a:ext uri="{FF2B5EF4-FFF2-40B4-BE49-F238E27FC236}">
                  <a16:creationId xmlns:a16="http://schemas.microsoft.com/office/drawing/2014/main" id="{6B69F240-32B5-9688-0D71-ECCDE3D6FB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97" y="2182"/>
              <a:ext cx="0" cy="1415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6" name="Line 21">
              <a:extLst>
                <a:ext uri="{FF2B5EF4-FFF2-40B4-BE49-F238E27FC236}">
                  <a16:creationId xmlns:a16="http://schemas.microsoft.com/office/drawing/2014/main" id="{2AEDF5B6-2E82-B954-5FFE-1D52879C6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6" y="1366"/>
              <a:ext cx="391" cy="563"/>
            </a:xfrm>
            <a:prstGeom prst="line">
              <a:avLst/>
            </a:prstGeom>
            <a:noFill/>
            <a:ln w="22225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7" name="Text Box 22">
              <a:extLst>
                <a:ext uri="{FF2B5EF4-FFF2-40B4-BE49-F238E27FC236}">
                  <a16:creationId xmlns:a16="http://schemas.microsoft.com/office/drawing/2014/main" id="{758971BC-8B25-99A9-7240-EFB622120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8" y="1056"/>
              <a:ext cx="1012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允许误差</a:t>
              </a:r>
            </a:p>
          </p:txBody>
        </p:sp>
        <p:sp>
          <p:nvSpPr>
            <p:cNvPr id="75798" name="Line 23">
              <a:extLst>
                <a:ext uri="{FF2B5EF4-FFF2-40B4-BE49-F238E27FC236}">
                  <a16:creationId xmlns:a16="http://schemas.microsoft.com/office/drawing/2014/main" id="{7DB31381-64AC-F946-E1F2-97654DF0C6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1968"/>
              <a:ext cx="624" cy="672"/>
            </a:xfrm>
            <a:prstGeom prst="line">
              <a:avLst/>
            </a:prstGeom>
            <a:noFill/>
            <a:ln w="2222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9" name="Line 24">
              <a:extLst>
                <a:ext uri="{FF2B5EF4-FFF2-40B4-BE49-F238E27FC236}">
                  <a16:creationId xmlns:a16="http://schemas.microsoft.com/office/drawing/2014/main" id="{2B180212-B29C-A2F8-0365-085EC71E6C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1929"/>
              <a:ext cx="851" cy="711"/>
            </a:xfrm>
            <a:prstGeom prst="line">
              <a:avLst/>
            </a:prstGeom>
            <a:noFill/>
            <a:ln w="22225">
              <a:solidFill>
                <a:srgbClr val="3399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0" name="Text Box 25">
              <a:extLst>
                <a:ext uri="{FF2B5EF4-FFF2-40B4-BE49-F238E27FC236}">
                  <a16:creationId xmlns:a16="http://schemas.microsoft.com/office/drawing/2014/main" id="{58E27743-5C32-B613-4288-9A3DEFF72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4" y="2601"/>
              <a:ext cx="15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</a:t>
              </a:r>
              <a:r>
                <a:rPr lang="en-US" altLang="zh-CN" sz="2800">
                  <a:latin typeface="Times New Roman" panose="02020603050405020304" pitchFamily="18" charset="0"/>
                </a:rPr>
                <a:t>=0.05</a:t>
              </a:r>
              <a:r>
                <a:rPr lang="zh-CN" altLang="en-US" sz="2800">
                  <a:latin typeface="Times New Roman" panose="02020603050405020304" pitchFamily="18" charset="0"/>
                </a:rPr>
                <a:t>或</a:t>
              </a:r>
              <a:r>
                <a:rPr lang="en-US" altLang="zh-CN" sz="2800">
                  <a:latin typeface="Times New Roman" panose="02020603050405020304" pitchFamily="18" charset="0"/>
                </a:rPr>
                <a:t>0.02</a:t>
              </a:r>
            </a:p>
          </p:txBody>
        </p:sp>
        <p:sp>
          <p:nvSpPr>
            <p:cNvPr id="75801" name="Rectangle 26">
              <a:extLst>
                <a:ext uri="{FF2B5EF4-FFF2-40B4-BE49-F238E27FC236}">
                  <a16:creationId xmlns:a16="http://schemas.microsoft.com/office/drawing/2014/main" id="{541C5802-E922-C9EB-76D4-A4A7C3115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3554"/>
              <a:ext cx="121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900" i="1" baseline="-12000">
                  <a:latin typeface="Times New Roman" panose="02020603050405020304" pitchFamily="18" charset="0"/>
                </a:rPr>
                <a:t>r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75802" name="Rectangle 27">
              <a:extLst>
                <a:ext uri="{FF2B5EF4-FFF2-40B4-BE49-F238E27FC236}">
                  <a16:creationId xmlns:a16="http://schemas.microsoft.com/office/drawing/2014/main" id="{1CF68B8C-9A28-EFF8-C2F0-C848F09BF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" y="3554"/>
              <a:ext cx="13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900" i="1" baseline="-12000">
                  <a:latin typeface="Times New Roman" panose="02020603050405020304" pitchFamily="18" charset="0"/>
                </a:rPr>
                <a:t>p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75803" name="Rectangle 28">
              <a:extLst>
                <a:ext uri="{FF2B5EF4-FFF2-40B4-BE49-F238E27FC236}">
                  <a16:creationId xmlns:a16="http://schemas.microsoft.com/office/drawing/2014/main" id="{9D0250C1-2E23-23B1-BF4A-61D9984CE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3554"/>
              <a:ext cx="121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900" i="1" baseline="-12000">
                  <a:latin typeface="Times New Roman" panose="02020603050405020304" pitchFamily="18" charset="0"/>
                </a:rPr>
                <a:t>s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75804" name="Line 29">
              <a:extLst>
                <a:ext uri="{FF2B5EF4-FFF2-40B4-BE49-F238E27FC236}">
                  <a16:creationId xmlns:a16="http://schemas.microsoft.com/office/drawing/2014/main" id="{36DD9913-E48D-1031-00FA-AFEB596579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3398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5" name="Line 30">
              <a:extLst>
                <a:ext uri="{FF2B5EF4-FFF2-40B4-BE49-F238E27FC236}">
                  <a16:creationId xmlns:a16="http://schemas.microsoft.com/office/drawing/2014/main" id="{66B199CF-45D1-B764-8F21-80BFE49226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190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6" name="Rectangle 31">
              <a:extLst>
                <a:ext uri="{FF2B5EF4-FFF2-40B4-BE49-F238E27FC236}">
                  <a16:creationId xmlns:a16="http://schemas.microsoft.com/office/drawing/2014/main" id="{CE18F042-B541-B5DF-F6F0-E23FE6B02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" y="3236"/>
              <a:ext cx="281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0.1</a:t>
              </a:r>
            </a:p>
          </p:txBody>
        </p:sp>
        <p:sp>
          <p:nvSpPr>
            <p:cNvPr id="75807" name="Rectangle 32">
              <a:extLst>
                <a:ext uri="{FF2B5EF4-FFF2-40B4-BE49-F238E27FC236}">
                  <a16:creationId xmlns:a16="http://schemas.microsoft.com/office/drawing/2014/main" id="{7D1F4918-2363-E59F-87E9-85F914F9B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2057"/>
              <a:ext cx="28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0.9</a:t>
              </a:r>
            </a:p>
          </p:txBody>
        </p:sp>
        <p:sp>
          <p:nvSpPr>
            <p:cNvPr id="75808" name="Rectangle 33">
              <a:extLst>
                <a:ext uri="{FF2B5EF4-FFF2-40B4-BE49-F238E27FC236}">
                  <a16:creationId xmlns:a16="http://schemas.microsoft.com/office/drawing/2014/main" id="{EBA9297F-26B0-38B7-82F9-DFF787A5F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" y="786"/>
              <a:ext cx="3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c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5809" name="Freeform 34">
              <a:extLst>
                <a:ext uri="{FF2B5EF4-FFF2-40B4-BE49-F238E27FC236}">
                  <a16:creationId xmlns:a16="http://schemas.microsoft.com/office/drawing/2014/main" id="{8E2F753A-F3E2-4B2A-E5E3-CEE29F0857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5" y="1147"/>
              <a:ext cx="4177" cy="2426"/>
            </a:xfrm>
            <a:custGeom>
              <a:avLst/>
              <a:gdLst>
                <a:gd name="T0" fmla="*/ 50 w 4519"/>
                <a:gd name="T1" fmla="*/ 2056 h 2620"/>
                <a:gd name="T2" fmla="*/ 116 w 4519"/>
                <a:gd name="T3" fmla="*/ 1920 h 2620"/>
                <a:gd name="T4" fmla="*/ 189 w 4519"/>
                <a:gd name="T5" fmla="*/ 1704 h 2620"/>
                <a:gd name="T6" fmla="*/ 264 w 4519"/>
                <a:gd name="T7" fmla="*/ 1432 h 2620"/>
                <a:gd name="T8" fmla="*/ 330 w 4519"/>
                <a:gd name="T9" fmla="*/ 1129 h 2620"/>
                <a:gd name="T10" fmla="*/ 404 w 4519"/>
                <a:gd name="T11" fmla="*/ 824 h 2620"/>
                <a:gd name="T12" fmla="*/ 479 w 4519"/>
                <a:gd name="T13" fmla="*/ 544 h 2620"/>
                <a:gd name="T14" fmla="*/ 544 w 4519"/>
                <a:gd name="T15" fmla="*/ 312 h 2620"/>
                <a:gd name="T16" fmla="*/ 618 w 4519"/>
                <a:gd name="T17" fmla="*/ 136 h 2620"/>
                <a:gd name="T18" fmla="*/ 693 w 4519"/>
                <a:gd name="T19" fmla="*/ 32 h 2620"/>
                <a:gd name="T20" fmla="*/ 758 w 4519"/>
                <a:gd name="T21" fmla="*/ 0 h 2620"/>
                <a:gd name="T22" fmla="*/ 832 w 4519"/>
                <a:gd name="T23" fmla="*/ 25 h 2620"/>
                <a:gd name="T24" fmla="*/ 907 w 4519"/>
                <a:gd name="T25" fmla="*/ 112 h 2620"/>
                <a:gd name="T26" fmla="*/ 973 w 4519"/>
                <a:gd name="T27" fmla="*/ 241 h 2620"/>
                <a:gd name="T28" fmla="*/ 1047 w 4519"/>
                <a:gd name="T29" fmla="*/ 392 h 2620"/>
                <a:gd name="T30" fmla="*/ 1121 w 4519"/>
                <a:gd name="T31" fmla="*/ 552 h 2620"/>
                <a:gd name="T32" fmla="*/ 1187 w 4519"/>
                <a:gd name="T33" fmla="*/ 712 h 2620"/>
                <a:gd name="T34" fmla="*/ 1261 w 4519"/>
                <a:gd name="T35" fmla="*/ 848 h 2620"/>
                <a:gd name="T36" fmla="*/ 1336 w 4519"/>
                <a:gd name="T37" fmla="*/ 959 h 2620"/>
                <a:gd name="T38" fmla="*/ 1401 w 4519"/>
                <a:gd name="T39" fmla="*/ 1040 h 2620"/>
                <a:gd name="T40" fmla="*/ 1475 w 4519"/>
                <a:gd name="T41" fmla="*/ 1088 h 2620"/>
                <a:gd name="T42" fmla="*/ 1550 w 4519"/>
                <a:gd name="T43" fmla="*/ 1096 h 2620"/>
                <a:gd name="T44" fmla="*/ 1616 w 4519"/>
                <a:gd name="T45" fmla="*/ 1064 h 2620"/>
                <a:gd name="T46" fmla="*/ 1689 w 4519"/>
                <a:gd name="T47" fmla="*/ 1016 h 2620"/>
                <a:gd name="T48" fmla="*/ 1764 w 4519"/>
                <a:gd name="T49" fmla="*/ 944 h 2620"/>
                <a:gd name="T50" fmla="*/ 1830 w 4519"/>
                <a:gd name="T51" fmla="*/ 863 h 2620"/>
                <a:gd name="T52" fmla="*/ 1904 w 4519"/>
                <a:gd name="T53" fmla="*/ 777 h 2620"/>
                <a:gd name="T54" fmla="*/ 1978 w 4519"/>
                <a:gd name="T55" fmla="*/ 696 h 2620"/>
                <a:gd name="T56" fmla="*/ 2044 w 4519"/>
                <a:gd name="T57" fmla="*/ 624 h 2620"/>
                <a:gd name="T58" fmla="*/ 2118 w 4519"/>
                <a:gd name="T59" fmla="*/ 569 h 2620"/>
                <a:gd name="T60" fmla="*/ 2192 w 4519"/>
                <a:gd name="T61" fmla="*/ 536 h 2620"/>
                <a:gd name="T62" fmla="*/ 2258 w 4519"/>
                <a:gd name="T63" fmla="*/ 520 h 2620"/>
                <a:gd name="T64" fmla="*/ 2332 w 4519"/>
                <a:gd name="T65" fmla="*/ 520 h 2620"/>
                <a:gd name="T66" fmla="*/ 2406 w 4519"/>
                <a:gd name="T67" fmla="*/ 536 h 2620"/>
                <a:gd name="T68" fmla="*/ 2473 w 4519"/>
                <a:gd name="T69" fmla="*/ 569 h 2620"/>
                <a:gd name="T70" fmla="*/ 2547 w 4519"/>
                <a:gd name="T71" fmla="*/ 608 h 2620"/>
                <a:gd name="T72" fmla="*/ 2621 w 4519"/>
                <a:gd name="T73" fmla="*/ 656 h 2620"/>
                <a:gd name="T74" fmla="*/ 2687 w 4519"/>
                <a:gd name="T75" fmla="*/ 696 h 2620"/>
                <a:gd name="T76" fmla="*/ 2760 w 4519"/>
                <a:gd name="T77" fmla="*/ 735 h 2620"/>
                <a:gd name="T78" fmla="*/ 2835 w 4519"/>
                <a:gd name="T79" fmla="*/ 777 h 2620"/>
                <a:gd name="T80" fmla="*/ 2901 w 4519"/>
                <a:gd name="T81" fmla="*/ 800 h 2620"/>
                <a:gd name="T82" fmla="*/ 2974 w 4519"/>
                <a:gd name="T83" fmla="*/ 817 h 2620"/>
                <a:gd name="T84" fmla="*/ 3042 w 4519"/>
                <a:gd name="T85" fmla="*/ 824 h 2620"/>
                <a:gd name="T86" fmla="*/ 3115 w 4519"/>
                <a:gd name="T87" fmla="*/ 817 h 2620"/>
                <a:gd name="T88" fmla="*/ 3189 w 4519"/>
                <a:gd name="T89" fmla="*/ 808 h 2620"/>
                <a:gd name="T90" fmla="*/ 3255 w 4519"/>
                <a:gd name="T91" fmla="*/ 784 h 2620"/>
                <a:gd name="T92" fmla="*/ 3329 w 4519"/>
                <a:gd name="T93" fmla="*/ 769 h 2620"/>
                <a:gd name="T94" fmla="*/ 3403 w 4519"/>
                <a:gd name="T95" fmla="*/ 744 h 2620"/>
                <a:gd name="T96" fmla="*/ 3470 w 4519"/>
                <a:gd name="T97" fmla="*/ 720 h 2620"/>
                <a:gd name="T98" fmla="*/ 3543 w 4519"/>
                <a:gd name="T99" fmla="*/ 696 h 26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519" h="2620">
                  <a:moveTo>
                    <a:pt x="0" y="2620"/>
                  </a:moveTo>
                  <a:lnTo>
                    <a:pt x="32" y="2610"/>
                  </a:lnTo>
                  <a:lnTo>
                    <a:pt x="63" y="2590"/>
                  </a:lnTo>
                  <a:lnTo>
                    <a:pt x="94" y="2549"/>
                  </a:lnTo>
                  <a:lnTo>
                    <a:pt x="126" y="2489"/>
                  </a:lnTo>
                  <a:lnTo>
                    <a:pt x="146" y="2418"/>
                  </a:lnTo>
                  <a:lnTo>
                    <a:pt x="178" y="2338"/>
                  </a:lnTo>
                  <a:lnTo>
                    <a:pt x="209" y="2247"/>
                  </a:lnTo>
                  <a:lnTo>
                    <a:pt x="240" y="2146"/>
                  </a:lnTo>
                  <a:lnTo>
                    <a:pt x="272" y="2035"/>
                  </a:lnTo>
                  <a:lnTo>
                    <a:pt x="303" y="1925"/>
                  </a:lnTo>
                  <a:lnTo>
                    <a:pt x="334" y="1804"/>
                  </a:lnTo>
                  <a:lnTo>
                    <a:pt x="366" y="1673"/>
                  </a:lnTo>
                  <a:lnTo>
                    <a:pt x="397" y="1552"/>
                  </a:lnTo>
                  <a:lnTo>
                    <a:pt x="418" y="1421"/>
                  </a:lnTo>
                  <a:lnTo>
                    <a:pt x="449" y="1290"/>
                  </a:lnTo>
                  <a:lnTo>
                    <a:pt x="480" y="1159"/>
                  </a:lnTo>
                  <a:lnTo>
                    <a:pt x="512" y="1038"/>
                  </a:lnTo>
                  <a:lnTo>
                    <a:pt x="543" y="917"/>
                  </a:lnTo>
                  <a:lnTo>
                    <a:pt x="574" y="796"/>
                  </a:lnTo>
                  <a:lnTo>
                    <a:pt x="606" y="685"/>
                  </a:lnTo>
                  <a:lnTo>
                    <a:pt x="637" y="575"/>
                  </a:lnTo>
                  <a:lnTo>
                    <a:pt x="668" y="484"/>
                  </a:lnTo>
                  <a:lnTo>
                    <a:pt x="689" y="393"/>
                  </a:lnTo>
                  <a:lnTo>
                    <a:pt x="720" y="313"/>
                  </a:lnTo>
                  <a:lnTo>
                    <a:pt x="752" y="232"/>
                  </a:lnTo>
                  <a:lnTo>
                    <a:pt x="783" y="172"/>
                  </a:lnTo>
                  <a:lnTo>
                    <a:pt x="814" y="121"/>
                  </a:lnTo>
                  <a:lnTo>
                    <a:pt x="846" y="71"/>
                  </a:lnTo>
                  <a:lnTo>
                    <a:pt x="877" y="41"/>
                  </a:lnTo>
                  <a:lnTo>
                    <a:pt x="908" y="21"/>
                  </a:lnTo>
                  <a:lnTo>
                    <a:pt x="929" y="0"/>
                  </a:lnTo>
                  <a:lnTo>
                    <a:pt x="960" y="0"/>
                  </a:lnTo>
                  <a:lnTo>
                    <a:pt x="992" y="0"/>
                  </a:lnTo>
                  <a:lnTo>
                    <a:pt x="1023" y="10"/>
                  </a:lnTo>
                  <a:lnTo>
                    <a:pt x="1054" y="31"/>
                  </a:lnTo>
                  <a:lnTo>
                    <a:pt x="1086" y="61"/>
                  </a:lnTo>
                  <a:lnTo>
                    <a:pt x="1117" y="101"/>
                  </a:lnTo>
                  <a:lnTo>
                    <a:pt x="1148" y="141"/>
                  </a:lnTo>
                  <a:lnTo>
                    <a:pt x="1179" y="192"/>
                  </a:lnTo>
                  <a:lnTo>
                    <a:pt x="1200" y="242"/>
                  </a:lnTo>
                  <a:lnTo>
                    <a:pt x="1232" y="303"/>
                  </a:lnTo>
                  <a:lnTo>
                    <a:pt x="1263" y="363"/>
                  </a:lnTo>
                  <a:lnTo>
                    <a:pt x="1294" y="424"/>
                  </a:lnTo>
                  <a:lnTo>
                    <a:pt x="1326" y="494"/>
                  </a:lnTo>
                  <a:lnTo>
                    <a:pt x="1357" y="554"/>
                  </a:lnTo>
                  <a:lnTo>
                    <a:pt x="1388" y="625"/>
                  </a:lnTo>
                  <a:lnTo>
                    <a:pt x="1419" y="696"/>
                  </a:lnTo>
                  <a:lnTo>
                    <a:pt x="1451" y="766"/>
                  </a:lnTo>
                  <a:lnTo>
                    <a:pt x="1472" y="826"/>
                  </a:lnTo>
                  <a:lnTo>
                    <a:pt x="1503" y="897"/>
                  </a:lnTo>
                  <a:lnTo>
                    <a:pt x="1534" y="957"/>
                  </a:lnTo>
                  <a:lnTo>
                    <a:pt x="1566" y="1018"/>
                  </a:lnTo>
                  <a:lnTo>
                    <a:pt x="1597" y="1068"/>
                  </a:lnTo>
                  <a:lnTo>
                    <a:pt x="1628" y="1119"/>
                  </a:lnTo>
                  <a:lnTo>
                    <a:pt x="1659" y="1169"/>
                  </a:lnTo>
                  <a:lnTo>
                    <a:pt x="1691" y="1209"/>
                  </a:lnTo>
                  <a:lnTo>
                    <a:pt x="1722" y="1250"/>
                  </a:lnTo>
                  <a:lnTo>
                    <a:pt x="1743" y="1280"/>
                  </a:lnTo>
                  <a:lnTo>
                    <a:pt x="1774" y="1310"/>
                  </a:lnTo>
                  <a:lnTo>
                    <a:pt x="1806" y="1340"/>
                  </a:lnTo>
                  <a:lnTo>
                    <a:pt x="1837" y="1350"/>
                  </a:lnTo>
                  <a:lnTo>
                    <a:pt x="1868" y="1371"/>
                  </a:lnTo>
                  <a:lnTo>
                    <a:pt x="1899" y="1371"/>
                  </a:lnTo>
                  <a:lnTo>
                    <a:pt x="1931" y="1381"/>
                  </a:lnTo>
                  <a:lnTo>
                    <a:pt x="1962" y="1381"/>
                  </a:lnTo>
                  <a:lnTo>
                    <a:pt x="1993" y="1371"/>
                  </a:lnTo>
                  <a:lnTo>
                    <a:pt x="2014" y="1360"/>
                  </a:lnTo>
                  <a:lnTo>
                    <a:pt x="2046" y="1340"/>
                  </a:lnTo>
                  <a:lnTo>
                    <a:pt x="2077" y="1330"/>
                  </a:lnTo>
                  <a:lnTo>
                    <a:pt x="2108" y="1300"/>
                  </a:lnTo>
                  <a:lnTo>
                    <a:pt x="2139" y="1280"/>
                  </a:lnTo>
                  <a:lnTo>
                    <a:pt x="2171" y="1250"/>
                  </a:lnTo>
                  <a:lnTo>
                    <a:pt x="2202" y="1219"/>
                  </a:lnTo>
                  <a:lnTo>
                    <a:pt x="2233" y="1189"/>
                  </a:lnTo>
                  <a:lnTo>
                    <a:pt x="2265" y="1159"/>
                  </a:lnTo>
                  <a:lnTo>
                    <a:pt x="2286" y="1119"/>
                  </a:lnTo>
                  <a:lnTo>
                    <a:pt x="2317" y="1088"/>
                  </a:lnTo>
                  <a:lnTo>
                    <a:pt x="2348" y="1048"/>
                  </a:lnTo>
                  <a:lnTo>
                    <a:pt x="2379" y="1018"/>
                  </a:lnTo>
                  <a:lnTo>
                    <a:pt x="2411" y="978"/>
                  </a:lnTo>
                  <a:lnTo>
                    <a:pt x="2442" y="947"/>
                  </a:lnTo>
                  <a:lnTo>
                    <a:pt x="2473" y="907"/>
                  </a:lnTo>
                  <a:lnTo>
                    <a:pt x="2505" y="877"/>
                  </a:lnTo>
                  <a:lnTo>
                    <a:pt x="2526" y="847"/>
                  </a:lnTo>
                  <a:lnTo>
                    <a:pt x="2557" y="816"/>
                  </a:lnTo>
                  <a:lnTo>
                    <a:pt x="2588" y="786"/>
                  </a:lnTo>
                  <a:lnTo>
                    <a:pt x="2619" y="766"/>
                  </a:lnTo>
                  <a:lnTo>
                    <a:pt x="2651" y="736"/>
                  </a:lnTo>
                  <a:lnTo>
                    <a:pt x="2682" y="716"/>
                  </a:lnTo>
                  <a:lnTo>
                    <a:pt x="2713" y="706"/>
                  </a:lnTo>
                  <a:lnTo>
                    <a:pt x="2745" y="685"/>
                  </a:lnTo>
                  <a:lnTo>
                    <a:pt x="2776" y="675"/>
                  </a:lnTo>
                  <a:lnTo>
                    <a:pt x="2797" y="665"/>
                  </a:lnTo>
                  <a:lnTo>
                    <a:pt x="2828" y="655"/>
                  </a:lnTo>
                  <a:lnTo>
                    <a:pt x="2859" y="655"/>
                  </a:lnTo>
                  <a:lnTo>
                    <a:pt x="2891" y="655"/>
                  </a:lnTo>
                  <a:lnTo>
                    <a:pt x="2922" y="655"/>
                  </a:lnTo>
                  <a:lnTo>
                    <a:pt x="2953" y="655"/>
                  </a:lnTo>
                  <a:lnTo>
                    <a:pt x="2985" y="665"/>
                  </a:lnTo>
                  <a:lnTo>
                    <a:pt x="3016" y="665"/>
                  </a:lnTo>
                  <a:lnTo>
                    <a:pt x="3047" y="675"/>
                  </a:lnTo>
                  <a:lnTo>
                    <a:pt x="3068" y="685"/>
                  </a:lnTo>
                  <a:lnTo>
                    <a:pt x="3099" y="706"/>
                  </a:lnTo>
                  <a:lnTo>
                    <a:pt x="3131" y="716"/>
                  </a:lnTo>
                  <a:lnTo>
                    <a:pt x="3162" y="736"/>
                  </a:lnTo>
                  <a:lnTo>
                    <a:pt x="3193" y="746"/>
                  </a:lnTo>
                  <a:lnTo>
                    <a:pt x="3225" y="766"/>
                  </a:lnTo>
                  <a:lnTo>
                    <a:pt x="3256" y="786"/>
                  </a:lnTo>
                  <a:lnTo>
                    <a:pt x="3287" y="806"/>
                  </a:lnTo>
                  <a:lnTo>
                    <a:pt x="3319" y="826"/>
                  </a:lnTo>
                  <a:lnTo>
                    <a:pt x="3339" y="847"/>
                  </a:lnTo>
                  <a:lnTo>
                    <a:pt x="3371" y="857"/>
                  </a:lnTo>
                  <a:lnTo>
                    <a:pt x="3402" y="877"/>
                  </a:lnTo>
                  <a:lnTo>
                    <a:pt x="3433" y="897"/>
                  </a:lnTo>
                  <a:lnTo>
                    <a:pt x="3465" y="917"/>
                  </a:lnTo>
                  <a:lnTo>
                    <a:pt x="3496" y="927"/>
                  </a:lnTo>
                  <a:lnTo>
                    <a:pt x="3527" y="947"/>
                  </a:lnTo>
                  <a:lnTo>
                    <a:pt x="3559" y="957"/>
                  </a:lnTo>
                  <a:lnTo>
                    <a:pt x="3590" y="978"/>
                  </a:lnTo>
                  <a:lnTo>
                    <a:pt x="3611" y="988"/>
                  </a:lnTo>
                  <a:lnTo>
                    <a:pt x="3642" y="998"/>
                  </a:lnTo>
                  <a:lnTo>
                    <a:pt x="3673" y="1008"/>
                  </a:lnTo>
                  <a:lnTo>
                    <a:pt x="3705" y="1018"/>
                  </a:lnTo>
                  <a:lnTo>
                    <a:pt x="3736" y="1018"/>
                  </a:lnTo>
                  <a:lnTo>
                    <a:pt x="3767" y="1028"/>
                  </a:lnTo>
                  <a:lnTo>
                    <a:pt x="3799" y="1028"/>
                  </a:lnTo>
                  <a:lnTo>
                    <a:pt x="3830" y="1038"/>
                  </a:lnTo>
                  <a:lnTo>
                    <a:pt x="3851" y="1038"/>
                  </a:lnTo>
                  <a:lnTo>
                    <a:pt x="3882" y="1038"/>
                  </a:lnTo>
                  <a:lnTo>
                    <a:pt x="3913" y="1028"/>
                  </a:lnTo>
                  <a:lnTo>
                    <a:pt x="3945" y="1028"/>
                  </a:lnTo>
                  <a:lnTo>
                    <a:pt x="3976" y="1028"/>
                  </a:lnTo>
                  <a:lnTo>
                    <a:pt x="4007" y="1018"/>
                  </a:lnTo>
                  <a:lnTo>
                    <a:pt x="4039" y="1018"/>
                  </a:lnTo>
                  <a:lnTo>
                    <a:pt x="4070" y="1008"/>
                  </a:lnTo>
                  <a:lnTo>
                    <a:pt x="4101" y="998"/>
                  </a:lnTo>
                  <a:lnTo>
                    <a:pt x="4122" y="988"/>
                  </a:lnTo>
                  <a:lnTo>
                    <a:pt x="4153" y="988"/>
                  </a:lnTo>
                  <a:lnTo>
                    <a:pt x="4185" y="978"/>
                  </a:lnTo>
                  <a:lnTo>
                    <a:pt x="4216" y="968"/>
                  </a:lnTo>
                  <a:lnTo>
                    <a:pt x="4247" y="957"/>
                  </a:lnTo>
                  <a:lnTo>
                    <a:pt x="4279" y="947"/>
                  </a:lnTo>
                  <a:lnTo>
                    <a:pt x="4310" y="937"/>
                  </a:lnTo>
                  <a:lnTo>
                    <a:pt x="4341" y="927"/>
                  </a:lnTo>
                  <a:lnTo>
                    <a:pt x="4372" y="917"/>
                  </a:lnTo>
                  <a:lnTo>
                    <a:pt x="4393" y="907"/>
                  </a:lnTo>
                  <a:lnTo>
                    <a:pt x="4425" y="897"/>
                  </a:lnTo>
                  <a:lnTo>
                    <a:pt x="4456" y="887"/>
                  </a:lnTo>
                  <a:lnTo>
                    <a:pt x="4487" y="877"/>
                  </a:lnTo>
                  <a:lnTo>
                    <a:pt x="4519" y="867"/>
                  </a:lnTo>
                </a:path>
              </a:pathLst>
            </a:custGeom>
            <a:noFill/>
            <a:ln w="38100">
              <a:solidFill>
                <a:srgbClr val="1C12D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0" name="Rectangle 35">
              <a:extLst>
                <a:ext uri="{FF2B5EF4-FFF2-40B4-BE49-F238E27FC236}">
                  <a16:creationId xmlns:a16="http://schemas.microsoft.com/office/drawing/2014/main" id="{F2E65622-05C3-88A9-3CE3-10D2CC6EE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0" y="3840"/>
              <a:ext cx="25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宋体" panose="02010600030101010101" pitchFamily="2" charset="-122"/>
                </a:rPr>
                <a:t>控制系统的时域性能指标</a:t>
              </a:r>
            </a:p>
          </p:txBody>
        </p:sp>
        <p:grpSp>
          <p:nvGrpSpPr>
            <p:cNvPr id="75811" name="Group 36">
              <a:extLst>
                <a:ext uri="{FF2B5EF4-FFF2-40B4-BE49-F238E27FC236}">
                  <a16:creationId xmlns:a16="http://schemas.microsoft.com/office/drawing/2014/main" id="{06B7457E-D3BA-7004-A35E-B22F30BFE6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0" y="1360"/>
              <a:ext cx="12" cy="1194"/>
              <a:chOff x="3860" y="1360"/>
              <a:chExt cx="12" cy="1194"/>
            </a:xfrm>
          </p:grpSpPr>
          <p:sp>
            <p:nvSpPr>
              <p:cNvPr id="75820" name="Line 37">
                <a:extLst>
                  <a:ext uri="{FF2B5EF4-FFF2-40B4-BE49-F238E27FC236}">
                    <a16:creationId xmlns:a16="http://schemas.microsoft.com/office/drawing/2014/main" id="{D0F5731B-52BC-7CAD-936E-C27BC99FEB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8" y="1360"/>
                <a:ext cx="1" cy="384"/>
              </a:xfrm>
              <a:prstGeom prst="line">
                <a:avLst/>
              </a:prstGeom>
              <a:noFill/>
              <a:ln w="28575">
                <a:solidFill>
                  <a:srgbClr val="9900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21" name="Line 38">
                <a:extLst>
                  <a:ext uri="{FF2B5EF4-FFF2-40B4-BE49-F238E27FC236}">
                    <a16:creationId xmlns:a16="http://schemas.microsoft.com/office/drawing/2014/main" id="{A4C1FE3C-DF59-B524-1621-42F818D91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60" y="2170"/>
                <a:ext cx="1" cy="384"/>
              </a:xfrm>
              <a:prstGeom prst="line">
                <a:avLst/>
              </a:prstGeom>
              <a:noFill/>
              <a:ln w="28575">
                <a:solidFill>
                  <a:srgbClr val="9900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22" name="Line 39">
                <a:extLst>
                  <a:ext uri="{FF2B5EF4-FFF2-40B4-BE49-F238E27FC236}">
                    <a16:creationId xmlns:a16="http://schemas.microsoft.com/office/drawing/2014/main" id="{A194B633-CD3E-B061-59E1-B5B9D96800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2" y="1744"/>
                <a:ext cx="0" cy="432"/>
              </a:xfrm>
              <a:prstGeom prst="line">
                <a:avLst/>
              </a:prstGeom>
              <a:noFill/>
              <a:ln w="22225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5812" name="Group 40">
              <a:extLst>
                <a:ext uri="{FF2B5EF4-FFF2-40B4-BE49-F238E27FC236}">
                  <a16:creationId xmlns:a16="http://schemas.microsoft.com/office/drawing/2014/main" id="{ED3D95D4-55FD-5487-181E-AB5F6EBB8A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7" y="1573"/>
              <a:ext cx="11" cy="989"/>
              <a:chOff x="4597" y="1573"/>
              <a:chExt cx="11" cy="989"/>
            </a:xfrm>
          </p:grpSpPr>
          <p:sp>
            <p:nvSpPr>
              <p:cNvPr id="75817" name="Line 41">
                <a:extLst>
                  <a:ext uri="{FF2B5EF4-FFF2-40B4-BE49-F238E27FC236}">
                    <a16:creationId xmlns:a16="http://schemas.microsoft.com/office/drawing/2014/main" id="{C56835E7-14DB-6741-E92C-C8E83EF19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7" y="1573"/>
                <a:ext cx="1" cy="384"/>
              </a:xfrm>
              <a:prstGeom prst="line">
                <a:avLst/>
              </a:prstGeom>
              <a:noFill/>
              <a:ln w="28575">
                <a:solidFill>
                  <a:srgbClr val="66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8" name="Line 42">
                <a:extLst>
                  <a:ext uri="{FF2B5EF4-FFF2-40B4-BE49-F238E27FC236}">
                    <a16:creationId xmlns:a16="http://schemas.microsoft.com/office/drawing/2014/main" id="{5C5D2029-FABE-6BE7-B863-FD7E11F5C8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97" y="2178"/>
                <a:ext cx="1" cy="384"/>
              </a:xfrm>
              <a:prstGeom prst="line">
                <a:avLst/>
              </a:prstGeom>
              <a:noFill/>
              <a:ln w="28575">
                <a:solidFill>
                  <a:srgbClr val="66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9" name="Line 43">
                <a:extLst>
                  <a:ext uri="{FF2B5EF4-FFF2-40B4-BE49-F238E27FC236}">
                    <a16:creationId xmlns:a16="http://schemas.microsoft.com/office/drawing/2014/main" id="{FC052657-8625-A504-FBF8-F27A103AEC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1968"/>
                <a:ext cx="0" cy="240"/>
              </a:xfrm>
              <a:prstGeom prst="line">
                <a:avLst/>
              </a:prstGeom>
              <a:noFill/>
              <a:ln w="22225">
                <a:solidFill>
                  <a:srgbClr val="66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5813" name="Group 44">
              <a:extLst>
                <a:ext uri="{FF2B5EF4-FFF2-40B4-BE49-F238E27FC236}">
                  <a16:creationId xmlns:a16="http://schemas.microsoft.com/office/drawing/2014/main" id="{84CDFB90-F5A2-DB46-E243-E2A9DF1C95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8" y="1360"/>
              <a:ext cx="4" cy="992"/>
              <a:chOff x="4828" y="1360"/>
              <a:chExt cx="4" cy="992"/>
            </a:xfrm>
          </p:grpSpPr>
          <p:sp>
            <p:nvSpPr>
              <p:cNvPr id="75814" name="Line 45">
                <a:extLst>
                  <a:ext uri="{FF2B5EF4-FFF2-40B4-BE49-F238E27FC236}">
                    <a16:creationId xmlns:a16="http://schemas.microsoft.com/office/drawing/2014/main" id="{8245A742-1BE1-3DA7-8746-874DE34FB2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28" y="1968"/>
                <a:ext cx="2" cy="384"/>
              </a:xfrm>
              <a:prstGeom prst="line">
                <a:avLst/>
              </a:prstGeom>
              <a:noFill/>
              <a:ln w="28575">
                <a:solidFill>
                  <a:srgbClr val="3399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5" name="Line 46">
                <a:extLst>
                  <a:ext uri="{FF2B5EF4-FFF2-40B4-BE49-F238E27FC236}">
                    <a16:creationId xmlns:a16="http://schemas.microsoft.com/office/drawing/2014/main" id="{F1772489-89FD-A994-055E-74E2D95E4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28" y="1360"/>
                <a:ext cx="2" cy="384"/>
              </a:xfrm>
              <a:prstGeom prst="line">
                <a:avLst/>
              </a:prstGeom>
              <a:noFill/>
              <a:ln w="28575">
                <a:solidFill>
                  <a:srgbClr val="3399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6" name="Line 47">
                <a:extLst>
                  <a:ext uri="{FF2B5EF4-FFF2-40B4-BE49-F238E27FC236}">
                    <a16:creationId xmlns:a16="http://schemas.microsoft.com/office/drawing/2014/main" id="{D2982935-B281-EDAC-1976-388E1B18C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32" y="1736"/>
                <a:ext cx="0" cy="240"/>
              </a:xfrm>
              <a:prstGeom prst="line">
                <a:avLst/>
              </a:prstGeom>
              <a:noFill/>
              <a:ln w="22225">
                <a:solidFill>
                  <a:srgbClr val="3399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>
            <a:extLst>
              <a:ext uri="{FF2B5EF4-FFF2-40B4-BE49-F238E27FC236}">
                <a16:creationId xmlns:a16="http://schemas.microsoft.com/office/drawing/2014/main" id="{7732FB2E-8281-B562-9A1D-4EB72359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947738"/>
            <a:ext cx="3816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瞬态响应指标定义：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F641A7DC-A716-9BEF-86FB-2412D2172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0" y="238760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上升时间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88B8AFC2-0638-B7D0-74CC-D7844D9D9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924175"/>
            <a:ext cx="70866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响应曲线从零时刻出发</a:t>
            </a:r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首次到达稳态值</a:t>
            </a:r>
            <a:r>
              <a:rPr lang="zh-CN" altLang="en-US" sz="2800">
                <a:latin typeface="宋体" panose="02010600030101010101" pitchFamily="2" charset="-122"/>
              </a:rPr>
              <a:t>所需时间。对无超调系统，上升时间一般定义为响应曲线</a:t>
            </a:r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从稳态值的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10%</a:t>
            </a:r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上升到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90%</a:t>
            </a:r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所需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的时间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8790" name="Rectangle 6">
            <a:extLst>
              <a:ext uri="{FF2B5EF4-FFF2-40B4-BE49-F238E27FC236}">
                <a16:creationId xmlns:a16="http://schemas.microsoft.com/office/drawing/2014/main" id="{3945C139-C41F-4F7A-AA02-60308E692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0" y="50784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峰值时间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118791" name="Rectangle 7">
            <a:extLst>
              <a:ext uri="{FF2B5EF4-FFF2-40B4-BE49-F238E27FC236}">
                <a16:creationId xmlns:a16="http://schemas.microsoft.com/office/drawing/2014/main" id="{6BD342DD-B7A7-2BEC-2180-0EC9DEDAB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5614988"/>
            <a:ext cx="70866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响应曲线从零上升到</a:t>
            </a:r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第一个峰值</a:t>
            </a:r>
            <a:r>
              <a:rPr lang="zh-CN" altLang="en-US" sz="2800">
                <a:latin typeface="宋体" panose="02010600030101010101" pitchFamily="2" charset="-122"/>
              </a:rPr>
              <a:t>所需时间。 </a:t>
            </a:r>
          </a:p>
        </p:txBody>
      </p:sp>
      <p:pic>
        <p:nvPicPr>
          <p:cNvPr id="77831" name="Picture 7">
            <a:extLst>
              <a:ext uri="{FF2B5EF4-FFF2-40B4-BE49-F238E27FC236}">
                <a16:creationId xmlns:a16="http://schemas.microsoft.com/office/drawing/2014/main" id="{B7D51C03-157D-3DA8-3A3A-06127653D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" b="8453"/>
          <a:stretch>
            <a:fillRect/>
          </a:stretch>
        </p:blipFill>
        <p:spPr bwMode="auto">
          <a:xfrm>
            <a:off x="5292725" y="0"/>
            <a:ext cx="3786188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2" name="Rectangle 3">
            <a:extLst>
              <a:ext uri="{FF2B5EF4-FFF2-40B4-BE49-F238E27FC236}">
                <a16:creationId xmlns:a16="http://schemas.microsoft.com/office/drawing/2014/main" id="{D38652AA-7997-2F4A-37DD-CBC22DEF5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628775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评价系统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快速性</a:t>
            </a:r>
            <a:r>
              <a:rPr lang="zh-CN" altLang="en-US" sz="2800">
                <a:latin typeface="Times New Roman" panose="02020603050405020304" pitchFamily="18" charset="0"/>
              </a:rPr>
              <a:t>的</a:t>
            </a:r>
            <a:r>
              <a:rPr lang="zh-CN" altLang="en-US" sz="2800">
                <a:latin typeface="宋体" panose="02010600030101010101" pitchFamily="2" charset="-122"/>
              </a:rPr>
              <a:t>性能指标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/>
      <p:bldP spid="118789" grpId="0"/>
      <p:bldP spid="118790" grpId="0"/>
      <p:bldP spid="118791" grpId="0"/>
      <p:bldP spid="727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>
            <a:extLst>
              <a:ext uri="{FF2B5EF4-FFF2-40B4-BE49-F238E27FC236}">
                <a16:creationId xmlns:a16="http://schemas.microsoft.com/office/drawing/2014/main" id="{CEFCDEA3-12D7-6484-2383-04E5C6E2B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7002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调整时间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5BAB0B7F-5EE9-67EE-60C0-6D53D2AB8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2349500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响应曲线到达并保持在允许误差范围（稳态值的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en-US" altLang="zh-CN" sz="2800">
                <a:latin typeface="Times New Roman" panose="02020603050405020304" pitchFamily="18" charset="0"/>
              </a:rPr>
              <a:t>2%</a:t>
            </a:r>
            <a:r>
              <a:rPr lang="zh-CN" altLang="en-US" sz="2800">
                <a:latin typeface="Times New Roman" panose="02020603050405020304" pitchFamily="18" charset="0"/>
              </a:rPr>
              <a:t>或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en-US" altLang="zh-CN" sz="2800">
                <a:latin typeface="Times New Roman" panose="02020603050405020304" pitchFamily="18" charset="0"/>
              </a:rPr>
              <a:t>5%</a:t>
            </a:r>
            <a:r>
              <a:rPr lang="zh-CN" altLang="en-US" sz="2800">
                <a:latin typeface="宋体" panose="02010600030101010101" pitchFamily="2" charset="-122"/>
              </a:rPr>
              <a:t>）内所需的时间。 </a:t>
            </a:r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4A6908C9-4893-356C-984C-3FD1AF8E1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03860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最大超调量</a:t>
            </a:r>
            <a:r>
              <a:rPr lang="en-US" altLang="zh-CN" sz="2800" i="1">
                <a:latin typeface="Times New Roman" panose="02020603050405020304" pitchFamily="18" charset="0"/>
              </a:rPr>
              <a:t>M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120838" name="Rectangle 6">
            <a:extLst>
              <a:ext uri="{FF2B5EF4-FFF2-40B4-BE49-F238E27FC236}">
                <a16:creationId xmlns:a16="http://schemas.microsoft.com/office/drawing/2014/main" id="{2D86F7F3-D960-098E-F38B-99DB4D638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565650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响应曲线的最大峰值与稳态值之差。通常用百分数表示： </a:t>
            </a:r>
          </a:p>
        </p:txBody>
      </p:sp>
      <p:pic>
        <p:nvPicPr>
          <p:cNvPr id="79878" name="Picture 7">
            <a:extLst>
              <a:ext uri="{FF2B5EF4-FFF2-40B4-BE49-F238E27FC236}">
                <a16:creationId xmlns:a16="http://schemas.microsoft.com/office/drawing/2014/main" id="{CEC916B2-F0C0-E8A7-0ECE-A177DD52D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" b="8453"/>
          <a:stretch>
            <a:fillRect/>
          </a:stretch>
        </p:blipFill>
        <p:spPr bwMode="auto">
          <a:xfrm>
            <a:off x="5364163" y="0"/>
            <a:ext cx="3567112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559069F-4A40-7EC2-F42C-B8F245AAB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44328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评价系统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平稳性</a:t>
            </a:r>
            <a:r>
              <a:rPr lang="zh-CN" altLang="en-US" sz="2800">
                <a:latin typeface="Times New Roman" panose="02020603050405020304" pitchFamily="18" charset="0"/>
              </a:rPr>
              <a:t>的</a:t>
            </a:r>
            <a:r>
              <a:rPr lang="zh-CN" altLang="en-US" sz="2800">
                <a:latin typeface="宋体" panose="02010600030101010101" pitchFamily="2" charset="-122"/>
              </a:rPr>
              <a:t>性能指标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6" grpId="0"/>
      <p:bldP spid="120837" grpId="0"/>
      <p:bldP spid="120838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2" name="Object 3">
            <a:extLst>
              <a:ext uri="{FF2B5EF4-FFF2-40B4-BE49-F238E27FC236}">
                <a16:creationId xmlns:a16="http://schemas.microsoft.com/office/drawing/2014/main" id="{A6B50BAC-6ECB-1B50-720D-3CEDEC2B2D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773238"/>
          <a:ext cx="2982913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24895" imgH="444307" progId="Equation.3">
                  <p:embed/>
                </p:oleObj>
              </mc:Choice>
              <mc:Fallback>
                <p:oleObj r:id="rId3" imgW="1624895" imgH="44430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773238"/>
                        <a:ext cx="2982913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4" name="Rectangle 4">
            <a:extLst>
              <a:ext uri="{FF2B5EF4-FFF2-40B4-BE49-F238E27FC236}">
                <a16:creationId xmlns:a16="http://schemas.microsoft.com/office/drawing/2014/main" id="{B85D8431-0862-0116-1C96-0927A9EA2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87638"/>
            <a:ext cx="70866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若</a:t>
            </a:r>
            <a:r>
              <a:rPr lang="en-US" altLang="zh-CN" sz="2800">
                <a:latin typeface="宋体" panose="02010600030101010101" pitchFamily="2" charset="-122"/>
              </a:rPr>
              <a:t>c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</a:rPr>
              <a:t>)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</a:t>
            </a:r>
            <a:r>
              <a:rPr lang="en-US" altLang="zh-CN" sz="2800">
                <a:latin typeface="Times New Roman" panose="02020603050405020304" pitchFamily="18" charset="0"/>
              </a:rPr>
              <a:t> c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，则响应无超调。 </a:t>
            </a:r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A9B6699F-F672-5CF4-B0DD-D35085076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57505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振荡次数</a:t>
            </a: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endParaRPr lang="en-US" altLang="zh-CN" sz="2900" i="1" baseline="-18000">
              <a:latin typeface="Times New Roman" panose="02020603050405020304" pitchFamily="18" charset="0"/>
            </a:endParaRPr>
          </a:p>
        </p:txBody>
      </p:sp>
      <p:sp>
        <p:nvSpPr>
          <p:cNvPr id="122886" name="Rectangle 6">
            <a:extLst>
              <a:ext uri="{FF2B5EF4-FFF2-40B4-BE49-F238E27FC236}">
                <a16:creationId xmlns:a16="http://schemas.microsoft.com/office/drawing/2014/main" id="{CD15863F-BFB4-7AEC-537C-B86807799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102100"/>
            <a:ext cx="7086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在调整时间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宋体" panose="02010600030101010101" pitchFamily="2" charset="-122"/>
              </a:rPr>
              <a:t>内系统响应曲线的振荡次数。</a:t>
            </a:r>
          </a:p>
        </p:txBody>
      </p:sp>
      <p:sp>
        <p:nvSpPr>
          <p:cNvPr id="122887" name="Rectangle 7">
            <a:extLst>
              <a:ext uri="{FF2B5EF4-FFF2-40B4-BE49-F238E27FC236}">
                <a16:creationId xmlns:a16="http://schemas.microsoft.com/office/drawing/2014/main" id="{6CB3EE8D-30C7-B058-C015-955901091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641850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实测时，可按响应曲线穿越稳态值次数的一半计数。</a:t>
            </a:r>
          </a:p>
        </p:txBody>
      </p:sp>
      <p:pic>
        <p:nvPicPr>
          <p:cNvPr id="81927" name="Picture 7">
            <a:extLst>
              <a:ext uri="{FF2B5EF4-FFF2-40B4-BE49-F238E27FC236}">
                <a16:creationId xmlns:a16="http://schemas.microsoft.com/office/drawing/2014/main" id="{D47C67C1-78F7-98BC-6B30-39F09AAE2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" b="8453"/>
          <a:stretch>
            <a:fillRect/>
          </a:stretch>
        </p:blipFill>
        <p:spPr bwMode="auto">
          <a:xfrm>
            <a:off x="5364163" y="0"/>
            <a:ext cx="3567112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4" grpId="0"/>
      <p:bldP spid="122885" grpId="0"/>
      <p:bldP spid="122886" grpId="0"/>
      <p:bldP spid="12288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文本框 1">
            <a:extLst>
              <a:ext uri="{FF2B5EF4-FFF2-40B4-BE49-F238E27FC236}">
                <a16:creationId xmlns:a16="http://schemas.microsoft.com/office/drawing/2014/main" id="{C0FAB482-3413-676D-6C9E-6B15C7F71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2420938"/>
            <a:ext cx="1416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3200"/>
              <a:t>作业：</a:t>
            </a:r>
          </a:p>
        </p:txBody>
      </p:sp>
      <p:sp>
        <p:nvSpPr>
          <p:cNvPr id="83971" name="文本框 2">
            <a:extLst>
              <a:ext uri="{FF2B5EF4-FFF2-40B4-BE49-F238E27FC236}">
                <a16:creationId xmlns:a16="http://schemas.microsoft.com/office/drawing/2014/main" id="{3220AB10-4B41-6A6E-0041-28E327308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938" y="3573463"/>
            <a:ext cx="3040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P131</a:t>
            </a:r>
            <a:r>
              <a:rPr lang="zh-CN" altLang="en-US" sz="2800"/>
              <a:t>：</a:t>
            </a:r>
            <a:r>
              <a:rPr lang="en-US" altLang="zh-CN" sz="2800"/>
              <a:t>3-2</a:t>
            </a:r>
            <a:r>
              <a:rPr lang="zh-CN" altLang="en-US" sz="2800"/>
              <a:t>，</a:t>
            </a:r>
            <a:r>
              <a:rPr lang="en-US" altLang="zh-CN" sz="2800"/>
              <a:t>3-5</a:t>
            </a:r>
            <a:endParaRPr lang="zh-CN" altLang="en-US" sz="2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>
            <a:extLst>
              <a:ext uri="{FF2B5EF4-FFF2-40B4-BE49-F238E27FC236}">
                <a16:creationId xmlns:a16="http://schemas.microsoft.com/office/drawing/2014/main" id="{404DFBA1-4B97-4251-55CA-6DDBBDD0C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958632"/>
            <a:ext cx="38779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pitchFamily="2" charset="-122"/>
              </a:rPr>
              <a:t>本节课主要知识点</a:t>
            </a:r>
          </a:p>
        </p:txBody>
      </p:sp>
      <p:sp>
        <p:nvSpPr>
          <p:cNvPr id="5123" name="Rectangle 6">
            <a:extLst>
              <a:ext uri="{FF2B5EF4-FFF2-40B4-BE49-F238E27FC236}">
                <a16:creationId xmlns:a16="http://schemas.microsoft.com/office/drawing/2014/main" id="{4762E0C8-C9EB-3853-1897-558FFA6EE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604" y="2141289"/>
            <a:ext cx="556260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一阶系统的时间响应</a:t>
            </a:r>
          </a:p>
        </p:txBody>
      </p:sp>
      <p:sp>
        <p:nvSpPr>
          <p:cNvPr id="5124" name="Rectangle 7">
            <a:extLst>
              <a:ext uri="{FF2B5EF4-FFF2-40B4-BE49-F238E27FC236}">
                <a16:creationId xmlns:a16="http://schemas.microsoft.com/office/drawing/2014/main" id="{96202D6A-42E9-1CDE-DD30-064AF4457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23865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二阶系统的时间响应</a:t>
            </a:r>
          </a:p>
        </p:txBody>
      </p:sp>
      <p:sp>
        <p:nvSpPr>
          <p:cNvPr id="5127" name="Rectangle 9">
            <a:extLst>
              <a:ext uri="{FF2B5EF4-FFF2-40B4-BE49-F238E27FC236}">
                <a16:creationId xmlns:a16="http://schemas.microsoft.com/office/drawing/2014/main" id="{B579D985-20F6-177C-F7C5-832C60D77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3933056"/>
            <a:ext cx="55626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阻尼比取值与极点位置的关系</a:t>
            </a: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EFB3ED8D-4E71-BE92-70ED-E3172EC18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391" y="4432325"/>
            <a:ext cx="55626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阻尼比取值与阶跃响应的关系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750E5CE-BA78-FE51-531A-C855083E5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696" y="2696257"/>
            <a:ext cx="6597724" cy="608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阶跃响应、斜坡响应与极点位置的关系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6202D6A-42E9-1CDE-DD30-064AF4457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5080843"/>
            <a:ext cx="741682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系统动态性能的指标有哪些？哪些是快速性指标？和系统参数关系如何？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256</TotalTime>
  <Words>1827</Words>
  <Application>Microsoft Office PowerPoint</Application>
  <PresentationFormat>全屏显示(4:3)</PresentationFormat>
  <Paragraphs>361</Paragraphs>
  <Slides>46</Slides>
  <Notes>41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46</vt:i4>
      </vt:variant>
    </vt:vector>
  </HeadingPairs>
  <TitlesOfParts>
    <vt:vector size="57" baseType="lpstr">
      <vt:lpstr>宋体</vt:lpstr>
      <vt:lpstr>Arial</vt:lpstr>
      <vt:lpstr>Helvetica</vt:lpstr>
      <vt:lpstr>Symbol</vt:lpstr>
      <vt:lpstr>Times New Roman</vt:lpstr>
      <vt:lpstr>Verdana</vt:lpstr>
      <vt:lpstr>Wingdings</vt:lpstr>
      <vt:lpstr>Profile</vt:lpstr>
      <vt:lpstr>Equation.3</vt:lpstr>
      <vt:lpstr>Equation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AIMIN FANG</cp:lastModifiedBy>
  <cp:revision>119</cp:revision>
  <dcterms:created xsi:type="dcterms:W3CDTF">2011-07-28T02:52:00Z</dcterms:created>
  <dcterms:modified xsi:type="dcterms:W3CDTF">2025-09-20T01:49:48Z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2052-11.8.6.9023</vt:lpwstr>
  </property>
</Properties>
</file>